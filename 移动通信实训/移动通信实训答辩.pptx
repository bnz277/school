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5" r:id="rId5"/>
    <p:sldId id="276" r:id="rId6"/>
    <p:sldId id="259" r:id="rId7"/>
    <p:sldId id="274" r:id="rId8"/>
    <p:sldId id="260" r:id="rId9"/>
    <p:sldId id="261" r:id="rId10"/>
    <p:sldId id="263" r:id="rId11"/>
    <p:sldId id="264" r:id="rId12"/>
    <p:sldId id="277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8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6166DA-9AE2-489F-BDB1-85E7A4CAB62B}">
          <p14:sldIdLst>
            <p14:sldId id="256"/>
            <p14:sldId id="257"/>
            <p14:sldId id="258"/>
            <p14:sldId id="275"/>
            <p14:sldId id="276"/>
            <p14:sldId id="259"/>
            <p14:sldId id="274"/>
            <p14:sldId id="260"/>
            <p14:sldId id="261"/>
            <p14:sldId id="263"/>
            <p14:sldId id="264"/>
            <p14:sldId id="277"/>
            <p14:sldId id="265"/>
            <p14:sldId id="266"/>
            <p14:sldId id="268"/>
            <p14:sldId id="269"/>
            <p14:sldId id="270"/>
            <p14:sldId id="271"/>
            <p14:sldId id="272"/>
            <p14:sldId id="27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41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0C5A-48FC-B266-90FE-1610841E6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41098-7797-FB7C-1653-A096F1F6D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77753-8886-CE9E-C05C-BDD81F2C8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62DAB-95A9-A73E-FAC7-96951D835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27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5018-43B4-7953-337E-F887C9358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4AD6C-9FF6-1EF2-2078-22FE7FF8E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1F43F-6E72-45C5-97A8-8425694E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E95D2-9115-7624-694B-973865A05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31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36707-4889-B241-5B47-F424C077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2FFA1-5B98-6C0D-DA90-C62E25709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06C69-6EF9-1B9E-A85A-3248621F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3140E-55A7-D780-7196-C74096E2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90E4C-8A80-992D-E889-A810FF8F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50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7731C-E6D0-4F09-130F-2660FEEB2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6FC133-AA42-D3E8-6B87-2118135D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A9429-C474-B2CB-F279-EC6EFB41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399FFE-8E97-0A3D-2925-773F7846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111B19-68C0-194F-A501-8C4CFF2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1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5G基站开通调测与车联网</a:t>
            </a:r>
            <a:r>
              <a:rPr lang="zh-CN" altLang="en-US" sz="375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实训答辩</a:t>
            </a:r>
            <a:endParaRPr lang="en-US" sz="375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1002357" y="2904281"/>
            <a:ext cx="7199108" cy="364919"/>
          </a:xfrm>
          <a:prstGeom prst="rect">
            <a:avLst/>
          </a:prstGeom>
          <a:solidFill>
            <a:srgbClr val="FFA8AE"/>
          </a:solidFill>
          <a:ln/>
        </p:spPr>
      </p:sp>
      <p:sp>
        <p:nvSpPr>
          <p:cNvPr id="6" name="Text 3"/>
          <p:cNvSpPr/>
          <p:nvPr/>
        </p:nvSpPr>
        <p:spPr>
          <a:xfrm>
            <a:off x="1072679" y="2999695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indent="0">
              <a:lnSpc>
                <a:spcPts val="1725"/>
              </a:lnSpc>
              <a:buNone/>
            </a:pP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汇报人：张国斌  袁晶晶  莫慧琳  谭潇华  杨一浩  娄培鑫  赵文桐  谭家乐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E4EC32C-E932-9A70-2ABD-D04885855583}"/>
              </a:ext>
            </a:extLst>
          </p:cNvPr>
          <p:cNvSpPr/>
          <p:nvPr/>
        </p:nvSpPr>
        <p:spPr>
          <a:xfrm>
            <a:off x="1002357" y="3517764"/>
            <a:ext cx="1902638" cy="364919"/>
          </a:xfrm>
          <a:prstGeom prst="rect">
            <a:avLst/>
          </a:prstGeom>
          <a:solidFill>
            <a:srgbClr val="FFA8AE"/>
          </a:solidFill>
          <a:ln/>
        </p:spPr>
        <p:txBody>
          <a:bodyPr/>
          <a:lstStyle/>
          <a:p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altLang="zh-C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23BED27-E7CD-699A-8242-8B015A424361}"/>
              </a:ext>
            </a:extLst>
          </p:cNvPr>
          <p:cNvSpPr/>
          <p:nvPr/>
        </p:nvSpPr>
        <p:spPr>
          <a:xfrm>
            <a:off x="990532" y="2303484"/>
            <a:ext cx="1902638" cy="364919"/>
          </a:xfrm>
          <a:prstGeom prst="rect">
            <a:avLst/>
          </a:prstGeom>
          <a:solidFill>
            <a:srgbClr val="FFA8AE"/>
          </a:solidFill>
          <a:ln/>
        </p:spPr>
        <p:txBody>
          <a:bodyPr/>
          <a:lstStyle/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指导老师：王琪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A8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5G基站部署与网络配置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A8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基站开通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A8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车联网场景建模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5G基站部署与网络配置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8494BC4-16BF-201F-8E2A-0F7B6C53ACBC}"/>
              </a:ext>
            </a:extLst>
          </p:cNvPr>
          <p:cNvSpPr txBox="1"/>
          <p:nvPr/>
        </p:nvSpPr>
        <p:spPr>
          <a:xfrm>
            <a:off x="6703454" y="647164"/>
            <a:ext cx="181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AMF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，</a:t>
            </a:r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Access and Mobility Management Function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，接入和移动性管理功能。</a:t>
            </a:r>
            <a:endParaRPr lang="en-US" altLang="zh-CN" sz="1350" dirty="0">
              <a:solidFill>
                <a:srgbClr val="4D4D4D"/>
              </a:solidFill>
              <a:latin typeface="-apple-system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0DEE84D-8FAD-031E-75E4-44CF2D8049EA}"/>
              </a:ext>
            </a:extLst>
          </p:cNvPr>
          <p:cNvGrpSpPr/>
          <p:nvPr/>
        </p:nvGrpSpPr>
        <p:grpSpPr>
          <a:xfrm>
            <a:off x="1060737" y="393516"/>
            <a:ext cx="5107886" cy="3182949"/>
            <a:chOff x="1465832" y="816678"/>
            <a:chExt cx="6810514" cy="424393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2A8885E-5C9F-50E8-8F32-1D0D10A67198}"/>
                </a:ext>
              </a:extLst>
            </p:cNvPr>
            <p:cNvSpPr/>
            <p:nvPr/>
          </p:nvSpPr>
          <p:spPr>
            <a:xfrm>
              <a:off x="1465832" y="816678"/>
              <a:ext cx="4530119" cy="21219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9680D80-6B28-892B-9327-F1767A0B739B}"/>
                </a:ext>
              </a:extLst>
            </p:cNvPr>
            <p:cNvSpPr/>
            <p:nvPr/>
          </p:nvSpPr>
          <p:spPr>
            <a:xfrm>
              <a:off x="1465832" y="2938644"/>
              <a:ext cx="2249724" cy="2121966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1DBECF9-48B8-1203-C044-2E0A80DA108E}"/>
                </a:ext>
              </a:extLst>
            </p:cNvPr>
            <p:cNvSpPr/>
            <p:nvPr/>
          </p:nvSpPr>
          <p:spPr>
            <a:xfrm>
              <a:off x="3715556" y="2938644"/>
              <a:ext cx="2280395" cy="21219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3DA749-95DF-AA3D-40F3-DC50C49067CB}"/>
                </a:ext>
              </a:extLst>
            </p:cNvPr>
            <p:cNvSpPr/>
            <p:nvPr/>
          </p:nvSpPr>
          <p:spPr>
            <a:xfrm>
              <a:off x="5995951" y="2938644"/>
              <a:ext cx="2280395" cy="212196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BEBAE6F-5CBA-3296-CA43-6A51CBAC0D5B}"/>
                </a:ext>
              </a:extLst>
            </p:cNvPr>
            <p:cNvSpPr/>
            <p:nvPr/>
          </p:nvSpPr>
          <p:spPr>
            <a:xfrm>
              <a:off x="5995951" y="816678"/>
              <a:ext cx="2280395" cy="212196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2F56FB-7D49-C221-3789-C6C1E31CDC54}"/>
                </a:ext>
              </a:extLst>
            </p:cNvPr>
            <p:cNvSpPr txBox="1"/>
            <p:nvPr/>
          </p:nvSpPr>
          <p:spPr>
            <a:xfrm>
              <a:off x="1761308" y="1508329"/>
              <a:ext cx="1023871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/>
                <a:t>AMF</a:t>
              </a:r>
              <a:endParaRPr lang="zh-CN" altLang="en-US" sz="135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25241E8-4E17-E11B-BD9C-0153851B0306}"/>
                </a:ext>
              </a:extLst>
            </p:cNvPr>
            <p:cNvSpPr txBox="1"/>
            <p:nvPr/>
          </p:nvSpPr>
          <p:spPr>
            <a:xfrm>
              <a:off x="3225398" y="1508329"/>
              <a:ext cx="1023871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/>
                <a:t>SMF</a:t>
              </a:r>
              <a:endParaRPr lang="zh-CN" altLang="en-US" sz="135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B95EFB3-F2A1-135C-64DC-0A67CD5721B8}"/>
                </a:ext>
              </a:extLst>
            </p:cNvPr>
            <p:cNvSpPr txBox="1"/>
            <p:nvPr/>
          </p:nvSpPr>
          <p:spPr>
            <a:xfrm>
              <a:off x="4689488" y="1508329"/>
              <a:ext cx="1023871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/>
                <a:t>UPF</a:t>
              </a:r>
              <a:endParaRPr lang="zh-CN" altLang="en-US" sz="135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ABD6E5E-F6AD-67D2-41EE-768E658ECC40}"/>
                </a:ext>
              </a:extLst>
            </p:cNvPr>
            <p:cNvSpPr txBox="1"/>
            <p:nvPr/>
          </p:nvSpPr>
          <p:spPr>
            <a:xfrm>
              <a:off x="6428794" y="1508329"/>
              <a:ext cx="1414708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/>
                <a:t>业务服务器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889FEFF-F105-0ED1-0FEC-42A075B9DC46}"/>
                </a:ext>
              </a:extLst>
            </p:cNvPr>
            <p:cNvSpPr txBox="1"/>
            <p:nvPr/>
          </p:nvSpPr>
          <p:spPr>
            <a:xfrm>
              <a:off x="4343818" y="3814961"/>
              <a:ext cx="1023871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/>
                <a:t>(R)AN</a:t>
              </a:r>
              <a:endParaRPr lang="zh-CN" altLang="en-US" sz="135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30A2373-B00C-2C33-2A69-199C2D86AC23}"/>
                </a:ext>
              </a:extLst>
            </p:cNvPr>
            <p:cNvSpPr txBox="1"/>
            <p:nvPr/>
          </p:nvSpPr>
          <p:spPr>
            <a:xfrm>
              <a:off x="2084216" y="3814961"/>
              <a:ext cx="1023871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/>
                <a:t>UE</a:t>
              </a:r>
              <a:endParaRPr lang="zh-CN" altLang="en-US" sz="135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4A3DDB4-DF63-CC31-F08F-7B25D7C48301}"/>
                </a:ext>
              </a:extLst>
            </p:cNvPr>
            <p:cNvSpPr txBox="1"/>
            <p:nvPr/>
          </p:nvSpPr>
          <p:spPr>
            <a:xfrm>
              <a:off x="6427096" y="3814961"/>
              <a:ext cx="1418643" cy="4001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/>
                <a:t>OMC</a:t>
              </a:r>
              <a:r>
                <a:rPr lang="zh-CN" altLang="en-US" sz="1350" dirty="0"/>
                <a:t>服务器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E81BCA0-DB50-B104-3908-FC8D6082722F}"/>
                </a:ext>
              </a:extLst>
            </p:cNvPr>
            <p:cNvCxnSpPr>
              <a:stCxn id="9" idx="3"/>
              <a:endCxn id="14" idx="0"/>
            </p:cNvCxnSpPr>
            <p:nvPr/>
          </p:nvCxnSpPr>
          <p:spPr>
            <a:xfrm>
              <a:off x="2785179" y="1708383"/>
              <a:ext cx="2070576" cy="2106577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256B9FB-F553-D428-5663-1B62E65D81E6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 flipH="1">
              <a:off x="4855754" y="1908438"/>
              <a:ext cx="345669" cy="1906523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4FBAF72-D617-0848-A715-4C7CF23C1DC0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4249269" y="1708383"/>
              <a:ext cx="440219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F673404-26C9-74BE-7004-2B442217415A}"/>
                </a:ext>
              </a:extLst>
            </p:cNvPr>
            <p:cNvCxnSpPr>
              <a:cxnSpLocks/>
              <a:stCxn id="13" idx="1"/>
              <a:endCxn id="12" idx="3"/>
            </p:cNvCxnSpPr>
            <p:nvPr/>
          </p:nvCxnSpPr>
          <p:spPr>
            <a:xfrm flipH="1">
              <a:off x="5713358" y="1708383"/>
              <a:ext cx="715436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3636951-1E91-5A32-2020-3BE1693E2AAF}"/>
                </a:ext>
              </a:extLst>
            </p:cNvPr>
            <p:cNvCxnSpPr>
              <a:cxnSpLocks/>
              <a:stCxn id="16" idx="1"/>
              <a:endCxn id="14" idx="3"/>
            </p:cNvCxnSpPr>
            <p:nvPr/>
          </p:nvCxnSpPr>
          <p:spPr>
            <a:xfrm flipH="1">
              <a:off x="5367689" y="4015015"/>
              <a:ext cx="1059407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55F0668-D8AD-C71B-0899-6F1269A2BD1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3108087" y="3999627"/>
              <a:ext cx="1214940" cy="15388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90E7E3F-6E1A-A6AB-B817-8D0CF579FD04}"/>
                </a:ext>
              </a:extLst>
            </p:cNvPr>
            <p:cNvCxnSpPr>
              <a:cxnSpLocks/>
              <a:stCxn id="13" idx="1"/>
              <a:endCxn id="14" idx="0"/>
            </p:cNvCxnSpPr>
            <p:nvPr/>
          </p:nvCxnSpPr>
          <p:spPr>
            <a:xfrm flipH="1">
              <a:off x="4855754" y="1708383"/>
              <a:ext cx="1573040" cy="2106577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30D2F2C-AD69-CBDD-52AA-190BE8835AE6}"/>
                </a:ext>
              </a:extLst>
            </p:cNvPr>
            <p:cNvSpPr txBox="1"/>
            <p:nvPr/>
          </p:nvSpPr>
          <p:spPr>
            <a:xfrm>
              <a:off x="2955701" y="862885"/>
              <a:ext cx="153902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/>
                <a:t>核心网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75F6638-93AE-8535-CE6F-5F33E0994083}"/>
                </a:ext>
              </a:extLst>
            </p:cNvPr>
            <p:cNvSpPr txBox="1"/>
            <p:nvPr/>
          </p:nvSpPr>
          <p:spPr>
            <a:xfrm>
              <a:off x="6344516" y="862885"/>
              <a:ext cx="153902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/>
                <a:t>业务平台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0AF082A-0AD7-621E-41C5-940BC10B9956}"/>
                </a:ext>
              </a:extLst>
            </p:cNvPr>
            <p:cNvSpPr txBox="1"/>
            <p:nvPr/>
          </p:nvSpPr>
          <p:spPr>
            <a:xfrm>
              <a:off x="1826148" y="4372179"/>
              <a:ext cx="153902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/>
                <a:t>终端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EA08382-9A30-1AB1-A35D-77F8D7B3D12A}"/>
                </a:ext>
              </a:extLst>
            </p:cNvPr>
            <p:cNvSpPr txBox="1"/>
            <p:nvPr/>
          </p:nvSpPr>
          <p:spPr>
            <a:xfrm>
              <a:off x="4086240" y="4372179"/>
              <a:ext cx="153902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/>
                <a:t>接入网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08A10DB-1801-F289-B274-93A60A12D0DC}"/>
                </a:ext>
              </a:extLst>
            </p:cNvPr>
            <p:cNvSpPr txBox="1"/>
            <p:nvPr/>
          </p:nvSpPr>
          <p:spPr>
            <a:xfrm>
              <a:off x="6333454" y="4368959"/>
              <a:ext cx="1605388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/>
                <a:t>操作维护平台</a:t>
              </a: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3B4E0C3-BBC3-9C47-E3B9-4672CC17CF42}"/>
              </a:ext>
            </a:extLst>
          </p:cNvPr>
          <p:cNvSpPr txBox="1"/>
          <p:nvPr/>
        </p:nvSpPr>
        <p:spPr>
          <a:xfrm>
            <a:off x="6703454" y="1684610"/>
            <a:ext cx="181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SMF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（</a:t>
            </a:r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Session Management Function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，会话管理功能）是会话管理功能实体。</a:t>
            </a:r>
            <a:endParaRPr lang="en-US" altLang="zh-CN" sz="1350" dirty="0">
              <a:solidFill>
                <a:srgbClr val="4D4D4D"/>
              </a:solidFill>
              <a:latin typeface="-apple-system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67A9E74-0D13-DE51-F3F1-B3ADD68FA42B}"/>
              </a:ext>
            </a:extLst>
          </p:cNvPr>
          <p:cNvSpPr txBox="1"/>
          <p:nvPr/>
        </p:nvSpPr>
        <p:spPr>
          <a:xfrm>
            <a:off x="6703453" y="2725058"/>
            <a:ext cx="181780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UPF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（</a:t>
            </a:r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User Plane Function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，用户面管理功能）是用户面功能实体，其类似于</a:t>
            </a:r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4G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下的</a:t>
            </a:r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GW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（</a:t>
            </a:r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SGW+PGW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）。最主要的功能是负责数据包的路由转发、</a:t>
            </a:r>
            <a:r>
              <a:rPr lang="en-US" altLang="zh-CN" sz="1350" dirty="0" err="1">
                <a:solidFill>
                  <a:srgbClr val="4D4D4D"/>
                </a:solidFill>
                <a:latin typeface="-apple-system"/>
              </a:rPr>
              <a:t>Qos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流映射。</a:t>
            </a:r>
            <a:endParaRPr lang="en-US" altLang="zh-CN" sz="1350" dirty="0">
              <a:solidFill>
                <a:srgbClr val="4D4D4D"/>
              </a:solidFill>
              <a:latin typeface="-apple-system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E69C3C-5530-C97A-4987-C9540D614ECA}"/>
              </a:ext>
            </a:extLst>
          </p:cNvPr>
          <p:cNvSpPr txBox="1"/>
          <p:nvPr/>
        </p:nvSpPr>
        <p:spPr>
          <a:xfrm>
            <a:off x="1002782" y="3849737"/>
            <a:ext cx="5323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>
                <a:solidFill>
                  <a:srgbClr val="4D4D4D"/>
                </a:solidFill>
                <a:latin typeface="-apple-system"/>
              </a:rPr>
              <a:t>RAN</a:t>
            </a:r>
            <a:r>
              <a:rPr lang="zh-CN" altLang="en-US" sz="1350" dirty="0">
                <a:solidFill>
                  <a:srgbClr val="4D4D4D"/>
                </a:solidFill>
                <a:latin typeface="-apple-system"/>
              </a:rPr>
              <a:t>，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Radio Access Network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，无线接入网。可以简单理解为基站设备。</a:t>
            </a:r>
          </a:p>
          <a:p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在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4G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网络中为基站（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BBU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）、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RRU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、天线所组成的无线接入网络；</a:t>
            </a:r>
            <a:endParaRPr lang="en-US" altLang="zh-CN" sz="1350" dirty="0">
              <a:solidFill>
                <a:srgbClr val="121212"/>
              </a:solidFill>
              <a:latin typeface="-apple-system"/>
            </a:endParaRPr>
          </a:p>
          <a:p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在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5G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网络中则为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BBU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和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AAU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组成的无线接入网。</a:t>
            </a:r>
            <a:endParaRPr lang="en-US" altLang="zh-CN" sz="1350" dirty="0">
              <a:solidFill>
                <a:srgbClr val="121212"/>
              </a:solidFill>
              <a:latin typeface="-apple-system"/>
            </a:endParaRPr>
          </a:p>
          <a:p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AAU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可以理解为</a:t>
            </a:r>
            <a:r>
              <a:rPr lang="en-US" altLang="zh-CN" sz="1350" dirty="0">
                <a:solidFill>
                  <a:srgbClr val="121212"/>
                </a:solidFill>
                <a:latin typeface="-apple-system"/>
              </a:rPr>
              <a:t>RRU+</a:t>
            </a:r>
            <a:r>
              <a:rPr lang="zh-CN" altLang="en-US" sz="1350" dirty="0">
                <a:solidFill>
                  <a:srgbClr val="121212"/>
                </a:solidFill>
                <a:latin typeface="-apple-system"/>
              </a:rPr>
              <a:t>天线。</a:t>
            </a:r>
            <a:endParaRPr lang="en-US" altLang="zh-CN" sz="1350" dirty="0">
              <a:solidFill>
                <a:srgbClr val="4D4D4D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37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27CD5F3-A315-BDA7-DEAE-589D5CF2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160"/>
            <a:ext cx="9144000" cy="47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0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69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6240" r="6240"/>
          <a:stretch/>
        </p:blipFill>
        <p:spPr>
          <a:xfrm>
            <a:off x="0" y="0"/>
            <a:ext cx="9144000" cy="58769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9302" r="9302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射频单元中 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N41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N78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N79 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频段的差异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8CB1B63A-B3A8-8EA6-D767-D4FBC5625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93340"/>
              </p:ext>
            </p:extLst>
          </p:nvPr>
        </p:nvGraphicFramePr>
        <p:xfrm>
          <a:off x="-3" y="1352550"/>
          <a:ext cx="9144003" cy="3246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9">
                  <a:extLst>
                    <a:ext uri="{9D8B030D-6E8A-4147-A177-3AD203B41FA5}">
                      <a16:colId xmlns:a16="http://schemas.microsoft.com/office/drawing/2014/main" val="245921506"/>
                    </a:ext>
                  </a:extLst>
                </a:gridCol>
                <a:gridCol w="1182420">
                  <a:extLst>
                    <a:ext uri="{9D8B030D-6E8A-4147-A177-3AD203B41FA5}">
                      <a16:colId xmlns:a16="http://schemas.microsoft.com/office/drawing/2014/main" val="1593829104"/>
                    </a:ext>
                  </a:extLst>
                </a:gridCol>
                <a:gridCol w="1137369">
                  <a:extLst>
                    <a:ext uri="{9D8B030D-6E8A-4147-A177-3AD203B41FA5}">
                      <a16:colId xmlns:a16="http://schemas.microsoft.com/office/drawing/2014/main" val="2207065447"/>
                    </a:ext>
                  </a:extLst>
                </a:gridCol>
                <a:gridCol w="1137369">
                  <a:extLst>
                    <a:ext uri="{9D8B030D-6E8A-4147-A177-3AD203B41FA5}">
                      <a16:colId xmlns:a16="http://schemas.microsoft.com/office/drawing/2014/main" val="3401793383"/>
                    </a:ext>
                  </a:extLst>
                </a:gridCol>
                <a:gridCol w="1137369">
                  <a:extLst>
                    <a:ext uri="{9D8B030D-6E8A-4147-A177-3AD203B41FA5}">
                      <a16:colId xmlns:a16="http://schemas.microsoft.com/office/drawing/2014/main" val="4268581682"/>
                    </a:ext>
                  </a:extLst>
                </a:gridCol>
                <a:gridCol w="1137369">
                  <a:extLst>
                    <a:ext uri="{9D8B030D-6E8A-4147-A177-3AD203B41FA5}">
                      <a16:colId xmlns:a16="http://schemas.microsoft.com/office/drawing/2014/main" val="1748746036"/>
                    </a:ext>
                  </a:extLst>
                </a:gridCol>
                <a:gridCol w="1137369">
                  <a:extLst>
                    <a:ext uri="{9D8B030D-6E8A-4147-A177-3AD203B41FA5}">
                      <a16:colId xmlns:a16="http://schemas.microsoft.com/office/drawing/2014/main" val="2177003189"/>
                    </a:ext>
                  </a:extLst>
                </a:gridCol>
                <a:gridCol w="1137369">
                  <a:extLst>
                    <a:ext uri="{9D8B030D-6E8A-4147-A177-3AD203B41FA5}">
                      <a16:colId xmlns:a16="http://schemas.microsoft.com/office/drawing/2014/main" val="1751023732"/>
                    </a:ext>
                  </a:extLst>
                </a:gridCol>
              </a:tblGrid>
              <a:tr h="6301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频段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频率范围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频段类型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运营商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带宽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覆盖能力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穿透能力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速率潜力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327242"/>
                  </a:ext>
                </a:extLst>
              </a:tr>
              <a:tr h="6301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N41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2515-2675 MHz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中低频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中国移动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100-160  MHz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较强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较强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619533"/>
                  </a:ext>
                </a:extLst>
              </a:tr>
              <a:tr h="6301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N78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3300–3800 MHz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中国电信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联通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MHz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454449"/>
                  </a:ext>
                </a:extLst>
              </a:tr>
              <a:tr h="6301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N79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4400–5000 MHz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中高频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中国移动、中国广电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 MHz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较弱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较差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极高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3736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6C068B0-3599-533C-87B4-0DBC6790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9" y="1304218"/>
            <a:ext cx="2221541" cy="36083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65C582-FD9C-C0C5-4FE5-89047ACDF270}"/>
              </a:ext>
            </a:extLst>
          </p:cNvPr>
          <p:cNvSpPr txBox="1"/>
          <p:nvPr/>
        </p:nvSpPr>
        <p:spPr>
          <a:xfrm>
            <a:off x="976379" y="415344"/>
            <a:ext cx="719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小区最大发射功率（</a:t>
            </a:r>
            <a:r>
              <a:rPr lang="en-US" altLang="zh-CN" b="1" dirty="0" err="1"/>
              <a:t>dbm</a:t>
            </a:r>
            <a:r>
              <a:rPr lang="zh-CN" altLang="en-US" b="1" dirty="0"/>
              <a:t>）</a:t>
            </a:r>
            <a:r>
              <a:rPr lang="en-US" altLang="zh-CN" b="1" dirty="0"/>
              <a:t>=10*log</a:t>
            </a:r>
            <a:r>
              <a:rPr lang="zh-CN" altLang="en-US" b="1" dirty="0"/>
              <a:t>（射频设备最大发射功率</a:t>
            </a:r>
            <a:r>
              <a:rPr lang="en-US" altLang="zh-CN" b="1" dirty="0"/>
              <a:t>*1000</a:t>
            </a:r>
            <a:r>
              <a:rPr lang="zh-CN" altLang="en-US" b="1" dirty="0"/>
              <a:t>）</a:t>
            </a:r>
            <a:r>
              <a:rPr lang="en-US" altLang="zh-CN" b="1" dirty="0"/>
              <a:t>【</a:t>
            </a:r>
            <a:r>
              <a:rPr lang="zh-CN" altLang="en-US" b="1" dirty="0"/>
              <a:t>结果向下取整</a:t>
            </a:r>
            <a:r>
              <a:rPr lang="en-US" altLang="zh-CN" b="1" dirty="0"/>
              <a:t>】</a:t>
            </a:r>
            <a:endParaRPr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A6A7C0-145F-0428-D307-FADE90BBBEF9}"/>
              </a:ext>
            </a:extLst>
          </p:cNvPr>
          <p:cNvSpPr/>
          <p:nvPr/>
        </p:nvSpPr>
        <p:spPr>
          <a:xfrm>
            <a:off x="976379" y="3250307"/>
            <a:ext cx="1154269" cy="202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6DCA44F-5F17-F88D-7110-3F77CE9750F9}"/>
              </a:ext>
            </a:extLst>
          </p:cNvPr>
          <p:cNvCxnSpPr>
            <a:stCxn id="9" idx="3"/>
          </p:cNvCxnSpPr>
          <p:nvPr/>
        </p:nvCxnSpPr>
        <p:spPr>
          <a:xfrm flipV="1">
            <a:off x="2130647" y="726968"/>
            <a:ext cx="3824222" cy="2624760"/>
          </a:xfrm>
          <a:prstGeom prst="straightConnector1">
            <a:avLst/>
          </a:prstGeom>
          <a:ln w="76200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AE72AA13-1337-7245-4F71-867DED9F3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585" y="1563786"/>
            <a:ext cx="1468767" cy="145677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FC56595-658A-C0DE-C448-6AFA957BEE37}"/>
              </a:ext>
            </a:extLst>
          </p:cNvPr>
          <p:cNvSpPr/>
          <p:nvPr/>
        </p:nvSpPr>
        <p:spPr>
          <a:xfrm>
            <a:off x="976379" y="3929330"/>
            <a:ext cx="1154269" cy="20284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1CFB32-4054-43FB-6F3C-FBC847597A00}"/>
              </a:ext>
            </a:extLst>
          </p:cNvPr>
          <p:cNvSpPr/>
          <p:nvPr/>
        </p:nvSpPr>
        <p:spPr>
          <a:xfrm>
            <a:off x="976379" y="3706197"/>
            <a:ext cx="1154269" cy="20284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7424594-0170-688C-9F0C-4898817921D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130648" y="4030751"/>
            <a:ext cx="3592402" cy="1"/>
          </a:xfrm>
          <a:prstGeom prst="straightConnector1">
            <a:avLst/>
          </a:prstGeom>
          <a:ln w="76200">
            <a:solidFill>
              <a:srgbClr val="00B05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F2A7927-358D-BDC6-0492-EC2938ABF95C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130648" y="2468880"/>
            <a:ext cx="3222109" cy="1338738"/>
          </a:xfrm>
          <a:prstGeom prst="straightConnector1">
            <a:avLst/>
          </a:prstGeom>
          <a:ln w="76200">
            <a:solidFill>
              <a:srgbClr val="00B0F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58D8B483-3A3E-C623-87B4-AAC9BB06C5AB}"/>
              </a:ext>
            </a:extLst>
          </p:cNvPr>
          <p:cNvSpPr/>
          <p:nvPr/>
        </p:nvSpPr>
        <p:spPr>
          <a:xfrm>
            <a:off x="977182" y="1853515"/>
            <a:ext cx="1456925" cy="20284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5BAF95-2BE6-1583-B3F1-0C95BA981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472" y="3142406"/>
            <a:ext cx="1878624" cy="157384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F88D5A9-10EE-E3F6-F326-D8C257115E1F}"/>
              </a:ext>
            </a:extLst>
          </p:cNvPr>
          <p:cNvSpPr/>
          <p:nvPr/>
        </p:nvSpPr>
        <p:spPr>
          <a:xfrm>
            <a:off x="977182" y="4162087"/>
            <a:ext cx="1154269" cy="20284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BED6EA-E4E4-D1D9-5810-0D0EF03F008F}"/>
              </a:ext>
            </a:extLst>
          </p:cNvPr>
          <p:cNvSpPr/>
          <p:nvPr/>
        </p:nvSpPr>
        <p:spPr>
          <a:xfrm>
            <a:off x="976377" y="2316749"/>
            <a:ext cx="1154269" cy="20284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860227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9302" r="9302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射频规划与小区参数设置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847850"/>
            <a:ext cx="2085975" cy="27574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射频规划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919412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根据覆盖需求确定AAU方位角与下倾角，N78频段用于电联组网，N41频段归属移动网络，二者频点不同需区分配置。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86025" y="1847850"/>
            <a:ext cx="2085975" cy="27574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PCI分配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8450" y="2919412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小区物理层ID（PCI）需避免模3干扰，结合射频编号对应设置，确保相邻小区PCI不冲突以保障同步信号正常。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1847850"/>
            <a:ext cx="2085975" cy="27574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下倾角计算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924425" y="2919412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机械下倾角设为30°，结合天线挂高25米控制覆盖范围，防止越区干扰并优化波束指向。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7975" y="1847850"/>
            <a:ext cx="2085975" cy="27574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功率转换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010400" y="2919412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最大发射功率由240W换算为dBm：10×log(240000/1)=53.8≈53dBm，配置时需向下取整确保符合标准。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92988"/>
            <a:ext cx="9144000" cy="5543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3608" r="3608"/>
          <a:stretch/>
        </p:blipFill>
        <p:spPr>
          <a:xfrm>
            <a:off x="0" y="-145161"/>
            <a:ext cx="8900160" cy="53957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88" y="-7238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实施传输与核心网路由配置，准确填写IPV6地址格式并校验网关与子网掩码关系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850012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535812"/>
            <a:ext cx="8382000" cy="3524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6337" y="3155062"/>
            <a:ext cx="10763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IPv6网络配置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0413" y="1678687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9642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地址格式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67238" y="1573912"/>
            <a:ext cx="29527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128位地址，用十六进制表示，分为8段每段4位。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67238" y="1821562"/>
            <a:ext cx="29527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可省略前导零，连续全零段可用双冒号::缩写。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00413" y="2269237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F99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网关确定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67238" y="2164462"/>
            <a:ext cx="30384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通过子网掩码与IPv6地址‘相与’运算得出本地网关。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67238" y="2412112"/>
            <a:ext cx="30384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正确配置网关确保基站与核心网及OMC路由可达。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00413" y="2859787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核心网路由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67238" y="2755012"/>
            <a:ext cx="39052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需配置三条通往外部网络的路由，明确目的地址、下一跳和接口。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67238" y="3002662"/>
            <a:ext cx="39052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控制面与用户面路径分离，SMF到UPF路由不包含在内。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00413" y="3450337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DB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传输参数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67238" y="3345562"/>
            <a:ext cx="33909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本地网关IP后两位为5，对端设备一般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为6。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67238" y="3593212"/>
            <a:ext cx="33909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需核对参数，确保OMC、核心网与业务服务器通信畅通。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00413" y="4040887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C95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路由可达性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67238" y="3936112"/>
            <a:ext cx="27241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基站需正确指向核心网路由，避免通信中断。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67238" y="4183762"/>
            <a:ext cx="27241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OMC管理通道依赖网关和路由配置的准确性。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300413" y="4631437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配置验证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67238" y="4526662"/>
            <a:ext cx="244792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检测IPv6连通性。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67238" y="4774312"/>
            <a:ext cx="244792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设备参数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和工程背景相匹配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362324F-C6D6-B3AB-71D2-18748E58F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62" y="785242"/>
            <a:ext cx="9144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基站开通</a:t>
            </a:r>
            <a:r>
              <a:rPr lang="zh-CN" alt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598508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遵循标准开通流程：从硬件连接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数据调试、状态确认到基站开通调测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硬件连接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6479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完成BBU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板卡、设备间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的正确对接，确保物理链路稳固。检查各设备端口连接状态，防止错接导致通信中断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4003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数据调试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6479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工程背景对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BBU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进行规划、调试，确保设备参数与工程背景相对应。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4003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状态确认</a:t>
            </a:r>
            <a:endParaRPr lang="en-US" altLang="zh-CN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6479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检查板卡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状态与线路连接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确保所有模块运行正常，为后续配置文件下载和基站启动做好准备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4003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基站开通调测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6479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完成所有操作后，进行基站启动，待设备启动成功后可进行业务验证。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9D44-36D1-4639-F9FC-CC82330A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00CF77-63BB-C660-0FE3-50E6165E99A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7AFC6CF-3EA5-D86E-98D3-BDEE196D9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586AD9E-C01D-CBA9-FAE8-78A0B05593BA}"/>
              </a:ext>
            </a:extLst>
          </p:cNvPr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589B9C0-E637-743D-B5D2-EB3A7CCB1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2" y="719558"/>
            <a:ext cx="4107982" cy="15975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E53A355-8448-BA46-004A-DFA1DE6D98DB}"/>
              </a:ext>
            </a:extLst>
          </p:cNvPr>
          <p:cNvSpPr txBox="1"/>
          <p:nvPr/>
        </p:nvSpPr>
        <p:spPr>
          <a:xfrm>
            <a:off x="1610775" y="23108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板卡规划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A212A93-CAAD-A2FB-5EE3-52B21FDDD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518" y="380506"/>
            <a:ext cx="4107982" cy="194408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7F6ABEB-6B65-8870-B719-45DAEC846AF0}"/>
              </a:ext>
            </a:extLst>
          </p:cNvPr>
          <p:cNvSpPr txBox="1"/>
          <p:nvPr/>
        </p:nvSpPr>
        <p:spPr>
          <a:xfrm>
            <a:off x="6075293" y="230340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设备接口规划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49FCB5D-5CEC-CBFF-043D-82B16D6E4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726" y="2802856"/>
            <a:ext cx="3738094" cy="19761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B074C32-7B5E-9B6F-CC5F-00AF9550B0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546" y="2802856"/>
            <a:ext cx="4292008" cy="192142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9FE944C-49A2-5FD8-5063-D2EA901714D0}"/>
              </a:ext>
            </a:extLst>
          </p:cNvPr>
          <p:cNvSpPr txBox="1"/>
          <p:nvPr/>
        </p:nvSpPr>
        <p:spPr>
          <a:xfrm>
            <a:off x="1610775" y="47242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设备连接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549FA59-E79C-C111-EE4F-C496609A3348}"/>
              </a:ext>
            </a:extLst>
          </p:cNvPr>
          <p:cNvSpPr txBox="1"/>
          <p:nvPr/>
        </p:nvSpPr>
        <p:spPr>
          <a:xfrm>
            <a:off x="6425229" y="4724278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GPS</a:t>
            </a:r>
            <a:r>
              <a:rPr lang="zh-CN" altLang="en-US" dirty="0"/>
              <a:t>安装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0C76FF-8B0C-FB1C-F4B9-12E4DB447447}"/>
              </a:ext>
            </a:extLst>
          </p:cNvPr>
          <p:cNvSpPr txBox="1"/>
          <p:nvPr/>
        </p:nvSpPr>
        <p:spPr>
          <a:xfrm>
            <a:off x="295726" y="170957"/>
            <a:ext cx="3597292" cy="46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50"/>
              </a:lnSpc>
            </a:pPr>
            <a:r>
              <a:rPr lang="en-US" altLang="zh-CN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BBU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设备连接规划</a:t>
            </a:r>
          </a:p>
        </p:txBody>
      </p:sp>
    </p:spTree>
    <p:extLst>
      <p:ext uri="{BB962C8B-B14F-4D97-AF65-F5344CB8AC3E}">
        <p14:creationId xmlns:p14="http://schemas.microsoft.com/office/powerpoint/2010/main" val="1146764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9302" r="9302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构建NR本地小区并完成邻区关系配置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依据GNB全球ID匹配邻区信息表项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847850"/>
            <a:ext cx="2085975" cy="27574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小区建立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919412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根据仿真背景配置NR本地小区，选择正确的频段、带宽和PCI参数，确保小区ID与物理层配置一致，完成基础覆盖规划。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86025" y="1847850"/>
            <a:ext cx="2085975" cy="27574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邻区匹配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8450" y="2919412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依据邻区关系中的GNB全球ID和小区ID，查找对应邻区信息表项，正确填入目标邻区的频点与PCI，避免切换失败。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1847850"/>
            <a:ext cx="2085975" cy="27574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24424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配置校验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4924424" y="2926887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提交配置后检查系统提示，确认邻区信息无红色报错，通过‘全绿’状态验证邻区关系配置完整且符合组网要求。</a:t>
            </a:r>
            <a:endParaRPr lang="en-US" sz="105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0BDE007-4016-0635-8322-0FD713049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8996" y="2230241"/>
            <a:ext cx="1943982" cy="1961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821" r="9821"/>
          <a:stretch/>
        </p:blipFill>
        <p:spPr>
          <a:xfrm>
            <a:off x="0" y="0"/>
            <a:ext cx="9144000" cy="64008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9302" r="9302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开展业务验证测试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32B7710-0A27-6232-FF8D-2EFFD33CD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1313"/>
            <a:ext cx="5382228" cy="284201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E274DD6-8FD0-28DA-ED2A-16E115322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799" y="2234859"/>
            <a:ext cx="3332629" cy="27963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车联网场景建模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理解V2X通信架构，区分Uu接口（终端-基站）与PC5接口（直通链路）在V2V/V2I中的作用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A8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V2X架构解析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97656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V2X通信包含Uu接口与PC5接口两种模式。Uu用于终端与基站间的广域连接，PC5支持车与车、车与基础设施间的直接通信，实现低时延交互。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A8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Uu接口作用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97656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Uu接口基于N41频段（移动）或N78频段（电联），承载V2N通信，支持车辆接入网络获取远程服务，如导航更新与云端预警信息推送。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A8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PC5直通应用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97656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PC5接口在V2V和V2I场景中实现无需基站的直连通信，用于前碰撞预警（FCW）和信号相位提醒，显著降低端到端时延，提升行车安全。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9302" r="9302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配置车联网仿真参数，设定前车RV与后车HV相对速度以满足FCW前碰撞预警触发条件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847850"/>
            <a:ext cx="4171950" cy="14144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0075" y="1952625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FCW触发条件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0075" y="2243138"/>
            <a:ext cx="257175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前碰撞预警系统（FCW）基于两车相对速度与距离判断风险，当后车HV接近前车RV时间小于3.1秒时触发告警，确保及时响应避免追尾事故。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847850"/>
            <a:ext cx="4171950" cy="14144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72175" y="1952625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车速参数设置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972175" y="2243138"/>
            <a:ext cx="257175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仿真中需设定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的速度，通过调整相对运动参数验证FCW灵敏度，确保低时延通信下预警信息实时可靠传输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050" y="3262313"/>
            <a:ext cx="4171950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0075" y="3469481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V2V通信机制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00075" y="3759994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车辆间通过PC5接口直连通信实现V2V数据交换，无需基站转发，降低时延，提升防碰撞系统的响应效率与可靠性。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72000" y="3262313"/>
            <a:ext cx="4171950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72175" y="3469481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安全距离建模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972175" y="3759994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根据相对速度动态计算安全车距，结合信号相位与时间（SPaT）信息优化驾驶行为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，对智能信号灯进行配置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，在交叉路口等复杂场景提升行车安全性。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9302" r="9302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实现低时延通信防碰撞机制，利用信号相位与时间（SPaT）数据优化车辆通行策略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828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低时延通信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0764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 URLLC特性保障车联网络端到端时延低于10ms，满足车辆高速移动下的实时交互需求，为防碰撞提供可靠通信基础。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667000" y="1828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PC5直连链路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667000" y="20764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V2V通过PC5接口实现设备间直接通信，无需基站转发，显著降低时延，提升紧急制动预警响应速度与可靠性。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62500" y="1828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FCW触发机制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62500" y="20764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当前后车相对速度超过阈值且距离过近时，系统基于雷达与通信数据判断碰撞风险，自动触发前碰撞预警。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0" y="1828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SPaT数据应用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0" y="20764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信号相位与时间信息由RSU广播，帮助车辆预知红绿灯变化，优化加减速策略，减少急刹并提升通行效率。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1500" y="33147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协同防碰撞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71500" y="35623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结合SPaT与PC5通信，实现交叉路口多车协同决策，避免盲区碰撞，提升复杂交通环境下的行车安全性。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575" y="-1516283"/>
            <a:ext cx="9144000" cy="69865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3190" r="13190"/>
          <a:stretch/>
        </p:blipFill>
        <p:spPr>
          <a:xfrm>
            <a:off x="-28575" y="-1516283"/>
            <a:ext cx="9144000" cy="6986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6225" y="-316133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集成路边单元（RSU）作为UE基站类型，支持交通灯信息广播与动态路径引导功能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2925" y="-373283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2425" y="312517"/>
            <a:ext cx="8382000" cy="4967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3222" y="2098454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52475" y="3327180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RSU核心作用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6225" y="3793905"/>
            <a:ext cx="1854994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路边单元作为车路协同的核心枢纽，承担信息广播与数据交互功能。其基站角色支持车辆与基础设施间的高效通信。RSU提升整体交通系统的智能化水平。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953816" y="2855692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99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93069" y="350617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PC5接口通信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16819" y="817342"/>
            <a:ext cx="1854994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通过PC5接口实现直连通信，RSU广播SPaT等实时交通信号信息。该接口保障低延迟与高可靠性。通信不依赖蜂窝网络，增强覆盖稳定性。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894409" y="2098454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633663" y="3327180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交通信息广播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57413" y="3793905"/>
            <a:ext cx="185499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RSU持续广播交通灯相位与时间（SPaT）数据。结合车辆位置实现精准信号预测。信息用于支持驾驶决策与车速引导。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835003" y="2855692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99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574256" y="560167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定位与地图融合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098006" y="1026892"/>
            <a:ext cx="185499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集成GPS与高精度地图数据，提升车辆环境感知能力。定位信息用于匹配信号配时策略。实现空间与时间的协同优化。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75597" y="2098454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14850" y="3327180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安全预警支持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038600" y="3793905"/>
            <a:ext cx="185499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基于实时信息提供前向碰撞预警功能。提前识别潜在风险场景。有效降低交通事故发生概率。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716191" y="2855692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99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455444" y="560167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绿波通行策略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79194" y="1026892"/>
            <a:ext cx="185499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利用信号周期数据规划连续通行窗口。引导车辆保持最佳车速通过多个路口。减少停车次数，提高通行效率。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656784" y="2098454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396038" y="3327180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动态路径优化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19788" y="3793905"/>
            <a:ext cx="185499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根据实时路况与信号周期生成最优路径。动态调整推荐路线以避开拥堵。提升出行效率与能源利用率。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597378" y="2855692"/>
            <a:ext cx="381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99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336631" y="560167"/>
            <a:ext cx="902494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节能高效出行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60381" y="1026892"/>
            <a:ext cx="185499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通过车速引导与路径优化减少怠速等待时间。降低燃油消耗与排放。推动智能网联环境下的可持续交通发展。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365F-43A7-32B6-56FA-AD5450DE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AEC65E-E511-7782-6459-7C92B3EB4DF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BF17DC0-C86C-8C46-82A7-8F2E98B7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A0791A4-8E6C-FA54-1691-DD692ADFC553}"/>
              </a:ext>
            </a:extLst>
          </p:cNvPr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0"/>
              </a:lnSpc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车联网校验成功</a:t>
            </a:r>
            <a:endParaRPr lang="en-US" sz="225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5740CE5-DA93-49FC-5AEE-8EF3A856E5B5}"/>
              </a:ext>
            </a:extLst>
          </p:cNvPr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68A3574-55D9-902F-DDBF-20E8A06CE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07" y="1085850"/>
            <a:ext cx="8001000" cy="373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42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4D9B34D-E1D4-1782-81AF-0DD25CE5A64C}"/>
              </a:ext>
            </a:extLst>
          </p:cNvPr>
          <p:cNvSpPr/>
          <p:nvPr/>
        </p:nvSpPr>
        <p:spPr>
          <a:xfrm>
            <a:off x="583325" y="3541131"/>
            <a:ext cx="7231278" cy="364919"/>
          </a:xfrm>
          <a:prstGeom prst="rect">
            <a:avLst/>
          </a:prstGeom>
          <a:solidFill>
            <a:srgbClr val="FFA8AE"/>
          </a:solidFill>
          <a:ln/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1CC9CC5-4B69-37D5-6CD4-A230EEBE62C5}"/>
              </a:ext>
            </a:extLst>
          </p:cNvPr>
          <p:cNvSpPr/>
          <p:nvPr/>
        </p:nvSpPr>
        <p:spPr>
          <a:xfrm>
            <a:off x="583325" y="4154614"/>
            <a:ext cx="1902638" cy="364919"/>
          </a:xfrm>
          <a:prstGeom prst="rect">
            <a:avLst/>
          </a:prstGeom>
          <a:solidFill>
            <a:srgbClr val="FFA8AE"/>
          </a:solidFill>
          <a:ln/>
        </p:spPr>
        <p:txBody>
          <a:bodyPr/>
          <a:lstStyle/>
          <a:p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6F58B83-F1CC-DD02-3261-4A5737F8E0D9}"/>
              </a:ext>
            </a:extLst>
          </p:cNvPr>
          <p:cNvSpPr/>
          <p:nvPr/>
        </p:nvSpPr>
        <p:spPr>
          <a:xfrm>
            <a:off x="571500" y="2940334"/>
            <a:ext cx="1902638" cy="364919"/>
          </a:xfrm>
          <a:prstGeom prst="rect">
            <a:avLst/>
          </a:prstGeom>
          <a:solidFill>
            <a:srgbClr val="FFA8AE"/>
          </a:solidFill>
          <a:ln/>
        </p:spPr>
        <p:txBody>
          <a:bodyPr/>
          <a:lstStyle/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指导老师：王琪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D898D5B-FB87-C1D2-DBB8-FDB916014C27}"/>
              </a:ext>
            </a:extLst>
          </p:cNvPr>
          <p:cNvSpPr/>
          <p:nvPr/>
        </p:nvSpPr>
        <p:spPr>
          <a:xfrm>
            <a:off x="679140" y="3620396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indent="0">
              <a:lnSpc>
                <a:spcPts val="1725"/>
              </a:lnSpc>
              <a:buNone/>
            </a:pP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汇报人：张国斌  袁晶晶  莫慧琳  谭潇华  杨一浩  娄培鑫  赵文桐  谭家乐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976</Words>
  <Application>Microsoft Office PowerPoint</Application>
  <PresentationFormat>全屏显示(16:9)</PresentationFormat>
  <Paragraphs>201</Paragraphs>
  <Slides>21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-apple-system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张国斌</cp:lastModifiedBy>
  <cp:revision>163</cp:revision>
  <dcterms:created xsi:type="dcterms:W3CDTF">2025-11-14T05:31:08Z</dcterms:created>
  <dcterms:modified xsi:type="dcterms:W3CDTF">2025-11-27T06:45:01Z</dcterms:modified>
</cp:coreProperties>
</file>