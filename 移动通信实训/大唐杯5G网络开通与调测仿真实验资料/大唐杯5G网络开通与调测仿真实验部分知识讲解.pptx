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51" d="100"/>
          <a:sy n="51" d="100"/>
        </p:scale>
        <p:origin x="88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7731C-E6D0-4F09-130F-2660FEEB2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6FC133-AA42-D3E8-6B87-2118135DB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BA9429-C474-B2CB-F279-EC6EFB41B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9F3D-BB12-4E9B-A110-3EF0EC7C9A80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399FFE-8E97-0A3D-2925-773F78466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111B19-68C0-194F-A501-8C4CFF2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50BEB-A386-416E-8E7E-DEB3C5120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11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36707-4889-B241-5B47-F424C0771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12FFA1-5B98-6C0D-DA90-C62E25709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806C69-6EF9-1B9E-A85A-3248621FE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9F3D-BB12-4E9B-A110-3EF0EC7C9A80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63140E-55A7-D780-7196-C74096E2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190E4C-8A80-992D-E889-A810FF8F9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50BEB-A386-416E-8E7E-DEB3C5120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266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88B1C-455C-8802-5674-250100D29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4C9D31-F8AE-7051-D87F-7E81BD885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F8FBC6-4053-9BFD-9303-F5706982C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9F3D-BB12-4E9B-A110-3EF0EC7C9A80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E1CD4C-E75F-DC16-DBA2-2528C195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C98381-638B-215A-373E-A7D38D922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50BEB-A386-416E-8E7E-DEB3C5120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61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14A25F-11F1-5332-8911-FC97DA9E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A30919-1C20-F3C3-DBBE-22DB9D12DD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CF9B11-E5DF-06A2-1148-589C91046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772D98-71CA-6F65-C03A-E86F28B3D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9F3D-BB12-4E9B-A110-3EF0EC7C9A80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0CB5C4-CCA8-7A1D-8625-0F4D29983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74C9E5-B986-C700-8803-33DBA3A97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50BEB-A386-416E-8E7E-DEB3C5120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133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92689D-256A-3541-C0DC-065356B3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A035A0-C477-11D7-A8A0-AB616C84C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97C8B2-98D2-6C98-B128-72B230F51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F7D4FB-CAE4-A643-641F-AD85B0365D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854929-6C0B-C5E1-C390-794F64238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56E0309-290A-7550-A679-5719FE572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9F3D-BB12-4E9B-A110-3EF0EC7C9A80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4EF5BB0-4DF8-A6EB-1EC3-99A740318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9C6674-608C-C724-123E-816A97889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50BEB-A386-416E-8E7E-DEB3C5120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242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FC37E3-867A-AD6A-B616-8C3C20E4F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16735F6-5E56-AA31-DB34-494508CB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9F3D-BB12-4E9B-A110-3EF0EC7C9A80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729B26-282C-8180-836E-9D1CD14FD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36CF34-5524-42BA-756F-648F65A4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50BEB-A386-416E-8E7E-DEB3C5120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48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34AB65-C555-5CB3-877F-87A28356D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9F3D-BB12-4E9B-A110-3EF0EC7C9A80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18E265-D1F8-19FB-48B7-AD7D2B76B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E45C2D-2C78-9122-EF8E-3EE3B1E13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50BEB-A386-416E-8E7E-DEB3C5120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207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12761-4E40-0F3F-290F-06A119093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7451A6-3C17-D5C7-2A4D-4AE1FF7F5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E6205F-D8B5-C93B-99E2-47757FC60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71EDC1-CB81-49B0-2588-B6B943CE5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9F3D-BB12-4E9B-A110-3EF0EC7C9A80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5078B9-03A3-8132-E21E-726D37949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3C2A7F-1EE9-03C2-D283-DFB145CA4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50BEB-A386-416E-8E7E-DEB3C5120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69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159B8-A156-33E0-1708-B8858DE4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E73EA9-4E1B-B5A9-240A-3ADFCCD7F8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2AF58A-A93F-5B3F-F96D-032C14DD0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CE23B3-A31D-6705-1E40-E187C785B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9F3D-BB12-4E9B-A110-3EF0EC7C9A80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E9146E-1013-A942-5F8E-A342AA4D2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BA6EC9-5D19-8AAE-D666-9D99C2E31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50BEB-A386-416E-8E7E-DEB3C5120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34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D9FD4-16F9-31BB-26E4-5CB240CC8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57CD7F-E854-AE05-6948-764E5F598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2C5692-66A6-56FA-4251-DC6E46026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9F3D-BB12-4E9B-A110-3EF0EC7C9A80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B4E6D8-2DAD-714B-6F5F-C19168D26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E1878E-9178-D84F-A877-52DA6D4BF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50BEB-A386-416E-8E7E-DEB3C5120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221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CC5565-2D2A-1CCE-36F5-E4F5C740C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279866-311E-013F-7D72-89D857783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47A112-83F8-41A6-00EF-0D1DBCFAD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9F3D-BB12-4E9B-A110-3EF0EC7C9A80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7D2FC0-3A9A-0FF8-2C3E-7DE4288AF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59C5DE-AF78-E41E-9166-3A875B8F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50BEB-A386-416E-8E7E-DEB3C5120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361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E9294C-416C-4821-49BE-A63CAF97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0409CC-7B27-B314-6766-E26031031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C73C4B-875E-9A6C-AB06-E7F993D561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39F3D-BB12-4E9B-A110-3EF0EC7C9A80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F9D615-E402-D9DF-AF7D-5DF528BE3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52496F-121E-81F5-460D-357ECACFB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50BEB-A386-416E-8E7E-DEB3C5120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05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8494BC4-16BF-201F-8E2A-0F7B6C53ACBC}"/>
              </a:ext>
            </a:extLst>
          </p:cNvPr>
          <p:cNvSpPr txBox="1"/>
          <p:nvPr/>
        </p:nvSpPr>
        <p:spPr>
          <a:xfrm>
            <a:off x="8937938" y="862885"/>
            <a:ext cx="2423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AMF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Access and Mobility Management Function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，接入和移动性管理功能。</a:t>
            </a:r>
            <a:endParaRPr lang="en-US" altLang="zh-CN" b="0" i="0" dirty="0">
              <a:solidFill>
                <a:srgbClr val="4D4D4D"/>
              </a:solidFill>
              <a:effectLst/>
              <a:latin typeface="-apple-system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10DEE84D-8FAD-031E-75E4-44CF2D8049EA}"/>
              </a:ext>
            </a:extLst>
          </p:cNvPr>
          <p:cNvGrpSpPr/>
          <p:nvPr/>
        </p:nvGrpSpPr>
        <p:grpSpPr>
          <a:xfrm>
            <a:off x="1414316" y="524688"/>
            <a:ext cx="6810514" cy="4243932"/>
            <a:chOff x="1465832" y="816678"/>
            <a:chExt cx="6810514" cy="424393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2A8885E-5C9F-50E8-8F32-1D0D10A67198}"/>
                </a:ext>
              </a:extLst>
            </p:cNvPr>
            <p:cNvSpPr/>
            <p:nvPr/>
          </p:nvSpPr>
          <p:spPr>
            <a:xfrm>
              <a:off x="1465832" y="816678"/>
              <a:ext cx="4530119" cy="212196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9680D80-6B28-892B-9327-F1767A0B739B}"/>
                </a:ext>
              </a:extLst>
            </p:cNvPr>
            <p:cNvSpPr/>
            <p:nvPr/>
          </p:nvSpPr>
          <p:spPr>
            <a:xfrm>
              <a:off x="1465832" y="2938644"/>
              <a:ext cx="2249724" cy="2121966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1DBECF9-48B8-1203-C044-2E0A80DA108E}"/>
                </a:ext>
              </a:extLst>
            </p:cNvPr>
            <p:cNvSpPr/>
            <p:nvPr/>
          </p:nvSpPr>
          <p:spPr>
            <a:xfrm>
              <a:off x="3715556" y="2938644"/>
              <a:ext cx="2280395" cy="21219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73DA749-95DF-AA3D-40F3-DC50C49067CB}"/>
                </a:ext>
              </a:extLst>
            </p:cNvPr>
            <p:cNvSpPr/>
            <p:nvPr/>
          </p:nvSpPr>
          <p:spPr>
            <a:xfrm>
              <a:off x="5995951" y="2938644"/>
              <a:ext cx="2280395" cy="2121966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BEBAE6F-5CBA-3296-CA43-6A51CBAC0D5B}"/>
                </a:ext>
              </a:extLst>
            </p:cNvPr>
            <p:cNvSpPr/>
            <p:nvPr/>
          </p:nvSpPr>
          <p:spPr>
            <a:xfrm>
              <a:off x="5995951" y="816678"/>
              <a:ext cx="2280395" cy="212196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92F56FB-7D49-C221-3789-C6C1E31CDC54}"/>
                </a:ext>
              </a:extLst>
            </p:cNvPr>
            <p:cNvSpPr txBox="1"/>
            <p:nvPr/>
          </p:nvSpPr>
          <p:spPr>
            <a:xfrm>
              <a:off x="1761308" y="1508329"/>
              <a:ext cx="102387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AMF</a:t>
              </a:r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25241E8-4E17-E11B-BD9C-0153851B0306}"/>
                </a:ext>
              </a:extLst>
            </p:cNvPr>
            <p:cNvSpPr txBox="1"/>
            <p:nvPr/>
          </p:nvSpPr>
          <p:spPr>
            <a:xfrm>
              <a:off x="3225398" y="1508329"/>
              <a:ext cx="102387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SMF</a:t>
              </a:r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B95EFB3-F2A1-135C-64DC-0A67CD5721B8}"/>
                </a:ext>
              </a:extLst>
            </p:cNvPr>
            <p:cNvSpPr txBox="1"/>
            <p:nvPr/>
          </p:nvSpPr>
          <p:spPr>
            <a:xfrm>
              <a:off x="4689488" y="1508329"/>
              <a:ext cx="102387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UPF</a:t>
              </a:r>
              <a:endParaRPr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ABD6E5E-F6AD-67D2-41EE-768E658ECC40}"/>
                </a:ext>
              </a:extLst>
            </p:cNvPr>
            <p:cNvSpPr txBox="1"/>
            <p:nvPr/>
          </p:nvSpPr>
          <p:spPr>
            <a:xfrm>
              <a:off x="6428794" y="1508329"/>
              <a:ext cx="1414708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业务服务器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889FEFF-F105-0ED1-0FEC-42A075B9DC46}"/>
                </a:ext>
              </a:extLst>
            </p:cNvPr>
            <p:cNvSpPr txBox="1"/>
            <p:nvPr/>
          </p:nvSpPr>
          <p:spPr>
            <a:xfrm>
              <a:off x="4343818" y="3814961"/>
              <a:ext cx="102387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(R)AN</a:t>
              </a:r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30A2373-B00C-2C33-2A69-199C2D86AC23}"/>
                </a:ext>
              </a:extLst>
            </p:cNvPr>
            <p:cNvSpPr txBox="1"/>
            <p:nvPr/>
          </p:nvSpPr>
          <p:spPr>
            <a:xfrm>
              <a:off x="2084216" y="3814961"/>
              <a:ext cx="102387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UE</a:t>
              </a:r>
              <a:endParaRPr lang="zh-CN" alt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4A3DDB4-DF63-CC31-F08F-7B25D7C48301}"/>
                </a:ext>
              </a:extLst>
            </p:cNvPr>
            <p:cNvSpPr txBox="1"/>
            <p:nvPr/>
          </p:nvSpPr>
          <p:spPr>
            <a:xfrm>
              <a:off x="6427095" y="3814961"/>
              <a:ext cx="1418643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OMC</a:t>
              </a:r>
              <a:r>
                <a:rPr lang="zh-CN" altLang="en-US" dirty="0"/>
                <a:t>服务器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6E81BCA0-DB50-B104-3908-FC8D6082722F}"/>
                </a:ext>
              </a:extLst>
            </p:cNvPr>
            <p:cNvCxnSpPr>
              <a:stCxn id="9" idx="3"/>
              <a:endCxn id="14" idx="0"/>
            </p:cNvCxnSpPr>
            <p:nvPr/>
          </p:nvCxnSpPr>
          <p:spPr>
            <a:xfrm>
              <a:off x="2785178" y="1692995"/>
              <a:ext cx="2070575" cy="2121966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256B9FB-F553-D428-5663-1B62E65D81E6}"/>
                </a:ext>
              </a:extLst>
            </p:cNvPr>
            <p:cNvCxnSpPr>
              <a:cxnSpLocks/>
              <a:stCxn id="12" idx="2"/>
              <a:endCxn id="14" idx="0"/>
            </p:cNvCxnSpPr>
            <p:nvPr/>
          </p:nvCxnSpPr>
          <p:spPr>
            <a:xfrm flipH="1">
              <a:off x="4855753" y="1877661"/>
              <a:ext cx="345670" cy="19373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34FBAF72-D617-0848-A715-4C7CF23C1DC0}"/>
                </a:ext>
              </a:extLst>
            </p:cNvPr>
            <p:cNvCxnSpPr>
              <a:cxnSpLocks/>
              <a:stCxn id="11" idx="3"/>
              <a:endCxn id="12" idx="1"/>
            </p:cNvCxnSpPr>
            <p:nvPr/>
          </p:nvCxnSpPr>
          <p:spPr>
            <a:xfrm>
              <a:off x="4249268" y="1692995"/>
              <a:ext cx="440220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9F673404-26C9-74BE-7004-2B442217415A}"/>
                </a:ext>
              </a:extLst>
            </p:cNvPr>
            <p:cNvCxnSpPr>
              <a:cxnSpLocks/>
              <a:stCxn id="13" idx="1"/>
              <a:endCxn id="12" idx="3"/>
            </p:cNvCxnSpPr>
            <p:nvPr/>
          </p:nvCxnSpPr>
          <p:spPr>
            <a:xfrm flipH="1">
              <a:off x="5713358" y="1692995"/>
              <a:ext cx="715436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C3636951-1E91-5A32-2020-3BE1693E2AAF}"/>
                </a:ext>
              </a:extLst>
            </p:cNvPr>
            <p:cNvCxnSpPr>
              <a:cxnSpLocks/>
              <a:stCxn id="16" idx="1"/>
              <a:endCxn id="14" idx="3"/>
            </p:cNvCxnSpPr>
            <p:nvPr/>
          </p:nvCxnSpPr>
          <p:spPr>
            <a:xfrm flipH="1">
              <a:off x="5367688" y="3999627"/>
              <a:ext cx="1059407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55F0668-D8AD-C71B-0899-6F1269A2BD19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3108086" y="3999627"/>
              <a:ext cx="1214940" cy="0"/>
            </a:xfrm>
            <a:prstGeom prst="line">
              <a:avLst/>
            </a:prstGeom>
            <a:ln>
              <a:prstDash val="lgDashDot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A90E7E3F-6E1A-A6AB-B817-8D0CF579FD04}"/>
                </a:ext>
              </a:extLst>
            </p:cNvPr>
            <p:cNvCxnSpPr>
              <a:cxnSpLocks/>
              <a:stCxn id="13" idx="1"/>
              <a:endCxn id="14" idx="0"/>
            </p:cNvCxnSpPr>
            <p:nvPr/>
          </p:nvCxnSpPr>
          <p:spPr>
            <a:xfrm flipH="1">
              <a:off x="4855753" y="1692995"/>
              <a:ext cx="1573041" cy="2121966"/>
            </a:xfrm>
            <a:prstGeom prst="line">
              <a:avLst/>
            </a:prstGeom>
            <a:ln>
              <a:prstDash val="lgDashDot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30D2F2C-AD69-CBDD-52AA-190BE8835AE6}"/>
                </a:ext>
              </a:extLst>
            </p:cNvPr>
            <p:cNvSpPr txBox="1"/>
            <p:nvPr/>
          </p:nvSpPr>
          <p:spPr>
            <a:xfrm>
              <a:off x="2955701" y="862885"/>
              <a:ext cx="15390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核心网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75F6638-93AE-8535-CE6F-5F33E0994083}"/>
                </a:ext>
              </a:extLst>
            </p:cNvPr>
            <p:cNvSpPr txBox="1"/>
            <p:nvPr/>
          </p:nvSpPr>
          <p:spPr>
            <a:xfrm>
              <a:off x="6344515" y="862885"/>
              <a:ext cx="15390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业务平台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E0AF082A-0AD7-621E-41C5-940BC10B9956}"/>
                </a:ext>
              </a:extLst>
            </p:cNvPr>
            <p:cNvSpPr txBox="1"/>
            <p:nvPr/>
          </p:nvSpPr>
          <p:spPr>
            <a:xfrm>
              <a:off x="1826148" y="4372179"/>
              <a:ext cx="15390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终端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8EA08382-9A30-1AB1-A35D-77F8D7B3D12A}"/>
                </a:ext>
              </a:extLst>
            </p:cNvPr>
            <p:cNvSpPr txBox="1"/>
            <p:nvPr/>
          </p:nvSpPr>
          <p:spPr>
            <a:xfrm>
              <a:off x="4086240" y="4372179"/>
              <a:ext cx="15390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接入网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08A10DB-1801-F289-B274-93A60A12D0DC}"/>
                </a:ext>
              </a:extLst>
            </p:cNvPr>
            <p:cNvSpPr txBox="1"/>
            <p:nvPr/>
          </p:nvSpPr>
          <p:spPr>
            <a:xfrm>
              <a:off x="6333454" y="4368959"/>
              <a:ext cx="1605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操作维护平台</a:t>
              </a: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3B4E0C3-BBC3-9C47-E3B9-4672CC17CF42}"/>
              </a:ext>
            </a:extLst>
          </p:cNvPr>
          <p:cNvSpPr txBox="1"/>
          <p:nvPr/>
        </p:nvSpPr>
        <p:spPr>
          <a:xfrm>
            <a:off x="8937938" y="2246146"/>
            <a:ext cx="2423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SMF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Session Management Function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，会话管理功能）是会话管理功能实体。</a:t>
            </a:r>
            <a:endParaRPr lang="en-US" altLang="zh-CN" b="0" i="0" dirty="0">
              <a:solidFill>
                <a:srgbClr val="4D4D4D"/>
              </a:solidFill>
              <a:effectLst/>
              <a:latin typeface="-apple-system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67A9E74-0D13-DE51-F3F1-B3ADD68FA42B}"/>
              </a:ext>
            </a:extLst>
          </p:cNvPr>
          <p:cNvSpPr txBox="1"/>
          <p:nvPr/>
        </p:nvSpPr>
        <p:spPr>
          <a:xfrm>
            <a:off x="8937937" y="3633411"/>
            <a:ext cx="2423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UPF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User Plane Function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，用户面管理功能）是用户面功能实体，其类似于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4G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下的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GW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SGW+PGW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）。最主要的功能是负责数据包的路由转发、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Qos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流映射。</a:t>
            </a:r>
            <a:endParaRPr lang="en-US" altLang="zh-CN" b="0" i="0" dirty="0">
              <a:solidFill>
                <a:srgbClr val="4D4D4D"/>
              </a:solidFill>
              <a:effectLst/>
              <a:latin typeface="-apple-system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AE69C3C-5530-C97A-4987-C9540D614ECA}"/>
              </a:ext>
            </a:extLst>
          </p:cNvPr>
          <p:cNvSpPr txBox="1"/>
          <p:nvPr/>
        </p:nvSpPr>
        <p:spPr>
          <a:xfrm>
            <a:off x="1337042" y="5132983"/>
            <a:ext cx="7098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4D4D4D"/>
                </a:solidFill>
                <a:latin typeface="-apple-system"/>
              </a:rPr>
              <a:t>RAN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Radio Access Network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，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无线接入网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。可以简单理解为基站设备。</a:t>
            </a:r>
          </a:p>
          <a:p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在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4G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网络中为基站（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BBU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）、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RRU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、天线所组成的无线接入网络；</a:t>
            </a:r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在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5G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网络中则为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BBU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和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AAU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组成的无线接入网。</a:t>
            </a:r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AAU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可以理解为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RRU+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天线。</a:t>
            </a:r>
            <a:endParaRPr lang="en-US" altLang="zh-CN" b="0" i="0" dirty="0">
              <a:solidFill>
                <a:srgbClr val="4D4D4D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2375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C748EA-067E-0BB6-1487-771A8E2BDAFF}"/>
              </a:ext>
            </a:extLst>
          </p:cNvPr>
          <p:cNvGrpSpPr/>
          <p:nvPr/>
        </p:nvGrpSpPr>
        <p:grpSpPr>
          <a:xfrm>
            <a:off x="207948" y="180791"/>
            <a:ext cx="11442194" cy="6006959"/>
            <a:chOff x="207948" y="180791"/>
            <a:chExt cx="11442194" cy="600695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01832AF-4451-0076-5455-95205C60D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7948" y="3165394"/>
              <a:ext cx="5644601" cy="302235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4B2C319-B10B-D3AD-34D3-592CF8956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2549" y="180791"/>
              <a:ext cx="5797593" cy="297541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E0DDC4C7-0A70-A1C5-9807-2867428E5D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633" t="9770"/>
            <a:stretch/>
          </p:blipFill>
          <p:spPr>
            <a:xfrm>
              <a:off x="5852549" y="3165394"/>
              <a:ext cx="5797593" cy="302235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CBF189A-D2F6-2D18-C673-4068086734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127"/>
            <a:stretch/>
          </p:blipFill>
          <p:spPr>
            <a:xfrm>
              <a:off x="207948" y="184840"/>
              <a:ext cx="5644601" cy="29713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13" name="图形 12" descr="徽章 1 轮廓">
            <a:extLst>
              <a:ext uri="{FF2B5EF4-FFF2-40B4-BE49-F238E27FC236}">
                <a16:creationId xmlns:a16="http://schemas.microsoft.com/office/drawing/2014/main" id="{25E13C5D-877C-EF77-139A-A1B01E7C32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9812" y="1016103"/>
            <a:ext cx="484070" cy="484070"/>
          </a:xfrm>
          <a:prstGeom prst="rect">
            <a:avLst/>
          </a:prstGeom>
        </p:spPr>
      </p:pic>
      <p:pic>
        <p:nvPicPr>
          <p:cNvPr id="15" name="图形 14" descr="徽章 轮廓">
            <a:extLst>
              <a:ext uri="{FF2B5EF4-FFF2-40B4-BE49-F238E27FC236}">
                <a16:creationId xmlns:a16="http://schemas.microsoft.com/office/drawing/2014/main" id="{2B0A6039-12EF-F073-776A-84C88CF71A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55383" y="1016103"/>
            <a:ext cx="484070" cy="484070"/>
          </a:xfrm>
          <a:prstGeom prst="rect">
            <a:avLst/>
          </a:prstGeom>
        </p:spPr>
      </p:pic>
      <p:pic>
        <p:nvPicPr>
          <p:cNvPr id="17" name="图形 16" descr="徽章 3 轮廓">
            <a:extLst>
              <a:ext uri="{FF2B5EF4-FFF2-40B4-BE49-F238E27FC236}">
                <a16:creationId xmlns:a16="http://schemas.microsoft.com/office/drawing/2014/main" id="{A5D83DD2-6143-E881-4F09-73AA2E99B0C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6903" y="3187885"/>
            <a:ext cx="560355" cy="560355"/>
          </a:xfrm>
          <a:prstGeom prst="rect">
            <a:avLst/>
          </a:prstGeom>
        </p:spPr>
      </p:pic>
      <p:pic>
        <p:nvPicPr>
          <p:cNvPr id="19" name="图形 18" descr="徽章 4 轮廓">
            <a:extLst>
              <a:ext uri="{FF2B5EF4-FFF2-40B4-BE49-F238E27FC236}">
                <a16:creationId xmlns:a16="http://schemas.microsoft.com/office/drawing/2014/main" id="{F7DF66AE-21C7-2A7B-FD8D-7733725DAB8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843479" y="3187180"/>
            <a:ext cx="533461" cy="53346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AB93E7A-C186-833D-2164-756C362D7BC9}"/>
              </a:ext>
            </a:extLst>
          </p:cNvPr>
          <p:cNvSpPr/>
          <p:nvPr/>
        </p:nvSpPr>
        <p:spPr>
          <a:xfrm>
            <a:off x="641350" y="5772150"/>
            <a:ext cx="1047750" cy="273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HDPSE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133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F2D1E06-A098-18D3-972D-9F8D22950F93}"/>
              </a:ext>
            </a:extLst>
          </p:cNvPr>
          <p:cNvSpPr txBox="1"/>
          <p:nvPr/>
        </p:nvSpPr>
        <p:spPr>
          <a:xfrm>
            <a:off x="355001" y="236668"/>
            <a:ext cx="3808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IP</a:t>
            </a:r>
            <a:r>
              <a:rPr lang="zh-CN" altLang="en-US" sz="2400" dirty="0"/>
              <a:t>地址与网络地址的计算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E5C9024-2958-6020-2ACA-99D6C496A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83" y="912448"/>
            <a:ext cx="11769634" cy="75377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0149F23-2E2C-1172-D518-062843FAD8DC}"/>
              </a:ext>
            </a:extLst>
          </p:cNvPr>
          <p:cNvSpPr txBox="1"/>
          <p:nvPr/>
        </p:nvSpPr>
        <p:spPr>
          <a:xfrm>
            <a:off x="354999" y="1976792"/>
            <a:ext cx="7379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对应网元的网络地址</a:t>
            </a:r>
            <a:r>
              <a:rPr lang="en-US" altLang="zh-CN" sz="2000" b="1" dirty="0"/>
              <a:t>=</a:t>
            </a:r>
            <a:r>
              <a:rPr lang="zh-CN" altLang="en-US" sz="2000" b="1" dirty="0"/>
              <a:t>对应网元网关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</a:t>
            </a:r>
            <a:r>
              <a:rPr lang="en-US" altLang="zh-CN" sz="2000" b="1" dirty="0"/>
              <a:t>&amp;</a:t>
            </a:r>
            <a:r>
              <a:rPr lang="zh-CN" altLang="en-US" sz="2000" b="1" dirty="0"/>
              <a:t>其子网掩码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EDCE5C-DCB2-B797-9D15-7CC2E04894DA}"/>
              </a:ext>
            </a:extLst>
          </p:cNvPr>
          <p:cNvSpPr txBox="1"/>
          <p:nvPr/>
        </p:nvSpPr>
        <p:spPr>
          <a:xfrm>
            <a:off x="354998" y="2487412"/>
            <a:ext cx="7379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对应网元的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</a:t>
            </a:r>
            <a:r>
              <a:rPr lang="en-US" altLang="zh-CN" sz="2000" b="1" dirty="0"/>
              <a:t>=(</a:t>
            </a:r>
            <a:r>
              <a:rPr lang="zh-CN" altLang="en-US" sz="2000" b="1" dirty="0"/>
              <a:t>对应网元网关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</a:t>
            </a:r>
            <a:r>
              <a:rPr lang="en-US" altLang="zh-CN" sz="2000" b="1" dirty="0"/>
              <a:t>&amp;</a:t>
            </a:r>
            <a:r>
              <a:rPr lang="zh-CN" altLang="en-US" sz="2000" b="1" dirty="0"/>
              <a:t>其子网掩码</a:t>
            </a:r>
            <a:r>
              <a:rPr lang="en-US" altLang="zh-CN" sz="2000" b="1" dirty="0"/>
              <a:t>)+1</a:t>
            </a:r>
            <a:endParaRPr lang="zh-CN" altLang="en-US" sz="20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A7118C-6E9C-1581-8DB9-76C21655E7F6}"/>
              </a:ext>
            </a:extLst>
          </p:cNvPr>
          <p:cNvSpPr txBox="1"/>
          <p:nvPr/>
        </p:nvSpPr>
        <p:spPr>
          <a:xfrm>
            <a:off x="354998" y="3172380"/>
            <a:ext cx="102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例如，我们要求</a:t>
            </a:r>
            <a:r>
              <a:rPr lang="en-US" altLang="zh-CN" dirty="0"/>
              <a:t>AMF</a:t>
            </a:r>
            <a:r>
              <a:rPr lang="zh-CN" altLang="en-US" dirty="0"/>
              <a:t>这个网元的网络地址和</a:t>
            </a:r>
            <a:r>
              <a:rPr lang="en-US" altLang="zh-CN" dirty="0"/>
              <a:t>IP</a:t>
            </a:r>
            <a:r>
              <a:rPr lang="zh-CN" altLang="en-US" dirty="0"/>
              <a:t>地址。那我们首先得找到其网关</a:t>
            </a:r>
            <a:r>
              <a:rPr lang="en-US" altLang="zh-CN" dirty="0"/>
              <a:t>IP</a:t>
            </a:r>
            <a:r>
              <a:rPr lang="zh-CN" altLang="en-US" dirty="0"/>
              <a:t>地址和子网掩码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775854-D7C8-CAAC-D9E3-71F2B3558300}"/>
              </a:ext>
            </a:extLst>
          </p:cNvPr>
          <p:cNvSpPr txBox="1"/>
          <p:nvPr/>
        </p:nvSpPr>
        <p:spPr>
          <a:xfrm>
            <a:off x="354998" y="3679924"/>
            <a:ext cx="693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见上图，</a:t>
            </a:r>
            <a:r>
              <a:rPr lang="en-US" altLang="zh-CN" dirty="0"/>
              <a:t>AMF</a:t>
            </a:r>
            <a:r>
              <a:rPr lang="zh-CN" altLang="en-US" dirty="0"/>
              <a:t>网关</a:t>
            </a:r>
            <a:r>
              <a:rPr lang="en-US" altLang="zh-CN" dirty="0"/>
              <a:t>IP</a:t>
            </a:r>
            <a:r>
              <a:rPr lang="zh-CN" altLang="en-US" dirty="0"/>
              <a:t>为</a:t>
            </a:r>
            <a:r>
              <a:rPr lang="en-US" altLang="zh-CN" dirty="0"/>
              <a:t>121.1.1.28</a:t>
            </a:r>
            <a:r>
              <a:rPr lang="zh-CN" altLang="en-US" dirty="0"/>
              <a:t>；其子网掩码为</a:t>
            </a:r>
            <a:r>
              <a:rPr lang="en-US" altLang="zh-CN" dirty="0"/>
              <a:t>255.255.255.248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7DB196A-24C0-19D7-5D59-3385F455BEF8}"/>
              </a:ext>
            </a:extLst>
          </p:cNvPr>
          <p:cNvSpPr txBox="1"/>
          <p:nvPr/>
        </p:nvSpPr>
        <p:spPr>
          <a:xfrm>
            <a:off x="354998" y="4187468"/>
            <a:ext cx="693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121.1.1.28</a:t>
            </a:r>
            <a:r>
              <a:rPr lang="zh-CN" altLang="en-US" dirty="0"/>
              <a:t>与</a:t>
            </a:r>
            <a:r>
              <a:rPr lang="en-US" altLang="zh-CN" dirty="0"/>
              <a:t>255.255.255.248</a:t>
            </a:r>
            <a:r>
              <a:rPr lang="zh-CN" altLang="en-US" dirty="0"/>
              <a:t>转化为二进制表示：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548E641-0CB9-0419-31FA-71CA2D9979B9}"/>
              </a:ext>
            </a:extLst>
          </p:cNvPr>
          <p:cNvGrpSpPr/>
          <p:nvPr/>
        </p:nvGrpSpPr>
        <p:grpSpPr>
          <a:xfrm>
            <a:off x="815227" y="4604663"/>
            <a:ext cx="2348004" cy="461667"/>
            <a:chOff x="546100" y="4817030"/>
            <a:chExt cx="2348004" cy="461667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CA4C8BD-0A5C-09FA-F980-D2010E61C911}"/>
                </a:ext>
              </a:extLst>
            </p:cNvPr>
            <p:cNvSpPr txBox="1"/>
            <p:nvPr/>
          </p:nvSpPr>
          <p:spPr>
            <a:xfrm>
              <a:off x="546100" y="4817032"/>
              <a:ext cx="838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/>
                <a:t>121</a:t>
              </a:r>
              <a:endParaRPr lang="zh-CN" altLang="en-US" sz="2400" b="1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23DFD85-6829-BD5F-CF81-E666C1AA38A8}"/>
                </a:ext>
              </a:extLst>
            </p:cNvPr>
            <p:cNvSpPr txBox="1"/>
            <p:nvPr/>
          </p:nvSpPr>
          <p:spPr>
            <a:xfrm>
              <a:off x="1244600" y="4817030"/>
              <a:ext cx="520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/>
                <a:t>.1</a:t>
              </a:r>
              <a:endParaRPr lang="zh-CN" altLang="en-US" sz="2400" b="1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0291803-D638-6100-6748-135B7CE3BCB6}"/>
                </a:ext>
              </a:extLst>
            </p:cNvPr>
            <p:cNvSpPr txBox="1"/>
            <p:nvPr/>
          </p:nvSpPr>
          <p:spPr>
            <a:xfrm>
              <a:off x="1765300" y="4817030"/>
              <a:ext cx="520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/>
                <a:t>.1</a:t>
              </a:r>
              <a:endParaRPr lang="zh-CN" altLang="en-US" sz="2400" b="1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183911B-B7F1-ADBC-E6A8-536EB27D39A2}"/>
                </a:ext>
              </a:extLst>
            </p:cNvPr>
            <p:cNvSpPr txBox="1"/>
            <p:nvPr/>
          </p:nvSpPr>
          <p:spPr>
            <a:xfrm>
              <a:off x="2259104" y="4817030"/>
              <a:ext cx="63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/>
                <a:t>.28</a:t>
              </a:r>
              <a:endParaRPr lang="zh-CN" altLang="en-US" sz="2400" b="1" dirty="0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7A5E84F6-D163-95FE-9893-DF79BBC3A487}"/>
              </a:ext>
            </a:extLst>
          </p:cNvPr>
          <p:cNvSpPr txBox="1"/>
          <p:nvPr/>
        </p:nvSpPr>
        <p:spPr>
          <a:xfrm>
            <a:off x="71346" y="5522352"/>
            <a:ext cx="1062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0111 1001</a:t>
            </a:r>
            <a:endParaRPr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AD667C-DD8F-F2DC-A1E4-4A30DF696F15}"/>
              </a:ext>
            </a:extLst>
          </p:cNvPr>
          <p:cNvSpPr txBox="1"/>
          <p:nvPr/>
        </p:nvSpPr>
        <p:spPr>
          <a:xfrm>
            <a:off x="1085850" y="5522352"/>
            <a:ext cx="1062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0000 0001</a:t>
            </a:r>
            <a:endParaRPr lang="zh-CN" altLang="en-US" sz="1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153ED0-BCEE-8476-7436-455370D3FCDC}"/>
              </a:ext>
            </a:extLst>
          </p:cNvPr>
          <p:cNvSpPr txBox="1"/>
          <p:nvPr/>
        </p:nvSpPr>
        <p:spPr>
          <a:xfrm>
            <a:off x="2100354" y="5519746"/>
            <a:ext cx="1062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0000 0001</a:t>
            </a:r>
            <a:endParaRPr lang="zh-CN" altLang="en-US" sz="14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E221F62-8BC6-B47F-DC1C-5726DAE43EC1}"/>
              </a:ext>
            </a:extLst>
          </p:cNvPr>
          <p:cNvSpPr txBox="1"/>
          <p:nvPr/>
        </p:nvSpPr>
        <p:spPr>
          <a:xfrm>
            <a:off x="3163231" y="5519745"/>
            <a:ext cx="1062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0001 1100</a:t>
            </a:r>
            <a:endParaRPr lang="zh-CN" altLang="en-US" sz="1400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10723F8-6D81-5A12-D641-27AAD7543D96}"/>
              </a:ext>
            </a:extLst>
          </p:cNvPr>
          <p:cNvCxnSpPr>
            <a:stCxn id="13" idx="2"/>
            <a:endCxn id="18" idx="0"/>
          </p:cNvCxnSpPr>
          <p:nvPr/>
        </p:nvCxnSpPr>
        <p:spPr>
          <a:xfrm flipH="1">
            <a:off x="602785" y="5066330"/>
            <a:ext cx="631542" cy="45602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BEE26904-A3BE-CABF-8FD4-94FFEDCB4749}"/>
              </a:ext>
            </a:extLst>
          </p:cNvPr>
          <p:cNvCxnSpPr>
            <a:cxnSpLocks/>
            <a:stCxn id="15" idx="2"/>
            <a:endCxn id="21" idx="0"/>
          </p:cNvCxnSpPr>
          <p:nvPr/>
        </p:nvCxnSpPr>
        <p:spPr>
          <a:xfrm flipH="1">
            <a:off x="1617289" y="5066328"/>
            <a:ext cx="156788" cy="4560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C83DD44-E165-F49B-2822-9DE8E25CDF14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>
            <a:off x="2294777" y="5066328"/>
            <a:ext cx="337016" cy="45341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7BD3D01-DC53-F71E-3E77-36C87961505A}"/>
              </a:ext>
            </a:extLst>
          </p:cNvPr>
          <p:cNvCxnSpPr>
            <a:cxnSpLocks/>
            <a:stCxn id="17" idx="2"/>
            <a:endCxn id="23" idx="0"/>
          </p:cNvCxnSpPr>
          <p:nvPr/>
        </p:nvCxnSpPr>
        <p:spPr>
          <a:xfrm>
            <a:off x="2845731" y="5066328"/>
            <a:ext cx="848939" cy="4534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E562610-51F6-6E44-34CC-D3F856110962}"/>
              </a:ext>
            </a:extLst>
          </p:cNvPr>
          <p:cNvGrpSpPr/>
          <p:nvPr/>
        </p:nvGrpSpPr>
        <p:grpSpPr>
          <a:xfrm>
            <a:off x="5486098" y="4544098"/>
            <a:ext cx="2653850" cy="475569"/>
            <a:chOff x="546100" y="4808825"/>
            <a:chExt cx="2653850" cy="475569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EDFCC9C1-72E8-11E9-E97C-DCF34842FFEA}"/>
                </a:ext>
              </a:extLst>
            </p:cNvPr>
            <p:cNvSpPr txBox="1"/>
            <p:nvPr/>
          </p:nvSpPr>
          <p:spPr>
            <a:xfrm>
              <a:off x="546100" y="4817032"/>
              <a:ext cx="838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/>
                <a:t>255</a:t>
              </a:r>
              <a:endParaRPr lang="zh-CN" altLang="en-US" sz="2400" b="1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F9E1286-5F11-C68E-5FCA-65A41CADB231}"/>
                </a:ext>
              </a:extLst>
            </p:cNvPr>
            <p:cNvSpPr txBox="1"/>
            <p:nvPr/>
          </p:nvSpPr>
          <p:spPr>
            <a:xfrm>
              <a:off x="1147304" y="4822729"/>
              <a:ext cx="8113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/>
                <a:t>.255</a:t>
              </a:r>
              <a:endParaRPr lang="zh-CN" altLang="en-US" sz="2400" b="1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FB5BF96C-4D81-60FD-C359-E326B8F8245B}"/>
                </a:ext>
              </a:extLst>
            </p:cNvPr>
            <p:cNvSpPr txBox="1"/>
            <p:nvPr/>
          </p:nvSpPr>
          <p:spPr>
            <a:xfrm>
              <a:off x="1746098" y="4817027"/>
              <a:ext cx="863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/>
                <a:t>.255</a:t>
              </a:r>
              <a:endParaRPr lang="zh-CN" altLang="en-US" sz="2400" b="1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8277846B-1DD4-928F-856C-D1DD63FC293E}"/>
                </a:ext>
              </a:extLst>
            </p:cNvPr>
            <p:cNvSpPr txBox="1"/>
            <p:nvPr/>
          </p:nvSpPr>
          <p:spPr>
            <a:xfrm>
              <a:off x="2388647" y="4808825"/>
              <a:ext cx="8113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/>
                <a:t>.248</a:t>
              </a:r>
              <a:endParaRPr lang="zh-CN" altLang="en-US" sz="2400" b="1" dirty="0"/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76421319-875D-D2F7-D3E4-92883BAF6345}"/>
              </a:ext>
            </a:extLst>
          </p:cNvPr>
          <p:cNvSpPr txBox="1"/>
          <p:nvPr/>
        </p:nvSpPr>
        <p:spPr>
          <a:xfrm>
            <a:off x="4869598" y="5471220"/>
            <a:ext cx="1062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1111 1111</a:t>
            </a:r>
            <a:endParaRPr lang="zh-CN" altLang="en-US" sz="14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FC1ABB0-4313-5D4B-4040-CBE544A7B3B4}"/>
              </a:ext>
            </a:extLst>
          </p:cNvPr>
          <p:cNvSpPr txBox="1"/>
          <p:nvPr/>
        </p:nvSpPr>
        <p:spPr>
          <a:xfrm>
            <a:off x="5884102" y="5471220"/>
            <a:ext cx="1062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1111 1111</a:t>
            </a:r>
            <a:endParaRPr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7F6155C-4280-5658-C3B1-D3794FDC4093}"/>
              </a:ext>
            </a:extLst>
          </p:cNvPr>
          <p:cNvSpPr txBox="1"/>
          <p:nvPr/>
        </p:nvSpPr>
        <p:spPr>
          <a:xfrm>
            <a:off x="6898606" y="5468614"/>
            <a:ext cx="1062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1111 1111</a:t>
            </a:r>
            <a:endParaRPr lang="zh-CN" altLang="en-US" sz="14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F459FE7-8CCE-0906-945C-C1CD53B9E647}"/>
              </a:ext>
            </a:extLst>
          </p:cNvPr>
          <p:cNvSpPr txBox="1"/>
          <p:nvPr/>
        </p:nvSpPr>
        <p:spPr>
          <a:xfrm>
            <a:off x="7961483" y="5468613"/>
            <a:ext cx="1062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1111 1000</a:t>
            </a:r>
            <a:endParaRPr lang="zh-CN" altLang="en-US" sz="1400" dirty="0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907A458F-A40A-255F-4BD6-B4904C0384A9}"/>
              </a:ext>
            </a:extLst>
          </p:cNvPr>
          <p:cNvCxnSpPr>
            <a:cxnSpLocks/>
            <a:stCxn id="36" idx="2"/>
            <a:endCxn id="40" idx="0"/>
          </p:cNvCxnSpPr>
          <p:nvPr/>
        </p:nvCxnSpPr>
        <p:spPr>
          <a:xfrm flipH="1">
            <a:off x="5401037" y="5013970"/>
            <a:ext cx="504161" cy="45725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AE814A37-A38D-B549-4D9E-1276EEC5BE7A}"/>
              </a:ext>
            </a:extLst>
          </p:cNvPr>
          <p:cNvCxnSpPr>
            <a:cxnSpLocks/>
            <a:stCxn id="37" idx="2"/>
            <a:endCxn id="41" idx="0"/>
          </p:cNvCxnSpPr>
          <p:nvPr/>
        </p:nvCxnSpPr>
        <p:spPr>
          <a:xfrm flipH="1">
            <a:off x="6415541" y="5019667"/>
            <a:ext cx="77413" cy="45155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40569B7-5F79-7A94-232B-A03A4CCD1A10}"/>
              </a:ext>
            </a:extLst>
          </p:cNvPr>
          <p:cNvCxnSpPr>
            <a:cxnSpLocks/>
            <a:stCxn id="38" idx="2"/>
            <a:endCxn id="42" idx="0"/>
          </p:cNvCxnSpPr>
          <p:nvPr/>
        </p:nvCxnSpPr>
        <p:spPr>
          <a:xfrm>
            <a:off x="7118046" y="5013965"/>
            <a:ext cx="311999" cy="45464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44D37E36-DFD2-933D-B9B6-D2960433B0CE}"/>
              </a:ext>
            </a:extLst>
          </p:cNvPr>
          <p:cNvCxnSpPr>
            <a:cxnSpLocks/>
            <a:stCxn id="39" idx="2"/>
            <a:endCxn id="43" idx="0"/>
          </p:cNvCxnSpPr>
          <p:nvPr/>
        </p:nvCxnSpPr>
        <p:spPr>
          <a:xfrm>
            <a:off x="7734297" y="5005763"/>
            <a:ext cx="758625" cy="46285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6D0790D4-68FE-C5B5-DF6E-4A2712D27350}"/>
              </a:ext>
            </a:extLst>
          </p:cNvPr>
          <p:cNvSpPr txBox="1"/>
          <p:nvPr/>
        </p:nvSpPr>
        <p:spPr>
          <a:xfrm>
            <a:off x="7222493" y="1900500"/>
            <a:ext cx="15151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与运算</a:t>
            </a:r>
            <a:r>
              <a:rPr lang="en-US" altLang="zh-CN" sz="2000" dirty="0"/>
              <a:t>(&amp;)</a:t>
            </a:r>
            <a:r>
              <a:rPr lang="zh-CN" altLang="en-US" sz="2000" dirty="0"/>
              <a:t>可以简单理解为乘法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F7C5BE2-D38F-8D9D-C246-243B229605E3}"/>
              </a:ext>
            </a:extLst>
          </p:cNvPr>
          <p:cNvSpPr txBox="1"/>
          <p:nvPr/>
        </p:nvSpPr>
        <p:spPr>
          <a:xfrm>
            <a:off x="9258300" y="1839754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0010 1110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EE50411-B750-3A2B-DA14-90411776238C}"/>
              </a:ext>
            </a:extLst>
          </p:cNvPr>
          <p:cNvSpPr txBox="1"/>
          <p:nvPr/>
        </p:nvSpPr>
        <p:spPr>
          <a:xfrm>
            <a:off x="9258300" y="223377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0110 1010</a:t>
            </a:r>
            <a:endParaRPr lang="zh-CN" altLang="en-US" dirty="0"/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8768951D-E9B3-5056-56A1-31838AD36EBF}"/>
              </a:ext>
            </a:extLst>
          </p:cNvPr>
          <p:cNvCxnSpPr/>
          <p:nvPr/>
        </p:nvCxnSpPr>
        <p:spPr>
          <a:xfrm>
            <a:off x="9169400" y="2687467"/>
            <a:ext cx="144779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2B6CF29A-721A-59F4-31B6-4D7023B8B1C3}"/>
              </a:ext>
            </a:extLst>
          </p:cNvPr>
          <p:cNvSpPr txBox="1"/>
          <p:nvPr/>
        </p:nvSpPr>
        <p:spPr>
          <a:xfrm>
            <a:off x="10617198" y="2233772"/>
            <a:ext cx="381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&amp;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41C40388-9E2A-870E-8FDB-25AC838350D8}"/>
              </a:ext>
            </a:extLst>
          </p:cNvPr>
          <p:cNvSpPr txBox="1"/>
          <p:nvPr/>
        </p:nvSpPr>
        <p:spPr>
          <a:xfrm>
            <a:off x="9258300" y="2730343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0010 1010</a:t>
            </a:r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F22AB4A-14F0-8BBF-79BC-F0E139253B2D}"/>
              </a:ext>
            </a:extLst>
          </p:cNvPr>
          <p:cNvSpPr txBox="1"/>
          <p:nvPr/>
        </p:nvSpPr>
        <p:spPr>
          <a:xfrm>
            <a:off x="9121327" y="4245988"/>
            <a:ext cx="2384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二者相与即可得到：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121.1.1.24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59723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9B92972-32D4-B3B9-CE09-A6E84F3CE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00" y="739437"/>
            <a:ext cx="8006588" cy="4058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F2D1E06-A098-18D3-972D-9F8D22950F93}"/>
              </a:ext>
            </a:extLst>
          </p:cNvPr>
          <p:cNvSpPr txBox="1"/>
          <p:nvPr/>
        </p:nvSpPr>
        <p:spPr>
          <a:xfrm>
            <a:off x="355001" y="236668"/>
            <a:ext cx="3808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5G</a:t>
            </a:r>
            <a:r>
              <a:rPr lang="zh-CN" altLang="en-US" sz="2400" dirty="0"/>
              <a:t>各网元的功能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2340292-C26D-EE0B-5915-AAFE7A9CA484}"/>
              </a:ext>
            </a:extLst>
          </p:cNvPr>
          <p:cNvGrpSpPr/>
          <p:nvPr/>
        </p:nvGrpSpPr>
        <p:grpSpPr>
          <a:xfrm>
            <a:off x="8361588" y="710111"/>
            <a:ext cx="3940946" cy="4239981"/>
            <a:chOff x="8361588" y="837114"/>
            <a:chExt cx="3940946" cy="4239981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0B2B66E8-3C13-0B56-E6CD-B06349A1008E}"/>
                </a:ext>
              </a:extLst>
            </p:cNvPr>
            <p:cNvSpPr txBox="1"/>
            <p:nvPr/>
          </p:nvSpPr>
          <p:spPr>
            <a:xfrm>
              <a:off x="8361588" y="837114"/>
              <a:ext cx="394094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AMF</a:t>
              </a:r>
              <a:r>
                <a:rPr lang="zh-CN" altLang="en-US" sz="1400" b="1" dirty="0"/>
                <a:t>：</a:t>
              </a:r>
              <a:r>
                <a:rPr lang="en-US" altLang="zh-CN" sz="1400" b="1" dirty="0"/>
                <a:t>Access and Mobility Management Function</a:t>
              </a:r>
              <a:r>
                <a:rPr lang="zh-CN" altLang="en-US" sz="1400" b="1" dirty="0"/>
                <a:t>，接入和移动性管理功能，执行注册、连接、可达性、移动性管理。</a:t>
              </a:r>
            </a:p>
            <a:p>
              <a:r>
                <a:rPr lang="zh-CN" altLang="en-US" sz="1400" dirty="0"/>
                <a:t>为</a:t>
              </a:r>
              <a:r>
                <a:rPr lang="en-US" altLang="zh-CN" sz="1400" dirty="0"/>
                <a:t>UE</a:t>
              </a:r>
              <a:r>
                <a:rPr lang="zh-CN" altLang="en-US" sz="1400" dirty="0"/>
                <a:t>和</a:t>
              </a:r>
              <a:r>
                <a:rPr lang="en-US" altLang="zh-CN" sz="1400" dirty="0"/>
                <a:t>SMF</a:t>
              </a:r>
              <a:r>
                <a:rPr lang="zh-CN" altLang="en-US" sz="1400" dirty="0"/>
                <a:t>提供会话管理消息传输通道，为用户接入时提供认证、鉴权功能，终端和无线的核心网控制面接入点。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4DEEEBB-5592-8E94-DEE5-11F1B4A43046}"/>
                </a:ext>
              </a:extLst>
            </p:cNvPr>
            <p:cNvSpPr txBox="1"/>
            <p:nvPr/>
          </p:nvSpPr>
          <p:spPr>
            <a:xfrm>
              <a:off x="8361588" y="2433105"/>
              <a:ext cx="383041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SMF</a:t>
              </a:r>
              <a:r>
                <a:rPr lang="zh-CN" altLang="en-US" sz="1400" b="1" dirty="0"/>
                <a:t>：</a:t>
              </a:r>
              <a:r>
                <a:rPr lang="en-US" altLang="zh-CN" sz="1400" b="1" dirty="0"/>
                <a:t>Session Management function</a:t>
              </a:r>
              <a:r>
                <a:rPr lang="zh-CN" altLang="en-US" sz="1400" b="1" dirty="0"/>
                <a:t>，会话管理功能，负责隧道维护、</a:t>
              </a:r>
              <a:r>
                <a:rPr lang="en-US" altLang="zh-CN" sz="1400" b="1" dirty="0"/>
                <a:t>IP</a:t>
              </a:r>
              <a:r>
                <a:rPr lang="zh-CN" altLang="en-US" sz="1400" b="1" dirty="0"/>
                <a:t>地址分配和管理、</a:t>
              </a:r>
              <a:r>
                <a:rPr lang="en-US" altLang="zh-CN" sz="1400" b="1" dirty="0"/>
                <a:t>UP</a:t>
              </a:r>
              <a:r>
                <a:rPr lang="zh-CN" altLang="en-US" sz="1400" b="1" dirty="0"/>
                <a:t>功能选择、策略实施和</a:t>
              </a:r>
              <a:r>
                <a:rPr lang="en-US" altLang="zh-CN" sz="1400" b="1" dirty="0"/>
                <a:t>QoS</a:t>
              </a:r>
              <a:r>
                <a:rPr lang="zh-CN" altLang="en-US" sz="1400" b="1" dirty="0"/>
                <a:t>中的控制、计费数据采集、漫游等。</a:t>
              </a:r>
              <a:endParaRPr lang="zh-CN" altLang="en-US" sz="1600" b="1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B9AB8E6-2478-D892-4B4F-223895828038}"/>
                </a:ext>
              </a:extLst>
            </p:cNvPr>
            <p:cNvSpPr txBox="1"/>
            <p:nvPr/>
          </p:nvSpPr>
          <p:spPr>
            <a:xfrm>
              <a:off x="8361588" y="4338431"/>
              <a:ext cx="383041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UDM</a:t>
              </a:r>
              <a:r>
                <a:rPr lang="zh-CN" altLang="en-US" sz="1400" b="1" dirty="0"/>
                <a:t>：</a:t>
              </a:r>
              <a:r>
                <a:rPr lang="en-US" altLang="zh-CN" sz="1400" b="1" dirty="0"/>
                <a:t>The Unified Data Management</a:t>
              </a:r>
              <a:r>
                <a:rPr lang="zh-CN" altLang="en-US" sz="1400" b="1" dirty="0"/>
                <a:t>，统一数据管理功能，</a:t>
              </a:r>
              <a:r>
                <a:rPr lang="en-US" altLang="zh-CN" sz="1400" b="1" dirty="0"/>
                <a:t>3GPP AKA</a:t>
              </a:r>
              <a:r>
                <a:rPr lang="zh-CN" altLang="en-US" sz="1400" b="1" dirty="0"/>
                <a:t>认证、用户识别、访问授权、注册、移动、订阅、短信管理等。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0EC200D-E049-7E85-0C51-556A6659F618}"/>
                </a:ext>
              </a:extLst>
            </p:cNvPr>
            <p:cNvSpPr txBox="1"/>
            <p:nvPr/>
          </p:nvSpPr>
          <p:spPr>
            <a:xfrm>
              <a:off x="8361588" y="3604215"/>
              <a:ext cx="38304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AUSF</a:t>
              </a:r>
              <a:r>
                <a:rPr lang="zh-CN" altLang="en-US" sz="1400" b="1" dirty="0"/>
                <a:t>：</a:t>
              </a:r>
              <a:r>
                <a:rPr lang="en-US" altLang="zh-CN" sz="1400" b="1" dirty="0"/>
                <a:t>Authentication Server Function</a:t>
              </a:r>
              <a:r>
                <a:rPr lang="zh-CN" altLang="en-US" sz="1400" b="1" dirty="0"/>
                <a:t>，认证服务器功能，实现</a:t>
              </a:r>
              <a:r>
                <a:rPr lang="en-US" altLang="zh-CN" sz="1400" b="1" dirty="0"/>
                <a:t>3GPP</a:t>
              </a:r>
              <a:r>
                <a:rPr lang="zh-CN" altLang="en-US" sz="1400" b="1" dirty="0"/>
                <a:t>和非</a:t>
              </a:r>
              <a:r>
                <a:rPr lang="en-US" altLang="zh-CN" sz="1400" b="1" dirty="0"/>
                <a:t>3GPP</a:t>
              </a:r>
              <a:r>
                <a:rPr lang="zh-CN" altLang="en-US" sz="1400" b="1" dirty="0"/>
                <a:t>的接入认证。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E4CED81F-FB74-9E73-2FD8-9ADDA62206A1}"/>
              </a:ext>
            </a:extLst>
          </p:cNvPr>
          <p:cNvSpPr txBox="1"/>
          <p:nvPr/>
        </p:nvSpPr>
        <p:spPr>
          <a:xfrm>
            <a:off x="313977" y="5183455"/>
            <a:ext cx="5232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UPF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The User plane function</a:t>
            </a:r>
            <a:r>
              <a:rPr lang="zh-CN" altLang="en-US" sz="1400" b="1" dirty="0"/>
              <a:t>，用户面功能，分组路由转发，策略实施，流量报告，</a:t>
            </a:r>
            <a:r>
              <a:rPr lang="en-US" altLang="zh-CN" sz="1400" b="1" dirty="0" err="1"/>
              <a:t>Qos</a:t>
            </a:r>
            <a:r>
              <a:rPr lang="zh-CN" altLang="en-US" sz="1400" b="1" dirty="0"/>
              <a:t>处理。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11B1CF-BE24-1CC8-F6C1-9210CEF18A82}"/>
              </a:ext>
            </a:extLst>
          </p:cNvPr>
          <p:cNvSpPr txBox="1"/>
          <p:nvPr/>
        </p:nvSpPr>
        <p:spPr>
          <a:xfrm>
            <a:off x="6096000" y="5947062"/>
            <a:ext cx="4505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PCF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Policy Control function</a:t>
            </a:r>
            <a:r>
              <a:rPr lang="zh-CN" altLang="en-US" sz="1400" b="1" dirty="0"/>
              <a:t>，策略控制功能，统一的政策框架，提供控制平面功能的策略规则。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B241C4B-E32D-65E7-F09C-BF25FEC9B548}"/>
              </a:ext>
            </a:extLst>
          </p:cNvPr>
          <p:cNvSpPr txBox="1"/>
          <p:nvPr/>
        </p:nvSpPr>
        <p:spPr>
          <a:xfrm>
            <a:off x="313977" y="5947062"/>
            <a:ext cx="52323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NRF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NF Repository Function</a:t>
            </a:r>
            <a:r>
              <a:rPr lang="zh-CN" altLang="en-US" sz="1400" b="1" dirty="0"/>
              <a:t>， 该功能是一个提供注册和发现功能的新功能，可以使网络功能（</a:t>
            </a:r>
            <a:r>
              <a:rPr lang="en-US" altLang="zh-CN" sz="1400" b="1" dirty="0"/>
              <a:t>NF</a:t>
            </a:r>
            <a:r>
              <a:rPr lang="zh-CN" altLang="en-US" sz="1400" b="1" dirty="0"/>
              <a:t>）相互发现并通过</a:t>
            </a:r>
            <a:r>
              <a:rPr lang="en-US" altLang="zh-CN" sz="1400" b="1" dirty="0"/>
              <a:t>API</a:t>
            </a:r>
            <a:r>
              <a:rPr lang="zh-CN" altLang="en-US" sz="1400" b="1" dirty="0"/>
              <a:t>接口进行通信。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42ED1D6-AC46-0741-0644-D0BA20A823AA}"/>
              </a:ext>
            </a:extLst>
          </p:cNvPr>
          <p:cNvSpPr txBox="1"/>
          <p:nvPr/>
        </p:nvSpPr>
        <p:spPr>
          <a:xfrm>
            <a:off x="6096000" y="5183455"/>
            <a:ext cx="4505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NEF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Network Exposure Function</a:t>
            </a:r>
            <a:r>
              <a:rPr lang="zh-CN" altLang="en-US" sz="1400" b="1" dirty="0"/>
              <a:t>，网络开放功能，开放各</a:t>
            </a:r>
            <a:r>
              <a:rPr lang="en-US" altLang="zh-CN" sz="1400" b="1" dirty="0"/>
              <a:t>NF</a:t>
            </a:r>
            <a:r>
              <a:rPr lang="zh-CN" altLang="en-US" sz="1400" b="1" dirty="0"/>
              <a:t>的能力，转换内外部信息。用于边缘计算场景。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7C21DD28-A3D8-CDFE-5321-168A2B8E4FB5}"/>
              </a:ext>
            </a:extLst>
          </p:cNvPr>
          <p:cNvCxnSpPr>
            <a:cxnSpLocks/>
          </p:cNvCxnSpPr>
          <p:nvPr/>
        </p:nvCxnSpPr>
        <p:spPr>
          <a:xfrm>
            <a:off x="0" y="5030934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926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6C068B0-3599-533C-87B4-0DBC6790A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838" y="1738957"/>
            <a:ext cx="2962055" cy="481119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C65C582-FD9C-C0C5-4FE5-89047ACDF270}"/>
              </a:ext>
            </a:extLst>
          </p:cNvPr>
          <p:cNvSpPr txBox="1"/>
          <p:nvPr/>
        </p:nvSpPr>
        <p:spPr>
          <a:xfrm>
            <a:off x="1301839" y="553792"/>
            <a:ext cx="95883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小区最大发射功率（</a:t>
            </a:r>
            <a:r>
              <a:rPr lang="en-US" altLang="zh-CN" sz="2400" b="1" dirty="0" err="1"/>
              <a:t>dbm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=10*log</a:t>
            </a:r>
            <a:r>
              <a:rPr lang="zh-CN" altLang="en-US" sz="2400" b="1" dirty="0"/>
              <a:t>（射频设备最大发射功率</a:t>
            </a:r>
            <a:r>
              <a:rPr lang="en-US" altLang="zh-CN" sz="2400" b="1" dirty="0"/>
              <a:t>*1000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【</a:t>
            </a:r>
            <a:r>
              <a:rPr lang="zh-CN" altLang="en-US" sz="2400" b="1" dirty="0"/>
              <a:t>结果向下取整</a:t>
            </a:r>
            <a:r>
              <a:rPr lang="en-US" altLang="zh-CN" sz="2400" b="1" dirty="0"/>
              <a:t>】</a:t>
            </a:r>
            <a:endParaRPr lang="zh-CN" altLang="en-US" sz="24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A6A7C0-145F-0428-D307-FADE90BBBEF9}"/>
              </a:ext>
            </a:extLst>
          </p:cNvPr>
          <p:cNvSpPr/>
          <p:nvPr/>
        </p:nvSpPr>
        <p:spPr>
          <a:xfrm>
            <a:off x="1301838" y="4333742"/>
            <a:ext cx="1539025" cy="2704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6DCA44F-5F17-F88D-7110-3F77CE9750F9}"/>
              </a:ext>
            </a:extLst>
          </p:cNvPr>
          <p:cNvCxnSpPr>
            <a:stCxn id="9" idx="3"/>
          </p:cNvCxnSpPr>
          <p:nvPr/>
        </p:nvCxnSpPr>
        <p:spPr>
          <a:xfrm flipV="1">
            <a:off x="2840863" y="969290"/>
            <a:ext cx="5098962" cy="3499680"/>
          </a:xfrm>
          <a:prstGeom prst="straightConnector1">
            <a:avLst/>
          </a:prstGeom>
          <a:ln w="76200">
            <a:solidFill>
              <a:srgbClr val="FF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5CF235E2-70AA-0CEB-3685-59D485E13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316" y="1738957"/>
            <a:ext cx="2050442" cy="200570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E72AA13-1337-7245-4F71-867DED9F3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316" y="4098830"/>
            <a:ext cx="2022213" cy="2005705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FC56595-658A-C0DE-C448-6AFA957BEE37}"/>
              </a:ext>
            </a:extLst>
          </p:cNvPr>
          <p:cNvSpPr/>
          <p:nvPr/>
        </p:nvSpPr>
        <p:spPr>
          <a:xfrm>
            <a:off x="1301838" y="5239107"/>
            <a:ext cx="1539025" cy="27045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61CFB32-4054-43FB-6F3C-FBC847597A00}"/>
              </a:ext>
            </a:extLst>
          </p:cNvPr>
          <p:cNvSpPr/>
          <p:nvPr/>
        </p:nvSpPr>
        <p:spPr>
          <a:xfrm>
            <a:off x="1301838" y="4941596"/>
            <a:ext cx="1539025" cy="27045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7424594-0170-688C-9F0C-4898817921D8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>
          <a:xfrm flipV="1">
            <a:off x="2840863" y="2741810"/>
            <a:ext cx="4656453" cy="2632525"/>
          </a:xfrm>
          <a:prstGeom prst="straightConnector1">
            <a:avLst/>
          </a:prstGeom>
          <a:ln w="76200">
            <a:solidFill>
              <a:srgbClr val="00B050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F2A7927-358D-BDC6-0492-EC2938ABF95C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2840863" y="5076824"/>
            <a:ext cx="4789869" cy="0"/>
          </a:xfrm>
          <a:prstGeom prst="straightConnector1">
            <a:avLst/>
          </a:prstGeom>
          <a:ln w="76200">
            <a:solidFill>
              <a:srgbClr val="00B0F0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58D8B483-3A3E-C623-87B4-AAC9BB06C5AB}"/>
              </a:ext>
            </a:extLst>
          </p:cNvPr>
          <p:cNvSpPr/>
          <p:nvPr/>
        </p:nvSpPr>
        <p:spPr>
          <a:xfrm>
            <a:off x="1302909" y="2471353"/>
            <a:ext cx="1942567" cy="27045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227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586</Words>
  <Application>Microsoft Office PowerPoint</Application>
  <PresentationFormat>宽屏</PresentationFormat>
  <Paragraphs>60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-apple-system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慕 游心</dc:creator>
  <cp:lastModifiedBy>张国斌</cp:lastModifiedBy>
  <cp:revision>10</cp:revision>
  <dcterms:created xsi:type="dcterms:W3CDTF">2023-04-05T12:09:54Z</dcterms:created>
  <dcterms:modified xsi:type="dcterms:W3CDTF">2025-11-14T05:48:14Z</dcterms:modified>
</cp:coreProperties>
</file>