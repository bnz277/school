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Default Extension="png" ContentType="image/pn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Default Extension="jpg" ContentType="image/jpg"/>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Lst>
  <p:sldSz cx="9144000" cy="5143500"/>
  <p:notesSz cx="9144000" cy="51435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 Id="rId90" Type="http://schemas.openxmlformats.org/officeDocument/2006/relationships/slide" Target="slides/slide85.xml"/><Relationship Id="rId91" Type="http://schemas.openxmlformats.org/officeDocument/2006/relationships/slide" Target="slides/slide86.xml"/><Relationship Id="rId92" Type="http://schemas.openxmlformats.org/officeDocument/2006/relationships/slide" Target="slides/slide87.xml"/><Relationship Id="rId93" Type="http://schemas.openxmlformats.org/officeDocument/2006/relationships/slide" Target="slides/slide88.xml"/><Relationship Id="rId94" Type="http://schemas.openxmlformats.org/officeDocument/2006/relationships/slide" Target="slides/slide89.xml"/><Relationship Id="rId95" Type="http://schemas.openxmlformats.org/officeDocument/2006/relationships/slide" Target="slides/slide90.xml"/><Relationship Id="rId96" Type="http://schemas.openxmlformats.org/officeDocument/2006/relationships/slide" Target="slides/slide91.xml"/><Relationship Id="rId97" Type="http://schemas.openxmlformats.org/officeDocument/2006/relationships/slide" Target="slides/slide92.xml"/><Relationship Id="rId98" Type="http://schemas.openxmlformats.org/officeDocument/2006/relationships/slide" Target="slides/slide93.xml"/><Relationship Id="rId99" Type="http://schemas.openxmlformats.org/officeDocument/2006/relationships/slide" Target="slides/slide94.xml"/><Relationship Id="rId100" Type="http://schemas.openxmlformats.org/officeDocument/2006/relationships/slide" Target="slides/slide95.xml"/><Relationship Id="rId101" Type="http://schemas.openxmlformats.org/officeDocument/2006/relationships/slide" Target="slides/slide96.xml"/><Relationship Id="rId102" Type="http://schemas.openxmlformats.org/officeDocument/2006/relationships/slide" Target="slides/slide97.xml"/><Relationship Id="rId103" Type="http://schemas.openxmlformats.org/officeDocument/2006/relationships/slide" Target="slides/slide98.xml"/><Relationship Id="rId104" Type="http://schemas.openxmlformats.org/officeDocument/2006/relationships/slide" Target="slides/slide99.xml"/><Relationship Id="rId105" Type="http://schemas.openxmlformats.org/officeDocument/2006/relationships/slide" Target="slides/slide100.xml"/><Relationship Id="rId106" Type="http://schemas.openxmlformats.org/officeDocument/2006/relationships/slide" Target="slides/slide101.xml"/><Relationship Id="rId107" Type="http://schemas.openxmlformats.org/officeDocument/2006/relationships/slide" Target="slides/slide102.xml"/><Relationship Id="rId108" Type="http://schemas.openxmlformats.org/officeDocument/2006/relationships/slide" Target="slides/slide103.xml"/><Relationship Id="rId109" Type="http://schemas.openxmlformats.org/officeDocument/2006/relationships/slide" Target="slides/slide104.xml"/><Relationship Id="rId110" Type="http://schemas.openxmlformats.org/officeDocument/2006/relationships/slide" Target="slides/slide105.xml"/><Relationship Id="rId111" Type="http://schemas.openxmlformats.org/officeDocument/2006/relationships/slide" Target="slides/slide106.xml"/><Relationship Id="rId112" Type="http://schemas.openxmlformats.org/officeDocument/2006/relationships/slide" Target="slides/slide107.xml"/><Relationship Id="rId113" Type="http://schemas.openxmlformats.org/officeDocument/2006/relationships/slide" Target="slides/slide108.xml"/><Relationship Id="rId114" Type="http://schemas.openxmlformats.org/officeDocument/2006/relationships/slide" Target="slides/slide109.xml"/><Relationship Id="rId115" Type="http://schemas.openxmlformats.org/officeDocument/2006/relationships/slide" Target="slides/slide1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061430" y="112363"/>
            <a:ext cx="3021139" cy="513080"/>
          </a:xfrm>
          <a:prstGeom prst="rect">
            <a:avLst/>
          </a:prstGeom>
        </p:spPr>
        <p:txBody>
          <a:bodyPr wrap="square" lIns="0" tIns="0" rIns="0" bIns="0">
            <a:spAutoFit/>
          </a:bodyPr>
          <a:lstStyle>
            <a:lvl1pPr>
              <a:defRPr sz="3200" b="1" i="0">
                <a:solidFill>
                  <a:schemeClr val="bg1"/>
                </a:solidFill>
                <a:latin typeface="Microsoft JhengHei"/>
                <a:cs typeface="Microsoft JhengHei"/>
              </a:defRPr>
            </a:lvl1pPr>
          </a:lstStyle>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1600" b="1" i="0">
                <a:solidFill>
                  <a:schemeClr val="tx1"/>
                </a:solidFill>
                <a:latin typeface="Microsoft YaHei"/>
                <a:cs typeface="Microsoft YaHei"/>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bg1"/>
                </a:solidFill>
                <a:latin typeface="Microsoft JhengHei"/>
                <a:cs typeface="Microsoft JhengHei"/>
              </a:defRPr>
            </a:lvl1pPr>
          </a:lstStyle>
          <a:p/>
        </p:txBody>
      </p:sp>
      <p:sp>
        <p:nvSpPr>
          <p:cNvPr id="3" name="Holder 3"/>
          <p:cNvSpPr>
            <a:spLocks noGrp="1"/>
          </p:cNvSpPr>
          <p:nvPr>
            <p:ph type="body" idx="1"/>
          </p:nvPr>
        </p:nvSpPr>
        <p:spPr/>
        <p:txBody>
          <a:bodyPr lIns="0" tIns="0" rIns="0" bIns="0"/>
          <a:lstStyle>
            <a:lvl1pPr>
              <a:defRPr sz="1600" b="1" i="0">
                <a:solidFill>
                  <a:schemeClr val="tx1"/>
                </a:solidFill>
                <a:latin typeface="Microsoft YaHei"/>
                <a:cs typeface="Microsoft YaHei"/>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bg1"/>
                </a:solidFill>
                <a:latin typeface="Microsoft JhengHei"/>
                <a:cs typeface="Microsoft JhengHei"/>
              </a:defRPr>
            </a:lvl1pPr>
          </a:lstStyle>
          <a:p/>
        </p:txBody>
      </p:sp>
      <p:sp>
        <p:nvSpPr>
          <p:cNvPr id="3" name="Holder 3"/>
          <p:cNvSpPr>
            <a:spLocks noGrp="1"/>
          </p:cNvSpPr>
          <p:nvPr>
            <p:ph idx="2" sz="half"/>
          </p:nvPr>
        </p:nvSpPr>
        <p:spPr>
          <a:xfrm>
            <a:off x="457200" y="1183005"/>
            <a:ext cx="3977640" cy="3394710"/>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4709160" y="1183005"/>
            <a:ext cx="3977640" cy="3394710"/>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7" name="Holder 7"/>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bg1"/>
                </a:solidFill>
                <a:latin typeface="Microsoft JhengHei"/>
                <a:cs typeface="Microsoft JhengHei"/>
              </a:defRPr>
            </a:lvl1pPr>
          </a:lstStyle>
          <a:p/>
        </p:txBody>
      </p:sp>
      <p:sp>
        <p:nvSpPr>
          <p:cNvPr id="3" name="Holder 3"/>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5" name="Holder 5"/>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4" name="Holder 4"/>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png"/><Relationship Id="rId8"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800100"/>
          </a:xfrm>
          <a:custGeom>
            <a:avLst/>
            <a:gdLst/>
            <a:ahLst/>
            <a:cxnLst/>
            <a:rect l="l" t="t" r="r" b="b"/>
            <a:pathLst>
              <a:path w="9144000" h="800100">
                <a:moveTo>
                  <a:pt x="9144000" y="0"/>
                </a:moveTo>
                <a:lnTo>
                  <a:pt x="0" y="0"/>
                </a:lnTo>
                <a:lnTo>
                  <a:pt x="0" y="800100"/>
                </a:lnTo>
                <a:lnTo>
                  <a:pt x="9144000" y="800100"/>
                </a:lnTo>
                <a:lnTo>
                  <a:pt x="9144000" y="0"/>
                </a:lnTo>
                <a:close/>
              </a:path>
            </a:pathLst>
          </a:custGeom>
          <a:solidFill>
            <a:srgbClr val="0056AC"/>
          </a:solidFill>
        </p:spPr>
        <p:txBody>
          <a:bodyPr wrap="square" lIns="0" tIns="0" rIns="0" bIns="0" rtlCol="0"/>
          <a:lstStyle/>
          <a:p/>
        </p:txBody>
      </p:sp>
      <p:sp>
        <p:nvSpPr>
          <p:cNvPr id="17" name="bg object 17"/>
          <p:cNvSpPr/>
          <p:nvPr/>
        </p:nvSpPr>
        <p:spPr>
          <a:xfrm>
            <a:off x="0" y="0"/>
            <a:ext cx="9144000" cy="800100"/>
          </a:xfrm>
          <a:custGeom>
            <a:avLst/>
            <a:gdLst/>
            <a:ahLst/>
            <a:cxnLst/>
            <a:rect l="l" t="t" r="r" b="b"/>
            <a:pathLst>
              <a:path w="9144000" h="800100">
                <a:moveTo>
                  <a:pt x="0" y="0"/>
                </a:moveTo>
                <a:lnTo>
                  <a:pt x="9144000" y="0"/>
                </a:lnTo>
                <a:lnTo>
                  <a:pt x="9144000" y="800100"/>
                </a:lnTo>
                <a:lnTo>
                  <a:pt x="0" y="800100"/>
                </a:lnTo>
                <a:lnTo>
                  <a:pt x="0" y="0"/>
                </a:lnTo>
                <a:close/>
              </a:path>
            </a:pathLst>
          </a:custGeom>
          <a:ln w="9525">
            <a:solidFill>
              <a:srgbClr val="000000"/>
            </a:solidFill>
          </a:ln>
        </p:spPr>
        <p:txBody>
          <a:bodyPr wrap="square" lIns="0" tIns="0" rIns="0" bIns="0" rtlCol="0"/>
          <a:lstStyle/>
          <a:p/>
        </p:txBody>
      </p:sp>
      <p:pic>
        <p:nvPicPr>
          <p:cNvPr id="18" name="bg object 18"/>
          <p:cNvPicPr/>
          <p:nvPr/>
        </p:nvPicPr>
        <p:blipFill>
          <a:blip r:embed="rId7" cstate="print"/>
          <a:stretch>
            <a:fillRect/>
          </a:stretch>
        </p:blipFill>
        <p:spPr>
          <a:xfrm>
            <a:off x="0" y="4972050"/>
            <a:ext cx="9144000" cy="171450"/>
          </a:xfrm>
          <a:prstGeom prst="rect">
            <a:avLst/>
          </a:prstGeom>
        </p:spPr>
      </p:pic>
      <p:sp>
        <p:nvSpPr>
          <p:cNvPr id="19" name="bg object 19"/>
          <p:cNvSpPr/>
          <p:nvPr/>
        </p:nvSpPr>
        <p:spPr>
          <a:xfrm>
            <a:off x="1066006" y="114894"/>
            <a:ext cx="1905" cy="571500"/>
          </a:xfrm>
          <a:custGeom>
            <a:avLst/>
            <a:gdLst/>
            <a:ahLst/>
            <a:cxnLst/>
            <a:rect l="l" t="t" r="r" b="b"/>
            <a:pathLst>
              <a:path w="1905" h="571500">
                <a:moveTo>
                  <a:pt x="1587" y="0"/>
                </a:moveTo>
                <a:lnTo>
                  <a:pt x="0" y="571500"/>
                </a:lnTo>
              </a:path>
            </a:pathLst>
          </a:custGeom>
          <a:ln w="9525">
            <a:solidFill>
              <a:srgbClr val="B6DCDF"/>
            </a:solidFill>
          </a:ln>
        </p:spPr>
        <p:txBody>
          <a:bodyPr wrap="square" lIns="0" tIns="0" rIns="0" bIns="0" rtlCol="0"/>
          <a:lstStyle/>
          <a:p/>
        </p:txBody>
      </p:sp>
      <p:pic>
        <p:nvPicPr>
          <p:cNvPr id="20" name="bg object 20"/>
          <p:cNvPicPr/>
          <p:nvPr/>
        </p:nvPicPr>
        <p:blipFill>
          <a:blip r:embed="rId8" cstate="print"/>
          <a:stretch>
            <a:fillRect/>
          </a:stretch>
        </p:blipFill>
        <p:spPr>
          <a:xfrm>
            <a:off x="152400" y="133350"/>
            <a:ext cx="804532" cy="576579"/>
          </a:xfrm>
          <a:prstGeom prst="rect">
            <a:avLst/>
          </a:prstGeom>
        </p:spPr>
      </p:pic>
      <p:sp>
        <p:nvSpPr>
          <p:cNvPr id="2" name="Holder 2"/>
          <p:cNvSpPr>
            <a:spLocks noGrp="1"/>
          </p:cNvSpPr>
          <p:nvPr>
            <p:ph type="title"/>
          </p:nvPr>
        </p:nvSpPr>
        <p:spPr>
          <a:xfrm>
            <a:off x="2788920" y="113125"/>
            <a:ext cx="3686810" cy="513080"/>
          </a:xfrm>
          <a:prstGeom prst="rect">
            <a:avLst/>
          </a:prstGeom>
        </p:spPr>
        <p:txBody>
          <a:bodyPr wrap="square" lIns="0" tIns="0" rIns="0" bIns="0">
            <a:spAutoFit/>
          </a:bodyPr>
          <a:lstStyle>
            <a:lvl1pPr>
              <a:defRPr sz="3200" b="1" i="0">
                <a:solidFill>
                  <a:schemeClr val="bg1"/>
                </a:solidFill>
                <a:latin typeface="Microsoft JhengHei"/>
                <a:cs typeface="Microsoft JhengHei"/>
              </a:defRPr>
            </a:lvl1pPr>
          </a:lstStyle>
          <a:p/>
        </p:txBody>
      </p:sp>
      <p:sp>
        <p:nvSpPr>
          <p:cNvPr id="3" name="Holder 3"/>
          <p:cNvSpPr>
            <a:spLocks noGrp="1"/>
          </p:cNvSpPr>
          <p:nvPr>
            <p:ph type="body" idx="1"/>
          </p:nvPr>
        </p:nvSpPr>
        <p:spPr>
          <a:xfrm>
            <a:off x="307340" y="1605145"/>
            <a:ext cx="5398135" cy="2963545"/>
          </a:xfrm>
          <a:prstGeom prst="rect">
            <a:avLst/>
          </a:prstGeom>
        </p:spPr>
        <p:txBody>
          <a:bodyPr wrap="square" lIns="0" tIns="0" rIns="0" bIns="0">
            <a:spAutoFit/>
          </a:bodyPr>
          <a:lstStyle>
            <a:lvl1pPr>
              <a:defRPr sz="1600" b="1" i="0">
                <a:solidFill>
                  <a:schemeClr val="tx1"/>
                </a:solidFill>
                <a:latin typeface="Microsoft YaHei"/>
                <a:cs typeface="Microsoft YaHei"/>
              </a:defRPr>
            </a:lvl1pPr>
          </a:lstStyle>
          <a:p/>
        </p:txBody>
      </p:sp>
      <p:sp>
        <p:nvSpPr>
          <p:cNvPr id="4" name="Holder 4"/>
          <p:cNvSpPr>
            <a:spLocks noGrp="1"/>
          </p:cNvSpPr>
          <p:nvPr>
            <p:ph type="ftr" idx="5" sz="quarter"/>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idx="6" sz="half"/>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image" Target="../media/image1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jpg"/><Relationship Id="rId3" Type="http://schemas.openxmlformats.org/officeDocument/2006/relationships/image" Target="../media/image28.jpg"/><Relationship Id="rId4" Type="http://schemas.openxmlformats.org/officeDocument/2006/relationships/image" Target="../media/image2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image" Target="../media/image3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jpg"/><Relationship Id="rId3" Type="http://schemas.openxmlformats.org/officeDocument/2006/relationships/image" Target="../media/image4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png"/><Relationship Id="rId3" Type="http://schemas.openxmlformats.org/officeDocument/2006/relationships/image" Target="../media/image4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5.jpg"/><Relationship Id="rId3" Type="http://schemas.openxmlformats.org/officeDocument/2006/relationships/image" Target="../media/image46.png"/><Relationship Id="rId4" Type="http://schemas.openxmlformats.org/officeDocument/2006/relationships/image" Target="../media/image47.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8.jpg"/><Relationship Id="rId3" Type="http://schemas.openxmlformats.org/officeDocument/2006/relationships/image" Target="../media/image49.jpg"/><Relationship Id="rId4" Type="http://schemas.openxmlformats.org/officeDocument/2006/relationships/image" Target="../media/image5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1.jpg"/><Relationship Id="rId3" Type="http://schemas.openxmlformats.org/officeDocument/2006/relationships/image" Target="../media/image5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jpg"/><Relationship Id="rId3" Type="http://schemas.openxmlformats.org/officeDocument/2006/relationships/image" Target="../media/image55.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9.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0.png"/><Relationship Id="rId3" Type="http://schemas.openxmlformats.org/officeDocument/2006/relationships/image" Target="../media/image6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png"/><Relationship Id="rId3" Type="http://schemas.openxmlformats.org/officeDocument/2006/relationships/image" Target="../media/image62.jpg"/><Relationship Id="rId4" Type="http://schemas.openxmlformats.org/officeDocument/2006/relationships/image" Target="../media/image63.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image" Target="../media/image64.png"/><Relationship Id="rId4" Type="http://schemas.openxmlformats.org/officeDocument/2006/relationships/image" Target="../media/image65.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6.png"/><Relationship Id="rId3" Type="http://schemas.openxmlformats.org/officeDocument/2006/relationships/image" Target="../media/image67.png"/><Relationship Id="rId4" Type="http://schemas.openxmlformats.org/officeDocument/2006/relationships/image" Target="../media/image6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png"/><Relationship Id="rId3" Type="http://schemas.openxmlformats.org/officeDocument/2006/relationships/image" Target="../media/image70.jpg"/><Relationship Id="rId4" Type="http://schemas.openxmlformats.org/officeDocument/2006/relationships/image" Target="../media/image71.jpg"/><Relationship Id="rId5" Type="http://schemas.openxmlformats.org/officeDocument/2006/relationships/image" Target="../media/image72.png"/><Relationship Id="rId6" Type="http://schemas.openxmlformats.org/officeDocument/2006/relationships/image" Target="../media/image7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4.png"/><Relationship Id="rId3" Type="http://schemas.openxmlformats.org/officeDocument/2006/relationships/image" Target="../media/image75.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6.jpg"/><Relationship Id="rId3" Type="http://schemas.openxmlformats.org/officeDocument/2006/relationships/image" Target="../media/image77.jpg"/><Relationship Id="rId4" Type="http://schemas.openxmlformats.org/officeDocument/2006/relationships/image" Target="../media/image78.png"/><Relationship Id="rId5" Type="http://schemas.openxmlformats.org/officeDocument/2006/relationships/image" Target="../media/image79.jpg"/><Relationship Id="rId6" Type="http://schemas.openxmlformats.org/officeDocument/2006/relationships/image" Target="../media/image80.png"/><Relationship Id="rId7" Type="http://schemas.openxmlformats.org/officeDocument/2006/relationships/image" Target="../media/image8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2.png"/><Relationship Id="rId3" Type="http://schemas.openxmlformats.org/officeDocument/2006/relationships/image" Target="../media/image8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4.png"/><Relationship Id="rId3" Type="http://schemas.openxmlformats.org/officeDocument/2006/relationships/image" Target="../media/image8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9.jpg"/><Relationship Id="rId3" Type="http://schemas.openxmlformats.org/officeDocument/2006/relationships/image" Target="../media/image8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5.jpg"/><Relationship Id="rId3" Type="http://schemas.openxmlformats.org/officeDocument/2006/relationships/image" Target="../media/image86.jpg"/><Relationship Id="rId4" Type="http://schemas.openxmlformats.org/officeDocument/2006/relationships/image" Target="../media/image87.jpg"/><Relationship Id="rId5" Type="http://schemas.openxmlformats.org/officeDocument/2006/relationships/image" Target="../media/image88.png"/><Relationship Id="rId6" Type="http://schemas.openxmlformats.org/officeDocument/2006/relationships/image" Target="../media/image8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0.png"/><Relationship Id="rId3" Type="http://schemas.openxmlformats.org/officeDocument/2006/relationships/image" Target="../media/image91.png"/><Relationship Id="rId4" Type="http://schemas.openxmlformats.org/officeDocument/2006/relationships/image" Target="../media/image9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3.jpg"/><Relationship Id="rId3" Type="http://schemas.openxmlformats.org/officeDocument/2006/relationships/image" Target="../media/image9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5.png"/><Relationship Id="rId3" Type="http://schemas.openxmlformats.org/officeDocument/2006/relationships/image" Target="../media/image96.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7.png"/><Relationship Id="rId3" Type="http://schemas.openxmlformats.org/officeDocument/2006/relationships/image" Target="../media/image98.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9.png"/><Relationship Id="rId3" Type="http://schemas.openxmlformats.org/officeDocument/2006/relationships/image" Target="../media/image10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1.png"/><Relationship Id="rId3" Type="http://schemas.openxmlformats.org/officeDocument/2006/relationships/image" Target="../media/image102.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3.png"/><Relationship Id="rId3" Type="http://schemas.openxmlformats.org/officeDocument/2006/relationships/image" Target="../media/image10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5.png"/><Relationship Id="rId3" Type="http://schemas.openxmlformats.org/officeDocument/2006/relationships/image" Target="../media/image106.jpg"/><Relationship Id="rId4" Type="http://schemas.openxmlformats.org/officeDocument/2006/relationships/image" Target="../media/image107.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8.jpg"/><Relationship Id="rId3" Type="http://schemas.openxmlformats.org/officeDocument/2006/relationships/image" Target="../media/image109.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0.png"/><Relationship Id="rId3" Type="http://schemas.openxmlformats.org/officeDocument/2006/relationships/image" Target="../media/image111.png"/><Relationship Id="rId4" Type="http://schemas.openxmlformats.org/officeDocument/2006/relationships/image" Target="../media/image112.png"/><Relationship Id="rId5" Type="http://schemas.openxmlformats.org/officeDocument/2006/relationships/image" Target="../media/image113.png"/><Relationship Id="rId6" Type="http://schemas.openxmlformats.org/officeDocument/2006/relationships/image" Target="../media/image9.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4.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5.png"/><Relationship Id="rId3" Type="http://schemas.openxmlformats.org/officeDocument/2006/relationships/image" Target="../media/image11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7.jpg"/><Relationship Id="rId3" Type="http://schemas.openxmlformats.org/officeDocument/2006/relationships/image" Target="../media/image118.png"/><Relationship Id="rId4" Type="http://schemas.openxmlformats.org/officeDocument/2006/relationships/image" Target="../media/image119.jpg"/><Relationship Id="rId5" Type="http://schemas.openxmlformats.org/officeDocument/2006/relationships/image" Target="../media/image120.jpg"/><Relationship Id="rId6" Type="http://schemas.openxmlformats.org/officeDocument/2006/relationships/image" Target="../media/image121.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image" Target="../media/image124.jpg"/><Relationship Id="rId5" Type="http://schemas.openxmlformats.org/officeDocument/2006/relationships/image" Target="../media/image125.jpg"/><Relationship Id="rId6" Type="http://schemas.openxmlformats.org/officeDocument/2006/relationships/image" Target="../media/image126.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7.jpg"/><Relationship Id="rId3" Type="http://schemas.openxmlformats.org/officeDocument/2006/relationships/image" Target="../media/image128.jpg"/><Relationship Id="rId4" Type="http://schemas.openxmlformats.org/officeDocument/2006/relationships/image" Target="../media/image12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0.jpg"/><Relationship Id="rId3" Type="http://schemas.openxmlformats.org/officeDocument/2006/relationships/image" Target="../media/image13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4.jpg"/><Relationship Id="rId3" Type="http://schemas.openxmlformats.org/officeDocument/2006/relationships/image" Target="../media/image125.jpg"/><Relationship Id="rId4" Type="http://schemas.openxmlformats.org/officeDocument/2006/relationships/image" Target="../media/image132.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3.png"/><Relationship Id="rId3" Type="http://schemas.openxmlformats.org/officeDocument/2006/relationships/image" Target="../media/image134.png"/><Relationship Id="rId4" Type="http://schemas.openxmlformats.org/officeDocument/2006/relationships/image" Target="../media/image13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6.png"/><Relationship Id="rId3" Type="http://schemas.openxmlformats.org/officeDocument/2006/relationships/image" Target="../media/image137.jpg"/><Relationship Id="rId4" Type="http://schemas.openxmlformats.org/officeDocument/2006/relationships/image" Target="../media/image138.jpg"/><Relationship Id="rId5" Type="http://schemas.openxmlformats.org/officeDocument/2006/relationships/image" Target="../media/image139.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0.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1.jpg"/><Relationship Id="rId3" Type="http://schemas.openxmlformats.org/officeDocument/2006/relationships/image" Target="../media/image142.jpg"/><Relationship Id="rId4" Type="http://schemas.openxmlformats.org/officeDocument/2006/relationships/image" Target="../media/image143.jpg"/><Relationship Id="rId5" Type="http://schemas.openxmlformats.org/officeDocument/2006/relationships/image" Target="../media/image144.jpg"/><Relationship Id="rId6" Type="http://schemas.openxmlformats.org/officeDocument/2006/relationships/image" Target="../media/image145.jpg"/><Relationship Id="rId7" Type="http://schemas.openxmlformats.org/officeDocument/2006/relationships/image" Target="../media/image146.jpg"/><Relationship Id="rId8" Type="http://schemas.openxmlformats.org/officeDocument/2006/relationships/image" Target="../media/image147.jpg"/><Relationship Id="rId9" Type="http://schemas.openxmlformats.org/officeDocument/2006/relationships/image" Target="../media/image148.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9.jpg"/><Relationship Id="rId3" Type="http://schemas.openxmlformats.org/officeDocument/2006/relationships/image" Target="../media/image150.png"/><Relationship Id="rId4" Type="http://schemas.openxmlformats.org/officeDocument/2006/relationships/image" Target="../media/image151.png"/><Relationship Id="rId5" Type="http://schemas.openxmlformats.org/officeDocument/2006/relationships/image" Target="../media/image152.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3.png"/><Relationship Id="rId3" Type="http://schemas.openxmlformats.org/officeDocument/2006/relationships/image" Target="../media/image154.jpg"/><Relationship Id="rId4" Type="http://schemas.openxmlformats.org/officeDocument/2006/relationships/image" Target="../media/image155.jpg"/><Relationship Id="rId5" Type="http://schemas.openxmlformats.org/officeDocument/2006/relationships/image" Target="../media/image156.jpg"/><Relationship Id="rId6" Type="http://schemas.openxmlformats.org/officeDocument/2006/relationships/image" Target="../media/image15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8.png"/><Relationship Id="rId3" Type="http://schemas.openxmlformats.org/officeDocument/2006/relationships/image" Target="../media/image159.jpg"/><Relationship Id="rId4" Type="http://schemas.openxmlformats.org/officeDocument/2006/relationships/image" Target="../media/image160.jpg"/><Relationship Id="rId5" Type="http://schemas.openxmlformats.org/officeDocument/2006/relationships/image" Target="../media/image161.jpg"/><Relationship Id="rId6" Type="http://schemas.openxmlformats.org/officeDocument/2006/relationships/image" Target="../media/image16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3.png"/><Relationship Id="rId3" Type="http://schemas.openxmlformats.org/officeDocument/2006/relationships/image" Target="../media/image128.jpg"/><Relationship Id="rId4" Type="http://schemas.openxmlformats.org/officeDocument/2006/relationships/image" Target="../media/image164.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5.png"/><Relationship Id="rId3" Type="http://schemas.openxmlformats.org/officeDocument/2006/relationships/image" Target="../media/image166.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7.png"/><Relationship Id="rId3" Type="http://schemas.openxmlformats.org/officeDocument/2006/relationships/image" Target="../media/image168.png"/><Relationship Id="rId4" Type="http://schemas.openxmlformats.org/officeDocument/2006/relationships/image" Target="../media/image169.png"/><Relationship Id="rId5" Type="http://schemas.openxmlformats.org/officeDocument/2006/relationships/image" Target="../media/image170.jpg"/><Relationship Id="rId6" Type="http://schemas.openxmlformats.org/officeDocument/2006/relationships/image" Target="../media/image171.png"/><Relationship Id="rId7" Type="http://schemas.openxmlformats.org/officeDocument/2006/relationships/image" Target="../media/image17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7.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6.png"/><Relationship Id="rId3" Type="http://schemas.openxmlformats.org/officeDocument/2006/relationships/image" Target="../media/image177.png"/><Relationship Id="rId4" Type="http://schemas.openxmlformats.org/officeDocument/2006/relationships/image" Target="../media/image178.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9.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0.jpg"/><Relationship Id="rId3" Type="http://schemas.openxmlformats.org/officeDocument/2006/relationships/image" Target="../media/image181.jpg"/><Relationship Id="rId4" Type="http://schemas.openxmlformats.org/officeDocument/2006/relationships/image" Target="../media/image182.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3.png"/><Relationship Id="rId3" Type="http://schemas.openxmlformats.org/officeDocument/2006/relationships/image" Target="../media/image184.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5.png"/><Relationship Id="rId3" Type="http://schemas.openxmlformats.org/officeDocument/2006/relationships/image" Target="../media/image182.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5.png"/><Relationship Id="rId3" Type="http://schemas.openxmlformats.org/officeDocument/2006/relationships/image" Target="../media/image186.jpg"/><Relationship Id="rId4" Type="http://schemas.openxmlformats.org/officeDocument/2006/relationships/image" Target="../media/image181.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3.png"/><Relationship Id="rId3" Type="http://schemas.openxmlformats.org/officeDocument/2006/relationships/image" Target="../media/image187.jpg"/><Relationship Id="rId4" Type="http://schemas.openxmlformats.org/officeDocument/2006/relationships/image" Target="../media/image188.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9.png"/><Relationship Id="rId3" Type="http://schemas.openxmlformats.org/officeDocument/2006/relationships/image" Target="../media/image190.jpg"/><Relationship Id="rId4" Type="http://schemas.openxmlformats.org/officeDocument/2006/relationships/image" Target="../media/image191.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3.png"/><Relationship Id="rId3" Type="http://schemas.openxmlformats.org/officeDocument/2006/relationships/image" Target="../media/image194.png"/><Relationship Id="rId4" Type="http://schemas.openxmlformats.org/officeDocument/2006/relationships/image" Target="../media/image195.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3.png"/><Relationship Id="rId3" Type="http://schemas.openxmlformats.org/officeDocument/2006/relationships/image" Target="../media/image196.jp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3.png"/><Relationship Id="rId3" Type="http://schemas.openxmlformats.org/officeDocument/2006/relationships/image" Target="../media/image197.jpg"/><Relationship Id="rId4" Type="http://schemas.openxmlformats.org/officeDocument/2006/relationships/image" Target="../media/image198.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9.png"/><Relationship Id="rId3" Type="http://schemas.openxmlformats.org/officeDocument/2006/relationships/image" Target="../media/image200.jpg"/><Relationship Id="rId4" Type="http://schemas.openxmlformats.org/officeDocument/2006/relationships/image" Target="../media/image201.jp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2.jp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3.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4.jpg"/><Relationship Id="rId3" Type="http://schemas.openxmlformats.org/officeDocument/2006/relationships/image" Target="../media/image205.jp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6.png"/><Relationship Id="rId3" Type="http://schemas.openxmlformats.org/officeDocument/2006/relationships/image" Target="../media/image207.png"/><Relationship Id="rId4" Type="http://schemas.openxmlformats.org/officeDocument/2006/relationships/image" Target="../media/image208.png"/><Relationship Id="rId5" Type="http://schemas.openxmlformats.org/officeDocument/2006/relationships/image" Target="../media/image209.png"/><Relationship Id="rId6" Type="http://schemas.openxmlformats.org/officeDocument/2006/relationships/image" Target="../media/image9.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0.png"/><Relationship Id="rId3" Type="http://schemas.openxmlformats.org/officeDocument/2006/relationships/image" Target="../media/image211.png"/><Relationship Id="rId4" Type="http://schemas.openxmlformats.org/officeDocument/2006/relationships/image" Target="../media/image212.jpg"/><Relationship Id="rId5" Type="http://schemas.openxmlformats.org/officeDocument/2006/relationships/image" Target="../media/image213.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4.jpg"/><Relationship Id="rId3" Type="http://schemas.openxmlformats.org/officeDocument/2006/relationships/image" Target="../media/image215.jpg"/><Relationship Id="rId4" Type="http://schemas.openxmlformats.org/officeDocument/2006/relationships/image" Target="../media/image216.jpg"/><Relationship Id="rId5" Type="http://schemas.openxmlformats.org/officeDocument/2006/relationships/image" Target="../media/image217.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18.jpg"/><Relationship Id="rId3" Type="http://schemas.openxmlformats.org/officeDocument/2006/relationships/image" Target="../media/image219.jp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0.jpg"/><Relationship Id="rId3" Type="http://schemas.openxmlformats.org/officeDocument/2006/relationships/image" Target="../media/image221.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2.png"/><Relationship Id="rId3" Type="http://schemas.openxmlformats.org/officeDocument/2006/relationships/image" Target="../media/image223.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4.png"/><Relationship Id="rId3" Type="http://schemas.openxmlformats.org/officeDocument/2006/relationships/image" Target="../media/image225.png"/><Relationship Id="rId4" Type="http://schemas.openxmlformats.org/officeDocument/2006/relationships/image" Target="../media/image226.png"/><Relationship Id="rId5" Type="http://schemas.openxmlformats.org/officeDocument/2006/relationships/image" Target="../media/image227.png"/><Relationship Id="rId6" Type="http://schemas.openxmlformats.org/officeDocument/2006/relationships/image" Target="../media/image9.jp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8.png"/><Relationship Id="rId3" Type="http://schemas.openxmlformats.org/officeDocument/2006/relationships/image" Target="../media/image229.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0.png"/><Relationship Id="rId3" Type="http://schemas.openxmlformats.org/officeDocument/2006/relationships/image" Target="../media/image231.png"/><Relationship Id="rId4" Type="http://schemas.openxmlformats.org/officeDocument/2006/relationships/image" Target="../media/image232.png"/><Relationship Id="rId5" Type="http://schemas.openxmlformats.org/officeDocument/2006/relationships/image" Target="../media/image233.png"/><Relationship Id="rId6" Type="http://schemas.openxmlformats.org/officeDocument/2006/relationships/image" Target="../media/image234.png"/><Relationship Id="rId7" Type="http://schemas.openxmlformats.org/officeDocument/2006/relationships/image" Target="../media/image235.png"/><Relationship Id="rId8" Type="http://schemas.openxmlformats.org/officeDocument/2006/relationships/image" Target="../media/image236.png"/><Relationship Id="rId9" Type="http://schemas.openxmlformats.org/officeDocument/2006/relationships/image" Target="../media/image237.png"/><Relationship Id="rId10" Type="http://schemas.openxmlformats.org/officeDocument/2006/relationships/image" Target="../media/image238.png"/><Relationship Id="rId11" Type="http://schemas.openxmlformats.org/officeDocument/2006/relationships/image" Target="../media/image239.png"/><Relationship Id="rId12" Type="http://schemas.openxmlformats.org/officeDocument/2006/relationships/image" Target="../media/image240.png"/><Relationship Id="rId13" Type="http://schemas.openxmlformats.org/officeDocument/2006/relationships/image" Target="../media/image241.png"/><Relationship Id="rId14" Type="http://schemas.openxmlformats.org/officeDocument/2006/relationships/image" Target="../media/image242.png"/><Relationship Id="rId15" Type="http://schemas.openxmlformats.org/officeDocument/2006/relationships/image" Target="../media/image243.png"/><Relationship Id="rId16" Type="http://schemas.openxmlformats.org/officeDocument/2006/relationships/image" Target="../media/image244.png"/><Relationship Id="rId17" Type="http://schemas.openxmlformats.org/officeDocument/2006/relationships/image" Target="../media/image245.png"/><Relationship Id="rId18" Type="http://schemas.openxmlformats.org/officeDocument/2006/relationships/image" Target="../media/image246.png"/><Relationship Id="rId19" Type="http://schemas.openxmlformats.org/officeDocument/2006/relationships/image" Target="../media/image247.png"/><Relationship Id="rId20" Type="http://schemas.openxmlformats.org/officeDocument/2006/relationships/image" Target="../media/image248.png"/><Relationship Id="rId21" Type="http://schemas.openxmlformats.org/officeDocument/2006/relationships/image" Target="../media/image249.png"/><Relationship Id="rId22" Type="http://schemas.openxmlformats.org/officeDocument/2006/relationships/image" Target="../media/image250.png"/><Relationship Id="rId23" Type="http://schemas.openxmlformats.org/officeDocument/2006/relationships/image" Target="../media/image251.jpg"/><Relationship Id="rId24" Type="http://schemas.openxmlformats.org/officeDocument/2006/relationships/image" Target="../media/image252.png"/><Relationship Id="rId25" Type="http://schemas.openxmlformats.org/officeDocument/2006/relationships/image" Target="../media/image253.png"/><Relationship Id="rId26" Type="http://schemas.openxmlformats.org/officeDocument/2006/relationships/image" Target="../media/image254.png"/><Relationship Id="rId27" Type="http://schemas.openxmlformats.org/officeDocument/2006/relationships/image" Target="../media/image255.png"/><Relationship Id="rId28" Type="http://schemas.openxmlformats.org/officeDocument/2006/relationships/image" Target="../media/image256.jpg"/><Relationship Id="rId29" Type="http://schemas.openxmlformats.org/officeDocument/2006/relationships/image" Target="../media/image257.png"/><Relationship Id="rId30" Type="http://schemas.openxmlformats.org/officeDocument/2006/relationships/image" Target="../media/image258.png"/><Relationship Id="rId31" Type="http://schemas.openxmlformats.org/officeDocument/2006/relationships/image" Target="../media/image259.png"/><Relationship Id="rId32" Type="http://schemas.openxmlformats.org/officeDocument/2006/relationships/image" Target="../media/image260.png"/><Relationship Id="rId33" Type="http://schemas.openxmlformats.org/officeDocument/2006/relationships/image" Target="../media/image261.png"/><Relationship Id="rId34" Type="http://schemas.openxmlformats.org/officeDocument/2006/relationships/image" Target="../media/image262.png"/><Relationship Id="rId35" Type="http://schemas.openxmlformats.org/officeDocument/2006/relationships/image" Target="../media/image263.png"/><Relationship Id="rId36" Type="http://schemas.openxmlformats.org/officeDocument/2006/relationships/image" Target="../media/image264.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5.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6.png"/><Relationship Id="rId3" Type="http://schemas.openxmlformats.org/officeDocument/2006/relationships/image" Target="../media/image267.jpg"/><Relationship Id="rId4" Type="http://schemas.openxmlformats.org/officeDocument/2006/relationships/image" Target="../media/image268.png"/><Relationship Id="rId5" Type="http://schemas.openxmlformats.org/officeDocument/2006/relationships/image" Target="../media/image269.jpg"/><Relationship Id="rId6" Type="http://schemas.openxmlformats.org/officeDocument/2006/relationships/image" Target="../media/image270.jpg"/><Relationship Id="rId7" Type="http://schemas.openxmlformats.org/officeDocument/2006/relationships/image" Target="../media/image271.jpg"/><Relationship Id="rId8" Type="http://schemas.openxmlformats.org/officeDocument/2006/relationships/image" Target="../media/image272.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3.png"/><Relationship Id="rId3" Type="http://schemas.openxmlformats.org/officeDocument/2006/relationships/image" Target="../media/image274.png"/><Relationship Id="rId4" Type="http://schemas.openxmlformats.org/officeDocument/2006/relationships/image" Target="../media/image275.png"/><Relationship Id="rId5" Type="http://schemas.openxmlformats.org/officeDocument/2006/relationships/image" Target="../media/image276.png"/><Relationship Id="rId6" Type="http://schemas.openxmlformats.org/officeDocument/2006/relationships/image" Target="../media/image277.png"/><Relationship Id="rId7" Type="http://schemas.openxmlformats.org/officeDocument/2006/relationships/image" Target="../media/image278.png"/><Relationship Id="rId8" Type="http://schemas.openxmlformats.org/officeDocument/2006/relationships/image" Target="../media/image279.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0.png"/><Relationship Id="rId3" Type="http://schemas.openxmlformats.org/officeDocument/2006/relationships/image" Target="../media/image281.png"/><Relationship Id="rId4" Type="http://schemas.openxmlformats.org/officeDocument/2006/relationships/image" Target="../media/image282.png"/><Relationship Id="rId5" Type="http://schemas.openxmlformats.org/officeDocument/2006/relationships/image" Target="../media/image283.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4.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85.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895350"/>
            <a:ext cx="9144000" cy="3962400"/>
          </a:xfrm>
          <a:custGeom>
            <a:avLst/>
            <a:gdLst/>
            <a:ahLst/>
            <a:cxnLst/>
            <a:rect l="l" t="t" r="r" b="b"/>
            <a:pathLst>
              <a:path w="9144000" h="3962400">
                <a:moveTo>
                  <a:pt x="9144000" y="0"/>
                </a:moveTo>
                <a:lnTo>
                  <a:pt x="0" y="0"/>
                </a:lnTo>
                <a:lnTo>
                  <a:pt x="0" y="3962400"/>
                </a:lnTo>
                <a:lnTo>
                  <a:pt x="9144000" y="3962400"/>
                </a:lnTo>
                <a:lnTo>
                  <a:pt x="9144000" y="0"/>
                </a:lnTo>
                <a:close/>
              </a:path>
            </a:pathLst>
          </a:custGeom>
          <a:solidFill>
            <a:srgbClr val="2544A7">
              <a:alpha val="85098"/>
            </a:srgbClr>
          </a:solidFill>
        </p:spPr>
        <p:txBody>
          <a:bodyPr wrap="square" lIns="0" tIns="0" rIns="0" bIns="0" rtlCol="0"/>
          <a:lstStyle/>
          <a:p/>
        </p:txBody>
      </p:sp>
      <p:sp>
        <p:nvSpPr>
          <p:cNvPr id="3" name="object 3"/>
          <p:cNvSpPr txBox="1">
            <a:spLocks noGrp="1"/>
          </p:cNvSpPr>
          <p:nvPr>
            <p:ph type="title"/>
          </p:nvPr>
        </p:nvSpPr>
        <p:spPr>
          <a:xfrm>
            <a:off x="1107344" y="2133854"/>
            <a:ext cx="6929120" cy="756920"/>
          </a:xfrm>
          <a:prstGeom prst="rect"/>
        </p:spPr>
        <p:txBody>
          <a:bodyPr wrap="square" lIns="0" tIns="12700" rIns="0" bIns="0" rtlCol="0" vert="horz">
            <a:spAutoFit/>
          </a:bodyPr>
          <a:lstStyle/>
          <a:p>
            <a:pPr marL="12700">
              <a:lnSpc>
                <a:spcPct val="100000"/>
              </a:lnSpc>
              <a:spcBef>
                <a:spcPts val="100"/>
              </a:spcBef>
            </a:pPr>
            <a:r>
              <a:rPr dirty="0" sz="4800" spc="-40">
                <a:latin typeface="Times New Roman"/>
                <a:cs typeface="Times New Roman"/>
              </a:rPr>
              <a:t>5G</a:t>
            </a:r>
            <a:r>
              <a:rPr dirty="0" sz="4800" spc="-5"/>
              <a:t>无线网络工程建设规范</a:t>
            </a:r>
            <a:endParaRPr sz="480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31769" y="15495"/>
            <a:ext cx="2679065" cy="695960"/>
          </a:xfrm>
          <a:prstGeom prst="rect"/>
        </p:spPr>
        <p:txBody>
          <a:bodyPr wrap="square" lIns="0" tIns="12065" rIns="0" bIns="0" rtlCol="0" vert="horz">
            <a:spAutoFit/>
          </a:bodyPr>
          <a:lstStyle/>
          <a:p>
            <a:pPr marL="12700">
              <a:lnSpc>
                <a:spcPct val="100000"/>
              </a:lnSpc>
              <a:spcBef>
                <a:spcPts val="95"/>
              </a:spcBef>
            </a:pPr>
            <a:r>
              <a:rPr dirty="0" sz="4400" spc="-35"/>
              <a:t>课 程 目 的</a:t>
            </a:r>
            <a:endParaRPr sz="4400"/>
          </a:p>
        </p:txBody>
      </p:sp>
      <p:sp>
        <p:nvSpPr>
          <p:cNvPr id="3" name="object 3" descr=""/>
          <p:cNvSpPr txBox="1"/>
          <p:nvPr/>
        </p:nvSpPr>
        <p:spPr>
          <a:xfrm>
            <a:off x="1027865" y="800083"/>
            <a:ext cx="3772535" cy="4141470"/>
          </a:xfrm>
          <a:prstGeom prst="rect">
            <a:avLst/>
          </a:prstGeom>
        </p:spPr>
        <p:txBody>
          <a:bodyPr wrap="square" lIns="0" tIns="165100" rIns="0" bIns="0" rtlCol="0" vert="horz">
            <a:spAutoFit/>
          </a:bodyPr>
          <a:lstStyle/>
          <a:p>
            <a:pPr marL="354965" indent="-342265">
              <a:lnSpc>
                <a:spcPct val="100000"/>
              </a:lnSpc>
              <a:spcBef>
                <a:spcPts val="1300"/>
              </a:spcBef>
              <a:buFont typeface="Wingdings"/>
              <a:buChar char=""/>
              <a:tabLst>
                <a:tab pos="354965" algn="l"/>
              </a:tabLst>
            </a:pPr>
            <a:r>
              <a:rPr dirty="0" sz="2000" spc="-15">
                <a:latin typeface="SimSun"/>
                <a:cs typeface="SimSun"/>
              </a:rPr>
              <a:t>了解</a:t>
            </a:r>
            <a:r>
              <a:rPr dirty="0" sz="2000" spc="-20">
                <a:latin typeface="Times New Roman"/>
                <a:cs typeface="Times New Roman"/>
              </a:rPr>
              <a:t>5G</a:t>
            </a:r>
            <a:r>
              <a:rPr dirty="0" sz="2000" spc="-25">
                <a:latin typeface="SimSun"/>
                <a:cs typeface="SimSun"/>
              </a:rPr>
              <a:t>无线网络设备安装要求</a:t>
            </a:r>
            <a:endParaRPr sz="2000">
              <a:latin typeface="SimSun"/>
              <a:cs typeface="SimSun"/>
            </a:endParaRPr>
          </a:p>
          <a:p>
            <a:pPr marL="354965" indent="-342265">
              <a:lnSpc>
                <a:spcPct val="100000"/>
              </a:lnSpc>
              <a:spcBef>
                <a:spcPts val="1200"/>
              </a:spcBef>
              <a:buFont typeface="Wingdings"/>
              <a:buChar char=""/>
              <a:tabLst>
                <a:tab pos="354965" algn="l"/>
              </a:tabLst>
            </a:pPr>
            <a:r>
              <a:rPr dirty="0" sz="2000" spc="-15">
                <a:latin typeface="SimSun"/>
                <a:cs typeface="SimSun"/>
              </a:rPr>
              <a:t>了解</a:t>
            </a:r>
            <a:r>
              <a:rPr dirty="0" sz="2000" spc="-20">
                <a:latin typeface="Times New Roman"/>
                <a:cs typeface="Times New Roman"/>
              </a:rPr>
              <a:t>5G</a:t>
            </a:r>
            <a:r>
              <a:rPr dirty="0" sz="2000" spc="-15">
                <a:latin typeface="SimSun"/>
                <a:cs typeface="SimSun"/>
              </a:rPr>
              <a:t>无线网络</a:t>
            </a:r>
            <a:r>
              <a:rPr dirty="0" sz="2000" spc="-25">
                <a:latin typeface="Times New Roman"/>
                <a:cs typeface="Times New Roman"/>
              </a:rPr>
              <a:t>BBU</a:t>
            </a:r>
            <a:r>
              <a:rPr dirty="0" sz="2000" spc="-25">
                <a:latin typeface="SimSun"/>
                <a:cs typeface="SimSun"/>
              </a:rPr>
              <a:t>安装过程</a:t>
            </a:r>
            <a:endParaRPr sz="2000">
              <a:latin typeface="SimSun"/>
              <a:cs typeface="SimSun"/>
            </a:endParaRPr>
          </a:p>
          <a:p>
            <a:pPr marL="354965" indent="-342265">
              <a:lnSpc>
                <a:spcPct val="100000"/>
              </a:lnSpc>
              <a:spcBef>
                <a:spcPts val="1200"/>
              </a:spcBef>
              <a:buFont typeface="Wingdings"/>
              <a:buChar char=""/>
              <a:tabLst>
                <a:tab pos="354965" algn="l"/>
              </a:tabLst>
            </a:pPr>
            <a:r>
              <a:rPr dirty="0" sz="2000" spc="-15">
                <a:latin typeface="SimSun"/>
                <a:cs typeface="SimSun"/>
              </a:rPr>
              <a:t>了解</a:t>
            </a:r>
            <a:r>
              <a:rPr dirty="0" sz="2000" spc="-20">
                <a:latin typeface="Times New Roman"/>
                <a:cs typeface="Times New Roman"/>
              </a:rPr>
              <a:t>5G</a:t>
            </a:r>
            <a:r>
              <a:rPr dirty="0" sz="2000" spc="-15">
                <a:latin typeface="SimSun"/>
                <a:cs typeface="SimSun"/>
              </a:rPr>
              <a:t>无线网络</a:t>
            </a:r>
            <a:r>
              <a:rPr dirty="0" sz="2000" spc="-25">
                <a:latin typeface="Times New Roman"/>
                <a:cs typeface="Times New Roman"/>
              </a:rPr>
              <a:t>AAU</a:t>
            </a:r>
            <a:r>
              <a:rPr dirty="0" sz="2000" spc="-25">
                <a:latin typeface="SimSun"/>
                <a:cs typeface="SimSun"/>
              </a:rPr>
              <a:t>安装过程</a:t>
            </a:r>
            <a:endParaRPr sz="2000">
              <a:latin typeface="SimSun"/>
              <a:cs typeface="SimSun"/>
            </a:endParaRPr>
          </a:p>
          <a:p>
            <a:pPr marL="354965" indent="-342265">
              <a:lnSpc>
                <a:spcPct val="100000"/>
              </a:lnSpc>
              <a:spcBef>
                <a:spcPts val="1200"/>
              </a:spcBef>
              <a:buFont typeface="Wingdings"/>
              <a:buChar char=""/>
              <a:tabLst>
                <a:tab pos="354965" algn="l"/>
              </a:tabLst>
            </a:pPr>
            <a:r>
              <a:rPr dirty="0" sz="2000" spc="-15">
                <a:latin typeface="SimSun"/>
                <a:cs typeface="SimSun"/>
              </a:rPr>
              <a:t>了解</a:t>
            </a:r>
            <a:r>
              <a:rPr dirty="0" sz="2000" spc="-20">
                <a:latin typeface="Times New Roman"/>
                <a:cs typeface="Times New Roman"/>
              </a:rPr>
              <a:t>5G</a:t>
            </a:r>
            <a:r>
              <a:rPr dirty="0" sz="2000" spc="-25">
                <a:latin typeface="SimSun"/>
                <a:cs typeface="SimSun"/>
              </a:rPr>
              <a:t>无线网络配套工程要求</a:t>
            </a:r>
            <a:endParaRPr sz="2000">
              <a:latin typeface="SimSun"/>
              <a:cs typeface="SimSun"/>
            </a:endParaRPr>
          </a:p>
          <a:p>
            <a:pPr marL="354965" indent="-342265">
              <a:lnSpc>
                <a:spcPct val="100000"/>
              </a:lnSpc>
              <a:spcBef>
                <a:spcPts val="1200"/>
              </a:spcBef>
              <a:buFont typeface="Wingdings"/>
              <a:buChar char=""/>
              <a:tabLst>
                <a:tab pos="354965" algn="l"/>
              </a:tabLst>
            </a:pPr>
            <a:r>
              <a:rPr dirty="0" sz="2000" spc="-15">
                <a:latin typeface="SimSun"/>
                <a:cs typeface="SimSun"/>
              </a:rPr>
              <a:t>了解</a:t>
            </a:r>
            <a:r>
              <a:rPr dirty="0" sz="2000" spc="-20">
                <a:latin typeface="Times New Roman"/>
                <a:cs typeface="Times New Roman"/>
              </a:rPr>
              <a:t>5G</a:t>
            </a:r>
            <a:r>
              <a:rPr dirty="0" sz="2000" spc="-25">
                <a:latin typeface="SimSun"/>
                <a:cs typeface="SimSun"/>
              </a:rPr>
              <a:t>网络开通调测测试过程</a:t>
            </a:r>
            <a:endParaRPr sz="2000">
              <a:latin typeface="SimSun"/>
              <a:cs typeface="SimSun"/>
            </a:endParaRPr>
          </a:p>
          <a:p>
            <a:pPr marL="89535">
              <a:lnSpc>
                <a:spcPct val="100000"/>
              </a:lnSpc>
              <a:spcBef>
                <a:spcPts val="1445"/>
              </a:spcBef>
            </a:pPr>
            <a:r>
              <a:rPr dirty="0" sz="2400" spc="-15" b="1">
                <a:solidFill>
                  <a:srgbClr val="FF0000"/>
                </a:solidFill>
                <a:latin typeface="Microsoft YaHei"/>
                <a:cs typeface="Microsoft YaHei"/>
              </a:rPr>
              <a:t>先修课程</a:t>
            </a:r>
            <a:endParaRPr sz="2400">
              <a:latin typeface="Microsoft YaHei"/>
              <a:cs typeface="Microsoft YaHei"/>
            </a:endParaRPr>
          </a:p>
          <a:p>
            <a:pPr marL="354965" indent="-342265">
              <a:lnSpc>
                <a:spcPct val="100000"/>
              </a:lnSpc>
              <a:spcBef>
                <a:spcPts val="1280"/>
              </a:spcBef>
              <a:buFont typeface="Wingdings"/>
              <a:buChar char=""/>
              <a:tabLst>
                <a:tab pos="354965" algn="l"/>
              </a:tabLst>
            </a:pPr>
            <a:r>
              <a:rPr dirty="0" sz="2000" spc="-25">
                <a:latin typeface="SimSun"/>
                <a:cs typeface="SimSun"/>
              </a:rPr>
              <a:t>无线通信系统原理</a:t>
            </a:r>
            <a:endParaRPr sz="2000">
              <a:latin typeface="SimSun"/>
              <a:cs typeface="SimSun"/>
            </a:endParaRPr>
          </a:p>
          <a:p>
            <a:pPr marL="354965" indent="-342265">
              <a:lnSpc>
                <a:spcPct val="100000"/>
              </a:lnSpc>
              <a:spcBef>
                <a:spcPts val="800"/>
              </a:spcBef>
              <a:buFont typeface="Wingdings"/>
              <a:buChar char=""/>
              <a:tabLst>
                <a:tab pos="354965" algn="l"/>
              </a:tabLst>
            </a:pPr>
            <a:r>
              <a:rPr dirty="0" sz="2000" spc="-20">
                <a:latin typeface="SimSun"/>
                <a:cs typeface="SimSun"/>
              </a:rPr>
              <a:t>LTE</a:t>
            </a:r>
            <a:r>
              <a:rPr dirty="0" sz="2000" spc="-25">
                <a:latin typeface="SimSun"/>
                <a:cs typeface="SimSun"/>
              </a:rPr>
              <a:t>网络原理与技术</a:t>
            </a:r>
            <a:endParaRPr sz="2000">
              <a:latin typeface="SimSun"/>
              <a:cs typeface="SimSun"/>
            </a:endParaRPr>
          </a:p>
          <a:p>
            <a:pPr marL="354965" indent="-342265">
              <a:lnSpc>
                <a:spcPct val="100000"/>
              </a:lnSpc>
              <a:spcBef>
                <a:spcPts val="800"/>
              </a:spcBef>
              <a:buFont typeface="Wingdings"/>
              <a:buChar char=""/>
              <a:tabLst>
                <a:tab pos="354965" algn="l"/>
              </a:tabLst>
            </a:pPr>
            <a:r>
              <a:rPr dirty="0" sz="2000" spc="-25">
                <a:latin typeface="SimSun"/>
                <a:cs typeface="SimSun"/>
              </a:rPr>
              <a:t>通信工程与网络技术</a:t>
            </a:r>
            <a:endParaRPr sz="2000">
              <a:latin typeface="SimSun"/>
              <a:cs typeface="SimSun"/>
            </a:endParaRPr>
          </a:p>
        </p:txBody>
      </p:sp>
      <p:pic>
        <p:nvPicPr>
          <p:cNvPr id="4" name="object 4"/>
          <p:cNvPicPr/>
          <p:nvPr/>
        </p:nvPicPr>
        <p:blipFill>
          <a:blip r:embed="rId2" cstate="print"/>
          <a:stretch>
            <a:fillRect/>
          </a:stretch>
        </p:blipFill>
        <p:spPr>
          <a:xfrm>
            <a:off x="5841263" y="1051560"/>
            <a:ext cx="2400629" cy="1846084"/>
          </a:xfrm>
          <a:prstGeom prst="rect">
            <a:avLst/>
          </a:prstGeom>
        </p:spPr>
      </p:pic>
      <p:pic>
        <p:nvPicPr>
          <p:cNvPr id="5" name="object 5" descr=""/>
          <p:cNvPicPr/>
          <p:nvPr/>
        </p:nvPicPr>
        <p:blipFill>
          <a:blip r:embed="rId3" cstate="print"/>
          <a:stretch>
            <a:fillRect/>
          </a:stretch>
        </p:blipFill>
        <p:spPr>
          <a:xfrm>
            <a:off x="5414540" y="3295241"/>
            <a:ext cx="3211342" cy="15298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3581401" y="895350"/>
            <a:ext cx="0" cy="3962400"/>
          </a:xfrm>
          <a:custGeom>
            <a:avLst/>
            <a:gdLst/>
            <a:ahLst/>
            <a:cxnLst/>
            <a:rect l="l" t="t" r="r" b="b"/>
            <a:pathLst>
              <a:path w="0" h="3962400">
                <a:moveTo>
                  <a:pt x="0" y="0"/>
                </a:moveTo>
                <a:lnTo>
                  <a:pt x="0" y="3962400"/>
                </a:lnTo>
              </a:path>
            </a:pathLst>
          </a:custGeom>
          <a:ln w="34925">
            <a:solidFill>
              <a:srgbClr val="000000"/>
            </a:solidFill>
          </a:ln>
        </p:spPr>
        <p:txBody>
          <a:bodyPr wrap="square" lIns="0" tIns="0" rIns="0" bIns="0" rtlCol="0"/>
          <a:lstStyle/>
          <a:p/>
        </p:txBody>
      </p:sp>
      <p:grpSp>
        <p:nvGrpSpPr>
          <p:cNvPr id="3" name="object 3" descr=""/>
          <p:cNvGrpSpPr/>
          <p:nvPr/>
        </p:nvGrpSpPr>
        <p:grpSpPr>
          <a:xfrm>
            <a:off x="3803650" y="1574801"/>
            <a:ext cx="5118100" cy="498475"/>
            <a:chOff x="3803650" y="1574801"/>
            <a:chExt cx="5118100" cy="498475"/>
          </a:xfrm>
        </p:grpSpPr>
        <p:pic>
          <p:nvPicPr>
            <p:cNvPr id="4" name="object 4" descr=""/>
            <p:cNvPicPr/>
            <p:nvPr/>
          </p:nvPicPr>
          <p:blipFill>
            <a:blip r:embed="rId2" cstate="print"/>
            <a:stretch>
              <a:fillRect/>
            </a:stretch>
          </p:blipFill>
          <p:spPr>
            <a:xfrm>
              <a:off x="3810000" y="1581151"/>
              <a:ext cx="5105400" cy="485775"/>
            </a:xfrm>
            <a:prstGeom prst="rect">
              <a:avLst/>
            </a:prstGeom>
          </p:spPr>
        </p:pic>
        <p:sp>
          <p:nvSpPr>
            <p:cNvPr id="5" name="object 5" descr=""/>
            <p:cNvSpPr/>
            <p:nvPr/>
          </p:nvSpPr>
          <p:spPr>
            <a:xfrm>
              <a:off x="3810000" y="1581151"/>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6" name="object 6" descr=""/>
          <p:cNvGrpSpPr/>
          <p:nvPr/>
        </p:nvGrpSpPr>
        <p:grpSpPr>
          <a:xfrm>
            <a:off x="3803650" y="2260600"/>
            <a:ext cx="5118100" cy="498475"/>
            <a:chOff x="3803650" y="2260600"/>
            <a:chExt cx="5118100" cy="498475"/>
          </a:xfrm>
        </p:grpSpPr>
        <p:pic>
          <p:nvPicPr>
            <p:cNvPr id="7" name="object 7" descr=""/>
            <p:cNvPicPr/>
            <p:nvPr/>
          </p:nvPicPr>
          <p:blipFill>
            <a:blip r:embed="rId3" cstate="print"/>
            <a:stretch>
              <a:fillRect/>
            </a:stretch>
          </p:blipFill>
          <p:spPr>
            <a:xfrm>
              <a:off x="3810000" y="2266950"/>
              <a:ext cx="5105400" cy="485775"/>
            </a:xfrm>
            <a:prstGeom prst="rect">
              <a:avLst/>
            </a:prstGeom>
          </p:spPr>
        </p:pic>
        <p:sp>
          <p:nvSpPr>
            <p:cNvPr id="8" name="object 8" descr=""/>
            <p:cNvSpPr/>
            <p:nvPr/>
          </p:nvSpPr>
          <p:spPr>
            <a:xfrm>
              <a:off x="3810000" y="2266950"/>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9" name="object 9" descr=""/>
          <p:cNvGrpSpPr/>
          <p:nvPr/>
        </p:nvGrpSpPr>
        <p:grpSpPr>
          <a:xfrm>
            <a:off x="3803650" y="889001"/>
            <a:ext cx="5118100" cy="498475"/>
            <a:chOff x="3803650" y="889001"/>
            <a:chExt cx="5118100" cy="498475"/>
          </a:xfrm>
        </p:grpSpPr>
        <p:pic>
          <p:nvPicPr>
            <p:cNvPr id="10" name="object 10" descr=""/>
            <p:cNvPicPr/>
            <p:nvPr/>
          </p:nvPicPr>
          <p:blipFill>
            <a:blip r:embed="rId4" cstate="print"/>
            <a:stretch>
              <a:fillRect/>
            </a:stretch>
          </p:blipFill>
          <p:spPr>
            <a:xfrm>
              <a:off x="3810000" y="895351"/>
              <a:ext cx="5105400" cy="485775"/>
            </a:xfrm>
            <a:prstGeom prst="rect">
              <a:avLst/>
            </a:prstGeom>
          </p:spPr>
        </p:pic>
        <p:sp>
          <p:nvSpPr>
            <p:cNvPr id="11" name="object 11" descr=""/>
            <p:cNvSpPr/>
            <p:nvPr/>
          </p:nvSpPr>
          <p:spPr>
            <a:xfrm>
              <a:off x="3810000" y="895351"/>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12" name="object 12"/>
          <p:cNvSpPr txBox="1">
            <a:spLocks noGrp="1"/>
          </p:cNvSpPr>
          <p:nvPr>
            <p:ph type="title"/>
          </p:nvPr>
        </p:nvSpPr>
        <p:spPr>
          <a:xfrm>
            <a:off x="3136519" y="39229"/>
            <a:ext cx="3098800" cy="695960"/>
          </a:xfrm>
          <a:prstGeom prst="rect"/>
        </p:spPr>
        <p:txBody>
          <a:bodyPr wrap="square" lIns="0" tIns="12065" rIns="0" bIns="0" rtlCol="0" vert="horz">
            <a:spAutoFit/>
          </a:bodyPr>
          <a:lstStyle/>
          <a:p>
            <a:pPr marL="12700">
              <a:lnSpc>
                <a:spcPct val="100000"/>
              </a:lnSpc>
              <a:spcBef>
                <a:spcPts val="95"/>
              </a:spcBef>
              <a:tabLst>
                <a:tab pos="850265" algn="l"/>
                <a:tab pos="1688464" algn="l"/>
                <a:tab pos="2526665" algn="l"/>
              </a:tabLst>
            </a:pPr>
            <a:r>
              <a:rPr dirty="0" sz="4400" spc="-50"/>
              <a:t>主</a:t>
            </a:r>
            <a:r>
              <a:rPr dirty="0" sz="4400"/>
              <a:t>	</a:t>
            </a:r>
            <a:r>
              <a:rPr dirty="0" sz="4400" spc="-50"/>
              <a:t>要</a:t>
            </a:r>
            <a:r>
              <a:rPr dirty="0" sz="4400"/>
              <a:t>	</a:t>
            </a:r>
            <a:r>
              <a:rPr dirty="0" sz="4400" spc="-50"/>
              <a:t>内</a:t>
            </a:r>
            <a:r>
              <a:rPr dirty="0" sz="4400"/>
              <a:t>	</a:t>
            </a:r>
            <a:r>
              <a:rPr dirty="0" sz="4400" spc="-50"/>
              <a:t>容</a:t>
            </a:r>
            <a:endParaRPr sz="4400"/>
          </a:p>
        </p:txBody>
      </p:sp>
      <p:grpSp>
        <p:nvGrpSpPr>
          <p:cNvPr id="13" name="object 13" descr=""/>
          <p:cNvGrpSpPr/>
          <p:nvPr/>
        </p:nvGrpSpPr>
        <p:grpSpPr>
          <a:xfrm>
            <a:off x="3803650" y="2946400"/>
            <a:ext cx="5118100" cy="498475"/>
            <a:chOff x="3803650" y="2946400"/>
            <a:chExt cx="5118100" cy="498475"/>
          </a:xfrm>
        </p:grpSpPr>
        <p:pic>
          <p:nvPicPr>
            <p:cNvPr id="14" name="object 14" descr=""/>
            <p:cNvPicPr/>
            <p:nvPr/>
          </p:nvPicPr>
          <p:blipFill>
            <a:blip r:embed="rId5" cstate="print"/>
            <a:stretch>
              <a:fillRect/>
            </a:stretch>
          </p:blipFill>
          <p:spPr>
            <a:xfrm>
              <a:off x="3810000" y="2952750"/>
              <a:ext cx="5105400" cy="485775"/>
            </a:xfrm>
            <a:prstGeom prst="rect">
              <a:avLst/>
            </a:prstGeom>
          </p:spPr>
        </p:pic>
        <p:sp>
          <p:nvSpPr>
            <p:cNvPr id="15" name="object 15" descr=""/>
            <p:cNvSpPr/>
            <p:nvPr/>
          </p:nvSpPr>
          <p:spPr>
            <a:xfrm>
              <a:off x="3810000" y="2952750"/>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pic>
        <p:nvPicPr>
          <p:cNvPr id="16" name="object 16"/>
          <p:cNvPicPr/>
          <p:nvPr/>
        </p:nvPicPr>
        <p:blipFill>
          <a:blip r:embed="rId6" cstate="print"/>
          <a:stretch>
            <a:fillRect/>
          </a:stretch>
        </p:blipFill>
        <p:spPr>
          <a:xfrm>
            <a:off x="152400" y="895350"/>
            <a:ext cx="3276599" cy="3962399"/>
          </a:xfrm>
          <a:prstGeom prst="rect">
            <a:avLst/>
          </a:prstGeom>
        </p:spPr>
      </p:pic>
      <p:grpSp>
        <p:nvGrpSpPr>
          <p:cNvPr id="17" name="object 17" descr=""/>
          <p:cNvGrpSpPr/>
          <p:nvPr/>
        </p:nvGrpSpPr>
        <p:grpSpPr>
          <a:xfrm>
            <a:off x="3803650" y="3632200"/>
            <a:ext cx="5118100" cy="498475"/>
            <a:chOff x="3803650" y="3632200"/>
            <a:chExt cx="5118100" cy="498475"/>
          </a:xfrm>
        </p:grpSpPr>
        <p:pic>
          <p:nvPicPr>
            <p:cNvPr id="18" name="object 18" descr=""/>
            <p:cNvPicPr/>
            <p:nvPr/>
          </p:nvPicPr>
          <p:blipFill>
            <a:blip r:embed="rId5" cstate="print"/>
            <a:stretch>
              <a:fillRect/>
            </a:stretch>
          </p:blipFill>
          <p:spPr>
            <a:xfrm>
              <a:off x="3810000" y="3638550"/>
              <a:ext cx="5105400" cy="485775"/>
            </a:xfrm>
            <a:prstGeom prst="rect">
              <a:avLst/>
            </a:prstGeom>
          </p:spPr>
        </p:pic>
        <p:sp>
          <p:nvSpPr>
            <p:cNvPr id="19" name="object 19" descr=""/>
            <p:cNvSpPr/>
            <p:nvPr/>
          </p:nvSpPr>
          <p:spPr>
            <a:xfrm>
              <a:off x="3810000" y="3638550"/>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20" name="object 20" descr=""/>
          <p:cNvGrpSpPr/>
          <p:nvPr/>
        </p:nvGrpSpPr>
        <p:grpSpPr>
          <a:xfrm>
            <a:off x="3803650" y="4318000"/>
            <a:ext cx="5118100" cy="498475"/>
            <a:chOff x="3803650" y="4318000"/>
            <a:chExt cx="5118100" cy="498475"/>
          </a:xfrm>
        </p:grpSpPr>
        <p:pic>
          <p:nvPicPr>
            <p:cNvPr id="21" name="object 21" descr=""/>
            <p:cNvPicPr/>
            <p:nvPr/>
          </p:nvPicPr>
          <p:blipFill>
            <a:blip r:embed="rId5" cstate="print"/>
            <a:stretch>
              <a:fillRect/>
            </a:stretch>
          </p:blipFill>
          <p:spPr>
            <a:xfrm>
              <a:off x="3810000" y="4324350"/>
              <a:ext cx="5105400" cy="485775"/>
            </a:xfrm>
            <a:prstGeom prst="rect">
              <a:avLst/>
            </a:prstGeom>
          </p:spPr>
        </p:pic>
        <p:sp>
          <p:nvSpPr>
            <p:cNvPr id="22" name="object 22" descr=""/>
            <p:cNvSpPr/>
            <p:nvPr/>
          </p:nvSpPr>
          <p:spPr>
            <a:xfrm>
              <a:off x="3810000" y="4324350"/>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23" name="object 23" descr=""/>
          <p:cNvSpPr txBox="1"/>
          <p:nvPr/>
        </p:nvSpPr>
        <p:spPr>
          <a:xfrm>
            <a:off x="3912453" y="931227"/>
            <a:ext cx="4716145" cy="3821429"/>
          </a:xfrm>
          <a:prstGeom prst="rect">
            <a:avLst/>
          </a:prstGeom>
        </p:spPr>
        <p:txBody>
          <a:bodyPr wrap="square" lIns="0" tIns="12700" rIns="0" bIns="0" rtlCol="0" vert="horz">
            <a:spAutoFit/>
          </a:bodyPr>
          <a:lstStyle/>
          <a:p>
            <a:pPr marL="12700">
              <a:lnSpc>
                <a:spcPct val="100000"/>
              </a:lnSpc>
              <a:spcBef>
                <a:spcPts val="100"/>
              </a:spcBef>
            </a:pPr>
            <a:r>
              <a:rPr dirty="0" sz="2400" b="1">
                <a:solidFill>
                  <a:srgbClr val="FF0000"/>
                </a:solidFill>
                <a:latin typeface="Microsoft YaHei"/>
                <a:cs typeface="Microsoft YaHei"/>
              </a:rPr>
              <a:t>一、</a:t>
            </a:r>
            <a:r>
              <a:rPr dirty="0" sz="2400" b="1">
                <a:solidFill>
                  <a:srgbClr val="FF0000"/>
                </a:solidFill>
                <a:latin typeface="Times New Roman"/>
                <a:cs typeface="Times New Roman"/>
              </a:rPr>
              <a:t>5G</a:t>
            </a:r>
            <a:r>
              <a:rPr dirty="0" sz="2400" b="1">
                <a:solidFill>
                  <a:srgbClr val="FF0000"/>
                </a:solidFill>
                <a:latin typeface="Microsoft YaHei"/>
                <a:cs typeface="Microsoft YaHei"/>
              </a:rPr>
              <a:t>系统基站</a:t>
            </a:r>
            <a:r>
              <a:rPr dirty="0" sz="2400" spc="-10" b="1">
                <a:solidFill>
                  <a:srgbClr val="FF0000"/>
                </a:solidFill>
                <a:latin typeface="Times New Roman"/>
                <a:cs typeface="Times New Roman"/>
              </a:rPr>
              <a:t>BBU</a:t>
            </a:r>
            <a:r>
              <a:rPr dirty="0" sz="2400" spc="-10" b="1">
                <a:solidFill>
                  <a:srgbClr val="FF0000"/>
                </a:solidFill>
                <a:latin typeface="Microsoft YaHei"/>
                <a:cs typeface="Microsoft YaHei"/>
              </a:rPr>
              <a:t>安装工程规范</a:t>
            </a:r>
            <a:endParaRPr sz="2400">
              <a:latin typeface="Microsoft YaHei"/>
              <a:cs typeface="Microsoft YaHei"/>
            </a:endParaRPr>
          </a:p>
          <a:p>
            <a:pPr algn="just" marL="12700" marR="5080">
              <a:lnSpc>
                <a:spcPct val="187500"/>
              </a:lnSpc>
            </a:pPr>
            <a:r>
              <a:rPr dirty="0" sz="2400">
                <a:latin typeface="Microsoft YaHei"/>
                <a:cs typeface="Microsoft YaHei"/>
              </a:rPr>
              <a:t>二、</a:t>
            </a:r>
            <a:r>
              <a:rPr dirty="0" sz="2400" spc="-20">
                <a:latin typeface="Times New Roman"/>
                <a:cs typeface="Times New Roman"/>
              </a:rPr>
              <a:t>5G</a:t>
            </a:r>
            <a:r>
              <a:rPr dirty="0" sz="2400">
                <a:latin typeface="Microsoft YaHei"/>
                <a:cs typeface="Microsoft YaHei"/>
              </a:rPr>
              <a:t>系统基站</a:t>
            </a:r>
            <a:r>
              <a:rPr dirty="0" sz="2400" spc="-25">
                <a:latin typeface="Times New Roman"/>
                <a:cs typeface="Times New Roman"/>
              </a:rPr>
              <a:t>AAU</a:t>
            </a:r>
            <a:r>
              <a:rPr dirty="0" sz="2400" spc="-10">
                <a:latin typeface="Microsoft YaHei"/>
                <a:cs typeface="Microsoft YaHei"/>
              </a:rPr>
              <a:t>安装工程规范</a:t>
            </a:r>
            <a:r>
              <a:rPr dirty="0" sz="2400">
                <a:latin typeface="Microsoft YaHei"/>
                <a:cs typeface="Microsoft YaHei"/>
              </a:rPr>
              <a:t>三、</a:t>
            </a:r>
            <a:r>
              <a:rPr dirty="0" sz="2400" spc="-20">
                <a:latin typeface="Times New Roman"/>
                <a:cs typeface="Times New Roman"/>
              </a:rPr>
              <a:t>5G</a:t>
            </a:r>
            <a:r>
              <a:rPr dirty="0" sz="2400" spc="-5">
                <a:latin typeface="Microsoft YaHei"/>
                <a:cs typeface="Microsoft YaHei"/>
              </a:rPr>
              <a:t>系统基站安装配套工程规范</a:t>
            </a:r>
            <a:r>
              <a:rPr dirty="0" sz="2400">
                <a:latin typeface="Microsoft YaHei"/>
                <a:cs typeface="Microsoft YaHei"/>
              </a:rPr>
              <a:t>四、</a:t>
            </a:r>
            <a:r>
              <a:rPr dirty="0" sz="2400" spc="-20">
                <a:latin typeface="Times New Roman"/>
                <a:cs typeface="Times New Roman"/>
              </a:rPr>
              <a:t>5G</a:t>
            </a:r>
            <a:r>
              <a:rPr dirty="0" sz="2400" spc="-5">
                <a:latin typeface="Microsoft YaHei"/>
                <a:cs typeface="Microsoft YaHei"/>
              </a:rPr>
              <a:t>系统基站线缆安装工程规范</a:t>
            </a:r>
            <a:r>
              <a:rPr dirty="0" sz="2400">
                <a:latin typeface="Microsoft YaHei"/>
                <a:cs typeface="Microsoft YaHei"/>
              </a:rPr>
              <a:t>五、</a:t>
            </a:r>
            <a:r>
              <a:rPr dirty="0" sz="2400" spc="-20">
                <a:latin typeface="Times New Roman"/>
                <a:cs typeface="Times New Roman"/>
              </a:rPr>
              <a:t>5G</a:t>
            </a:r>
            <a:r>
              <a:rPr dirty="0" sz="2400" spc="-5">
                <a:latin typeface="Microsoft YaHei"/>
                <a:cs typeface="Microsoft YaHei"/>
              </a:rPr>
              <a:t>系统基站安装常见问题分析</a:t>
            </a:r>
            <a:endParaRPr sz="2400">
              <a:latin typeface="Microsoft YaHei"/>
              <a:cs typeface="Microsoft YaHei"/>
            </a:endParaRPr>
          </a:p>
          <a:p>
            <a:pPr marL="12700">
              <a:lnSpc>
                <a:spcPct val="100000"/>
              </a:lnSpc>
              <a:spcBef>
                <a:spcPts val="2525"/>
              </a:spcBef>
            </a:pPr>
            <a:r>
              <a:rPr dirty="0" sz="2400">
                <a:latin typeface="Microsoft YaHei"/>
                <a:cs typeface="Microsoft YaHei"/>
              </a:rPr>
              <a:t>六、</a:t>
            </a:r>
            <a:r>
              <a:rPr dirty="0" sz="2400" spc="-20">
                <a:latin typeface="Times New Roman"/>
                <a:cs typeface="Times New Roman"/>
              </a:rPr>
              <a:t>5G</a:t>
            </a:r>
            <a:r>
              <a:rPr dirty="0" sz="2400" spc="-5">
                <a:latin typeface="Microsoft YaHei"/>
                <a:cs typeface="Microsoft YaHei"/>
              </a:rPr>
              <a:t>系统基站开通调测性能测试</a:t>
            </a:r>
            <a:endParaRPr sz="2400">
              <a:latin typeface="Microsoft YaHei"/>
              <a:cs typeface="Microsoft YaHe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64406" y="124397"/>
            <a:ext cx="3799204"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50"/>
              <a:t>基站常用配套需求</a:t>
            </a:r>
          </a:p>
        </p:txBody>
      </p:sp>
      <p:grpSp>
        <p:nvGrpSpPr>
          <p:cNvPr id="3" name="object 3" descr=""/>
          <p:cNvGrpSpPr/>
          <p:nvPr/>
        </p:nvGrpSpPr>
        <p:grpSpPr>
          <a:xfrm>
            <a:off x="758952" y="865632"/>
            <a:ext cx="1960245" cy="1030605"/>
            <a:chOff x="758952" y="865632"/>
            <a:chExt cx="1960245" cy="1030605"/>
          </a:xfrm>
        </p:grpSpPr>
        <p:pic>
          <p:nvPicPr>
            <p:cNvPr id="4" name="object 4"/>
            <p:cNvPicPr/>
            <p:nvPr/>
          </p:nvPicPr>
          <p:blipFill>
            <a:blip r:embed="rId2" cstate="print"/>
            <a:stretch>
              <a:fillRect/>
            </a:stretch>
          </p:blipFill>
          <p:spPr>
            <a:xfrm>
              <a:off x="758952" y="880871"/>
              <a:ext cx="1749552" cy="1014984"/>
            </a:xfrm>
            <a:prstGeom prst="rect">
              <a:avLst/>
            </a:prstGeom>
          </p:spPr>
        </p:pic>
        <p:pic>
          <p:nvPicPr>
            <p:cNvPr id="5" name="object 5" descr=""/>
            <p:cNvPicPr/>
            <p:nvPr/>
          </p:nvPicPr>
          <p:blipFill>
            <a:blip r:embed="rId3" cstate="print"/>
            <a:stretch>
              <a:fillRect/>
            </a:stretch>
          </p:blipFill>
          <p:spPr>
            <a:xfrm>
              <a:off x="1472183" y="865632"/>
              <a:ext cx="1246632" cy="740664"/>
            </a:xfrm>
            <a:prstGeom prst="rect">
              <a:avLst/>
            </a:prstGeom>
          </p:spPr>
        </p:pic>
      </p:grpSp>
      <p:sp>
        <p:nvSpPr>
          <p:cNvPr id="6" name="object 6" descr=""/>
          <p:cNvSpPr txBox="1"/>
          <p:nvPr/>
        </p:nvSpPr>
        <p:spPr>
          <a:xfrm>
            <a:off x="1776394" y="964747"/>
            <a:ext cx="643255" cy="513715"/>
          </a:xfrm>
          <a:prstGeom prst="rect">
            <a:avLst/>
          </a:prstGeom>
        </p:spPr>
        <p:txBody>
          <a:bodyPr wrap="square" lIns="0" tIns="12700" rIns="0" bIns="0" rtlCol="0" vert="horz">
            <a:spAutoFit/>
          </a:bodyPr>
          <a:lstStyle/>
          <a:p>
            <a:pPr marL="12700">
              <a:lnSpc>
                <a:spcPct val="100000"/>
              </a:lnSpc>
              <a:spcBef>
                <a:spcPts val="100"/>
              </a:spcBef>
            </a:pPr>
            <a:r>
              <a:rPr dirty="0" sz="1600" spc="-20" b="1">
                <a:solidFill>
                  <a:srgbClr val="FFFFFF"/>
                </a:solidFill>
                <a:latin typeface="Times New Roman"/>
                <a:cs typeface="Times New Roman"/>
              </a:rPr>
              <a:t>BBU</a:t>
            </a:r>
            <a:r>
              <a:rPr dirty="0" sz="1600" spc="-50" b="1">
                <a:solidFill>
                  <a:srgbClr val="FFFFFF"/>
                </a:solidFill>
                <a:latin typeface="Microsoft YaHei"/>
                <a:cs typeface="Microsoft YaHei"/>
              </a:rPr>
              <a:t>环</a:t>
            </a:r>
            <a:endParaRPr sz="1600">
              <a:latin typeface="Microsoft YaHei"/>
              <a:cs typeface="Microsoft YaHei"/>
            </a:endParaRPr>
          </a:p>
          <a:p>
            <a:pPr marL="15240">
              <a:lnSpc>
                <a:spcPct val="100000"/>
              </a:lnSpc>
            </a:pPr>
            <a:r>
              <a:rPr dirty="0" sz="1600" spc="-20" b="1">
                <a:solidFill>
                  <a:srgbClr val="FFFFFF"/>
                </a:solidFill>
                <a:latin typeface="Microsoft YaHei"/>
                <a:cs typeface="Microsoft YaHei"/>
              </a:rPr>
              <a:t>境要求</a:t>
            </a:r>
            <a:endParaRPr sz="1600">
              <a:latin typeface="Microsoft YaHei"/>
              <a:cs typeface="Microsoft YaHei"/>
            </a:endParaRPr>
          </a:p>
        </p:txBody>
      </p:sp>
      <p:pic>
        <p:nvPicPr>
          <p:cNvPr id="7" name="object 7"/>
          <p:cNvPicPr/>
          <p:nvPr/>
        </p:nvPicPr>
        <p:blipFill>
          <a:blip r:embed="rId4" cstate="print"/>
          <a:stretch>
            <a:fillRect/>
          </a:stretch>
        </p:blipFill>
        <p:spPr>
          <a:xfrm>
            <a:off x="1648967" y="835152"/>
            <a:ext cx="716267" cy="609599"/>
          </a:xfrm>
          <a:prstGeom prst="rect">
            <a:avLst/>
          </a:prstGeom>
        </p:spPr>
      </p:pic>
      <p:grpSp>
        <p:nvGrpSpPr>
          <p:cNvPr id="8" name="object 8" descr=""/>
          <p:cNvGrpSpPr/>
          <p:nvPr/>
        </p:nvGrpSpPr>
        <p:grpSpPr>
          <a:xfrm>
            <a:off x="3419855" y="877823"/>
            <a:ext cx="1960245" cy="1137285"/>
            <a:chOff x="3419855" y="877823"/>
            <a:chExt cx="1960245" cy="1137285"/>
          </a:xfrm>
        </p:grpSpPr>
        <p:pic>
          <p:nvPicPr>
            <p:cNvPr id="9" name="object 9"/>
            <p:cNvPicPr/>
            <p:nvPr/>
          </p:nvPicPr>
          <p:blipFill>
            <a:blip r:embed="rId5" cstate="print"/>
            <a:stretch>
              <a:fillRect/>
            </a:stretch>
          </p:blipFill>
          <p:spPr>
            <a:xfrm>
              <a:off x="3419855" y="999744"/>
              <a:ext cx="1746504" cy="1014984"/>
            </a:xfrm>
            <a:prstGeom prst="rect">
              <a:avLst/>
            </a:prstGeom>
          </p:spPr>
        </p:pic>
        <p:pic>
          <p:nvPicPr>
            <p:cNvPr id="10" name="object 10" descr=""/>
            <p:cNvPicPr/>
            <p:nvPr/>
          </p:nvPicPr>
          <p:blipFill>
            <a:blip r:embed="rId6" cstate="print"/>
            <a:stretch>
              <a:fillRect/>
            </a:stretch>
          </p:blipFill>
          <p:spPr>
            <a:xfrm>
              <a:off x="4105655" y="877823"/>
              <a:ext cx="1274064" cy="740664"/>
            </a:xfrm>
            <a:prstGeom prst="rect">
              <a:avLst/>
            </a:prstGeom>
          </p:spPr>
        </p:pic>
      </p:grpSp>
      <p:sp>
        <p:nvSpPr>
          <p:cNvPr id="11" name="object 11" descr=""/>
          <p:cNvSpPr txBox="1"/>
          <p:nvPr/>
        </p:nvSpPr>
        <p:spPr>
          <a:xfrm>
            <a:off x="4411849" y="978034"/>
            <a:ext cx="667385" cy="513715"/>
          </a:xfrm>
          <a:prstGeom prst="rect">
            <a:avLst/>
          </a:prstGeom>
        </p:spPr>
        <p:txBody>
          <a:bodyPr wrap="square" lIns="0" tIns="12700" rIns="0" bIns="0" rtlCol="0" vert="horz">
            <a:spAutoFit/>
          </a:bodyPr>
          <a:lstStyle/>
          <a:p>
            <a:pPr marL="12700">
              <a:lnSpc>
                <a:spcPct val="100000"/>
              </a:lnSpc>
              <a:spcBef>
                <a:spcPts val="100"/>
              </a:spcBef>
            </a:pPr>
            <a:r>
              <a:rPr dirty="0" sz="1600" spc="-10" b="1">
                <a:solidFill>
                  <a:srgbClr val="FFFFFF"/>
                </a:solidFill>
                <a:latin typeface="Times New Roman"/>
                <a:cs typeface="Times New Roman"/>
              </a:rPr>
              <a:t>AAU</a:t>
            </a:r>
            <a:r>
              <a:rPr dirty="0" sz="1600" spc="-50" b="1">
                <a:solidFill>
                  <a:srgbClr val="FFFFFF"/>
                </a:solidFill>
                <a:latin typeface="Microsoft YaHei"/>
                <a:cs typeface="Microsoft YaHei"/>
              </a:rPr>
              <a:t>环</a:t>
            </a:r>
            <a:endParaRPr sz="1600">
              <a:latin typeface="Microsoft YaHei"/>
              <a:cs typeface="Microsoft YaHei"/>
            </a:endParaRPr>
          </a:p>
          <a:p>
            <a:pPr marL="27940">
              <a:lnSpc>
                <a:spcPct val="100000"/>
              </a:lnSpc>
            </a:pPr>
            <a:r>
              <a:rPr dirty="0" sz="1600" spc="-20" b="1">
                <a:solidFill>
                  <a:srgbClr val="FFFFFF"/>
                </a:solidFill>
                <a:latin typeface="Microsoft YaHei"/>
                <a:cs typeface="Microsoft YaHei"/>
              </a:rPr>
              <a:t>境要求</a:t>
            </a:r>
            <a:endParaRPr sz="1600">
              <a:latin typeface="Microsoft YaHei"/>
              <a:cs typeface="Microsoft YaHei"/>
            </a:endParaRPr>
          </a:p>
        </p:txBody>
      </p:sp>
      <p:grpSp>
        <p:nvGrpSpPr>
          <p:cNvPr id="12" name="object 12" descr=""/>
          <p:cNvGrpSpPr/>
          <p:nvPr/>
        </p:nvGrpSpPr>
        <p:grpSpPr>
          <a:xfrm>
            <a:off x="6309360" y="865632"/>
            <a:ext cx="1965960" cy="1030605"/>
            <a:chOff x="6309360" y="865632"/>
            <a:chExt cx="1965960" cy="1030605"/>
          </a:xfrm>
        </p:grpSpPr>
        <p:pic>
          <p:nvPicPr>
            <p:cNvPr id="13" name="object 13"/>
            <p:cNvPicPr/>
            <p:nvPr/>
          </p:nvPicPr>
          <p:blipFill>
            <a:blip r:embed="rId5" cstate="print"/>
            <a:stretch>
              <a:fillRect/>
            </a:stretch>
          </p:blipFill>
          <p:spPr>
            <a:xfrm>
              <a:off x="6309360" y="880871"/>
              <a:ext cx="1746504" cy="1014984"/>
            </a:xfrm>
            <a:prstGeom prst="rect">
              <a:avLst/>
            </a:prstGeom>
          </p:spPr>
        </p:pic>
        <p:pic>
          <p:nvPicPr>
            <p:cNvPr id="14" name="object 14" descr=""/>
            <p:cNvPicPr/>
            <p:nvPr/>
          </p:nvPicPr>
          <p:blipFill>
            <a:blip r:embed="rId7" cstate="print"/>
            <a:stretch>
              <a:fillRect/>
            </a:stretch>
          </p:blipFill>
          <p:spPr>
            <a:xfrm>
              <a:off x="7022592" y="865632"/>
              <a:ext cx="1252728" cy="740664"/>
            </a:xfrm>
            <a:prstGeom prst="rect">
              <a:avLst/>
            </a:prstGeom>
          </p:spPr>
        </p:pic>
      </p:grpSp>
      <p:grpSp>
        <p:nvGrpSpPr>
          <p:cNvPr id="15" name="object 15" descr=""/>
          <p:cNvGrpSpPr/>
          <p:nvPr/>
        </p:nvGrpSpPr>
        <p:grpSpPr>
          <a:xfrm>
            <a:off x="3084245" y="883920"/>
            <a:ext cx="3048635" cy="4098925"/>
            <a:chOff x="3084245" y="883920"/>
            <a:chExt cx="3048635" cy="4098925"/>
          </a:xfrm>
        </p:grpSpPr>
        <p:pic>
          <p:nvPicPr>
            <p:cNvPr id="16" name="object 16"/>
            <p:cNvPicPr/>
            <p:nvPr/>
          </p:nvPicPr>
          <p:blipFill>
            <a:blip r:embed="rId8" cstate="print"/>
            <a:stretch>
              <a:fillRect/>
            </a:stretch>
          </p:blipFill>
          <p:spPr>
            <a:xfrm>
              <a:off x="4169664" y="883920"/>
              <a:ext cx="768096" cy="728472"/>
            </a:xfrm>
            <a:prstGeom prst="rect">
              <a:avLst/>
            </a:prstGeom>
          </p:spPr>
        </p:pic>
        <p:sp>
          <p:nvSpPr>
            <p:cNvPr id="17" name="object 17" descr=""/>
            <p:cNvSpPr/>
            <p:nvPr/>
          </p:nvSpPr>
          <p:spPr>
            <a:xfrm>
              <a:off x="3084245" y="1885950"/>
              <a:ext cx="3048635" cy="3096895"/>
            </a:xfrm>
            <a:custGeom>
              <a:avLst/>
              <a:gdLst/>
              <a:ahLst/>
              <a:cxnLst/>
              <a:rect l="l" t="t" r="r" b="b"/>
              <a:pathLst>
                <a:path w="3048635" h="3096895">
                  <a:moveTo>
                    <a:pt x="3048114" y="0"/>
                  </a:moveTo>
                  <a:lnTo>
                    <a:pt x="0" y="0"/>
                  </a:lnTo>
                  <a:lnTo>
                    <a:pt x="0" y="3096348"/>
                  </a:lnTo>
                  <a:lnTo>
                    <a:pt x="3048114" y="3096348"/>
                  </a:lnTo>
                  <a:lnTo>
                    <a:pt x="3048114" y="0"/>
                  </a:lnTo>
                  <a:close/>
                </a:path>
              </a:pathLst>
            </a:custGeom>
            <a:solidFill>
              <a:srgbClr val="FFFFFF"/>
            </a:solidFill>
          </p:spPr>
          <p:txBody>
            <a:bodyPr wrap="square" lIns="0" tIns="0" rIns="0" bIns="0" rtlCol="0"/>
            <a:lstStyle/>
            <a:p/>
          </p:txBody>
        </p:sp>
      </p:grpSp>
      <p:sp>
        <p:nvSpPr>
          <p:cNvPr id="18" name="object 18" descr=""/>
          <p:cNvSpPr txBox="1"/>
          <p:nvPr/>
        </p:nvSpPr>
        <p:spPr>
          <a:xfrm>
            <a:off x="7331502" y="964749"/>
            <a:ext cx="636270" cy="513715"/>
          </a:xfrm>
          <a:prstGeom prst="rect">
            <a:avLst/>
          </a:prstGeom>
        </p:spPr>
        <p:txBody>
          <a:bodyPr wrap="square" lIns="0" tIns="12700" rIns="0" bIns="0" rtlCol="0" vert="horz">
            <a:spAutoFit/>
          </a:bodyPr>
          <a:lstStyle/>
          <a:p>
            <a:pPr marL="12700">
              <a:lnSpc>
                <a:spcPct val="100000"/>
              </a:lnSpc>
              <a:spcBef>
                <a:spcPts val="100"/>
              </a:spcBef>
            </a:pPr>
            <a:r>
              <a:rPr dirty="0" sz="1600" b="1">
                <a:solidFill>
                  <a:srgbClr val="FFFFFF"/>
                </a:solidFill>
                <a:latin typeface="Times New Roman"/>
                <a:cs typeface="Times New Roman"/>
              </a:rPr>
              <a:t>GPS</a:t>
            </a:r>
            <a:r>
              <a:rPr dirty="0" sz="1600" spc="-50" b="1">
                <a:solidFill>
                  <a:srgbClr val="FFFFFF"/>
                </a:solidFill>
                <a:latin typeface="Microsoft YaHei"/>
                <a:cs typeface="Microsoft YaHei"/>
              </a:rPr>
              <a:t>环</a:t>
            </a:r>
            <a:endParaRPr sz="1600">
              <a:latin typeface="Microsoft YaHei"/>
              <a:cs typeface="Microsoft YaHei"/>
            </a:endParaRPr>
          </a:p>
          <a:p>
            <a:pPr marL="12700">
              <a:lnSpc>
                <a:spcPct val="100000"/>
              </a:lnSpc>
            </a:pPr>
            <a:r>
              <a:rPr dirty="0" sz="1600" spc="-20" b="1">
                <a:solidFill>
                  <a:srgbClr val="FFFFFF"/>
                </a:solidFill>
                <a:latin typeface="Microsoft YaHei"/>
                <a:cs typeface="Microsoft YaHei"/>
              </a:rPr>
              <a:t>境要求</a:t>
            </a:r>
            <a:endParaRPr sz="1600">
              <a:latin typeface="Microsoft YaHei"/>
              <a:cs typeface="Microsoft YaHei"/>
            </a:endParaRPr>
          </a:p>
        </p:txBody>
      </p:sp>
      <p:pic>
        <p:nvPicPr>
          <p:cNvPr id="19" name="object 19"/>
          <p:cNvPicPr/>
          <p:nvPr/>
        </p:nvPicPr>
        <p:blipFill>
          <a:blip r:embed="rId9" cstate="print"/>
          <a:stretch>
            <a:fillRect/>
          </a:stretch>
        </p:blipFill>
        <p:spPr>
          <a:xfrm>
            <a:off x="7132320" y="859535"/>
            <a:ext cx="762000" cy="716280"/>
          </a:xfrm>
          <a:prstGeom prst="rect">
            <a:avLst/>
          </a:prstGeom>
        </p:spPr>
      </p:pic>
      <p:sp>
        <p:nvSpPr>
          <p:cNvPr id="20" name="object 20" descr=""/>
          <p:cNvSpPr txBox="1"/>
          <p:nvPr/>
        </p:nvSpPr>
        <p:spPr>
          <a:xfrm>
            <a:off x="545147" y="1885950"/>
            <a:ext cx="2395220" cy="3096895"/>
          </a:xfrm>
          <a:prstGeom prst="rect">
            <a:avLst/>
          </a:prstGeom>
          <a:ln w="25400">
            <a:solidFill>
              <a:srgbClr val="28287A"/>
            </a:solidFill>
          </a:ln>
        </p:spPr>
        <p:txBody>
          <a:bodyPr wrap="square" lIns="0" tIns="114300" rIns="0" bIns="0" rtlCol="0" vert="horz">
            <a:spAutoFit/>
          </a:bodyPr>
          <a:lstStyle/>
          <a:p>
            <a:pPr marL="292100" indent="-170815">
              <a:lnSpc>
                <a:spcPct val="100000"/>
              </a:lnSpc>
              <a:spcBef>
                <a:spcPts val="900"/>
              </a:spcBef>
              <a:buFont typeface="Wingdings"/>
              <a:buChar char=""/>
              <a:tabLst>
                <a:tab pos="292100" algn="l"/>
              </a:tabLst>
            </a:pPr>
            <a:r>
              <a:rPr dirty="0" sz="1200">
                <a:latin typeface="SimSun"/>
                <a:cs typeface="SimSun"/>
              </a:rPr>
              <a:t>机房高度</a:t>
            </a:r>
            <a:r>
              <a:rPr dirty="0" sz="1200" spc="-10">
                <a:latin typeface="SimSun"/>
                <a:cs typeface="SimSun"/>
              </a:rPr>
              <a:t>：＞2.6m</a:t>
            </a:r>
            <a:endParaRPr sz="1200">
              <a:latin typeface="SimSun"/>
              <a:cs typeface="SimSun"/>
            </a:endParaRPr>
          </a:p>
          <a:p>
            <a:pPr marL="292100" indent="-170815">
              <a:lnSpc>
                <a:spcPct val="100000"/>
              </a:lnSpc>
              <a:spcBef>
                <a:spcPts val="720"/>
              </a:spcBef>
              <a:buFont typeface="Wingdings"/>
              <a:buChar char=""/>
              <a:tabLst>
                <a:tab pos="292100" algn="l"/>
              </a:tabLst>
            </a:pPr>
            <a:r>
              <a:rPr dirty="0" sz="1200">
                <a:latin typeface="SimSun"/>
                <a:cs typeface="SimSun"/>
              </a:rPr>
              <a:t>走线架高度</a:t>
            </a:r>
            <a:r>
              <a:rPr dirty="0" sz="1200" spc="-10">
                <a:latin typeface="SimSun"/>
                <a:cs typeface="SimSun"/>
              </a:rPr>
              <a:t>：＞2.2m</a:t>
            </a:r>
            <a:endParaRPr sz="1200">
              <a:latin typeface="SimSun"/>
              <a:cs typeface="SimSun"/>
            </a:endParaRPr>
          </a:p>
          <a:p>
            <a:pPr marL="292100" indent="-170815">
              <a:lnSpc>
                <a:spcPct val="100000"/>
              </a:lnSpc>
              <a:spcBef>
                <a:spcPts val="720"/>
              </a:spcBef>
              <a:buFont typeface="Wingdings"/>
              <a:buChar char=""/>
              <a:tabLst>
                <a:tab pos="292100" algn="l"/>
              </a:tabLst>
            </a:pPr>
            <a:r>
              <a:rPr dirty="0" sz="1200">
                <a:latin typeface="SimSun"/>
                <a:cs typeface="SimSun"/>
              </a:rPr>
              <a:t>机房接地电阻</a:t>
            </a:r>
            <a:r>
              <a:rPr dirty="0" sz="1200" spc="-20">
                <a:latin typeface="SimSun"/>
                <a:cs typeface="SimSun"/>
              </a:rPr>
              <a:t>：＜5Ω</a:t>
            </a:r>
            <a:endParaRPr sz="1200">
              <a:latin typeface="SimSun"/>
              <a:cs typeface="SimSun"/>
            </a:endParaRPr>
          </a:p>
          <a:p>
            <a:pPr marL="292100" indent="-170815">
              <a:lnSpc>
                <a:spcPct val="100000"/>
              </a:lnSpc>
              <a:spcBef>
                <a:spcPts val="720"/>
              </a:spcBef>
              <a:buFont typeface="Wingdings"/>
              <a:buChar char=""/>
              <a:tabLst>
                <a:tab pos="292100" algn="l"/>
              </a:tabLst>
            </a:pPr>
            <a:r>
              <a:rPr dirty="0" sz="1200">
                <a:latin typeface="SimSun"/>
                <a:cs typeface="SimSun"/>
              </a:rPr>
              <a:t>环境温度：-5℃</a:t>
            </a:r>
            <a:r>
              <a:rPr dirty="0" sz="1200" spc="-20">
                <a:latin typeface="SimSun"/>
                <a:cs typeface="SimSun"/>
              </a:rPr>
              <a:t> </a:t>
            </a:r>
            <a:r>
              <a:rPr dirty="0" sz="1200">
                <a:latin typeface="SimSun"/>
                <a:cs typeface="SimSun"/>
              </a:rPr>
              <a:t>～</a:t>
            </a:r>
            <a:r>
              <a:rPr dirty="0" sz="1200" spc="10">
                <a:latin typeface="SimSun"/>
                <a:cs typeface="SimSun"/>
              </a:rPr>
              <a:t> </a:t>
            </a:r>
            <a:r>
              <a:rPr dirty="0" sz="1200" spc="-20">
                <a:latin typeface="SimSun"/>
                <a:cs typeface="SimSun"/>
              </a:rPr>
              <a:t>+30℃</a:t>
            </a:r>
            <a:endParaRPr sz="1200">
              <a:latin typeface="SimSun"/>
              <a:cs typeface="SimSun"/>
            </a:endParaRPr>
          </a:p>
          <a:p>
            <a:pPr marL="292100" indent="-170815">
              <a:lnSpc>
                <a:spcPct val="100000"/>
              </a:lnSpc>
              <a:spcBef>
                <a:spcPts val="720"/>
              </a:spcBef>
              <a:buFont typeface="Wingdings"/>
              <a:buChar char=""/>
              <a:tabLst>
                <a:tab pos="292100" algn="l"/>
              </a:tabLst>
            </a:pPr>
            <a:r>
              <a:rPr dirty="0" sz="1200">
                <a:latin typeface="SimSun"/>
                <a:cs typeface="SimSun"/>
              </a:rPr>
              <a:t>相对湿度：15%</a:t>
            </a:r>
            <a:r>
              <a:rPr dirty="0" sz="1200" spc="-20">
                <a:latin typeface="SimSun"/>
                <a:cs typeface="SimSun"/>
              </a:rPr>
              <a:t> </a:t>
            </a:r>
            <a:r>
              <a:rPr dirty="0" sz="1200">
                <a:latin typeface="SimSun"/>
                <a:cs typeface="SimSun"/>
              </a:rPr>
              <a:t>～</a:t>
            </a:r>
            <a:r>
              <a:rPr dirty="0" sz="1200" spc="10">
                <a:latin typeface="SimSun"/>
                <a:cs typeface="SimSun"/>
              </a:rPr>
              <a:t> </a:t>
            </a:r>
            <a:r>
              <a:rPr dirty="0" sz="1200" spc="-25">
                <a:latin typeface="SimSun"/>
                <a:cs typeface="SimSun"/>
              </a:rPr>
              <a:t>85%</a:t>
            </a:r>
            <a:endParaRPr sz="1200">
              <a:latin typeface="SimSun"/>
              <a:cs typeface="SimSun"/>
            </a:endParaRPr>
          </a:p>
          <a:p>
            <a:pPr marL="292100" indent="-170815">
              <a:lnSpc>
                <a:spcPct val="100000"/>
              </a:lnSpc>
              <a:spcBef>
                <a:spcPts val="720"/>
              </a:spcBef>
              <a:buFont typeface="Wingdings"/>
              <a:buChar char=""/>
              <a:tabLst>
                <a:tab pos="292100" algn="l"/>
              </a:tabLst>
            </a:pPr>
            <a:r>
              <a:rPr dirty="0" sz="1200" spc="-20">
                <a:latin typeface="SimSun"/>
                <a:cs typeface="SimSun"/>
              </a:rPr>
              <a:t>其它：</a:t>
            </a:r>
            <a:endParaRPr sz="1200">
              <a:latin typeface="SimSun"/>
              <a:cs typeface="SimSun"/>
            </a:endParaRPr>
          </a:p>
          <a:p>
            <a:pPr lvl="1" marL="481965" marR="228600" indent="-171450">
              <a:lnSpc>
                <a:spcPct val="150000"/>
              </a:lnSpc>
              <a:buFont typeface="Arial MT"/>
              <a:buChar char="•"/>
              <a:tabLst>
                <a:tab pos="481965" algn="l"/>
              </a:tabLst>
            </a:pPr>
            <a:r>
              <a:rPr dirty="0" sz="1200" spc="-5">
                <a:latin typeface="SimSun"/>
                <a:cs typeface="SimSun"/>
              </a:rPr>
              <a:t>机房空调系统制冷能力良</a:t>
            </a:r>
            <a:r>
              <a:rPr dirty="0" sz="1200" spc="-50">
                <a:latin typeface="SimSun"/>
                <a:cs typeface="SimSun"/>
              </a:rPr>
              <a:t>好</a:t>
            </a:r>
            <a:endParaRPr sz="1200">
              <a:latin typeface="SimSun"/>
              <a:cs typeface="SimSun"/>
            </a:endParaRPr>
          </a:p>
          <a:p>
            <a:pPr lvl="1" marL="481965" marR="228600" indent="-171450">
              <a:lnSpc>
                <a:spcPct val="150000"/>
              </a:lnSpc>
              <a:buFont typeface="Arial MT"/>
              <a:buChar char="•"/>
              <a:tabLst>
                <a:tab pos="481965" algn="l"/>
              </a:tabLst>
            </a:pPr>
            <a:r>
              <a:rPr dirty="0" sz="1200" spc="-5">
                <a:latin typeface="SimSun"/>
                <a:cs typeface="SimSun"/>
              </a:rPr>
              <a:t>满足通信机房防尘及静电</a:t>
            </a:r>
            <a:r>
              <a:rPr dirty="0" sz="1200" spc="-10">
                <a:latin typeface="SimSun"/>
                <a:cs typeface="SimSun"/>
              </a:rPr>
              <a:t>防护的要求</a:t>
            </a:r>
            <a:endParaRPr sz="1200">
              <a:latin typeface="SimSun"/>
              <a:cs typeface="SimSun"/>
            </a:endParaRPr>
          </a:p>
        </p:txBody>
      </p:sp>
      <p:sp>
        <p:nvSpPr>
          <p:cNvPr id="21" name="object 21" descr=""/>
          <p:cNvSpPr txBox="1"/>
          <p:nvPr/>
        </p:nvSpPr>
        <p:spPr>
          <a:xfrm>
            <a:off x="3084245" y="1885950"/>
            <a:ext cx="3048635" cy="3096895"/>
          </a:xfrm>
          <a:prstGeom prst="rect">
            <a:avLst/>
          </a:prstGeom>
          <a:ln w="25400">
            <a:solidFill>
              <a:srgbClr val="333399"/>
            </a:solidFill>
          </a:ln>
        </p:spPr>
        <p:txBody>
          <a:bodyPr wrap="square" lIns="0" tIns="22860" rIns="0" bIns="0" rtlCol="0" vert="horz">
            <a:spAutoFit/>
          </a:bodyPr>
          <a:lstStyle/>
          <a:p>
            <a:pPr marL="292735" marR="153670" indent="-171450">
              <a:lnSpc>
                <a:spcPct val="150000"/>
              </a:lnSpc>
              <a:spcBef>
                <a:spcPts val="180"/>
              </a:spcBef>
              <a:buFont typeface="Wingdings"/>
              <a:buChar char=""/>
              <a:tabLst>
                <a:tab pos="292735" algn="l"/>
              </a:tabLst>
            </a:pPr>
            <a:r>
              <a:rPr dirty="0" sz="1200" spc="-5">
                <a:latin typeface="SimSun"/>
                <a:cs typeface="SimSun"/>
              </a:rPr>
              <a:t>塔身及平台的强度：满足土建结构核算</a:t>
            </a:r>
            <a:r>
              <a:rPr dirty="0" sz="1200" spc="-10">
                <a:latin typeface="SimSun"/>
                <a:cs typeface="SimSun"/>
              </a:rPr>
              <a:t>的荷载要求</a:t>
            </a:r>
            <a:endParaRPr sz="1200">
              <a:latin typeface="SimSun"/>
              <a:cs typeface="SimSun"/>
            </a:endParaRPr>
          </a:p>
          <a:p>
            <a:pPr marL="292735" marR="153670" indent="-171450">
              <a:lnSpc>
                <a:spcPct val="150000"/>
              </a:lnSpc>
              <a:buFont typeface="Wingdings"/>
              <a:buChar char=""/>
              <a:tabLst>
                <a:tab pos="292735" algn="l"/>
              </a:tabLst>
            </a:pPr>
            <a:r>
              <a:rPr dirty="0" sz="1200" spc="-5">
                <a:latin typeface="SimSun"/>
                <a:cs typeface="SimSun"/>
              </a:rPr>
              <a:t>新增的支架、抱杆和安装装置：满足土建相关规范和工程设计</a:t>
            </a:r>
            <a:endParaRPr sz="1200">
              <a:latin typeface="SimSun"/>
              <a:cs typeface="SimSun"/>
            </a:endParaRPr>
          </a:p>
          <a:p>
            <a:pPr marL="292100" indent="-170815">
              <a:lnSpc>
                <a:spcPct val="100000"/>
              </a:lnSpc>
              <a:spcBef>
                <a:spcPts val="720"/>
              </a:spcBef>
              <a:buFont typeface="Wingdings"/>
              <a:buChar char=""/>
              <a:tabLst>
                <a:tab pos="292100" algn="l"/>
              </a:tabLst>
            </a:pPr>
            <a:r>
              <a:rPr dirty="0" sz="1200" spc="-10">
                <a:latin typeface="SimSun"/>
                <a:cs typeface="SimSun"/>
              </a:rPr>
              <a:t>防雷接地系统：良好</a:t>
            </a:r>
            <a:endParaRPr sz="1200">
              <a:latin typeface="SimSun"/>
              <a:cs typeface="SimSun"/>
            </a:endParaRPr>
          </a:p>
          <a:p>
            <a:pPr marL="292100" indent="-170815">
              <a:lnSpc>
                <a:spcPct val="100000"/>
              </a:lnSpc>
              <a:spcBef>
                <a:spcPts val="720"/>
              </a:spcBef>
              <a:buFont typeface="Wingdings"/>
              <a:buChar char=""/>
              <a:tabLst>
                <a:tab pos="292100" algn="l"/>
              </a:tabLst>
            </a:pPr>
            <a:r>
              <a:rPr dirty="0" sz="1200" spc="-5">
                <a:latin typeface="SimSun"/>
                <a:cs typeface="SimSun"/>
              </a:rPr>
              <a:t>抗震烈度：按当地基本设计烈度标准</a:t>
            </a:r>
            <a:endParaRPr sz="1200">
              <a:latin typeface="SimSun"/>
              <a:cs typeface="SimSun"/>
            </a:endParaRPr>
          </a:p>
          <a:p>
            <a:pPr marL="292100" indent="-170815">
              <a:lnSpc>
                <a:spcPct val="100000"/>
              </a:lnSpc>
              <a:spcBef>
                <a:spcPts val="720"/>
              </a:spcBef>
              <a:buFont typeface="Wingdings"/>
              <a:buChar char=""/>
              <a:tabLst>
                <a:tab pos="292100" algn="l"/>
              </a:tabLst>
            </a:pPr>
            <a:r>
              <a:rPr dirty="0" sz="1200" spc="-5">
                <a:latin typeface="SimSun"/>
                <a:cs typeface="SimSun"/>
              </a:rPr>
              <a:t>环境温度：</a:t>
            </a:r>
            <a:r>
              <a:rPr dirty="0" sz="1200" spc="-10">
                <a:latin typeface="Arial MT"/>
                <a:cs typeface="Arial MT"/>
              </a:rPr>
              <a:t>-55</a:t>
            </a:r>
            <a:r>
              <a:rPr dirty="0" sz="1200" spc="-10">
                <a:latin typeface="SimSun"/>
                <a:cs typeface="SimSun"/>
              </a:rPr>
              <a:t>℃</a:t>
            </a:r>
            <a:r>
              <a:rPr dirty="0" sz="1200" spc="-10">
                <a:latin typeface="Arial MT"/>
                <a:cs typeface="Arial MT"/>
              </a:rPr>
              <a:t>~+45</a:t>
            </a:r>
            <a:r>
              <a:rPr dirty="0" sz="1200" spc="-10">
                <a:latin typeface="SimSun"/>
                <a:cs typeface="SimSun"/>
              </a:rPr>
              <a:t>℃</a:t>
            </a:r>
            <a:endParaRPr sz="1200">
              <a:latin typeface="SimSun"/>
              <a:cs typeface="SimSun"/>
            </a:endParaRPr>
          </a:p>
          <a:p>
            <a:pPr marL="292100" indent="-170815">
              <a:lnSpc>
                <a:spcPct val="100000"/>
              </a:lnSpc>
              <a:spcBef>
                <a:spcPts val="720"/>
              </a:spcBef>
              <a:buFont typeface="Wingdings"/>
              <a:buChar char=""/>
              <a:tabLst>
                <a:tab pos="292100" algn="l"/>
              </a:tabLst>
            </a:pPr>
            <a:r>
              <a:rPr dirty="0" sz="1200">
                <a:latin typeface="SimSun"/>
                <a:cs typeface="SimSun"/>
              </a:rPr>
              <a:t>相对湿度：</a:t>
            </a:r>
            <a:r>
              <a:rPr dirty="0" sz="1200">
                <a:latin typeface="Arial MT"/>
                <a:cs typeface="Arial MT"/>
              </a:rPr>
              <a:t>5</a:t>
            </a:r>
            <a:r>
              <a:rPr dirty="0" sz="1200" spc="-10">
                <a:latin typeface="Arial MT"/>
                <a:cs typeface="Arial MT"/>
              </a:rPr>
              <a:t>% </a:t>
            </a:r>
            <a:r>
              <a:rPr dirty="0" sz="1200" spc="-20">
                <a:latin typeface="Arial MT"/>
                <a:cs typeface="Arial MT"/>
              </a:rPr>
              <a:t>~98%</a:t>
            </a:r>
            <a:endParaRPr sz="1200">
              <a:latin typeface="Arial MT"/>
              <a:cs typeface="Arial MT"/>
            </a:endParaRPr>
          </a:p>
          <a:p>
            <a:pPr marL="292100" indent="-170815">
              <a:lnSpc>
                <a:spcPct val="100000"/>
              </a:lnSpc>
              <a:spcBef>
                <a:spcPts val="720"/>
              </a:spcBef>
              <a:buFont typeface="Wingdings"/>
              <a:buChar char=""/>
              <a:tabLst>
                <a:tab pos="292100" algn="l"/>
              </a:tabLst>
            </a:pPr>
            <a:r>
              <a:rPr dirty="0" sz="1200" spc="-20">
                <a:latin typeface="SimSun"/>
                <a:cs typeface="SimSun"/>
              </a:rPr>
              <a:t>其它：</a:t>
            </a:r>
            <a:endParaRPr sz="1200">
              <a:latin typeface="SimSun"/>
              <a:cs typeface="SimSun"/>
            </a:endParaRPr>
          </a:p>
          <a:p>
            <a:pPr lvl="1" marL="481330" indent="-172085">
              <a:lnSpc>
                <a:spcPct val="100000"/>
              </a:lnSpc>
              <a:spcBef>
                <a:spcPts val="720"/>
              </a:spcBef>
              <a:buFont typeface="Arial MT"/>
              <a:buChar char="•"/>
              <a:tabLst>
                <a:tab pos="481330" algn="l"/>
              </a:tabLst>
            </a:pPr>
            <a:r>
              <a:rPr dirty="0" sz="1200" spc="-10">
                <a:latin typeface="SimSun"/>
                <a:cs typeface="SimSun"/>
              </a:rPr>
              <a:t>系统隔离度满足要求</a:t>
            </a:r>
            <a:endParaRPr sz="1200">
              <a:latin typeface="SimSun"/>
              <a:cs typeface="SimSun"/>
            </a:endParaRPr>
          </a:p>
          <a:p>
            <a:pPr lvl="1" marL="481330" indent="-172085">
              <a:lnSpc>
                <a:spcPct val="100000"/>
              </a:lnSpc>
              <a:spcBef>
                <a:spcPts val="280"/>
              </a:spcBef>
              <a:buChar char="•"/>
              <a:tabLst>
                <a:tab pos="481330" algn="l"/>
              </a:tabLst>
            </a:pPr>
            <a:r>
              <a:rPr dirty="0" sz="1200" spc="-10">
                <a:latin typeface="Arial MT"/>
                <a:cs typeface="Arial MT"/>
              </a:rPr>
              <a:t>AAU</a:t>
            </a:r>
            <a:r>
              <a:rPr dirty="0" sz="1200" spc="-5">
                <a:latin typeface="SimSun"/>
                <a:cs typeface="SimSun"/>
              </a:rPr>
              <a:t>正前方不能有金属遮挡物</a:t>
            </a:r>
            <a:endParaRPr sz="1200">
              <a:latin typeface="SimSun"/>
              <a:cs typeface="SimSun"/>
            </a:endParaRPr>
          </a:p>
        </p:txBody>
      </p:sp>
      <p:sp>
        <p:nvSpPr>
          <p:cNvPr id="22" name="object 22" descr=""/>
          <p:cNvSpPr txBox="1"/>
          <p:nvPr/>
        </p:nvSpPr>
        <p:spPr>
          <a:xfrm>
            <a:off x="6324600" y="1885950"/>
            <a:ext cx="2571750" cy="3096895"/>
          </a:xfrm>
          <a:prstGeom prst="rect">
            <a:avLst/>
          </a:prstGeom>
          <a:ln w="25400">
            <a:solidFill>
              <a:srgbClr val="2D2D8A"/>
            </a:solidFill>
          </a:ln>
        </p:spPr>
        <p:txBody>
          <a:bodyPr wrap="square" lIns="0" tIns="114300" rIns="0" bIns="0" rtlCol="0" vert="horz">
            <a:spAutoFit/>
          </a:bodyPr>
          <a:lstStyle/>
          <a:p>
            <a:pPr marL="292100" indent="-170815">
              <a:lnSpc>
                <a:spcPct val="100000"/>
              </a:lnSpc>
              <a:spcBef>
                <a:spcPts val="900"/>
              </a:spcBef>
              <a:buFont typeface="Wingdings"/>
              <a:buChar char=""/>
              <a:tabLst>
                <a:tab pos="292100" algn="l"/>
              </a:tabLst>
            </a:pPr>
            <a:r>
              <a:rPr dirty="0" sz="1200">
                <a:latin typeface="SimSun"/>
                <a:cs typeface="SimSun"/>
              </a:rPr>
              <a:t>尽量将</a:t>
            </a:r>
            <a:r>
              <a:rPr dirty="0" sz="1200" spc="-10">
                <a:latin typeface="Arial MT"/>
                <a:cs typeface="Arial MT"/>
              </a:rPr>
              <a:t>GPS</a:t>
            </a:r>
            <a:r>
              <a:rPr dirty="0" sz="1200" spc="-10">
                <a:latin typeface="SimSun"/>
                <a:cs typeface="SimSun"/>
              </a:rPr>
              <a:t>天线安装位置开阔</a:t>
            </a:r>
            <a:endParaRPr sz="1200">
              <a:latin typeface="SimSun"/>
              <a:cs typeface="SimSun"/>
            </a:endParaRPr>
          </a:p>
          <a:p>
            <a:pPr marL="292100" indent="-170815">
              <a:lnSpc>
                <a:spcPct val="100000"/>
              </a:lnSpc>
              <a:spcBef>
                <a:spcPts val="720"/>
              </a:spcBef>
              <a:buFont typeface="Wingdings"/>
              <a:buChar char=""/>
              <a:tabLst>
                <a:tab pos="292100" algn="l"/>
              </a:tabLst>
            </a:pPr>
            <a:r>
              <a:rPr dirty="0" sz="1200" spc="-10">
                <a:latin typeface="SimSun"/>
                <a:cs typeface="SimSun"/>
              </a:rPr>
              <a:t>远离金属物体安装</a:t>
            </a:r>
            <a:endParaRPr sz="1200">
              <a:latin typeface="SimSun"/>
              <a:cs typeface="SimSun"/>
            </a:endParaRPr>
          </a:p>
          <a:p>
            <a:pPr marL="292735" marR="120014" indent="-171450">
              <a:lnSpc>
                <a:spcPct val="150000"/>
              </a:lnSpc>
              <a:buFont typeface="Wingdings"/>
              <a:buChar char=""/>
              <a:tabLst>
                <a:tab pos="292735" algn="l"/>
              </a:tabLst>
            </a:pPr>
            <a:r>
              <a:rPr dirty="0" sz="1200" spc="-10">
                <a:latin typeface="Arial MT"/>
                <a:cs typeface="Arial MT"/>
              </a:rPr>
              <a:t>GPS</a:t>
            </a:r>
            <a:r>
              <a:rPr dirty="0" sz="1200" spc="-5">
                <a:latin typeface="SimSun"/>
                <a:cs typeface="SimSun"/>
              </a:rPr>
              <a:t>天线位置位于避雷针保护范围内，不应是区域内的最高点</a:t>
            </a:r>
            <a:endParaRPr sz="1200">
              <a:latin typeface="SimSun"/>
              <a:cs typeface="SimSun"/>
            </a:endParaRPr>
          </a:p>
          <a:p>
            <a:pPr marL="292735" marR="229870" indent="-171450">
              <a:lnSpc>
                <a:spcPct val="150000"/>
              </a:lnSpc>
              <a:buFont typeface="Wingdings"/>
              <a:buChar char=""/>
              <a:tabLst>
                <a:tab pos="292735" algn="l"/>
              </a:tabLst>
            </a:pPr>
            <a:r>
              <a:rPr dirty="0" sz="1200">
                <a:latin typeface="SimSun"/>
                <a:cs typeface="SimSun"/>
              </a:rPr>
              <a:t>多个</a:t>
            </a:r>
            <a:r>
              <a:rPr dirty="0" sz="1200">
                <a:latin typeface="Arial MT"/>
                <a:cs typeface="Arial MT"/>
              </a:rPr>
              <a:t>GPS</a:t>
            </a:r>
            <a:r>
              <a:rPr dirty="0" sz="1200" spc="-85">
                <a:latin typeface="Arial MT"/>
                <a:cs typeface="Arial MT"/>
              </a:rPr>
              <a:t> </a:t>
            </a:r>
            <a:r>
              <a:rPr dirty="0" sz="1200" spc="-10">
                <a:latin typeface="SimSun"/>
                <a:cs typeface="SimSun"/>
              </a:rPr>
              <a:t>天线之间的间距不小</a:t>
            </a:r>
            <a:r>
              <a:rPr dirty="0" sz="1200">
                <a:latin typeface="SimSun"/>
                <a:cs typeface="SimSun"/>
              </a:rPr>
              <a:t>于</a:t>
            </a:r>
            <a:r>
              <a:rPr dirty="0" sz="1200" spc="-25">
                <a:latin typeface="Arial MT"/>
                <a:cs typeface="Arial MT"/>
              </a:rPr>
              <a:t>2m</a:t>
            </a:r>
            <a:endParaRPr sz="1200">
              <a:latin typeface="Arial MT"/>
              <a:cs typeface="Arial MT"/>
            </a:endParaRPr>
          </a:p>
          <a:p>
            <a:pPr algn="just" marL="292735" marR="120014" indent="-171450">
              <a:lnSpc>
                <a:spcPct val="150000"/>
              </a:lnSpc>
              <a:buFont typeface="Wingdings"/>
              <a:buChar char=""/>
              <a:tabLst>
                <a:tab pos="292735" algn="l"/>
              </a:tabLst>
            </a:pPr>
            <a:r>
              <a:rPr dirty="0" sz="1200">
                <a:latin typeface="SimSun"/>
                <a:cs typeface="SimSun"/>
              </a:rPr>
              <a:t>严禁将</a:t>
            </a:r>
            <a:r>
              <a:rPr dirty="0" sz="1200" spc="-10">
                <a:latin typeface="Arial MT"/>
                <a:cs typeface="Arial MT"/>
              </a:rPr>
              <a:t>GPS</a:t>
            </a:r>
            <a:r>
              <a:rPr dirty="0" sz="1200" spc="-10">
                <a:latin typeface="SimSun"/>
                <a:cs typeface="SimSun"/>
              </a:rPr>
              <a:t>天线安装在基站等系</a:t>
            </a:r>
            <a:r>
              <a:rPr dirty="0" sz="1200" spc="-5">
                <a:latin typeface="SimSun"/>
                <a:cs typeface="SimSun"/>
              </a:rPr>
              <a:t>统的辐射天线主瓣面内，不能和全向天线安装在同一水平面内</a:t>
            </a:r>
            <a:endParaRPr sz="1200">
              <a:latin typeface="SimSun"/>
              <a:cs typeface="SimSu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749071" y="113125"/>
            <a:ext cx="1766570" cy="513080"/>
          </a:xfrm>
          <a:prstGeom prst="rect">
            <a:avLst/>
          </a:prstGeom>
        </p:spPr>
        <p:txBody>
          <a:bodyPr wrap="square" lIns="0" tIns="12065" rIns="0" bIns="0" rtlCol="0" vert="horz">
            <a:spAutoFit/>
          </a:bodyPr>
          <a:lstStyle/>
          <a:p>
            <a:pPr marL="12700">
              <a:lnSpc>
                <a:spcPct val="100000"/>
              </a:lnSpc>
              <a:spcBef>
                <a:spcPts val="95"/>
              </a:spcBef>
            </a:pPr>
            <a:r>
              <a:rPr dirty="0" sz="3200" spc="-30" b="1">
                <a:solidFill>
                  <a:srgbClr val="FFFFFF"/>
                </a:solidFill>
                <a:latin typeface="Times New Roman"/>
                <a:cs typeface="Times New Roman"/>
              </a:rPr>
              <a:t>5G</a:t>
            </a:r>
            <a:r>
              <a:rPr dirty="0" sz="3200" spc="-40" b="1">
                <a:solidFill>
                  <a:srgbClr val="FFFFFF"/>
                </a:solidFill>
                <a:latin typeface="Microsoft JhengHei"/>
                <a:cs typeface="Microsoft JhengHei"/>
              </a:rPr>
              <a:t>主设备</a:t>
            </a:r>
            <a:endParaRPr sz="3200">
              <a:latin typeface="Microsoft JhengHei"/>
              <a:cs typeface="Microsoft JhengHei"/>
            </a:endParaRPr>
          </a:p>
        </p:txBody>
      </p:sp>
      <p:pic>
        <p:nvPicPr>
          <p:cNvPr id="3" name="object 3" descr=""/>
          <p:cNvPicPr/>
          <p:nvPr/>
        </p:nvPicPr>
        <p:blipFill>
          <a:blip r:embed="rId2" cstate="print"/>
          <a:stretch>
            <a:fillRect/>
          </a:stretch>
        </p:blipFill>
        <p:spPr>
          <a:xfrm>
            <a:off x="304800" y="819150"/>
            <a:ext cx="2844330" cy="530771"/>
          </a:xfrm>
          <a:prstGeom prst="rect">
            <a:avLst/>
          </a:prstGeom>
        </p:spPr>
      </p:pic>
      <p:sp>
        <p:nvSpPr>
          <p:cNvPr id="4" name="object 4" descr=""/>
          <p:cNvSpPr txBox="1"/>
          <p:nvPr/>
        </p:nvSpPr>
        <p:spPr>
          <a:xfrm>
            <a:off x="763450" y="926293"/>
            <a:ext cx="1927860" cy="299720"/>
          </a:xfrm>
          <a:prstGeom prst="rect">
            <a:avLst/>
          </a:prstGeom>
        </p:spPr>
        <p:txBody>
          <a:bodyPr wrap="square" lIns="0" tIns="12700" rIns="0" bIns="0" rtlCol="0" vert="horz">
            <a:spAutoFit/>
          </a:bodyPr>
          <a:lstStyle/>
          <a:p>
            <a:pPr marL="12700">
              <a:lnSpc>
                <a:spcPct val="100000"/>
              </a:lnSpc>
              <a:spcBef>
                <a:spcPts val="100"/>
              </a:spcBef>
            </a:pPr>
            <a:r>
              <a:rPr dirty="0" sz="1800">
                <a:latin typeface="Microsoft YaHei"/>
                <a:cs typeface="Microsoft YaHei"/>
              </a:rPr>
              <a:t>主设备</a:t>
            </a:r>
            <a:r>
              <a:rPr dirty="0" sz="1800">
                <a:latin typeface="Arial MT"/>
                <a:cs typeface="Arial MT"/>
              </a:rPr>
              <a:t>—</a:t>
            </a:r>
            <a:r>
              <a:rPr dirty="0" sz="1800" spc="-10">
                <a:latin typeface="Arial MT"/>
                <a:cs typeface="Arial MT"/>
              </a:rPr>
              <a:t>EMB6116</a:t>
            </a:r>
            <a:endParaRPr sz="1800">
              <a:latin typeface="Arial MT"/>
              <a:cs typeface="Arial MT"/>
            </a:endParaRPr>
          </a:p>
        </p:txBody>
      </p:sp>
      <p:sp>
        <p:nvSpPr>
          <p:cNvPr id="5" name="object 5" descr=""/>
          <p:cNvSpPr txBox="1"/>
          <p:nvPr/>
        </p:nvSpPr>
        <p:spPr>
          <a:xfrm>
            <a:off x="3097227" y="4547089"/>
            <a:ext cx="2882265" cy="299720"/>
          </a:xfrm>
          <a:prstGeom prst="rect">
            <a:avLst/>
          </a:prstGeom>
        </p:spPr>
        <p:txBody>
          <a:bodyPr wrap="square" lIns="0" tIns="12700" rIns="0" bIns="0" rtlCol="0" vert="horz">
            <a:spAutoFit/>
          </a:bodyPr>
          <a:lstStyle/>
          <a:p>
            <a:pPr marL="12700">
              <a:lnSpc>
                <a:spcPct val="100000"/>
              </a:lnSpc>
              <a:spcBef>
                <a:spcPts val="100"/>
              </a:spcBef>
            </a:pPr>
            <a:r>
              <a:rPr dirty="0" sz="1800">
                <a:latin typeface="Microsoft YaHei"/>
                <a:cs typeface="Microsoft YaHei"/>
              </a:rPr>
              <a:t>主设备</a:t>
            </a:r>
            <a:r>
              <a:rPr dirty="0" sz="1800" spc="-10">
                <a:latin typeface="Microsoft YaHei"/>
                <a:cs typeface="Microsoft YaHei"/>
              </a:rPr>
              <a:t>EMB6116外观示意图</a:t>
            </a:r>
            <a:endParaRPr sz="1800">
              <a:latin typeface="Microsoft YaHei"/>
              <a:cs typeface="Microsoft YaHei"/>
            </a:endParaRPr>
          </a:p>
        </p:txBody>
      </p:sp>
      <p:pic>
        <p:nvPicPr>
          <p:cNvPr id="6" name="object 6"/>
          <p:cNvPicPr/>
          <p:nvPr/>
        </p:nvPicPr>
        <p:blipFill>
          <a:blip r:embed="rId3" cstate="print"/>
          <a:stretch>
            <a:fillRect/>
          </a:stretch>
        </p:blipFill>
        <p:spPr>
          <a:xfrm>
            <a:off x="1752600" y="1276350"/>
            <a:ext cx="5689128" cy="327681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49071" y="113125"/>
            <a:ext cx="176657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0"/>
              <a:t>主设备</a:t>
            </a:r>
          </a:p>
        </p:txBody>
      </p:sp>
      <p:pic>
        <p:nvPicPr>
          <p:cNvPr id="3" name="object 3" descr=""/>
          <p:cNvPicPr/>
          <p:nvPr/>
        </p:nvPicPr>
        <p:blipFill>
          <a:blip r:embed="rId2" cstate="print"/>
          <a:stretch>
            <a:fillRect/>
          </a:stretch>
        </p:blipFill>
        <p:spPr>
          <a:xfrm>
            <a:off x="304800" y="819150"/>
            <a:ext cx="2844330" cy="530771"/>
          </a:xfrm>
          <a:prstGeom prst="rect">
            <a:avLst/>
          </a:prstGeom>
        </p:spPr>
      </p:pic>
      <p:sp>
        <p:nvSpPr>
          <p:cNvPr id="4" name="object 4" descr=""/>
          <p:cNvSpPr txBox="1"/>
          <p:nvPr/>
        </p:nvSpPr>
        <p:spPr>
          <a:xfrm>
            <a:off x="1257194" y="926293"/>
            <a:ext cx="939800" cy="299720"/>
          </a:xfrm>
          <a:prstGeom prst="rect">
            <a:avLst/>
          </a:prstGeom>
        </p:spPr>
        <p:txBody>
          <a:bodyPr wrap="square" lIns="0" tIns="12700" rIns="0" bIns="0" rtlCol="0" vert="horz">
            <a:spAutoFit/>
          </a:bodyPr>
          <a:lstStyle/>
          <a:p>
            <a:pPr marL="12700">
              <a:lnSpc>
                <a:spcPct val="100000"/>
              </a:lnSpc>
              <a:spcBef>
                <a:spcPts val="100"/>
              </a:spcBef>
            </a:pPr>
            <a:r>
              <a:rPr dirty="0" sz="1800" spc="-15">
                <a:latin typeface="Microsoft YaHei"/>
                <a:cs typeface="Microsoft YaHei"/>
              </a:rPr>
              <a:t>性能指标</a:t>
            </a:r>
            <a:endParaRPr sz="1800">
              <a:latin typeface="Microsoft YaHei"/>
              <a:cs typeface="Microsoft YaHei"/>
            </a:endParaRPr>
          </a:p>
        </p:txBody>
      </p:sp>
      <p:graphicFrame>
        <p:nvGraphicFramePr>
          <p:cNvPr id="5" name="object 5" descr=""/>
          <p:cNvGraphicFramePr>
            <a:graphicFrameLocks noGrp="1"/>
          </p:cNvGraphicFramePr>
          <p:nvPr/>
        </p:nvGraphicFramePr>
        <p:xfrm>
          <a:off x="323529" y="1334913"/>
          <a:ext cx="8501380" cy="3568065"/>
        </p:xfrm>
        <a:graphic>
          <a:graphicData uri="http://schemas.openxmlformats.org/drawingml/2006/table">
            <a:tbl>
              <a:tblPr firstRow="1" bandRow="1">
                <a:tableStyleId>{2D5ABB26-0587-4C30-8999-92F81FD0307C}</a:tableStyleId>
              </a:tblPr>
              <a:tblGrid>
                <a:gridCol w="3308985"/>
                <a:gridCol w="5116195"/>
              </a:tblGrid>
              <a:tr h="311785">
                <a:tc>
                  <a:txBody>
                    <a:bodyPr/>
                    <a:lstStyle/>
                    <a:p>
                      <a:pPr algn="ctr" marL="131445">
                        <a:lnSpc>
                          <a:spcPct val="100000"/>
                        </a:lnSpc>
                        <a:spcBef>
                          <a:spcPts val="225"/>
                        </a:spcBef>
                      </a:pPr>
                      <a:r>
                        <a:rPr dirty="0" sz="1600" spc="-15">
                          <a:solidFill>
                            <a:srgbClr val="FFFFFF"/>
                          </a:solidFill>
                          <a:latin typeface="SimSun"/>
                          <a:cs typeface="SimSun"/>
                        </a:rPr>
                        <a:t>参数名称</a:t>
                      </a:r>
                      <a:endParaRPr sz="1600">
                        <a:latin typeface="SimSun"/>
                        <a:cs typeface="SimSun"/>
                      </a:endParaRPr>
                    </a:p>
                  </a:txBody>
                  <a:tcPr marL="0" marR="0" marB="0" marT="28575">
                    <a:lnT w="28575">
                      <a:solidFill>
                        <a:srgbClr val="000000"/>
                      </a:solidFill>
                      <a:prstDash val="solid"/>
                    </a:lnT>
                    <a:lnB w="28575">
                      <a:solidFill>
                        <a:srgbClr val="000000"/>
                      </a:solidFill>
                      <a:prstDash val="solid"/>
                    </a:lnB>
                    <a:solidFill>
                      <a:srgbClr val="2D2D8A"/>
                    </a:solidFill>
                  </a:tcPr>
                </a:tc>
                <a:tc>
                  <a:txBody>
                    <a:bodyPr/>
                    <a:lstStyle/>
                    <a:p>
                      <a:pPr algn="ctr" marL="130810">
                        <a:lnSpc>
                          <a:spcPct val="100000"/>
                        </a:lnSpc>
                        <a:spcBef>
                          <a:spcPts val="225"/>
                        </a:spcBef>
                      </a:pPr>
                      <a:r>
                        <a:rPr dirty="0" sz="1600" spc="-30">
                          <a:solidFill>
                            <a:srgbClr val="FFFFFF"/>
                          </a:solidFill>
                          <a:latin typeface="SimSun"/>
                          <a:cs typeface="SimSun"/>
                        </a:rPr>
                        <a:t>指标</a:t>
                      </a:r>
                      <a:endParaRPr sz="1600">
                        <a:latin typeface="SimSun"/>
                        <a:cs typeface="SimSun"/>
                      </a:endParaRPr>
                    </a:p>
                  </a:txBody>
                  <a:tcPr marL="0" marR="0" marB="0" marT="28575">
                    <a:lnT w="28575">
                      <a:solidFill>
                        <a:srgbClr val="000000"/>
                      </a:solidFill>
                      <a:prstDash val="solid"/>
                    </a:lnT>
                    <a:lnB w="28575">
                      <a:solidFill>
                        <a:srgbClr val="000000"/>
                      </a:solidFill>
                      <a:prstDash val="solid"/>
                    </a:lnB>
                    <a:solidFill>
                      <a:srgbClr val="2D2D8A"/>
                    </a:solidFill>
                  </a:tcPr>
                </a:tc>
              </a:tr>
              <a:tr h="304165">
                <a:tc>
                  <a:txBody>
                    <a:bodyPr/>
                    <a:lstStyle/>
                    <a:p>
                      <a:pPr algn="ctr" marL="130175">
                        <a:lnSpc>
                          <a:spcPct val="100000"/>
                        </a:lnSpc>
                        <a:spcBef>
                          <a:spcPts val="200"/>
                        </a:spcBef>
                      </a:pPr>
                      <a:r>
                        <a:rPr dirty="0" sz="1600">
                          <a:latin typeface="SimSun"/>
                          <a:cs typeface="SimSun"/>
                        </a:rPr>
                        <a:t>尺寸（高×宽×深</a:t>
                      </a:r>
                      <a:r>
                        <a:rPr dirty="0" sz="1600" spc="-50">
                          <a:latin typeface="SimSun"/>
                          <a:cs typeface="SimSun"/>
                        </a:rPr>
                        <a:t>）</a:t>
                      </a:r>
                      <a:endParaRPr sz="1600">
                        <a:latin typeface="SimSun"/>
                        <a:cs typeface="SimSun"/>
                      </a:endParaRPr>
                    </a:p>
                  </a:txBody>
                  <a:tcPr marL="0" marR="0" marB="0" marT="25400">
                    <a:lnT w="28575">
                      <a:solidFill>
                        <a:srgbClr val="000000"/>
                      </a:solidFill>
                      <a:prstDash val="solid"/>
                    </a:lnT>
                    <a:solidFill>
                      <a:srgbClr val="E8E8E8"/>
                    </a:solidFill>
                  </a:tcPr>
                </a:tc>
                <a:tc>
                  <a:txBody>
                    <a:bodyPr/>
                    <a:lstStyle/>
                    <a:p>
                      <a:pPr algn="ctr" marL="129539">
                        <a:lnSpc>
                          <a:spcPct val="100000"/>
                        </a:lnSpc>
                        <a:spcBef>
                          <a:spcPts val="200"/>
                        </a:spcBef>
                      </a:pPr>
                      <a:r>
                        <a:rPr dirty="0" sz="1600" spc="-10">
                          <a:latin typeface="Arial MT"/>
                          <a:cs typeface="Arial MT"/>
                        </a:rPr>
                        <a:t>132mm</a:t>
                      </a:r>
                      <a:r>
                        <a:rPr dirty="0" sz="1600" spc="-10">
                          <a:latin typeface="SimSun"/>
                          <a:cs typeface="SimSun"/>
                        </a:rPr>
                        <a:t>×</a:t>
                      </a:r>
                      <a:r>
                        <a:rPr dirty="0" sz="1600" spc="-10">
                          <a:latin typeface="Arial MT"/>
                          <a:cs typeface="Arial MT"/>
                        </a:rPr>
                        <a:t>483mm</a:t>
                      </a:r>
                      <a:r>
                        <a:rPr dirty="0" sz="1600" spc="-10">
                          <a:latin typeface="SimSun"/>
                          <a:cs typeface="SimSun"/>
                        </a:rPr>
                        <a:t>×</a:t>
                      </a:r>
                      <a:r>
                        <a:rPr dirty="0" sz="1600" spc="-10">
                          <a:latin typeface="Arial MT"/>
                          <a:cs typeface="Arial MT"/>
                        </a:rPr>
                        <a:t>364mm</a:t>
                      </a:r>
                      <a:endParaRPr sz="1600">
                        <a:latin typeface="Arial MT"/>
                        <a:cs typeface="Arial MT"/>
                      </a:endParaRPr>
                    </a:p>
                  </a:txBody>
                  <a:tcPr marL="0" marR="0" marB="0" marT="25400">
                    <a:lnT w="28575">
                      <a:solidFill>
                        <a:srgbClr val="000000"/>
                      </a:solidFill>
                      <a:prstDash val="solid"/>
                    </a:lnT>
                    <a:solidFill>
                      <a:srgbClr val="E8E8E8"/>
                    </a:solidFill>
                  </a:tcPr>
                </a:tc>
              </a:tr>
              <a:tr h="300355">
                <a:tc>
                  <a:txBody>
                    <a:bodyPr/>
                    <a:lstStyle/>
                    <a:p>
                      <a:pPr algn="ctr" marL="131445">
                        <a:lnSpc>
                          <a:spcPct val="100000"/>
                        </a:lnSpc>
                        <a:spcBef>
                          <a:spcPts val="180"/>
                        </a:spcBef>
                      </a:pPr>
                      <a:r>
                        <a:rPr dirty="0" sz="1600" spc="-15">
                          <a:latin typeface="SimSun"/>
                          <a:cs typeface="SimSun"/>
                        </a:rPr>
                        <a:t>满配重量</a:t>
                      </a:r>
                      <a:endParaRPr sz="1600">
                        <a:latin typeface="SimSun"/>
                        <a:cs typeface="SimSun"/>
                      </a:endParaRPr>
                    </a:p>
                  </a:txBody>
                  <a:tcPr marL="0" marR="0" marB="0" marT="22860"/>
                </a:tc>
                <a:tc>
                  <a:txBody>
                    <a:bodyPr/>
                    <a:lstStyle/>
                    <a:p>
                      <a:pPr algn="ctr" marL="130810">
                        <a:lnSpc>
                          <a:spcPct val="100000"/>
                        </a:lnSpc>
                        <a:spcBef>
                          <a:spcPts val="165"/>
                        </a:spcBef>
                      </a:pPr>
                      <a:r>
                        <a:rPr dirty="0" sz="1600" spc="-20">
                          <a:latin typeface="Arial MT"/>
                          <a:cs typeface="Arial MT"/>
                        </a:rPr>
                        <a:t>20kg</a:t>
                      </a:r>
                      <a:endParaRPr sz="1600">
                        <a:latin typeface="Arial MT"/>
                        <a:cs typeface="Arial MT"/>
                      </a:endParaRPr>
                    </a:p>
                  </a:txBody>
                  <a:tcPr marL="0" marR="0" marB="0" marT="20955"/>
                </a:tc>
              </a:tr>
              <a:tr h="339090">
                <a:tc>
                  <a:txBody>
                    <a:bodyPr/>
                    <a:lstStyle/>
                    <a:p>
                      <a:pPr algn="ctr" marL="131445">
                        <a:lnSpc>
                          <a:spcPct val="100000"/>
                        </a:lnSpc>
                        <a:spcBef>
                          <a:spcPts val="335"/>
                        </a:spcBef>
                      </a:pPr>
                      <a:r>
                        <a:rPr dirty="0" sz="1600" spc="-15">
                          <a:latin typeface="SimSun"/>
                          <a:cs typeface="SimSun"/>
                        </a:rPr>
                        <a:t>设备高度</a:t>
                      </a:r>
                      <a:endParaRPr sz="1600">
                        <a:latin typeface="SimSun"/>
                        <a:cs typeface="SimSun"/>
                      </a:endParaRPr>
                    </a:p>
                  </a:txBody>
                  <a:tcPr marL="0" marR="0" marB="0" marT="42545">
                    <a:solidFill>
                      <a:srgbClr val="E8E8E8"/>
                    </a:solidFill>
                  </a:tcPr>
                </a:tc>
                <a:tc>
                  <a:txBody>
                    <a:bodyPr/>
                    <a:lstStyle/>
                    <a:p>
                      <a:pPr algn="ctr" marL="130810">
                        <a:lnSpc>
                          <a:spcPct val="100000"/>
                        </a:lnSpc>
                        <a:spcBef>
                          <a:spcPts val="320"/>
                        </a:spcBef>
                      </a:pPr>
                      <a:r>
                        <a:rPr dirty="0" sz="1600" spc="-25">
                          <a:latin typeface="Arial MT"/>
                          <a:cs typeface="Arial MT"/>
                        </a:rPr>
                        <a:t>3U</a:t>
                      </a:r>
                      <a:endParaRPr sz="1600">
                        <a:latin typeface="Arial MT"/>
                        <a:cs typeface="Arial MT"/>
                      </a:endParaRPr>
                    </a:p>
                  </a:txBody>
                  <a:tcPr marL="0" marR="0" marB="0" marT="40640">
                    <a:solidFill>
                      <a:srgbClr val="E8E8E8"/>
                    </a:solidFill>
                  </a:tcPr>
                </a:tc>
              </a:tr>
              <a:tr h="377825">
                <a:tc>
                  <a:txBody>
                    <a:bodyPr/>
                    <a:lstStyle/>
                    <a:p>
                      <a:pPr algn="ctr" marL="131445">
                        <a:lnSpc>
                          <a:spcPct val="100000"/>
                        </a:lnSpc>
                        <a:spcBef>
                          <a:spcPts val="490"/>
                        </a:spcBef>
                      </a:pPr>
                      <a:r>
                        <a:rPr dirty="0" sz="1600" spc="-25">
                          <a:latin typeface="SimSun"/>
                          <a:cs typeface="SimSun"/>
                        </a:rPr>
                        <a:t>功耗</a:t>
                      </a:r>
                      <a:endParaRPr sz="1600">
                        <a:latin typeface="SimSun"/>
                        <a:cs typeface="SimSun"/>
                      </a:endParaRPr>
                    </a:p>
                  </a:txBody>
                  <a:tcPr marL="0" marR="0" marB="0" marT="62230"/>
                </a:tc>
                <a:tc>
                  <a:txBody>
                    <a:bodyPr/>
                    <a:lstStyle/>
                    <a:p>
                      <a:pPr algn="ctr" marL="130175">
                        <a:lnSpc>
                          <a:spcPct val="100000"/>
                        </a:lnSpc>
                        <a:spcBef>
                          <a:spcPts val="490"/>
                        </a:spcBef>
                      </a:pPr>
                      <a:r>
                        <a:rPr dirty="0" sz="1600" spc="-20">
                          <a:latin typeface="Arial MT"/>
                          <a:cs typeface="Arial MT"/>
                        </a:rPr>
                        <a:t>800W</a:t>
                      </a:r>
                      <a:endParaRPr sz="1600">
                        <a:latin typeface="Arial MT"/>
                        <a:cs typeface="Arial MT"/>
                      </a:endParaRPr>
                    </a:p>
                  </a:txBody>
                  <a:tcPr marL="0" marR="0" marB="0" marT="62230"/>
                </a:tc>
              </a:tr>
              <a:tr h="426084">
                <a:tc>
                  <a:txBody>
                    <a:bodyPr/>
                    <a:lstStyle/>
                    <a:p>
                      <a:pPr algn="ctr" marL="130810">
                        <a:lnSpc>
                          <a:spcPct val="100000"/>
                        </a:lnSpc>
                        <a:spcBef>
                          <a:spcPts val="680"/>
                        </a:spcBef>
                      </a:pPr>
                      <a:r>
                        <a:rPr dirty="0" sz="1600">
                          <a:latin typeface="SimSun"/>
                          <a:cs typeface="SimSun"/>
                        </a:rPr>
                        <a:t>温度环境</a:t>
                      </a:r>
                      <a:r>
                        <a:rPr dirty="0" sz="1600" spc="-10">
                          <a:latin typeface="Arial MT"/>
                          <a:cs typeface="Arial MT"/>
                        </a:rPr>
                        <a:t>(</a:t>
                      </a:r>
                      <a:r>
                        <a:rPr dirty="0" sz="1600">
                          <a:latin typeface="SimSun"/>
                          <a:cs typeface="SimSun"/>
                        </a:rPr>
                        <a:t>长期</a:t>
                      </a:r>
                      <a:r>
                        <a:rPr dirty="0" sz="1600" spc="-20">
                          <a:latin typeface="Arial MT"/>
                          <a:cs typeface="Arial MT"/>
                        </a:rPr>
                        <a:t>/</a:t>
                      </a:r>
                      <a:r>
                        <a:rPr dirty="0" sz="1600">
                          <a:latin typeface="SimSun"/>
                          <a:cs typeface="SimSun"/>
                        </a:rPr>
                        <a:t>短期</a:t>
                      </a:r>
                      <a:r>
                        <a:rPr dirty="0" sz="1600" spc="-50">
                          <a:latin typeface="Arial MT"/>
                          <a:cs typeface="Arial MT"/>
                        </a:rPr>
                        <a:t>)</a:t>
                      </a:r>
                      <a:endParaRPr sz="1600">
                        <a:latin typeface="Arial MT"/>
                        <a:cs typeface="Arial MT"/>
                      </a:endParaRPr>
                    </a:p>
                  </a:txBody>
                  <a:tcPr marL="0" marR="0" marB="0" marT="86360">
                    <a:solidFill>
                      <a:srgbClr val="E8E8E8"/>
                    </a:solidFill>
                  </a:tcPr>
                </a:tc>
                <a:tc>
                  <a:txBody>
                    <a:bodyPr/>
                    <a:lstStyle/>
                    <a:p>
                      <a:pPr algn="ctr" marL="130810">
                        <a:lnSpc>
                          <a:spcPct val="100000"/>
                        </a:lnSpc>
                        <a:spcBef>
                          <a:spcPts val="690"/>
                        </a:spcBef>
                      </a:pPr>
                      <a:r>
                        <a:rPr dirty="0" sz="1600" spc="-10">
                          <a:latin typeface="Arial MT"/>
                          <a:cs typeface="Arial MT"/>
                        </a:rPr>
                        <a:t>-10</a:t>
                      </a:r>
                      <a:r>
                        <a:rPr dirty="0" sz="1600" spc="-10">
                          <a:latin typeface="SimSun"/>
                          <a:cs typeface="SimSun"/>
                        </a:rPr>
                        <a:t>℃</a:t>
                      </a:r>
                      <a:r>
                        <a:rPr dirty="0" sz="1600" spc="-350">
                          <a:latin typeface="SimSun"/>
                          <a:cs typeface="SimSun"/>
                        </a:rPr>
                        <a:t> </a:t>
                      </a:r>
                      <a:r>
                        <a:rPr dirty="0" sz="1600">
                          <a:latin typeface="Arial MT"/>
                          <a:cs typeface="Arial MT"/>
                        </a:rPr>
                        <a:t>~</a:t>
                      </a:r>
                      <a:r>
                        <a:rPr dirty="0" sz="1600" spc="15">
                          <a:latin typeface="Arial MT"/>
                          <a:cs typeface="Arial MT"/>
                        </a:rPr>
                        <a:t> </a:t>
                      </a:r>
                      <a:r>
                        <a:rPr dirty="0" sz="1600" spc="-20">
                          <a:latin typeface="Arial MT"/>
                          <a:cs typeface="Arial MT"/>
                        </a:rPr>
                        <a:t>+55</a:t>
                      </a:r>
                      <a:r>
                        <a:rPr dirty="0" sz="1600" spc="-20">
                          <a:latin typeface="SimSun"/>
                          <a:cs typeface="SimSun"/>
                        </a:rPr>
                        <a:t>℃</a:t>
                      </a:r>
                      <a:endParaRPr sz="1600">
                        <a:latin typeface="SimSun"/>
                        <a:cs typeface="SimSun"/>
                      </a:endParaRPr>
                    </a:p>
                  </a:txBody>
                  <a:tcPr marL="0" marR="0" marB="0" marT="87630">
                    <a:solidFill>
                      <a:srgbClr val="E8E8E8"/>
                    </a:solidFill>
                  </a:tcPr>
                </a:tc>
              </a:tr>
              <a:tr h="472440">
                <a:tc>
                  <a:txBody>
                    <a:bodyPr/>
                    <a:lstStyle/>
                    <a:p>
                      <a:pPr algn="ctr" marL="130810">
                        <a:lnSpc>
                          <a:spcPct val="100000"/>
                        </a:lnSpc>
                        <a:spcBef>
                          <a:spcPts val="860"/>
                        </a:spcBef>
                      </a:pPr>
                      <a:r>
                        <a:rPr dirty="0" sz="1600">
                          <a:latin typeface="SimSun"/>
                          <a:cs typeface="SimSun"/>
                        </a:rPr>
                        <a:t>湿度环境</a:t>
                      </a:r>
                      <a:r>
                        <a:rPr dirty="0" sz="1600" spc="-10">
                          <a:latin typeface="Arial MT"/>
                          <a:cs typeface="Arial MT"/>
                        </a:rPr>
                        <a:t>(</a:t>
                      </a:r>
                      <a:r>
                        <a:rPr dirty="0" sz="1600">
                          <a:latin typeface="SimSun"/>
                          <a:cs typeface="SimSun"/>
                        </a:rPr>
                        <a:t>长期</a:t>
                      </a:r>
                      <a:r>
                        <a:rPr dirty="0" sz="1600" spc="-20">
                          <a:latin typeface="Arial MT"/>
                          <a:cs typeface="Arial MT"/>
                        </a:rPr>
                        <a:t>/</a:t>
                      </a:r>
                      <a:r>
                        <a:rPr dirty="0" sz="1600">
                          <a:latin typeface="SimSun"/>
                          <a:cs typeface="SimSun"/>
                        </a:rPr>
                        <a:t>短期</a:t>
                      </a:r>
                      <a:r>
                        <a:rPr dirty="0" sz="1600" spc="-50">
                          <a:latin typeface="Arial MT"/>
                          <a:cs typeface="Arial MT"/>
                        </a:rPr>
                        <a:t>)</a:t>
                      </a:r>
                      <a:endParaRPr sz="1600">
                        <a:latin typeface="Arial MT"/>
                        <a:cs typeface="Arial MT"/>
                      </a:endParaRPr>
                    </a:p>
                  </a:txBody>
                  <a:tcPr marL="0" marR="0" marB="0" marT="109220"/>
                </a:tc>
                <a:tc>
                  <a:txBody>
                    <a:bodyPr/>
                    <a:lstStyle/>
                    <a:p>
                      <a:pPr algn="ctr" marL="130175">
                        <a:lnSpc>
                          <a:spcPct val="100000"/>
                        </a:lnSpc>
                        <a:spcBef>
                          <a:spcPts val="855"/>
                        </a:spcBef>
                      </a:pPr>
                      <a:r>
                        <a:rPr dirty="0" sz="1600">
                          <a:latin typeface="Arial MT"/>
                          <a:cs typeface="Arial MT"/>
                        </a:rPr>
                        <a:t>15%</a:t>
                      </a:r>
                      <a:r>
                        <a:rPr dirty="0" sz="1600" spc="-15">
                          <a:latin typeface="Arial MT"/>
                          <a:cs typeface="Arial MT"/>
                        </a:rPr>
                        <a:t> </a:t>
                      </a:r>
                      <a:r>
                        <a:rPr dirty="0" sz="1600">
                          <a:latin typeface="Arial MT"/>
                          <a:cs typeface="Arial MT"/>
                        </a:rPr>
                        <a:t>~ </a:t>
                      </a:r>
                      <a:r>
                        <a:rPr dirty="0" sz="1600" spc="-25">
                          <a:latin typeface="Arial MT"/>
                          <a:cs typeface="Arial MT"/>
                        </a:rPr>
                        <a:t>85%</a:t>
                      </a:r>
                      <a:endParaRPr sz="1600">
                        <a:latin typeface="Arial MT"/>
                        <a:cs typeface="Arial MT"/>
                      </a:endParaRPr>
                    </a:p>
                  </a:txBody>
                  <a:tcPr marL="0" marR="0" marB="0" marT="108585"/>
                </a:tc>
              </a:tr>
              <a:tr h="518159">
                <a:tc>
                  <a:txBody>
                    <a:bodyPr/>
                    <a:lstStyle/>
                    <a:p>
                      <a:pPr algn="ctr" marL="131445">
                        <a:lnSpc>
                          <a:spcPct val="100000"/>
                        </a:lnSpc>
                        <a:spcBef>
                          <a:spcPts val="1050"/>
                        </a:spcBef>
                      </a:pPr>
                      <a:r>
                        <a:rPr dirty="0" sz="1600" spc="-15">
                          <a:latin typeface="SimSun"/>
                          <a:cs typeface="SimSun"/>
                        </a:rPr>
                        <a:t>安装方式</a:t>
                      </a:r>
                      <a:endParaRPr sz="1600">
                        <a:latin typeface="SimSun"/>
                        <a:cs typeface="SimSun"/>
                      </a:endParaRPr>
                    </a:p>
                  </a:txBody>
                  <a:tcPr marL="0" marR="0" marB="0" marT="133350">
                    <a:solidFill>
                      <a:srgbClr val="E8E8E8"/>
                    </a:solidFill>
                  </a:tcPr>
                </a:tc>
                <a:tc>
                  <a:txBody>
                    <a:bodyPr/>
                    <a:lstStyle/>
                    <a:p>
                      <a:pPr algn="ctr" marL="256540">
                        <a:lnSpc>
                          <a:spcPct val="100000"/>
                        </a:lnSpc>
                        <a:spcBef>
                          <a:spcPts val="1120"/>
                        </a:spcBef>
                      </a:pPr>
                      <a:r>
                        <a:rPr dirty="0" sz="1600" spc="-10">
                          <a:latin typeface="Arial MT"/>
                          <a:cs typeface="Arial MT"/>
                        </a:rPr>
                        <a:t>19</a:t>
                      </a:r>
                      <a:r>
                        <a:rPr dirty="0" sz="1600" spc="-5">
                          <a:latin typeface="SimSun"/>
                          <a:cs typeface="SimSun"/>
                        </a:rPr>
                        <a:t>英寸机柜安装、挂墙方式安装</a:t>
                      </a:r>
                      <a:endParaRPr sz="1600">
                        <a:latin typeface="SimSun"/>
                        <a:cs typeface="SimSun"/>
                      </a:endParaRPr>
                    </a:p>
                  </a:txBody>
                  <a:tcPr marL="0" marR="0" marB="0" marT="142240">
                    <a:solidFill>
                      <a:srgbClr val="E8E8E8"/>
                    </a:solidFill>
                  </a:tcPr>
                </a:tc>
              </a:tr>
              <a:tr h="518159">
                <a:tc>
                  <a:txBody>
                    <a:bodyPr/>
                    <a:lstStyle/>
                    <a:p>
                      <a:pPr algn="ctr" marL="130810">
                        <a:lnSpc>
                          <a:spcPct val="100000"/>
                        </a:lnSpc>
                        <a:spcBef>
                          <a:spcPts val="1040"/>
                        </a:spcBef>
                      </a:pPr>
                      <a:r>
                        <a:rPr dirty="0" sz="1600" spc="-15">
                          <a:latin typeface="SimSun"/>
                          <a:cs typeface="SimSun"/>
                        </a:rPr>
                        <a:t>输入电源</a:t>
                      </a:r>
                      <a:endParaRPr sz="1600">
                        <a:latin typeface="SimSun"/>
                        <a:cs typeface="SimSun"/>
                      </a:endParaRPr>
                    </a:p>
                  </a:txBody>
                  <a:tcPr marL="0" marR="0" marB="0" marT="132080">
                    <a:lnB w="28575">
                      <a:solidFill>
                        <a:srgbClr val="000000"/>
                      </a:solidFill>
                      <a:prstDash val="solid"/>
                    </a:lnB>
                  </a:tcPr>
                </a:tc>
                <a:tc>
                  <a:txBody>
                    <a:bodyPr/>
                    <a:lstStyle/>
                    <a:p>
                      <a:pPr algn="ctr" marL="131445">
                        <a:lnSpc>
                          <a:spcPct val="100000"/>
                        </a:lnSpc>
                        <a:spcBef>
                          <a:spcPts val="1040"/>
                        </a:spcBef>
                      </a:pPr>
                      <a:r>
                        <a:rPr dirty="0" sz="1600" spc="-10">
                          <a:latin typeface="Arial MT"/>
                          <a:cs typeface="Arial MT"/>
                        </a:rPr>
                        <a:t>DC</a:t>
                      </a:r>
                      <a:r>
                        <a:rPr dirty="0" sz="1600" spc="-10">
                          <a:latin typeface="SimSun"/>
                          <a:cs typeface="SimSun"/>
                        </a:rPr>
                        <a:t>：</a:t>
                      </a:r>
                      <a:r>
                        <a:rPr dirty="0" sz="1600" spc="-10">
                          <a:latin typeface="Arial MT"/>
                          <a:cs typeface="Arial MT"/>
                        </a:rPr>
                        <a:t>-48V</a:t>
                      </a:r>
                      <a:r>
                        <a:rPr dirty="0" sz="1600" spc="-10">
                          <a:latin typeface="SimSun"/>
                          <a:cs typeface="SimSun"/>
                        </a:rPr>
                        <a:t>（电压波动范围：</a:t>
                      </a:r>
                      <a:r>
                        <a:rPr dirty="0" sz="1600" spc="-10">
                          <a:latin typeface="Arial MT"/>
                          <a:cs typeface="Arial MT"/>
                        </a:rPr>
                        <a:t>-</a:t>
                      </a:r>
                      <a:r>
                        <a:rPr dirty="0" sz="1600">
                          <a:latin typeface="Arial MT"/>
                          <a:cs typeface="Arial MT"/>
                        </a:rPr>
                        <a:t>57V</a:t>
                      </a:r>
                      <a:r>
                        <a:rPr dirty="0" sz="1600" spc="5">
                          <a:latin typeface="Arial MT"/>
                          <a:cs typeface="Arial MT"/>
                        </a:rPr>
                        <a:t> </a:t>
                      </a:r>
                      <a:r>
                        <a:rPr dirty="0" sz="1600">
                          <a:latin typeface="Arial MT"/>
                          <a:cs typeface="Arial MT"/>
                        </a:rPr>
                        <a:t>~</a:t>
                      </a:r>
                      <a:r>
                        <a:rPr dirty="0" sz="1600" spc="-5">
                          <a:latin typeface="Arial MT"/>
                          <a:cs typeface="Arial MT"/>
                        </a:rPr>
                        <a:t> -</a:t>
                      </a:r>
                      <a:r>
                        <a:rPr dirty="0" sz="1600">
                          <a:latin typeface="Arial MT"/>
                          <a:cs typeface="Arial MT"/>
                        </a:rPr>
                        <a:t>40</a:t>
                      </a:r>
                      <a:r>
                        <a:rPr dirty="0" sz="1600" spc="15">
                          <a:latin typeface="Arial MT"/>
                          <a:cs typeface="Arial MT"/>
                        </a:rPr>
                        <a:t> </a:t>
                      </a:r>
                      <a:r>
                        <a:rPr dirty="0" sz="1600" spc="-25">
                          <a:latin typeface="Arial MT"/>
                          <a:cs typeface="Arial MT"/>
                        </a:rPr>
                        <a:t>V</a:t>
                      </a:r>
                      <a:r>
                        <a:rPr dirty="0" sz="1600" spc="-25">
                          <a:latin typeface="SimSun"/>
                          <a:cs typeface="SimSun"/>
                        </a:rPr>
                        <a:t>）</a:t>
                      </a:r>
                      <a:endParaRPr sz="1600">
                        <a:latin typeface="SimSun"/>
                        <a:cs typeface="SimSun"/>
                      </a:endParaRPr>
                    </a:p>
                  </a:txBody>
                  <a:tcPr marL="0" marR="0" marB="0" marT="132080">
                    <a:lnB w="28575">
                      <a:solidFill>
                        <a:srgbClr val="000000"/>
                      </a:solidFill>
                      <a:prstDash val="soli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49071" y="113125"/>
            <a:ext cx="176657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0"/>
              <a:t>主设备</a:t>
            </a:r>
          </a:p>
        </p:txBody>
      </p:sp>
      <p:pic>
        <p:nvPicPr>
          <p:cNvPr id="3" name="object 3" descr=""/>
          <p:cNvPicPr/>
          <p:nvPr/>
        </p:nvPicPr>
        <p:blipFill>
          <a:blip r:embed="rId2" cstate="print"/>
          <a:stretch>
            <a:fillRect/>
          </a:stretch>
        </p:blipFill>
        <p:spPr>
          <a:xfrm>
            <a:off x="304800" y="971550"/>
            <a:ext cx="2844330" cy="378371"/>
          </a:xfrm>
          <a:prstGeom prst="rect">
            <a:avLst/>
          </a:prstGeom>
        </p:spPr>
      </p:pic>
      <p:sp>
        <p:nvSpPr>
          <p:cNvPr id="4" name="object 4" descr=""/>
          <p:cNvSpPr txBox="1"/>
          <p:nvPr/>
        </p:nvSpPr>
        <p:spPr>
          <a:xfrm>
            <a:off x="1257194" y="1002493"/>
            <a:ext cx="939800" cy="299720"/>
          </a:xfrm>
          <a:prstGeom prst="rect">
            <a:avLst/>
          </a:prstGeom>
        </p:spPr>
        <p:txBody>
          <a:bodyPr wrap="square" lIns="0" tIns="12700" rIns="0" bIns="0" rtlCol="0" vert="horz">
            <a:spAutoFit/>
          </a:bodyPr>
          <a:lstStyle/>
          <a:p>
            <a:pPr marL="12700">
              <a:lnSpc>
                <a:spcPct val="100000"/>
              </a:lnSpc>
              <a:spcBef>
                <a:spcPts val="100"/>
              </a:spcBef>
            </a:pPr>
            <a:r>
              <a:rPr dirty="0" sz="1800" spc="-15">
                <a:latin typeface="Microsoft YaHei"/>
                <a:cs typeface="Microsoft YaHei"/>
              </a:rPr>
              <a:t>性能指标</a:t>
            </a:r>
            <a:endParaRPr sz="1800">
              <a:latin typeface="Microsoft YaHei"/>
              <a:cs typeface="Microsoft YaHei"/>
            </a:endParaRPr>
          </a:p>
        </p:txBody>
      </p:sp>
      <p:graphicFrame>
        <p:nvGraphicFramePr>
          <p:cNvPr id="5" name="object 5" descr=""/>
          <p:cNvGraphicFramePr>
            <a:graphicFrameLocks noGrp="1"/>
          </p:cNvGraphicFramePr>
          <p:nvPr/>
        </p:nvGraphicFramePr>
        <p:xfrm>
          <a:off x="323529" y="1550939"/>
          <a:ext cx="8573770" cy="3021965"/>
        </p:xfrm>
        <a:graphic>
          <a:graphicData uri="http://schemas.openxmlformats.org/drawingml/2006/table">
            <a:tbl>
              <a:tblPr firstRow="1" bandRow="1">
                <a:tableStyleId>{2D5ABB26-0587-4C30-8999-92F81FD0307C}</a:tableStyleId>
              </a:tblPr>
              <a:tblGrid>
                <a:gridCol w="3194685"/>
                <a:gridCol w="5302249"/>
              </a:tblGrid>
              <a:tr h="350520">
                <a:tc>
                  <a:txBody>
                    <a:bodyPr/>
                    <a:lstStyle/>
                    <a:p>
                      <a:pPr algn="ctr" marL="274320">
                        <a:lnSpc>
                          <a:spcPct val="100000"/>
                        </a:lnSpc>
                        <a:spcBef>
                          <a:spcPts val="380"/>
                        </a:spcBef>
                      </a:pPr>
                      <a:r>
                        <a:rPr dirty="0" sz="1600" spc="-15">
                          <a:solidFill>
                            <a:srgbClr val="FFFFFF"/>
                          </a:solidFill>
                          <a:latin typeface="SimSun"/>
                          <a:cs typeface="SimSun"/>
                        </a:rPr>
                        <a:t>参数名称</a:t>
                      </a:r>
                      <a:endParaRPr sz="1600">
                        <a:latin typeface="SimSun"/>
                        <a:cs typeface="SimSun"/>
                      </a:endParaRPr>
                    </a:p>
                  </a:txBody>
                  <a:tcPr marL="0" marR="0" marB="0" marT="48260">
                    <a:lnT w="28575">
                      <a:solidFill>
                        <a:srgbClr val="000000"/>
                      </a:solidFill>
                      <a:prstDash val="solid"/>
                    </a:lnT>
                    <a:lnB w="28575">
                      <a:solidFill>
                        <a:srgbClr val="000000"/>
                      </a:solidFill>
                      <a:prstDash val="solid"/>
                    </a:lnB>
                    <a:solidFill>
                      <a:srgbClr val="2D2D8A"/>
                    </a:solidFill>
                  </a:tcPr>
                </a:tc>
                <a:tc>
                  <a:txBody>
                    <a:bodyPr/>
                    <a:lstStyle/>
                    <a:p>
                      <a:pPr algn="ctr" marL="273685">
                        <a:lnSpc>
                          <a:spcPct val="100000"/>
                        </a:lnSpc>
                        <a:spcBef>
                          <a:spcPts val="380"/>
                        </a:spcBef>
                      </a:pPr>
                      <a:r>
                        <a:rPr dirty="0" sz="1600" spc="-30">
                          <a:solidFill>
                            <a:srgbClr val="FFFFFF"/>
                          </a:solidFill>
                          <a:latin typeface="SimSun"/>
                          <a:cs typeface="SimSun"/>
                        </a:rPr>
                        <a:t>指标</a:t>
                      </a:r>
                      <a:endParaRPr sz="1600">
                        <a:latin typeface="SimSun"/>
                        <a:cs typeface="SimSun"/>
                      </a:endParaRPr>
                    </a:p>
                  </a:txBody>
                  <a:tcPr marL="0" marR="0" marB="0" marT="48260">
                    <a:lnT w="28575">
                      <a:solidFill>
                        <a:srgbClr val="000000"/>
                      </a:solidFill>
                      <a:prstDash val="solid"/>
                    </a:lnT>
                    <a:lnB w="28575">
                      <a:solidFill>
                        <a:srgbClr val="000000"/>
                      </a:solidFill>
                      <a:prstDash val="solid"/>
                    </a:lnB>
                    <a:solidFill>
                      <a:srgbClr val="2D2D8A"/>
                    </a:solidFill>
                  </a:tcPr>
                </a:tc>
              </a:tr>
              <a:tr h="307975">
                <a:tc>
                  <a:txBody>
                    <a:bodyPr/>
                    <a:lstStyle/>
                    <a:p>
                      <a:pPr marL="819785">
                        <a:lnSpc>
                          <a:spcPct val="100000"/>
                        </a:lnSpc>
                        <a:spcBef>
                          <a:spcPts val="225"/>
                        </a:spcBef>
                      </a:pPr>
                      <a:r>
                        <a:rPr dirty="0" sz="1600">
                          <a:latin typeface="SimSun"/>
                          <a:cs typeface="SimSun"/>
                        </a:rPr>
                        <a:t>室内</a:t>
                      </a:r>
                      <a:r>
                        <a:rPr dirty="0" sz="1600" spc="-20">
                          <a:latin typeface="Arial MT"/>
                          <a:cs typeface="Arial MT"/>
                        </a:rPr>
                        <a:t>/</a:t>
                      </a:r>
                      <a:r>
                        <a:rPr dirty="0" sz="1600" spc="-10">
                          <a:latin typeface="SimSun"/>
                          <a:cs typeface="SimSun"/>
                        </a:rPr>
                        <a:t>室外防护等级</a:t>
                      </a:r>
                      <a:endParaRPr sz="1600">
                        <a:latin typeface="SimSun"/>
                        <a:cs typeface="SimSun"/>
                      </a:endParaRPr>
                    </a:p>
                  </a:txBody>
                  <a:tcPr marL="0" marR="0" marB="0" marT="28575">
                    <a:lnT w="28575">
                      <a:solidFill>
                        <a:srgbClr val="000000"/>
                      </a:solidFill>
                      <a:prstDash val="solid"/>
                    </a:lnT>
                    <a:solidFill>
                      <a:srgbClr val="E8E8E8"/>
                    </a:solidFill>
                  </a:tcPr>
                </a:tc>
                <a:tc>
                  <a:txBody>
                    <a:bodyPr/>
                    <a:lstStyle/>
                    <a:p>
                      <a:pPr algn="ctr" marR="214629">
                        <a:lnSpc>
                          <a:spcPct val="100000"/>
                        </a:lnSpc>
                        <a:spcBef>
                          <a:spcPts val="285"/>
                        </a:spcBef>
                      </a:pPr>
                      <a:r>
                        <a:rPr dirty="0" sz="1600" spc="-20">
                          <a:latin typeface="Arial MT"/>
                          <a:cs typeface="Arial MT"/>
                        </a:rPr>
                        <a:t>IP20</a:t>
                      </a:r>
                      <a:endParaRPr sz="1600">
                        <a:latin typeface="Arial MT"/>
                        <a:cs typeface="Arial MT"/>
                      </a:endParaRPr>
                    </a:p>
                  </a:txBody>
                  <a:tcPr marL="0" marR="0" marB="0" marT="36195">
                    <a:lnT w="28575">
                      <a:solidFill>
                        <a:srgbClr val="000000"/>
                      </a:solidFill>
                      <a:prstDash val="solid"/>
                    </a:lnT>
                    <a:solidFill>
                      <a:srgbClr val="E8E8E8"/>
                    </a:solidFill>
                  </a:tcPr>
                </a:tc>
              </a:tr>
              <a:tr h="337820">
                <a:tc>
                  <a:txBody>
                    <a:bodyPr/>
                    <a:lstStyle/>
                    <a:p>
                      <a:pPr marL="1104900">
                        <a:lnSpc>
                          <a:spcPct val="100000"/>
                        </a:lnSpc>
                        <a:spcBef>
                          <a:spcPts val="340"/>
                        </a:spcBef>
                      </a:pPr>
                      <a:r>
                        <a:rPr dirty="0" sz="1600" spc="-10">
                          <a:latin typeface="SimSun"/>
                          <a:cs typeface="SimSun"/>
                        </a:rPr>
                        <a:t>室内防雷等级</a:t>
                      </a:r>
                      <a:endParaRPr sz="1600">
                        <a:latin typeface="SimSun"/>
                        <a:cs typeface="SimSun"/>
                      </a:endParaRPr>
                    </a:p>
                  </a:txBody>
                  <a:tcPr marL="0" marR="0" marB="0" marT="43180"/>
                </a:tc>
                <a:tc>
                  <a:txBody>
                    <a:bodyPr/>
                    <a:lstStyle/>
                    <a:p>
                      <a:pPr algn="ctr" marR="248285">
                        <a:lnSpc>
                          <a:spcPct val="100000"/>
                        </a:lnSpc>
                        <a:spcBef>
                          <a:spcPts val="325"/>
                        </a:spcBef>
                      </a:pPr>
                      <a:r>
                        <a:rPr dirty="0" sz="1600" spc="-25">
                          <a:latin typeface="Arial MT"/>
                          <a:cs typeface="Arial MT"/>
                        </a:rPr>
                        <a:t>5KA</a:t>
                      </a:r>
                      <a:endParaRPr sz="1600">
                        <a:latin typeface="Arial MT"/>
                        <a:cs typeface="Arial MT"/>
                      </a:endParaRPr>
                    </a:p>
                  </a:txBody>
                  <a:tcPr marL="0" marR="0" marB="0" marT="41275"/>
                </a:tc>
              </a:tr>
              <a:tr h="381635">
                <a:tc>
                  <a:txBody>
                    <a:bodyPr/>
                    <a:lstStyle/>
                    <a:p>
                      <a:pPr marL="990600">
                        <a:lnSpc>
                          <a:spcPct val="100000"/>
                        </a:lnSpc>
                        <a:spcBef>
                          <a:spcPts val="515"/>
                        </a:spcBef>
                      </a:pPr>
                      <a:r>
                        <a:rPr dirty="0" sz="1600" spc="-10">
                          <a:latin typeface="SimSun"/>
                          <a:cs typeface="SimSun"/>
                        </a:rPr>
                        <a:t>支持环保的技术</a:t>
                      </a:r>
                      <a:endParaRPr sz="1600">
                        <a:latin typeface="SimSun"/>
                        <a:cs typeface="SimSun"/>
                      </a:endParaRPr>
                    </a:p>
                  </a:txBody>
                  <a:tcPr marL="0" marR="0" marB="0" marT="65404">
                    <a:solidFill>
                      <a:srgbClr val="E8E8E8"/>
                    </a:solidFill>
                  </a:tcPr>
                </a:tc>
                <a:tc>
                  <a:txBody>
                    <a:bodyPr/>
                    <a:lstStyle/>
                    <a:p>
                      <a:pPr algn="ctr" marL="13970">
                        <a:lnSpc>
                          <a:spcPct val="100000"/>
                        </a:lnSpc>
                        <a:spcBef>
                          <a:spcPts val="495"/>
                        </a:spcBef>
                      </a:pPr>
                      <a:r>
                        <a:rPr dirty="0" sz="1600" spc="-10">
                          <a:latin typeface="Arial MT"/>
                          <a:cs typeface="Arial MT"/>
                        </a:rPr>
                        <a:t>RoHS6</a:t>
                      </a:r>
                      <a:endParaRPr sz="1600">
                        <a:latin typeface="Arial MT"/>
                        <a:cs typeface="Arial MT"/>
                      </a:endParaRPr>
                    </a:p>
                  </a:txBody>
                  <a:tcPr marL="0" marR="0" marB="0" marT="62865">
                    <a:solidFill>
                      <a:srgbClr val="E8E8E8"/>
                    </a:solidFill>
                  </a:tcPr>
                </a:tc>
              </a:tr>
              <a:tr h="511175">
                <a:tc>
                  <a:txBody>
                    <a:bodyPr/>
                    <a:lstStyle/>
                    <a:p>
                      <a:pPr algn="ctr" marL="172720">
                        <a:lnSpc>
                          <a:spcPct val="100000"/>
                        </a:lnSpc>
                        <a:spcBef>
                          <a:spcPts val="1025"/>
                        </a:spcBef>
                      </a:pPr>
                      <a:r>
                        <a:rPr dirty="0" sz="1600" spc="-15">
                          <a:latin typeface="SimSun"/>
                          <a:cs typeface="SimSun"/>
                        </a:rPr>
                        <a:t>最大带宽</a:t>
                      </a:r>
                      <a:endParaRPr sz="1600">
                        <a:latin typeface="SimSun"/>
                        <a:cs typeface="SimSun"/>
                      </a:endParaRPr>
                    </a:p>
                  </a:txBody>
                  <a:tcPr marL="0" marR="0" marB="0" marT="130175"/>
                </a:tc>
                <a:tc>
                  <a:txBody>
                    <a:bodyPr/>
                    <a:lstStyle/>
                    <a:p>
                      <a:pPr marL="440055">
                        <a:lnSpc>
                          <a:spcPct val="100000"/>
                        </a:lnSpc>
                        <a:spcBef>
                          <a:spcPts val="65"/>
                        </a:spcBef>
                      </a:pPr>
                      <a:r>
                        <a:rPr dirty="0" sz="1600">
                          <a:latin typeface="Arial MT"/>
                          <a:cs typeface="Arial MT"/>
                        </a:rPr>
                        <a:t>BBU</a:t>
                      </a:r>
                      <a:r>
                        <a:rPr dirty="0" sz="1600" spc="-5">
                          <a:latin typeface="SimSun"/>
                          <a:cs typeface="SimSun"/>
                        </a:rPr>
                        <a:t>单框支持</a:t>
                      </a:r>
                      <a:r>
                        <a:rPr dirty="0" sz="1600" spc="-10">
                          <a:latin typeface="Arial MT"/>
                          <a:cs typeface="Arial MT"/>
                        </a:rPr>
                        <a:t>6</a:t>
                      </a:r>
                      <a:r>
                        <a:rPr dirty="0" sz="1600" spc="-10">
                          <a:latin typeface="SimSun"/>
                          <a:cs typeface="SimSun"/>
                        </a:rPr>
                        <a:t>块基带板，每块基带板支持</a:t>
                      </a:r>
                      <a:r>
                        <a:rPr dirty="0" sz="1600" spc="-10">
                          <a:latin typeface="Arial MT"/>
                          <a:cs typeface="Arial MT"/>
                        </a:rPr>
                        <a:t>100M</a:t>
                      </a:r>
                      <a:r>
                        <a:rPr dirty="0" sz="1600" spc="-25">
                          <a:latin typeface="SimSun"/>
                          <a:cs typeface="SimSun"/>
                        </a:rPr>
                        <a:t>带宽</a:t>
                      </a:r>
                      <a:endParaRPr sz="1600">
                        <a:latin typeface="SimSun"/>
                        <a:cs typeface="SimSun"/>
                      </a:endParaRPr>
                    </a:p>
                  </a:txBody>
                  <a:tcPr marL="0" marR="0" marB="0" marT="8255"/>
                </a:tc>
              </a:tr>
              <a:tr h="601345">
                <a:tc>
                  <a:txBody>
                    <a:bodyPr/>
                    <a:lstStyle/>
                    <a:p>
                      <a:pPr marL="1332865">
                        <a:lnSpc>
                          <a:spcPct val="100000"/>
                        </a:lnSpc>
                        <a:spcBef>
                          <a:spcPts val="1380"/>
                        </a:spcBef>
                      </a:pPr>
                      <a:r>
                        <a:rPr dirty="0" sz="1600" spc="-10">
                          <a:latin typeface="SimSun"/>
                          <a:cs typeface="SimSun"/>
                        </a:rPr>
                        <a:t>光模块速率</a:t>
                      </a:r>
                      <a:endParaRPr sz="1600">
                        <a:latin typeface="SimSun"/>
                        <a:cs typeface="SimSun"/>
                      </a:endParaRPr>
                    </a:p>
                  </a:txBody>
                  <a:tcPr marL="0" marR="0" marB="0" marT="175260">
                    <a:solidFill>
                      <a:srgbClr val="E8E8E8"/>
                    </a:solidFill>
                  </a:tcPr>
                </a:tc>
                <a:tc>
                  <a:txBody>
                    <a:bodyPr/>
                    <a:lstStyle/>
                    <a:p>
                      <a:pPr marL="340360">
                        <a:lnSpc>
                          <a:spcPct val="100000"/>
                        </a:lnSpc>
                        <a:spcBef>
                          <a:spcPts val="300"/>
                        </a:spcBef>
                      </a:pPr>
                      <a:r>
                        <a:rPr dirty="0" sz="1600" spc="-10">
                          <a:latin typeface="Arial MT"/>
                          <a:cs typeface="Arial MT"/>
                        </a:rPr>
                        <a:t>25G</a:t>
                      </a:r>
                      <a:r>
                        <a:rPr dirty="0" sz="1600" spc="-10">
                          <a:latin typeface="SimSun"/>
                          <a:cs typeface="SimSun"/>
                        </a:rPr>
                        <a:t>（</a:t>
                      </a:r>
                      <a:r>
                        <a:rPr dirty="0" sz="1600" spc="-10">
                          <a:latin typeface="Arial MT"/>
                          <a:cs typeface="Arial MT"/>
                        </a:rPr>
                        <a:t>BBU</a:t>
                      </a:r>
                      <a:r>
                        <a:rPr dirty="0" sz="1600" spc="-10">
                          <a:latin typeface="SimSun"/>
                          <a:cs typeface="SimSun"/>
                        </a:rPr>
                        <a:t>至核心网间的传输接口或</a:t>
                      </a:r>
                      <a:r>
                        <a:rPr dirty="0" sz="1600" spc="-10">
                          <a:latin typeface="Arial MT"/>
                          <a:cs typeface="Arial MT"/>
                        </a:rPr>
                        <a:t>AAU</a:t>
                      </a:r>
                      <a:r>
                        <a:rPr dirty="0" sz="1600" spc="-10">
                          <a:latin typeface="SimSun"/>
                          <a:cs typeface="SimSun"/>
                        </a:rPr>
                        <a:t>之间的接口</a:t>
                      </a:r>
                      <a:r>
                        <a:rPr dirty="0" sz="1600" spc="-50">
                          <a:latin typeface="SimSun"/>
                          <a:cs typeface="SimSun"/>
                        </a:rPr>
                        <a:t>）</a:t>
                      </a:r>
                      <a:endParaRPr sz="1600">
                        <a:latin typeface="SimSun"/>
                        <a:cs typeface="SimSun"/>
                      </a:endParaRPr>
                    </a:p>
                    <a:p>
                      <a:pPr marL="340360">
                        <a:lnSpc>
                          <a:spcPct val="100000"/>
                        </a:lnSpc>
                        <a:spcBef>
                          <a:spcPts val="180"/>
                        </a:spcBef>
                      </a:pPr>
                      <a:r>
                        <a:rPr dirty="0" sz="1600" spc="-10">
                          <a:latin typeface="Arial MT"/>
                          <a:cs typeface="Arial MT"/>
                        </a:rPr>
                        <a:t>100G</a:t>
                      </a:r>
                      <a:r>
                        <a:rPr dirty="0" sz="1600" spc="-10">
                          <a:latin typeface="SimSun"/>
                          <a:cs typeface="SimSun"/>
                        </a:rPr>
                        <a:t>（</a:t>
                      </a:r>
                      <a:r>
                        <a:rPr dirty="0" sz="1600" spc="-10">
                          <a:latin typeface="Arial MT"/>
                          <a:cs typeface="Arial MT"/>
                        </a:rPr>
                        <a:t>BBU</a:t>
                      </a:r>
                      <a:r>
                        <a:rPr dirty="0" sz="1600" spc="-10">
                          <a:latin typeface="SimSun"/>
                          <a:cs typeface="SimSun"/>
                        </a:rPr>
                        <a:t>至</a:t>
                      </a:r>
                      <a:r>
                        <a:rPr dirty="0" sz="1600" spc="-10">
                          <a:latin typeface="Arial MT"/>
                          <a:cs typeface="Arial MT"/>
                        </a:rPr>
                        <a:t>AAU</a:t>
                      </a:r>
                      <a:r>
                        <a:rPr dirty="0" sz="1600" spc="-5">
                          <a:latin typeface="SimSun"/>
                          <a:cs typeface="SimSun"/>
                        </a:rPr>
                        <a:t>间的接口</a:t>
                      </a:r>
                      <a:r>
                        <a:rPr dirty="0" sz="1600" spc="-50">
                          <a:latin typeface="SimSun"/>
                          <a:cs typeface="SimSun"/>
                        </a:rPr>
                        <a:t>）</a:t>
                      </a:r>
                      <a:endParaRPr sz="1600">
                        <a:latin typeface="SimSun"/>
                        <a:cs typeface="SimSun"/>
                      </a:endParaRPr>
                    </a:p>
                  </a:txBody>
                  <a:tcPr marL="0" marR="0" marB="0" marT="38100">
                    <a:solidFill>
                      <a:srgbClr val="E8E8E8"/>
                    </a:solidFill>
                  </a:tcPr>
                </a:tc>
              </a:tr>
              <a:tr h="531495">
                <a:tc>
                  <a:txBody>
                    <a:bodyPr/>
                    <a:lstStyle/>
                    <a:p>
                      <a:pPr marL="819150">
                        <a:lnSpc>
                          <a:spcPct val="100000"/>
                        </a:lnSpc>
                        <a:spcBef>
                          <a:spcPts val="1105"/>
                        </a:spcBef>
                      </a:pPr>
                      <a:r>
                        <a:rPr dirty="0" sz="1600" spc="-5">
                          <a:latin typeface="SimSun"/>
                          <a:cs typeface="SimSun"/>
                        </a:rPr>
                        <a:t>光模块是否可现场更换</a:t>
                      </a:r>
                      <a:endParaRPr sz="1600">
                        <a:latin typeface="SimSun"/>
                        <a:cs typeface="SimSun"/>
                      </a:endParaRPr>
                    </a:p>
                  </a:txBody>
                  <a:tcPr marL="0" marR="0" marB="0" marT="140335">
                    <a:lnB w="28575">
                      <a:solidFill>
                        <a:srgbClr val="000000"/>
                      </a:solidFill>
                      <a:prstDash val="solid"/>
                    </a:lnB>
                  </a:tcPr>
                </a:tc>
                <a:tc>
                  <a:txBody>
                    <a:bodyPr/>
                    <a:lstStyle/>
                    <a:p>
                      <a:pPr algn="ctr" marL="274320">
                        <a:lnSpc>
                          <a:spcPct val="100000"/>
                        </a:lnSpc>
                        <a:spcBef>
                          <a:spcPts val="1105"/>
                        </a:spcBef>
                      </a:pPr>
                      <a:r>
                        <a:rPr dirty="0" sz="1600" spc="-50">
                          <a:latin typeface="SimSun"/>
                          <a:cs typeface="SimSun"/>
                        </a:rPr>
                        <a:t>是</a:t>
                      </a:r>
                      <a:endParaRPr sz="1600">
                        <a:latin typeface="SimSun"/>
                        <a:cs typeface="SimSun"/>
                      </a:endParaRPr>
                    </a:p>
                  </a:txBody>
                  <a:tcPr marL="0" marR="0" marB="0" marT="140335">
                    <a:lnB w="28575">
                      <a:solidFill>
                        <a:srgbClr val="000000"/>
                      </a:solidFill>
                      <a:prstDash val="soli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49071" y="113125"/>
            <a:ext cx="176657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0"/>
              <a:t>主设备</a:t>
            </a:r>
          </a:p>
        </p:txBody>
      </p:sp>
      <p:pic>
        <p:nvPicPr>
          <p:cNvPr id="3" name="object 3" descr=""/>
          <p:cNvPicPr/>
          <p:nvPr/>
        </p:nvPicPr>
        <p:blipFill>
          <a:blip r:embed="rId2" cstate="print"/>
          <a:stretch>
            <a:fillRect/>
          </a:stretch>
        </p:blipFill>
        <p:spPr>
          <a:xfrm>
            <a:off x="304800" y="971550"/>
            <a:ext cx="3456381" cy="530771"/>
          </a:xfrm>
          <a:prstGeom prst="rect">
            <a:avLst/>
          </a:prstGeom>
        </p:spPr>
      </p:pic>
      <p:sp>
        <p:nvSpPr>
          <p:cNvPr id="4" name="object 4" descr=""/>
          <p:cNvSpPr txBox="1"/>
          <p:nvPr/>
        </p:nvSpPr>
        <p:spPr>
          <a:xfrm>
            <a:off x="521425" y="1078693"/>
            <a:ext cx="3023870" cy="299720"/>
          </a:xfrm>
          <a:prstGeom prst="rect">
            <a:avLst/>
          </a:prstGeom>
        </p:spPr>
        <p:txBody>
          <a:bodyPr wrap="square" lIns="0" tIns="12700" rIns="0" bIns="0" rtlCol="0" vert="horz">
            <a:spAutoFit/>
          </a:bodyPr>
          <a:lstStyle/>
          <a:p>
            <a:pPr marL="12700">
              <a:lnSpc>
                <a:spcPct val="100000"/>
              </a:lnSpc>
              <a:spcBef>
                <a:spcPts val="100"/>
              </a:spcBef>
            </a:pPr>
            <a:r>
              <a:rPr dirty="0" sz="1800">
                <a:latin typeface="Microsoft YaHei"/>
                <a:cs typeface="Microsoft YaHei"/>
              </a:rPr>
              <a:t>各槽位板卡模块（共</a:t>
            </a:r>
            <a:r>
              <a:rPr dirty="0" sz="1800">
                <a:latin typeface="Arial MT"/>
                <a:cs typeface="Arial MT"/>
              </a:rPr>
              <a:t>12</a:t>
            </a:r>
            <a:r>
              <a:rPr dirty="0" sz="1800">
                <a:latin typeface="Microsoft YaHei"/>
                <a:cs typeface="Microsoft YaHei"/>
              </a:rPr>
              <a:t>槽位</a:t>
            </a:r>
            <a:r>
              <a:rPr dirty="0" sz="1800" spc="-50">
                <a:latin typeface="Microsoft YaHei"/>
                <a:cs typeface="Microsoft YaHei"/>
              </a:rPr>
              <a:t>）</a:t>
            </a:r>
            <a:endParaRPr sz="1800">
              <a:latin typeface="Microsoft YaHei"/>
              <a:cs typeface="Microsoft YaHei"/>
            </a:endParaRPr>
          </a:p>
        </p:txBody>
      </p:sp>
      <p:sp>
        <p:nvSpPr>
          <p:cNvPr id="5" name="object 5" descr=""/>
          <p:cNvSpPr txBox="1"/>
          <p:nvPr/>
        </p:nvSpPr>
        <p:spPr>
          <a:xfrm>
            <a:off x="598476" y="2816983"/>
            <a:ext cx="535940" cy="330200"/>
          </a:xfrm>
          <a:prstGeom prst="rect">
            <a:avLst/>
          </a:prstGeom>
        </p:spPr>
        <p:txBody>
          <a:bodyPr wrap="square" lIns="0" tIns="12065" rIns="0" bIns="0" rtlCol="0" vert="horz">
            <a:spAutoFit/>
          </a:bodyPr>
          <a:lstStyle/>
          <a:p>
            <a:pPr marL="12700">
              <a:lnSpc>
                <a:spcPct val="100000"/>
              </a:lnSpc>
              <a:spcBef>
                <a:spcPts val="95"/>
              </a:spcBef>
            </a:pPr>
            <a:r>
              <a:rPr dirty="0" sz="2000" spc="-30" b="1">
                <a:solidFill>
                  <a:srgbClr val="0070C0"/>
                </a:solidFill>
                <a:latin typeface="Microsoft JhengHei"/>
                <a:cs typeface="Microsoft JhengHei"/>
              </a:rPr>
              <a:t>直流</a:t>
            </a:r>
            <a:endParaRPr sz="2000">
              <a:latin typeface="Microsoft JhengHei"/>
              <a:cs typeface="Microsoft JhengHei"/>
            </a:endParaRPr>
          </a:p>
        </p:txBody>
      </p:sp>
      <p:sp>
        <p:nvSpPr>
          <p:cNvPr id="6" name="object 6" descr=""/>
          <p:cNvSpPr/>
          <p:nvPr/>
        </p:nvSpPr>
        <p:spPr>
          <a:xfrm>
            <a:off x="1392101" y="1923773"/>
            <a:ext cx="2926715" cy="673735"/>
          </a:xfrm>
          <a:custGeom>
            <a:avLst/>
            <a:gdLst/>
            <a:ahLst/>
            <a:cxnLst/>
            <a:rect l="l" t="t" r="r" b="b"/>
            <a:pathLst>
              <a:path w="2926715" h="673735">
                <a:moveTo>
                  <a:pt x="2926102" y="673180"/>
                </a:moveTo>
                <a:lnTo>
                  <a:pt x="0" y="673180"/>
                </a:lnTo>
                <a:lnTo>
                  <a:pt x="0" y="0"/>
                </a:lnTo>
                <a:lnTo>
                  <a:pt x="2926102" y="0"/>
                </a:lnTo>
                <a:lnTo>
                  <a:pt x="2926102" y="673180"/>
                </a:lnTo>
                <a:close/>
              </a:path>
            </a:pathLst>
          </a:custGeom>
          <a:solidFill>
            <a:srgbClr val="FFFFFF"/>
          </a:solidFill>
        </p:spPr>
        <p:txBody>
          <a:bodyPr wrap="square" lIns="0" tIns="0" rIns="0" bIns="0" rtlCol="0"/>
          <a:lstStyle/>
          <a:p/>
        </p:txBody>
      </p:sp>
      <p:sp>
        <p:nvSpPr>
          <p:cNvPr id="7" name="object 7" descr=""/>
          <p:cNvSpPr/>
          <p:nvPr/>
        </p:nvSpPr>
        <p:spPr>
          <a:xfrm>
            <a:off x="4439118" y="1899742"/>
            <a:ext cx="2926715" cy="337185"/>
          </a:xfrm>
          <a:custGeom>
            <a:avLst/>
            <a:gdLst/>
            <a:ahLst/>
            <a:cxnLst/>
            <a:rect l="l" t="t" r="r" b="b"/>
            <a:pathLst>
              <a:path w="2926715" h="337185">
                <a:moveTo>
                  <a:pt x="2926102" y="336584"/>
                </a:moveTo>
                <a:lnTo>
                  <a:pt x="0" y="336584"/>
                </a:lnTo>
                <a:lnTo>
                  <a:pt x="0" y="0"/>
                </a:lnTo>
                <a:lnTo>
                  <a:pt x="2926102" y="0"/>
                </a:lnTo>
                <a:lnTo>
                  <a:pt x="2926102" y="336584"/>
                </a:lnTo>
                <a:close/>
              </a:path>
            </a:pathLst>
          </a:custGeom>
          <a:solidFill>
            <a:srgbClr val="FFFFFF"/>
          </a:solidFill>
        </p:spPr>
        <p:txBody>
          <a:bodyPr wrap="square" lIns="0" tIns="0" rIns="0" bIns="0" rtlCol="0"/>
          <a:lstStyle/>
          <a:p/>
        </p:txBody>
      </p:sp>
      <p:graphicFrame>
        <p:nvGraphicFramePr>
          <p:cNvPr id="8" name="object 8" descr=""/>
          <p:cNvGraphicFramePr>
            <a:graphicFrameLocks noGrp="1"/>
          </p:cNvGraphicFramePr>
          <p:nvPr/>
        </p:nvGraphicFramePr>
        <p:xfrm>
          <a:off x="1371955" y="1891689"/>
          <a:ext cx="6827520" cy="2124075"/>
        </p:xfrm>
        <a:graphic>
          <a:graphicData uri="http://schemas.openxmlformats.org/drawingml/2006/table">
            <a:tbl>
              <a:tblPr firstRow="1" bandRow="1">
                <a:tableStyleId>{2D5ABB26-0587-4C30-8999-92F81FD0307C}</a:tableStyleId>
              </a:tblPr>
              <a:tblGrid>
                <a:gridCol w="1581150"/>
                <a:gridCol w="1369060"/>
                <a:gridCol w="96519"/>
                <a:gridCol w="1643380"/>
                <a:gridCol w="911225"/>
                <a:gridCol w="394970"/>
                <a:gridCol w="84454"/>
                <a:gridCol w="652780"/>
              </a:tblGrid>
              <a:tr h="228600">
                <a:tc>
                  <a:txBody>
                    <a:bodyPr/>
                    <a:lstStyle/>
                    <a:p>
                      <a:pPr>
                        <a:lnSpc>
                          <a:spcPct val="100000"/>
                        </a:lnSpc>
                      </a:pPr>
                      <a:endParaRPr sz="1300">
                        <a:latin typeface="Times New Roman"/>
                        <a:cs typeface="Times New Roman"/>
                      </a:endParaRPr>
                    </a:p>
                  </a:txBody>
                  <a:tcPr marL="0" marR="0" marB="0" marT="0">
                    <a:lnL w="19050">
                      <a:solidFill>
                        <a:srgbClr val="000000"/>
                      </a:solidFill>
                      <a:prstDash val="solid"/>
                    </a:lnL>
                    <a:lnT w="19050">
                      <a:solidFill>
                        <a:srgbClr val="000000"/>
                      </a:solidFill>
                      <a:prstDash val="solid"/>
                    </a:lnT>
                    <a:solidFill>
                      <a:srgbClr val="FFFFFF"/>
                    </a:solidFill>
                  </a:tcPr>
                </a:tc>
                <a:tc>
                  <a:txBody>
                    <a:bodyPr/>
                    <a:lstStyle/>
                    <a:p>
                      <a:pPr algn="r" marR="171450">
                        <a:lnSpc>
                          <a:spcPct val="100000"/>
                        </a:lnSpc>
                        <a:spcBef>
                          <a:spcPts val="254"/>
                        </a:spcBef>
                        <a:tabLst>
                          <a:tab pos="553720" algn="l"/>
                        </a:tabLst>
                      </a:pPr>
                      <a:r>
                        <a:rPr dirty="0" sz="1150" spc="-20" b="1">
                          <a:solidFill>
                            <a:srgbClr val="FF00FF"/>
                          </a:solidFill>
                          <a:latin typeface="Times New Roman"/>
                          <a:cs typeface="Times New Roman"/>
                        </a:rPr>
                        <a:t>SLOT</a:t>
                      </a:r>
                      <a:r>
                        <a:rPr dirty="0" sz="1150" b="1">
                          <a:solidFill>
                            <a:srgbClr val="FF00FF"/>
                          </a:solidFill>
                          <a:latin typeface="Times New Roman"/>
                          <a:cs typeface="Times New Roman"/>
                        </a:rPr>
                        <a:t>	</a:t>
                      </a:r>
                      <a:r>
                        <a:rPr dirty="0" baseline="-4830" sz="1725" spc="-75" b="1">
                          <a:solidFill>
                            <a:srgbClr val="FF00FF"/>
                          </a:solidFill>
                          <a:latin typeface="Times New Roman"/>
                          <a:cs typeface="Times New Roman"/>
                        </a:rPr>
                        <a:t>5</a:t>
                      </a:r>
                      <a:endParaRPr baseline="-4830" sz="1725">
                        <a:latin typeface="Times New Roman"/>
                        <a:cs typeface="Times New Roman"/>
                      </a:endParaRPr>
                    </a:p>
                  </a:txBody>
                  <a:tcPr marL="0" marR="0" marB="0" marT="32384">
                    <a:lnR w="19050">
                      <a:solidFill>
                        <a:srgbClr val="000000"/>
                      </a:solidFill>
                      <a:prstDash val="solid"/>
                    </a:lnR>
                    <a:lnT w="19050">
                      <a:solidFill>
                        <a:srgbClr val="000000"/>
                      </a:solidFill>
                      <a:prstDash val="solid"/>
                    </a:lnT>
                    <a:solidFill>
                      <a:srgbClr val="FFFFFF"/>
                    </a:solidFill>
                  </a:tcPr>
                </a:tc>
                <a:tc rowSpan="8">
                  <a:txBody>
                    <a:bodyPr/>
                    <a:lstStyle/>
                    <a:p>
                      <a:pPr>
                        <a:lnSpc>
                          <a:spcPct val="100000"/>
                        </a:lnSpc>
                      </a:pPr>
                      <a:endParaRPr sz="14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rowSpan="2">
                  <a:txBody>
                    <a:bodyPr/>
                    <a:lstStyle/>
                    <a:p>
                      <a:pPr>
                        <a:lnSpc>
                          <a:spcPct val="100000"/>
                        </a:lnSpc>
                      </a:pPr>
                      <a:endParaRPr sz="1400">
                        <a:latin typeface="Times New Roman"/>
                        <a:cs typeface="Times New Roman"/>
                      </a:endParaRPr>
                    </a:p>
                  </a:txBody>
                  <a:tcPr marL="0" marR="0" marB="0" marT="0">
                    <a:lnL w="19050">
                      <a:solidFill>
                        <a:srgbClr val="000000"/>
                      </a:solidFill>
                      <a:prstDash val="solid"/>
                    </a:lnL>
                    <a:lnT w="19050">
                      <a:solidFill>
                        <a:srgbClr val="000000"/>
                      </a:solidFill>
                      <a:prstDash val="solid"/>
                    </a:lnT>
                    <a:lnB w="19050">
                      <a:solidFill>
                        <a:srgbClr val="000000"/>
                      </a:solidFill>
                      <a:prstDash val="solid"/>
                    </a:lnB>
                  </a:tcPr>
                </a:tc>
                <a:tc rowSpan="2">
                  <a:txBody>
                    <a:bodyPr/>
                    <a:lstStyle/>
                    <a:p>
                      <a:pPr marL="448309">
                        <a:lnSpc>
                          <a:spcPct val="100000"/>
                        </a:lnSpc>
                        <a:spcBef>
                          <a:spcPts val="440"/>
                        </a:spcBef>
                      </a:pPr>
                      <a:r>
                        <a:rPr dirty="0" sz="1150" spc="-20" b="1">
                          <a:solidFill>
                            <a:srgbClr val="FF00FF"/>
                          </a:solidFill>
                          <a:latin typeface="Times New Roman"/>
                          <a:cs typeface="Times New Roman"/>
                        </a:rPr>
                        <a:t>SLOT</a:t>
                      </a:r>
                      <a:endParaRPr sz="1150">
                        <a:latin typeface="Times New Roman"/>
                        <a:cs typeface="Times New Roman"/>
                      </a:endParaRPr>
                    </a:p>
                  </a:txBody>
                  <a:tcPr marL="0" marR="0" marB="0" marT="55880">
                    <a:lnT w="19050">
                      <a:solidFill>
                        <a:srgbClr val="000000"/>
                      </a:solidFill>
                      <a:prstDash val="solid"/>
                    </a:lnT>
                    <a:lnB w="19050">
                      <a:solidFill>
                        <a:srgbClr val="000000"/>
                      </a:solidFill>
                      <a:prstDash val="solid"/>
                    </a:lnB>
                  </a:tcPr>
                </a:tc>
                <a:tc rowSpan="2">
                  <a:txBody>
                    <a:bodyPr/>
                    <a:lstStyle/>
                    <a:p>
                      <a:pPr marL="58419">
                        <a:lnSpc>
                          <a:spcPct val="100000"/>
                        </a:lnSpc>
                        <a:spcBef>
                          <a:spcPts val="390"/>
                        </a:spcBef>
                      </a:pPr>
                      <a:r>
                        <a:rPr dirty="0" sz="1150" spc="-25" b="1">
                          <a:solidFill>
                            <a:srgbClr val="FF00FF"/>
                          </a:solidFill>
                          <a:latin typeface="Times New Roman"/>
                          <a:cs typeface="Times New Roman"/>
                        </a:rPr>
                        <a:t>11</a:t>
                      </a:r>
                      <a:endParaRPr sz="1150">
                        <a:latin typeface="Times New Roman"/>
                        <a:cs typeface="Times New Roman"/>
                      </a:endParaRPr>
                    </a:p>
                  </a:txBody>
                  <a:tcPr marL="0" marR="0" marB="0" marT="49530">
                    <a:lnR w="19050">
                      <a:solidFill>
                        <a:srgbClr val="000000"/>
                      </a:solidFill>
                      <a:prstDash val="solid"/>
                    </a:lnR>
                    <a:lnT w="19050">
                      <a:solidFill>
                        <a:srgbClr val="000000"/>
                      </a:solidFill>
                      <a:prstDash val="solid"/>
                    </a:lnT>
                    <a:lnB w="19050">
                      <a:solidFill>
                        <a:srgbClr val="000000"/>
                      </a:solidFill>
                      <a:prstDash val="solid"/>
                    </a:lnB>
                  </a:tcPr>
                </a:tc>
                <a:tc rowSpan="8">
                  <a:txBody>
                    <a:bodyPr/>
                    <a:lstStyle/>
                    <a:p>
                      <a:pPr>
                        <a:lnSpc>
                          <a:spcPct val="100000"/>
                        </a:lnSpc>
                      </a:pPr>
                      <a:endParaRPr sz="14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rowSpan="8">
                  <a:txBody>
                    <a:bodyPr/>
                    <a:lstStyle/>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1160"/>
                        </a:spcBef>
                      </a:pPr>
                      <a:endParaRPr sz="1400">
                        <a:latin typeface="Times New Roman"/>
                        <a:cs typeface="Times New Roman"/>
                      </a:endParaRPr>
                    </a:p>
                    <a:p>
                      <a:pPr marL="86360">
                        <a:lnSpc>
                          <a:spcPct val="100000"/>
                        </a:lnSpc>
                      </a:pPr>
                      <a:r>
                        <a:rPr dirty="0" sz="1400" spc="-20" b="1">
                          <a:latin typeface="Times New Roman"/>
                          <a:cs typeface="Times New Roman"/>
                        </a:rPr>
                        <a:t>HFCD</a:t>
                      </a:r>
                      <a:endParaRPr sz="1400">
                        <a:latin typeface="Times New Roman"/>
                        <a:cs typeface="Times New Roman"/>
                      </a:endParaRPr>
                    </a:p>
                    <a:p>
                      <a:pPr marL="55244">
                        <a:lnSpc>
                          <a:spcPct val="100000"/>
                        </a:lnSpc>
                        <a:spcBef>
                          <a:spcPts val="1485"/>
                        </a:spcBef>
                      </a:pPr>
                      <a:r>
                        <a:rPr dirty="0" sz="1150" b="1">
                          <a:solidFill>
                            <a:srgbClr val="FF00FF"/>
                          </a:solidFill>
                          <a:latin typeface="Times New Roman"/>
                          <a:cs typeface="Times New Roman"/>
                        </a:rPr>
                        <a:t>SLOT</a:t>
                      </a:r>
                      <a:r>
                        <a:rPr dirty="0" sz="1150" spc="60" b="1">
                          <a:solidFill>
                            <a:srgbClr val="FF00FF"/>
                          </a:solidFill>
                          <a:latin typeface="Times New Roman"/>
                          <a:cs typeface="Times New Roman"/>
                        </a:rPr>
                        <a:t> </a:t>
                      </a:r>
                      <a:r>
                        <a:rPr dirty="0" baseline="2415" sz="1725" spc="-37" b="1">
                          <a:solidFill>
                            <a:srgbClr val="FF00FF"/>
                          </a:solidFill>
                          <a:latin typeface="Times New Roman"/>
                          <a:cs typeface="Times New Roman"/>
                        </a:rPr>
                        <a:t>12</a:t>
                      </a:r>
                      <a:endParaRPr baseline="2415" sz="1725">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r>
              <a:tr h="119380">
                <a:tc rowSpan="2">
                  <a:txBody>
                    <a:bodyPr/>
                    <a:lstStyle/>
                    <a:p>
                      <a:pPr marL="428625">
                        <a:lnSpc>
                          <a:spcPts val="1405"/>
                        </a:lnSpc>
                      </a:pPr>
                      <a:r>
                        <a:rPr dirty="0" sz="1400" spc="-10" b="1">
                          <a:latin typeface="Times New Roman"/>
                          <a:cs typeface="Times New Roman"/>
                        </a:rPr>
                        <a:t>HDPSD</a:t>
                      </a:r>
                      <a:endParaRPr sz="1400">
                        <a:latin typeface="Times New Roman"/>
                        <a:cs typeface="Times New Roman"/>
                      </a:endParaRPr>
                    </a:p>
                  </a:txBody>
                  <a:tcPr marL="0" marR="0" marB="0" marT="0">
                    <a:lnL w="19050">
                      <a:solidFill>
                        <a:srgbClr val="000000"/>
                      </a:solidFill>
                      <a:prstDash val="solid"/>
                    </a:lnL>
                    <a:solidFill>
                      <a:srgbClr val="FFFFFF"/>
                    </a:solidFill>
                  </a:tcPr>
                </a:tc>
                <a:tc rowSpan="2">
                  <a:txBody>
                    <a:bodyPr/>
                    <a:lstStyle/>
                    <a:p>
                      <a:pPr>
                        <a:lnSpc>
                          <a:spcPct val="100000"/>
                        </a:lnSpc>
                      </a:pPr>
                      <a:endParaRPr sz="1100">
                        <a:latin typeface="Times New Roman"/>
                        <a:cs typeface="Times New Roman"/>
                      </a:endParaRPr>
                    </a:p>
                  </a:txBody>
                  <a:tcPr marL="0" marR="0" marB="0" marT="0">
                    <a:lnR w="19050">
                      <a:solidFill>
                        <a:srgbClr val="000000"/>
                      </a:solidFill>
                      <a:prstDash val="solid"/>
                    </a:lnR>
                    <a:solidFill>
                      <a:srgbClr val="FFFFFF"/>
                    </a:solidFill>
                  </a:tcPr>
                </a:tc>
                <a:tc vMerge="1">
                  <a:txBody>
                    <a:bodyPr/>
                    <a:lstStyle/>
                    <a:p>
                      <a:p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vMerge="1">
                  <a:txBody>
                    <a:bodyPr/>
                    <a:lstStyle/>
                    <a:p>
                      <a:pPr/>
                    </a:p>
                  </a:txBody>
                  <a:tcPr marL="0" marR="0" marB="0" marT="0">
                    <a:lnL w="19050">
                      <a:solidFill>
                        <a:srgbClr val="000000"/>
                      </a:solidFill>
                      <a:prstDash val="solid"/>
                    </a:lnL>
                    <a:lnT w="19050">
                      <a:solidFill>
                        <a:srgbClr val="000000"/>
                      </a:solidFill>
                      <a:prstDash val="solid"/>
                    </a:lnT>
                    <a:lnB w="19050">
                      <a:solidFill>
                        <a:srgbClr val="000000"/>
                      </a:solidFill>
                      <a:prstDash val="solid"/>
                    </a:lnB>
                  </a:tcPr>
                </a:tc>
                <a:tc vMerge="1">
                  <a:txBody>
                    <a:bodyPr/>
                    <a:lstStyle/>
                    <a:p>
                      <a:pPr/>
                    </a:p>
                  </a:txBody>
                  <a:tcPr marL="0" marR="0" marB="0" marT="55880">
                    <a:lnT w="19050">
                      <a:solidFill>
                        <a:srgbClr val="000000"/>
                      </a:solidFill>
                      <a:prstDash val="solid"/>
                    </a:lnT>
                    <a:lnB w="19050">
                      <a:solidFill>
                        <a:srgbClr val="000000"/>
                      </a:solidFill>
                      <a:prstDash val="solid"/>
                    </a:lnB>
                  </a:tcPr>
                </a:tc>
                <a:tc vMerge="1">
                  <a:txBody>
                    <a:bodyPr/>
                    <a:lstStyle/>
                    <a:p>
                      <a:pPr/>
                    </a:p>
                  </a:txBody>
                  <a:tcPr marL="0" marR="0" marB="0" marT="49530">
                    <a:lnR w="19050">
                      <a:solidFill>
                        <a:srgbClr val="000000"/>
                      </a:solidFill>
                      <a:prstDash val="solid"/>
                    </a:lnR>
                    <a:lnT w="19050">
                      <a:solidFill>
                        <a:srgbClr val="000000"/>
                      </a:solidFill>
                      <a:prstDash val="solid"/>
                    </a:lnT>
                    <a:lnB w="19050">
                      <a:solidFill>
                        <a:srgbClr val="000000"/>
                      </a:solidFill>
                      <a:prstDash val="solid"/>
                    </a:lnB>
                  </a:tcPr>
                </a:tc>
                <a:tc vMerge="1">
                  <a:txBody>
                    <a:bodyPr/>
                    <a:lstStyle/>
                    <a:p>
                      <a:p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vMerge="1">
                  <a:txBody>
                    <a:bodyPr/>
                    <a:lstStyle/>
                    <a:p>
                      <a:p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r>
              <a:tr h="71120">
                <a:tc vMerge="1">
                  <a:txBody>
                    <a:bodyPr/>
                    <a:lstStyle/>
                    <a:p>
                      <a:pPr/>
                    </a:p>
                  </a:txBody>
                  <a:tcPr marL="0" marR="0" marB="0" marT="0">
                    <a:lnL w="19050">
                      <a:solidFill>
                        <a:srgbClr val="000000"/>
                      </a:solidFill>
                      <a:prstDash val="solid"/>
                    </a:lnL>
                    <a:solidFill>
                      <a:srgbClr val="FFFFFF"/>
                    </a:solidFill>
                  </a:tcPr>
                </a:tc>
                <a:tc vMerge="1">
                  <a:txBody>
                    <a:bodyPr/>
                    <a:lstStyle/>
                    <a:p>
                      <a:pPr/>
                    </a:p>
                  </a:txBody>
                  <a:tcPr marL="0" marR="0" marB="0" marT="0">
                    <a:lnR w="19050">
                      <a:solidFill>
                        <a:srgbClr val="000000"/>
                      </a:solidFill>
                      <a:prstDash val="solid"/>
                    </a:lnR>
                    <a:solidFill>
                      <a:srgbClr val="FFFFFF"/>
                    </a:solidFill>
                  </a:tcPr>
                </a:tc>
                <a:tc vMerge="1">
                  <a:txBody>
                    <a:bodyPr/>
                    <a:lstStyle/>
                    <a:p>
                      <a:p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rowSpan="2">
                  <a:txBody>
                    <a:bodyPr/>
                    <a:lstStyle/>
                    <a:p>
                      <a:pPr>
                        <a:lnSpc>
                          <a:spcPct val="100000"/>
                        </a:lnSpc>
                      </a:pPr>
                      <a:endParaRPr sz="1400">
                        <a:latin typeface="Times New Roman"/>
                        <a:cs typeface="Times New Roman"/>
                      </a:endParaRPr>
                    </a:p>
                  </a:txBody>
                  <a:tcPr marL="0" marR="0" marB="0" marT="0">
                    <a:lnL w="19050">
                      <a:solidFill>
                        <a:srgbClr val="000000"/>
                      </a:solidFill>
                      <a:prstDash val="solid"/>
                    </a:lnL>
                    <a:lnT w="19050">
                      <a:solidFill>
                        <a:srgbClr val="000000"/>
                      </a:solidFill>
                      <a:prstDash val="solid"/>
                    </a:lnT>
                    <a:lnB w="19050">
                      <a:solidFill>
                        <a:srgbClr val="000000"/>
                      </a:solidFill>
                      <a:prstDash val="solid"/>
                    </a:lnB>
                  </a:tcPr>
                </a:tc>
                <a:tc rowSpan="2">
                  <a:txBody>
                    <a:bodyPr/>
                    <a:lstStyle/>
                    <a:p>
                      <a:pPr marL="448309">
                        <a:lnSpc>
                          <a:spcPct val="100000"/>
                        </a:lnSpc>
                        <a:spcBef>
                          <a:spcPts val="420"/>
                        </a:spcBef>
                      </a:pPr>
                      <a:r>
                        <a:rPr dirty="0" sz="1150" spc="-20" b="1">
                          <a:solidFill>
                            <a:srgbClr val="FF00FF"/>
                          </a:solidFill>
                          <a:latin typeface="Times New Roman"/>
                          <a:cs typeface="Times New Roman"/>
                        </a:rPr>
                        <a:t>SLOT</a:t>
                      </a:r>
                      <a:endParaRPr sz="1150">
                        <a:latin typeface="Times New Roman"/>
                        <a:cs typeface="Times New Roman"/>
                      </a:endParaRPr>
                    </a:p>
                  </a:txBody>
                  <a:tcPr marL="0" marR="0" marB="0" marT="53340">
                    <a:lnT w="19050">
                      <a:solidFill>
                        <a:srgbClr val="000000"/>
                      </a:solidFill>
                      <a:prstDash val="solid"/>
                    </a:lnT>
                    <a:lnB w="19050">
                      <a:solidFill>
                        <a:srgbClr val="000000"/>
                      </a:solidFill>
                      <a:prstDash val="solid"/>
                    </a:lnB>
                  </a:tcPr>
                </a:tc>
                <a:tc rowSpan="2">
                  <a:txBody>
                    <a:bodyPr/>
                    <a:lstStyle/>
                    <a:p>
                      <a:pPr marL="69850">
                        <a:lnSpc>
                          <a:spcPct val="100000"/>
                        </a:lnSpc>
                        <a:spcBef>
                          <a:spcPts val="370"/>
                        </a:spcBef>
                      </a:pPr>
                      <a:r>
                        <a:rPr dirty="0" sz="1150" spc="-25" b="1">
                          <a:solidFill>
                            <a:srgbClr val="FF00FF"/>
                          </a:solidFill>
                          <a:latin typeface="Times New Roman"/>
                          <a:cs typeface="Times New Roman"/>
                        </a:rPr>
                        <a:t>10</a:t>
                      </a:r>
                      <a:endParaRPr sz="1150">
                        <a:latin typeface="Times New Roman"/>
                        <a:cs typeface="Times New Roman"/>
                      </a:endParaRPr>
                    </a:p>
                  </a:txBody>
                  <a:tcPr marL="0" marR="0" marB="0" marT="46990">
                    <a:lnR w="19050">
                      <a:solidFill>
                        <a:srgbClr val="000000"/>
                      </a:solidFill>
                      <a:prstDash val="solid"/>
                    </a:lnR>
                    <a:lnT w="19050">
                      <a:solidFill>
                        <a:srgbClr val="000000"/>
                      </a:solidFill>
                      <a:prstDash val="solid"/>
                    </a:lnT>
                    <a:lnB w="19050">
                      <a:solidFill>
                        <a:srgbClr val="000000"/>
                      </a:solidFill>
                      <a:prstDash val="solid"/>
                    </a:lnB>
                  </a:tcPr>
                </a:tc>
                <a:tc vMerge="1">
                  <a:txBody>
                    <a:bodyPr/>
                    <a:lstStyle/>
                    <a:p>
                      <a:p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vMerge="1">
                  <a:txBody>
                    <a:bodyPr/>
                    <a:lstStyle/>
                    <a:p>
                      <a:p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r>
              <a:tr h="288925">
                <a:tc>
                  <a:txBody>
                    <a:bodyPr/>
                    <a:lstStyle/>
                    <a:p>
                      <a:pPr>
                        <a:lnSpc>
                          <a:spcPct val="100000"/>
                        </a:lnSpc>
                      </a:pPr>
                      <a:endParaRPr sz="1400">
                        <a:latin typeface="Times New Roman"/>
                        <a:cs typeface="Times New Roman"/>
                      </a:endParaRPr>
                    </a:p>
                  </a:txBody>
                  <a:tcPr marL="0" marR="0" marB="0" marT="0">
                    <a:lnL w="19050">
                      <a:solidFill>
                        <a:srgbClr val="000000"/>
                      </a:solidFill>
                      <a:prstDash val="solid"/>
                    </a:lnL>
                    <a:lnB w="19050">
                      <a:solidFill>
                        <a:srgbClr val="000000"/>
                      </a:solidFill>
                      <a:prstDash val="solid"/>
                    </a:lnB>
                    <a:solidFill>
                      <a:srgbClr val="FFFFFF"/>
                    </a:solidFill>
                  </a:tcPr>
                </a:tc>
                <a:tc>
                  <a:txBody>
                    <a:bodyPr/>
                    <a:lstStyle/>
                    <a:p>
                      <a:pPr algn="r" marR="171450">
                        <a:lnSpc>
                          <a:spcPts val="1190"/>
                        </a:lnSpc>
                        <a:tabLst>
                          <a:tab pos="553720" algn="l"/>
                        </a:tabLst>
                      </a:pPr>
                      <a:r>
                        <a:rPr dirty="0" sz="1150" spc="-20" b="1">
                          <a:solidFill>
                            <a:srgbClr val="FF00FF"/>
                          </a:solidFill>
                          <a:latin typeface="Times New Roman"/>
                          <a:cs typeface="Times New Roman"/>
                        </a:rPr>
                        <a:t>SLOT</a:t>
                      </a:r>
                      <a:r>
                        <a:rPr dirty="0" sz="1150" b="1">
                          <a:solidFill>
                            <a:srgbClr val="FF00FF"/>
                          </a:solidFill>
                          <a:latin typeface="Times New Roman"/>
                          <a:cs typeface="Times New Roman"/>
                        </a:rPr>
                        <a:t>	</a:t>
                      </a:r>
                      <a:r>
                        <a:rPr dirty="0" baseline="-4830" sz="1725" spc="-75" b="1">
                          <a:solidFill>
                            <a:srgbClr val="FF00FF"/>
                          </a:solidFill>
                          <a:latin typeface="Times New Roman"/>
                          <a:cs typeface="Times New Roman"/>
                        </a:rPr>
                        <a:t>4</a:t>
                      </a:r>
                      <a:endParaRPr baseline="-4830" sz="1725">
                        <a:latin typeface="Times New Roman"/>
                        <a:cs typeface="Times New Roman"/>
                      </a:endParaRPr>
                    </a:p>
                  </a:txBody>
                  <a:tcPr marL="0" marR="0" marB="0" marT="0">
                    <a:lnR w="19050">
                      <a:solidFill>
                        <a:srgbClr val="000000"/>
                      </a:solidFill>
                      <a:prstDash val="solid"/>
                    </a:lnR>
                    <a:lnB w="19050">
                      <a:solidFill>
                        <a:srgbClr val="000000"/>
                      </a:solidFill>
                      <a:prstDash val="solid"/>
                    </a:lnB>
                    <a:solidFill>
                      <a:srgbClr val="FFFFFF"/>
                    </a:solidFill>
                  </a:tcPr>
                </a:tc>
                <a:tc vMerge="1">
                  <a:txBody>
                    <a:bodyPr/>
                    <a:lstStyle/>
                    <a:p>
                      <a:p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vMerge="1">
                  <a:txBody>
                    <a:bodyPr/>
                    <a:lstStyle/>
                    <a:p>
                      <a:pPr/>
                    </a:p>
                  </a:txBody>
                  <a:tcPr marL="0" marR="0" marB="0" marT="0">
                    <a:lnL w="19050">
                      <a:solidFill>
                        <a:srgbClr val="000000"/>
                      </a:solidFill>
                      <a:prstDash val="solid"/>
                    </a:lnL>
                    <a:lnT w="19050">
                      <a:solidFill>
                        <a:srgbClr val="000000"/>
                      </a:solidFill>
                      <a:prstDash val="solid"/>
                    </a:lnT>
                    <a:lnB w="19050">
                      <a:solidFill>
                        <a:srgbClr val="000000"/>
                      </a:solidFill>
                      <a:prstDash val="solid"/>
                    </a:lnB>
                  </a:tcPr>
                </a:tc>
                <a:tc vMerge="1">
                  <a:txBody>
                    <a:bodyPr/>
                    <a:lstStyle/>
                    <a:p>
                      <a:pPr/>
                    </a:p>
                  </a:txBody>
                  <a:tcPr marL="0" marR="0" marB="0" marT="53340">
                    <a:lnT w="19050">
                      <a:solidFill>
                        <a:srgbClr val="000000"/>
                      </a:solidFill>
                      <a:prstDash val="solid"/>
                    </a:lnT>
                    <a:lnB w="19050">
                      <a:solidFill>
                        <a:srgbClr val="000000"/>
                      </a:solidFill>
                      <a:prstDash val="solid"/>
                    </a:lnB>
                  </a:tcPr>
                </a:tc>
                <a:tc vMerge="1">
                  <a:txBody>
                    <a:bodyPr/>
                    <a:lstStyle/>
                    <a:p>
                      <a:pPr/>
                    </a:p>
                  </a:txBody>
                  <a:tcPr marL="0" marR="0" marB="0" marT="46990">
                    <a:lnR w="19050">
                      <a:solidFill>
                        <a:srgbClr val="000000"/>
                      </a:solidFill>
                      <a:prstDash val="solid"/>
                    </a:lnR>
                    <a:lnT w="19050">
                      <a:solidFill>
                        <a:srgbClr val="000000"/>
                      </a:solidFill>
                      <a:prstDash val="solid"/>
                    </a:lnT>
                    <a:lnB w="19050">
                      <a:solidFill>
                        <a:srgbClr val="000000"/>
                      </a:solidFill>
                      <a:prstDash val="solid"/>
                    </a:lnB>
                  </a:tcPr>
                </a:tc>
                <a:tc vMerge="1">
                  <a:txBody>
                    <a:bodyPr/>
                    <a:lstStyle/>
                    <a:p>
                      <a:p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vMerge="1">
                  <a:txBody>
                    <a:bodyPr/>
                    <a:lstStyle/>
                    <a:p>
                      <a:p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r>
              <a:tr h="360045">
                <a:tc gridSpan="2">
                  <a:txBody>
                    <a:bodyPr/>
                    <a:lstStyle/>
                    <a:p>
                      <a:pPr algn="r" marR="203200">
                        <a:lnSpc>
                          <a:spcPct val="100000"/>
                        </a:lnSpc>
                        <a:spcBef>
                          <a:spcPts val="680"/>
                        </a:spcBef>
                        <a:tabLst>
                          <a:tab pos="554355" algn="l"/>
                        </a:tabLst>
                      </a:pPr>
                      <a:r>
                        <a:rPr dirty="0" baseline="4830" sz="1725" spc="-30" b="1">
                          <a:solidFill>
                            <a:srgbClr val="FF00FF"/>
                          </a:solidFill>
                          <a:latin typeface="Times New Roman"/>
                          <a:cs typeface="Times New Roman"/>
                        </a:rPr>
                        <a:t>SLOT</a:t>
                      </a:r>
                      <a:r>
                        <a:rPr dirty="0" baseline="4830" sz="1725" b="1">
                          <a:solidFill>
                            <a:srgbClr val="FF00FF"/>
                          </a:solidFill>
                          <a:latin typeface="Times New Roman"/>
                          <a:cs typeface="Times New Roman"/>
                        </a:rPr>
                        <a:t>	</a:t>
                      </a:r>
                      <a:r>
                        <a:rPr dirty="0" sz="1150" spc="-50" b="1">
                          <a:solidFill>
                            <a:srgbClr val="FF00FF"/>
                          </a:solidFill>
                          <a:latin typeface="Times New Roman"/>
                          <a:cs typeface="Times New Roman"/>
                        </a:rPr>
                        <a:t>3</a:t>
                      </a:r>
                      <a:endParaRPr sz="1150">
                        <a:latin typeface="Times New Roman"/>
                        <a:cs typeface="Times New Roman"/>
                      </a:endParaRPr>
                    </a:p>
                  </a:txBody>
                  <a:tcPr marL="0" marR="0" marB="0" marT="8636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hMerge="1">
                  <a:txBody>
                    <a:bodyPr/>
                    <a:lstStyle/>
                    <a:p>
                      <a:pPr/>
                    </a:p>
                  </a:txBody>
                  <a:tcPr marL="0" marR="0" marB="0" marT="0"/>
                </a:tc>
                <a:tc vMerge="1">
                  <a:txBody>
                    <a:bodyPr/>
                    <a:lstStyle/>
                    <a:p>
                      <a:p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r" marR="445134">
                        <a:lnSpc>
                          <a:spcPct val="100000"/>
                        </a:lnSpc>
                        <a:spcBef>
                          <a:spcPts val="630"/>
                        </a:spcBef>
                      </a:pPr>
                      <a:r>
                        <a:rPr dirty="0" sz="1400" spc="-10" b="1">
                          <a:latin typeface="Times New Roman"/>
                          <a:cs typeface="Times New Roman"/>
                        </a:rPr>
                        <a:t>HBPOD</a:t>
                      </a:r>
                      <a:endParaRPr sz="1400">
                        <a:latin typeface="Times New Roman"/>
                        <a:cs typeface="Times New Roman"/>
                      </a:endParaRPr>
                    </a:p>
                  </a:txBody>
                  <a:tcPr marL="0" marR="0" marB="0" marT="80010">
                    <a:lnL w="19050">
                      <a:solidFill>
                        <a:srgbClr val="000000"/>
                      </a:solidFill>
                      <a:prstDash val="solid"/>
                    </a:lnL>
                    <a:lnT w="19050">
                      <a:solidFill>
                        <a:srgbClr val="000000"/>
                      </a:solidFill>
                      <a:prstDash val="solid"/>
                    </a:lnT>
                    <a:lnB w="19050">
                      <a:solidFill>
                        <a:srgbClr val="000000"/>
                      </a:solidFill>
                      <a:prstDash val="solid"/>
                    </a:lnB>
                  </a:tcPr>
                </a:tc>
                <a:tc>
                  <a:txBody>
                    <a:bodyPr/>
                    <a:lstStyle/>
                    <a:p>
                      <a:pPr algn="r" marR="55880">
                        <a:lnSpc>
                          <a:spcPct val="100000"/>
                        </a:lnSpc>
                        <a:spcBef>
                          <a:spcPts val="520"/>
                        </a:spcBef>
                      </a:pPr>
                      <a:r>
                        <a:rPr dirty="0" sz="1150" spc="-20" b="1">
                          <a:solidFill>
                            <a:srgbClr val="FF00FF"/>
                          </a:solidFill>
                          <a:latin typeface="Times New Roman"/>
                          <a:cs typeface="Times New Roman"/>
                        </a:rPr>
                        <a:t>SLOT</a:t>
                      </a:r>
                      <a:endParaRPr sz="1150">
                        <a:latin typeface="Times New Roman"/>
                        <a:cs typeface="Times New Roman"/>
                      </a:endParaRPr>
                    </a:p>
                  </a:txBody>
                  <a:tcPr marL="0" marR="0" marB="0" marT="66040">
                    <a:lnT w="19050">
                      <a:solidFill>
                        <a:srgbClr val="000000"/>
                      </a:solidFill>
                      <a:prstDash val="solid"/>
                    </a:lnT>
                    <a:lnB w="19050">
                      <a:solidFill>
                        <a:srgbClr val="000000"/>
                      </a:solidFill>
                      <a:prstDash val="solid"/>
                    </a:lnB>
                  </a:tcPr>
                </a:tc>
                <a:tc>
                  <a:txBody>
                    <a:bodyPr/>
                    <a:lstStyle/>
                    <a:p>
                      <a:pPr marL="96520">
                        <a:lnSpc>
                          <a:spcPct val="100000"/>
                        </a:lnSpc>
                        <a:spcBef>
                          <a:spcPts val="470"/>
                        </a:spcBef>
                      </a:pPr>
                      <a:r>
                        <a:rPr dirty="0" sz="1150" spc="-50" b="1">
                          <a:solidFill>
                            <a:srgbClr val="FF00FF"/>
                          </a:solidFill>
                          <a:latin typeface="Times New Roman"/>
                          <a:cs typeface="Times New Roman"/>
                        </a:rPr>
                        <a:t>9</a:t>
                      </a:r>
                      <a:endParaRPr sz="1150">
                        <a:latin typeface="Times New Roman"/>
                        <a:cs typeface="Times New Roman"/>
                      </a:endParaRPr>
                    </a:p>
                  </a:txBody>
                  <a:tcPr marL="0" marR="0" marB="0" marT="59690">
                    <a:lnR w="19050">
                      <a:solidFill>
                        <a:srgbClr val="000000"/>
                      </a:solidFill>
                      <a:prstDash val="solid"/>
                    </a:lnR>
                    <a:lnT w="19050">
                      <a:solidFill>
                        <a:srgbClr val="000000"/>
                      </a:solidFill>
                      <a:prstDash val="solid"/>
                    </a:lnT>
                    <a:lnB w="19050">
                      <a:solidFill>
                        <a:srgbClr val="000000"/>
                      </a:solidFill>
                      <a:prstDash val="solid"/>
                    </a:lnB>
                  </a:tcPr>
                </a:tc>
                <a:tc vMerge="1">
                  <a:txBody>
                    <a:bodyPr/>
                    <a:lstStyle/>
                    <a:p>
                      <a:p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vMerge="1">
                  <a:txBody>
                    <a:bodyPr/>
                    <a:lstStyle/>
                    <a:p>
                      <a:p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r>
              <a:tr h="347980">
                <a:tc gridSpan="2">
                  <a:txBody>
                    <a:bodyPr/>
                    <a:lstStyle/>
                    <a:p>
                      <a:pPr algn="r" marR="205104">
                        <a:lnSpc>
                          <a:spcPct val="100000"/>
                        </a:lnSpc>
                        <a:spcBef>
                          <a:spcPts val="420"/>
                        </a:spcBef>
                        <a:tabLst>
                          <a:tab pos="538480" algn="l"/>
                        </a:tabLst>
                      </a:pPr>
                      <a:r>
                        <a:rPr dirty="0" sz="1150" spc="-20" b="1">
                          <a:solidFill>
                            <a:srgbClr val="FF00FF"/>
                          </a:solidFill>
                          <a:latin typeface="Times New Roman"/>
                          <a:cs typeface="Times New Roman"/>
                        </a:rPr>
                        <a:t>SLOT</a:t>
                      </a:r>
                      <a:r>
                        <a:rPr dirty="0" sz="1150" b="1">
                          <a:solidFill>
                            <a:srgbClr val="FF00FF"/>
                          </a:solidFill>
                          <a:latin typeface="Times New Roman"/>
                          <a:cs typeface="Times New Roman"/>
                        </a:rPr>
                        <a:t>	</a:t>
                      </a:r>
                      <a:r>
                        <a:rPr dirty="0" sz="1150" spc="-50" b="1">
                          <a:solidFill>
                            <a:srgbClr val="FF00FF"/>
                          </a:solidFill>
                          <a:latin typeface="Times New Roman"/>
                          <a:cs typeface="Times New Roman"/>
                        </a:rPr>
                        <a:t>2</a:t>
                      </a:r>
                      <a:endParaRPr sz="1150">
                        <a:latin typeface="Times New Roman"/>
                        <a:cs typeface="Times New Roman"/>
                      </a:endParaRPr>
                    </a:p>
                  </a:txBody>
                  <a:tcPr marL="0" marR="0" marB="0" marT="5334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hMerge="1">
                  <a:txBody>
                    <a:bodyPr/>
                    <a:lstStyle/>
                    <a:p>
                      <a:pPr/>
                    </a:p>
                  </a:txBody>
                  <a:tcPr marL="0" marR="0" marB="0" marT="0"/>
                </a:tc>
                <a:tc vMerge="1">
                  <a:txBody>
                    <a:bodyPr/>
                    <a:lstStyle/>
                    <a:p>
                      <a:p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r" marR="435609">
                        <a:lnSpc>
                          <a:spcPct val="100000"/>
                        </a:lnSpc>
                        <a:spcBef>
                          <a:spcPts val="430"/>
                        </a:spcBef>
                      </a:pPr>
                      <a:r>
                        <a:rPr dirty="0" sz="1400" spc="-10" b="1">
                          <a:latin typeface="Times New Roman"/>
                          <a:cs typeface="Times New Roman"/>
                        </a:rPr>
                        <a:t>HBPOD</a:t>
                      </a:r>
                      <a:endParaRPr sz="1400">
                        <a:latin typeface="Times New Roman"/>
                        <a:cs typeface="Times New Roman"/>
                      </a:endParaRPr>
                    </a:p>
                  </a:txBody>
                  <a:tcPr marL="0" marR="0" marB="0" marT="54610">
                    <a:lnL w="19050">
                      <a:solidFill>
                        <a:srgbClr val="000000"/>
                      </a:solidFill>
                      <a:prstDash val="solid"/>
                    </a:lnL>
                    <a:lnT w="19050">
                      <a:solidFill>
                        <a:srgbClr val="000000"/>
                      </a:solidFill>
                      <a:prstDash val="solid"/>
                    </a:lnT>
                    <a:lnB w="19050">
                      <a:solidFill>
                        <a:srgbClr val="000000"/>
                      </a:solidFill>
                      <a:prstDash val="solid"/>
                    </a:lnB>
                  </a:tcPr>
                </a:tc>
                <a:tc>
                  <a:txBody>
                    <a:bodyPr/>
                    <a:lstStyle/>
                    <a:p>
                      <a:pPr algn="r" marR="55880">
                        <a:lnSpc>
                          <a:spcPct val="100000"/>
                        </a:lnSpc>
                        <a:spcBef>
                          <a:spcPts val="509"/>
                        </a:spcBef>
                      </a:pPr>
                      <a:r>
                        <a:rPr dirty="0" sz="1150" spc="-20" b="1">
                          <a:solidFill>
                            <a:srgbClr val="FF00FF"/>
                          </a:solidFill>
                          <a:latin typeface="Times New Roman"/>
                          <a:cs typeface="Times New Roman"/>
                        </a:rPr>
                        <a:t>SLOT</a:t>
                      </a:r>
                      <a:endParaRPr sz="1150">
                        <a:latin typeface="Times New Roman"/>
                        <a:cs typeface="Times New Roman"/>
                      </a:endParaRPr>
                    </a:p>
                  </a:txBody>
                  <a:tcPr marL="0" marR="0" marB="0" marT="64769">
                    <a:lnT w="19050">
                      <a:solidFill>
                        <a:srgbClr val="000000"/>
                      </a:solidFill>
                      <a:prstDash val="solid"/>
                    </a:lnT>
                    <a:lnB w="19050">
                      <a:solidFill>
                        <a:srgbClr val="000000"/>
                      </a:solidFill>
                      <a:prstDash val="solid"/>
                    </a:lnB>
                  </a:tcPr>
                </a:tc>
                <a:tc>
                  <a:txBody>
                    <a:bodyPr/>
                    <a:lstStyle/>
                    <a:p>
                      <a:pPr marL="96520">
                        <a:lnSpc>
                          <a:spcPct val="100000"/>
                        </a:lnSpc>
                        <a:spcBef>
                          <a:spcPts val="500"/>
                        </a:spcBef>
                      </a:pPr>
                      <a:r>
                        <a:rPr dirty="0" sz="1150" spc="-50" b="1">
                          <a:solidFill>
                            <a:srgbClr val="FF00FF"/>
                          </a:solidFill>
                          <a:latin typeface="Times New Roman"/>
                          <a:cs typeface="Times New Roman"/>
                        </a:rPr>
                        <a:t>8</a:t>
                      </a:r>
                      <a:endParaRPr sz="1150">
                        <a:latin typeface="Times New Roman"/>
                        <a:cs typeface="Times New Roman"/>
                      </a:endParaRPr>
                    </a:p>
                  </a:txBody>
                  <a:tcPr marL="0" marR="0" marB="0" marT="63500">
                    <a:lnR w="19050">
                      <a:solidFill>
                        <a:srgbClr val="000000"/>
                      </a:solidFill>
                      <a:prstDash val="solid"/>
                    </a:lnR>
                    <a:lnT w="19050">
                      <a:solidFill>
                        <a:srgbClr val="000000"/>
                      </a:solidFill>
                      <a:prstDash val="solid"/>
                    </a:lnT>
                    <a:lnB w="19050">
                      <a:solidFill>
                        <a:srgbClr val="000000"/>
                      </a:solidFill>
                      <a:prstDash val="solid"/>
                    </a:lnB>
                  </a:tcPr>
                </a:tc>
                <a:tc vMerge="1">
                  <a:txBody>
                    <a:bodyPr/>
                    <a:lstStyle/>
                    <a:p>
                      <a:p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vMerge="1">
                  <a:txBody>
                    <a:bodyPr/>
                    <a:lstStyle/>
                    <a:p>
                      <a:p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r>
              <a:tr h="360045">
                <a:tc gridSpan="2">
                  <a:txBody>
                    <a:bodyPr/>
                    <a:lstStyle/>
                    <a:p>
                      <a:pPr algn="r" marR="206375">
                        <a:lnSpc>
                          <a:spcPct val="100000"/>
                        </a:lnSpc>
                        <a:spcBef>
                          <a:spcPts val="540"/>
                        </a:spcBef>
                      </a:pPr>
                      <a:r>
                        <a:rPr dirty="0" sz="1150" b="1">
                          <a:solidFill>
                            <a:srgbClr val="FF00FF"/>
                          </a:solidFill>
                          <a:latin typeface="Times New Roman"/>
                          <a:cs typeface="Times New Roman"/>
                        </a:rPr>
                        <a:t>SLOT</a:t>
                      </a:r>
                      <a:r>
                        <a:rPr dirty="0" sz="1150" spc="204" b="1">
                          <a:solidFill>
                            <a:srgbClr val="FF00FF"/>
                          </a:solidFill>
                          <a:latin typeface="Times New Roman"/>
                          <a:cs typeface="Times New Roman"/>
                        </a:rPr>
                        <a:t>  </a:t>
                      </a:r>
                      <a:r>
                        <a:rPr dirty="0" sz="1150" spc="-50" b="1">
                          <a:solidFill>
                            <a:srgbClr val="FF00FF"/>
                          </a:solidFill>
                          <a:latin typeface="Times New Roman"/>
                          <a:cs typeface="Times New Roman"/>
                        </a:rPr>
                        <a:t>1</a:t>
                      </a:r>
                      <a:endParaRPr sz="1150">
                        <a:latin typeface="Times New Roman"/>
                        <a:cs typeface="Times New Roman"/>
                      </a:endParaRPr>
                    </a:p>
                  </a:txBody>
                  <a:tcPr marL="0" marR="0" marB="0" marT="6858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hMerge="1">
                  <a:txBody>
                    <a:bodyPr/>
                    <a:lstStyle/>
                    <a:p>
                      <a:pPr/>
                    </a:p>
                  </a:txBody>
                  <a:tcPr marL="0" marR="0" marB="0" marT="0"/>
                </a:tc>
                <a:tc vMerge="1">
                  <a:txBody>
                    <a:bodyPr/>
                    <a:lstStyle/>
                    <a:p>
                      <a:p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r" marR="435609">
                        <a:lnSpc>
                          <a:spcPct val="100000"/>
                        </a:lnSpc>
                        <a:spcBef>
                          <a:spcPts val="414"/>
                        </a:spcBef>
                      </a:pPr>
                      <a:r>
                        <a:rPr dirty="0" sz="1400" spc="-10" b="1">
                          <a:latin typeface="Times New Roman"/>
                          <a:cs typeface="Times New Roman"/>
                        </a:rPr>
                        <a:t>HBPOD</a:t>
                      </a:r>
                      <a:endParaRPr sz="1400">
                        <a:latin typeface="Times New Roman"/>
                        <a:cs typeface="Times New Roman"/>
                      </a:endParaRPr>
                    </a:p>
                  </a:txBody>
                  <a:tcPr marL="0" marR="0" marB="0" marT="52704">
                    <a:lnL w="19050">
                      <a:solidFill>
                        <a:srgbClr val="000000"/>
                      </a:solidFill>
                      <a:prstDash val="solid"/>
                    </a:lnL>
                    <a:lnT w="19050">
                      <a:solidFill>
                        <a:srgbClr val="000000"/>
                      </a:solidFill>
                      <a:prstDash val="solid"/>
                    </a:lnT>
                    <a:lnB w="19050">
                      <a:solidFill>
                        <a:srgbClr val="000000"/>
                      </a:solidFill>
                      <a:prstDash val="solid"/>
                    </a:lnB>
                  </a:tcPr>
                </a:tc>
                <a:tc>
                  <a:txBody>
                    <a:bodyPr/>
                    <a:lstStyle/>
                    <a:p>
                      <a:pPr algn="r" marR="55880">
                        <a:lnSpc>
                          <a:spcPct val="100000"/>
                        </a:lnSpc>
                        <a:spcBef>
                          <a:spcPts val="585"/>
                        </a:spcBef>
                      </a:pPr>
                      <a:r>
                        <a:rPr dirty="0" sz="1150" spc="-20" b="1">
                          <a:solidFill>
                            <a:srgbClr val="FF00FF"/>
                          </a:solidFill>
                          <a:latin typeface="Times New Roman"/>
                          <a:cs typeface="Times New Roman"/>
                        </a:rPr>
                        <a:t>SLOT</a:t>
                      </a:r>
                      <a:endParaRPr sz="1150">
                        <a:latin typeface="Times New Roman"/>
                        <a:cs typeface="Times New Roman"/>
                      </a:endParaRPr>
                    </a:p>
                  </a:txBody>
                  <a:tcPr marL="0" marR="0" marB="0" marT="74295">
                    <a:lnT w="19050">
                      <a:solidFill>
                        <a:srgbClr val="000000"/>
                      </a:solidFill>
                      <a:prstDash val="solid"/>
                    </a:lnT>
                    <a:lnB w="19050">
                      <a:solidFill>
                        <a:srgbClr val="000000"/>
                      </a:solidFill>
                      <a:prstDash val="solid"/>
                    </a:lnB>
                  </a:tcPr>
                </a:tc>
                <a:tc>
                  <a:txBody>
                    <a:bodyPr/>
                    <a:lstStyle/>
                    <a:p>
                      <a:pPr marL="96520">
                        <a:lnSpc>
                          <a:spcPct val="100000"/>
                        </a:lnSpc>
                        <a:spcBef>
                          <a:spcPts val="610"/>
                        </a:spcBef>
                      </a:pPr>
                      <a:r>
                        <a:rPr dirty="0" sz="1150" spc="-50" b="1">
                          <a:solidFill>
                            <a:srgbClr val="FF00FF"/>
                          </a:solidFill>
                          <a:latin typeface="Times New Roman"/>
                          <a:cs typeface="Times New Roman"/>
                        </a:rPr>
                        <a:t>7</a:t>
                      </a:r>
                      <a:endParaRPr sz="1150">
                        <a:latin typeface="Times New Roman"/>
                        <a:cs typeface="Times New Roman"/>
                      </a:endParaRPr>
                    </a:p>
                  </a:txBody>
                  <a:tcPr marL="0" marR="0" marB="0" marT="77470">
                    <a:lnR w="19050">
                      <a:solidFill>
                        <a:srgbClr val="000000"/>
                      </a:solidFill>
                      <a:prstDash val="solid"/>
                    </a:lnR>
                    <a:lnT w="19050">
                      <a:solidFill>
                        <a:srgbClr val="000000"/>
                      </a:solidFill>
                      <a:prstDash val="solid"/>
                    </a:lnT>
                    <a:lnB w="19050">
                      <a:solidFill>
                        <a:srgbClr val="000000"/>
                      </a:solidFill>
                      <a:prstDash val="solid"/>
                    </a:lnB>
                  </a:tcPr>
                </a:tc>
                <a:tc vMerge="1">
                  <a:txBody>
                    <a:bodyPr/>
                    <a:lstStyle/>
                    <a:p>
                      <a:p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vMerge="1">
                  <a:txBody>
                    <a:bodyPr/>
                    <a:lstStyle/>
                    <a:p>
                      <a:p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r>
              <a:tr h="347980">
                <a:tc>
                  <a:txBody>
                    <a:bodyPr/>
                    <a:lstStyle/>
                    <a:p>
                      <a:pPr marL="423545">
                        <a:lnSpc>
                          <a:spcPct val="100000"/>
                        </a:lnSpc>
                        <a:spcBef>
                          <a:spcPts val="565"/>
                        </a:spcBef>
                      </a:pPr>
                      <a:r>
                        <a:rPr dirty="0" sz="1400" spc="-10" b="1">
                          <a:latin typeface="Times New Roman"/>
                          <a:cs typeface="Times New Roman"/>
                        </a:rPr>
                        <a:t>HSCTD</a:t>
                      </a:r>
                      <a:endParaRPr sz="1400">
                        <a:latin typeface="Times New Roman"/>
                        <a:cs typeface="Times New Roman"/>
                      </a:endParaRPr>
                    </a:p>
                  </a:txBody>
                  <a:tcPr marL="0" marR="0" marB="0" marT="71755">
                    <a:lnL w="19050">
                      <a:solidFill>
                        <a:srgbClr val="000000"/>
                      </a:solidFill>
                      <a:prstDash val="solid"/>
                    </a:lnL>
                    <a:lnT w="19050">
                      <a:solidFill>
                        <a:srgbClr val="000000"/>
                      </a:solidFill>
                      <a:prstDash val="solid"/>
                    </a:lnT>
                    <a:lnB w="19050">
                      <a:solidFill>
                        <a:srgbClr val="000000"/>
                      </a:solidFill>
                      <a:prstDash val="solid"/>
                    </a:lnB>
                  </a:tcPr>
                </a:tc>
                <a:tc>
                  <a:txBody>
                    <a:bodyPr/>
                    <a:lstStyle/>
                    <a:p>
                      <a:pPr algn="r" marR="180340">
                        <a:lnSpc>
                          <a:spcPct val="100000"/>
                        </a:lnSpc>
                        <a:spcBef>
                          <a:spcPts val="560"/>
                        </a:spcBef>
                        <a:tabLst>
                          <a:tab pos="568325" algn="l"/>
                        </a:tabLst>
                      </a:pPr>
                      <a:r>
                        <a:rPr dirty="0" sz="1150" spc="-20" b="1">
                          <a:solidFill>
                            <a:srgbClr val="FF00FF"/>
                          </a:solidFill>
                          <a:latin typeface="Times New Roman"/>
                          <a:cs typeface="Times New Roman"/>
                        </a:rPr>
                        <a:t>SLOT</a:t>
                      </a:r>
                      <a:r>
                        <a:rPr dirty="0" sz="1150" b="1">
                          <a:solidFill>
                            <a:srgbClr val="FF00FF"/>
                          </a:solidFill>
                          <a:latin typeface="Times New Roman"/>
                          <a:cs typeface="Times New Roman"/>
                        </a:rPr>
                        <a:t>	</a:t>
                      </a:r>
                      <a:r>
                        <a:rPr dirty="0" sz="1150" spc="-50" b="1">
                          <a:solidFill>
                            <a:srgbClr val="FF00FF"/>
                          </a:solidFill>
                          <a:latin typeface="Times New Roman"/>
                          <a:cs typeface="Times New Roman"/>
                        </a:rPr>
                        <a:t>0</a:t>
                      </a:r>
                      <a:endParaRPr sz="1150">
                        <a:latin typeface="Times New Roman"/>
                        <a:cs typeface="Times New Roman"/>
                      </a:endParaRPr>
                    </a:p>
                  </a:txBody>
                  <a:tcPr marL="0" marR="0" marB="0" marT="71120">
                    <a:lnR w="19050">
                      <a:solidFill>
                        <a:srgbClr val="000000"/>
                      </a:solidFill>
                      <a:prstDash val="solid"/>
                    </a:lnR>
                    <a:lnT w="19050">
                      <a:solidFill>
                        <a:srgbClr val="000000"/>
                      </a:solidFill>
                      <a:prstDash val="solid"/>
                    </a:lnT>
                    <a:lnB w="19050">
                      <a:solidFill>
                        <a:srgbClr val="000000"/>
                      </a:solidFill>
                      <a:prstDash val="solid"/>
                    </a:lnB>
                  </a:tcPr>
                </a:tc>
                <a:tc vMerge="1">
                  <a:txBody>
                    <a:bodyPr/>
                    <a:lstStyle/>
                    <a:p>
                      <a:p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1400">
                        <a:latin typeface="Times New Roman"/>
                        <a:cs typeface="Times New Roman"/>
                      </a:endParaRPr>
                    </a:p>
                  </a:txBody>
                  <a:tcPr marL="0" marR="0" marB="0" marT="0">
                    <a:lnL w="19050">
                      <a:solidFill>
                        <a:srgbClr val="000000"/>
                      </a:solidFill>
                      <a:prstDash val="solid"/>
                    </a:lnL>
                    <a:lnT w="19050">
                      <a:solidFill>
                        <a:srgbClr val="000000"/>
                      </a:solidFill>
                      <a:prstDash val="solid"/>
                    </a:lnT>
                    <a:lnB w="19050">
                      <a:solidFill>
                        <a:srgbClr val="000000"/>
                      </a:solidFill>
                      <a:prstDash val="solid"/>
                    </a:lnB>
                  </a:tcPr>
                </a:tc>
                <a:tc>
                  <a:txBody>
                    <a:bodyPr/>
                    <a:lstStyle/>
                    <a:p>
                      <a:pPr algn="r" marR="55880">
                        <a:lnSpc>
                          <a:spcPct val="100000"/>
                        </a:lnSpc>
                        <a:spcBef>
                          <a:spcPts val="490"/>
                        </a:spcBef>
                      </a:pPr>
                      <a:r>
                        <a:rPr dirty="0" sz="1150" spc="-20" b="1">
                          <a:solidFill>
                            <a:srgbClr val="FF00FF"/>
                          </a:solidFill>
                          <a:latin typeface="Times New Roman"/>
                          <a:cs typeface="Times New Roman"/>
                        </a:rPr>
                        <a:t>SLOT</a:t>
                      </a:r>
                      <a:endParaRPr sz="1150">
                        <a:latin typeface="Times New Roman"/>
                        <a:cs typeface="Times New Roman"/>
                      </a:endParaRPr>
                    </a:p>
                  </a:txBody>
                  <a:tcPr marL="0" marR="0" marB="0" marT="62230">
                    <a:lnT w="19050">
                      <a:solidFill>
                        <a:srgbClr val="000000"/>
                      </a:solidFill>
                      <a:prstDash val="solid"/>
                    </a:lnT>
                    <a:lnB w="19050">
                      <a:solidFill>
                        <a:srgbClr val="000000"/>
                      </a:solidFill>
                      <a:prstDash val="solid"/>
                    </a:lnB>
                  </a:tcPr>
                </a:tc>
                <a:tc>
                  <a:txBody>
                    <a:bodyPr/>
                    <a:lstStyle/>
                    <a:p>
                      <a:pPr marL="96520">
                        <a:lnSpc>
                          <a:spcPct val="100000"/>
                        </a:lnSpc>
                        <a:spcBef>
                          <a:spcPts val="630"/>
                        </a:spcBef>
                      </a:pPr>
                      <a:r>
                        <a:rPr dirty="0" sz="1150" spc="-50" b="1">
                          <a:solidFill>
                            <a:srgbClr val="FF00FF"/>
                          </a:solidFill>
                          <a:latin typeface="Times New Roman"/>
                          <a:cs typeface="Times New Roman"/>
                        </a:rPr>
                        <a:t>6</a:t>
                      </a:r>
                      <a:endParaRPr sz="1150">
                        <a:latin typeface="Times New Roman"/>
                        <a:cs typeface="Times New Roman"/>
                      </a:endParaRPr>
                    </a:p>
                  </a:txBody>
                  <a:tcPr marL="0" marR="0" marB="0" marT="80010">
                    <a:lnR w="19050">
                      <a:solidFill>
                        <a:srgbClr val="000000"/>
                      </a:solidFill>
                      <a:prstDash val="solid"/>
                    </a:lnR>
                    <a:lnT w="19050">
                      <a:solidFill>
                        <a:srgbClr val="000000"/>
                      </a:solidFill>
                      <a:prstDash val="solid"/>
                    </a:lnT>
                    <a:lnB w="19050">
                      <a:solidFill>
                        <a:srgbClr val="000000"/>
                      </a:solidFill>
                      <a:prstDash val="solid"/>
                    </a:lnB>
                  </a:tcPr>
                </a:tc>
                <a:tc vMerge="1">
                  <a:txBody>
                    <a:bodyPr/>
                    <a:lstStyle/>
                    <a:p>
                      <a:p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vMerge="1">
                  <a:txBody>
                    <a:bodyPr/>
                    <a:lstStyle/>
                    <a:p>
                      <a:p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99504" y="113125"/>
            <a:ext cx="1765935"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0"/>
              <a:t>主设备</a:t>
            </a:r>
          </a:p>
        </p:txBody>
      </p:sp>
      <p:sp>
        <p:nvSpPr>
          <p:cNvPr id="3" name="object 3" descr=""/>
          <p:cNvSpPr txBox="1"/>
          <p:nvPr/>
        </p:nvSpPr>
        <p:spPr>
          <a:xfrm>
            <a:off x="3332257" y="4329152"/>
            <a:ext cx="2743200" cy="330200"/>
          </a:xfrm>
          <a:prstGeom prst="rect">
            <a:avLst/>
          </a:prstGeom>
        </p:spPr>
        <p:txBody>
          <a:bodyPr wrap="square" lIns="0" tIns="12065" rIns="0" bIns="0" rtlCol="0" vert="horz">
            <a:spAutoFit/>
          </a:bodyPr>
          <a:lstStyle/>
          <a:p>
            <a:pPr marL="12700">
              <a:lnSpc>
                <a:spcPct val="100000"/>
              </a:lnSpc>
              <a:spcBef>
                <a:spcPts val="95"/>
              </a:spcBef>
            </a:pPr>
            <a:r>
              <a:rPr dirty="0" sz="2000" spc="-20" b="1">
                <a:latin typeface="Arial"/>
                <a:cs typeface="Arial"/>
              </a:rPr>
              <a:t>EMB6116</a:t>
            </a:r>
            <a:r>
              <a:rPr dirty="0" sz="2000" spc="-75" b="1">
                <a:latin typeface="Arial"/>
                <a:cs typeface="Arial"/>
              </a:rPr>
              <a:t> </a:t>
            </a:r>
            <a:r>
              <a:rPr dirty="0" sz="2000" spc="-20" b="1">
                <a:latin typeface="Microsoft JhengHei"/>
                <a:cs typeface="Microsoft JhengHei"/>
              </a:rPr>
              <a:t>前面板接口图</a:t>
            </a:r>
            <a:endParaRPr sz="2000">
              <a:latin typeface="Microsoft JhengHei"/>
              <a:cs typeface="Microsoft JhengHei"/>
            </a:endParaRPr>
          </a:p>
        </p:txBody>
      </p:sp>
      <p:pic>
        <p:nvPicPr>
          <p:cNvPr id="4" name="object 4"/>
          <p:cNvPicPr/>
          <p:nvPr/>
        </p:nvPicPr>
        <p:blipFill>
          <a:blip r:embed="rId2" cstate="print"/>
          <a:stretch>
            <a:fillRect/>
          </a:stretch>
        </p:blipFill>
        <p:spPr>
          <a:xfrm>
            <a:off x="1033921" y="1171406"/>
            <a:ext cx="6777044" cy="28266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32562" y="113125"/>
            <a:ext cx="3799204"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设备安装总体流程</a:t>
            </a:r>
          </a:p>
        </p:txBody>
      </p:sp>
      <p:sp>
        <p:nvSpPr>
          <p:cNvPr id="3" name="object 3" descr=""/>
          <p:cNvSpPr txBox="1"/>
          <p:nvPr/>
        </p:nvSpPr>
        <p:spPr>
          <a:xfrm>
            <a:off x="310828" y="814076"/>
            <a:ext cx="3225800" cy="683895"/>
          </a:xfrm>
          <a:prstGeom prst="rect">
            <a:avLst/>
          </a:prstGeom>
        </p:spPr>
        <p:txBody>
          <a:bodyPr wrap="square" lIns="0" tIns="67310" rIns="0" bIns="0" rtlCol="0" vert="horz">
            <a:spAutoFit/>
          </a:bodyPr>
          <a:lstStyle/>
          <a:p>
            <a:pPr marL="12700">
              <a:lnSpc>
                <a:spcPct val="100000"/>
              </a:lnSpc>
              <a:spcBef>
                <a:spcPts val="530"/>
              </a:spcBef>
            </a:pPr>
            <a:r>
              <a:rPr dirty="0" sz="1800" spc="-10">
                <a:latin typeface="Microsoft YaHei"/>
                <a:cs typeface="Microsoft YaHei"/>
              </a:rPr>
              <a:t>质量目标：零缺陷；</a:t>
            </a:r>
            <a:endParaRPr sz="1800">
              <a:latin typeface="Microsoft YaHei"/>
              <a:cs typeface="Microsoft YaHei"/>
            </a:endParaRPr>
          </a:p>
          <a:p>
            <a:pPr marL="12700">
              <a:lnSpc>
                <a:spcPct val="100000"/>
              </a:lnSpc>
              <a:spcBef>
                <a:spcPts val="434"/>
              </a:spcBef>
            </a:pPr>
            <a:r>
              <a:rPr dirty="0" sz="1800" spc="-5">
                <a:latin typeface="Microsoft YaHei"/>
                <a:cs typeface="Microsoft YaHei"/>
              </a:rPr>
              <a:t>质量措施：预防在先，严格检查</a:t>
            </a:r>
            <a:endParaRPr sz="1800">
              <a:latin typeface="Microsoft YaHei"/>
              <a:cs typeface="Microsoft YaHei"/>
            </a:endParaRPr>
          </a:p>
        </p:txBody>
      </p:sp>
      <p:grpSp>
        <p:nvGrpSpPr>
          <p:cNvPr id="4" name="object 4" descr=""/>
          <p:cNvGrpSpPr/>
          <p:nvPr/>
        </p:nvGrpSpPr>
        <p:grpSpPr>
          <a:xfrm>
            <a:off x="6321371" y="4285539"/>
            <a:ext cx="1861820" cy="570865"/>
            <a:chOff x="6321371" y="4285539"/>
            <a:chExt cx="1861820" cy="570865"/>
          </a:xfrm>
        </p:grpSpPr>
        <p:sp>
          <p:nvSpPr>
            <p:cNvPr id="5" name="object 5" descr=""/>
            <p:cNvSpPr/>
            <p:nvPr/>
          </p:nvSpPr>
          <p:spPr>
            <a:xfrm>
              <a:off x="6334071" y="4298239"/>
              <a:ext cx="1836420" cy="545465"/>
            </a:xfrm>
            <a:custGeom>
              <a:avLst/>
              <a:gdLst/>
              <a:ahLst/>
              <a:cxnLst/>
              <a:rect l="l" t="t" r="r" b="b"/>
              <a:pathLst>
                <a:path w="1836420" h="545464">
                  <a:moveTo>
                    <a:pt x="918210" y="0"/>
                  </a:moveTo>
                  <a:lnTo>
                    <a:pt x="846452" y="820"/>
                  </a:lnTo>
                  <a:lnTo>
                    <a:pt x="776205" y="3240"/>
                  </a:lnTo>
                  <a:lnTo>
                    <a:pt x="707673" y="7199"/>
                  </a:lnTo>
                  <a:lnTo>
                    <a:pt x="641060" y="12637"/>
                  </a:lnTo>
                  <a:lnTo>
                    <a:pt x="576569" y="19493"/>
                  </a:lnTo>
                  <a:lnTo>
                    <a:pt x="514405" y="27707"/>
                  </a:lnTo>
                  <a:lnTo>
                    <a:pt x="454772" y="37217"/>
                  </a:lnTo>
                  <a:lnTo>
                    <a:pt x="397875" y="47964"/>
                  </a:lnTo>
                  <a:lnTo>
                    <a:pt x="343917" y="59886"/>
                  </a:lnTo>
                  <a:lnTo>
                    <a:pt x="293102" y="72923"/>
                  </a:lnTo>
                  <a:lnTo>
                    <a:pt x="245636" y="87015"/>
                  </a:lnTo>
                  <a:lnTo>
                    <a:pt x="201721" y="102101"/>
                  </a:lnTo>
                  <a:lnTo>
                    <a:pt x="161562" y="118119"/>
                  </a:lnTo>
                  <a:lnTo>
                    <a:pt x="125363" y="135011"/>
                  </a:lnTo>
                  <a:lnTo>
                    <a:pt x="65661" y="171169"/>
                  </a:lnTo>
                  <a:lnTo>
                    <a:pt x="24250" y="210090"/>
                  </a:lnTo>
                  <a:lnTo>
                    <a:pt x="2762" y="251290"/>
                  </a:lnTo>
                  <a:lnTo>
                    <a:pt x="0" y="272592"/>
                  </a:lnTo>
                  <a:lnTo>
                    <a:pt x="2762" y="293895"/>
                  </a:lnTo>
                  <a:lnTo>
                    <a:pt x="24250" y="335094"/>
                  </a:lnTo>
                  <a:lnTo>
                    <a:pt x="65661" y="374016"/>
                  </a:lnTo>
                  <a:lnTo>
                    <a:pt x="125363" y="410174"/>
                  </a:lnTo>
                  <a:lnTo>
                    <a:pt x="161562" y="427065"/>
                  </a:lnTo>
                  <a:lnTo>
                    <a:pt x="201721" y="443084"/>
                  </a:lnTo>
                  <a:lnTo>
                    <a:pt x="245636" y="458169"/>
                  </a:lnTo>
                  <a:lnTo>
                    <a:pt x="293102" y="472261"/>
                  </a:lnTo>
                  <a:lnTo>
                    <a:pt x="343917" y="485299"/>
                  </a:lnTo>
                  <a:lnTo>
                    <a:pt x="397875" y="497221"/>
                  </a:lnTo>
                  <a:lnTo>
                    <a:pt x="454772" y="507968"/>
                  </a:lnTo>
                  <a:lnTo>
                    <a:pt x="514405" y="517478"/>
                  </a:lnTo>
                  <a:lnTo>
                    <a:pt x="576569" y="525691"/>
                  </a:lnTo>
                  <a:lnTo>
                    <a:pt x="641060" y="532548"/>
                  </a:lnTo>
                  <a:lnTo>
                    <a:pt x="707673" y="537986"/>
                  </a:lnTo>
                  <a:lnTo>
                    <a:pt x="776205" y="541945"/>
                  </a:lnTo>
                  <a:lnTo>
                    <a:pt x="846452" y="544365"/>
                  </a:lnTo>
                  <a:lnTo>
                    <a:pt x="918210" y="545185"/>
                  </a:lnTo>
                  <a:lnTo>
                    <a:pt x="989965" y="544365"/>
                  </a:lnTo>
                  <a:lnTo>
                    <a:pt x="1060210" y="541945"/>
                  </a:lnTo>
                  <a:lnTo>
                    <a:pt x="1128741" y="537986"/>
                  </a:lnTo>
                  <a:lnTo>
                    <a:pt x="1195353" y="532548"/>
                  </a:lnTo>
                  <a:lnTo>
                    <a:pt x="1259843" y="525691"/>
                  </a:lnTo>
                  <a:lnTo>
                    <a:pt x="1322006" y="517478"/>
                  </a:lnTo>
                  <a:lnTo>
                    <a:pt x="1381638" y="507968"/>
                  </a:lnTo>
                  <a:lnTo>
                    <a:pt x="1438534" y="497221"/>
                  </a:lnTo>
                  <a:lnTo>
                    <a:pt x="1492492" y="485299"/>
                  </a:lnTo>
                  <a:lnTo>
                    <a:pt x="1543306" y="472261"/>
                  </a:lnTo>
                  <a:lnTo>
                    <a:pt x="1590772" y="458169"/>
                  </a:lnTo>
                  <a:lnTo>
                    <a:pt x="1634687" y="443084"/>
                  </a:lnTo>
                  <a:lnTo>
                    <a:pt x="1674845" y="427065"/>
                  </a:lnTo>
                  <a:lnTo>
                    <a:pt x="1711044" y="410174"/>
                  </a:lnTo>
                  <a:lnTo>
                    <a:pt x="1770745" y="374016"/>
                  </a:lnTo>
                  <a:lnTo>
                    <a:pt x="1812156" y="335094"/>
                  </a:lnTo>
                  <a:lnTo>
                    <a:pt x="1833644" y="293895"/>
                  </a:lnTo>
                  <a:lnTo>
                    <a:pt x="1836407" y="272592"/>
                  </a:lnTo>
                  <a:lnTo>
                    <a:pt x="1833644" y="251290"/>
                  </a:lnTo>
                  <a:lnTo>
                    <a:pt x="1812156" y="210090"/>
                  </a:lnTo>
                  <a:lnTo>
                    <a:pt x="1770745" y="171169"/>
                  </a:lnTo>
                  <a:lnTo>
                    <a:pt x="1711044" y="135011"/>
                  </a:lnTo>
                  <a:lnTo>
                    <a:pt x="1674845" y="118119"/>
                  </a:lnTo>
                  <a:lnTo>
                    <a:pt x="1634687" y="102101"/>
                  </a:lnTo>
                  <a:lnTo>
                    <a:pt x="1590772" y="87015"/>
                  </a:lnTo>
                  <a:lnTo>
                    <a:pt x="1543306" y="72923"/>
                  </a:lnTo>
                  <a:lnTo>
                    <a:pt x="1492492" y="59886"/>
                  </a:lnTo>
                  <a:lnTo>
                    <a:pt x="1438534" y="47964"/>
                  </a:lnTo>
                  <a:lnTo>
                    <a:pt x="1381638" y="37217"/>
                  </a:lnTo>
                  <a:lnTo>
                    <a:pt x="1322006" y="27707"/>
                  </a:lnTo>
                  <a:lnTo>
                    <a:pt x="1259843" y="19493"/>
                  </a:lnTo>
                  <a:lnTo>
                    <a:pt x="1195353" y="12637"/>
                  </a:lnTo>
                  <a:lnTo>
                    <a:pt x="1128741" y="7199"/>
                  </a:lnTo>
                  <a:lnTo>
                    <a:pt x="1060210" y="3240"/>
                  </a:lnTo>
                  <a:lnTo>
                    <a:pt x="989965" y="820"/>
                  </a:lnTo>
                  <a:lnTo>
                    <a:pt x="918210" y="0"/>
                  </a:lnTo>
                  <a:close/>
                </a:path>
              </a:pathLst>
            </a:custGeom>
            <a:solidFill>
              <a:srgbClr val="00B0F0"/>
            </a:solidFill>
          </p:spPr>
          <p:txBody>
            <a:bodyPr wrap="square" lIns="0" tIns="0" rIns="0" bIns="0" rtlCol="0"/>
            <a:lstStyle/>
            <a:p/>
          </p:txBody>
        </p:sp>
        <p:sp>
          <p:nvSpPr>
            <p:cNvPr id="6" name="object 6" descr=""/>
            <p:cNvSpPr/>
            <p:nvPr/>
          </p:nvSpPr>
          <p:spPr>
            <a:xfrm>
              <a:off x="6334071" y="4298239"/>
              <a:ext cx="1836420" cy="545465"/>
            </a:xfrm>
            <a:custGeom>
              <a:avLst/>
              <a:gdLst/>
              <a:ahLst/>
              <a:cxnLst/>
              <a:rect l="l" t="t" r="r" b="b"/>
              <a:pathLst>
                <a:path w="1836420" h="545464">
                  <a:moveTo>
                    <a:pt x="0" y="272592"/>
                  </a:moveTo>
                  <a:lnTo>
                    <a:pt x="10914" y="230436"/>
                  </a:lnTo>
                  <a:lnTo>
                    <a:pt x="42567" y="190315"/>
                  </a:lnTo>
                  <a:lnTo>
                    <a:pt x="93328" y="152714"/>
                  </a:lnTo>
                  <a:lnTo>
                    <a:pt x="161562" y="118119"/>
                  </a:lnTo>
                  <a:lnTo>
                    <a:pt x="201721" y="102101"/>
                  </a:lnTo>
                  <a:lnTo>
                    <a:pt x="245636" y="87015"/>
                  </a:lnTo>
                  <a:lnTo>
                    <a:pt x="293102" y="72923"/>
                  </a:lnTo>
                  <a:lnTo>
                    <a:pt x="343917" y="59886"/>
                  </a:lnTo>
                  <a:lnTo>
                    <a:pt x="397875" y="47964"/>
                  </a:lnTo>
                  <a:lnTo>
                    <a:pt x="454772" y="37217"/>
                  </a:lnTo>
                  <a:lnTo>
                    <a:pt x="514405" y="27707"/>
                  </a:lnTo>
                  <a:lnTo>
                    <a:pt x="576569" y="19493"/>
                  </a:lnTo>
                  <a:lnTo>
                    <a:pt x="641060" y="12637"/>
                  </a:lnTo>
                  <a:lnTo>
                    <a:pt x="707673" y="7199"/>
                  </a:lnTo>
                  <a:lnTo>
                    <a:pt x="776205" y="3240"/>
                  </a:lnTo>
                  <a:lnTo>
                    <a:pt x="846452" y="820"/>
                  </a:lnTo>
                  <a:lnTo>
                    <a:pt x="918210" y="0"/>
                  </a:lnTo>
                  <a:lnTo>
                    <a:pt x="989965" y="820"/>
                  </a:lnTo>
                  <a:lnTo>
                    <a:pt x="1060210" y="3240"/>
                  </a:lnTo>
                  <a:lnTo>
                    <a:pt x="1128741" y="7199"/>
                  </a:lnTo>
                  <a:lnTo>
                    <a:pt x="1195353" y="12637"/>
                  </a:lnTo>
                  <a:lnTo>
                    <a:pt x="1259843" y="19493"/>
                  </a:lnTo>
                  <a:lnTo>
                    <a:pt x="1322006" y="27707"/>
                  </a:lnTo>
                  <a:lnTo>
                    <a:pt x="1381638" y="37217"/>
                  </a:lnTo>
                  <a:lnTo>
                    <a:pt x="1438534" y="47964"/>
                  </a:lnTo>
                  <a:lnTo>
                    <a:pt x="1492492" y="59886"/>
                  </a:lnTo>
                  <a:lnTo>
                    <a:pt x="1543306" y="72923"/>
                  </a:lnTo>
                  <a:lnTo>
                    <a:pt x="1590772" y="87015"/>
                  </a:lnTo>
                  <a:lnTo>
                    <a:pt x="1634687" y="102101"/>
                  </a:lnTo>
                  <a:lnTo>
                    <a:pt x="1674845" y="118119"/>
                  </a:lnTo>
                  <a:lnTo>
                    <a:pt x="1711044" y="135011"/>
                  </a:lnTo>
                  <a:lnTo>
                    <a:pt x="1770745" y="171169"/>
                  </a:lnTo>
                  <a:lnTo>
                    <a:pt x="1812156" y="210090"/>
                  </a:lnTo>
                  <a:lnTo>
                    <a:pt x="1833644" y="251290"/>
                  </a:lnTo>
                  <a:lnTo>
                    <a:pt x="1836407" y="272592"/>
                  </a:lnTo>
                  <a:lnTo>
                    <a:pt x="1833644" y="293895"/>
                  </a:lnTo>
                  <a:lnTo>
                    <a:pt x="1825493" y="314749"/>
                  </a:lnTo>
                  <a:lnTo>
                    <a:pt x="1793839" y="354870"/>
                  </a:lnTo>
                  <a:lnTo>
                    <a:pt x="1743079" y="392470"/>
                  </a:lnTo>
                  <a:lnTo>
                    <a:pt x="1674845" y="427065"/>
                  </a:lnTo>
                  <a:lnTo>
                    <a:pt x="1634687" y="443084"/>
                  </a:lnTo>
                  <a:lnTo>
                    <a:pt x="1590772" y="458169"/>
                  </a:lnTo>
                  <a:lnTo>
                    <a:pt x="1543306" y="472261"/>
                  </a:lnTo>
                  <a:lnTo>
                    <a:pt x="1492492" y="485299"/>
                  </a:lnTo>
                  <a:lnTo>
                    <a:pt x="1438534" y="497221"/>
                  </a:lnTo>
                  <a:lnTo>
                    <a:pt x="1381638" y="507968"/>
                  </a:lnTo>
                  <a:lnTo>
                    <a:pt x="1322006" y="517478"/>
                  </a:lnTo>
                  <a:lnTo>
                    <a:pt x="1259843" y="525691"/>
                  </a:lnTo>
                  <a:lnTo>
                    <a:pt x="1195353" y="532548"/>
                  </a:lnTo>
                  <a:lnTo>
                    <a:pt x="1128741" y="537986"/>
                  </a:lnTo>
                  <a:lnTo>
                    <a:pt x="1060210" y="541945"/>
                  </a:lnTo>
                  <a:lnTo>
                    <a:pt x="989965" y="544365"/>
                  </a:lnTo>
                  <a:lnTo>
                    <a:pt x="918210" y="545185"/>
                  </a:lnTo>
                  <a:lnTo>
                    <a:pt x="846452" y="544365"/>
                  </a:lnTo>
                  <a:lnTo>
                    <a:pt x="776205" y="541945"/>
                  </a:lnTo>
                  <a:lnTo>
                    <a:pt x="707673" y="537986"/>
                  </a:lnTo>
                  <a:lnTo>
                    <a:pt x="641060" y="532548"/>
                  </a:lnTo>
                  <a:lnTo>
                    <a:pt x="576569" y="525691"/>
                  </a:lnTo>
                  <a:lnTo>
                    <a:pt x="514405" y="517478"/>
                  </a:lnTo>
                  <a:lnTo>
                    <a:pt x="454772" y="507968"/>
                  </a:lnTo>
                  <a:lnTo>
                    <a:pt x="397875" y="497221"/>
                  </a:lnTo>
                  <a:lnTo>
                    <a:pt x="343917" y="485299"/>
                  </a:lnTo>
                  <a:lnTo>
                    <a:pt x="293102" y="472261"/>
                  </a:lnTo>
                  <a:lnTo>
                    <a:pt x="245636" y="458169"/>
                  </a:lnTo>
                  <a:lnTo>
                    <a:pt x="201721" y="443084"/>
                  </a:lnTo>
                  <a:lnTo>
                    <a:pt x="161562" y="427065"/>
                  </a:lnTo>
                  <a:lnTo>
                    <a:pt x="125363" y="410174"/>
                  </a:lnTo>
                  <a:lnTo>
                    <a:pt x="65661" y="374016"/>
                  </a:lnTo>
                  <a:lnTo>
                    <a:pt x="24250" y="335094"/>
                  </a:lnTo>
                  <a:lnTo>
                    <a:pt x="2762" y="293895"/>
                  </a:lnTo>
                  <a:lnTo>
                    <a:pt x="0" y="272592"/>
                  </a:lnTo>
                  <a:close/>
                </a:path>
              </a:pathLst>
            </a:custGeom>
            <a:ln w="25400">
              <a:solidFill>
                <a:srgbClr val="89A4A7"/>
              </a:solidFill>
            </a:ln>
          </p:spPr>
          <p:txBody>
            <a:bodyPr wrap="square" lIns="0" tIns="0" rIns="0" bIns="0" rtlCol="0"/>
            <a:lstStyle/>
            <a:p/>
          </p:txBody>
        </p:sp>
      </p:grpSp>
      <p:sp>
        <p:nvSpPr>
          <p:cNvPr id="7" name="object 7" descr=""/>
          <p:cNvSpPr txBox="1"/>
          <p:nvPr/>
        </p:nvSpPr>
        <p:spPr>
          <a:xfrm>
            <a:off x="7010783" y="4417161"/>
            <a:ext cx="482600" cy="299720"/>
          </a:xfrm>
          <a:prstGeom prst="rect">
            <a:avLst/>
          </a:prstGeom>
        </p:spPr>
        <p:txBody>
          <a:bodyPr wrap="square" lIns="0" tIns="12700" rIns="0" bIns="0" rtlCol="0" vert="horz">
            <a:spAutoFit/>
          </a:bodyPr>
          <a:lstStyle/>
          <a:p>
            <a:pPr marL="12700">
              <a:lnSpc>
                <a:spcPct val="100000"/>
              </a:lnSpc>
              <a:spcBef>
                <a:spcPts val="100"/>
              </a:spcBef>
            </a:pPr>
            <a:r>
              <a:rPr dirty="0" sz="1800" spc="-25">
                <a:solidFill>
                  <a:srgbClr val="FFFFFF"/>
                </a:solidFill>
                <a:latin typeface="SimSun"/>
                <a:cs typeface="SimSun"/>
              </a:rPr>
              <a:t>结束</a:t>
            </a:r>
            <a:endParaRPr sz="1800">
              <a:latin typeface="SimSun"/>
              <a:cs typeface="SimSun"/>
            </a:endParaRPr>
          </a:p>
        </p:txBody>
      </p:sp>
      <p:grpSp>
        <p:nvGrpSpPr>
          <p:cNvPr id="8" name="object 8" descr=""/>
          <p:cNvGrpSpPr/>
          <p:nvPr/>
        </p:nvGrpSpPr>
        <p:grpSpPr>
          <a:xfrm>
            <a:off x="682650" y="1624222"/>
            <a:ext cx="1976755" cy="461009"/>
            <a:chOff x="682650" y="1624222"/>
            <a:chExt cx="1976755" cy="461009"/>
          </a:xfrm>
        </p:grpSpPr>
        <p:sp>
          <p:nvSpPr>
            <p:cNvPr id="9" name="object 9" descr=""/>
            <p:cNvSpPr/>
            <p:nvPr/>
          </p:nvSpPr>
          <p:spPr>
            <a:xfrm>
              <a:off x="695350" y="1636922"/>
              <a:ext cx="1951355" cy="435609"/>
            </a:xfrm>
            <a:custGeom>
              <a:avLst/>
              <a:gdLst/>
              <a:ahLst/>
              <a:cxnLst/>
              <a:rect l="l" t="t" r="r" b="b"/>
              <a:pathLst>
                <a:path w="1951355" h="435610">
                  <a:moveTo>
                    <a:pt x="1842287" y="0"/>
                  </a:moveTo>
                  <a:lnTo>
                    <a:pt x="108889" y="0"/>
                  </a:lnTo>
                  <a:lnTo>
                    <a:pt x="0" y="217792"/>
                  </a:lnTo>
                  <a:lnTo>
                    <a:pt x="108889" y="435584"/>
                  </a:lnTo>
                  <a:lnTo>
                    <a:pt x="1842287" y="435584"/>
                  </a:lnTo>
                  <a:lnTo>
                    <a:pt x="1951177" y="217792"/>
                  </a:lnTo>
                  <a:lnTo>
                    <a:pt x="1842287" y="0"/>
                  </a:lnTo>
                  <a:close/>
                </a:path>
              </a:pathLst>
            </a:custGeom>
            <a:solidFill>
              <a:srgbClr val="00B0F0"/>
            </a:solidFill>
          </p:spPr>
          <p:txBody>
            <a:bodyPr wrap="square" lIns="0" tIns="0" rIns="0" bIns="0" rtlCol="0"/>
            <a:lstStyle/>
            <a:p/>
          </p:txBody>
        </p:sp>
        <p:sp>
          <p:nvSpPr>
            <p:cNvPr id="10" name="object 10" descr=""/>
            <p:cNvSpPr/>
            <p:nvPr/>
          </p:nvSpPr>
          <p:spPr>
            <a:xfrm>
              <a:off x="695350" y="1636922"/>
              <a:ext cx="1951355" cy="435609"/>
            </a:xfrm>
            <a:custGeom>
              <a:avLst/>
              <a:gdLst/>
              <a:ahLst/>
              <a:cxnLst/>
              <a:rect l="l" t="t" r="r" b="b"/>
              <a:pathLst>
                <a:path w="1951355" h="435610">
                  <a:moveTo>
                    <a:pt x="0" y="217792"/>
                  </a:moveTo>
                  <a:lnTo>
                    <a:pt x="108889" y="0"/>
                  </a:lnTo>
                  <a:lnTo>
                    <a:pt x="1842287" y="0"/>
                  </a:lnTo>
                  <a:lnTo>
                    <a:pt x="1951177" y="217792"/>
                  </a:lnTo>
                  <a:lnTo>
                    <a:pt x="1842287" y="435584"/>
                  </a:lnTo>
                  <a:lnTo>
                    <a:pt x="108889" y="435584"/>
                  </a:lnTo>
                  <a:lnTo>
                    <a:pt x="0" y="217792"/>
                  </a:lnTo>
                  <a:close/>
                </a:path>
              </a:pathLst>
            </a:custGeom>
            <a:ln w="25400">
              <a:solidFill>
                <a:srgbClr val="89A4A7"/>
              </a:solidFill>
            </a:ln>
          </p:spPr>
          <p:txBody>
            <a:bodyPr wrap="square" lIns="0" tIns="0" rIns="0" bIns="0" rtlCol="0"/>
            <a:lstStyle/>
            <a:p/>
          </p:txBody>
        </p:sp>
      </p:grpSp>
      <p:sp>
        <p:nvSpPr>
          <p:cNvPr id="11" name="object 11" descr=""/>
          <p:cNvSpPr txBox="1"/>
          <p:nvPr/>
        </p:nvSpPr>
        <p:spPr>
          <a:xfrm>
            <a:off x="1429514" y="1701043"/>
            <a:ext cx="482600" cy="299720"/>
          </a:xfrm>
          <a:prstGeom prst="rect">
            <a:avLst/>
          </a:prstGeom>
        </p:spPr>
        <p:txBody>
          <a:bodyPr wrap="square" lIns="0" tIns="12700" rIns="0" bIns="0" rtlCol="0" vert="horz">
            <a:spAutoFit/>
          </a:bodyPr>
          <a:lstStyle/>
          <a:p>
            <a:pPr marL="12700">
              <a:lnSpc>
                <a:spcPct val="100000"/>
              </a:lnSpc>
              <a:spcBef>
                <a:spcPts val="100"/>
              </a:spcBef>
            </a:pPr>
            <a:r>
              <a:rPr dirty="0" sz="1800" spc="-25">
                <a:solidFill>
                  <a:srgbClr val="FFFFFF"/>
                </a:solidFill>
                <a:latin typeface="SimSun"/>
                <a:cs typeface="SimSun"/>
              </a:rPr>
              <a:t>开始</a:t>
            </a:r>
            <a:endParaRPr sz="1800">
              <a:latin typeface="SimSun"/>
              <a:cs typeface="SimSun"/>
            </a:endParaRPr>
          </a:p>
        </p:txBody>
      </p:sp>
      <p:grpSp>
        <p:nvGrpSpPr>
          <p:cNvPr id="12" name="object 12" descr=""/>
          <p:cNvGrpSpPr/>
          <p:nvPr/>
        </p:nvGrpSpPr>
        <p:grpSpPr>
          <a:xfrm>
            <a:off x="292100" y="2681604"/>
            <a:ext cx="3009900" cy="447040"/>
            <a:chOff x="292100" y="2681604"/>
            <a:chExt cx="3009900" cy="447040"/>
          </a:xfrm>
        </p:grpSpPr>
        <p:sp>
          <p:nvSpPr>
            <p:cNvPr id="13" name="object 13" descr=""/>
            <p:cNvSpPr/>
            <p:nvPr/>
          </p:nvSpPr>
          <p:spPr>
            <a:xfrm>
              <a:off x="304800" y="2694304"/>
              <a:ext cx="2984500" cy="421640"/>
            </a:xfrm>
            <a:custGeom>
              <a:avLst/>
              <a:gdLst/>
              <a:ahLst/>
              <a:cxnLst/>
              <a:rect l="l" t="t" r="r" b="b"/>
              <a:pathLst>
                <a:path w="2984500" h="421639">
                  <a:moveTo>
                    <a:pt x="2984157" y="0"/>
                  </a:moveTo>
                  <a:lnTo>
                    <a:pt x="0" y="0"/>
                  </a:lnTo>
                  <a:lnTo>
                    <a:pt x="0" y="421551"/>
                  </a:lnTo>
                  <a:lnTo>
                    <a:pt x="2984157" y="421551"/>
                  </a:lnTo>
                  <a:lnTo>
                    <a:pt x="2984157" y="0"/>
                  </a:lnTo>
                  <a:close/>
                </a:path>
              </a:pathLst>
            </a:custGeom>
            <a:solidFill>
              <a:srgbClr val="00B0F0"/>
            </a:solidFill>
          </p:spPr>
          <p:txBody>
            <a:bodyPr wrap="square" lIns="0" tIns="0" rIns="0" bIns="0" rtlCol="0"/>
            <a:lstStyle/>
            <a:p/>
          </p:txBody>
        </p:sp>
        <p:sp>
          <p:nvSpPr>
            <p:cNvPr id="14" name="object 14" descr=""/>
            <p:cNvSpPr/>
            <p:nvPr/>
          </p:nvSpPr>
          <p:spPr>
            <a:xfrm>
              <a:off x="304800" y="2694304"/>
              <a:ext cx="2984500" cy="421640"/>
            </a:xfrm>
            <a:custGeom>
              <a:avLst/>
              <a:gdLst/>
              <a:ahLst/>
              <a:cxnLst/>
              <a:rect l="l" t="t" r="r" b="b"/>
              <a:pathLst>
                <a:path w="2984500" h="421639">
                  <a:moveTo>
                    <a:pt x="0" y="0"/>
                  </a:moveTo>
                  <a:lnTo>
                    <a:pt x="2984157" y="0"/>
                  </a:lnTo>
                  <a:lnTo>
                    <a:pt x="2984157" y="421551"/>
                  </a:lnTo>
                  <a:lnTo>
                    <a:pt x="0" y="421551"/>
                  </a:lnTo>
                  <a:lnTo>
                    <a:pt x="0" y="0"/>
                  </a:lnTo>
                  <a:close/>
                </a:path>
              </a:pathLst>
            </a:custGeom>
            <a:ln w="25400">
              <a:solidFill>
                <a:srgbClr val="89A4A7"/>
              </a:solidFill>
            </a:ln>
          </p:spPr>
          <p:txBody>
            <a:bodyPr wrap="square" lIns="0" tIns="0" rIns="0" bIns="0" rtlCol="0"/>
            <a:lstStyle/>
            <a:p/>
          </p:txBody>
        </p:sp>
      </p:grpSp>
      <p:sp>
        <p:nvSpPr>
          <p:cNvPr id="15" name="object 15" descr=""/>
          <p:cNvSpPr txBox="1"/>
          <p:nvPr/>
        </p:nvSpPr>
        <p:spPr>
          <a:xfrm>
            <a:off x="317500" y="2751414"/>
            <a:ext cx="2959100" cy="299720"/>
          </a:xfrm>
          <a:prstGeom prst="rect">
            <a:avLst/>
          </a:prstGeom>
        </p:spPr>
        <p:txBody>
          <a:bodyPr wrap="square" lIns="0" tIns="12700" rIns="0" bIns="0" rtlCol="0" vert="horz">
            <a:spAutoFit/>
          </a:bodyPr>
          <a:lstStyle/>
          <a:p>
            <a:pPr algn="ctr">
              <a:lnSpc>
                <a:spcPct val="100000"/>
              </a:lnSpc>
              <a:spcBef>
                <a:spcPts val="100"/>
              </a:spcBef>
            </a:pPr>
            <a:r>
              <a:rPr dirty="0" sz="1800" spc="-25">
                <a:solidFill>
                  <a:srgbClr val="FFFFFF"/>
                </a:solidFill>
                <a:latin typeface="SimSun"/>
                <a:cs typeface="SimSun"/>
              </a:rPr>
              <a:t>准备</a:t>
            </a:r>
            <a:endParaRPr sz="1800">
              <a:latin typeface="SimSun"/>
              <a:cs typeface="SimSun"/>
            </a:endParaRPr>
          </a:p>
        </p:txBody>
      </p:sp>
      <p:grpSp>
        <p:nvGrpSpPr>
          <p:cNvPr id="16" name="object 16" descr=""/>
          <p:cNvGrpSpPr/>
          <p:nvPr/>
        </p:nvGrpSpPr>
        <p:grpSpPr>
          <a:xfrm>
            <a:off x="292100" y="3617239"/>
            <a:ext cx="3009900" cy="522605"/>
            <a:chOff x="292100" y="3617239"/>
            <a:chExt cx="3009900" cy="522605"/>
          </a:xfrm>
        </p:grpSpPr>
        <p:sp>
          <p:nvSpPr>
            <p:cNvPr id="17" name="object 17" descr=""/>
            <p:cNvSpPr/>
            <p:nvPr/>
          </p:nvSpPr>
          <p:spPr>
            <a:xfrm>
              <a:off x="304800" y="3629939"/>
              <a:ext cx="2984500" cy="497205"/>
            </a:xfrm>
            <a:custGeom>
              <a:avLst/>
              <a:gdLst/>
              <a:ahLst/>
              <a:cxnLst/>
              <a:rect l="l" t="t" r="r" b="b"/>
              <a:pathLst>
                <a:path w="2984500" h="497204">
                  <a:moveTo>
                    <a:pt x="2984157" y="0"/>
                  </a:moveTo>
                  <a:lnTo>
                    <a:pt x="0" y="0"/>
                  </a:lnTo>
                  <a:lnTo>
                    <a:pt x="0" y="497052"/>
                  </a:lnTo>
                  <a:lnTo>
                    <a:pt x="2984157" y="497052"/>
                  </a:lnTo>
                  <a:lnTo>
                    <a:pt x="2984157" y="0"/>
                  </a:lnTo>
                  <a:close/>
                </a:path>
              </a:pathLst>
            </a:custGeom>
            <a:solidFill>
              <a:srgbClr val="00B0F0"/>
            </a:solidFill>
          </p:spPr>
          <p:txBody>
            <a:bodyPr wrap="square" lIns="0" tIns="0" rIns="0" bIns="0" rtlCol="0"/>
            <a:lstStyle/>
            <a:p/>
          </p:txBody>
        </p:sp>
        <p:sp>
          <p:nvSpPr>
            <p:cNvPr id="18" name="object 18" descr=""/>
            <p:cNvSpPr/>
            <p:nvPr/>
          </p:nvSpPr>
          <p:spPr>
            <a:xfrm>
              <a:off x="304800" y="3629939"/>
              <a:ext cx="2984500" cy="497205"/>
            </a:xfrm>
            <a:custGeom>
              <a:avLst/>
              <a:gdLst/>
              <a:ahLst/>
              <a:cxnLst/>
              <a:rect l="l" t="t" r="r" b="b"/>
              <a:pathLst>
                <a:path w="2984500" h="497204">
                  <a:moveTo>
                    <a:pt x="0" y="0"/>
                  </a:moveTo>
                  <a:lnTo>
                    <a:pt x="2984157" y="0"/>
                  </a:lnTo>
                  <a:lnTo>
                    <a:pt x="2984157" y="497052"/>
                  </a:lnTo>
                  <a:lnTo>
                    <a:pt x="0" y="497052"/>
                  </a:lnTo>
                  <a:lnTo>
                    <a:pt x="0" y="0"/>
                  </a:lnTo>
                  <a:close/>
                </a:path>
              </a:pathLst>
            </a:custGeom>
            <a:ln w="25399">
              <a:solidFill>
                <a:srgbClr val="89A4A7"/>
              </a:solidFill>
            </a:ln>
          </p:spPr>
          <p:txBody>
            <a:bodyPr wrap="square" lIns="0" tIns="0" rIns="0" bIns="0" rtlCol="0"/>
            <a:lstStyle/>
            <a:p/>
          </p:txBody>
        </p:sp>
      </p:grpSp>
      <p:sp>
        <p:nvSpPr>
          <p:cNvPr id="19" name="object 19" descr=""/>
          <p:cNvSpPr txBox="1"/>
          <p:nvPr/>
        </p:nvSpPr>
        <p:spPr>
          <a:xfrm>
            <a:off x="869400" y="3724794"/>
            <a:ext cx="1532255" cy="299720"/>
          </a:xfrm>
          <a:prstGeom prst="rect">
            <a:avLst/>
          </a:prstGeom>
        </p:spPr>
        <p:txBody>
          <a:bodyPr wrap="square" lIns="0" tIns="12700" rIns="0" bIns="0" rtlCol="0" vert="horz">
            <a:spAutoFit/>
          </a:bodyPr>
          <a:lstStyle/>
          <a:p>
            <a:pPr marL="12700">
              <a:lnSpc>
                <a:spcPct val="100000"/>
              </a:lnSpc>
              <a:spcBef>
                <a:spcPts val="100"/>
              </a:spcBef>
            </a:pPr>
            <a:r>
              <a:rPr dirty="0" sz="1800" spc="-10">
                <a:solidFill>
                  <a:srgbClr val="FFFFFF"/>
                </a:solidFill>
                <a:latin typeface="Arial MT"/>
                <a:cs typeface="Arial MT"/>
              </a:rPr>
              <a:t>EMB6116</a:t>
            </a:r>
            <a:r>
              <a:rPr dirty="0" sz="1800" spc="-80">
                <a:solidFill>
                  <a:srgbClr val="FFFFFF"/>
                </a:solidFill>
                <a:latin typeface="Arial MT"/>
                <a:cs typeface="Arial MT"/>
              </a:rPr>
              <a:t> </a:t>
            </a:r>
            <a:r>
              <a:rPr dirty="0" sz="1800" spc="-25">
                <a:solidFill>
                  <a:srgbClr val="FFFFFF"/>
                </a:solidFill>
                <a:latin typeface="SimSun"/>
                <a:cs typeface="SimSun"/>
              </a:rPr>
              <a:t>安装</a:t>
            </a:r>
            <a:endParaRPr sz="1800">
              <a:latin typeface="SimSun"/>
              <a:cs typeface="SimSun"/>
            </a:endParaRPr>
          </a:p>
        </p:txBody>
      </p:sp>
      <p:grpSp>
        <p:nvGrpSpPr>
          <p:cNvPr id="20" name="object 20" descr=""/>
          <p:cNvGrpSpPr/>
          <p:nvPr/>
        </p:nvGrpSpPr>
        <p:grpSpPr>
          <a:xfrm>
            <a:off x="5690108" y="1624215"/>
            <a:ext cx="3124835" cy="585470"/>
            <a:chOff x="5690108" y="1624215"/>
            <a:chExt cx="3124835" cy="585470"/>
          </a:xfrm>
        </p:grpSpPr>
        <p:sp>
          <p:nvSpPr>
            <p:cNvPr id="21" name="object 21" descr=""/>
            <p:cNvSpPr/>
            <p:nvPr/>
          </p:nvSpPr>
          <p:spPr>
            <a:xfrm>
              <a:off x="5702808" y="1636915"/>
              <a:ext cx="3099435" cy="560070"/>
            </a:xfrm>
            <a:custGeom>
              <a:avLst/>
              <a:gdLst/>
              <a:ahLst/>
              <a:cxnLst/>
              <a:rect l="l" t="t" r="r" b="b"/>
              <a:pathLst>
                <a:path w="3099434" h="560069">
                  <a:moveTo>
                    <a:pt x="3098939" y="0"/>
                  </a:moveTo>
                  <a:lnTo>
                    <a:pt x="0" y="0"/>
                  </a:lnTo>
                  <a:lnTo>
                    <a:pt x="0" y="559574"/>
                  </a:lnTo>
                  <a:lnTo>
                    <a:pt x="3098939" y="559574"/>
                  </a:lnTo>
                  <a:lnTo>
                    <a:pt x="3098939" y="0"/>
                  </a:lnTo>
                  <a:close/>
                </a:path>
              </a:pathLst>
            </a:custGeom>
            <a:solidFill>
              <a:srgbClr val="00B0F0"/>
            </a:solidFill>
          </p:spPr>
          <p:txBody>
            <a:bodyPr wrap="square" lIns="0" tIns="0" rIns="0" bIns="0" rtlCol="0"/>
            <a:lstStyle/>
            <a:p/>
          </p:txBody>
        </p:sp>
        <p:sp>
          <p:nvSpPr>
            <p:cNvPr id="22" name="object 22" descr=""/>
            <p:cNvSpPr/>
            <p:nvPr/>
          </p:nvSpPr>
          <p:spPr>
            <a:xfrm>
              <a:off x="5702808" y="1636915"/>
              <a:ext cx="3099435" cy="560070"/>
            </a:xfrm>
            <a:custGeom>
              <a:avLst/>
              <a:gdLst/>
              <a:ahLst/>
              <a:cxnLst/>
              <a:rect l="l" t="t" r="r" b="b"/>
              <a:pathLst>
                <a:path w="3099434" h="560069">
                  <a:moveTo>
                    <a:pt x="0" y="0"/>
                  </a:moveTo>
                  <a:lnTo>
                    <a:pt x="3098939" y="0"/>
                  </a:lnTo>
                  <a:lnTo>
                    <a:pt x="3098939" y="559574"/>
                  </a:lnTo>
                  <a:lnTo>
                    <a:pt x="0" y="559574"/>
                  </a:lnTo>
                  <a:lnTo>
                    <a:pt x="0" y="0"/>
                  </a:lnTo>
                  <a:close/>
                </a:path>
              </a:pathLst>
            </a:custGeom>
            <a:ln w="25400">
              <a:solidFill>
                <a:srgbClr val="89A4A7"/>
              </a:solidFill>
            </a:ln>
          </p:spPr>
          <p:txBody>
            <a:bodyPr wrap="square" lIns="0" tIns="0" rIns="0" bIns="0" rtlCol="0"/>
            <a:lstStyle/>
            <a:p/>
          </p:txBody>
        </p:sp>
      </p:grpSp>
      <p:sp>
        <p:nvSpPr>
          <p:cNvPr id="23" name="object 23" descr=""/>
          <p:cNvSpPr txBox="1"/>
          <p:nvPr/>
        </p:nvSpPr>
        <p:spPr>
          <a:xfrm>
            <a:off x="5715508" y="1763038"/>
            <a:ext cx="3074035" cy="299720"/>
          </a:xfrm>
          <a:prstGeom prst="rect">
            <a:avLst/>
          </a:prstGeom>
        </p:spPr>
        <p:txBody>
          <a:bodyPr wrap="square" lIns="0" tIns="12700" rIns="0" bIns="0" rtlCol="0" vert="horz">
            <a:spAutoFit/>
          </a:bodyPr>
          <a:lstStyle/>
          <a:p>
            <a:pPr marL="735965">
              <a:lnSpc>
                <a:spcPct val="100000"/>
              </a:lnSpc>
              <a:spcBef>
                <a:spcPts val="100"/>
              </a:spcBef>
            </a:pPr>
            <a:r>
              <a:rPr dirty="0" sz="1800" spc="-10">
                <a:solidFill>
                  <a:srgbClr val="FFFFFF"/>
                </a:solidFill>
                <a:latin typeface="SimSun"/>
                <a:cs typeface="SimSun"/>
              </a:rPr>
              <a:t>线缆连接和走线</a:t>
            </a:r>
            <a:endParaRPr sz="1800">
              <a:latin typeface="SimSun"/>
              <a:cs typeface="SimSun"/>
            </a:endParaRPr>
          </a:p>
        </p:txBody>
      </p:sp>
      <p:grpSp>
        <p:nvGrpSpPr>
          <p:cNvPr id="24" name="object 24" descr=""/>
          <p:cNvGrpSpPr/>
          <p:nvPr/>
        </p:nvGrpSpPr>
        <p:grpSpPr>
          <a:xfrm>
            <a:off x="5690108" y="2541943"/>
            <a:ext cx="3124835" cy="461009"/>
            <a:chOff x="5690108" y="2541943"/>
            <a:chExt cx="3124835" cy="461009"/>
          </a:xfrm>
        </p:grpSpPr>
        <p:sp>
          <p:nvSpPr>
            <p:cNvPr id="25" name="object 25" descr=""/>
            <p:cNvSpPr/>
            <p:nvPr/>
          </p:nvSpPr>
          <p:spPr>
            <a:xfrm>
              <a:off x="5702808" y="2554643"/>
              <a:ext cx="3099435" cy="435609"/>
            </a:xfrm>
            <a:custGeom>
              <a:avLst/>
              <a:gdLst/>
              <a:ahLst/>
              <a:cxnLst/>
              <a:rect l="l" t="t" r="r" b="b"/>
              <a:pathLst>
                <a:path w="3099434" h="435610">
                  <a:moveTo>
                    <a:pt x="3098939" y="0"/>
                  </a:moveTo>
                  <a:lnTo>
                    <a:pt x="0" y="0"/>
                  </a:lnTo>
                  <a:lnTo>
                    <a:pt x="0" y="435584"/>
                  </a:lnTo>
                  <a:lnTo>
                    <a:pt x="3098939" y="435584"/>
                  </a:lnTo>
                  <a:lnTo>
                    <a:pt x="3098939" y="0"/>
                  </a:lnTo>
                  <a:close/>
                </a:path>
              </a:pathLst>
            </a:custGeom>
            <a:solidFill>
              <a:srgbClr val="00B0F0"/>
            </a:solidFill>
          </p:spPr>
          <p:txBody>
            <a:bodyPr wrap="square" lIns="0" tIns="0" rIns="0" bIns="0" rtlCol="0"/>
            <a:lstStyle/>
            <a:p/>
          </p:txBody>
        </p:sp>
        <p:sp>
          <p:nvSpPr>
            <p:cNvPr id="26" name="object 26" descr=""/>
            <p:cNvSpPr/>
            <p:nvPr/>
          </p:nvSpPr>
          <p:spPr>
            <a:xfrm>
              <a:off x="5702808" y="2554643"/>
              <a:ext cx="3099435" cy="435609"/>
            </a:xfrm>
            <a:custGeom>
              <a:avLst/>
              <a:gdLst/>
              <a:ahLst/>
              <a:cxnLst/>
              <a:rect l="l" t="t" r="r" b="b"/>
              <a:pathLst>
                <a:path w="3099434" h="435610">
                  <a:moveTo>
                    <a:pt x="0" y="0"/>
                  </a:moveTo>
                  <a:lnTo>
                    <a:pt x="3098939" y="0"/>
                  </a:lnTo>
                  <a:lnTo>
                    <a:pt x="3098939" y="435584"/>
                  </a:lnTo>
                  <a:lnTo>
                    <a:pt x="0" y="435584"/>
                  </a:lnTo>
                  <a:lnTo>
                    <a:pt x="0" y="0"/>
                  </a:lnTo>
                  <a:close/>
                </a:path>
              </a:pathLst>
            </a:custGeom>
            <a:ln w="25400">
              <a:solidFill>
                <a:srgbClr val="89A4A7"/>
              </a:solidFill>
            </a:ln>
          </p:spPr>
          <p:txBody>
            <a:bodyPr wrap="square" lIns="0" tIns="0" rIns="0" bIns="0" rtlCol="0"/>
            <a:lstStyle/>
            <a:p/>
          </p:txBody>
        </p:sp>
      </p:grpSp>
      <p:sp>
        <p:nvSpPr>
          <p:cNvPr id="27" name="object 27" descr=""/>
          <p:cNvSpPr txBox="1"/>
          <p:nvPr/>
        </p:nvSpPr>
        <p:spPr>
          <a:xfrm>
            <a:off x="5715508" y="2618760"/>
            <a:ext cx="3074035" cy="299720"/>
          </a:xfrm>
          <a:prstGeom prst="rect">
            <a:avLst/>
          </a:prstGeom>
        </p:spPr>
        <p:txBody>
          <a:bodyPr wrap="square" lIns="0" tIns="12700" rIns="0" bIns="0" rtlCol="0" vert="horz">
            <a:spAutoFit/>
          </a:bodyPr>
          <a:lstStyle/>
          <a:p>
            <a:pPr algn="ctr">
              <a:lnSpc>
                <a:spcPct val="100000"/>
              </a:lnSpc>
              <a:spcBef>
                <a:spcPts val="100"/>
              </a:spcBef>
            </a:pPr>
            <a:r>
              <a:rPr dirty="0" sz="1800" spc="-15">
                <a:solidFill>
                  <a:srgbClr val="FFFFFF"/>
                </a:solidFill>
                <a:latin typeface="SimSun"/>
                <a:cs typeface="SimSun"/>
              </a:rPr>
              <a:t>硬件检查</a:t>
            </a:r>
            <a:endParaRPr sz="1800">
              <a:latin typeface="SimSun"/>
              <a:cs typeface="SimSun"/>
            </a:endParaRPr>
          </a:p>
        </p:txBody>
      </p:sp>
      <p:grpSp>
        <p:nvGrpSpPr>
          <p:cNvPr id="28" name="object 28" descr=""/>
          <p:cNvGrpSpPr/>
          <p:nvPr/>
        </p:nvGrpSpPr>
        <p:grpSpPr>
          <a:xfrm>
            <a:off x="5690108" y="3399447"/>
            <a:ext cx="3124835" cy="461009"/>
            <a:chOff x="5690108" y="3399447"/>
            <a:chExt cx="3124835" cy="461009"/>
          </a:xfrm>
        </p:grpSpPr>
        <p:sp>
          <p:nvSpPr>
            <p:cNvPr id="29" name="object 29" descr=""/>
            <p:cNvSpPr/>
            <p:nvPr/>
          </p:nvSpPr>
          <p:spPr>
            <a:xfrm>
              <a:off x="5702808" y="3412147"/>
              <a:ext cx="3099435" cy="435609"/>
            </a:xfrm>
            <a:custGeom>
              <a:avLst/>
              <a:gdLst/>
              <a:ahLst/>
              <a:cxnLst/>
              <a:rect l="l" t="t" r="r" b="b"/>
              <a:pathLst>
                <a:path w="3099434" h="435610">
                  <a:moveTo>
                    <a:pt x="3098939" y="0"/>
                  </a:moveTo>
                  <a:lnTo>
                    <a:pt x="0" y="0"/>
                  </a:lnTo>
                  <a:lnTo>
                    <a:pt x="0" y="435584"/>
                  </a:lnTo>
                  <a:lnTo>
                    <a:pt x="3098939" y="435584"/>
                  </a:lnTo>
                  <a:lnTo>
                    <a:pt x="3098939" y="0"/>
                  </a:lnTo>
                  <a:close/>
                </a:path>
              </a:pathLst>
            </a:custGeom>
            <a:solidFill>
              <a:srgbClr val="00B0F0"/>
            </a:solidFill>
          </p:spPr>
          <p:txBody>
            <a:bodyPr wrap="square" lIns="0" tIns="0" rIns="0" bIns="0" rtlCol="0"/>
            <a:lstStyle/>
            <a:p/>
          </p:txBody>
        </p:sp>
        <p:sp>
          <p:nvSpPr>
            <p:cNvPr id="30" name="object 30" descr=""/>
            <p:cNvSpPr/>
            <p:nvPr/>
          </p:nvSpPr>
          <p:spPr>
            <a:xfrm>
              <a:off x="5702808" y="3412147"/>
              <a:ext cx="3099435" cy="435609"/>
            </a:xfrm>
            <a:custGeom>
              <a:avLst/>
              <a:gdLst/>
              <a:ahLst/>
              <a:cxnLst/>
              <a:rect l="l" t="t" r="r" b="b"/>
              <a:pathLst>
                <a:path w="3099434" h="435610">
                  <a:moveTo>
                    <a:pt x="0" y="0"/>
                  </a:moveTo>
                  <a:lnTo>
                    <a:pt x="3098939" y="0"/>
                  </a:lnTo>
                  <a:lnTo>
                    <a:pt x="3098939" y="435584"/>
                  </a:lnTo>
                  <a:lnTo>
                    <a:pt x="0" y="435584"/>
                  </a:lnTo>
                  <a:lnTo>
                    <a:pt x="0" y="0"/>
                  </a:lnTo>
                  <a:close/>
                </a:path>
              </a:pathLst>
            </a:custGeom>
            <a:ln w="25400">
              <a:solidFill>
                <a:srgbClr val="89A4A7"/>
              </a:solidFill>
            </a:ln>
          </p:spPr>
          <p:txBody>
            <a:bodyPr wrap="square" lIns="0" tIns="0" rIns="0" bIns="0" rtlCol="0"/>
            <a:lstStyle/>
            <a:p/>
          </p:txBody>
        </p:sp>
      </p:grpSp>
      <p:sp>
        <p:nvSpPr>
          <p:cNvPr id="31" name="object 31" descr=""/>
          <p:cNvSpPr txBox="1"/>
          <p:nvPr/>
        </p:nvSpPr>
        <p:spPr>
          <a:xfrm>
            <a:off x="5715508" y="3476266"/>
            <a:ext cx="3074035" cy="299720"/>
          </a:xfrm>
          <a:prstGeom prst="rect">
            <a:avLst/>
          </a:prstGeom>
        </p:spPr>
        <p:txBody>
          <a:bodyPr wrap="square" lIns="0" tIns="12700" rIns="0" bIns="0" rtlCol="0" vert="horz">
            <a:spAutoFit/>
          </a:bodyPr>
          <a:lstStyle/>
          <a:p>
            <a:pPr algn="ctr">
              <a:lnSpc>
                <a:spcPct val="100000"/>
              </a:lnSpc>
              <a:spcBef>
                <a:spcPts val="100"/>
              </a:spcBef>
            </a:pPr>
            <a:r>
              <a:rPr dirty="0" sz="1800" spc="-15">
                <a:solidFill>
                  <a:srgbClr val="FFFFFF"/>
                </a:solidFill>
                <a:latin typeface="SimSun"/>
                <a:cs typeface="SimSun"/>
              </a:rPr>
              <a:t>设备上电</a:t>
            </a:r>
            <a:endParaRPr sz="1800">
              <a:latin typeface="SimSun"/>
              <a:cs typeface="SimSun"/>
            </a:endParaRPr>
          </a:p>
        </p:txBody>
      </p:sp>
      <p:grpSp>
        <p:nvGrpSpPr>
          <p:cNvPr id="32" name="object 32" descr=""/>
          <p:cNvGrpSpPr/>
          <p:nvPr/>
        </p:nvGrpSpPr>
        <p:grpSpPr>
          <a:xfrm>
            <a:off x="1632841" y="1266825"/>
            <a:ext cx="5657850" cy="3691890"/>
            <a:chOff x="1632841" y="1266825"/>
            <a:chExt cx="5657850" cy="3691890"/>
          </a:xfrm>
        </p:grpSpPr>
        <p:sp>
          <p:nvSpPr>
            <p:cNvPr id="33" name="object 33" descr=""/>
            <p:cNvSpPr/>
            <p:nvPr/>
          </p:nvSpPr>
          <p:spPr>
            <a:xfrm>
              <a:off x="1670941" y="2072505"/>
              <a:ext cx="0" cy="558800"/>
            </a:xfrm>
            <a:custGeom>
              <a:avLst/>
              <a:gdLst/>
              <a:ahLst/>
              <a:cxnLst/>
              <a:rect l="l" t="t" r="r" b="b"/>
              <a:pathLst>
                <a:path w="0" h="558800">
                  <a:moveTo>
                    <a:pt x="0" y="0"/>
                  </a:moveTo>
                  <a:lnTo>
                    <a:pt x="0" y="558304"/>
                  </a:lnTo>
                </a:path>
              </a:pathLst>
            </a:custGeom>
            <a:ln w="19050">
              <a:solidFill>
                <a:srgbClr val="B6DCDF"/>
              </a:solidFill>
            </a:ln>
          </p:spPr>
          <p:txBody>
            <a:bodyPr wrap="square" lIns="0" tIns="0" rIns="0" bIns="0" rtlCol="0"/>
            <a:lstStyle/>
            <a:p/>
          </p:txBody>
        </p:sp>
        <p:sp>
          <p:nvSpPr>
            <p:cNvPr id="34" name="object 34" descr=""/>
            <p:cNvSpPr/>
            <p:nvPr/>
          </p:nvSpPr>
          <p:spPr>
            <a:xfrm>
              <a:off x="1632841" y="2618107"/>
              <a:ext cx="76200" cy="76200"/>
            </a:xfrm>
            <a:custGeom>
              <a:avLst/>
              <a:gdLst/>
              <a:ahLst/>
              <a:cxnLst/>
              <a:rect l="l" t="t" r="r" b="b"/>
              <a:pathLst>
                <a:path w="76200" h="76200">
                  <a:moveTo>
                    <a:pt x="76200" y="0"/>
                  </a:moveTo>
                  <a:lnTo>
                    <a:pt x="0" y="0"/>
                  </a:lnTo>
                  <a:lnTo>
                    <a:pt x="38100" y="76200"/>
                  </a:lnTo>
                  <a:lnTo>
                    <a:pt x="76200" y="0"/>
                  </a:lnTo>
                  <a:close/>
                </a:path>
              </a:pathLst>
            </a:custGeom>
            <a:solidFill>
              <a:srgbClr val="B6DCDF"/>
            </a:solidFill>
          </p:spPr>
          <p:txBody>
            <a:bodyPr wrap="square" lIns="0" tIns="0" rIns="0" bIns="0" rtlCol="0"/>
            <a:lstStyle/>
            <a:p/>
          </p:txBody>
        </p:sp>
        <p:sp>
          <p:nvSpPr>
            <p:cNvPr id="35" name="object 35" descr=""/>
            <p:cNvSpPr/>
            <p:nvPr/>
          </p:nvSpPr>
          <p:spPr>
            <a:xfrm>
              <a:off x="1670941" y="3115862"/>
              <a:ext cx="0" cy="450850"/>
            </a:xfrm>
            <a:custGeom>
              <a:avLst/>
              <a:gdLst/>
              <a:ahLst/>
              <a:cxnLst/>
              <a:rect l="l" t="t" r="r" b="b"/>
              <a:pathLst>
                <a:path w="0" h="450850">
                  <a:moveTo>
                    <a:pt x="0" y="0"/>
                  </a:moveTo>
                  <a:lnTo>
                    <a:pt x="0" y="450570"/>
                  </a:lnTo>
                </a:path>
              </a:pathLst>
            </a:custGeom>
            <a:ln w="19050">
              <a:solidFill>
                <a:srgbClr val="B6DCDF"/>
              </a:solidFill>
            </a:ln>
          </p:spPr>
          <p:txBody>
            <a:bodyPr wrap="square" lIns="0" tIns="0" rIns="0" bIns="0" rtlCol="0"/>
            <a:lstStyle/>
            <a:p/>
          </p:txBody>
        </p:sp>
        <p:sp>
          <p:nvSpPr>
            <p:cNvPr id="36" name="object 36" descr=""/>
            <p:cNvSpPr/>
            <p:nvPr/>
          </p:nvSpPr>
          <p:spPr>
            <a:xfrm>
              <a:off x="1632841" y="3553735"/>
              <a:ext cx="76200" cy="76200"/>
            </a:xfrm>
            <a:custGeom>
              <a:avLst/>
              <a:gdLst/>
              <a:ahLst/>
              <a:cxnLst/>
              <a:rect l="l" t="t" r="r" b="b"/>
              <a:pathLst>
                <a:path w="76200" h="76200">
                  <a:moveTo>
                    <a:pt x="76200" y="0"/>
                  </a:moveTo>
                  <a:lnTo>
                    <a:pt x="0" y="0"/>
                  </a:lnTo>
                  <a:lnTo>
                    <a:pt x="38100" y="76199"/>
                  </a:lnTo>
                  <a:lnTo>
                    <a:pt x="76200" y="0"/>
                  </a:lnTo>
                  <a:close/>
                </a:path>
              </a:pathLst>
            </a:custGeom>
            <a:solidFill>
              <a:srgbClr val="B6DCDF"/>
            </a:solidFill>
          </p:spPr>
          <p:txBody>
            <a:bodyPr wrap="square" lIns="0" tIns="0" rIns="0" bIns="0" rtlCol="0"/>
            <a:lstStyle/>
            <a:p/>
          </p:txBody>
        </p:sp>
        <p:sp>
          <p:nvSpPr>
            <p:cNvPr id="37" name="object 37" descr=""/>
            <p:cNvSpPr/>
            <p:nvPr/>
          </p:nvSpPr>
          <p:spPr>
            <a:xfrm>
              <a:off x="7250771" y="2196495"/>
              <a:ext cx="0" cy="294640"/>
            </a:xfrm>
            <a:custGeom>
              <a:avLst/>
              <a:gdLst/>
              <a:ahLst/>
              <a:cxnLst/>
              <a:rect l="l" t="t" r="r" b="b"/>
              <a:pathLst>
                <a:path w="0" h="294639">
                  <a:moveTo>
                    <a:pt x="0" y="0"/>
                  </a:moveTo>
                  <a:lnTo>
                    <a:pt x="0" y="294640"/>
                  </a:lnTo>
                </a:path>
              </a:pathLst>
            </a:custGeom>
            <a:ln w="19050">
              <a:solidFill>
                <a:srgbClr val="B6DCDF"/>
              </a:solidFill>
            </a:ln>
          </p:spPr>
          <p:txBody>
            <a:bodyPr wrap="square" lIns="0" tIns="0" rIns="0" bIns="0" rtlCol="0"/>
            <a:lstStyle/>
            <a:p/>
          </p:txBody>
        </p:sp>
        <p:sp>
          <p:nvSpPr>
            <p:cNvPr id="38" name="object 38" descr=""/>
            <p:cNvSpPr/>
            <p:nvPr/>
          </p:nvSpPr>
          <p:spPr>
            <a:xfrm>
              <a:off x="7212671" y="2478439"/>
              <a:ext cx="76200" cy="76200"/>
            </a:xfrm>
            <a:custGeom>
              <a:avLst/>
              <a:gdLst/>
              <a:ahLst/>
              <a:cxnLst/>
              <a:rect l="l" t="t" r="r" b="b"/>
              <a:pathLst>
                <a:path w="76200" h="76200">
                  <a:moveTo>
                    <a:pt x="76200" y="0"/>
                  </a:moveTo>
                  <a:lnTo>
                    <a:pt x="0" y="0"/>
                  </a:lnTo>
                  <a:lnTo>
                    <a:pt x="38100" y="76200"/>
                  </a:lnTo>
                  <a:lnTo>
                    <a:pt x="76200" y="0"/>
                  </a:lnTo>
                  <a:close/>
                </a:path>
              </a:pathLst>
            </a:custGeom>
            <a:solidFill>
              <a:srgbClr val="B6DCDF"/>
            </a:solidFill>
          </p:spPr>
          <p:txBody>
            <a:bodyPr wrap="square" lIns="0" tIns="0" rIns="0" bIns="0" rtlCol="0"/>
            <a:lstStyle/>
            <a:p/>
          </p:txBody>
        </p:sp>
        <p:sp>
          <p:nvSpPr>
            <p:cNvPr id="39" name="object 39" descr=""/>
            <p:cNvSpPr/>
            <p:nvPr/>
          </p:nvSpPr>
          <p:spPr>
            <a:xfrm>
              <a:off x="7252275" y="2990222"/>
              <a:ext cx="0" cy="358775"/>
            </a:xfrm>
            <a:custGeom>
              <a:avLst/>
              <a:gdLst/>
              <a:ahLst/>
              <a:cxnLst/>
              <a:rect l="l" t="t" r="r" b="b"/>
              <a:pathLst>
                <a:path w="0" h="358775">
                  <a:moveTo>
                    <a:pt x="0" y="0"/>
                  </a:moveTo>
                  <a:lnTo>
                    <a:pt x="0" y="358419"/>
                  </a:lnTo>
                </a:path>
              </a:pathLst>
            </a:custGeom>
            <a:ln w="19050">
              <a:solidFill>
                <a:srgbClr val="B6DCDF"/>
              </a:solidFill>
            </a:ln>
          </p:spPr>
          <p:txBody>
            <a:bodyPr wrap="square" lIns="0" tIns="0" rIns="0" bIns="0" rtlCol="0"/>
            <a:lstStyle/>
            <a:p/>
          </p:txBody>
        </p:sp>
        <p:sp>
          <p:nvSpPr>
            <p:cNvPr id="40" name="object 40" descr=""/>
            <p:cNvSpPr/>
            <p:nvPr/>
          </p:nvSpPr>
          <p:spPr>
            <a:xfrm>
              <a:off x="7214175" y="3335945"/>
              <a:ext cx="76200" cy="76200"/>
            </a:xfrm>
            <a:custGeom>
              <a:avLst/>
              <a:gdLst/>
              <a:ahLst/>
              <a:cxnLst/>
              <a:rect l="l" t="t" r="r" b="b"/>
              <a:pathLst>
                <a:path w="76200" h="76200">
                  <a:moveTo>
                    <a:pt x="76200" y="0"/>
                  </a:moveTo>
                  <a:lnTo>
                    <a:pt x="0" y="0"/>
                  </a:lnTo>
                  <a:lnTo>
                    <a:pt x="38100" y="76199"/>
                  </a:lnTo>
                  <a:lnTo>
                    <a:pt x="76200" y="0"/>
                  </a:lnTo>
                  <a:close/>
                </a:path>
              </a:pathLst>
            </a:custGeom>
            <a:solidFill>
              <a:srgbClr val="B6DCDF"/>
            </a:solidFill>
          </p:spPr>
          <p:txBody>
            <a:bodyPr wrap="square" lIns="0" tIns="0" rIns="0" bIns="0" rtlCol="0"/>
            <a:lstStyle/>
            <a:p/>
          </p:txBody>
        </p:sp>
        <p:sp>
          <p:nvSpPr>
            <p:cNvPr id="41" name="object 41" descr=""/>
            <p:cNvSpPr/>
            <p:nvPr/>
          </p:nvSpPr>
          <p:spPr>
            <a:xfrm>
              <a:off x="7252275" y="3847727"/>
              <a:ext cx="0" cy="387350"/>
            </a:xfrm>
            <a:custGeom>
              <a:avLst/>
              <a:gdLst/>
              <a:ahLst/>
              <a:cxnLst/>
              <a:rect l="l" t="t" r="r" b="b"/>
              <a:pathLst>
                <a:path w="0" h="387350">
                  <a:moveTo>
                    <a:pt x="0" y="0"/>
                  </a:moveTo>
                  <a:lnTo>
                    <a:pt x="0" y="387007"/>
                  </a:lnTo>
                </a:path>
              </a:pathLst>
            </a:custGeom>
            <a:ln w="19050">
              <a:solidFill>
                <a:srgbClr val="B6DCDF"/>
              </a:solidFill>
            </a:ln>
          </p:spPr>
          <p:txBody>
            <a:bodyPr wrap="square" lIns="0" tIns="0" rIns="0" bIns="0" rtlCol="0"/>
            <a:lstStyle/>
            <a:p/>
          </p:txBody>
        </p:sp>
        <p:sp>
          <p:nvSpPr>
            <p:cNvPr id="42" name="object 42" descr=""/>
            <p:cNvSpPr/>
            <p:nvPr/>
          </p:nvSpPr>
          <p:spPr>
            <a:xfrm>
              <a:off x="7214175" y="4222040"/>
              <a:ext cx="76200" cy="76200"/>
            </a:xfrm>
            <a:custGeom>
              <a:avLst/>
              <a:gdLst/>
              <a:ahLst/>
              <a:cxnLst/>
              <a:rect l="l" t="t" r="r" b="b"/>
              <a:pathLst>
                <a:path w="76200" h="76200">
                  <a:moveTo>
                    <a:pt x="76200" y="0"/>
                  </a:moveTo>
                  <a:lnTo>
                    <a:pt x="0" y="0"/>
                  </a:lnTo>
                  <a:lnTo>
                    <a:pt x="38100" y="76200"/>
                  </a:lnTo>
                  <a:lnTo>
                    <a:pt x="76200" y="0"/>
                  </a:lnTo>
                  <a:close/>
                </a:path>
              </a:pathLst>
            </a:custGeom>
            <a:solidFill>
              <a:srgbClr val="B6DCDF"/>
            </a:solidFill>
          </p:spPr>
          <p:txBody>
            <a:bodyPr wrap="square" lIns="0" tIns="0" rIns="0" bIns="0" rtlCol="0"/>
            <a:lstStyle/>
            <a:p/>
          </p:txBody>
        </p:sp>
        <p:sp>
          <p:nvSpPr>
            <p:cNvPr id="43" name="object 43" descr=""/>
            <p:cNvSpPr/>
            <p:nvPr/>
          </p:nvSpPr>
          <p:spPr>
            <a:xfrm>
              <a:off x="1670941" y="1276350"/>
              <a:ext cx="5580380" cy="3672840"/>
            </a:xfrm>
            <a:custGeom>
              <a:avLst/>
              <a:gdLst/>
              <a:ahLst/>
              <a:cxnLst/>
              <a:rect l="l" t="t" r="r" b="b"/>
              <a:pathLst>
                <a:path w="5580380" h="3672840">
                  <a:moveTo>
                    <a:pt x="0" y="3672408"/>
                  </a:moveTo>
                  <a:lnTo>
                    <a:pt x="2789910" y="3672408"/>
                  </a:lnTo>
                  <a:lnTo>
                    <a:pt x="2789910" y="0"/>
                  </a:lnTo>
                  <a:lnTo>
                    <a:pt x="5579833" y="0"/>
                  </a:lnTo>
                </a:path>
              </a:pathLst>
            </a:custGeom>
            <a:ln w="19049">
              <a:solidFill>
                <a:srgbClr val="B6DCDF"/>
              </a:solidFill>
            </a:ln>
          </p:spPr>
          <p:txBody>
            <a:bodyPr wrap="square" lIns="0" tIns="0" rIns="0" bIns="0" rtlCol="0"/>
            <a:lstStyle/>
            <a:p/>
          </p:txBody>
        </p:sp>
        <p:sp>
          <p:nvSpPr>
            <p:cNvPr id="44" name="object 44" descr=""/>
            <p:cNvSpPr/>
            <p:nvPr/>
          </p:nvSpPr>
          <p:spPr>
            <a:xfrm>
              <a:off x="1670941" y="4126994"/>
              <a:ext cx="0" cy="822325"/>
            </a:xfrm>
            <a:custGeom>
              <a:avLst/>
              <a:gdLst/>
              <a:ahLst/>
              <a:cxnLst/>
              <a:rect l="l" t="t" r="r" b="b"/>
              <a:pathLst>
                <a:path w="0" h="822325">
                  <a:moveTo>
                    <a:pt x="0" y="0"/>
                  </a:moveTo>
                  <a:lnTo>
                    <a:pt x="0" y="821766"/>
                  </a:lnTo>
                </a:path>
              </a:pathLst>
            </a:custGeom>
            <a:ln w="19050">
              <a:solidFill>
                <a:srgbClr val="B6DCDF"/>
              </a:solidFill>
            </a:ln>
          </p:spPr>
          <p:txBody>
            <a:bodyPr wrap="square" lIns="0" tIns="0" rIns="0" bIns="0" rtlCol="0"/>
            <a:lstStyle/>
            <a:p/>
          </p:txBody>
        </p:sp>
        <p:sp>
          <p:nvSpPr>
            <p:cNvPr id="45" name="object 45" descr=""/>
            <p:cNvSpPr/>
            <p:nvPr/>
          </p:nvSpPr>
          <p:spPr>
            <a:xfrm>
              <a:off x="7245959" y="1278776"/>
              <a:ext cx="0" cy="294640"/>
            </a:xfrm>
            <a:custGeom>
              <a:avLst/>
              <a:gdLst/>
              <a:ahLst/>
              <a:cxnLst/>
              <a:rect l="l" t="t" r="r" b="b"/>
              <a:pathLst>
                <a:path w="0" h="294640">
                  <a:moveTo>
                    <a:pt x="0" y="0"/>
                  </a:moveTo>
                  <a:lnTo>
                    <a:pt x="0" y="294640"/>
                  </a:lnTo>
                </a:path>
              </a:pathLst>
            </a:custGeom>
            <a:ln w="19050">
              <a:solidFill>
                <a:srgbClr val="B6DCDF"/>
              </a:solidFill>
            </a:ln>
          </p:spPr>
          <p:txBody>
            <a:bodyPr wrap="square" lIns="0" tIns="0" rIns="0" bIns="0" rtlCol="0"/>
            <a:lstStyle/>
            <a:p/>
          </p:txBody>
        </p:sp>
        <p:sp>
          <p:nvSpPr>
            <p:cNvPr id="46" name="object 46" descr=""/>
            <p:cNvSpPr/>
            <p:nvPr/>
          </p:nvSpPr>
          <p:spPr>
            <a:xfrm>
              <a:off x="7207859" y="1560720"/>
              <a:ext cx="76200" cy="76200"/>
            </a:xfrm>
            <a:custGeom>
              <a:avLst/>
              <a:gdLst/>
              <a:ahLst/>
              <a:cxnLst/>
              <a:rect l="l" t="t" r="r" b="b"/>
              <a:pathLst>
                <a:path w="76200" h="76200">
                  <a:moveTo>
                    <a:pt x="76200" y="0"/>
                  </a:moveTo>
                  <a:lnTo>
                    <a:pt x="0" y="0"/>
                  </a:lnTo>
                  <a:lnTo>
                    <a:pt x="38100" y="76200"/>
                  </a:lnTo>
                  <a:lnTo>
                    <a:pt x="76200" y="0"/>
                  </a:lnTo>
                  <a:close/>
                </a:path>
              </a:pathLst>
            </a:custGeom>
            <a:solidFill>
              <a:srgbClr val="B6DCDF"/>
            </a:solidFill>
          </p:spPr>
          <p:txBody>
            <a:bodyPr wrap="square" lIns="0" tIns="0" rIns="0" bIns="0" rtlCol="0"/>
            <a:lstStyle/>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42836" y="152654"/>
            <a:ext cx="382270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35"/>
              <a:t>基站</a:t>
            </a:r>
            <a:r>
              <a:rPr dirty="0" spc="-30">
                <a:latin typeface="Times New Roman"/>
                <a:cs typeface="Times New Roman"/>
              </a:rPr>
              <a:t>BBU</a:t>
            </a:r>
            <a:r>
              <a:rPr dirty="0" spc="-40"/>
              <a:t>安装流程</a:t>
            </a:r>
          </a:p>
        </p:txBody>
      </p:sp>
      <p:pic>
        <p:nvPicPr>
          <p:cNvPr id="3" name="object 3"/>
          <p:cNvPicPr/>
          <p:nvPr/>
        </p:nvPicPr>
        <p:blipFill>
          <a:blip r:embed="rId2" cstate="print"/>
          <a:stretch>
            <a:fillRect/>
          </a:stretch>
        </p:blipFill>
        <p:spPr>
          <a:xfrm>
            <a:off x="155917" y="1504950"/>
            <a:ext cx="8910709" cy="245012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05426" y="113125"/>
            <a:ext cx="1653539" cy="513080"/>
          </a:xfrm>
          <a:prstGeom prst="rect"/>
        </p:spPr>
        <p:txBody>
          <a:bodyPr wrap="square" lIns="0" tIns="12065" rIns="0" bIns="0" rtlCol="0" vert="horz">
            <a:spAutoFit/>
          </a:bodyPr>
          <a:lstStyle/>
          <a:p>
            <a:pPr marL="12700">
              <a:lnSpc>
                <a:spcPct val="100000"/>
              </a:lnSpc>
              <a:spcBef>
                <a:spcPts val="95"/>
              </a:spcBef>
            </a:pPr>
            <a:r>
              <a:rPr dirty="0" spc="-40"/>
              <a:t>安装准备</a:t>
            </a:r>
          </a:p>
        </p:txBody>
      </p:sp>
      <p:pic>
        <p:nvPicPr>
          <p:cNvPr id="3" name="object 3" descr=""/>
          <p:cNvPicPr/>
          <p:nvPr/>
        </p:nvPicPr>
        <p:blipFill>
          <a:blip r:embed="rId2" cstate="print"/>
          <a:stretch>
            <a:fillRect/>
          </a:stretch>
        </p:blipFill>
        <p:spPr>
          <a:xfrm>
            <a:off x="609600" y="1047750"/>
            <a:ext cx="2844330" cy="530771"/>
          </a:xfrm>
          <a:prstGeom prst="rect">
            <a:avLst/>
          </a:prstGeom>
        </p:spPr>
      </p:pic>
      <p:sp>
        <p:nvSpPr>
          <p:cNvPr id="4" name="object 4" descr=""/>
          <p:cNvSpPr txBox="1"/>
          <p:nvPr/>
        </p:nvSpPr>
        <p:spPr>
          <a:xfrm>
            <a:off x="330069" y="1154893"/>
            <a:ext cx="8490585" cy="2466975"/>
          </a:xfrm>
          <a:prstGeom prst="rect">
            <a:avLst/>
          </a:prstGeom>
        </p:spPr>
        <p:txBody>
          <a:bodyPr wrap="square" lIns="0" tIns="12700" rIns="0" bIns="0" rtlCol="0" vert="horz">
            <a:spAutoFit/>
          </a:bodyPr>
          <a:lstStyle/>
          <a:p>
            <a:pPr marL="673100">
              <a:lnSpc>
                <a:spcPct val="100000"/>
              </a:lnSpc>
              <a:spcBef>
                <a:spcPts val="100"/>
              </a:spcBef>
            </a:pPr>
            <a:r>
              <a:rPr dirty="0" sz="1800" spc="-10">
                <a:latin typeface="Microsoft YaHei"/>
                <a:cs typeface="Microsoft YaHei"/>
              </a:rPr>
              <a:t>安装环境检查和验证</a:t>
            </a:r>
            <a:endParaRPr sz="1800">
              <a:latin typeface="Microsoft YaHei"/>
              <a:cs typeface="Microsoft YaHei"/>
            </a:endParaRPr>
          </a:p>
          <a:p>
            <a:pPr algn="just" marL="12700" marR="5080" indent="340995">
              <a:lnSpc>
                <a:spcPct val="150000"/>
              </a:lnSpc>
              <a:spcBef>
                <a:spcPts val="865"/>
              </a:spcBef>
            </a:pPr>
            <a:r>
              <a:rPr dirty="0" sz="1800" spc="-5">
                <a:latin typeface="Microsoft YaHei"/>
                <a:cs typeface="Microsoft YaHei"/>
              </a:rPr>
              <a:t>为了保证</a:t>
            </a:r>
            <a:r>
              <a:rPr dirty="0" sz="1800" spc="-10">
                <a:latin typeface="Microsoft YaHei"/>
                <a:cs typeface="Microsoft YaHei"/>
              </a:rPr>
              <a:t>EMB6116</a:t>
            </a:r>
            <a:r>
              <a:rPr dirty="0" sz="1800" spc="-15">
                <a:latin typeface="Microsoft YaHei"/>
                <a:cs typeface="Microsoft YaHei"/>
              </a:rPr>
              <a:t>基站安全、稳定、可靠地工作，安装设备的机房首先要考虑的</a:t>
            </a:r>
            <a:r>
              <a:rPr dirty="0" sz="1800" spc="-5">
                <a:latin typeface="Microsoft YaHei"/>
                <a:cs typeface="Microsoft YaHei"/>
              </a:rPr>
              <a:t>问题是使基站处于良好的工作环境之中，而不应设在温度高、有灰尘、有害气体、存有易燃易爆物品的地区；应避开有强烈震动和强噪声的地方；应尽量远离变电站和高压输电线路；设备机房的房屋结构、采暖通风、供电供水、照明和消防等项目应按有关国家和行业标准设计施工。</a:t>
            </a:r>
            <a:endParaRPr sz="1800">
              <a:latin typeface="Microsoft YaHei"/>
              <a:cs typeface="Microsoft YaHe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05426" y="113125"/>
            <a:ext cx="1653539" cy="513080"/>
          </a:xfrm>
          <a:prstGeom prst="rect"/>
        </p:spPr>
        <p:txBody>
          <a:bodyPr wrap="square" lIns="0" tIns="12065" rIns="0" bIns="0" rtlCol="0" vert="horz">
            <a:spAutoFit/>
          </a:bodyPr>
          <a:lstStyle/>
          <a:p>
            <a:pPr marL="12700">
              <a:lnSpc>
                <a:spcPct val="100000"/>
              </a:lnSpc>
              <a:spcBef>
                <a:spcPts val="95"/>
              </a:spcBef>
            </a:pPr>
            <a:r>
              <a:rPr dirty="0" spc="-40"/>
              <a:t>安装准备</a:t>
            </a:r>
          </a:p>
        </p:txBody>
      </p:sp>
      <p:sp>
        <p:nvSpPr>
          <p:cNvPr id="3" name="object 3" descr=""/>
          <p:cNvSpPr txBox="1"/>
          <p:nvPr/>
        </p:nvSpPr>
        <p:spPr>
          <a:xfrm>
            <a:off x="387550" y="921880"/>
            <a:ext cx="8213090" cy="3724275"/>
          </a:xfrm>
          <a:prstGeom prst="rect">
            <a:avLst/>
          </a:prstGeom>
        </p:spPr>
        <p:txBody>
          <a:bodyPr wrap="square" lIns="0" tIns="12700" rIns="0" bIns="0" rtlCol="0" vert="horz">
            <a:spAutoFit/>
          </a:bodyPr>
          <a:lstStyle/>
          <a:p>
            <a:pPr marL="12700">
              <a:lnSpc>
                <a:spcPct val="100000"/>
              </a:lnSpc>
              <a:spcBef>
                <a:spcPts val="100"/>
              </a:spcBef>
            </a:pPr>
            <a:r>
              <a:rPr dirty="0" sz="1800" spc="-10">
                <a:latin typeface="Microsoft YaHei"/>
                <a:cs typeface="Microsoft YaHei"/>
              </a:rPr>
              <a:t>EMB6116</a:t>
            </a:r>
            <a:r>
              <a:rPr dirty="0" sz="1800" spc="-5">
                <a:latin typeface="Microsoft YaHei"/>
                <a:cs typeface="Microsoft YaHei"/>
              </a:rPr>
              <a:t>主设备机房内部安装应具备下列条件：</a:t>
            </a:r>
            <a:endParaRPr sz="1800">
              <a:latin typeface="Microsoft YaHei"/>
              <a:cs typeface="Microsoft YaHei"/>
            </a:endParaRPr>
          </a:p>
          <a:p>
            <a:pPr marL="427355" marR="122555" indent="-342900">
              <a:lnSpc>
                <a:spcPct val="150000"/>
              </a:lnSpc>
              <a:spcBef>
                <a:spcPts val="1040"/>
              </a:spcBef>
              <a:buFont typeface="Wingdings"/>
              <a:buChar char=""/>
              <a:tabLst>
                <a:tab pos="427355" algn="l"/>
              </a:tabLst>
            </a:pPr>
            <a:r>
              <a:rPr dirty="0" sz="1800">
                <a:latin typeface="Microsoft YaHei"/>
                <a:cs typeface="Microsoft YaHei"/>
              </a:rPr>
              <a:t>在室外宏覆盖应用时机房应该满足直流电源防雷箱的挂墙安装空间（</a:t>
            </a:r>
            <a:r>
              <a:rPr dirty="0" sz="1800" spc="-20">
                <a:latin typeface="Microsoft YaHei"/>
                <a:cs typeface="Microsoft YaHei"/>
              </a:rPr>
              <a:t>高×宽×</a:t>
            </a:r>
            <a:r>
              <a:rPr dirty="0" sz="1800">
                <a:latin typeface="Microsoft YaHei"/>
                <a:cs typeface="Microsoft YaHei"/>
              </a:rPr>
              <a:t>深</a:t>
            </a:r>
            <a:r>
              <a:rPr dirty="0" sz="1800" spc="-10">
                <a:latin typeface="Microsoft YaHei"/>
                <a:cs typeface="Microsoft YaHei"/>
              </a:rPr>
              <a:t>）：750mm×500mm×500mm</a:t>
            </a:r>
            <a:r>
              <a:rPr dirty="0" sz="1800" spc="-50">
                <a:latin typeface="Microsoft YaHei"/>
                <a:cs typeface="Microsoft YaHei"/>
              </a:rPr>
              <a:t>。</a:t>
            </a:r>
            <a:endParaRPr sz="1800">
              <a:latin typeface="Microsoft YaHei"/>
              <a:cs typeface="Microsoft YaHei"/>
            </a:endParaRPr>
          </a:p>
          <a:p>
            <a:pPr marL="427355" indent="-342900">
              <a:lnSpc>
                <a:spcPct val="100000"/>
              </a:lnSpc>
              <a:spcBef>
                <a:spcPts val="1080"/>
              </a:spcBef>
              <a:buFont typeface="Wingdings"/>
              <a:buChar char=""/>
              <a:tabLst>
                <a:tab pos="427355" algn="l"/>
              </a:tabLst>
            </a:pPr>
            <a:r>
              <a:rPr dirty="0" sz="1800" spc="-5">
                <a:latin typeface="Microsoft YaHei"/>
                <a:cs typeface="Microsoft YaHei"/>
              </a:rPr>
              <a:t>机房天馈线进口应设置在近邻线缆走线架的上方，并配有防水和密封装置。</a:t>
            </a:r>
            <a:endParaRPr sz="1800">
              <a:latin typeface="Microsoft YaHei"/>
              <a:cs typeface="Microsoft YaHei"/>
            </a:endParaRPr>
          </a:p>
          <a:p>
            <a:pPr marL="427355" indent="-342900">
              <a:lnSpc>
                <a:spcPct val="100000"/>
              </a:lnSpc>
              <a:spcBef>
                <a:spcPts val="1080"/>
              </a:spcBef>
              <a:buFont typeface="Wingdings"/>
              <a:buChar char=""/>
              <a:tabLst>
                <a:tab pos="427355" algn="l"/>
              </a:tabLst>
            </a:pPr>
            <a:r>
              <a:rPr dirty="0" sz="1800" spc="-5">
                <a:latin typeface="Microsoft YaHei"/>
                <a:cs typeface="Microsoft YaHei"/>
              </a:rPr>
              <a:t>机房的门窗应具有较好的密封防尘功能和防盗装置。</a:t>
            </a:r>
            <a:endParaRPr sz="1800">
              <a:latin typeface="Microsoft YaHei"/>
              <a:cs typeface="Microsoft YaHei"/>
            </a:endParaRPr>
          </a:p>
          <a:p>
            <a:pPr algn="just" marL="426720" indent="-342265">
              <a:lnSpc>
                <a:spcPct val="100000"/>
              </a:lnSpc>
              <a:spcBef>
                <a:spcPts val="1080"/>
              </a:spcBef>
              <a:buFont typeface="Wingdings"/>
              <a:buChar char=""/>
              <a:tabLst>
                <a:tab pos="426720" algn="l"/>
              </a:tabLst>
            </a:pPr>
            <a:r>
              <a:rPr dirty="0" sz="1800" spc="-5">
                <a:latin typeface="Microsoft YaHei"/>
                <a:cs typeface="Microsoft YaHei"/>
              </a:rPr>
              <a:t>设备机房应该安装空调和除湿加热器。</a:t>
            </a:r>
            <a:endParaRPr sz="1800">
              <a:latin typeface="Microsoft YaHei"/>
              <a:cs typeface="Microsoft YaHei"/>
            </a:endParaRPr>
          </a:p>
          <a:p>
            <a:pPr algn="just" marL="427355" marR="5080" indent="-342900">
              <a:lnSpc>
                <a:spcPct val="150000"/>
              </a:lnSpc>
              <a:buFont typeface="Wingdings"/>
              <a:buChar char=""/>
              <a:tabLst>
                <a:tab pos="427355" algn="l"/>
              </a:tabLst>
            </a:pPr>
            <a:r>
              <a:rPr dirty="0" sz="1800">
                <a:latin typeface="Microsoft YaHei"/>
                <a:cs typeface="Microsoft YaHei"/>
              </a:rPr>
              <a:t>机房的地面应铺设防静电地板或地砖，地板下面为混凝土基础（</a:t>
            </a:r>
            <a:r>
              <a:rPr dirty="0" sz="1800" spc="-10">
                <a:latin typeface="Microsoft YaHei"/>
                <a:cs typeface="Microsoft YaHei"/>
              </a:rPr>
              <a:t>防静电地板与</a:t>
            </a:r>
            <a:r>
              <a:rPr dirty="0" sz="1800">
                <a:latin typeface="Microsoft YaHei"/>
                <a:cs typeface="Microsoft YaHei"/>
              </a:rPr>
              <a:t>混凝土基础之间没有空隙），要求混凝土的标号大于250</a:t>
            </a:r>
            <a:r>
              <a:rPr dirty="0" sz="1800" spc="-10">
                <a:latin typeface="Microsoft YaHei"/>
                <a:cs typeface="Microsoft YaHei"/>
              </a:rPr>
              <a:t>号，能够牢固固定钢制膨胀螺栓。</a:t>
            </a:r>
            <a:endParaRPr sz="1800">
              <a:latin typeface="Microsoft YaHei"/>
              <a:cs typeface="Microsoft YaHe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05426" y="113125"/>
            <a:ext cx="1653539" cy="513080"/>
          </a:xfrm>
          <a:prstGeom prst="rect"/>
        </p:spPr>
        <p:txBody>
          <a:bodyPr wrap="square" lIns="0" tIns="12065" rIns="0" bIns="0" rtlCol="0" vert="horz">
            <a:spAutoFit/>
          </a:bodyPr>
          <a:lstStyle/>
          <a:p>
            <a:pPr marL="12700">
              <a:lnSpc>
                <a:spcPct val="100000"/>
              </a:lnSpc>
              <a:spcBef>
                <a:spcPts val="95"/>
              </a:spcBef>
            </a:pPr>
            <a:r>
              <a:rPr dirty="0" spc="-40"/>
              <a:t>安装准备</a:t>
            </a:r>
          </a:p>
        </p:txBody>
      </p:sp>
      <p:sp>
        <p:nvSpPr>
          <p:cNvPr id="3" name="object 3" descr=""/>
          <p:cNvSpPr txBox="1"/>
          <p:nvPr/>
        </p:nvSpPr>
        <p:spPr>
          <a:xfrm>
            <a:off x="466237" y="819428"/>
            <a:ext cx="7912100" cy="3728720"/>
          </a:xfrm>
          <a:prstGeom prst="rect">
            <a:avLst/>
          </a:prstGeom>
        </p:spPr>
        <p:txBody>
          <a:bodyPr wrap="square" lIns="0" tIns="149860" rIns="0" bIns="0" rtlCol="0" vert="horz">
            <a:spAutoFit/>
          </a:bodyPr>
          <a:lstStyle/>
          <a:p>
            <a:pPr marL="354965" indent="-342265">
              <a:lnSpc>
                <a:spcPct val="100000"/>
              </a:lnSpc>
              <a:spcBef>
                <a:spcPts val="1180"/>
              </a:spcBef>
              <a:buFont typeface="Wingdings"/>
              <a:buChar char=""/>
              <a:tabLst>
                <a:tab pos="354965" algn="l"/>
              </a:tabLst>
            </a:pPr>
            <a:r>
              <a:rPr dirty="0" sz="1800">
                <a:latin typeface="Microsoft YaHei"/>
                <a:cs typeface="Microsoft YaHei"/>
              </a:rPr>
              <a:t>机房内应具备良好的照明灯光，四周墙面需安装</a:t>
            </a:r>
            <a:r>
              <a:rPr dirty="0" sz="1800" spc="-10">
                <a:latin typeface="Microsoft YaHei"/>
                <a:cs typeface="Microsoft YaHei"/>
              </a:rPr>
              <a:t>220V</a:t>
            </a:r>
            <a:r>
              <a:rPr dirty="0" sz="1800">
                <a:latin typeface="Microsoft YaHei"/>
                <a:cs typeface="Microsoft YaHei"/>
              </a:rPr>
              <a:t>电源插座（三芯）</a:t>
            </a:r>
            <a:r>
              <a:rPr dirty="0" sz="1800" spc="-50">
                <a:latin typeface="Microsoft YaHei"/>
                <a:cs typeface="Microsoft YaHei"/>
              </a:rPr>
              <a:t>。</a:t>
            </a:r>
            <a:endParaRPr sz="1800">
              <a:latin typeface="Microsoft YaHei"/>
              <a:cs typeface="Microsoft YaHei"/>
            </a:endParaRPr>
          </a:p>
          <a:p>
            <a:pPr marL="354965" indent="-342265">
              <a:lnSpc>
                <a:spcPct val="100000"/>
              </a:lnSpc>
              <a:spcBef>
                <a:spcPts val="1080"/>
              </a:spcBef>
              <a:buFont typeface="Wingdings"/>
              <a:buChar char=""/>
              <a:tabLst>
                <a:tab pos="354965" algn="l"/>
              </a:tabLst>
            </a:pPr>
            <a:r>
              <a:rPr dirty="0" sz="1800" spc="-5">
                <a:latin typeface="Microsoft YaHei"/>
                <a:cs typeface="Microsoft YaHei"/>
              </a:rPr>
              <a:t>机房四周墙面和天花板应粉刷，并要求干净、整洁。</a:t>
            </a:r>
            <a:endParaRPr sz="1800">
              <a:latin typeface="Microsoft YaHei"/>
              <a:cs typeface="Microsoft YaHei"/>
            </a:endParaRPr>
          </a:p>
          <a:p>
            <a:pPr marL="354965" indent="-342265">
              <a:lnSpc>
                <a:spcPct val="100000"/>
              </a:lnSpc>
              <a:spcBef>
                <a:spcPts val="1080"/>
              </a:spcBef>
              <a:buFont typeface="Wingdings"/>
              <a:buChar char=""/>
              <a:tabLst>
                <a:tab pos="354965" algn="l"/>
              </a:tabLst>
            </a:pPr>
            <a:r>
              <a:rPr dirty="0" sz="1800" spc="-5">
                <a:latin typeface="Microsoft YaHei"/>
                <a:cs typeface="Microsoft YaHei"/>
              </a:rPr>
              <a:t>安装线缆的走线架和线缆出口应在设备进入机房前，按要求安装施工完毕。</a:t>
            </a:r>
            <a:endParaRPr sz="1800">
              <a:latin typeface="Microsoft YaHei"/>
              <a:cs typeface="Microsoft YaHei"/>
            </a:endParaRPr>
          </a:p>
          <a:p>
            <a:pPr marL="354965" indent="-342265">
              <a:lnSpc>
                <a:spcPct val="100000"/>
              </a:lnSpc>
              <a:spcBef>
                <a:spcPts val="1080"/>
              </a:spcBef>
              <a:buFont typeface="Wingdings"/>
              <a:buChar char=""/>
              <a:tabLst>
                <a:tab pos="354965" algn="l"/>
              </a:tabLst>
            </a:pPr>
            <a:r>
              <a:rPr dirty="0" sz="1800" spc="-10">
                <a:latin typeface="Microsoft YaHei"/>
                <a:cs typeface="Microsoft YaHei"/>
              </a:rPr>
              <a:t>EMB6116</a:t>
            </a:r>
            <a:r>
              <a:rPr dirty="0" sz="1800" spc="-5">
                <a:latin typeface="Microsoft YaHei"/>
                <a:cs typeface="Microsoft YaHei"/>
              </a:rPr>
              <a:t>主设备为室内设备，温湿度要求如下：</a:t>
            </a:r>
            <a:endParaRPr sz="1800">
              <a:latin typeface="Microsoft YaHei"/>
              <a:cs typeface="Microsoft YaHei"/>
            </a:endParaRPr>
          </a:p>
          <a:p>
            <a:pPr marL="353060" marR="1489710" indent="-635">
              <a:lnSpc>
                <a:spcPct val="150000"/>
              </a:lnSpc>
            </a:pPr>
            <a:r>
              <a:rPr dirty="0" sz="1800">
                <a:latin typeface="Microsoft YaHei"/>
                <a:cs typeface="Microsoft YaHei"/>
              </a:rPr>
              <a:t>环境温度：-</a:t>
            </a:r>
            <a:r>
              <a:rPr dirty="0" sz="1800" spc="-10">
                <a:latin typeface="Microsoft YaHei"/>
                <a:cs typeface="Microsoft YaHei"/>
              </a:rPr>
              <a:t>10℃~+55℃（</a:t>
            </a:r>
            <a:r>
              <a:rPr dirty="0" sz="1800">
                <a:latin typeface="Microsoft YaHei"/>
                <a:cs typeface="Microsoft YaHei"/>
              </a:rPr>
              <a:t>长期</a:t>
            </a:r>
            <a:r>
              <a:rPr dirty="0" sz="1800" spc="-10">
                <a:latin typeface="Microsoft YaHei"/>
                <a:cs typeface="Microsoft YaHei"/>
              </a:rPr>
              <a:t>）；-10℃~+55℃（</a:t>
            </a:r>
            <a:r>
              <a:rPr dirty="0" sz="1800">
                <a:latin typeface="Microsoft YaHei"/>
                <a:cs typeface="Microsoft YaHei"/>
              </a:rPr>
              <a:t>短期</a:t>
            </a:r>
            <a:r>
              <a:rPr dirty="0" sz="1800" spc="-50">
                <a:latin typeface="Microsoft YaHei"/>
                <a:cs typeface="Microsoft YaHei"/>
              </a:rPr>
              <a:t>）</a:t>
            </a:r>
            <a:r>
              <a:rPr dirty="0" sz="1800" spc="15">
                <a:latin typeface="Microsoft YaHei"/>
                <a:cs typeface="Microsoft YaHei"/>
              </a:rPr>
              <a:t>相对湿度： </a:t>
            </a:r>
            <a:r>
              <a:rPr dirty="0" sz="1800" spc="-10">
                <a:latin typeface="Microsoft YaHei"/>
                <a:cs typeface="Microsoft YaHei"/>
              </a:rPr>
              <a:t>15%~85%（</a:t>
            </a:r>
            <a:r>
              <a:rPr dirty="0" sz="1800">
                <a:latin typeface="Microsoft YaHei"/>
                <a:cs typeface="Microsoft YaHei"/>
              </a:rPr>
              <a:t>长期</a:t>
            </a:r>
            <a:r>
              <a:rPr dirty="0" sz="1800" spc="-10">
                <a:latin typeface="Microsoft YaHei"/>
                <a:cs typeface="Microsoft YaHei"/>
              </a:rPr>
              <a:t>）；15%~85%（</a:t>
            </a:r>
            <a:r>
              <a:rPr dirty="0" sz="1800">
                <a:latin typeface="Microsoft YaHei"/>
                <a:cs typeface="Microsoft YaHei"/>
              </a:rPr>
              <a:t>短期</a:t>
            </a:r>
            <a:r>
              <a:rPr dirty="0" sz="1800" spc="-50">
                <a:latin typeface="Microsoft YaHei"/>
                <a:cs typeface="Microsoft YaHei"/>
              </a:rPr>
              <a:t>）</a:t>
            </a:r>
            <a:endParaRPr sz="1800">
              <a:latin typeface="Microsoft YaHei"/>
              <a:cs typeface="Microsoft YaHei"/>
            </a:endParaRPr>
          </a:p>
          <a:p>
            <a:pPr marL="353060">
              <a:lnSpc>
                <a:spcPct val="100000"/>
              </a:lnSpc>
              <a:spcBef>
                <a:spcPts val="1080"/>
              </a:spcBef>
            </a:pPr>
            <a:r>
              <a:rPr dirty="0" sz="1800" spc="-10">
                <a:latin typeface="Microsoft YaHei"/>
                <a:cs typeface="Microsoft YaHei"/>
              </a:rPr>
              <a:t>GPS</a:t>
            </a:r>
            <a:r>
              <a:rPr dirty="0" sz="1800" spc="-5">
                <a:latin typeface="Microsoft YaHei"/>
                <a:cs typeface="Microsoft YaHei"/>
              </a:rPr>
              <a:t>子系统为室外设备，温湿度要求如下：</a:t>
            </a:r>
            <a:endParaRPr sz="1800">
              <a:latin typeface="Microsoft YaHei"/>
              <a:cs typeface="Microsoft YaHei"/>
            </a:endParaRPr>
          </a:p>
          <a:p>
            <a:pPr marL="353695" marR="1489710" indent="-635">
              <a:lnSpc>
                <a:spcPct val="150000"/>
              </a:lnSpc>
            </a:pPr>
            <a:r>
              <a:rPr dirty="0" sz="1800">
                <a:latin typeface="Microsoft YaHei"/>
                <a:cs typeface="Microsoft YaHei"/>
              </a:rPr>
              <a:t>环境温度：-</a:t>
            </a:r>
            <a:r>
              <a:rPr dirty="0" sz="1800" spc="-10">
                <a:latin typeface="Microsoft YaHei"/>
                <a:cs typeface="Microsoft YaHei"/>
              </a:rPr>
              <a:t>40℃~+55℃（</a:t>
            </a:r>
            <a:r>
              <a:rPr dirty="0" sz="1800">
                <a:latin typeface="Microsoft YaHei"/>
                <a:cs typeface="Microsoft YaHei"/>
              </a:rPr>
              <a:t>长期</a:t>
            </a:r>
            <a:r>
              <a:rPr dirty="0" sz="1800" spc="-10">
                <a:latin typeface="Microsoft YaHei"/>
                <a:cs typeface="Microsoft YaHei"/>
              </a:rPr>
              <a:t>）；-40℃~+70℃（</a:t>
            </a:r>
            <a:r>
              <a:rPr dirty="0" sz="1800">
                <a:latin typeface="Microsoft YaHei"/>
                <a:cs typeface="Microsoft YaHei"/>
              </a:rPr>
              <a:t>短期</a:t>
            </a:r>
            <a:r>
              <a:rPr dirty="0" sz="1800" spc="-50">
                <a:latin typeface="Microsoft YaHei"/>
                <a:cs typeface="Microsoft YaHei"/>
              </a:rPr>
              <a:t>）</a:t>
            </a:r>
            <a:r>
              <a:rPr dirty="0" sz="1800" spc="-5">
                <a:latin typeface="Microsoft YaHei"/>
                <a:cs typeface="Microsoft YaHei"/>
              </a:rPr>
              <a:t>相对湿度：</a:t>
            </a:r>
            <a:r>
              <a:rPr dirty="0" sz="1800" spc="-10">
                <a:latin typeface="Microsoft YaHei"/>
                <a:cs typeface="Microsoft YaHei"/>
              </a:rPr>
              <a:t>5%~98%（</a:t>
            </a:r>
            <a:r>
              <a:rPr dirty="0" sz="1800">
                <a:latin typeface="Microsoft YaHei"/>
                <a:cs typeface="Microsoft YaHei"/>
              </a:rPr>
              <a:t>长期</a:t>
            </a:r>
            <a:r>
              <a:rPr dirty="0" sz="1800" spc="-10">
                <a:latin typeface="Microsoft YaHei"/>
                <a:cs typeface="Microsoft YaHei"/>
              </a:rPr>
              <a:t>）；2%~100%（</a:t>
            </a:r>
            <a:r>
              <a:rPr dirty="0" sz="1800">
                <a:latin typeface="Microsoft YaHei"/>
                <a:cs typeface="Microsoft YaHei"/>
              </a:rPr>
              <a:t>短期</a:t>
            </a:r>
            <a:r>
              <a:rPr dirty="0" sz="1800" spc="-50">
                <a:latin typeface="Microsoft YaHei"/>
                <a:cs typeface="Microsoft YaHei"/>
              </a:rPr>
              <a:t>）</a:t>
            </a:r>
            <a:endParaRPr sz="1800">
              <a:latin typeface="Microsoft YaHei"/>
              <a:cs typeface="Microsoft YaHe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05428" y="113125"/>
            <a:ext cx="1653539" cy="513080"/>
          </a:xfrm>
          <a:prstGeom prst="rect"/>
        </p:spPr>
        <p:txBody>
          <a:bodyPr wrap="square" lIns="0" tIns="12065" rIns="0" bIns="0" rtlCol="0" vert="horz">
            <a:spAutoFit/>
          </a:bodyPr>
          <a:lstStyle/>
          <a:p>
            <a:pPr marL="12700">
              <a:lnSpc>
                <a:spcPct val="100000"/>
              </a:lnSpc>
              <a:spcBef>
                <a:spcPts val="95"/>
              </a:spcBef>
            </a:pPr>
            <a:r>
              <a:rPr dirty="0" spc="-40"/>
              <a:t>安装准备</a:t>
            </a:r>
          </a:p>
        </p:txBody>
      </p:sp>
      <p:pic>
        <p:nvPicPr>
          <p:cNvPr id="3" name="object 3" descr=""/>
          <p:cNvPicPr/>
          <p:nvPr/>
        </p:nvPicPr>
        <p:blipFill>
          <a:blip r:embed="rId2" cstate="print"/>
          <a:stretch>
            <a:fillRect/>
          </a:stretch>
        </p:blipFill>
        <p:spPr>
          <a:xfrm>
            <a:off x="228600" y="819150"/>
            <a:ext cx="2412288" cy="482523"/>
          </a:xfrm>
          <a:prstGeom prst="rect">
            <a:avLst/>
          </a:prstGeom>
        </p:spPr>
      </p:pic>
      <p:sp>
        <p:nvSpPr>
          <p:cNvPr id="4" name="object 4" descr=""/>
          <p:cNvSpPr txBox="1"/>
          <p:nvPr/>
        </p:nvSpPr>
        <p:spPr>
          <a:xfrm>
            <a:off x="507263" y="902167"/>
            <a:ext cx="1854200" cy="299720"/>
          </a:xfrm>
          <a:prstGeom prst="rect">
            <a:avLst/>
          </a:prstGeom>
        </p:spPr>
        <p:txBody>
          <a:bodyPr wrap="square" lIns="0" tIns="12700" rIns="0" bIns="0" rtlCol="0" vert="horz">
            <a:spAutoFit/>
          </a:bodyPr>
          <a:lstStyle/>
          <a:p>
            <a:pPr marL="12700">
              <a:lnSpc>
                <a:spcPct val="100000"/>
              </a:lnSpc>
              <a:spcBef>
                <a:spcPts val="100"/>
              </a:spcBef>
            </a:pPr>
            <a:r>
              <a:rPr dirty="0" sz="1800" spc="-10">
                <a:latin typeface="Microsoft YaHei"/>
                <a:cs typeface="Microsoft YaHei"/>
              </a:rPr>
              <a:t>安装工具仪表准备</a:t>
            </a:r>
            <a:endParaRPr sz="1800">
              <a:latin typeface="Microsoft YaHei"/>
              <a:cs typeface="Microsoft YaHei"/>
            </a:endParaRPr>
          </a:p>
        </p:txBody>
      </p:sp>
      <p:graphicFrame>
        <p:nvGraphicFramePr>
          <p:cNvPr id="5" name="object 5" descr=""/>
          <p:cNvGraphicFramePr>
            <a:graphicFrameLocks noGrp="1"/>
          </p:cNvGraphicFramePr>
          <p:nvPr/>
        </p:nvGraphicFramePr>
        <p:xfrm>
          <a:off x="251523" y="1300233"/>
          <a:ext cx="8717280" cy="3476625"/>
        </p:xfrm>
        <a:graphic>
          <a:graphicData uri="http://schemas.openxmlformats.org/drawingml/2006/table">
            <a:tbl>
              <a:tblPr firstRow="1" bandRow="1">
                <a:tableStyleId>{2D5ABB26-0587-4C30-8999-92F81FD0307C}</a:tableStyleId>
              </a:tblPr>
              <a:tblGrid>
                <a:gridCol w="1450975"/>
                <a:gridCol w="7190740"/>
              </a:tblGrid>
              <a:tr h="390525">
                <a:tc rowSpan="6">
                  <a:txBody>
                    <a:bodyPr/>
                    <a:lstStyle/>
                    <a:p>
                      <a:pPr>
                        <a:lnSpc>
                          <a:spcPct val="100000"/>
                        </a:lnSpc>
                      </a:pPr>
                      <a:endParaRPr sz="1600">
                        <a:latin typeface="Times New Roman"/>
                        <a:cs typeface="Times New Roman"/>
                      </a:endParaRPr>
                    </a:p>
                    <a:p>
                      <a:pPr>
                        <a:lnSpc>
                          <a:spcPct val="100000"/>
                        </a:lnSpc>
                      </a:pPr>
                      <a:endParaRPr sz="1600">
                        <a:latin typeface="Times New Roman"/>
                        <a:cs typeface="Times New Roman"/>
                      </a:endParaRPr>
                    </a:p>
                    <a:p>
                      <a:pPr>
                        <a:lnSpc>
                          <a:spcPct val="100000"/>
                        </a:lnSpc>
                      </a:pPr>
                      <a:endParaRPr sz="1600">
                        <a:latin typeface="Times New Roman"/>
                        <a:cs typeface="Times New Roman"/>
                      </a:endParaRPr>
                    </a:p>
                    <a:p>
                      <a:pPr>
                        <a:lnSpc>
                          <a:spcPct val="100000"/>
                        </a:lnSpc>
                      </a:pPr>
                      <a:endParaRPr sz="1600">
                        <a:latin typeface="Times New Roman"/>
                        <a:cs typeface="Times New Roman"/>
                      </a:endParaRPr>
                    </a:p>
                    <a:p>
                      <a:pPr>
                        <a:lnSpc>
                          <a:spcPct val="100000"/>
                        </a:lnSpc>
                        <a:spcBef>
                          <a:spcPts val="1215"/>
                        </a:spcBef>
                      </a:pPr>
                      <a:endParaRPr sz="1600">
                        <a:latin typeface="Times New Roman"/>
                        <a:cs typeface="Times New Roman"/>
                      </a:endParaRPr>
                    </a:p>
                    <a:p>
                      <a:pPr marL="318135">
                        <a:lnSpc>
                          <a:spcPct val="100000"/>
                        </a:lnSpc>
                      </a:pPr>
                      <a:r>
                        <a:rPr dirty="0" sz="1600" spc="-15" b="1">
                          <a:latin typeface="Microsoft YaHei"/>
                          <a:cs typeface="Microsoft YaHei"/>
                        </a:rPr>
                        <a:t>通用工具</a:t>
                      </a:r>
                      <a:endParaRPr sz="1600">
                        <a:latin typeface="Microsoft YaHei"/>
                        <a:cs typeface="Microsoft YaHei"/>
                      </a:endParaRPr>
                    </a:p>
                  </a:txBody>
                  <a:tcPr marL="0" marR="0" marB="0" marT="0">
                    <a:lnR w="12700">
                      <a:solidFill>
                        <a:srgbClr val="000000"/>
                      </a:solidFill>
                      <a:prstDash val="solid"/>
                    </a:lnR>
                    <a:lnT w="28575">
                      <a:solidFill>
                        <a:srgbClr val="000000"/>
                      </a:solidFill>
                      <a:prstDash val="solid"/>
                    </a:lnT>
                    <a:lnB w="12700">
                      <a:solidFill>
                        <a:srgbClr val="000000"/>
                      </a:solidFill>
                      <a:prstDash val="solid"/>
                    </a:lnB>
                    <a:solidFill>
                      <a:srgbClr val="00B0F0"/>
                    </a:solidFill>
                  </a:tcPr>
                </a:tc>
                <a:tc>
                  <a:txBody>
                    <a:bodyPr/>
                    <a:lstStyle/>
                    <a:p>
                      <a:pPr marL="90805">
                        <a:lnSpc>
                          <a:spcPct val="100000"/>
                        </a:lnSpc>
                        <a:spcBef>
                          <a:spcPts val="210"/>
                        </a:spcBef>
                      </a:pPr>
                      <a:r>
                        <a:rPr dirty="0" sz="1600" spc="-15">
                          <a:latin typeface="Microsoft YaHei"/>
                          <a:cs typeface="Microsoft YaHei"/>
                        </a:rPr>
                        <a:t>测量划线工具： 长卷尺、水平仪、记号笔</a:t>
                      </a:r>
                      <a:endParaRPr sz="1600">
                        <a:latin typeface="Microsoft YaHei"/>
                        <a:cs typeface="Microsoft YaHei"/>
                      </a:endParaRPr>
                    </a:p>
                  </a:txBody>
                  <a:tcPr marL="0" marR="0" marB="0" marT="26670">
                    <a:lnL w="12700">
                      <a:solidFill>
                        <a:srgbClr val="000000"/>
                      </a:solidFill>
                      <a:prstDash val="solid"/>
                    </a:lnL>
                    <a:lnT w="28575">
                      <a:solidFill>
                        <a:srgbClr val="000000"/>
                      </a:solidFill>
                      <a:prstDash val="solid"/>
                    </a:lnT>
                    <a:solidFill>
                      <a:srgbClr val="E8E8E8"/>
                    </a:solidFill>
                  </a:tcPr>
                </a:tc>
              </a:tr>
              <a:tr h="407670">
                <a:tc vMerge="1">
                  <a:txBody>
                    <a:bodyPr/>
                    <a:lstStyle/>
                    <a:p>
                      <a:pPr/>
                    </a:p>
                  </a:txBody>
                  <a:tcPr marL="0" marR="0" marB="0" marT="0">
                    <a:lnR w="12700">
                      <a:solidFill>
                        <a:srgbClr val="000000"/>
                      </a:solidFill>
                      <a:prstDash val="solid"/>
                    </a:lnR>
                    <a:lnT w="28575">
                      <a:solidFill>
                        <a:srgbClr val="000000"/>
                      </a:solidFill>
                      <a:prstDash val="solid"/>
                    </a:lnT>
                    <a:lnB w="12700">
                      <a:solidFill>
                        <a:srgbClr val="000000"/>
                      </a:solidFill>
                      <a:prstDash val="solid"/>
                    </a:lnB>
                    <a:solidFill>
                      <a:srgbClr val="00B0F0"/>
                    </a:solidFill>
                  </a:tcPr>
                </a:tc>
                <a:tc>
                  <a:txBody>
                    <a:bodyPr/>
                    <a:lstStyle/>
                    <a:p>
                      <a:pPr marL="90805">
                        <a:lnSpc>
                          <a:spcPct val="100000"/>
                        </a:lnSpc>
                        <a:spcBef>
                          <a:spcPts val="210"/>
                        </a:spcBef>
                      </a:pPr>
                      <a:r>
                        <a:rPr dirty="0" sz="1600" spc="-15">
                          <a:latin typeface="Microsoft YaHei"/>
                          <a:cs typeface="Microsoft YaHei"/>
                        </a:rPr>
                        <a:t>打孔工具： 冲击钻、配套钻头若干、吸尘器</a:t>
                      </a:r>
                      <a:endParaRPr sz="1600">
                        <a:latin typeface="Microsoft YaHei"/>
                        <a:cs typeface="Microsoft YaHei"/>
                      </a:endParaRPr>
                    </a:p>
                  </a:txBody>
                  <a:tcPr marL="0" marR="0" marB="0" marT="26670">
                    <a:lnL w="12700">
                      <a:solidFill>
                        <a:srgbClr val="000000"/>
                      </a:solidFill>
                      <a:prstDash val="solid"/>
                    </a:lnL>
                  </a:tcPr>
                </a:tc>
              </a:tr>
              <a:tr h="556260">
                <a:tc vMerge="1">
                  <a:txBody>
                    <a:bodyPr/>
                    <a:lstStyle/>
                    <a:p>
                      <a:pPr/>
                    </a:p>
                  </a:txBody>
                  <a:tcPr marL="0" marR="0" marB="0" marT="0">
                    <a:lnR w="12700">
                      <a:solidFill>
                        <a:srgbClr val="000000"/>
                      </a:solidFill>
                      <a:prstDash val="solid"/>
                    </a:lnR>
                    <a:lnT w="28575">
                      <a:solidFill>
                        <a:srgbClr val="000000"/>
                      </a:solidFill>
                      <a:prstDash val="solid"/>
                    </a:lnT>
                    <a:lnB w="12700">
                      <a:solidFill>
                        <a:srgbClr val="000000"/>
                      </a:solidFill>
                      <a:prstDash val="solid"/>
                    </a:lnB>
                    <a:solidFill>
                      <a:srgbClr val="00B0F0"/>
                    </a:solidFill>
                  </a:tcPr>
                </a:tc>
                <a:tc>
                  <a:txBody>
                    <a:bodyPr/>
                    <a:lstStyle/>
                    <a:p>
                      <a:pPr marL="90805" marR="125730">
                        <a:lnSpc>
                          <a:spcPct val="100000"/>
                        </a:lnSpc>
                        <a:spcBef>
                          <a:spcPts val="210"/>
                        </a:spcBef>
                      </a:pPr>
                      <a:r>
                        <a:rPr dirty="0" sz="1600" spc="-20">
                          <a:latin typeface="Microsoft YaHei"/>
                          <a:cs typeface="Microsoft YaHei"/>
                        </a:rPr>
                        <a:t>紧固工具：一字螺丝刀、十字螺丝刀、中号活动扳手、套筒扳手、梅花扳手 、</a:t>
                      </a:r>
                      <a:r>
                        <a:rPr dirty="0" sz="1600" spc="-10">
                          <a:latin typeface="Microsoft YaHei"/>
                          <a:cs typeface="Microsoft YaHei"/>
                        </a:rPr>
                        <a:t>内六方扳手</a:t>
                      </a:r>
                      <a:endParaRPr sz="1600">
                        <a:latin typeface="Microsoft YaHei"/>
                        <a:cs typeface="Microsoft YaHei"/>
                      </a:endParaRPr>
                    </a:p>
                  </a:txBody>
                  <a:tcPr marL="0" marR="0" marB="0" marT="26670">
                    <a:lnL w="12700">
                      <a:solidFill>
                        <a:srgbClr val="000000"/>
                      </a:solidFill>
                      <a:prstDash val="solid"/>
                    </a:lnL>
                    <a:solidFill>
                      <a:srgbClr val="E8E8E8"/>
                    </a:solidFill>
                  </a:tcPr>
                </a:tc>
              </a:tr>
              <a:tr h="555625">
                <a:tc vMerge="1">
                  <a:txBody>
                    <a:bodyPr/>
                    <a:lstStyle/>
                    <a:p>
                      <a:pPr/>
                    </a:p>
                  </a:txBody>
                  <a:tcPr marL="0" marR="0" marB="0" marT="0">
                    <a:lnR w="12700">
                      <a:solidFill>
                        <a:srgbClr val="000000"/>
                      </a:solidFill>
                      <a:prstDash val="solid"/>
                    </a:lnR>
                    <a:lnT w="28575">
                      <a:solidFill>
                        <a:srgbClr val="000000"/>
                      </a:solidFill>
                      <a:prstDash val="solid"/>
                    </a:lnT>
                    <a:lnB w="12700">
                      <a:solidFill>
                        <a:srgbClr val="000000"/>
                      </a:solidFill>
                      <a:prstDash val="solid"/>
                    </a:lnB>
                    <a:solidFill>
                      <a:srgbClr val="00B0F0"/>
                    </a:solidFill>
                  </a:tcPr>
                </a:tc>
                <a:tc>
                  <a:txBody>
                    <a:bodyPr/>
                    <a:lstStyle/>
                    <a:p>
                      <a:pPr marL="90805" marR="122555">
                        <a:lnSpc>
                          <a:spcPct val="100000"/>
                        </a:lnSpc>
                        <a:spcBef>
                          <a:spcPts val="215"/>
                        </a:spcBef>
                      </a:pPr>
                      <a:r>
                        <a:rPr dirty="0" sz="1600" spc="-25">
                          <a:latin typeface="Microsoft YaHei"/>
                          <a:cs typeface="Microsoft YaHei"/>
                        </a:rPr>
                        <a:t>钳工工具： 尖嘴钳、斜口钳、老虎钳、锉刀、手锯、剥线钳、手柄压线钳、打</a:t>
                      </a:r>
                      <a:r>
                        <a:rPr dirty="0" sz="1600">
                          <a:latin typeface="Microsoft YaHei"/>
                          <a:cs typeface="Microsoft YaHei"/>
                        </a:rPr>
                        <a:t>线刀、</a:t>
                      </a:r>
                      <a:r>
                        <a:rPr dirty="0" sz="1600" spc="-10">
                          <a:latin typeface="Arial MT"/>
                          <a:cs typeface="Arial MT"/>
                        </a:rPr>
                        <a:t>RJ45</a:t>
                      </a:r>
                      <a:r>
                        <a:rPr dirty="0" sz="1600" spc="-15">
                          <a:latin typeface="Microsoft YaHei"/>
                          <a:cs typeface="Microsoft YaHei"/>
                        </a:rPr>
                        <a:t>水晶头压线钳、液压钳</a:t>
                      </a:r>
                      <a:endParaRPr sz="1600">
                        <a:latin typeface="Microsoft YaHei"/>
                        <a:cs typeface="Microsoft YaHei"/>
                      </a:endParaRPr>
                    </a:p>
                  </a:txBody>
                  <a:tcPr marL="0" marR="0" marB="0" marT="27305">
                    <a:lnL w="12700">
                      <a:solidFill>
                        <a:srgbClr val="000000"/>
                      </a:solidFill>
                      <a:prstDash val="solid"/>
                    </a:lnL>
                  </a:tcPr>
                </a:tc>
              </a:tr>
              <a:tr h="654685">
                <a:tc vMerge="1">
                  <a:txBody>
                    <a:bodyPr/>
                    <a:lstStyle/>
                    <a:p>
                      <a:pPr/>
                    </a:p>
                  </a:txBody>
                  <a:tcPr marL="0" marR="0" marB="0" marT="0">
                    <a:lnR w="12700">
                      <a:solidFill>
                        <a:srgbClr val="000000"/>
                      </a:solidFill>
                      <a:prstDash val="solid"/>
                    </a:lnR>
                    <a:lnT w="28575">
                      <a:solidFill>
                        <a:srgbClr val="000000"/>
                      </a:solidFill>
                      <a:prstDash val="solid"/>
                    </a:lnT>
                    <a:lnB w="12700">
                      <a:solidFill>
                        <a:srgbClr val="000000"/>
                      </a:solidFill>
                      <a:prstDash val="solid"/>
                    </a:lnB>
                    <a:solidFill>
                      <a:srgbClr val="00B0F0"/>
                    </a:solidFill>
                  </a:tcPr>
                </a:tc>
                <a:tc>
                  <a:txBody>
                    <a:bodyPr/>
                    <a:lstStyle/>
                    <a:p>
                      <a:pPr marL="90805" marR="122555">
                        <a:lnSpc>
                          <a:spcPct val="100000"/>
                        </a:lnSpc>
                        <a:spcBef>
                          <a:spcPts val="215"/>
                        </a:spcBef>
                      </a:pPr>
                      <a:r>
                        <a:rPr dirty="0" sz="1600" spc="-25">
                          <a:latin typeface="Microsoft YaHei"/>
                          <a:cs typeface="Microsoft YaHei"/>
                        </a:rPr>
                        <a:t>辅助工具： 毛刷、中号羊角锤、裁纸刀、皮老虎、电烙铁、焊锡丝、梯子、橡</a:t>
                      </a:r>
                      <a:r>
                        <a:rPr dirty="0" sz="1600" spc="-10">
                          <a:latin typeface="Microsoft YaHei"/>
                          <a:cs typeface="Microsoft YaHei"/>
                        </a:rPr>
                        <a:t>胶锤、指南针、力矩扳手、倒角器、热风枪（电热风枪或液化汽热风枪</a:t>
                      </a:r>
                      <a:r>
                        <a:rPr dirty="0" sz="1600" spc="-50">
                          <a:latin typeface="Microsoft YaHei"/>
                          <a:cs typeface="Microsoft YaHei"/>
                        </a:rPr>
                        <a:t>）</a:t>
                      </a:r>
                      <a:endParaRPr sz="1600">
                        <a:latin typeface="Microsoft YaHei"/>
                        <a:cs typeface="Microsoft YaHei"/>
                      </a:endParaRPr>
                    </a:p>
                  </a:txBody>
                  <a:tcPr marL="0" marR="0" marB="0" marT="27305">
                    <a:lnL w="12700">
                      <a:solidFill>
                        <a:srgbClr val="000000"/>
                      </a:solidFill>
                      <a:prstDash val="solid"/>
                    </a:lnL>
                    <a:solidFill>
                      <a:srgbClr val="E8E8E8"/>
                    </a:solidFill>
                  </a:tcPr>
                </a:tc>
              </a:tr>
              <a:tr h="337185">
                <a:tc vMerge="1">
                  <a:txBody>
                    <a:bodyPr/>
                    <a:lstStyle/>
                    <a:p>
                      <a:pPr/>
                    </a:p>
                  </a:txBody>
                  <a:tcPr marL="0" marR="0" marB="0" marT="0">
                    <a:lnR w="12700">
                      <a:solidFill>
                        <a:srgbClr val="000000"/>
                      </a:solidFill>
                      <a:prstDash val="solid"/>
                    </a:lnR>
                    <a:lnT w="28575">
                      <a:solidFill>
                        <a:srgbClr val="000000"/>
                      </a:solidFill>
                      <a:prstDash val="solid"/>
                    </a:lnT>
                    <a:lnB w="12700">
                      <a:solidFill>
                        <a:srgbClr val="000000"/>
                      </a:solidFill>
                      <a:prstDash val="solid"/>
                    </a:lnB>
                    <a:solidFill>
                      <a:srgbClr val="00B0F0"/>
                    </a:solidFill>
                  </a:tcPr>
                </a:tc>
                <a:tc>
                  <a:txBody>
                    <a:bodyPr/>
                    <a:lstStyle/>
                    <a:p>
                      <a:pPr marL="90805">
                        <a:lnSpc>
                          <a:spcPct val="100000"/>
                        </a:lnSpc>
                        <a:spcBef>
                          <a:spcPts val="215"/>
                        </a:spcBef>
                      </a:pPr>
                      <a:r>
                        <a:rPr dirty="0" sz="1600" spc="-5">
                          <a:latin typeface="Microsoft YaHei"/>
                          <a:cs typeface="Microsoft YaHei"/>
                        </a:rPr>
                        <a:t>防静电腕带、防静电手套</a:t>
                      </a:r>
                      <a:endParaRPr sz="1600">
                        <a:latin typeface="Microsoft YaHei"/>
                        <a:cs typeface="Microsoft YaHei"/>
                      </a:endParaRPr>
                    </a:p>
                  </a:txBody>
                  <a:tcPr marL="0" marR="0" marB="0" marT="27305">
                    <a:lnL w="12700">
                      <a:solidFill>
                        <a:srgbClr val="000000"/>
                      </a:solidFill>
                      <a:prstDash val="solid"/>
                    </a:lnL>
                    <a:lnB w="12700">
                      <a:solidFill>
                        <a:srgbClr val="000000"/>
                      </a:solidFill>
                      <a:prstDash val="solid"/>
                    </a:lnB>
                  </a:tcPr>
                </a:tc>
              </a:tr>
              <a:tr h="574675">
                <a:tc>
                  <a:txBody>
                    <a:bodyPr/>
                    <a:lstStyle/>
                    <a:p>
                      <a:pPr algn="ctr">
                        <a:lnSpc>
                          <a:spcPct val="100000"/>
                        </a:lnSpc>
                        <a:spcBef>
                          <a:spcPts val="1250"/>
                        </a:spcBef>
                      </a:pPr>
                      <a:r>
                        <a:rPr dirty="0" sz="1600" spc="-25" b="1">
                          <a:latin typeface="Microsoft YaHei"/>
                          <a:cs typeface="Microsoft YaHei"/>
                        </a:rPr>
                        <a:t>仪表</a:t>
                      </a:r>
                      <a:endParaRPr sz="1600">
                        <a:latin typeface="Microsoft YaHei"/>
                        <a:cs typeface="Microsoft YaHei"/>
                      </a:endParaRPr>
                    </a:p>
                  </a:txBody>
                  <a:tcPr marL="0" marR="0" marB="0" marT="158750">
                    <a:lnR w="12700">
                      <a:solidFill>
                        <a:srgbClr val="000000"/>
                      </a:solidFill>
                      <a:prstDash val="solid"/>
                    </a:lnR>
                    <a:lnT w="12700">
                      <a:solidFill>
                        <a:srgbClr val="000000"/>
                      </a:solidFill>
                      <a:prstDash val="solid"/>
                    </a:lnT>
                    <a:lnB w="28575">
                      <a:solidFill>
                        <a:srgbClr val="000000"/>
                      </a:solidFill>
                      <a:prstDash val="solid"/>
                    </a:lnB>
                    <a:solidFill>
                      <a:srgbClr val="00B0F0"/>
                    </a:solidFill>
                  </a:tcPr>
                </a:tc>
                <a:tc>
                  <a:txBody>
                    <a:bodyPr/>
                    <a:lstStyle/>
                    <a:p>
                      <a:pPr marL="90805">
                        <a:lnSpc>
                          <a:spcPct val="100000"/>
                        </a:lnSpc>
                        <a:spcBef>
                          <a:spcPts val="215"/>
                        </a:spcBef>
                      </a:pPr>
                      <a:r>
                        <a:rPr dirty="0" sz="1600">
                          <a:latin typeface="Microsoft YaHei"/>
                          <a:cs typeface="Microsoft YaHei"/>
                        </a:rPr>
                        <a:t>万用表、</a:t>
                      </a:r>
                      <a:r>
                        <a:rPr dirty="0" sz="1600">
                          <a:latin typeface="Arial MT"/>
                          <a:cs typeface="Arial MT"/>
                        </a:rPr>
                        <a:t>500</a:t>
                      </a:r>
                      <a:r>
                        <a:rPr dirty="0" sz="1600" spc="-25">
                          <a:latin typeface="Arial MT"/>
                          <a:cs typeface="Arial MT"/>
                        </a:rPr>
                        <a:t> </a:t>
                      </a:r>
                      <a:r>
                        <a:rPr dirty="0" sz="1600">
                          <a:latin typeface="Microsoft YaHei"/>
                          <a:cs typeface="Microsoft YaHei"/>
                        </a:rPr>
                        <a:t>伏兆欧表（测绝缘电阻用）</a:t>
                      </a:r>
                      <a:r>
                        <a:rPr dirty="0" sz="1600" spc="-15">
                          <a:latin typeface="Microsoft YaHei"/>
                          <a:cs typeface="Microsoft YaHei"/>
                        </a:rPr>
                        <a:t>、光功率计、倾角仪</a:t>
                      </a:r>
                      <a:endParaRPr sz="1600">
                        <a:latin typeface="Microsoft YaHei"/>
                        <a:cs typeface="Microsoft YaHei"/>
                      </a:endParaRPr>
                    </a:p>
                  </a:txBody>
                  <a:tcPr marL="0" marR="0" marB="0" marT="27305">
                    <a:lnL w="12700">
                      <a:solidFill>
                        <a:srgbClr val="000000"/>
                      </a:solidFill>
                      <a:prstDash val="solid"/>
                    </a:lnL>
                    <a:lnT w="12700">
                      <a:solidFill>
                        <a:srgbClr val="000000"/>
                      </a:solidFill>
                      <a:prstDash val="solid"/>
                    </a:lnT>
                    <a:lnB w="28575">
                      <a:solidFill>
                        <a:srgbClr val="000000"/>
                      </a:solidFill>
                      <a:prstDash val="solid"/>
                    </a:lnB>
                    <a:solidFill>
                      <a:srgbClr val="E8E8E8"/>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55720" y="113125"/>
            <a:ext cx="1653539" cy="513080"/>
          </a:xfrm>
          <a:prstGeom prst="rect"/>
        </p:spPr>
        <p:txBody>
          <a:bodyPr wrap="square" lIns="0" tIns="12065" rIns="0" bIns="0" rtlCol="0" vert="horz">
            <a:spAutoFit/>
          </a:bodyPr>
          <a:lstStyle/>
          <a:p>
            <a:pPr marL="12700">
              <a:lnSpc>
                <a:spcPct val="100000"/>
              </a:lnSpc>
              <a:spcBef>
                <a:spcPts val="95"/>
              </a:spcBef>
            </a:pPr>
            <a:r>
              <a:rPr dirty="0" spc="-40"/>
              <a:t>安装准备</a:t>
            </a:r>
          </a:p>
        </p:txBody>
      </p:sp>
      <p:pic>
        <p:nvPicPr>
          <p:cNvPr id="3" name="object 3"/>
          <p:cNvPicPr/>
          <p:nvPr/>
        </p:nvPicPr>
        <p:blipFill>
          <a:blip r:embed="rId2" cstate="print"/>
          <a:stretch>
            <a:fillRect/>
          </a:stretch>
        </p:blipFill>
        <p:spPr>
          <a:xfrm>
            <a:off x="838200" y="819150"/>
            <a:ext cx="7537154" cy="416764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37914" y="165054"/>
            <a:ext cx="420497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主设备安装工程规范</a:t>
            </a:r>
          </a:p>
        </p:txBody>
      </p:sp>
      <p:pic>
        <p:nvPicPr>
          <p:cNvPr id="3" name="object 3"/>
          <p:cNvPicPr/>
          <p:nvPr/>
        </p:nvPicPr>
        <p:blipFill>
          <a:blip r:embed="rId2" cstate="print"/>
          <a:stretch>
            <a:fillRect/>
          </a:stretch>
        </p:blipFill>
        <p:spPr>
          <a:xfrm>
            <a:off x="406566" y="1347613"/>
            <a:ext cx="4320323" cy="3312659"/>
          </a:xfrm>
          <a:prstGeom prst="rect">
            <a:avLst/>
          </a:prstGeom>
        </p:spPr>
      </p:pic>
      <p:pic>
        <p:nvPicPr>
          <p:cNvPr id="4" name="object 4"/>
          <p:cNvPicPr/>
          <p:nvPr/>
        </p:nvPicPr>
        <p:blipFill>
          <a:blip r:embed="rId3" cstate="print"/>
          <a:stretch>
            <a:fillRect/>
          </a:stretch>
        </p:blipFill>
        <p:spPr>
          <a:xfrm>
            <a:off x="5072829" y="1312570"/>
            <a:ext cx="1844047" cy="2045933"/>
          </a:xfrm>
          <a:prstGeom prst="rect">
            <a:avLst/>
          </a:prstGeom>
        </p:spPr>
      </p:pic>
      <p:pic>
        <p:nvPicPr>
          <p:cNvPr id="5" name="object 5"/>
          <p:cNvPicPr/>
          <p:nvPr/>
        </p:nvPicPr>
        <p:blipFill>
          <a:blip r:embed="rId4" cstate="print"/>
          <a:stretch>
            <a:fillRect/>
          </a:stretch>
        </p:blipFill>
        <p:spPr>
          <a:xfrm>
            <a:off x="7197534" y="2569464"/>
            <a:ext cx="1683042" cy="2058301"/>
          </a:xfrm>
          <a:prstGeom prst="rect">
            <a:avLst/>
          </a:prstGeom>
        </p:spPr>
      </p:pic>
      <p:sp>
        <p:nvSpPr>
          <p:cNvPr id="6" name="object 6" descr=""/>
          <p:cNvSpPr txBox="1"/>
          <p:nvPr/>
        </p:nvSpPr>
        <p:spPr>
          <a:xfrm>
            <a:off x="5004053" y="3884586"/>
            <a:ext cx="1800225" cy="277495"/>
          </a:xfrm>
          <a:prstGeom prst="rect">
            <a:avLst/>
          </a:prstGeom>
          <a:solidFill>
            <a:srgbClr val="333399"/>
          </a:solidFill>
          <a:ln w="25400">
            <a:solidFill>
              <a:srgbClr val="23236F"/>
            </a:solidFill>
          </a:ln>
        </p:spPr>
        <p:txBody>
          <a:bodyPr wrap="square" lIns="0" tIns="43180" rIns="0" bIns="0" rtlCol="0" vert="horz">
            <a:spAutoFit/>
          </a:bodyPr>
          <a:lstStyle/>
          <a:p>
            <a:pPr marL="90805">
              <a:lnSpc>
                <a:spcPct val="100000"/>
              </a:lnSpc>
              <a:spcBef>
                <a:spcPts val="340"/>
              </a:spcBef>
            </a:pPr>
            <a:r>
              <a:rPr dirty="0" sz="1200" spc="-10" b="1">
                <a:solidFill>
                  <a:srgbClr val="FFFFFF"/>
                </a:solidFill>
                <a:latin typeface="Arial"/>
                <a:cs typeface="Arial"/>
              </a:rPr>
              <a:t>BBU</a:t>
            </a:r>
            <a:r>
              <a:rPr dirty="0" sz="1200" spc="-10">
                <a:solidFill>
                  <a:srgbClr val="FFFFFF"/>
                </a:solidFill>
                <a:latin typeface="SimSun"/>
                <a:cs typeface="SimSun"/>
              </a:rPr>
              <a:t>接口向下安装方式</a:t>
            </a:r>
            <a:endParaRPr sz="1200">
              <a:latin typeface="SimSun"/>
              <a:cs typeface="SimSun"/>
            </a:endParaRPr>
          </a:p>
        </p:txBody>
      </p:sp>
      <p:sp>
        <p:nvSpPr>
          <p:cNvPr id="7" name="object 7" descr=""/>
          <p:cNvSpPr txBox="1"/>
          <p:nvPr/>
        </p:nvSpPr>
        <p:spPr>
          <a:xfrm>
            <a:off x="7080389" y="1764347"/>
            <a:ext cx="1800225" cy="277495"/>
          </a:xfrm>
          <a:prstGeom prst="rect">
            <a:avLst/>
          </a:prstGeom>
          <a:solidFill>
            <a:srgbClr val="333399"/>
          </a:solidFill>
          <a:ln w="25400">
            <a:solidFill>
              <a:srgbClr val="23236F"/>
            </a:solidFill>
          </a:ln>
        </p:spPr>
        <p:txBody>
          <a:bodyPr wrap="square" lIns="0" tIns="43180" rIns="0" bIns="0" rtlCol="0" vert="horz">
            <a:spAutoFit/>
          </a:bodyPr>
          <a:lstStyle/>
          <a:p>
            <a:pPr marL="90805">
              <a:lnSpc>
                <a:spcPct val="100000"/>
              </a:lnSpc>
              <a:spcBef>
                <a:spcPts val="340"/>
              </a:spcBef>
            </a:pPr>
            <a:r>
              <a:rPr dirty="0" sz="1200" spc="-10" b="1">
                <a:solidFill>
                  <a:srgbClr val="FFFFFF"/>
                </a:solidFill>
                <a:latin typeface="Arial"/>
                <a:cs typeface="Arial"/>
              </a:rPr>
              <a:t>BBU</a:t>
            </a:r>
            <a:r>
              <a:rPr dirty="0" sz="1200" spc="-10">
                <a:solidFill>
                  <a:srgbClr val="FFFFFF"/>
                </a:solidFill>
                <a:latin typeface="SimSun"/>
                <a:cs typeface="SimSun"/>
              </a:rPr>
              <a:t>接口侧面安装方式</a:t>
            </a:r>
            <a:endParaRPr sz="1200">
              <a:latin typeface="SimSun"/>
              <a:cs typeface="SimSun"/>
            </a:endParaRPr>
          </a:p>
        </p:txBody>
      </p:sp>
      <p:sp>
        <p:nvSpPr>
          <p:cNvPr id="8" name="object 8" descr=""/>
          <p:cNvSpPr txBox="1"/>
          <p:nvPr/>
        </p:nvSpPr>
        <p:spPr>
          <a:xfrm>
            <a:off x="364310" y="803427"/>
            <a:ext cx="8481695" cy="269875"/>
          </a:xfrm>
          <a:prstGeom prst="rect">
            <a:avLst/>
          </a:prstGeom>
        </p:spPr>
        <p:txBody>
          <a:bodyPr wrap="square" lIns="0" tIns="12700" rIns="0" bIns="0" rtlCol="0" vert="horz">
            <a:spAutoFit/>
          </a:bodyPr>
          <a:lstStyle/>
          <a:p>
            <a:pPr marL="12700">
              <a:lnSpc>
                <a:spcPct val="100000"/>
              </a:lnSpc>
              <a:spcBef>
                <a:spcPts val="100"/>
              </a:spcBef>
            </a:pPr>
            <a:r>
              <a:rPr dirty="0" sz="1600">
                <a:latin typeface="Microsoft YaHei"/>
                <a:cs typeface="Microsoft YaHei"/>
              </a:rPr>
              <a:t>机架需提供</a:t>
            </a:r>
            <a:r>
              <a:rPr dirty="0" sz="1600" spc="-20">
                <a:latin typeface="Microsoft YaHei"/>
                <a:cs typeface="Microsoft YaHei"/>
              </a:rPr>
              <a:t>3U</a:t>
            </a:r>
            <a:r>
              <a:rPr dirty="0" sz="1600">
                <a:latin typeface="Microsoft YaHei"/>
                <a:cs typeface="Microsoft YaHei"/>
              </a:rPr>
              <a:t>高、大于</a:t>
            </a:r>
            <a:r>
              <a:rPr dirty="0" sz="1600" spc="-10">
                <a:latin typeface="Microsoft YaHei"/>
                <a:cs typeface="Microsoft YaHei"/>
              </a:rPr>
              <a:t>500mm深度的安装空间，机柜立柱距前门的走线空间不小于110mm</a:t>
            </a:r>
            <a:r>
              <a:rPr dirty="0" sz="1600" spc="-50">
                <a:latin typeface="Microsoft YaHei"/>
                <a:cs typeface="Microsoft YaHei"/>
              </a:rPr>
              <a:t>。</a:t>
            </a:r>
            <a:endParaRPr sz="1600">
              <a:latin typeface="Microsoft YaHei"/>
              <a:cs typeface="Microsoft YaHe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24514" y="167894"/>
            <a:ext cx="696087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BBU</a:t>
            </a:r>
            <a:r>
              <a:rPr dirty="0" spc="-40"/>
              <a:t>安装安装工程规范</a:t>
            </a:r>
            <a:r>
              <a:rPr dirty="0" spc="-30"/>
              <a:t>（</a:t>
            </a:r>
            <a:r>
              <a:rPr dirty="0" spc="-30">
                <a:latin typeface="Times New Roman"/>
                <a:cs typeface="Times New Roman"/>
              </a:rPr>
              <a:t>19</a:t>
            </a:r>
            <a:r>
              <a:rPr dirty="0" spc="-40"/>
              <a:t>英寸机柜</a:t>
            </a:r>
            <a:r>
              <a:rPr dirty="0" spc="-50"/>
              <a:t>）</a:t>
            </a:r>
          </a:p>
        </p:txBody>
      </p:sp>
      <p:sp>
        <p:nvSpPr>
          <p:cNvPr id="3" name="object 3" descr=""/>
          <p:cNvSpPr txBox="1"/>
          <p:nvPr/>
        </p:nvSpPr>
        <p:spPr>
          <a:xfrm>
            <a:off x="258251" y="3182409"/>
            <a:ext cx="8938260" cy="1704339"/>
          </a:xfrm>
          <a:prstGeom prst="rect">
            <a:avLst/>
          </a:prstGeom>
        </p:spPr>
        <p:txBody>
          <a:bodyPr wrap="square" lIns="0" tIns="137160" rIns="0" bIns="0" rtlCol="0" vert="horz">
            <a:spAutoFit/>
          </a:bodyPr>
          <a:lstStyle/>
          <a:p>
            <a:pPr marL="290195">
              <a:lnSpc>
                <a:spcPct val="100000"/>
              </a:lnSpc>
              <a:spcBef>
                <a:spcPts val="1080"/>
              </a:spcBef>
            </a:pPr>
            <a:r>
              <a:rPr dirty="0" sz="1800" spc="-15" b="1">
                <a:solidFill>
                  <a:srgbClr val="0950A0"/>
                </a:solidFill>
                <a:latin typeface="Microsoft YaHei"/>
                <a:cs typeface="Microsoft YaHei"/>
              </a:rPr>
              <a:t>注意事项</a:t>
            </a:r>
            <a:endParaRPr sz="1800">
              <a:latin typeface="Microsoft YaHei"/>
              <a:cs typeface="Microsoft YaHei"/>
            </a:endParaRPr>
          </a:p>
          <a:p>
            <a:pPr marL="297815" indent="-285115">
              <a:lnSpc>
                <a:spcPct val="100000"/>
              </a:lnSpc>
              <a:spcBef>
                <a:spcPts val="715"/>
              </a:spcBef>
              <a:buFont typeface="Wingdings"/>
              <a:buChar char=""/>
              <a:tabLst>
                <a:tab pos="297815" algn="l"/>
              </a:tabLst>
            </a:pPr>
            <a:r>
              <a:rPr dirty="0" sz="1300" spc="-10">
                <a:latin typeface="Microsoft YaHei"/>
                <a:cs typeface="Microsoft YaHei"/>
              </a:rPr>
              <a:t>BBU</a:t>
            </a:r>
            <a:r>
              <a:rPr dirty="0" sz="1300">
                <a:latin typeface="Microsoft YaHei"/>
                <a:cs typeface="Microsoft YaHei"/>
              </a:rPr>
              <a:t>面板前应预留至少100mm</a:t>
            </a:r>
            <a:r>
              <a:rPr dirty="0" sz="1300" spc="-10">
                <a:latin typeface="Microsoft YaHei"/>
                <a:cs typeface="Microsoft YaHei"/>
              </a:rPr>
              <a:t> 布线空间，单台机柜推荐只安装1</a:t>
            </a:r>
            <a:r>
              <a:rPr dirty="0" sz="1300">
                <a:latin typeface="Microsoft YaHei"/>
                <a:cs typeface="Microsoft YaHei"/>
              </a:rPr>
              <a:t>台BBU</a:t>
            </a:r>
            <a:r>
              <a:rPr dirty="0" sz="1300" spc="-45">
                <a:latin typeface="Microsoft YaHei"/>
                <a:cs typeface="Microsoft YaHei"/>
              </a:rPr>
              <a:t> 。</a:t>
            </a:r>
            <a:endParaRPr sz="1300">
              <a:latin typeface="Microsoft YaHei"/>
              <a:cs typeface="Microsoft YaHei"/>
            </a:endParaRPr>
          </a:p>
          <a:p>
            <a:pPr marL="297815" indent="-285115">
              <a:lnSpc>
                <a:spcPct val="100000"/>
              </a:lnSpc>
              <a:buFont typeface="Wingdings"/>
              <a:buChar char=""/>
              <a:tabLst>
                <a:tab pos="297815" algn="l"/>
              </a:tabLst>
            </a:pPr>
            <a:r>
              <a:rPr dirty="0" sz="1300" spc="-10">
                <a:latin typeface="Microsoft YaHei"/>
                <a:cs typeface="Microsoft YaHei"/>
              </a:rPr>
              <a:t>BBU</a:t>
            </a:r>
            <a:r>
              <a:rPr dirty="0" sz="1300">
                <a:latin typeface="Microsoft YaHei"/>
                <a:cs typeface="Microsoft YaHei"/>
              </a:rPr>
              <a:t>采用</a:t>
            </a:r>
            <a:r>
              <a:rPr dirty="0" sz="1300" spc="-10">
                <a:latin typeface="Microsoft YaHei"/>
                <a:cs typeface="Microsoft YaHei"/>
              </a:rPr>
              <a:t>19英寸标准机柜安装时,优先使用机柜自带的托盘,如果没有,则需要使用</a:t>
            </a:r>
            <a:r>
              <a:rPr dirty="0" sz="1300">
                <a:latin typeface="Microsoft YaHei"/>
                <a:cs typeface="Microsoft YaHei"/>
              </a:rPr>
              <a:t>5G </a:t>
            </a:r>
            <a:r>
              <a:rPr dirty="0" sz="1300" spc="-10">
                <a:latin typeface="Microsoft YaHei"/>
                <a:cs typeface="Microsoft YaHei"/>
              </a:rPr>
              <a:t>BBU</a:t>
            </a:r>
            <a:r>
              <a:rPr dirty="0" sz="1300" spc="-5">
                <a:latin typeface="Microsoft YaHei"/>
                <a:cs typeface="Microsoft YaHei"/>
              </a:rPr>
              <a:t>悬臂托盘进行辅助安装；</a:t>
            </a:r>
            <a:endParaRPr sz="1300">
              <a:latin typeface="Microsoft YaHei"/>
              <a:cs typeface="Microsoft YaHei"/>
            </a:endParaRPr>
          </a:p>
          <a:p>
            <a:pPr marL="297815" indent="-285115">
              <a:lnSpc>
                <a:spcPct val="100000"/>
              </a:lnSpc>
              <a:buFont typeface="Wingdings"/>
              <a:buChar char=""/>
              <a:tabLst>
                <a:tab pos="297815" algn="l"/>
              </a:tabLst>
            </a:pPr>
            <a:r>
              <a:rPr dirty="0" sz="1300" spc="-10">
                <a:latin typeface="Microsoft YaHei"/>
                <a:cs typeface="Microsoft YaHei"/>
              </a:rPr>
              <a:t>BBU</a:t>
            </a:r>
            <a:r>
              <a:rPr dirty="0" sz="1300">
                <a:latin typeface="Microsoft YaHei"/>
                <a:cs typeface="Microsoft YaHei"/>
              </a:rPr>
              <a:t>采用</a:t>
            </a:r>
            <a:r>
              <a:rPr dirty="0" sz="1300" spc="-10">
                <a:latin typeface="Microsoft YaHei"/>
                <a:cs typeface="Microsoft YaHei"/>
              </a:rPr>
              <a:t>19英寸机柜标准机柜安装时,当机柜内需要安装多台BBU,且安装空间间隔</a:t>
            </a:r>
            <a:r>
              <a:rPr dirty="0" sz="1300" spc="-20">
                <a:latin typeface="Microsoft YaHei"/>
                <a:cs typeface="Microsoft YaHei"/>
              </a:rPr>
              <a:t>1U</a:t>
            </a:r>
            <a:r>
              <a:rPr dirty="0" sz="1300" spc="-15">
                <a:latin typeface="Microsoft YaHei"/>
                <a:cs typeface="Microsoft YaHei"/>
              </a:rPr>
              <a:t>时,需要使用导风理线架辅助安装；</a:t>
            </a:r>
            <a:endParaRPr sz="1300">
              <a:latin typeface="Microsoft YaHei"/>
              <a:cs typeface="Microsoft YaHei"/>
            </a:endParaRPr>
          </a:p>
          <a:p>
            <a:pPr marL="297815" indent="-285115">
              <a:lnSpc>
                <a:spcPct val="100000"/>
              </a:lnSpc>
              <a:buFont typeface="Wingdings"/>
              <a:buChar char=""/>
              <a:tabLst>
                <a:tab pos="297815" algn="l"/>
              </a:tabLst>
            </a:pPr>
            <a:r>
              <a:rPr dirty="0" sz="1300">
                <a:latin typeface="Microsoft YaHei"/>
                <a:cs typeface="Microsoft YaHei"/>
              </a:rPr>
              <a:t>机柜深度不小于</a:t>
            </a:r>
            <a:r>
              <a:rPr dirty="0" sz="1300" spc="-10">
                <a:latin typeface="Microsoft YaHei"/>
                <a:cs typeface="Microsoft YaHei"/>
              </a:rPr>
              <a:t>450mm</a:t>
            </a:r>
            <a:r>
              <a:rPr dirty="0" sz="1300" spc="-50">
                <a:latin typeface="Microsoft YaHei"/>
                <a:cs typeface="Microsoft YaHei"/>
              </a:rPr>
              <a:t>。</a:t>
            </a:r>
            <a:endParaRPr sz="1300">
              <a:latin typeface="Microsoft YaHei"/>
              <a:cs typeface="Microsoft YaHei"/>
            </a:endParaRPr>
          </a:p>
          <a:p>
            <a:pPr marL="297815" indent="-285115">
              <a:lnSpc>
                <a:spcPct val="100000"/>
              </a:lnSpc>
              <a:buFont typeface="Wingdings"/>
              <a:buChar char=""/>
              <a:tabLst>
                <a:tab pos="297815" algn="l"/>
              </a:tabLst>
            </a:pPr>
            <a:r>
              <a:rPr dirty="0" sz="1300" spc="-10">
                <a:latin typeface="Microsoft YaHei"/>
                <a:cs typeface="Microsoft YaHei"/>
              </a:rPr>
              <a:t>板卡槽位正确，并且插接牢固。</a:t>
            </a:r>
            <a:endParaRPr sz="1300">
              <a:latin typeface="Microsoft YaHei"/>
              <a:cs typeface="Microsoft YaHei"/>
            </a:endParaRPr>
          </a:p>
          <a:p>
            <a:pPr marL="297815" indent="-285115">
              <a:lnSpc>
                <a:spcPct val="100000"/>
              </a:lnSpc>
              <a:buFont typeface="Wingdings"/>
              <a:buChar char=""/>
              <a:tabLst>
                <a:tab pos="297815" algn="l"/>
              </a:tabLst>
            </a:pPr>
            <a:r>
              <a:rPr dirty="0" sz="1300" spc="-15">
                <a:latin typeface="Microsoft YaHei"/>
                <a:cs typeface="Microsoft YaHei"/>
              </a:rPr>
              <a:t>未安装板卡的空槽位必须安装空面板，且机箱各部件无损坏、变形、掉漆等现象。</a:t>
            </a:r>
            <a:endParaRPr sz="1300">
              <a:latin typeface="Microsoft YaHei"/>
              <a:cs typeface="Microsoft YaHei"/>
            </a:endParaRPr>
          </a:p>
        </p:txBody>
      </p:sp>
      <p:pic>
        <p:nvPicPr>
          <p:cNvPr id="4" name="object 4"/>
          <p:cNvPicPr/>
          <p:nvPr/>
        </p:nvPicPr>
        <p:blipFill>
          <a:blip r:embed="rId2" cstate="print"/>
          <a:stretch>
            <a:fillRect/>
          </a:stretch>
        </p:blipFill>
        <p:spPr>
          <a:xfrm>
            <a:off x="5717230" y="923965"/>
            <a:ext cx="3171099" cy="1910838"/>
          </a:xfrm>
          <a:prstGeom prst="rect">
            <a:avLst/>
          </a:prstGeom>
        </p:spPr>
      </p:pic>
      <p:grpSp>
        <p:nvGrpSpPr>
          <p:cNvPr id="5" name="object 5" descr=""/>
          <p:cNvGrpSpPr/>
          <p:nvPr/>
        </p:nvGrpSpPr>
        <p:grpSpPr>
          <a:xfrm>
            <a:off x="533400" y="925986"/>
            <a:ext cx="2559050" cy="2376805"/>
            <a:chOff x="533400" y="925986"/>
            <a:chExt cx="2559050" cy="2376805"/>
          </a:xfrm>
        </p:grpSpPr>
        <p:pic>
          <p:nvPicPr>
            <p:cNvPr id="6" name="object 6"/>
            <p:cNvPicPr/>
            <p:nvPr/>
          </p:nvPicPr>
          <p:blipFill>
            <a:blip r:embed="rId3" cstate="print"/>
            <a:stretch>
              <a:fillRect/>
            </a:stretch>
          </p:blipFill>
          <p:spPr>
            <a:xfrm>
              <a:off x="864412" y="925986"/>
              <a:ext cx="2000858" cy="1142304"/>
            </a:xfrm>
            <a:prstGeom prst="rect">
              <a:avLst/>
            </a:prstGeom>
          </p:spPr>
        </p:pic>
        <p:pic>
          <p:nvPicPr>
            <p:cNvPr id="7" name="object 7"/>
            <p:cNvPicPr/>
            <p:nvPr/>
          </p:nvPicPr>
          <p:blipFill>
            <a:blip r:embed="rId4" cstate="print"/>
            <a:stretch>
              <a:fillRect/>
            </a:stretch>
          </p:blipFill>
          <p:spPr>
            <a:xfrm>
              <a:off x="533400" y="2038350"/>
              <a:ext cx="2558653" cy="1264056"/>
            </a:xfrm>
            <a:prstGeom prst="rect">
              <a:avLst/>
            </a:prstGeom>
          </p:spPr>
        </p:pic>
      </p:grpSp>
      <p:pic>
        <p:nvPicPr>
          <p:cNvPr id="8" name="object 8"/>
          <p:cNvPicPr/>
          <p:nvPr/>
        </p:nvPicPr>
        <p:blipFill>
          <a:blip r:embed="rId5" cstate="print"/>
          <a:stretch>
            <a:fillRect/>
          </a:stretch>
        </p:blipFill>
        <p:spPr>
          <a:xfrm>
            <a:off x="3300239" y="827509"/>
            <a:ext cx="2279861" cy="225020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71034" y="137830"/>
            <a:ext cx="574294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BBU</a:t>
            </a:r>
            <a:r>
              <a:rPr dirty="0" spc="-40"/>
              <a:t>安装安装工程规范（挂墙</a:t>
            </a:r>
            <a:r>
              <a:rPr dirty="0" spc="-50"/>
              <a:t>）</a:t>
            </a:r>
          </a:p>
        </p:txBody>
      </p:sp>
      <p:sp>
        <p:nvSpPr>
          <p:cNvPr id="3" name="object 3" descr=""/>
          <p:cNvSpPr txBox="1"/>
          <p:nvPr/>
        </p:nvSpPr>
        <p:spPr>
          <a:xfrm>
            <a:off x="4343400" y="895350"/>
            <a:ext cx="2025014" cy="415925"/>
          </a:xfrm>
          <a:prstGeom prst="rect">
            <a:avLst/>
          </a:prstGeom>
          <a:solidFill>
            <a:srgbClr val="00B0F0"/>
          </a:solidFill>
        </p:spPr>
        <p:txBody>
          <a:bodyPr wrap="square" lIns="0" tIns="45720" rIns="0" bIns="0" rtlCol="0" vert="horz">
            <a:spAutoFit/>
          </a:bodyPr>
          <a:lstStyle/>
          <a:p>
            <a:pPr marL="250190">
              <a:lnSpc>
                <a:spcPct val="100000"/>
              </a:lnSpc>
              <a:spcBef>
                <a:spcPts val="360"/>
              </a:spcBef>
            </a:pPr>
            <a:r>
              <a:rPr dirty="0" sz="2000" spc="-25" b="1">
                <a:solidFill>
                  <a:srgbClr val="C00000"/>
                </a:solidFill>
                <a:latin typeface="Microsoft YaHei"/>
                <a:cs typeface="Microsoft YaHei"/>
              </a:rPr>
              <a:t>安装空间要求</a:t>
            </a:r>
            <a:endParaRPr sz="2000">
              <a:latin typeface="Microsoft YaHei"/>
              <a:cs typeface="Microsoft YaHei"/>
            </a:endParaRPr>
          </a:p>
        </p:txBody>
      </p:sp>
      <p:grpSp>
        <p:nvGrpSpPr>
          <p:cNvPr id="4" name="object 4" descr=""/>
          <p:cNvGrpSpPr/>
          <p:nvPr/>
        </p:nvGrpSpPr>
        <p:grpSpPr>
          <a:xfrm>
            <a:off x="557766" y="843453"/>
            <a:ext cx="3311525" cy="4090670"/>
            <a:chOff x="557766" y="843453"/>
            <a:chExt cx="3311525" cy="4090670"/>
          </a:xfrm>
        </p:grpSpPr>
        <p:pic>
          <p:nvPicPr>
            <p:cNvPr id="5" name="object 5"/>
            <p:cNvPicPr/>
            <p:nvPr/>
          </p:nvPicPr>
          <p:blipFill>
            <a:blip r:embed="rId2" cstate="print"/>
            <a:stretch>
              <a:fillRect/>
            </a:stretch>
          </p:blipFill>
          <p:spPr>
            <a:xfrm>
              <a:off x="557766" y="843453"/>
              <a:ext cx="2771700" cy="1658720"/>
            </a:xfrm>
            <a:prstGeom prst="rect">
              <a:avLst/>
            </a:prstGeom>
          </p:spPr>
        </p:pic>
        <p:pic>
          <p:nvPicPr>
            <p:cNvPr id="6" name="object 6"/>
            <p:cNvPicPr/>
            <p:nvPr/>
          </p:nvPicPr>
          <p:blipFill>
            <a:blip r:embed="rId3" cstate="print"/>
            <a:stretch>
              <a:fillRect/>
            </a:stretch>
          </p:blipFill>
          <p:spPr>
            <a:xfrm>
              <a:off x="609600" y="2190750"/>
              <a:ext cx="3259073" cy="2743199"/>
            </a:xfrm>
            <a:prstGeom prst="rect">
              <a:avLst/>
            </a:prstGeom>
          </p:spPr>
        </p:pic>
      </p:grpSp>
      <p:sp>
        <p:nvSpPr>
          <p:cNvPr id="7" name="object 7" descr=""/>
          <p:cNvSpPr txBox="1"/>
          <p:nvPr/>
        </p:nvSpPr>
        <p:spPr>
          <a:xfrm>
            <a:off x="4574540" y="1298701"/>
            <a:ext cx="3970020" cy="3636010"/>
          </a:xfrm>
          <a:prstGeom prst="rect">
            <a:avLst/>
          </a:prstGeom>
        </p:spPr>
        <p:txBody>
          <a:bodyPr wrap="square" lIns="0" tIns="172085" rIns="0" bIns="0" rtlCol="0" vert="horz">
            <a:spAutoFit/>
          </a:bodyPr>
          <a:lstStyle/>
          <a:p>
            <a:pPr marL="12700">
              <a:lnSpc>
                <a:spcPct val="100000"/>
              </a:lnSpc>
              <a:spcBef>
                <a:spcPts val="1355"/>
              </a:spcBef>
            </a:pPr>
            <a:r>
              <a:rPr dirty="0" sz="1800">
                <a:latin typeface="Arial MT"/>
                <a:cs typeface="Arial MT"/>
              </a:rPr>
              <a:t>BBU</a:t>
            </a:r>
            <a:r>
              <a:rPr dirty="0" sz="1800" spc="-5">
                <a:latin typeface="SimSun"/>
                <a:cs typeface="SimSun"/>
              </a:rPr>
              <a:t>侧面挂墙面板朝下方式：</a:t>
            </a:r>
            <a:endParaRPr sz="1800">
              <a:latin typeface="SimSun"/>
              <a:cs typeface="SimSun"/>
            </a:endParaRPr>
          </a:p>
          <a:p>
            <a:pPr marL="297815" indent="-285115">
              <a:lnSpc>
                <a:spcPct val="100000"/>
              </a:lnSpc>
              <a:spcBef>
                <a:spcPts val="1250"/>
              </a:spcBef>
              <a:buFont typeface="Wingdings"/>
              <a:buChar char=""/>
              <a:tabLst>
                <a:tab pos="297815" algn="l"/>
              </a:tabLst>
            </a:pPr>
            <a:r>
              <a:rPr dirty="0" sz="1800">
                <a:latin typeface="SimSun"/>
                <a:cs typeface="SimSun"/>
              </a:rPr>
              <a:t>正前方</a:t>
            </a:r>
            <a:r>
              <a:rPr dirty="0" sz="1800" spc="-20">
                <a:latin typeface="Microsoft Sans Serif"/>
                <a:cs typeface="Microsoft Sans Serif"/>
              </a:rPr>
              <a:t>≥</a:t>
            </a:r>
            <a:r>
              <a:rPr dirty="0" sz="1800" spc="-20">
                <a:latin typeface="Arial MT"/>
                <a:cs typeface="Arial MT"/>
              </a:rPr>
              <a:t>600mm</a:t>
            </a:r>
            <a:r>
              <a:rPr dirty="0" sz="1800" spc="-10">
                <a:latin typeface="SimSun"/>
                <a:cs typeface="SimSun"/>
              </a:rPr>
              <a:t>操作空间，顶部</a:t>
            </a:r>
            <a:endParaRPr sz="1800">
              <a:latin typeface="SimSun"/>
              <a:cs typeface="SimSun"/>
            </a:endParaRPr>
          </a:p>
          <a:p>
            <a:pPr marL="297815">
              <a:lnSpc>
                <a:spcPct val="100000"/>
              </a:lnSpc>
              <a:spcBef>
                <a:spcPts val="434"/>
              </a:spcBef>
            </a:pPr>
            <a:r>
              <a:rPr dirty="0" sz="1800" spc="-20">
                <a:latin typeface="Microsoft Sans Serif"/>
                <a:cs typeface="Microsoft Sans Serif"/>
              </a:rPr>
              <a:t>≥</a:t>
            </a:r>
            <a:r>
              <a:rPr dirty="0" sz="1800" spc="-20">
                <a:latin typeface="Arial MT"/>
                <a:cs typeface="Arial MT"/>
              </a:rPr>
              <a:t>150mm</a:t>
            </a:r>
            <a:r>
              <a:rPr dirty="0" sz="1800" spc="-10">
                <a:latin typeface="SimSun"/>
                <a:cs typeface="SimSun"/>
              </a:rPr>
              <a:t>安全距离，距离地面</a:t>
            </a:r>
            <a:endParaRPr sz="1800">
              <a:latin typeface="SimSun"/>
              <a:cs typeface="SimSun"/>
            </a:endParaRPr>
          </a:p>
          <a:p>
            <a:pPr marL="297815">
              <a:lnSpc>
                <a:spcPct val="100000"/>
              </a:lnSpc>
              <a:spcBef>
                <a:spcPts val="430"/>
              </a:spcBef>
            </a:pPr>
            <a:r>
              <a:rPr dirty="0" sz="1800" spc="-20">
                <a:latin typeface="Microsoft Sans Serif"/>
                <a:cs typeface="Microsoft Sans Serif"/>
              </a:rPr>
              <a:t>≥</a:t>
            </a:r>
            <a:r>
              <a:rPr dirty="0" sz="1800" spc="-20">
                <a:latin typeface="Arial MT"/>
                <a:cs typeface="Arial MT"/>
              </a:rPr>
              <a:t>600mm</a:t>
            </a:r>
            <a:r>
              <a:rPr dirty="0" sz="1800" spc="-10">
                <a:latin typeface="SimSun"/>
                <a:cs typeface="SimSun"/>
              </a:rPr>
              <a:t>，推荐</a:t>
            </a:r>
            <a:r>
              <a:rPr dirty="0" sz="1800" spc="-10">
                <a:latin typeface="Arial MT"/>
                <a:cs typeface="Arial MT"/>
              </a:rPr>
              <a:t>1200mm-1500mm</a:t>
            </a:r>
            <a:r>
              <a:rPr dirty="0" sz="1800" spc="-10">
                <a:latin typeface="SimSun"/>
                <a:cs typeface="SimSun"/>
              </a:rPr>
              <a:t>，</a:t>
            </a:r>
            <a:endParaRPr sz="1800">
              <a:latin typeface="SimSun"/>
              <a:cs typeface="SimSun"/>
            </a:endParaRPr>
          </a:p>
          <a:p>
            <a:pPr algn="just" marL="297815" marR="31115" indent="-285750">
              <a:lnSpc>
                <a:spcPct val="120000"/>
              </a:lnSpc>
              <a:spcBef>
                <a:spcPts val="434"/>
              </a:spcBef>
              <a:buFont typeface="Wingdings"/>
              <a:buChar char=""/>
              <a:tabLst>
                <a:tab pos="297815" algn="l"/>
              </a:tabLst>
            </a:pPr>
            <a:r>
              <a:rPr dirty="0" sz="1800">
                <a:latin typeface="SimSun"/>
                <a:cs typeface="SimSun"/>
              </a:rPr>
              <a:t>距离遮挡物</a:t>
            </a:r>
            <a:r>
              <a:rPr dirty="0" sz="1800" spc="-20">
                <a:latin typeface="Microsoft Sans Serif"/>
                <a:cs typeface="Microsoft Sans Serif"/>
              </a:rPr>
              <a:t>≥</a:t>
            </a:r>
            <a:r>
              <a:rPr dirty="0" sz="1800" spc="-20">
                <a:latin typeface="Arial MT"/>
                <a:cs typeface="Arial MT"/>
              </a:rPr>
              <a:t>500mm</a:t>
            </a:r>
            <a:r>
              <a:rPr dirty="0" sz="1800" spc="-10">
                <a:latin typeface="SimSun"/>
                <a:cs typeface="SimSun"/>
              </a:rPr>
              <a:t>操作空间，侧面</a:t>
            </a:r>
            <a:r>
              <a:rPr dirty="0" sz="1800">
                <a:latin typeface="SimSun"/>
                <a:cs typeface="SimSun"/>
              </a:rPr>
              <a:t>出风口</a:t>
            </a:r>
            <a:r>
              <a:rPr dirty="0" sz="1800" spc="-20">
                <a:latin typeface="Microsoft Sans Serif"/>
                <a:cs typeface="Microsoft Sans Serif"/>
              </a:rPr>
              <a:t>≥</a:t>
            </a:r>
            <a:r>
              <a:rPr dirty="0" sz="1800" spc="-20">
                <a:latin typeface="Arial MT"/>
                <a:cs typeface="Arial MT"/>
              </a:rPr>
              <a:t>500mm</a:t>
            </a:r>
            <a:r>
              <a:rPr dirty="0" sz="1800" spc="-10">
                <a:latin typeface="SimSun"/>
                <a:cs typeface="SimSun"/>
              </a:rPr>
              <a:t>散热空间，进风口</a:t>
            </a:r>
            <a:endParaRPr sz="1800">
              <a:latin typeface="SimSun"/>
              <a:cs typeface="SimSun"/>
            </a:endParaRPr>
          </a:p>
          <a:p>
            <a:pPr marL="297815">
              <a:lnSpc>
                <a:spcPct val="100000"/>
              </a:lnSpc>
              <a:spcBef>
                <a:spcPts val="430"/>
              </a:spcBef>
            </a:pPr>
            <a:r>
              <a:rPr dirty="0" sz="1800" spc="-20">
                <a:latin typeface="Microsoft Sans Serif"/>
                <a:cs typeface="Microsoft Sans Serif"/>
              </a:rPr>
              <a:t>≥</a:t>
            </a:r>
            <a:r>
              <a:rPr dirty="0" sz="1800" spc="-20">
                <a:latin typeface="Arial MT"/>
                <a:cs typeface="Arial MT"/>
              </a:rPr>
              <a:t>300mm</a:t>
            </a:r>
            <a:r>
              <a:rPr dirty="0" sz="1800" spc="-10">
                <a:latin typeface="SimSun"/>
                <a:cs typeface="SimSun"/>
              </a:rPr>
              <a:t>散热空间。</a:t>
            </a:r>
            <a:endParaRPr sz="1800">
              <a:latin typeface="SimSun"/>
              <a:cs typeface="SimSun"/>
            </a:endParaRPr>
          </a:p>
          <a:p>
            <a:pPr algn="just" marL="298450" marR="5715" indent="-285750">
              <a:lnSpc>
                <a:spcPct val="120000"/>
              </a:lnSpc>
              <a:spcBef>
                <a:spcPts val="430"/>
              </a:spcBef>
              <a:buFont typeface="Wingdings"/>
              <a:buChar char=""/>
              <a:tabLst>
                <a:tab pos="298450" algn="l"/>
              </a:tabLst>
            </a:pPr>
            <a:r>
              <a:rPr dirty="0" sz="1800" spc="-5">
                <a:latin typeface="SimSun"/>
                <a:cs typeface="SimSun"/>
              </a:rPr>
              <a:t>挂墙安装时，沿墙体走线需要使用走线槽道，走线槽道与设备前面板距离</a:t>
            </a:r>
            <a:r>
              <a:rPr dirty="0" sz="1800">
                <a:latin typeface="SimSun"/>
                <a:cs typeface="SimSun"/>
              </a:rPr>
              <a:t>不小于</a:t>
            </a:r>
            <a:r>
              <a:rPr dirty="0" sz="1800" spc="-10">
                <a:latin typeface="Arial MT"/>
                <a:cs typeface="Arial MT"/>
              </a:rPr>
              <a:t>400mm</a:t>
            </a:r>
            <a:r>
              <a:rPr dirty="0" sz="1800" spc="-15">
                <a:latin typeface="SimSun"/>
                <a:cs typeface="SimSun"/>
              </a:rPr>
              <a:t>，方便后期维护。</a:t>
            </a:r>
            <a:endParaRPr sz="1800">
              <a:latin typeface="SimSun"/>
              <a:cs typeface="SimSu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3581401" y="895350"/>
            <a:ext cx="0" cy="3962400"/>
          </a:xfrm>
          <a:custGeom>
            <a:avLst/>
            <a:gdLst/>
            <a:ahLst/>
            <a:cxnLst/>
            <a:rect l="l" t="t" r="r" b="b"/>
            <a:pathLst>
              <a:path w="0" h="3962400">
                <a:moveTo>
                  <a:pt x="0" y="0"/>
                </a:moveTo>
                <a:lnTo>
                  <a:pt x="0" y="3962400"/>
                </a:lnTo>
              </a:path>
            </a:pathLst>
          </a:custGeom>
          <a:ln w="34925">
            <a:solidFill>
              <a:srgbClr val="000000"/>
            </a:solidFill>
          </a:ln>
        </p:spPr>
        <p:txBody>
          <a:bodyPr wrap="square" lIns="0" tIns="0" rIns="0" bIns="0" rtlCol="0"/>
          <a:lstStyle/>
          <a:p/>
        </p:txBody>
      </p:sp>
      <p:grpSp>
        <p:nvGrpSpPr>
          <p:cNvPr id="3" name="object 3" descr=""/>
          <p:cNvGrpSpPr/>
          <p:nvPr/>
        </p:nvGrpSpPr>
        <p:grpSpPr>
          <a:xfrm>
            <a:off x="3803650" y="1574801"/>
            <a:ext cx="5118100" cy="498475"/>
            <a:chOff x="3803650" y="1574801"/>
            <a:chExt cx="5118100" cy="498475"/>
          </a:xfrm>
        </p:grpSpPr>
        <p:pic>
          <p:nvPicPr>
            <p:cNvPr id="4" name="object 4" descr=""/>
            <p:cNvPicPr/>
            <p:nvPr/>
          </p:nvPicPr>
          <p:blipFill>
            <a:blip r:embed="rId2" cstate="print"/>
            <a:stretch>
              <a:fillRect/>
            </a:stretch>
          </p:blipFill>
          <p:spPr>
            <a:xfrm>
              <a:off x="3810000" y="1581151"/>
              <a:ext cx="5105400" cy="485775"/>
            </a:xfrm>
            <a:prstGeom prst="rect">
              <a:avLst/>
            </a:prstGeom>
          </p:spPr>
        </p:pic>
        <p:sp>
          <p:nvSpPr>
            <p:cNvPr id="5" name="object 5" descr=""/>
            <p:cNvSpPr/>
            <p:nvPr/>
          </p:nvSpPr>
          <p:spPr>
            <a:xfrm>
              <a:off x="3810000" y="1581151"/>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6" name="object 6" descr=""/>
          <p:cNvGrpSpPr/>
          <p:nvPr/>
        </p:nvGrpSpPr>
        <p:grpSpPr>
          <a:xfrm>
            <a:off x="3803650" y="2260600"/>
            <a:ext cx="5118100" cy="498475"/>
            <a:chOff x="3803650" y="2260600"/>
            <a:chExt cx="5118100" cy="498475"/>
          </a:xfrm>
        </p:grpSpPr>
        <p:pic>
          <p:nvPicPr>
            <p:cNvPr id="7" name="object 7" descr=""/>
            <p:cNvPicPr/>
            <p:nvPr/>
          </p:nvPicPr>
          <p:blipFill>
            <a:blip r:embed="rId3" cstate="print"/>
            <a:stretch>
              <a:fillRect/>
            </a:stretch>
          </p:blipFill>
          <p:spPr>
            <a:xfrm>
              <a:off x="3810000" y="2266950"/>
              <a:ext cx="5105400" cy="485775"/>
            </a:xfrm>
            <a:prstGeom prst="rect">
              <a:avLst/>
            </a:prstGeom>
          </p:spPr>
        </p:pic>
        <p:sp>
          <p:nvSpPr>
            <p:cNvPr id="8" name="object 8" descr=""/>
            <p:cNvSpPr/>
            <p:nvPr/>
          </p:nvSpPr>
          <p:spPr>
            <a:xfrm>
              <a:off x="3810000" y="2266950"/>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9" name="object 9" descr=""/>
          <p:cNvGrpSpPr/>
          <p:nvPr/>
        </p:nvGrpSpPr>
        <p:grpSpPr>
          <a:xfrm>
            <a:off x="3803650" y="889001"/>
            <a:ext cx="5118100" cy="498475"/>
            <a:chOff x="3803650" y="889001"/>
            <a:chExt cx="5118100" cy="498475"/>
          </a:xfrm>
        </p:grpSpPr>
        <p:pic>
          <p:nvPicPr>
            <p:cNvPr id="10" name="object 10" descr=""/>
            <p:cNvPicPr/>
            <p:nvPr/>
          </p:nvPicPr>
          <p:blipFill>
            <a:blip r:embed="rId4" cstate="print"/>
            <a:stretch>
              <a:fillRect/>
            </a:stretch>
          </p:blipFill>
          <p:spPr>
            <a:xfrm>
              <a:off x="3810000" y="895351"/>
              <a:ext cx="5105400" cy="485775"/>
            </a:xfrm>
            <a:prstGeom prst="rect">
              <a:avLst/>
            </a:prstGeom>
          </p:spPr>
        </p:pic>
        <p:sp>
          <p:nvSpPr>
            <p:cNvPr id="11" name="object 11" descr=""/>
            <p:cNvSpPr/>
            <p:nvPr/>
          </p:nvSpPr>
          <p:spPr>
            <a:xfrm>
              <a:off x="3810000" y="895351"/>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12" name="object 12"/>
          <p:cNvSpPr txBox="1">
            <a:spLocks noGrp="1"/>
          </p:cNvSpPr>
          <p:nvPr>
            <p:ph type="title"/>
          </p:nvPr>
        </p:nvSpPr>
        <p:spPr>
          <a:xfrm>
            <a:off x="3022219" y="39229"/>
            <a:ext cx="3098800" cy="695960"/>
          </a:xfrm>
          <a:prstGeom prst="rect"/>
        </p:spPr>
        <p:txBody>
          <a:bodyPr wrap="square" lIns="0" tIns="12065" rIns="0" bIns="0" rtlCol="0" vert="horz">
            <a:spAutoFit/>
          </a:bodyPr>
          <a:lstStyle/>
          <a:p>
            <a:pPr marL="12700">
              <a:lnSpc>
                <a:spcPct val="100000"/>
              </a:lnSpc>
              <a:spcBef>
                <a:spcPts val="95"/>
              </a:spcBef>
              <a:tabLst>
                <a:tab pos="850265" algn="l"/>
                <a:tab pos="1688464" algn="l"/>
                <a:tab pos="2526665" algn="l"/>
              </a:tabLst>
            </a:pPr>
            <a:r>
              <a:rPr dirty="0" sz="4400" spc="-50"/>
              <a:t>主</a:t>
            </a:r>
            <a:r>
              <a:rPr dirty="0" sz="4400"/>
              <a:t>	</a:t>
            </a:r>
            <a:r>
              <a:rPr dirty="0" sz="4400" spc="-50"/>
              <a:t>要</a:t>
            </a:r>
            <a:r>
              <a:rPr dirty="0" sz="4400"/>
              <a:t>	</a:t>
            </a:r>
            <a:r>
              <a:rPr dirty="0" sz="4400" spc="-50"/>
              <a:t>内</a:t>
            </a:r>
            <a:r>
              <a:rPr dirty="0" sz="4400"/>
              <a:t>	</a:t>
            </a:r>
            <a:r>
              <a:rPr dirty="0" sz="4400" spc="-50"/>
              <a:t>容</a:t>
            </a:r>
            <a:endParaRPr sz="4400"/>
          </a:p>
        </p:txBody>
      </p:sp>
      <p:grpSp>
        <p:nvGrpSpPr>
          <p:cNvPr id="13" name="object 13" descr=""/>
          <p:cNvGrpSpPr/>
          <p:nvPr/>
        </p:nvGrpSpPr>
        <p:grpSpPr>
          <a:xfrm>
            <a:off x="3803650" y="2946400"/>
            <a:ext cx="5118100" cy="498475"/>
            <a:chOff x="3803650" y="2946400"/>
            <a:chExt cx="5118100" cy="498475"/>
          </a:xfrm>
        </p:grpSpPr>
        <p:pic>
          <p:nvPicPr>
            <p:cNvPr id="14" name="object 14" descr=""/>
            <p:cNvPicPr/>
            <p:nvPr/>
          </p:nvPicPr>
          <p:blipFill>
            <a:blip r:embed="rId5" cstate="print"/>
            <a:stretch>
              <a:fillRect/>
            </a:stretch>
          </p:blipFill>
          <p:spPr>
            <a:xfrm>
              <a:off x="3810000" y="2952750"/>
              <a:ext cx="5105400" cy="485775"/>
            </a:xfrm>
            <a:prstGeom prst="rect">
              <a:avLst/>
            </a:prstGeom>
          </p:spPr>
        </p:pic>
        <p:sp>
          <p:nvSpPr>
            <p:cNvPr id="15" name="object 15" descr=""/>
            <p:cNvSpPr/>
            <p:nvPr/>
          </p:nvSpPr>
          <p:spPr>
            <a:xfrm>
              <a:off x="3810000" y="2952750"/>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pic>
        <p:nvPicPr>
          <p:cNvPr id="16" name="object 16"/>
          <p:cNvPicPr/>
          <p:nvPr/>
        </p:nvPicPr>
        <p:blipFill>
          <a:blip r:embed="rId6" cstate="print"/>
          <a:stretch>
            <a:fillRect/>
          </a:stretch>
        </p:blipFill>
        <p:spPr>
          <a:xfrm>
            <a:off x="152400" y="895350"/>
            <a:ext cx="3276599" cy="3962399"/>
          </a:xfrm>
          <a:prstGeom prst="rect">
            <a:avLst/>
          </a:prstGeom>
        </p:spPr>
      </p:pic>
      <p:grpSp>
        <p:nvGrpSpPr>
          <p:cNvPr id="17" name="object 17" descr=""/>
          <p:cNvGrpSpPr/>
          <p:nvPr/>
        </p:nvGrpSpPr>
        <p:grpSpPr>
          <a:xfrm>
            <a:off x="3803650" y="3632200"/>
            <a:ext cx="5118100" cy="498475"/>
            <a:chOff x="3803650" y="3632200"/>
            <a:chExt cx="5118100" cy="498475"/>
          </a:xfrm>
        </p:grpSpPr>
        <p:pic>
          <p:nvPicPr>
            <p:cNvPr id="18" name="object 18" descr=""/>
            <p:cNvPicPr/>
            <p:nvPr/>
          </p:nvPicPr>
          <p:blipFill>
            <a:blip r:embed="rId5" cstate="print"/>
            <a:stretch>
              <a:fillRect/>
            </a:stretch>
          </p:blipFill>
          <p:spPr>
            <a:xfrm>
              <a:off x="3810000" y="3638550"/>
              <a:ext cx="5105400" cy="485775"/>
            </a:xfrm>
            <a:prstGeom prst="rect">
              <a:avLst/>
            </a:prstGeom>
          </p:spPr>
        </p:pic>
        <p:sp>
          <p:nvSpPr>
            <p:cNvPr id="19" name="object 19" descr=""/>
            <p:cNvSpPr/>
            <p:nvPr/>
          </p:nvSpPr>
          <p:spPr>
            <a:xfrm>
              <a:off x="3810000" y="3638550"/>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20" name="object 20" descr=""/>
          <p:cNvGrpSpPr/>
          <p:nvPr/>
        </p:nvGrpSpPr>
        <p:grpSpPr>
          <a:xfrm>
            <a:off x="3803650" y="4318000"/>
            <a:ext cx="5118100" cy="498475"/>
            <a:chOff x="3803650" y="4318000"/>
            <a:chExt cx="5118100" cy="498475"/>
          </a:xfrm>
        </p:grpSpPr>
        <p:pic>
          <p:nvPicPr>
            <p:cNvPr id="21" name="object 21" descr=""/>
            <p:cNvPicPr/>
            <p:nvPr/>
          </p:nvPicPr>
          <p:blipFill>
            <a:blip r:embed="rId5" cstate="print"/>
            <a:stretch>
              <a:fillRect/>
            </a:stretch>
          </p:blipFill>
          <p:spPr>
            <a:xfrm>
              <a:off x="3810000" y="4324350"/>
              <a:ext cx="5105400" cy="485775"/>
            </a:xfrm>
            <a:prstGeom prst="rect">
              <a:avLst/>
            </a:prstGeom>
          </p:spPr>
        </p:pic>
        <p:sp>
          <p:nvSpPr>
            <p:cNvPr id="22" name="object 22" descr=""/>
            <p:cNvSpPr/>
            <p:nvPr/>
          </p:nvSpPr>
          <p:spPr>
            <a:xfrm>
              <a:off x="3810000" y="4324350"/>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23" name="object 23" descr=""/>
          <p:cNvSpPr txBox="1"/>
          <p:nvPr/>
        </p:nvSpPr>
        <p:spPr>
          <a:xfrm>
            <a:off x="3912453" y="931989"/>
            <a:ext cx="4733290" cy="3820160"/>
          </a:xfrm>
          <a:prstGeom prst="rect">
            <a:avLst/>
          </a:prstGeom>
        </p:spPr>
        <p:txBody>
          <a:bodyPr wrap="square" lIns="0" tIns="12700" rIns="0" bIns="0" rtlCol="0" vert="horz">
            <a:spAutoFit/>
          </a:bodyPr>
          <a:lstStyle/>
          <a:p>
            <a:pPr marL="12700">
              <a:lnSpc>
                <a:spcPct val="100000"/>
              </a:lnSpc>
              <a:spcBef>
                <a:spcPts val="100"/>
              </a:spcBef>
            </a:pPr>
            <a:r>
              <a:rPr dirty="0" sz="2400">
                <a:latin typeface="Microsoft YaHei"/>
                <a:cs typeface="Microsoft YaHei"/>
              </a:rPr>
              <a:t>一、</a:t>
            </a:r>
            <a:r>
              <a:rPr dirty="0" sz="2400" spc="-20">
                <a:latin typeface="Times New Roman"/>
                <a:cs typeface="Times New Roman"/>
              </a:rPr>
              <a:t>5G</a:t>
            </a:r>
            <a:r>
              <a:rPr dirty="0" sz="2400">
                <a:latin typeface="Microsoft YaHei"/>
                <a:cs typeface="Microsoft YaHei"/>
              </a:rPr>
              <a:t>系统基站</a:t>
            </a:r>
            <a:r>
              <a:rPr dirty="0" sz="2400" spc="-10">
                <a:latin typeface="Times New Roman"/>
                <a:cs typeface="Times New Roman"/>
              </a:rPr>
              <a:t>BBU</a:t>
            </a:r>
            <a:r>
              <a:rPr dirty="0" sz="2400" spc="-10">
                <a:latin typeface="Microsoft YaHei"/>
                <a:cs typeface="Microsoft YaHei"/>
              </a:rPr>
              <a:t>安装工程规范</a:t>
            </a:r>
            <a:endParaRPr sz="2400">
              <a:latin typeface="Microsoft YaHei"/>
              <a:cs typeface="Microsoft YaHei"/>
            </a:endParaRPr>
          </a:p>
          <a:p>
            <a:pPr algn="just" marL="12700" marR="5080">
              <a:lnSpc>
                <a:spcPts val="5400"/>
              </a:lnSpc>
              <a:spcBef>
                <a:spcPts val="590"/>
              </a:spcBef>
            </a:pPr>
            <a:r>
              <a:rPr dirty="0" sz="2400" b="1">
                <a:solidFill>
                  <a:srgbClr val="FF0000"/>
                </a:solidFill>
                <a:latin typeface="Microsoft YaHei"/>
                <a:cs typeface="Microsoft YaHei"/>
              </a:rPr>
              <a:t>二、</a:t>
            </a:r>
            <a:r>
              <a:rPr dirty="0" sz="2400" b="1">
                <a:solidFill>
                  <a:srgbClr val="FF0000"/>
                </a:solidFill>
                <a:latin typeface="Times New Roman"/>
                <a:cs typeface="Times New Roman"/>
              </a:rPr>
              <a:t>5G</a:t>
            </a:r>
            <a:r>
              <a:rPr dirty="0" sz="2400" b="1">
                <a:solidFill>
                  <a:srgbClr val="FF0000"/>
                </a:solidFill>
                <a:latin typeface="Microsoft YaHei"/>
                <a:cs typeface="Microsoft YaHei"/>
              </a:rPr>
              <a:t>系统基站</a:t>
            </a:r>
            <a:r>
              <a:rPr dirty="0" sz="2400" spc="-25" b="1">
                <a:solidFill>
                  <a:srgbClr val="FF0000"/>
                </a:solidFill>
                <a:latin typeface="Times New Roman"/>
                <a:cs typeface="Times New Roman"/>
              </a:rPr>
              <a:t>AAU</a:t>
            </a:r>
            <a:r>
              <a:rPr dirty="0" sz="2400" spc="-10" b="1">
                <a:solidFill>
                  <a:srgbClr val="FF0000"/>
                </a:solidFill>
                <a:latin typeface="Microsoft YaHei"/>
                <a:cs typeface="Microsoft YaHei"/>
              </a:rPr>
              <a:t>安装工程规范</a:t>
            </a:r>
            <a:r>
              <a:rPr dirty="0" sz="2400">
                <a:latin typeface="Microsoft YaHei"/>
                <a:cs typeface="Microsoft YaHei"/>
              </a:rPr>
              <a:t>三、</a:t>
            </a:r>
            <a:r>
              <a:rPr dirty="0" sz="2400" spc="-20">
                <a:latin typeface="Times New Roman"/>
                <a:cs typeface="Times New Roman"/>
              </a:rPr>
              <a:t>5G</a:t>
            </a:r>
            <a:r>
              <a:rPr dirty="0" sz="2400" spc="-5">
                <a:latin typeface="Microsoft YaHei"/>
                <a:cs typeface="Microsoft YaHei"/>
              </a:rPr>
              <a:t>系统基站安装配套工程规范</a:t>
            </a:r>
            <a:r>
              <a:rPr dirty="0" sz="2400">
                <a:latin typeface="Microsoft YaHei"/>
                <a:cs typeface="Microsoft YaHei"/>
              </a:rPr>
              <a:t>四、</a:t>
            </a:r>
            <a:r>
              <a:rPr dirty="0" sz="2400" spc="-20">
                <a:latin typeface="Times New Roman"/>
                <a:cs typeface="Times New Roman"/>
              </a:rPr>
              <a:t>5G</a:t>
            </a:r>
            <a:r>
              <a:rPr dirty="0" sz="2400" spc="-5">
                <a:latin typeface="Microsoft YaHei"/>
                <a:cs typeface="Microsoft YaHei"/>
              </a:rPr>
              <a:t>系统基站线缆安装工程规范</a:t>
            </a:r>
            <a:r>
              <a:rPr dirty="0" sz="2400">
                <a:latin typeface="Microsoft YaHei"/>
                <a:cs typeface="Microsoft YaHei"/>
              </a:rPr>
              <a:t>五、</a:t>
            </a:r>
            <a:r>
              <a:rPr dirty="0" sz="2400" spc="-20">
                <a:latin typeface="Times New Roman"/>
                <a:cs typeface="Times New Roman"/>
              </a:rPr>
              <a:t>5G</a:t>
            </a:r>
            <a:r>
              <a:rPr dirty="0" sz="2400" spc="-5">
                <a:latin typeface="Microsoft YaHei"/>
                <a:cs typeface="Microsoft YaHei"/>
              </a:rPr>
              <a:t>系统基站安装常见问题分析</a:t>
            </a:r>
            <a:endParaRPr sz="2400">
              <a:latin typeface="Microsoft YaHei"/>
              <a:cs typeface="Microsoft YaHei"/>
            </a:endParaRPr>
          </a:p>
          <a:p>
            <a:pPr marL="12700">
              <a:lnSpc>
                <a:spcPct val="100000"/>
              </a:lnSpc>
              <a:spcBef>
                <a:spcPts val="1930"/>
              </a:spcBef>
            </a:pPr>
            <a:r>
              <a:rPr dirty="0" sz="2400">
                <a:latin typeface="Microsoft YaHei"/>
                <a:cs typeface="Microsoft YaHei"/>
              </a:rPr>
              <a:t>六、</a:t>
            </a:r>
            <a:r>
              <a:rPr dirty="0" sz="2400" spc="-20">
                <a:latin typeface="Times New Roman"/>
                <a:cs typeface="Times New Roman"/>
              </a:rPr>
              <a:t>5G</a:t>
            </a:r>
            <a:r>
              <a:rPr dirty="0" sz="2400" spc="-5">
                <a:latin typeface="Microsoft YaHei"/>
                <a:cs typeface="Microsoft YaHei"/>
              </a:rPr>
              <a:t>系统基站开通调测性能测试</a:t>
            </a:r>
            <a:endParaRPr sz="2400">
              <a:latin typeface="Microsoft YaHei"/>
              <a:cs typeface="Microsoft YaHe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48811" y="113125"/>
            <a:ext cx="2467610" cy="513080"/>
          </a:xfrm>
          <a:prstGeom prst="rect">
            <a:avLst/>
          </a:prstGeom>
        </p:spPr>
        <p:txBody>
          <a:bodyPr wrap="square" lIns="0" tIns="12065" rIns="0" bIns="0" rtlCol="0" vert="horz">
            <a:spAutoFit/>
          </a:bodyPr>
          <a:lstStyle/>
          <a:p>
            <a:pPr marL="12700">
              <a:lnSpc>
                <a:spcPct val="100000"/>
              </a:lnSpc>
              <a:spcBef>
                <a:spcPts val="95"/>
              </a:spcBef>
            </a:pPr>
            <a:r>
              <a:rPr dirty="0" sz="3200" spc="-40" b="1">
                <a:solidFill>
                  <a:srgbClr val="FFFFFF"/>
                </a:solidFill>
                <a:latin typeface="Microsoft JhengHei"/>
                <a:cs typeface="Microsoft JhengHei"/>
              </a:rPr>
              <a:t>射频拉远单元</a:t>
            </a:r>
            <a:endParaRPr sz="3200">
              <a:latin typeface="Microsoft JhengHei"/>
              <a:cs typeface="Microsoft JhengHei"/>
            </a:endParaRPr>
          </a:p>
        </p:txBody>
      </p:sp>
      <p:pic>
        <p:nvPicPr>
          <p:cNvPr id="3" name="object 3"/>
          <p:cNvPicPr/>
          <p:nvPr/>
        </p:nvPicPr>
        <p:blipFill>
          <a:blip r:embed="rId2" cstate="print"/>
          <a:stretch>
            <a:fillRect/>
          </a:stretch>
        </p:blipFill>
        <p:spPr>
          <a:xfrm>
            <a:off x="838200" y="1047750"/>
            <a:ext cx="2138905" cy="3906853"/>
          </a:xfrm>
          <a:prstGeom prst="rect">
            <a:avLst/>
          </a:prstGeom>
        </p:spPr>
      </p:pic>
      <p:sp>
        <p:nvSpPr>
          <p:cNvPr id="4" name="object 4" descr=""/>
          <p:cNvSpPr txBox="1"/>
          <p:nvPr/>
        </p:nvSpPr>
        <p:spPr>
          <a:xfrm>
            <a:off x="544001" y="799234"/>
            <a:ext cx="3474085" cy="299720"/>
          </a:xfrm>
          <a:prstGeom prst="rect">
            <a:avLst/>
          </a:prstGeom>
        </p:spPr>
        <p:txBody>
          <a:bodyPr wrap="square" lIns="0" tIns="12700" rIns="0" bIns="0" rtlCol="0" vert="horz">
            <a:spAutoFit/>
          </a:bodyPr>
          <a:lstStyle/>
          <a:p>
            <a:pPr marL="12700">
              <a:lnSpc>
                <a:spcPct val="100000"/>
              </a:lnSpc>
              <a:spcBef>
                <a:spcPts val="100"/>
              </a:spcBef>
            </a:pPr>
            <a:r>
              <a:rPr dirty="0" sz="1800" spc="-10">
                <a:latin typeface="Times New Roman"/>
                <a:cs typeface="Times New Roman"/>
              </a:rPr>
              <a:t>5GIII</a:t>
            </a:r>
            <a:r>
              <a:rPr dirty="0" sz="1800" spc="-65">
                <a:latin typeface="Times New Roman"/>
                <a:cs typeface="Times New Roman"/>
              </a:rPr>
              <a:t> </a:t>
            </a:r>
            <a:r>
              <a:rPr dirty="0" sz="1800" spc="-10">
                <a:latin typeface="Times New Roman"/>
                <a:cs typeface="Times New Roman"/>
              </a:rPr>
              <a:t>AAU</a:t>
            </a:r>
            <a:r>
              <a:rPr dirty="0" sz="1800">
                <a:latin typeface="SimSun"/>
                <a:cs typeface="SimSun"/>
              </a:rPr>
              <a:t>外观</a:t>
            </a:r>
            <a:r>
              <a:rPr dirty="0" sz="1800" spc="-10">
                <a:latin typeface="SimSun"/>
                <a:cs typeface="SimSun"/>
              </a:rPr>
              <a:t>（</a:t>
            </a:r>
            <a:r>
              <a:rPr dirty="0" sz="1800" spc="-10">
                <a:latin typeface="Times New Roman"/>
                <a:cs typeface="Times New Roman"/>
              </a:rPr>
              <a:t>TDAU5164N78</a:t>
            </a:r>
            <a:r>
              <a:rPr dirty="0" sz="1800" spc="-10">
                <a:latin typeface="SimSun"/>
                <a:cs typeface="SimSun"/>
              </a:rPr>
              <a:t>）</a:t>
            </a:r>
            <a:endParaRPr sz="1800">
              <a:latin typeface="SimSun"/>
              <a:cs typeface="SimSun"/>
            </a:endParaRPr>
          </a:p>
        </p:txBody>
      </p:sp>
      <p:pic>
        <p:nvPicPr>
          <p:cNvPr id="5" name="object 5"/>
          <p:cNvPicPr/>
          <p:nvPr/>
        </p:nvPicPr>
        <p:blipFill>
          <a:blip r:embed="rId3" cstate="print"/>
          <a:stretch>
            <a:fillRect/>
          </a:stretch>
        </p:blipFill>
        <p:spPr>
          <a:xfrm>
            <a:off x="3233668" y="1419380"/>
            <a:ext cx="5449093" cy="315923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98520" y="113125"/>
            <a:ext cx="2467610" cy="513080"/>
          </a:xfrm>
          <a:prstGeom prst="rect"/>
        </p:spPr>
        <p:txBody>
          <a:bodyPr wrap="square" lIns="0" tIns="12065" rIns="0" bIns="0" rtlCol="0" vert="horz">
            <a:spAutoFit/>
          </a:bodyPr>
          <a:lstStyle/>
          <a:p>
            <a:pPr marL="12700">
              <a:lnSpc>
                <a:spcPct val="100000"/>
              </a:lnSpc>
              <a:spcBef>
                <a:spcPts val="95"/>
              </a:spcBef>
            </a:pPr>
            <a:r>
              <a:rPr dirty="0" spc="-40"/>
              <a:t>射频拉远单元</a:t>
            </a:r>
          </a:p>
        </p:txBody>
      </p:sp>
      <p:graphicFrame>
        <p:nvGraphicFramePr>
          <p:cNvPr id="3" name="object 3" descr=""/>
          <p:cNvGraphicFramePr>
            <a:graphicFrameLocks noGrp="1"/>
          </p:cNvGraphicFramePr>
          <p:nvPr/>
        </p:nvGraphicFramePr>
        <p:xfrm>
          <a:off x="539546" y="1190898"/>
          <a:ext cx="8141334" cy="3382010"/>
        </p:xfrm>
        <a:graphic>
          <a:graphicData uri="http://schemas.openxmlformats.org/drawingml/2006/table">
            <a:tbl>
              <a:tblPr firstRow="1" bandRow="1">
                <a:tableStyleId>{2D5ABB26-0587-4C30-8999-92F81FD0307C}</a:tableStyleId>
              </a:tblPr>
              <a:tblGrid>
                <a:gridCol w="3931920"/>
                <a:gridCol w="4132579"/>
              </a:tblGrid>
              <a:tr h="584835">
                <a:tc>
                  <a:txBody>
                    <a:bodyPr/>
                    <a:lstStyle/>
                    <a:p>
                      <a:pPr algn="ctr" marL="164465">
                        <a:lnSpc>
                          <a:spcPct val="100000"/>
                        </a:lnSpc>
                        <a:spcBef>
                          <a:spcPts val="1430"/>
                        </a:spcBef>
                      </a:pPr>
                      <a:r>
                        <a:rPr dirty="0" sz="1400" spc="-20">
                          <a:solidFill>
                            <a:srgbClr val="FFFFFF"/>
                          </a:solidFill>
                          <a:latin typeface="SimSun"/>
                          <a:cs typeface="SimSun"/>
                        </a:rPr>
                        <a:t>参数名称</a:t>
                      </a:r>
                      <a:endParaRPr sz="1400">
                        <a:latin typeface="SimSun"/>
                        <a:cs typeface="SimSun"/>
                      </a:endParaRPr>
                    </a:p>
                  </a:txBody>
                  <a:tcPr marL="0" marR="0" marB="0" marT="181610">
                    <a:lnT w="28575">
                      <a:solidFill>
                        <a:srgbClr val="000000"/>
                      </a:solidFill>
                      <a:prstDash val="solid"/>
                    </a:lnT>
                    <a:lnB w="28575">
                      <a:solidFill>
                        <a:srgbClr val="000000"/>
                      </a:solidFill>
                      <a:prstDash val="solid"/>
                    </a:lnB>
                    <a:solidFill>
                      <a:srgbClr val="2D2D8A"/>
                    </a:solidFill>
                  </a:tcPr>
                </a:tc>
                <a:tc>
                  <a:txBody>
                    <a:bodyPr/>
                    <a:lstStyle/>
                    <a:p>
                      <a:pPr algn="ctr" marL="165100">
                        <a:lnSpc>
                          <a:spcPct val="100000"/>
                        </a:lnSpc>
                        <a:spcBef>
                          <a:spcPts val="1430"/>
                        </a:spcBef>
                      </a:pPr>
                      <a:r>
                        <a:rPr dirty="0" sz="1400" spc="-30">
                          <a:solidFill>
                            <a:srgbClr val="FFFFFF"/>
                          </a:solidFill>
                          <a:latin typeface="SimSun"/>
                          <a:cs typeface="SimSun"/>
                        </a:rPr>
                        <a:t>指标</a:t>
                      </a:r>
                      <a:endParaRPr sz="1400">
                        <a:latin typeface="SimSun"/>
                        <a:cs typeface="SimSun"/>
                      </a:endParaRPr>
                    </a:p>
                  </a:txBody>
                  <a:tcPr marL="0" marR="0" marB="0" marT="181610">
                    <a:lnT w="28575">
                      <a:solidFill>
                        <a:srgbClr val="000000"/>
                      </a:solidFill>
                      <a:prstDash val="solid"/>
                    </a:lnT>
                    <a:lnB w="28575">
                      <a:solidFill>
                        <a:srgbClr val="000000"/>
                      </a:solidFill>
                      <a:prstDash val="solid"/>
                    </a:lnB>
                    <a:solidFill>
                      <a:srgbClr val="2D2D8A"/>
                    </a:solidFill>
                  </a:tcPr>
                </a:tc>
              </a:tr>
              <a:tr h="433705">
                <a:tc>
                  <a:txBody>
                    <a:bodyPr/>
                    <a:lstStyle/>
                    <a:p>
                      <a:pPr algn="ctr" marL="164465">
                        <a:lnSpc>
                          <a:spcPct val="100000"/>
                        </a:lnSpc>
                        <a:spcBef>
                          <a:spcPts val="334"/>
                        </a:spcBef>
                      </a:pPr>
                      <a:r>
                        <a:rPr dirty="0" sz="1400" spc="-20">
                          <a:latin typeface="SimSun"/>
                          <a:cs typeface="SimSun"/>
                        </a:rPr>
                        <a:t>尺寸（高×宽×深</a:t>
                      </a:r>
                      <a:r>
                        <a:rPr dirty="0" sz="1400" spc="-50">
                          <a:latin typeface="SimSun"/>
                          <a:cs typeface="SimSun"/>
                        </a:rPr>
                        <a:t>）</a:t>
                      </a:r>
                      <a:endParaRPr sz="1400">
                        <a:latin typeface="SimSun"/>
                        <a:cs typeface="SimSun"/>
                      </a:endParaRPr>
                    </a:p>
                  </a:txBody>
                  <a:tcPr marL="0" marR="0" marB="0" marT="42544">
                    <a:lnT w="28575">
                      <a:solidFill>
                        <a:srgbClr val="000000"/>
                      </a:solidFill>
                      <a:prstDash val="solid"/>
                    </a:lnT>
                    <a:solidFill>
                      <a:srgbClr val="E8E8E8"/>
                    </a:solidFill>
                  </a:tcPr>
                </a:tc>
                <a:tc>
                  <a:txBody>
                    <a:bodyPr/>
                    <a:lstStyle/>
                    <a:p>
                      <a:pPr algn="ctr" marL="165100">
                        <a:lnSpc>
                          <a:spcPct val="100000"/>
                        </a:lnSpc>
                        <a:spcBef>
                          <a:spcPts val="334"/>
                        </a:spcBef>
                      </a:pPr>
                      <a:r>
                        <a:rPr dirty="0" sz="1400" spc="-10">
                          <a:latin typeface="Arial MT"/>
                          <a:cs typeface="Arial MT"/>
                        </a:rPr>
                        <a:t>896mm</a:t>
                      </a:r>
                      <a:r>
                        <a:rPr dirty="0" sz="1400" spc="-10">
                          <a:latin typeface="SimSun"/>
                          <a:cs typeface="SimSun"/>
                        </a:rPr>
                        <a:t>×</a:t>
                      </a:r>
                      <a:r>
                        <a:rPr dirty="0" sz="1400" spc="-10">
                          <a:latin typeface="Arial MT"/>
                          <a:cs typeface="Arial MT"/>
                        </a:rPr>
                        <a:t>490mm</a:t>
                      </a:r>
                      <a:r>
                        <a:rPr dirty="0" sz="1400" spc="-10">
                          <a:latin typeface="SimSun"/>
                          <a:cs typeface="SimSun"/>
                        </a:rPr>
                        <a:t>×</a:t>
                      </a:r>
                      <a:r>
                        <a:rPr dirty="0" sz="1400" spc="-10">
                          <a:latin typeface="Arial MT"/>
                          <a:cs typeface="Arial MT"/>
                        </a:rPr>
                        <a:t>142mm</a:t>
                      </a:r>
                      <a:endParaRPr sz="1400">
                        <a:latin typeface="Arial MT"/>
                        <a:cs typeface="Arial MT"/>
                      </a:endParaRPr>
                    </a:p>
                  </a:txBody>
                  <a:tcPr marL="0" marR="0" marB="0" marT="42544">
                    <a:lnT w="28575">
                      <a:solidFill>
                        <a:srgbClr val="000000"/>
                      </a:solidFill>
                      <a:prstDash val="solid"/>
                    </a:lnT>
                    <a:solidFill>
                      <a:srgbClr val="E8E8E8"/>
                    </a:solidFill>
                  </a:tcPr>
                </a:tc>
              </a:tr>
              <a:tr h="359410">
                <a:tc>
                  <a:txBody>
                    <a:bodyPr/>
                    <a:lstStyle/>
                    <a:p>
                      <a:pPr algn="ctr" marL="165100">
                        <a:lnSpc>
                          <a:spcPct val="100000"/>
                        </a:lnSpc>
                        <a:spcBef>
                          <a:spcPts val="550"/>
                        </a:spcBef>
                      </a:pPr>
                      <a:r>
                        <a:rPr dirty="0" sz="1400" spc="-20">
                          <a:latin typeface="SimSun"/>
                          <a:cs typeface="SimSun"/>
                        </a:rPr>
                        <a:t>重量（</a:t>
                      </a:r>
                      <a:r>
                        <a:rPr dirty="0" sz="1400" spc="-20">
                          <a:latin typeface="Arial MT"/>
                          <a:cs typeface="Arial MT"/>
                        </a:rPr>
                        <a:t>kg</a:t>
                      </a:r>
                      <a:r>
                        <a:rPr dirty="0" sz="1400" spc="-20">
                          <a:latin typeface="SimSun"/>
                          <a:cs typeface="SimSun"/>
                        </a:rPr>
                        <a:t>）</a:t>
                      </a:r>
                      <a:endParaRPr sz="1400">
                        <a:latin typeface="SimSun"/>
                        <a:cs typeface="SimSun"/>
                      </a:endParaRPr>
                    </a:p>
                  </a:txBody>
                  <a:tcPr marL="0" marR="0" marB="0" marT="69850"/>
                </a:tc>
                <a:tc>
                  <a:txBody>
                    <a:bodyPr/>
                    <a:lstStyle/>
                    <a:p>
                      <a:pPr algn="ctr" marL="164465">
                        <a:lnSpc>
                          <a:spcPct val="100000"/>
                        </a:lnSpc>
                        <a:spcBef>
                          <a:spcPts val="535"/>
                        </a:spcBef>
                      </a:pPr>
                      <a:r>
                        <a:rPr dirty="0" sz="1400" spc="-10">
                          <a:latin typeface="Microsoft Sans Serif"/>
                          <a:cs typeface="Microsoft Sans Serif"/>
                        </a:rPr>
                        <a:t>≤</a:t>
                      </a:r>
                      <a:r>
                        <a:rPr dirty="0" sz="1400" spc="-10">
                          <a:latin typeface="Arial MT"/>
                          <a:cs typeface="Arial MT"/>
                        </a:rPr>
                        <a:t>44kg</a:t>
                      </a:r>
                      <a:endParaRPr sz="1400">
                        <a:latin typeface="Arial MT"/>
                        <a:cs typeface="Arial MT"/>
                      </a:endParaRPr>
                    </a:p>
                  </a:txBody>
                  <a:tcPr marL="0" marR="0" marB="0" marT="67945"/>
                </a:tc>
              </a:tr>
              <a:tr h="433070">
                <a:tc>
                  <a:txBody>
                    <a:bodyPr/>
                    <a:lstStyle/>
                    <a:p>
                      <a:pPr algn="ctr" marL="163830">
                        <a:lnSpc>
                          <a:spcPct val="100000"/>
                        </a:lnSpc>
                        <a:spcBef>
                          <a:spcPts val="330"/>
                        </a:spcBef>
                      </a:pPr>
                      <a:r>
                        <a:rPr dirty="0" sz="1400" spc="-20">
                          <a:latin typeface="SimSun"/>
                          <a:cs typeface="SimSun"/>
                        </a:rPr>
                        <a:t>通道数量（个</a:t>
                      </a:r>
                      <a:r>
                        <a:rPr dirty="0" sz="1400" spc="-50">
                          <a:latin typeface="SimSun"/>
                          <a:cs typeface="SimSun"/>
                        </a:rPr>
                        <a:t>）</a:t>
                      </a:r>
                      <a:endParaRPr sz="1400">
                        <a:latin typeface="SimSun"/>
                        <a:cs typeface="SimSun"/>
                      </a:endParaRPr>
                    </a:p>
                  </a:txBody>
                  <a:tcPr marL="0" marR="0" marB="0" marT="41910">
                    <a:solidFill>
                      <a:srgbClr val="E8E8E8"/>
                    </a:solidFill>
                  </a:tcPr>
                </a:tc>
                <a:tc>
                  <a:txBody>
                    <a:bodyPr/>
                    <a:lstStyle/>
                    <a:p>
                      <a:pPr algn="ctr" marL="163830">
                        <a:lnSpc>
                          <a:spcPct val="100000"/>
                        </a:lnSpc>
                        <a:spcBef>
                          <a:spcPts val="320"/>
                        </a:spcBef>
                      </a:pPr>
                      <a:r>
                        <a:rPr dirty="0" sz="1400" spc="-25">
                          <a:latin typeface="Arial MT"/>
                          <a:cs typeface="Arial MT"/>
                        </a:rPr>
                        <a:t>64</a:t>
                      </a:r>
                      <a:endParaRPr sz="1400">
                        <a:latin typeface="Arial MT"/>
                        <a:cs typeface="Arial MT"/>
                      </a:endParaRPr>
                    </a:p>
                  </a:txBody>
                  <a:tcPr marL="0" marR="0" marB="0" marT="40640">
                    <a:solidFill>
                      <a:srgbClr val="E8E8E8"/>
                    </a:solidFill>
                  </a:tcPr>
                </a:tc>
              </a:tr>
              <a:tr h="379095">
                <a:tc>
                  <a:txBody>
                    <a:bodyPr/>
                    <a:lstStyle/>
                    <a:p>
                      <a:pPr algn="ctr" marL="164465">
                        <a:lnSpc>
                          <a:spcPct val="100000"/>
                        </a:lnSpc>
                        <a:spcBef>
                          <a:spcPts val="625"/>
                        </a:spcBef>
                      </a:pPr>
                      <a:r>
                        <a:rPr dirty="0" sz="1400" spc="-30">
                          <a:latin typeface="SimSun"/>
                          <a:cs typeface="SimSun"/>
                        </a:rPr>
                        <a:t>天线个数</a:t>
                      </a:r>
                      <a:endParaRPr sz="1400">
                        <a:latin typeface="SimSun"/>
                        <a:cs typeface="SimSun"/>
                      </a:endParaRPr>
                    </a:p>
                  </a:txBody>
                  <a:tcPr marL="0" marR="0" marB="0" marT="79375"/>
                </a:tc>
                <a:tc>
                  <a:txBody>
                    <a:bodyPr/>
                    <a:lstStyle/>
                    <a:p>
                      <a:pPr algn="ctr" marL="163830">
                        <a:lnSpc>
                          <a:spcPct val="100000"/>
                        </a:lnSpc>
                        <a:spcBef>
                          <a:spcPts val="620"/>
                        </a:spcBef>
                      </a:pPr>
                      <a:r>
                        <a:rPr dirty="0" sz="1400" spc="-25">
                          <a:latin typeface="Arial MT"/>
                          <a:cs typeface="Arial MT"/>
                        </a:rPr>
                        <a:t>192</a:t>
                      </a:r>
                      <a:endParaRPr sz="1400">
                        <a:latin typeface="Arial MT"/>
                        <a:cs typeface="Arial MT"/>
                      </a:endParaRPr>
                    </a:p>
                  </a:txBody>
                  <a:tcPr marL="0" marR="0" marB="0" marT="78740"/>
                </a:tc>
              </a:tr>
              <a:tr h="433705">
                <a:tc>
                  <a:txBody>
                    <a:bodyPr/>
                    <a:lstStyle/>
                    <a:p>
                      <a:pPr algn="ctr" marL="163830">
                        <a:lnSpc>
                          <a:spcPct val="100000"/>
                        </a:lnSpc>
                        <a:spcBef>
                          <a:spcPts val="330"/>
                        </a:spcBef>
                      </a:pPr>
                      <a:r>
                        <a:rPr dirty="0" sz="1400" spc="-25">
                          <a:latin typeface="SimSun"/>
                          <a:cs typeface="SimSun"/>
                        </a:rPr>
                        <a:t>采用的供电方式</a:t>
                      </a:r>
                      <a:endParaRPr sz="1400">
                        <a:latin typeface="SimSun"/>
                        <a:cs typeface="SimSun"/>
                      </a:endParaRPr>
                    </a:p>
                  </a:txBody>
                  <a:tcPr marL="0" marR="0" marB="0" marT="41910">
                    <a:solidFill>
                      <a:srgbClr val="E8E8E8"/>
                    </a:solidFill>
                  </a:tcPr>
                </a:tc>
                <a:tc>
                  <a:txBody>
                    <a:bodyPr/>
                    <a:lstStyle/>
                    <a:p>
                      <a:pPr algn="ctr" marL="164465">
                        <a:lnSpc>
                          <a:spcPct val="100000"/>
                        </a:lnSpc>
                        <a:spcBef>
                          <a:spcPts val="320"/>
                        </a:spcBef>
                      </a:pPr>
                      <a:r>
                        <a:rPr dirty="0" sz="1400">
                          <a:latin typeface="Arial MT"/>
                          <a:cs typeface="Arial MT"/>
                        </a:rPr>
                        <a:t>-</a:t>
                      </a:r>
                      <a:r>
                        <a:rPr dirty="0" sz="1400" spc="-20">
                          <a:latin typeface="Arial MT"/>
                          <a:cs typeface="Arial MT"/>
                        </a:rPr>
                        <a:t>48DC</a:t>
                      </a:r>
                      <a:endParaRPr sz="1400">
                        <a:latin typeface="Arial MT"/>
                        <a:cs typeface="Arial MT"/>
                      </a:endParaRPr>
                    </a:p>
                  </a:txBody>
                  <a:tcPr marL="0" marR="0" marB="0" marT="40640">
                    <a:solidFill>
                      <a:srgbClr val="E8E8E8"/>
                    </a:solidFill>
                  </a:tcPr>
                </a:tc>
              </a:tr>
              <a:tr h="379095">
                <a:tc>
                  <a:txBody>
                    <a:bodyPr/>
                    <a:lstStyle/>
                    <a:p>
                      <a:pPr algn="ctr" marL="165735">
                        <a:lnSpc>
                          <a:spcPct val="100000"/>
                        </a:lnSpc>
                        <a:spcBef>
                          <a:spcPts val="620"/>
                        </a:spcBef>
                      </a:pPr>
                      <a:r>
                        <a:rPr dirty="0" sz="1400" spc="-25">
                          <a:latin typeface="SimSun"/>
                          <a:cs typeface="SimSun"/>
                        </a:rPr>
                        <a:t>允许的电压波动范围</a:t>
                      </a:r>
                      <a:endParaRPr sz="1400">
                        <a:latin typeface="SimSun"/>
                        <a:cs typeface="SimSun"/>
                      </a:endParaRPr>
                    </a:p>
                  </a:txBody>
                  <a:tcPr marL="0" marR="0" marB="0" marT="78740"/>
                </a:tc>
                <a:tc>
                  <a:txBody>
                    <a:bodyPr/>
                    <a:lstStyle/>
                    <a:p>
                      <a:pPr algn="ctr" marL="164465">
                        <a:lnSpc>
                          <a:spcPct val="100000"/>
                        </a:lnSpc>
                        <a:spcBef>
                          <a:spcPts val="615"/>
                        </a:spcBef>
                      </a:pPr>
                      <a:r>
                        <a:rPr dirty="0" sz="1400">
                          <a:latin typeface="Arial MT"/>
                          <a:cs typeface="Arial MT"/>
                        </a:rPr>
                        <a:t>-57V</a:t>
                      </a:r>
                      <a:r>
                        <a:rPr dirty="0" sz="1400" spc="-40">
                          <a:latin typeface="Arial MT"/>
                          <a:cs typeface="Arial MT"/>
                        </a:rPr>
                        <a:t> </a:t>
                      </a:r>
                      <a:r>
                        <a:rPr dirty="0" sz="1400">
                          <a:latin typeface="Arial MT"/>
                          <a:cs typeface="Arial MT"/>
                        </a:rPr>
                        <a:t>~</a:t>
                      </a:r>
                      <a:r>
                        <a:rPr dirty="0" sz="1400" spc="-25">
                          <a:latin typeface="Arial MT"/>
                          <a:cs typeface="Arial MT"/>
                        </a:rPr>
                        <a:t> </a:t>
                      </a:r>
                      <a:r>
                        <a:rPr dirty="0" sz="1400">
                          <a:latin typeface="Arial MT"/>
                          <a:cs typeface="Arial MT"/>
                        </a:rPr>
                        <a:t>-40V</a:t>
                      </a:r>
                      <a:r>
                        <a:rPr dirty="0" sz="1400" spc="-25">
                          <a:latin typeface="Arial MT"/>
                          <a:cs typeface="Arial MT"/>
                        </a:rPr>
                        <a:t> DC</a:t>
                      </a:r>
                      <a:endParaRPr sz="1400">
                        <a:latin typeface="Arial MT"/>
                        <a:cs typeface="Arial MT"/>
                      </a:endParaRPr>
                    </a:p>
                  </a:txBody>
                  <a:tcPr marL="0" marR="0" marB="0" marT="78105"/>
                </a:tc>
              </a:tr>
              <a:tr h="379095">
                <a:tc>
                  <a:txBody>
                    <a:bodyPr/>
                    <a:lstStyle/>
                    <a:p>
                      <a:pPr algn="ctr" marL="165100">
                        <a:lnSpc>
                          <a:spcPct val="100000"/>
                        </a:lnSpc>
                        <a:spcBef>
                          <a:spcPts val="620"/>
                        </a:spcBef>
                      </a:pPr>
                      <a:r>
                        <a:rPr dirty="0" sz="1400" spc="-30">
                          <a:latin typeface="SimSun"/>
                          <a:cs typeface="SimSun"/>
                        </a:rPr>
                        <a:t>安装方式</a:t>
                      </a:r>
                      <a:endParaRPr sz="1400">
                        <a:latin typeface="SimSun"/>
                        <a:cs typeface="SimSun"/>
                      </a:endParaRPr>
                    </a:p>
                  </a:txBody>
                  <a:tcPr marL="0" marR="0" marB="0" marT="78740">
                    <a:lnB w="28575">
                      <a:solidFill>
                        <a:srgbClr val="000000"/>
                      </a:solidFill>
                      <a:prstDash val="solid"/>
                    </a:lnB>
                    <a:solidFill>
                      <a:srgbClr val="E8E8E8"/>
                    </a:solidFill>
                  </a:tcPr>
                </a:tc>
                <a:tc>
                  <a:txBody>
                    <a:bodyPr/>
                    <a:lstStyle/>
                    <a:p>
                      <a:pPr algn="ctr" marL="164465">
                        <a:lnSpc>
                          <a:spcPct val="100000"/>
                        </a:lnSpc>
                        <a:spcBef>
                          <a:spcPts val="620"/>
                        </a:spcBef>
                      </a:pPr>
                      <a:r>
                        <a:rPr dirty="0" sz="1400" spc="-25">
                          <a:latin typeface="SimSun"/>
                          <a:cs typeface="SimSun"/>
                        </a:rPr>
                        <a:t>抱杆、挂墙方式安装</a:t>
                      </a:r>
                      <a:endParaRPr sz="1400">
                        <a:latin typeface="SimSun"/>
                        <a:cs typeface="SimSun"/>
                      </a:endParaRPr>
                    </a:p>
                  </a:txBody>
                  <a:tcPr marL="0" marR="0" marB="0" marT="78740">
                    <a:lnB w="28575">
                      <a:solidFill>
                        <a:srgbClr val="000000"/>
                      </a:solidFill>
                      <a:prstDash val="solid"/>
                    </a:lnB>
                    <a:solidFill>
                      <a:srgbClr val="E8E8E8"/>
                    </a:solidFill>
                  </a:tcPr>
                </a:tc>
              </a:tr>
            </a:tbl>
          </a:graphicData>
        </a:graphic>
      </p:graphicFrame>
      <p:sp>
        <p:nvSpPr>
          <p:cNvPr id="4" name="object 4" descr=""/>
          <p:cNvSpPr txBox="1"/>
          <p:nvPr/>
        </p:nvSpPr>
        <p:spPr>
          <a:xfrm>
            <a:off x="612140" y="848359"/>
            <a:ext cx="2948940" cy="299720"/>
          </a:xfrm>
          <a:prstGeom prst="rect">
            <a:avLst/>
          </a:prstGeom>
        </p:spPr>
        <p:txBody>
          <a:bodyPr wrap="square" lIns="0" tIns="12700" rIns="0" bIns="0" rtlCol="0" vert="horz">
            <a:spAutoFit/>
          </a:bodyPr>
          <a:lstStyle/>
          <a:p>
            <a:pPr marL="12700">
              <a:lnSpc>
                <a:spcPct val="100000"/>
              </a:lnSpc>
              <a:spcBef>
                <a:spcPts val="100"/>
              </a:spcBef>
            </a:pPr>
            <a:r>
              <a:rPr dirty="0" sz="1800" spc="-10">
                <a:latin typeface="Arial MT"/>
                <a:cs typeface="Arial MT"/>
              </a:rPr>
              <a:t>TDAU5164N78</a:t>
            </a:r>
            <a:r>
              <a:rPr dirty="0" sz="1800" spc="-10">
                <a:latin typeface="SimSun"/>
                <a:cs typeface="SimSun"/>
              </a:rPr>
              <a:t>技术参数指标</a:t>
            </a:r>
            <a:endParaRPr sz="1800">
              <a:latin typeface="SimSun"/>
              <a:cs typeface="SimSu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19976" y="152654"/>
            <a:ext cx="386715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35"/>
              <a:t>基站</a:t>
            </a:r>
            <a:r>
              <a:rPr dirty="0" spc="-30">
                <a:latin typeface="Times New Roman"/>
                <a:cs typeface="Times New Roman"/>
              </a:rPr>
              <a:t>AAU</a:t>
            </a:r>
            <a:r>
              <a:rPr dirty="0" spc="-40"/>
              <a:t>安装流程</a:t>
            </a:r>
          </a:p>
        </p:txBody>
      </p:sp>
      <p:pic>
        <p:nvPicPr>
          <p:cNvPr id="3" name="object 3"/>
          <p:cNvPicPr/>
          <p:nvPr/>
        </p:nvPicPr>
        <p:blipFill>
          <a:blip r:embed="rId2" cstate="print"/>
          <a:stretch>
            <a:fillRect/>
          </a:stretch>
        </p:blipFill>
        <p:spPr>
          <a:xfrm>
            <a:off x="317906" y="1352550"/>
            <a:ext cx="8433584" cy="256381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0546" y="91694"/>
            <a:ext cx="4758690" cy="513080"/>
          </a:xfrm>
          <a:prstGeom prst="rect"/>
        </p:spPr>
        <p:txBody>
          <a:bodyPr wrap="square" lIns="0" tIns="12065" rIns="0" bIns="0" rtlCol="0" vert="horz">
            <a:spAutoFit/>
          </a:bodyPr>
          <a:lstStyle/>
          <a:p>
            <a:pPr marL="12700">
              <a:lnSpc>
                <a:spcPct val="100000"/>
              </a:lnSpc>
              <a:spcBef>
                <a:spcPts val="95"/>
              </a:spcBef>
            </a:pPr>
            <a:r>
              <a:rPr dirty="0" spc="-10">
                <a:latin typeface="Times New Roman"/>
                <a:cs typeface="Times New Roman"/>
              </a:rPr>
              <a:t>5G</a:t>
            </a:r>
            <a:r>
              <a:rPr dirty="0" spc="-110">
                <a:latin typeface="Times New Roman"/>
                <a:cs typeface="Times New Roman"/>
              </a:rPr>
              <a:t> </a:t>
            </a:r>
            <a:r>
              <a:rPr dirty="0" spc="-30">
                <a:latin typeface="Times New Roman"/>
                <a:cs typeface="Times New Roman"/>
              </a:rPr>
              <a:t>AAU</a:t>
            </a:r>
            <a:r>
              <a:rPr dirty="0" spc="-40"/>
              <a:t>安装安装工程规范</a:t>
            </a:r>
          </a:p>
        </p:txBody>
      </p:sp>
      <p:pic>
        <p:nvPicPr>
          <p:cNvPr id="3" name="object 3"/>
          <p:cNvPicPr/>
          <p:nvPr/>
        </p:nvPicPr>
        <p:blipFill>
          <a:blip r:embed="rId2" cstate="print"/>
          <a:stretch>
            <a:fillRect/>
          </a:stretch>
        </p:blipFill>
        <p:spPr>
          <a:xfrm>
            <a:off x="498779" y="936946"/>
            <a:ext cx="1505171" cy="2225400"/>
          </a:xfrm>
          <a:prstGeom prst="rect">
            <a:avLst/>
          </a:prstGeom>
        </p:spPr>
      </p:pic>
      <p:sp>
        <p:nvSpPr>
          <p:cNvPr id="4" name="object 4" descr=""/>
          <p:cNvSpPr txBox="1"/>
          <p:nvPr/>
        </p:nvSpPr>
        <p:spPr>
          <a:xfrm>
            <a:off x="2346483" y="981307"/>
            <a:ext cx="6363970" cy="3869690"/>
          </a:xfrm>
          <a:prstGeom prst="rect">
            <a:avLst/>
          </a:prstGeom>
        </p:spPr>
        <p:txBody>
          <a:bodyPr wrap="square" lIns="0" tIns="12700" rIns="0" bIns="0" rtlCol="0" vert="horz">
            <a:spAutoFit/>
          </a:bodyPr>
          <a:lstStyle/>
          <a:p>
            <a:pPr marL="297815" marR="5080" indent="-285750">
              <a:lnSpc>
                <a:spcPct val="150000"/>
              </a:lnSpc>
              <a:spcBef>
                <a:spcPts val="100"/>
              </a:spcBef>
              <a:buFont typeface="Wingdings"/>
              <a:buChar char=""/>
              <a:tabLst>
                <a:tab pos="297815" algn="l"/>
              </a:tabLst>
            </a:pPr>
            <a:r>
              <a:rPr dirty="0" sz="1600" spc="-20">
                <a:latin typeface="Microsoft YaHei"/>
                <a:cs typeface="Microsoft YaHei"/>
              </a:rPr>
              <a:t>AAU</a:t>
            </a:r>
            <a:r>
              <a:rPr dirty="0" sz="1600">
                <a:latin typeface="Microsoft YaHei"/>
                <a:cs typeface="Microsoft YaHei"/>
              </a:rPr>
              <a:t>底部应预留</a:t>
            </a:r>
            <a:r>
              <a:rPr dirty="0" sz="1600" spc="-10">
                <a:latin typeface="Microsoft YaHei"/>
                <a:cs typeface="Microsoft YaHei"/>
              </a:rPr>
              <a:t>600mm</a:t>
            </a:r>
            <a:r>
              <a:rPr dirty="0" sz="1600" spc="-15">
                <a:latin typeface="Microsoft YaHei"/>
                <a:cs typeface="Microsoft YaHei"/>
              </a:rPr>
              <a:t>布线空间，为方便维护建议底部距地面至少</a:t>
            </a:r>
            <a:r>
              <a:rPr dirty="0" sz="1600" spc="-50">
                <a:latin typeface="Microsoft YaHei"/>
                <a:cs typeface="Microsoft YaHei"/>
              </a:rPr>
              <a:t> </a:t>
            </a:r>
            <a:r>
              <a:rPr dirty="0" sz="1600" spc="-10">
                <a:latin typeface="Microsoft YaHei"/>
                <a:cs typeface="Microsoft YaHei"/>
              </a:rPr>
              <a:t>1200mm；</a:t>
            </a:r>
            <a:endParaRPr sz="1600">
              <a:latin typeface="Microsoft YaHei"/>
              <a:cs typeface="Microsoft YaHei"/>
            </a:endParaRPr>
          </a:p>
          <a:p>
            <a:pPr marL="297815" indent="-285115">
              <a:lnSpc>
                <a:spcPct val="100000"/>
              </a:lnSpc>
              <a:spcBef>
                <a:spcPts val="960"/>
              </a:spcBef>
              <a:buFont typeface="Wingdings"/>
              <a:buChar char=""/>
              <a:tabLst>
                <a:tab pos="297815" algn="l"/>
              </a:tabLst>
            </a:pPr>
            <a:r>
              <a:rPr dirty="0" sz="1600" spc="-20">
                <a:latin typeface="Microsoft YaHei"/>
                <a:cs typeface="Microsoft YaHei"/>
              </a:rPr>
              <a:t>AAU</a:t>
            </a:r>
            <a:r>
              <a:rPr dirty="0" sz="1600">
                <a:latin typeface="Microsoft YaHei"/>
                <a:cs typeface="Microsoft YaHei"/>
              </a:rPr>
              <a:t>顶部应预留</a:t>
            </a:r>
            <a:r>
              <a:rPr dirty="0" sz="1600" spc="-10">
                <a:latin typeface="Microsoft YaHei"/>
                <a:cs typeface="Microsoft YaHei"/>
              </a:rPr>
              <a:t>300mm</a:t>
            </a:r>
            <a:r>
              <a:rPr dirty="0" sz="1600" spc="-15">
                <a:latin typeface="Microsoft YaHei"/>
                <a:cs typeface="Microsoft YaHei"/>
              </a:rPr>
              <a:t>布线和维护空间；</a:t>
            </a:r>
            <a:endParaRPr sz="1600">
              <a:latin typeface="Microsoft YaHei"/>
              <a:cs typeface="Microsoft YaHei"/>
            </a:endParaRPr>
          </a:p>
          <a:p>
            <a:pPr marL="297815" indent="-285115">
              <a:lnSpc>
                <a:spcPct val="100000"/>
              </a:lnSpc>
              <a:spcBef>
                <a:spcPts val="960"/>
              </a:spcBef>
              <a:buFont typeface="Wingdings"/>
              <a:buChar char=""/>
              <a:tabLst>
                <a:tab pos="297815" algn="l"/>
              </a:tabLst>
            </a:pPr>
            <a:r>
              <a:rPr dirty="0" sz="1600" spc="-20">
                <a:latin typeface="Microsoft YaHei"/>
                <a:cs typeface="Microsoft YaHei"/>
              </a:rPr>
              <a:t>AAU</a:t>
            </a:r>
            <a:r>
              <a:rPr dirty="0" sz="1600">
                <a:latin typeface="Microsoft YaHei"/>
                <a:cs typeface="Microsoft YaHei"/>
              </a:rPr>
              <a:t>左侧应预留</a:t>
            </a:r>
            <a:r>
              <a:rPr dirty="0" sz="1600" spc="-10">
                <a:latin typeface="Microsoft YaHei"/>
                <a:cs typeface="Microsoft YaHei"/>
              </a:rPr>
              <a:t>300mm</a:t>
            </a:r>
            <a:r>
              <a:rPr dirty="0" sz="1600" spc="-15">
                <a:latin typeface="Microsoft YaHei"/>
                <a:cs typeface="Microsoft YaHei"/>
              </a:rPr>
              <a:t>布线和维护空间；</a:t>
            </a:r>
            <a:endParaRPr sz="1600">
              <a:latin typeface="Microsoft YaHei"/>
              <a:cs typeface="Microsoft YaHei"/>
            </a:endParaRPr>
          </a:p>
          <a:p>
            <a:pPr marL="297815" indent="-285115">
              <a:lnSpc>
                <a:spcPct val="100000"/>
              </a:lnSpc>
              <a:spcBef>
                <a:spcPts val="960"/>
              </a:spcBef>
              <a:buFont typeface="Wingdings"/>
              <a:buChar char=""/>
              <a:tabLst>
                <a:tab pos="297815" algn="l"/>
              </a:tabLst>
            </a:pPr>
            <a:r>
              <a:rPr dirty="0" sz="1600" spc="-20">
                <a:latin typeface="Microsoft YaHei"/>
                <a:cs typeface="Microsoft YaHei"/>
              </a:rPr>
              <a:t>AAU</a:t>
            </a:r>
            <a:r>
              <a:rPr dirty="0" sz="1600">
                <a:latin typeface="Microsoft YaHei"/>
                <a:cs typeface="Microsoft YaHei"/>
              </a:rPr>
              <a:t>右侧应预留</a:t>
            </a:r>
            <a:r>
              <a:rPr dirty="0" sz="1600" spc="-10">
                <a:latin typeface="Microsoft YaHei"/>
                <a:cs typeface="Microsoft YaHei"/>
              </a:rPr>
              <a:t>300mm</a:t>
            </a:r>
            <a:r>
              <a:rPr dirty="0" sz="1600" spc="-15">
                <a:latin typeface="Microsoft YaHei"/>
                <a:cs typeface="Microsoft YaHei"/>
              </a:rPr>
              <a:t>布线和维护空间；</a:t>
            </a:r>
            <a:endParaRPr sz="1600">
              <a:latin typeface="Microsoft YaHei"/>
              <a:cs typeface="Microsoft YaHei"/>
            </a:endParaRPr>
          </a:p>
          <a:p>
            <a:pPr marL="297815" indent="-285115">
              <a:lnSpc>
                <a:spcPct val="100000"/>
              </a:lnSpc>
              <a:spcBef>
                <a:spcPts val="2425"/>
              </a:spcBef>
              <a:buFont typeface="Wingdings"/>
              <a:buChar char=""/>
              <a:tabLst>
                <a:tab pos="297815" algn="l"/>
              </a:tabLst>
            </a:pPr>
            <a:r>
              <a:rPr dirty="0" sz="1600" spc="-5">
                <a:latin typeface="Microsoft YaHei"/>
                <a:cs typeface="Microsoft YaHei"/>
              </a:rPr>
              <a:t>下倾角需求±</a:t>
            </a:r>
            <a:r>
              <a:rPr dirty="0" sz="1600" spc="-10">
                <a:latin typeface="Microsoft YaHei"/>
                <a:cs typeface="Microsoft YaHei"/>
              </a:rPr>
              <a:t>20°，子抱杆到美化罩的距离不小于680mm；</a:t>
            </a:r>
            <a:endParaRPr sz="1600">
              <a:latin typeface="Microsoft YaHei"/>
              <a:cs typeface="Microsoft YaHei"/>
            </a:endParaRPr>
          </a:p>
          <a:p>
            <a:pPr marL="297815" indent="-285115">
              <a:lnSpc>
                <a:spcPct val="100000"/>
              </a:lnSpc>
              <a:spcBef>
                <a:spcPts val="960"/>
              </a:spcBef>
              <a:buFont typeface="Wingdings"/>
              <a:buChar char=""/>
              <a:tabLst>
                <a:tab pos="297815" algn="l"/>
              </a:tabLst>
            </a:pPr>
            <a:r>
              <a:rPr dirty="0" sz="1600" spc="-5">
                <a:latin typeface="Microsoft YaHei"/>
                <a:cs typeface="Microsoft YaHei"/>
              </a:rPr>
              <a:t>下倾角需求±</a:t>
            </a:r>
            <a:r>
              <a:rPr dirty="0" sz="1600" spc="-10">
                <a:latin typeface="Microsoft YaHei"/>
                <a:cs typeface="Microsoft YaHei"/>
              </a:rPr>
              <a:t>35°，子抱杆到美化罩的距离不小于870mm；</a:t>
            </a:r>
            <a:endParaRPr sz="1600">
              <a:latin typeface="Microsoft YaHei"/>
              <a:cs typeface="Microsoft YaHei"/>
            </a:endParaRPr>
          </a:p>
          <a:p>
            <a:pPr marL="297815" indent="-285115">
              <a:lnSpc>
                <a:spcPct val="100000"/>
              </a:lnSpc>
              <a:spcBef>
                <a:spcPts val="960"/>
              </a:spcBef>
              <a:buFont typeface="Wingdings"/>
              <a:buChar char=""/>
              <a:tabLst>
                <a:tab pos="297815" algn="l"/>
              </a:tabLst>
            </a:pPr>
            <a:r>
              <a:rPr dirty="0" sz="1600" spc="-5">
                <a:latin typeface="Microsoft YaHei"/>
                <a:cs typeface="Microsoft YaHei"/>
              </a:rPr>
              <a:t>美化塔美化罩通透率不小于</a:t>
            </a:r>
            <a:r>
              <a:rPr dirty="0" sz="1600" spc="-20">
                <a:latin typeface="Microsoft YaHei"/>
                <a:cs typeface="Microsoft YaHei"/>
              </a:rPr>
              <a:t>60%；</a:t>
            </a:r>
            <a:endParaRPr sz="1600">
              <a:latin typeface="Microsoft YaHei"/>
              <a:cs typeface="Microsoft YaHei"/>
            </a:endParaRPr>
          </a:p>
          <a:p>
            <a:pPr marL="297815" indent="-285115">
              <a:lnSpc>
                <a:spcPct val="100000"/>
              </a:lnSpc>
              <a:spcBef>
                <a:spcPts val="960"/>
              </a:spcBef>
              <a:buFont typeface="Wingdings"/>
              <a:buChar char=""/>
              <a:tabLst>
                <a:tab pos="297815" algn="l"/>
              </a:tabLst>
            </a:pPr>
            <a:r>
              <a:rPr dirty="0" sz="1600" spc="-5">
                <a:latin typeface="Microsoft YaHei"/>
                <a:cs typeface="Microsoft YaHei"/>
              </a:rPr>
              <a:t>美化罩上下通风不遮挡；</a:t>
            </a:r>
            <a:endParaRPr sz="1600">
              <a:latin typeface="Microsoft YaHei"/>
              <a:cs typeface="Microsoft YaHei"/>
            </a:endParaRPr>
          </a:p>
          <a:p>
            <a:pPr marL="297815" indent="-285115">
              <a:lnSpc>
                <a:spcPct val="100000"/>
              </a:lnSpc>
              <a:spcBef>
                <a:spcPts val="960"/>
              </a:spcBef>
              <a:buFont typeface="Wingdings"/>
              <a:buChar char=""/>
              <a:tabLst>
                <a:tab pos="297815" algn="l"/>
              </a:tabLst>
            </a:pPr>
            <a:r>
              <a:rPr dirty="0" sz="1600" spc="-10">
                <a:latin typeface="Microsoft YaHei"/>
                <a:cs typeface="Microsoft YaHei"/>
              </a:rPr>
              <a:t>美化塔子抱杆与塔身之间距离不小于175mm；</a:t>
            </a:r>
            <a:endParaRPr sz="1600">
              <a:latin typeface="Microsoft YaHei"/>
              <a:cs typeface="Microsoft YaHei"/>
            </a:endParaRPr>
          </a:p>
        </p:txBody>
      </p:sp>
      <p:pic>
        <p:nvPicPr>
          <p:cNvPr id="5" name="object 5"/>
          <p:cNvPicPr/>
          <p:nvPr/>
        </p:nvPicPr>
        <p:blipFill>
          <a:blip r:embed="rId3" cstate="print"/>
          <a:stretch>
            <a:fillRect/>
          </a:stretch>
        </p:blipFill>
        <p:spPr>
          <a:xfrm>
            <a:off x="494626" y="3371210"/>
            <a:ext cx="1463807" cy="1465140"/>
          </a:xfrm>
          <a:prstGeom prst="rect">
            <a:avLst/>
          </a:prstGeom>
        </p:spPr>
      </p:pic>
      <p:sp>
        <p:nvSpPr>
          <p:cNvPr id="6" name="object 6" descr=""/>
          <p:cNvSpPr/>
          <p:nvPr/>
        </p:nvSpPr>
        <p:spPr>
          <a:xfrm>
            <a:off x="251519" y="3014262"/>
            <a:ext cx="8635365" cy="0"/>
          </a:xfrm>
          <a:custGeom>
            <a:avLst/>
            <a:gdLst/>
            <a:ahLst/>
            <a:cxnLst/>
            <a:rect l="l" t="t" r="r" b="b"/>
            <a:pathLst>
              <a:path w="8635365" h="0">
                <a:moveTo>
                  <a:pt x="0" y="0"/>
                </a:moveTo>
                <a:lnTo>
                  <a:pt x="8635072" y="0"/>
                </a:lnTo>
              </a:path>
            </a:pathLst>
          </a:custGeom>
          <a:ln w="12700">
            <a:solidFill>
              <a:srgbClr val="B6DCDF"/>
            </a:solidFill>
            <a:prstDash val="sysDash"/>
          </a:ln>
        </p:spPr>
        <p:txBody>
          <a:bodyPr wrap="square" lIns="0" tIns="0" rIns="0" bIns="0" rtlCol="0"/>
          <a:lstStyle/>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0346" y="167894"/>
            <a:ext cx="4566285"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AAU</a:t>
            </a:r>
            <a:r>
              <a:rPr dirty="0" spc="-35"/>
              <a:t>安装工程规范（</a:t>
            </a:r>
            <a:r>
              <a:rPr dirty="0" spc="-45"/>
              <a:t>一</a:t>
            </a:r>
            <a:r>
              <a:rPr dirty="0" spc="-50"/>
              <a:t>）</a:t>
            </a:r>
          </a:p>
        </p:txBody>
      </p:sp>
      <p:sp>
        <p:nvSpPr>
          <p:cNvPr id="3" name="object 3" descr=""/>
          <p:cNvSpPr txBox="1"/>
          <p:nvPr/>
        </p:nvSpPr>
        <p:spPr>
          <a:xfrm>
            <a:off x="253079" y="4279266"/>
            <a:ext cx="2032635" cy="224154"/>
          </a:xfrm>
          <a:prstGeom prst="rect">
            <a:avLst/>
          </a:prstGeom>
        </p:spPr>
        <p:txBody>
          <a:bodyPr wrap="square" lIns="0" tIns="12700" rIns="0" bIns="0" rtlCol="0" vert="horz">
            <a:spAutoFit/>
          </a:bodyPr>
          <a:lstStyle/>
          <a:p>
            <a:pPr marL="12700">
              <a:lnSpc>
                <a:spcPct val="100000"/>
              </a:lnSpc>
              <a:spcBef>
                <a:spcPts val="100"/>
              </a:spcBef>
            </a:pPr>
            <a:r>
              <a:rPr dirty="0" sz="1300">
                <a:latin typeface="Microsoft YaHei"/>
                <a:cs typeface="Microsoft YaHei"/>
              </a:rPr>
              <a:t>打开</a:t>
            </a:r>
            <a:r>
              <a:rPr dirty="0" sz="1300" spc="-10">
                <a:latin typeface="Microsoft YaHei"/>
                <a:cs typeface="Microsoft YaHei"/>
              </a:rPr>
              <a:t>AAU</a:t>
            </a:r>
            <a:r>
              <a:rPr dirty="0" sz="1300" spc="-15">
                <a:latin typeface="Microsoft YaHei"/>
                <a:cs typeface="Microsoft YaHei"/>
              </a:rPr>
              <a:t>背架包装后各部件</a:t>
            </a:r>
            <a:endParaRPr sz="1300">
              <a:latin typeface="Microsoft YaHei"/>
              <a:cs typeface="Microsoft YaHei"/>
            </a:endParaRPr>
          </a:p>
        </p:txBody>
      </p:sp>
      <p:sp>
        <p:nvSpPr>
          <p:cNvPr id="4" name="object 4" descr=""/>
          <p:cNvSpPr txBox="1"/>
          <p:nvPr/>
        </p:nvSpPr>
        <p:spPr>
          <a:xfrm>
            <a:off x="2738349" y="4284722"/>
            <a:ext cx="2980690" cy="224154"/>
          </a:xfrm>
          <a:prstGeom prst="rect">
            <a:avLst/>
          </a:prstGeom>
        </p:spPr>
        <p:txBody>
          <a:bodyPr wrap="square" lIns="0" tIns="12700" rIns="0" bIns="0" rtlCol="0" vert="horz">
            <a:spAutoFit/>
          </a:bodyPr>
          <a:lstStyle/>
          <a:p>
            <a:pPr marL="12700">
              <a:lnSpc>
                <a:spcPct val="100000"/>
              </a:lnSpc>
              <a:spcBef>
                <a:spcPts val="100"/>
              </a:spcBef>
            </a:pPr>
            <a:r>
              <a:rPr dirty="0" sz="1300">
                <a:latin typeface="Microsoft YaHei"/>
                <a:cs typeface="Microsoft YaHei"/>
              </a:rPr>
              <a:t>将</a:t>
            </a:r>
            <a:r>
              <a:rPr dirty="0" sz="1300" spc="-20">
                <a:latin typeface="Microsoft YaHei"/>
                <a:cs typeface="Microsoft YaHei"/>
              </a:rPr>
              <a:t>AAU</a:t>
            </a:r>
            <a:r>
              <a:rPr dirty="0" sz="1300" spc="-5">
                <a:latin typeface="Microsoft YaHei"/>
                <a:cs typeface="Microsoft YaHei"/>
              </a:rPr>
              <a:t>背架</a:t>
            </a:r>
            <a:r>
              <a:rPr dirty="0" sz="1300" spc="-10">
                <a:latin typeface="Microsoft YaHei"/>
                <a:cs typeface="Microsoft YaHei"/>
              </a:rPr>
              <a:t>U</a:t>
            </a:r>
            <a:r>
              <a:rPr dirty="0" sz="1300" spc="-15">
                <a:latin typeface="Microsoft YaHei"/>
                <a:cs typeface="Microsoft YaHei"/>
              </a:rPr>
              <a:t>型槽及支臂组装到背架上。</a:t>
            </a:r>
            <a:endParaRPr sz="1300">
              <a:latin typeface="Microsoft YaHei"/>
              <a:cs typeface="Microsoft YaHei"/>
            </a:endParaRPr>
          </a:p>
        </p:txBody>
      </p:sp>
      <p:sp>
        <p:nvSpPr>
          <p:cNvPr id="5" name="object 5" descr=""/>
          <p:cNvSpPr txBox="1"/>
          <p:nvPr/>
        </p:nvSpPr>
        <p:spPr>
          <a:xfrm>
            <a:off x="3173314" y="875144"/>
            <a:ext cx="913130" cy="238760"/>
          </a:xfrm>
          <a:prstGeom prst="rect">
            <a:avLst/>
          </a:prstGeom>
        </p:spPr>
        <p:txBody>
          <a:bodyPr wrap="square" lIns="0" tIns="12065" rIns="0" bIns="0" rtlCol="0" vert="horz">
            <a:spAutoFit/>
          </a:bodyPr>
          <a:lstStyle/>
          <a:p>
            <a:pPr marL="12700">
              <a:lnSpc>
                <a:spcPct val="100000"/>
              </a:lnSpc>
              <a:spcBef>
                <a:spcPts val="95"/>
              </a:spcBef>
            </a:pPr>
            <a:r>
              <a:rPr dirty="0" sz="1400" spc="-30" b="1">
                <a:solidFill>
                  <a:srgbClr val="0000FF"/>
                </a:solidFill>
                <a:latin typeface="Microsoft YaHei"/>
                <a:cs typeface="Microsoft YaHei"/>
              </a:rPr>
              <a:t>②组装背架</a:t>
            </a:r>
            <a:endParaRPr sz="1400">
              <a:latin typeface="Microsoft YaHei"/>
              <a:cs typeface="Microsoft YaHei"/>
            </a:endParaRPr>
          </a:p>
        </p:txBody>
      </p:sp>
      <p:sp>
        <p:nvSpPr>
          <p:cNvPr id="6" name="object 6" descr=""/>
          <p:cNvSpPr txBox="1"/>
          <p:nvPr/>
        </p:nvSpPr>
        <p:spPr>
          <a:xfrm>
            <a:off x="324234" y="885619"/>
            <a:ext cx="1268730" cy="238760"/>
          </a:xfrm>
          <a:prstGeom prst="rect">
            <a:avLst/>
          </a:prstGeom>
        </p:spPr>
        <p:txBody>
          <a:bodyPr wrap="square" lIns="0" tIns="12065" rIns="0" bIns="0" rtlCol="0" vert="horz">
            <a:spAutoFit/>
          </a:bodyPr>
          <a:lstStyle/>
          <a:p>
            <a:pPr marL="12700">
              <a:lnSpc>
                <a:spcPct val="100000"/>
              </a:lnSpc>
              <a:spcBef>
                <a:spcPts val="95"/>
              </a:spcBef>
            </a:pPr>
            <a:r>
              <a:rPr dirty="0" sz="1400" spc="-25" b="1">
                <a:solidFill>
                  <a:srgbClr val="0000FF"/>
                </a:solidFill>
                <a:latin typeface="Microsoft YaHei"/>
                <a:cs typeface="Microsoft YaHei"/>
              </a:rPr>
              <a:t>①取出安装背架</a:t>
            </a:r>
            <a:endParaRPr sz="1400">
              <a:latin typeface="Microsoft YaHei"/>
              <a:cs typeface="Microsoft YaHei"/>
            </a:endParaRPr>
          </a:p>
        </p:txBody>
      </p:sp>
      <p:sp>
        <p:nvSpPr>
          <p:cNvPr id="7" name="object 7" descr=""/>
          <p:cNvSpPr txBox="1"/>
          <p:nvPr/>
        </p:nvSpPr>
        <p:spPr>
          <a:xfrm>
            <a:off x="6487388" y="891656"/>
            <a:ext cx="1670050" cy="238760"/>
          </a:xfrm>
          <a:prstGeom prst="rect">
            <a:avLst/>
          </a:prstGeom>
        </p:spPr>
        <p:txBody>
          <a:bodyPr wrap="square" lIns="0" tIns="12065" rIns="0" bIns="0" rtlCol="0" vert="horz">
            <a:spAutoFit/>
          </a:bodyPr>
          <a:lstStyle/>
          <a:p>
            <a:pPr marL="12700">
              <a:lnSpc>
                <a:spcPct val="100000"/>
              </a:lnSpc>
              <a:spcBef>
                <a:spcPts val="95"/>
              </a:spcBef>
            </a:pPr>
            <a:r>
              <a:rPr dirty="0" sz="1400" spc="-20" b="1">
                <a:solidFill>
                  <a:srgbClr val="0000FF"/>
                </a:solidFill>
                <a:latin typeface="Microsoft YaHei"/>
                <a:cs typeface="Microsoft YaHei"/>
              </a:rPr>
              <a:t>③在</a:t>
            </a:r>
            <a:r>
              <a:rPr dirty="0" sz="1400" spc="-25" b="1">
                <a:solidFill>
                  <a:srgbClr val="0000FF"/>
                </a:solidFill>
                <a:latin typeface="Microsoft YaHei"/>
                <a:cs typeface="Microsoft YaHei"/>
              </a:rPr>
              <a:t>AAU</a:t>
            </a:r>
            <a:r>
              <a:rPr dirty="0" sz="1400" spc="-30" b="1">
                <a:solidFill>
                  <a:srgbClr val="0000FF"/>
                </a:solidFill>
                <a:latin typeface="Microsoft YaHei"/>
                <a:cs typeface="Microsoft YaHei"/>
              </a:rPr>
              <a:t>上安装支角</a:t>
            </a:r>
            <a:endParaRPr sz="1400">
              <a:latin typeface="Microsoft YaHei"/>
              <a:cs typeface="Microsoft YaHei"/>
            </a:endParaRPr>
          </a:p>
        </p:txBody>
      </p:sp>
      <p:sp>
        <p:nvSpPr>
          <p:cNvPr id="8" name="object 8" descr=""/>
          <p:cNvSpPr txBox="1"/>
          <p:nvPr/>
        </p:nvSpPr>
        <p:spPr>
          <a:xfrm>
            <a:off x="6155855" y="4351273"/>
            <a:ext cx="2032000" cy="224154"/>
          </a:xfrm>
          <a:prstGeom prst="rect">
            <a:avLst/>
          </a:prstGeom>
        </p:spPr>
        <p:txBody>
          <a:bodyPr wrap="square" lIns="0" tIns="12700" rIns="0" bIns="0" rtlCol="0" vert="horz">
            <a:spAutoFit/>
          </a:bodyPr>
          <a:lstStyle/>
          <a:p>
            <a:pPr marL="12700">
              <a:lnSpc>
                <a:spcPct val="100000"/>
              </a:lnSpc>
              <a:spcBef>
                <a:spcPts val="100"/>
              </a:spcBef>
            </a:pPr>
            <a:r>
              <a:rPr dirty="0" sz="1300">
                <a:latin typeface="Microsoft YaHei"/>
                <a:cs typeface="Microsoft YaHei"/>
              </a:rPr>
              <a:t>将四颗支角安装到</a:t>
            </a:r>
            <a:r>
              <a:rPr dirty="0" sz="1300" spc="-20">
                <a:latin typeface="Microsoft YaHei"/>
                <a:cs typeface="Microsoft YaHei"/>
              </a:rPr>
              <a:t>AAU</a:t>
            </a:r>
            <a:r>
              <a:rPr dirty="0" sz="1300" spc="-25">
                <a:latin typeface="Microsoft YaHei"/>
                <a:cs typeface="Microsoft YaHei"/>
              </a:rPr>
              <a:t>背部</a:t>
            </a:r>
            <a:endParaRPr sz="1300">
              <a:latin typeface="Microsoft YaHei"/>
              <a:cs typeface="Microsoft YaHei"/>
            </a:endParaRPr>
          </a:p>
        </p:txBody>
      </p:sp>
      <p:grpSp>
        <p:nvGrpSpPr>
          <p:cNvPr id="9" name="object 9" descr=""/>
          <p:cNvGrpSpPr/>
          <p:nvPr/>
        </p:nvGrpSpPr>
        <p:grpSpPr>
          <a:xfrm>
            <a:off x="0" y="1589684"/>
            <a:ext cx="5814695" cy="2222500"/>
            <a:chOff x="0" y="1589684"/>
            <a:chExt cx="5814695" cy="2222500"/>
          </a:xfrm>
        </p:grpSpPr>
        <p:pic>
          <p:nvPicPr>
            <p:cNvPr id="10" name="object 10"/>
            <p:cNvPicPr/>
            <p:nvPr/>
          </p:nvPicPr>
          <p:blipFill>
            <a:blip r:embed="rId2" cstate="print"/>
            <a:stretch>
              <a:fillRect/>
            </a:stretch>
          </p:blipFill>
          <p:spPr>
            <a:xfrm>
              <a:off x="2490216" y="1618140"/>
              <a:ext cx="3323990" cy="2132836"/>
            </a:xfrm>
            <a:prstGeom prst="rect">
              <a:avLst/>
            </a:prstGeom>
          </p:spPr>
        </p:pic>
        <p:pic>
          <p:nvPicPr>
            <p:cNvPr id="11" name="object 11"/>
            <p:cNvPicPr/>
            <p:nvPr/>
          </p:nvPicPr>
          <p:blipFill>
            <a:blip r:embed="rId3" cstate="print"/>
            <a:stretch>
              <a:fillRect/>
            </a:stretch>
          </p:blipFill>
          <p:spPr>
            <a:xfrm>
              <a:off x="0" y="1589684"/>
              <a:ext cx="2645951" cy="2221941"/>
            </a:xfrm>
            <a:prstGeom prst="rect">
              <a:avLst/>
            </a:prstGeom>
          </p:spPr>
        </p:pic>
      </p:grpSp>
      <p:pic>
        <p:nvPicPr>
          <p:cNvPr id="12" name="object 12"/>
          <p:cNvPicPr/>
          <p:nvPr/>
        </p:nvPicPr>
        <p:blipFill>
          <a:blip r:embed="rId4" cstate="print"/>
          <a:stretch>
            <a:fillRect/>
          </a:stretch>
        </p:blipFill>
        <p:spPr>
          <a:xfrm>
            <a:off x="6789269" y="1319997"/>
            <a:ext cx="1528026" cy="2614691"/>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14345" y="167894"/>
            <a:ext cx="537972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AAU</a:t>
            </a:r>
            <a:r>
              <a:rPr dirty="0" spc="-40"/>
              <a:t>安装安装工程规范（二</a:t>
            </a:r>
            <a:r>
              <a:rPr dirty="0" spc="-50"/>
              <a:t>）</a:t>
            </a:r>
          </a:p>
        </p:txBody>
      </p:sp>
      <p:sp>
        <p:nvSpPr>
          <p:cNvPr id="3" name="object 3" descr=""/>
          <p:cNvSpPr txBox="1"/>
          <p:nvPr/>
        </p:nvSpPr>
        <p:spPr>
          <a:xfrm>
            <a:off x="281543" y="872242"/>
            <a:ext cx="7161530" cy="238760"/>
          </a:xfrm>
          <a:prstGeom prst="rect">
            <a:avLst/>
          </a:prstGeom>
        </p:spPr>
        <p:txBody>
          <a:bodyPr wrap="square" lIns="0" tIns="12065" rIns="0" bIns="0" rtlCol="0" vert="horz">
            <a:spAutoFit/>
          </a:bodyPr>
          <a:lstStyle/>
          <a:p>
            <a:pPr marL="12700">
              <a:lnSpc>
                <a:spcPct val="100000"/>
              </a:lnSpc>
              <a:spcBef>
                <a:spcPts val="95"/>
              </a:spcBef>
              <a:tabLst>
                <a:tab pos="3301365" algn="l"/>
                <a:tab pos="6217285" algn="l"/>
              </a:tabLst>
            </a:pPr>
            <a:r>
              <a:rPr dirty="0" sz="1400" spc="-20" b="1">
                <a:solidFill>
                  <a:srgbClr val="0000FF"/>
                </a:solidFill>
                <a:latin typeface="Microsoft YaHei"/>
                <a:cs typeface="Microsoft YaHei"/>
              </a:rPr>
              <a:t>④背架与</a:t>
            </a:r>
            <a:r>
              <a:rPr dirty="0" sz="1400" spc="-25" b="1">
                <a:solidFill>
                  <a:srgbClr val="0000FF"/>
                </a:solidFill>
                <a:latin typeface="Microsoft YaHei"/>
                <a:cs typeface="Microsoft YaHei"/>
              </a:rPr>
              <a:t>AAU</a:t>
            </a:r>
            <a:r>
              <a:rPr dirty="0" sz="1400" spc="-20" b="1">
                <a:solidFill>
                  <a:srgbClr val="0000FF"/>
                </a:solidFill>
                <a:latin typeface="Microsoft YaHei"/>
                <a:cs typeface="Microsoft YaHei"/>
              </a:rPr>
              <a:t>进行组</a:t>
            </a:r>
            <a:r>
              <a:rPr dirty="0" sz="1400" spc="-50" b="1">
                <a:solidFill>
                  <a:srgbClr val="0000FF"/>
                </a:solidFill>
                <a:latin typeface="Microsoft YaHei"/>
                <a:cs typeface="Microsoft YaHei"/>
              </a:rPr>
              <a:t>装</a:t>
            </a:r>
            <a:r>
              <a:rPr dirty="0" sz="1400" b="1">
                <a:solidFill>
                  <a:srgbClr val="0000FF"/>
                </a:solidFill>
                <a:latin typeface="Microsoft YaHei"/>
                <a:cs typeface="Microsoft YaHei"/>
              </a:rPr>
              <a:t>	</a:t>
            </a:r>
            <a:r>
              <a:rPr dirty="0" baseline="3968" sz="2100" spc="-30" b="1">
                <a:solidFill>
                  <a:srgbClr val="0000FF"/>
                </a:solidFill>
                <a:latin typeface="Microsoft YaHei"/>
                <a:cs typeface="Microsoft YaHei"/>
              </a:rPr>
              <a:t>⑤背架与</a:t>
            </a:r>
            <a:r>
              <a:rPr dirty="0" baseline="3968" sz="2100" spc="-37" b="1">
                <a:solidFill>
                  <a:srgbClr val="0000FF"/>
                </a:solidFill>
                <a:latin typeface="Microsoft YaHei"/>
                <a:cs typeface="Microsoft YaHei"/>
              </a:rPr>
              <a:t>AAU</a:t>
            </a:r>
            <a:r>
              <a:rPr dirty="0" baseline="3968" sz="2100" spc="-30" b="1">
                <a:solidFill>
                  <a:srgbClr val="0000FF"/>
                </a:solidFill>
                <a:latin typeface="Microsoft YaHei"/>
                <a:cs typeface="Microsoft YaHei"/>
              </a:rPr>
              <a:t>进行组</a:t>
            </a:r>
            <a:r>
              <a:rPr dirty="0" baseline="3968" sz="2100" spc="-75" b="1">
                <a:solidFill>
                  <a:srgbClr val="0000FF"/>
                </a:solidFill>
                <a:latin typeface="Microsoft YaHei"/>
                <a:cs typeface="Microsoft YaHei"/>
              </a:rPr>
              <a:t>装</a:t>
            </a:r>
            <a:r>
              <a:rPr dirty="0" baseline="3968" sz="2100" b="1">
                <a:solidFill>
                  <a:srgbClr val="0000FF"/>
                </a:solidFill>
                <a:latin typeface="Microsoft YaHei"/>
                <a:cs typeface="Microsoft YaHei"/>
              </a:rPr>
              <a:t>	</a:t>
            </a:r>
            <a:r>
              <a:rPr dirty="0" sz="1400" spc="-20" b="1">
                <a:solidFill>
                  <a:srgbClr val="0000FF"/>
                </a:solidFill>
                <a:latin typeface="Microsoft YaHei"/>
                <a:cs typeface="Microsoft YaHei"/>
              </a:rPr>
              <a:t>⑥绑扎</a:t>
            </a:r>
            <a:r>
              <a:rPr dirty="0" sz="1400" spc="-25" b="1">
                <a:solidFill>
                  <a:srgbClr val="0000FF"/>
                </a:solidFill>
                <a:latin typeface="Microsoft YaHei"/>
                <a:cs typeface="Microsoft YaHei"/>
              </a:rPr>
              <a:t>AAU</a:t>
            </a:r>
            <a:endParaRPr sz="1400">
              <a:latin typeface="Microsoft YaHei"/>
              <a:cs typeface="Microsoft YaHei"/>
            </a:endParaRPr>
          </a:p>
        </p:txBody>
      </p:sp>
      <p:sp>
        <p:nvSpPr>
          <p:cNvPr id="4" name="object 4" descr=""/>
          <p:cNvSpPr txBox="1"/>
          <p:nvPr/>
        </p:nvSpPr>
        <p:spPr>
          <a:xfrm>
            <a:off x="258251" y="4198873"/>
            <a:ext cx="2362835" cy="422275"/>
          </a:xfrm>
          <a:prstGeom prst="rect">
            <a:avLst/>
          </a:prstGeom>
        </p:spPr>
        <p:txBody>
          <a:bodyPr wrap="square" lIns="0" tIns="12700" rIns="0" bIns="0" rtlCol="0" vert="horz">
            <a:spAutoFit/>
          </a:bodyPr>
          <a:lstStyle/>
          <a:p>
            <a:pPr marL="12700">
              <a:lnSpc>
                <a:spcPct val="100000"/>
              </a:lnSpc>
              <a:spcBef>
                <a:spcPts val="100"/>
              </a:spcBef>
            </a:pPr>
            <a:r>
              <a:rPr dirty="0" sz="1300">
                <a:latin typeface="Microsoft YaHei"/>
                <a:cs typeface="Microsoft YaHei"/>
              </a:rPr>
              <a:t>将</a:t>
            </a:r>
            <a:r>
              <a:rPr dirty="0" sz="1300" spc="-10">
                <a:latin typeface="Microsoft YaHei"/>
                <a:cs typeface="Microsoft YaHei"/>
              </a:rPr>
              <a:t>AAU</a:t>
            </a:r>
            <a:r>
              <a:rPr dirty="0" sz="1300" spc="-15">
                <a:latin typeface="Microsoft YaHei"/>
                <a:cs typeface="Microsoft YaHei"/>
              </a:rPr>
              <a:t>底部支脚的两个螺钉扣入</a:t>
            </a:r>
            <a:endParaRPr sz="1300">
              <a:latin typeface="Microsoft YaHei"/>
              <a:cs typeface="Microsoft YaHei"/>
            </a:endParaRPr>
          </a:p>
          <a:p>
            <a:pPr marL="12700">
              <a:lnSpc>
                <a:spcPct val="100000"/>
              </a:lnSpc>
            </a:pPr>
            <a:r>
              <a:rPr dirty="0" sz="1300" spc="-10">
                <a:latin typeface="Microsoft YaHei"/>
                <a:cs typeface="Microsoft YaHei"/>
              </a:rPr>
              <a:t>AAU</a:t>
            </a:r>
            <a:r>
              <a:rPr dirty="0" sz="1300">
                <a:latin typeface="Microsoft YaHei"/>
                <a:cs typeface="Microsoft YaHei"/>
              </a:rPr>
              <a:t>背架的</a:t>
            </a:r>
            <a:r>
              <a:rPr dirty="0" sz="1300" spc="-10">
                <a:latin typeface="Microsoft YaHei"/>
                <a:cs typeface="Microsoft YaHei"/>
              </a:rPr>
              <a:t>U</a:t>
            </a:r>
            <a:r>
              <a:rPr dirty="0" sz="1300" spc="-15">
                <a:latin typeface="Microsoft YaHei"/>
                <a:cs typeface="Microsoft YaHei"/>
              </a:rPr>
              <a:t>型槽内；</a:t>
            </a:r>
            <a:endParaRPr sz="1300">
              <a:latin typeface="Microsoft YaHei"/>
              <a:cs typeface="Microsoft YaHei"/>
            </a:endParaRPr>
          </a:p>
        </p:txBody>
      </p:sp>
      <p:sp>
        <p:nvSpPr>
          <p:cNvPr id="5" name="object 5" descr=""/>
          <p:cNvSpPr txBox="1"/>
          <p:nvPr/>
        </p:nvSpPr>
        <p:spPr>
          <a:xfrm>
            <a:off x="2994555" y="4198873"/>
            <a:ext cx="2669540" cy="620395"/>
          </a:xfrm>
          <a:prstGeom prst="rect">
            <a:avLst/>
          </a:prstGeom>
        </p:spPr>
        <p:txBody>
          <a:bodyPr wrap="square" lIns="0" tIns="12700" rIns="0" bIns="0" rtlCol="0" vert="horz">
            <a:spAutoFit/>
          </a:bodyPr>
          <a:lstStyle/>
          <a:p>
            <a:pPr algn="just" marL="12700" marR="5080">
              <a:lnSpc>
                <a:spcPct val="100000"/>
              </a:lnSpc>
              <a:spcBef>
                <a:spcPts val="100"/>
              </a:spcBef>
            </a:pPr>
            <a:r>
              <a:rPr dirty="0" sz="1300">
                <a:latin typeface="Microsoft YaHei"/>
                <a:cs typeface="Microsoft YaHei"/>
              </a:rPr>
              <a:t>拧紧</a:t>
            </a:r>
            <a:r>
              <a:rPr dirty="0" sz="1300" spc="-10">
                <a:latin typeface="Microsoft YaHei"/>
                <a:cs typeface="Microsoft YaHei"/>
              </a:rPr>
              <a:t>U型槽和底部支角、刻度杆与支</a:t>
            </a:r>
            <a:r>
              <a:rPr dirty="0" sz="1300" spc="-15">
                <a:latin typeface="Microsoft YaHei"/>
                <a:cs typeface="Microsoft YaHei"/>
              </a:rPr>
              <a:t>臂连接处的螺钉，将安装背架调整至</a:t>
            </a:r>
            <a:r>
              <a:rPr dirty="0" sz="1300" spc="-50">
                <a:latin typeface="Microsoft YaHei"/>
                <a:cs typeface="Microsoft YaHei"/>
              </a:rPr>
              <a:t> </a:t>
            </a:r>
            <a:r>
              <a:rPr dirty="0" sz="1300" spc="-10">
                <a:latin typeface="Microsoft YaHei"/>
                <a:cs typeface="Microsoft YaHei"/>
              </a:rPr>
              <a:t>0</a:t>
            </a:r>
            <a:r>
              <a:rPr dirty="0" sz="1300">
                <a:latin typeface="Microsoft YaHei"/>
                <a:cs typeface="Microsoft YaHei"/>
              </a:rPr>
              <a:t>度，固定所有</a:t>
            </a:r>
            <a:r>
              <a:rPr dirty="0" sz="1300" spc="-10">
                <a:latin typeface="Microsoft YaHei"/>
                <a:cs typeface="Microsoft YaHei"/>
              </a:rPr>
              <a:t>M10</a:t>
            </a:r>
            <a:r>
              <a:rPr dirty="0" sz="1300" spc="-20">
                <a:latin typeface="Microsoft YaHei"/>
                <a:cs typeface="Microsoft YaHei"/>
              </a:rPr>
              <a:t>螺钉；</a:t>
            </a:r>
            <a:endParaRPr sz="1300">
              <a:latin typeface="Microsoft YaHei"/>
              <a:cs typeface="Microsoft YaHei"/>
            </a:endParaRPr>
          </a:p>
        </p:txBody>
      </p:sp>
      <p:sp>
        <p:nvSpPr>
          <p:cNvPr id="6" name="object 6" descr=""/>
          <p:cNvSpPr txBox="1"/>
          <p:nvPr/>
        </p:nvSpPr>
        <p:spPr>
          <a:xfrm>
            <a:off x="6090899" y="4195098"/>
            <a:ext cx="2858135" cy="422275"/>
          </a:xfrm>
          <a:prstGeom prst="rect">
            <a:avLst/>
          </a:prstGeom>
        </p:spPr>
        <p:txBody>
          <a:bodyPr wrap="square" lIns="0" tIns="12700" rIns="0" bIns="0" rtlCol="0" vert="horz">
            <a:spAutoFit/>
          </a:bodyPr>
          <a:lstStyle/>
          <a:p>
            <a:pPr marL="12700" marR="5080">
              <a:lnSpc>
                <a:spcPct val="100000"/>
              </a:lnSpc>
              <a:spcBef>
                <a:spcPts val="100"/>
              </a:spcBef>
            </a:pPr>
            <a:r>
              <a:rPr dirty="0" sz="1300" spc="-5">
                <a:latin typeface="Microsoft YaHei"/>
                <a:cs typeface="Microsoft YaHei"/>
              </a:rPr>
              <a:t>将吊装绳两端分别绑扎到</a:t>
            </a:r>
            <a:r>
              <a:rPr dirty="0" sz="1300" spc="-20">
                <a:latin typeface="Microsoft YaHei"/>
                <a:cs typeface="Microsoft YaHei"/>
              </a:rPr>
              <a:t>AAU</a:t>
            </a:r>
            <a:r>
              <a:rPr dirty="0" sz="1300" spc="-15">
                <a:latin typeface="Microsoft YaHei"/>
                <a:cs typeface="Microsoft YaHei"/>
              </a:rPr>
              <a:t>背架的支</a:t>
            </a:r>
            <a:r>
              <a:rPr dirty="0" sz="1300">
                <a:latin typeface="Microsoft YaHei"/>
                <a:cs typeface="Microsoft YaHei"/>
              </a:rPr>
              <a:t>臂和</a:t>
            </a:r>
            <a:r>
              <a:rPr dirty="0" sz="1300" spc="-10">
                <a:latin typeface="Microsoft YaHei"/>
                <a:cs typeface="Microsoft YaHei"/>
              </a:rPr>
              <a:t>U</a:t>
            </a:r>
            <a:r>
              <a:rPr dirty="0" sz="1300" spc="-15">
                <a:latin typeface="Microsoft YaHei"/>
                <a:cs typeface="Microsoft YaHei"/>
              </a:rPr>
              <a:t>型槽处；</a:t>
            </a:r>
            <a:endParaRPr sz="1300">
              <a:latin typeface="Microsoft YaHei"/>
              <a:cs typeface="Microsoft YaHei"/>
            </a:endParaRPr>
          </a:p>
        </p:txBody>
      </p:sp>
      <p:pic>
        <p:nvPicPr>
          <p:cNvPr id="7" name="object 7"/>
          <p:cNvPicPr/>
          <p:nvPr/>
        </p:nvPicPr>
        <p:blipFill>
          <a:blip r:embed="rId2" cstate="print"/>
          <a:stretch>
            <a:fillRect/>
          </a:stretch>
        </p:blipFill>
        <p:spPr>
          <a:xfrm>
            <a:off x="377748" y="1426607"/>
            <a:ext cx="1630357" cy="2626327"/>
          </a:xfrm>
          <a:prstGeom prst="rect">
            <a:avLst/>
          </a:prstGeom>
        </p:spPr>
      </p:pic>
      <p:pic>
        <p:nvPicPr>
          <p:cNvPr id="8" name="object 8"/>
          <p:cNvPicPr/>
          <p:nvPr/>
        </p:nvPicPr>
        <p:blipFill>
          <a:blip r:embed="rId3" cstate="print"/>
          <a:stretch>
            <a:fillRect/>
          </a:stretch>
        </p:blipFill>
        <p:spPr>
          <a:xfrm>
            <a:off x="3635896" y="1259357"/>
            <a:ext cx="1733549" cy="2657473"/>
          </a:xfrm>
          <a:prstGeom prst="rect">
            <a:avLst/>
          </a:prstGeom>
        </p:spPr>
      </p:pic>
      <p:pic>
        <p:nvPicPr>
          <p:cNvPr id="9" name="object 9"/>
          <p:cNvPicPr/>
          <p:nvPr/>
        </p:nvPicPr>
        <p:blipFill>
          <a:blip r:embed="rId4" cstate="print"/>
          <a:stretch>
            <a:fillRect/>
          </a:stretch>
        </p:blipFill>
        <p:spPr>
          <a:xfrm>
            <a:off x="7007782" y="1351294"/>
            <a:ext cx="1055967" cy="2657473"/>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24208" y="146636"/>
            <a:ext cx="538099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AAU</a:t>
            </a:r>
            <a:r>
              <a:rPr dirty="0" spc="-40"/>
              <a:t>安装安装工程规范（</a:t>
            </a:r>
            <a:r>
              <a:rPr dirty="0" spc="-35"/>
              <a:t>三</a:t>
            </a:r>
            <a:r>
              <a:rPr dirty="0" spc="-50"/>
              <a:t>）</a:t>
            </a:r>
          </a:p>
        </p:txBody>
      </p:sp>
      <p:sp>
        <p:nvSpPr>
          <p:cNvPr id="3" name="object 3" descr=""/>
          <p:cNvSpPr txBox="1"/>
          <p:nvPr/>
        </p:nvSpPr>
        <p:spPr>
          <a:xfrm>
            <a:off x="762308" y="945824"/>
            <a:ext cx="956310" cy="238760"/>
          </a:xfrm>
          <a:prstGeom prst="rect">
            <a:avLst/>
          </a:prstGeom>
        </p:spPr>
        <p:txBody>
          <a:bodyPr wrap="square" lIns="0" tIns="12065" rIns="0" bIns="0" rtlCol="0" vert="horz">
            <a:spAutoFit/>
          </a:bodyPr>
          <a:lstStyle/>
          <a:p>
            <a:pPr marL="12700">
              <a:lnSpc>
                <a:spcPct val="100000"/>
              </a:lnSpc>
              <a:spcBef>
                <a:spcPts val="95"/>
              </a:spcBef>
            </a:pPr>
            <a:r>
              <a:rPr dirty="0" sz="1400" spc="-20" b="1">
                <a:solidFill>
                  <a:srgbClr val="0000FF"/>
                </a:solidFill>
                <a:latin typeface="Microsoft YaHei"/>
                <a:cs typeface="Microsoft YaHei"/>
              </a:rPr>
              <a:t>⑦吊装</a:t>
            </a:r>
            <a:r>
              <a:rPr dirty="0" sz="1400" spc="-25" b="1">
                <a:solidFill>
                  <a:srgbClr val="0000FF"/>
                </a:solidFill>
                <a:latin typeface="Microsoft YaHei"/>
                <a:cs typeface="Microsoft YaHei"/>
              </a:rPr>
              <a:t>AAU</a:t>
            </a:r>
            <a:endParaRPr sz="1400">
              <a:latin typeface="Microsoft YaHei"/>
              <a:cs typeface="Microsoft YaHei"/>
            </a:endParaRPr>
          </a:p>
        </p:txBody>
      </p:sp>
      <p:sp>
        <p:nvSpPr>
          <p:cNvPr id="4" name="object 4" descr=""/>
          <p:cNvSpPr txBox="1"/>
          <p:nvPr/>
        </p:nvSpPr>
        <p:spPr>
          <a:xfrm>
            <a:off x="4866816" y="919547"/>
            <a:ext cx="1670050" cy="238760"/>
          </a:xfrm>
          <a:prstGeom prst="rect">
            <a:avLst/>
          </a:prstGeom>
        </p:spPr>
        <p:txBody>
          <a:bodyPr wrap="square" lIns="0" tIns="12065" rIns="0" bIns="0" rtlCol="0" vert="horz">
            <a:spAutoFit/>
          </a:bodyPr>
          <a:lstStyle/>
          <a:p>
            <a:pPr marL="12700">
              <a:lnSpc>
                <a:spcPct val="100000"/>
              </a:lnSpc>
              <a:spcBef>
                <a:spcPts val="95"/>
              </a:spcBef>
            </a:pPr>
            <a:r>
              <a:rPr dirty="0" sz="1400" spc="-25" b="1">
                <a:solidFill>
                  <a:srgbClr val="0000FF"/>
                </a:solidFill>
                <a:latin typeface="Microsoft YaHei"/>
                <a:cs typeface="Microsoft YaHei"/>
              </a:rPr>
              <a:t>⑧AAU挂装到抱杆上</a:t>
            </a:r>
            <a:endParaRPr sz="1400">
              <a:latin typeface="Microsoft YaHei"/>
              <a:cs typeface="Microsoft YaHei"/>
            </a:endParaRPr>
          </a:p>
        </p:txBody>
      </p:sp>
      <p:sp>
        <p:nvSpPr>
          <p:cNvPr id="5" name="object 5" descr=""/>
          <p:cNvSpPr txBox="1"/>
          <p:nvPr/>
        </p:nvSpPr>
        <p:spPr>
          <a:xfrm>
            <a:off x="546282" y="3949402"/>
            <a:ext cx="2999740" cy="818515"/>
          </a:xfrm>
          <a:prstGeom prst="rect">
            <a:avLst/>
          </a:prstGeom>
        </p:spPr>
        <p:txBody>
          <a:bodyPr wrap="square" lIns="0" tIns="12700" rIns="0" bIns="0" rtlCol="0" vert="horz">
            <a:spAutoFit/>
          </a:bodyPr>
          <a:lstStyle/>
          <a:p>
            <a:pPr marL="12700" marR="5080">
              <a:lnSpc>
                <a:spcPct val="100000"/>
              </a:lnSpc>
              <a:spcBef>
                <a:spcPts val="100"/>
              </a:spcBef>
            </a:pPr>
            <a:r>
              <a:rPr dirty="0" sz="1300">
                <a:latin typeface="Microsoft YaHei"/>
                <a:cs typeface="Microsoft YaHei"/>
              </a:rPr>
              <a:t>吊装</a:t>
            </a:r>
            <a:r>
              <a:rPr dirty="0" sz="1300" spc="-10">
                <a:latin typeface="Microsoft YaHei"/>
                <a:cs typeface="Microsoft YaHei"/>
              </a:rPr>
              <a:t>AAU</a:t>
            </a:r>
            <a:r>
              <a:rPr dirty="0" sz="1300" spc="-15">
                <a:latin typeface="Microsoft YaHei"/>
                <a:cs typeface="Microsoft YaHei"/>
              </a:rPr>
              <a:t>上塔，安装人员③在地面上使用吊装绳绑扎好抱杆安装件，然后安装人员②向下拉吊装绳，同时安装人员③向外拉吊装绳防止安装件与铁塔发生磕碰</a:t>
            </a:r>
            <a:endParaRPr sz="1300">
              <a:latin typeface="Microsoft YaHei"/>
              <a:cs typeface="Microsoft YaHei"/>
            </a:endParaRPr>
          </a:p>
        </p:txBody>
      </p:sp>
      <p:sp>
        <p:nvSpPr>
          <p:cNvPr id="6" name="object 6" descr=""/>
          <p:cNvSpPr txBox="1"/>
          <p:nvPr/>
        </p:nvSpPr>
        <p:spPr>
          <a:xfrm>
            <a:off x="4434747" y="4010252"/>
            <a:ext cx="4177665" cy="818515"/>
          </a:xfrm>
          <a:prstGeom prst="rect">
            <a:avLst/>
          </a:prstGeom>
        </p:spPr>
        <p:txBody>
          <a:bodyPr wrap="square" lIns="0" tIns="12700" rIns="0" bIns="0" rtlCol="0" vert="horz">
            <a:spAutoFit/>
          </a:bodyPr>
          <a:lstStyle/>
          <a:p>
            <a:pPr marL="12700" marR="5080">
              <a:lnSpc>
                <a:spcPct val="100000"/>
              </a:lnSpc>
              <a:spcBef>
                <a:spcPts val="100"/>
              </a:spcBef>
            </a:pPr>
            <a:r>
              <a:rPr dirty="0" sz="1300" spc="-10">
                <a:latin typeface="Microsoft YaHei"/>
                <a:cs typeface="Microsoft YaHei"/>
              </a:rPr>
              <a:t>AAU</a:t>
            </a:r>
            <a:r>
              <a:rPr dirty="0" sz="1300">
                <a:latin typeface="Microsoft YaHei"/>
                <a:cs typeface="Microsoft YaHei"/>
              </a:rPr>
              <a:t>安装到抱杆上， 取下</a:t>
            </a:r>
            <a:r>
              <a:rPr dirty="0" sz="1300" spc="-20">
                <a:latin typeface="Microsoft YaHei"/>
                <a:cs typeface="Microsoft YaHei"/>
              </a:rPr>
              <a:t>AAU</a:t>
            </a:r>
            <a:r>
              <a:rPr dirty="0" sz="1300" spc="-15">
                <a:latin typeface="Microsoft YaHei"/>
                <a:cs typeface="Microsoft YaHei"/>
              </a:rPr>
              <a:t>背架一侧螺杆上的螺母、弹垫、平垫及抱箍，使抱箍的一侧封闭，另一侧开口，</a:t>
            </a:r>
            <a:r>
              <a:rPr dirty="0" sz="1300" spc="500">
                <a:latin typeface="Microsoft YaHei"/>
                <a:cs typeface="Microsoft YaHei"/>
              </a:rPr>
              <a:t> </a:t>
            </a:r>
            <a:r>
              <a:rPr dirty="0" sz="1300">
                <a:latin typeface="Microsoft YaHei"/>
                <a:cs typeface="Microsoft YaHei"/>
              </a:rPr>
              <a:t>将</a:t>
            </a:r>
            <a:r>
              <a:rPr dirty="0" sz="1300" spc="-20">
                <a:latin typeface="Microsoft YaHei"/>
                <a:cs typeface="Microsoft YaHei"/>
              </a:rPr>
              <a:t>AAU</a:t>
            </a:r>
            <a:r>
              <a:rPr dirty="0" sz="1300" spc="-15">
                <a:latin typeface="Microsoft YaHei"/>
                <a:cs typeface="Microsoft YaHei"/>
              </a:rPr>
              <a:t>背架的抱箍扣到抱杆上，依次在螺杆上组装平垫、</a:t>
            </a:r>
            <a:r>
              <a:rPr dirty="0" sz="1300" spc="-10">
                <a:latin typeface="Microsoft YaHei"/>
                <a:cs typeface="Microsoft YaHei"/>
              </a:rPr>
              <a:t>弹垫、固定螺母和防滑螺母；</a:t>
            </a:r>
            <a:endParaRPr sz="1300">
              <a:latin typeface="Microsoft YaHei"/>
              <a:cs typeface="Microsoft YaHei"/>
            </a:endParaRPr>
          </a:p>
        </p:txBody>
      </p:sp>
      <p:pic>
        <p:nvPicPr>
          <p:cNvPr id="7" name="object 7"/>
          <p:cNvPicPr/>
          <p:nvPr/>
        </p:nvPicPr>
        <p:blipFill>
          <a:blip r:embed="rId2" cstate="print"/>
          <a:stretch>
            <a:fillRect/>
          </a:stretch>
        </p:blipFill>
        <p:spPr>
          <a:xfrm>
            <a:off x="995765" y="1302857"/>
            <a:ext cx="2178648" cy="2455389"/>
          </a:xfrm>
          <a:prstGeom prst="rect">
            <a:avLst/>
          </a:prstGeom>
        </p:spPr>
      </p:pic>
      <p:pic>
        <p:nvPicPr>
          <p:cNvPr id="8" name="object 8"/>
          <p:cNvPicPr/>
          <p:nvPr/>
        </p:nvPicPr>
        <p:blipFill>
          <a:blip r:embed="rId3" cstate="print"/>
          <a:stretch>
            <a:fillRect/>
          </a:stretch>
        </p:blipFill>
        <p:spPr>
          <a:xfrm>
            <a:off x="5401513" y="1501890"/>
            <a:ext cx="2157404" cy="204469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45878" y="139319"/>
            <a:ext cx="700532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AAU</a:t>
            </a:r>
            <a:r>
              <a:rPr dirty="0" spc="-40"/>
              <a:t>角度调整安装工程规范（方位角</a:t>
            </a:r>
            <a:r>
              <a:rPr dirty="0" spc="-50"/>
              <a:t>）</a:t>
            </a:r>
          </a:p>
        </p:txBody>
      </p:sp>
      <p:sp>
        <p:nvSpPr>
          <p:cNvPr id="3" name="object 3" descr=""/>
          <p:cNvSpPr txBox="1"/>
          <p:nvPr/>
        </p:nvSpPr>
        <p:spPr>
          <a:xfrm>
            <a:off x="4955540" y="745262"/>
            <a:ext cx="3998595" cy="4049395"/>
          </a:xfrm>
          <a:prstGeom prst="rect">
            <a:avLst/>
          </a:prstGeom>
        </p:spPr>
        <p:txBody>
          <a:bodyPr wrap="square" lIns="0" tIns="12700" rIns="0" bIns="0" rtlCol="0" vert="horz">
            <a:spAutoFit/>
          </a:bodyPr>
          <a:lstStyle/>
          <a:p>
            <a:pPr algn="just" marL="297815" marR="205740" indent="-285750">
              <a:lnSpc>
                <a:spcPct val="150000"/>
              </a:lnSpc>
              <a:spcBef>
                <a:spcPts val="100"/>
              </a:spcBef>
              <a:buFont typeface="Wingdings"/>
              <a:buChar char=""/>
              <a:tabLst>
                <a:tab pos="297815" algn="l"/>
              </a:tabLst>
            </a:pPr>
            <a:r>
              <a:rPr dirty="0" sz="1600">
                <a:latin typeface="Microsoft YaHei"/>
                <a:cs typeface="Microsoft YaHei"/>
              </a:rPr>
              <a:t>塔上人员将</a:t>
            </a:r>
            <a:r>
              <a:rPr dirty="0" sz="1600" spc="-20">
                <a:latin typeface="Microsoft YaHei"/>
                <a:cs typeface="Microsoft YaHei"/>
              </a:rPr>
              <a:t>AAU</a:t>
            </a:r>
            <a:r>
              <a:rPr dirty="0" sz="1600" spc="-10">
                <a:latin typeface="Microsoft YaHei"/>
                <a:cs typeface="Microsoft YaHei"/>
              </a:rPr>
              <a:t>上下两组安装夹具的螺</a:t>
            </a:r>
            <a:r>
              <a:rPr dirty="0" sz="1600">
                <a:latin typeface="Microsoft YaHei"/>
                <a:cs typeface="Microsoft YaHei"/>
              </a:rPr>
              <a:t>母稍微拧松，确保</a:t>
            </a:r>
            <a:r>
              <a:rPr dirty="0" sz="1600" spc="-20">
                <a:latin typeface="Microsoft YaHei"/>
                <a:cs typeface="Microsoft YaHei"/>
              </a:rPr>
              <a:t>AAU</a:t>
            </a:r>
            <a:r>
              <a:rPr dirty="0" sz="1600" spc="-15">
                <a:latin typeface="Microsoft YaHei"/>
                <a:cs typeface="Microsoft YaHei"/>
              </a:rPr>
              <a:t>不向下滑落且能</a:t>
            </a:r>
            <a:r>
              <a:rPr dirty="0" sz="1600" spc="-10">
                <a:latin typeface="Microsoft YaHei"/>
                <a:cs typeface="Microsoft YaHei"/>
              </a:rPr>
              <a:t>够水平转动。</a:t>
            </a:r>
            <a:endParaRPr sz="1600">
              <a:latin typeface="Microsoft YaHei"/>
              <a:cs typeface="Microsoft YaHei"/>
            </a:endParaRPr>
          </a:p>
          <a:p>
            <a:pPr algn="just" marL="297815" indent="-285115">
              <a:lnSpc>
                <a:spcPct val="100000"/>
              </a:lnSpc>
              <a:spcBef>
                <a:spcPts val="960"/>
              </a:spcBef>
              <a:buFont typeface="Wingdings"/>
              <a:buChar char=""/>
              <a:tabLst>
                <a:tab pos="297815" algn="l"/>
              </a:tabLst>
            </a:pPr>
            <a:r>
              <a:rPr dirty="0" sz="1600">
                <a:latin typeface="Microsoft YaHei"/>
                <a:cs typeface="Microsoft YaHei"/>
              </a:rPr>
              <a:t>一只手抱住抱杆（</a:t>
            </a:r>
            <a:r>
              <a:rPr dirty="0" sz="1600" spc="-15">
                <a:latin typeface="Microsoft YaHei"/>
                <a:cs typeface="Microsoft YaHei"/>
              </a:rPr>
              <a:t>保证维护人员的安</a:t>
            </a:r>
            <a:endParaRPr sz="1600">
              <a:latin typeface="Microsoft YaHei"/>
              <a:cs typeface="Microsoft YaHei"/>
            </a:endParaRPr>
          </a:p>
          <a:p>
            <a:pPr marL="297815" marR="5080">
              <a:lnSpc>
                <a:spcPct val="150000"/>
              </a:lnSpc>
            </a:pPr>
            <a:r>
              <a:rPr dirty="0" sz="1600">
                <a:latin typeface="Microsoft YaHei"/>
                <a:cs typeface="Microsoft YaHei"/>
              </a:rPr>
              <a:t>全</a:t>
            </a:r>
            <a:r>
              <a:rPr dirty="0" sz="1600" spc="-10">
                <a:latin typeface="Microsoft YaHei"/>
                <a:cs typeface="Microsoft YaHei"/>
              </a:rPr>
              <a:t>），一只手用力推动</a:t>
            </a:r>
            <a:r>
              <a:rPr dirty="0" sz="1600" spc="-20">
                <a:latin typeface="Microsoft YaHei"/>
                <a:cs typeface="Microsoft YaHei"/>
              </a:rPr>
              <a:t>AAU</a:t>
            </a:r>
            <a:r>
              <a:rPr dirty="0" sz="1600" spc="-15">
                <a:latin typeface="Microsoft YaHei"/>
                <a:cs typeface="Microsoft YaHei"/>
              </a:rPr>
              <a:t>背部的一侧，</a:t>
            </a:r>
            <a:r>
              <a:rPr dirty="0" sz="1600">
                <a:latin typeface="Microsoft YaHei"/>
                <a:cs typeface="Microsoft YaHei"/>
              </a:rPr>
              <a:t>使</a:t>
            </a:r>
            <a:r>
              <a:rPr dirty="0" sz="1600" spc="-20">
                <a:latin typeface="Microsoft YaHei"/>
                <a:cs typeface="Microsoft YaHei"/>
              </a:rPr>
              <a:t>AAU</a:t>
            </a:r>
            <a:r>
              <a:rPr dirty="0" sz="1600" spc="-10">
                <a:latin typeface="Microsoft YaHei"/>
                <a:cs typeface="Microsoft YaHei"/>
              </a:rPr>
              <a:t>转动；地面人员在合适的位置通</a:t>
            </a:r>
            <a:r>
              <a:rPr dirty="0" sz="1600" spc="-50">
                <a:latin typeface="Microsoft YaHei"/>
                <a:cs typeface="Microsoft YaHei"/>
              </a:rPr>
              <a:t> </a:t>
            </a:r>
            <a:r>
              <a:rPr dirty="0" sz="1600" spc="-15">
                <a:latin typeface="Microsoft YaHei"/>
                <a:cs typeface="Microsoft YaHei"/>
              </a:rPr>
              <a:t>过罗盘确定方位角，塔上人员与地面人员进行确认，使方位角与站点的实际需求一</a:t>
            </a:r>
            <a:r>
              <a:rPr dirty="0" sz="1600" spc="-25">
                <a:latin typeface="Microsoft YaHei"/>
                <a:cs typeface="Microsoft YaHei"/>
              </a:rPr>
              <a:t>致。</a:t>
            </a:r>
            <a:endParaRPr sz="1600">
              <a:latin typeface="Microsoft YaHei"/>
              <a:cs typeface="Microsoft YaHei"/>
            </a:endParaRPr>
          </a:p>
          <a:p>
            <a:pPr marL="297815" marR="205104" indent="-285750">
              <a:lnSpc>
                <a:spcPts val="2880"/>
              </a:lnSpc>
              <a:spcBef>
                <a:spcPts val="95"/>
              </a:spcBef>
              <a:buFont typeface="Wingdings"/>
              <a:buChar char=""/>
              <a:tabLst>
                <a:tab pos="297815" algn="l"/>
              </a:tabLst>
            </a:pPr>
            <a:r>
              <a:rPr dirty="0" sz="1600" spc="-10">
                <a:latin typeface="Microsoft YaHei"/>
                <a:cs typeface="Microsoft YaHei"/>
              </a:rPr>
              <a:t>调整完成后，锁紧安装夹具上的M10</a:t>
            </a:r>
            <a:r>
              <a:rPr dirty="0" sz="1600" spc="-50">
                <a:latin typeface="Microsoft YaHei"/>
                <a:cs typeface="Microsoft YaHei"/>
              </a:rPr>
              <a:t>螺</a:t>
            </a:r>
            <a:r>
              <a:rPr dirty="0" sz="1600">
                <a:latin typeface="Microsoft YaHei"/>
                <a:cs typeface="Microsoft YaHei"/>
              </a:rPr>
              <a:t>钉，使</a:t>
            </a:r>
            <a:r>
              <a:rPr dirty="0" sz="1600" spc="-20">
                <a:latin typeface="Microsoft YaHei"/>
                <a:cs typeface="Microsoft YaHei"/>
              </a:rPr>
              <a:t>AAU</a:t>
            </a:r>
            <a:r>
              <a:rPr dirty="0" sz="1600" spc="-10">
                <a:latin typeface="Microsoft YaHei"/>
                <a:cs typeface="Microsoft YaHei"/>
              </a:rPr>
              <a:t>固定牢固。</a:t>
            </a:r>
            <a:endParaRPr sz="1600">
              <a:latin typeface="Microsoft YaHei"/>
              <a:cs typeface="Microsoft YaHei"/>
            </a:endParaRPr>
          </a:p>
        </p:txBody>
      </p:sp>
      <p:pic>
        <p:nvPicPr>
          <p:cNvPr id="4" name="object 4"/>
          <p:cNvPicPr/>
          <p:nvPr/>
        </p:nvPicPr>
        <p:blipFill>
          <a:blip r:embed="rId2" cstate="print"/>
          <a:stretch>
            <a:fillRect/>
          </a:stretch>
        </p:blipFill>
        <p:spPr>
          <a:xfrm>
            <a:off x="827584" y="1155839"/>
            <a:ext cx="3177241" cy="3047847"/>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02416" y="106844"/>
            <a:ext cx="700532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AAU</a:t>
            </a:r>
            <a:r>
              <a:rPr dirty="0" spc="-40"/>
              <a:t>角度调整安装工程规范（下倾角</a:t>
            </a:r>
            <a:r>
              <a:rPr dirty="0" spc="-50"/>
              <a:t>）</a:t>
            </a:r>
          </a:p>
        </p:txBody>
      </p:sp>
      <p:sp>
        <p:nvSpPr>
          <p:cNvPr id="3" name="object 3" descr=""/>
          <p:cNvSpPr txBox="1"/>
          <p:nvPr/>
        </p:nvSpPr>
        <p:spPr>
          <a:xfrm>
            <a:off x="1225359" y="817914"/>
            <a:ext cx="5422265" cy="238760"/>
          </a:xfrm>
          <a:prstGeom prst="rect">
            <a:avLst/>
          </a:prstGeom>
        </p:spPr>
        <p:txBody>
          <a:bodyPr wrap="square" lIns="0" tIns="12065" rIns="0" bIns="0" rtlCol="0" vert="horz">
            <a:spAutoFit/>
          </a:bodyPr>
          <a:lstStyle/>
          <a:p>
            <a:pPr marL="12700">
              <a:lnSpc>
                <a:spcPct val="100000"/>
              </a:lnSpc>
              <a:spcBef>
                <a:spcPts val="95"/>
              </a:spcBef>
              <a:tabLst>
                <a:tab pos="3942079" algn="l"/>
              </a:tabLst>
            </a:pPr>
            <a:r>
              <a:rPr dirty="0" sz="1400" spc="-20" b="1">
                <a:solidFill>
                  <a:srgbClr val="0000FF"/>
                </a:solidFill>
                <a:latin typeface="Microsoft YaHei"/>
                <a:cs typeface="Microsoft YaHei"/>
              </a:rPr>
              <a:t>①依次拧松</a:t>
            </a:r>
            <a:r>
              <a:rPr dirty="0" sz="1400" spc="-10" b="1">
                <a:solidFill>
                  <a:srgbClr val="0000FF"/>
                </a:solidFill>
                <a:latin typeface="Microsoft YaHei"/>
                <a:cs typeface="Microsoft YaHei"/>
              </a:rPr>
              <a:t>12</a:t>
            </a:r>
            <a:r>
              <a:rPr dirty="0" sz="1400" spc="-20" b="1">
                <a:solidFill>
                  <a:srgbClr val="0000FF"/>
                </a:solidFill>
                <a:latin typeface="Microsoft YaHei"/>
                <a:cs typeface="Microsoft YaHei"/>
              </a:rPr>
              <a:t>颗固定螺</a:t>
            </a:r>
            <a:r>
              <a:rPr dirty="0" sz="1400" spc="-50" b="1">
                <a:solidFill>
                  <a:srgbClr val="0000FF"/>
                </a:solidFill>
                <a:latin typeface="Microsoft YaHei"/>
                <a:cs typeface="Microsoft YaHei"/>
              </a:rPr>
              <a:t>母</a:t>
            </a:r>
            <a:r>
              <a:rPr dirty="0" sz="1400" b="1">
                <a:solidFill>
                  <a:srgbClr val="0000FF"/>
                </a:solidFill>
                <a:latin typeface="Microsoft YaHei"/>
                <a:cs typeface="Microsoft YaHei"/>
              </a:rPr>
              <a:t>	</a:t>
            </a:r>
            <a:r>
              <a:rPr dirty="0" sz="1400" spc="-20" b="1">
                <a:solidFill>
                  <a:srgbClr val="0000FF"/>
                </a:solidFill>
                <a:latin typeface="Microsoft YaHei"/>
                <a:cs typeface="Microsoft YaHei"/>
              </a:rPr>
              <a:t>②调整</a:t>
            </a:r>
            <a:r>
              <a:rPr dirty="0" sz="1400" spc="-25" b="1">
                <a:solidFill>
                  <a:srgbClr val="0000FF"/>
                </a:solidFill>
                <a:latin typeface="Microsoft YaHei"/>
                <a:cs typeface="Microsoft YaHei"/>
              </a:rPr>
              <a:t>AAU</a:t>
            </a:r>
            <a:r>
              <a:rPr dirty="0" sz="1400" spc="-20" b="1">
                <a:solidFill>
                  <a:srgbClr val="0000FF"/>
                </a:solidFill>
                <a:latin typeface="Microsoft YaHei"/>
                <a:cs typeface="Microsoft YaHei"/>
              </a:rPr>
              <a:t>下倾</a:t>
            </a:r>
            <a:r>
              <a:rPr dirty="0" sz="1400" spc="-50" b="1">
                <a:solidFill>
                  <a:srgbClr val="0000FF"/>
                </a:solidFill>
                <a:latin typeface="Microsoft YaHei"/>
                <a:cs typeface="Microsoft YaHei"/>
              </a:rPr>
              <a:t>角</a:t>
            </a:r>
            <a:endParaRPr sz="1400">
              <a:latin typeface="Microsoft YaHei"/>
              <a:cs typeface="Microsoft YaHei"/>
            </a:endParaRPr>
          </a:p>
        </p:txBody>
      </p:sp>
      <p:sp>
        <p:nvSpPr>
          <p:cNvPr id="4" name="object 4" descr=""/>
          <p:cNvSpPr txBox="1"/>
          <p:nvPr/>
        </p:nvSpPr>
        <p:spPr>
          <a:xfrm>
            <a:off x="690299" y="4110842"/>
            <a:ext cx="3213100" cy="620395"/>
          </a:xfrm>
          <a:prstGeom prst="rect">
            <a:avLst/>
          </a:prstGeom>
        </p:spPr>
        <p:txBody>
          <a:bodyPr wrap="square" lIns="0" tIns="12700" rIns="0" bIns="0" rtlCol="0" vert="horz">
            <a:spAutoFit/>
          </a:bodyPr>
          <a:lstStyle/>
          <a:p>
            <a:pPr algn="just" marL="12700" marR="5080" indent="-635">
              <a:lnSpc>
                <a:spcPct val="100000"/>
              </a:lnSpc>
              <a:spcBef>
                <a:spcPts val="100"/>
              </a:spcBef>
            </a:pPr>
            <a:r>
              <a:rPr dirty="0" sz="1300">
                <a:latin typeface="Microsoft YaHei"/>
                <a:cs typeface="Microsoft YaHei"/>
              </a:rPr>
              <a:t>拧松所有</a:t>
            </a:r>
            <a:r>
              <a:rPr dirty="0" sz="1300" spc="-10">
                <a:latin typeface="Microsoft YaHei"/>
                <a:cs typeface="Microsoft YaHei"/>
              </a:rPr>
              <a:t>M10</a:t>
            </a:r>
            <a:r>
              <a:rPr dirty="0" sz="1300" spc="-5">
                <a:latin typeface="Microsoft YaHei"/>
                <a:cs typeface="Microsoft YaHei"/>
              </a:rPr>
              <a:t>螺钉后，拉动或推动</a:t>
            </a:r>
            <a:r>
              <a:rPr dirty="0" sz="1300" spc="-10">
                <a:latin typeface="Microsoft YaHei"/>
                <a:cs typeface="Microsoft YaHei"/>
              </a:rPr>
              <a:t>AAU</a:t>
            </a:r>
            <a:r>
              <a:rPr dirty="0" sz="1300" spc="-30">
                <a:latin typeface="Microsoft YaHei"/>
                <a:cs typeface="Microsoft YaHei"/>
              </a:rPr>
              <a:t>，使</a:t>
            </a:r>
            <a:r>
              <a:rPr dirty="0" sz="1300" spc="-50">
                <a:latin typeface="Microsoft YaHei"/>
                <a:cs typeface="Microsoft YaHei"/>
              </a:rPr>
              <a:t> </a:t>
            </a:r>
            <a:r>
              <a:rPr dirty="0" sz="1300" spc="-10">
                <a:latin typeface="Microsoft YaHei"/>
                <a:cs typeface="Microsoft YaHei"/>
              </a:rPr>
              <a:t>AAU</a:t>
            </a:r>
            <a:r>
              <a:rPr dirty="0" sz="1300" spc="-15">
                <a:latin typeface="Microsoft YaHei"/>
                <a:cs typeface="Microsoft YaHei"/>
              </a:rPr>
              <a:t>背架支臂沿刻度杆滑动，观察刻度杆上的刻度指示，调整到与规划下倾角一致。</a:t>
            </a:r>
            <a:endParaRPr sz="1300">
              <a:latin typeface="Microsoft YaHei"/>
              <a:cs typeface="Microsoft YaHei"/>
            </a:endParaRPr>
          </a:p>
        </p:txBody>
      </p:sp>
      <p:sp>
        <p:nvSpPr>
          <p:cNvPr id="5" name="object 5" descr=""/>
          <p:cNvSpPr txBox="1"/>
          <p:nvPr/>
        </p:nvSpPr>
        <p:spPr>
          <a:xfrm>
            <a:off x="4675330" y="4129031"/>
            <a:ext cx="2835275" cy="422275"/>
          </a:xfrm>
          <a:prstGeom prst="rect">
            <a:avLst/>
          </a:prstGeom>
        </p:spPr>
        <p:txBody>
          <a:bodyPr wrap="square" lIns="0" tIns="12700" rIns="0" bIns="0" rtlCol="0" vert="horz">
            <a:spAutoFit/>
          </a:bodyPr>
          <a:lstStyle/>
          <a:p>
            <a:pPr marL="12700" marR="5080">
              <a:lnSpc>
                <a:spcPct val="100000"/>
              </a:lnSpc>
              <a:spcBef>
                <a:spcPts val="100"/>
              </a:spcBef>
            </a:pPr>
            <a:r>
              <a:rPr dirty="0" sz="1300" spc="-15">
                <a:latin typeface="Microsoft YaHei"/>
                <a:cs typeface="Microsoft YaHei"/>
              </a:rPr>
              <a:t>使用倾角仪进行确认，并进行微调，调</a:t>
            </a:r>
            <a:r>
              <a:rPr dirty="0" sz="1300" spc="-5">
                <a:latin typeface="Microsoft YaHei"/>
                <a:cs typeface="Microsoft YaHei"/>
              </a:rPr>
              <a:t>整完成后拧紧所有螺钉。</a:t>
            </a:r>
            <a:endParaRPr sz="1300">
              <a:latin typeface="Microsoft YaHei"/>
              <a:cs typeface="Microsoft YaHei"/>
            </a:endParaRPr>
          </a:p>
        </p:txBody>
      </p:sp>
      <p:pic>
        <p:nvPicPr>
          <p:cNvPr id="6" name="object 6"/>
          <p:cNvPicPr/>
          <p:nvPr/>
        </p:nvPicPr>
        <p:blipFill>
          <a:blip r:embed="rId2" cstate="print"/>
          <a:stretch>
            <a:fillRect/>
          </a:stretch>
        </p:blipFill>
        <p:spPr>
          <a:xfrm>
            <a:off x="947813" y="1328061"/>
            <a:ext cx="2877235" cy="2553159"/>
          </a:xfrm>
          <a:prstGeom prst="rect">
            <a:avLst/>
          </a:prstGeom>
        </p:spPr>
      </p:pic>
      <p:pic>
        <p:nvPicPr>
          <p:cNvPr id="7" name="object 7"/>
          <p:cNvPicPr/>
          <p:nvPr/>
        </p:nvPicPr>
        <p:blipFill>
          <a:blip r:embed="rId3" cstate="print"/>
          <a:stretch>
            <a:fillRect/>
          </a:stretch>
        </p:blipFill>
        <p:spPr>
          <a:xfrm>
            <a:off x="5316043" y="1343128"/>
            <a:ext cx="1545787" cy="250686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3581401" y="895350"/>
            <a:ext cx="0" cy="3962400"/>
          </a:xfrm>
          <a:custGeom>
            <a:avLst/>
            <a:gdLst/>
            <a:ahLst/>
            <a:cxnLst/>
            <a:rect l="l" t="t" r="r" b="b"/>
            <a:pathLst>
              <a:path w="0" h="3962400">
                <a:moveTo>
                  <a:pt x="0" y="0"/>
                </a:moveTo>
                <a:lnTo>
                  <a:pt x="0" y="3962400"/>
                </a:lnTo>
              </a:path>
            </a:pathLst>
          </a:custGeom>
          <a:ln w="34925">
            <a:solidFill>
              <a:srgbClr val="000000"/>
            </a:solidFill>
          </a:ln>
        </p:spPr>
        <p:txBody>
          <a:bodyPr wrap="square" lIns="0" tIns="0" rIns="0" bIns="0" rtlCol="0"/>
          <a:lstStyle/>
          <a:p/>
        </p:txBody>
      </p:sp>
      <p:grpSp>
        <p:nvGrpSpPr>
          <p:cNvPr id="3" name="object 3" descr=""/>
          <p:cNvGrpSpPr/>
          <p:nvPr/>
        </p:nvGrpSpPr>
        <p:grpSpPr>
          <a:xfrm>
            <a:off x="3803650" y="1574801"/>
            <a:ext cx="5118100" cy="498475"/>
            <a:chOff x="3803650" y="1574801"/>
            <a:chExt cx="5118100" cy="498475"/>
          </a:xfrm>
        </p:grpSpPr>
        <p:pic>
          <p:nvPicPr>
            <p:cNvPr id="4" name="object 4" descr=""/>
            <p:cNvPicPr/>
            <p:nvPr/>
          </p:nvPicPr>
          <p:blipFill>
            <a:blip r:embed="rId2" cstate="print"/>
            <a:stretch>
              <a:fillRect/>
            </a:stretch>
          </p:blipFill>
          <p:spPr>
            <a:xfrm>
              <a:off x="3810000" y="1581151"/>
              <a:ext cx="5105400" cy="485775"/>
            </a:xfrm>
            <a:prstGeom prst="rect">
              <a:avLst/>
            </a:prstGeom>
          </p:spPr>
        </p:pic>
        <p:sp>
          <p:nvSpPr>
            <p:cNvPr id="5" name="object 5" descr=""/>
            <p:cNvSpPr/>
            <p:nvPr/>
          </p:nvSpPr>
          <p:spPr>
            <a:xfrm>
              <a:off x="3810000" y="1581151"/>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6" name="object 6" descr=""/>
          <p:cNvGrpSpPr/>
          <p:nvPr/>
        </p:nvGrpSpPr>
        <p:grpSpPr>
          <a:xfrm>
            <a:off x="3803650" y="2260600"/>
            <a:ext cx="5118100" cy="498475"/>
            <a:chOff x="3803650" y="2260600"/>
            <a:chExt cx="5118100" cy="498475"/>
          </a:xfrm>
        </p:grpSpPr>
        <p:pic>
          <p:nvPicPr>
            <p:cNvPr id="7" name="object 7" descr=""/>
            <p:cNvPicPr/>
            <p:nvPr/>
          </p:nvPicPr>
          <p:blipFill>
            <a:blip r:embed="rId3" cstate="print"/>
            <a:stretch>
              <a:fillRect/>
            </a:stretch>
          </p:blipFill>
          <p:spPr>
            <a:xfrm>
              <a:off x="3810000" y="2266950"/>
              <a:ext cx="5105400" cy="485775"/>
            </a:xfrm>
            <a:prstGeom prst="rect">
              <a:avLst/>
            </a:prstGeom>
          </p:spPr>
        </p:pic>
        <p:sp>
          <p:nvSpPr>
            <p:cNvPr id="8" name="object 8" descr=""/>
            <p:cNvSpPr/>
            <p:nvPr/>
          </p:nvSpPr>
          <p:spPr>
            <a:xfrm>
              <a:off x="3810000" y="2266950"/>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9" name="object 9" descr=""/>
          <p:cNvGrpSpPr/>
          <p:nvPr/>
        </p:nvGrpSpPr>
        <p:grpSpPr>
          <a:xfrm>
            <a:off x="3803650" y="889001"/>
            <a:ext cx="5118100" cy="498475"/>
            <a:chOff x="3803650" y="889001"/>
            <a:chExt cx="5118100" cy="498475"/>
          </a:xfrm>
        </p:grpSpPr>
        <p:pic>
          <p:nvPicPr>
            <p:cNvPr id="10" name="object 10" descr=""/>
            <p:cNvPicPr/>
            <p:nvPr/>
          </p:nvPicPr>
          <p:blipFill>
            <a:blip r:embed="rId4" cstate="print"/>
            <a:stretch>
              <a:fillRect/>
            </a:stretch>
          </p:blipFill>
          <p:spPr>
            <a:xfrm>
              <a:off x="3810000" y="895351"/>
              <a:ext cx="5105400" cy="485775"/>
            </a:xfrm>
            <a:prstGeom prst="rect">
              <a:avLst/>
            </a:prstGeom>
          </p:spPr>
        </p:pic>
        <p:sp>
          <p:nvSpPr>
            <p:cNvPr id="11" name="object 11" descr=""/>
            <p:cNvSpPr/>
            <p:nvPr/>
          </p:nvSpPr>
          <p:spPr>
            <a:xfrm>
              <a:off x="3810000" y="895351"/>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12" name="object 12"/>
          <p:cNvSpPr txBox="1">
            <a:spLocks noGrp="1"/>
          </p:cNvSpPr>
          <p:nvPr>
            <p:ph type="title"/>
          </p:nvPr>
        </p:nvSpPr>
        <p:spPr>
          <a:xfrm>
            <a:off x="3174619" y="39229"/>
            <a:ext cx="3098800" cy="695960"/>
          </a:xfrm>
          <a:prstGeom prst="rect"/>
        </p:spPr>
        <p:txBody>
          <a:bodyPr wrap="square" lIns="0" tIns="12065" rIns="0" bIns="0" rtlCol="0" vert="horz">
            <a:spAutoFit/>
          </a:bodyPr>
          <a:lstStyle/>
          <a:p>
            <a:pPr marL="12700">
              <a:lnSpc>
                <a:spcPct val="100000"/>
              </a:lnSpc>
              <a:spcBef>
                <a:spcPts val="95"/>
              </a:spcBef>
              <a:tabLst>
                <a:tab pos="850265" algn="l"/>
                <a:tab pos="1688464" algn="l"/>
                <a:tab pos="2526665" algn="l"/>
              </a:tabLst>
            </a:pPr>
            <a:r>
              <a:rPr dirty="0" sz="4400" spc="-50"/>
              <a:t>主</a:t>
            </a:r>
            <a:r>
              <a:rPr dirty="0" sz="4400"/>
              <a:t>	</a:t>
            </a:r>
            <a:r>
              <a:rPr dirty="0" sz="4400" spc="-50"/>
              <a:t>要</a:t>
            </a:r>
            <a:r>
              <a:rPr dirty="0" sz="4400"/>
              <a:t>	</a:t>
            </a:r>
            <a:r>
              <a:rPr dirty="0" sz="4400" spc="-50"/>
              <a:t>内</a:t>
            </a:r>
            <a:r>
              <a:rPr dirty="0" sz="4400"/>
              <a:t>	</a:t>
            </a:r>
            <a:r>
              <a:rPr dirty="0" sz="4400" spc="-50"/>
              <a:t>容</a:t>
            </a:r>
            <a:endParaRPr sz="4400"/>
          </a:p>
        </p:txBody>
      </p:sp>
      <p:grpSp>
        <p:nvGrpSpPr>
          <p:cNvPr id="13" name="object 13" descr=""/>
          <p:cNvGrpSpPr/>
          <p:nvPr/>
        </p:nvGrpSpPr>
        <p:grpSpPr>
          <a:xfrm>
            <a:off x="3803650" y="2946400"/>
            <a:ext cx="5118100" cy="498475"/>
            <a:chOff x="3803650" y="2946400"/>
            <a:chExt cx="5118100" cy="498475"/>
          </a:xfrm>
        </p:grpSpPr>
        <p:pic>
          <p:nvPicPr>
            <p:cNvPr id="14" name="object 14" descr=""/>
            <p:cNvPicPr/>
            <p:nvPr/>
          </p:nvPicPr>
          <p:blipFill>
            <a:blip r:embed="rId5" cstate="print"/>
            <a:stretch>
              <a:fillRect/>
            </a:stretch>
          </p:blipFill>
          <p:spPr>
            <a:xfrm>
              <a:off x="3810000" y="2952750"/>
              <a:ext cx="5105400" cy="485775"/>
            </a:xfrm>
            <a:prstGeom prst="rect">
              <a:avLst/>
            </a:prstGeom>
          </p:spPr>
        </p:pic>
        <p:sp>
          <p:nvSpPr>
            <p:cNvPr id="15" name="object 15" descr=""/>
            <p:cNvSpPr/>
            <p:nvPr/>
          </p:nvSpPr>
          <p:spPr>
            <a:xfrm>
              <a:off x="3810000" y="2952750"/>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pic>
        <p:nvPicPr>
          <p:cNvPr id="16" name="object 16"/>
          <p:cNvPicPr/>
          <p:nvPr/>
        </p:nvPicPr>
        <p:blipFill>
          <a:blip r:embed="rId6" cstate="print"/>
          <a:stretch>
            <a:fillRect/>
          </a:stretch>
        </p:blipFill>
        <p:spPr>
          <a:xfrm>
            <a:off x="152400" y="895350"/>
            <a:ext cx="3276599" cy="3962399"/>
          </a:xfrm>
          <a:prstGeom prst="rect">
            <a:avLst/>
          </a:prstGeom>
        </p:spPr>
      </p:pic>
      <p:grpSp>
        <p:nvGrpSpPr>
          <p:cNvPr id="17" name="object 17" descr=""/>
          <p:cNvGrpSpPr/>
          <p:nvPr/>
        </p:nvGrpSpPr>
        <p:grpSpPr>
          <a:xfrm>
            <a:off x="3803650" y="3632200"/>
            <a:ext cx="5118100" cy="498475"/>
            <a:chOff x="3803650" y="3632200"/>
            <a:chExt cx="5118100" cy="498475"/>
          </a:xfrm>
        </p:grpSpPr>
        <p:pic>
          <p:nvPicPr>
            <p:cNvPr id="18" name="object 18" descr=""/>
            <p:cNvPicPr/>
            <p:nvPr/>
          </p:nvPicPr>
          <p:blipFill>
            <a:blip r:embed="rId5" cstate="print"/>
            <a:stretch>
              <a:fillRect/>
            </a:stretch>
          </p:blipFill>
          <p:spPr>
            <a:xfrm>
              <a:off x="3810000" y="3638550"/>
              <a:ext cx="5105400" cy="485775"/>
            </a:xfrm>
            <a:prstGeom prst="rect">
              <a:avLst/>
            </a:prstGeom>
          </p:spPr>
        </p:pic>
        <p:sp>
          <p:nvSpPr>
            <p:cNvPr id="19" name="object 19" descr=""/>
            <p:cNvSpPr/>
            <p:nvPr/>
          </p:nvSpPr>
          <p:spPr>
            <a:xfrm>
              <a:off x="3810000" y="3638550"/>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20" name="object 20" descr=""/>
          <p:cNvGrpSpPr/>
          <p:nvPr/>
        </p:nvGrpSpPr>
        <p:grpSpPr>
          <a:xfrm>
            <a:off x="3803650" y="4318000"/>
            <a:ext cx="5118100" cy="498475"/>
            <a:chOff x="3803650" y="4318000"/>
            <a:chExt cx="5118100" cy="498475"/>
          </a:xfrm>
        </p:grpSpPr>
        <p:pic>
          <p:nvPicPr>
            <p:cNvPr id="21" name="object 21" descr=""/>
            <p:cNvPicPr/>
            <p:nvPr/>
          </p:nvPicPr>
          <p:blipFill>
            <a:blip r:embed="rId5" cstate="print"/>
            <a:stretch>
              <a:fillRect/>
            </a:stretch>
          </p:blipFill>
          <p:spPr>
            <a:xfrm>
              <a:off x="3810000" y="4324350"/>
              <a:ext cx="5105400" cy="485775"/>
            </a:xfrm>
            <a:prstGeom prst="rect">
              <a:avLst/>
            </a:prstGeom>
          </p:spPr>
        </p:pic>
        <p:sp>
          <p:nvSpPr>
            <p:cNvPr id="22" name="object 22" descr=""/>
            <p:cNvSpPr/>
            <p:nvPr/>
          </p:nvSpPr>
          <p:spPr>
            <a:xfrm>
              <a:off x="3810000" y="4324350"/>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23" name="object 23" descr=""/>
          <p:cNvSpPr txBox="1"/>
          <p:nvPr/>
        </p:nvSpPr>
        <p:spPr>
          <a:xfrm>
            <a:off x="3912453" y="931989"/>
            <a:ext cx="4716145" cy="3820160"/>
          </a:xfrm>
          <a:prstGeom prst="rect">
            <a:avLst/>
          </a:prstGeom>
        </p:spPr>
        <p:txBody>
          <a:bodyPr wrap="square" lIns="0" tIns="12700" rIns="0" bIns="0" rtlCol="0" vert="horz">
            <a:spAutoFit/>
          </a:bodyPr>
          <a:lstStyle/>
          <a:p>
            <a:pPr marL="12700">
              <a:lnSpc>
                <a:spcPct val="100000"/>
              </a:lnSpc>
              <a:spcBef>
                <a:spcPts val="100"/>
              </a:spcBef>
            </a:pPr>
            <a:r>
              <a:rPr dirty="0" sz="2400">
                <a:latin typeface="Microsoft YaHei"/>
                <a:cs typeface="Microsoft YaHei"/>
              </a:rPr>
              <a:t>一、</a:t>
            </a:r>
            <a:r>
              <a:rPr dirty="0" sz="2400" spc="-20">
                <a:latin typeface="Times New Roman"/>
                <a:cs typeface="Times New Roman"/>
              </a:rPr>
              <a:t>5G</a:t>
            </a:r>
            <a:r>
              <a:rPr dirty="0" sz="2400">
                <a:latin typeface="Microsoft YaHei"/>
                <a:cs typeface="Microsoft YaHei"/>
              </a:rPr>
              <a:t>系统基站</a:t>
            </a:r>
            <a:r>
              <a:rPr dirty="0" sz="2400" spc="-10">
                <a:latin typeface="Times New Roman"/>
                <a:cs typeface="Times New Roman"/>
              </a:rPr>
              <a:t>BBU</a:t>
            </a:r>
            <a:r>
              <a:rPr dirty="0" sz="2400" spc="-10">
                <a:latin typeface="Microsoft YaHei"/>
                <a:cs typeface="Microsoft YaHei"/>
              </a:rPr>
              <a:t>安装工程规范</a:t>
            </a:r>
            <a:endParaRPr sz="2400">
              <a:latin typeface="Microsoft YaHei"/>
              <a:cs typeface="Microsoft YaHei"/>
            </a:endParaRPr>
          </a:p>
          <a:p>
            <a:pPr algn="just" marL="12700" marR="5080">
              <a:lnSpc>
                <a:spcPct val="187500"/>
              </a:lnSpc>
            </a:pPr>
            <a:r>
              <a:rPr dirty="0" sz="2400">
                <a:latin typeface="Microsoft YaHei"/>
                <a:cs typeface="Microsoft YaHei"/>
              </a:rPr>
              <a:t>二、</a:t>
            </a:r>
            <a:r>
              <a:rPr dirty="0" sz="2400" spc="-20">
                <a:latin typeface="Times New Roman"/>
                <a:cs typeface="Times New Roman"/>
              </a:rPr>
              <a:t>5G</a:t>
            </a:r>
            <a:r>
              <a:rPr dirty="0" sz="2400">
                <a:latin typeface="Microsoft YaHei"/>
                <a:cs typeface="Microsoft YaHei"/>
              </a:rPr>
              <a:t>系统基站</a:t>
            </a:r>
            <a:r>
              <a:rPr dirty="0" sz="2400" spc="-25">
                <a:latin typeface="Times New Roman"/>
                <a:cs typeface="Times New Roman"/>
              </a:rPr>
              <a:t>AAU</a:t>
            </a:r>
            <a:r>
              <a:rPr dirty="0" sz="2400" spc="-10">
                <a:latin typeface="Microsoft YaHei"/>
                <a:cs typeface="Microsoft YaHei"/>
              </a:rPr>
              <a:t>安装工程规范</a:t>
            </a:r>
            <a:r>
              <a:rPr dirty="0" sz="2400" b="1">
                <a:solidFill>
                  <a:srgbClr val="FF0000"/>
                </a:solidFill>
                <a:latin typeface="Microsoft YaHei"/>
                <a:cs typeface="Microsoft YaHei"/>
              </a:rPr>
              <a:t>三、</a:t>
            </a:r>
            <a:r>
              <a:rPr dirty="0" sz="2400" b="1">
                <a:solidFill>
                  <a:srgbClr val="FF0000"/>
                </a:solidFill>
                <a:latin typeface="Times New Roman"/>
                <a:cs typeface="Times New Roman"/>
              </a:rPr>
              <a:t>5G</a:t>
            </a:r>
            <a:r>
              <a:rPr dirty="0" sz="2400" spc="-5" b="1">
                <a:solidFill>
                  <a:srgbClr val="FF0000"/>
                </a:solidFill>
                <a:latin typeface="Microsoft YaHei"/>
                <a:cs typeface="Microsoft YaHei"/>
              </a:rPr>
              <a:t>系统基站安装配套工程规范</a:t>
            </a:r>
            <a:r>
              <a:rPr dirty="0" sz="2400">
                <a:latin typeface="Microsoft YaHei"/>
                <a:cs typeface="Microsoft YaHei"/>
              </a:rPr>
              <a:t>四、</a:t>
            </a:r>
            <a:r>
              <a:rPr dirty="0" sz="2400" spc="-20">
                <a:latin typeface="Times New Roman"/>
                <a:cs typeface="Times New Roman"/>
              </a:rPr>
              <a:t>5G</a:t>
            </a:r>
            <a:r>
              <a:rPr dirty="0" sz="2400" spc="-5">
                <a:latin typeface="Microsoft YaHei"/>
                <a:cs typeface="Microsoft YaHei"/>
              </a:rPr>
              <a:t>系统基站线缆安装工程规范</a:t>
            </a:r>
            <a:r>
              <a:rPr dirty="0" sz="2400">
                <a:latin typeface="Microsoft YaHei"/>
                <a:cs typeface="Microsoft YaHei"/>
              </a:rPr>
              <a:t>五、</a:t>
            </a:r>
            <a:r>
              <a:rPr dirty="0" sz="2400" spc="-20">
                <a:latin typeface="Times New Roman"/>
                <a:cs typeface="Times New Roman"/>
              </a:rPr>
              <a:t>5G</a:t>
            </a:r>
            <a:r>
              <a:rPr dirty="0" sz="2400" spc="-5">
                <a:latin typeface="Microsoft YaHei"/>
                <a:cs typeface="Microsoft YaHei"/>
              </a:rPr>
              <a:t>系统基站安装常见问题分析</a:t>
            </a:r>
            <a:r>
              <a:rPr dirty="0" sz="2400">
                <a:latin typeface="Microsoft YaHei"/>
                <a:cs typeface="Microsoft YaHei"/>
              </a:rPr>
              <a:t>六、</a:t>
            </a:r>
            <a:r>
              <a:rPr dirty="0" sz="2400" spc="-20">
                <a:latin typeface="Times New Roman"/>
                <a:cs typeface="Times New Roman"/>
              </a:rPr>
              <a:t>5G</a:t>
            </a:r>
            <a:r>
              <a:rPr dirty="0" sz="2400" spc="-5">
                <a:latin typeface="Microsoft YaHei"/>
                <a:cs typeface="Microsoft YaHei"/>
              </a:rPr>
              <a:t>系统基站开通调测性能测试</a:t>
            </a:r>
            <a:endParaRPr sz="2400">
              <a:latin typeface="Microsoft YaHei"/>
              <a:cs typeface="Microsoft YaHe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p:spPr>
        <p:txBody>
          <a:bodyPr wrap="square" lIns="0" tIns="12065" rIns="0" bIns="0" rtlCol="0" vert="horz">
            <a:spAutoFit/>
          </a:bodyPr>
          <a:lstStyle/>
          <a:p>
            <a:pPr marL="47625">
              <a:lnSpc>
                <a:spcPct val="100000"/>
              </a:lnSpc>
              <a:spcBef>
                <a:spcPts val="95"/>
              </a:spcBef>
            </a:pPr>
            <a:r>
              <a:rPr dirty="0" spc="-30">
                <a:latin typeface="Times New Roman"/>
                <a:cs typeface="Times New Roman"/>
              </a:rPr>
              <a:t>5G</a:t>
            </a:r>
            <a:r>
              <a:rPr dirty="0" spc="-45"/>
              <a:t>设备辅材介绍</a:t>
            </a:r>
          </a:p>
        </p:txBody>
      </p:sp>
      <p:pic>
        <p:nvPicPr>
          <p:cNvPr id="3" name="object 3" descr=""/>
          <p:cNvPicPr/>
          <p:nvPr/>
        </p:nvPicPr>
        <p:blipFill>
          <a:blip r:embed="rId2" cstate="print"/>
          <a:stretch>
            <a:fillRect/>
          </a:stretch>
        </p:blipFill>
        <p:spPr>
          <a:xfrm>
            <a:off x="457200" y="895350"/>
            <a:ext cx="1908225" cy="530771"/>
          </a:xfrm>
          <a:prstGeom prst="rect">
            <a:avLst/>
          </a:prstGeom>
        </p:spPr>
      </p:pic>
      <p:sp>
        <p:nvSpPr>
          <p:cNvPr id="4" name="object 4" descr=""/>
          <p:cNvSpPr txBox="1"/>
          <p:nvPr/>
        </p:nvSpPr>
        <p:spPr>
          <a:xfrm>
            <a:off x="845898" y="1002493"/>
            <a:ext cx="1130935" cy="299720"/>
          </a:xfrm>
          <a:prstGeom prst="rect">
            <a:avLst/>
          </a:prstGeom>
        </p:spPr>
        <p:txBody>
          <a:bodyPr wrap="square" lIns="0" tIns="12700" rIns="0" bIns="0" rtlCol="0" vert="horz">
            <a:spAutoFit/>
          </a:bodyPr>
          <a:lstStyle/>
          <a:p>
            <a:pPr marL="12700">
              <a:lnSpc>
                <a:spcPct val="100000"/>
              </a:lnSpc>
              <a:spcBef>
                <a:spcPts val="100"/>
              </a:spcBef>
            </a:pPr>
            <a:r>
              <a:rPr dirty="0" sz="1800" spc="-20">
                <a:latin typeface="Arial MT"/>
                <a:cs typeface="Arial MT"/>
              </a:rPr>
              <a:t>DCPD</a:t>
            </a:r>
            <a:r>
              <a:rPr dirty="0" sz="1800" spc="-25">
                <a:latin typeface="Microsoft YaHei"/>
                <a:cs typeface="Microsoft YaHei"/>
              </a:rPr>
              <a:t>外观</a:t>
            </a:r>
            <a:endParaRPr sz="1800">
              <a:latin typeface="Microsoft YaHei"/>
              <a:cs typeface="Microsoft YaHei"/>
            </a:endParaRPr>
          </a:p>
        </p:txBody>
      </p:sp>
      <p:pic>
        <p:nvPicPr>
          <p:cNvPr id="5" name="object 5"/>
          <p:cNvPicPr/>
          <p:nvPr/>
        </p:nvPicPr>
        <p:blipFill>
          <a:blip r:embed="rId3" cstate="print"/>
          <a:stretch>
            <a:fillRect/>
          </a:stretch>
        </p:blipFill>
        <p:spPr>
          <a:xfrm>
            <a:off x="2627784" y="737141"/>
            <a:ext cx="5256579" cy="4044396"/>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p:spPr>
        <p:txBody>
          <a:bodyPr wrap="square" lIns="0" tIns="12065" rIns="0" bIns="0" rtlCol="0" vert="horz">
            <a:spAutoFit/>
          </a:bodyPr>
          <a:lstStyle/>
          <a:p>
            <a:pPr marL="47625">
              <a:lnSpc>
                <a:spcPct val="100000"/>
              </a:lnSpc>
              <a:spcBef>
                <a:spcPts val="95"/>
              </a:spcBef>
            </a:pPr>
            <a:r>
              <a:rPr dirty="0" spc="-30">
                <a:latin typeface="Times New Roman"/>
                <a:cs typeface="Times New Roman"/>
              </a:rPr>
              <a:t>5G</a:t>
            </a:r>
            <a:r>
              <a:rPr dirty="0" spc="-45"/>
              <a:t>设备辅材介绍</a:t>
            </a:r>
          </a:p>
        </p:txBody>
      </p:sp>
      <p:pic>
        <p:nvPicPr>
          <p:cNvPr id="3" name="object 3" descr=""/>
          <p:cNvPicPr/>
          <p:nvPr/>
        </p:nvPicPr>
        <p:blipFill>
          <a:blip r:embed="rId2" cstate="print"/>
          <a:stretch>
            <a:fillRect/>
          </a:stretch>
        </p:blipFill>
        <p:spPr>
          <a:xfrm>
            <a:off x="533400" y="895350"/>
            <a:ext cx="2844330" cy="530771"/>
          </a:xfrm>
          <a:prstGeom prst="rect">
            <a:avLst/>
          </a:prstGeom>
        </p:spPr>
      </p:pic>
      <p:sp>
        <p:nvSpPr>
          <p:cNvPr id="4" name="object 4" descr=""/>
          <p:cNvSpPr txBox="1"/>
          <p:nvPr/>
        </p:nvSpPr>
        <p:spPr>
          <a:xfrm>
            <a:off x="1371494" y="1002493"/>
            <a:ext cx="1168400" cy="299720"/>
          </a:xfrm>
          <a:prstGeom prst="rect">
            <a:avLst/>
          </a:prstGeom>
        </p:spPr>
        <p:txBody>
          <a:bodyPr wrap="square" lIns="0" tIns="12700" rIns="0" bIns="0" rtlCol="0" vert="horz">
            <a:spAutoFit/>
          </a:bodyPr>
          <a:lstStyle/>
          <a:p>
            <a:pPr marL="12700">
              <a:lnSpc>
                <a:spcPct val="100000"/>
              </a:lnSpc>
              <a:spcBef>
                <a:spcPts val="100"/>
              </a:spcBef>
            </a:pPr>
            <a:r>
              <a:rPr dirty="0" sz="1800" spc="-10">
                <a:latin typeface="Microsoft YaHei"/>
                <a:cs typeface="Microsoft YaHei"/>
              </a:rPr>
              <a:t>直流防雷箱</a:t>
            </a:r>
            <a:endParaRPr sz="1800">
              <a:latin typeface="Microsoft YaHei"/>
              <a:cs typeface="Microsoft YaHei"/>
            </a:endParaRPr>
          </a:p>
        </p:txBody>
      </p:sp>
      <p:pic>
        <p:nvPicPr>
          <p:cNvPr id="5" name="object 5"/>
          <p:cNvPicPr/>
          <p:nvPr/>
        </p:nvPicPr>
        <p:blipFill>
          <a:blip r:embed="rId3" cstate="print"/>
          <a:stretch>
            <a:fillRect/>
          </a:stretch>
        </p:blipFill>
        <p:spPr>
          <a:xfrm>
            <a:off x="683567" y="1419621"/>
            <a:ext cx="3781548" cy="3528387"/>
          </a:xfrm>
          <a:prstGeom prst="rect">
            <a:avLst/>
          </a:prstGeom>
        </p:spPr>
      </p:pic>
      <p:pic>
        <p:nvPicPr>
          <p:cNvPr id="6" name="object 6"/>
          <p:cNvPicPr/>
          <p:nvPr/>
        </p:nvPicPr>
        <p:blipFill>
          <a:blip r:embed="rId4" cstate="print"/>
          <a:stretch>
            <a:fillRect/>
          </a:stretch>
        </p:blipFill>
        <p:spPr>
          <a:xfrm>
            <a:off x="4644009" y="1779663"/>
            <a:ext cx="4146548" cy="2417761"/>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96799" y="112363"/>
            <a:ext cx="298577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设备辅材介绍</a:t>
            </a:r>
          </a:p>
        </p:txBody>
      </p:sp>
      <p:pic>
        <p:nvPicPr>
          <p:cNvPr id="3" name="object 3" descr=""/>
          <p:cNvPicPr/>
          <p:nvPr/>
        </p:nvPicPr>
        <p:blipFill>
          <a:blip r:embed="rId2" cstate="print"/>
          <a:stretch>
            <a:fillRect/>
          </a:stretch>
        </p:blipFill>
        <p:spPr>
          <a:xfrm>
            <a:off x="609600" y="819150"/>
            <a:ext cx="2844330" cy="530771"/>
          </a:xfrm>
          <a:prstGeom prst="rect">
            <a:avLst/>
          </a:prstGeom>
        </p:spPr>
      </p:pic>
      <p:sp>
        <p:nvSpPr>
          <p:cNvPr id="4" name="object 4" descr=""/>
          <p:cNvSpPr txBox="1"/>
          <p:nvPr/>
        </p:nvSpPr>
        <p:spPr>
          <a:xfrm>
            <a:off x="1097936" y="926293"/>
            <a:ext cx="1867535" cy="299720"/>
          </a:xfrm>
          <a:prstGeom prst="rect">
            <a:avLst/>
          </a:prstGeom>
        </p:spPr>
        <p:txBody>
          <a:bodyPr wrap="square" lIns="0" tIns="12700" rIns="0" bIns="0" rtlCol="0" vert="horz">
            <a:spAutoFit/>
          </a:bodyPr>
          <a:lstStyle/>
          <a:p>
            <a:pPr marL="12700">
              <a:lnSpc>
                <a:spcPct val="100000"/>
              </a:lnSpc>
              <a:spcBef>
                <a:spcPts val="100"/>
              </a:spcBef>
            </a:pPr>
            <a:r>
              <a:rPr dirty="0" sz="1800">
                <a:latin typeface="Arial MT"/>
                <a:cs typeface="Arial MT"/>
              </a:rPr>
              <a:t>AAU</a:t>
            </a:r>
            <a:r>
              <a:rPr dirty="0" sz="1800" spc="-10">
                <a:latin typeface="Microsoft YaHei"/>
                <a:cs typeface="Microsoft YaHei"/>
              </a:rPr>
              <a:t>可调背架外观</a:t>
            </a:r>
            <a:endParaRPr sz="1800">
              <a:latin typeface="Microsoft YaHei"/>
              <a:cs typeface="Microsoft YaHei"/>
            </a:endParaRPr>
          </a:p>
        </p:txBody>
      </p:sp>
      <p:graphicFrame>
        <p:nvGraphicFramePr>
          <p:cNvPr id="5" name="object 5" descr=""/>
          <p:cNvGraphicFramePr>
            <a:graphicFrameLocks noGrp="1"/>
          </p:cNvGraphicFramePr>
          <p:nvPr/>
        </p:nvGraphicFramePr>
        <p:xfrm>
          <a:off x="569186" y="1341266"/>
          <a:ext cx="8046084" cy="3671569"/>
        </p:xfrm>
        <a:graphic>
          <a:graphicData uri="http://schemas.openxmlformats.org/drawingml/2006/table">
            <a:tbl>
              <a:tblPr firstRow="1" bandRow="1">
                <a:tableStyleId>{2D5ABB26-0587-4C30-8999-92F81FD0307C}</a:tableStyleId>
              </a:tblPr>
              <a:tblGrid>
                <a:gridCol w="3973195"/>
                <a:gridCol w="3983354"/>
              </a:tblGrid>
              <a:tr h="3275329">
                <a:tc>
                  <a:txBody>
                    <a:bodyPr/>
                    <a:lstStyle/>
                    <a:p>
                      <a:pPr>
                        <a:lnSpc>
                          <a:spcPct val="100000"/>
                        </a:lnSpc>
                      </a:pPr>
                      <a:endParaRPr sz="2000">
                        <a:latin typeface="Times New Roman"/>
                        <a:cs typeface="Times New Roman"/>
                      </a:endParaRPr>
                    </a:p>
                  </a:txBody>
                  <a:tcPr marL="0" marR="0" marB="0" marT="0">
                    <a:lnL w="12700">
                      <a:solidFill>
                        <a:srgbClr val="2D2D8A"/>
                      </a:solidFill>
                      <a:prstDash val="solid"/>
                    </a:lnL>
                    <a:lnR w="12700">
                      <a:solidFill>
                        <a:srgbClr val="2D2D8A"/>
                      </a:solidFill>
                      <a:prstDash val="solid"/>
                    </a:lnR>
                    <a:lnT w="12700">
                      <a:solidFill>
                        <a:srgbClr val="2D2D8A"/>
                      </a:solidFill>
                      <a:prstDash val="solid"/>
                    </a:lnT>
                    <a:lnB w="28575">
                      <a:solidFill>
                        <a:srgbClr val="2D2D8A"/>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2D2D8A"/>
                      </a:solidFill>
                      <a:prstDash val="solid"/>
                    </a:lnL>
                    <a:lnR w="12700">
                      <a:solidFill>
                        <a:srgbClr val="2D2D8A"/>
                      </a:solidFill>
                      <a:prstDash val="solid"/>
                    </a:lnR>
                    <a:lnT w="12700">
                      <a:solidFill>
                        <a:srgbClr val="2D2D8A"/>
                      </a:solidFill>
                      <a:prstDash val="solid"/>
                    </a:lnT>
                    <a:lnB w="28575">
                      <a:solidFill>
                        <a:srgbClr val="2D2D8A"/>
                      </a:solidFill>
                      <a:prstDash val="solid"/>
                    </a:lnB>
                  </a:tcPr>
                </a:tc>
              </a:tr>
              <a:tr h="396240">
                <a:tc>
                  <a:txBody>
                    <a:bodyPr/>
                    <a:lstStyle/>
                    <a:p>
                      <a:pPr algn="ctr">
                        <a:lnSpc>
                          <a:spcPct val="100000"/>
                        </a:lnSpc>
                        <a:spcBef>
                          <a:spcPts val="315"/>
                        </a:spcBef>
                      </a:pPr>
                      <a:r>
                        <a:rPr dirty="0" sz="1800" b="1">
                          <a:latin typeface="Times New Roman"/>
                          <a:cs typeface="Times New Roman"/>
                        </a:rPr>
                        <a:t>5G</a:t>
                      </a:r>
                      <a:r>
                        <a:rPr dirty="0" sz="1800" spc="60" b="1">
                          <a:latin typeface="Times New Roman"/>
                          <a:cs typeface="Times New Roman"/>
                        </a:rPr>
                        <a:t> </a:t>
                      </a:r>
                      <a:r>
                        <a:rPr dirty="0" sz="1800" spc="-20" b="1">
                          <a:latin typeface="Arial"/>
                          <a:cs typeface="Arial"/>
                        </a:rPr>
                        <a:t>AAU</a:t>
                      </a:r>
                      <a:r>
                        <a:rPr dirty="0" sz="1800" spc="-10">
                          <a:latin typeface="SimSun"/>
                          <a:cs typeface="SimSun"/>
                        </a:rPr>
                        <a:t>可调背架，验证阶段</a:t>
                      </a:r>
                      <a:endParaRPr sz="1800">
                        <a:latin typeface="SimSun"/>
                        <a:cs typeface="SimSun"/>
                      </a:endParaRPr>
                    </a:p>
                  </a:txBody>
                  <a:tcPr marL="0" marR="0" marB="0" marT="40005">
                    <a:lnL w="12700">
                      <a:solidFill>
                        <a:srgbClr val="2D2D8A"/>
                      </a:solidFill>
                      <a:prstDash val="solid"/>
                    </a:lnL>
                    <a:lnR w="12700">
                      <a:solidFill>
                        <a:srgbClr val="2D2D8A"/>
                      </a:solidFill>
                      <a:prstDash val="solid"/>
                    </a:lnR>
                    <a:lnT w="28575">
                      <a:solidFill>
                        <a:srgbClr val="2D2D8A"/>
                      </a:solidFill>
                      <a:prstDash val="solid"/>
                    </a:lnT>
                    <a:lnB w="12700">
                      <a:solidFill>
                        <a:srgbClr val="2D2D8A"/>
                      </a:solidFill>
                      <a:prstDash val="solid"/>
                    </a:lnB>
                    <a:solidFill>
                      <a:srgbClr val="2D2D8A">
                        <a:alpha val="19999"/>
                      </a:srgbClr>
                    </a:solidFill>
                  </a:tcPr>
                </a:tc>
                <a:tc>
                  <a:txBody>
                    <a:bodyPr/>
                    <a:lstStyle/>
                    <a:p>
                      <a:pPr marL="1139190">
                        <a:lnSpc>
                          <a:spcPct val="100000"/>
                        </a:lnSpc>
                        <a:spcBef>
                          <a:spcPts val="315"/>
                        </a:spcBef>
                      </a:pPr>
                      <a:r>
                        <a:rPr dirty="0" sz="1800" spc="-10" b="1">
                          <a:latin typeface="Times New Roman"/>
                          <a:cs typeface="Times New Roman"/>
                        </a:rPr>
                        <a:t>5G</a:t>
                      </a:r>
                      <a:r>
                        <a:rPr dirty="0" sz="1800" spc="-10" b="1">
                          <a:latin typeface="Arial"/>
                          <a:cs typeface="Arial"/>
                        </a:rPr>
                        <a:t>AAU</a:t>
                      </a:r>
                      <a:r>
                        <a:rPr dirty="0" sz="1800" spc="-15">
                          <a:latin typeface="SimSun"/>
                          <a:cs typeface="SimSun"/>
                        </a:rPr>
                        <a:t>可调背架</a:t>
                      </a:r>
                      <a:endParaRPr sz="1800">
                        <a:latin typeface="SimSun"/>
                        <a:cs typeface="SimSun"/>
                      </a:endParaRPr>
                    </a:p>
                  </a:txBody>
                  <a:tcPr marL="0" marR="0" marB="0" marT="40005">
                    <a:lnL w="12700">
                      <a:solidFill>
                        <a:srgbClr val="2D2D8A"/>
                      </a:solidFill>
                      <a:prstDash val="solid"/>
                    </a:lnL>
                    <a:lnR w="12700">
                      <a:solidFill>
                        <a:srgbClr val="2D2D8A"/>
                      </a:solidFill>
                      <a:prstDash val="solid"/>
                    </a:lnR>
                    <a:lnT w="28575">
                      <a:solidFill>
                        <a:srgbClr val="2D2D8A"/>
                      </a:solidFill>
                      <a:prstDash val="solid"/>
                    </a:lnT>
                    <a:lnB w="12700">
                      <a:solidFill>
                        <a:srgbClr val="2D2D8A"/>
                      </a:solidFill>
                      <a:prstDash val="solid"/>
                    </a:lnB>
                    <a:solidFill>
                      <a:srgbClr val="2D2D8A">
                        <a:alpha val="19999"/>
                      </a:srgbClr>
                    </a:solidFill>
                  </a:tcPr>
                </a:tc>
              </a:tr>
            </a:tbl>
          </a:graphicData>
        </a:graphic>
      </p:graphicFrame>
      <p:pic>
        <p:nvPicPr>
          <p:cNvPr id="6" name="object 6"/>
          <p:cNvPicPr/>
          <p:nvPr/>
        </p:nvPicPr>
        <p:blipFill>
          <a:blip r:embed="rId3" cstate="print"/>
          <a:stretch>
            <a:fillRect/>
          </a:stretch>
        </p:blipFill>
        <p:spPr>
          <a:xfrm>
            <a:off x="805612" y="1965641"/>
            <a:ext cx="3505249" cy="2051818"/>
          </a:xfrm>
          <a:prstGeom prst="rect">
            <a:avLst/>
          </a:prstGeom>
        </p:spPr>
      </p:pic>
      <p:pic>
        <p:nvPicPr>
          <p:cNvPr id="7" name="object 7"/>
          <p:cNvPicPr/>
          <p:nvPr/>
        </p:nvPicPr>
        <p:blipFill>
          <a:blip r:embed="rId4" cstate="print"/>
          <a:stretch>
            <a:fillRect/>
          </a:stretch>
        </p:blipFill>
        <p:spPr>
          <a:xfrm>
            <a:off x="5034183" y="1452761"/>
            <a:ext cx="2983362" cy="3116007"/>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p:spPr>
        <p:txBody>
          <a:bodyPr wrap="square" lIns="0" tIns="12065" rIns="0" bIns="0" rtlCol="0" vert="horz">
            <a:spAutoFit/>
          </a:bodyPr>
          <a:lstStyle/>
          <a:p>
            <a:pPr marL="47625">
              <a:lnSpc>
                <a:spcPct val="100000"/>
              </a:lnSpc>
              <a:spcBef>
                <a:spcPts val="95"/>
              </a:spcBef>
            </a:pPr>
            <a:r>
              <a:rPr dirty="0" spc="-30">
                <a:latin typeface="Times New Roman"/>
                <a:cs typeface="Times New Roman"/>
              </a:rPr>
              <a:t>5G</a:t>
            </a:r>
            <a:r>
              <a:rPr dirty="0" spc="-45"/>
              <a:t>设备辅材介绍</a:t>
            </a:r>
          </a:p>
        </p:txBody>
      </p:sp>
      <p:pic>
        <p:nvPicPr>
          <p:cNvPr id="3" name="object 3" descr=""/>
          <p:cNvPicPr/>
          <p:nvPr/>
        </p:nvPicPr>
        <p:blipFill>
          <a:blip r:embed="rId2" cstate="print"/>
          <a:stretch>
            <a:fillRect/>
          </a:stretch>
        </p:blipFill>
        <p:spPr>
          <a:xfrm>
            <a:off x="533400" y="895350"/>
            <a:ext cx="2844330" cy="457200"/>
          </a:xfrm>
          <a:prstGeom prst="rect">
            <a:avLst/>
          </a:prstGeom>
        </p:spPr>
      </p:pic>
      <p:sp>
        <p:nvSpPr>
          <p:cNvPr id="4" name="object 4" descr=""/>
          <p:cNvSpPr txBox="1"/>
          <p:nvPr/>
        </p:nvSpPr>
        <p:spPr>
          <a:xfrm>
            <a:off x="1123920" y="965709"/>
            <a:ext cx="1664335" cy="299720"/>
          </a:xfrm>
          <a:prstGeom prst="rect">
            <a:avLst/>
          </a:prstGeom>
        </p:spPr>
        <p:txBody>
          <a:bodyPr wrap="square" lIns="0" tIns="12700" rIns="0" bIns="0" rtlCol="0" vert="horz">
            <a:spAutoFit/>
          </a:bodyPr>
          <a:lstStyle/>
          <a:p>
            <a:pPr marL="12700">
              <a:lnSpc>
                <a:spcPct val="100000"/>
              </a:lnSpc>
              <a:spcBef>
                <a:spcPts val="100"/>
              </a:spcBef>
            </a:pPr>
            <a:r>
              <a:rPr dirty="0" sz="1800" spc="-10">
                <a:latin typeface="Arial MT"/>
                <a:cs typeface="Arial MT"/>
              </a:rPr>
              <a:t>OCB</a:t>
            </a:r>
            <a:r>
              <a:rPr dirty="0" sz="1800" spc="-10">
                <a:latin typeface="Microsoft YaHei"/>
                <a:cs typeface="Microsoft YaHei"/>
              </a:rPr>
              <a:t>转接盒外观</a:t>
            </a:r>
            <a:endParaRPr sz="1800">
              <a:latin typeface="Microsoft YaHei"/>
              <a:cs typeface="Microsoft YaHei"/>
            </a:endParaRPr>
          </a:p>
        </p:txBody>
      </p:sp>
      <p:grpSp>
        <p:nvGrpSpPr>
          <p:cNvPr id="5" name="object 5" descr=""/>
          <p:cNvGrpSpPr/>
          <p:nvPr/>
        </p:nvGrpSpPr>
        <p:grpSpPr>
          <a:xfrm>
            <a:off x="1547664" y="1347613"/>
            <a:ext cx="5617210" cy="3640454"/>
            <a:chOff x="1547664" y="1347613"/>
            <a:chExt cx="5617210" cy="3640454"/>
          </a:xfrm>
        </p:grpSpPr>
        <p:pic>
          <p:nvPicPr>
            <p:cNvPr id="6" name="object 6"/>
            <p:cNvPicPr/>
            <p:nvPr/>
          </p:nvPicPr>
          <p:blipFill>
            <a:blip r:embed="rId3" cstate="print"/>
            <a:stretch>
              <a:fillRect/>
            </a:stretch>
          </p:blipFill>
          <p:spPr>
            <a:xfrm>
              <a:off x="1547664" y="1347613"/>
              <a:ext cx="4411760" cy="3639917"/>
            </a:xfrm>
            <a:prstGeom prst="rect">
              <a:avLst/>
            </a:prstGeom>
          </p:spPr>
        </p:pic>
        <p:pic>
          <p:nvPicPr>
            <p:cNvPr id="7" name="object 7"/>
            <p:cNvPicPr/>
            <p:nvPr/>
          </p:nvPicPr>
          <p:blipFill>
            <a:blip r:embed="rId4" cstate="print"/>
            <a:stretch>
              <a:fillRect/>
            </a:stretch>
          </p:blipFill>
          <p:spPr>
            <a:xfrm>
              <a:off x="5064040" y="1831862"/>
              <a:ext cx="2100245" cy="2961498"/>
            </a:xfrm>
            <a:prstGeom prst="rect">
              <a:avLst/>
            </a:prstGeom>
          </p:spPr>
        </p:pic>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96799" y="113125"/>
            <a:ext cx="298577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设备辅材介绍</a:t>
            </a:r>
          </a:p>
        </p:txBody>
      </p:sp>
      <p:pic>
        <p:nvPicPr>
          <p:cNvPr id="3" name="object 3" descr=""/>
          <p:cNvPicPr/>
          <p:nvPr/>
        </p:nvPicPr>
        <p:blipFill>
          <a:blip r:embed="rId2" cstate="print"/>
          <a:stretch>
            <a:fillRect/>
          </a:stretch>
        </p:blipFill>
        <p:spPr>
          <a:xfrm>
            <a:off x="533400" y="895350"/>
            <a:ext cx="3420402" cy="530771"/>
          </a:xfrm>
          <a:prstGeom prst="rect">
            <a:avLst/>
          </a:prstGeom>
        </p:spPr>
      </p:pic>
      <p:sp>
        <p:nvSpPr>
          <p:cNvPr id="4" name="object 4" descr=""/>
          <p:cNvSpPr txBox="1"/>
          <p:nvPr/>
        </p:nvSpPr>
        <p:spPr>
          <a:xfrm>
            <a:off x="815052" y="1002493"/>
            <a:ext cx="2857500" cy="299720"/>
          </a:xfrm>
          <a:prstGeom prst="rect">
            <a:avLst/>
          </a:prstGeom>
        </p:spPr>
        <p:txBody>
          <a:bodyPr wrap="square" lIns="0" tIns="12700" rIns="0" bIns="0" rtlCol="0" vert="horz">
            <a:spAutoFit/>
          </a:bodyPr>
          <a:lstStyle/>
          <a:p>
            <a:pPr marL="12700">
              <a:lnSpc>
                <a:spcPct val="100000"/>
              </a:lnSpc>
              <a:spcBef>
                <a:spcPts val="100"/>
              </a:spcBef>
            </a:pPr>
            <a:r>
              <a:rPr dirty="0" sz="1800" spc="-10">
                <a:latin typeface="Arial MT"/>
                <a:cs typeface="Arial MT"/>
              </a:rPr>
              <a:t>GPS/</a:t>
            </a:r>
            <a:r>
              <a:rPr dirty="0" sz="1800" spc="-5">
                <a:latin typeface="Microsoft YaHei"/>
                <a:cs typeface="Microsoft YaHei"/>
              </a:rPr>
              <a:t>北斗天线和避雷器外观</a:t>
            </a:r>
            <a:endParaRPr sz="1800">
              <a:latin typeface="Microsoft YaHei"/>
              <a:cs typeface="Microsoft YaHei"/>
            </a:endParaRPr>
          </a:p>
        </p:txBody>
      </p:sp>
      <p:graphicFrame>
        <p:nvGraphicFramePr>
          <p:cNvPr id="5" name="object 5" descr=""/>
          <p:cNvGraphicFramePr>
            <a:graphicFrameLocks noGrp="1"/>
          </p:cNvGraphicFramePr>
          <p:nvPr/>
        </p:nvGraphicFramePr>
        <p:xfrm>
          <a:off x="495300" y="1598612"/>
          <a:ext cx="8369300" cy="2845435"/>
        </p:xfrm>
        <a:graphic>
          <a:graphicData uri="http://schemas.openxmlformats.org/drawingml/2006/table">
            <a:tbl>
              <a:tblPr firstRow="1" bandRow="1">
                <a:tableStyleId>{2D5ABB26-0587-4C30-8999-92F81FD0307C}</a:tableStyleId>
              </a:tblPr>
              <a:tblGrid>
                <a:gridCol w="4134485"/>
                <a:gridCol w="4145280"/>
              </a:tblGrid>
              <a:tr h="2399030">
                <a:tc>
                  <a:txBody>
                    <a:bodyPr/>
                    <a:lstStyle/>
                    <a:p>
                      <a:pPr>
                        <a:lnSpc>
                          <a:spcPct val="100000"/>
                        </a:lnSpc>
                      </a:pPr>
                      <a:endParaRPr sz="2100">
                        <a:latin typeface="Times New Roman"/>
                        <a:cs typeface="Times New Roman"/>
                      </a:endParaRPr>
                    </a:p>
                  </a:txBody>
                  <a:tcPr marL="0" marR="0" marB="0" marT="0">
                    <a:lnL w="12700">
                      <a:solidFill>
                        <a:srgbClr val="2D2D8A"/>
                      </a:solidFill>
                      <a:prstDash val="solid"/>
                    </a:lnL>
                    <a:lnR w="12700">
                      <a:solidFill>
                        <a:srgbClr val="2D2D8A"/>
                      </a:solidFill>
                      <a:prstDash val="solid"/>
                    </a:lnR>
                    <a:lnT w="12700">
                      <a:solidFill>
                        <a:srgbClr val="2D2D8A"/>
                      </a:solidFill>
                      <a:prstDash val="solid"/>
                    </a:lnT>
                    <a:lnB w="28575">
                      <a:solidFill>
                        <a:srgbClr val="2D2D8A"/>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2D2D8A"/>
                      </a:solidFill>
                      <a:prstDash val="solid"/>
                    </a:lnL>
                    <a:lnR w="12700">
                      <a:solidFill>
                        <a:srgbClr val="2D2D8A"/>
                      </a:solidFill>
                      <a:prstDash val="solid"/>
                    </a:lnR>
                    <a:lnT w="12700">
                      <a:solidFill>
                        <a:srgbClr val="2D2D8A"/>
                      </a:solidFill>
                      <a:prstDash val="solid"/>
                    </a:lnT>
                    <a:lnB w="28575">
                      <a:solidFill>
                        <a:srgbClr val="2D2D8A"/>
                      </a:solidFill>
                      <a:prstDash val="solid"/>
                    </a:lnB>
                  </a:tcPr>
                </a:tc>
              </a:tr>
              <a:tr h="446405">
                <a:tc>
                  <a:txBody>
                    <a:bodyPr/>
                    <a:lstStyle/>
                    <a:p>
                      <a:pPr algn="ctr">
                        <a:lnSpc>
                          <a:spcPct val="100000"/>
                        </a:lnSpc>
                        <a:spcBef>
                          <a:spcPts val="315"/>
                        </a:spcBef>
                      </a:pPr>
                      <a:r>
                        <a:rPr dirty="0" sz="1800" spc="-10" b="1">
                          <a:latin typeface="Times New Roman"/>
                          <a:cs typeface="Times New Roman"/>
                        </a:rPr>
                        <a:t>GPS/</a:t>
                      </a:r>
                      <a:r>
                        <a:rPr dirty="0" sz="1800" spc="-25">
                          <a:latin typeface="SimSun"/>
                          <a:cs typeface="SimSun"/>
                        </a:rPr>
                        <a:t>北斗</a:t>
                      </a:r>
                      <a:endParaRPr sz="1800">
                        <a:latin typeface="SimSun"/>
                        <a:cs typeface="SimSun"/>
                      </a:endParaRPr>
                    </a:p>
                  </a:txBody>
                  <a:tcPr marL="0" marR="0" marB="0" marT="40005">
                    <a:lnL w="12700">
                      <a:solidFill>
                        <a:srgbClr val="2D2D8A"/>
                      </a:solidFill>
                      <a:prstDash val="solid"/>
                    </a:lnL>
                    <a:lnR w="12700">
                      <a:solidFill>
                        <a:srgbClr val="2D2D8A"/>
                      </a:solidFill>
                      <a:prstDash val="solid"/>
                    </a:lnR>
                    <a:lnT w="28575">
                      <a:solidFill>
                        <a:srgbClr val="2D2D8A"/>
                      </a:solidFill>
                      <a:prstDash val="solid"/>
                    </a:lnT>
                    <a:lnB w="12700">
                      <a:solidFill>
                        <a:srgbClr val="2D2D8A"/>
                      </a:solidFill>
                      <a:prstDash val="solid"/>
                    </a:lnB>
                    <a:solidFill>
                      <a:srgbClr val="2D2D8A">
                        <a:alpha val="19999"/>
                      </a:srgbClr>
                    </a:solidFill>
                  </a:tcPr>
                </a:tc>
                <a:tc>
                  <a:txBody>
                    <a:bodyPr/>
                    <a:lstStyle/>
                    <a:p>
                      <a:pPr algn="ctr">
                        <a:lnSpc>
                          <a:spcPct val="100000"/>
                        </a:lnSpc>
                        <a:spcBef>
                          <a:spcPts val="330"/>
                        </a:spcBef>
                      </a:pPr>
                      <a:r>
                        <a:rPr dirty="0" sz="1800" spc="-20">
                          <a:latin typeface="SimSun"/>
                          <a:cs typeface="SimSun"/>
                        </a:rPr>
                        <a:t>避雷器</a:t>
                      </a:r>
                      <a:endParaRPr sz="1800">
                        <a:latin typeface="SimSun"/>
                        <a:cs typeface="SimSun"/>
                      </a:endParaRPr>
                    </a:p>
                  </a:txBody>
                  <a:tcPr marL="0" marR="0" marB="0" marT="41910">
                    <a:lnL w="12700">
                      <a:solidFill>
                        <a:srgbClr val="2D2D8A"/>
                      </a:solidFill>
                      <a:prstDash val="solid"/>
                    </a:lnL>
                    <a:lnR w="12700">
                      <a:solidFill>
                        <a:srgbClr val="2D2D8A"/>
                      </a:solidFill>
                      <a:prstDash val="solid"/>
                    </a:lnR>
                    <a:lnT w="28575">
                      <a:solidFill>
                        <a:srgbClr val="2D2D8A"/>
                      </a:solidFill>
                      <a:prstDash val="solid"/>
                    </a:lnT>
                    <a:lnB w="12700">
                      <a:solidFill>
                        <a:srgbClr val="2D2D8A"/>
                      </a:solidFill>
                      <a:prstDash val="solid"/>
                    </a:lnB>
                    <a:solidFill>
                      <a:srgbClr val="2D2D8A">
                        <a:alpha val="19999"/>
                      </a:srgbClr>
                    </a:solidFill>
                  </a:tcPr>
                </a:tc>
              </a:tr>
            </a:tbl>
          </a:graphicData>
        </a:graphic>
      </p:graphicFrame>
      <p:grpSp>
        <p:nvGrpSpPr>
          <p:cNvPr id="6" name="object 6" descr=""/>
          <p:cNvGrpSpPr/>
          <p:nvPr/>
        </p:nvGrpSpPr>
        <p:grpSpPr>
          <a:xfrm>
            <a:off x="5580062" y="1687513"/>
            <a:ext cx="2701925" cy="2222500"/>
            <a:chOff x="5580062" y="1687513"/>
            <a:chExt cx="2701925" cy="2222500"/>
          </a:xfrm>
        </p:grpSpPr>
        <p:pic>
          <p:nvPicPr>
            <p:cNvPr id="7" name="object 7"/>
            <p:cNvPicPr/>
            <p:nvPr/>
          </p:nvPicPr>
          <p:blipFill>
            <a:blip r:embed="rId3" cstate="print"/>
            <a:stretch>
              <a:fillRect/>
            </a:stretch>
          </p:blipFill>
          <p:spPr>
            <a:xfrm>
              <a:off x="5842330" y="1687513"/>
              <a:ext cx="2179275" cy="1027741"/>
            </a:xfrm>
            <a:prstGeom prst="rect">
              <a:avLst/>
            </a:prstGeom>
          </p:spPr>
        </p:pic>
        <p:pic>
          <p:nvPicPr>
            <p:cNvPr id="8" name="object 8"/>
            <p:cNvPicPr/>
            <p:nvPr/>
          </p:nvPicPr>
          <p:blipFill>
            <a:blip r:embed="rId4" cstate="print"/>
            <a:stretch>
              <a:fillRect/>
            </a:stretch>
          </p:blipFill>
          <p:spPr>
            <a:xfrm>
              <a:off x="5580062" y="2565400"/>
              <a:ext cx="2701924" cy="1344612"/>
            </a:xfrm>
            <a:prstGeom prst="rect">
              <a:avLst/>
            </a:prstGeom>
          </p:spPr>
        </p:pic>
      </p:grpSp>
      <p:pic>
        <p:nvPicPr>
          <p:cNvPr id="9" name="object 9"/>
          <p:cNvPicPr/>
          <p:nvPr/>
        </p:nvPicPr>
        <p:blipFill>
          <a:blip r:embed="rId5" cstate="print"/>
          <a:stretch>
            <a:fillRect/>
          </a:stretch>
        </p:blipFill>
        <p:spPr>
          <a:xfrm>
            <a:off x="2940543" y="1711052"/>
            <a:ext cx="1245693" cy="1938610"/>
          </a:xfrm>
          <a:prstGeom prst="rect">
            <a:avLst/>
          </a:prstGeom>
        </p:spPr>
      </p:pic>
      <p:pic>
        <p:nvPicPr>
          <p:cNvPr id="10" name="object 10"/>
          <p:cNvPicPr/>
          <p:nvPr/>
        </p:nvPicPr>
        <p:blipFill>
          <a:blip r:embed="rId6" cstate="print"/>
          <a:stretch>
            <a:fillRect/>
          </a:stretch>
        </p:blipFill>
        <p:spPr>
          <a:xfrm>
            <a:off x="1210069" y="1691667"/>
            <a:ext cx="679055" cy="2205882"/>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1071" y="158369"/>
            <a:ext cx="4745990" cy="513080"/>
          </a:xfrm>
          <a:prstGeom prst="rect"/>
        </p:spPr>
        <p:txBody>
          <a:bodyPr wrap="square" lIns="0" tIns="12065" rIns="0" bIns="0" rtlCol="0" vert="horz">
            <a:spAutoFit/>
          </a:bodyPr>
          <a:lstStyle/>
          <a:p>
            <a:pPr marL="12700">
              <a:lnSpc>
                <a:spcPct val="100000"/>
              </a:lnSpc>
              <a:spcBef>
                <a:spcPts val="95"/>
              </a:spcBef>
            </a:pPr>
            <a:r>
              <a:rPr dirty="0" spc="-10">
                <a:latin typeface="Times New Roman"/>
                <a:cs typeface="Times New Roman"/>
              </a:rPr>
              <a:t>GPS/BD</a:t>
            </a:r>
            <a:r>
              <a:rPr dirty="0" spc="-45"/>
              <a:t>系统安装工程规范</a:t>
            </a:r>
          </a:p>
        </p:txBody>
      </p:sp>
      <p:sp>
        <p:nvSpPr>
          <p:cNvPr id="3" name="object 3" descr=""/>
          <p:cNvSpPr txBox="1"/>
          <p:nvPr/>
        </p:nvSpPr>
        <p:spPr>
          <a:xfrm>
            <a:off x="78739" y="3109169"/>
            <a:ext cx="8359775" cy="1812289"/>
          </a:xfrm>
          <a:prstGeom prst="rect">
            <a:avLst/>
          </a:prstGeom>
        </p:spPr>
        <p:txBody>
          <a:bodyPr wrap="square" lIns="0" tIns="12700" rIns="0" bIns="0" rtlCol="0" vert="horz">
            <a:spAutoFit/>
          </a:bodyPr>
          <a:lstStyle/>
          <a:p>
            <a:pPr marL="428625">
              <a:lnSpc>
                <a:spcPct val="100000"/>
              </a:lnSpc>
              <a:spcBef>
                <a:spcPts val="100"/>
              </a:spcBef>
            </a:pPr>
            <a:r>
              <a:rPr dirty="0" sz="1800" spc="-15" b="1">
                <a:solidFill>
                  <a:srgbClr val="0950A0"/>
                </a:solidFill>
                <a:latin typeface="Microsoft YaHei"/>
                <a:cs typeface="Microsoft YaHei"/>
              </a:rPr>
              <a:t>安装要求</a:t>
            </a:r>
            <a:endParaRPr sz="1800">
              <a:latin typeface="Microsoft YaHei"/>
              <a:cs typeface="Microsoft YaHei"/>
            </a:endParaRPr>
          </a:p>
          <a:p>
            <a:pPr marL="297815" indent="-285115">
              <a:lnSpc>
                <a:spcPct val="100000"/>
              </a:lnSpc>
              <a:spcBef>
                <a:spcPts val="985"/>
              </a:spcBef>
              <a:buFont typeface="Wingdings"/>
              <a:buChar char=""/>
              <a:tabLst>
                <a:tab pos="297815" algn="l"/>
              </a:tabLst>
            </a:pPr>
            <a:r>
              <a:rPr dirty="0" sz="1300" spc="-10">
                <a:latin typeface="Microsoft YaHei"/>
                <a:cs typeface="Microsoft YaHei"/>
              </a:rPr>
              <a:t>GPS/BD天线应安装在较开阔的位置上，保证周围没有高大的遮挡物，天线竖直向上的视角大于</a:t>
            </a:r>
            <a:r>
              <a:rPr dirty="0" sz="1300">
                <a:latin typeface="Microsoft YaHei"/>
                <a:cs typeface="Microsoft YaHei"/>
              </a:rPr>
              <a:t>120º</a:t>
            </a:r>
            <a:r>
              <a:rPr dirty="0" sz="1300" spc="-30">
                <a:latin typeface="Microsoft YaHei"/>
                <a:cs typeface="Microsoft YaHei"/>
              </a:rPr>
              <a:t> ；</a:t>
            </a:r>
            <a:endParaRPr sz="1300">
              <a:latin typeface="Microsoft YaHei"/>
              <a:cs typeface="Microsoft YaHei"/>
            </a:endParaRPr>
          </a:p>
          <a:p>
            <a:pPr marL="297815" indent="-285115">
              <a:lnSpc>
                <a:spcPct val="100000"/>
              </a:lnSpc>
              <a:spcBef>
                <a:spcPts val="780"/>
              </a:spcBef>
              <a:buFont typeface="Wingdings"/>
              <a:buChar char=""/>
              <a:tabLst>
                <a:tab pos="297815" algn="l"/>
              </a:tabLst>
            </a:pPr>
            <a:r>
              <a:rPr dirty="0" sz="1300" spc="-10">
                <a:latin typeface="Microsoft YaHei"/>
                <a:cs typeface="Microsoft YaHei"/>
              </a:rPr>
              <a:t>GPS\BD</a:t>
            </a:r>
            <a:r>
              <a:rPr dirty="0" sz="1300" spc="-15">
                <a:latin typeface="Microsoft YaHei"/>
                <a:cs typeface="Microsoft YaHei"/>
              </a:rPr>
              <a:t>天线宜远离其他发射或接收设备，不要安装在微波天线、高压线下方，避免发射天线的辐射方向对准；</a:t>
            </a:r>
            <a:endParaRPr sz="1300">
              <a:latin typeface="Microsoft YaHei"/>
              <a:cs typeface="Microsoft YaHei"/>
            </a:endParaRPr>
          </a:p>
          <a:p>
            <a:pPr marL="297815" indent="-285115">
              <a:lnSpc>
                <a:spcPct val="100000"/>
              </a:lnSpc>
              <a:spcBef>
                <a:spcPts val="780"/>
              </a:spcBef>
              <a:buFont typeface="Wingdings"/>
              <a:buChar char=""/>
              <a:tabLst>
                <a:tab pos="297815" algn="l"/>
              </a:tabLst>
            </a:pPr>
            <a:r>
              <a:rPr dirty="0" sz="1300" spc="-10">
                <a:latin typeface="Microsoft YaHei"/>
                <a:cs typeface="Microsoft YaHei"/>
              </a:rPr>
              <a:t>馈线铺设完成后应单独测试馈线通道的驻波比和插损。驻波比不应大于</a:t>
            </a:r>
            <a:r>
              <a:rPr dirty="0" sz="1300" spc="-20">
                <a:latin typeface="Microsoft YaHei"/>
                <a:cs typeface="Microsoft YaHei"/>
              </a:rPr>
              <a:t>1.3；</a:t>
            </a:r>
            <a:endParaRPr sz="1300">
              <a:latin typeface="Microsoft YaHei"/>
              <a:cs typeface="Microsoft YaHei"/>
            </a:endParaRPr>
          </a:p>
          <a:p>
            <a:pPr marL="297815" indent="-285115">
              <a:lnSpc>
                <a:spcPct val="100000"/>
              </a:lnSpc>
              <a:spcBef>
                <a:spcPts val="780"/>
              </a:spcBef>
              <a:buFont typeface="Wingdings"/>
              <a:buChar char=""/>
              <a:tabLst>
                <a:tab pos="297815" algn="l"/>
              </a:tabLst>
            </a:pPr>
            <a:r>
              <a:rPr dirty="0" sz="1300">
                <a:latin typeface="Microsoft YaHei"/>
                <a:cs typeface="Microsoft YaHei"/>
              </a:rPr>
              <a:t>一定要在避雷针的</a:t>
            </a:r>
            <a:r>
              <a:rPr dirty="0" sz="1300" spc="-10">
                <a:latin typeface="Microsoft YaHei"/>
                <a:cs typeface="Microsoft YaHei"/>
              </a:rPr>
              <a:t>45</a:t>
            </a:r>
            <a:r>
              <a:rPr dirty="0" sz="1300" spc="-20">
                <a:latin typeface="Microsoft YaHei"/>
                <a:cs typeface="Microsoft YaHei"/>
              </a:rPr>
              <a:t>度防雷保护范围内 ；</a:t>
            </a:r>
            <a:endParaRPr sz="1300">
              <a:latin typeface="Microsoft YaHei"/>
              <a:cs typeface="Microsoft YaHei"/>
            </a:endParaRPr>
          </a:p>
          <a:p>
            <a:pPr marL="297815" indent="-285115">
              <a:lnSpc>
                <a:spcPct val="100000"/>
              </a:lnSpc>
              <a:spcBef>
                <a:spcPts val="780"/>
              </a:spcBef>
              <a:buFont typeface="Wingdings"/>
              <a:buChar char=""/>
              <a:tabLst>
                <a:tab pos="297815" algn="l"/>
              </a:tabLst>
            </a:pPr>
            <a:r>
              <a:rPr dirty="0" sz="1300" spc="-15">
                <a:latin typeface="Microsoft YaHei"/>
                <a:cs typeface="Microsoft YaHei"/>
              </a:rPr>
              <a:t>馈线进入馈线窗前需要做回水弯 ；</a:t>
            </a:r>
            <a:endParaRPr sz="1300">
              <a:latin typeface="Microsoft YaHei"/>
              <a:cs typeface="Microsoft YaHei"/>
            </a:endParaRPr>
          </a:p>
        </p:txBody>
      </p:sp>
      <p:pic>
        <p:nvPicPr>
          <p:cNvPr id="4" name="object 4"/>
          <p:cNvPicPr/>
          <p:nvPr/>
        </p:nvPicPr>
        <p:blipFill>
          <a:blip r:embed="rId2" cstate="print"/>
          <a:stretch>
            <a:fillRect/>
          </a:stretch>
        </p:blipFill>
        <p:spPr>
          <a:xfrm>
            <a:off x="291520" y="1303840"/>
            <a:ext cx="4582278" cy="1667362"/>
          </a:xfrm>
          <a:prstGeom prst="rect">
            <a:avLst/>
          </a:prstGeom>
        </p:spPr>
      </p:pic>
      <p:pic>
        <p:nvPicPr>
          <p:cNvPr id="5" name="object 5"/>
          <p:cNvPicPr/>
          <p:nvPr/>
        </p:nvPicPr>
        <p:blipFill>
          <a:blip r:embed="rId3" cstate="print"/>
          <a:stretch>
            <a:fillRect/>
          </a:stretch>
        </p:blipFill>
        <p:spPr>
          <a:xfrm>
            <a:off x="4953000" y="819150"/>
            <a:ext cx="3544963" cy="2440089"/>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801714" y="126954"/>
            <a:ext cx="3877310" cy="513080"/>
          </a:xfrm>
          <a:prstGeom prst="rect">
            <a:avLst/>
          </a:prstGeom>
        </p:spPr>
        <p:txBody>
          <a:bodyPr wrap="square" lIns="0" tIns="12065" rIns="0" bIns="0" rtlCol="0" vert="horz">
            <a:spAutoFit/>
          </a:bodyPr>
          <a:lstStyle/>
          <a:p>
            <a:pPr marL="12700">
              <a:lnSpc>
                <a:spcPct val="100000"/>
              </a:lnSpc>
              <a:spcBef>
                <a:spcPts val="95"/>
              </a:spcBef>
            </a:pPr>
            <a:r>
              <a:rPr dirty="0" sz="3200" b="1">
                <a:solidFill>
                  <a:srgbClr val="FFFFFF"/>
                </a:solidFill>
                <a:latin typeface="Times New Roman"/>
                <a:cs typeface="Times New Roman"/>
              </a:rPr>
              <a:t>5G</a:t>
            </a:r>
            <a:r>
              <a:rPr dirty="0" sz="3200" spc="10" b="1">
                <a:solidFill>
                  <a:srgbClr val="FFFFFF"/>
                </a:solidFill>
                <a:latin typeface="Times New Roman"/>
                <a:cs typeface="Times New Roman"/>
              </a:rPr>
              <a:t> </a:t>
            </a:r>
            <a:r>
              <a:rPr dirty="0" sz="3200" spc="-10" b="1">
                <a:solidFill>
                  <a:srgbClr val="FFFFFF"/>
                </a:solidFill>
                <a:latin typeface="Times New Roman"/>
                <a:cs typeface="Times New Roman"/>
              </a:rPr>
              <a:t>GPS</a:t>
            </a:r>
            <a:r>
              <a:rPr dirty="0" sz="3200" spc="-45" b="1">
                <a:solidFill>
                  <a:srgbClr val="FFFFFF"/>
                </a:solidFill>
                <a:latin typeface="Microsoft JhengHei"/>
                <a:cs typeface="Microsoft JhengHei"/>
              </a:rPr>
              <a:t>安装工程规范</a:t>
            </a:r>
            <a:endParaRPr sz="3200">
              <a:latin typeface="Microsoft JhengHei"/>
              <a:cs typeface="Microsoft JhengHei"/>
            </a:endParaRPr>
          </a:p>
        </p:txBody>
      </p:sp>
      <p:pic>
        <p:nvPicPr>
          <p:cNvPr id="3" name="object 3"/>
          <p:cNvPicPr/>
          <p:nvPr/>
        </p:nvPicPr>
        <p:blipFill>
          <a:blip r:embed="rId2" cstate="print"/>
          <a:stretch>
            <a:fillRect/>
          </a:stretch>
        </p:blipFill>
        <p:spPr>
          <a:xfrm>
            <a:off x="189383" y="805853"/>
            <a:ext cx="1480408" cy="1406829"/>
          </a:xfrm>
          <a:prstGeom prst="rect">
            <a:avLst/>
          </a:prstGeom>
        </p:spPr>
      </p:pic>
      <p:sp>
        <p:nvSpPr>
          <p:cNvPr id="4" name="object 4" descr=""/>
          <p:cNvSpPr txBox="1"/>
          <p:nvPr/>
        </p:nvSpPr>
        <p:spPr>
          <a:xfrm>
            <a:off x="278792" y="880752"/>
            <a:ext cx="1311910" cy="1211580"/>
          </a:xfrm>
          <a:prstGeom prst="rect">
            <a:avLst/>
          </a:prstGeom>
        </p:spPr>
        <p:txBody>
          <a:bodyPr wrap="square" lIns="0" tIns="12700" rIns="0" bIns="0" rtlCol="0" vert="horz">
            <a:spAutoFit/>
          </a:bodyPr>
          <a:lstStyle/>
          <a:p>
            <a:pPr marL="12700">
              <a:lnSpc>
                <a:spcPct val="100000"/>
              </a:lnSpc>
              <a:spcBef>
                <a:spcPts val="100"/>
              </a:spcBef>
            </a:pPr>
            <a:r>
              <a:rPr dirty="0" sz="1000" spc="-20">
                <a:latin typeface="Microsoft YaHei"/>
                <a:cs typeface="Microsoft YaHei"/>
              </a:rPr>
              <a:t>蘑菇头</a:t>
            </a:r>
            <a:endParaRPr sz="1000">
              <a:latin typeface="Microsoft YaHei"/>
              <a:cs typeface="Microsoft YaHei"/>
            </a:endParaRPr>
          </a:p>
          <a:p>
            <a:pPr>
              <a:lnSpc>
                <a:spcPct val="100000"/>
              </a:lnSpc>
              <a:spcBef>
                <a:spcPts val="1155"/>
              </a:spcBef>
            </a:pPr>
            <a:endParaRPr sz="1000">
              <a:latin typeface="Microsoft YaHei"/>
              <a:cs typeface="Microsoft YaHei"/>
            </a:endParaRPr>
          </a:p>
          <a:p>
            <a:pPr algn="r" marR="5080">
              <a:lnSpc>
                <a:spcPct val="100000"/>
              </a:lnSpc>
            </a:pPr>
            <a:r>
              <a:rPr dirty="0" sz="1000" spc="-25">
                <a:latin typeface="Microsoft YaHei"/>
                <a:cs typeface="Microsoft YaHei"/>
              </a:rPr>
              <a:t>夹具</a:t>
            </a:r>
            <a:endParaRPr sz="1000">
              <a:latin typeface="Microsoft YaHei"/>
              <a:cs typeface="Microsoft YaHei"/>
            </a:endParaRPr>
          </a:p>
          <a:p>
            <a:pPr>
              <a:lnSpc>
                <a:spcPct val="100000"/>
              </a:lnSpc>
              <a:spcBef>
                <a:spcPts val="890"/>
              </a:spcBef>
            </a:pPr>
            <a:endParaRPr sz="1000">
              <a:latin typeface="Microsoft YaHei"/>
              <a:cs typeface="Microsoft YaHei"/>
            </a:endParaRPr>
          </a:p>
          <a:p>
            <a:pPr marL="386715">
              <a:lnSpc>
                <a:spcPct val="100000"/>
              </a:lnSpc>
            </a:pPr>
            <a:r>
              <a:rPr dirty="0" sz="1000" spc="-25">
                <a:latin typeface="Microsoft YaHei"/>
                <a:cs typeface="Microsoft YaHei"/>
              </a:rPr>
              <a:t>抱杆</a:t>
            </a:r>
            <a:endParaRPr sz="1000">
              <a:latin typeface="Microsoft YaHei"/>
              <a:cs typeface="Microsoft YaHei"/>
            </a:endParaRPr>
          </a:p>
        </p:txBody>
      </p:sp>
      <p:pic>
        <p:nvPicPr>
          <p:cNvPr id="5" name="object 5"/>
          <p:cNvPicPr/>
          <p:nvPr/>
        </p:nvPicPr>
        <p:blipFill>
          <a:blip r:embed="rId3" cstate="print"/>
          <a:stretch>
            <a:fillRect/>
          </a:stretch>
        </p:blipFill>
        <p:spPr>
          <a:xfrm>
            <a:off x="165461" y="2529461"/>
            <a:ext cx="1509977" cy="685998"/>
          </a:xfrm>
          <a:prstGeom prst="rect">
            <a:avLst/>
          </a:prstGeom>
        </p:spPr>
      </p:pic>
      <p:sp>
        <p:nvSpPr>
          <p:cNvPr id="6" name="object 6" descr=""/>
          <p:cNvSpPr txBox="1"/>
          <p:nvPr/>
        </p:nvSpPr>
        <p:spPr>
          <a:xfrm>
            <a:off x="620919" y="3174677"/>
            <a:ext cx="652780" cy="178435"/>
          </a:xfrm>
          <a:prstGeom prst="rect">
            <a:avLst/>
          </a:prstGeom>
        </p:spPr>
        <p:txBody>
          <a:bodyPr wrap="square" lIns="0" tIns="12700" rIns="0" bIns="0" rtlCol="0" vert="horz">
            <a:spAutoFit/>
          </a:bodyPr>
          <a:lstStyle/>
          <a:p>
            <a:pPr marL="12700">
              <a:lnSpc>
                <a:spcPct val="100000"/>
              </a:lnSpc>
              <a:spcBef>
                <a:spcPts val="100"/>
              </a:spcBef>
            </a:pPr>
            <a:r>
              <a:rPr dirty="0" sz="1000" spc="-10">
                <a:latin typeface="Microsoft YaHei"/>
                <a:cs typeface="Microsoft YaHei"/>
              </a:rPr>
              <a:t>GPS</a:t>
            </a:r>
            <a:r>
              <a:rPr dirty="0" sz="1000" spc="-20">
                <a:latin typeface="Microsoft YaHei"/>
                <a:cs typeface="Microsoft YaHei"/>
              </a:rPr>
              <a:t>避雷器</a:t>
            </a:r>
            <a:endParaRPr sz="1000">
              <a:latin typeface="Microsoft YaHei"/>
              <a:cs typeface="Microsoft YaHei"/>
            </a:endParaRPr>
          </a:p>
        </p:txBody>
      </p:sp>
      <p:pic>
        <p:nvPicPr>
          <p:cNvPr id="7" name="object 7"/>
          <p:cNvPicPr/>
          <p:nvPr/>
        </p:nvPicPr>
        <p:blipFill>
          <a:blip r:embed="rId4" cstate="print"/>
          <a:stretch>
            <a:fillRect/>
          </a:stretch>
        </p:blipFill>
        <p:spPr>
          <a:xfrm>
            <a:off x="345723" y="3510274"/>
            <a:ext cx="1129916" cy="1293742"/>
          </a:xfrm>
          <a:prstGeom prst="rect">
            <a:avLst/>
          </a:prstGeom>
        </p:spPr>
      </p:pic>
      <p:sp>
        <p:nvSpPr>
          <p:cNvPr id="8" name="object 8" descr=""/>
          <p:cNvSpPr txBox="1"/>
          <p:nvPr/>
        </p:nvSpPr>
        <p:spPr>
          <a:xfrm>
            <a:off x="597849" y="4697182"/>
            <a:ext cx="652780" cy="178435"/>
          </a:xfrm>
          <a:prstGeom prst="rect">
            <a:avLst/>
          </a:prstGeom>
        </p:spPr>
        <p:txBody>
          <a:bodyPr wrap="square" lIns="0" tIns="12700" rIns="0" bIns="0" rtlCol="0" vert="horz">
            <a:spAutoFit/>
          </a:bodyPr>
          <a:lstStyle/>
          <a:p>
            <a:pPr marL="12700">
              <a:lnSpc>
                <a:spcPct val="100000"/>
              </a:lnSpc>
              <a:spcBef>
                <a:spcPts val="100"/>
              </a:spcBef>
            </a:pPr>
            <a:r>
              <a:rPr dirty="0" sz="1000" spc="-10">
                <a:latin typeface="Microsoft YaHei"/>
                <a:cs typeface="Microsoft YaHei"/>
              </a:rPr>
              <a:t>GPS</a:t>
            </a:r>
            <a:r>
              <a:rPr dirty="0" sz="1000" spc="-20">
                <a:latin typeface="Microsoft YaHei"/>
                <a:cs typeface="Microsoft YaHei"/>
              </a:rPr>
              <a:t>放大器</a:t>
            </a:r>
            <a:endParaRPr sz="1000">
              <a:latin typeface="Microsoft YaHei"/>
              <a:cs typeface="Microsoft YaHei"/>
            </a:endParaRPr>
          </a:p>
        </p:txBody>
      </p:sp>
      <p:sp>
        <p:nvSpPr>
          <p:cNvPr id="9" name="object 9" descr=""/>
          <p:cNvSpPr/>
          <p:nvPr/>
        </p:nvSpPr>
        <p:spPr>
          <a:xfrm>
            <a:off x="1989584" y="794438"/>
            <a:ext cx="0" cy="4010025"/>
          </a:xfrm>
          <a:custGeom>
            <a:avLst/>
            <a:gdLst/>
            <a:ahLst/>
            <a:cxnLst/>
            <a:rect l="l" t="t" r="r" b="b"/>
            <a:pathLst>
              <a:path w="0" h="4010025">
                <a:moveTo>
                  <a:pt x="0" y="0"/>
                </a:moveTo>
                <a:lnTo>
                  <a:pt x="0" y="4009580"/>
                </a:lnTo>
              </a:path>
            </a:pathLst>
          </a:custGeom>
          <a:ln w="12700">
            <a:solidFill>
              <a:srgbClr val="B6DCDF"/>
            </a:solidFill>
            <a:prstDash val="sysDash"/>
          </a:ln>
        </p:spPr>
        <p:txBody>
          <a:bodyPr wrap="square" lIns="0" tIns="0" rIns="0" bIns="0" rtlCol="0"/>
          <a:lstStyle/>
          <a:p/>
        </p:txBody>
      </p:sp>
      <p:grpSp>
        <p:nvGrpSpPr>
          <p:cNvPr id="10" name="object 10" descr=""/>
          <p:cNvGrpSpPr/>
          <p:nvPr/>
        </p:nvGrpSpPr>
        <p:grpSpPr>
          <a:xfrm>
            <a:off x="2133600" y="794437"/>
            <a:ext cx="6610350" cy="3884929"/>
            <a:chOff x="2133600" y="794437"/>
            <a:chExt cx="6610350" cy="3884929"/>
          </a:xfrm>
        </p:grpSpPr>
        <p:pic>
          <p:nvPicPr>
            <p:cNvPr id="11" name="object 11"/>
            <p:cNvPicPr/>
            <p:nvPr/>
          </p:nvPicPr>
          <p:blipFill>
            <a:blip r:embed="rId5" cstate="print"/>
            <a:stretch>
              <a:fillRect/>
            </a:stretch>
          </p:blipFill>
          <p:spPr>
            <a:xfrm>
              <a:off x="2380118" y="2712252"/>
              <a:ext cx="6363835" cy="1967036"/>
            </a:xfrm>
            <a:prstGeom prst="rect">
              <a:avLst/>
            </a:prstGeom>
          </p:spPr>
        </p:pic>
        <p:pic>
          <p:nvPicPr>
            <p:cNvPr id="12" name="object 12"/>
            <p:cNvPicPr/>
            <p:nvPr/>
          </p:nvPicPr>
          <p:blipFill>
            <a:blip r:embed="rId6" cstate="print"/>
            <a:stretch>
              <a:fillRect/>
            </a:stretch>
          </p:blipFill>
          <p:spPr>
            <a:xfrm>
              <a:off x="5226599" y="805853"/>
              <a:ext cx="3484502" cy="2380315"/>
            </a:xfrm>
            <a:prstGeom prst="rect">
              <a:avLst/>
            </a:prstGeom>
          </p:spPr>
        </p:pic>
        <p:pic>
          <p:nvPicPr>
            <p:cNvPr id="13" name="object 13"/>
            <p:cNvPicPr/>
            <p:nvPr/>
          </p:nvPicPr>
          <p:blipFill>
            <a:blip r:embed="rId7" cstate="print"/>
            <a:stretch>
              <a:fillRect/>
            </a:stretch>
          </p:blipFill>
          <p:spPr>
            <a:xfrm>
              <a:off x="2133600" y="794437"/>
              <a:ext cx="3271469" cy="1603179"/>
            </a:xfrm>
            <a:prstGeom prst="rect">
              <a:avLst/>
            </a:prstGeom>
          </p:spPr>
        </p:pic>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48121" y="113125"/>
            <a:ext cx="4069079" cy="513080"/>
          </a:xfrm>
          <a:prstGeom prst="rect"/>
        </p:spPr>
        <p:txBody>
          <a:bodyPr wrap="square" lIns="0" tIns="12065" rIns="0" bIns="0" rtlCol="0" vert="horz">
            <a:spAutoFit/>
          </a:bodyPr>
          <a:lstStyle/>
          <a:p>
            <a:pPr marL="12700">
              <a:lnSpc>
                <a:spcPct val="100000"/>
              </a:lnSpc>
              <a:spcBef>
                <a:spcPts val="95"/>
              </a:spcBef>
            </a:pPr>
            <a:r>
              <a:rPr dirty="0" spc="-10">
                <a:latin typeface="Times New Roman"/>
                <a:cs typeface="Times New Roman"/>
              </a:rPr>
              <a:t>GPS</a:t>
            </a:r>
            <a:r>
              <a:rPr dirty="0" spc="-45"/>
              <a:t>系统安装工程规范</a:t>
            </a:r>
          </a:p>
        </p:txBody>
      </p:sp>
      <p:pic>
        <p:nvPicPr>
          <p:cNvPr id="3" name="object 3" descr=""/>
          <p:cNvPicPr/>
          <p:nvPr/>
        </p:nvPicPr>
        <p:blipFill>
          <a:blip r:embed="rId2" cstate="print"/>
          <a:stretch>
            <a:fillRect/>
          </a:stretch>
        </p:blipFill>
        <p:spPr>
          <a:xfrm>
            <a:off x="609600" y="819150"/>
            <a:ext cx="2283523" cy="530771"/>
          </a:xfrm>
          <a:prstGeom prst="rect">
            <a:avLst/>
          </a:prstGeom>
        </p:spPr>
      </p:pic>
      <p:sp>
        <p:nvSpPr>
          <p:cNvPr id="4" name="object 4" descr=""/>
          <p:cNvSpPr txBox="1"/>
          <p:nvPr/>
        </p:nvSpPr>
        <p:spPr>
          <a:xfrm>
            <a:off x="811893" y="926293"/>
            <a:ext cx="1879600" cy="299720"/>
          </a:xfrm>
          <a:prstGeom prst="rect">
            <a:avLst/>
          </a:prstGeom>
        </p:spPr>
        <p:txBody>
          <a:bodyPr wrap="square" lIns="0" tIns="12700" rIns="0" bIns="0" rtlCol="0" vert="horz">
            <a:spAutoFit/>
          </a:bodyPr>
          <a:lstStyle/>
          <a:p>
            <a:pPr marL="12700">
              <a:lnSpc>
                <a:spcPct val="100000"/>
              </a:lnSpc>
              <a:spcBef>
                <a:spcPts val="100"/>
              </a:spcBef>
            </a:pPr>
            <a:r>
              <a:rPr dirty="0" sz="1800" spc="-10">
                <a:latin typeface="Arial MT"/>
                <a:cs typeface="Arial MT"/>
              </a:rPr>
              <a:t>GPS</a:t>
            </a:r>
            <a:r>
              <a:rPr dirty="0" sz="1800" spc="-10">
                <a:latin typeface="Microsoft YaHei"/>
                <a:cs typeface="Microsoft YaHei"/>
              </a:rPr>
              <a:t>系统安装规范</a:t>
            </a:r>
            <a:endParaRPr sz="1800">
              <a:latin typeface="Microsoft YaHei"/>
              <a:cs typeface="Microsoft YaHei"/>
            </a:endParaRPr>
          </a:p>
        </p:txBody>
      </p:sp>
      <p:grpSp>
        <p:nvGrpSpPr>
          <p:cNvPr id="5" name="object 5" descr=""/>
          <p:cNvGrpSpPr/>
          <p:nvPr/>
        </p:nvGrpSpPr>
        <p:grpSpPr>
          <a:xfrm>
            <a:off x="795911" y="1188106"/>
            <a:ext cx="4631690" cy="3531235"/>
            <a:chOff x="795911" y="1188106"/>
            <a:chExt cx="4631690" cy="3531235"/>
          </a:xfrm>
        </p:grpSpPr>
        <p:pic>
          <p:nvPicPr>
            <p:cNvPr id="6" name="object 6"/>
            <p:cNvPicPr/>
            <p:nvPr/>
          </p:nvPicPr>
          <p:blipFill>
            <a:blip r:embed="rId3" cstate="print"/>
            <a:stretch>
              <a:fillRect/>
            </a:stretch>
          </p:blipFill>
          <p:spPr>
            <a:xfrm>
              <a:off x="795911" y="1543540"/>
              <a:ext cx="4127079" cy="3175182"/>
            </a:xfrm>
            <a:prstGeom prst="rect">
              <a:avLst/>
            </a:prstGeom>
          </p:spPr>
        </p:pic>
        <p:sp>
          <p:nvSpPr>
            <p:cNvPr id="7" name="object 7" descr=""/>
            <p:cNvSpPr/>
            <p:nvPr/>
          </p:nvSpPr>
          <p:spPr>
            <a:xfrm>
              <a:off x="5381891" y="3887727"/>
              <a:ext cx="0" cy="788035"/>
            </a:xfrm>
            <a:custGeom>
              <a:avLst/>
              <a:gdLst/>
              <a:ahLst/>
              <a:cxnLst/>
              <a:rect l="l" t="t" r="r" b="b"/>
              <a:pathLst>
                <a:path w="0" h="788035">
                  <a:moveTo>
                    <a:pt x="0" y="0"/>
                  </a:moveTo>
                  <a:lnTo>
                    <a:pt x="0" y="787527"/>
                  </a:lnTo>
                </a:path>
              </a:pathLst>
            </a:custGeom>
            <a:ln w="25400">
              <a:solidFill>
                <a:srgbClr val="B6DCDF"/>
              </a:solidFill>
            </a:ln>
          </p:spPr>
          <p:txBody>
            <a:bodyPr wrap="square" lIns="0" tIns="0" rIns="0" bIns="0" rtlCol="0"/>
            <a:lstStyle/>
            <a:p/>
          </p:txBody>
        </p:sp>
        <p:sp>
          <p:nvSpPr>
            <p:cNvPr id="8" name="object 8" descr=""/>
            <p:cNvSpPr/>
            <p:nvPr/>
          </p:nvSpPr>
          <p:spPr>
            <a:xfrm>
              <a:off x="2165946" y="3520580"/>
              <a:ext cx="3216275" cy="442595"/>
            </a:xfrm>
            <a:custGeom>
              <a:avLst/>
              <a:gdLst/>
              <a:ahLst/>
              <a:cxnLst/>
              <a:rect l="l" t="t" r="r" b="b"/>
              <a:pathLst>
                <a:path w="3216275" h="442595">
                  <a:moveTo>
                    <a:pt x="3215944" y="442544"/>
                  </a:moveTo>
                  <a:lnTo>
                    <a:pt x="0" y="0"/>
                  </a:lnTo>
                </a:path>
              </a:pathLst>
            </a:custGeom>
            <a:ln w="25400">
              <a:solidFill>
                <a:srgbClr val="B6DCDF"/>
              </a:solidFill>
            </a:ln>
          </p:spPr>
          <p:txBody>
            <a:bodyPr wrap="square" lIns="0" tIns="0" rIns="0" bIns="0" rtlCol="0"/>
            <a:lstStyle/>
            <a:p/>
          </p:txBody>
        </p:sp>
        <p:sp>
          <p:nvSpPr>
            <p:cNvPr id="9" name="object 9" descr=""/>
            <p:cNvSpPr/>
            <p:nvPr/>
          </p:nvSpPr>
          <p:spPr>
            <a:xfrm>
              <a:off x="1717299" y="3253687"/>
              <a:ext cx="432434" cy="448945"/>
            </a:xfrm>
            <a:custGeom>
              <a:avLst/>
              <a:gdLst/>
              <a:ahLst/>
              <a:cxnLst/>
              <a:rect l="l" t="t" r="r" b="b"/>
              <a:pathLst>
                <a:path w="432435" h="448945">
                  <a:moveTo>
                    <a:pt x="0" y="224193"/>
                  </a:moveTo>
                  <a:lnTo>
                    <a:pt x="4388" y="179008"/>
                  </a:lnTo>
                  <a:lnTo>
                    <a:pt x="16975" y="136924"/>
                  </a:lnTo>
                  <a:lnTo>
                    <a:pt x="36891" y="98841"/>
                  </a:lnTo>
                  <a:lnTo>
                    <a:pt x="63268" y="65662"/>
                  </a:lnTo>
                  <a:lnTo>
                    <a:pt x="95237" y="38286"/>
                  </a:lnTo>
                  <a:lnTo>
                    <a:pt x="131930" y="17617"/>
                  </a:lnTo>
                  <a:lnTo>
                    <a:pt x="172479" y="4554"/>
                  </a:lnTo>
                  <a:lnTo>
                    <a:pt x="216014" y="0"/>
                  </a:lnTo>
                  <a:lnTo>
                    <a:pt x="259545" y="4554"/>
                  </a:lnTo>
                  <a:lnTo>
                    <a:pt x="300092" y="17617"/>
                  </a:lnTo>
                  <a:lnTo>
                    <a:pt x="336784" y="38286"/>
                  </a:lnTo>
                  <a:lnTo>
                    <a:pt x="368754" y="65662"/>
                  </a:lnTo>
                  <a:lnTo>
                    <a:pt x="395130" y="98841"/>
                  </a:lnTo>
                  <a:lnTo>
                    <a:pt x="415046" y="136924"/>
                  </a:lnTo>
                  <a:lnTo>
                    <a:pt x="427631" y="179008"/>
                  </a:lnTo>
                  <a:lnTo>
                    <a:pt x="432015" y="224193"/>
                  </a:lnTo>
                  <a:lnTo>
                    <a:pt x="427627" y="269377"/>
                  </a:lnTo>
                  <a:lnTo>
                    <a:pt x="415040" y="311461"/>
                  </a:lnTo>
                  <a:lnTo>
                    <a:pt x="395125" y="349544"/>
                  </a:lnTo>
                  <a:lnTo>
                    <a:pt x="368749" y="382724"/>
                  </a:lnTo>
                  <a:lnTo>
                    <a:pt x="336781" y="410099"/>
                  </a:lnTo>
                  <a:lnTo>
                    <a:pt x="300090" y="430768"/>
                  </a:lnTo>
                  <a:lnTo>
                    <a:pt x="259545" y="443831"/>
                  </a:lnTo>
                  <a:lnTo>
                    <a:pt x="216014" y="448386"/>
                  </a:lnTo>
                  <a:lnTo>
                    <a:pt x="172479" y="443831"/>
                  </a:lnTo>
                  <a:lnTo>
                    <a:pt x="131930" y="430768"/>
                  </a:lnTo>
                  <a:lnTo>
                    <a:pt x="95237" y="410099"/>
                  </a:lnTo>
                  <a:lnTo>
                    <a:pt x="63268" y="382724"/>
                  </a:lnTo>
                  <a:lnTo>
                    <a:pt x="36891" y="349544"/>
                  </a:lnTo>
                  <a:lnTo>
                    <a:pt x="16975" y="311461"/>
                  </a:lnTo>
                  <a:lnTo>
                    <a:pt x="4388" y="269377"/>
                  </a:lnTo>
                  <a:lnTo>
                    <a:pt x="0" y="224193"/>
                  </a:lnTo>
                  <a:close/>
                </a:path>
              </a:pathLst>
            </a:custGeom>
            <a:ln w="28575">
              <a:solidFill>
                <a:srgbClr val="6699FF"/>
              </a:solidFill>
            </a:ln>
          </p:spPr>
          <p:txBody>
            <a:bodyPr wrap="square" lIns="0" tIns="0" rIns="0" bIns="0" rtlCol="0"/>
            <a:lstStyle/>
            <a:p/>
          </p:txBody>
        </p:sp>
        <p:sp>
          <p:nvSpPr>
            <p:cNvPr id="10" name="object 10" descr=""/>
            <p:cNvSpPr/>
            <p:nvPr/>
          </p:nvSpPr>
          <p:spPr>
            <a:xfrm>
              <a:off x="5413783" y="1188106"/>
              <a:ext cx="0" cy="788035"/>
            </a:xfrm>
            <a:custGeom>
              <a:avLst/>
              <a:gdLst/>
              <a:ahLst/>
              <a:cxnLst/>
              <a:rect l="l" t="t" r="r" b="b"/>
              <a:pathLst>
                <a:path w="0" h="788035">
                  <a:moveTo>
                    <a:pt x="0" y="0"/>
                  </a:moveTo>
                  <a:lnTo>
                    <a:pt x="0" y="787527"/>
                  </a:lnTo>
                </a:path>
              </a:pathLst>
            </a:custGeom>
            <a:ln w="25400">
              <a:solidFill>
                <a:srgbClr val="B6DCDF"/>
              </a:solidFill>
            </a:ln>
          </p:spPr>
          <p:txBody>
            <a:bodyPr wrap="square" lIns="0" tIns="0" rIns="0" bIns="0" rtlCol="0"/>
            <a:lstStyle/>
            <a:p/>
          </p:txBody>
        </p:sp>
        <p:sp>
          <p:nvSpPr>
            <p:cNvPr id="11" name="object 11" descr=""/>
            <p:cNvSpPr/>
            <p:nvPr/>
          </p:nvSpPr>
          <p:spPr>
            <a:xfrm>
              <a:off x="2091273" y="1292343"/>
              <a:ext cx="3322954" cy="1081405"/>
            </a:xfrm>
            <a:custGeom>
              <a:avLst/>
              <a:gdLst/>
              <a:ahLst/>
              <a:cxnLst/>
              <a:rect l="l" t="t" r="r" b="b"/>
              <a:pathLst>
                <a:path w="3322954" h="1081405">
                  <a:moveTo>
                    <a:pt x="3322510" y="0"/>
                  </a:moveTo>
                  <a:lnTo>
                    <a:pt x="0" y="1081100"/>
                  </a:lnTo>
                </a:path>
              </a:pathLst>
            </a:custGeom>
            <a:ln w="25400">
              <a:solidFill>
                <a:srgbClr val="B6DCDF"/>
              </a:solidFill>
            </a:ln>
          </p:spPr>
          <p:txBody>
            <a:bodyPr wrap="square" lIns="0" tIns="0" rIns="0" bIns="0" rtlCol="0"/>
            <a:lstStyle/>
            <a:p/>
          </p:txBody>
        </p:sp>
        <p:sp>
          <p:nvSpPr>
            <p:cNvPr id="12" name="object 12" descr=""/>
            <p:cNvSpPr/>
            <p:nvPr/>
          </p:nvSpPr>
          <p:spPr>
            <a:xfrm>
              <a:off x="1690533" y="2283721"/>
              <a:ext cx="459105" cy="144145"/>
            </a:xfrm>
            <a:custGeom>
              <a:avLst/>
              <a:gdLst/>
              <a:ahLst/>
              <a:cxnLst/>
              <a:rect l="l" t="t" r="r" b="b"/>
              <a:pathLst>
                <a:path w="459105" h="144144">
                  <a:moveTo>
                    <a:pt x="0" y="71831"/>
                  </a:moveTo>
                  <a:lnTo>
                    <a:pt x="44260" y="29407"/>
                  </a:lnTo>
                  <a:lnTo>
                    <a:pt x="93918" y="13858"/>
                  </a:lnTo>
                  <a:lnTo>
                    <a:pt x="156891" y="3661"/>
                  </a:lnTo>
                  <a:lnTo>
                    <a:pt x="229400" y="0"/>
                  </a:lnTo>
                  <a:lnTo>
                    <a:pt x="301902" y="3661"/>
                  </a:lnTo>
                  <a:lnTo>
                    <a:pt x="364871" y="13858"/>
                  </a:lnTo>
                  <a:lnTo>
                    <a:pt x="414527" y="29407"/>
                  </a:lnTo>
                  <a:lnTo>
                    <a:pt x="447092" y="49125"/>
                  </a:lnTo>
                  <a:lnTo>
                    <a:pt x="458787" y="71831"/>
                  </a:lnTo>
                  <a:lnTo>
                    <a:pt x="447092" y="94536"/>
                  </a:lnTo>
                  <a:lnTo>
                    <a:pt x="414527" y="114255"/>
                  </a:lnTo>
                  <a:lnTo>
                    <a:pt x="364871" y="129804"/>
                  </a:lnTo>
                  <a:lnTo>
                    <a:pt x="301902" y="140000"/>
                  </a:lnTo>
                  <a:lnTo>
                    <a:pt x="229400" y="143662"/>
                  </a:lnTo>
                  <a:lnTo>
                    <a:pt x="156891" y="140000"/>
                  </a:lnTo>
                  <a:lnTo>
                    <a:pt x="93918" y="129804"/>
                  </a:lnTo>
                  <a:lnTo>
                    <a:pt x="44260" y="114255"/>
                  </a:lnTo>
                  <a:lnTo>
                    <a:pt x="11694" y="94536"/>
                  </a:lnTo>
                  <a:lnTo>
                    <a:pt x="0" y="71831"/>
                  </a:lnTo>
                  <a:close/>
                </a:path>
              </a:pathLst>
            </a:custGeom>
            <a:ln w="28575">
              <a:solidFill>
                <a:srgbClr val="6699FF"/>
              </a:solidFill>
            </a:ln>
          </p:spPr>
          <p:txBody>
            <a:bodyPr wrap="square" lIns="0" tIns="0" rIns="0" bIns="0" rtlCol="0"/>
            <a:lstStyle/>
            <a:p/>
          </p:txBody>
        </p:sp>
        <p:sp>
          <p:nvSpPr>
            <p:cNvPr id="13" name="object 13" descr=""/>
            <p:cNvSpPr/>
            <p:nvPr/>
          </p:nvSpPr>
          <p:spPr>
            <a:xfrm>
              <a:off x="5414384" y="2211091"/>
              <a:ext cx="0" cy="418465"/>
            </a:xfrm>
            <a:custGeom>
              <a:avLst/>
              <a:gdLst/>
              <a:ahLst/>
              <a:cxnLst/>
              <a:rect l="l" t="t" r="r" b="b"/>
              <a:pathLst>
                <a:path w="0" h="418464">
                  <a:moveTo>
                    <a:pt x="0" y="0"/>
                  </a:moveTo>
                  <a:lnTo>
                    <a:pt x="0" y="418185"/>
                  </a:lnTo>
                </a:path>
              </a:pathLst>
            </a:custGeom>
            <a:ln w="25400">
              <a:solidFill>
                <a:srgbClr val="B6DCDF"/>
              </a:solidFill>
            </a:ln>
          </p:spPr>
          <p:txBody>
            <a:bodyPr wrap="square" lIns="0" tIns="0" rIns="0" bIns="0" rtlCol="0"/>
            <a:lstStyle/>
            <a:p/>
          </p:txBody>
        </p:sp>
        <p:sp>
          <p:nvSpPr>
            <p:cNvPr id="14" name="object 14" descr=""/>
            <p:cNvSpPr/>
            <p:nvPr/>
          </p:nvSpPr>
          <p:spPr>
            <a:xfrm>
              <a:off x="2103646" y="2266443"/>
              <a:ext cx="3310890" cy="338455"/>
            </a:xfrm>
            <a:custGeom>
              <a:avLst/>
              <a:gdLst/>
              <a:ahLst/>
              <a:cxnLst/>
              <a:rect l="l" t="t" r="r" b="b"/>
              <a:pathLst>
                <a:path w="3310890" h="338455">
                  <a:moveTo>
                    <a:pt x="3310737" y="0"/>
                  </a:moveTo>
                  <a:lnTo>
                    <a:pt x="0" y="337934"/>
                  </a:lnTo>
                </a:path>
              </a:pathLst>
            </a:custGeom>
            <a:ln w="25400">
              <a:solidFill>
                <a:srgbClr val="B6DCDF"/>
              </a:solidFill>
            </a:ln>
          </p:spPr>
          <p:txBody>
            <a:bodyPr wrap="square" lIns="0" tIns="0" rIns="0" bIns="0" rtlCol="0"/>
            <a:lstStyle/>
            <a:p/>
          </p:txBody>
        </p:sp>
        <p:sp>
          <p:nvSpPr>
            <p:cNvPr id="15" name="object 15" descr=""/>
            <p:cNvSpPr/>
            <p:nvPr/>
          </p:nvSpPr>
          <p:spPr>
            <a:xfrm>
              <a:off x="1644496" y="2571753"/>
              <a:ext cx="504825" cy="144145"/>
            </a:xfrm>
            <a:custGeom>
              <a:avLst/>
              <a:gdLst/>
              <a:ahLst/>
              <a:cxnLst/>
              <a:rect l="l" t="t" r="r" b="b"/>
              <a:pathLst>
                <a:path w="504825" h="144144">
                  <a:moveTo>
                    <a:pt x="0" y="71831"/>
                  </a:moveTo>
                  <a:lnTo>
                    <a:pt x="34460" y="35575"/>
                  </a:lnTo>
                  <a:lnTo>
                    <a:pt x="73928" y="21037"/>
                  </a:lnTo>
                  <a:lnTo>
                    <a:pt x="125013" y="9806"/>
                  </a:lnTo>
                  <a:lnTo>
                    <a:pt x="185309" y="2565"/>
                  </a:lnTo>
                  <a:lnTo>
                    <a:pt x="252412" y="0"/>
                  </a:lnTo>
                  <a:lnTo>
                    <a:pt x="319515" y="2565"/>
                  </a:lnTo>
                  <a:lnTo>
                    <a:pt x="379811" y="9806"/>
                  </a:lnTo>
                  <a:lnTo>
                    <a:pt x="430896" y="21037"/>
                  </a:lnTo>
                  <a:lnTo>
                    <a:pt x="470364" y="35575"/>
                  </a:lnTo>
                  <a:lnTo>
                    <a:pt x="504825" y="71831"/>
                  </a:lnTo>
                  <a:lnTo>
                    <a:pt x="495808" y="90928"/>
                  </a:lnTo>
                  <a:lnTo>
                    <a:pt x="470364" y="108087"/>
                  </a:lnTo>
                  <a:lnTo>
                    <a:pt x="430896" y="122624"/>
                  </a:lnTo>
                  <a:lnTo>
                    <a:pt x="379811" y="133856"/>
                  </a:lnTo>
                  <a:lnTo>
                    <a:pt x="319515" y="141096"/>
                  </a:lnTo>
                  <a:lnTo>
                    <a:pt x="252412" y="143662"/>
                  </a:lnTo>
                  <a:lnTo>
                    <a:pt x="185309" y="141096"/>
                  </a:lnTo>
                  <a:lnTo>
                    <a:pt x="125013" y="133856"/>
                  </a:lnTo>
                  <a:lnTo>
                    <a:pt x="73928" y="122624"/>
                  </a:lnTo>
                  <a:lnTo>
                    <a:pt x="34460" y="108087"/>
                  </a:lnTo>
                  <a:lnTo>
                    <a:pt x="0" y="71831"/>
                  </a:lnTo>
                  <a:close/>
                </a:path>
              </a:pathLst>
            </a:custGeom>
            <a:ln w="28575">
              <a:solidFill>
                <a:srgbClr val="6699FF"/>
              </a:solidFill>
            </a:ln>
          </p:spPr>
          <p:txBody>
            <a:bodyPr wrap="square" lIns="0" tIns="0" rIns="0" bIns="0" rtlCol="0"/>
            <a:lstStyle/>
            <a:p/>
          </p:txBody>
        </p:sp>
        <p:sp>
          <p:nvSpPr>
            <p:cNvPr id="16" name="object 16" descr=""/>
            <p:cNvSpPr/>
            <p:nvPr/>
          </p:nvSpPr>
          <p:spPr>
            <a:xfrm>
              <a:off x="5392168" y="2864744"/>
              <a:ext cx="0" cy="831215"/>
            </a:xfrm>
            <a:custGeom>
              <a:avLst/>
              <a:gdLst/>
              <a:ahLst/>
              <a:cxnLst/>
              <a:rect l="l" t="t" r="r" b="b"/>
              <a:pathLst>
                <a:path w="0" h="831214">
                  <a:moveTo>
                    <a:pt x="0" y="0"/>
                  </a:moveTo>
                  <a:lnTo>
                    <a:pt x="0" y="830999"/>
                  </a:lnTo>
                </a:path>
              </a:pathLst>
            </a:custGeom>
            <a:ln w="25400">
              <a:solidFill>
                <a:srgbClr val="B6DCDF"/>
              </a:solidFill>
            </a:ln>
          </p:spPr>
          <p:txBody>
            <a:bodyPr wrap="square" lIns="0" tIns="0" rIns="0" bIns="0" rtlCol="0"/>
            <a:lstStyle/>
            <a:p/>
          </p:txBody>
        </p:sp>
        <p:sp>
          <p:nvSpPr>
            <p:cNvPr id="17" name="object 17" descr=""/>
            <p:cNvSpPr/>
            <p:nvPr/>
          </p:nvSpPr>
          <p:spPr>
            <a:xfrm>
              <a:off x="3652255" y="2952729"/>
              <a:ext cx="1740535" cy="181610"/>
            </a:xfrm>
            <a:custGeom>
              <a:avLst/>
              <a:gdLst/>
              <a:ahLst/>
              <a:cxnLst/>
              <a:rect l="l" t="t" r="r" b="b"/>
              <a:pathLst>
                <a:path w="1740535" h="181610">
                  <a:moveTo>
                    <a:pt x="1739912" y="0"/>
                  </a:moveTo>
                  <a:lnTo>
                    <a:pt x="0" y="181279"/>
                  </a:lnTo>
                </a:path>
              </a:pathLst>
            </a:custGeom>
            <a:ln w="25400">
              <a:solidFill>
                <a:srgbClr val="B6DCDF"/>
              </a:solidFill>
            </a:ln>
          </p:spPr>
          <p:txBody>
            <a:bodyPr wrap="square" lIns="0" tIns="0" rIns="0" bIns="0" rtlCol="0"/>
            <a:lstStyle/>
            <a:p/>
          </p:txBody>
        </p:sp>
        <p:sp>
          <p:nvSpPr>
            <p:cNvPr id="18" name="object 18" descr=""/>
            <p:cNvSpPr/>
            <p:nvPr/>
          </p:nvSpPr>
          <p:spPr>
            <a:xfrm>
              <a:off x="2149321" y="2949091"/>
              <a:ext cx="1511300" cy="287655"/>
            </a:xfrm>
            <a:custGeom>
              <a:avLst/>
              <a:gdLst/>
              <a:ahLst/>
              <a:cxnLst/>
              <a:rect l="l" t="t" r="r" b="b"/>
              <a:pathLst>
                <a:path w="1511300" h="287655">
                  <a:moveTo>
                    <a:pt x="0" y="143662"/>
                  </a:moveTo>
                  <a:lnTo>
                    <a:pt x="30182" y="103329"/>
                  </a:lnTo>
                  <a:lnTo>
                    <a:pt x="81200" y="78804"/>
                  </a:lnTo>
                  <a:lnTo>
                    <a:pt x="153981" y="56730"/>
                  </a:lnTo>
                  <a:lnTo>
                    <a:pt x="197741" y="46764"/>
                  </a:lnTo>
                  <a:lnTo>
                    <a:pt x="245991" y="37591"/>
                  </a:lnTo>
                  <a:lnTo>
                    <a:pt x="298414" y="29272"/>
                  </a:lnTo>
                  <a:lnTo>
                    <a:pt x="354695" y="21867"/>
                  </a:lnTo>
                  <a:lnTo>
                    <a:pt x="414517" y="15436"/>
                  </a:lnTo>
                  <a:lnTo>
                    <a:pt x="477562" y="10039"/>
                  </a:lnTo>
                  <a:lnTo>
                    <a:pt x="543515" y="5737"/>
                  </a:lnTo>
                  <a:lnTo>
                    <a:pt x="612058" y="2590"/>
                  </a:lnTo>
                  <a:lnTo>
                    <a:pt x="682875" y="657"/>
                  </a:lnTo>
                  <a:lnTo>
                    <a:pt x="755650" y="0"/>
                  </a:lnTo>
                  <a:lnTo>
                    <a:pt x="828424" y="657"/>
                  </a:lnTo>
                  <a:lnTo>
                    <a:pt x="899241" y="2590"/>
                  </a:lnTo>
                  <a:lnTo>
                    <a:pt x="967784" y="5737"/>
                  </a:lnTo>
                  <a:lnTo>
                    <a:pt x="1033737" y="10039"/>
                  </a:lnTo>
                  <a:lnTo>
                    <a:pt x="1096782" y="15436"/>
                  </a:lnTo>
                  <a:lnTo>
                    <a:pt x="1156604" y="21867"/>
                  </a:lnTo>
                  <a:lnTo>
                    <a:pt x="1212885" y="29272"/>
                  </a:lnTo>
                  <a:lnTo>
                    <a:pt x="1265308" y="37591"/>
                  </a:lnTo>
                  <a:lnTo>
                    <a:pt x="1313558" y="46764"/>
                  </a:lnTo>
                  <a:lnTo>
                    <a:pt x="1357318" y="56730"/>
                  </a:lnTo>
                  <a:lnTo>
                    <a:pt x="1396270" y="67430"/>
                  </a:lnTo>
                  <a:lnTo>
                    <a:pt x="1458486" y="90790"/>
                  </a:lnTo>
                  <a:lnTo>
                    <a:pt x="1497674" y="116361"/>
                  </a:lnTo>
                  <a:lnTo>
                    <a:pt x="1511300" y="143662"/>
                  </a:lnTo>
                  <a:lnTo>
                    <a:pt x="1507840" y="157499"/>
                  </a:lnTo>
                  <a:lnTo>
                    <a:pt x="1497674" y="170964"/>
                  </a:lnTo>
                  <a:lnTo>
                    <a:pt x="1458486" y="196536"/>
                  </a:lnTo>
                  <a:lnTo>
                    <a:pt x="1396270" y="219897"/>
                  </a:lnTo>
                  <a:lnTo>
                    <a:pt x="1357318" y="230598"/>
                  </a:lnTo>
                  <a:lnTo>
                    <a:pt x="1313558" y="240566"/>
                  </a:lnTo>
                  <a:lnTo>
                    <a:pt x="1265308" y="249740"/>
                  </a:lnTo>
                  <a:lnTo>
                    <a:pt x="1212885" y="258060"/>
                  </a:lnTo>
                  <a:lnTo>
                    <a:pt x="1156604" y="265466"/>
                  </a:lnTo>
                  <a:lnTo>
                    <a:pt x="1096782" y="271898"/>
                  </a:lnTo>
                  <a:lnTo>
                    <a:pt x="1033737" y="277295"/>
                  </a:lnTo>
                  <a:lnTo>
                    <a:pt x="967784" y="281598"/>
                  </a:lnTo>
                  <a:lnTo>
                    <a:pt x="899241" y="284746"/>
                  </a:lnTo>
                  <a:lnTo>
                    <a:pt x="828424" y="286679"/>
                  </a:lnTo>
                  <a:lnTo>
                    <a:pt x="755650" y="287337"/>
                  </a:lnTo>
                  <a:lnTo>
                    <a:pt x="682875" y="286679"/>
                  </a:lnTo>
                  <a:lnTo>
                    <a:pt x="612058" y="284746"/>
                  </a:lnTo>
                  <a:lnTo>
                    <a:pt x="543515" y="281598"/>
                  </a:lnTo>
                  <a:lnTo>
                    <a:pt x="477562" y="277295"/>
                  </a:lnTo>
                  <a:lnTo>
                    <a:pt x="414517" y="271898"/>
                  </a:lnTo>
                  <a:lnTo>
                    <a:pt x="354695" y="265466"/>
                  </a:lnTo>
                  <a:lnTo>
                    <a:pt x="298414" y="258060"/>
                  </a:lnTo>
                  <a:lnTo>
                    <a:pt x="245991" y="249740"/>
                  </a:lnTo>
                  <a:lnTo>
                    <a:pt x="197741" y="240566"/>
                  </a:lnTo>
                  <a:lnTo>
                    <a:pt x="153981" y="230598"/>
                  </a:lnTo>
                  <a:lnTo>
                    <a:pt x="115029" y="219897"/>
                  </a:lnTo>
                  <a:lnTo>
                    <a:pt x="52813" y="196536"/>
                  </a:lnTo>
                  <a:lnTo>
                    <a:pt x="13625" y="170964"/>
                  </a:lnTo>
                  <a:lnTo>
                    <a:pt x="0" y="143662"/>
                  </a:lnTo>
                  <a:close/>
                </a:path>
              </a:pathLst>
            </a:custGeom>
            <a:ln w="28575">
              <a:solidFill>
                <a:srgbClr val="6699FF"/>
              </a:solidFill>
            </a:ln>
          </p:spPr>
          <p:txBody>
            <a:bodyPr wrap="square" lIns="0" tIns="0" rIns="0" bIns="0" rtlCol="0"/>
            <a:lstStyle/>
            <a:p/>
          </p:txBody>
        </p:sp>
      </p:grpSp>
      <p:sp>
        <p:nvSpPr>
          <p:cNvPr id="19" name="object 19" descr=""/>
          <p:cNvSpPr txBox="1"/>
          <p:nvPr/>
        </p:nvSpPr>
        <p:spPr>
          <a:xfrm>
            <a:off x="5529719" y="3887723"/>
            <a:ext cx="3362960" cy="788035"/>
          </a:xfrm>
          <a:prstGeom prst="rect">
            <a:avLst/>
          </a:prstGeom>
          <a:ln w="25400">
            <a:solidFill>
              <a:srgbClr val="B6DCDF"/>
            </a:solidFill>
          </a:ln>
        </p:spPr>
        <p:txBody>
          <a:bodyPr wrap="square" lIns="0" tIns="116839" rIns="0" bIns="0" rtlCol="0" vert="horz">
            <a:spAutoFit/>
          </a:bodyPr>
          <a:lstStyle/>
          <a:p>
            <a:pPr marL="90805">
              <a:lnSpc>
                <a:spcPct val="100000"/>
              </a:lnSpc>
              <a:spcBef>
                <a:spcPts val="919"/>
              </a:spcBef>
              <a:tabLst>
                <a:tab pos="433705" algn="l"/>
              </a:tabLst>
            </a:pPr>
            <a:r>
              <a:rPr dirty="0" sz="1600" spc="-50">
                <a:latin typeface="Microsoft YaHei"/>
                <a:cs typeface="Microsoft YaHei"/>
              </a:rPr>
              <a:t>②</a:t>
            </a:r>
            <a:r>
              <a:rPr dirty="0" sz="1600">
                <a:latin typeface="Microsoft YaHei"/>
                <a:cs typeface="Microsoft YaHei"/>
              </a:rPr>
              <a:t>	做好N-</a:t>
            </a:r>
            <a:r>
              <a:rPr dirty="0" sz="1600" spc="-20">
                <a:latin typeface="Microsoft YaHei"/>
                <a:cs typeface="Microsoft YaHei"/>
              </a:rPr>
              <a:t>male</a:t>
            </a:r>
            <a:r>
              <a:rPr dirty="0" sz="1600" spc="-15">
                <a:latin typeface="Microsoft YaHei"/>
                <a:cs typeface="Microsoft YaHei"/>
              </a:rPr>
              <a:t>连接器的馈线穿过</a:t>
            </a:r>
            <a:endParaRPr sz="1600">
              <a:latin typeface="Microsoft YaHei"/>
              <a:cs typeface="Microsoft YaHei"/>
            </a:endParaRPr>
          </a:p>
          <a:p>
            <a:pPr marL="433705">
              <a:lnSpc>
                <a:spcPct val="100000"/>
              </a:lnSpc>
              <a:spcBef>
                <a:spcPts val="960"/>
              </a:spcBef>
            </a:pPr>
            <a:r>
              <a:rPr dirty="0" sz="1600" spc="-10">
                <a:latin typeface="Microsoft YaHei"/>
                <a:cs typeface="Microsoft YaHei"/>
              </a:rPr>
              <a:t>GPS</a:t>
            </a:r>
            <a:r>
              <a:rPr dirty="0" sz="1600" spc="-20">
                <a:latin typeface="Microsoft YaHei"/>
                <a:cs typeface="Microsoft YaHei"/>
              </a:rPr>
              <a:t>安装管</a:t>
            </a:r>
            <a:endParaRPr sz="1600">
              <a:latin typeface="Microsoft YaHei"/>
              <a:cs typeface="Microsoft YaHei"/>
            </a:endParaRPr>
          </a:p>
        </p:txBody>
      </p:sp>
      <p:sp>
        <p:nvSpPr>
          <p:cNvPr id="20" name="object 20" descr=""/>
          <p:cNvSpPr txBox="1"/>
          <p:nvPr/>
        </p:nvSpPr>
        <p:spPr>
          <a:xfrm>
            <a:off x="5508104" y="1188110"/>
            <a:ext cx="3384550" cy="788035"/>
          </a:xfrm>
          <a:prstGeom prst="rect">
            <a:avLst/>
          </a:prstGeom>
          <a:ln w="25400">
            <a:solidFill>
              <a:srgbClr val="B6DCDF"/>
            </a:solidFill>
          </a:ln>
        </p:spPr>
        <p:txBody>
          <a:bodyPr wrap="square" lIns="0" tIns="27305" rIns="0" bIns="0" rtlCol="0" vert="horz">
            <a:spAutoFit/>
          </a:bodyPr>
          <a:lstStyle/>
          <a:p>
            <a:pPr marL="434340" marR="108585" indent="-342900">
              <a:lnSpc>
                <a:spcPts val="2880"/>
              </a:lnSpc>
              <a:spcBef>
                <a:spcPts val="215"/>
              </a:spcBef>
              <a:tabLst>
                <a:tab pos="433705" algn="l"/>
              </a:tabLst>
            </a:pPr>
            <a:r>
              <a:rPr dirty="0" sz="1600" spc="-50">
                <a:latin typeface="Microsoft YaHei"/>
                <a:cs typeface="Microsoft YaHei"/>
              </a:rPr>
              <a:t>③</a:t>
            </a:r>
            <a:r>
              <a:rPr dirty="0" sz="1600">
                <a:latin typeface="Microsoft YaHei"/>
                <a:cs typeface="Microsoft YaHei"/>
              </a:rPr>
              <a:t>	</a:t>
            </a:r>
            <a:r>
              <a:rPr dirty="0" sz="1600" spc="-10">
                <a:latin typeface="Microsoft YaHei"/>
                <a:cs typeface="Microsoft YaHei"/>
              </a:rPr>
              <a:t>GPS</a:t>
            </a:r>
            <a:r>
              <a:rPr dirty="0" sz="1600" spc="-15">
                <a:latin typeface="Microsoft YaHei"/>
                <a:cs typeface="Microsoft YaHei"/>
              </a:rPr>
              <a:t>天线旋紧在做好连接器的馈</a:t>
            </a:r>
            <a:r>
              <a:rPr dirty="0" sz="1600" spc="-25">
                <a:latin typeface="Microsoft YaHei"/>
                <a:cs typeface="Microsoft YaHei"/>
              </a:rPr>
              <a:t>线上</a:t>
            </a:r>
            <a:endParaRPr sz="1600">
              <a:latin typeface="Microsoft YaHei"/>
              <a:cs typeface="Microsoft YaHei"/>
            </a:endParaRPr>
          </a:p>
        </p:txBody>
      </p:sp>
      <p:sp>
        <p:nvSpPr>
          <p:cNvPr id="21" name="object 21" descr=""/>
          <p:cNvSpPr txBox="1"/>
          <p:nvPr/>
        </p:nvSpPr>
        <p:spPr>
          <a:xfrm>
            <a:off x="5508104" y="2211095"/>
            <a:ext cx="3362960" cy="418465"/>
          </a:xfrm>
          <a:prstGeom prst="rect">
            <a:avLst/>
          </a:prstGeom>
          <a:ln w="25400">
            <a:solidFill>
              <a:srgbClr val="B6DCDF"/>
            </a:solidFill>
          </a:ln>
        </p:spPr>
        <p:txBody>
          <a:bodyPr wrap="square" lIns="0" tIns="116840" rIns="0" bIns="0" rtlCol="0" vert="horz">
            <a:spAutoFit/>
          </a:bodyPr>
          <a:lstStyle/>
          <a:p>
            <a:pPr marL="91440">
              <a:lnSpc>
                <a:spcPct val="100000"/>
              </a:lnSpc>
              <a:spcBef>
                <a:spcPts val="920"/>
              </a:spcBef>
              <a:tabLst>
                <a:tab pos="433705" algn="l"/>
              </a:tabLst>
            </a:pPr>
            <a:r>
              <a:rPr dirty="0" sz="1600" spc="-50">
                <a:latin typeface="Microsoft YaHei"/>
                <a:cs typeface="Microsoft YaHei"/>
              </a:rPr>
              <a:t>④</a:t>
            </a:r>
            <a:r>
              <a:rPr dirty="0" sz="1600">
                <a:latin typeface="Microsoft YaHei"/>
                <a:cs typeface="Microsoft YaHei"/>
              </a:rPr>
              <a:t>	安装管旋紧在</a:t>
            </a:r>
            <a:r>
              <a:rPr dirty="0" sz="1600" spc="-10">
                <a:latin typeface="Microsoft YaHei"/>
                <a:cs typeface="Microsoft YaHei"/>
              </a:rPr>
              <a:t>GPS</a:t>
            </a:r>
            <a:r>
              <a:rPr dirty="0" sz="1600" spc="-20">
                <a:latin typeface="Microsoft YaHei"/>
                <a:cs typeface="Microsoft YaHei"/>
              </a:rPr>
              <a:t>天线上</a:t>
            </a:r>
            <a:endParaRPr sz="1600">
              <a:latin typeface="Microsoft YaHei"/>
              <a:cs typeface="Microsoft YaHei"/>
            </a:endParaRPr>
          </a:p>
        </p:txBody>
      </p:sp>
      <p:sp>
        <p:nvSpPr>
          <p:cNvPr id="22" name="object 22" descr=""/>
          <p:cNvSpPr txBox="1"/>
          <p:nvPr/>
        </p:nvSpPr>
        <p:spPr>
          <a:xfrm>
            <a:off x="5486488" y="2864739"/>
            <a:ext cx="3384550" cy="831215"/>
          </a:xfrm>
          <a:prstGeom prst="rect">
            <a:avLst/>
          </a:prstGeom>
          <a:ln w="25400">
            <a:solidFill>
              <a:srgbClr val="B6DCDF"/>
            </a:solidFill>
          </a:ln>
        </p:spPr>
        <p:txBody>
          <a:bodyPr wrap="square" lIns="0" tIns="27305" rIns="0" bIns="0" rtlCol="0" vert="horz">
            <a:spAutoFit/>
          </a:bodyPr>
          <a:lstStyle/>
          <a:p>
            <a:pPr marL="434340" marR="160655" indent="-342900">
              <a:lnSpc>
                <a:spcPts val="2880"/>
              </a:lnSpc>
              <a:spcBef>
                <a:spcPts val="215"/>
              </a:spcBef>
              <a:tabLst>
                <a:tab pos="433705" algn="l"/>
              </a:tabLst>
            </a:pPr>
            <a:r>
              <a:rPr dirty="0" sz="1600" spc="-50">
                <a:latin typeface="Microsoft YaHei"/>
                <a:cs typeface="Microsoft YaHei"/>
              </a:rPr>
              <a:t>⑤</a:t>
            </a:r>
            <a:r>
              <a:rPr dirty="0" sz="1600">
                <a:latin typeface="Microsoft YaHei"/>
                <a:cs typeface="Microsoft YaHei"/>
              </a:rPr>
              <a:t>	用</a:t>
            </a:r>
            <a:r>
              <a:rPr dirty="0" sz="1600" spc="-25">
                <a:latin typeface="Microsoft YaHei"/>
                <a:cs typeface="Microsoft YaHei"/>
              </a:rPr>
              <a:t>U</a:t>
            </a:r>
            <a:r>
              <a:rPr dirty="0" sz="1600">
                <a:latin typeface="Microsoft YaHei"/>
                <a:cs typeface="Microsoft YaHei"/>
              </a:rPr>
              <a:t>形螺栓把夹具在</a:t>
            </a:r>
            <a:r>
              <a:rPr dirty="0" sz="1600" spc="-10">
                <a:latin typeface="Microsoft YaHei"/>
                <a:cs typeface="Microsoft YaHei"/>
              </a:rPr>
              <a:t>GPS</a:t>
            </a:r>
            <a:r>
              <a:rPr dirty="0" sz="1600" spc="-20">
                <a:latin typeface="Microsoft YaHei"/>
                <a:cs typeface="Microsoft YaHei"/>
              </a:rPr>
              <a:t>安装抱</a:t>
            </a:r>
            <a:r>
              <a:rPr dirty="0" sz="1600" spc="-10">
                <a:latin typeface="Microsoft YaHei"/>
                <a:cs typeface="Microsoft YaHei"/>
              </a:rPr>
              <a:t>杆设计高度固定牢靠</a:t>
            </a:r>
            <a:endParaRPr sz="1600">
              <a:latin typeface="Microsoft YaHei"/>
              <a:cs typeface="Microsoft YaHe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70790" y="113125"/>
            <a:ext cx="4069079" cy="513080"/>
          </a:xfrm>
          <a:prstGeom prst="rect"/>
        </p:spPr>
        <p:txBody>
          <a:bodyPr wrap="square" lIns="0" tIns="12065" rIns="0" bIns="0" rtlCol="0" vert="horz">
            <a:spAutoFit/>
          </a:bodyPr>
          <a:lstStyle/>
          <a:p>
            <a:pPr marL="12700">
              <a:lnSpc>
                <a:spcPct val="100000"/>
              </a:lnSpc>
              <a:spcBef>
                <a:spcPts val="95"/>
              </a:spcBef>
            </a:pPr>
            <a:r>
              <a:rPr dirty="0" spc="-10">
                <a:latin typeface="Times New Roman"/>
                <a:cs typeface="Times New Roman"/>
              </a:rPr>
              <a:t>GPS</a:t>
            </a:r>
            <a:r>
              <a:rPr dirty="0" spc="-45"/>
              <a:t>系统安装工程规范</a:t>
            </a:r>
          </a:p>
        </p:txBody>
      </p:sp>
      <p:pic>
        <p:nvPicPr>
          <p:cNvPr id="3" name="object 3" descr=""/>
          <p:cNvPicPr/>
          <p:nvPr/>
        </p:nvPicPr>
        <p:blipFill>
          <a:blip r:embed="rId2" cstate="print"/>
          <a:stretch>
            <a:fillRect/>
          </a:stretch>
        </p:blipFill>
        <p:spPr>
          <a:xfrm>
            <a:off x="575538" y="895350"/>
            <a:ext cx="2283523" cy="380263"/>
          </a:xfrm>
          <a:prstGeom prst="rect">
            <a:avLst/>
          </a:prstGeom>
        </p:spPr>
      </p:pic>
      <p:sp>
        <p:nvSpPr>
          <p:cNvPr id="4" name="object 4" descr=""/>
          <p:cNvSpPr txBox="1"/>
          <p:nvPr/>
        </p:nvSpPr>
        <p:spPr>
          <a:xfrm>
            <a:off x="777829" y="927237"/>
            <a:ext cx="1879600" cy="299720"/>
          </a:xfrm>
          <a:prstGeom prst="rect">
            <a:avLst/>
          </a:prstGeom>
        </p:spPr>
        <p:txBody>
          <a:bodyPr wrap="square" lIns="0" tIns="12700" rIns="0" bIns="0" rtlCol="0" vert="horz">
            <a:spAutoFit/>
          </a:bodyPr>
          <a:lstStyle/>
          <a:p>
            <a:pPr marL="12700">
              <a:lnSpc>
                <a:spcPct val="100000"/>
              </a:lnSpc>
              <a:spcBef>
                <a:spcPts val="100"/>
              </a:spcBef>
            </a:pPr>
            <a:r>
              <a:rPr dirty="0" sz="1800" spc="-10">
                <a:latin typeface="Arial MT"/>
                <a:cs typeface="Arial MT"/>
              </a:rPr>
              <a:t>GPS</a:t>
            </a:r>
            <a:r>
              <a:rPr dirty="0" sz="1800" spc="-10">
                <a:latin typeface="Microsoft YaHei"/>
                <a:cs typeface="Microsoft YaHei"/>
              </a:rPr>
              <a:t>系统安装规范</a:t>
            </a:r>
            <a:endParaRPr sz="1800">
              <a:latin typeface="Microsoft YaHei"/>
              <a:cs typeface="Microsoft YaHei"/>
            </a:endParaRPr>
          </a:p>
        </p:txBody>
      </p:sp>
      <p:grpSp>
        <p:nvGrpSpPr>
          <p:cNvPr id="5" name="object 5" descr=""/>
          <p:cNvGrpSpPr/>
          <p:nvPr/>
        </p:nvGrpSpPr>
        <p:grpSpPr>
          <a:xfrm>
            <a:off x="795911" y="1543540"/>
            <a:ext cx="4641850" cy="3277870"/>
            <a:chOff x="795911" y="1543540"/>
            <a:chExt cx="4641850" cy="3277870"/>
          </a:xfrm>
        </p:grpSpPr>
        <p:pic>
          <p:nvPicPr>
            <p:cNvPr id="6" name="object 6"/>
            <p:cNvPicPr/>
            <p:nvPr/>
          </p:nvPicPr>
          <p:blipFill>
            <a:blip r:embed="rId3" cstate="print"/>
            <a:stretch>
              <a:fillRect/>
            </a:stretch>
          </p:blipFill>
          <p:spPr>
            <a:xfrm>
              <a:off x="795911" y="1543540"/>
              <a:ext cx="4127079" cy="3175182"/>
            </a:xfrm>
            <a:prstGeom prst="rect">
              <a:avLst/>
            </a:prstGeom>
          </p:spPr>
        </p:pic>
        <p:sp>
          <p:nvSpPr>
            <p:cNvPr id="7" name="object 7" descr=""/>
            <p:cNvSpPr/>
            <p:nvPr/>
          </p:nvSpPr>
          <p:spPr>
            <a:xfrm>
              <a:off x="5381891" y="3225239"/>
              <a:ext cx="0" cy="1200785"/>
            </a:xfrm>
            <a:custGeom>
              <a:avLst/>
              <a:gdLst/>
              <a:ahLst/>
              <a:cxnLst/>
              <a:rect l="l" t="t" r="r" b="b"/>
              <a:pathLst>
                <a:path w="0" h="1200785">
                  <a:moveTo>
                    <a:pt x="0" y="0"/>
                  </a:moveTo>
                  <a:lnTo>
                    <a:pt x="0" y="1200327"/>
                  </a:lnTo>
                </a:path>
              </a:pathLst>
            </a:custGeom>
            <a:ln w="25400">
              <a:solidFill>
                <a:srgbClr val="B6DCDF"/>
              </a:solidFill>
            </a:ln>
          </p:spPr>
          <p:txBody>
            <a:bodyPr wrap="square" lIns="0" tIns="0" rIns="0" bIns="0" rtlCol="0"/>
            <a:lstStyle/>
            <a:p/>
          </p:txBody>
        </p:sp>
        <p:sp>
          <p:nvSpPr>
            <p:cNvPr id="8" name="object 8" descr=""/>
            <p:cNvSpPr/>
            <p:nvPr/>
          </p:nvSpPr>
          <p:spPr>
            <a:xfrm>
              <a:off x="3152914" y="3340159"/>
              <a:ext cx="2229485" cy="1038225"/>
            </a:xfrm>
            <a:custGeom>
              <a:avLst/>
              <a:gdLst/>
              <a:ahLst/>
              <a:cxnLst/>
              <a:rect l="l" t="t" r="r" b="b"/>
              <a:pathLst>
                <a:path w="2229485" h="1038225">
                  <a:moveTo>
                    <a:pt x="2228977" y="0"/>
                  </a:moveTo>
                  <a:lnTo>
                    <a:pt x="0" y="1037805"/>
                  </a:lnTo>
                </a:path>
              </a:pathLst>
            </a:custGeom>
            <a:ln w="25399">
              <a:solidFill>
                <a:srgbClr val="B6DCDF"/>
              </a:solidFill>
            </a:ln>
          </p:spPr>
          <p:txBody>
            <a:bodyPr wrap="square" lIns="0" tIns="0" rIns="0" bIns="0" rtlCol="0"/>
            <a:lstStyle/>
            <a:p/>
          </p:txBody>
        </p:sp>
        <p:sp>
          <p:nvSpPr>
            <p:cNvPr id="9" name="object 9" descr=""/>
            <p:cNvSpPr/>
            <p:nvPr/>
          </p:nvSpPr>
          <p:spPr>
            <a:xfrm>
              <a:off x="2512654" y="4358355"/>
              <a:ext cx="835660" cy="448945"/>
            </a:xfrm>
            <a:custGeom>
              <a:avLst/>
              <a:gdLst/>
              <a:ahLst/>
              <a:cxnLst/>
              <a:rect l="l" t="t" r="r" b="b"/>
              <a:pathLst>
                <a:path w="835660" h="448945">
                  <a:moveTo>
                    <a:pt x="0" y="224193"/>
                  </a:moveTo>
                  <a:lnTo>
                    <a:pt x="17681" y="159440"/>
                  </a:lnTo>
                  <a:lnTo>
                    <a:pt x="67278" y="102114"/>
                  </a:lnTo>
                  <a:lnTo>
                    <a:pt x="102431" y="77103"/>
                  </a:lnTo>
                  <a:lnTo>
                    <a:pt x="143625" y="54988"/>
                  </a:lnTo>
                  <a:lnTo>
                    <a:pt x="190214" y="36117"/>
                  </a:lnTo>
                  <a:lnTo>
                    <a:pt x="241552" y="20836"/>
                  </a:lnTo>
                  <a:lnTo>
                    <a:pt x="296993" y="9491"/>
                  </a:lnTo>
                  <a:lnTo>
                    <a:pt x="355891" y="2430"/>
                  </a:lnTo>
                  <a:lnTo>
                    <a:pt x="417601" y="0"/>
                  </a:lnTo>
                  <a:lnTo>
                    <a:pt x="479313" y="2430"/>
                  </a:lnTo>
                  <a:lnTo>
                    <a:pt x="538214" y="9491"/>
                  </a:lnTo>
                  <a:lnTo>
                    <a:pt x="593658" y="20836"/>
                  </a:lnTo>
                  <a:lnTo>
                    <a:pt x="644997" y="36117"/>
                  </a:lnTo>
                  <a:lnTo>
                    <a:pt x="691588" y="54988"/>
                  </a:lnTo>
                  <a:lnTo>
                    <a:pt x="732782" y="77103"/>
                  </a:lnTo>
                  <a:lnTo>
                    <a:pt x="767935" y="102114"/>
                  </a:lnTo>
                  <a:lnTo>
                    <a:pt x="796401" y="129676"/>
                  </a:lnTo>
                  <a:lnTo>
                    <a:pt x="830687" y="191062"/>
                  </a:lnTo>
                  <a:lnTo>
                    <a:pt x="835215" y="224193"/>
                  </a:lnTo>
                  <a:lnTo>
                    <a:pt x="817534" y="288945"/>
                  </a:lnTo>
                  <a:lnTo>
                    <a:pt x="767935" y="346271"/>
                  </a:lnTo>
                  <a:lnTo>
                    <a:pt x="732782" y="371282"/>
                  </a:lnTo>
                  <a:lnTo>
                    <a:pt x="691588" y="393397"/>
                  </a:lnTo>
                  <a:lnTo>
                    <a:pt x="644997" y="412268"/>
                  </a:lnTo>
                  <a:lnTo>
                    <a:pt x="593658" y="427550"/>
                  </a:lnTo>
                  <a:lnTo>
                    <a:pt x="538214" y="438894"/>
                  </a:lnTo>
                  <a:lnTo>
                    <a:pt x="479313" y="445955"/>
                  </a:lnTo>
                  <a:lnTo>
                    <a:pt x="417601" y="448386"/>
                  </a:lnTo>
                  <a:lnTo>
                    <a:pt x="355891" y="445955"/>
                  </a:lnTo>
                  <a:lnTo>
                    <a:pt x="296993" y="438894"/>
                  </a:lnTo>
                  <a:lnTo>
                    <a:pt x="241552" y="427550"/>
                  </a:lnTo>
                  <a:lnTo>
                    <a:pt x="190214" y="412268"/>
                  </a:lnTo>
                  <a:lnTo>
                    <a:pt x="143625" y="393397"/>
                  </a:lnTo>
                  <a:lnTo>
                    <a:pt x="102431" y="371282"/>
                  </a:lnTo>
                  <a:lnTo>
                    <a:pt x="67278" y="346271"/>
                  </a:lnTo>
                  <a:lnTo>
                    <a:pt x="38813" y="318710"/>
                  </a:lnTo>
                  <a:lnTo>
                    <a:pt x="4527" y="257324"/>
                  </a:lnTo>
                  <a:lnTo>
                    <a:pt x="0" y="224193"/>
                  </a:lnTo>
                  <a:close/>
                </a:path>
              </a:pathLst>
            </a:custGeom>
            <a:ln w="28575">
              <a:solidFill>
                <a:srgbClr val="6699FF"/>
              </a:solidFill>
            </a:ln>
          </p:spPr>
          <p:txBody>
            <a:bodyPr wrap="square" lIns="0" tIns="0" rIns="0" bIns="0" rtlCol="0"/>
            <a:lstStyle/>
            <a:p/>
          </p:txBody>
        </p:sp>
        <p:sp>
          <p:nvSpPr>
            <p:cNvPr id="10" name="object 10" descr=""/>
            <p:cNvSpPr/>
            <p:nvPr/>
          </p:nvSpPr>
          <p:spPr>
            <a:xfrm>
              <a:off x="5424588" y="1606297"/>
              <a:ext cx="0" cy="462280"/>
            </a:xfrm>
            <a:custGeom>
              <a:avLst/>
              <a:gdLst/>
              <a:ahLst/>
              <a:cxnLst/>
              <a:rect l="l" t="t" r="r" b="b"/>
              <a:pathLst>
                <a:path w="0" h="462280">
                  <a:moveTo>
                    <a:pt x="0" y="0"/>
                  </a:moveTo>
                  <a:lnTo>
                    <a:pt x="0" y="461670"/>
                  </a:lnTo>
                </a:path>
              </a:pathLst>
            </a:custGeom>
            <a:ln w="25400">
              <a:solidFill>
                <a:srgbClr val="B6DCDF"/>
              </a:solidFill>
            </a:ln>
          </p:spPr>
          <p:txBody>
            <a:bodyPr wrap="square" lIns="0" tIns="0" rIns="0" bIns="0" rtlCol="0"/>
            <a:lstStyle/>
            <a:p/>
          </p:txBody>
        </p:sp>
        <p:sp>
          <p:nvSpPr>
            <p:cNvPr id="11" name="object 11" descr=""/>
            <p:cNvSpPr/>
            <p:nvPr/>
          </p:nvSpPr>
          <p:spPr>
            <a:xfrm>
              <a:off x="2827794" y="1667403"/>
              <a:ext cx="2597150" cy="1546225"/>
            </a:xfrm>
            <a:custGeom>
              <a:avLst/>
              <a:gdLst/>
              <a:ahLst/>
              <a:cxnLst/>
              <a:rect l="l" t="t" r="r" b="b"/>
              <a:pathLst>
                <a:path w="2597150" h="1546225">
                  <a:moveTo>
                    <a:pt x="2596794" y="0"/>
                  </a:moveTo>
                  <a:lnTo>
                    <a:pt x="0" y="1546047"/>
                  </a:lnTo>
                </a:path>
              </a:pathLst>
            </a:custGeom>
            <a:ln w="25400">
              <a:solidFill>
                <a:srgbClr val="B6DCDF"/>
              </a:solidFill>
            </a:ln>
          </p:spPr>
          <p:txBody>
            <a:bodyPr wrap="square" lIns="0" tIns="0" rIns="0" bIns="0" rtlCol="0"/>
            <a:lstStyle/>
            <a:p/>
          </p:txBody>
        </p:sp>
        <p:sp>
          <p:nvSpPr>
            <p:cNvPr id="12" name="object 12" descr=""/>
            <p:cNvSpPr/>
            <p:nvPr/>
          </p:nvSpPr>
          <p:spPr>
            <a:xfrm>
              <a:off x="1376635" y="2940010"/>
              <a:ext cx="1511300" cy="287655"/>
            </a:xfrm>
            <a:custGeom>
              <a:avLst/>
              <a:gdLst/>
              <a:ahLst/>
              <a:cxnLst/>
              <a:rect l="l" t="t" r="r" b="b"/>
              <a:pathLst>
                <a:path w="1511300" h="287655">
                  <a:moveTo>
                    <a:pt x="0" y="143662"/>
                  </a:moveTo>
                  <a:lnTo>
                    <a:pt x="30182" y="103329"/>
                  </a:lnTo>
                  <a:lnTo>
                    <a:pt x="81200" y="78804"/>
                  </a:lnTo>
                  <a:lnTo>
                    <a:pt x="153981" y="56730"/>
                  </a:lnTo>
                  <a:lnTo>
                    <a:pt x="197741" y="46764"/>
                  </a:lnTo>
                  <a:lnTo>
                    <a:pt x="245991" y="37591"/>
                  </a:lnTo>
                  <a:lnTo>
                    <a:pt x="298414" y="29272"/>
                  </a:lnTo>
                  <a:lnTo>
                    <a:pt x="354695" y="21867"/>
                  </a:lnTo>
                  <a:lnTo>
                    <a:pt x="414517" y="15436"/>
                  </a:lnTo>
                  <a:lnTo>
                    <a:pt x="477562" y="10039"/>
                  </a:lnTo>
                  <a:lnTo>
                    <a:pt x="543515" y="5737"/>
                  </a:lnTo>
                  <a:lnTo>
                    <a:pt x="612058" y="2590"/>
                  </a:lnTo>
                  <a:lnTo>
                    <a:pt x="682875" y="657"/>
                  </a:lnTo>
                  <a:lnTo>
                    <a:pt x="755650" y="0"/>
                  </a:lnTo>
                  <a:lnTo>
                    <a:pt x="828424" y="657"/>
                  </a:lnTo>
                  <a:lnTo>
                    <a:pt x="899241" y="2590"/>
                  </a:lnTo>
                  <a:lnTo>
                    <a:pt x="967784" y="5737"/>
                  </a:lnTo>
                  <a:lnTo>
                    <a:pt x="1033737" y="10039"/>
                  </a:lnTo>
                  <a:lnTo>
                    <a:pt x="1096782" y="15436"/>
                  </a:lnTo>
                  <a:lnTo>
                    <a:pt x="1156604" y="21867"/>
                  </a:lnTo>
                  <a:lnTo>
                    <a:pt x="1212885" y="29272"/>
                  </a:lnTo>
                  <a:lnTo>
                    <a:pt x="1265308" y="37591"/>
                  </a:lnTo>
                  <a:lnTo>
                    <a:pt x="1313558" y="46764"/>
                  </a:lnTo>
                  <a:lnTo>
                    <a:pt x="1357318" y="56730"/>
                  </a:lnTo>
                  <a:lnTo>
                    <a:pt x="1396270" y="67430"/>
                  </a:lnTo>
                  <a:lnTo>
                    <a:pt x="1458486" y="90790"/>
                  </a:lnTo>
                  <a:lnTo>
                    <a:pt x="1497674" y="116361"/>
                  </a:lnTo>
                  <a:lnTo>
                    <a:pt x="1511300" y="143662"/>
                  </a:lnTo>
                  <a:lnTo>
                    <a:pt x="1507840" y="157499"/>
                  </a:lnTo>
                  <a:lnTo>
                    <a:pt x="1497674" y="170964"/>
                  </a:lnTo>
                  <a:lnTo>
                    <a:pt x="1458486" y="196536"/>
                  </a:lnTo>
                  <a:lnTo>
                    <a:pt x="1396270" y="219897"/>
                  </a:lnTo>
                  <a:lnTo>
                    <a:pt x="1357318" y="230598"/>
                  </a:lnTo>
                  <a:lnTo>
                    <a:pt x="1313558" y="240566"/>
                  </a:lnTo>
                  <a:lnTo>
                    <a:pt x="1265308" y="249740"/>
                  </a:lnTo>
                  <a:lnTo>
                    <a:pt x="1212885" y="258060"/>
                  </a:lnTo>
                  <a:lnTo>
                    <a:pt x="1156604" y="265466"/>
                  </a:lnTo>
                  <a:lnTo>
                    <a:pt x="1096782" y="271898"/>
                  </a:lnTo>
                  <a:lnTo>
                    <a:pt x="1033737" y="277295"/>
                  </a:lnTo>
                  <a:lnTo>
                    <a:pt x="967784" y="281598"/>
                  </a:lnTo>
                  <a:lnTo>
                    <a:pt x="899241" y="284746"/>
                  </a:lnTo>
                  <a:lnTo>
                    <a:pt x="828424" y="286679"/>
                  </a:lnTo>
                  <a:lnTo>
                    <a:pt x="755650" y="287337"/>
                  </a:lnTo>
                  <a:lnTo>
                    <a:pt x="682875" y="286679"/>
                  </a:lnTo>
                  <a:lnTo>
                    <a:pt x="612058" y="284746"/>
                  </a:lnTo>
                  <a:lnTo>
                    <a:pt x="543515" y="281598"/>
                  </a:lnTo>
                  <a:lnTo>
                    <a:pt x="477562" y="277295"/>
                  </a:lnTo>
                  <a:lnTo>
                    <a:pt x="414517" y="271898"/>
                  </a:lnTo>
                  <a:lnTo>
                    <a:pt x="354695" y="265466"/>
                  </a:lnTo>
                  <a:lnTo>
                    <a:pt x="298414" y="258060"/>
                  </a:lnTo>
                  <a:lnTo>
                    <a:pt x="245991" y="249740"/>
                  </a:lnTo>
                  <a:lnTo>
                    <a:pt x="197741" y="240566"/>
                  </a:lnTo>
                  <a:lnTo>
                    <a:pt x="153981" y="230598"/>
                  </a:lnTo>
                  <a:lnTo>
                    <a:pt x="115029" y="219897"/>
                  </a:lnTo>
                  <a:lnTo>
                    <a:pt x="52813" y="196536"/>
                  </a:lnTo>
                  <a:lnTo>
                    <a:pt x="13625" y="170964"/>
                  </a:lnTo>
                  <a:lnTo>
                    <a:pt x="0" y="143662"/>
                  </a:lnTo>
                  <a:close/>
                </a:path>
              </a:pathLst>
            </a:custGeom>
            <a:ln w="28575">
              <a:solidFill>
                <a:srgbClr val="6699FF"/>
              </a:solidFill>
            </a:ln>
          </p:spPr>
          <p:txBody>
            <a:bodyPr wrap="square" lIns="0" tIns="0" rIns="0" bIns="0" rtlCol="0"/>
            <a:lstStyle/>
            <a:p/>
          </p:txBody>
        </p:sp>
      </p:grpSp>
      <p:sp>
        <p:nvSpPr>
          <p:cNvPr id="13" name="object 13" descr=""/>
          <p:cNvSpPr txBox="1"/>
          <p:nvPr/>
        </p:nvSpPr>
        <p:spPr>
          <a:xfrm>
            <a:off x="5529719" y="3225241"/>
            <a:ext cx="3362960" cy="1200785"/>
          </a:xfrm>
          <a:prstGeom prst="rect">
            <a:avLst/>
          </a:prstGeom>
          <a:ln w="25400">
            <a:solidFill>
              <a:srgbClr val="B6DCDF"/>
            </a:solidFill>
          </a:ln>
        </p:spPr>
        <p:txBody>
          <a:bodyPr wrap="square" lIns="0" tIns="27305" rIns="0" bIns="0" rtlCol="0" vert="horz">
            <a:spAutoFit/>
          </a:bodyPr>
          <a:lstStyle/>
          <a:p>
            <a:pPr marL="433705" marR="87630" indent="-342900">
              <a:lnSpc>
                <a:spcPts val="2880"/>
              </a:lnSpc>
              <a:spcBef>
                <a:spcPts val="215"/>
              </a:spcBef>
              <a:tabLst>
                <a:tab pos="433705" algn="l"/>
              </a:tabLst>
            </a:pPr>
            <a:r>
              <a:rPr dirty="0" sz="1600" spc="-50">
                <a:latin typeface="Microsoft YaHei"/>
                <a:cs typeface="Microsoft YaHei"/>
              </a:rPr>
              <a:t>⑦</a:t>
            </a:r>
            <a:r>
              <a:rPr dirty="0" sz="1600">
                <a:latin typeface="Microsoft YaHei"/>
                <a:cs typeface="Microsoft YaHei"/>
              </a:rPr>
              <a:t>	在馈线离开安装管下端</a:t>
            </a:r>
            <a:r>
              <a:rPr dirty="0" sz="1600" spc="-10">
                <a:latin typeface="Microsoft YaHei"/>
                <a:cs typeface="Microsoft YaHei"/>
              </a:rPr>
              <a:t>1</a:t>
            </a:r>
            <a:r>
              <a:rPr dirty="0" sz="1600" spc="-20">
                <a:latin typeface="Microsoft YaHei"/>
                <a:cs typeface="Microsoft YaHei"/>
              </a:rPr>
              <a:t>米处的</a:t>
            </a:r>
            <a:r>
              <a:rPr dirty="0" sz="1600">
                <a:latin typeface="Microsoft YaHei"/>
                <a:cs typeface="Microsoft YaHei"/>
              </a:rPr>
              <a:t>平直部位，制作第一级</a:t>
            </a:r>
            <a:r>
              <a:rPr dirty="0" sz="1600" spc="-10">
                <a:latin typeface="Microsoft YaHei"/>
                <a:cs typeface="Microsoft YaHei"/>
              </a:rPr>
              <a:t>GPS</a:t>
            </a:r>
            <a:r>
              <a:rPr dirty="0" sz="1600" spc="-25">
                <a:latin typeface="Microsoft YaHei"/>
                <a:cs typeface="Microsoft YaHei"/>
              </a:rPr>
              <a:t>馈线接地</a:t>
            </a:r>
            <a:endParaRPr sz="1600">
              <a:latin typeface="Microsoft YaHei"/>
              <a:cs typeface="Microsoft YaHei"/>
            </a:endParaRPr>
          </a:p>
        </p:txBody>
      </p:sp>
      <p:sp>
        <p:nvSpPr>
          <p:cNvPr id="14" name="object 14" descr=""/>
          <p:cNvSpPr txBox="1"/>
          <p:nvPr/>
        </p:nvSpPr>
        <p:spPr>
          <a:xfrm>
            <a:off x="5518911" y="1606296"/>
            <a:ext cx="3384550" cy="462280"/>
          </a:xfrm>
          <a:prstGeom prst="rect">
            <a:avLst/>
          </a:prstGeom>
          <a:ln w="25400">
            <a:solidFill>
              <a:srgbClr val="B6DCDF"/>
            </a:solidFill>
          </a:ln>
        </p:spPr>
        <p:txBody>
          <a:bodyPr wrap="square" lIns="0" tIns="116839" rIns="0" bIns="0" rtlCol="0" vert="horz">
            <a:spAutoFit/>
          </a:bodyPr>
          <a:lstStyle/>
          <a:p>
            <a:pPr marL="90805">
              <a:lnSpc>
                <a:spcPct val="100000"/>
              </a:lnSpc>
              <a:spcBef>
                <a:spcPts val="919"/>
              </a:spcBef>
              <a:tabLst>
                <a:tab pos="433705" algn="l"/>
              </a:tabLst>
            </a:pPr>
            <a:r>
              <a:rPr dirty="0" sz="1600" spc="-50">
                <a:latin typeface="Microsoft YaHei"/>
                <a:cs typeface="Microsoft YaHei"/>
              </a:rPr>
              <a:t>⑥</a:t>
            </a:r>
            <a:r>
              <a:rPr dirty="0" sz="1600">
                <a:latin typeface="Microsoft YaHei"/>
                <a:cs typeface="Microsoft YaHei"/>
              </a:rPr>
              <a:t>	</a:t>
            </a:r>
            <a:r>
              <a:rPr dirty="0" sz="1600" spc="-10">
                <a:latin typeface="Microsoft YaHei"/>
                <a:cs typeface="Microsoft YaHei"/>
              </a:rPr>
              <a:t>安装管固定在夹具上</a:t>
            </a:r>
            <a:endParaRPr sz="1600">
              <a:latin typeface="Microsoft YaHei"/>
              <a:cs typeface="Microsoft YaHe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48121" y="113125"/>
            <a:ext cx="4069079" cy="513080"/>
          </a:xfrm>
          <a:prstGeom prst="rect"/>
        </p:spPr>
        <p:txBody>
          <a:bodyPr wrap="square" lIns="0" tIns="12065" rIns="0" bIns="0" rtlCol="0" vert="horz">
            <a:spAutoFit/>
          </a:bodyPr>
          <a:lstStyle/>
          <a:p>
            <a:pPr marL="12700">
              <a:lnSpc>
                <a:spcPct val="100000"/>
              </a:lnSpc>
              <a:spcBef>
                <a:spcPts val="95"/>
              </a:spcBef>
            </a:pPr>
            <a:r>
              <a:rPr dirty="0" spc="-10">
                <a:latin typeface="Times New Roman"/>
                <a:cs typeface="Times New Roman"/>
              </a:rPr>
              <a:t>GPS</a:t>
            </a:r>
            <a:r>
              <a:rPr dirty="0" spc="-45"/>
              <a:t>系统安装工程规范</a:t>
            </a:r>
          </a:p>
        </p:txBody>
      </p:sp>
      <p:grpSp>
        <p:nvGrpSpPr>
          <p:cNvPr id="3" name="object 3" descr=""/>
          <p:cNvGrpSpPr/>
          <p:nvPr/>
        </p:nvGrpSpPr>
        <p:grpSpPr>
          <a:xfrm>
            <a:off x="458762" y="1207185"/>
            <a:ext cx="8445500" cy="3423920"/>
            <a:chOff x="458762" y="1207185"/>
            <a:chExt cx="8445500" cy="3423920"/>
          </a:xfrm>
        </p:grpSpPr>
        <p:pic>
          <p:nvPicPr>
            <p:cNvPr id="4" name="object 4"/>
            <p:cNvPicPr/>
            <p:nvPr/>
          </p:nvPicPr>
          <p:blipFill>
            <a:blip r:embed="rId2" cstate="print"/>
            <a:stretch>
              <a:fillRect/>
            </a:stretch>
          </p:blipFill>
          <p:spPr>
            <a:xfrm>
              <a:off x="458762" y="1397308"/>
              <a:ext cx="7729008" cy="2483911"/>
            </a:xfrm>
            <a:prstGeom prst="rect">
              <a:avLst/>
            </a:prstGeom>
          </p:spPr>
        </p:pic>
        <p:sp>
          <p:nvSpPr>
            <p:cNvPr id="5" name="object 5" descr=""/>
            <p:cNvSpPr/>
            <p:nvPr/>
          </p:nvSpPr>
          <p:spPr>
            <a:xfrm>
              <a:off x="5626709" y="1219885"/>
              <a:ext cx="3265170" cy="462280"/>
            </a:xfrm>
            <a:custGeom>
              <a:avLst/>
              <a:gdLst/>
              <a:ahLst/>
              <a:cxnLst/>
              <a:rect l="l" t="t" r="r" b="b"/>
              <a:pathLst>
                <a:path w="3265170" h="462280">
                  <a:moveTo>
                    <a:pt x="0" y="0"/>
                  </a:moveTo>
                  <a:lnTo>
                    <a:pt x="3264725" y="0"/>
                  </a:lnTo>
                  <a:lnTo>
                    <a:pt x="3264725" y="461670"/>
                  </a:lnTo>
                  <a:lnTo>
                    <a:pt x="0" y="461670"/>
                  </a:lnTo>
                  <a:lnTo>
                    <a:pt x="0" y="0"/>
                  </a:lnTo>
                  <a:close/>
                </a:path>
              </a:pathLst>
            </a:custGeom>
            <a:ln w="25399">
              <a:solidFill>
                <a:srgbClr val="B6DCDF"/>
              </a:solidFill>
            </a:ln>
          </p:spPr>
          <p:txBody>
            <a:bodyPr wrap="square" lIns="0" tIns="0" rIns="0" bIns="0" rtlCol="0"/>
            <a:lstStyle/>
            <a:p/>
          </p:txBody>
        </p:sp>
        <p:sp>
          <p:nvSpPr>
            <p:cNvPr id="6" name="object 6" descr=""/>
            <p:cNvSpPr/>
            <p:nvPr/>
          </p:nvSpPr>
          <p:spPr>
            <a:xfrm>
              <a:off x="5535719" y="1219885"/>
              <a:ext cx="0" cy="462280"/>
            </a:xfrm>
            <a:custGeom>
              <a:avLst/>
              <a:gdLst/>
              <a:ahLst/>
              <a:cxnLst/>
              <a:rect l="l" t="t" r="r" b="b"/>
              <a:pathLst>
                <a:path w="0" h="462280">
                  <a:moveTo>
                    <a:pt x="0" y="0"/>
                  </a:moveTo>
                  <a:lnTo>
                    <a:pt x="0" y="461670"/>
                  </a:lnTo>
                </a:path>
              </a:pathLst>
            </a:custGeom>
            <a:ln w="25400">
              <a:solidFill>
                <a:srgbClr val="B6DCDF"/>
              </a:solidFill>
            </a:ln>
          </p:spPr>
          <p:txBody>
            <a:bodyPr wrap="square" lIns="0" tIns="0" rIns="0" bIns="0" rtlCol="0"/>
            <a:lstStyle/>
            <a:p/>
          </p:txBody>
        </p:sp>
        <p:sp>
          <p:nvSpPr>
            <p:cNvPr id="7" name="object 7" descr=""/>
            <p:cNvSpPr/>
            <p:nvPr/>
          </p:nvSpPr>
          <p:spPr>
            <a:xfrm>
              <a:off x="3893698" y="1280885"/>
              <a:ext cx="1642110" cy="1840230"/>
            </a:xfrm>
            <a:custGeom>
              <a:avLst/>
              <a:gdLst/>
              <a:ahLst/>
              <a:cxnLst/>
              <a:rect l="l" t="t" r="r" b="b"/>
              <a:pathLst>
                <a:path w="1642110" h="1840230">
                  <a:moveTo>
                    <a:pt x="1642021" y="0"/>
                  </a:moveTo>
                  <a:lnTo>
                    <a:pt x="0" y="1839849"/>
                  </a:lnTo>
                </a:path>
              </a:pathLst>
            </a:custGeom>
            <a:ln w="25400">
              <a:solidFill>
                <a:srgbClr val="B6DCDF"/>
              </a:solidFill>
            </a:ln>
          </p:spPr>
          <p:txBody>
            <a:bodyPr wrap="square" lIns="0" tIns="0" rIns="0" bIns="0" rtlCol="0"/>
            <a:lstStyle/>
            <a:p/>
          </p:txBody>
        </p:sp>
        <p:sp>
          <p:nvSpPr>
            <p:cNvPr id="8" name="object 8" descr=""/>
            <p:cNvSpPr/>
            <p:nvPr/>
          </p:nvSpPr>
          <p:spPr>
            <a:xfrm>
              <a:off x="5599408" y="3787297"/>
              <a:ext cx="0" cy="831215"/>
            </a:xfrm>
            <a:custGeom>
              <a:avLst/>
              <a:gdLst/>
              <a:ahLst/>
              <a:cxnLst/>
              <a:rect l="l" t="t" r="r" b="b"/>
              <a:pathLst>
                <a:path w="0" h="831214">
                  <a:moveTo>
                    <a:pt x="0" y="0"/>
                  </a:moveTo>
                  <a:lnTo>
                    <a:pt x="0" y="830999"/>
                  </a:lnTo>
                </a:path>
              </a:pathLst>
            </a:custGeom>
            <a:ln w="25400">
              <a:solidFill>
                <a:srgbClr val="B6DCDF"/>
              </a:solidFill>
            </a:ln>
          </p:spPr>
          <p:txBody>
            <a:bodyPr wrap="square" lIns="0" tIns="0" rIns="0" bIns="0" rtlCol="0"/>
            <a:lstStyle/>
            <a:p/>
          </p:txBody>
        </p:sp>
        <p:sp>
          <p:nvSpPr>
            <p:cNvPr id="9" name="object 9" descr=""/>
            <p:cNvSpPr/>
            <p:nvPr/>
          </p:nvSpPr>
          <p:spPr>
            <a:xfrm>
              <a:off x="5230320" y="3433636"/>
              <a:ext cx="369570" cy="463550"/>
            </a:xfrm>
            <a:custGeom>
              <a:avLst/>
              <a:gdLst/>
              <a:ahLst/>
              <a:cxnLst/>
              <a:rect l="l" t="t" r="r" b="b"/>
              <a:pathLst>
                <a:path w="369570" h="463550">
                  <a:moveTo>
                    <a:pt x="369087" y="463461"/>
                  </a:moveTo>
                  <a:lnTo>
                    <a:pt x="0" y="0"/>
                  </a:lnTo>
                </a:path>
              </a:pathLst>
            </a:custGeom>
            <a:ln w="25400">
              <a:solidFill>
                <a:srgbClr val="B6DCDF"/>
              </a:solidFill>
            </a:ln>
          </p:spPr>
          <p:txBody>
            <a:bodyPr wrap="square" lIns="0" tIns="0" rIns="0" bIns="0" rtlCol="0"/>
            <a:lstStyle/>
            <a:p/>
          </p:txBody>
        </p:sp>
      </p:grpSp>
      <p:sp>
        <p:nvSpPr>
          <p:cNvPr id="10" name="object 10" descr=""/>
          <p:cNvSpPr txBox="1"/>
          <p:nvPr/>
        </p:nvSpPr>
        <p:spPr>
          <a:xfrm>
            <a:off x="5689600" y="3787292"/>
            <a:ext cx="3236595" cy="831215"/>
          </a:xfrm>
          <a:prstGeom prst="rect">
            <a:avLst/>
          </a:prstGeom>
          <a:ln w="25400">
            <a:solidFill>
              <a:srgbClr val="B6DCDF"/>
            </a:solidFill>
          </a:ln>
        </p:spPr>
        <p:txBody>
          <a:bodyPr wrap="square" lIns="0" tIns="27305" rIns="0" bIns="0" rtlCol="0" vert="horz">
            <a:spAutoFit/>
          </a:bodyPr>
          <a:lstStyle/>
          <a:p>
            <a:pPr marL="433705" marR="270510" indent="-342900">
              <a:lnSpc>
                <a:spcPts val="2880"/>
              </a:lnSpc>
              <a:spcBef>
                <a:spcPts val="215"/>
              </a:spcBef>
              <a:tabLst>
                <a:tab pos="433705" algn="l"/>
              </a:tabLst>
            </a:pPr>
            <a:r>
              <a:rPr dirty="0" sz="1600" spc="-50">
                <a:latin typeface="Microsoft YaHei"/>
                <a:cs typeface="Microsoft YaHei"/>
              </a:rPr>
              <a:t>⑨</a:t>
            </a:r>
            <a:r>
              <a:rPr dirty="0" sz="1600">
                <a:latin typeface="Microsoft YaHei"/>
                <a:cs typeface="Microsoft YaHei"/>
              </a:rPr>
              <a:t>	</a:t>
            </a:r>
            <a:r>
              <a:rPr dirty="0" sz="1600" spc="-10">
                <a:latin typeface="Microsoft YaHei"/>
                <a:cs typeface="Microsoft YaHei"/>
              </a:rPr>
              <a:t>GPS</a:t>
            </a:r>
            <a:r>
              <a:rPr dirty="0" sz="1600">
                <a:latin typeface="Microsoft YaHei"/>
                <a:cs typeface="Microsoft YaHei"/>
              </a:rPr>
              <a:t>避雷器的</a:t>
            </a:r>
            <a:r>
              <a:rPr dirty="0" sz="1600" spc="-10">
                <a:latin typeface="Microsoft YaHei"/>
                <a:cs typeface="Microsoft YaHei"/>
              </a:rPr>
              <a:t>N-female</a:t>
            </a:r>
            <a:r>
              <a:rPr dirty="0" sz="1600" spc="-25">
                <a:latin typeface="Microsoft YaHei"/>
                <a:cs typeface="Microsoft YaHei"/>
              </a:rPr>
              <a:t>端与</a:t>
            </a:r>
            <a:r>
              <a:rPr dirty="0" sz="1600">
                <a:latin typeface="Microsoft YaHei"/>
                <a:cs typeface="Microsoft YaHei"/>
              </a:rPr>
              <a:t>传输馈线的N-</a:t>
            </a:r>
            <a:r>
              <a:rPr dirty="0" sz="1600" spc="-20">
                <a:latin typeface="Microsoft YaHei"/>
                <a:cs typeface="Microsoft YaHei"/>
              </a:rPr>
              <a:t>male</a:t>
            </a:r>
            <a:r>
              <a:rPr dirty="0" sz="1600" spc="-25">
                <a:latin typeface="Microsoft YaHei"/>
                <a:cs typeface="Microsoft YaHei"/>
              </a:rPr>
              <a:t>旋接</a:t>
            </a:r>
            <a:endParaRPr sz="1600">
              <a:latin typeface="Microsoft YaHei"/>
              <a:cs typeface="Microsoft YaHei"/>
            </a:endParaRPr>
          </a:p>
        </p:txBody>
      </p:sp>
      <p:grpSp>
        <p:nvGrpSpPr>
          <p:cNvPr id="11" name="object 11" descr=""/>
          <p:cNvGrpSpPr/>
          <p:nvPr/>
        </p:nvGrpSpPr>
        <p:grpSpPr>
          <a:xfrm>
            <a:off x="3786797" y="1704245"/>
            <a:ext cx="5117465" cy="1862455"/>
            <a:chOff x="3786797" y="1704245"/>
            <a:chExt cx="5117465" cy="1862455"/>
          </a:xfrm>
        </p:grpSpPr>
        <p:sp>
          <p:nvSpPr>
            <p:cNvPr id="12" name="object 12" descr=""/>
            <p:cNvSpPr/>
            <p:nvPr/>
          </p:nvSpPr>
          <p:spPr>
            <a:xfrm>
              <a:off x="3801084" y="3048692"/>
              <a:ext cx="342900" cy="503555"/>
            </a:xfrm>
            <a:custGeom>
              <a:avLst/>
              <a:gdLst/>
              <a:ahLst/>
              <a:cxnLst/>
              <a:rect l="l" t="t" r="r" b="b"/>
              <a:pathLst>
                <a:path w="342900" h="503554">
                  <a:moveTo>
                    <a:pt x="0" y="251612"/>
                  </a:moveTo>
                  <a:lnTo>
                    <a:pt x="4528" y="193918"/>
                  </a:lnTo>
                  <a:lnTo>
                    <a:pt x="17426" y="140956"/>
                  </a:lnTo>
                  <a:lnTo>
                    <a:pt x="37665" y="94236"/>
                  </a:lnTo>
                  <a:lnTo>
                    <a:pt x="64215" y="55270"/>
                  </a:lnTo>
                  <a:lnTo>
                    <a:pt x="96049" y="25568"/>
                  </a:lnTo>
                  <a:lnTo>
                    <a:pt x="132137" y="6641"/>
                  </a:lnTo>
                  <a:lnTo>
                    <a:pt x="171450" y="0"/>
                  </a:lnTo>
                  <a:lnTo>
                    <a:pt x="210762" y="6645"/>
                  </a:lnTo>
                  <a:lnTo>
                    <a:pt x="246850" y="25573"/>
                  </a:lnTo>
                  <a:lnTo>
                    <a:pt x="278684" y="55275"/>
                  </a:lnTo>
                  <a:lnTo>
                    <a:pt x="305234" y="94240"/>
                  </a:lnTo>
                  <a:lnTo>
                    <a:pt x="325473" y="140958"/>
                  </a:lnTo>
                  <a:lnTo>
                    <a:pt x="338371" y="193919"/>
                  </a:lnTo>
                  <a:lnTo>
                    <a:pt x="342900" y="251612"/>
                  </a:lnTo>
                  <a:lnTo>
                    <a:pt x="338371" y="309306"/>
                  </a:lnTo>
                  <a:lnTo>
                    <a:pt x="325473" y="362268"/>
                  </a:lnTo>
                  <a:lnTo>
                    <a:pt x="305234" y="408988"/>
                  </a:lnTo>
                  <a:lnTo>
                    <a:pt x="278684" y="447956"/>
                  </a:lnTo>
                  <a:lnTo>
                    <a:pt x="246850" y="477661"/>
                  </a:lnTo>
                  <a:lnTo>
                    <a:pt x="210762" y="496591"/>
                  </a:lnTo>
                  <a:lnTo>
                    <a:pt x="171450" y="503237"/>
                  </a:lnTo>
                  <a:lnTo>
                    <a:pt x="132137" y="496591"/>
                  </a:lnTo>
                  <a:lnTo>
                    <a:pt x="96049" y="477661"/>
                  </a:lnTo>
                  <a:lnTo>
                    <a:pt x="64215" y="447956"/>
                  </a:lnTo>
                  <a:lnTo>
                    <a:pt x="37665" y="408988"/>
                  </a:lnTo>
                  <a:lnTo>
                    <a:pt x="17426" y="362268"/>
                  </a:lnTo>
                  <a:lnTo>
                    <a:pt x="4528" y="309306"/>
                  </a:lnTo>
                  <a:lnTo>
                    <a:pt x="0" y="251612"/>
                  </a:lnTo>
                  <a:close/>
                </a:path>
              </a:pathLst>
            </a:custGeom>
            <a:ln w="28575">
              <a:solidFill>
                <a:srgbClr val="6699FF"/>
              </a:solidFill>
            </a:ln>
          </p:spPr>
          <p:txBody>
            <a:bodyPr wrap="square" lIns="0" tIns="0" rIns="0" bIns="0" rtlCol="0"/>
            <a:lstStyle/>
            <a:p/>
          </p:txBody>
        </p:sp>
        <p:sp>
          <p:nvSpPr>
            <p:cNvPr id="13" name="object 13" descr=""/>
            <p:cNvSpPr/>
            <p:nvPr/>
          </p:nvSpPr>
          <p:spPr>
            <a:xfrm>
              <a:off x="4896459" y="2947092"/>
              <a:ext cx="598805" cy="503555"/>
            </a:xfrm>
            <a:custGeom>
              <a:avLst/>
              <a:gdLst/>
              <a:ahLst/>
              <a:cxnLst/>
              <a:rect l="l" t="t" r="r" b="b"/>
              <a:pathLst>
                <a:path w="598804" h="503554">
                  <a:moveTo>
                    <a:pt x="0" y="251612"/>
                  </a:moveTo>
                  <a:lnTo>
                    <a:pt x="4821" y="206384"/>
                  </a:lnTo>
                  <a:lnTo>
                    <a:pt x="18721" y="163815"/>
                  </a:lnTo>
                  <a:lnTo>
                    <a:pt x="40854" y="124618"/>
                  </a:lnTo>
                  <a:lnTo>
                    <a:pt x="70377" y="89501"/>
                  </a:lnTo>
                  <a:lnTo>
                    <a:pt x="106444" y="59175"/>
                  </a:lnTo>
                  <a:lnTo>
                    <a:pt x="148209" y="34352"/>
                  </a:lnTo>
                  <a:lnTo>
                    <a:pt x="194829" y="15741"/>
                  </a:lnTo>
                  <a:lnTo>
                    <a:pt x="245457" y="4053"/>
                  </a:lnTo>
                  <a:lnTo>
                    <a:pt x="299250" y="0"/>
                  </a:lnTo>
                  <a:lnTo>
                    <a:pt x="353038" y="4053"/>
                  </a:lnTo>
                  <a:lnTo>
                    <a:pt x="403664" y="15741"/>
                  </a:lnTo>
                  <a:lnTo>
                    <a:pt x="450281" y="34352"/>
                  </a:lnTo>
                  <a:lnTo>
                    <a:pt x="492045" y="59175"/>
                  </a:lnTo>
                  <a:lnTo>
                    <a:pt x="528110" y="89501"/>
                  </a:lnTo>
                  <a:lnTo>
                    <a:pt x="557633" y="124618"/>
                  </a:lnTo>
                  <a:lnTo>
                    <a:pt x="579766" y="163815"/>
                  </a:lnTo>
                  <a:lnTo>
                    <a:pt x="593666" y="206384"/>
                  </a:lnTo>
                  <a:lnTo>
                    <a:pt x="598487" y="251612"/>
                  </a:lnTo>
                  <a:lnTo>
                    <a:pt x="593666" y="296840"/>
                  </a:lnTo>
                  <a:lnTo>
                    <a:pt x="579766" y="339410"/>
                  </a:lnTo>
                  <a:lnTo>
                    <a:pt x="557633" y="378610"/>
                  </a:lnTo>
                  <a:lnTo>
                    <a:pt x="528110" y="413729"/>
                  </a:lnTo>
                  <a:lnTo>
                    <a:pt x="492045" y="444056"/>
                  </a:lnTo>
                  <a:lnTo>
                    <a:pt x="450281" y="468882"/>
                  </a:lnTo>
                  <a:lnTo>
                    <a:pt x="403664" y="487494"/>
                  </a:lnTo>
                  <a:lnTo>
                    <a:pt x="353038" y="499183"/>
                  </a:lnTo>
                  <a:lnTo>
                    <a:pt x="299250" y="503237"/>
                  </a:lnTo>
                  <a:lnTo>
                    <a:pt x="245457" y="499183"/>
                  </a:lnTo>
                  <a:lnTo>
                    <a:pt x="194829" y="487494"/>
                  </a:lnTo>
                  <a:lnTo>
                    <a:pt x="148209" y="468882"/>
                  </a:lnTo>
                  <a:lnTo>
                    <a:pt x="106444" y="444056"/>
                  </a:lnTo>
                  <a:lnTo>
                    <a:pt x="70377" y="413729"/>
                  </a:lnTo>
                  <a:lnTo>
                    <a:pt x="40854" y="378610"/>
                  </a:lnTo>
                  <a:lnTo>
                    <a:pt x="18721" y="339410"/>
                  </a:lnTo>
                  <a:lnTo>
                    <a:pt x="4821" y="296840"/>
                  </a:lnTo>
                  <a:lnTo>
                    <a:pt x="0" y="251612"/>
                  </a:lnTo>
                  <a:close/>
                </a:path>
              </a:pathLst>
            </a:custGeom>
            <a:ln w="28575">
              <a:solidFill>
                <a:srgbClr val="6699FF"/>
              </a:solidFill>
            </a:ln>
          </p:spPr>
          <p:txBody>
            <a:bodyPr wrap="square" lIns="0" tIns="0" rIns="0" bIns="0" rtlCol="0"/>
            <a:lstStyle/>
            <a:p/>
          </p:txBody>
        </p:sp>
        <p:sp>
          <p:nvSpPr>
            <p:cNvPr id="14" name="object 14" descr=""/>
            <p:cNvSpPr/>
            <p:nvPr/>
          </p:nvSpPr>
          <p:spPr>
            <a:xfrm>
              <a:off x="5626709" y="1716951"/>
              <a:ext cx="3265170" cy="788035"/>
            </a:xfrm>
            <a:custGeom>
              <a:avLst/>
              <a:gdLst/>
              <a:ahLst/>
              <a:cxnLst/>
              <a:rect l="l" t="t" r="r" b="b"/>
              <a:pathLst>
                <a:path w="3265170" h="788035">
                  <a:moveTo>
                    <a:pt x="0" y="0"/>
                  </a:moveTo>
                  <a:lnTo>
                    <a:pt x="3264712" y="0"/>
                  </a:lnTo>
                  <a:lnTo>
                    <a:pt x="3264712" y="787526"/>
                  </a:lnTo>
                  <a:lnTo>
                    <a:pt x="0" y="787526"/>
                  </a:lnTo>
                  <a:lnTo>
                    <a:pt x="0" y="0"/>
                  </a:lnTo>
                  <a:close/>
                </a:path>
              </a:pathLst>
            </a:custGeom>
            <a:ln w="25400">
              <a:solidFill>
                <a:srgbClr val="B6DCDF"/>
              </a:solidFill>
            </a:ln>
          </p:spPr>
          <p:txBody>
            <a:bodyPr wrap="square" lIns="0" tIns="0" rIns="0" bIns="0" rtlCol="0"/>
            <a:lstStyle/>
            <a:p/>
          </p:txBody>
        </p:sp>
        <p:sp>
          <p:nvSpPr>
            <p:cNvPr id="15" name="object 15" descr=""/>
            <p:cNvSpPr/>
            <p:nvPr/>
          </p:nvSpPr>
          <p:spPr>
            <a:xfrm>
              <a:off x="5538985" y="1716945"/>
              <a:ext cx="0" cy="788035"/>
            </a:xfrm>
            <a:custGeom>
              <a:avLst/>
              <a:gdLst/>
              <a:ahLst/>
              <a:cxnLst/>
              <a:rect l="l" t="t" r="r" b="b"/>
              <a:pathLst>
                <a:path w="0" h="788035">
                  <a:moveTo>
                    <a:pt x="0" y="0"/>
                  </a:moveTo>
                  <a:lnTo>
                    <a:pt x="0" y="787527"/>
                  </a:lnTo>
                </a:path>
              </a:pathLst>
            </a:custGeom>
            <a:ln w="25400">
              <a:solidFill>
                <a:srgbClr val="B6DCDF"/>
              </a:solidFill>
            </a:ln>
          </p:spPr>
          <p:txBody>
            <a:bodyPr wrap="square" lIns="0" tIns="0" rIns="0" bIns="0" rtlCol="0"/>
            <a:lstStyle/>
            <a:p/>
          </p:txBody>
        </p:sp>
        <p:sp>
          <p:nvSpPr>
            <p:cNvPr id="16" name="object 16" descr=""/>
            <p:cNvSpPr/>
            <p:nvPr/>
          </p:nvSpPr>
          <p:spPr>
            <a:xfrm>
              <a:off x="5082573" y="1845713"/>
              <a:ext cx="1108075" cy="1194435"/>
            </a:xfrm>
            <a:custGeom>
              <a:avLst/>
              <a:gdLst/>
              <a:ahLst/>
              <a:cxnLst/>
              <a:rect l="l" t="t" r="r" b="b"/>
              <a:pathLst>
                <a:path w="1108075" h="1194435">
                  <a:moveTo>
                    <a:pt x="456412" y="0"/>
                  </a:moveTo>
                  <a:lnTo>
                    <a:pt x="0" y="18897"/>
                  </a:lnTo>
                  <a:lnTo>
                    <a:pt x="0" y="658749"/>
                  </a:lnTo>
                  <a:lnTo>
                    <a:pt x="1107820" y="1194219"/>
                  </a:lnTo>
                </a:path>
              </a:pathLst>
            </a:custGeom>
            <a:ln w="25400">
              <a:solidFill>
                <a:srgbClr val="B6DCDF"/>
              </a:solidFill>
            </a:ln>
          </p:spPr>
          <p:txBody>
            <a:bodyPr wrap="square" lIns="0" tIns="0" rIns="0" bIns="0" rtlCol="0"/>
            <a:lstStyle/>
            <a:p/>
          </p:txBody>
        </p:sp>
      </p:grpSp>
      <p:sp>
        <p:nvSpPr>
          <p:cNvPr id="17" name="object 17" descr=""/>
          <p:cNvSpPr txBox="1"/>
          <p:nvPr/>
        </p:nvSpPr>
        <p:spPr>
          <a:xfrm>
            <a:off x="5639409" y="1323770"/>
            <a:ext cx="3239770" cy="1132840"/>
          </a:xfrm>
          <a:prstGeom prst="rect">
            <a:avLst/>
          </a:prstGeom>
        </p:spPr>
        <p:txBody>
          <a:bodyPr wrap="square" lIns="0" tIns="12700" rIns="0" bIns="0" rtlCol="0" vert="horz">
            <a:spAutoFit/>
          </a:bodyPr>
          <a:lstStyle/>
          <a:p>
            <a:pPr marL="78105">
              <a:lnSpc>
                <a:spcPct val="100000"/>
              </a:lnSpc>
              <a:spcBef>
                <a:spcPts val="100"/>
              </a:spcBef>
              <a:tabLst>
                <a:tab pos="421005" algn="l"/>
              </a:tabLst>
            </a:pPr>
            <a:r>
              <a:rPr dirty="0" sz="1600" spc="-50">
                <a:latin typeface="Microsoft YaHei"/>
                <a:cs typeface="Microsoft YaHei"/>
              </a:rPr>
              <a:t>⑧</a:t>
            </a:r>
            <a:r>
              <a:rPr dirty="0" sz="1600">
                <a:latin typeface="Microsoft YaHei"/>
                <a:cs typeface="Microsoft YaHei"/>
              </a:rPr>
              <a:t>	安装上</a:t>
            </a:r>
            <a:r>
              <a:rPr dirty="0" sz="1600" spc="-10">
                <a:latin typeface="Microsoft YaHei"/>
                <a:cs typeface="Microsoft YaHei"/>
              </a:rPr>
              <a:t>GPS</a:t>
            </a:r>
            <a:r>
              <a:rPr dirty="0" sz="1600" spc="-15">
                <a:latin typeface="Microsoft YaHei"/>
                <a:cs typeface="Microsoft YaHei"/>
              </a:rPr>
              <a:t>避雷器接地件</a:t>
            </a:r>
            <a:endParaRPr sz="1600">
              <a:latin typeface="Microsoft YaHei"/>
              <a:cs typeface="Microsoft YaHei"/>
            </a:endParaRPr>
          </a:p>
          <a:p>
            <a:pPr marL="421005" marR="266700" indent="-342900">
              <a:lnSpc>
                <a:spcPct val="150000"/>
              </a:lnSpc>
              <a:spcBef>
                <a:spcPts val="1035"/>
              </a:spcBef>
              <a:tabLst>
                <a:tab pos="421005" algn="l"/>
              </a:tabLst>
            </a:pPr>
            <a:r>
              <a:rPr dirty="0" sz="1600" spc="-50">
                <a:latin typeface="Microsoft YaHei"/>
                <a:cs typeface="Microsoft YaHei"/>
              </a:rPr>
              <a:t>⑩</a:t>
            </a:r>
            <a:r>
              <a:rPr dirty="0" sz="1600">
                <a:latin typeface="Microsoft YaHei"/>
                <a:cs typeface="Microsoft YaHei"/>
              </a:rPr>
              <a:t>	传输馈线的N-</a:t>
            </a:r>
            <a:r>
              <a:rPr dirty="0" sz="1600" spc="-20">
                <a:latin typeface="Microsoft YaHei"/>
                <a:cs typeface="Microsoft YaHei"/>
              </a:rPr>
              <a:t>male</a:t>
            </a:r>
            <a:r>
              <a:rPr dirty="0" sz="1600">
                <a:latin typeface="Microsoft YaHei"/>
                <a:cs typeface="Microsoft YaHei"/>
              </a:rPr>
              <a:t>与</a:t>
            </a:r>
            <a:r>
              <a:rPr dirty="0" sz="1600" spc="-10">
                <a:latin typeface="Microsoft YaHei"/>
                <a:cs typeface="Microsoft YaHei"/>
              </a:rPr>
              <a:t>GPS</a:t>
            </a:r>
            <a:r>
              <a:rPr dirty="0" sz="1600" spc="-50">
                <a:latin typeface="Microsoft YaHei"/>
                <a:cs typeface="Microsoft YaHei"/>
              </a:rPr>
              <a:t>下</a:t>
            </a:r>
            <a:r>
              <a:rPr dirty="0" sz="1600">
                <a:latin typeface="Microsoft YaHei"/>
                <a:cs typeface="Microsoft YaHei"/>
              </a:rPr>
              <a:t>跳线的N-</a:t>
            </a:r>
            <a:r>
              <a:rPr dirty="0" sz="1600" spc="-10">
                <a:latin typeface="Microsoft YaHei"/>
                <a:cs typeface="Microsoft YaHei"/>
              </a:rPr>
              <a:t>female</a:t>
            </a:r>
            <a:r>
              <a:rPr dirty="0" sz="1600" spc="-25">
                <a:latin typeface="Microsoft YaHei"/>
                <a:cs typeface="Microsoft YaHei"/>
              </a:rPr>
              <a:t>旋接</a:t>
            </a:r>
            <a:endParaRPr sz="1600">
              <a:latin typeface="Microsoft YaHei"/>
              <a:cs typeface="Microsoft YaHei"/>
            </a:endParaRPr>
          </a:p>
        </p:txBody>
      </p:sp>
      <p:grpSp>
        <p:nvGrpSpPr>
          <p:cNvPr id="18" name="object 18" descr=""/>
          <p:cNvGrpSpPr/>
          <p:nvPr/>
        </p:nvGrpSpPr>
        <p:grpSpPr>
          <a:xfrm>
            <a:off x="575538" y="895350"/>
            <a:ext cx="6453505" cy="2561590"/>
            <a:chOff x="575538" y="895350"/>
            <a:chExt cx="6453505" cy="2561590"/>
          </a:xfrm>
        </p:grpSpPr>
        <p:sp>
          <p:nvSpPr>
            <p:cNvPr id="19" name="object 19" descr=""/>
            <p:cNvSpPr/>
            <p:nvPr/>
          </p:nvSpPr>
          <p:spPr>
            <a:xfrm>
              <a:off x="5991834" y="2939153"/>
              <a:ext cx="1022350" cy="503555"/>
            </a:xfrm>
            <a:custGeom>
              <a:avLst/>
              <a:gdLst/>
              <a:ahLst/>
              <a:cxnLst/>
              <a:rect l="l" t="t" r="r" b="b"/>
              <a:pathLst>
                <a:path w="1022350" h="503554">
                  <a:moveTo>
                    <a:pt x="0" y="251612"/>
                  </a:moveTo>
                  <a:lnTo>
                    <a:pt x="15612" y="189658"/>
                  </a:lnTo>
                  <a:lnTo>
                    <a:pt x="59893" y="133327"/>
                  </a:lnTo>
                  <a:lnTo>
                    <a:pt x="91587" y="107860"/>
                  </a:lnTo>
                  <a:lnTo>
                    <a:pt x="129010" y="84505"/>
                  </a:lnTo>
                  <a:lnTo>
                    <a:pt x="171685" y="63500"/>
                  </a:lnTo>
                  <a:lnTo>
                    <a:pt x="219132" y="45080"/>
                  </a:lnTo>
                  <a:lnTo>
                    <a:pt x="270871" y="29480"/>
                  </a:lnTo>
                  <a:lnTo>
                    <a:pt x="326424" y="16936"/>
                  </a:lnTo>
                  <a:lnTo>
                    <a:pt x="385312" y="7684"/>
                  </a:lnTo>
                  <a:lnTo>
                    <a:pt x="447055" y="1960"/>
                  </a:lnTo>
                  <a:lnTo>
                    <a:pt x="511175" y="0"/>
                  </a:lnTo>
                  <a:lnTo>
                    <a:pt x="575294" y="1960"/>
                  </a:lnTo>
                  <a:lnTo>
                    <a:pt x="637037" y="7684"/>
                  </a:lnTo>
                  <a:lnTo>
                    <a:pt x="695925" y="16936"/>
                  </a:lnTo>
                  <a:lnTo>
                    <a:pt x="751478" y="29480"/>
                  </a:lnTo>
                  <a:lnTo>
                    <a:pt x="803217" y="45080"/>
                  </a:lnTo>
                  <a:lnTo>
                    <a:pt x="850664" y="63500"/>
                  </a:lnTo>
                  <a:lnTo>
                    <a:pt x="893339" y="84505"/>
                  </a:lnTo>
                  <a:lnTo>
                    <a:pt x="930762" y="107860"/>
                  </a:lnTo>
                  <a:lnTo>
                    <a:pt x="962456" y="133327"/>
                  </a:lnTo>
                  <a:lnTo>
                    <a:pt x="1006737" y="189658"/>
                  </a:lnTo>
                  <a:lnTo>
                    <a:pt x="1022350" y="251612"/>
                  </a:lnTo>
                  <a:lnTo>
                    <a:pt x="1018367" y="283174"/>
                  </a:lnTo>
                  <a:lnTo>
                    <a:pt x="1006737" y="313567"/>
                  </a:lnTo>
                  <a:lnTo>
                    <a:pt x="962456" y="369900"/>
                  </a:lnTo>
                  <a:lnTo>
                    <a:pt x="930762" y="395368"/>
                  </a:lnTo>
                  <a:lnTo>
                    <a:pt x="893339" y="418724"/>
                  </a:lnTo>
                  <a:lnTo>
                    <a:pt x="850664" y="439731"/>
                  </a:lnTo>
                  <a:lnTo>
                    <a:pt x="803217" y="458153"/>
                  </a:lnTo>
                  <a:lnTo>
                    <a:pt x="751478" y="473754"/>
                  </a:lnTo>
                  <a:lnTo>
                    <a:pt x="695925" y="486299"/>
                  </a:lnTo>
                  <a:lnTo>
                    <a:pt x="637037" y="495552"/>
                  </a:lnTo>
                  <a:lnTo>
                    <a:pt x="575294" y="501276"/>
                  </a:lnTo>
                  <a:lnTo>
                    <a:pt x="511175" y="503237"/>
                  </a:lnTo>
                  <a:lnTo>
                    <a:pt x="447055" y="501276"/>
                  </a:lnTo>
                  <a:lnTo>
                    <a:pt x="385312" y="495552"/>
                  </a:lnTo>
                  <a:lnTo>
                    <a:pt x="326424" y="486299"/>
                  </a:lnTo>
                  <a:lnTo>
                    <a:pt x="270871" y="473754"/>
                  </a:lnTo>
                  <a:lnTo>
                    <a:pt x="219132" y="458153"/>
                  </a:lnTo>
                  <a:lnTo>
                    <a:pt x="171685" y="439731"/>
                  </a:lnTo>
                  <a:lnTo>
                    <a:pt x="129010" y="418724"/>
                  </a:lnTo>
                  <a:lnTo>
                    <a:pt x="91587" y="395368"/>
                  </a:lnTo>
                  <a:lnTo>
                    <a:pt x="59893" y="369900"/>
                  </a:lnTo>
                  <a:lnTo>
                    <a:pt x="15612" y="313567"/>
                  </a:lnTo>
                  <a:lnTo>
                    <a:pt x="0" y="251612"/>
                  </a:lnTo>
                  <a:close/>
                </a:path>
              </a:pathLst>
            </a:custGeom>
            <a:ln w="28575">
              <a:solidFill>
                <a:srgbClr val="6699FF"/>
              </a:solidFill>
            </a:ln>
          </p:spPr>
          <p:txBody>
            <a:bodyPr wrap="square" lIns="0" tIns="0" rIns="0" bIns="0" rtlCol="0"/>
            <a:lstStyle/>
            <a:p/>
          </p:txBody>
        </p:sp>
        <p:pic>
          <p:nvPicPr>
            <p:cNvPr id="20" name="object 20" descr=""/>
            <p:cNvPicPr/>
            <p:nvPr/>
          </p:nvPicPr>
          <p:blipFill>
            <a:blip r:embed="rId3" cstate="print"/>
            <a:stretch>
              <a:fillRect/>
            </a:stretch>
          </p:blipFill>
          <p:spPr>
            <a:xfrm>
              <a:off x="575538" y="895350"/>
              <a:ext cx="2283523" cy="380263"/>
            </a:xfrm>
            <a:prstGeom prst="rect">
              <a:avLst/>
            </a:prstGeom>
          </p:spPr>
        </p:pic>
      </p:grpSp>
      <p:sp>
        <p:nvSpPr>
          <p:cNvPr id="21" name="object 21" descr=""/>
          <p:cNvSpPr txBox="1"/>
          <p:nvPr/>
        </p:nvSpPr>
        <p:spPr>
          <a:xfrm>
            <a:off x="329565" y="3763167"/>
            <a:ext cx="4125595" cy="848360"/>
          </a:xfrm>
          <a:prstGeom prst="rect">
            <a:avLst/>
          </a:prstGeom>
        </p:spPr>
        <p:txBody>
          <a:bodyPr wrap="square" lIns="0" tIns="12700" rIns="0" bIns="0" rtlCol="0" vert="horz">
            <a:spAutoFit/>
          </a:bodyPr>
          <a:lstStyle/>
          <a:p>
            <a:pPr marL="12700" marR="5080">
              <a:lnSpc>
                <a:spcPct val="150000"/>
              </a:lnSpc>
              <a:spcBef>
                <a:spcPts val="100"/>
              </a:spcBef>
            </a:pPr>
            <a:r>
              <a:rPr dirty="0" sz="1800" spc="-5">
                <a:latin typeface="Microsoft YaHei"/>
                <a:cs typeface="Microsoft YaHei"/>
              </a:rPr>
              <a:t>注意：</a:t>
            </a:r>
            <a:r>
              <a:rPr dirty="0" sz="1800" spc="-10">
                <a:latin typeface="Microsoft YaHei"/>
                <a:cs typeface="Microsoft YaHei"/>
              </a:rPr>
              <a:t>GPS</a:t>
            </a:r>
            <a:r>
              <a:rPr dirty="0" sz="1800" spc="-5">
                <a:latin typeface="Microsoft YaHei"/>
                <a:cs typeface="Microsoft YaHei"/>
              </a:rPr>
              <a:t>避雷器标识，“设备端”朝向</a:t>
            </a:r>
            <a:r>
              <a:rPr dirty="0" sz="1800">
                <a:latin typeface="Microsoft YaHei"/>
                <a:cs typeface="Microsoft YaHei"/>
              </a:rPr>
              <a:t>主设备，连接</a:t>
            </a:r>
            <a:r>
              <a:rPr dirty="0" sz="1800" spc="-10">
                <a:latin typeface="Microsoft YaHei"/>
                <a:cs typeface="Microsoft YaHei"/>
              </a:rPr>
              <a:t>GPS</a:t>
            </a:r>
            <a:r>
              <a:rPr dirty="0" sz="1800" spc="-20">
                <a:latin typeface="Microsoft YaHei"/>
                <a:cs typeface="Microsoft YaHei"/>
              </a:rPr>
              <a:t>下跳线</a:t>
            </a:r>
            <a:endParaRPr sz="1800">
              <a:latin typeface="Microsoft YaHei"/>
              <a:cs typeface="Microsoft YaHei"/>
            </a:endParaRPr>
          </a:p>
        </p:txBody>
      </p:sp>
      <p:sp>
        <p:nvSpPr>
          <p:cNvPr id="22" name="object 22" descr=""/>
          <p:cNvSpPr txBox="1"/>
          <p:nvPr/>
        </p:nvSpPr>
        <p:spPr>
          <a:xfrm>
            <a:off x="777829" y="927237"/>
            <a:ext cx="1879600" cy="299720"/>
          </a:xfrm>
          <a:prstGeom prst="rect">
            <a:avLst/>
          </a:prstGeom>
        </p:spPr>
        <p:txBody>
          <a:bodyPr wrap="square" lIns="0" tIns="12700" rIns="0" bIns="0" rtlCol="0" vert="horz">
            <a:spAutoFit/>
          </a:bodyPr>
          <a:lstStyle/>
          <a:p>
            <a:pPr marL="12700">
              <a:lnSpc>
                <a:spcPct val="100000"/>
              </a:lnSpc>
              <a:spcBef>
                <a:spcPts val="100"/>
              </a:spcBef>
            </a:pPr>
            <a:r>
              <a:rPr dirty="0" sz="1800" spc="-10">
                <a:latin typeface="Arial MT"/>
                <a:cs typeface="Arial MT"/>
              </a:rPr>
              <a:t>GPS</a:t>
            </a:r>
            <a:r>
              <a:rPr dirty="0" sz="1800" spc="-10">
                <a:latin typeface="Microsoft YaHei"/>
                <a:cs typeface="Microsoft YaHei"/>
              </a:rPr>
              <a:t>系统安装规范</a:t>
            </a:r>
            <a:endParaRPr sz="1800">
              <a:latin typeface="Microsoft YaHei"/>
              <a:cs typeface="Microsoft YaHe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7689" y="113125"/>
            <a:ext cx="4069079" cy="513080"/>
          </a:xfrm>
          <a:prstGeom prst="rect"/>
        </p:spPr>
        <p:txBody>
          <a:bodyPr wrap="square" lIns="0" tIns="12065" rIns="0" bIns="0" rtlCol="0" vert="horz">
            <a:spAutoFit/>
          </a:bodyPr>
          <a:lstStyle/>
          <a:p>
            <a:pPr marL="12700">
              <a:lnSpc>
                <a:spcPct val="100000"/>
              </a:lnSpc>
              <a:spcBef>
                <a:spcPts val="95"/>
              </a:spcBef>
            </a:pPr>
            <a:r>
              <a:rPr dirty="0" spc="-10">
                <a:latin typeface="Times New Roman"/>
                <a:cs typeface="Times New Roman"/>
              </a:rPr>
              <a:t>GPS</a:t>
            </a:r>
            <a:r>
              <a:rPr dirty="0" spc="-45"/>
              <a:t>系统安装工程规范</a:t>
            </a:r>
          </a:p>
        </p:txBody>
      </p:sp>
      <p:pic>
        <p:nvPicPr>
          <p:cNvPr id="3" name="object 3" descr=""/>
          <p:cNvPicPr/>
          <p:nvPr/>
        </p:nvPicPr>
        <p:blipFill>
          <a:blip r:embed="rId2" cstate="print"/>
          <a:stretch>
            <a:fillRect/>
          </a:stretch>
        </p:blipFill>
        <p:spPr>
          <a:xfrm>
            <a:off x="609600" y="895350"/>
            <a:ext cx="2844330" cy="530771"/>
          </a:xfrm>
          <a:prstGeom prst="rect">
            <a:avLst/>
          </a:prstGeom>
        </p:spPr>
      </p:pic>
      <p:sp>
        <p:nvSpPr>
          <p:cNvPr id="4" name="object 4" descr=""/>
          <p:cNvSpPr txBox="1"/>
          <p:nvPr/>
        </p:nvSpPr>
        <p:spPr>
          <a:xfrm>
            <a:off x="329565" y="1002493"/>
            <a:ext cx="8478520" cy="3423285"/>
          </a:xfrm>
          <a:prstGeom prst="rect">
            <a:avLst/>
          </a:prstGeom>
        </p:spPr>
        <p:txBody>
          <a:bodyPr wrap="square" lIns="0" tIns="12700" rIns="0" bIns="0" rtlCol="0" vert="horz">
            <a:spAutoFit/>
          </a:bodyPr>
          <a:lstStyle/>
          <a:p>
            <a:pPr marL="774700">
              <a:lnSpc>
                <a:spcPct val="100000"/>
              </a:lnSpc>
              <a:spcBef>
                <a:spcPts val="100"/>
              </a:spcBef>
            </a:pPr>
            <a:r>
              <a:rPr dirty="0" sz="1800" spc="-10">
                <a:latin typeface="Arial MT"/>
                <a:cs typeface="Arial MT"/>
              </a:rPr>
              <a:t>GPS</a:t>
            </a:r>
            <a:r>
              <a:rPr dirty="0" sz="1800" spc="-10">
                <a:latin typeface="Microsoft YaHei"/>
                <a:cs typeface="Microsoft YaHei"/>
              </a:rPr>
              <a:t>天线安装规范</a:t>
            </a:r>
            <a:endParaRPr sz="1800">
              <a:latin typeface="Microsoft YaHei"/>
              <a:cs typeface="Microsoft YaHei"/>
            </a:endParaRPr>
          </a:p>
          <a:p>
            <a:pPr marL="297815" indent="-285115">
              <a:lnSpc>
                <a:spcPct val="100000"/>
              </a:lnSpc>
              <a:spcBef>
                <a:spcPts val="2510"/>
              </a:spcBef>
              <a:buFont typeface="Wingdings"/>
              <a:buChar char=""/>
              <a:tabLst>
                <a:tab pos="297815" algn="l"/>
              </a:tabLst>
            </a:pPr>
            <a:r>
              <a:rPr dirty="0" sz="1600">
                <a:latin typeface="Microsoft YaHei"/>
                <a:cs typeface="Microsoft YaHei"/>
              </a:rPr>
              <a:t>两个或多个</a:t>
            </a:r>
            <a:r>
              <a:rPr dirty="0" sz="1600" spc="-10">
                <a:latin typeface="Microsoft YaHei"/>
                <a:cs typeface="Microsoft YaHei"/>
              </a:rPr>
              <a:t>GPS/北斗天线安装时要保持2m</a:t>
            </a:r>
            <a:r>
              <a:rPr dirty="0" sz="1600" spc="-15">
                <a:latin typeface="Microsoft YaHei"/>
                <a:cs typeface="Microsoft YaHei"/>
              </a:rPr>
              <a:t>以上的间距；</a:t>
            </a:r>
            <a:endParaRPr sz="1600">
              <a:latin typeface="Microsoft YaHei"/>
              <a:cs typeface="Microsoft YaHei"/>
            </a:endParaRPr>
          </a:p>
          <a:p>
            <a:pPr marL="297815" indent="-285115">
              <a:lnSpc>
                <a:spcPct val="100000"/>
              </a:lnSpc>
              <a:spcBef>
                <a:spcPts val="960"/>
              </a:spcBef>
              <a:buFont typeface="Wingdings"/>
              <a:buChar char=""/>
              <a:tabLst>
                <a:tab pos="297815" algn="l"/>
              </a:tabLst>
            </a:pPr>
            <a:r>
              <a:rPr dirty="0" sz="1600">
                <a:latin typeface="Microsoft YaHei"/>
                <a:cs typeface="Microsoft YaHei"/>
              </a:rPr>
              <a:t>GPS /北斗天线与周围尺寸大于</a:t>
            </a:r>
            <a:r>
              <a:rPr dirty="0" sz="1600" spc="-10">
                <a:latin typeface="Microsoft YaHei"/>
                <a:cs typeface="Microsoft YaHei"/>
              </a:rPr>
              <a:t>200mm的金属物距离保持在2m</a:t>
            </a:r>
            <a:r>
              <a:rPr dirty="0" sz="1600" spc="-20">
                <a:latin typeface="Microsoft YaHei"/>
                <a:cs typeface="Microsoft YaHei"/>
              </a:rPr>
              <a:t>以上；</a:t>
            </a:r>
            <a:endParaRPr sz="1600">
              <a:latin typeface="Microsoft YaHei"/>
              <a:cs typeface="Microsoft YaHei"/>
            </a:endParaRPr>
          </a:p>
          <a:p>
            <a:pPr marL="297815" indent="-285115">
              <a:lnSpc>
                <a:spcPct val="100000"/>
              </a:lnSpc>
              <a:spcBef>
                <a:spcPts val="960"/>
              </a:spcBef>
              <a:buFont typeface="Wingdings"/>
              <a:buChar char=""/>
              <a:tabLst>
                <a:tab pos="297815" algn="l"/>
              </a:tabLst>
            </a:pPr>
            <a:r>
              <a:rPr dirty="0" sz="1600">
                <a:latin typeface="Microsoft YaHei"/>
                <a:cs typeface="Microsoft YaHei"/>
              </a:rPr>
              <a:t>GPS</a:t>
            </a:r>
            <a:r>
              <a:rPr dirty="0" sz="1600" spc="-15">
                <a:latin typeface="Microsoft YaHei"/>
                <a:cs typeface="Microsoft YaHei"/>
              </a:rPr>
              <a:t> /北斗牢固的安装在抱杆上,且天线底部高出抱杆顶部</a:t>
            </a:r>
            <a:r>
              <a:rPr dirty="0" sz="1600" spc="-10">
                <a:latin typeface="Microsoft YaHei"/>
                <a:cs typeface="Microsoft YaHei"/>
              </a:rPr>
              <a:t>200mm；</a:t>
            </a:r>
            <a:endParaRPr sz="1600">
              <a:latin typeface="Microsoft YaHei"/>
              <a:cs typeface="Microsoft YaHei"/>
            </a:endParaRPr>
          </a:p>
          <a:p>
            <a:pPr marL="297815" marR="384175" indent="-285750">
              <a:lnSpc>
                <a:spcPct val="150000"/>
              </a:lnSpc>
              <a:buFont typeface="Wingdings"/>
              <a:buChar char=""/>
              <a:tabLst>
                <a:tab pos="297815" algn="l"/>
              </a:tabLst>
            </a:pPr>
            <a:r>
              <a:rPr dirty="0" sz="1600">
                <a:latin typeface="Microsoft YaHei"/>
                <a:cs typeface="Microsoft YaHei"/>
              </a:rPr>
              <a:t>GPS</a:t>
            </a:r>
            <a:r>
              <a:rPr dirty="0" sz="1600" spc="-15">
                <a:latin typeface="Microsoft YaHei"/>
                <a:cs typeface="Microsoft YaHei"/>
              </a:rPr>
              <a:t> /北斗线路放大器应安装于避雷器与</a:t>
            </a:r>
            <a:r>
              <a:rPr dirty="0" sz="1600">
                <a:latin typeface="Microsoft YaHei"/>
                <a:cs typeface="Microsoft YaHei"/>
              </a:rPr>
              <a:t>GPS</a:t>
            </a:r>
            <a:r>
              <a:rPr dirty="0" sz="1600" spc="-20">
                <a:latin typeface="Microsoft YaHei"/>
                <a:cs typeface="Microsoft YaHei"/>
              </a:rPr>
              <a:t> /北斗天线之间，且相对靠近天线的位置，</a:t>
            </a:r>
            <a:r>
              <a:rPr dirty="0" sz="1600" spc="-50">
                <a:latin typeface="Microsoft YaHei"/>
                <a:cs typeface="Microsoft YaHei"/>
              </a:rPr>
              <a:t> </a:t>
            </a:r>
            <a:r>
              <a:rPr dirty="0" sz="1600">
                <a:latin typeface="Microsoft YaHei"/>
                <a:cs typeface="Microsoft YaHei"/>
              </a:rPr>
              <a:t>GPS</a:t>
            </a:r>
            <a:r>
              <a:rPr dirty="0" sz="1600" spc="-20">
                <a:latin typeface="Microsoft YaHei"/>
                <a:cs typeface="Microsoft YaHei"/>
              </a:rPr>
              <a:t> /北斗线路放大器及其接头处均应进行防水处理；</a:t>
            </a:r>
            <a:endParaRPr sz="1600">
              <a:latin typeface="Microsoft YaHei"/>
              <a:cs typeface="Microsoft YaHei"/>
            </a:endParaRPr>
          </a:p>
          <a:p>
            <a:pPr marL="297815" indent="-285115">
              <a:lnSpc>
                <a:spcPct val="100000"/>
              </a:lnSpc>
              <a:spcBef>
                <a:spcPts val="960"/>
              </a:spcBef>
              <a:buFont typeface="Wingdings"/>
              <a:buChar char=""/>
              <a:tabLst>
                <a:tab pos="297815" algn="l"/>
              </a:tabLst>
            </a:pPr>
            <a:r>
              <a:rPr dirty="0" sz="1600">
                <a:latin typeface="Microsoft YaHei"/>
                <a:cs typeface="Microsoft YaHei"/>
              </a:rPr>
              <a:t>GPS</a:t>
            </a:r>
            <a:r>
              <a:rPr dirty="0" sz="1600" spc="-10">
                <a:latin typeface="Microsoft YaHei"/>
                <a:cs typeface="Microsoft YaHei"/>
              </a:rPr>
              <a:t> /北斗应安装在避雷针有效保护范围（45°）</a:t>
            </a:r>
            <a:r>
              <a:rPr dirty="0" sz="1600" spc="-30">
                <a:latin typeface="Microsoft YaHei"/>
                <a:cs typeface="Microsoft YaHei"/>
              </a:rPr>
              <a:t>内；</a:t>
            </a:r>
            <a:endParaRPr sz="1600">
              <a:latin typeface="Microsoft YaHei"/>
              <a:cs typeface="Microsoft YaHei"/>
            </a:endParaRPr>
          </a:p>
          <a:p>
            <a:pPr marL="297815" marR="5080" indent="-285750">
              <a:lnSpc>
                <a:spcPct val="150000"/>
              </a:lnSpc>
              <a:buFont typeface="Wingdings"/>
              <a:buChar char=""/>
              <a:tabLst>
                <a:tab pos="297815" algn="l"/>
              </a:tabLst>
            </a:pPr>
            <a:r>
              <a:rPr dirty="0" sz="1600">
                <a:latin typeface="Microsoft YaHei"/>
                <a:cs typeface="Microsoft YaHei"/>
              </a:rPr>
              <a:t>避雷器安装在GPS</a:t>
            </a:r>
            <a:r>
              <a:rPr dirty="0" sz="1600" spc="-15">
                <a:latin typeface="Microsoft YaHei"/>
                <a:cs typeface="Microsoft YaHei"/>
              </a:rPr>
              <a:t> /北斗射频馈线进入馈线窗后</a:t>
            </a:r>
            <a:r>
              <a:rPr dirty="0" sz="1600" spc="-10">
                <a:latin typeface="Microsoft YaHei"/>
                <a:cs typeface="Microsoft YaHei"/>
              </a:rPr>
              <a:t>1m</a:t>
            </a:r>
            <a:r>
              <a:rPr dirty="0" sz="1600" spc="-15">
                <a:latin typeface="Microsoft YaHei"/>
                <a:cs typeface="Microsoft YaHei"/>
              </a:rPr>
              <a:t>处；避雷器应安装在走线架的两个横挡之间，避雷器不能接触走线架，并与走线架绝缘。</a:t>
            </a:r>
            <a:endParaRPr sz="1600">
              <a:latin typeface="Microsoft YaHei"/>
              <a:cs typeface="Microsoft YaHe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descr=""/>
          <p:cNvGraphicFramePr>
            <a:graphicFrameLocks noGrp="1"/>
          </p:cNvGraphicFramePr>
          <p:nvPr/>
        </p:nvGraphicFramePr>
        <p:xfrm>
          <a:off x="450850" y="1727200"/>
          <a:ext cx="8166100" cy="3208654"/>
        </p:xfrm>
        <a:graphic>
          <a:graphicData uri="http://schemas.openxmlformats.org/drawingml/2006/table">
            <a:tbl>
              <a:tblPr firstRow="1" bandRow="1">
                <a:tableStyleId>{2D5ABB26-0587-4C30-8999-92F81FD0307C}</a:tableStyleId>
              </a:tblPr>
              <a:tblGrid>
                <a:gridCol w="1207135"/>
                <a:gridCol w="3924935"/>
                <a:gridCol w="2944495"/>
              </a:tblGrid>
              <a:tr h="517525">
                <a:tc>
                  <a:txBody>
                    <a:bodyPr/>
                    <a:lstStyle/>
                    <a:p>
                      <a:pPr marL="247015">
                        <a:lnSpc>
                          <a:spcPct val="100000"/>
                        </a:lnSpc>
                        <a:spcBef>
                          <a:spcPts val="1170"/>
                        </a:spcBef>
                      </a:pPr>
                      <a:r>
                        <a:rPr dirty="0" sz="1400" spc="-20">
                          <a:latin typeface="SimSun"/>
                          <a:cs typeface="SimSun"/>
                        </a:rPr>
                        <a:t>馈线型号</a:t>
                      </a:r>
                      <a:endParaRPr sz="1400">
                        <a:latin typeface="SimSun"/>
                        <a:cs typeface="SimSun"/>
                      </a:endParaRPr>
                    </a:p>
                  </a:txBody>
                  <a:tcPr marL="0" marR="0" marB="0" marT="14859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170"/>
                        </a:spcBef>
                      </a:pPr>
                      <a:r>
                        <a:rPr dirty="0" sz="1400" spc="-20">
                          <a:latin typeface="SimSun"/>
                          <a:cs typeface="SimSun"/>
                        </a:rPr>
                        <a:t>附加器件</a:t>
                      </a:r>
                      <a:endParaRPr sz="1400">
                        <a:latin typeface="SimSun"/>
                        <a:cs typeface="SimSun"/>
                      </a:endParaRPr>
                    </a:p>
                  </a:txBody>
                  <a:tcPr marL="0" marR="0" marB="0" marT="14859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30"/>
                        </a:spcBef>
                      </a:pPr>
                      <a:r>
                        <a:rPr dirty="0" sz="1400" spc="-20">
                          <a:latin typeface="SimSun"/>
                          <a:cs typeface="SimSun"/>
                        </a:rPr>
                        <a:t>最大拉远距离</a:t>
                      </a:r>
                      <a:endParaRPr sz="1400">
                        <a:latin typeface="SimSun"/>
                        <a:cs typeface="SimSun"/>
                      </a:endParaRPr>
                    </a:p>
                    <a:p>
                      <a:pPr algn="ctr">
                        <a:lnSpc>
                          <a:spcPct val="100000"/>
                        </a:lnSpc>
                      </a:pPr>
                      <a:r>
                        <a:rPr dirty="0" sz="1400" spc="-10">
                          <a:latin typeface="SimSun"/>
                          <a:cs typeface="SimSun"/>
                        </a:rPr>
                        <a:t>（天线与</a:t>
                      </a:r>
                      <a:r>
                        <a:rPr dirty="0" sz="1400" spc="-25" b="1">
                          <a:latin typeface="Arial"/>
                          <a:cs typeface="Arial"/>
                        </a:rPr>
                        <a:t>BBU</a:t>
                      </a:r>
                      <a:r>
                        <a:rPr dirty="0" sz="1400" spc="-15">
                          <a:latin typeface="SimSun"/>
                          <a:cs typeface="SimSun"/>
                        </a:rPr>
                        <a:t>之间的距离</a:t>
                      </a:r>
                      <a:r>
                        <a:rPr dirty="0" sz="1400" spc="-50">
                          <a:latin typeface="SimSun"/>
                          <a:cs typeface="SimSun"/>
                        </a:rPr>
                        <a:t>）</a:t>
                      </a:r>
                      <a:endParaRPr sz="1400">
                        <a:latin typeface="SimSun"/>
                        <a:cs typeface="SimSu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4645">
                <a:tc>
                  <a:txBody>
                    <a:bodyPr/>
                    <a:lstStyle/>
                    <a:p>
                      <a:pPr marL="91440">
                        <a:lnSpc>
                          <a:spcPct val="100000"/>
                        </a:lnSpc>
                        <a:spcBef>
                          <a:spcPts val="310"/>
                        </a:spcBef>
                      </a:pPr>
                      <a:r>
                        <a:rPr dirty="0" sz="1600" spc="-10">
                          <a:latin typeface="Arial MT"/>
                          <a:cs typeface="Arial MT"/>
                        </a:rPr>
                        <a:t>400DB</a:t>
                      </a:r>
                      <a:endParaRPr sz="1600">
                        <a:latin typeface="Arial MT"/>
                        <a:cs typeface="Arial MT"/>
                      </a:endParaRPr>
                    </a:p>
                  </a:txBody>
                  <a:tcPr marL="0" marR="0" marB="0" marT="393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330"/>
                        </a:spcBef>
                      </a:pPr>
                      <a:r>
                        <a:rPr dirty="0" sz="1600" spc="-50">
                          <a:latin typeface="SimSun"/>
                          <a:cs typeface="SimSun"/>
                        </a:rPr>
                        <a:t>无</a:t>
                      </a:r>
                      <a:endParaRPr sz="1600">
                        <a:latin typeface="SimSun"/>
                        <a:cs typeface="SimSu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310"/>
                        </a:spcBef>
                      </a:pPr>
                      <a:r>
                        <a:rPr dirty="0" sz="1600" spc="-10">
                          <a:latin typeface="Arial MT"/>
                          <a:cs typeface="Arial MT"/>
                        </a:rPr>
                        <a:t>0-</a:t>
                      </a:r>
                      <a:r>
                        <a:rPr dirty="0" sz="1600" spc="-20">
                          <a:latin typeface="Arial MT"/>
                          <a:cs typeface="Arial MT"/>
                        </a:rPr>
                        <a:t>150m</a:t>
                      </a:r>
                      <a:endParaRPr sz="1600">
                        <a:latin typeface="Arial MT"/>
                        <a:cs typeface="Arial MT"/>
                      </a:endParaRPr>
                    </a:p>
                  </a:txBody>
                  <a:tcPr marL="0" marR="0" marB="0" marT="393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4645">
                <a:tc>
                  <a:txBody>
                    <a:bodyPr/>
                    <a:lstStyle/>
                    <a:p>
                      <a:pPr marL="90805">
                        <a:lnSpc>
                          <a:spcPct val="100000"/>
                        </a:lnSpc>
                        <a:spcBef>
                          <a:spcPts val="315"/>
                        </a:spcBef>
                      </a:pPr>
                      <a:r>
                        <a:rPr dirty="0" sz="1600" spc="-10">
                          <a:latin typeface="Arial MT"/>
                          <a:cs typeface="Arial MT"/>
                        </a:rPr>
                        <a:t>600DB</a:t>
                      </a:r>
                      <a:endParaRPr sz="1600">
                        <a:latin typeface="Arial MT"/>
                        <a:cs typeface="Arial MT"/>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330"/>
                        </a:spcBef>
                      </a:pPr>
                      <a:r>
                        <a:rPr dirty="0" sz="1600" spc="-50">
                          <a:latin typeface="SimSun"/>
                          <a:cs typeface="SimSun"/>
                        </a:rPr>
                        <a:t>无</a:t>
                      </a:r>
                      <a:endParaRPr sz="1600">
                        <a:latin typeface="SimSun"/>
                        <a:cs typeface="SimSu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315"/>
                        </a:spcBef>
                      </a:pPr>
                      <a:r>
                        <a:rPr dirty="0" sz="1600" spc="-10">
                          <a:latin typeface="Arial MT"/>
                          <a:cs typeface="Arial MT"/>
                        </a:rPr>
                        <a:t>150m-</a:t>
                      </a:r>
                      <a:r>
                        <a:rPr dirty="0" sz="1600" spc="-20">
                          <a:latin typeface="Arial MT"/>
                          <a:cs typeface="Arial MT"/>
                        </a:rPr>
                        <a:t>260m</a:t>
                      </a:r>
                      <a:endParaRPr sz="1600">
                        <a:latin typeface="Arial MT"/>
                        <a:cs typeface="Arial MT"/>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4645">
                <a:tc>
                  <a:txBody>
                    <a:bodyPr/>
                    <a:lstStyle/>
                    <a:p>
                      <a:pPr marL="90805">
                        <a:lnSpc>
                          <a:spcPct val="100000"/>
                        </a:lnSpc>
                        <a:spcBef>
                          <a:spcPts val="315"/>
                        </a:spcBef>
                      </a:pPr>
                      <a:r>
                        <a:rPr dirty="0" sz="1600" spc="-10">
                          <a:latin typeface="Arial MT"/>
                          <a:cs typeface="Arial MT"/>
                        </a:rPr>
                        <a:t>400DB</a:t>
                      </a:r>
                      <a:endParaRPr sz="1600">
                        <a:latin typeface="Arial MT"/>
                        <a:cs typeface="Arial MT"/>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330"/>
                        </a:spcBef>
                      </a:pPr>
                      <a:r>
                        <a:rPr dirty="0" sz="1600" spc="-10">
                          <a:latin typeface="Arial MT"/>
                          <a:cs typeface="Arial MT"/>
                        </a:rPr>
                        <a:t>GPS</a:t>
                      </a:r>
                      <a:r>
                        <a:rPr dirty="0" sz="1600">
                          <a:latin typeface="SimSun"/>
                          <a:cs typeface="SimSun"/>
                        </a:rPr>
                        <a:t>信号放大器</a:t>
                      </a:r>
                      <a:r>
                        <a:rPr dirty="0" sz="1600" spc="-10">
                          <a:latin typeface="SimSun"/>
                          <a:cs typeface="SimSun"/>
                        </a:rPr>
                        <a:t>（</a:t>
                      </a:r>
                      <a:r>
                        <a:rPr dirty="0" sz="1600" spc="-10">
                          <a:latin typeface="Arial MT"/>
                          <a:cs typeface="Arial MT"/>
                        </a:rPr>
                        <a:t>1</a:t>
                      </a:r>
                      <a:r>
                        <a:rPr dirty="0" sz="1600">
                          <a:latin typeface="SimSun"/>
                          <a:cs typeface="SimSun"/>
                        </a:rPr>
                        <a:t>个</a:t>
                      </a:r>
                      <a:r>
                        <a:rPr dirty="0" sz="1600" spc="-50">
                          <a:latin typeface="SimSun"/>
                          <a:cs typeface="SimSun"/>
                        </a:rPr>
                        <a:t>）</a:t>
                      </a:r>
                      <a:endParaRPr sz="1600">
                        <a:latin typeface="SimSun"/>
                        <a:cs typeface="SimSu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315"/>
                        </a:spcBef>
                      </a:pPr>
                      <a:r>
                        <a:rPr dirty="0" sz="1600" spc="-10">
                          <a:latin typeface="Arial MT"/>
                          <a:cs typeface="Arial MT"/>
                        </a:rPr>
                        <a:t>&lt;270m</a:t>
                      </a:r>
                      <a:endParaRPr sz="1600">
                        <a:latin typeface="Arial MT"/>
                        <a:cs typeface="Arial MT"/>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4645">
                <a:tc>
                  <a:txBody>
                    <a:bodyPr/>
                    <a:lstStyle/>
                    <a:p>
                      <a:pPr marL="90805">
                        <a:lnSpc>
                          <a:spcPct val="100000"/>
                        </a:lnSpc>
                        <a:spcBef>
                          <a:spcPts val="315"/>
                        </a:spcBef>
                      </a:pPr>
                      <a:r>
                        <a:rPr dirty="0" sz="1600" spc="-10">
                          <a:latin typeface="Arial MT"/>
                          <a:cs typeface="Arial MT"/>
                        </a:rPr>
                        <a:t>600DB</a:t>
                      </a:r>
                      <a:endParaRPr sz="1600">
                        <a:latin typeface="Arial MT"/>
                        <a:cs typeface="Arial MT"/>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330"/>
                        </a:spcBef>
                      </a:pPr>
                      <a:r>
                        <a:rPr dirty="0" sz="1600" spc="-10">
                          <a:latin typeface="Arial MT"/>
                          <a:cs typeface="Arial MT"/>
                        </a:rPr>
                        <a:t>GPS</a:t>
                      </a:r>
                      <a:r>
                        <a:rPr dirty="0" sz="1600">
                          <a:latin typeface="SimSun"/>
                          <a:cs typeface="SimSun"/>
                        </a:rPr>
                        <a:t>信号放大器</a:t>
                      </a:r>
                      <a:r>
                        <a:rPr dirty="0" sz="1600" spc="-10">
                          <a:latin typeface="SimSun"/>
                          <a:cs typeface="SimSun"/>
                        </a:rPr>
                        <a:t>（</a:t>
                      </a:r>
                      <a:r>
                        <a:rPr dirty="0" sz="1600" spc="-10">
                          <a:latin typeface="Arial MT"/>
                          <a:cs typeface="Arial MT"/>
                        </a:rPr>
                        <a:t>1</a:t>
                      </a:r>
                      <a:r>
                        <a:rPr dirty="0" sz="1600">
                          <a:latin typeface="SimSun"/>
                          <a:cs typeface="SimSun"/>
                        </a:rPr>
                        <a:t>个</a:t>
                      </a:r>
                      <a:r>
                        <a:rPr dirty="0" sz="1600" spc="-50">
                          <a:latin typeface="SimSun"/>
                          <a:cs typeface="SimSun"/>
                        </a:rPr>
                        <a:t>）</a:t>
                      </a:r>
                      <a:endParaRPr sz="1600">
                        <a:latin typeface="SimSun"/>
                        <a:cs typeface="SimSun"/>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315"/>
                        </a:spcBef>
                      </a:pPr>
                      <a:r>
                        <a:rPr dirty="0" sz="1600" spc="-10">
                          <a:latin typeface="Arial MT"/>
                          <a:cs typeface="Arial MT"/>
                        </a:rPr>
                        <a:t>&lt;440m</a:t>
                      </a:r>
                      <a:endParaRPr sz="1600">
                        <a:latin typeface="Arial MT"/>
                        <a:cs typeface="Arial MT"/>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4645">
                <a:tc>
                  <a:txBody>
                    <a:bodyPr/>
                    <a:lstStyle/>
                    <a:p>
                      <a:pPr marL="90805">
                        <a:lnSpc>
                          <a:spcPct val="100000"/>
                        </a:lnSpc>
                        <a:spcBef>
                          <a:spcPts val="315"/>
                        </a:spcBef>
                      </a:pPr>
                      <a:r>
                        <a:rPr dirty="0" sz="1600" spc="-10">
                          <a:latin typeface="Arial MT"/>
                          <a:cs typeface="Arial MT"/>
                        </a:rPr>
                        <a:t>400DB</a:t>
                      </a:r>
                      <a:endParaRPr sz="1600">
                        <a:latin typeface="Arial MT"/>
                        <a:cs typeface="Arial MT"/>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330"/>
                        </a:spcBef>
                      </a:pPr>
                      <a:r>
                        <a:rPr dirty="0" sz="1600" spc="-10">
                          <a:latin typeface="Arial MT"/>
                          <a:cs typeface="Arial MT"/>
                        </a:rPr>
                        <a:t>GPS</a:t>
                      </a:r>
                      <a:r>
                        <a:rPr dirty="0" sz="1600">
                          <a:latin typeface="SimSun"/>
                          <a:cs typeface="SimSun"/>
                        </a:rPr>
                        <a:t>信号放大器</a:t>
                      </a:r>
                      <a:r>
                        <a:rPr dirty="0" sz="1600" spc="-10">
                          <a:latin typeface="SimSun"/>
                          <a:cs typeface="SimSun"/>
                        </a:rPr>
                        <a:t>（</a:t>
                      </a:r>
                      <a:r>
                        <a:rPr dirty="0" sz="1600" spc="-10">
                          <a:latin typeface="Arial MT"/>
                          <a:cs typeface="Arial MT"/>
                        </a:rPr>
                        <a:t>1</a:t>
                      </a:r>
                      <a:r>
                        <a:rPr dirty="0" sz="1600">
                          <a:latin typeface="SimSun"/>
                          <a:cs typeface="SimSun"/>
                        </a:rPr>
                        <a:t>个</a:t>
                      </a:r>
                      <a:r>
                        <a:rPr dirty="0" sz="1600" spc="-10">
                          <a:latin typeface="SimSun"/>
                          <a:cs typeface="SimSun"/>
                        </a:rPr>
                        <a:t>）</a:t>
                      </a:r>
                      <a:r>
                        <a:rPr dirty="0" sz="1600" spc="-10">
                          <a:latin typeface="Arial MT"/>
                          <a:cs typeface="Arial MT"/>
                        </a:rPr>
                        <a:t>+</a:t>
                      </a:r>
                      <a:r>
                        <a:rPr dirty="0" sz="1600" spc="-5">
                          <a:latin typeface="SimSun"/>
                          <a:cs typeface="SimSun"/>
                        </a:rPr>
                        <a:t>二功分器</a:t>
                      </a:r>
                      <a:r>
                        <a:rPr dirty="0" sz="1600" spc="-10">
                          <a:latin typeface="Arial MT"/>
                          <a:cs typeface="Arial MT"/>
                        </a:rPr>
                        <a:t>(1</a:t>
                      </a:r>
                      <a:r>
                        <a:rPr dirty="0" sz="1600">
                          <a:latin typeface="SimSun"/>
                          <a:cs typeface="SimSun"/>
                        </a:rPr>
                        <a:t>个</a:t>
                      </a:r>
                      <a:r>
                        <a:rPr dirty="0" sz="1600" spc="-50">
                          <a:latin typeface="Arial MT"/>
                          <a:cs typeface="Arial MT"/>
                        </a:rPr>
                        <a:t>)</a:t>
                      </a:r>
                      <a:endParaRPr sz="1600">
                        <a:latin typeface="Arial MT"/>
                        <a:cs typeface="Arial MT"/>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315"/>
                        </a:spcBef>
                      </a:pPr>
                      <a:r>
                        <a:rPr dirty="0" sz="1600" spc="-10">
                          <a:latin typeface="Arial MT"/>
                          <a:cs typeface="Arial MT"/>
                        </a:rPr>
                        <a:t>&lt;250m</a:t>
                      </a:r>
                      <a:endParaRPr sz="1600">
                        <a:latin typeface="Arial MT"/>
                        <a:cs typeface="Arial MT"/>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4645">
                <a:tc>
                  <a:txBody>
                    <a:bodyPr/>
                    <a:lstStyle/>
                    <a:p>
                      <a:pPr marL="90805">
                        <a:lnSpc>
                          <a:spcPct val="100000"/>
                        </a:lnSpc>
                        <a:spcBef>
                          <a:spcPts val="315"/>
                        </a:spcBef>
                      </a:pPr>
                      <a:r>
                        <a:rPr dirty="0" sz="1600" spc="-10">
                          <a:latin typeface="Arial MT"/>
                          <a:cs typeface="Arial MT"/>
                        </a:rPr>
                        <a:t>600DB</a:t>
                      </a:r>
                      <a:endParaRPr sz="1600">
                        <a:latin typeface="Arial MT"/>
                        <a:cs typeface="Arial MT"/>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330"/>
                        </a:spcBef>
                      </a:pPr>
                      <a:r>
                        <a:rPr dirty="0" sz="1600" spc="-10">
                          <a:latin typeface="Arial MT"/>
                          <a:cs typeface="Arial MT"/>
                        </a:rPr>
                        <a:t>GPS</a:t>
                      </a:r>
                      <a:r>
                        <a:rPr dirty="0" sz="1600">
                          <a:latin typeface="SimSun"/>
                          <a:cs typeface="SimSun"/>
                        </a:rPr>
                        <a:t>信号放大器</a:t>
                      </a:r>
                      <a:r>
                        <a:rPr dirty="0" sz="1600" spc="-10">
                          <a:latin typeface="SimSun"/>
                          <a:cs typeface="SimSun"/>
                        </a:rPr>
                        <a:t>（</a:t>
                      </a:r>
                      <a:r>
                        <a:rPr dirty="0" sz="1600" spc="-10">
                          <a:latin typeface="Arial MT"/>
                          <a:cs typeface="Arial MT"/>
                        </a:rPr>
                        <a:t>1</a:t>
                      </a:r>
                      <a:r>
                        <a:rPr dirty="0" sz="1600">
                          <a:latin typeface="SimSun"/>
                          <a:cs typeface="SimSun"/>
                        </a:rPr>
                        <a:t>个</a:t>
                      </a:r>
                      <a:r>
                        <a:rPr dirty="0" sz="1600" spc="-10">
                          <a:latin typeface="SimSun"/>
                          <a:cs typeface="SimSun"/>
                        </a:rPr>
                        <a:t>）</a:t>
                      </a:r>
                      <a:r>
                        <a:rPr dirty="0" sz="1600" spc="-10">
                          <a:latin typeface="Arial MT"/>
                          <a:cs typeface="Arial MT"/>
                        </a:rPr>
                        <a:t>+</a:t>
                      </a:r>
                      <a:r>
                        <a:rPr dirty="0" sz="1600" spc="-5">
                          <a:latin typeface="SimSun"/>
                          <a:cs typeface="SimSun"/>
                        </a:rPr>
                        <a:t>二功分器</a:t>
                      </a:r>
                      <a:r>
                        <a:rPr dirty="0" sz="1600" spc="-10">
                          <a:latin typeface="Arial MT"/>
                          <a:cs typeface="Arial MT"/>
                        </a:rPr>
                        <a:t>(1</a:t>
                      </a:r>
                      <a:r>
                        <a:rPr dirty="0" sz="1600">
                          <a:latin typeface="SimSun"/>
                          <a:cs typeface="SimSun"/>
                        </a:rPr>
                        <a:t>个</a:t>
                      </a:r>
                      <a:r>
                        <a:rPr dirty="0" sz="1600" spc="-50">
                          <a:latin typeface="Arial MT"/>
                          <a:cs typeface="Arial MT"/>
                        </a:rPr>
                        <a:t>)</a:t>
                      </a:r>
                      <a:endParaRPr sz="1600">
                        <a:latin typeface="Arial MT"/>
                        <a:cs typeface="Arial MT"/>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315"/>
                        </a:spcBef>
                      </a:pPr>
                      <a:r>
                        <a:rPr dirty="0" sz="1600" spc="-10">
                          <a:latin typeface="Arial MT"/>
                          <a:cs typeface="Arial MT"/>
                        </a:rPr>
                        <a:t>&lt;410m</a:t>
                      </a:r>
                      <a:endParaRPr sz="1600">
                        <a:latin typeface="Arial MT"/>
                        <a:cs typeface="Arial MT"/>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48615">
                <a:tc>
                  <a:txBody>
                    <a:bodyPr/>
                    <a:lstStyle/>
                    <a:p>
                      <a:pPr marL="90805">
                        <a:lnSpc>
                          <a:spcPct val="100000"/>
                        </a:lnSpc>
                        <a:spcBef>
                          <a:spcPts val="315"/>
                        </a:spcBef>
                      </a:pPr>
                      <a:r>
                        <a:rPr dirty="0" sz="1600" spc="-10">
                          <a:latin typeface="Arial MT"/>
                          <a:cs typeface="Arial MT"/>
                        </a:rPr>
                        <a:t>400DB</a:t>
                      </a:r>
                      <a:endParaRPr sz="1600">
                        <a:latin typeface="Arial MT"/>
                        <a:cs typeface="Arial MT"/>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330"/>
                        </a:spcBef>
                      </a:pPr>
                      <a:r>
                        <a:rPr dirty="0" sz="1600" spc="-10">
                          <a:latin typeface="Arial MT"/>
                          <a:cs typeface="Arial MT"/>
                        </a:rPr>
                        <a:t>GPS</a:t>
                      </a:r>
                      <a:r>
                        <a:rPr dirty="0" sz="1600">
                          <a:latin typeface="SimSun"/>
                          <a:cs typeface="SimSun"/>
                        </a:rPr>
                        <a:t>信号放大器</a:t>
                      </a:r>
                      <a:r>
                        <a:rPr dirty="0" sz="1600" spc="-10">
                          <a:latin typeface="SimSun"/>
                          <a:cs typeface="SimSun"/>
                        </a:rPr>
                        <a:t>（</a:t>
                      </a:r>
                      <a:r>
                        <a:rPr dirty="0" sz="1600" spc="-10">
                          <a:latin typeface="Arial MT"/>
                          <a:cs typeface="Arial MT"/>
                        </a:rPr>
                        <a:t>1</a:t>
                      </a:r>
                      <a:r>
                        <a:rPr dirty="0" sz="1600">
                          <a:latin typeface="SimSun"/>
                          <a:cs typeface="SimSun"/>
                        </a:rPr>
                        <a:t>个</a:t>
                      </a:r>
                      <a:r>
                        <a:rPr dirty="0" sz="1600" spc="-10">
                          <a:latin typeface="SimSun"/>
                          <a:cs typeface="SimSun"/>
                        </a:rPr>
                        <a:t>）</a:t>
                      </a:r>
                      <a:r>
                        <a:rPr dirty="0" sz="1600" spc="-10">
                          <a:latin typeface="Arial MT"/>
                          <a:cs typeface="Arial MT"/>
                        </a:rPr>
                        <a:t>+</a:t>
                      </a:r>
                      <a:r>
                        <a:rPr dirty="0" sz="1600" spc="-5">
                          <a:latin typeface="SimSun"/>
                          <a:cs typeface="SimSun"/>
                        </a:rPr>
                        <a:t>四功分器</a:t>
                      </a:r>
                      <a:r>
                        <a:rPr dirty="0" sz="1600" spc="-10">
                          <a:latin typeface="Arial MT"/>
                          <a:cs typeface="Arial MT"/>
                        </a:rPr>
                        <a:t>(1</a:t>
                      </a:r>
                      <a:r>
                        <a:rPr dirty="0" sz="1600">
                          <a:latin typeface="SimSun"/>
                          <a:cs typeface="SimSun"/>
                        </a:rPr>
                        <a:t>个</a:t>
                      </a:r>
                      <a:r>
                        <a:rPr dirty="0" sz="1600" spc="-50">
                          <a:latin typeface="Arial MT"/>
                          <a:cs typeface="Arial MT"/>
                        </a:rPr>
                        <a:t>)</a:t>
                      </a:r>
                      <a:endParaRPr sz="1600">
                        <a:latin typeface="Arial MT"/>
                        <a:cs typeface="Arial MT"/>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315"/>
                        </a:spcBef>
                      </a:pPr>
                      <a:r>
                        <a:rPr dirty="0" sz="1600" spc="-10">
                          <a:latin typeface="Arial MT"/>
                          <a:cs typeface="Arial MT"/>
                        </a:rPr>
                        <a:t>&lt;230m</a:t>
                      </a:r>
                      <a:endParaRPr sz="1600">
                        <a:latin typeface="Arial MT"/>
                        <a:cs typeface="Arial MT"/>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4645">
                <a:tc>
                  <a:txBody>
                    <a:bodyPr/>
                    <a:lstStyle/>
                    <a:p>
                      <a:pPr marL="90805">
                        <a:lnSpc>
                          <a:spcPct val="100000"/>
                        </a:lnSpc>
                        <a:spcBef>
                          <a:spcPts val="315"/>
                        </a:spcBef>
                      </a:pPr>
                      <a:r>
                        <a:rPr dirty="0" sz="1600" spc="-10">
                          <a:latin typeface="Arial MT"/>
                          <a:cs typeface="Arial MT"/>
                        </a:rPr>
                        <a:t>600DB</a:t>
                      </a:r>
                      <a:endParaRPr sz="1600">
                        <a:latin typeface="Arial MT"/>
                        <a:cs typeface="Arial MT"/>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330"/>
                        </a:spcBef>
                      </a:pPr>
                      <a:r>
                        <a:rPr dirty="0" sz="1600" spc="-10">
                          <a:latin typeface="Arial MT"/>
                          <a:cs typeface="Arial MT"/>
                        </a:rPr>
                        <a:t>GPS</a:t>
                      </a:r>
                      <a:r>
                        <a:rPr dirty="0" sz="1600">
                          <a:latin typeface="SimSun"/>
                          <a:cs typeface="SimSun"/>
                        </a:rPr>
                        <a:t>信号放大器</a:t>
                      </a:r>
                      <a:r>
                        <a:rPr dirty="0" sz="1600" spc="-10">
                          <a:latin typeface="SimSun"/>
                          <a:cs typeface="SimSun"/>
                        </a:rPr>
                        <a:t>（</a:t>
                      </a:r>
                      <a:r>
                        <a:rPr dirty="0" sz="1600" spc="-10">
                          <a:latin typeface="Arial MT"/>
                          <a:cs typeface="Arial MT"/>
                        </a:rPr>
                        <a:t>1</a:t>
                      </a:r>
                      <a:r>
                        <a:rPr dirty="0" sz="1600">
                          <a:latin typeface="SimSun"/>
                          <a:cs typeface="SimSun"/>
                        </a:rPr>
                        <a:t>个</a:t>
                      </a:r>
                      <a:r>
                        <a:rPr dirty="0" sz="1600" spc="-10">
                          <a:latin typeface="SimSun"/>
                          <a:cs typeface="SimSun"/>
                        </a:rPr>
                        <a:t>）</a:t>
                      </a:r>
                      <a:r>
                        <a:rPr dirty="0" sz="1600" spc="-10">
                          <a:latin typeface="Arial MT"/>
                          <a:cs typeface="Arial MT"/>
                        </a:rPr>
                        <a:t>+</a:t>
                      </a:r>
                      <a:r>
                        <a:rPr dirty="0" sz="1600" spc="-5">
                          <a:latin typeface="SimSun"/>
                          <a:cs typeface="SimSun"/>
                        </a:rPr>
                        <a:t>四功分器</a:t>
                      </a:r>
                      <a:r>
                        <a:rPr dirty="0" sz="1600" spc="-10">
                          <a:latin typeface="Arial MT"/>
                          <a:cs typeface="Arial MT"/>
                        </a:rPr>
                        <a:t>(1</a:t>
                      </a:r>
                      <a:r>
                        <a:rPr dirty="0" sz="1600">
                          <a:latin typeface="SimSun"/>
                          <a:cs typeface="SimSun"/>
                        </a:rPr>
                        <a:t>个</a:t>
                      </a:r>
                      <a:r>
                        <a:rPr dirty="0" sz="1600" spc="-50">
                          <a:latin typeface="Arial MT"/>
                          <a:cs typeface="Arial MT"/>
                        </a:rPr>
                        <a:t>)</a:t>
                      </a:r>
                      <a:endParaRPr sz="1600">
                        <a:latin typeface="Arial MT"/>
                        <a:cs typeface="Arial MT"/>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315"/>
                        </a:spcBef>
                      </a:pPr>
                      <a:r>
                        <a:rPr dirty="0" sz="1600" spc="-10">
                          <a:latin typeface="Arial MT"/>
                          <a:cs typeface="Arial MT"/>
                        </a:rPr>
                        <a:t>&lt;380m</a:t>
                      </a:r>
                      <a:endParaRPr sz="1600">
                        <a:latin typeface="Arial MT"/>
                        <a:cs typeface="Arial MT"/>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3" name="object 3"/>
          <p:cNvSpPr txBox="1">
            <a:spLocks noGrp="1"/>
          </p:cNvSpPr>
          <p:nvPr>
            <p:ph type="title"/>
          </p:nvPr>
        </p:nvSpPr>
        <p:spPr>
          <a:xfrm>
            <a:off x="2996780" y="158369"/>
            <a:ext cx="3255010" cy="513080"/>
          </a:xfrm>
          <a:prstGeom prst="rect"/>
        </p:spPr>
        <p:txBody>
          <a:bodyPr wrap="square" lIns="0" tIns="12065" rIns="0" bIns="0" rtlCol="0" vert="horz">
            <a:spAutoFit/>
          </a:bodyPr>
          <a:lstStyle/>
          <a:p>
            <a:pPr marL="12700">
              <a:lnSpc>
                <a:spcPct val="100000"/>
              </a:lnSpc>
              <a:spcBef>
                <a:spcPts val="95"/>
              </a:spcBef>
            </a:pPr>
            <a:r>
              <a:rPr dirty="0" spc="-10">
                <a:latin typeface="Times New Roman"/>
                <a:cs typeface="Times New Roman"/>
              </a:rPr>
              <a:t>GPS</a:t>
            </a:r>
            <a:r>
              <a:rPr dirty="0" spc="-45"/>
              <a:t>系统配置方案</a:t>
            </a:r>
          </a:p>
        </p:txBody>
      </p:sp>
      <p:sp>
        <p:nvSpPr>
          <p:cNvPr id="4" name="object 4" descr=""/>
          <p:cNvSpPr txBox="1"/>
          <p:nvPr/>
        </p:nvSpPr>
        <p:spPr>
          <a:xfrm>
            <a:off x="990536" y="881593"/>
            <a:ext cx="6026785" cy="793750"/>
          </a:xfrm>
          <a:prstGeom prst="rect">
            <a:avLst/>
          </a:prstGeom>
        </p:spPr>
        <p:txBody>
          <a:bodyPr wrap="square" lIns="0" tIns="55244" rIns="0" bIns="0" rtlCol="0" vert="horz">
            <a:spAutoFit/>
          </a:bodyPr>
          <a:lstStyle/>
          <a:p>
            <a:pPr marL="12700">
              <a:lnSpc>
                <a:spcPct val="100000"/>
              </a:lnSpc>
              <a:spcBef>
                <a:spcPts val="434"/>
              </a:spcBef>
            </a:pPr>
            <a:r>
              <a:rPr dirty="0" sz="1400" spc="-10">
                <a:solidFill>
                  <a:srgbClr val="C00000"/>
                </a:solidFill>
                <a:latin typeface="SimSun"/>
                <a:cs typeface="SimSun"/>
              </a:rPr>
              <a:t>典型场景：</a:t>
            </a:r>
            <a:r>
              <a:rPr dirty="0" sz="1400">
                <a:latin typeface="Times New Roman"/>
                <a:cs typeface="Times New Roman"/>
              </a:rPr>
              <a:t>GPS</a:t>
            </a:r>
            <a:r>
              <a:rPr dirty="0" sz="1400" spc="10">
                <a:latin typeface="Times New Roman"/>
                <a:cs typeface="Times New Roman"/>
              </a:rPr>
              <a:t> /</a:t>
            </a:r>
            <a:r>
              <a:rPr dirty="0" sz="1400" spc="-20">
                <a:latin typeface="SimSun"/>
                <a:cs typeface="SimSun"/>
              </a:rPr>
              <a:t>北斗天线</a:t>
            </a:r>
            <a:r>
              <a:rPr dirty="0" sz="1400" spc="-10">
                <a:latin typeface="Times New Roman"/>
                <a:cs typeface="Times New Roman"/>
              </a:rPr>
              <a:t>+</a:t>
            </a:r>
            <a:r>
              <a:rPr dirty="0" sz="1400" spc="-20">
                <a:latin typeface="SimSun"/>
                <a:cs typeface="SimSun"/>
              </a:rPr>
              <a:t>射频同轴电缆</a:t>
            </a:r>
            <a:r>
              <a:rPr dirty="0" sz="1400" spc="-10">
                <a:latin typeface="Times New Roman"/>
                <a:cs typeface="Times New Roman"/>
              </a:rPr>
              <a:t>+</a:t>
            </a:r>
            <a:r>
              <a:rPr dirty="0" sz="1400" spc="-30">
                <a:latin typeface="SimSun"/>
                <a:cs typeface="SimSun"/>
              </a:rPr>
              <a:t>避雷器</a:t>
            </a:r>
            <a:endParaRPr sz="1400">
              <a:latin typeface="SimSun"/>
              <a:cs typeface="SimSun"/>
            </a:endParaRPr>
          </a:p>
          <a:p>
            <a:pPr marL="311785" indent="-285750">
              <a:lnSpc>
                <a:spcPct val="100000"/>
              </a:lnSpc>
              <a:spcBef>
                <a:spcPts val="335"/>
              </a:spcBef>
              <a:buFont typeface="Wingdings"/>
              <a:buChar char=""/>
              <a:tabLst>
                <a:tab pos="311785" algn="l"/>
              </a:tabLst>
            </a:pPr>
            <a:r>
              <a:rPr dirty="0" sz="1400" spc="-10">
                <a:latin typeface="Times New Roman"/>
                <a:cs typeface="Times New Roman"/>
              </a:rPr>
              <a:t>GPS/</a:t>
            </a:r>
            <a:r>
              <a:rPr dirty="0" sz="1400" spc="-20">
                <a:latin typeface="SimSun"/>
                <a:cs typeface="SimSun"/>
              </a:rPr>
              <a:t>北斗天线与</a:t>
            </a:r>
            <a:r>
              <a:rPr dirty="0" sz="1400" spc="-20">
                <a:latin typeface="Times New Roman"/>
                <a:cs typeface="Times New Roman"/>
              </a:rPr>
              <a:t>BBU</a:t>
            </a:r>
            <a:r>
              <a:rPr dirty="0" sz="1400" spc="-20">
                <a:latin typeface="SimSun"/>
                <a:cs typeface="SimSun"/>
              </a:rPr>
              <a:t>距离在</a:t>
            </a:r>
            <a:r>
              <a:rPr dirty="0" sz="1400" spc="-20">
                <a:latin typeface="Times New Roman"/>
                <a:cs typeface="Times New Roman"/>
              </a:rPr>
              <a:t>0</a:t>
            </a:r>
            <a:r>
              <a:rPr dirty="0" sz="1400" spc="-20">
                <a:latin typeface="SimSun"/>
                <a:cs typeface="SimSun"/>
              </a:rPr>
              <a:t>～</a:t>
            </a:r>
            <a:r>
              <a:rPr dirty="0" sz="1400" spc="-20">
                <a:latin typeface="Times New Roman"/>
                <a:cs typeface="Times New Roman"/>
              </a:rPr>
              <a:t>150m</a:t>
            </a:r>
            <a:r>
              <a:rPr dirty="0" sz="1400" spc="-20">
                <a:latin typeface="SimSun"/>
                <a:cs typeface="SimSun"/>
              </a:rPr>
              <a:t>时，使用</a:t>
            </a:r>
            <a:r>
              <a:rPr dirty="0" sz="1400" spc="-10">
                <a:latin typeface="Times New Roman"/>
                <a:cs typeface="Times New Roman"/>
              </a:rPr>
              <a:t>400DB</a:t>
            </a:r>
            <a:r>
              <a:rPr dirty="0" sz="1400" spc="-25">
                <a:latin typeface="SimSun"/>
                <a:cs typeface="SimSun"/>
              </a:rPr>
              <a:t>型射频同轴电缆。</a:t>
            </a:r>
            <a:endParaRPr sz="1400">
              <a:latin typeface="SimSun"/>
              <a:cs typeface="SimSun"/>
            </a:endParaRPr>
          </a:p>
          <a:p>
            <a:pPr marL="311785" indent="-285750">
              <a:lnSpc>
                <a:spcPct val="100000"/>
              </a:lnSpc>
              <a:spcBef>
                <a:spcPts val="335"/>
              </a:spcBef>
              <a:buFont typeface="Wingdings"/>
              <a:buChar char=""/>
              <a:tabLst>
                <a:tab pos="311785" algn="l"/>
              </a:tabLst>
            </a:pPr>
            <a:r>
              <a:rPr dirty="0" sz="1400">
                <a:latin typeface="Times New Roman"/>
                <a:cs typeface="Times New Roman"/>
              </a:rPr>
              <a:t>GPS</a:t>
            </a:r>
            <a:r>
              <a:rPr dirty="0" sz="1400" spc="35">
                <a:latin typeface="Times New Roman"/>
                <a:cs typeface="Times New Roman"/>
              </a:rPr>
              <a:t> /</a:t>
            </a:r>
            <a:r>
              <a:rPr dirty="0" sz="1400" spc="-20">
                <a:latin typeface="SimSun"/>
                <a:cs typeface="SimSun"/>
              </a:rPr>
              <a:t>北斗天线与</a:t>
            </a:r>
            <a:r>
              <a:rPr dirty="0" sz="1400" spc="-20">
                <a:latin typeface="Times New Roman"/>
                <a:cs typeface="Times New Roman"/>
              </a:rPr>
              <a:t>BBU</a:t>
            </a:r>
            <a:r>
              <a:rPr dirty="0" sz="1400" spc="-20">
                <a:latin typeface="SimSun"/>
                <a:cs typeface="SimSun"/>
              </a:rPr>
              <a:t>距离在</a:t>
            </a:r>
            <a:r>
              <a:rPr dirty="0" sz="1400" spc="-10">
                <a:latin typeface="Times New Roman"/>
                <a:cs typeface="Times New Roman"/>
              </a:rPr>
              <a:t>150</a:t>
            </a:r>
            <a:r>
              <a:rPr dirty="0" sz="1400" spc="-10">
                <a:latin typeface="SimSun"/>
                <a:cs typeface="SimSun"/>
              </a:rPr>
              <a:t>～</a:t>
            </a:r>
            <a:r>
              <a:rPr dirty="0" sz="1400" spc="-10">
                <a:latin typeface="Times New Roman"/>
                <a:cs typeface="Times New Roman"/>
              </a:rPr>
              <a:t>260m</a:t>
            </a:r>
            <a:r>
              <a:rPr dirty="0" sz="1400" spc="-20">
                <a:latin typeface="SimSun"/>
                <a:cs typeface="SimSun"/>
              </a:rPr>
              <a:t>时，使用</a:t>
            </a:r>
            <a:r>
              <a:rPr dirty="0" sz="1400" spc="-10">
                <a:latin typeface="Times New Roman"/>
                <a:cs typeface="Times New Roman"/>
              </a:rPr>
              <a:t>600DB</a:t>
            </a:r>
            <a:r>
              <a:rPr dirty="0" sz="1400" spc="-25">
                <a:latin typeface="SimSun"/>
                <a:cs typeface="SimSun"/>
              </a:rPr>
              <a:t>型射频同轴电缆。</a:t>
            </a:r>
            <a:endParaRPr sz="1400">
              <a:latin typeface="SimSun"/>
              <a:cs typeface="SimSun"/>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02926" y="158369"/>
            <a:ext cx="2442210" cy="513080"/>
          </a:xfrm>
          <a:prstGeom prst="rect"/>
        </p:spPr>
        <p:txBody>
          <a:bodyPr wrap="square" lIns="0" tIns="12065" rIns="0" bIns="0" rtlCol="0" vert="horz">
            <a:spAutoFit/>
          </a:bodyPr>
          <a:lstStyle/>
          <a:p>
            <a:pPr marL="12700">
              <a:lnSpc>
                <a:spcPct val="100000"/>
              </a:lnSpc>
              <a:spcBef>
                <a:spcPts val="95"/>
              </a:spcBef>
            </a:pPr>
            <a:r>
              <a:rPr dirty="0" spc="-10">
                <a:latin typeface="Times New Roman"/>
                <a:cs typeface="Times New Roman"/>
              </a:rPr>
              <a:t>GPS</a:t>
            </a:r>
            <a:r>
              <a:rPr dirty="0" spc="-45"/>
              <a:t>安装要求</a:t>
            </a:r>
          </a:p>
        </p:txBody>
      </p:sp>
      <p:pic>
        <p:nvPicPr>
          <p:cNvPr id="3" name="object 3"/>
          <p:cNvPicPr/>
          <p:nvPr/>
        </p:nvPicPr>
        <p:blipFill>
          <a:blip r:embed="rId2" cstate="print"/>
          <a:stretch>
            <a:fillRect/>
          </a:stretch>
        </p:blipFill>
        <p:spPr>
          <a:xfrm>
            <a:off x="690629" y="1635645"/>
            <a:ext cx="1991862" cy="2954070"/>
          </a:xfrm>
          <a:prstGeom prst="rect">
            <a:avLst/>
          </a:prstGeom>
        </p:spPr>
      </p:pic>
      <p:pic>
        <p:nvPicPr>
          <p:cNvPr id="4" name="object 4"/>
          <p:cNvPicPr/>
          <p:nvPr/>
        </p:nvPicPr>
        <p:blipFill>
          <a:blip r:embed="rId3" cstate="print"/>
          <a:stretch>
            <a:fillRect/>
          </a:stretch>
        </p:blipFill>
        <p:spPr>
          <a:xfrm>
            <a:off x="3089363" y="1635646"/>
            <a:ext cx="2757716" cy="2954070"/>
          </a:xfrm>
          <a:prstGeom prst="rect">
            <a:avLst/>
          </a:prstGeom>
        </p:spPr>
      </p:pic>
      <p:pic>
        <p:nvPicPr>
          <p:cNvPr id="5" name="object 5"/>
          <p:cNvPicPr/>
          <p:nvPr/>
        </p:nvPicPr>
        <p:blipFill>
          <a:blip r:embed="rId4" cstate="print"/>
          <a:stretch>
            <a:fillRect/>
          </a:stretch>
        </p:blipFill>
        <p:spPr>
          <a:xfrm>
            <a:off x="6235255" y="1635645"/>
            <a:ext cx="2202964" cy="2954070"/>
          </a:xfrm>
          <a:prstGeom prst="rect">
            <a:avLst/>
          </a:prstGeom>
        </p:spPr>
      </p:pic>
      <p:sp>
        <p:nvSpPr>
          <p:cNvPr id="6" name="object 6" descr=""/>
          <p:cNvSpPr txBox="1"/>
          <p:nvPr/>
        </p:nvSpPr>
        <p:spPr>
          <a:xfrm>
            <a:off x="685800" y="895350"/>
            <a:ext cx="4824730" cy="646430"/>
          </a:xfrm>
          <a:prstGeom prst="rect">
            <a:avLst/>
          </a:prstGeom>
          <a:solidFill>
            <a:srgbClr val="00B0F0"/>
          </a:solidFill>
        </p:spPr>
        <p:txBody>
          <a:bodyPr wrap="square" lIns="0" tIns="38100" rIns="0" bIns="0" rtlCol="0" vert="horz">
            <a:spAutoFit/>
          </a:bodyPr>
          <a:lstStyle/>
          <a:p>
            <a:pPr marL="91440">
              <a:lnSpc>
                <a:spcPct val="100000"/>
              </a:lnSpc>
              <a:spcBef>
                <a:spcPts val="300"/>
              </a:spcBef>
            </a:pPr>
            <a:r>
              <a:rPr dirty="0" sz="1800" spc="-10" b="1">
                <a:solidFill>
                  <a:srgbClr val="FFFFFF"/>
                </a:solidFill>
                <a:latin typeface="Times New Roman"/>
                <a:cs typeface="Times New Roman"/>
              </a:rPr>
              <a:t>GPS</a:t>
            </a:r>
            <a:r>
              <a:rPr dirty="0" sz="1800" spc="-10" b="1">
                <a:solidFill>
                  <a:srgbClr val="FFFFFF"/>
                </a:solidFill>
                <a:latin typeface="Microsoft JhengHei"/>
                <a:cs typeface="Microsoft JhengHei"/>
              </a:rPr>
              <a:t>安装方式 ：</a:t>
            </a:r>
            <a:endParaRPr sz="1800">
              <a:latin typeface="Microsoft JhengHei"/>
              <a:cs typeface="Microsoft JhengHei"/>
            </a:endParaRPr>
          </a:p>
          <a:p>
            <a:pPr marL="91440">
              <a:lnSpc>
                <a:spcPct val="100000"/>
              </a:lnSpc>
            </a:pPr>
            <a:r>
              <a:rPr dirty="0" sz="1800" spc="-5" b="1">
                <a:solidFill>
                  <a:srgbClr val="FFFFFF"/>
                </a:solidFill>
                <a:latin typeface="Microsoft JhengHei"/>
                <a:cs typeface="Microsoft JhengHei"/>
              </a:rPr>
              <a:t>落地安装；铁塔安装；邮杆安装；女儿墙安装</a:t>
            </a:r>
            <a:endParaRPr sz="1800">
              <a:latin typeface="Microsoft JhengHei"/>
              <a:cs typeface="Microsoft JhengHei"/>
            </a:endParaRPr>
          </a:p>
        </p:txBody>
      </p:sp>
      <p:grpSp>
        <p:nvGrpSpPr>
          <p:cNvPr id="7" name="object 7" descr=""/>
          <p:cNvGrpSpPr/>
          <p:nvPr/>
        </p:nvGrpSpPr>
        <p:grpSpPr>
          <a:xfrm>
            <a:off x="6647687" y="996695"/>
            <a:ext cx="1854200" cy="499109"/>
            <a:chOff x="6647687" y="996695"/>
            <a:chExt cx="1854200" cy="499109"/>
          </a:xfrm>
        </p:grpSpPr>
        <p:pic>
          <p:nvPicPr>
            <p:cNvPr id="8" name="object 8" descr=""/>
            <p:cNvPicPr/>
            <p:nvPr/>
          </p:nvPicPr>
          <p:blipFill>
            <a:blip r:embed="rId5" cstate="print"/>
            <a:stretch>
              <a:fillRect/>
            </a:stretch>
          </p:blipFill>
          <p:spPr>
            <a:xfrm>
              <a:off x="6647687" y="1022603"/>
              <a:ext cx="621029" cy="473201"/>
            </a:xfrm>
            <a:prstGeom prst="rect">
              <a:avLst/>
            </a:prstGeom>
          </p:spPr>
        </p:pic>
        <p:pic>
          <p:nvPicPr>
            <p:cNvPr id="9" name="object 9" descr=""/>
            <p:cNvPicPr/>
            <p:nvPr/>
          </p:nvPicPr>
          <p:blipFill>
            <a:blip r:embed="rId6" cstate="print"/>
            <a:stretch>
              <a:fillRect/>
            </a:stretch>
          </p:blipFill>
          <p:spPr>
            <a:xfrm>
              <a:off x="6874002" y="996695"/>
              <a:ext cx="1627631" cy="499109"/>
            </a:xfrm>
            <a:prstGeom prst="rect">
              <a:avLst/>
            </a:prstGeom>
          </p:spPr>
        </p:pic>
      </p:grpSp>
      <p:sp>
        <p:nvSpPr>
          <p:cNvPr id="10" name="object 10" descr=""/>
          <p:cNvSpPr txBox="1"/>
          <p:nvPr/>
        </p:nvSpPr>
        <p:spPr>
          <a:xfrm>
            <a:off x="6810981" y="1070900"/>
            <a:ext cx="1484630" cy="391160"/>
          </a:xfrm>
          <a:prstGeom prst="rect">
            <a:avLst/>
          </a:prstGeom>
        </p:spPr>
        <p:txBody>
          <a:bodyPr wrap="square" lIns="0" tIns="12700" rIns="0" bIns="0" rtlCol="0" vert="horz">
            <a:spAutoFit/>
          </a:bodyPr>
          <a:lstStyle/>
          <a:p>
            <a:pPr marL="252095" indent="-243204">
              <a:lnSpc>
                <a:spcPct val="100000"/>
              </a:lnSpc>
              <a:spcBef>
                <a:spcPts val="100"/>
              </a:spcBef>
              <a:buSzPct val="95833"/>
              <a:buFont typeface="Wingdings"/>
              <a:buChar char=""/>
              <a:tabLst>
                <a:tab pos="252095" algn="l"/>
              </a:tabLst>
            </a:pPr>
            <a:r>
              <a:rPr dirty="0" sz="2400" spc="-15" b="1">
                <a:solidFill>
                  <a:srgbClr val="FF0000"/>
                </a:solidFill>
                <a:latin typeface="Microsoft YaHei"/>
                <a:cs typeface="Microsoft YaHei"/>
              </a:rPr>
              <a:t>正确案例</a:t>
            </a:r>
            <a:endParaRPr sz="2400">
              <a:latin typeface="Microsoft YaHei"/>
              <a:cs typeface="Microsoft YaHe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83406" y="126954"/>
            <a:ext cx="4714240" cy="513080"/>
          </a:xfrm>
          <a:prstGeom prst="rect"/>
        </p:spPr>
        <p:txBody>
          <a:bodyPr wrap="square" lIns="0" tIns="12065" rIns="0" bIns="0" rtlCol="0" vert="horz">
            <a:spAutoFit/>
          </a:bodyPr>
          <a:lstStyle/>
          <a:p>
            <a:pPr marL="12700">
              <a:lnSpc>
                <a:spcPct val="100000"/>
              </a:lnSpc>
              <a:spcBef>
                <a:spcPts val="95"/>
              </a:spcBef>
            </a:pPr>
            <a:r>
              <a:rPr dirty="0">
                <a:latin typeface="Times New Roman"/>
                <a:cs typeface="Times New Roman"/>
              </a:rPr>
              <a:t>5G</a:t>
            </a:r>
            <a:r>
              <a:rPr dirty="0" spc="20">
                <a:latin typeface="Times New Roman"/>
                <a:cs typeface="Times New Roman"/>
              </a:rPr>
              <a:t> </a:t>
            </a:r>
            <a:r>
              <a:rPr dirty="0" spc="-45"/>
              <a:t>配套电源安装工程规范</a:t>
            </a:r>
          </a:p>
        </p:txBody>
      </p:sp>
      <p:pic>
        <p:nvPicPr>
          <p:cNvPr id="3" name="object 3" descr=""/>
          <p:cNvPicPr/>
          <p:nvPr/>
        </p:nvPicPr>
        <p:blipFill>
          <a:blip r:embed="rId2" cstate="print"/>
          <a:stretch>
            <a:fillRect/>
          </a:stretch>
        </p:blipFill>
        <p:spPr>
          <a:xfrm>
            <a:off x="759002" y="944791"/>
            <a:ext cx="2484297" cy="530771"/>
          </a:xfrm>
          <a:prstGeom prst="rect">
            <a:avLst/>
          </a:prstGeom>
        </p:spPr>
      </p:pic>
      <p:sp>
        <p:nvSpPr>
          <p:cNvPr id="4" name="object 4" descr=""/>
          <p:cNvSpPr txBox="1"/>
          <p:nvPr/>
        </p:nvSpPr>
        <p:spPr>
          <a:xfrm>
            <a:off x="1206882" y="1051939"/>
            <a:ext cx="1588135" cy="299720"/>
          </a:xfrm>
          <a:prstGeom prst="rect">
            <a:avLst/>
          </a:prstGeom>
        </p:spPr>
        <p:txBody>
          <a:bodyPr wrap="square" lIns="0" tIns="12700" rIns="0" bIns="0" rtlCol="0" vert="horz">
            <a:spAutoFit/>
          </a:bodyPr>
          <a:lstStyle/>
          <a:p>
            <a:pPr marL="12700">
              <a:lnSpc>
                <a:spcPct val="100000"/>
              </a:lnSpc>
              <a:spcBef>
                <a:spcPts val="100"/>
              </a:spcBef>
            </a:pPr>
            <a:r>
              <a:rPr dirty="0" sz="1800">
                <a:latin typeface="Microsoft YaHei"/>
                <a:cs typeface="Microsoft YaHei"/>
              </a:rPr>
              <a:t>室外</a:t>
            </a:r>
            <a:r>
              <a:rPr dirty="0" sz="1800" spc="-20">
                <a:latin typeface="Arial MT"/>
                <a:cs typeface="Arial MT"/>
              </a:rPr>
              <a:t>ACDC</a:t>
            </a:r>
            <a:r>
              <a:rPr dirty="0" sz="1800" spc="-25">
                <a:latin typeface="Microsoft YaHei"/>
                <a:cs typeface="Microsoft YaHei"/>
              </a:rPr>
              <a:t>安装</a:t>
            </a:r>
            <a:endParaRPr sz="1800">
              <a:latin typeface="Microsoft YaHei"/>
              <a:cs typeface="Microsoft YaHei"/>
            </a:endParaRPr>
          </a:p>
        </p:txBody>
      </p:sp>
      <p:pic>
        <p:nvPicPr>
          <p:cNvPr id="5" name="object 5"/>
          <p:cNvPicPr/>
          <p:nvPr/>
        </p:nvPicPr>
        <p:blipFill>
          <a:blip r:embed="rId3" cstate="print"/>
          <a:stretch>
            <a:fillRect/>
          </a:stretch>
        </p:blipFill>
        <p:spPr>
          <a:xfrm>
            <a:off x="396415" y="1857499"/>
            <a:ext cx="3149477" cy="2830014"/>
          </a:xfrm>
          <a:prstGeom prst="rect">
            <a:avLst/>
          </a:prstGeom>
        </p:spPr>
      </p:pic>
      <p:pic>
        <p:nvPicPr>
          <p:cNvPr id="6" name="object 6" descr=""/>
          <p:cNvPicPr/>
          <p:nvPr/>
        </p:nvPicPr>
        <p:blipFill>
          <a:blip r:embed="rId4" cstate="print"/>
          <a:stretch>
            <a:fillRect/>
          </a:stretch>
        </p:blipFill>
        <p:spPr>
          <a:xfrm>
            <a:off x="5383072" y="951890"/>
            <a:ext cx="2484297" cy="530771"/>
          </a:xfrm>
          <a:prstGeom prst="rect">
            <a:avLst/>
          </a:prstGeom>
        </p:spPr>
      </p:pic>
      <p:sp>
        <p:nvSpPr>
          <p:cNvPr id="7" name="object 7" descr=""/>
          <p:cNvSpPr txBox="1"/>
          <p:nvPr/>
        </p:nvSpPr>
        <p:spPr>
          <a:xfrm>
            <a:off x="5793006" y="1059031"/>
            <a:ext cx="1664335" cy="299720"/>
          </a:xfrm>
          <a:prstGeom prst="rect">
            <a:avLst/>
          </a:prstGeom>
        </p:spPr>
        <p:txBody>
          <a:bodyPr wrap="square" lIns="0" tIns="12700" rIns="0" bIns="0" rtlCol="0" vert="horz">
            <a:spAutoFit/>
          </a:bodyPr>
          <a:lstStyle/>
          <a:p>
            <a:pPr marL="12700">
              <a:lnSpc>
                <a:spcPct val="100000"/>
              </a:lnSpc>
              <a:spcBef>
                <a:spcPts val="100"/>
              </a:spcBef>
            </a:pPr>
            <a:r>
              <a:rPr dirty="0" sz="1800" spc="-10">
                <a:latin typeface="Arial MT"/>
                <a:cs typeface="Arial MT"/>
              </a:rPr>
              <a:t>OCB</a:t>
            </a:r>
            <a:r>
              <a:rPr dirty="0" sz="1800" spc="-10">
                <a:latin typeface="Microsoft YaHei"/>
                <a:cs typeface="Microsoft YaHei"/>
              </a:rPr>
              <a:t>转接盒安装</a:t>
            </a:r>
            <a:endParaRPr sz="1800">
              <a:latin typeface="Microsoft YaHei"/>
              <a:cs typeface="Microsoft YaHei"/>
            </a:endParaRPr>
          </a:p>
        </p:txBody>
      </p:sp>
      <p:sp>
        <p:nvSpPr>
          <p:cNvPr id="8" name="object 8" descr=""/>
          <p:cNvSpPr txBox="1"/>
          <p:nvPr/>
        </p:nvSpPr>
        <p:spPr>
          <a:xfrm>
            <a:off x="4041140" y="1868170"/>
            <a:ext cx="4784090" cy="2952115"/>
          </a:xfrm>
          <a:prstGeom prst="rect">
            <a:avLst/>
          </a:prstGeom>
        </p:spPr>
        <p:txBody>
          <a:bodyPr wrap="square" lIns="0" tIns="12700" rIns="0" bIns="0" rtlCol="0" vert="horz">
            <a:spAutoFit/>
          </a:bodyPr>
          <a:lstStyle/>
          <a:p>
            <a:pPr marL="298450" marR="5080" indent="-285750">
              <a:lnSpc>
                <a:spcPct val="150000"/>
              </a:lnSpc>
              <a:spcBef>
                <a:spcPts val="100"/>
              </a:spcBef>
              <a:buFont typeface="Wingdings"/>
              <a:buChar char=""/>
              <a:tabLst>
                <a:tab pos="298450" algn="l"/>
              </a:tabLst>
            </a:pPr>
            <a:r>
              <a:rPr dirty="0" sz="1600" spc="-15">
                <a:latin typeface="Microsoft YaHei"/>
                <a:cs typeface="Microsoft YaHei"/>
              </a:rPr>
              <a:t>串联在直流供电电源和系统设备之间，可以将较粗的输入电源线转化为较细的输出电源线；</a:t>
            </a:r>
            <a:endParaRPr sz="1600">
              <a:latin typeface="Microsoft YaHei"/>
              <a:cs typeface="Microsoft YaHei"/>
            </a:endParaRPr>
          </a:p>
          <a:p>
            <a:pPr marL="298450" marR="5080" indent="-285750">
              <a:lnSpc>
                <a:spcPct val="150000"/>
              </a:lnSpc>
              <a:buFont typeface="Wingdings"/>
              <a:buChar char=""/>
              <a:tabLst>
                <a:tab pos="298450" algn="l"/>
              </a:tabLst>
            </a:pPr>
            <a:r>
              <a:rPr dirty="0" sz="1600">
                <a:latin typeface="Microsoft YaHei"/>
                <a:cs typeface="Microsoft YaHei"/>
              </a:rPr>
              <a:t>OCB</a:t>
            </a:r>
            <a:r>
              <a:rPr dirty="0" sz="1600" spc="-10">
                <a:latin typeface="Microsoft YaHei"/>
                <a:cs typeface="Microsoft YaHei"/>
              </a:rPr>
              <a:t> 接线转接盒支持单路输入</a:t>
            </a:r>
            <a:r>
              <a:rPr dirty="0" sz="1600">
                <a:latin typeface="Microsoft YaHei"/>
                <a:cs typeface="Microsoft YaHei"/>
              </a:rPr>
              <a:t>（</a:t>
            </a:r>
            <a:r>
              <a:rPr dirty="0" sz="1600" spc="-5">
                <a:latin typeface="Microsoft YaHei"/>
                <a:cs typeface="Microsoft YaHei"/>
              </a:rPr>
              <a:t>一根</a:t>
            </a:r>
            <a:r>
              <a:rPr dirty="0" sz="1600">
                <a:latin typeface="Microsoft YaHei"/>
                <a:cs typeface="Microsoft YaHei"/>
              </a:rPr>
              <a:t>2</a:t>
            </a:r>
            <a:r>
              <a:rPr dirty="0" sz="1600" spc="-20">
                <a:latin typeface="Microsoft YaHei"/>
                <a:cs typeface="Microsoft YaHei"/>
              </a:rPr>
              <a:t> 芯</a:t>
            </a:r>
            <a:r>
              <a:rPr dirty="0" sz="1600">
                <a:latin typeface="Microsoft YaHei"/>
                <a:cs typeface="Microsoft YaHei"/>
              </a:rPr>
              <a:t>10</a:t>
            </a:r>
            <a:r>
              <a:rPr dirty="0" sz="1600" spc="-20">
                <a:latin typeface="Microsoft YaHei"/>
                <a:cs typeface="Microsoft YaHei"/>
              </a:rPr>
              <a:t> 平方</a:t>
            </a:r>
            <a:r>
              <a:rPr dirty="0" sz="1600" spc="-50">
                <a:latin typeface="Microsoft YaHei"/>
                <a:cs typeface="Microsoft YaHei"/>
              </a:rPr>
              <a:t> </a:t>
            </a:r>
            <a:r>
              <a:rPr dirty="0" sz="1600" spc="-10">
                <a:latin typeface="Microsoft YaHei"/>
                <a:cs typeface="Microsoft YaHei"/>
              </a:rPr>
              <a:t>mm</a:t>
            </a:r>
            <a:r>
              <a:rPr dirty="0" sz="1600">
                <a:latin typeface="Microsoft YaHei"/>
                <a:cs typeface="Microsoft YaHei"/>
              </a:rPr>
              <a:t>屏蔽电源线或两根单芯16</a:t>
            </a:r>
            <a:r>
              <a:rPr dirty="0" sz="1600" spc="-10">
                <a:latin typeface="Microsoft YaHei"/>
                <a:cs typeface="Microsoft YaHei"/>
              </a:rPr>
              <a:t> 平方mm</a:t>
            </a:r>
            <a:r>
              <a:rPr dirty="0" sz="1600" spc="-15">
                <a:latin typeface="Microsoft YaHei"/>
                <a:cs typeface="Microsoft YaHei"/>
              </a:rPr>
              <a:t>屏蔽电源</a:t>
            </a:r>
            <a:r>
              <a:rPr dirty="0" sz="1600">
                <a:latin typeface="Microsoft YaHei"/>
                <a:cs typeface="Microsoft YaHei"/>
              </a:rPr>
              <a:t>线），</a:t>
            </a:r>
            <a:r>
              <a:rPr dirty="0" sz="1600" spc="-15">
                <a:latin typeface="Microsoft YaHei"/>
                <a:cs typeface="Microsoft YaHei"/>
              </a:rPr>
              <a:t>单路输出，电源线屏蔽层可以通过压线夹与外壳紧密连接，然后通过外壳接地，加强后级设备的安全。</a:t>
            </a:r>
            <a:endParaRPr sz="1600">
              <a:latin typeface="Microsoft YaHei"/>
              <a:cs typeface="Microsoft YaHei"/>
            </a:endParaRPr>
          </a:p>
          <a:p>
            <a:pPr marL="297815" indent="-285115">
              <a:lnSpc>
                <a:spcPct val="100000"/>
              </a:lnSpc>
              <a:spcBef>
                <a:spcPts val="955"/>
              </a:spcBef>
              <a:buFont typeface="Wingdings"/>
              <a:buChar char=""/>
              <a:tabLst>
                <a:tab pos="297815" algn="l"/>
              </a:tabLst>
            </a:pPr>
            <a:r>
              <a:rPr dirty="0" sz="1600" spc="-5">
                <a:latin typeface="Microsoft YaHei"/>
                <a:cs typeface="Microsoft YaHei"/>
              </a:rPr>
              <a:t>支持挂墙安装和抱杆安装</a:t>
            </a:r>
            <a:r>
              <a:rPr dirty="0" sz="1600">
                <a:latin typeface="Microsoft YaHei"/>
                <a:cs typeface="Microsoft YaHei"/>
              </a:rPr>
              <a:t>（</a:t>
            </a:r>
            <a:r>
              <a:rPr dirty="0" sz="1600" spc="-5">
                <a:latin typeface="Microsoft YaHei"/>
                <a:cs typeface="Microsoft YaHei"/>
              </a:rPr>
              <a:t>钢扎带</a:t>
            </a:r>
            <a:r>
              <a:rPr dirty="0" sz="1600">
                <a:latin typeface="Microsoft YaHei"/>
                <a:cs typeface="Microsoft YaHei"/>
              </a:rPr>
              <a:t>）</a:t>
            </a:r>
            <a:r>
              <a:rPr dirty="0" sz="1600" spc="-50">
                <a:latin typeface="Microsoft YaHei"/>
                <a:cs typeface="Microsoft YaHei"/>
              </a:rPr>
              <a:t>。</a:t>
            </a:r>
            <a:endParaRPr sz="1600">
              <a:latin typeface="Microsoft YaHei"/>
              <a:cs typeface="Microsoft YaHe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41460" y="158369"/>
            <a:ext cx="4566920" cy="513080"/>
          </a:xfrm>
          <a:prstGeom prst="rect"/>
        </p:spPr>
        <p:txBody>
          <a:bodyPr wrap="square" lIns="0" tIns="12065" rIns="0" bIns="0" rtlCol="0" vert="horz">
            <a:spAutoFit/>
          </a:bodyPr>
          <a:lstStyle/>
          <a:p>
            <a:pPr marL="12700">
              <a:lnSpc>
                <a:spcPct val="100000"/>
              </a:lnSpc>
              <a:spcBef>
                <a:spcPts val="95"/>
              </a:spcBef>
            </a:pPr>
            <a:r>
              <a:rPr dirty="0" spc="-20">
                <a:latin typeface="Times New Roman"/>
                <a:cs typeface="Times New Roman"/>
              </a:rPr>
              <a:t>OCB</a:t>
            </a:r>
            <a:r>
              <a:rPr dirty="0" spc="-45"/>
              <a:t>转接盒安装工程规范</a:t>
            </a:r>
          </a:p>
        </p:txBody>
      </p:sp>
      <p:sp>
        <p:nvSpPr>
          <p:cNvPr id="3" name="object 3" descr=""/>
          <p:cNvSpPr txBox="1"/>
          <p:nvPr/>
        </p:nvSpPr>
        <p:spPr>
          <a:xfrm>
            <a:off x="401499" y="3710090"/>
            <a:ext cx="8188325" cy="1264920"/>
          </a:xfrm>
          <a:prstGeom prst="rect">
            <a:avLst/>
          </a:prstGeom>
        </p:spPr>
        <p:txBody>
          <a:bodyPr wrap="square" lIns="0" tIns="55880" rIns="0" bIns="0" rtlCol="0" vert="horz">
            <a:spAutoFit/>
          </a:bodyPr>
          <a:lstStyle/>
          <a:p>
            <a:pPr marL="12700">
              <a:lnSpc>
                <a:spcPct val="100000"/>
              </a:lnSpc>
              <a:spcBef>
                <a:spcPts val="440"/>
              </a:spcBef>
            </a:pPr>
            <a:r>
              <a:rPr dirty="0" sz="1400" spc="-30">
                <a:latin typeface="SimSun"/>
                <a:cs typeface="SimSun"/>
              </a:rPr>
              <a:t>安装要求：</a:t>
            </a:r>
            <a:endParaRPr sz="1400">
              <a:latin typeface="SimSun"/>
              <a:cs typeface="SimSun"/>
            </a:endParaRPr>
          </a:p>
          <a:p>
            <a:pPr marL="354965" indent="-342265">
              <a:lnSpc>
                <a:spcPct val="100000"/>
              </a:lnSpc>
              <a:spcBef>
                <a:spcPts val="345"/>
              </a:spcBef>
              <a:buFont typeface="Wingdings"/>
              <a:buChar char=""/>
              <a:tabLst>
                <a:tab pos="354965" algn="l"/>
              </a:tabLst>
            </a:pPr>
            <a:r>
              <a:rPr dirty="0" sz="1400" spc="-25">
                <a:latin typeface="Arial MT"/>
                <a:cs typeface="Arial MT"/>
              </a:rPr>
              <a:t>OCB</a:t>
            </a:r>
            <a:r>
              <a:rPr dirty="0" sz="1400" spc="-20">
                <a:latin typeface="SimSun"/>
                <a:cs typeface="SimSun"/>
              </a:rPr>
              <a:t>转接盒主要是将</a:t>
            </a:r>
            <a:r>
              <a:rPr dirty="0" sz="1400" spc="-10">
                <a:latin typeface="Arial MT"/>
                <a:cs typeface="Arial MT"/>
              </a:rPr>
              <a:t>2*16mm²</a:t>
            </a:r>
            <a:r>
              <a:rPr dirty="0" sz="1400" spc="-20">
                <a:latin typeface="SimSun"/>
                <a:cs typeface="SimSun"/>
              </a:rPr>
              <a:t>线缆转换成</a:t>
            </a:r>
            <a:r>
              <a:rPr dirty="0" sz="1400" spc="-10">
                <a:latin typeface="Arial MT"/>
                <a:cs typeface="Arial MT"/>
              </a:rPr>
              <a:t>2*10mm²</a:t>
            </a:r>
            <a:r>
              <a:rPr dirty="0" sz="1400" spc="-20">
                <a:latin typeface="SimSun"/>
                <a:cs typeface="SimSun"/>
              </a:rPr>
              <a:t>或</a:t>
            </a:r>
            <a:r>
              <a:rPr dirty="0" sz="1400" spc="-10">
                <a:latin typeface="Arial MT"/>
                <a:cs typeface="Arial MT"/>
              </a:rPr>
              <a:t>2*6mm²</a:t>
            </a:r>
            <a:r>
              <a:rPr dirty="0" sz="1400" spc="-20">
                <a:latin typeface="SimSun"/>
                <a:cs typeface="SimSun"/>
              </a:rPr>
              <a:t>线缆，以便能顺利与</a:t>
            </a:r>
            <a:r>
              <a:rPr dirty="0" sz="1400" spc="-20">
                <a:latin typeface="Arial MT"/>
                <a:cs typeface="Arial MT"/>
              </a:rPr>
              <a:t>AAU</a:t>
            </a:r>
            <a:r>
              <a:rPr dirty="0" sz="1400" spc="-35">
                <a:latin typeface="SimSun"/>
                <a:cs typeface="SimSun"/>
              </a:rPr>
              <a:t>连接；</a:t>
            </a:r>
            <a:endParaRPr sz="1400">
              <a:latin typeface="SimSun"/>
              <a:cs typeface="SimSun"/>
            </a:endParaRPr>
          </a:p>
          <a:p>
            <a:pPr marL="354965" indent="-342265">
              <a:lnSpc>
                <a:spcPct val="100000"/>
              </a:lnSpc>
              <a:spcBef>
                <a:spcPts val="335"/>
              </a:spcBef>
              <a:buFont typeface="Wingdings"/>
              <a:buChar char=""/>
              <a:tabLst>
                <a:tab pos="354965" algn="l"/>
              </a:tabLst>
            </a:pPr>
            <a:r>
              <a:rPr dirty="0" sz="1400" spc="-20">
                <a:latin typeface="SimSun"/>
                <a:cs typeface="SimSun"/>
              </a:rPr>
              <a:t>支持挂墙安装和抱杆安装（不锈钢扎带</a:t>
            </a:r>
            <a:r>
              <a:rPr dirty="0" sz="1400" spc="-25">
                <a:latin typeface="SimSun"/>
                <a:cs typeface="SimSun"/>
              </a:rPr>
              <a:t>）；</a:t>
            </a:r>
            <a:endParaRPr sz="1400">
              <a:latin typeface="SimSun"/>
              <a:cs typeface="SimSun"/>
            </a:endParaRPr>
          </a:p>
          <a:p>
            <a:pPr marL="355600" marR="5080" indent="-342900">
              <a:lnSpc>
                <a:spcPts val="1610"/>
              </a:lnSpc>
              <a:spcBef>
                <a:spcPts val="520"/>
              </a:spcBef>
              <a:buFont typeface="Wingdings"/>
              <a:buChar char=""/>
              <a:tabLst>
                <a:tab pos="355600" algn="l"/>
              </a:tabLst>
            </a:pPr>
            <a:r>
              <a:rPr dirty="0" sz="1400" spc="-25">
                <a:latin typeface="SimSun"/>
                <a:cs typeface="SimSun"/>
              </a:rPr>
              <a:t>抱杆安装，使用不锈钢扎带穿过挂板上的安装孔，调整不锈钢扎带的抱杆范围，拧紧螺钉，便可以将</a:t>
            </a:r>
            <a:r>
              <a:rPr dirty="0" sz="1400" spc="-20">
                <a:latin typeface="SimSun"/>
                <a:cs typeface="SimSun"/>
              </a:rPr>
              <a:t>产品固定到直径为</a:t>
            </a:r>
            <a:r>
              <a:rPr dirty="0" sz="1400" spc="-10">
                <a:latin typeface="Microsoft Sans Serif"/>
                <a:cs typeface="Microsoft Sans Serif"/>
              </a:rPr>
              <a:t>φ</a:t>
            </a:r>
            <a:r>
              <a:rPr dirty="0" sz="1400" spc="-10">
                <a:latin typeface="Arial MT"/>
                <a:cs typeface="Arial MT"/>
              </a:rPr>
              <a:t>30mm-</a:t>
            </a:r>
            <a:r>
              <a:rPr dirty="0" sz="1400" spc="-10">
                <a:latin typeface="Microsoft Sans Serif"/>
                <a:cs typeface="Microsoft Sans Serif"/>
              </a:rPr>
              <a:t>φ</a:t>
            </a:r>
            <a:r>
              <a:rPr dirty="0" sz="1400" spc="-10">
                <a:latin typeface="Arial MT"/>
                <a:cs typeface="Arial MT"/>
              </a:rPr>
              <a:t>120mm</a:t>
            </a:r>
            <a:r>
              <a:rPr dirty="0" sz="1400" spc="-30">
                <a:latin typeface="SimSun"/>
                <a:cs typeface="SimSun"/>
              </a:rPr>
              <a:t>的抱杆上。</a:t>
            </a:r>
            <a:endParaRPr sz="1400">
              <a:latin typeface="SimSun"/>
              <a:cs typeface="SimSun"/>
            </a:endParaRPr>
          </a:p>
        </p:txBody>
      </p:sp>
      <p:pic>
        <p:nvPicPr>
          <p:cNvPr id="4" name="object 4"/>
          <p:cNvPicPr/>
          <p:nvPr/>
        </p:nvPicPr>
        <p:blipFill>
          <a:blip r:embed="rId2" cstate="print"/>
          <a:stretch>
            <a:fillRect/>
          </a:stretch>
        </p:blipFill>
        <p:spPr>
          <a:xfrm>
            <a:off x="4800600" y="895350"/>
            <a:ext cx="2833048" cy="2794050"/>
          </a:xfrm>
          <a:prstGeom prst="rect">
            <a:avLst/>
          </a:prstGeom>
        </p:spPr>
      </p:pic>
      <p:pic>
        <p:nvPicPr>
          <p:cNvPr id="5" name="object 5"/>
          <p:cNvPicPr/>
          <p:nvPr/>
        </p:nvPicPr>
        <p:blipFill>
          <a:blip r:embed="rId3" cstate="print"/>
          <a:stretch>
            <a:fillRect/>
          </a:stretch>
        </p:blipFill>
        <p:spPr>
          <a:xfrm>
            <a:off x="762000" y="895350"/>
            <a:ext cx="3312363" cy="2925924"/>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6510" y="167894"/>
            <a:ext cx="3596004"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DCPD</a:t>
            </a:r>
            <a:r>
              <a:rPr dirty="0" spc="-40"/>
              <a:t>安装工程规范</a:t>
            </a:r>
          </a:p>
        </p:txBody>
      </p:sp>
      <p:sp>
        <p:nvSpPr>
          <p:cNvPr id="3" name="object 3" descr=""/>
          <p:cNvSpPr txBox="1"/>
          <p:nvPr/>
        </p:nvSpPr>
        <p:spPr>
          <a:xfrm>
            <a:off x="4938772" y="805520"/>
            <a:ext cx="4244340" cy="1566545"/>
          </a:xfrm>
          <a:prstGeom prst="rect">
            <a:avLst/>
          </a:prstGeom>
        </p:spPr>
        <p:txBody>
          <a:bodyPr wrap="square" lIns="0" tIns="12700" rIns="0" bIns="0" rtlCol="0" vert="horz">
            <a:spAutoFit/>
          </a:bodyPr>
          <a:lstStyle/>
          <a:p>
            <a:pPr marL="334010">
              <a:lnSpc>
                <a:spcPct val="100000"/>
              </a:lnSpc>
              <a:spcBef>
                <a:spcPts val="100"/>
              </a:spcBef>
            </a:pPr>
            <a:r>
              <a:rPr dirty="0" sz="1500" spc="-10" b="1">
                <a:solidFill>
                  <a:srgbClr val="C00000"/>
                </a:solidFill>
                <a:latin typeface="Microsoft YaHei"/>
                <a:cs typeface="Microsoft YaHei"/>
              </a:rPr>
              <a:t>挂墙安装步骤</a:t>
            </a:r>
            <a:endParaRPr sz="1500">
              <a:latin typeface="Microsoft YaHei"/>
              <a:cs typeface="Microsoft YaHei"/>
            </a:endParaRPr>
          </a:p>
          <a:p>
            <a:pPr marL="297815" indent="-285115">
              <a:lnSpc>
                <a:spcPct val="100000"/>
              </a:lnSpc>
              <a:spcBef>
                <a:spcPts val="969"/>
              </a:spcBef>
              <a:buFont typeface="Wingdings"/>
              <a:buChar char=""/>
              <a:tabLst>
                <a:tab pos="297815" algn="l"/>
              </a:tabLst>
            </a:pPr>
            <a:r>
              <a:rPr dirty="0" sz="1300">
                <a:latin typeface="Microsoft YaHei"/>
                <a:cs typeface="Microsoft YaHei"/>
              </a:rPr>
              <a:t>将</a:t>
            </a:r>
            <a:r>
              <a:rPr dirty="0" sz="1300" spc="-10">
                <a:latin typeface="Microsoft YaHei"/>
                <a:cs typeface="Microsoft YaHei"/>
              </a:rPr>
              <a:t>DCPD</a:t>
            </a:r>
            <a:r>
              <a:rPr dirty="0" sz="1300">
                <a:latin typeface="Microsoft YaHei"/>
                <a:cs typeface="Microsoft YaHei"/>
              </a:rPr>
              <a:t>挂耳旋转</a:t>
            </a:r>
            <a:r>
              <a:rPr dirty="0" sz="1300" spc="-10">
                <a:latin typeface="Microsoft YaHei"/>
                <a:cs typeface="Microsoft YaHei"/>
              </a:rPr>
              <a:t>90</a:t>
            </a:r>
            <a:r>
              <a:rPr dirty="0" sz="1300" spc="-20">
                <a:latin typeface="Microsoft YaHei"/>
                <a:cs typeface="Microsoft YaHei"/>
              </a:rPr>
              <a:t>°安装；</a:t>
            </a:r>
            <a:endParaRPr sz="1300">
              <a:latin typeface="Microsoft YaHei"/>
              <a:cs typeface="Microsoft YaHei"/>
            </a:endParaRPr>
          </a:p>
          <a:p>
            <a:pPr marL="297815" indent="-285115">
              <a:lnSpc>
                <a:spcPct val="100000"/>
              </a:lnSpc>
              <a:buFont typeface="Wingdings"/>
              <a:buChar char=""/>
              <a:tabLst>
                <a:tab pos="297815" algn="l"/>
              </a:tabLst>
            </a:pPr>
            <a:r>
              <a:rPr dirty="0" sz="1300" spc="-15">
                <a:latin typeface="Microsoft YaHei"/>
                <a:cs typeface="Microsoft YaHei"/>
              </a:rPr>
              <a:t>根据挂耳翻转后的安装孔位，在墙体上打孔；</a:t>
            </a:r>
            <a:endParaRPr sz="1300">
              <a:latin typeface="Microsoft YaHei"/>
              <a:cs typeface="Microsoft YaHei"/>
            </a:endParaRPr>
          </a:p>
          <a:p>
            <a:pPr marL="298450" marR="137160" indent="-285750">
              <a:lnSpc>
                <a:spcPct val="100000"/>
              </a:lnSpc>
              <a:buFont typeface="Wingdings"/>
              <a:buChar char=""/>
              <a:tabLst>
                <a:tab pos="298450" algn="l"/>
              </a:tabLst>
            </a:pPr>
            <a:r>
              <a:rPr dirty="0" sz="1300" spc="-15">
                <a:latin typeface="Microsoft YaHei"/>
                <a:cs typeface="Microsoft YaHei"/>
              </a:rPr>
              <a:t>将膨胀螺栓安装到安装孔内，拧紧螺栓后取下螺母、</a:t>
            </a:r>
            <a:r>
              <a:rPr dirty="0" sz="1300" spc="-10">
                <a:latin typeface="Microsoft YaHei"/>
                <a:cs typeface="Microsoft YaHei"/>
              </a:rPr>
              <a:t>弹片、垫片；</a:t>
            </a:r>
            <a:endParaRPr sz="1300">
              <a:latin typeface="Microsoft YaHei"/>
              <a:cs typeface="Microsoft YaHei"/>
            </a:endParaRPr>
          </a:p>
          <a:p>
            <a:pPr marL="297815" indent="-285115">
              <a:lnSpc>
                <a:spcPct val="100000"/>
              </a:lnSpc>
              <a:buFont typeface="Wingdings"/>
              <a:buChar char=""/>
              <a:tabLst>
                <a:tab pos="297815" algn="l"/>
              </a:tabLst>
            </a:pPr>
            <a:r>
              <a:rPr dirty="0" sz="1300" spc="-10">
                <a:latin typeface="Microsoft YaHei"/>
                <a:cs typeface="Microsoft YaHei"/>
              </a:rPr>
              <a:t>DCPD</a:t>
            </a:r>
            <a:r>
              <a:rPr dirty="0" sz="1300" spc="-15">
                <a:latin typeface="Microsoft YaHei"/>
                <a:cs typeface="Microsoft YaHei"/>
              </a:rPr>
              <a:t>挂耳安装到螺栓，依次安装平垫、弹垫、螺母；</a:t>
            </a:r>
            <a:endParaRPr sz="1300">
              <a:latin typeface="Microsoft YaHei"/>
              <a:cs typeface="Microsoft YaHei"/>
            </a:endParaRPr>
          </a:p>
          <a:p>
            <a:pPr marL="297815" indent="-285115">
              <a:lnSpc>
                <a:spcPct val="100000"/>
              </a:lnSpc>
              <a:buFont typeface="Wingdings"/>
              <a:buChar char=""/>
              <a:tabLst>
                <a:tab pos="297815" algn="l"/>
              </a:tabLst>
            </a:pPr>
            <a:r>
              <a:rPr dirty="0" sz="1300">
                <a:latin typeface="Microsoft YaHei"/>
                <a:cs typeface="Microsoft YaHei"/>
              </a:rPr>
              <a:t>在</a:t>
            </a:r>
            <a:r>
              <a:rPr dirty="0" sz="1300" spc="-10">
                <a:latin typeface="Microsoft YaHei"/>
                <a:cs typeface="Microsoft YaHei"/>
              </a:rPr>
              <a:t>DCPD</a:t>
            </a:r>
            <a:r>
              <a:rPr dirty="0" sz="1300" spc="-15">
                <a:latin typeface="Microsoft YaHei"/>
                <a:cs typeface="Microsoft YaHei"/>
              </a:rPr>
              <a:t>下方合适处安装理线架，用膨胀螺栓固定；</a:t>
            </a:r>
            <a:endParaRPr sz="1300">
              <a:latin typeface="Microsoft YaHei"/>
              <a:cs typeface="Microsoft YaHei"/>
            </a:endParaRPr>
          </a:p>
        </p:txBody>
      </p:sp>
      <p:sp>
        <p:nvSpPr>
          <p:cNvPr id="4" name="object 4" descr=""/>
          <p:cNvSpPr txBox="1"/>
          <p:nvPr/>
        </p:nvSpPr>
        <p:spPr>
          <a:xfrm>
            <a:off x="68182" y="3243920"/>
            <a:ext cx="4505325" cy="1555115"/>
          </a:xfrm>
          <a:prstGeom prst="rect">
            <a:avLst/>
          </a:prstGeom>
        </p:spPr>
        <p:txBody>
          <a:bodyPr wrap="square" lIns="0" tIns="12700" rIns="0" bIns="0" rtlCol="0" vert="horz">
            <a:spAutoFit/>
          </a:bodyPr>
          <a:lstStyle/>
          <a:p>
            <a:pPr marL="327660">
              <a:lnSpc>
                <a:spcPct val="100000"/>
              </a:lnSpc>
              <a:spcBef>
                <a:spcPts val="100"/>
              </a:spcBef>
            </a:pPr>
            <a:r>
              <a:rPr dirty="0" sz="1500" spc="-10" b="1">
                <a:solidFill>
                  <a:srgbClr val="C00000"/>
                </a:solidFill>
                <a:latin typeface="Microsoft YaHei"/>
                <a:cs typeface="Microsoft YaHei"/>
              </a:rPr>
              <a:t>机柜安装步骤</a:t>
            </a:r>
            <a:endParaRPr sz="1500">
              <a:latin typeface="Microsoft YaHei"/>
              <a:cs typeface="Microsoft YaHei"/>
            </a:endParaRPr>
          </a:p>
          <a:p>
            <a:pPr marL="297815" indent="-285115">
              <a:lnSpc>
                <a:spcPct val="100000"/>
              </a:lnSpc>
              <a:spcBef>
                <a:spcPts val="1660"/>
              </a:spcBef>
              <a:buFont typeface="Wingdings"/>
              <a:buChar char=""/>
              <a:tabLst>
                <a:tab pos="297815" algn="l"/>
              </a:tabLst>
            </a:pPr>
            <a:r>
              <a:rPr dirty="0" sz="1300" spc="-10">
                <a:latin typeface="Microsoft YaHei"/>
                <a:cs typeface="Microsoft YaHei"/>
              </a:rPr>
              <a:t>在机柜内选取合适的安装位置；</a:t>
            </a:r>
            <a:endParaRPr sz="1300">
              <a:latin typeface="Microsoft YaHei"/>
              <a:cs typeface="Microsoft YaHei"/>
            </a:endParaRPr>
          </a:p>
          <a:p>
            <a:pPr marL="297815" indent="-285115">
              <a:lnSpc>
                <a:spcPct val="100000"/>
              </a:lnSpc>
              <a:spcBef>
                <a:spcPts val="780"/>
              </a:spcBef>
              <a:buFont typeface="Wingdings"/>
              <a:buChar char=""/>
              <a:tabLst>
                <a:tab pos="297815" algn="l"/>
              </a:tabLst>
            </a:pPr>
            <a:r>
              <a:rPr dirty="0" sz="1300">
                <a:latin typeface="Microsoft YaHei"/>
                <a:cs typeface="Microsoft YaHei"/>
              </a:rPr>
              <a:t>将</a:t>
            </a:r>
            <a:r>
              <a:rPr dirty="0" sz="1300" spc="-10">
                <a:latin typeface="Microsoft YaHei"/>
                <a:cs typeface="Microsoft YaHei"/>
              </a:rPr>
              <a:t>DCPD</a:t>
            </a:r>
            <a:r>
              <a:rPr dirty="0" sz="1300" spc="-15">
                <a:latin typeface="Microsoft YaHei"/>
                <a:cs typeface="Microsoft YaHei"/>
              </a:rPr>
              <a:t>两侧的安装挂耳与机柜的立柱紧贴；</a:t>
            </a:r>
            <a:endParaRPr sz="1300">
              <a:latin typeface="Microsoft YaHei"/>
              <a:cs typeface="Microsoft YaHei"/>
            </a:endParaRPr>
          </a:p>
          <a:p>
            <a:pPr marL="297815" indent="-285115">
              <a:lnSpc>
                <a:spcPct val="100000"/>
              </a:lnSpc>
              <a:spcBef>
                <a:spcPts val="780"/>
              </a:spcBef>
              <a:buFont typeface="Wingdings"/>
              <a:buChar char=""/>
              <a:tabLst>
                <a:tab pos="297815" algn="l"/>
              </a:tabLst>
            </a:pPr>
            <a:r>
              <a:rPr dirty="0" sz="1300" spc="-5">
                <a:latin typeface="Microsoft YaHei"/>
                <a:cs typeface="Microsoft YaHei"/>
              </a:rPr>
              <a:t>用固定螺钉组件</a:t>
            </a:r>
            <a:r>
              <a:rPr dirty="0" sz="1300" spc="-10">
                <a:latin typeface="Microsoft YaHei"/>
                <a:cs typeface="Microsoft YaHei"/>
              </a:rPr>
              <a:t>（</a:t>
            </a:r>
            <a:r>
              <a:rPr dirty="0" sz="1300">
                <a:latin typeface="Microsoft YaHei"/>
                <a:cs typeface="Microsoft YaHei"/>
              </a:rPr>
              <a:t>共</a:t>
            </a:r>
            <a:r>
              <a:rPr dirty="0" sz="1300" spc="-10">
                <a:latin typeface="Microsoft YaHei"/>
                <a:cs typeface="Microsoft YaHei"/>
              </a:rPr>
              <a:t>4</a:t>
            </a:r>
            <a:r>
              <a:rPr dirty="0" sz="1300">
                <a:latin typeface="Microsoft YaHei"/>
                <a:cs typeface="Microsoft YaHei"/>
              </a:rPr>
              <a:t>套）</a:t>
            </a:r>
            <a:r>
              <a:rPr dirty="0" sz="1300" spc="-10">
                <a:latin typeface="Microsoft YaHei"/>
                <a:cs typeface="Microsoft YaHei"/>
              </a:rPr>
              <a:t>将DCPD</a:t>
            </a:r>
            <a:r>
              <a:rPr dirty="0" sz="1300" spc="-15">
                <a:latin typeface="Microsoft YaHei"/>
                <a:cs typeface="Microsoft YaHei"/>
              </a:rPr>
              <a:t>固定在机柜的立柱上；</a:t>
            </a:r>
            <a:endParaRPr sz="1300">
              <a:latin typeface="Microsoft YaHei"/>
              <a:cs typeface="Microsoft YaHei"/>
            </a:endParaRPr>
          </a:p>
          <a:p>
            <a:pPr marL="297815" indent="-285115">
              <a:lnSpc>
                <a:spcPct val="100000"/>
              </a:lnSpc>
              <a:spcBef>
                <a:spcPts val="780"/>
              </a:spcBef>
              <a:buFont typeface="Wingdings"/>
              <a:buChar char=""/>
              <a:tabLst>
                <a:tab pos="297815" algn="l"/>
              </a:tabLst>
            </a:pPr>
            <a:r>
              <a:rPr dirty="0" sz="1300">
                <a:latin typeface="Microsoft YaHei"/>
                <a:cs typeface="Microsoft YaHei"/>
              </a:rPr>
              <a:t>在</a:t>
            </a:r>
            <a:r>
              <a:rPr dirty="0" sz="1300" spc="-10">
                <a:latin typeface="Microsoft YaHei"/>
                <a:cs typeface="Microsoft YaHei"/>
              </a:rPr>
              <a:t>DCPD</a:t>
            </a:r>
            <a:r>
              <a:rPr dirty="0" sz="1300">
                <a:latin typeface="Microsoft YaHei"/>
                <a:cs typeface="Microsoft YaHei"/>
              </a:rPr>
              <a:t>下侧</a:t>
            </a:r>
            <a:r>
              <a:rPr dirty="0" sz="1300" spc="-20">
                <a:latin typeface="Microsoft YaHei"/>
                <a:cs typeface="Microsoft YaHei"/>
              </a:rPr>
              <a:t>1U</a:t>
            </a:r>
            <a:r>
              <a:rPr dirty="0" sz="1300" spc="-15">
                <a:latin typeface="Microsoft YaHei"/>
                <a:cs typeface="Microsoft YaHei"/>
              </a:rPr>
              <a:t>处安装理线架，用二套组合螺钉固定。</a:t>
            </a:r>
            <a:endParaRPr sz="1300">
              <a:latin typeface="Microsoft YaHei"/>
              <a:cs typeface="Microsoft YaHei"/>
            </a:endParaRPr>
          </a:p>
        </p:txBody>
      </p:sp>
      <p:pic>
        <p:nvPicPr>
          <p:cNvPr id="5" name="object 5"/>
          <p:cNvPicPr/>
          <p:nvPr/>
        </p:nvPicPr>
        <p:blipFill>
          <a:blip r:embed="rId2" cstate="print"/>
          <a:stretch>
            <a:fillRect/>
          </a:stretch>
        </p:blipFill>
        <p:spPr>
          <a:xfrm>
            <a:off x="48155" y="958820"/>
            <a:ext cx="4724010" cy="2109513"/>
          </a:xfrm>
          <a:prstGeom prst="rect">
            <a:avLst/>
          </a:prstGeom>
        </p:spPr>
      </p:pic>
      <p:pic>
        <p:nvPicPr>
          <p:cNvPr id="6" name="object 6"/>
          <p:cNvPicPr/>
          <p:nvPr/>
        </p:nvPicPr>
        <p:blipFill>
          <a:blip r:embed="rId3" cstate="print"/>
          <a:stretch>
            <a:fillRect/>
          </a:stretch>
        </p:blipFill>
        <p:spPr>
          <a:xfrm>
            <a:off x="5486400" y="2495550"/>
            <a:ext cx="2852935" cy="2485679"/>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34671" y="113125"/>
            <a:ext cx="3596004"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DCPD</a:t>
            </a:r>
            <a:r>
              <a:rPr dirty="0" spc="-40"/>
              <a:t>安装工程规范</a:t>
            </a:r>
          </a:p>
        </p:txBody>
      </p:sp>
      <p:pic>
        <p:nvPicPr>
          <p:cNvPr id="3" name="object 3" descr=""/>
          <p:cNvPicPr/>
          <p:nvPr/>
        </p:nvPicPr>
        <p:blipFill>
          <a:blip r:embed="rId2" cstate="print"/>
          <a:stretch>
            <a:fillRect/>
          </a:stretch>
        </p:blipFill>
        <p:spPr>
          <a:xfrm>
            <a:off x="533400" y="971550"/>
            <a:ext cx="1692211" cy="302171"/>
          </a:xfrm>
          <a:prstGeom prst="rect">
            <a:avLst/>
          </a:prstGeom>
        </p:spPr>
      </p:pic>
      <p:sp>
        <p:nvSpPr>
          <p:cNvPr id="4" name="object 4" descr=""/>
          <p:cNvSpPr txBox="1"/>
          <p:nvPr/>
        </p:nvSpPr>
        <p:spPr>
          <a:xfrm>
            <a:off x="402267" y="921799"/>
            <a:ext cx="7908290" cy="2409825"/>
          </a:xfrm>
          <a:prstGeom prst="rect">
            <a:avLst/>
          </a:prstGeom>
        </p:spPr>
        <p:txBody>
          <a:bodyPr wrap="square" lIns="0" tIns="55244" rIns="0" bIns="0" rtlCol="0" vert="horz">
            <a:spAutoFit/>
          </a:bodyPr>
          <a:lstStyle/>
          <a:p>
            <a:pPr marL="519430">
              <a:lnSpc>
                <a:spcPct val="100000"/>
              </a:lnSpc>
              <a:spcBef>
                <a:spcPts val="434"/>
              </a:spcBef>
            </a:pPr>
            <a:r>
              <a:rPr dirty="0" sz="1800" spc="-15">
                <a:latin typeface="Microsoft YaHei"/>
                <a:cs typeface="Microsoft YaHei"/>
              </a:rPr>
              <a:t>机柜安装</a:t>
            </a:r>
            <a:endParaRPr sz="1800">
              <a:latin typeface="Microsoft YaHei"/>
              <a:cs typeface="Microsoft YaHei"/>
            </a:endParaRPr>
          </a:p>
          <a:p>
            <a:pPr marL="12700">
              <a:lnSpc>
                <a:spcPct val="100000"/>
              </a:lnSpc>
              <a:spcBef>
                <a:spcPts val="300"/>
              </a:spcBef>
            </a:pPr>
            <a:r>
              <a:rPr dirty="0" sz="1600" spc="-10">
                <a:latin typeface="Microsoft YaHei"/>
                <a:cs typeface="Microsoft YaHei"/>
              </a:rPr>
              <a:t>安装要求：</a:t>
            </a:r>
            <a:endParaRPr sz="1600">
              <a:latin typeface="Microsoft YaHei"/>
              <a:cs typeface="Microsoft YaHei"/>
            </a:endParaRPr>
          </a:p>
          <a:p>
            <a:pPr marL="164465" indent="-155575">
              <a:lnSpc>
                <a:spcPct val="100000"/>
              </a:lnSpc>
              <a:spcBef>
                <a:spcPts val="615"/>
              </a:spcBef>
              <a:buSzPct val="93750"/>
              <a:buFont typeface="Wingdings"/>
              <a:buChar char=""/>
              <a:tabLst>
                <a:tab pos="164465" algn="l"/>
              </a:tabLst>
            </a:pPr>
            <a:r>
              <a:rPr dirty="0" sz="1600">
                <a:latin typeface="Microsoft YaHei"/>
                <a:cs typeface="Microsoft YaHei"/>
              </a:rPr>
              <a:t>19</a:t>
            </a:r>
            <a:r>
              <a:rPr dirty="0" sz="1600" spc="-10">
                <a:latin typeface="Microsoft YaHei"/>
                <a:cs typeface="Microsoft YaHei"/>
              </a:rPr>
              <a:t>英寸机柜安装时，</a:t>
            </a:r>
            <a:r>
              <a:rPr dirty="0" sz="1600" spc="-20">
                <a:latin typeface="Microsoft YaHei"/>
                <a:cs typeface="Microsoft YaHei"/>
              </a:rPr>
              <a:t>DCPD</a:t>
            </a:r>
            <a:r>
              <a:rPr dirty="0" sz="1600" spc="-5">
                <a:latin typeface="Microsoft YaHei"/>
                <a:cs typeface="Microsoft YaHei"/>
              </a:rPr>
              <a:t>的安装空间：左右两侧</a:t>
            </a:r>
            <a:r>
              <a:rPr dirty="0" sz="1600" spc="-10">
                <a:latin typeface="Microsoft YaHei"/>
                <a:cs typeface="Microsoft YaHei"/>
              </a:rPr>
              <a:t>25mm</a:t>
            </a:r>
            <a:r>
              <a:rPr dirty="0" sz="1600" spc="-15">
                <a:latin typeface="Microsoft YaHei"/>
                <a:cs typeface="Microsoft YaHei"/>
              </a:rPr>
              <a:t>的散热通风空间，面板应预留</a:t>
            </a:r>
            <a:endParaRPr sz="1600">
              <a:latin typeface="Microsoft YaHei"/>
              <a:cs typeface="Microsoft YaHei"/>
            </a:endParaRPr>
          </a:p>
          <a:p>
            <a:pPr marL="12700" marR="73025">
              <a:lnSpc>
                <a:spcPct val="150000"/>
              </a:lnSpc>
              <a:spcBef>
                <a:spcPts val="5"/>
              </a:spcBef>
            </a:pPr>
            <a:r>
              <a:rPr dirty="0" sz="1600">
                <a:latin typeface="Microsoft YaHei"/>
                <a:cs typeface="Microsoft YaHei"/>
              </a:rPr>
              <a:t>至少</a:t>
            </a:r>
            <a:r>
              <a:rPr dirty="0" sz="1600" spc="-10">
                <a:latin typeface="Microsoft YaHei"/>
                <a:cs typeface="Microsoft YaHei"/>
              </a:rPr>
              <a:t>100mm的布线空间，当</a:t>
            </a:r>
            <a:r>
              <a:rPr dirty="0" sz="1600" spc="-20">
                <a:latin typeface="Microsoft YaHei"/>
                <a:cs typeface="Microsoft YaHei"/>
              </a:rPr>
              <a:t>DCPD</a:t>
            </a:r>
            <a:r>
              <a:rPr dirty="0" sz="1600" spc="-15">
                <a:latin typeface="Microsoft YaHei"/>
                <a:cs typeface="Microsoft YaHei"/>
              </a:rPr>
              <a:t>与其他设备安装在同一机柜时，相邻两个设备间距不</a:t>
            </a:r>
            <a:r>
              <a:rPr dirty="0" sz="1600">
                <a:latin typeface="Microsoft YaHei"/>
                <a:cs typeface="Microsoft YaHei"/>
              </a:rPr>
              <a:t>小于</a:t>
            </a:r>
            <a:r>
              <a:rPr dirty="0" sz="1600" spc="-10">
                <a:latin typeface="Microsoft YaHei"/>
                <a:cs typeface="Microsoft YaHei"/>
              </a:rPr>
              <a:t>1U（1U=44.45mm）；</a:t>
            </a:r>
            <a:endParaRPr sz="1600">
              <a:latin typeface="Microsoft YaHei"/>
              <a:cs typeface="Microsoft YaHei"/>
            </a:endParaRPr>
          </a:p>
          <a:p>
            <a:pPr marL="12700" marR="19050" indent="-4445">
              <a:lnSpc>
                <a:spcPct val="150000"/>
              </a:lnSpc>
              <a:buSzPct val="93750"/>
              <a:buFont typeface="Wingdings"/>
              <a:buChar char=""/>
              <a:tabLst>
                <a:tab pos="12700" algn="l"/>
                <a:tab pos="163830" algn="l"/>
              </a:tabLst>
            </a:pPr>
            <a:r>
              <a:rPr dirty="0" sz="1600">
                <a:latin typeface="Microsoft YaHei"/>
                <a:cs typeface="Microsoft YaHei"/>
              </a:rPr>
              <a:t>	</a:t>
            </a:r>
            <a:r>
              <a:rPr dirty="0" sz="1600">
                <a:latin typeface="Microsoft YaHei"/>
                <a:cs typeface="Microsoft YaHei"/>
              </a:rPr>
              <a:t>理线架应安装在机柜</a:t>
            </a:r>
            <a:r>
              <a:rPr dirty="0" sz="1600" spc="-20">
                <a:latin typeface="Microsoft YaHei"/>
                <a:cs typeface="Microsoft YaHei"/>
              </a:rPr>
              <a:t>DCPD</a:t>
            </a:r>
            <a:r>
              <a:rPr dirty="0" sz="1600">
                <a:latin typeface="Microsoft YaHei"/>
                <a:cs typeface="Microsoft YaHei"/>
              </a:rPr>
              <a:t>下侧</a:t>
            </a:r>
            <a:r>
              <a:rPr dirty="0" sz="1600" spc="-20">
                <a:latin typeface="Microsoft YaHei"/>
                <a:cs typeface="Microsoft YaHei"/>
              </a:rPr>
              <a:t>1U</a:t>
            </a:r>
            <a:r>
              <a:rPr dirty="0" sz="1600" spc="-10">
                <a:latin typeface="Microsoft YaHei"/>
                <a:cs typeface="Microsoft YaHei"/>
              </a:rPr>
              <a:t>处，</a:t>
            </a:r>
            <a:r>
              <a:rPr dirty="0" sz="1600" spc="-20">
                <a:latin typeface="Microsoft YaHei"/>
                <a:cs typeface="Microsoft YaHei"/>
              </a:rPr>
              <a:t>DCPD</a:t>
            </a:r>
            <a:r>
              <a:rPr dirty="0" sz="1600" spc="-15">
                <a:latin typeface="Microsoft YaHei"/>
                <a:cs typeface="Microsoft YaHei"/>
              </a:rPr>
              <a:t>输出电源线必须绑扎在理线架上，绑扎整齐牢固；</a:t>
            </a:r>
            <a:endParaRPr sz="1600">
              <a:latin typeface="Microsoft YaHei"/>
              <a:cs typeface="Microsoft YaHei"/>
            </a:endParaRPr>
          </a:p>
        </p:txBody>
      </p:sp>
      <p:pic>
        <p:nvPicPr>
          <p:cNvPr id="5" name="object 5"/>
          <p:cNvPicPr/>
          <p:nvPr/>
        </p:nvPicPr>
        <p:blipFill>
          <a:blip r:embed="rId3" cstate="print"/>
          <a:stretch>
            <a:fillRect/>
          </a:stretch>
        </p:blipFill>
        <p:spPr>
          <a:xfrm>
            <a:off x="1395384" y="3184614"/>
            <a:ext cx="6748759" cy="1829172"/>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82271" y="113125"/>
            <a:ext cx="3596004"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DCPD</a:t>
            </a:r>
            <a:r>
              <a:rPr dirty="0" spc="-40"/>
              <a:t>安装工程规范</a:t>
            </a:r>
          </a:p>
        </p:txBody>
      </p:sp>
      <p:pic>
        <p:nvPicPr>
          <p:cNvPr id="3" name="object 3" descr=""/>
          <p:cNvPicPr/>
          <p:nvPr/>
        </p:nvPicPr>
        <p:blipFill>
          <a:blip r:embed="rId2" cstate="print"/>
          <a:stretch>
            <a:fillRect/>
          </a:stretch>
        </p:blipFill>
        <p:spPr>
          <a:xfrm>
            <a:off x="609600" y="971550"/>
            <a:ext cx="1692211" cy="378371"/>
          </a:xfrm>
          <a:prstGeom prst="rect">
            <a:avLst/>
          </a:prstGeom>
        </p:spPr>
      </p:pic>
      <p:sp>
        <p:nvSpPr>
          <p:cNvPr id="4" name="object 4" descr=""/>
          <p:cNvSpPr txBox="1"/>
          <p:nvPr/>
        </p:nvSpPr>
        <p:spPr>
          <a:xfrm>
            <a:off x="985360" y="1002493"/>
            <a:ext cx="939800" cy="299720"/>
          </a:xfrm>
          <a:prstGeom prst="rect">
            <a:avLst/>
          </a:prstGeom>
        </p:spPr>
        <p:txBody>
          <a:bodyPr wrap="square" lIns="0" tIns="12700" rIns="0" bIns="0" rtlCol="0" vert="horz">
            <a:spAutoFit/>
          </a:bodyPr>
          <a:lstStyle/>
          <a:p>
            <a:pPr marL="12700">
              <a:lnSpc>
                <a:spcPct val="100000"/>
              </a:lnSpc>
              <a:spcBef>
                <a:spcPts val="100"/>
              </a:spcBef>
            </a:pPr>
            <a:r>
              <a:rPr dirty="0" sz="1800" spc="-15">
                <a:latin typeface="Microsoft YaHei"/>
                <a:cs typeface="Microsoft YaHei"/>
              </a:rPr>
              <a:t>机柜安装</a:t>
            </a:r>
            <a:endParaRPr sz="1800">
              <a:latin typeface="Microsoft YaHei"/>
              <a:cs typeface="Microsoft YaHei"/>
            </a:endParaRPr>
          </a:p>
        </p:txBody>
      </p:sp>
      <p:sp>
        <p:nvSpPr>
          <p:cNvPr id="5" name="object 5" descr=""/>
          <p:cNvSpPr txBox="1"/>
          <p:nvPr/>
        </p:nvSpPr>
        <p:spPr>
          <a:xfrm>
            <a:off x="4955540" y="1511300"/>
            <a:ext cx="3683000" cy="2878455"/>
          </a:xfrm>
          <a:prstGeom prst="rect">
            <a:avLst/>
          </a:prstGeom>
        </p:spPr>
        <p:txBody>
          <a:bodyPr wrap="square" lIns="0" tIns="12700" rIns="0" bIns="0" rtlCol="0" vert="horz">
            <a:spAutoFit/>
          </a:bodyPr>
          <a:lstStyle/>
          <a:p>
            <a:pPr marL="469265" indent="-456565">
              <a:lnSpc>
                <a:spcPct val="100000"/>
              </a:lnSpc>
              <a:spcBef>
                <a:spcPts val="100"/>
              </a:spcBef>
              <a:buFont typeface="Wingdings"/>
              <a:buChar char=""/>
              <a:tabLst>
                <a:tab pos="469265" algn="l"/>
              </a:tabLst>
            </a:pPr>
            <a:r>
              <a:rPr dirty="0" sz="1800" spc="-5">
                <a:latin typeface="Microsoft YaHei"/>
                <a:cs typeface="Microsoft YaHei"/>
              </a:rPr>
              <a:t>在机柜内选取合适的安装位置；</a:t>
            </a:r>
            <a:endParaRPr sz="1800">
              <a:latin typeface="Microsoft YaHei"/>
              <a:cs typeface="Microsoft YaHei"/>
            </a:endParaRPr>
          </a:p>
          <a:p>
            <a:pPr marL="469900" marR="80010" indent="-457200">
              <a:lnSpc>
                <a:spcPct val="150000"/>
              </a:lnSpc>
              <a:spcBef>
                <a:spcPts val="430"/>
              </a:spcBef>
              <a:buFont typeface="Wingdings"/>
              <a:buChar char=""/>
              <a:tabLst>
                <a:tab pos="469900" algn="l"/>
              </a:tabLst>
            </a:pPr>
            <a:r>
              <a:rPr dirty="0" sz="1800">
                <a:latin typeface="Microsoft YaHei"/>
                <a:cs typeface="Microsoft YaHei"/>
              </a:rPr>
              <a:t>将</a:t>
            </a:r>
            <a:r>
              <a:rPr dirty="0" sz="1800" spc="-10">
                <a:latin typeface="Times New Roman"/>
                <a:cs typeface="Times New Roman"/>
              </a:rPr>
              <a:t>DCPD</a:t>
            </a:r>
            <a:r>
              <a:rPr dirty="0" sz="1800" spc="-5">
                <a:latin typeface="Microsoft YaHei"/>
                <a:cs typeface="Microsoft YaHei"/>
              </a:rPr>
              <a:t>两侧的安装挂耳与机柜</a:t>
            </a:r>
            <a:r>
              <a:rPr dirty="0" sz="1800" spc="-10">
                <a:latin typeface="Microsoft YaHei"/>
                <a:cs typeface="Microsoft YaHei"/>
              </a:rPr>
              <a:t>的立柱紧贴；</a:t>
            </a:r>
            <a:endParaRPr sz="1800">
              <a:latin typeface="Microsoft YaHei"/>
              <a:cs typeface="Microsoft YaHei"/>
            </a:endParaRPr>
          </a:p>
          <a:p>
            <a:pPr marL="469265" indent="-456565">
              <a:lnSpc>
                <a:spcPct val="100000"/>
              </a:lnSpc>
              <a:spcBef>
                <a:spcPts val="1080"/>
              </a:spcBef>
              <a:buFont typeface="Wingdings"/>
              <a:buChar char=""/>
              <a:tabLst>
                <a:tab pos="469265" algn="l"/>
              </a:tabLst>
            </a:pPr>
            <a:r>
              <a:rPr dirty="0" sz="1800">
                <a:latin typeface="Microsoft YaHei"/>
                <a:cs typeface="Microsoft YaHei"/>
              </a:rPr>
              <a:t>用固定螺钉组件（共</a:t>
            </a:r>
            <a:r>
              <a:rPr dirty="0" sz="1800">
                <a:latin typeface="Times New Roman"/>
                <a:cs typeface="Times New Roman"/>
              </a:rPr>
              <a:t>4</a:t>
            </a:r>
            <a:r>
              <a:rPr dirty="0" sz="1800">
                <a:latin typeface="Microsoft YaHei"/>
                <a:cs typeface="Microsoft YaHei"/>
              </a:rPr>
              <a:t>套）</a:t>
            </a:r>
            <a:r>
              <a:rPr dirty="0" sz="1800" spc="-50">
                <a:latin typeface="Microsoft YaHei"/>
                <a:cs typeface="Microsoft YaHei"/>
              </a:rPr>
              <a:t>将</a:t>
            </a:r>
            <a:endParaRPr sz="1800">
              <a:latin typeface="Microsoft YaHei"/>
              <a:cs typeface="Microsoft YaHei"/>
            </a:endParaRPr>
          </a:p>
          <a:p>
            <a:pPr marL="469900">
              <a:lnSpc>
                <a:spcPct val="100000"/>
              </a:lnSpc>
              <a:spcBef>
                <a:spcPts val="1080"/>
              </a:spcBef>
            </a:pPr>
            <a:r>
              <a:rPr dirty="0" sz="1800" spc="-10">
                <a:latin typeface="Times New Roman"/>
                <a:cs typeface="Times New Roman"/>
              </a:rPr>
              <a:t>DCPD</a:t>
            </a:r>
            <a:r>
              <a:rPr dirty="0" sz="1800" spc="-5">
                <a:latin typeface="Microsoft YaHei"/>
                <a:cs typeface="Microsoft YaHei"/>
              </a:rPr>
              <a:t>固定在机柜的立柱上；</a:t>
            </a:r>
            <a:endParaRPr sz="1800">
              <a:latin typeface="Microsoft YaHei"/>
              <a:cs typeface="Microsoft YaHei"/>
            </a:endParaRPr>
          </a:p>
          <a:p>
            <a:pPr marL="469900" marR="29209" indent="-457200">
              <a:lnSpc>
                <a:spcPct val="150000"/>
              </a:lnSpc>
              <a:spcBef>
                <a:spcPts val="434"/>
              </a:spcBef>
              <a:buFont typeface="Wingdings"/>
              <a:buChar char=""/>
              <a:tabLst>
                <a:tab pos="469900" algn="l"/>
              </a:tabLst>
            </a:pPr>
            <a:r>
              <a:rPr dirty="0" sz="1800">
                <a:latin typeface="Microsoft YaHei"/>
                <a:cs typeface="Microsoft YaHei"/>
              </a:rPr>
              <a:t>在</a:t>
            </a:r>
            <a:r>
              <a:rPr dirty="0" sz="1800" spc="-10">
                <a:latin typeface="Times New Roman"/>
                <a:cs typeface="Times New Roman"/>
              </a:rPr>
              <a:t>DCPD</a:t>
            </a:r>
            <a:r>
              <a:rPr dirty="0" sz="1800">
                <a:latin typeface="Microsoft YaHei"/>
                <a:cs typeface="Microsoft YaHei"/>
              </a:rPr>
              <a:t>下侧</a:t>
            </a:r>
            <a:r>
              <a:rPr dirty="0" sz="1800">
                <a:latin typeface="Times New Roman"/>
                <a:cs typeface="Times New Roman"/>
              </a:rPr>
              <a:t>1U</a:t>
            </a:r>
            <a:r>
              <a:rPr dirty="0" sz="1800" spc="-10">
                <a:latin typeface="Microsoft YaHei"/>
                <a:cs typeface="Microsoft YaHei"/>
              </a:rPr>
              <a:t>处安装理线架，</a:t>
            </a:r>
            <a:r>
              <a:rPr dirty="0" sz="1800" spc="-5">
                <a:latin typeface="Microsoft YaHei"/>
                <a:cs typeface="Microsoft YaHei"/>
              </a:rPr>
              <a:t>用二套组合螺钉固定。</a:t>
            </a:r>
            <a:endParaRPr sz="1800">
              <a:latin typeface="Microsoft YaHei"/>
              <a:cs typeface="Microsoft YaHei"/>
            </a:endParaRPr>
          </a:p>
        </p:txBody>
      </p:sp>
      <p:pic>
        <p:nvPicPr>
          <p:cNvPr id="6" name="object 6"/>
          <p:cNvPicPr/>
          <p:nvPr/>
        </p:nvPicPr>
        <p:blipFill>
          <a:blip r:embed="rId3" cstate="print"/>
          <a:stretch>
            <a:fillRect/>
          </a:stretch>
        </p:blipFill>
        <p:spPr>
          <a:xfrm>
            <a:off x="375569" y="1560590"/>
            <a:ext cx="3805021" cy="2923919"/>
          </a:xfrm>
          <a:prstGeom prst="rect">
            <a:avLst/>
          </a:prstGeom>
        </p:spPr>
      </p:pic>
      <p:sp>
        <p:nvSpPr>
          <p:cNvPr id="7" name="object 7" descr=""/>
          <p:cNvSpPr txBox="1"/>
          <p:nvPr/>
        </p:nvSpPr>
        <p:spPr>
          <a:xfrm>
            <a:off x="4953000" y="1047750"/>
            <a:ext cx="1339215" cy="341630"/>
          </a:xfrm>
          <a:prstGeom prst="rect">
            <a:avLst/>
          </a:prstGeom>
          <a:solidFill>
            <a:srgbClr val="00B0F0"/>
          </a:solidFill>
        </p:spPr>
        <p:txBody>
          <a:bodyPr wrap="square" lIns="0" tIns="12700" rIns="0" bIns="0" rtlCol="0" vert="horz">
            <a:spAutoFit/>
          </a:bodyPr>
          <a:lstStyle/>
          <a:p>
            <a:pPr marL="90805">
              <a:lnSpc>
                <a:spcPct val="100000"/>
              </a:lnSpc>
              <a:spcBef>
                <a:spcPts val="100"/>
              </a:spcBef>
            </a:pPr>
            <a:r>
              <a:rPr dirty="0" sz="1800" spc="-10">
                <a:latin typeface="SimSun"/>
                <a:cs typeface="SimSun"/>
              </a:rPr>
              <a:t>安装步骤：</a:t>
            </a:r>
            <a:endParaRPr sz="1800">
              <a:latin typeface="SimSun"/>
              <a:cs typeface="SimSun"/>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34671" y="113125"/>
            <a:ext cx="3596004"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DCPD</a:t>
            </a:r>
            <a:r>
              <a:rPr dirty="0" spc="-40"/>
              <a:t>安装工程规范</a:t>
            </a:r>
          </a:p>
        </p:txBody>
      </p:sp>
      <p:pic>
        <p:nvPicPr>
          <p:cNvPr id="3" name="object 3" descr=""/>
          <p:cNvPicPr/>
          <p:nvPr/>
        </p:nvPicPr>
        <p:blipFill>
          <a:blip r:embed="rId2" cstate="print"/>
          <a:stretch>
            <a:fillRect/>
          </a:stretch>
        </p:blipFill>
        <p:spPr>
          <a:xfrm>
            <a:off x="575538" y="895350"/>
            <a:ext cx="1692211" cy="380263"/>
          </a:xfrm>
          <a:prstGeom prst="rect">
            <a:avLst/>
          </a:prstGeom>
        </p:spPr>
      </p:pic>
      <p:sp>
        <p:nvSpPr>
          <p:cNvPr id="4" name="object 4" descr=""/>
          <p:cNvSpPr txBox="1"/>
          <p:nvPr/>
        </p:nvSpPr>
        <p:spPr>
          <a:xfrm>
            <a:off x="951294" y="927237"/>
            <a:ext cx="939800" cy="299720"/>
          </a:xfrm>
          <a:prstGeom prst="rect">
            <a:avLst/>
          </a:prstGeom>
        </p:spPr>
        <p:txBody>
          <a:bodyPr wrap="square" lIns="0" tIns="12700" rIns="0" bIns="0" rtlCol="0" vert="horz">
            <a:spAutoFit/>
          </a:bodyPr>
          <a:lstStyle/>
          <a:p>
            <a:pPr marL="12700">
              <a:lnSpc>
                <a:spcPct val="100000"/>
              </a:lnSpc>
              <a:spcBef>
                <a:spcPts val="100"/>
              </a:spcBef>
            </a:pPr>
            <a:r>
              <a:rPr dirty="0" sz="1800" spc="-15">
                <a:latin typeface="Microsoft YaHei"/>
                <a:cs typeface="Microsoft YaHei"/>
              </a:rPr>
              <a:t>挂墙安装</a:t>
            </a:r>
            <a:endParaRPr sz="1800">
              <a:latin typeface="Microsoft YaHei"/>
              <a:cs typeface="Microsoft YaHei"/>
            </a:endParaRPr>
          </a:p>
        </p:txBody>
      </p:sp>
      <p:sp>
        <p:nvSpPr>
          <p:cNvPr id="5" name="object 5" descr=""/>
          <p:cNvSpPr txBox="1"/>
          <p:nvPr/>
        </p:nvSpPr>
        <p:spPr>
          <a:xfrm>
            <a:off x="5107940" y="1193545"/>
            <a:ext cx="4023995" cy="3293745"/>
          </a:xfrm>
          <a:prstGeom prst="rect">
            <a:avLst/>
          </a:prstGeom>
        </p:spPr>
        <p:txBody>
          <a:bodyPr wrap="square" lIns="0" tIns="12065" rIns="0" bIns="0" rtlCol="0" vert="horz">
            <a:spAutoFit/>
          </a:bodyPr>
          <a:lstStyle/>
          <a:p>
            <a:pPr marL="12700">
              <a:lnSpc>
                <a:spcPct val="100000"/>
              </a:lnSpc>
              <a:spcBef>
                <a:spcPts val="95"/>
              </a:spcBef>
            </a:pPr>
            <a:r>
              <a:rPr dirty="0" sz="2000" spc="-30">
                <a:latin typeface="Microsoft YaHei"/>
                <a:cs typeface="Microsoft YaHei"/>
              </a:rPr>
              <a:t>安装要求：</a:t>
            </a:r>
            <a:endParaRPr sz="2000">
              <a:latin typeface="Microsoft YaHei"/>
              <a:cs typeface="Microsoft YaHei"/>
            </a:endParaRPr>
          </a:p>
          <a:p>
            <a:pPr marL="12700" marR="261620" indent="-3810">
              <a:lnSpc>
                <a:spcPct val="150000"/>
              </a:lnSpc>
              <a:spcBef>
                <a:spcPts val="1735"/>
              </a:spcBef>
              <a:buSzPct val="95000"/>
              <a:buFont typeface="Wingdings"/>
              <a:buChar char=""/>
              <a:tabLst>
                <a:tab pos="201295" algn="l"/>
              </a:tabLst>
            </a:pPr>
            <a:r>
              <a:rPr dirty="0" sz="2000" spc="-25">
                <a:latin typeface="Microsoft YaHei"/>
                <a:cs typeface="Microsoft YaHei"/>
              </a:rPr>
              <a:t>	</a:t>
            </a:r>
            <a:r>
              <a:rPr dirty="0" sz="2000" spc="-25">
                <a:latin typeface="Microsoft YaHei"/>
                <a:cs typeface="Microsoft YaHei"/>
              </a:rPr>
              <a:t>挂墙安装时，沿墙体走线需要使用走线槽道，走线槽道与设备前</a:t>
            </a:r>
            <a:r>
              <a:rPr dirty="0" sz="2000" spc="-20">
                <a:latin typeface="Microsoft YaHei"/>
                <a:cs typeface="Microsoft YaHei"/>
              </a:rPr>
              <a:t>面板距离不小于</a:t>
            </a:r>
            <a:r>
              <a:rPr dirty="0" sz="2000" spc="-10">
                <a:latin typeface="Times New Roman"/>
                <a:cs typeface="Times New Roman"/>
              </a:rPr>
              <a:t>400mm</a:t>
            </a:r>
            <a:r>
              <a:rPr dirty="0" sz="2000" spc="-30">
                <a:latin typeface="Microsoft YaHei"/>
                <a:cs typeface="Microsoft YaHei"/>
              </a:rPr>
              <a:t>，方便后期维护；</a:t>
            </a:r>
            <a:endParaRPr sz="2000">
              <a:latin typeface="Microsoft YaHei"/>
              <a:cs typeface="Microsoft YaHei"/>
            </a:endParaRPr>
          </a:p>
          <a:p>
            <a:pPr marL="201295" indent="-192405">
              <a:lnSpc>
                <a:spcPct val="100000"/>
              </a:lnSpc>
              <a:spcBef>
                <a:spcPts val="1200"/>
              </a:spcBef>
              <a:buSzPct val="95000"/>
              <a:buFont typeface="Wingdings"/>
              <a:buChar char=""/>
              <a:tabLst>
                <a:tab pos="201295" algn="l"/>
              </a:tabLst>
            </a:pPr>
            <a:r>
              <a:rPr dirty="0" sz="2000" spc="-25">
                <a:latin typeface="Microsoft YaHei"/>
                <a:cs typeface="Microsoft YaHei"/>
              </a:rPr>
              <a:t>挂墙安装方式采用旋转挂耳方式，</a:t>
            </a:r>
            <a:endParaRPr sz="2000">
              <a:latin typeface="Microsoft YaHei"/>
              <a:cs typeface="Microsoft YaHei"/>
            </a:endParaRPr>
          </a:p>
          <a:p>
            <a:pPr marL="12700">
              <a:lnSpc>
                <a:spcPct val="100000"/>
              </a:lnSpc>
              <a:spcBef>
                <a:spcPts val="1200"/>
              </a:spcBef>
            </a:pPr>
            <a:r>
              <a:rPr dirty="0" sz="2000" spc="-10">
                <a:latin typeface="Times New Roman"/>
                <a:cs typeface="Times New Roman"/>
              </a:rPr>
              <a:t>DCPD</a:t>
            </a:r>
            <a:r>
              <a:rPr dirty="0" sz="2000" spc="-20">
                <a:latin typeface="Microsoft YaHei"/>
                <a:cs typeface="Microsoft YaHei"/>
              </a:rPr>
              <a:t>机箱应与墙体有一定空间</a:t>
            </a:r>
            <a:r>
              <a:rPr dirty="0" sz="2000" spc="-15">
                <a:latin typeface="Microsoft YaHei"/>
                <a:cs typeface="Microsoft YaHei"/>
              </a:rPr>
              <a:t>）</a:t>
            </a:r>
            <a:r>
              <a:rPr dirty="0" sz="2000" spc="-50">
                <a:latin typeface="Microsoft YaHei"/>
                <a:cs typeface="Microsoft YaHei"/>
              </a:rPr>
              <a:t>。</a:t>
            </a:r>
            <a:endParaRPr sz="2000">
              <a:latin typeface="Microsoft YaHei"/>
              <a:cs typeface="Microsoft YaHei"/>
            </a:endParaRPr>
          </a:p>
        </p:txBody>
      </p:sp>
      <p:pic>
        <p:nvPicPr>
          <p:cNvPr id="6" name="object 6"/>
          <p:cNvPicPr/>
          <p:nvPr/>
        </p:nvPicPr>
        <p:blipFill>
          <a:blip r:embed="rId3" cstate="print"/>
          <a:stretch>
            <a:fillRect/>
          </a:stretch>
        </p:blipFill>
        <p:spPr>
          <a:xfrm>
            <a:off x="199364" y="1541945"/>
            <a:ext cx="4745727" cy="296101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84341" y="113125"/>
            <a:ext cx="3596004"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DCPD</a:t>
            </a:r>
            <a:r>
              <a:rPr dirty="0" spc="-40"/>
              <a:t>安装工程规范</a:t>
            </a:r>
          </a:p>
        </p:txBody>
      </p:sp>
      <p:pic>
        <p:nvPicPr>
          <p:cNvPr id="3" name="object 3" descr=""/>
          <p:cNvPicPr/>
          <p:nvPr/>
        </p:nvPicPr>
        <p:blipFill>
          <a:blip r:embed="rId2" cstate="print"/>
          <a:stretch>
            <a:fillRect/>
          </a:stretch>
        </p:blipFill>
        <p:spPr>
          <a:xfrm>
            <a:off x="575538" y="971550"/>
            <a:ext cx="1692211" cy="304063"/>
          </a:xfrm>
          <a:prstGeom prst="rect">
            <a:avLst/>
          </a:prstGeom>
        </p:spPr>
      </p:pic>
      <p:sp>
        <p:nvSpPr>
          <p:cNvPr id="4" name="object 4" descr=""/>
          <p:cNvSpPr txBox="1"/>
          <p:nvPr/>
        </p:nvSpPr>
        <p:spPr>
          <a:xfrm>
            <a:off x="951294" y="965337"/>
            <a:ext cx="939800" cy="299720"/>
          </a:xfrm>
          <a:prstGeom prst="rect">
            <a:avLst/>
          </a:prstGeom>
        </p:spPr>
        <p:txBody>
          <a:bodyPr wrap="square" lIns="0" tIns="12700" rIns="0" bIns="0" rtlCol="0" vert="horz">
            <a:spAutoFit/>
          </a:bodyPr>
          <a:lstStyle/>
          <a:p>
            <a:pPr marL="12700">
              <a:lnSpc>
                <a:spcPct val="100000"/>
              </a:lnSpc>
              <a:spcBef>
                <a:spcPts val="100"/>
              </a:spcBef>
            </a:pPr>
            <a:r>
              <a:rPr dirty="0" sz="1800" spc="-15">
                <a:latin typeface="Microsoft YaHei"/>
                <a:cs typeface="Microsoft YaHei"/>
              </a:rPr>
              <a:t>挂墙安装</a:t>
            </a:r>
            <a:endParaRPr sz="1800">
              <a:latin typeface="Microsoft YaHei"/>
              <a:cs typeface="Microsoft YaHei"/>
            </a:endParaRPr>
          </a:p>
        </p:txBody>
      </p:sp>
      <p:sp>
        <p:nvSpPr>
          <p:cNvPr id="5" name="object 5" descr=""/>
          <p:cNvSpPr txBox="1"/>
          <p:nvPr/>
        </p:nvSpPr>
        <p:spPr>
          <a:xfrm>
            <a:off x="5029975" y="979371"/>
            <a:ext cx="3899535" cy="3742054"/>
          </a:xfrm>
          <a:prstGeom prst="rect">
            <a:avLst/>
          </a:prstGeom>
        </p:spPr>
        <p:txBody>
          <a:bodyPr wrap="square" lIns="0" tIns="156210" rIns="0" bIns="0" rtlCol="0" vert="horz">
            <a:spAutoFit/>
          </a:bodyPr>
          <a:lstStyle/>
          <a:p>
            <a:pPr marL="12700">
              <a:lnSpc>
                <a:spcPct val="100000"/>
              </a:lnSpc>
              <a:spcBef>
                <a:spcPts val="1230"/>
              </a:spcBef>
            </a:pPr>
            <a:r>
              <a:rPr dirty="0" sz="1800" spc="-10" b="1">
                <a:solidFill>
                  <a:srgbClr val="C00000"/>
                </a:solidFill>
                <a:latin typeface="Microsoft YaHei"/>
                <a:cs typeface="Microsoft YaHei"/>
              </a:rPr>
              <a:t>安装步骤：</a:t>
            </a:r>
            <a:endParaRPr sz="1800">
              <a:latin typeface="Microsoft YaHei"/>
              <a:cs typeface="Microsoft YaHei"/>
            </a:endParaRPr>
          </a:p>
          <a:p>
            <a:pPr marL="298450" indent="-285750">
              <a:lnSpc>
                <a:spcPct val="100000"/>
              </a:lnSpc>
              <a:spcBef>
                <a:spcPts val="1010"/>
              </a:spcBef>
              <a:buFont typeface="Wingdings"/>
              <a:buChar char=""/>
              <a:tabLst>
                <a:tab pos="298450" algn="l"/>
              </a:tabLst>
            </a:pPr>
            <a:r>
              <a:rPr dirty="0" sz="1600">
                <a:latin typeface="Microsoft YaHei"/>
                <a:cs typeface="Microsoft YaHei"/>
              </a:rPr>
              <a:t>将</a:t>
            </a:r>
            <a:r>
              <a:rPr dirty="0" sz="1600" spc="-10">
                <a:latin typeface="Times New Roman"/>
                <a:cs typeface="Times New Roman"/>
              </a:rPr>
              <a:t>DCPD</a:t>
            </a:r>
            <a:r>
              <a:rPr dirty="0" sz="1600" spc="-5">
                <a:latin typeface="Microsoft YaHei"/>
                <a:cs typeface="Microsoft YaHei"/>
              </a:rPr>
              <a:t>挂耳旋转</a:t>
            </a:r>
            <a:r>
              <a:rPr dirty="0" sz="1600" spc="-10">
                <a:latin typeface="Times New Roman"/>
                <a:cs typeface="Times New Roman"/>
              </a:rPr>
              <a:t>90</a:t>
            </a:r>
            <a:r>
              <a:rPr dirty="0" sz="1600" spc="-20">
                <a:latin typeface="Microsoft YaHei"/>
                <a:cs typeface="Microsoft YaHei"/>
              </a:rPr>
              <a:t>°安装；</a:t>
            </a:r>
            <a:endParaRPr sz="1600">
              <a:latin typeface="Microsoft YaHei"/>
              <a:cs typeface="Microsoft YaHei"/>
            </a:endParaRPr>
          </a:p>
          <a:p>
            <a:pPr marL="298450" marR="135890" indent="-285750">
              <a:lnSpc>
                <a:spcPct val="150000"/>
              </a:lnSpc>
              <a:buFont typeface="Wingdings"/>
              <a:buChar char=""/>
              <a:tabLst>
                <a:tab pos="298450" algn="l"/>
              </a:tabLst>
            </a:pPr>
            <a:r>
              <a:rPr dirty="0" sz="1600" spc="-15">
                <a:latin typeface="Microsoft YaHei"/>
                <a:cs typeface="Microsoft YaHei"/>
              </a:rPr>
              <a:t>根据挂耳翻转后的安装孔位，在墙体上</a:t>
            </a:r>
            <a:r>
              <a:rPr dirty="0" sz="1600" spc="-20">
                <a:latin typeface="Microsoft YaHei"/>
                <a:cs typeface="Microsoft YaHei"/>
              </a:rPr>
              <a:t>打孔；</a:t>
            </a:r>
            <a:endParaRPr sz="1600">
              <a:latin typeface="Microsoft YaHei"/>
              <a:cs typeface="Microsoft YaHei"/>
            </a:endParaRPr>
          </a:p>
          <a:p>
            <a:pPr marL="298450" marR="135890" indent="-285750">
              <a:lnSpc>
                <a:spcPct val="150000"/>
              </a:lnSpc>
              <a:buFont typeface="Wingdings"/>
              <a:buChar char=""/>
              <a:tabLst>
                <a:tab pos="298450" algn="l"/>
              </a:tabLst>
            </a:pPr>
            <a:r>
              <a:rPr dirty="0" sz="1600" spc="-15">
                <a:latin typeface="Microsoft YaHei"/>
                <a:cs typeface="Microsoft YaHei"/>
              </a:rPr>
              <a:t>将膨胀螺栓安装到安装孔内，拧紧螺栓</a:t>
            </a:r>
            <a:r>
              <a:rPr dirty="0" sz="1600" spc="-10">
                <a:latin typeface="Microsoft YaHei"/>
                <a:cs typeface="Microsoft YaHei"/>
              </a:rPr>
              <a:t>后取下螺母、弹片、垫片；</a:t>
            </a:r>
            <a:endParaRPr sz="1600">
              <a:latin typeface="Microsoft YaHei"/>
              <a:cs typeface="Microsoft YaHei"/>
            </a:endParaRPr>
          </a:p>
          <a:p>
            <a:pPr marL="298450" marR="5080" indent="-285750">
              <a:lnSpc>
                <a:spcPct val="150000"/>
              </a:lnSpc>
              <a:buFont typeface="Wingdings"/>
              <a:buChar char=""/>
              <a:tabLst>
                <a:tab pos="298450" algn="l"/>
              </a:tabLst>
            </a:pPr>
            <a:r>
              <a:rPr dirty="0" sz="1600" spc="-10">
                <a:latin typeface="Times New Roman"/>
                <a:cs typeface="Times New Roman"/>
              </a:rPr>
              <a:t>DCPD</a:t>
            </a:r>
            <a:r>
              <a:rPr dirty="0" sz="1600" spc="-15">
                <a:latin typeface="Microsoft YaHei"/>
                <a:cs typeface="Microsoft YaHei"/>
              </a:rPr>
              <a:t>挂耳安装到螺栓，依次安装平垫、</a:t>
            </a:r>
            <a:r>
              <a:rPr dirty="0" sz="1600" spc="-10">
                <a:latin typeface="Microsoft YaHei"/>
                <a:cs typeface="Microsoft YaHei"/>
              </a:rPr>
              <a:t>弹垫、螺母；</a:t>
            </a:r>
            <a:endParaRPr sz="1600">
              <a:latin typeface="Microsoft YaHei"/>
              <a:cs typeface="Microsoft YaHei"/>
            </a:endParaRPr>
          </a:p>
          <a:p>
            <a:pPr marL="298450" marR="205740" indent="-285750">
              <a:lnSpc>
                <a:spcPct val="150000"/>
              </a:lnSpc>
              <a:buFont typeface="Wingdings"/>
              <a:buChar char=""/>
              <a:tabLst>
                <a:tab pos="298450" algn="l"/>
              </a:tabLst>
            </a:pPr>
            <a:r>
              <a:rPr dirty="0" sz="1600">
                <a:latin typeface="Microsoft YaHei"/>
                <a:cs typeface="Microsoft YaHei"/>
              </a:rPr>
              <a:t>在</a:t>
            </a:r>
            <a:r>
              <a:rPr dirty="0" sz="1600" spc="-10">
                <a:latin typeface="Times New Roman"/>
                <a:cs typeface="Times New Roman"/>
              </a:rPr>
              <a:t>DCPD</a:t>
            </a:r>
            <a:r>
              <a:rPr dirty="0" sz="1600" spc="-15">
                <a:latin typeface="Microsoft YaHei"/>
                <a:cs typeface="Microsoft YaHei"/>
              </a:rPr>
              <a:t>下方合适处安装理线架，用膨</a:t>
            </a:r>
            <a:r>
              <a:rPr dirty="0" sz="1600" spc="-10">
                <a:latin typeface="Microsoft YaHei"/>
                <a:cs typeface="Microsoft YaHei"/>
              </a:rPr>
              <a:t>胀螺栓固定；</a:t>
            </a:r>
            <a:endParaRPr sz="1600">
              <a:latin typeface="Microsoft YaHei"/>
              <a:cs typeface="Microsoft YaHei"/>
            </a:endParaRPr>
          </a:p>
        </p:txBody>
      </p:sp>
      <p:pic>
        <p:nvPicPr>
          <p:cNvPr id="6" name="object 6"/>
          <p:cNvPicPr/>
          <p:nvPr/>
        </p:nvPicPr>
        <p:blipFill>
          <a:blip r:embed="rId3" cstate="print"/>
          <a:stretch>
            <a:fillRect/>
          </a:stretch>
        </p:blipFill>
        <p:spPr>
          <a:xfrm>
            <a:off x="322936" y="1661166"/>
            <a:ext cx="4305187" cy="2618358"/>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99884" y="148286"/>
            <a:ext cx="5018405"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直流防雷箱安装工程规范</a:t>
            </a:r>
          </a:p>
        </p:txBody>
      </p:sp>
      <p:sp>
        <p:nvSpPr>
          <p:cNvPr id="3" name="object 3" descr=""/>
          <p:cNvSpPr txBox="1"/>
          <p:nvPr/>
        </p:nvSpPr>
        <p:spPr>
          <a:xfrm>
            <a:off x="4549321" y="882868"/>
            <a:ext cx="4375785" cy="3683635"/>
          </a:xfrm>
          <a:prstGeom prst="rect">
            <a:avLst/>
          </a:prstGeom>
        </p:spPr>
        <p:txBody>
          <a:bodyPr wrap="square" lIns="0" tIns="12700" rIns="0" bIns="0" rtlCol="0" vert="horz">
            <a:spAutoFit/>
          </a:bodyPr>
          <a:lstStyle/>
          <a:p>
            <a:pPr algn="just" marL="298450" marR="205740" indent="-285750">
              <a:lnSpc>
                <a:spcPct val="150000"/>
              </a:lnSpc>
              <a:spcBef>
                <a:spcPts val="100"/>
              </a:spcBef>
              <a:buFont typeface="Wingdings"/>
              <a:buChar char=""/>
              <a:tabLst>
                <a:tab pos="298450" algn="l"/>
              </a:tabLst>
            </a:pPr>
            <a:r>
              <a:rPr dirty="0" sz="1600" spc="-15">
                <a:latin typeface="Microsoft YaHei"/>
                <a:cs typeface="Microsoft YaHei"/>
              </a:rPr>
              <a:t>直流电源防雷箱采用室内挂墙安装；当墙体无法固定膨胀螺栓时，可以采用走线架安装</a:t>
            </a:r>
            <a:r>
              <a:rPr dirty="0" sz="1600" spc="-20">
                <a:latin typeface="Microsoft YaHei"/>
                <a:cs typeface="Microsoft YaHei"/>
              </a:rPr>
              <a:t>方式；</a:t>
            </a:r>
            <a:endParaRPr sz="1600">
              <a:latin typeface="Microsoft YaHei"/>
              <a:cs typeface="Microsoft YaHei"/>
            </a:endParaRPr>
          </a:p>
          <a:p>
            <a:pPr marL="298450" marR="5080" indent="-285750">
              <a:lnSpc>
                <a:spcPct val="150000"/>
              </a:lnSpc>
              <a:buFont typeface="Wingdings"/>
              <a:buChar char=""/>
              <a:tabLst>
                <a:tab pos="298450" algn="l"/>
              </a:tabLst>
            </a:pPr>
            <a:r>
              <a:rPr dirty="0" sz="1600" spc="-15">
                <a:latin typeface="Microsoft YaHei"/>
                <a:cs typeface="Microsoft YaHei"/>
              </a:rPr>
              <a:t>安装位置不在馈线窗、壁挂式空调的正下方，</a:t>
            </a:r>
            <a:r>
              <a:rPr dirty="0" sz="1600" spc="-5">
                <a:latin typeface="Microsoft YaHei"/>
                <a:cs typeface="Microsoft YaHei"/>
              </a:rPr>
              <a:t>以及蓄电池组的正上方；</a:t>
            </a:r>
            <a:endParaRPr sz="1600">
              <a:latin typeface="Microsoft YaHei"/>
              <a:cs typeface="Microsoft YaHei"/>
            </a:endParaRPr>
          </a:p>
          <a:p>
            <a:pPr marL="298450" marR="205740" indent="-285750">
              <a:lnSpc>
                <a:spcPct val="150000"/>
              </a:lnSpc>
              <a:buFont typeface="Wingdings"/>
              <a:buChar char=""/>
              <a:tabLst>
                <a:tab pos="298450" algn="l"/>
              </a:tabLst>
            </a:pPr>
            <a:r>
              <a:rPr dirty="0" sz="1600" spc="-15">
                <a:latin typeface="Microsoft YaHei"/>
                <a:cs typeface="Microsoft YaHei"/>
              </a:rPr>
              <a:t>考虑地线最短的优先原则，防雷箱尽量选择</a:t>
            </a:r>
            <a:r>
              <a:rPr dirty="0" sz="1600" spc="-5">
                <a:latin typeface="Microsoft YaHei"/>
                <a:cs typeface="Microsoft YaHei"/>
              </a:rPr>
              <a:t>靠近馈线窗的位置安装；</a:t>
            </a:r>
            <a:endParaRPr sz="1600">
              <a:latin typeface="Microsoft YaHei"/>
              <a:cs typeface="Microsoft YaHei"/>
            </a:endParaRPr>
          </a:p>
          <a:p>
            <a:pPr marL="297815" indent="-285115">
              <a:lnSpc>
                <a:spcPct val="100000"/>
              </a:lnSpc>
              <a:spcBef>
                <a:spcPts val="955"/>
              </a:spcBef>
              <a:buFont typeface="Wingdings"/>
              <a:buChar char=""/>
              <a:tabLst>
                <a:tab pos="297815" algn="l"/>
              </a:tabLst>
            </a:pPr>
            <a:r>
              <a:rPr dirty="0" sz="1600" spc="-15">
                <a:latin typeface="Microsoft YaHei"/>
                <a:cs typeface="Microsoft YaHei"/>
              </a:rPr>
              <a:t>防雷箱表面必须干净整洁，外部漆饰完好；</a:t>
            </a:r>
            <a:endParaRPr sz="1600">
              <a:latin typeface="Microsoft YaHei"/>
              <a:cs typeface="Microsoft YaHei"/>
            </a:endParaRPr>
          </a:p>
          <a:p>
            <a:pPr marL="297815" indent="-285115">
              <a:lnSpc>
                <a:spcPct val="100000"/>
              </a:lnSpc>
              <a:spcBef>
                <a:spcPts val="960"/>
              </a:spcBef>
              <a:buFont typeface="Wingdings"/>
              <a:buChar char=""/>
              <a:tabLst>
                <a:tab pos="297815" algn="l"/>
              </a:tabLst>
            </a:pPr>
            <a:r>
              <a:rPr dirty="0" sz="1600" spc="-15">
                <a:latin typeface="Microsoft YaHei"/>
                <a:cs typeface="Microsoft YaHei"/>
              </a:rPr>
              <a:t>安装完成后，应保证水平/垂直角度误差在</a:t>
            </a:r>
            <a:endParaRPr sz="1600">
              <a:latin typeface="Microsoft YaHei"/>
              <a:cs typeface="Microsoft YaHei"/>
            </a:endParaRPr>
          </a:p>
          <a:p>
            <a:pPr marL="298450">
              <a:lnSpc>
                <a:spcPct val="100000"/>
              </a:lnSpc>
              <a:spcBef>
                <a:spcPts val="960"/>
              </a:spcBef>
            </a:pPr>
            <a:r>
              <a:rPr dirty="0" sz="1600" spc="-10">
                <a:latin typeface="Microsoft YaHei"/>
                <a:cs typeface="Microsoft YaHei"/>
              </a:rPr>
              <a:t>±1º</a:t>
            </a:r>
            <a:r>
              <a:rPr dirty="0" sz="1600" spc="-20">
                <a:latin typeface="Microsoft YaHei"/>
                <a:cs typeface="Microsoft YaHei"/>
              </a:rPr>
              <a:t>以内。</a:t>
            </a:r>
            <a:endParaRPr sz="1600">
              <a:latin typeface="Microsoft YaHei"/>
              <a:cs typeface="Microsoft YaHei"/>
            </a:endParaRPr>
          </a:p>
        </p:txBody>
      </p:sp>
      <p:pic>
        <p:nvPicPr>
          <p:cNvPr id="4" name="object 4"/>
          <p:cNvPicPr/>
          <p:nvPr/>
        </p:nvPicPr>
        <p:blipFill>
          <a:blip r:embed="rId2" cstate="print"/>
          <a:stretch>
            <a:fillRect/>
          </a:stretch>
        </p:blipFill>
        <p:spPr>
          <a:xfrm>
            <a:off x="278159" y="913498"/>
            <a:ext cx="3843827" cy="1692969"/>
          </a:xfrm>
          <a:prstGeom prst="rect">
            <a:avLst/>
          </a:prstGeom>
        </p:spPr>
      </p:pic>
      <p:pic>
        <p:nvPicPr>
          <p:cNvPr id="5" name="object 5"/>
          <p:cNvPicPr/>
          <p:nvPr/>
        </p:nvPicPr>
        <p:blipFill>
          <a:blip r:embed="rId3" cstate="print"/>
          <a:stretch>
            <a:fillRect/>
          </a:stretch>
        </p:blipFill>
        <p:spPr>
          <a:xfrm>
            <a:off x="282943" y="2876550"/>
            <a:ext cx="1492563" cy="2069387"/>
          </a:xfrm>
          <a:prstGeom prst="rect">
            <a:avLst/>
          </a:prstGeom>
        </p:spPr>
      </p:pic>
      <p:pic>
        <p:nvPicPr>
          <p:cNvPr id="6" name="object 6"/>
          <p:cNvPicPr/>
          <p:nvPr/>
        </p:nvPicPr>
        <p:blipFill>
          <a:blip r:embed="rId4" cstate="print"/>
          <a:stretch>
            <a:fillRect/>
          </a:stretch>
        </p:blipFill>
        <p:spPr>
          <a:xfrm>
            <a:off x="2438400" y="2876550"/>
            <a:ext cx="1523466" cy="2069388"/>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82773" y="113125"/>
            <a:ext cx="4498340" cy="513080"/>
          </a:xfrm>
          <a:prstGeom prst="rect"/>
        </p:spPr>
        <p:txBody>
          <a:bodyPr wrap="square" lIns="0" tIns="12065" rIns="0" bIns="0" rtlCol="0" vert="horz">
            <a:spAutoFit/>
          </a:bodyPr>
          <a:lstStyle/>
          <a:p>
            <a:pPr marL="12700">
              <a:lnSpc>
                <a:spcPct val="100000"/>
              </a:lnSpc>
              <a:spcBef>
                <a:spcPts val="95"/>
              </a:spcBef>
            </a:pPr>
            <a:r>
              <a:rPr dirty="0" spc="-45"/>
              <a:t>直流防雷箱安装一般步骤</a:t>
            </a:r>
          </a:p>
        </p:txBody>
      </p:sp>
      <p:grpSp>
        <p:nvGrpSpPr>
          <p:cNvPr id="3" name="object 3" descr=""/>
          <p:cNvGrpSpPr/>
          <p:nvPr/>
        </p:nvGrpSpPr>
        <p:grpSpPr>
          <a:xfrm>
            <a:off x="381000" y="895350"/>
            <a:ext cx="3716654" cy="4034154"/>
            <a:chOff x="381000" y="895350"/>
            <a:chExt cx="3716654" cy="4034154"/>
          </a:xfrm>
        </p:grpSpPr>
        <p:pic>
          <p:nvPicPr>
            <p:cNvPr id="4" name="object 4"/>
            <p:cNvPicPr/>
            <p:nvPr/>
          </p:nvPicPr>
          <p:blipFill>
            <a:blip r:embed="rId2" cstate="print"/>
            <a:stretch>
              <a:fillRect/>
            </a:stretch>
          </p:blipFill>
          <p:spPr>
            <a:xfrm>
              <a:off x="694610" y="2593825"/>
              <a:ext cx="2797373" cy="2335529"/>
            </a:xfrm>
            <a:prstGeom prst="rect">
              <a:avLst/>
            </a:prstGeom>
          </p:spPr>
        </p:pic>
        <p:pic>
          <p:nvPicPr>
            <p:cNvPr id="5" name="object 5"/>
            <p:cNvPicPr/>
            <p:nvPr/>
          </p:nvPicPr>
          <p:blipFill>
            <a:blip r:embed="rId3" cstate="print"/>
            <a:stretch>
              <a:fillRect/>
            </a:stretch>
          </p:blipFill>
          <p:spPr>
            <a:xfrm>
              <a:off x="381000" y="895350"/>
              <a:ext cx="3716551" cy="1981758"/>
            </a:xfrm>
            <a:prstGeom prst="rect">
              <a:avLst/>
            </a:prstGeom>
          </p:spPr>
        </p:pic>
      </p:grpSp>
      <p:sp>
        <p:nvSpPr>
          <p:cNvPr id="6" name="object 6" descr=""/>
          <p:cNvSpPr txBox="1"/>
          <p:nvPr/>
        </p:nvSpPr>
        <p:spPr>
          <a:xfrm>
            <a:off x="4578732" y="905146"/>
            <a:ext cx="4286885" cy="3304540"/>
          </a:xfrm>
          <a:prstGeom prst="rect">
            <a:avLst/>
          </a:prstGeom>
        </p:spPr>
        <p:txBody>
          <a:bodyPr wrap="square" lIns="0" tIns="12700" rIns="0" bIns="0" rtlCol="0" vert="horz">
            <a:spAutoFit/>
          </a:bodyPr>
          <a:lstStyle/>
          <a:p>
            <a:pPr marL="89535">
              <a:lnSpc>
                <a:spcPct val="100000"/>
              </a:lnSpc>
              <a:spcBef>
                <a:spcPts val="100"/>
              </a:spcBef>
            </a:pPr>
            <a:r>
              <a:rPr dirty="0" sz="1600" spc="-10" b="1">
                <a:latin typeface="Microsoft JhengHei"/>
                <a:cs typeface="Microsoft JhengHei"/>
              </a:rPr>
              <a:t>安装步骤：</a:t>
            </a:r>
            <a:endParaRPr sz="1600">
              <a:latin typeface="Microsoft JhengHei"/>
              <a:cs typeface="Microsoft JhengHei"/>
            </a:endParaRPr>
          </a:p>
          <a:p>
            <a:pPr marL="298450" marR="320040" indent="-285750">
              <a:lnSpc>
                <a:spcPct val="150000"/>
              </a:lnSpc>
              <a:spcBef>
                <a:spcPts val="855"/>
              </a:spcBef>
              <a:buFont typeface="Wingdings"/>
              <a:buChar char=""/>
              <a:tabLst>
                <a:tab pos="298450" algn="l"/>
              </a:tabLst>
            </a:pPr>
            <a:r>
              <a:rPr dirty="0" sz="1600" spc="-15">
                <a:latin typeface="Microsoft YaHei"/>
                <a:cs typeface="Microsoft YaHei"/>
              </a:rPr>
              <a:t>首先根据防雷箱背部的螺钉孔位，使用记</a:t>
            </a:r>
            <a:r>
              <a:rPr dirty="0" sz="1600" spc="-10">
                <a:latin typeface="Microsoft YaHei"/>
                <a:cs typeface="Microsoft YaHei"/>
              </a:rPr>
              <a:t>号笔标记膨胀螺栓的打孔位置；</a:t>
            </a:r>
            <a:endParaRPr sz="1600">
              <a:latin typeface="Microsoft YaHei"/>
              <a:cs typeface="Microsoft YaHei"/>
            </a:endParaRPr>
          </a:p>
          <a:p>
            <a:pPr marL="297815" indent="-285115">
              <a:lnSpc>
                <a:spcPct val="100000"/>
              </a:lnSpc>
              <a:spcBef>
                <a:spcPts val="960"/>
              </a:spcBef>
              <a:buFont typeface="Wingdings"/>
              <a:buChar char=""/>
              <a:tabLst>
                <a:tab pos="297815" algn="l"/>
              </a:tabLst>
            </a:pPr>
            <a:r>
              <a:rPr dirty="0" sz="1600" spc="-10">
                <a:latin typeface="Microsoft YaHei"/>
                <a:cs typeface="Microsoft YaHei"/>
              </a:rPr>
              <a:t>然后使用冲击钻在墙面上钻出</a:t>
            </a:r>
            <a:r>
              <a:rPr dirty="0" sz="1600">
                <a:latin typeface="Microsoft YaHei"/>
                <a:cs typeface="Microsoft YaHei"/>
              </a:rPr>
              <a:t>4个</a:t>
            </a:r>
            <a:r>
              <a:rPr dirty="0" sz="1600" spc="-10">
                <a:latin typeface="Microsoft YaHei"/>
                <a:cs typeface="Microsoft YaHei"/>
              </a:rPr>
              <a:t>φ8*55</a:t>
            </a:r>
            <a:r>
              <a:rPr dirty="0" sz="1600" spc="-30">
                <a:latin typeface="Microsoft YaHei"/>
                <a:cs typeface="Microsoft YaHei"/>
              </a:rPr>
              <a:t>孔；</a:t>
            </a:r>
            <a:endParaRPr sz="1600">
              <a:latin typeface="Microsoft YaHei"/>
              <a:cs typeface="Microsoft YaHei"/>
            </a:endParaRPr>
          </a:p>
          <a:p>
            <a:pPr marL="297815" indent="-285115">
              <a:lnSpc>
                <a:spcPct val="100000"/>
              </a:lnSpc>
              <a:spcBef>
                <a:spcPts val="960"/>
              </a:spcBef>
              <a:buFont typeface="Wingdings"/>
              <a:buChar char=""/>
              <a:tabLst>
                <a:tab pos="297815" algn="l"/>
              </a:tabLst>
            </a:pPr>
            <a:r>
              <a:rPr dirty="0" sz="1600" spc="-15">
                <a:latin typeface="Microsoft YaHei"/>
                <a:cs typeface="Microsoft YaHei"/>
              </a:rPr>
              <a:t>将膨胀螺栓打进钻好的孔内，外露出</a:t>
            </a:r>
            <a:endParaRPr sz="1600">
              <a:latin typeface="Microsoft YaHei"/>
              <a:cs typeface="Microsoft YaHei"/>
            </a:endParaRPr>
          </a:p>
          <a:p>
            <a:pPr marL="298450">
              <a:lnSpc>
                <a:spcPct val="100000"/>
              </a:lnSpc>
              <a:spcBef>
                <a:spcPts val="960"/>
              </a:spcBef>
            </a:pPr>
            <a:r>
              <a:rPr dirty="0" sz="1600" spc="-10">
                <a:latin typeface="Microsoft YaHei"/>
                <a:cs typeface="Microsoft YaHei"/>
              </a:rPr>
              <a:t>10mm安装长度即可。</a:t>
            </a:r>
            <a:endParaRPr sz="1600">
              <a:latin typeface="Microsoft YaHei"/>
              <a:cs typeface="Microsoft YaHei"/>
            </a:endParaRPr>
          </a:p>
          <a:p>
            <a:pPr marL="297815" indent="-285115">
              <a:lnSpc>
                <a:spcPct val="100000"/>
              </a:lnSpc>
              <a:spcBef>
                <a:spcPts val="960"/>
              </a:spcBef>
              <a:buFont typeface="Wingdings"/>
              <a:buChar char=""/>
              <a:tabLst>
                <a:tab pos="297815" algn="l"/>
              </a:tabLst>
            </a:pPr>
            <a:r>
              <a:rPr dirty="0" sz="1600" spc="-10">
                <a:latin typeface="Microsoft YaHei"/>
                <a:cs typeface="Microsoft YaHei"/>
              </a:rPr>
              <a:t>将防雷箱正向挂在膨胀螺栓上。</a:t>
            </a:r>
            <a:endParaRPr sz="1600">
              <a:latin typeface="Microsoft YaHei"/>
              <a:cs typeface="Microsoft YaHei"/>
            </a:endParaRPr>
          </a:p>
          <a:p>
            <a:pPr marL="298450" marR="320040" indent="-285750">
              <a:lnSpc>
                <a:spcPct val="150000"/>
              </a:lnSpc>
              <a:buFont typeface="Wingdings"/>
              <a:buChar char=""/>
              <a:tabLst>
                <a:tab pos="298450" algn="l"/>
              </a:tabLst>
            </a:pPr>
            <a:r>
              <a:rPr dirty="0" sz="1600" spc="-15">
                <a:latin typeface="Microsoft YaHei"/>
                <a:cs typeface="Microsoft YaHei"/>
              </a:rPr>
              <a:t>按平垫圈、弹簧垫圈、螺母的安装顺序，依次紧固四个膨胀螺栓组件拧紧。</a:t>
            </a:r>
            <a:endParaRPr sz="1600">
              <a:latin typeface="Microsoft YaHei"/>
              <a:cs typeface="Microsoft YaHei"/>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4613" y="152654"/>
            <a:ext cx="4498340" cy="513080"/>
          </a:xfrm>
          <a:prstGeom prst="rect"/>
        </p:spPr>
        <p:txBody>
          <a:bodyPr wrap="square" lIns="0" tIns="12065" rIns="0" bIns="0" rtlCol="0" vert="horz">
            <a:spAutoFit/>
          </a:bodyPr>
          <a:lstStyle/>
          <a:p>
            <a:pPr marL="12700">
              <a:lnSpc>
                <a:spcPct val="100000"/>
              </a:lnSpc>
              <a:spcBef>
                <a:spcPts val="95"/>
              </a:spcBef>
            </a:pPr>
            <a:r>
              <a:rPr dirty="0" spc="-45"/>
              <a:t>宏基站建设配套汇总对比</a:t>
            </a:r>
          </a:p>
        </p:txBody>
      </p:sp>
      <p:graphicFrame>
        <p:nvGraphicFramePr>
          <p:cNvPr id="3" name="object 3" descr=""/>
          <p:cNvGraphicFramePr>
            <a:graphicFrameLocks noGrp="1"/>
          </p:cNvGraphicFramePr>
          <p:nvPr/>
        </p:nvGraphicFramePr>
        <p:xfrm>
          <a:off x="0" y="889000"/>
          <a:ext cx="9220200" cy="3883025"/>
        </p:xfrm>
        <a:graphic>
          <a:graphicData uri="http://schemas.openxmlformats.org/drawingml/2006/table">
            <a:tbl>
              <a:tblPr firstRow="1" bandRow="1">
                <a:tableStyleId>{2D5ABB26-0587-4C30-8999-92F81FD0307C}</a:tableStyleId>
              </a:tblPr>
              <a:tblGrid>
                <a:gridCol w="1136650"/>
                <a:gridCol w="2171700"/>
                <a:gridCol w="5836284"/>
              </a:tblGrid>
              <a:tr h="265430">
                <a:tc gridSpan="3">
                  <a:txBody>
                    <a:bodyPr/>
                    <a:lstStyle/>
                    <a:p>
                      <a:pPr algn="ctr">
                        <a:lnSpc>
                          <a:spcPct val="100000"/>
                        </a:lnSpc>
                        <a:spcBef>
                          <a:spcPts val="240"/>
                        </a:spcBef>
                      </a:pPr>
                      <a:r>
                        <a:rPr dirty="0" sz="1400" spc="-25" b="1">
                          <a:latin typeface="Microsoft YaHei"/>
                          <a:cs typeface="Microsoft YaHei"/>
                        </a:rPr>
                        <a:t>基础配套汇总</a:t>
                      </a:r>
                      <a:endParaRPr sz="1400">
                        <a:latin typeface="Microsoft YaHei"/>
                        <a:cs typeface="Microsoft YaHei"/>
                      </a:endParaRPr>
                    </a:p>
                  </a:txBody>
                  <a:tcPr marL="0" marR="0" marB="0" marT="304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hMerge="1">
                  <a:txBody>
                    <a:bodyPr/>
                    <a:lstStyle/>
                    <a:p>
                      <a:pPr/>
                    </a:p>
                  </a:txBody>
                  <a:tcPr marL="0" marR="0" marB="0" marT="0"/>
                </a:tc>
                <a:tc hMerge="1">
                  <a:txBody>
                    <a:bodyPr/>
                    <a:lstStyle/>
                    <a:p>
                      <a:pPr/>
                    </a:p>
                  </a:txBody>
                  <a:tcPr marL="0" marR="0" marB="0" marT="0"/>
                </a:tc>
              </a:tr>
              <a:tr h="210820">
                <a:tc>
                  <a:txBody>
                    <a:bodyPr/>
                    <a:lstStyle/>
                    <a:p>
                      <a:pPr algn="ctr">
                        <a:lnSpc>
                          <a:spcPct val="100000"/>
                        </a:lnSpc>
                        <a:spcBef>
                          <a:spcPts val="204"/>
                        </a:spcBef>
                      </a:pPr>
                      <a:r>
                        <a:rPr dirty="0" sz="1100" spc="-35" b="1">
                          <a:latin typeface="Microsoft YaHei"/>
                          <a:cs typeface="Microsoft YaHei"/>
                        </a:rPr>
                        <a:t>序号</a:t>
                      </a:r>
                      <a:endParaRPr sz="1100">
                        <a:latin typeface="Microsoft YaHei"/>
                        <a:cs typeface="Microsoft YaHei"/>
                      </a:endParaRPr>
                    </a:p>
                  </a:txBody>
                  <a:tcPr marL="0" marR="0" marB="0" marT="26034">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204"/>
                        </a:spcBef>
                      </a:pPr>
                      <a:r>
                        <a:rPr dirty="0" sz="1100" spc="-35" b="1">
                          <a:latin typeface="Microsoft YaHei"/>
                          <a:cs typeface="Microsoft YaHei"/>
                        </a:rPr>
                        <a:t>名称</a:t>
                      </a:r>
                      <a:endParaRPr sz="1100">
                        <a:latin typeface="Microsoft YaHei"/>
                        <a:cs typeface="Microsoft YaHei"/>
                      </a:endParaRPr>
                    </a:p>
                  </a:txBody>
                  <a:tcPr marL="0" marR="0" marB="0" marT="26034">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marL="12065">
                        <a:lnSpc>
                          <a:spcPct val="100000"/>
                        </a:lnSpc>
                        <a:spcBef>
                          <a:spcPts val="145"/>
                        </a:spcBef>
                      </a:pPr>
                      <a:r>
                        <a:rPr dirty="0" sz="1100" spc="-10">
                          <a:latin typeface="Arial MT"/>
                          <a:cs typeface="Arial MT"/>
                        </a:rPr>
                        <a:t>EMB6116</a:t>
                      </a:r>
                      <a:endParaRPr sz="1100">
                        <a:latin typeface="Arial MT"/>
                        <a:cs typeface="Arial MT"/>
                      </a:endParaRPr>
                    </a:p>
                  </a:txBody>
                  <a:tcPr marL="0" marR="0" marB="0" marT="1841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706120">
                <a:tc>
                  <a:txBody>
                    <a:bodyPr/>
                    <a:lstStyle/>
                    <a:p>
                      <a:pPr>
                        <a:lnSpc>
                          <a:spcPct val="100000"/>
                        </a:lnSpc>
                      </a:pPr>
                      <a:endParaRPr sz="900">
                        <a:latin typeface="Times New Roman"/>
                        <a:cs typeface="Times New Roman"/>
                      </a:endParaRPr>
                    </a:p>
                    <a:p>
                      <a:pPr>
                        <a:lnSpc>
                          <a:spcPct val="100000"/>
                        </a:lnSpc>
                        <a:spcBef>
                          <a:spcPts val="204"/>
                        </a:spcBef>
                      </a:pPr>
                      <a:endParaRPr sz="900">
                        <a:latin typeface="Times New Roman"/>
                        <a:cs typeface="Times New Roman"/>
                      </a:endParaRPr>
                    </a:p>
                    <a:p>
                      <a:pPr algn="ctr">
                        <a:lnSpc>
                          <a:spcPct val="100000"/>
                        </a:lnSpc>
                      </a:pPr>
                      <a:r>
                        <a:rPr dirty="0" sz="900" spc="-50" b="1">
                          <a:latin typeface="Microsoft YaHei"/>
                          <a:cs typeface="Microsoft YaHei"/>
                        </a:rPr>
                        <a:t>1</a:t>
                      </a:r>
                      <a:endParaRPr sz="900">
                        <a:latin typeface="Microsoft YaHei"/>
                        <a:cs typeface="Microsoft YaHei"/>
                      </a:endParaRPr>
                    </a:p>
                  </a:txBody>
                  <a:tcPr marL="0" marR="0" marB="0" marT="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nSpc>
                          <a:spcPct val="100000"/>
                        </a:lnSpc>
                      </a:pPr>
                      <a:endParaRPr sz="900">
                        <a:latin typeface="Times New Roman"/>
                        <a:cs typeface="Times New Roman"/>
                      </a:endParaRPr>
                    </a:p>
                    <a:p>
                      <a:pPr>
                        <a:lnSpc>
                          <a:spcPct val="100000"/>
                        </a:lnSpc>
                        <a:spcBef>
                          <a:spcPts val="204"/>
                        </a:spcBef>
                      </a:pPr>
                      <a:endParaRPr sz="900">
                        <a:latin typeface="Times New Roman"/>
                        <a:cs typeface="Times New Roman"/>
                      </a:endParaRPr>
                    </a:p>
                    <a:p>
                      <a:pPr marL="12700">
                        <a:lnSpc>
                          <a:spcPct val="100000"/>
                        </a:lnSpc>
                      </a:pPr>
                      <a:r>
                        <a:rPr dirty="0" sz="900" spc="-10" b="1">
                          <a:latin typeface="Microsoft YaHei"/>
                          <a:cs typeface="Microsoft YaHei"/>
                        </a:rPr>
                        <a:t>BBU</a:t>
                      </a:r>
                      <a:r>
                        <a:rPr dirty="0" sz="900" spc="-15" b="1">
                          <a:latin typeface="Microsoft YaHei"/>
                          <a:cs typeface="Microsoft YaHei"/>
                        </a:rPr>
                        <a:t>安装空间</a:t>
                      </a:r>
                      <a:endParaRPr sz="900">
                        <a:latin typeface="Microsoft YaHei"/>
                        <a:cs typeface="Microsoft YaHei"/>
                      </a:endParaRPr>
                    </a:p>
                  </a:txBody>
                  <a:tcPr marL="0" marR="0" marB="0" marT="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nSpc>
                          <a:spcPct val="100000"/>
                        </a:lnSpc>
                        <a:spcBef>
                          <a:spcPts val="160"/>
                        </a:spcBef>
                      </a:pPr>
                      <a:endParaRPr sz="900">
                        <a:latin typeface="Times New Roman"/>
                        <a:cs typeface="Times New Roman"/>
                      </a:endParaRPr>
                    </a:p>
                    <a:p>
                      <a:pPr marL="12700">
                        <a:lnSpc>
                          <a:spcPct val="100000"/>
                        </a:lnSpc>
                      </a:pPr>
                      <a:r>
                        <a:rPr dirty="0" sz="900" spc="-10">
                          <a:solidFill>
                            <a:srgbClr val="7030A0"/>
                          </a:solidFill>
                          <a:latin typeface="Microsoft YaHei"/>
                          <a:cs typeface="Microsoft YaHei"/>
                        </a:rPr>
                        <a:t>4U（3U</a:t>
                      </a:r>
                      <a:r>
                        <a:rPr dirty="0" sz="900" spc="-5">
                          <a:solidFill>
                            <a:srgbClr val="7030A0"/>
                          </a:solidFill>
                          <a:latin typeface="Microsoft YaHei"/>
                          <a:cs typeface="Microsoft YaHei"/>
                        </a:rPr>
                        <a:t>设备+</a:t>
                      </a:r>
                      <a:r>
                        <a:rPr dirty="0" sz="900" spc="-10">
                          <a:solidFill>
                            <a:srgbClr val="7030A0"/>
                          </a:solidFill>
                          <a:latin typeface="Microsoft YaHei"/>
                          <a:cs typeface="Microsoft YaHei"/>
                        </a:rPr>
                        <a:t>1U</a:t>
                      </a:r>
                      <a:r>
                        <a:rPr dirty="0" sz="900">
                          <a:solidFill>
                            <a:srgbClr val="7030A0"/>
                          </a:solidFill>
                          <a:latin typeface="Microsoft YaHei"/>
                          <a:cs typeface="Microsoft YaHei"/>
                        </a:rPr>
                        <a:t>散热空间</a:t>
                      </a:r>
                      <a:r>
                        <a:rPr dirty="0" sz="900" spc="-50">
                          <a:solidFill>
                            <a:srgbClr val="7030A0"/>
                          </a:solidFill>
                          <a:latin typeface="Microsoft YaHei"/>
                          <a:cs typeface="Microsoft YaHei"/>
                        </a:rPr>
                        <a:t>）</a:t>
                      </a:r>
                      <a:endParaRPr sz="900">
                        <a:latin typeface="Microsoft YaHei"/>
                        <a:cs typeface="Microsoft YaHei"/>
                      </a:endParaRPr>
                    </a:p>
                    <a:p>
                      <a:pPr marL="12700" marR="3685540">
                        <a:lnSpc>
                          <a:spcPct val="100000"/>
                        </a:lnSpc>
                      </a:pPr>
                      <a:r>
                        <a:rPr dirty="0" sz="900">
                          <a:solidFill>
                            <a:srgbClr val="7030A0"/>
                          </a:solidFill>
                          <a:latin typeface="Microsoft YaHei"/>
                          <a:cs typeface="Microsoft YaHei"/>
                        </a:rPr>
                        <a:t>机柜立柱距前门的走线空间不小于</a:t>
                      </a:r>
                      <a:r>
                        <a:rPr dirty="0" sz="900" spc="-10">
                          <a:solidFill>
                            <a:srgbClr val="7030A0"/>
                          </a:solidFill>
                          <a:latin typeface="Microsoft YaHei"/>
                          <a:cs typeface="Microsoft YaHei"/>
                        </a:rPr>
                        <a:t>110mm</a:t>
                      </a:r>
                      <a:r>
                        <a:rPr dirty="0" sz="900">
                          <a:solidFill>
                            <a:srgbClr val="7030A0"/>
                          </a:solidFill>
                          <a:latin typeface="Microsoft YaHei"/>
                          <a:cs typeface="Microsoft YaHei"/>
                        </a:rPr>
                        <a:t>机柜的散热能力满足</a:t>
                      </a:r>
                      <a:r>
                        <a:rPr dirty="0" sz="900" spc="-10">
                          <a:solidFill>
                            <a:srgbClr val="7030A0"/>
                          </a:solidFill>
                          <a:latin typeface="Microsoft YaHei"/>
                          <a:cs typeface="Microsoft YaHei"/>
                        </a:rPr>
                        <a:t>BBU</a:t>
                      </a:r>
                      <a:r>
                        <a:rPr dirty="0" sz="900" spc="-15">
                          <a:solidFill>
                            <a:srgbClr val="7030A0"/>
                          </a:solidFill>
                          <a:latin typeface="Microsoft YaHei"/>
                          <a:cs typeface="Microsoft YaHei"/>
                        </a:rPr>
                        <a:t>散热要求</a:t>
                      </a:r>
                      <a:endParaRPr sz="900">
                        <a:latin typeface="Microsoft YaHei"/>
                        <a:cs typeface="Microsoft YaHei"/>
                      </a:endParaRPr>
                    </a:p>
                  </a:txBody>
                  <a:tcPr marL="0" marR="0" marB="0" marT="2032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706120">
                <a:tc>
                  <a:txBody>
                    <a:bodyPr/>
                    <a:lstStyle/>
                    <a:p>
                      <a:pPr>
                        <a:lnSpc>
                          <a:spcPct val="100000"/>
                        </a:lnSpc>
                      </a:pPr>
                      <a:endParaRPr sz="900">
                        <a:latin typeface="Times New Roman"/>
                        <a:cs typeface="Times New Roman"/>
                      </a:endParaRPr>
                    </a:p>
                    <a:p>
                      <a:pPr>
                        <a:lnSpc>
                          <a:spcPct val="100000"/>
                        </a:lnSpc>
                        <a:spcBef>
                          <a:spcPts val="204"/>
                        </a:spcBef>
                      </a:pPr>
                      <a:endParaRPr sz="900">
                        <a:latin typeface="Times New Roman"/>
                        <a:cs typeface="Times New Roman"/>
                      </a:endParaRPr>
                    </a:p>
                    <a:p>
                      <a:pPr algn="ctr">
                        <a:lnSpc>
                          <a:spcPct val="100000"/>
                        </a:lnSpc>
                      </a:pPr>
                      <a:r>
                        <a:rPr dirty="0" sz="900" spc="-50" b="1">
                          <a:latin typeface="Microsoft YaHei"/>
                          <a:cs typeface="Microsoft YaHei"/>
                        </a:rPr>
                        <a:t>3</a:t>
                      </a:r>
                      <a:endParaRPr sz="900">
                        <a:latin typeface="Microsoft YaHei"/>
                        <a:cs typeface="Microsoft YaHei"/>
                      </a:endParaRPr>
                    </a:p>
                  </a:txBody>
                  <a:tcPr marL="0" marR="0" marB="0" marT="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nSpc>
                          <a:spcPct val="100000"/>
                        </a:lnSpc>
                      </a:pPr>
                      <a:endParaRPr sz="900">
                        <a:latin typeface="Times New Roman"/>
                        <a:cs typeface="Times New Roman"/>
                      </a:endParaRPr>
                    </a:p>
                    <a:p>
                      <a:pPr>
                        <a:lnSpc>
                          <a:spcPct val="100000"/>
                        </a:lnSpc>
                        <a:spcBef>
                          <a:spcPts val="204"/>
                        </a:spcBef>
                      </a:pPr>
                      <a:endParaRPr sz="900">
                        <a:latin typeface="Times New Roman"/>
                        <a:cs typeface="Times New Roman"/>
                      </a:endParaRPr>
                    </a:p>
                    <a:p>
                      <a:pPr marL="12700">
                        <a:lnSpc>
                          <a:spcPct val="100000"/>
                        </a:lnSpc>
                      </a:pPr>
                      <a:r>
                        <a:rPr dirty="0" sz="900" spc="-10" b="1">
                          <a:latin typeface="Microsoft YaHei"/>
                          <a:cs typeface="Microsoft YaHei"/>
                        </a:rPr>
                        <a:t>AAU</a:t>
                      </a:r>
                      <a:r>
                        <a:rPr dirty="0" sz="900" spc="-15" b="1">
                          <a:latin typeface="Microsoft YaHei"/>
                          <a:cs typeface="Microsoft YaHei"/>
                        </a:rPr>
                        <a:t>安装空间</a:t>
                      </a:r>
                      <a:endParaRPr sz="900">
                        <a:latin typeface="Microsoft YaHei"/>
                        <a:cs typeface="Microsoft YaHei"/>
                      </a:endParaRPr>
                    </a:p>
                  </a:txBody>
                  <a:tcPr marL="0" marR="0" marB="0" marT="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nSpc>
                          <a:spcPct val="100000"/>
                        </a:lnSpc>
                      </a:pPr>
                      <a:endParaRPr sz="900">
                        <a:latin typeface="Times New Roman"/>
                        <a:cs typeface="Times New Roman"/>
                      </a:endParaRPr>
                    </a:p>
                    <a:p>
                      <a:pPr>
                        <a:lnSpc>
                          <a:spcPct val="100000"/>
                        </a:lnSpc>
                        <a:spcBef>
                          <a:spcPts val="204"/>
                        </a:spcBef>
                      </a:pPr>
                      <a:endParaRPr sz="900">
                        <a:latin typeface="Times New Roman"/>
                        <a:cs typeface="Times New Roman"/>
                      </a:endParaRPr>
                    </a:p>
                    <a:p>
                      <a:pPr marL="12700">
                        <a:lnSpc>
                          <a:spcPct val="100000"/>
                        </a:lnSpc>
                      </a:pPr>
                      <a:r>
                        <a:rPr dirty="0" sz="900" spc="-10">
                          <a:solidFill>
                            <a:srgbClr val="7030A0"/>
                          </a:solidFill>
                          <a:latin typeface="Microsoft YaHei"/>
                          <a:cs typeface="Microsoft YaHei"/>
                        </a:rPr>
                        <a:t>RRU</a:t>
                      </a:r>
                      <a:r>
                        <a:rPr dirty="0" sz="900">
                          <a:solidFill>
                            <a:srgbClr val="7030A0"/>
                          </a:solidFill>
                          <a:latin typeface="Microsoft YaHei"/>
                          <a:cs typeface="Microsoft YaHei"/>
                        </a:rPr>
                        <a:t>底部应预留</a:t>
                      </a:r>
                      <a:r>
                        <a:rPr dirty="0" sz="900" spc="-10">
                          <a:solidFill>
                            <a:srgbClr val="7030A0"/>
                          </a:solidFill>
                          <a:latin typeface="Microsoft YaHei"/>
                          <a:cs typeface="Microsoft YaHei"/>
                        </a:rPr>
                        <a:t>600mm</a:t>
                      </a:r>
                      <a:r>
                        <a:rPr dirty="0" sz="900">
                          <a:solidFill>
                            <a:srgbClr val="7030A0"/>
                          </a:solidFill>
                          <a:latin typeface="Microsoft YaHei"/>
                          <a:cs typeface="Microsoft YaHei"/>
                        </a:rPr>
                        <a:t>布线空间，距地面</a:t>
                      </a:r>
                      <a:r>
                        <a:rPr dirty="0" sz="900" spc="-10">
                          <a:solidFill>
                            <a:srgbClr val="7030A0"/>
                          </a:solidFill>
                          <a:latin typeface="Microsoft YaHei"/>
                          <a:cs typeface="Microsoft YaHei"/>
                        </a:rPr>
                        <a:t>1200mm</a:t>
                      </a:r>
                      <a:r>
                        <a:rPr dirty="0" sz="900" spc="-5">
                          <a:solidFill>
                            <a:srgbClr val="7030A0"/>
                          </a:solidFill>
                          <a:latin typeface="Microsoft YaHei"/>
                          <a:cs typeface="Microsoft YaHei"/>
                        </a:rPr>
                        <a:t>，顶、左右预留</a:t>
                      </a:r>
                      <a:r>
                        <a:rPr dirty="0" sz="900" spc="-10">
                          <a:solidFill>
                            <a:srgbClr val="7030A0"/>
                          </a:solidFill>
                          <a:latin typeface="Microsoft YaHei"/>
                          <a:cs typeface="Microsoft YaHei"/>
                        </a:rPr>
                        <a:t>300mm</a:t>
                      </a:r>
                      <a:r>
                        <a:rPr dirty="0" sz="900" spc="-5">
                          <a:solidFill>
                            <a:srgbClr val="7030A0"/>
                          </a:solidFill>
                          <a:latin typeface="Microsoft YaHei"/>
                          <a:cs typeface="Microsoft YaHei"/>
                        </a:rPr>
                        <a:t>的布线和维护空间，前方应无遮挡</a:t>
                      </a:r>
                      <a:endParaRPr sz="900">
                        <a:latin typeface="Microsoft YaHei"/>
                        <a:cs typeface="Microsoft YaHei"/>
                      </a:endParaRPr>
                    </a:p>
                  </a:txBody>
                  <a:tcPr marL="0" marR="0" marB="0" marT="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563880">
                <a:tc>
                  <a:txBody>
                    <a:bodyPr/>
                    <a:lstStyle/>
                    <a:p>
                      <a:pPr>
                        <a:lnSpc>
                          <a:spcPct val="100000"/>
                        </a:lnSpc>
                        <a:spcBef>
                          <a:spcPts val="680"/>
                        </a:spcBef>
                      </a:pPr>
                      <a:endParaRPr sz="900">
                        <a:latin typeface="Times New Roman"/>
                        <a:cs typeface="Times New Roman"/>
                      </a:endParaRPr>
                    </a:p>
                    <a:p>
                      <a:pPr algn="ctr">
                        <a:lnSpc>
                          <a:spcPct val="100000"/>
                        </a:lnSpc>
                      </a:pPr>
                      <a:r>
                        <a:rPr dirty="0" sz="900" spc="-50" b="1">
                          <a:latin typeface="Microsoft YaHei"/>
                          <a:cs typeface="Microsoft YaHei"/>
                        </a:rPr>
                        <a:t>4</a:t>
                      </a:r>
                      <a:endParaRPr sz="900">
                        <a:latin typeface="Microsoft YaHei"/>
                        <a:cs typeface="Microsoft YaHei"/>
                      </a:endParaRPr>
                    </a:p>
                  </a:txBody>
                  <a:tcPr marL="0" marR="0" marB="0" marT="863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nSpc>
                          <a:spcPct val="100000"/>
                        </a:lnSpc>
                        <a:spcBef>
                          <a:spcPts val="680"/>
                        </a:spcBef>
                      </a:pPr>
                      <a:endParaRPr sz="900">
                        <a:latin typeface="Times New Roman"/>
                        <a:cs typeface="Times New Roman"/>
                      </a:endParaRPr>
                    </a:p>
                    <a:p>
                      <a:pPr marL="12065">
                        <a:lnSpc>
                          <a:spcPct val="100000"/>
                        </a:lnSpc>
                      </a:pPr>
                      <a:r>
                        <a:rPr dirty="0" sz="900" spc="-15" b="1">
                          <a:latin typeface="Microsoft YaHei"/>
                          <a:cs typeface="Microsoft YaHei"/>
                        </a:rPr>
                        <a:t>电源配套</a:t>
                      </a:r>
                      <a:endParaRPr sz="900">
                        <a:latin typeface="Microsoft YaHei"/>
                        <a:cs typeface="Microsoft YaHei"/>
                      </a:endParaRPr>
                    </a:p>
                  </a:txBody>
                  <a:tcPr marL="0" marR="0" marB="0" marT="863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nSpc>
                          <a:spcPct val="100000"/>
                        </a:lnSpc>
                        <a:spcBef>
                          <a:spcPts val="680"/>
                        </a:spcBef>
                      </a:pPr>
                      <a:endParaRPr sz="900">
                        <a:latin typeface="Times New Roman"/>
                        <a:cs typeface="Times New Roman"/>
                      </a:endParaRPr>
                    </a:p>
                    <a:p>
                      <a:pPr marL="12065">
                        <a:lnSpc>
                          <a:spcPct val="100000"/>
                        </a:lnSpc>
                      </a:pPr>
                      <a:r>
                        <a:rPr dirty="0" sz="900">
                          <a:solidFill>
                            <a:srgbClr val="7030A0"/>
                          </a:solidFill>
                          <a:latin typeface="Microsoft YaHei"/>
                          <a:cs typeface="Microsoft YaHei"/>
                        </a:rPr>
                        <a:t>空开额定电流</a:t>
                      </a:r>
                      <a:r>
                        <a:rPr dirty="0" sz="900" spc="-10">
                          <a:solidFill>
                            <a:srgbClr val="7030A0"/>
                          </a:solidFill>
                          <a:latin typeface="Microsoft YaHei"/>
                          <a:cs typeface="Microsoft YaHei"/>
                        </a:rPr>
                        <a:t>BBU</a:t>
                      </a:r>
                      <a:r>
                        <a:rPr dirty="0" sz="900">
                          <a:solidFill>
                            <a:srgbClr val="7030A0"/>
                          </a:solidFill>
                          <a:latin typeface="Microsoft YaHei"/>
                          <a:cs typeface="Microsoft YaHei"/>
                        </a:rPr>
                        <a:t>为</a:t>
                      </a:r>
                      <a:r>
                        <a:rPr dirty="0" sz="900" spc="-10">
                          <a:solidFill>
                            <a:srgbClr val="7030A0"/>
                          </a:solidFill>
                          <a:latin typeface="Microsoft YaHei"/>
                          <a:cs typeface="Microsoft YaHei"/>
                        </a:rPr>
                        <a:t>63A，AAU</a:t>
                      </a:r>
                      <a:r>
                        <a:rPr dirty="0" sz="900">
                          <a:solidFill>
                            <a:srgbClr val="7030A0"/>
                          </a:solidFill>
                          <a:latin typeface="Microsoft YaHei"/>
                          <a:cs typeface="Microsoft YaHei"/>
                        </a:rPr>
                        <a:t>为</a:t>
                      </a:r>
                      <a:r>
                        <a:rPr dirty="0" sz="900" spc="-10">
                          <a:solidFill>
                            <a:srgbClr val="7030A0"/>
                          </a:solidFill>
                          <a:latin typeface="Microsoft YaHei"/>
                          <a:cs typeface="Microsoft YaHei"/>
                        </a:rPr>
                        <a:t>63A（1</a:t>
                      </a:r>
                      <a:r>
                        <a:rPr dirty="0" sz="900">
                          <a:solidFill>
                            <a:srgbClr val="7030A0"/>
                          </a:solidFill>
                          <a:latin typeface="Microsoft YaHei"/>
                          <a:cs typeface="Microsoft YaHei"/>
                        </a:rPr>
                        <a:t>台</a:t>
                      </a:r>
                      <a:r>
                        <a:rPr dirty="0" sz="900" spc="-10">
                          <a:solidFill>
                            <a:srgbClr val="7030A0"/>
                          </a:solidFill>
                          <a:latin typeface="Microsoft YaHei"/>
                          <a:cs typeface="Microsoft YaHei"/>
                        </a:rPr>
                        <a:t>），2*100A（2</a:t>
                      </a:r>
                      <a:r>
                        <a:rPr dirty="0" sz="900">
                          <a:solidFill>
                            <a:srgbClr val="7030A0"/>
                          </a:solidFill>
                          <a:latin typeface="Microsoft YaHei"/>
                          <a:cs typeface="Microsoft YaHei"/>
                        </a:rPr>
                        <a:t>个空开同时为3个</a:t>
                      </a:r>
                      <a:r>
                        <a:rPr dirty="0" sz="900" spc="-10">
                          <a:solidFill>
                            <a:srgbClr val="7030A0"/>
                          </a:solidFill>
                          <a:latin typeface="Microsoft YaHei"/>
                          <a:cs typeface="Microsoft YaHei"/>
                        </a:rPr>
                        <a:t>AAU</a:t>
                      </a:r>
                      <a:r>
                        <a:rPr dirty="0" sz="900">
                          <a:solidFill>
                            <a:srgbClr val="7030A0"/>
                          </a:solidFill>
                          <a:latin typeface="Microsoft YaHei"/>
                          <a:cs typeface="Microsoft YaHei"/>
                        </a:rPr>
                        <a:t>供电</a:t>
                      </a:r>
                      <a:r>
                        <a:rPr dirty="0" sz="900" spc="-25">
                          <a:solidFill>
                            <a:srgbClr val="7030A0"/>
                          </a:solidFill>
                          <a:latin typeface="Microsoft YaHei"/>
                          <a:cs typeface="Microsoft YaHei"/>
                        </a:rPr>
                        <a:t>））</a:t>
                      </a:r>
                      <a:endParaRPr sz="900">
                        <a:latin typeface="Microsoft YaHei"/>
                        <a:cs typeface="Microsoft YaHei"/>
                      </a:endParaRPr>
                    </a:p>
                  </a:txBody>
                  <a:tcPr marL="0" marR="0" marB="0" marT="8636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357505">
                <a:tc>
                  <a:txBody>
                    <a:bodyPr/>
                    <a:lstStyle/>
                    <a:p>
                      <a:pPr algn="ctr">
                        <a:lnSpc>
                          <a:spcPct val="100000"/>
                        </a:lnSpc>
                        <a:spcBef>
                          <a:spcPts val="905"/>
                        </a:spcBef>
                      </a:pPr>
                      <a:r>
                        <a:rPr dirty="0" sz="900" spc="-50" b="1">
                          <a:latin typeface="Microsoft YaHei"/>
                          <a:cs typeface="Microsoft YaHei"/>
                        </a:rPr>
                        <a:t>5</a:t>
                      </a:r>
                      <a:endParaRPr sz="900">
                        <a:latin typeface="Microsoft YaHei"/>
                        <a:cs typeface="Microsoft YaHei"/>
                      </a:endParaRPr>
                    </a:p>
                  </a:txBody>
                  <a:tcPr marL="0" marR="0" marB="0" marT="1149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marL="12700">
                        <a:lnSpc>
                          <a:spcPct val="100000"/>
                        </a:lnSpc>
                        <a:spcBef>
                          <a:spcPts val="905"/>
                        </a:spcBef>
                      </a:pPr>
                      <a:r>
                        <a:rPr dirty="0" sz="900" spc="-15" b="1">
                          <a:latin typeface="Microsoft YaHei"/>
                          <a:cs typeface="Microsoft YaHei"/>
                        </a:rPr>
                        <a:t>接地需求</a:t>
                      </a:r>
                      <a:endParaRPr sz="900">
                        <a:latin typeface="Microsoft YaHei"/>
                        <a:cs typeface="Microsoft YaHei"/>
                      </a:endParaRPr>
                    </a:p>
                  </a:txBody>
                  <a:tcPr marL="0" marR="0" marB="0" marT="1149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marL="12700">
                        <a:lnSpc>
                          <a:spcPct val="100000"/>
                        </a:lnSpc>
                        <a:spcBef>
                          <a:spcPts val="905"/>
                        </a:spcBef>
                      </a:pPr>
                      <a:r>
                        <a:rPr dirty="0" sz="900">
                          <a:solidFill>
                            <a:srgbClr val="7030A0"/>
                          </a:solidFill>
                          <a:latin typeface="Microsoft YaHei"/>
                          <a:cs typeface="Microsoft YaHei"/>
                        </a:rPr>
                        <a:t>同</a:t>
                      </a:r>
                      <a:r>
                        <a:rPr dirty="0" sz="900" spc="-10">
                          <a:solidFill>
                            <a:srgbClr val="7030A0"/>
                          </a:solidFill>
                          <a:latin typeface="Microsoft YaHei"/>
                          <a:cs typeface="Microsoft YaHei"/>
                        </a:rPr>
                        <a:t>4G，BBU</a:t>
                      </a:r>
                      <a:r>
                        <a:rPr dirty="0" sz="900">
                          <a:solidFill>
                            <a:srgbClr val="7030A0"/>
                          </a:solidFill>
                          <a:latin typeface="Microsoft YaHei"/>
                          <a:cs typeface="Microsoft YaHei"/>
                        </a:rPr>
                        <a:t>、</a:t>
                      </a:r>
                      <a:r>
                        <a:rPr dirty="0" sz="900" spc="-10">
                          <a:solidFill>
                            <a:srgbClr val="7030A0"/>
                          </a:solidFill>
                          <a:latin typeface="Microsoft YaHei"/>
                          <a:cs typeface="Microsoft YaHei"/>
                        </a:rPr>
                        <a:t>AAU</a:t>
                      </a:r>
                      <a:r>
                        <a:rPr dirty="0" sz="900">
                          <a:solidFill>
                            <a:srgbClr val="7030A0"/>
                          </a:solidFill>
                          <a:latin typeface="Microsoft YaHei"/>
                          <a:cs typeface="Microsoft YaHei"/>
                        </a:rPr>
                        <a:t>设备通过</a:t>
                      </a:r>
                      <a:r>
                        <a:rPr dirty="0" sz="900" spc="-10">
                          <a:solidFill>
                            <a:srgbClr val="7030A0"/>
                          </a:solidFill>
                          <a:latin typeface="Microsoft YaHei"/>
                          <a:cs typeface="Microsoft YaHei"/>
                        </a:rPr>
                        <a:t>16mm²</a:t>
                      </a:r>
                      <a:r>
                        <a:rPr dirty="0" sz="900" spc="-5">
                          <a:solidFill>
                            <a:srgbClr val="7030A0"/>
                          </a:solidFill>
                          <a:latin typeface="Microsoft YaHei"/>
                          <a:cs typeface="Microsoft YaHei"/>
                        </a:rPr>
                        <a:t>黄绿地线可靠接地，接地电阻应＜</a:t>
                      </a:r>
                      <a:r>
                        <a:rPr dirty="0" sz="900" spc="-25">
                          <a:solidFill>
                            <a:srgbClr val="7030A0"/>
                          </a:solidFill>
                          <a:latin typeface="Microsoft YaHei"/>
                          <a:cs typeface="Microsoft YaHei"/>
                        </a:rPr>
                        <a:t>5Ω</a:t>
                      </a:r>
                      <a:endParaRPr sz="900">
                        <a:latin typeface="Microsoft YaHei"/>
                        <a:cs typeface="Microsoft YaHei"/>
                      </a:endParaRPr>
                    </a:p>
                  </a:txBody>
                  <a:tcPr marL="0" marR="0" marB="0" marT="1149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182880">
                <a:tc>
                  <a:txBody>
                    <a:bodyPr/>
                    <a:lstStyle/>
                    <a:p>
                      <a:pPr algn="ctr">
                        <a:lnSpc>
                          <a:spcPct val="100000"/>
                        </a:lnSpc>
                        <a:spcBef>
                          <a:spcPts val="215"/>
                        </a:spcBef>
                      </a:pPr>
                      <a:r>
                        <a:rPr dirty="0" sz="900" spc="-50" b="1">
                          <a:latin typeface="Microsoft YaHei"/>
                          <a:cs typeface="Microsoft YaHei"/>
                        </a:rPr>
                        <a:t>6</a:t>
                      </a:r>
                      <a:endParaRPr sz="900">
                        <a:latin typeface="Microsoft YaHei"/>
                        <a:cs typeface="Microsoft YaHei"/>
                      </a:endParaRPr>
                    </a:p>
                  </a:txBody>
                  <a:tcPr marL="0" marR="0" marB="0" marT="2730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marL="12700">
                        <a:lnSpc>
                          <a:spcPct val="100000"/>
                        </a:lnSpc>
                        <a:spcBef>
                          <a:spcPts val="215"/>
                        </a:spcBef>
                      </a:pPr>
                      <a:r>
                        <a:rPr dirty="0" sz="900" spc="-15" b="1">
                          <a:latin typeface="Microsoft YaHei"/>
                          <a:cs typeface="Microsoft YaHei"/>
                        </a:rPr>
                        <a:t>传输需求</a:t>
                      </a:r>
                      <a:endParaRPr sz="900">
                        <a:latin typeface="Microsoft YaHei"/>
                        <a:cs typeface="Microsoft YaHei"/>
                      </a:endParaRPr>
                    </a:p>
                  </a:txBody>
                  <a:tcPr marL="0" marR="0" marB="0" marT="2730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marL="12700">
                        <a:lnSpc>
                          <a:spcPct val="100000"/>
                        </a:lnSpc>
                        <a:spcBef>
                          <a:spcPts val="215"/>
                        </a:spcBef>
                      </a:pPr>
                      <a:r>
                        <a:rPr dirty="0" sz="900">
                          <a:solidFill>
                            <a:srgbClr val="7030A0"/>
                          </a:solidFill>
                          <a:latin typeface="Microsoft YaHei"/>
                          <a:cs typeface="Microsoft YaHei"/>
                        </a:rPr>
                        <a:t>传输配套需要提供</a:t>
                      </a:r>
                      <a:r>
                        <a:rPr dirty="0" sz="900" spc="-10">
                          <a:solidFill>
                            <a:srgbClr val="7030A0"/>
                          </a:solidFill>
                          <a:latin typeface="Microsoft YaHei"/>
                          <a:cs typeface="Microsoft YaHei"/>
                        </a:rPr>
                        <a:t>2*25GE</a:t>
                      </a:r>
                      <a:r>
                        <a:rPr dirty="0" sz="900" spc="-25">
                          <a:solidFill>
                            <a:srgbClr val="7030A0"/>
                          </a:solidFill>
                          <a:latin typeface="Microsoft YaHei"/>
                          <a:cs typeface="Microsoft YaHei"/>
                        </a:rPr>
                        <a:t>光口</a:t>
                      </a:r>
                      <a:endParaRPr sz="900">
                        <a:latin typeface="Microsoft YaHei"/>
                        <a:cs typeface="Microsoft YaHei"/>
                      </a:endParaRPr>
                    </a:p>
                  </a:txBody>
                  <a:tcPr marL="0" marR="0" marB="0" marT="2730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532765">
                <a:tc>
                  <a:txBody>
                    <a:bodyPr/>
                    <a:lstStyle/>
                    <a:p>
                      <a:pPr>
                        <a:lnSpc>
                          <a:spcPct val="100000"/>
                        </a:lnSpc>
                        <a:spcBef>
                          <a:spcPts val="560"/>
                        </a:spcBef>
                      </a:pPr>
                      <a:endParaRPr sz="900">
                        <a:latin typeface="Times New Roman"/>
                        <a:cs typeface="Times New Roman"/>
                      </a:endParaRPr>
                    </a:p>
                    <a:p>
                      <a:pPr algn="ctr">
                        <a:lnSpc>
                          <a:spcPct val="100000"/>
                        </a:lnSpc>
                      </a:pPr>
                      <a:r>
                        <a:rPr dirty="0" sz="900" spc="-50" b="1">
                          <a:latin typeface="Microsoft YaHei"/>
                          <a:cs typeface="Microsoft YaHei"/>
                        </a:rPr>
                        <a:t>7</a:t>
                      </a:r>
                      <a:endParaRPr sz="900">
                        <a:latin typeface="Microsoft YaHei"/>
                        <a:cs typeface="Microsoft YaHei"/>
                      </a:endParaRPr>
                    </a:p>
                  </a:txBody>
                  <a:tcPr marL="0" marR="0" marB="0" marT="7112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nSpc>
                          <a:spcPct val="100000"/>
                        </a:lnSpc>
                        <a:spcBef>
                          <a:spcPts val="560"/>
                        </a:spcBef>
                      </a:pPr>
                      <a:endParaRPr sz="900">
                        <a:latin typeface="Times New Roman"/>
                        <a:cs typeface="Times New Roman"/>
                      </a:endParaRPr>
                    </a:p>
                    <a:p>
                      <a:pPr marL="12700">
                        <a:lnSpc>
                          <a:spcPct val="100000"/>
                        </a:lnSpc>
                      </a:pPr>
                      <a:r>
                        <a:rPr dirty="0" sz="900" spc="-10" b="1">
                          <a:latin typeface="Microsoft YaHei"/>
                          <a:cs typeface="Microsoft YaHei"/>
                        </a:rPr>
                        <a:t>GPS</a:t>
                      </a:r>
                      <a:r>
                        <a:rPr dirty="0" sz="900" spc="-25" b="1">
                          <a:latin typeface="Microsoft YaHei"/>
                          <a:cs typeface="Microsoft YaHei"/>
                        </a:rPr>
                        <a:t>配套</a:t>
                      </a:r>
                      <a:endParaRPr sz="900">
                        <a:latin typeface="Microsoft YaHei"/>
                        <a:cs typeface="Microsoft YaHei"/>
                      </a:endParaRPr>
                    </a:p>
                  </a:txBody>
                  <a:tcPr marL="0" marR="0" marB="0" marT="7112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nSpc>
                          <a:spcPct val="100000"/>
                        </a:lnSpc>
                        <a:spcBef>
                          <a:spcPts val="560"/>
                        </a:spcBef>
                      </a:pPr>
                      <a:endParaRPr sz="900">
                        <a:latin typeface="Times New Roman"/>
                        <a:cs typeface="Times New Roman"/>
                      </a:endParaRPr>
                    </a:p>
                    <a:p>
                      <a:pPr marL="12700">
                        <a:lnSpc>
                          <a:spcPct val="100000"/>
                        </a:lnSpc>
                      </a:pPr>
                      <a:r>
                        <a:rPr dirty="0" sz="900">
                          <a:solidFill>
                            <a:srgbClr val="7030A0"/>
                          </a:solidFill>
                          <a:latin typeface="Microsoft YaHei"/>
                          <a:cs typeface="Microsoft YaHei"/>
                        </a:rPr>
                        <a:t>同</a:t>
                      </a:r>
                      <a:r>
                        <a:rPr dirty="0" sz="900" spc="-10">
                          <a:solidFill>
                            <a:srgbClr val="7030A0"/>
                          </a:solidFill>
                          <a:latin typeface="Microsoft YaHei"/>
                          <a:cs typeface="Microsoft YaHei"/>
                        </a:rPr>
                        <a:t>4G</a:t>
                      </a:r>
                      <a:r>
                        <a:rPr dirty="0" sz="900" spc="-5">
                          <a:solidFill>
                            <a:srgbClr val="7030A0"/>
                          </a:solidFill>
                          <a:latin typeface="Microsoft YaHei"/>
                          <a:cs typeface="Microsoft YaHei"/>
                        </a:rPr>
                        <a:t>，推荐抱杆直径</a:t>
                      </a:r>
                      <a:r>
                        <a:rPr dirty="0" sz="900" spc="-10">
                          <a:solidFill>
                            <a:srgbClr val="7030A0"/>
                          </a:solidFill>
                          <a:latin typeface="Microsoft YaHei"/>
                          <a:cs typeface="Microsoft YaHei"/>
                        </a:rPr>
                        <a:t>30-</a:t>
                      </a:r>
                      <a:r>
                        <a:rPr dirty="0" sz="900" spc="-20">
                          <a:solidFill>
                            <a:srgbClr val="7030A0"/>
                          </a:solidFill>
                          <a:latin typeface="Microsoft YaHei"/>
                          <a:cs typeface="Microsoft YaHei"/>
                        </a:rPr>
                        <a:t>60mm</a:t>
                      </a:r>
                      <a:endParaRPr sz="900">
                        <a:latin typeface="Microsoft YaHei"/>
                        <a:cs typeface="Microsoft YaHei"/>
                      </a:endParaRPr>
                    </a:p>
                  </a:txBody>
                  <a:tcPr marL="0" marR="0" marB="0" marT="7112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357505">
                <a:tc>
                  <a:txBody>
                    <a:bodyPr/>
                    <a:lstStyle/>
                    <a:p>
                      <a:pPr algn="ctr">
                        <a:lnSpc>
                          <a:spcPct val="100000"/>
                        </a:lnSpc>
                        <a:spcBef>
                          <a:spcPts val="905"/>
                        </a:spcBef>
                      </a:pPr>
                      <a:r>
                        <a:rPr dirty="0" sz="900" spc="-50" b="1">
                          <a:latin typeface="Microsoft YaHei"/>
                          <a:cs typeface="Microsoft YaHei"/>
                        </a:rPr>
                        <a:t>8</a:t>
                      </a:r>
                      <a:endParaRPr sz="900">
                        <a:latin typeface="Microsoft YaHei"/>
                        <a:cs typeface="Microsoft YaHei"/>
                      </a:endParaRPr>
                    </a:p>
                  </a:txBody>
                  <a:tcPr marL="0" marR="0" marB="0" marT="1149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marL="12700">
                        <a:lnSpc>
                          <a:spcPct val="100000"/>
                        </a:lnSpc>
                        <a:spcBef>
                          <a:spcPts val="905"/>
                        </a:spcBef>
                      </a:pPr>
                      <a:r>
                        <a:rPr dirty="0" sz="900" spc="-10" b="1">
                          <a:latin typeface="Microsoft YaHei"/>
                          <a:cs typeface="Microsoft YaHei"/>
                        </a:rPr>
                        <a:t>室外设备抱杆</a:t>
                      </a:r>
                      <a:endParaRPr sz="900">
                        <a:latin typeface="Microsoft YaHei"/>
                        <a:cs typeface="Microsoft YaHei"/>
                      </a:endParaRPr>
                    </a:p>
                  </a:txBody>
                  <a:tcPr marL="0" marR="0" marB="0" marT="1149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marL="12700">
                        <a:lnSpc>
                          <a:spcPct val="100000"/>
                        </a:lnSpc>
                        <a:spcBef>
                          <a:spcPts val="905"/>
                        </a:spcBef>
                      </a:pPr>
                      <a:r>
                        <a:rPr dirty="0" sz="900">
                          <a:solidFill>
                            <a:srgbClr val="7030A0"/>
                          </a:solidFill>
                          <a:latin typeface="Microsoft YaHei"/>
                          <a:cs typeface="Microsoft YaHei"/>
                        </a:rPr>
                        <a:t>同</a:t>
                      </a:r>
                      <a:r>
                        <a:rPr dirty="0" sz="900" spc="-10">
                          <a:solidFill>
                            <a:srgbClr val="7030A0"/>
                          </a:solidFill>
                          <a:latin typeface="Microsoft YaHei"/>
                          <a:cs typeface="Microsoft YaHei"/>
                        </a:rPr>
                        <a:t>4G</a:t>
                      </a:r>
                      <a:r>
                        <a:rPr dirty="0" sz="900" spc="-5">
                          <a:solidFill>
                            <a:srgbClr val="7030A0"/>
                          </a:solidFill>
                          <a:latin typeface="Microsoft YaHei"/>
                          <a:cs typeface="Microsoft YaHei"/>
                        </a:rPr>
                        <a:t>，安装件支持</a:t>
                      </a:r>
                      <a:r>
                        <a:rPr dirty="0" sz="900" spc="-10">
                          <a:solidFill>
                            <a:srgbClr val="7030A0"/>
                          </a:solidFill>
                          <a:latin typeface="Microsoft YaHei"/>
                          <a:cs typeface="Microsoft YaHei"/>
                        </a:rPr>
                        <a:t>50-114mm</a:t>
                      </a:r>
                      <a:r>
                        <a:rPr dirty="0" sz="900">
                          <a:solidFill>
                            <a:srgbClr val="7030A0"/>
                          </a:solidFill>
                          <a:latin typeface="Microsoft YaHei"/>
                          <a:cs typeface="Microsoft YaHei"/>
                        </a:rPr>
                        <a:t>抱杆直径</a:t>
                      </a:r>
                      <a:r>
                        <a:rPr dirty="0" sz="900" spc="-10">
                          <a:solidFill>
                            <a:srgbClr val="7030A0"/>
                          </a:solidFill>
                          <a:latin typeface="Microsoft YaHei"/>
                          <a:cs typeface="Microsoft YaHei"/>
                        </a:rPr>
                        <a:t>50-114mm</a:t>
                      </a:r>
                      <a:r>
                        <a:rPr dirty="0" sz="900">
                          <a:solidFill>
                            <a:srgbClr val="7030A0"/>
                          </a:solidFill>
                          <a:latin typeface="Microsoft YaHei"/>
                          <a:cs typeface="Microsoft YaHei"/>
                        </a:rPr>
                        <a:t>抱杆直径，推荐抱杆直径</a:t>
                      </a:r>
                      <a:r>
                        <a:rPr dirty="0" sz="900" spc="-10">
                          <a:solidFill>
                            <a:srgbClr val="7030A0"/>
                          </a:solidFill>
                          <a:latin typeface="Microsoft YaHei"/>
                          <a:cs typeface="Microsoft YaHei"/>
                        </a:rPr>
                        <a:t>80mm</a:t>
                      </a:r>
                      <a:r>
                        <a:rPr dirty="0" sz="900" spc="-5">
                          <a:solidFill>
                            <a:srgbClr val="7030A0"/>
                          </a:solidFill>
                          <a:latin typeface="Microsoft YaHei"/>
                          <a:cs typeface="Microsoft YaHei"/>
                        </a:rPr>
                        <a:t>，壁厚不小于</a:t>
                      </a:r>
                      <a:r>
                        <a:rPr dirty="0" sz="900" spc="-25">
                          <a:solidFill>
                            <a:srgbClr val="7030A0"/>
                          </a:solidFill>
                          <a:latin typeface="Microsoft YaHei"/>
                          <a:cs typeface="Microsoft YaHei"/>
                        </a:rPr>
                        <a:t>4mm</a:t>
                      </a:r>
                      <a:endParaRPr sz="900">
                        <a:latin typeface="Microsoft YaHei"/>
                        <a:cs typeface="Microsoft YaHei"/>
                      </a:endParaRPr>
                    </a:p>
                  </a:txBody>
                  <a:tcPr marL="0" marR="0" marB="0" marT="1149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3581401" y="895350"/>
            <a:ext cx="0" cy="3962400"/>
          </a:xfrm>
          <a:custGeom>
            <a:avLst/>
            <a:gdLst/>
            <a:ahLst/>
            <a:cxnLst/>
            <a:rect l="l" t="t" r="r" b="b"/>
            <a:pathLst>
              <a:path w="0" h="3962400">
                <a:moveTo>
                  <a:pt x="0" y="0"/>
                </a:moveTo>
                <a:lnTo>
                  <a:pt x="0" y="3962400"/>
                </a:lnTo>
              </a:path>
            </a:pathLst>
          </a:custGeom>
          <a:ln w="34925">
            <a:solidFill>
              <a:srgbClr val="000000"/>
            </a:solidFill>
          </a:ln>
        </p:spPr>
        <p:txBody>
          <a:bodyPr wrap="square" lIns="0" tIns="0" rIns="0" bIns="0" rtlCol="0"/>
          <a:lstStyle/>
          <a:p/>
        </p:txBody>
      </p:sp>
      <p:grpSp>
        <p:nvGrpSpPr>
          <p:cNvPr id="3" name="object 3" descr=""/>
          <p:cNvGrpSpPr/>
          <p:nvPr/>
        </p:nvGrpSpPr>
        <p:grpSpPr>
          <a:xfrm>
            <a:off x="3803650" y="1574801"/>
            <a:ext cx="5118100" cy="498475"/>
            <a:chOff x="3803650" y="1574801"/>
            <a:chExt cx="5118100" cy="498475"/>
          </a:xfrm>
        </p:grpSpPr>
        <p:pic>
          <p:nvPicPr>
            <p:cNvPr id="4" name="object 4" descr=""/>
            <p:cNvPicPr/>
            <p:nvPr/>
          </p:nvPicPr>
          <p:blipFill>
            <a:blip r:embed="rId2" cstate="print"/>
            <a:stretch>
              <a:fillRect/>
            </a:stretch>
          </p:blipFill>
          <p:spPr>
            <a:xfrm>
              <a:off x="3810000" y="1581151"/>
              <a:ext cx="5105400" cy="485775"/>
            </a:xfrm>
            <a:prstGeom prst="rect">
              <a:avLst/>
            </a:prstGeom>
          </p:spPr>
        </p:pic>
        <p:sp>
          <p:nvSpPr>
            <p:cNvPr id="5" name="object 5" descr=""/>
            <p:cNvSpPr/>
            <p:nvPr/>
          </p:nvSpPr>
          <p:spPr>
            <a:xfrm>
              <a:off x="3810000" y="1581151"/>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6" name="object 6" descr=""/>
          <p:cNvGrpSpPr/>
          <p:nvPr/>
        </p:nvGrpSpPr>
        <p:grpSpPr>
          <a:xfrm>
            <a:off x="3803650" y="2260600"/>
            <a:ext cx="5118100" cy="498475"/>
            <a:chOff x="3803650" y="2260600"/>
            <a:chExt cx="5118100" cy="498475"/>
          </a:xfrm>
        </p:grpSpPr>
        <p:pic>
          <p:nvPicPr>
            <p:cNvPr id="7" name="object 7" descr=""/>
            <p:cNvPicPr/>
            <p:nvPr/>
          </p:nvPicPr>
          <p:blipFill>
            <a:blip r:embed="rId3" cstate="print"/>
            <a:stretch>
              <a:fillRect/>
            </a:stretch>
          </p:blipFill>
          <p:spPr>
            <a:xfrm>
              <a:off x="3810000" y="2266950"/>
              <a:ext cx="5105400" cy="485775"/>
            </a:xfrm>
            <a:prstGeom prst="rect">
              <a:avLst/>
            </a:prstGeom>
          </p:spPr>
        </p:pic>
        <p:sp>
          <p:nvSpPr>
            <p:cNvPr id="8" name="object 8" descr=""/>
            <p:cNvSpPr/>
            <p:nvPr/>
          </p:nvSpPr>
          <p:spPr>
            <a:xfrm>
              <a:off x="3810000" y="2266950"/>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9" name="object 9" descr=""/>
          <p:cNvGrpSpPr/>
          <p:nvPr/>
        </p:nvGrpSpPr>
        <p:grpSpPr>
          <a:xfrm>
            <a:off x="3803650" y="889001"/>
            <a:ext cx="5118100" cy="498475"/>
            <a:chOff x="3803650" y="889001"/>
            <a:chExt cx="5118100" cy="498475"/>
          </a:xfrm>
        </p:grpSpPr>
        <p:pic>
          <p:nvPicPr>
            <p:cNvPr id="10" name="object 10" descr=""/>
            <p:cNvPicPr/>
            <p:nvPr/>
          </p:nvPicPr>
          <p:blipFill>
            <a:blip r:embed="rId4" cstate="print"/>
            <a:stretch>
              <a:fillRect/>
            </a:stretch>
          </p:blipFill>
          <p:spPr>
            <a:xfrm>
              <a:off x="3810000" y="895351"/>
              <a:ext cx="5105400" cy="485775"/>
            </a:xfrm>
            <a:prstGeom prst="rect">
              <a:avLst/>
            </a:prstGeom>
          </p:spPr>
        </p:pic>
        <p:sp>
          <p:nvSpPr>
            <p:cNvPr id="11" name="object 11" descr=""/>
            <p:cNvSpPr/>
            <p:nvPr/>
          </p:nvSpPr>
          <p:spPr>
            <a:xfrm>
              <a:off x="3810000" y="895351"/>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12" name="object 12"/>
          <p:cNvSpPr txBox="1">
            <a:spLocks noGrp="1"/>
          </p:cNvSpPr>
          <p:nvPr>
            <p:ph type="title"/>
          </p:nvPr>
        </p:nvSpPr>
        <p:spPr>
          <a:xfrm>
            <a:off x="3174619" y="39229"/>
            <a:ext cx="3098800" cy="695960"/>
          </a:xfrm>
          <a:prstGeom prst="rect"/>
        </p:spPr>
        <p:txBody>
          <a:bodyPr wrap="square" lIns="0" tIns="12065" rIns="0" bIns="0" rtlCol="0" vert="horz">
            <a:spAutoFit/>
          </a:bodyPr>
          <a:lstStyle/>
          <a:p>
            <a:pPr marL="12700">
              <a:lnSpc>
                <a:spcPct val="100000"/>
              </a:lnSpc>
              <a:spcBef>
                <a:spcPts val="95"/>
              </a:spcBef>
              <a:tabLst>
                <a:tab pos="850265" algn="l"/>
                <a:tab pos="1688464" algn="l"/>
                <a:tab pos="2526665" algn="l"/>
              </a:tabLst>
            </a:pPr>
            <a:r>
              <a:rPr dirty="0" sz="4400" spc="-50"/>
              <a:t>主</a:t>
            </a:r>
            <a:r>
              <a:rPr dirty="0" sz="4400"/>
              <a:t>	</a:t>
            </a:r>
            <a:r>
              <a:rPr dirty="0" sz="4400" spc="-50"/>
              <a:t>要</a:t>
            </a:r>
            <a:r>
              <a:rPr dirty="0" sz="4400"/>
              <a:t>	</a:t>
            </a:r>
            <a:r>
              <a:rPr dirty="0" sz="4400" spc="-50"/>
              <a:t>内</a:t>
            </a:r>
            <a:r>
              <a:rPr dirty="0" sz="4400"/>
              <a:t>	</a:t>
            </a:r>
            <a:r>
              <a:rPr dirty="0" sz="4400" spc="-50"/>
              <a:t>容</a:t>
            </a:r>
            <a:endParaRPr sz="4400"/>
          </a:p>
        </p:txBody>
      </p:sp>
      <p:grpSp>
        <p:nvGrpSpPr>
          <p:cNvPr id="13" name="object 13" descr=""/>
          <p:cNvGrpSpPr/>
          <p:nvPr/>
        </p:nvGrpSpPr>
        <p:grpSpPr>
          <a:xfrm>
            <a:off x="3803650" y="2946400"/>
            <a:ext cx="5118100" cy="498475"/>
            <a:chOff x="3803650" y="2946400"/>
            <a:chExt cx="5118100" cy="498475"/>
          </a:xfrm>
        </p:grpSpPr>
        <p:pic>
          <p:nvPicPr>
            <p:cNvPr id="14" name="object 14" descr=""/>
            <p:cNvPicPr/>
            <p:nvPr/>
          </p:nvPicPr>
          <p:blipFill>
            <a:blip r:embed="rId5" cstate="print"/>
            <a:stretch>
              <a:fillRect/>
            </a:stretch>
          </p:blipFill>
          <p:spPr>
            <a:xfrm>
              <a:off x="3810000" y="2952750"/>
              <a:ext cx="5105400" cy="485775"/>
            </a:xfrm>
            <a:prstGeom prst="rect">
              <a:avLst/>
            </a:prstGeom>
          </p:spPr>
        </p:pic>
        <p:sp>
          <p:nvSpPr>
            <p:cNvPr id="15" name="object 15" descr=""/>
            <p:cNvSpPr/>
            <p:nvPr/>
          </p:nvSpPr>
          <p:spPr>
            <a:xfrm>
              <a:off x="3810000" y="2952750"/>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pic>
        <p:nvPicPr>
          <p:cNvPr id="16" name="object 16"/>
          <p:cNvPicPr/>
          <p:nvPr/>
        </p:nvPicPr>
        <p:blipFill>
          <a:blip r:embed="rId6" cstate="print"/>
          <a:stretch>
            <a:fillRect/>
          </a:stretch>
        </p:blipFill>
        <p:spPr>
          <a:xfrm>
            <a:off x="152400" y="895350"/>
            <a:ext cx="3276599" cy="3962399"/>
          </a:xfrm>
          <a:prstGeom prst="rect">
            <a:avLst/>
          </a:prstGeom>
        </p:spPr>
      </p:pic>
      <p:grpSp>
        <p:nvGrpSpPr>
          <p:cNvPr id="17" name="object 17" descr=""/>
          <p:cNvGrpSpPr/>
          <p:nvPr/>
        </p:nvGrpSpPr>
        <p:grpSpPr>
          <a:xfrm>
            <a:off x="3803650" y="3632200"/>
            <a:ext cx="5118100" cy="498475"/>
            <a:chOff x="3803650" y="3632200"/>
            <a:chExt cx="5118100" cy="498475"/>
          </a:xfrm>
        </p:grpSpPr>
        <p:pic>
          <p:nvPicPr>
            <p:cNvPr id="18" name="object 18" descr=""/>
            <p:cNvPicPr/>
            <p:nvPr/>
          </p:nvPicPr>
          <p:blipFill>
            <a:blip r:embed="rId5" cstate="print"/>
            <a:stretch>
              <a:fillRect/>
            </a:stretch>
          </p:blipFill>
          <p:spPr>
            <a:xfrm>
              <a:off x="3810000" y="3638550"/>
              <a:ext cx="5105400" cy="485775"/>
            </a:xfrm>
            <a:prstGeom prst="rect">
              <a:avLst/>
            </a:prstGeom>
          </p:spPr>
        </p:pic>
        <p:sp>
          <p:nvSpPr>
            <p:cNvPr id="19" name="object 19" descr=""/>
            <p:cNvSpPr/>
            <p:nvPr/>
          </p:nvSpPr>
          <p:spPr>
            <a:xfrm>
              <a:off x="3810000" y="3638550"/>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20" name="object 20" descr=""/>
          <p:cNvGrpSpPr/>
          <p:nvPr/>
        </p:nvGrpSpPr>
        <p:grpSpPr>
          <a:xfrm>
            <a:off x="3803650" y="4318000"/>
            <a:ext cx="5118100" cy="498475"/>
            <a:chOff x="3803650" y="4318000"/>
            <a:chExt cx="5118100" cy="498475"/>
          </a:xfrm>
        </p:grpSpPr>
        <p:pic>
          <p:nvPicPr>
            <p:cNvPr id="21" name="object 21" descr=""/>
            <p:cNvPicPr/>
            <p:nvPr/>
          </p:nvPicPr>
          <p:blipFill>
            <a:blip r:embed="rId5" cstate="print"/>
            <a:stretch>
              <a:fillRect/>
            </a:stretch>
          </p:blipFill>
          <p:spPr>
            <a:xfrm>
              <a:off x="3810000" y="4324350"/>
              <a:ext cx="5105400" cy="485775"/>
            </a:xfrm>
            <a:prstGeom prst="rect">
              <a:avLst/>
            </a:prstGeom>
          </p:spPr>
        </p:pic>
        <p:sp>
          <p:nvSpPr>
            <p:cNvPr id="22" name="object 22" descr=""/>
            <p:cNvSpPr/>
            <p:nvPr/>
          </p:nvSpPr>
          <p:spPr>
            <a:xfrm>
              <a:off x="3810000" y="4324350"/>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23" name="object 23" descr=""/>
          <p:cNvSpPr txBox="1"/>
          <p:nvPr/>
        </p:nvSpPr>
        <p:spPr>
          <a:xfrm>
            <a:off x="3912453" y="931989"/>
            <a:ext cx="4716145" cy="3820160"/>
          </a:xfrm>
          <a:prstGeom prst="rect">
            <a:avLst/>
          </a:prstGeom>
        </p:spPr>
        <p:txBody>
          <a:bodyPr wrap="square" lIns="0" tIns="12700" rIns="0" bIns="0" rtlCol="0" vert="horz">
            <a:spAutoFit/>
          </a:bodyPr>
          <a:lstStyle/>
          <a:p>
            <a:pPr marL="12700">
              <a:lnSpc>
                <a:spcPct val="100000"/>
              </a:lnSpc>
              <a:spcBef>
                <a:spcPts val="100"/>
              </a:spcBef>
            </a:pPr>
            <a:r>
              <a:rPr dirty="0" sz="2400">
                <a:latin typeface="Microsoft YaHei"/>
                <a:cs typeface="Microsoft YaHei"/>
              </a:rPr>
              <a:t>一、</a:t>
            </a:r>
            <a:r>
              <a:rPr dirty="0" sz="2400" spc="-20">
                <a:latin typeface="Times New Roman"/>
                <a:cs typeface="Times New Roman"/>
              </a:rPr>
              <a:t>5G</a:t>
            </a:r>
            <a:r>
              <a:rPr dirty="0" sz="2400">
                <a:latin typeface="Microsoft YaHei"/>
                <a:cs typeface="Microsoft YaHei"/>
              </a:rPr>
              <a:t>系统基站</a:t>
            </a:r>
            <a:r>
              <a:rPr dirty="0" sz="2400" spc="-10">
                <a:latin typeface="Times New Roman"/>
                <a:cs typeface="Times New Roman"/>
              </a:rPr>
              <a:t>BBU</a:t>
            </a:r>
            <a:r>
              <a:rPr dirty="0" sz="2400" spc="-10">
                <a:latin typeface="Microsoft YaHei"/>
                <a:cs typeface="Microsoft YaHei"/>
              </a:rPr>
              <a:t>安装工程规范</a:t>
            </a:r>
            <a:endParaRPr sz="2400">
              <a:latin typeface="Microsoft YaHei"/>
              <a:cs typeface="Microsoft YaHei"/>
            </a:endParaRPr>
          </a:p>
          <a:p>
            <a:pPr algn="just" marL="12700" marR="5080">
              <a:lnSpc>
                <a:spcPct val="187500"/>
              </a:lnSpc>
            </a:pPr>
            <a:r>
              <a:rPr dirty="0" sz="2400">
                <a:latin typeface="Microsoft YaHei"/>
                <a:cs typeface="Microsoft YaHei"/>
              </a:rPr>
              <a:t>二、</a:t>
            </a:r>
            <a:r>
              <a:rPr dirty="0" sz="2400" spc="-20">
                <a:latin typeface="Times New Roman"/>
                <a:cs typeface="Times New Roman"/>
              </a:rPr>
              <a:t>5G</a:t>
            </a:r>
            <a:r>
              <a:rPr dirty="0" sz="2400">
                <a:latin typeface="Microsoft YaHei"/>
                <a:cs typeface="Microsoft YaHei"/>
              </a:rPr>
              <a:t>系统基站</a:t>
            </a:r>
            <a:r>
              <a:rPr dirty="0" sz="2400" spc="-25">
                <a:latin typeface="Times New Roman"/>
                <a:cs typeface="Times New Roman"/>
              </a:rPr>
              <a:t>AAU</a:t>
            </a:r>
            <a:r>
              <a:rPr dirty="0" sz="2400" spc="-10">
                <a:latin typeface="Microsoft YaHei"/>
                <a:cs typeface="Microsoft YaHei"/>
              </a:rPr>
              <a:t>安装工程规范</a:t>
            </a:r>
            <a:r>
              <a:rPr dirty="0" sz="2400">
                <a:latin typeface="Microsoft YaHei"/>
                <a:cs typeface="Microsoft YaHei"/>
              </a:rPr>
              <a:t>三、</a:t>
            </a:r>
            <a:r>
              <a:rPr dirty="0" sz="2400" spc="-20">
                <a:latin typeface="Times New Roman"/>
                <a:cs typeface="Times New Roman"/>
              </a:rPr>
              <a:t>5G</a:t>
            </a:r>
            <a:r>
              <a:rPr dirty="0" sz="2400" spc="-5">
                <a:latin typeface="Microsoft YaHei"/>
                <a:cs typeface="Microsoft YaHei"/>
              </a:rPr>
              <a:t>系统基站安装配套工程规范</a:t>
            </a:r>
            <a:r>
              <a:rPr dirty="0" sz="2400" b="1">
                <a:solidFill>
                  <a:srgbClr val="FF0000"/>
                </a:solidFill>
                <a:latin typeface="Microsoft YaHei"/>
                <a:cs typeface="Microsoft YaHei"/>
              </a:rPr>
              <a:t>四、</a:t>
            </a:r>
            <a:r>
              <a:rPr dirty="0" sz="2400" b="1">
                <a:solidFill>
                  <a:srgbClr val="FF0000"/>
                </a:solidFill>
                <a:latin typeface="Times New Roman"/>
                <a:cs typeface="Times New Roman"/>
              </a:rPr>
              <a:t>5G</a:t>
            </a:r>
            <a:r>
              <a:rPr dirty="0" sz="2400" spc="-5" b="1">
                <a:solidFill>
                  <a:srgbClr val="FF0000"/>
                </a:solidFill>
                <a:latin typeface="Microsoft YaHei"/>
                <a:cs typeface="Microsoft YaHei"/>
              </a:rPr>
              <a:t>系统基站线缆安装工程规范</a:t>
            </a:r>
            <a:r>
              <a:rPr dirty="0" sz="2400">
                <a:latin typeface="Microsoft YaHei"/>
                <a:cs typeface="Microsoft YaHei"/>
              </a:rPr>
              <a:t>五、</a:t>
            </a:r>
            <a:r>
              <a:rPr dirty="0" sz="2400" spc="-20">
                <a:latin typeface="Times New Roman"/>
                <a:cs typeface="Times New Roman"/>
              </a:rPr>
              <a:t>5G</a:t>
            </a:r>
            <a:r>
              <a:rPr dirty="0" sz="2400" spc="-5">
                <a:latin typeface="Microsoft YaHei"/>
                <a:cs typeface="Microsoft YaHei"/>
              </a:rPr>
              <a:t>系统基站安装常见问题分析</a:t>
            </a:r>
            <a:r>
              <a:rPr dirty="0" sz="2400">
                <a:latin typeface="Microsoft YaHei"/>
                <a:cs typeface="Microsoft YaHei"/>
              </a:rPr>
              <a:t>六、</a:t>
            </a:r>
            <a:r>
              <a:rPr dirty="0" sz="2400" spc="-20">
                <a:latin typeface="Times New Roman"/>
                <a:cs typeface="Times New Roman"/>
              </a:rPr>
              <a:t>5G</a:t>
            </a:r>
            <a:r>
              <a:rPr dirty="0" sz="2400" spc="-5">
                <a:latin typeface="Microsoft YaHei"/>
                <a:cs typeface="Microsoft YaHei"/>
              </a:rPr>
              <a:t>系统基站开通调测性能测试</a:t>
            </a:r>
            <a:endParaRPr sz="2400">
              <a:latin typeface="Microsoft YaHei"/>
              <a:cs typeface="Microsoft YaHei"/>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48754" y="152654"/>
            <a:ext cx="3686810" cy="513080"/>
          </a:xfrm>
          <a:prstGeom prst="rect"/>
        </p:spPr>
        <p:txBody>
          <a:bodyPr wrap="square" lIns="0" tIns="12065" rIns="0" bIns="0" rtlCol="0" vert="horz">
            <a:spAutoFit/>
          </a:bodyPr>
          <a:lstStyle/>
          <a:p>
            <a:pPr marL="12700">
              <a:lnSpc>
                <a:spcPct val="100000"/>
              </a:lnSpc>
              <a:spcBef>
                <a:spcPts val="95"/>
              </a:spcBef>
            </a:pPr>
            <a:r>
              <a:rPr dirty="0" spc="-45"/>
              <a:t>基站线缆连接拓扑图</a:t>
            </a:r>
          </a:p>
        </p:txBody>
      </p:sp>
      <p:pic>
        <p:nvPicPr>
          <p:cNvPr id="3" name="object 3"/>
          <p:cNvPicPr/>
          <p:nvPr/>
        </p:nvPicPr>
        <p:blipFill>
          <a:blip r:embed="rId2" cstate="print"/>
          <a:stretch>
            <a:fillRect/>
          </a:stretch>
        </p:blipFill>
        <p:spPr>
          <a:xfrm>
            <a:off x="1143000" y="819150"/>
            <a:ext cx="7119206" cy="4148327"/>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12778" y="152654"/>
            <a:ext cx="5404485" cy="513080"/>
          </a:xfrm>
          <a:prstGeom prst="rect"/>
        </p:spPr>
        <p:txBody>
          <a:bodyPr wrap="square" lIns="0" tIns="12065" rIns="0" bIns="0" rtlCol="0" vert="horz">
            <a:spAutoFit/>
          </a:bodyPr>
          <a:lstStyle/>
          <a:p>
            <a:pPr marL="12700">
              <a:lnSpc>
                <a:spcPct val="100000"/>
              </a:lnSpc>
              <a:spcBef>
                <a:spcPts val="95"/>
              </a:spcBef>
            </a:pPr>
            <a:r>
              <a:rPr dirty="0" spc="-55">
                <a:latin typeface="Times New Roman"/>
                <a:cs typeface="Times New Roman"/>
              </a:rPr>
              <a:t>EMB6116</a:t>
            </a:r>
            <a:r>
              <a:rPr dirty="0" spc="-45"/>
              <a:t>宏基站设备安装拓扑</a:t>
            </a:r>
          </a:p>
        </p:txBody>
      </p:sp>
      <p:graphicFrame>
        <p:nvGraphicFramePr>
          <p:cNvPr id="3" name="object 3" descr=""/>
          <p:cNvGraphicFramePr>
            <a:graphicFrameLocks noGrp="1"/>
          </p:cNvGraphicFramePr>
          <p:nvPr/>
        </p:nvGraphicFramePr>
        <p:xfrm>
          <a:off x="4852988" y="1268810"/>
          <a:ext cx="4194175" cy="3288029"/>
        </p:xfrm>
        <a:graphic>
          <a:graphicData uri="http://schemas.openxmlformats.org/drawingml/2006/table">
            <a:tbl>
              <a:tblPr firstRow="1" bandRow="1">
                <a:tableStyleId>{2D5ABB26-0587-4C30-8999-92F81FD0307C}</a:tableStyleId>
              </a:tblPr>
              <a:tblGrid>
                <a:gridCol w="513715"/>
                <a:gridCol w="967105"/>
                <a:gridCol w="2625090"/>
              </a:tblGrid>
              <a:tr h="281305">
                <a:tc gridSpan="3">
                  <a:txBody>
                    <a:bodyPr/>
                    <a:lstStyle/>
                    <a:p>
                      <a:pPr algn="ctr">
                        <a:lnSpc>
                          <a:spcPct val="100000"/>
                        </a:lnSpc>
                        <a:spcBef>
                          <a:spcPts val="245"/>
                        </a:spcBef>
                      </a:pPr>
                      <a:r>
                        <a:rPr dirty="0" sz="1500" spc="-10" b="1">
                          <a:latin typeface="Microsoft YaHei"/>
                          <a:cs typeface="Microsoft YaHei"/>
                        </a:rPr>
                        <a:t>工程配套线缆</a:t>
                      </a:r>
                      <a:endParaRPr sz="1500">
                        <a:latin typeface="Microsoft YaHei"/>
                        <a:cs typeface="Microsoft YaHei"/>
                      </a:endParaRPr>
                    </a:p>
                  </a:txBody>
                  <a:tcPr marL="0" marR="0" marB="0" marT="31115">
                    <a:lnL w="12700">
                      <a:solidFill>
                        <a:srgbClr val="DAEDEF"/>
                      </a:solidFill>
                      <a:prstDash val="solid"/>
                    </a:lnL>
                    <a:lnR w="12700">
                      <a:solidFill>
                        <a:srgbClr val="DAEDEF"/>
                      </a:solidFill>
                      <a:prstDash val="solid"/>
                    </a:lnR>
                    <a:lnT w="12700">
                      <a:solidFill>
                        <a:srgbClr val="DAEDEF"/>
                      </a:solidFill>
                      <a:prstDash val="solid"/>
                    </a:lnT>
                    <a:lnB w="12700">
                      <a:solidFill>
                        <a:srgbClr val="DAEDEF"/>
                      </a:solidFill>
                      <a:prstDash val="solid"/>
                    </a:lnB>
                    <a:solidFill>
                      <a:srgbClr val="F8FCFC"/>
                    </a:solidFill>
                  </a:tcPr>
                </a:tc>
                <a:tc hMerge="1">
                  <a:txBody>
                    <a:bodyPr/>
                    <a:lstStyle/>
                    <a:p>
                      <a:pPr/>
                    </a:p>
                  </a:txBody>
                  <a:tcPr marL="0" marR="0" marB="0" marT="0"/>
                </a:tc>
                <a:tc hMerge="1">
                  <a:txBody>
                    <a:bodyPr/>
                    <a:lstStyle/>
                    <a:p>
                      <a:pPr/>
                    </a:p>
                  </a:txBody>
                  <a:tcPr marL="0" marR="0" marB="0" marT="0"/>
                </a:tc>
              </a:tr>
              <a:tr h="371475">
                <a:tc>
                  <a:txBody>
                    <a:bodyPr/>
                    <a:lstStyle/>
                    <a:p>
                      <a:pPr algn="ctr">
                        <a:lnSpc>
                          <a:spcPct val="100000"/>
                        </a:lnSpc>
                        <a:spcBef>
                          <a:spcPts val="840"/>
                        </a:spcBef>
                      </a:pPr>
                      <a:r>
                        <a:rPr dirty="0" sz="1100" spc="-35">
                          <a:latin typeface="Microsoft YaHei"/>
                          <a:cs typeface="Microsoft YaHei"/>
                        </a:rPr>
                        <a:t>序号</a:t>
                      </a:r>
                      <a:endParaRPr sz="1100">
                        <a:latin typeface="Microsoft YaHei"/>
                        <a:cs typeface="Microsoft YaHei"/>
                      </a:endParaRPr>
                    </a:p>
                  </a:txBody>
                  <a:tcPr marL="0" marR="0" marB="0" marT="106680">
                    <a:lnL w="12700">
                      <a:solidFill>
                        <a:srgbClr val="DAEDEF"/>
                      </a:solidFill>
                      <a:prstDash val="solid"/>
                    </a:lnL>
                    <a:lnR w="12700">
                      <a:solidFill>
                        <a:srgbClr val="DAEDEF"/>
                      </a:solidFill>
                      <a:prstDash val="solid"/>
                    </a:lnR>
                    <a:lnT w="12700">
                      <a:solidFill>
                        <a:srgbClr val="DAEDEF"/>
                      </a:solidFill>
                      <a:prstDash val="solid"/>
                    </a:lnT>
                    <a:lnB w="12700">
                      <a:solidFill>
                        <a:srgbClr val="DAEDEF"/>
                      </a:solidFill>
                      <a:prstDash val="solid"/>
                    </a:lnB>
                    <a:solidFill>
                      <a:srgbClr val="F8FCFC"/>
                    </a:solidFill>
                  </a:tcPr>
                </a:tc>
                <a:tc>
                  <a:txBody>
                    <a:bodyPr/>
                    <a:lstStyle/>
                    <a:p>
                      <a:pPr marL="12700">
                        <a:lnSpc>
                          <a:spcPct val="100000"/>
                        </a:lnSpc>
                        <a:spcBef>
                          <a:spcPts val="840"/>
                        </a:spcBef>
                      </a:pPr>
                      <a:r>
                        <a:rPr dirty="0" sz="1100" spc="-35">
                          <a:latin typeface="Microsoft YaHei"/>
                          <a:cs typeface="Microsoft YaHei"/>
                        </a:rPr>
                        <a:t>名称</a:t>
                      </a:r>
                      <a:endParaRPr sz="1100">
                        <a:latin typeface="Microsoft YaHei"/>
                        <a:cs typeface="Microsoft YaHei"/>
                      </a:endParaRPr>
                    </a:p>
                  </a:txBody>
                  <a:tcPr marL="0" marR="0" marB="0" marT="106680">
                    <a:lnL w="12700">
                      <a:solidFill>
                        <a:srgbClr val="DAEDEF"/>
                      </a:solidFill>
                      <a:prstDash val="solid"/>
                    </a:lnL>
                    <a:lnR w="12700">
                      <a:solidFill>
                        <a:srgbClr val="DAEDEF"/>
                      </a:solidFill>
                      <a:prstDash val="solid"/>
                    </a:lnR>
                    <a:lnT w="12700">
                      <a:solidFill>
                        <a:srgbClr val="DAEDEF"/>
                      </a:solidFill>
                      <a:prstDash val="solid"/>
                    </a:lnT>
                    <a:lnB w="12700">
                      <a:solidFill>
                        <a:srgbClr val="DAEDEF"/>
                      </a:solidFill>
                      <a:prstDash val="solid"/>
                    </a:lnB>
                    <a:solidFill>
                      <a:srgbClr val="F8FCFC"/>
                    </a:solidFill>
                  </a:tcPr>
                </a:tc>
                <a:tc>
                  <a:txBody>
                    <a:bodyPr/>
                    <a:lstStyle/>
                    <a:p>
                      <a:pPr marL="12700">
                        <a:lnSpc>
                          <a:spcPct val="100000"/>
                        </a:lnSpc>
                        <a:spcBef>
                          <a:spcPts val="840"/>
                        </a:spcBef>
                      </a:pPr>
                      <a:r>
                        <a:rPr dirty="0" sz="1100" spc="-25">
                          <a:latin typeface="Microsoft YaHei"/>
                          <a:cs typeface="Microsoft YaHei"/>
                        </a:rPr>
                        <a:t>5G</a:t>
                      </a:r>
                      <a:endParaRPr sz="1100">
                        <a:latin typeface="Microsoft YaHei"/>
                        <a:cs typeface="Microsoft YaHei"/>
                      </a:endParaRPr>
                    </a:p>
                  </a:txBody>
                  <a:tcPr marL="0" marR="0" marB="0" marT="106680">
                    <a:lnL w="12700">
                      <a:solidFill>
                        <a:srgbClr val="DAEDEF"/>
                      </a:solidFill>
                      <a:prstDash val="solid"/>
                    </a:lnL>
                    <a:lnR w="12700">
                      <a:solidFill>
                        <a:srgbClr val="DAEDEF"/>
                      </a:solidFill>
                      <a:prstDash val="solid"/>
                    </a:lnR>
                    <a:lnT w="12700">
                      <a:solidFill>
                        <a:srgbClr val="DAEDEF"/>
                      </a:solidFill>
                      <a:prstDash val="solid"/>
                    </a:lnT>
                    <a:lnB w="12700">
                      <a:solidFill>
                        <a:srgbClr val="DAEDEF"/>
                      </a:solidFill>
                      <a:prstDash val="solid"/>
                    </a:lnB>
                    <a:solidFill>
                      <a:srgbClr val="F8FCFC"/>
                    </a:solidFill>
                  </a:tcPr>
                </a:tc>
              </a:tr>
              <a:tr h="553085">
                <a:tc>
                  <a:txBody>
                    <a:bodyPr/>
                    <a:lstStyle/>
                    <a:p>
                      <a:pPr>
                        <a:lnSpc>
                          <a:spcPct val="100000"/>
                        </a:lnSpc>
                        <a:spcBef>
                          <a:spcPts val="285"/>
                        </a:spcBef>
                      </a:pPr>
                      <a:endParaRPr sz="1100">
                        <a:latin typeface="Times New Roman"/>
                        <a:cs typeface="Times New Roman"/>
                      </a:endParaRPr>
                    </a:p>
                    <a:p>
                      <a:pPr algn="ctr">
                        <a:lnSpc>
                          <a:spcPct val="100000"/>
                        </a:lnSpc>
                      </a:pPr>
                      <a:r>
                        <a:rPr dirty="0" sz="1100" spc="-50">
                          <a:latin typeface="Microsoft YaHei"/>
                          <a:cs typeface="Microsoft YaHei"/>
                        </a:rPr>
                        <a:t>1</a:t>
                      </a:r>
                      <a:endParaRPr sz="1100">
                        <a:latin typeface="Microsoft YaHei"/>
                        <a:cs typeface="Microsoft YaHei"/>
                      </a:endParaRPr>
                    </a:p>
                  </a:txBody>
                  <a:tcPr marL="0" marR="0" marB="0" marT="36195">
                    <a:lnL w="12700">
                      <a:solidFill>
                        <a:srgbClr val="DAEDEF"/>
                      </a:solidFill>
                      <a:prstDash val="solid"/>
                    </a:lnL>
                    <a:lnR w="12700">
                      <a:solidFill>
                        <a:srgbClr val="DAEDEF"/>
                      </a:solidFill>
                      <a:prstDash val="solid"/>
                    </a:lnR>
                    <a:lnT w="12700">
                      <a:solidFill>
                        <a:srgbClr val="DAEDEF"/>
                      </a:solidFill>
                      <a:prstDash val="solid"/>
                    </a:lnT>
                    <a:lnB w="12700">
                      <a:solidFill>
                        <a:srgbClr val="DAEDEF"/>
                      </a:solidFill>
                      <a:prstDash val="solid"/>
                    </a:lnB>
                    <a:solidFill>
                      <a:srgbClr val="F8FCFC"/>
                    </a:solidFill>
                  </a:tcPr>
                </a:tc>
                <a:tc>
                  <a:txBody>
                    <a:bodyPr/>
                    <a:lstStyle/>
                    <a:p>
                      <a:pPr marL="12700" marR="108585">
                        <a:lnSpc>
                          <a:spcPct val="100000"/>
                        </a:lnSpc>
                        <a:spcBef>
                          <a:spcPts val="890"/>
                        </a:spcBef>
                      </a:pPr>
                      <a:r>
                        <a:rPr dirty="0" sz="1100" spc="-10">
                          <a:latin typeface="Microsoft YaHei"/>
                          <a:cs typeface="Microsoft YaHei"/>
                        </a:rPr>
                        <a:t>BBU</a:t>
                      </a:r>
                      <a:r>
                        <a:rPr dirty="0" sz="1100" spc="-30">
                          <a:latin typeface="Microsoft YaHei"/>
                          <a:cs typeface="Microsoft YaHei"/>
                        </a:rPr>
                        <a:t>直流电源</a:t>
                      </a:r>
                      <a:r>
                        <a:rPr dirty="0" sz="1100" spc="-50">
                          <a:latin typeface="Microsoft YaHei"/>
                          <a:cs typeface="Microsoft YaHei"/>
                        </a:rPr>
                        <a:t>线</a:t>
                      </a:r>
                      <a:endParaRPr sz="1100">
                        <a:latin typeface="Microsoft YaHei"/>
                        <a:cs typeface="Microsoft YaHei"/>
                      </a:endParaRPr>
                    </a:p>
                  </a:txBody>
                  <a:tcPr marL="0" marR="0" marB="0" marT="113030">
                    <a:lnL w="12700">
                      <a:solidFill>
                        <a:srgbClr val="DAEDEF"/>
                      </a:solidFill>
                      <a:prstDash val="solid"/>
                    </a:lnL>
                    <a:lnR w="12700">
                      <a:solidFill>
                        <a:srgbClr val="DAEDEF"/>
                      </a:solidFill>
                      <a:prstDash val="solid"/>
                    </a:lnR>
                    <a:lnT w="12700">
                      <a:solidFill>
                        <a:srgbClr val="DAEDEF"/>
                      </a:solidFill>
                      <a:prstDash val="solid"/>
                    </a:lnT>
                    <a:lnB w="12700">
                      <a:solidFill>
                        <a:srgbClr val="DAEDEF"/>
                      </a:solidFill>
                      <a:prstDash val="solid"/>
                    </a:lnB>
                    <a:solidFill>
                      <a:srgbClr val="F8FCFC"/>
                    </a:solidFill>
                  </a:tcPr>
                </a:tc>
                <a:tc>
                  <a:txBody>
                    <a:bodyPr/>
                    <a:lstStyle/>
                    <a:p>
                      <a:pPr>
                        <a:lnSpc>
                          <a:spcPct val="100000"/>
                        </a:lnSpc>
                        <a:spcBef>
                          <a:spcPts val="285"/>
                        </a:spcBef>
                      </a:pPr>
                      <a:endParaRPr sz="1100">
                        <a:latin typeface="Times New Roman"/>
                        <a:cs typeface="Times New Roman"/>
                      </a:endParaRPr>
                    </a:p>
                    <a:p>
                      <a:pPr marL="12700">
                        <a:lnSpc>
                          <a:spcPct val="100000"/>
                        </a:lnSpc>
                      </a:pPr>
                      <a:r>
                        <a:rPr dirty="0" sz="1100">
                          <a:latin typeface="Microsoft YaHei"/>
                          <a:cs typeface="Microsoft YaHei"/>
                        </a:rPr>
                        <a:t>10AWG</a:t>
                      </a:r>
                      <a:r>
                        <a:rPr dirty="0" sz="1100" spc="-25">
                          <a:latin typeface="Microsoft YaHei"/>
                          <a:cs typeface="Microsoft YaHei"/>
                        </a:rPr>
                        <a:t> 直流电源线</a:t>
                      </a:r>
                      <a:endParaRPr sz="1100">
                        <a:latin typeface="Microsoft YaHei"/>
                        <a:cs typeface="Microsoft YaHei"/>
                      </a:endParaRPr>
                    </a:p>
                  </a:txBody>
                  <a:tcPr marL="0" marR="0" marB="0" marT="36195">
                    <a:lnL w="12700">
                      <a:solidFill>
                        <a:srgbClr val="DAEDEF"/>
                      </a:solidFill>
                      <a:prstDash val="solid"/>
                    </a:lnL>
                    <a:lnR w="12700">
                      <a:solidFill>
                        <a:srgbClr val="DAEDEF"/>
                      </a:solidFill>
                      <a:prstDash val="solid"/>
                    </a:lnR>
                    <a:lnT w="12700">
                      <a:solidFill>
                        <a:srgbClr val="DAEDEF"/>
                      </a:solidFill>
                      <a:prstDash val="solid"/>
                    </a:lnT>
                    <a:lnB w="12700">
                      <a:solidFill>
                        <a:srgbClr val="DAEDEF"/>
                      </a:solidFill>
                      <a:prstDash val="solid"/>
                    </a:lnB>
                    <a:solidFill>
                      <a:srgbClr val="F8FCFC"/>
                    </a:solidFill>
                  </a:tcPr>
                </a:tc>
              </a:tr>
              <a:tr h="553085">
                <a:tc>
                  <a:txBody>
                    <a:bodyPr/>
                    <a:lstStyle/>
                    <a:p>
                      <a:pPr>
                        <a:lnSpc>
                          <a:spcPct val="100000"/>
                        </a:lnSpc>
                        <a:spcBef>
                          <a:spcPts val="285"/>
                        </a:spcBef>
                      </a:pPr>
                      <a:endParaRPr sz="1100">
                        <a:latin typeface="Times New Roman"/>
                        <a:cs typeface="Times New Roman"/>
                      </a:endParaRPr>
                    </a:p>
                    <a:p>
                      <a:pPr algn="ctr">
                        <a:lnSpc>
                          <a:spcPct val="100000"/>
                        </a:lnSpc>
                      </a:pPr>
                      <a:r>
                        <a:rPr dirty="0" sz="1100" spc="-50">
                          <a:latin typeface="Microsoft YaHei"/>
                          <a:cs typeface="Microsoft YaHei"/>
                        </a:rPr>
                        <a:t>2</a:t>
                      </a:r>
                      <a:endParaRPr sz="1100">
                        <a:latin typeface="Microsoft YaHei"/>
                        <a:cs typeface="Microsoft YaHei"/>
                      </a:endParaRPr>
                    </a:p>
                  </a:txBody>
                  <a:tcPr marL="0" marR="0" marB="0" marT="36195">
                    <a:lnL w="12700">
                      <a:solidFill>
                        <a:srgbClr val="DAEDEF"/>
                      </a:solidFill>
                      <a:prstDash val="solid"/>
                    </a:lnL>
                    <a:lnR w="12700">
                      <a:solidFill>
                        <a:srgbClr val="DAEDEF"/>
                      </a:solidFill>
                      <a:prstDash val="solid"/>
                    </a:lnR>
                    <a:lnT w="12700">
                      <a:solidFill>
                        <a:srgbClr val="DAEDEF"/>
                      </a:solidFill>
                      <a:prstDash val="solid"/>
                    </a:lnT>
                    <a:lnB w="12700">
                      <a:solidFill>
                        <a:srgbClr val="DAEDEF"/>
                      </a:solidFill>
                      <a:prstDash val="solid"/>
                    </a:lnB>
                    <a:solidFill>
                      <a:srgbClr val="F8FCFC"/>
                    </a:solidFill>
                  </a:tcPr>
                </a:tc>
                <a:tc>
                  <a:txBody>
                    <a:bodyPr/>
                    <a:lstStyle/>
                    <a:p>
                      <a:pPr marL="12700" marR="109855">
                        <a:lnSpc>
                          <a:spcPct val="100000"/>
                        </a:lnSpc>
                        <a:spcBef>
                          <a:spcPts val="890"/>
                        </a:spcBef>
                      </a:pPr>
                      <a:r>
                        <a:rPr dirty="0" sz="1100" spc="-25">
                          <a:latin typeface="Microsoft YaHei"/>
                          <a:cs typeface="Microsoft YaHei"/>
                        </a:rPr>
                        <a:t>直流防雷箱电</a:t>
                      </a:r>
                      <a:r>
                        <a:rPr dirty="0" sz="1100" spc="-35">
                          <a:latin typeface="Microsoft YaHei"/>
                          <a:cs typeface="Microsoft YaHei"/>
                        </a:rPr>
                        <a:t>源线</a:t>
                      </a:r>
                      <a:endParaRPr sz="1100">
                        <a:latin typeface="Microsoft YaHei"/>
                        <a:cs typeface="Microsoft YaHei"/>
                      </a:endParaRPr>
                    </a:p>
                  </a:txBody>
                  <a:tcPr marL="0" marR="0" marB="0" marT="113030">
                    <a:lnL w="12700">
                      <a:solidFill>
                        <a:srgbClr val="DAEDEF"/>
                      </a:solidFill>
                      <a:prstDash val="solid"/>
                    </a:lnL>
                    <a:lnR w="12700">
                      <a:solidFill>
                        <a:srgbClr val="DAEDEF"/>
                      </a:solidFill>
                      <a:prstDash val="solid"/>
                    </a:lnR>
                    <a:lnT w="12700">
                      <a:solidFill>
                        <a:srgbClr val="DAEDEF"/>
                      </a:solidFill>
                      <a:prstDash val="solid"/>
                    </a:lnT>
                    <a:lnB w="12700">
                      <a:solidFill>
                        <a:srgbClr val="DAEDEF"/>
                      </a:solidFill>
                      <a:prstDash val="solid"/>
                    </a:lnB>
                    <a:solidFill>
                      <a:srgbClr val="F8FCFC"/>
                    </a:solidFill>
                  </a:tcPr>
                </a:tc>
                <a:tc>
                  <a:txBody>
                    <a:bodyPr/>
                    <a:lstStyle/>
                    <a:p>
                      <a:pPr>
                        <a:lnSpc>
                          <a:spcPct val="100000"/>
                        </a:lnSpc>
                        <a:spcBef>
                          <a:spcPts val="285"/>
                        </a:spcBef>
                      </a:pPr>
                      <a:endParaRPr sz="1100">
                        <a:latin typeface="Times New Roman"/>
                        <a:cs typeface="Times New Roman"/>
                      </a:endParaRPr>
                    </a:p>
                    <a:p>
                      <a:pPr marL="12700">
                        <a:lnSpc>
                          <a:spcPct val="100000"/>
                        </a:lnSpc>
                      </a:pPr>
                      <a:r>
                        <a:rPr dirty="0" sz="1100" spc="-20">
                          <a:latin typeface="Microsoft YaHei"/>
                          <a:cs typeface="Microsoft YaHei"/>
                        </a:rPr>
                        <a:t>单路或双路</a:t>
                      </a:r>
                      <a:r>
                        <a:rPr dirty="0" sz="1100" spc="-10">
                          <a:latin typeface="Microsoft YaHei"/>
                          <a:cs typeface="Microsoft YaHei"/>
                        </a:rPr>
                        <a:t>25mm²</a:t>
                      </a:r>
                      <a:r>
                        <a:rPr dirty="0" sz="1100" spc="-20">
                          <a:latin typeface="Microsoft YaHei"/>
                          <a:cs typeface="Microsoft YaHei"/>
                        </a:rPr>
                        <a:t>直流电源线（</a:t>
                      </a:r>
                      <a:r>
                        <a:rPr dirty="0" sz="1100" spc="-15">
                          <a:latin typeface="Microsoft YaHei"/>
                          <a:cs typeface="Microsoft YaHei"/>
                        </a:rPr>
                        <a:t>红/蓝</a:t>
                      </a:r>
                      <a:r>
                        <a:rPr dirty="0" sz="1100" spc="-50">
                          <a:latin typeface="Microsoft YaHei"/>
                          <a:cs typeface="Microsoft YaHei"/>
                        </a:rPr>
                        <a:t>）</a:t>
                      </a:r>
                      <a:endParaRPr sz="1100">
                        <a:latin typeface="Microsoft YaHei"/>
                        <a:cs typeface="Microsoft YaHei"/>
                      </a:endParaRPr>
                    </a:p>
                  </a:txBody>
                  <a:tcPr marL="0" marR="0" marB="0" marT="36195">
                    <a:lnL w="12700">
                      <a:solidFill>
                        <a:srgbClr val="DAEDEF"/>
                      </a:solidFill>
                      <a:prstDash val="solid"/>
                    </a:lnL>
                    <a:lnR w="12700">
                      <a:solidFill>
                        <a:srgbClr val="DAEDEF"/>
                      </a:solidFill>
                      <a:prstDash val="solid"/>
                    </a:lnR>
                    <a:lnT w="12700">
                      <a:solidFill>
                        <a:srgbClr val="DAEDEF"/>
                      </a:solidFill>
                      <a:prstDash val="solid"/>
                    </a:lnT>
                    <a:lnB w="12700">
                      <a:solidFill>
                        <a:srgbClr val="DAEDEF"/>
                      </a:solidFill>
                      <a:prstDash val="solid"/>
                    </a:lnB>
                    <a:solidFill>
                      <a:srgbClr val="F8FCFC"/>
                    </a:solidFill>
                  </a:tcPr>
                </a:tc>
              </a:tr>
              <a:tr h="795020">
                <a:tc>
                  <a:txBody>
                    <a:bodyPr/>
                    <a:lstStyle/>
                    <a:p>
                      <a:pPr>
                        <a:lnSpc>
                          <a:spcPct val="100000"/>
                        </a:lnSpc>
                        <a:spcBef>
                          <a:spcPts val="1240"/>
                        </a:spcBef>
                      </a:pPr>
                      <a:endParaRPr sz="1100">
                        <a:latin typeface="Times New Roman"/>
                        <a:cs typeface="Times New Roman"/>
                      </a:endParaRPr>
                    </a:p>
                    <a:p>
                      <a:pPr algn="ctr">
                        <a:lnSpc>
                          <a:spcPct val="100000"/>
                        </a:lnSpc>
                      </a:pPr>
                      <a:r>
                        <a:rPr dirty="0" sz="1100" spc="-50">
                          <a:latin typeface="Microsoft YaHei"/>
                          <a:cs typeface="Microsoft YaHei"/>
                        </a:rPr>
                        <a:t>3</a:t>
                      </a:r>
                      <a:endParaRPr sz="1100">
                        <a:latin typeface="Microsoft YaHei"/>
                        <a:cs typeface="Microsoft YaHei"/>
                      </a:endParaRPr>
                    </a:p>
                  </a:txBody>
                  <a:tcPr marL="0" marR="0" marB="0" marT="157480">
                    <a:lnL w="12700">
                      <a:solidFill>
                        <a:srgbClr val="DAEDEF"/>
                      </a:solidFill>
                      <a:prstDash val="solid"/>
                    </a:lnL>
                    <a:lnR w="12700">
                      <a:solidFill>
                        <a:srgbClr val="DAEDEF"/>
                      </a:solidFill>
                      <a:prstDash val="solid"/>
                    </a:lnR>
                    <a:lnT w="12700">
                      <a:solidFill>
                        <a:srgbClr val="DAEDEF"/>
                      </a:solidFill>
                      <a:prstDash val="solid"/>
                    </a:lnT>
                    <a:lnB w="12700">
                      <a:solidFill>
                        <a:srgbClr val="DAEDEF"/>
                      </a:solidFill>
                      <a:prstDash val="solid"/>
                    </a:lnB>
                    <a:solidFill>
                      <a:srgbClr val="F8FCFC"/>
                    </a:solidFill>
                  </a:tcPr>
                </a:tc>
                <a:tc>
                  <a:txBody>
                    <a:bodyPr/>
                    <a:lstStyle/>
                    <a:p>
                      <a:pPr>
                        <a:lnSpc>
                          <a:spcPct val="100000"/>
                        </a:lnSpc>
                        <a:spcBef>
                          <a:spcPts val="1240"/>
                        </a:spcBef>
                      </a:pPr>
                      <a:endParaRPr sz="1100">
                        <a:latin typeface="Times New Roman"/>
                        <a:cs typeface="Times New Roman"/>
                      </a:endParaRPr>
                    </a:p>
                    <a:p>
                      <a:pPr marL="12700">
                        <a:lnSpc>
                          <a:spcPct val="100000"/>
                        </a:lnSpc>
                      </a:pPr>
                      <a:r>
                        <a:rPr dirty="0" sz="1100" spc="-10">
                          <a:latin typeface="Microsoft YaHei"/>
                          <a:cs typeface="Microsoft YaHei"/>
                        </a:rPr>
                        <a:t>AAU</a:t>
                      </a:r>
                      <a:r>
                        <a:rPr dirty="0" sz="1100" spc="-35">
                          <a:latin typeface="Microsoft YaHei"/>
                          <a:cs typeface="Microsoft YaHei"/>
                        </a:rPr>
                        <a:t>电源线</a:t>
                      </a:r>
                      <a:endParaRPr sz="1100">
                        <a:latin typeface="Microsoft YaHei"/>
                        <a:cs typeface="Microsoft YaHei"/>
                      </a:endParaRPr>
                    </a:p>
                  </a:txBody>
                  <a:tcPr marL="0" marR="0" marB="0" marT="157480">
                    <a:lnL w="12700">
                      <a:solidFill>
                        <a:srgbClr val="DAEDEF"/>
                      </a:solidFill>
                      <a:prstDash val="solid"/>
                    </a:lnL>
                    <a:lnR w="12700">
                      <a:solidFill>
                        <a:srgbClr val="DAEDEF"/>
                      </a:solidFill>
                      <a:prstDash val="solid"/>
                    </a:lnR>
                    <a:lnT w="12700">
                      <a:solidFill>
                        <a:srgbClr val="DAEDEF"/>
                      </a:solidFill>
                      <a:prstDash val="solid"/>
                    </a:lnT>
                    <a:lnB w="12700">
                      <a:solidFill>
                        <a:srgbClr val="DAEDEF"/>
                      </a:solidFill>
                      <a:prstDash val="solid"/>
                    </a:lnB>
                    <a:solidFill>
                      <a:srgbClr val="F8FCFC"/>
                    </a:solidFill>
                  </a:tcPr>
                </a:tc>
                <a:tc>
                  <a:txBody>
                    <a:bodyPr/>
                    <a:lstStyle/>
                    <a:p>
                      <a:pPr>
                        <a:lnSpc>
                          <a:spcPct val="100000"/>
                        </a:lnSpc>
                        <a:spcBef>
                          <a:spcPts val="580"/>
                        </a:spcBef>
                      </a:pPr>
                      <a:endParaRPr sz="1100">
                        <a:latin typeface="Times New Roman"/>
                        <a:cs typeface="Times New Roman"/>
                      </a:endParaRPr>
                    </a:p>
                    <a:p>
                      <a:pPr marL="12700">
                        <a:lnSpc>
                          <a:spcPct val="100000"/>
                        </a:lnSpc>
                      </a:pPr>
                      <a:r>
                        <a:rPr dirty="0" sz="1100" spc="-10">
                          <a:latin typeface="Microsoft YaHei"/>
                          <a:cs typeface="Microsoft YaHei"/>
                        </a:rPr>
                        <a:t>2*10mm²</a:t>
                      </a:r>
                      <a:r>
                        <a:rPr dirty="0" sz="1100" spc="-20">
                          <a:latin typeface="Microsoft YaHei"/>
                          <a:cs typeface="Microsoft YaHei"/>
                        </a:rPr>
                        <a:t>直流屏蔽电源线</a:t>
                      </a:r>
                      <a:r>
                        <a:rPr dirty="0" sz="1100" spc="-10">
                          <a:latin typeface="Microsoft YaHei"/>
                          <a:cs typeface="Microsoft YaHei"/>
                        </a:rPr>
                        <a:t>（0-</a:t>
                      </a:r>
                      <a:r>
                        <a:rPr dirty="0" sz="1100" spc="-20">
                          <a:latin typeface="Microsoft YaHei"/>
                          <a:cs typeface="Microsoft YaHei"/>
                        </a:rPr>
                        <a:t>50m）</a:t>
                      </a:r>
                      <a:endParaRPr sz="1100">
                        <a:latin typeface="Microsoft YaHei"/>
                        <a:cs typeface="Microsoft YaHei"/>
                      </a:endParaRPr>
                    </a:p>
                    <a:p>
                      <a:pPr marL="12700">
                        <a:lnSpc>
                          <a:spcPct val="100000"/>
                        </a:lnSpc>
                      </a:pPr>
                      <a:r>
                        <a:rPr dirty="0" sz="1100" spc="-10">
                          <a:latin typeface="Microsoft YaHei"/>
                          <a:cs typeface="Microsoft YaHei"/>
                        </a:rPr>
                        <a:t>2*16mm²</a:t>
                      </a:r>
                      <a:r>
                        <a:rPr dirty="0" sz="1100" spc="-20">
                          <a:latin typeface="Microsoft YaHei"/>
                          <a:cs typeface="Microsoft YaHei"/>
                        </a:rPr>
                        <a:t>直流屏蔽电源线</a:t>
                      </a:r>
                      <a:r>
                        <a:rPr dirty="0" sz="1100" spc="-10">
                          <a:latin typeface="Microsoft YaHei"/>
                          <a:cs typeface="Microsoft YaHei"/>
                        </a:rPr>
                        <a:t>（50-</a:t>
                      </a:r>
                      <a:r>
                        <a:rPr dirty="0" sz="1100" spc="-20">
                          <a:latin typeface="Microsoft YaHei"/>
                          <a:cs typeface="Microsoft YaHei"/>
                        </a:rPr>
                        <a:t>75m）</a:t>
                      </a:r>
                      <a:endParaRPr sz="1100">
                        <a:latin typeface="Microsoft YaHei"/>
                        <a:cs typeface="Microsoft YaHei"/>
                      </a:endParaRPr>
                    </a:p>
                  </a:txBody>
                  <a:tcPr marL="0" marR="0" marB="0" marT="73660">
                    <a:lnL w="12700">
                      <a:solidFill>
                        <a:srgbClr val="DAEDEF"/>
                      </a:solidFill>
                      <a:prstDash val="solid"/>
                    </a:lnL>
                    <a:lnR w="12700">
                      <a:solidFill>
                        <a:srgbClr val="DAEDEF"/>
                      </a:solidFill>
                      <a:prstDash val="solid"/>
                    </a:lnR>
                    <a:lnT w="12700">
                      <a:solidFill>
                        <a:srgbClr val="DAEDEF"/>
                      </a:solidFill>
                      <a:prstDash val="solid"/>
                    </a:lnT>
                    <a:lnB w="12700">
                      <a:solidFill>
                        <a:srgbClr val="DAEDEF"/>
                      </a:solidFill>
                      <a:prstDash val="solid"/>
                    </a:lnB>
                    <a:solidFill>
                      <a:srgbClr val="F8FCFC"/>
                    </a:solidFill>
                  </a:tcPr>
                </a:tc>
              </a:tr>
              <a:tr h="734060">
                <a:tc>
                  <a:txBody>
                    <a:bodyPr/>
                    <a:lstStyle/>
                    <a:p>
                      <a:pPr>
                        <a:lnSpc>
                          <a:spcPct val="100000"/>
                        </a:lnSpc>
                        <a:spcBef>
                          <a:spcPts val="1000"/>
                        </a:spcBef>
                      </a:pPr>
                      <a:endParaRPr sz="1100">
                        <a:latin typeface="Times New Roman"/>
                        <a:cs typeface="Times New Roman"/>
                      </a:endParaRPr>
                    </a:p>
                    <a:p>
                      <a:pPr algn="ctr">
                        <a:lnSpc>
                          <a:spcPct val="100000"/>
                        </a:lnSpc>
                      </a:pPr>
                      <a:r>
                        <a:rPr dirty="0" sz="1100" spc="-50">
                          <a:latin typeface="Microsoft YaHei"/>
                          <a:cs typeface="Microsoft YaHei"/>
                        </a:rPr>
                        <a:t>4</a:t>
                      </a:r>
                      <a:endParaRPr sz="1100">
                        <a:latin typeface="Microsoft YaHei"/>
                        <a:cs typeface="Microsoft YaHei"/>
                      </a:endParaRPr>
                    </a:p>
                  </a:txBody>
                  <a:tcPr marL="0" marR="0" marB="0" marT="127000">
                    <a:lnL w="12700">
                      <a:solidFill>
                        <a:srgbClr val="DAEDEF"/>
                      </a:solidFill>
                      <a:prstDash val="solid"/>
                    </a:lnL>
                    <a:lnR w="12700">
                      <a:solidFill>
                        <a:srgbClr val="DAEDEF"/>
                      </a:solidFill>
                      <a:prstDash val="solid"/>
                    </a:lnR>
                    <a:lnT w="12700">
                      <a:solidFill>
                        <a:srgbClr val="DAEDEF"/>
                      </a:solidFill>
                      <a:prstDash val="solid"/>
                    </a:lnT>
                    <a:lnB w="12700">
                      <a:solidFill>
                        <a:srgbClr val="DAEDEF"/>
                      </a:solidFill>
                      <a:prstDash val="solid"/>
                    </a:lnB>
                    <a:solidFill>
                      <a:srgbClr val="F8FCFC"/>
                    </a:solidFill>
                  </a:tcPr>
                </a:tc>
                <a:tc>
                  <a:txBody>
                    <a:bodyPr/>
                    <a:lstStyle/>
                    <a:p>
                      <a:pPr>
                        <a:lnSpc>
                          <a:spcPct val="100000"/>
                        </a:lnSpc>
                        <a:spcBef>
                          <a:spcPts val="1000"/>
                        </a:spcBef>
                      </a:pPr>
                      <a:endParaRPr sz="1100">
                        <a:latin typeface="Times New Roman"/>
                        <a:cs typeface="Times New Roman"/>
                      </a:endParaRPr>
                    </a:p>
                    <a:p>
                      <a:pPr marL="12700">
                        <a:lnSpc>
                          <a:spcPct val="100000"/>
                        </a:lnSpc>
                      </a:pPr>
                      <a:r>
                        <a:rPr dirty="0" sz="1100" spc="-10">
                          <a:latin typeface="Microsoft YaHei"/>
                          <a:cs typeface="Microsoft YaHei"/>
                        </a:rPr>
                        <a:t>AAU</a:t>
                      </a:r>
                      <a:r>
                        <a:rPr dirty="0" sz="1100" spc="-30">
                          <a:latin typeface="Microsoft YaHei"/>
                          <a:cs typeface="Microsoft YaHei"/>
                        </a:rPr>
                        <a:t>多芯光纤</a:t>
                      </a:r>
                      <a:endParaRPr sz="1100">
                        <a:latin typeface="Microsoft YaHei"/>
                        <a:cs typeface="Microsoft YaHei"/>
                      </a:endParaRPr>
                    </a:p>
                  </a:txBody>
                  <a:tcPr marL="0" marR="0" marB="0" marT="127000">
                    <a:lnL w="12700">
                      <a:solidFill>
                        <a:srgbClr val="DAEDEF"/>
                      </a:solidFill>
                      <a:prstDash val="solid"/>
                    </a:lnL>
                    <a:lnR w="12700">
                      <a:solidFill>
                        <a:srgbClr val="DAEDEF"/>
                      </a:solidFill>
                      <a:prstDash val="solid"/>
                    </a:lnR>
                    <a:lnT w="12700">
                      <a:solidFill>
                        <a:srgbClr val="DAEDEF"/>
                      </a:solidFill>
                      <a:prstDash val="solid"/>
                    </a:lnT>
                    <a:lnB w="12700">
                      <a:solidFill>
                        <a:srgbClr val="DAEDEF"/>
                      </a:solidFill>
                      <a:prstDash val="solid"/>
                    </a:lnB>
                    <a:solidFill>
                      <a:srgbClr val="F8FCFC"/>
                    </a:solidFill>
                  </a:tcPr>
                </a:tc>
                <a:tc>
                  <a:txBody>
                    <a:bodyPr/>
                    <a:lstStyle/>
                    <a:p>
                      <a:pPr>
                        <a:lnSpc>
                          <a:spcPct val="100000"/>
                        </a:lnSpc>
                        <a:spcBef>
                          <a:spcPts val="340"/>
                        </a:spcBef>
                      </a:pPr>
                      <a:endParaRPr sz="1100">
                        <a:latin typeface="Times New Roman"/>
                        <a:cs typeface="Times New Roman"/>
                      </a:endParaRPr>
                    </a:p>
                    <a:p>
                      <a:pPr marL="12065">
                        <a:lnSpc>
                          <a:spcPct val="100000"/>
                        </a:lnSpc>
                      </a:pPr>
                      <a:r>
                        <a:rPr dirty="0" sz="1100" spc="-20">
                          <a:latin typeface="Microsoft YaHei"/>
                          <a:cs typeface="Microsoft YaHei"/>
                        </a:rPr>
                        <a:t>2芯集束单模传输光纤</a:t>
                      </a:r>
                      <a:r>
                        <a:rPr dirty="0" sz="1100" spc="-10">
                          <a:latin typeface="Microsoft YaHei"/>
                          <a:cs typeface="Microsoft YaHei"/>
                        </a:rPr>
                        <a:t>（DLC</a:t>
                      </a:r>
                      <a:r>
                        <a:rPr dirty="0" sz="1100" spc="-20">
                          <a:latin typeface="Microsoft YaHei"/>
                          <a:cs typeface="Microsoft YaHei"/>
                        </a:rPr>
                        <a:t>接口</a:t>
                      </a:r>
                      <a:r>
                        <a:rPr dirty="0" sz="1100" spc="-25">
                          <a:latin typeface="Microsoft YaHei"/>
                          <a:cs typeface="Microsoft YaHei"/>
                        </a:rPr>
                        <a:t>））</a:t>
                      </a:r>
                      <a:endParaRPr sz="1100">
                        <a:latin typeface="Microsoft YaHei"/>
                        <a:cs typeface="Microsoft YaHei"/>
                      </a:endParaRPr>
                    </a:p>
                    <a:p>
                      <a:pPr marL="12065">
                        <a:lnSpc>
                          <a:spcPct val="100000"/>
                        </a:lnSpc>
                      </a:pPr>
                      <a:r>
                        <a:rPr dirty="0" sz="1100" spc="-20">
                          <a:latin typeface="Microsoft YaHei"/>
                          <a:cs typeface="Microsoft YaHei"/>
                        </a:rPr>
                        <a:t>8芯集束多模传输光纤</a:t>
                      </a:r>
                      <a:r>
                        <a:rPr dirty="0" sz="1100" spc="-10">
                          <a:latin typeface="Microsoft YaHei"/>
                          <a:cs typeface="Microsoft YaHei"/>
                        </a:rPr>
                        <a:t>（MPO</a:t>
                      </a:r>
                      <a:r>
                        <a:rPr dirty="0" sz="1100" spc="-20">
                          <a:latin typeface="Microsoft YaHei"/>
                          <a:cs typeface="Microsoft YaHei"/>
                        </a:rPr>
                        <a:t>接口</a:t>
                      </a:r>
                      <a:r>
                        <a:rPr dirty="0" sz="1100" spc="-50">
                          <a:latin typeface="Microsoft YaHei"/>
                          <a:cs typeface="Microsoft YaHei"/>
                        </a:rPr>
                        <a:t>）</a:t>
                      </a:r>
                      <a:endParaRPr sz="1100">
                        <a:latin typeface="Microsoft YaHei"/>
                        <a:cs typeface="Microsoft YaHei"/>
                      </a:endParaRPr>
                    </a:p>
                  </a:txBody>
                  <a:tcPr marL="0" marR="0" marB="0" marT="43180">
                    <a:lnL w="12700">
                      <a:solidFill>
                        <a:srgbClr val="DAEDEF"/>
                      </a:solidFill>
                      <a:prstDash val="solid"/>
                    </a:lnL>
                    <a:lnR w="12700">
                      <a:solidFill>
                        <a:srgbClr val="DAEDEF"/>
                      </a:solidFill>
                      <a:prstDash val="solid"/>
                    </a:lnR>
                    <a:lnT w="12700">
                      <a:solidFill>
                        <a:srgbClr val="DAEDEF"/>
                      </a:solidFill>
                      <a:prstDash val="solid"/>
                    </a:lnT>
                    <a:lnB w="12700">
                      <a:solidFill>
                        <a:srgbClr val="DAEDEF"/>
                      </a:solidFill>
                      <a:prstDash val="solid"/>
                    </a:lnB>
                    <a:solidFill>
                      <a:srgbClr val="F8FCFC"/>
                    </a:solidFill>
                  </a:tcPr>
                </a:tc>
              </a:tr>
            </a:tbl>
          </a:graphicData>
        </a:graphic>
      </p:graphicFrame>
      <p:grpSp>
        <p:nvGrpSpPr>
          <p:cNvPr id="4" name="object 4" descr=""/>
          <p:cNvGrpSpPr/>
          <p:nvPr/>
        </p:nvGrpSpPr>
        <p:grpSpPr>
          <a:xfrm>
            <a:off x="0" y="1478279"/>
            <a:ext cx="4688840" cy="2943225"/>
            <a:chOff x="0" y="1478279"/>
            <a:chExt cx="4688840" cy="2943225"/>
          </a:xfrm>
        </p:grpSpPr>
        <p:pic>
          <p:nvPicPr>
            <p:cNvPr id="5" name="object 5"/>
            <p:cNvPicPr/>
            <p:nvPr/>
          </p:nvPicPr>
          <p:blipFill>
            <a:blip r:embed="rId2" cstate="print"/>
            <a:stretch>
              <a:fillRect/>
            </a:stretch>
          </p:blipFill>
          <p:spPr>
            <a:xfrm>
              <a:off x="0" y="1478279"/>
              <a:ext cx="4663439" cy="2917697"/>
            </a:xfrm>
            <a:prstGeom prst="rect">
              <a:avLst/>
            </a:prstGeom>
          </p:spPr>
        </p:pic>
        <p:pic>
          <p:nvPicPr>
            <p:cNvPr id="6" name="object 6" descr=""/>
            <p:cNvPicPr/>
            <p:nvPr/>
          </p:nvPicPr>
          <p:blipFill>
            <a:blip r:embed="rId3" cstate="print"/>
            <a:stretch>
              <a:fillRect/>
            </a:stretch>
          </p:blipFill>
          <p:spPr>
            <a:xfrm>
              <a:off x="0" y="1491856"/>
              <a:ext cx="4688585" cy="2929266"/>
            </a:xfrm>
            <a:prstGeom prst="rect">
              <a:avLst/>
            </a:prstGeom>
          </p:spPr>
        </p:pic>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88206" y="165054"/>
            <a:ext cx="3799204"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线缆安装工程规范</a:t>
            </a:r>
          </a:p>
        </p:txBody>
      </p:sp>
      <p:sp>
        <p:nvSpPr>
          <p:cNvPr id="3" name="object 3" descr=""/>
          <p:cNvSpPr txBox="1"/>
          <p:nvPr/>
        </p:nvSpPr>
        <p:spPr>
          <a:xfrm>
            <a:off x="329566" y="781971"/>
            <a:ext cx="4883150" cy="4199255"/>
          </a:xfrm>
          <a:prstGeom prst="rect">
            <a:avLst/>
          </a:prstGeom>
        </p:spPr>
        <p:txBody>
          <a:bodyPr wrap="square" lIns="0" tIns="171450" rIns="0" bIns="0" rtlCol="0" vert="horz">
            <a:spAutoFit/>
          </a:bodyPr>
          <a:lstStyle/>
          <a:p>
            <a:pPr marL="12700">
              <a:lnSpc>
                <a:spcPct val="100000"/>
              </a:lnSpc>
              <a:spcBef>
                <a:spcPts val="1350"/>
              </a:spcBef>
            </a:pPr>
            <a:r>
              <a:rPr dirty="0" sz="2000" spc="-20">
                <a:solidFill>
                  <a:srgbClr val="C00000"/>
                </a:solidFill>
                <a:latin typeface="SimSun"/>
                <a:cs typeface="SimSun"/>
              </a:rPr>
              <a:t>需要连接的线缆：</a:t>
            </a:r>
            <a:endParaRPr sz="2000">
              <a:latin typeface="SimSun"/>
              <a:cs typeface="SimSun"/>
            </a:endParaRPr>
          </a:p>
          <a:p>
            <a:pPr marL="297815" indent="-285115">
              <a:lnSpc>
                <a:spcPct val="100000"/>
              </a:lnSpc>
              <a:spcBef>
                <a:spcPts val="1130"/>
              </a:spcBef>
              <a:buFont typeface="Wingdings"/>
              <a:buChar char=""/>
              <a:tabLst>
                <a:tab pos="297815" algn="l"/>
              </a:tabLst>
            </a:pPr>
            <a:r>
              <a:rPr dirty="0" sz="1800">
                <a:latin typeface="Microsoft YaHei"/>
                <a:cs typeface="Microsoft YaHei"/>
              </a:rPr>
              <a:t>-</a:t>
            </a:r>
            <a:r>
              <a:rPr dirty="0" sz="1800" spc="-10">
                <a:latin typeface="Microsoft YaHei"/>
                <a:cs typeface="Microsoft YaHei"/>
              </a:rPr>
              <a:t>48V直流电源线；</a:t>
            </a:r>
            <a:endParaRPr sz="1800">
              <a:latin typeface="Microsoft YaHei"/>
              <a:cs typeface="Microsoft YaHei"/>
            </a:endParaRPr>
          </a:p>
          <a:p>
            <a:pPr marL="297815" marR="161290" indent="-285750">
              <a:lnSpc>
                <a:spcPct val="150000"/>
              </a:lnSpc>
              <a:buFont typeface="Wingdings"/>
              <a:buChar char=""/>
              <a:tabLst>
                <a:tab pos="297815" algn="l"/>
              </a:tabLst>
            </a:pPr>
            <a:r>
              <a:rPr dirty="0" sz="1800" spc="-10">
                <a:latin typeface="Microsoft YaHei"/>
                <a:cs typeface="Microsoft YaHei"/>
              </a:rPr>
              <a:t>NB-</a:t>
            </a:r>
            <a:r>
              <a:rPr dirty="0" sz="1800" spc="-25">
                <a:latin typeface="Microsoft YaHei"/>
                <a:cs typeface="Microsoft YaHei"/>
              </a:rPr>
              <a:t>AAU</a:t>
            </a:r>
            <a:r>
              <a:rPr dirty="0" sz="1800">
                <a:latin typeface="Microsoft YaHei"/>
                <a:cs typeface="Microsoft YaHei"/>
              </a:rPr>
              <a:t>多模集束光纤、 </a:t>
            </a:r>
            <a:r>
              <a:rPr dirty="0" sz="1800" spc="-10">
                <a:latin typeface="Microsoft YaHei"/>
                <a:cs typeface="Microsoft YaHei"/>
              </a:rPr>
              <a:t>NB-</a:t>
            </a:r>
            <a:r>
              <a:rPr dirty="0" sz="1800" spc="-25">
                <a:latin typeface="Microsoft YaHei"/>
                <a:cs typeface="Microsoft YaHei"/>
              </a:rPr>
              <a:t>AAU</a:t>
            </a:r>
            <a:r>
              <a:rPr dirty="0" sz="1800" spc="-15">
                <a:latin typeface="Microsoft YaHei"/>
                <a:cs typeface="Microsoft YaHei"/>
              </a:rPr>
              <a:t>单模集束</a:t>
            </a:r>
            <a:r>
              <a:rPr dirty="0" sz="1800" spc="-20">
                <a:latin typeface="Microsoft YaHei"/>
                <a:cs typeface="Microsoft YaHei"/>
              </a:rPr>
              <a:t>光纤；</a:t>
            </a:r>
            <a:endParaRPr sz="1800">
              <a:latin typeface="Microsoft YaHei"/>
              <a:cs typeface="Microsoft YaHei"/>
            </a:endParaRPr>
          </a:p>
          <a:p>
            <a:pPr marL="297815" indent="-285115">
              <a:lnSpc>
                <a:spcPct val="100000"/>
              </a:lnSpc>
              <a:spcBef>
                <a:spcPts val="1080"/>
              </a:spcBef>
              <a:buFont typeface="Wingdings"/>
              <a:buChar char=""/>
              <a:tabLst>
                <a:tab pos="297815" algn="l"/>
              </a:tabLst>
            </a:pPr>
            <a:r>
              <a:rPr dirty="0" sz="1800" spc="-10">
                <a:latin typeface="Microsoft YaHei"/>
                <a:cs typeface="Microsoft YaHei"/>
              </a:rPr>
              <a:t>传输光纤；</a:t>
            </a:r>
            <a:endParaRPr sz="1800">
              <a:latin typeface="Microsoft YaHei"/>
              <a:cs typeface="Microsoft YaHei"/>
            </a:endParaRPr>
          </a:p>
          <a:p>
            <a:pPr marL="297815" indent="-285115">
              <a:lnSpc>
                <a:spcPct val="100000"/>
              </a:lnSpc>
              <a:spcBef>
                <a:spcPts val="1080"/>
              </a:spcBef>
              <a:buFont typeface="Wingdings"/>
              <a:buChar char=""/>
              <a:tabLst>
                <a:tab pos="297815" algn="l"/>
              </a:tabLst>
            </a:pPr>
            <a:r>
              <a:rPr dirty="0" sz="1800" spc="-15">
                <a:latin typeface="Microsoft YaHei"/>
                <a:cs typeface="Microsoft YaHei"/>
              </a:rPr>
              <a:t>接地线；</a:t>
            </a:r>
            <a:endParaRPr sz="1800">
              <a:latin typeface="Microsoft YaHei"/>
              <a:cs typeface="Microsoft YaHei"/>
            </a:endParaRPr>
          </a:p>
          <a:p>
            <a:pPr marL="297815" indent="-285115">
              <a:lnSpc>
                <a:spcPct val="100000"/>
              </a:lnSpc>
              <a:spcBef>
                <a:spcPts val="1080"/>
              </a:spcBef>
              <a:buFont typeface="Wingdings"/>
              <a:buChar char=""/>
              <a:tabLst>
                <a:tab pos="297815" algn="l"/>
              </a:tabLst>
            </a:pPr>
            <a:r>
              <a:rPr dirty="0" sz="1800" spc="-10">
                <a:latin typeface="Microsoft YaHei"/>
                <a:cs typeface="Microsoft YaHei"/>
              </a:rPr>
              <a:t>GPS</a:t>
            </a:r>
            <a:r>
              <a:rPr dirty="0" sz="1800" spc="-15">
                <a:latin typeface="Microsoft YaHei"/>
                <a:cs typeface="Microsoft YaHei"/>
              </a:rPr>
              <a:t>下跳线；</a:t>
            </a:r>
            <a:endParaRPr sz="1800">
              <a:latin typeface="Microsoft YaHei"/>
              <a:cs typeface="Microsoft YaHei"/>
            </a:endParaRPr>
          </a:p>
          <a:p>
            <a:pPr marL="297815" indent="-285115">
              <a:lnSpc>
                <a:spcPct val="100000"/>
              </a:lnSpc>
              <a:spcBef>
                <a:spcPts val="1080"/>
              </a:spcBef>
              <a:buFont typeface="Wingdings"/>
              <a:buChar char=""/>
              <a:tabLst>
                <a:tab pos="297815" algn="l"/>
              </a:tabLst>
            </a:pPr>
            <a:r>
              <a:rPr dirty="0" sz="1800" spc="-10">
                <a:latin typeface="Microsoft YaHei"/>
                <a:cs typeface="Microsoft YaHei"/>
              </a:rPr>
              <a:t>26pin环境监控线；</a:t>
            </a:r>
            <a:endParaRPr sz="1800">
              <a:latin typeface="Microsoft YaHei"/>
              <a:cs typeface="Microsoft YaHei"/>
            </a:endParaRPr>
          </a:p>
          <a:p>
            <a:pPr marL="298450" marR="5080" indent="-285750">
              <a:lnSpc>
                <a:spcPct val="150000"/>
              </a:lnSpc>
              <a:buFont typeface="Wingdings"/>
              <a:buChar char=""/>
              <a:tabLst>
                <a:tab pos="298450" algn="l"/>
              </a:tabLst>
            </a:pPr>
            <a:r>
              <a:rPr dirty="0" sz="1800">
                <a:latin typeface="Microsoft YaHei"/>
                <a:cs typeface="Microsoft YaHei"/>
              </a:rPr>
              <a:t>时钟级联网线（在使用网线为下级</a:t>
            </a:r>
            <a:r>
              <a:rPr dirty="0" sz="1800" spc="-10">
                <a:latin typeface="Microsoft YaHei"/>
                <a:cs typeface="Microsoft YaHei"/>
              </a:rPr>
              <a:t>BBU</a:t>
            </a:r>
            <a:r>
              <a:rPr dirty="0" sz="1800" spc="-20">
                <a:latin typeface="Microsoft YaHei"/>
                <a:cs typeface="Microsoft YaHei"/>
              </a:rPr>
              <a:t>提供时</a:t>
            </a:r>
            <a:r>
              <a:rPr dirty="0" sz="1800">
                <a:latin typeface="Microsoft YaHei"/>
                <a:cs typeface="Microsoft YaHei"/>
              </a:rPr>
              <a:t>钟时使用）</a:t>
            </a:r>
            <a:r>
              <a:rPr dirty="0" sz="1800" spc="-50">
                <a:latin typeface="Microsoft YaHei"/>
                <a:cs typeface="Microsoft YaHei"/>
              </a:rPr>
              <a:t>。</a:t>
            </a:r>
            <a:endParaRPr sz="1800">
              <a:latin typeface="Microsoft YaHei"/>
              <a:cs typeface="Microsoft YaHei"/>
            </a:endParaRPr>
          </a:p>
        </p:txBody>
      </p:sp>
      <p:grpSp>
        <p:nvGrpSpPr>
          <p:cNvPr id="4" name="object 4" descr=""/>
          <p:cNvGrpSpPr/>
          <p:nvPr/>
        </p:nvGrpSpPr>
        <p:grpSpPr>
          <a:xfrm>
            <a:off x="5285729" y="842106"/>
            <a:ext cx="1658620" cy="4034154"/>
            <a:chOff x="5285729" y="842106"/>
            <a:chExt cx="1658620" cy="4034154"/>
          </a:xfrm>
        </p:grpSpPr>
        <p:sp>
          <p:nvSpPr>
            <p:cNvPr id="5" name="object 5" descr=""/>
            <p:cNvSpPr/>
            <p:nvPr/>
          </p:nvSpPr>
          <p:spPr>
            <a:xfrm>
              <a:off x="5292079" y="842106"/>
              <a:ext cx="0" cy="4034154"/>
            </a:xfrm>
            <a:custGeom>
              <a:avLst/>
              <a:gdLst/>
              <a:ahLst/>
              <a:cxnLst/>
              <a:rect l="l" t="t" r="r" b="b"/>
              <a:pathLst>
                <a:path w="0" h="4034154">
                  <a:moveTo>
                    <a:pt x="0" y="0"/>
                  </a:moveTo>
                  <a:lnTo>
                    <a:pt x="0" y="4033901"/>
                  </a:lnTo>
                </a:path>
              </a:pathLst>
            </a:custGeom>
            <a:ln w="12700">
              <a:solidFill>
                <a:srgbClr val="B6DCDF"/>
              </a:solidFill>
              <a:prstDash val="sysDash"/>
            </a:ln>
          </p:spPr>
          <p:txBody>
            <a:bodyPr wrap="square" lIns="0" tIns="0" rIns="0" bIns="0" rtlCol="0"/>
            <a:lstStyle/>
            <a:p/>
          </p:txBody>
        </p:sp>
        <p:pic>
          <p:nvPicPr>
            <p:cNvPr id="6" name="object 6"/>
            <p:cNvPicPr/>
            <p:nvPr/>
          </p:nvPicPr>
          <p:blipFill>
            <a:blip r:embed="rId2" cstate="print"/>
            <a:stretch>
              <a:fillRect/>
            </a:stretch>
          </p:blipFill>
          <p:spPr>
            <a:xfrm>
              <a:off x="5328411" y="3867899"/>
              <a:ext cx="1615363" cy="910162"/>
            </a:xfrm>
            <a:prstGeom prst="rect">
              <a:avLst/>
            </a:prstGeom>
          </p:spPr>
        </p:pic>
      </p:grpSp>
      <p:pic>
        <p:nvPicPr>
          <p:cNvPr id="7" name="object 7"/>
          <p:cNvPicPr/>
          <p:nvPr/>
        </p:nvPicPr>
        <p:blipFill>
          <a:blip r:embed="rId3" cstate="print"/>
          <a:stretch>
            <a:fillRect/>
          </a:stretch>
        </p:blipFill>
        <p:spPr>
          <a:xfrm>
            <a:off x="5368243" y="886447"/>
            <a:ext cx="1902671" cy="1475024"/>
          </a:xfrm>
          <a:prstGeom prst="rect">
            <a:avLst/>
          </a:prstGeom>
        </p:spPr>
      </p:pic>
      <p:pic>
        <p:nvPicPr>
          <p:cNvPr id="8" name="object 8"/>
          <p:cNvPicPr/>
          <p:nvPr/>
        </p:nvPicPr>
        <p:blipFill>
          <a:blip r:embed="rId4" cstate="print"/>
          <a:stretch>
            <a:fillRect/>
          </a:stretch>
        </p:blipFill>
        <p:spPr>
          <a:xfrm>
            <a:off x="7460335" y="943317"/>
            <a:ext cx="1388576" cy="1369602"/>
          </a:xfrm>
          <a:prstGeom prst="rect">
            <a:avLst/>
          </a:prstGeom>
        </p:spPr>
      </p:pic>
      <p:pic>
        <p:nvPicPr>
          <p:cNvPr id="9" name="object 9"/>
          <p:cNvPicPr/>
          <p:nvPr/>
        </p:nvPicPr>
        <p:blipFill>
          <a:blip r:embed="rId5" cstate="print"/>
          <a:stretch>
            <a:fillRect/>
          </a:stretch>
        </p:blipFill>
        <p:spPr>
          <a:xfrm>
            <a:off x="5386997" y="2571750"/>
            <a:ext cx="1556784" cy="1077504"/>
          </a:xfrm>
          <a:prstGeom prst="rect">
            <a:avLst/>
          </a:prstGeom>
        </p:spPr>
      </p:pic>
      <p:pic>
        <p:nvPicPr>
          <p:cNvPr id="10" name="object 10"/>
          <p:cNvPicPr/>
          <p:nvPr/>
        </p:nvPicPr>
        <p:blipFill>
          <a:blip r:embed="rId6" cstate="print"/>
          <a:stretch>
            <a:fillRect/>
          </a:stretch>
        </p:blipFill>
        <p:spPr>
          <a:xfrm>
            <a:off x="7092279" y="2571750"/>
            <a:ext cx="1824149" cy="2206307"/>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97610" y="158369"/>
            <a:ext cx="1653539" cy="513080"/>
          </a:xfrm>
          <a:prstGeom prst="rect"/>
        </p:spPr>
        <p:txBody>
          <a:bodyPr wrap="square" lIns="0" tIns="12065" rIns="0" bIns="0" rtlCol="0" vert="horz">
            <a:spAutoFit/>
          </a:bodyPr>
          <a:lstStyle/>
          <a:p>
            <a:pPr marL="12700">
              <a:lnSpc>
                <a:spcPct val="100000"/>
              </a:lnSpc>
              <a:spcBef>
                <a:spcPts val="95"/>
              </a:spcBef>
            </a:pPr>
            <a:r>
              <a:rPr dirty="0" spc="-40"/>
              <a:t>线缆介绍</a:t>
            </a:r>
          </a:p>
        </p:txBody>
      </p:sp>
      <p:sp>
        <p:nvSpPr>
          <p:cNvPr id="3" name="object 3" descr=""/>
          <p:cNvSpPr txBox="1"/>
          <p:nvPr/>
        </p:nvSpPr>
        <p:spPr>
          <a:xfrm>
            <a:off x="78739" y="3609833"/>
            <a:ext cx="1634489" cy="452120"/>
          </a:xfrm>
          <a:prstGeom prst="rect">
            <a:avLst/>
          </a:prstGeom>
        </p:spPr>
        <p:txBody>
          <a:bodyPr wrap="square" lIns="0" tIns="12065" rIns="0" bIns="0" rtlCol="0" vert="horz">
            <a:spAutoFit/>
          </a:bodyPr>
          <a:lstStyle/>
          <a:p>
            <a:pPr marL="12700" marR="5080">
              <a:lnSpc>
                <a:spcPct val="100000"/>
              </a:lnSpc>
              <a:spcBef>
                <a:spcPts val="95"/>
              </a:spcBef>
            </a:pPr>
            <a:r>
              <a:rPr dirty="0" sz="1400" spc="-25">
                <a:latin typeface="SimSun"/>
                <a:cs typeface="SimSun"/>
              </a:rPr>
              <a:t>主设备直流电源线</a:t>
            </a:r>
            <a:r>
              <a:rPr dirty="0" sz="1400" spc="-50">
                <a:latin typeface="SimSun"/>
                <a:cs typeface="SimSun"/>
              </a:rPr>
              <a:t> </a:t>
            </a:r>
            <a:r>
              <a:rPr dirty="0" sz="1400" spc="-20">
                <a:latin typeface="SimSun"/>
                <a:cs typeface="SimSun"/>
              </a:rPr>
              <a:t>为</a:t>
            </a:r>
            <a:r>
              <a:rPr dirty="0" sz="1400" spc="-20">
                <a:latin typeface="Arial MT"/>
                <a:cs typeface="Arial MT"/>
              </a:rPr>
              <a:t>BBU</a:t>
            </a:r>
            <a:r>
              <a:rPr dirty="0" sz="1400" spc="-25">
                <a:latin typeface="SimSun"/>
                <a:cs typeface="SimSun"/>
              </a:rPr>
              <a:t>提供直流输入</a:t>
            </a:r>
            <a:endParaRPr sz="1400">
              <a:latin typeface="SimSun"/>
              <a:cs typeface="SimSun"/>
            </a:endParaRPr>
          </a:p>
        </p:txBody>
      </p:sp>
      <p:pic>
        <p:nvPicPr>
          <p:cNvPr id="4" name="object 4"/>
          <p:cNvPicPr/>
          <p:nvPr/>
        </p:nvPicPr>
        <p:blipFill>
          <a:blip r:embed="rId2" cstate="print"/>
          <a:stretch>
            <a:fillRect/>
          </a:stretch>
        </p:blipFill>
        <p:spPr>
          <a:xfrm>
            <a:off x="1808289" y="1576340"/>
            <a:ext cx="1728189" cy="1086746"/>
          </a:xfrm>
          <a:prstGeom prst="rect">
            <a:avLst/>
          </a:prstGeom>
        </p:spPr>
      </p:pic>
      <p:sp>
        <p:nvSpPr>
          <p:cNvPr id="5" name="object 5" descr=""/>
          <p:cNvSpPr txBox="1"/>
          <p:nvPr/>
        </p:nvSpPr>
        <p:spPr>
          <a:xfrm>
            <a:off x="1914436" y="3591830"/>
            <a:ext cx="1800860" cy="878840"/>
          </a:xfrm>
          <a:prstGeom prst="rect">
            <a:avLst/>
          </a:prstGeom>
        </p:spPr>
        <p:txBody>
          <a:bodyPr wrap="square" lIns="0" tIns="12065" rIns="0" bIns="0" rtlCol="0" vert="horz">
            <a:spAutoFit/>
          </a:bodyPr>
          <a:lstStyle/>
          <a:p>
            <a:pPr marL="12700" marR="5080">
              <a:lnSpc>
                <a:spcPct val="100000"/>
              </a:lnSpc>
              <a:spcBef>
                <a:spcPts val="95"/>
              </a:spcBef>
            </a:pPr>
            <a:r>
              <a:rPr dirty="0" sz="1400" spc="-15">
                <a:latin typeface="Arial MT"/>
                <a:cs typeface="Arial MT"/>
              </a:rPr>
              <a:t>AAU</a:t>
            </a:r>
            <a:r>
              <a:rPr dirty="0" sz="1400" spc="-15">
                <a:latin typeface="SimSun"/>
                <a:cs typeface="SimSun"/>
              </a:rPr>
              <a:t>直流屏蔽电源线为</a:t>
            </a:r>
            <a:r>
              <a:rPr dirty="0" sz="1400" spc="-15">
                <a:latin typeface="Arial MT"/>
                <a:cs typeface="Arial MT"/>
              </a:rPr>
              <a:t>AAUU</a:t>
            </a:r>
            <a:r>
              <a:rPr dirty="0" sz="1400" spc="-15">
                <a:latin typeface="SimSun"/>
                <a:cs typeface="SimSun"/>
              </a:rPr>
              <a:t>提供直流输入红色为正极，蓝色为负极</a:t>
            </a:r>
            <a:endParaRPr sz="1400">
              <a:latin typeface="SimSun"/>
              <a:cs typeface="SimSun"/>
            </a:endParaRPr>
          </a:p>
        </p:txBody>
      </p:sp>
      <p:pic>
        <p:nvPicPr>
          <p:cNvPr id="6" name="object 6"/>
          <p:cNvPicPr/>
          <p:nvPr/>
        </p:nvPicPr>
        <p:blipFill>
          <a:blip r:embed="rId3" cstate="print"/>
          <a:stretch>
            <a:fillRect/>
          </a:stretch>
        </p:blipFill>
        <p:spPr>
          <a:xfrm>
            <a:off x="4080283" y="1374802"/>
            <a:ext cx="1256395" cy="1288283"/>
          </a:xfrm>
          <a:prstGeom prst="rect">
            <a:avLst/>
          </a:prstGeom>
        </p:spPr>
      </p:pic>
      <p:sp>
        <p:nvSpPr>
          <p:cNvPr id="7" name="object 7" descr=""/>
          <p:cNvSpPr txBox="1"/>
          <p:nvPr/>
        </p:nvSpPr>
        <p:spPr>
          <a:xfrm>
            <a:off x="4002667" y="3574933"/>
            <a:ext cx="2009139" cy="1305560"/>
          </a:xfrm>
          <a:prstGeom prst="rect">
            <a:avLst/>
          </a:prstGeom>
        </p:spPr>
        <p:txBody>
          <a:bodyPr wrap="square" lIns="0" tIns="12065" rIns="0" bIns="0" rtlCol="0" vert="horz">
            <a:spAutoFit/>
          </a:bodyPr>
          <a:lstStyle/>
          <a:p>
            <a:pPr marL="12700" marR="5080">
              <a:lnSpc>
                <a:spcPct val="100000"/>
              </a:lnSpc>
              <a:spcBef>
                <a:spcPts val="95"/>
              </a:spcBef>
            </a:pPr>
            <a:r>
              <a:rPr dirty="0" sz="1400" spc="-20">
                <a:latin typeface="SimSun"/>
                <a:cs typeface="SimSun"/>
              </a:rPr>
              <a:t>用于</a:t>
            </a:r>
            <a:r>
              <a:rPr dirty="0" sz="1400" spc="-20">
                <a:latin typeface="Arial MT"/>
                <a:cs typeface="Arial MT"/>
              </a:rPr>
              <a:t>BBU</a:t>
            </a:r>
            <a:r>
              <a:rPr dirty="0" sz="1400" spc="-20">
                <a:latin typeface="SimSun"/>
                <a:cs typeface="SimSun"/>
              </a:rPr>
              <a:t>设备接地、</a:t>
            </a:r>
            <a:r>
              <a:rPr dirty="0" sz="1400" spc="-25">
                <a:latin typeface="Arial MT"/>
                <a:cs typeface="Arial MT"/>
              </a:rPr>
              <a:t>GPS</a:t>
            </a:r>
            <a:r>
              <a:rPr dirty="0" sz="1400" spc="-20">
                <a:latin typeface="SimSun"/>
                <a:cs typeface="SimSun"/>
              </a:rPr>
              <a:t>避雷器接地、</a:t>
            </a:r>
            <a:r>
              <a:rPr dirty="0" sz="1400" spc="-20">
                <a:latin typeface="Arial MT"/>
                <a:cs typeface="Arial MT"/>
              </a:rPr>
              <a:t>GPS</a:t>
            </a:r>
            <a:r>
              <a:rPr dirty="0" sz="1400" spc="-30">
                <a:latin typeface="SimSun"/>
                <a:cs typeface="SimSun"/>
              </a:rPr>
              <a:t>放大器</a:t>
            </a:r>
            <a:r>
              <a:rPr dirty="0" sz="1400" spc="-20">
                <a:latin typeface="SimSun"/>
                <a:cs typeface="SimSun"/>
              </a:rPr>
              <a:t>接地、</a:t>
            </a:r>
            <a:r>
              <a:rPr dirty="0" sz="1400">
                <a:latin typeface="Arial MT"/>
                <a:cs typeface="Arial MT"/>
              </a:rPr>
              <a:t>19</a:t>
            </a:r>
            <a:r>
              <a:rPr dirty="0" sz="1400" spc="-25">
                <a:latin typeface="SimSun"/>
                <a:cs typeface="SimSun"/>
              </a:rPr>
              <a:t>英寸机柜接地、</a:t>
            </a:r>
            <a:r>
              <a:rPr dirty="0" sz="1400" spc="-50">
                <a:latin typeface="SimSun"/>
                <a:cs typeface="SimSun"/>
              </a:rPr>
              <a:t> </a:t>
            </a:r>
            <a:r>
              <a:rPr dirty="0" sz="1400" spc="-20">
                <a:latin typeface="Arial MT"/>
                <a:cs typeface="Arial MT"/>
              </a:rPr>
              <a:t>AAU</a:t>
            </a:r>
            <a:r>
              <a:rPr dirty="0" sz="1400" spc="-25">
                <a:latin typeface="SimSun"/>
                <a:cs typeface="SimSun"/>
              </a:rPr>
              <a:t>壳体接地、室内直流</a:t>
            </a:r>
            <a:r>
              <a:rPr dirty="0" sz="1400" spc="-20">
                <a:latin typeface="SimSun"/>
                <a:cs typeface="SimSun"/>
              </a:rPr>
              <a:t>防雷箱接地、</a:t>
            </a:r>
            <a:r>
              <a:rPr dirty="0" sz="1400" spc="-20">
                <a:latin typeface="Arial MT"/>
                <a:cs typeface="Arial MT"/>
              </a:rPr>
              <a:t>ACDC</a:t>
            </a:r>
            <a:r>
              <a:rPr dirty="0" sz="1400" spc="-35">
                <a:latin typeface="SimSun"/>
                <a:cs typeface="SimSun"/>
              </a:rPr>
              <a:t>、室</a:t>
            </a:r>
            <a:r>
              <a:rPr dirty="0" sz="1400" spc="-25">
                <a:latin typeface="SimSun"/>
                <a:cs typeface="SimSun"/>
              </a:rPr>
              <a:t>外防雷箱接地</a:t>
            </a:r>
            <a:endParaRPr sz="1400">
              <a:latin typeface="SimSun"/>
              <a:cs typeface="SimSun"/>
            </a:endParaRPr>
          </a:p>
        </p:txBody>
      </p:sp>
      <p:pic>
        <p:nvPicPr>
          <p:cNvPr id="8" name="object 8"/>
          <p:cNvPicPr/>
          <p:nvPr/>
        </p:nvPicPr>
        <p:blipFill>
          <a:blip r:embed="rId4" cstate="print"/>
          <a:stretch>
            <a:fillRect/>
          </a:stretch>
        </p:blipFill>
        <p:spPr>
          <a:xfrm>
            <a:off x="5840734" y="1428750"/>
            <a:ext cx="1584168" cy="1234336"/>
          </a:xfrm>
          <a:prstGeom prst="rect">
            <a:avLst/>
          </a:prstGeom>
        </p:spPr>
      </p:pic>
      <p:pic>
        <p:nvPicPr>
          <p:cNvPr id="9" name="object 9"/>
          <p:cNvPicPr/>
          <p:nvPr/>
        </p:nvPicPr>
        <p:blipFill>
          <a:blip r:embed="rId5" cstate="print"/>
          <a:stretch>
            <a:fillRect/>
          </a:stretch>
        </p:blipFill>
        <p:spPr>
          <a:xfrm>
            <a:off x="7482675" y="1474419"/>
            <a:ext cx="1454403" cy="1188667"/>
          </a:xfrm>
          <a:prstGeom prst="rect">
            <a:avLst/>
          </a:prstGeom>
        </p:spPr>
      </p:pic>
      <p:sp>
        <p:nvSpPr>
          <p:cNvPr id="10" name="object 10" descr=""/>
          <p:cNvSpPr txBox="1"/>
          <p:nvPr/>
        </p:nvSpPr>
        <p:spPr>
          <a:xfrm>
            <a:off x="6378931" y="3591250"/>
            <a:ext cx="2226310" cy="665480"/>
          </a:xfrm>
          <a:prstGeom prst="rect">
            <a:avLst/>
          </a:prstGeom>
        </p:spPr>
        <p:txBody>
          <a:bodyPr wrap="square" lIns="0" tIns="12065" rIns="0" bIns="0" rtlCol="0" vert="horz">
            <a:spAutoFit/>
          </a:bodyPr>
          <a:lstStyle/>
          <a:p>
            <a:pPr marL="12700" marR="5080">
              <a:lnSpc>
                <a:spcPct val="100000"/>
              </a:lnSpc>
              <a:spcBef>
                <a:spcPts val="95"/>
              </a:spcBef>
            </a:pPr>
            <a:r>
              <a:rPr dirty="0" sz="1400" spc="-20">
                <a:latin typeface="SimSun"/>
                <a:cs typeface="SimSun"/>
              </a:rPr>
              <a:t>单芯</a:t>
            </a:r>
            <a:r>
              <a:rPr dirty="0" sz="1400">
                <a:latin typeface="Arial MT"/>
                <a:cs typeface="Arial MT"/>
              </a:rPr>
              <a:t>25mm²</a:t>
            </a:r>
            <a:r>
              <a:rPr dirty="0" sz="1400" spc="-20">
                <a:latin typeface="SimSun"/>
                <a:cs typeface="SimSun"/>
              </a:rPr>
              <a:t>直流电源线红</a:t>
            </a:r>
            <a:r>
              <a:rPr dirty="0" sz="1400">
                <a:latin typeface="Arial MT"/>
                <a:cs typeface="Arial MT"/>
              </a:rPr>
              <a:t>/</a:t>
            </a:r>
            <a:r>
              <a:rPr dirty="0" sz="1400" spc="-50">
                <a:latin typeface="SimSun"/>
                <a:cs typeface="SimSun"/>
              </a:rPr>
              <a:t>蓝</a:t>
            </a:r>
            <a:r>
              <a:rPr dirty="0" sz="1400" spc="-25">
                <a:latin typeface="SimSun"/>
                <a:cs typeface="SimSun"/>
              </a:rPr>
              <a:t>从直流配电柜到直流防雷分</a:t>
            </a:r>
            <a:r>
              <a:rPr dirty="0" sz="1400" spc="-20">
                <a:latin typeface="SimSun"/>
                <a:cs typeface="SimSun"/>
              </a:rPr>
              <a:t>配箱或</a:t>
            </a:r>
            <a:r>
              <a:rPr dirty="0" sz="1400" spc="-20">
                <a:latin typeface="Arial MT"/>
                <a:cs typeface="Arial MT"/>
              </a:rPr>
              <a:t>DCPD</a:t>
            </a:r>
            <a:r>
              <a:rPr dirty="0" sz="1400" spc="-30">
                <a:latin typeface="SimSun"/>
                <a:cs typeface="SimSun"/>
              </a:rPr>
              <a:t>之间连接</a:t>
            </a:r>
            <a:endParaRPr sz="1400">
              <a:latin typeface="SimSun"/>
              <a:cs typeface="SimSun"/>
            </a:endParaRPr>
          </a:p>
        </p:txBody>
      </p:sp>
      <p:pic>
        <p:nvPicPr>
          <p:cNvPr id="11" name="object 11"/>
          <p:cNvPicPr/>
          <p:nvPr/>
        </p:nvPicPr>
        <p:blipFill>
          <a:blip r:embed="rId6" cstate="print"/>
          <a:stretch>
            <a:fillRect/>
          </a:stretch>
        </p:blipFill>
        <p:spPr>
          <a:xfrm>
            <a:off x="0" y="1576340"/>
            <a:ext cx="1592262" cy="1178047"/>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txBox="1"/>
          <p:nvPr/>
        </p:nvSpPr>
        <p:spPr>
          <a:xfrm>
            <a:off x="128942" y="3969122"/>
            <a:ext cx="2748280" cy="878840"/>
          </a:xfrm>
          <a:prstGeom prst="rect">
            <a:avLst/>
          </a:prstGeom>
        </p:spPr>
        <p:txBody>
          <a:bodyPr wrap="square" lIns="0" tIns="12065" rIns="0" bIns="0" rtlCol="0" vert="horz">
            <a:spAutoFit/>
          </a:bodyPr>
          <a:lstStyle/>
          <a:p>
            <a:pPr marL="12700" marR="5080">
              <a:lnSpc>
                <a:spcPct val="100000"/>
              </a:lnSpc>
              <a:spcBef>
                <a:spcPts val="95"/>
              </a:spcBef>
            </a:pPr>
            <a:r>
              <a:rPr dirty="0" sz="1400" spc="-20">
                <a:latin typeface="SimSun"/>
                <a:cs typeface="SimSun"/>
              </a:rPr>
              <a:t>单模光纤</a:t>
            </a:r>
            <a:r>
              <a:rPr dirty="0" sz="1400" spc="-10">
                <a:latin typeface="Arial MT"/>
                <a:cs typeface="Arial MT"/>
              </a:rPr>
              <a:t>DLC-</a:t>
            </a:r>
            <a:r>
              <a:rPr dirty="0" sz="1400" spc="-20">
                <a:latin typeface="Arial MT"/>
                <a:cs typeface="Arial MT"/>
              </a:rPr>
              <a:t>DLC</a:t>
            </a:r>
            <a:r>
              <a:rPr dirty="0" sz="1400" spc="-20">
                <a:latin typeface="SimSun"/>
                <a:cs typeface="SimSun"/>
              </a:rPr>
              <a:t>，两头</a:t>
            </a:r>
            <a:r>
              <a:rPr dirty="0" sz="1400" spc="-20">
                <a:latin typeface="Arial MT"/>
                <a:cs typeface="Arial MT"/>
              </a:rPr>
              <a:t>DLC</a:t>
            </a:r>
            <a:r>
              <a:rPr dirty="0" sz="1400" spc="-35">
                <a:latin typeface="SimSun"/>
                <a:cs typeface="SimSun"/>
              </a:rPr>
              <a:t>连接</a:t>
            </a:r>
            <a:r>
              <a:rPr dirty="0" sz="1400" spc="-20">
                <a:latin typeface="SimSun"/>
                <a:cs typeface="SimSun"/>
              </a:rPr>
              <a:t>器，</a:t>
            </a:r>
            <a:r>
              <a:rPr dirty="0" sz="1400" spc="-20">
                <a:latin typeface="Arial MT"/>
                <a:cs typeface="Arial MT"/>
              </a:rPr>
              <a:t>BBU</a:t>
            </a:r>
            <a:r>
              <a:rPr dirty="0" sz="1400" spc="-10">
                <a:latin typeface="SimSun"/>
                <a:cs typeface="SimSun"/>
              </a:rPr>
              <a:t>至</a:t>
            </a:r>
            <a:r>
              <a:rPr dirty="0" sz="1400" spc="-20">
                <a:latin typeface="Arial MT"/>
                <a:cs typeface="Arial MT"/>
              </a:rPr>
              <a:t>AAU</a:t>
            </a:r>
            <a:r>
              <a:rPr dirty="0" sz="1400" spc="-25">
                <a:latin typeface="SimSun"/>
                <a:cs typeface="SimSun"/>
              </a:rPr>
              <a:t>之间设备连接；</a:t>
            </a:r>
            <a:r>
              <a:rPr dirty="0" sz="1400" spc="500">
                <a:latin typeface="SimSun"/>
                <a:cs typeface="SimSun"/>
              </a:rPr>
              <a:t> </a:t>
            </a:r>
            <a:r>
              <a:rPr dirty="0" sz="1400" spc="-20">
                <a:latin typeface="SimSun"/>
                <a:cs typeface="SimSun"/>
              </a:rPr>
              <a:t>多模光纤</a:t>
            </a:r>
            <a:r>
              <a:rPr dirty="0" sz="1400" spc="-10">
                <a:latin typeface="Arial MT"/>
                <a:cs typeface="Arial MT"/>
              </a:rPr>
              <a:t>MPO-</a:t>
            </a:r>
            <a:r>
              <a:rPr dirty="0" sz="1400" spc="-20">
                <a:latin typeface="Arial MT"/>
                <a:cs typeface="Arial MT"/>
              </a:rPr>
              <a:t>MPO</a:t>
            </a:r>
            <a:r>
              <a:rPr dirty="0" sz="1400" spc="-20">
                <a:latin typeface="SimSun"/>
                <a:cs typeface="SimSun"/>
              </a:rPr>
              <a:t>，两头</a:t>
            </a:r>
            <a:r>
              <a:rPr dirty="0" sz="1400" spc="-20">
                <a:latin typeface="Arial MT"/>
                <a:cs typeface="Arial MT"/>
              </a:rPr>
              <a:t>MPO</a:t>
            </a:r>
            <a:r>
              <a:rPr dirty="0" sz="1400" spc="-50">
                <a:latin typeface="SimSun"/>
                <a:cs typeface="SimSun"/>
              </a:rPr>
              <a:t>连</a:t>
            </a:r>
            <a:r>
              <a:rPr dirty="0" sz="1400" spc="-20">
                <a:latin typeface="SimSun"/>
                <a:cs typeface="SimSun"/>
              </a:rPr>
              <a:t>接器，</a:t>
            </a:r>
            <a:r>
              <a:rPr dirty="0" sz="1400" spc="-20">
                <a:latin typeface="Arial MT"/>
                <a:cs typeface="Arial MT"/>
              </a:rPr>
              <a:t>BBU</a:t>
            </a:r>
            <a:r>
              <a:rPr dirty="0" sz="1400" spc="-10">
                <a:latin typeface="SimSun"/>
                <a:cs typeface="SimSun"/>
              </a:rPr>
              <a:t>至</a:t>
            </a:r>
            <a:r>
              <a:rPr dirty="0" sz="1400" spc="-20">
                <a:latin typeface="Arial MT"/>
                <a:cs typeface="Arial MT"/>
              </a:rPr>
              <a:t>AAU</a:t>
            </a:r>
            <a:r>
              <a:rPr dirty="0" sz="1400" spc="-25">
                <a:latin typeface="SimSun"/>
                <a:cs typeface="SimSun"/>
              </a:rPr>
              <a:t>之间设备连接；</a:t>
            </a:r>
            <a:endParaRPr sz="1400">
              <a:latin typeface="SimSun"/>
              <a:cs typeface="SimSun"/>
            </a:endParaRPr>
          </a:p>
        </p:txBody>
      </p:sp>
      <p:sp>
        <p:nvSpPr>
          <p:cNvPr id="3" name="object 3"/>
          <p:cNvSpPr txBox="1">
            <a:spLocks noGrp="1"/>
          </p:cNvSpPr>
          <p:nvPr>
            <p:ph type="title"/>
          </p:nvPr>
        </p:nvSpPr>
        <p:spPr>
          <a:xfrm>
            <a:off x="3797610" y="158369"/>
            <a:ext cx="1653539" cy="513080"/>
          </a:xfrm>
          <a:prstGeom prst="rect"/>
        </p:spPr>
        <p:txBody>
          <a:bodyPr wrap="square" lIns="0" tIns="12065" rIns="0" bIns="0" rtlCol="0" vert="horz">
            <a:spAutoFit/>
          </a:bodyPr>
          <a:lstStyle/>
          <a:p>
            <a:pPr marL="12700">
              <a:lnSpc>
                <a:spcPct val="100000"/>
              </a:lnSpc>
              <a:spcBef>
                <a:spcPts val="95"/>
              </a:spcBef>
            </a:pPr>
            <a:r>
              <a:rPr dirty="0" spc="-40"/>
              <a:t>线缆介绍</a:t>
            </a:r>
          </a:p>
        </p:txBody>
      </p:sp>
      <p:pic>
        <p:nvPicPr>
          <p:cNvPr id="4" name="object 4"/>
          <p:cNvPicPr/>
          <p:nvPr/>
        </p:nvPicPr>
        <p:blipFill>
          <a:blip r:embed="rId2" cstate="print"/>
          <a:stretch>
            <a:fillRect/>
          </a:stretch>
        </p:blipFill>
        <p:spPr>
          <a:xfrm>
            <a:off x="6426100" y="1004292"/>
            <a:ext cx="2414648" cy="1783481"/>
          </a:xfrm>
          <a:prstGeom prst="rect">
            <a:avLst/>
          </a:prstGeom>
        </p:spPr>
      </p:pic>
      <p:pic>
        <p:nvPicPr>
          <p:cNvPr id="5" name="object 5"/>
          <p:cNvPicPr/>
          <p:nvPr/>
        </p:nvPicPr>
        <p:blipFill>
          <a:blip r:embed="rId3" cstate="print"/>
          <a:stretch>
            <a:fillRect/>
          </a:stretch>
        </p:blipFill>
        <p:spPr>
          <a:xfrm>
            <a:off x="3635895" y="1059586"/>
            <a:ext cx="2498407" cy="1783477"/>
          </a:xfrm>
          <a:prstGeom prst="rect">
            <a:avLst/>
          </a:prstGeom>
        </p:spPr>
      </p:pic>
      <p:sp>
        <p:nvSpPr>
          <p:cNvPr id="6" name="object 6" descr=""/>
          <p:cNvSpPr txBox="1"/>
          <p:nvPr/>
        </p:nvSpPr>
        <p:spPr>
          <a:xfrm>
            <a:off x="6378931" y="4041881"/>
            <a:ext cx="2542540" cy="665480"/>
          </a:xfrm>
          <a:prstGeom prst="rect">
            <a:avLst/>
          </a:prstGeom>
        </p:spPr>
        <p:txBody>
          <a:bodyPr wrap="square" lIns="0" tIns="12065" rIns="0" bIns="0" rtlCol="0" vert="horz">
            <a:spAutoFit/>
          </a:bodyPr>
          <a:lstStyle/>
          <a:p>
            <a:pPr marL="12700">
              <a:lnSpc>
                <a:spcPct val="100000"/>
              </a:lnSpc>
              <a:spcBef>
                <a:spcPts val="95"/>
              </a:spcBef>
            </a:pPr>
            <a:r>
              <a:rPr dirty="0" sz="1400" spc="-20">
                <a:latin typeface="Arial MT"/>
                <a:cs typeface="Arial MT"/>
              </a:rPr>
              <a:t>GPS</a:t>
            </a:r>
            <a:r>
              <a:rPr dirty="0" sz="1400" spc="-35">
                <a:latin typeface="SimSun"/>
                <a:cs typeface="SimSun"/>
              </a:rPr>
              <a:t>馈线</a:t>
            </a:r>
            <a:endParaRPr sz="1400">
              <a:latin typeface="SimSun"/>
              <a:cs typeface="SimSun"/>
            </a:endParaRPr>
          </a:p>
          <a:p>
            <a:pPr marL="12700" marR="5080" indent="-635">
              <a:lnSpc>
                <a:spcPct val="100000"/>
              </a:lnSpc>
            </a:pPr>
            <a:r>
              <a:rPr dirty="0" sz="1400" spc="-20">
                <a:latin typeface="Arial MT"/>
                <a:cs typeface="Arial MT"/>
              </a:rPr>
              <a:t>BBU</a:t>
            </a:r>
            <a:r>
              <a:rPr dirty="0" sz="1400" spc="-20">
                <a:latin typeface="SimSun"/>
                <a:cs typeface="SimSun"/>
              </a:rPr>
              <a:t>与</a:t>
            </a:r>
            <a:r>
              <a:rPr dirty="0" sz="1400" spc="-20">
                <a:latin typeface="Arial MT"/>
                <a:cs typeface="Arial MT"/>
              </a:rPr>
              <a:t>GPS</a:t>
            </a:r>
            <a:r>
              <a:rPr dirty="0" sz="1400" spc="-25">
                <a:latin typeface="SimSun"/>
                <a:cs typeface="SimSun"/>
              </a:rPr>
              <a:t>天线之间连接使用线</a:t>
            </a:r>
            <a:r>
              <a:rPr dirty="0" sz="1400" spc="-50">
                <a:latin typeface="SimSun"/>
                <a:cs typeface="SimSun"/>
              </a:rPr>
              <a:t>缆</a:t>
            </a:r>
            <a:endParaRPr sz="1400">
              <a:latin typeface="SimSun"/>
              <a:cs typeface="SimSun"/>
            </a:endParaRPr>
          </a:p>
        </p:txBody>
      </p:sp>
      <p:sp>
        <p:nvSpPr>
          <p:cNvPr id="7" name="object 7" descr=""/>
          <p:cNvSpPr txBox="1"/>
          <p:nvPr/>
        </p:nvSpPr>
        <p:spPr>
          <a:xfrm>
            <a:off x="3476942" y="4042059"/>
            <a:ext cx="2522220" cy="665480"/>
          </a:xfrm>
          <a:prstGeom prst="rect">
            <a:avLst/>
          </a:prstGeom>
        </p:spPr>
        <p:txBody>
          <a:bodyPr wrap="square" lIns="0" tIns="12065" rIns="0" bIns="0" rtlCol="0" vert="horz">
            <a:spAutoFit/>
          </a:bodyPr>
          <a:lstStyle/>
          <a:p>
            <a:pPr marL="12700">
              <a:lnSpc>
                <a:spcPct val="100000"/>
              </a:lnSpc>
              <a:spcBef>
                <a:spcPts val="95"/>
              </a:spcBef>
            </a:pPr>
            <a:r>
              <a:rPr dirty="0" sz="1400" spc="-20">
                <a:latin typeface="Arial MT"/>
                <a:cs typeface="Arial MT"/>
              </a:rPr>
              <a:t>Ng</a:t>
            </a:r>
            <a:r>
              <a:rPr dirty="0" sz="1400" spc="-30">
                <a:latin typeface="SimSun"/>
                <a:cs typeface="SimSun"/>
              </a:rPr>
              <a:t>传输光纤</a:t>
            </a:r>
            <a:endParaRPr sz="1400">
              <a:latin typeface="SimSun"/>
              <a:cs typeface="SimSun"/>
            </a:endParaRPr>
          </a:p>
          <a:p>
            <a:pPr marL="12700" marR="5080">
              <a:lnSpc>
                <a:spcPct val="100000"/>
              </a:lnSpc>
            </a:pPr>
            <a:r>
              <a:rPr dirty="0" sz="1400" spc="-20">
                <a:latin typeface="Arial MT"/>
                <a:cs typeface="Arial MT"/>
              </a:rPr>
              <a:t>BBU</a:t>
            </a:r>
            <a:r>
              <a:rPr dirty="0" sz="1400" spc="-25">
                <a:latin typeface="SimSun"/>
                <a:cs typeface="SimSun"/>
              </a:rPr>
              <a:t>与传输设备之间连接使用光</a:t>
            </a:r>
            <a:r>
              <a:rPr dirty="0" sz="1400" spc="-35">
                <a:latin typeface="SimSun"/>
                <a:cs typeface="SimSun"/>
              </a:rPr>
              <a:t>纤。</a:t>
            </a:r>
            <a:endParaRPr sz="1400">
              <a:latin typeface="SimSun"/>
              <a:cs typeface="SimSun"/>
            </a:endParaRPr>
          </a:p>
        </p:txBody>
      </p:sp>
      <p:pic>
        <p:nvPicPr>
          <p:cNvPr id="8" name="object 8"/>
          <p:cNvPicPr/>
          <p:nvPr/>
        </p:nvPicPr>
        <p:blipFill>
          <a:blip r:embed="rId4" cstate="print"/>
          <a:stretch>
            <a:fillRect/>
          </a:stretch>
        </p:blipFill>
        <p:spPr>
          <a:xfrm>
            <a:off x="0" y="1419554"/>
            <a:ext cx="3491649" cy="1423509"/>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76612" y="158369"/>
            <a:ext cx="2896235"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BBU</a:t>
            </a:r>
            <a:r>
              <a:rPr dirty="0" spc="-40"/>
              <a:t>直流电源线</a:t>
            </a:r>
          </a:p>
        </p:txBody>
      </p:sp>
      <p:pic>
        <p:nvPicPr>
          <p:cNvPr id="3" name="object 3"/>
          <p:cNvPicPr/>
          <p:nvPr/>
        </p:nvPicPr>
        <p:blipFill>
          <a:blip r:embed="rId2" cstate="print"/>
          <a:stretch>
            <a:fillRect/>
          </a:stretch>
        </p:blipFill>
        <p:spPr>
          <a:xfrm>
            <a:off x="371563" y="1023937"/>
            <a:ext cx="3600448" cy="2663824"/>
          </a:xfrm>
          <a:prstGeom prst="rect">
            <a:avLst/>
          </a:prstGeom>
        </p:spPr>
      </p:pic>
      <p:pic>
        <p:nvPicPr>
          <p:cNvPr id="4" name="object 4"/>
          <p:cNvPicPr/>
          <p:nvPr/>
        </p:nvPicPr>
        <p:blipFill>
          <a:blip r:embed="rId3" cstate="print"/>
          <a:stretch>
            <a:fillRect/>
          </a:stretch>
        </p:blipFill>
        <p:spPr>
          <a:xfrm>
            <a:off x="4597433" y="1581150"/>
            <a:ext cx="3993035" cy="2076941"/>
          </a:xfrm>
          <a:prstGeom prst="rect">
            <a:avLst/>
          </a:prstGeom>
        </p:spPr>
      </p:pic>
      <p:sp>
        <p:nvSpPr>
          <p:cNvPr id="5" name="object 5" descr=""/>
          <p:cNvSpPr txBox="1"/>
          <p:nvPr/>
        </p:nvSpPr>
        <p:spPr>
          <a:xfrm>
            <a:off x="112105" y="3926897"/>
            <a:ext cx="7835265" cy="751205"/>
          </a:xfrm>
          <a:prstGeom prst="rect">
            <a:avLst/>
          </a:prstGeom>
        </p:spPr>
        <p:txBody>
          <a:bodyPr wrap="square" lIns="0" tIns="55244" rIns="0" bIns="0" rtlCol="0" vert="horz">
            <a:spAutoFit/>
          </a:bodyPr>
          <a:lstStyle/>
          <a:p>
            <a:pPr marL="354965" indent="-342265">
              <a:lnSpc>
                <a:spcPct val="100000"/>
              </a:lnSpc>
              <a:spcBef>
                <a:spcPts val="434"/>
              </a:spcBef>
              <a:buFont typeface="Wingdings"/>
              <a:buChar char=""/>
              <a:tabLst>
                <a:tab pos="354965" algn="l"/>
              </a:tabLst>
            </a:pPr>
            <a:r>
              <a:rPr dirty="0" sz="1400" spc="-20">
                <a:latin typeface="SimSun"/>
                <a:cs typeface="SimSun"/>
              </a:rPr>
              <a:t>线缆长度包括</a:t>
            </a:r>
            <a:r>
              <a:rPr dirty="0" sz="1400" spc="-10">
                <a:latin typeface="Arial MT"/>
                <a:cs typeface="Arial MT"/>
              </a:rPr>
              <a:t>5/10/15/20m</a:t>
            </a:r>
            <a:r>
              <a:rPr dirty="0" sz="1400" spc="-25">
                <a:latin typeface="SimSun"/>
                <a:cs typeface="SimSun"/>
              </a:rPr>
              <a:t>，使用长度根据勘查选配；</a:t>
            </a:r>
            <a:endParaRPr sz="1400">
              <a:latin typeface="SimSun"/>
              <a:cs typeface="SimSun"/>
            </a:endParaRPr>
          </a:p>
          <a:p>
            <a:pPr marL="355600" marR="5080" indent="-343535">
              <a:lnSpc>
                <a:spcPct val="100000"/>
              </a:lnSpc>
              <a:spcBef>
                <a:spcPts val="335"/>
              </a:spcBef>
              <a:buFont typeface="Wingdings"/>
              <a:buChar char=""/>
              <a:tabLst>
                <a:tab pos="355600" algn="l"/>
              </a:tabLst>
            </a:pPr>
            <a:r>
              <a:rPr dirty="0" sz="1400" spc="-20">
                <a:latin typeface="SimSun"/>
                <a:cs typeface="SimSun"/>
              </a:rPr>
              <a:t>安装方式：</a:t>
            </a:r>
            <a:r>
              <a:rPr dirty="0" sz="1400" spc="-10">
                <a:latin typeface="Arial MT"/>
                <a:cs typeface="Arial MT"/>
              </a:rPr>
              <a:t>D-</a:t>
            </a:r>
            <a:r>
              <a:rPr dirty="0" sz="1400" spc="-20">
                <a:latin typeface="Arial MT"/>
                <a:cs typeface="Arial MT"/>
              </a:rPr>
              <a:t>SUB</a:t>
            </a:r>
            <a:r>
              <a:rPr dirty="0" sz="1400" spc="-20">
                <a:latin typeface="SimSun"/>
                <a:cs typeface="SimSun"/>
              </a:rPr>
              <a:t>电源连接器直接安装在</a:t>
            </a:r>
            <a:r>
              <a:rPr dirty="0" sz="1400" spc="-10">
                <a:latin typeface="Arial MT"/>
                <a:cs typeface="Arial MT"/>
              </a:rPr>
              <a:t>BBU</a:t>
            </a:r>
            <a:r>
              <a:rPr dirty="0" sz="1400" spc="-20">
                <a:latin typeface="SimSun"/>
                <a:cs typeface="SimSun"/>
              </a:rPr>
              <a:t>电源端子上，并拧紧两侧紧固螺钉；</a:t>
            </a:r>
            <a:r>
              <a:rPr dirty="0" sz="1400" spc="-20">
                <a:latin typeface="Arial MT"/>
                <a:cs typeface="Arial MT"/>
              </a:rPr>
              <a:t>DCPD</a:t>
            </a:r>
            <a:r>
              <a:rPr dirty="0" sz="1400" spc="-30">
                <a:latin typeface="SimSun"/>
                <a:cs typeface="SimSun"/>
              </a:rPr>
              <a:t>侧输出</a:t>
            </a:r>
            <a:r>
              <a:rPr dirty="0" sz="1400" spc="-20">
                <a:latin typeface="SimSun"/>
                <a:cs typeface="SimSun"/>
              </a:rPr>
              <a:t>端蓝色线缆压接在</a:t>
            </a:r>
            <a:r>
              <a:rPr dirty="0" sz="1400">
                <a:latin typeface="Arial MT"/>
                <a:cs typeface="Arial MT"/>
              </a:rPr>
              <a:t>-</a:t>
            </a:r>
            <a:r>
              <a:rPr dirty="0" sz="1400" spc="-10">
                <a:latin typeface="Arial MT"/>
                <a:cs typeface="Arial MT"/>
              </a:rPr>
              <a:t>48V</a:t>
            </a:r>
            <a:r>
              <a:rPr dirty="0" sz="1400" spc="-20">
                <a:latin typeface="SimSun"/>
                <a:cs typeface="SimSun"/>
              </a:rPr>
              <a:t>上，红色线缆线压接在</a:t>
            </a:r>
            <a:r>
              <a:rPr dirty="0" sz="1400" spc="-20">
                <a:latin typeface="Arial MT"/>
                <a:cs typeface="Arial MT"/>
              </a:rPr>
              <a:t>0V</a:t>
            </a:r>
            <a:r>
              <a:rPr dirty="0" sz="1400" spc="-30">
                <a:latin typeface="SimSun"/>
                <a:cs typeface="SimSun"/>
              </a:rPr>
              <a:t>上。</a:t>
            </a:r>
            <a:endParaRPr sz="1400">
              <a:latin typeface="SimSun"/>
              <a:cs typeface="SimSun"/>
            </a:endParaRPr>
          </a:p>
        </p:txBody>
      </p:sp>
      <p:sp>
        <p:nvSpPr>
          <p:cNvPr id="6" name="object 6" descr=""/>
          <p:cNvSpPr txBox="1"/>
          <p:nvPr/>
        </p:nvSpPr>
        <p:spPr>
          <a:xfrm>
            <a:off x="4462536" y="1052385"/>
            <a:ext cx="2701925" cy="269875"/>
          </a:xfrm>
          <a:prstGeom prst="rect">
            <a:avLst/>
          </a:prstGeom>
        </p:spPr>
        <p:txBody>
          <a:bodyPr wrap="square" lIns="0" tIns="12700" rIns="0" bIns="0" rtlCol="0" vert="horz">
            <a:spAutoFit/>
          </a:bodyPr>
          <a:lstStyle/>
          <a:p>
            <a:pPr marL="12700">
              <a:lnSpc>
                <a:spcPct val="100000"/>
              </a:lnSpc>
              <a:spcBef>
                <a:spcPts val="100"/>
              </a:spcBef>
            </a:pPr>
            <a:r>
              <a:rPr dirty="0" sz="1600" spc="-10">
                <a:latin typeface="Arial MT"/>
                <a:cs typeface="Arial MT"/>
              </a:rPr>
              <a:t>-48VBBU</a:t>
            </a:r>
            <a:r>
              <a:rPr dirty="0" sz="1600" spc="-15">
                <a:latin typeface="SimSun"/>
                <a:cs typeface="SimSun"/>
              </a:rPr>
              <a:t>直流电源线安装位置</a:t>
            </a:r>
            <a:endParaRPr sz="1600">
              <a:latin typeface="SimSun"/>
              <a:cs typeface="SimSun"/>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30308" y="158369"/>
            <a:ext cx="318897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DCPD</a:t>
            </a:r>
            <a:r>
              <a:rPr dirty="0" spc="-40"/>
              <a:t>直流电源线</a:t>
            </a:r>
          </a:p>
        </p:txBody>
      </p:sp>
      <p:sp>
        <p:nvSpPr>
          <p:cNvPr id="3" name="object 3" descr=""/>
          <p:cNvSpPr txBox="1"/>
          <p:nvPr/>
        </p:nvSpPr>
        <p:spPr>
          <a:xfrm>
            <a:off x="4320787" y="838950"/>
            <a:ext cx="2084070" cy="269875"/>
          </a:xfrm>
          <a:prstGeom prst="rect">
            <a:avLst/>
          </a:prstGeom>
        </p:spPr>
        <p:txBody>
          <a:bodyPr wrap="square" lIns="0" tIns="12700" rIns="0" bIns="0" rtlCol="0" vert="horz">
            <a:spAutoFit/>
          </a:bodyPr>
          <a:lstStyle/>
          <a:p>
            <a:pPr marL="12700">
              <a:lnSpc>
                <a:spcPct val="100000"/>
              </a:lnSpc>
              <a:spcBef>
                <a:spcPts val="100"/>
              </a:spcBef>
            </a:pPr>
            <a:r>
              <a:rPr dirty="0" sz="1600" spc="-5">
                <a:latin typeface="SimSun"/>
                <a:cs typeface="SimSun"/>
              </a:rPr>
              <a:t>直流电源线</a:t>
            </a:r>
            <a:r>
              <a:rPr dirty="0" sz="1600" spc="-20">
                <a:latin typeface="Arial MT"/>
                <a:cs typeface="Arial MT"/>
              </a:rPr>
              <a:t>25mm²</a:t>
            </a:r>
            <a:r>
              <a:rPr dirty="0" sz="1600" spc="-25">
                <a:latin typeface="SimSun"/>
                <a:cs typeface="SimSun"/>
              </a:rPr>
              <a:t>安装</a:t>
            </a:r>
            <a:endParaRPr sz="1600">
              <a:latin typeface="SimSun"/>
              <a:cs typeface="SimSun"/>
            </a:endParaRPr>
          </a:p>
        </p:txBody>
      </p:sp>
      <p:pic>
        <p:nvPicPr>
          <p:cNvPr id="4" name="object 4"/>
          <p:cNvPicPr/>
          <p:nvPr/>
        </p:nvPicPr>
        <p:blipFill>
          <a:blip r:embed="rId2" cstate="print"/>
          <a:stretch>
            <a:fillRect/>
          </a:stretch>
        </p:blipFill>
        <p:spPr>
          <a:xfrm>
            <a:off x="685800" y="895350"/>
            <a:ext cx="2122487" cy="1654174"/>
          </a:xfrm>
          <a:prstGeom prst="rect">
            <a:avLst/>
          </a:prstGeom>
        </p:spPr>
      </p:pic>
      <p:pic>
        <p:nvPicPr>
          <p:cNvPr id="5" name="object 5"/>
          <p:cNvPicPr/>
          <p:nvPr/>
        </p:nvPicPr>
        <p:blipFill>
          <a:blip r:embed="rId3" cstate="print"/>
          <a:stretch>
            <a:fillRect/>
          </a:stretch>
        </p:blipFill>
        <p:spPr>
          <a:xfrm>
            <a:off x="685800" y="2622945"/>
            <a:ext cx="2114549" cy="1728785"/>
          </a:xfrm>
          <a:prstGeom prst="rect">
            <a:avLst/>
          </a:prstGeom>
        </p:spPr>
      </p:pic>
      <p:pic>
        <p:nvPicPr>
          <p:cNvPr id="6" name="object 6"/>
          <p:cNvPicPr/>
          <p:nvPr/>
        </p:nvPicPr>
        <p:blipFill>
          <a:blip r:embed="rId4" cstate="print"/>
          <a:stretch>
            <a:fillRect/>
          </a:stretch>
        </p:blipFill>
        <p:spPr>
          <a:xfrm>
            <a:off x="3810000" y="1352550"/>
            <a:ext cx="3816423" cy="3320456"/>
          </a:xfrm>
          <a:prstGeom prst="rect">
            <a:avLst/>
          </a:prstGeom>
        </p:spPr>
      </p:pic>
      <p:sp>
        <p:nvSpPr>
          <p:cNvPr id="7" name="object 7" descr=""/>
          <p:cNvSpPr txBox="1"/>
          <p:nvPr/>
        </p:nvSpPr>
        <p:spPr>
          <a:xfrm>
            <a:off x="459740" y="4311345"/>
            <a:ext cx="4248150" cy="537845"/>
          </a:xfrm>
          <a:prstGeom prst="rect">
            <a:avLst/>
          </a:prstGeom>
        </p:spPr>
        <p:txBody>
          <a:bodyPr wrap="square" lIns="0" tIns="55244" rIns="0" bIns="0" rtlCol="0" vert="horz">
            <a:spAutoFit/>
          </a:bodyPr>
          <a:lstStyle/>
          <a:p>
            <a:pPr marL="354965" indent="-342265">
              <a:lnSpc>
                <a:spcPct val="100000"/>
              </a:lnSpc>
              <a:spcBef>
                <a:spcPts val="434"/>
              </a:spcBef>
              <a:buFont typeface="Wingdings"/>
              <a:buChar char=""/>
              <a:tabLst>
                <a:tab pos="354965" algn="l"/>
              </a:tabLst>
            </a:pPr>
            <a:r>
              <a:rPr dirty="0" sz="1400" spc="-20">
                <a:latin typeface="SimSun"/>
                <a:cs typeface="SimSun"/>
              </a:rPr>
              <a:t>单芯</a:t>
            </a:r>
            <a:r>
              <a:rPr dirty="0" sz="1400">
                <a:latin typeface="Arial MT"/>
                <a:cs typeface="Arial MT"/>
              </a:rPr>
              <a:t>25mm²</a:t>
            </a:r>
            <a:r>
              <a:rPr dirty="0" sz="1400" spc="-20">
                <a:latin typeface="SimSun"/>
                <a:cs typeface="SimSun"/>
              </a:rPr>
              <a:t>直流电源线红</a:t>
            </a:r>
            <a:r>
              <a:rPr dirty="0" sz="1400">
                <a:latin typeface="Arial MT"/>
                <a:cs typeface="Arial MT"/>
              </a:rPr>
              <a:t>/</a:t>
            </a:r>
            <a:r>
              <a:rPr dirty="0" sz="1400" spc="-50">
                <a:latin typeface="SimSun"/>
                <a:cs typeface="SimSun"/>
              </a:rPr>
              <a:t>蓝</a:t>
            </a:r>
            <a:endParaRPr sz="1400">
              <a:latin typeface="SimSun"/>
              <a:cs typeface="SimSun"/>
            </a:endParaRPr>
          </a:p>
          <a:p>
            <a:pPr marL="354965" indent="-342265">
              <a:lnSpc>
                <a:spcPct val="100000"/>
              </a:lnSpc>
              <a:spcBef>
                <a:spcPts val="335"/>
              </a:spcBef>
              <a:buFont typeface="Wingdings"/>
              <a:buChar char=""/>
              <a:tabLst>
                <a:tab pos="354965" algn="l"/>
              </a:tabLst>
            </a:pPr>
            <a:r>
              <a:rPr dirty="0" sz="1400" spc="-20">
                <a:latin typeface="SimSun"/>
                <a:cs typeface="SimSun"/>
              </a:rPr>
              <a:t>从直流配电柜到直流防雷分配箱或</a:t>
            </a:r>
            <a:r>
              <a:rPr dirty="0" sz="1400" spc="-20">
                <a:latin typeface="Arial MT"/>
                <a:cs typeface="Arial MT"/>
              </a:rPr>
              <a:t>DCPD</a:t>
            </a:r>
            <a:r>
              <a:rPr dirty="0" sz="1400" spc="-30">
                <a:latin typeface="SimSun"/>
                <a:cs typeface="SimSun"/>
              </a:rPr>
              <a:t>之间连接</a:t>
            </a:r>
            <a:endParaRPr sz="1400">
              <a:latin typeface="SimSun"/>
              <a:cs typeface="SimSun"/>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79482" y="158369"/>
            <a:ext cx="2690495" cy="513080"/>
          </a:xfrm>
          <a:prstGeom prst="rect"/>
        </p:spPr>
        <p:txBody>
          <a:bodyPr wrap="square" lIns="0" tIns="12065" rIns="0" bIns="0" rtlCol="0" vert="horz">
            <a:spAutoFit/>
          </a:bodyPr>
          <a:lstStyle/>
          <a:p>
            <a:pPr marL="12700">
              <a:lnSpc>
                <a:spcPct val="100000"/>
              </a:lnSpc>
              <a:spcBef>
                <a:spcPts val="95"/>
              </a:spcBef>
            </a:pPr>
            <a:r>
              <a:rPr dirty="0" spc="-25">
                <a:latin typeface="Times New Roman"/>
                <a:cs typeface="Times New Roman"/>
              </a:rPr>
              <a:t>BBU-</a:t>
            </a:r>
            <a:r>
              <a:rPr dirty="0" spc="-30">
                <a:latin typeface="Times New Roman"/>
                <a:cs typeface="Times New Roman"/>
              </a:rPr>
              <a:t>AAU</a:t>
            </a:r>
            <a:r>
              <a:rPr dirty="0" spc="-45"/>
              <a:t>光纤</a:t>
            </a:r>
          </a:p>
        </p:txBody>
      </p:sp>
      <p:pic>
        <p:nvPicPr>
          <p:cNvPr id="3" name="object 3"/>
          <p:cNvPicPr/>
          <p:nvPr/>
        </p:nvPicPr>
        <p:blipFill>
          <a:blip r:embed="rId2" cstate="print"/>
          <a:stretch>
            <a:fillRect/>
          </a:stretch>
        </p:blipFill>
        <p:spPr>
          <a:xfrm>
            <a:off x="477192" y="1318090"/>
            <a:ext cx="4546184" cy="1858377"/>
          </a:xfrm>
          <a:prstGeom prst="rect">
            <a:avLst/>
          </a:prstGeom>
        </p:spPr>
      </p:pic>
      <p:pic>
        <p:nvPicPr>
          <p:cNvPr id="4" name="object 4"/>
          <p:cNvPicPr/>
          <p:nvPr/>
        </p:nvPicPr>
        <p:blipFill>
          <a:blip r:embed="rId3" cstate="print"/>
          <a:stretch>
            <a:fillRect/>
          </a:stretch>
        </p:blipFill>
        <p:spPr>
          <a:xfrm>
            <a:off x="6036438" y="2495550"/>
            <a:ext cx="2196177" cy="1884362"/>
          </a:xfrm>
          <a:prstGeom prst="rect">
            <a:avLst/>
          </a:prstGeom>
        </p:spPr>
      </p:pic>
      <p:pic>
        <p:nvPicPr>
          <p:cNvPr id="5" name="object 5"/>
          <p:cNvPicPr/>
          <p:nvPr/>
        </p:nvPicPr>
        <p:blipFill>
          <a:blip r:embed="rId4" cstate="print"/>
          <a:stretch>
            <a:fillRect/>
          </a:stretch>
        </p:blipFill>
        <p:spPr>
          <a:xfrm>
            <a:off x="5293092" y="870302"/>
            <a:ext cx="3355239" cy="1403467"/>
          </a:xfrm>
          <a:prstGeom prst="rect">
            <a:avLst/>
          </a:prstGeom>
        </p:spPr>
      </p:pic>
      <p:sp>
        <p:nvSpPr>
          <p:cNvPr id="6" name="object 6" descr=""/>
          <p:cNvSpPr txBox="1"/>
          <p:nvPr/>
        </p:nvSpPr>
        <p:spPr>
          <a:xfrm>
            <a:off x="4345940" y="923035"/>
            <a:ext cx="724535" cy="299720"/>
          </a:xfrm>
          <a:prstGeom prst="rect">
            <a:avLst/>
          </a:prstGeom>
        </p:spPr>
        <p:txBody>
          <a:bodyPr wrap="square" lIns="0" tIns="12700" rIns="0" bIns="0" rtlCol="0" vert="horz">
            <a:spAutoFit/>
          </a:bodyPr>
          <a:lstStyle/>
          <a:p>
            <a:pPr marL="12700">
              <a:lnSpc>
                <a:spcPct val="100000"/>
              </a:lnSpc>
              <a:spcBef>
                <a:spcPts val="100"/>
              </a:spcBef>
            </a:pPr>
            <a:r>
              <a:rPr dirty="0" sz="1800">
                <a:latin typeface="Times New Roman"/>
                <a:cs typeface="Times New Roman"/>
              </a:rPr>
              <a:t>BBU</a:t>
            </a:r>
            <a:r>
              <a:rPr dirty="0" sz="1800" spc="-50">
                <a:latin typeface="SimSun"/>
                <a:cs typeface="SimSun"/>
              </a:rPr>
              <a:t>侧</a:t>
            </a:r>
            <a:endParaRPr sz="1800">
              <a:latin typeface="SimSun"/>
              <a:cs typeface="SimSun"/>
            </a:endParaRPr>
          </a:p>
        </p:txBody>
      </p:sp>
      <p:sp>
        <p:nvSpPr>
          <p:cNvPr id="7" name="object 7" descr=""/>
          <p:cNvSpPr txBox="1"/>
          <p:nvPr/>
        </p:nvSpPr>
        <p:spPr>
          <a:xfrm>
            <a:off x="5031740" y="2447112"/>
            <a:ext cx="750570" cy="299720"/>
          </a:xfrm>
          <a:prstGeom prst="rect">
            <a:avLst/>
          </a:prstGeom>
        </p:spPr>
        <p:txBody>
          <a:bodyPr wrap="square" lIns="0" tIns="12700" rIns="0" bIns="0" rtlCol="0" vert="horz">
            <a:spAutoFit/>
          </a:bodyPr>
          <a:lstStyle/>
          <a:p>
            <a:pPr marL="12700">
              <a:lnSpc>
                <a:spcPct val="100000"/>
              </a:lnSpc>
              <a:spcBef>
                <a:spcPts val="100"/>
              </a:spcBef>
            </a:pPr>
            <a:r>
              <a:rPr dirty="0" sz="1800" spc="-20">
                <a:latin typeface="Times New Roman"/>
                <a:cs typeface="Times New Roman"/>
              </a:rPr>
              <a:t>AAU</a:t>
            </a:r>
            <a:r>
              <a:rPr dirty="0" sz="1800" spc="-50">
                <a:latin typeface="SimSun"/>
                <a:cs typeface="SimSun"/>
              </a:rPr>
              <a:t>侧</a:t>
            </a:r>
            <a:endParaRPr sz="1800">
              <a:latin typeface="SimSun"/>
              <a:cs typeface="SimSun"/>
            </a:endParaRPr>
          </a:p>
        </p:txBody>
      </p:sp>
      <p:sp>
        <p:nvSpPr>
          <p:cNvPr id="8" name="object 8" descr=""/>
          <p:cNvSpPr txBox="1"/>
          <p:nvPr/>
        </p:nvSpPr>
        <p:spPr>
          <a:xfrm>
            <a:off x="307340" y="3949509"/>
            <a:ext cx="8229600" cy="921385"/>
          </a:xfrm>
          <a:prstGeom prst="rect">
            <a:avLst/>
          </a:prstGeom>
        </p:spPr>
        <p:txBody>
          <a:bodyPr wrap="square" lIns="0" tIns="12065" rIns="0" bIns="0" rtlCol="0" vert="horz">
            <a:spAutoFit/>
          </a:bodyPr>
          <a:lstStyle/>
          <a:p>
            <a:pPr marL="355600" marR="34925" indent="-342900">
              <a:lnSpc>
                <a:spcPct val="100000"/>
              </a:lnSpc>
              <a:spcBef>
                <a:spcPts val="95"/>
              </a:spcBef>
              <a:buFont typeface="Wingdings"/>
              <a:buChar char=""/>
              <a:tabLst>
                <a:tab pos="355600" algn="l"/>
              </a:tabLst>
            </a:pPr>
            <a:r>
              <a:rPr dirty="0" sz="1400" spc="-20">
                <a:latin typeface="SimSun"/>
                <a:cs typeface="SimSun"/>
              </a:rPr>
              <a:t>多模光纤，用于</a:t>
            </a:r>
            <a:r>
              <a:rPr dirty="0" sz="1400" spc="-20">
                <a:latin typeface="Arial MT"/>
                <a:cs typeface="Arial MT"/>
              </a:rPr>
              <a:t>AAU</a:t>
            </a:r>
            <a:r>
              <a:rPr dirty="0" sz="1400" spc="-10">
                <a:latin typeface="SimSun"/>
                <a:cs typeface="SimSun"/>
              </a:rPr>
              <a:t>与</a:t>
            </a:r>
            <a:r>
              <a:rPr dirty="0" sz="1400" spc="-10">
                <a:latin typeface="Arial MT"/>
                <a:cs typeface="Arial MT"/>
              </a:rPr>
              <a:t>BBU</a:t>
            </a:r>
            <a:r>
              <a:rPr dirty="0" sz="1400" spc="-20">
                <a:latin typeface="SimSun"/>
                <a:cs typeface="SimSun"/>
              </a:rPr>
              <a:t>之间距离在</a:t>
            </a:r>
            <a:r>
              <a:rPr dirty="0" sz="1400" spc="-10">
                <a:latin typeface="Arial MT"/>
                <a:cs typeface="Arial MT"/>
              </a:rPr>
              <a:t>100m</a:t>
            </a:r>
            <a:r>
              <a:rPr dirty="0" sz="1400" spc="-20">
                <a:latin typeface="SimSun"/>
                <a:cs typeface="SimSun"/>
              </a:rPr>
              <a:t>及以内长度使用，配合</a:t>
            </a:r>
            <a:r>
              <a:rPr dirty="0" sz="1400" spc="-10">
                <a:latin typeface="Arial MT"/>
                <a:cs typeface="Arial MT"/>
              </a:rPr>
              <a:t>MPO</a:t>
            </a:r>
            <a:r>
              <a:rPr dirty="0" sz="1400" spc="-20">
                <a:latin typeface="SimSun"/>
                <a:cs typeface="SimSun"/>
              </a:rPr>
              <a:t>多模光模块，</a:t>
            </a:r>
            <a:r>
              <a:rPr dirty="0" sz="1400" spc="-10">
                <a:latin typeface="Arial MT"/>
                <a:cs typeface="Arial MT"/>
              </a:rPr>
              <a:t>1</a:t>
            </a:r>
            <a:r>
              <a:rPr dirty="0" sz="1400" spc="-20">
                <a:latin typeface="SimSun"/>
                <a:cs typeface="SimSun"/>
              </a:rPr>
              <a:t>台</a:t>
            </a:r>
            <a:r>
              <a:rPr dirty="0" sz="1400" spc="-10">
                <a:latin typeface="Arial MT"/>
                <a:cs typeface="Arial MT"/>
              </a:rPr>
              <a:t>AAU</a:t>
            </a:r>
            <a:r>
              <a:rPr dirty="0" sz="1400" spc="-20">
                <a:latin typeface="SimSun"/>
                <a:cs typeface="SimSun"/>
              </a:rPr>
              <a:t>配置</a:t>
            </a:r>
            <a:r>
              <a:rPr dirty="0" sz="1400" spc="-50">
                <a:latin typeface="Arial MT"/>
                <a:cs typeface="Arial MT"/>
              </a:rPr>
              <a:t>1</a:t>
            </a:r>
            <a:r>
              <a:rPr dirty="0" sz="1400" spc="-20">
                <a:latin typeface="SimSun"/>
                <a:cs typeface="SimSun"/>
              </a:rPr>
              <a:t>条光纤。（</a:t>
            </a:r>
            <a:r>
              <a:rPr dirty="0" sz="1400" spc="-60">
                <a:latin typeface="SimSun"/>
                <a:cs typeface="SimSun"/>
              </a:rPr>
              <a:t> 可选长度：</a:t>
            </a:r>
            <a:r>
              <a:rPr dirty="0" sz="1400" spc="-10">
                <a:latin typeface="Arial MT"/>
                <a:cs typeface="Arial MT"/>
              </a:rPr>
              <a:t>10m</a:t>
            </a:r>
            <a:r>
              <a:rPr dirty="0" sz="1400" spc="-20">
                <a:latin typeface="SimSun"/>
                <a:cs typeface="SimSun"/>
              </a:rPr>
              <a:t>、</a:t>
            </a:r>
            <a:r>
              <a:rPr dirty="0" sz="1400">
                <a:latin typeface="Arial MT"/>
                <a:cs typeface="Arial MT"/>
              </a:rPr>
              <a:t>50m</a:t>
            </a:r>
            <a:r>
              <a:rPr dirty="0" sz="1400" spc="-20">
                <a:latin typeface="SimSun"/>
                <a:cs typeface="SimSun"/>
              </a:rPr>
              <a:t>、</a:t>
            </a:r>
            <a:r>
              <a:rPr dirty="0" sz="1400">
                <a:latin typeface="Arial MT"/>
                <a:cs typeface="Arial MT"/>
              </a:rPr>
              <a:t>60m</a:t>
            </a:r>
            <a:r>
              <a:rPr dirty="0" sz="1400" spc="-20">
                <a:latin typeface="SimSun"/>
                <a:cs typeface="SimSun"/>
              </a:rPr>
              <a:t>、</a:t>
            </a:r>
            <a:r>
              <a:rPr dirty="0" sz="1400" spc="-10">
                <a:latin typeface="Arial MT"/>
                <a:cs typeface="Arial MT"/>
              </a:rPr>
              <a:t>70m</a:t>
            </a:r>
            <a:r>
              <a:rPr dirty="0" sz="1400" spc="-20">
                <a:latin typeface="SimSun"/>
                <a:cs typeface="SimSun"/>
              </a:rPr>
              <a:t>、</a:t>
            </a:r>
            <a:r>
              <a:rPr dirty="0" sz="1400" spc="-10">
                <a:latin typeface="Arial MT"/>
                <a:cs typeface="Arial MT"/>
              </a:rPr>
              <a:t>80m</a:t>
            </a:r>
            <a:r>
              <a:rPr dirty="0" sz="1400" spc="-20">
                <a:latin typeface="SimSun"/>
                <a:cs typeface="SimSun"/>
              </a:rPr>
              <a:t>、</a:t>
            </a:r>
            <a:r>
              <a:rPr dirty="0" sz="1400" spc="-10">
                <a:latin typeface="Arial MT"/>
                <a:cs typeface="Arial MT"/>
              </a:rPr>
              <a:t>90m</a:t>
            </a:r>
            <a:r>
              <a:rPr dirty="0" sz="1400" spc="-20">
                <a:latin typeface="SimSun"/>
                <a:cs typeface="SimSun"/>
              </a:rPr>
              <a:t>、</a:t>
            </a:r>
            <a:r>
              <a:rPr dirty="0" sz="1400">
                <a:latin typeface="Arial MT"/>
                <a:cs typeface="Arial MT"/>
              </a:rPr>
              <a:t>100m</a:t>
            </a:r>
            <a:r>
              <a:rPr dirty="0" sz="1400" spc="40">
                <a:latin typeface="Arial MT"/>
                <a:cs typeface="Arial MT"/>
              </a:rPr>
              <a:t> </a:t>
            </a:r>
            <a:r>
              <a:rPr dirty="0" sz="1400" spc="-50">
                <a:latin typeface="SimSun"/>
                <a:cs typeface="SimSun"/>
              </a:rPr>
              <a:t>）</a:t>
            </a:r>
            <a:endParaRPr sz="1400">
              <a:latin typeface="SimSun"/>
              <a:cs typeface="SimSun"/>
            </a:endParaRPr>
          </a:p>
          <a:p>
            <a:pPr marL="354965" indent="-342265">
              <a:lnSpc>
                <a:spcPct val="100000"/>
              </a:lnSpc>
              <a:spcBef>
                <a:spcPts val="340"/>
              </a:spcBef>
              <a:buFont typeface="Wingdings"/>
              <a:buChar char=""/>
              <a:tabLst>
                <a:tab pos="354965" algn="l"/>
              </a:tabLst>
            </a:pPr>
            <a:r>
              <a:rPr dirty="0" sz="1400" spc="-20">
                <a:latin typeface="SimSun"/>
                <a:cs typeface="SimSun"/>
              </a:rPr>
              <a:t>单模光纤，用于</a:t>
            </a:r>
            <a:r>
              <a:rPr dirty="0" sz="1400" spc="-20">
                <a:latin typeface="Arial MT"/>
                <a:cs typeface="Arial MT"/>
              </a:rPr>
              <a:t>AAU</a:t>
            </a:r>
            <a:r>
              <a:rPr dirty="0" sz="1400" spc="-10">
                <a:latin typeface="SimSun"/>
                <a:cs typeface="SimSun"/>
              </a:rPr>
              <a:t>与</a:t>
            </a:r>
            <a:r>
              <a:rPr dirty="0" sz="1400" spc="-10">
                <a:latin typeface="Arial MT"/>
                <a:cs typeface="Arial MT"/>
              </a:rPr>
              <a:t>BBU</a:t>
            </a:r>
            <a:r>
              <a:rPr dirty="0" sz="1400" spc="-20">
                <a:latin typeface="SimSun"/>
                <a:cs typeface="SimSun"/>
              </a:rPr>
              <a:t>之间距离在</a:t>
            </a:r>
            <a:r>
              <a:rPr dirty="0" sz="1400" spc="-10">
                <a:latin typeface="Arial MT"/>
                <a:cs typeface="Arial MT"/>
              </a:rPr>
              <a:t>100m</a:t>
            </a:r>
            <a:r>
              <a:rPr dirty="0" sz="1400" spc="-20">
                <a:latin typeface="SimSun"/>
                <a:cs typeface="SimSun"/>
              </a:rPr>
              <a:t>以上距离使用，配合</a:t>
            </a:r>
            <a:r>
              <a:rPr dirty="0" sz="1400" spc="-20">
                <a:latin typeface="Arial MT"/>
                <a:cs typeface="Arial MT"/>
              </a:rPr>
              <a:t>DLC</a:t>
            </a:r>
            <a:r>
              <a:rPr dirty="0" sz="1400" spc="-20">
                <a:latin typeface="SimSun"/>
                <a:cs typeface="SimSun"/>
              </a:rPr>
              <a:t>单模光模块使用，</a:t>
            </a:r>
            <a:r>
              <a:rPr dirty="0" sz="1400" spc="-10">
                <a:latin typeface="Arial MT"/>
                <a:cs typeface="Arial MT"/>
              </a:rPr>
              <a:t>1</a:t>
            </a:r>
            <a:r>
              <a:rPr dirty="0" sz="1400" spc="-10">
                <a:latin typeface="SimSun"/>
                <a:cs typeface="SimSun"/>
              </a:rPr>
              <a:t>台</a:t>
            </a:r>
            <a:r>
              <a:rPr dirty="0" sz="1400" spc="-10">
                <a:latin typeface="Arial MT"/>
                <a:cs typeface="Arial MT"/>
              </a:rPr>
              <a:t>AAU</a:t>
            </a:r>
            <a:r>
              <a:rPr dirty="0" sz="1400" spc="-35">
                <a:latin typeface="SimSun"/>
                <a:cs typeface="SimSun"/>
              </a:rPr>
              <a:t>配置</a:t>
            </a:r>
            <a:endParaRPr sz="1400">
              <a:latin typeface="SimSun"/>
              <a:cs typeface="SimSun"/>
            </a:endParaRPr>
          </a:p>
          <a:p>
            <a:pPr marL="355600">
              <a:lnSpc>
                <a:spcPct val="100000"/>
              </a:lnSpc>
            </a:pPr>
            <a:r>
              <a:rPr dirty="0" sz="1400">
                <a:latin typeface="Arial MT"/>
                <a:cs typeface="Arial MT"/>
              </a:rPr>
              <a:t>1</a:t>
            </a:r>
            <a:r>
              <a:rPr dirty="0" sz="1400" spc="-20">
                <a:latin typeface="SimSun"/>
                <a:cs typeface="SimSun"/>
              </a:rPr>
              <a:t>条光纤。（</a:t>
            </a:r>
            <a:r>
              <a:rPr dirty="0" sz="1400" spc="-70">
                <a:latin typeface="SimSun"/>
                <a:cs typeface="SimSun"/>
              </a:rPr>
              <a:t> 可选长度：</a:t>
            </a:r>
            <a:r>
              <a:rPr dirty="0" sz="1400">
                <a:latin typeface="Arial MT"/>
                <a:cs typeface="Arial MT"/>
              </a:rPr>
              <a:t>100</a:t>
            </a:r>
            <a:r>
              <a:rPr dirty="0" sz="1400" spc="10">
                <a:latin typeface="Arial MT"/>
                <a:cs typeface="Arial MT"/>
              </a:rPr>
              <a:t> </a:t>
            </a:r>
            <a:r>
              <a:rPr dirty="0" sz="1400" spc="-10">
                <a:latin typeface="Arial MT"/>
                <a:cs typeface="Arial MT"/>
              </a:rPr>
              <a:t>m</a:t>
            </a:r>
            <a:r>
              <a:rPr dirty="0" sz="1400" spc="-20">
                <a:latin typeface="SimSun"/>
                <a:cs typeface="SimSun"/>
              </a:rPr>
              <a:t>、</a:t>
            </a:r>
            <a:r>
              <a:rPr dirty="0" sz="1400">
                <a:latin typeface="Arial MT"/>
                <a:cs typeface="Arial MT"/>
              </a:rPr>
              <a:t>120 m</a:t>
            </a:r>
            <a:r>
              <a:rPr dirty="0" sz="1400" spc="-20">
                <a:latin typeface="SimSun"/>
                <a:cs typeface="SimSun"/>
              </a:rPr>
              <a:t>、</a:t>
            </a:r>
            <a:r>
              <a:rPr dirty="0" sz="1400">
                <a:latin typeface="Arial MT"/>
                <a:cs typeface="Arial MT"/>
              </a:rPr>
              <a:t>150 </a:t>
            </a:r>
            <a:r>
              <a:rPr dirty="0" sz="1400" spc="-10">
                <a:latin typeface="Arial MT"/>
                <a:cs typeface="Arial MT"/>
              </a:rPr>
              <a:t>m</a:t>
            </a:r>
            <a:r>
              <a:rPr dirty="0" sz="1400" spc="-20">
                <a:latin typeface="SimSun"/>
                <a:cs typeface="SimSun"/>
              </a:rPr>
              <a:t>、</a:t>
            </a:r>
            <a:r>
              <a:rPr dirty="0" sz="1400">
                <a:latin typeface="Arial MT"/>
                <a:cs typeface="Arial MT"/>
              </a:rPr>
              <a:t>200 </a:t>
            </a:r>
            <a:r>
              <a:rPr dirty="0" sz="1400" spc="-25">
                <a:latin typeface="Arial MT"/>
                <a:cs typeface="Arial MT"/>
              </a:rPr>
              <a:t>m</a:t>
            </a:r>
            <a:r>
              <a:rPr dirty="0" sz="1400" spc="-25">
                <a:latin typeface="SimSun"/>
                <a:cs typeface="SimSun"/>
              </a:rPr>
              <a:t>）</a:t>
            </a:r>
            <a:endParaRPr sz="1400">
              <a:latin typeface="SimSun"/>
              <a:cs typeface="SimSun"/>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92373" y="113125"/>
            <a:ext cx="3279140" cy="513080"/>
          </a:xfrm>
          <a:prstGeom prst="rect"/>
        </p:spPr>
        <p:txBody>
          <a:bodyPr wrap="square" lIns="0" tIns="12065" rIns="0" bIns="0" rtlCol="0" vert="horz">
            <a:spAutoFit/>
          </a:bodyPr>
          <a:lstStyle/>
          <a:p>
            <a:pPr marL="12700">
              <a:lnSpc>
                <a:spcPct val="100000"/>
              </a:lnSpc>
              <a:spcBef>
                <a:spcPts val="95"/>
              </a:spcBef>
            </a:pPr>
            <a:r>
              <a:rPr dirty="0" spc="-45"/>
              <a:t>线缆安装工程规范</a:t>
            </a:r>
          </a:p>
        </p:txBody>
      </p:sp>
      <p:pic>
        <p:nvPicPr>
          <p:cNvPr id="3" name="object 3" descr=""/>
          <p:cNvPicPr/>
          <p:nvPr/>
        </p:nvPicPr>
        <p:blipFill>
          <a:blip r:embed="rId2" cstate="print"/>
          <a:stretch>
            <a:fillRect/>
          </a:stretch>
        </p:blipFill>
        <p:spPr>
          <a:xfrm>
            <a:off x="539546" y="816838"/>
            <a:ext cx="2664294" cy="530771"/>
          </a:xfrm>
          <a:prstGeom prst="rect">
            <a:avLst/>
          </a:prstGeom>
        </p:spPr>
      </p:pic>
      <p:sp>
        <p:nvSpPr>
          <p:cNvPr id="4" name="object 4" descr=""/>
          <p:cNvSpPr txBox="1"/>
          <p:nvPr/>
        </p:nvSpPr>
        <p:spPr>
          <a:xfrm>
            <a:off x="734720" y="923985"/>
            <a:ext cx="2273935" cy="299720"/>
          </a:xfrm>
          <a:prstGeom prst="rect">
            <a:avLst/>
          </a:prstGeom>
        </p:spPr>
        <p:txBody>
          <a:bodyPr wrap="square" lIns="0" tIns="12700" rIns="0" bIns="0" rtlCol="0" vert="horz">
            <a:spAutoFit/>
          </a:bodyPr>
          <a:lstStyle/>
          <a:p>
            <a:pPr marL="12700">
              <a:lnSpc>
                <a:spcPct val="100000"/>
              </a:lnSpc>
              <a:spcBef>
                <a:spcPts val="100"/>
              </a:spcBef>
            </a:pPr>
            <a:r>
              <a:rPr dirty="0" sz="1800">
                <a:latin typeface="Microsoft YaHei"/>
                <a:cs typeface="Microsoft YaHei"/>
              </a:rPr>
              <a:t>直流电源线</a:t>
            </a:r>
            <a:r>
              <a:rPr dirty="0" sz="1800" spc="-10">
                <a:latin typeface="Microsoft YaHei"/>
                <a:cs typeface="Microsoft YaHei"/>
              </a:rPr>
              <a:t>（</a:t>
            </a:r>
            <a:r>
              <a:rPr dirty="0" sz="1800" spc="-10">
                <a:latin typeface="Arial MT"/>
                <a:cs typeface="Arial MT"/>
              </a:rPr>
              <a:t>DCPD</a:t>
            </a:r>
            <a:r>
              <a:rPr dirty="0" sz="1800" spc="-10">
                <a:latin typeface="Microsoft YaHei"/>
                <a:cs typeface="Microsoft YaHei"/>
              </a:rPr>
              <a:t>）</a:t>
            </a:r>
            <a:endParaRPr sz="1800">
              <a:latin typeface="Microsoft YaHei"/>
              <a:cs typeface="Microsoft YaHei"/>
            </a:endParaRPr>
          </a:p>
        </p:txBody>
      </p:sp>
      <p:pic>
        <p:nvPicPr>
          <p:cNvPr id="5" name="object 5"/>
          <p:cNvPicPr/>
          <p:nvPr/>
        </p:nvPicPr>
        <p:blipFill>
          <a:blip r:embed="rId3" cstate="print"/>
          <a:stretch>
            <a:fillRect/>
          </a:stretch>
        </p:blipFill>
        <p:spPr>
          <a:xfrm>
            <a:off x="323532" y="1563637"/>
            <a:ext cx="2449508" cy="2117723"/>
          </a:xfrm>
          <a:prstGeom prst="rect">
            <a:avLst/>
          </a:prstGeom>
        </p:spPr>
      </p:pic>
      <p:pic>
        <p:nvPicPr>
          <p:cNvPr id="6" name="object 6"/>
          <p:cNvPicPr/>
          <p:nvPr/>
        </p:nvPicPr>
        <p:blipFill>
          <a:blip r:embed="rId4" cstate="print"/>
          <a:stretch>
            <a:fillRect/>
          </a:stretch>
        </p:blipFill>
        <p:spPr>
          <a:xfrm>
            <a:off x="3059836" y="1563636"/>
            <a:ext cx="1185857" cy="2117724"/>
          </a:xfrm>
          <a:prstGeom prst="rect">
            <a:avLst/>
          </a:prstGeom>
        </p:spPr>
      </p:pic>
      <p:pic>
        <p:nvPicPr>
          <p:cNvPr id="7" name="object 7"/>
          <p:cNvPicPr/>
          <p:nvPr/>
        </p:nvPicPr>
        <p:blipFill>
          <a:blip r:embed="rId5" cstate="print"/>
          <a:stretch>
            <a:fillRect/>
          </a:stretch>
        </p:blipFill>
        <p:spPr>
          <a:xfrm>
            <a:off x="4522615" y="915568"/>
            <a:ext cx="4138692" cy="2896958"/>
          </a:xfrm>
          <a:prstGeom prst="rect">
            <a:avLst/>
          </a:prstGeom>
        </p:spPr>
      </p:pic>
      <p:sp>
        <p:nvSpPr>
          <p:cNvPr id="8" name="object 8" descr=""/>
          <p:cNvSpPr txBox="1"/>
          <p:nvPr/>
        </p:nvSpPr>
        <p:spPr>
          <a:xfrm>
            <a:off x="434265" y="3715824"/>
            <a:ext cx="7215505" cy="1305560"/>
          </a:xfrm>
          <a:prstGeom prst="rect">
            <a:avLst/>
          </a:prstGeom>
        </p:spPr>
        <p:txBody>
          <a:bodyPr wrap="square" lIns="0" tIns="119380" rIns="0" bIns="0" rtlCol="0" vert="horz">
            <a:spAutoFit/>
          </a:bodyPr>
          <a:lstStyle/>
          <a:p>
            <a:pPr marL="380365" indent="-342265">
              <a:lnSpc>
                <a:spcPct val="100000"/>
              </a:lnSpc>
              <a:spcBef>
                <a:spcPts val="940"/>
              </a:spcBef>
              <a:buFont typeface="Wingdings"/>
              <a:buChar char=""/>
              <a:tabLst>
                <a:tab pos="380365" algn="l"/>
              </a:tabLst>
            </a:pPr>
            <a:r>
              <a:rPr dirty="0" sz="1400" spc="-20">
                <a:latin typeface="Microsoft YaHei"/>
                <a:cs typeface="Microsoft YaHei"/>
              </a:rPr>
              <a:t>50m</a:t>
            </a:r>
            <a:r>
              <a:rPr dirty="0" sz="1400" spc="-25">
                <a:latin typeface="Microsoft YaHei"/>
                <a:cs typeface="Microsoft YaHei"/>
              </a:rPr>
              <a:t>以内，AAU</a:t>
            </a:r>
            <a:r>
              <a:rPr dirty="0" sz="1400" spc="-20">
                <a:latin typeface="Microsoft YaHei"/>
                <a:cs typeface="Microsoft YaHei"/>
              </a:rPr>
              <a:t>选用直流供电线缆</a:t>
            </a:r>
            <a:r>
              <a:rPr dirty="0" sz="1400" spc="-10">
                <a:latin typeface="Microsoft YaHei"/>
                <a:cs typeface="Microsoft YaHei"/>
              </a:rPr>
              <a:t>2*10mm</a:t>
            </a:r>
            <a:r>
              <a:rPr dirty="0" baseline="24691" sz="1350" spc="-15">
                <a:latin typeface="Microsoft YaHei"/>
                <a:cs typeface="Microsoft YaHei"/>
              </a:rPr>
              <a:t>2</a:t>
            </a:r>
            <a:r>
              <a:rPr dirty="0" sz="1400" spc="-10">
                <a:latin typeface="Microsoft YaHei"/>
                <a:cs typeface="Microsoft YaHei"/>
              </a:rPr>
              <a:t>；</a:t>
            </a:r>
            <a:endParaRPr sz="1400">
              <a:latin typeface="Microsoft YaHei"/>
              <a:cs typeface="Microsoft YaHei"/>
            </a:endParaRPr>
          </a:p>
          <a:p>
            <a:pPr marL="380365" indent="-342265">
              <a:lnSpc>
                <a:spcPct val="100000"/>
              </a:lnSpc>
              <a:spcBef>
                <a:spcPts val="840"/>
              </a:spcBef>
              <a:buFont typeface="Wingdings"/>
              <a:buChar char=""/>
              <a:tabLst>
                <a:tab pos="380365" algn="l"/>
              </a:tabLst>
            </a:pPr>
            <a:r>
              <a:rPr dirty="0" sz="1400" spc="-10">
                <a:latin typeface="Microsoft YaHei"/>
                <a:cs typeface="Microsoft YaHei"/>
              </a:rPr>
              <a:t>50-</a:t>
            </a:r>
            <a:r>
              <a:rPr dirty="0" sz="1400" spc="-20">
                <a:latin typeface="Microsoft YaHei"/>
                <a:cs typeface="Microsoft YaHei"/>
              </a:rPr>
              <a:t>75m</a:t>
            </a:r>
            <a:r>
              <a:rPr dirty="0" sz="1400" spc="-25">
                <a:latin typeface="Microsoft YaHei"/>
                <a:cs typeface="Microsoft YaHei"/>
              </a:rPr>
              <a:t>以内，AAU</a:t>
            </a:r>
            <a:r>
              <a:rPr dirty="0" sz="1400" spc="-20">
                <a:latin typeface="Microsoft YaHei"/>
                <a:cs typeface="Microsoft YaHei"/>
              </a:rPr>
              <a:t>选用直流供电线缆</a:t>
            </a:r>
            <a:r>
              <a:rPr dirty="0" sz="1400" spc="-10">
                <a:latin typeface="Microsoft YaHei"/>
                <a:cs typeface="Microsoft YaHei"/>
              </a:rPr>
              <a:t>2*16mm</a:t>
            </a:r>
            <a:r>
              <a:rPr dirty="0" baseline="24691" sz="1350" spc="-15">
                <a:latin typeface="Microsoft YaHei"/>
                <a:cs typeface="Microsoft YaHei"/>
              </a:rPr>
              <a:t>2</a:t>
            </a:r>
            <a:r>
              <a:rPr dirty="0" sz="1400" spc="-10">
                <a:latin typeface="Microsoft YaHei"/>
                <a:cs typeface="Microsoft YaHei"/>
              </a:rPr>
              <a:t>；</a:t>
            </a:r>
            <a:endParaRPr sz="1400">
              <a:latin typeface="Microsoft YaHei"/>
              <a:cs typeface="Microsoft YaHei"/>
            </a:endParaRPr>
          </a:p>
          <a:p>
            <a:pPr marL="380365" indent="-342265">
              <a:lnSpc>
                <a:spcPct val="100000"/>
              </a:lnSpc>
              <a:spcBef>
                <a:spcPts val="840"/>
              </a:spcBef>
              <a:buFont typeface="Wingdings"/>
              <a:buChar char=""/>
              <a:tabLst>
                <a:tab pos="380365" algn="l"/>
              </a:tabLst>
            </a:pPr>
            <a:r>
              <a:rPr dirty="0" sz="1400" spc="-20">
                <a:latin typeface="Microsoft YaHei"/>
                <a:cs typeface="Microsoft YaHei"/>
              </a:rPr>
              <a:t>160m以内配合</a:t>
            </a:r>
            <a:r>
              <a:rPr dirty="0" sz="1400" spc="-10">
                <a:latin typeface="Microsoft YaHei"/>
                <a:cs typeface="Microsoft YaHei"/>
              </a:rPr>
              <a:t>OCB</a:t>
            </a:r>
            <a:r>
              <a:rPr dirty="0" sz="1400" spc="-30">
                <a:latin typeface="Microsoft YaHei"/>
                <a:cs typeface="Microsoft YaHei"/>
              </a:rPr>
              <a:t>转接盒。</a:t>
            </a:r>
            <a:endParaRPr sz="1400">
              <a:latin typeface="Microsoft YaHei"/>
              <a:cs typeface="Microsoft YaHei"/>
            </a:endParaRPr>
          </a:p>
          <a:p>
            <a:pPr marL="380365" indent="-342265">
              <a:lnSpc>
                <a:spcPct val="100000"/>
              </a:lnSpc>
              <a:spcBef>
                <a:spcPts val="840"/>
              </a:spcBef>
              <a:buFont typeface="Wingdings"/>
              <a:buChar char=""/>
              <a:tabLst>
                <a:tab pos="380365" algn="l"/>
              </a:tabLst>
            </a:pPr>
            <a:r>
              <a:rPr dirty="0" sz="1400">
                <a:latin typeface="Microsoft YaHei"/>
                <a:cs typeface="Microsoft YaHei"/>
              </a:rPr>
              <a:t>BBU</a:t>
            </a:r>
            <a:r>
              <a:rPr dirty="0" sz="1400" spc="100">
                <a:latin typeface="Microsoft YaHei"/>
                <a:cs typeface="Microsoft YaHei"/>
              </a:rPr>
              <a:t> </a:t>
            </a:r>
            <a:r>
              <a:rPr dirty="0" sz="1400" spc="-10">
                <a:latin typeface="Microsoft YaHei"/>
                <a:cs typeface="Microsoft YaHei"/>
              </a:rPr>
              <a:t>4*6mm</a:t>
            </a:r>
            <a:r>
              <a:rPr dirty="0" baseline="24691" sz="1350" spc="-15">
                <a:latin typeface="Microsoft YaHei"/>
                <a:cs typeface="Microsoft YaHei"/>
              </a:rPr>
              <a:t>2</a:t>
            </a:r>
            <a:r>
              <a:rPr dirty="0" sz="1400" spc="-20">
                <a:latin typeface="Microsoft YaHei"/>
                <a:cs typeface="Microsoft YaHei"/>
              </a:rPr>
              <a:t>电源线，</a:t>
            </a:r>
            <a:r>
              <a:rPr dirty="0" sz="1400" spc="-10">
                <a:latin typeface="Microsoft YaHei"/>
                <a:cs typeface="Microsoft YaHei"/>
              </a:rPr>
              <a:t>2</a:t>
            </a:r>
            <a:r>
              <a:rPr dirty="0" sz="1400" spc="-20">
                <a:latin typeface="Microsoft YaHei"/>
                <a:cs typeface="Microsoft YaHei"/>
              </a:rPr>
              <a:t>个芯线压接在一个铜鼻子上时，铜鼻子的截面积要求为</a:t>
            </a:r>
            <a:r>
              <a:rPr dirty="0" sz="1400" spc="-10">
                <a:latin typeface="Microsoft YaHei"/>
                <a:cs typeface="Microsoft YaHei"/>
              </a:rPr>
              <a:t>10mm²</a:t>
            </a:r>
            <a:endParaRPr sz="1400">
              <a:latin typeface="Microsoft YaHei"/>
              <a:cs typeface="Microsoft YaHei"/>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82933" y="158369"/>
            <a:ext cx="488188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AAU</a:t>
            </a:r>
            <a:r>
              <a:rPr dirty="0" spc="-35"/>
              <a:t>直流电源线</a:t>
            </a:r>
            <a:r>
              <a:rPr dirty="0" spc="-10"/>
              <a:t>（</a:t>
            </a:r>
            <a:r>
              <a:rPr dirty="0" spc="-10">
                <a:latin typeface="Times New Roman"/>
                <a:cs typeface="Times New Roman"/>
              </a:rPr>
              <a:t>CDPD</a:t>
            </a:r>
            <a:r>
              <a:rPr dirty="0" spc="-10"/>
              <a:t>）</a:t>
            </a:r>
          </a:p>
        </p:txBody>
      </p:sp>
      <p:sp>
        <p:nvSpPr>
          <p:cNvPr id="3" name="object 3" descr=""/>
          <p:cNvSpPr txBox="1"/>
          <p:nvPr/>
        </p:nvSpPr>
        <p:spPr>
          <a:xfrm>
            <a:off x="335614" y="3640389"/>
            <a:ext cx="7832090" cy="985519"/>
          </a:xfrm>
          <a:prstGeom prst="rect">
            <a:avLst/>
          </a:prstGeom>
        </p:spPr>
        <p:txBody>
          <a:bodyPr wrap="square" lIns="0" tIns="119380" rIns="0" bIns="0" rtlCol="0" vert="horz">
            <a:spAutoFit/>
          </a:bodyPr>
          <a:lstStyle/>
          <a:p>
            <a:pPr marL="354965" indent="-342265">
              <a:lnSpc>
                <a:spcPct val="100000"/>
              </a:lnSpc>
              <a:spcBef>
                <a:spcPts val="940"/>
              </a:spcBef>
              <a:buFont typeface="Wingdings"/>
              <a:buChar char=""/>
              <a:tabLst>
                <a:tab pos="354965" algn="l"/>
              </a:tabLst>
            </a:pPr>
            <a:r>
              <a:rPr dirty="0" sz="1400" spc="-20">
                <a:latin typeface="SimSun"/>
                <a:cs typeface="SimSun"/>
              </a:rPr>
              <a:t>理线架应安装在机柜</a:t>
            </a:r>
            <a:r>
              <a:rPr dirty="0" sz="1400" spc="-20">
                <a:latin typeface="Times New Roman"/>
                <a:cs typeface="Times New Roman"/>
              </a:rPr>
              <a:t>DCPD</a:t>
            </a:r>
            <a:r>
              <a:rPr dirty="0" sz="1400" spc="-20">
                <a:latin typeface="SimSun"/>
                <a:cs typeface="SimSun"/>
              </a:rPr>
              <a:t>下侧</a:t>
            </a:r>
            <a:r>
              <a:rPr dirty="0" sz="1400" spc="-20">
                <a:latin typeface="Times New Roman"/>
                <a:cs typeface="Times New Roman"/>
              </a:rPr>
              <a:t>1U</a:t>
            </a:r>
            <a:r>
              <a:rPr dirty="0" sz="1400" spc="-10">
                <a:latin typeface="SimSun"/>
                <a:cs typeface="SimSun"/>
              </a:rPr>
              <a:t>处，</a:t>
            </a:r>
            <a:r>
              <a:rPr dirty="0" sz="1400" spc="-10">
                <a:latin typeface="Times New Roman"/>
                <a:cs typeface="Times New Roman"/>
              </a:rPr>
              <a:t>DCPD</a:t>
            </a:r>
            <a:r>
              <a:rPr dirty="0" sz="1400" spc="-25">
                <a:latin typeface="SimSun"/>
                <a:cs typeface="SimSun"/>
              </a:rPr>
              <a:t>输出电源线必须帮扎在理线架上，绑扎整齐牢固；</a:t>
            </a:r>
            <a:endParaRPr sz="1400">
              <a:latin typeface="SimSun"/>
              <a:cs typeface="SimSun"/>
            </a:endParaRPr>
          </a:p>
          <a:p>
            <a:pPr marL="354965" indent="-342265">
              <a:lnSpc>
                <a:spcPct val="100000"/>
              </a:lnSpc>
              <a:spcBef>
                <a:spcPts val="840"/>
              </a:spcBef>
              <a:buFont typeface="Wingdings"/>
              <a:buChar char=""/>
              <a:tabLst>
                <a:tab pos="354965" algn="l"/>
              </a:tabLst>
            </a:pPr>
            <a:r>
              <a:rPr dirty="0" sz="1400" spc="-20">
                <a:latin typeface="Times New Roman"/>
                <a:cs typeface="Times New Roman"/>
              </a:rPr>
              <a:t>DCPD</a:t>
            </a:r>
            <a:r>
              <a:rPr dirty="0" sz="1400" spc="-25">
                <a:latin typeface="SimSun"/>
                <a:cs typeface="SimSun"/>
              </a:rPr>
              <a:t>前面板输入输出的保护盖必须安装到位；</a:t>
            </a:r>
            <a:endParaRPr sz="1400">
              <a:latin typeface="SimSun"/>
              <a:cs typeface="SimSun"/>
            </a:endParaRPr>
          </a:p>
          <a:p>
            <a:pPr marL="354965" indent="-342265">
              <a:lnSpc>
                <a:spcPct val="100000"/>
              </a:lnSpc>
              <a:spcBef>
                <a:spcPts val="840"/>
              </a:spcBef>
              <a:buFont typeface="Wingdings"/>
              <a:buChar char=""/>
              <a:tabLst>
                <a:tab pos="354965" algn="l"/>
              </a:tabLst>
            </a:pPr>
            <a:r>
              <a:rPr dirty="0" sz="1400" spc="-20">
                <a:latin typeface="SimSun"/>
                <a:cs typeface="SimSun"/>
              </a:rPr>
              <a:t>电源线的铜鼻子与接线端子的连接方式正确（铜鼻子的安装方向严格按照保护盖上的指示操作</a:t>
            </a:r>
            <a:r>
              <a:rPr dirty="0" sz="1400" spc="-50">
                <a:latin typeface="SimSun"/>
                <a:cs typeface="SimSun"/>
              </a:rPr>
              <a:t>）</a:t>
            </a:r>
            <a:endParaRPr sz="1400">
              <a:latin typeface="SimSun"/>
              <a:cs typeface="SimSun"/>
            </a:endParaRPr>
          </a:p>
        </p:txBody>
      </p:sp>
      <p:pic>
        <p:nvPicPr>
          <p:cNvPr id="4" name="object 4"/>
          <p:cNvPicPr/>
          <p:nvPr/>
        </p:nvPicPr>
        <p:blipFill>
          <a:blip r:embed="rId2" cstate="print"/>
          <a:stretch>
            <a:fillRect/>
          </a:stretch>
        </p:blipFill>
        <p:spPr>
          <a:xfrm>
            <a:off x="755575" y="987577"/>
            <a:ext cx="6984769" cy="2340803"/>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41460" y="158369"/>
            <a:ext cx="456692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AAU</a:t>
            </a:r>
            <a:r>
              <a:rPr dirty="0" spc="-45"/>
              <a:t>直流电源连接器制作</a:t>
            </a:r>
          </a:p>
        </p:txBody>
      </p:sp>
      <p:pic>
        <p:nvPicPr>
          <p:cNvPr id="3" name="object 3"/>
          <p:cNvPicPr/>
          <p:nvPr/>
        </p:nvPicPr>
        <p:blipFill>
          <a:blip r:embed="rId2" cstate="print"/>
          <a:stretch>
            <a:fillRect/>
          </a:stretch>
        </p:blipFill>
        <p:spPr>
          <a:xfrm>
            <a:off x="394657" y="961940"/>
            <a:ext cx="3060986" cy="655200"/>
          </a:xfrm>
          <a:prstGeom prst="rect">
            <a:avLst/>
          </a:prstGeom>
        </p:spPr>
      </p:pic>
      <p:pic>
        <p:nvPicPr>
          <p:cNvPr id="4" name="object 4"/>
          <p:cNvPicPr/>
          <p:nvPr/>
        </p:nvPicPr>
        <p:blipFill>
          <a:blip r:embed="rId3" cstate="print"/>
          <a:stretch>
            <a:fillRect/>
          </a:stretch>
        </p:blipFill>
        <p:spPr>
          <a:xfrm>
            <a:off x="4139951" y="956170"/>
            <a:ext cx="1222369" cy="660974"/>
          </a:xfrm>
          <a:prstGeom prst="rect">
            <a:avLst/>
          </a:prstGeom>
        </p:spPr>
      </p:pic>
      <p:pic>
        <p:nvPicPr>
          <p:cNvPr id="5" name="object 5"/>
          <p:cNvPicPr/>
          <p:nvPr/>
        </p:nvPicPr>
        <p:blipFill>
          <a:blip r:embed="rId4" cstate="print"/>
          <a:stretch>
            <a:fillRect/>
          </a:stretch>
        </p:blipFill>
        <p:spPr>
          <a:xfrm>
            <a:off x="5561826" y="902770"/>
            <a:ext cx="1075168" cy="773541"/>
          </a:xfrm>
          <a:prstGeom prst="rect">
            <a:avLst/>
          </a:prstGeom>
        </p:spPr>
      </p:pic>
      <p:grpSp>
        <p:nvGrpSpPr>
          <p:cNvPr id="6" name="object 6" descr=""/>
          <p:cNvGrpSpPr/>
          <p:nvPr/>
        </p:nvGrpSpPr>
        <p:grpSpPr>
          <a:xfrm>
            <a:off x="6693772" y="779068"/>
            <a:ext cx="2329815" cy="2380615"/>
            <a:chOff x="6693772" y="779068"/>
            <a:chExt cx="2329815" cy="2380615"/>
          </a:xfrm>
        </p:grpSpPr>
        <p:pic>
          <p:nvPicPr>
            <p:cNvPr id="7" name="object 7"/>
            <p:cNvPicPr/>
            <p:nvPr/>
          </p:nvPicPr>
          <p:blipFill>
            <a:blip r:embed="rId5" cstate="print"/>
            <a:stretch>
              <a:fillRect/>
            </a:stretch>
          </p:blipFill>
          <p:spPr>
            <a:xfrm>
              <a:off x="7095072" y="779068"/>
              <a:ext cx="1928087" cy="910640"/>
            </a:xfrm>
            <a:prstGeom prst="rect">
              <a:avLst/>
            </a:prstGeom>
          </p:spPr>
        </p:pic>
        <p:pic>
          <p:nvPicPr>
            <p:cNvPr id="8" name="object 8"/>
            <p:cNvPicPr/>
            <p:nvPr/>
          </p:nvPicPr>
          <p:blipFill>
            <a:blip r:embed="rId6" cstate="print"/>
            <a:stretch>
              <a:fillRect/>
            </a:stretch>
          </p:blipFill>
          <p:spPr>
            <a:xfrm>
              <a:off x="6832021" y="2018982"/>
              <a:ext cx="1453281" cy="1140111"/>
            </a:xfrm>
            <a:prstGeom prst="rect">
              <a:avLst/>
            </a:prstGeom>
          </p:spPr>
        </p:pic>
        <p:sp>
          <p:nvSpPr>
            <p:cNvPr id="9" name="object 9" descr=""/>
            <p:cNvSpPr/>
            <p:nvPr/>
          </p:nvSpPr>
          <p:spPr>
            <a:xfrm>
              <a:off x="6706472" y="1160920"/>
              <a:ext cx="388620" cy="257810"/>
            </a:xfrm>
            <a:custGeom>
              <a:avLst/>
              <a:gdLst/>
              <a:ahLst/>
              <a:cxnLst/>
              <a:rect l="l" t="t" r="r" b="b"/>
              <a:pathLst>
                <a:path w="388620" h="257809">
                  <a:moveTo>
                    <a:pt x="259981" y="0"/>
                  </a:moveTo>
                  <a:lnTo>
                    <a:pt x="259981" y="64312"/>
                  </a:lnTo>
                  <a:lnTo>
                    <a:pt x="0" y="64312"/>
                  </a:lnTo>
                  <a:lnTo>
                    <a:pt x="0" y="192925"/>
                  </a:lnTo>
                  <a:lnTo>
                    <a:pt x="259981" y="192925"/>
                  </a:lnTo>
                  <a:lnTo>
                    <a:pt x="259981" y="257238"/>
                  </a:lnTo>
                  <a:lnTo>
                    <a:pt x="388607" y="128625"/>
                  </a:lnTo>
                  <a:lnTo>
                    <a:pt x="259981" y="0"/>
                  </a:lnTo>
                  <a:close/>
                </a:path>
              </a:pathLst>
            </a:custGeom>
            <a:solidFill>
              <a:srgbClr val="00BFFF"/>
            </a:solidFill>
          </p:spPr>
          <p:txBody>
            <a:bodyPr wrap="square" lIns="0" tIns="0" rIns="0" bIns="0" rtlCol="0"/>
            <a:lstStyle/>
            <a:p/>
          </p:txBody>
        </p:sp>
        <p:sp>
          <p:nvSpPr>
            <p:cNvPr id="10" name="object 10" descr=""/>
            <p:cNvSpPr/>
            <p:nvPr/>
          </p:nvSpPr>
          <p:spPr>
            <a:xfrm>
              <a:off x="6706472" y="1160920"/>
              <a:ext cx="388620" cy="257810"/>
            </a:xfrm>
            <a:custGeom>
              <a:avLst/>
              <a:gdLst/>
              <a:ahLst/>
              <a:cxnLst/>
              <a:rect l="l" t="t" r="r" b="b"/>
              <a:pathLst>
                <a:path w="388620" h="257809">
                  <a:moveTo>
                    <a:pt x="0" y="64312"/>
                  </a:moveTo>
                  <a:lnTo>
                    <a:pt x="259981" y="64312"/>
                  </a:lnTo>
                  <a:lnTo>
                    <a:pt x="259981" y="0"/>
                  </a:lnTo>
                  <a:lnTo>
                    <a:pt x="388607" y="128625"/>
                  </a:lnTo>
                  <a:lnTo>
                    <a:pt x="259981" y="257238"/>
                  </a:lnTo>
                  <a:lnTo>
                    <a:pt x="259981" y="192925"/>
                  </a:lnTo>
                  <a:lnTo>
                    <a:pt x="0" y="192925"/>
                  </a:lnTo>
                  <a:lnTo>
                    <a:pt x="0" y="64312"/>
                  </a:lnTo>
                  <a:close/>
                </a:path>
              </a:pathLst>
            </a:custGeom>
            <a:ln w="25400">
              <a:solidFill>
                <a:srgbClr val="00BFFF"/>
              </a:solidFill>
            </a:ln>
          </p:spPr>
          <p:txBody>
            <a:bodyPr wrap="square" lIns="0" tIns="0" rIns="0" bIns="0" rtlCol="0"/>
            <a:lstStyle/>
            <a:p/>
          </p:txBody>
        </p:sp>
        <p:sp>
          <p:nvSpPr>
            <p:cNvPr id="11" name="object 11" descr=""/>
            <p:cNvSpPr/>
            <p:nvPr/>
          </p:nvSpPr>
          <p:spPr>
            <a:xfrm>
              <a:off x="7627415" y="1689715"/>
              <a:ext cx="257810" cy="388620"/>
            </a:xfrm>
            <a:custGeom>
              <a:avLst/>
              <a:gdLst/>
              <a:ahLst/>
              <a:cxnLst/>
              <a:rect l="l" t="t" r="r" b="b"/>
              <a:pathLst>
                <a:path w="257809" h="388619">
                  <a:moveTo>
                    <a:pt x="192925" y="0"/>
                  </a:moveTo>
                  <a:lnTo>
                    <a:pt x="64312" y="0"/>
                  </a:lnTo>
                  <a:lnTo>
                    <a:pt x="64312" y="259981"/>
                  </a:lnTo>
                  <a:lnTo>
                    <a:pt x="0" y="259981"/>
                  </a:lnTo>
                  <a:lnTo>
                    <a:pt x="128612" y="388607"/>
                  </a:lnTo>
                  <a:lnTo>
                    <a:pt x="257238" y="259981"/>
                  </a:lnTo>
                  <a:lnTo>
                    <a:pt x="192925" y="259981"/>
                  </a:lnTo>
                  <a:lnTo>
                    <a:pt x="192925" y="0"/>
                  </a:lnTo>
                  <a:close/>
                </a:path>
              </a:pathLst>
            </a:custGeom>
            <a:solidFill>
              <a:srgbClr val="00BFFF"/>
            </a:solidFill>
          </p:spPr>
          <p:txBody>
            <a:bodyPr wrap="square" lIns="0" tIns="0" rIns="0" bIns="0" rtlCol="0"/>
            <a:lstStyle/>
            <a:p/>
          </p:txBody>
        </p:sp>
        <p:sp>
          <p:nvSpPr>
            <p:cNvPr id="12" name="object 12" descr=""/>
            <p:cNvSpPr/>
            <p:nvPr/>
          </p:nvSpPr>
          <p:spPr>
            <a:xfrm>
              <a:off x="7627415" y="1689715"/>
              <a:ext cx="257810" cy="388620"/>
            </a:xfrm>
            <a:custGeom>
              <a:avLst/>
              <a:gdLst/>
              <a:ahLst/>
              <a:cxnLst/>
              <a:rect l="l" t="t" r="r" b="b"/>
              <a:pathLst>
                <a:path w="257809" h="388619">
                  <a:moveTo>
                    <a:pt x="192925" y="0"/>
                  </a:moveTo>
                  <a:lnTo>
                    <a:pt x="192925" y="259981"/>
                  </a:lnTo>
                  <a:lnTo>
                    <a:pt x="257238" y="259981"/>
                  </a:lnTo>
                  <a:lnTo>
                    <a:pt x="128612" y="388607"/>
                  </a:lnTo>
                  <a:lnTo>
                    <a:pt x="0" y="259981"/>
                  </a:lnTo>
                  <a:lnTo>
                    <a:pt x="64312" y="259981"/>
                  </a:lnTo>
                  <a:lnTo>
                    <a:pt x="64312" y="0"/>
                  </a:lnTo>
                  <a:lnTo>
                    <a:pt x="192925" y="0"/>
                  </a:lnTo>
                  <a:close/>
                </a:path>
              </a:pathLst>
            </a:custGeom>
            <a:ln w="25400">
              <a:solidFill>
                <a:srgbClr val="00BFFF"/>
              </a:solidFill>
            </a:ln>
          </p:spPr>
          <p:txBody>
            <a:bodyPr wrap="square" lIns="0" tIns="0" rIns="0" bIns="0" rtlCol="0"/>
            <a:lstStyle/>
            <a:p/>
          </p:txBody>
        </p:sp>
      </p:grpSp>
      <p:pic>
        <p:nvPicPr>
          <p:cNvPr id="13" name="object 13"/>
          <p:cNvPicPr/>
          <p:nvPr/>
        </p:nvPicPr>
        <p:blipFill>
          <a:blip r:embed="rId7" cstate="print"/>
          <a:stretch>
            <a:fillRect/>
          </a:stretch>
        </p:blipFill>
        <p:spPr>
          <a:xfrm>
            <a:off x="4354220" y="1996617"/>
            <a:ext cx="2262902" cy="1184846"/>
          </a:xfrm>
          <a:prstGeom prst="rect">
            <a:avLst/>
          </a:prstGeom>
        </p:spPr>
      </p:pic>
      <p:pic>
        <p:nvPicPr>
          <p:cNvPr id="14" name="object 14"/>
          <p:cNvPicPr/>
          <p:nvPr/>
        </p:nvPicPr>
        <p:blipFill>
          <a:blip r:embed="rId8" cstate="print"/>
          <a:stretch>
            <a:fillRect/>
          </a:stretch>
        </p:blipFill>
        <p:spPr>
          <a:xfrm>
            <a:off x="4572000" y="3405433"/>
            <a:ext cx="2260020" cy="1607700"/>
          </a:xfrm>
          <a:prstGeom prst="rect">
            <a:avLst/>
          </a:prstGeom>
        </p:spPr>
      </p:pic>
      <p:pic>
        <p:nvPicPr>
          <p:cNvPr id="15" name="object 15"/>
          <p:cNvPicPr/>
          <p:nvPr/>
        </p:nvPicPr>
        <p:blipFill>
          <a:blip r:embed="rId9" cstate="print"/>
          <a:stretch>
            <a:fillRect/>
          </a:stretch>
        </p:blipFill>
        <p:spPr>
          <a:xfrm>
            <a:off x="479962" y="1817116"/>
            <a:ext cx="3127371" cy="3153344"/>
          </a:xfrm>
          <a:prstGeom prst="rect">
            <a:avLst/>
          </a:prstGeom>
        </p:spPr>
      </p:pic>
      <p:grpSp>
        <p:nvGrpSpPr>
          <p:cNvPr id="16" name="object 16" descr=""/>
          <p:cNvGrpSpPr/>
          <p:nvPr/>
        </p:nvGrpSpPr>
        <p:grpSpPr>
          <a:xfrm>
            <a:off x="3594634" y="1190895"/>
            <a:ext cx="414020" cy="283210"/>
            <a:chOff x="3594634" y="1190895"/>
            <a:chExt cx="414020" cy="283210"/>
          </a:xfrm>
        </p:grpSpPr>
        <p:sp>
          <p:nvSpPr>
            <p:cNvPr id="17" name="object 17" descr=""/>
            <p:cNvSpPr/>
            <p:nvPr/>
          </p:nvSpPr>
          <p:spPr>
            <a:xfrm>
              <a:off x="3607334" y="1203595"/>
              <a:ext cx="388620" cy="257810"/>
            </a:xfrm>
            <a:custGeom>
              <a:avLst/>
              <a:gdLst/>
              <a:ahLst/>
              <a:cxnLst/>
              <a:rect l="l" t="t" r="r" b="b"/>
              <a:pathLst>
                <a:path w="388620" h="257809">
                  <a:moveTo>
                    <a:pt x="259981" y="0"/>
                  </a:moveTo>
                  <a:lnTo>
                    <a:pt x="259981" y="64312"/>
                  </a:lnTo>
                  <a:lnTo>
                    <a:pt x="0" y="64312"/>
                  </a:lnTo>
                  <a:lnTo>
                    <a:pt x="0" y="192938"/>
                  </a:lnTo>
                  <a:lnTo>
                    <a:pt x="259981" y="192938"/>
                  </a:lnTo>
                  <a:lnTo>
                    <a:pt x="259981" y="257238"/>
                  </a:lnTo>
                  <a:lnTo>
                    <a:pt x="388594" y="128625"/>
                  </a:lnTo>
                  <a:lnTo>
                    <a:pt x="259981" y="0"/>
                  </a:lnTo>
                  <a:close/>
                </a:path>
              </a:pathLst>
            </a:custGeom>
            <a:solidFill>
              <a:srgbClr val="00BFFF"/>
            </a:solidFill>
          </p:spPr>
          <p:txBody>
            <a:bodyPr wrap="square" lIns="0" tIns="0" rIns="0" bIns="0" rtlCol="0"/>
            <a:lstStyle/>
            <a:p/>
          </p:txBody>
        </p:sp>
        <p:sp>
          <p:nvSpPr>
            <p:cNvPr id="18" name="object 18" descr=""/>
            <p:cNvSpPr/>
            <p:nvPr/>
          </p:nvSpPr>
          <p:spPr>
            <a:xfrm>
              <a:off x="3607334" y="1203595"/>
              <a:ext cx="388620" cy="257810"/>
            </a:xfrm>
            <a:custGeom>
              <a:avLst/>
              <a:gdLst/>
              <a:ahLst/>
              <a:cxnLst/>
              <a:rect l="l" t="t" r="r" b="b"/>
              <a:pathLst>
                <a:path w="388620" h="257809">
                  <a:moveTo>
                    <a:pt x="0" y="64312"/>
                  </a:moveTo>
                  <a:lnTo>
                    <a:pt x="259981" y="64312"/>
                  </a:lnTo>
                  <a:lnTo>
                    <a:pt x="259981" y="0"/>
                  </a:lnTo>
                  <a:lnTo>
                    <a:pt x="388594" y="128625"/>
                  </a:lnTo>
                  <a:lnTo>
                    <a:pt x="259981" y="257238"/>
                  </a:lnTo>
                  <a:lnTo>
                    <a:pt x="259981" y="192938"/>
                  </a:lnTo>
                  <a:lnTo>
                    <a:pt x="0" y="192938"/>
                  </a:lnTo>
                  <a:lnTo>
                    <a:pt x="0" y="64312"/>
                  </a:lnTo>
                  <a:close/>
                </a:path>
              </a:pathLst>
            </a:custGeom>
            <a:ln w="25400">
              <a:solidFill>
                <a:srgbClr val="00BFFF"/>
              </a:solidFill>
            </a:ln>
          </p:spPr>
          <p:txBody>
            <a:bodyPr wrap="square" lIns="0" tIns="0" rIns="0" bIns="0" rtlCol="0"/>
            <a:lstStyle/>
            <a:p/>
          </p:txBody>
        </p:sp>
      </p:grpSp>
      <p:grpSp>
        <p:nvGrpSpPr>
          <p:cNvPr id="19" name="object 19" descr=""/>
          <p:cNvGrpSpPr/>
          <p:nvPr/>
        </p:nvGrpSpPr>
        <p:grpSpPr>
          <a:xfrm>
            <a:off x="3808916" y="2458730"/>
            <a:ext cx="414020" cy="283210"/>
            <a:chOff x="3808916" y="2458730"/>
            <a:chExt cx="414020" cy="283210"/>
          </a:xfrm>
        </p:grpSpPr>
        <p:sp>
          <p:nvSpPr>
            <p:cNvPr id="20" name="object 20" descr=""/>
            <p:cNvSpPr/>
            <p:nvPr/>
          </p:nvSpPr>
          <p:spPr>
            <a:xfrm>
              <a:off x="3821616" y="2471430"/>
              <a:ext cx="388620" cy="257810"/>
            </a:xfrm>
            <a:custGeom>
              <a:avLst/>
              <a:gdLst/>
              <a:ahLst/>
              <a:cxnLst/>
              <a:rect l="l" t="t" r="r" b="b"/>
              <a:pathLst>
                <a:path w="388620" h="257810">
                  <a:moveTo>
                    <a:pt x="128625" y="0"/>
                  </a:moveTo>
                  <a:lnTo>
                    <a:pt x="0" y="128612"/>
                  </a:lnTo>
                  <a:lnTo>
                    <a:pt x="128625" y="257238"/>
                  </a:lnTo>
                  <a:lnTo>
                    <a:pt x="128625" y="192925"/>
                  </a:lnTo>
                  <a:lnTo>
                    <a:pt x="388607" y="192925"/>
                  </a:lnTo>
                  <a:lnTo>
                    <a:pt x="388607" y="64312"/>
                  </a:lnTo>
                  <a:lnTo>
                    <a:pt x="128625" y="64312"/>
                  </a:lnTo>
                  <a:lnTo>
                    <a:pt x="128625" y="0"/>
                  </a:lnTo>
                  <a:close/>
                </a:path>
              </a:pathLst>
            </a:custGeom>
            <a:solidFill>
              <a:srgbClr val="00BFFF"/>
            </a:solidFill>
          </p:spPr>
          <p:txBody>
            <a:bodyPr wrap="square" lIns="0" tIns="0" rIns="0" bIns="0" rtlCol="0"/>
            <a:lstStyle/>
            <a:p/>
          </p:txBody>
        </p:sp>
        <p:sp>
          <p:nvSpPr>
            <p:cNvPr id="21" name="object 21" descr=""/>
            <p:cNvSpPr/>
            <p:nvPr/>
          </p:nvSpPr>
          <p:spPr>
            <a:xfrm>
              <a:off x="3821616" y="2471430"/>
              <a:ext cx="388620" cy="257810"/>
            </a:xfrm>
            <a:custGeom>
              <a:avLst/>
              <a:gdLst/>
              <a:ahLst/>
              <a:cxnLst/>
              <a:rect l="l" t="t" r="r" b="b"/>
              <a:pathLst>
                <a:path w="388620" h="257810">
                  <a:moveTo>
                    <a:pt x="388607" y="192925"/>
                  </a:moveTo>
                  <a:lnTo>
                    <a:pt x="128625" y="192925"/>
                  </a:lnTo>
                  <a:lnTo>
                    <a:pt x="128625" y="257238"/>
                  </a:lnTo>
                  <a:lnTo>
                    <a:pt x="0" y="128612"/>
                  </a:lnTo>
                  <a:lnTo>
                    <a:pt x="128625" y="0"/>
                  </a:lnTo>
                  <a:lnTo>
                    <a:pt x="128625" y="64312"/>
                  </a:lnTo>
                  <a:lnTo>
                    <a:pt x="388607" y="64312"/>
                  </a:lnTo>
                  <a:lnTo>
                    <a:pt x="388607" y="192925"/>
                  </a:lnTo>
                  <a:close/>
                </a:path>
              </a:pathLst>
            </a:custGeom>
            <a:ln w="25400">
              <a:solidFill>
                <a:srgbClr val="00BFFF"/>
              </a:solidFill>
            </a:ln>
          </p:spPr>
          <p:txBody>
            <a:bodyPr wrap="square" lIns="0" tIns="0" rIns="0" bIns="0" rtlCol="0"/>
            <a:lstStyle/>
            <a:p/>
          </p:txBody>
        </p:sp>
      </p:grpSp>
      <p:grpSp>
        <p:nvGrpSpPr>
          <p:cNvPr id="22" name="object 22" descr=""/>
          <p:cNvGrpSpPr/>
          <p:nvPr/>
        </p:nvGrpSpPr>
        <p:grpSpPr>
          <a:xfrm>
            <a:off x="3939097" y="4196581"/>
            <a:ext cx="414020" cy="283210"/>
            <a:chOff x="3939097" y="4196581"/>
            <a:chExt cx="414020" cy="283210"/>
          </a:xfrm>
        </p:grpSpPr>
        <p:sp>
          <p:nvSpPr>
            <p:cNvPr id="23" name="object 23" descr=""/>
            <p:cNvSpPr/>
            <p:nvPr/>
          </p:nvSpPr>
          <p:spPr>
            <a:xfrm>
              <a:off x="3951797" y="4209281"/>
              <a:ext cx="388620" cy="257810"/>
            </a:xfrm>
            <a:custGeom>
              <a:avLst/>
              <a:gdLst/>
              <a:ahLst/>
              <a:cxnLst/>
              <a:rect l="l" t="t" r="r" b="b"/>
              <a:pathLst>
                <a:path w="388620" h="257810">
                  <a:moveTo>
                    <a:pt x="259981" y="0"/>
                  </a:moveTo>
                  <a:lnTo>
                    <a:pt x="259981" y="64312"/>
                  </a:lnTo>
                  <a:lnTo>
                    <a:pt x="0" y="64312"/>
                  </a:lnTo>
                  <a:lnTo>
                    <a:pt x="0" y="192938"/>
                  </a:lnTo>
                  <a:lnTo>
                    <a:pt x="259981" y="192938"/>
                  </a:lnTo>
                  <a:lnTo>
                    <a:pt x="259981" y="257238"/>
                  </a:lnTo>
                  <a:lnTo>
                    <a:pt x="388607" y="128625"/>
                  </a:lnTo>
                  <a:lnTo>
                    <a:pt x="259981" y="0"/>
                  </a:lnTo>
                  <a:close/>
                </a:path>
              </a:pathLst>
            </a:custGeom>
            <a:solidFill>
              <a:srgbClr val="00BFFF"/>
            </a:solidFill>
          </p:spPr>
          <p:txBody>
            <a:bodyPr wrap="square" lIns="0" tIns="0" rIns="0" bIns="0" rtlCol="0"/>
            <a:lstStyle/>
            <a:p/>
          </p:txBody>
        </p:sp>
        <p:sp>
          <p:nvSpPr>
            <p:cNvPr id="24" name="object 24" descr=""/>
            <p:cNvSpPr/>
            <p:nvPr/>
          </p:nvSpPr>
          <p:spPr>
            <a:xfrm>
              <a:off x="3951797" y="4209281"/>
              <a:ext cx="388620" cy="257810"/>
            </a:xfrm>
            <a:custGeom>
              <a:avLst/>
              <a:gdLst/>
              <a:ahLst/>
              <a:cxnLst/>
              <a:rect l="l" t="t" r="r" b="b"/>
              <a:pathLst>
                <a:path w="388620" h="257810">
                  <a:moveTo>
                    <a:pt x="0" y="64312"/>
                  </a:moveTo>
                  <a:lnTo>
                    <a:pt x="259981" y="64312"/>
                  </a:lnTo>
                  <a:lnTo>
                    <a:pt x="259981" y="0"/>
                  </a:lnTo>
                  <a:lnTo>
                    <a:pt x="388607" y="128625"/>
                  </a:lnTo>
                  <a:lnTo>
                    <a:pt x="259981" y="257238"/>
                  </a:lnTo>
                  <a:lnTo>
                    <a:pt x="259981" y="192938"/>
                  </a:lnTo>
                  <a:lnTo>
                    <a:pt x="0" y="192938"/>
                  </a:lnTo>
                  <a:lnTo>
                    <a:pt x="0" y="64312"/>
                  </a:lnTo>
                  <a:close/>
                </a:path>
              </a:pathLst>
            </a:custGeom>
            <a:ln w="25400">
              <a:solidFill>
                <a:srgbClr val="00BFFF"/>
              </a:solidFill>
            </a:ln>
          </p:spPr>
          <p:txBody>
            <a:bodyPr wrap="square" lIns="0" tIns="0" rIns="0" bIns="0" rtlCol="0"/>
            <a:lstStyle/>
            <a:p/>
          </p:txBody>
        </p: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1904" y="113125"/>
            <a:ext cx="3281679" cy="513080"/>
          </a:xfrm>
          <a:prstGeom prst="rect"/>
        </p:spPr>
        <p:txBody>
          <a:bodyPr wrap="square" lIns="0" tIns="12065" rIns="0" bIns="0" rtlCol="0" vert="horz">
            <a:spAutoFit/>
          </a:bodyPr>
          <a:lstStyle/>
          <a:p>
            <a:pPr marL="12700">
              <a:lnSpc>
                <a:spcPct val="100000"/>
              </a:lnSpc>
              <a:spcBef>
                <a:spcPts val="95"/>
              </a:spcBef>
            </a:pPr>
            <a:r>
              <a:rPr dirty="0" spc="-40"/>
              <a:t>线缆安装工程规范</a:t>
            </a:r>
          </a:p>
        </p:txBody>
      </p:sp>
      <p:sp>
        <p:nvSpPr>
          <p:cNvPr id="3" name="object 3" descr=""/>
          <p:cNvSpPr txBox="1"/>
          <p:nvPr/>
        </p:nvSpPr>
        <p:spPr>
          <a:xfrm>
            <a:off x="690299" y="868196"/>
            <a:ext cx="7830184" cy="848360"/>
          </a:xfrm>
          <a:prstGeom prst="rect">
            <a:avLst/>
          </a:prstGeom>
        </p:spPr>
        <p:txBody>
          <a:bodyPr wrap="square" lIns="0" tIns="12700" rIns="0" bIns="0" rtlCol="0" vert="horz">
            <a:spAutoFit/>
          </a:bodyPr>
          <a:lstStyle/>
          <a:p>
            <a:pPr marL="12700">
              <a:lnSpc>
                <a:spcPct val="100000"/>
              </a:lnSpc>
              <a:spcBef>
                <a:spcPts val="100"/>
              </a:spcBef>
            </a:pPr>
            <a:r>
              <a:rPr dirty="0" sz="1800" spc="-20">
                <a:latin typeface="Microsoft YaHei"/>
                <a:cs typeface="Microsoft YaHei"/>
              </a:rPr>
              <a:t>注意：</a:t>
            </a:r>
            <a:endParaRPr sz="1800">
              <a:latin typeface="Microsoft YaHei"/>
              <a:cs typeface="Microsoft YaHei"/>
            </a:endParaRPr>
          </a:p>
          <a:p>
            <a:pPr marL="12700" marR="5080">
              <a:lnSpc>
                <a:spcPct val="100000"/>
              </a:lnSpc>
            </a:pPr>
            <a:r>
              <a:rPr dirty="0" sz="1800">
                <a:latin typeface="Microsoft YaHei"/>
                <a:cs typeface="Microsoft YaHei"/>
              </a:rPr>
              <a:t>安装电源线时，应注意</a:t>
            </a:r>
            <a:r>
              <a:rPr dirty="0" sz="1800" spc="-25">
                <a:latin typeface="Microsoft YaHei"/>
                <a:cs typeface="Microsoft YaHei"/>
              </a:rPr>
              <a:t>AAU</a:t>
            </a:r>
            <a:r>
              <a:rPr dirty="0" sz="1800">
                <a:latin typeface="Microsoft YaHei"/>
                <a:cs typeface="Microsoft YaHei"/>
              </a:rPr>
              <a:t>直流电源线连接器正负极与电源线红蓝线对应。</a:t>
            </a:r>
            <a:r>
              <a:rPr dirty="0" sz="1800" spc="-50">
                <a:latin typeface="Microsoft YaHei"/>
                <a:cs typeface="Microsoft YaHei"/>
              </a:rPr>
              <a:t>（</a:t>
            </a:r>
            <a:r>
              <a:rPr dirty="0" sz="1800">
                <a:latin typeface="Microsoft YaHei"/>
                <a:cs typeface="Microsoft YaHei"/>
              </a:rPr>
              <a:t>红线对应正极或</a:t>
            </a:r>
            <a:r>
              <a:rPr dirty="0" sz="1800" spc="-10">
                <a:latin typeface="Microsoft YaHei"/>
                <a:cs typeface="Microsoft YaHei"/>
              </a:rPr>
              <a:t>B</a:t>
            </a:r>
            <a:r>
              <a:rPr dirty="0" sz="1800">
                <a:latin typeface="Microsoft YaHei"/>
                <a:cs typeface="Microsoft YaHei"/>
              </a:rPr>
              <a:t>、蓝线对应负极或</a:t>
            </a:r>
            <a:r>
              <a:rPr dirty="0" sz="1800" spc="-25">
                <a:latin typeface="Microsoft YaHei"/>
                <a:cs typeface="Microsoft YaHei"/>
              </a:rPr>
              <a:t>A）</a:t>
            </a:r>
            <a:endParaRPr sz="1800">
              <a:latin typeface="Microsoft YaHei"/>
              <a:cs typeface="Microsoft YaHei"/>
            </a:endParaRPr>
          </a:p>
        </p:txBody>
      </p:sp>
      <p:pic>
        <p:nvPicPr>
          <p:cNvPr id="4" name="object 4"/>
          <p:cNvPicPr/>
          <p:nvPr/>
        </p:nvPicPr>
        <p:blipFill>
          <a:blip r:embed="rId2" cstate="print"/>
          <a:stretch>
            <a:fillRect/>
          </a:stretch>
        </p:blipFill>
        <p:spPr>
          <a:xfrm>
            <a:off x="755576" y="2283717"/>
            <a:ext cx="2543172" cy="2257421"/>
          </a:xfrm>
          <a:prstGeom prst="rect">
            <a:avLst/>
          </a:prstGeom>
        </p:spPr>
      </p:pic>
      <p:grpSp>
        <p:nvGrpSpPr>
          <p:cNvPr id="5" name="object 5" descr=""/>
          <p:cNvGrpSpPr/>
          <p:nvPr/>
        </p:nvGrpSpPr>
        <p:grpSpPr>
          <a:xfrm>
            <a:off x="3838193" y="2294381"/>
            <a:ext cx="2296160" cy="2284095"/>
            <a:chOff x="3838193" y="2294381"/>
            <a:chExt cx="2296160" cy="2284095"/>
          </a:xfrm>
        </p:grpSpPr>
        <p:pic>
          <p:nvPicPr>
            <p:cNvPr id="6" name="object 6"/>
            <p:cNvPicPr/>
            <p:nvPr/>
          </p:nvPicPr>
          <p:blipFill>
            <a:blip r:embed="rId3" cstate="print"/>
            <a:stretch>
              <a:fillRect/>
            </a:stretch>
          </p:blipFill>
          <p:spPr>
            <a:xfrm>
              <a:off x="3838193" y="2294381"/>
              <a:ext cx="2269997" cy="2258567"/>
            </a:xfrm>
            <a:prstGeom prst="rect">
              <a:avLst/>
            </a:prstGeom>
          </p:spPr>
        </p:pic>
        <p:pic>
          <p:nvPicPr>
            <p:cNvPr id="7" name="object 7" descr=""/>
            <p:cNvPicPr/>
            <p:nvPr/>
          </p:nvPicPr>
          <p:blipFill>
            <a:blip r:embed="rId4" cstate="print"/>
            <a:stretch>
              <a:fillRect/>
            </a:stretch>
          </p:blipFill>
          <p:spPr>
            <a:xfrm>
              <a:off x="3851922" y="2307465"/>
              <a:ext cx="2282176" cy="2270629"/>
            </a:xfrm>
            <a:prstGeom prst="rect">
              <a:avLst/>
            </a:prstGeom>
          </p:spPr>
        </p:pic>
      </p:grpSp>
      <p:pic>
        <p:nvPicPr>
          <p:cNvPr id="8" name="object 8"/>
          <p:cNvPicPr/>
          <p:nvPr/>
        </p:nvPicPr>
        <p:blipFill>
          <a:blip r:embed="rId5" cstate="print"/>
          <a:stretch>
            <a:fillRect/>
          </a:stretch>
        </p:blipFill>
        <p:spPr>
          <a:xfrm>
            <a:off x="6660230" y="2307466"/>
            <a:ext cx="2160579" cy="1381121"/>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92373" y="113125"/>
            <a:ext cx="3279140" cy="513080"/>
          </a:xfrm>
          <a:prstGeom prst="rect"/>
        </p:spPr>
        <p:txBody>
          <a:bodyPr wrap="square" lIns="0" tIns="12065" rIns="0" bIns="0" rtlCol="0" vert="horz">
            <a:spAutoFit/>
          </a:bodyPr>
          <a:lstStyle/>
          <a:p>
            <a:pPr marL="12700">
              <a:lnSpc>
                <a:spcPct val="100000"/>
              </a:lnSpc>
              <a:spcBef>
                <a:spcPts val="95"/>
              </a:spcBef>
            </a:pPr>
            <a:r>
              <a:rPr dirty="0" spc="-45"/>
              <a:t>线缆安装工程规范</a:t>
            </a:r>
          </a:p>
        </p:txBody>
      </p:sp>
      <p:pic>
        <p:nvPicPr>
          <p:cNvPr id="3" name="object 3" descr=""/>
          <p:cNvPicPr/>
          <p:nvPr/>
        </p:nvPicPr>
        <p:blipFill>
          <a:blip r:embed="rId2" cstate="print"/>
          <a:stretch>
            <a:fillRect/>
          </a:stretch>
        </p:blipFill>
        <p:spPr>
          <a:xfrm>
            <a:off x="539546" y="895350"/>
            <a:ext cx="3384372" cy="452259"/>
          </a:xfrm>
          <a:prstGeom prst="rect">
            <a:avLst/>
          </a:prstGeom>
        </p:spPr>
      </p:pic>
      <p:sp>
        <p:nvSpPr>
          <p:cNvPr id="4" name="object 4" descr=""/>
          <p:cNvSpPr txBox="1"/>
          <p:nvPr/>
        </p:nvSpPr>
        <p:spPr>
          <a:xfrm>
            <a:off x="402089" y="963240"/>
            <a:ext cx="3395979" cy="1613535"/>
          </a:xfrm>
          <a:prstGeom prst="rect">
            <a:avLst/>
          </a:prstGeom>
        </p:spPr>
        <p:txBody>
          <a:bodyPr wrap="square" lIns="0" tIns="12700" rIns="0" bIns="0" rtlCol="0" vert="horz">
            <a:spAutoFit/>
          </a:bodyPr>
          <a:lstStyle/>
          <a:p>
            <a:pPr marL="793750">
              <a:lnSpc>
                <a:spcPct val="100000"/>
              </a:lnSpc>
              <a:spcBef>
                <a:spcPts val="100"/>
              </a:spcBef>
            </a:pPr>
            <a:r>
              <a:rPr dirty="0" sz="1800">
                <a:latin typeface="Arial MT"/>
                <a:cs typeface="Arial MT"/>
              </a:rPr>
              <a:t>AAU</a:t>
            </a:r>
            <a:r>
              <a:rPr dirty="0" sz="1800" spc="-10">
                <a:latin typeface="Microsoft YaHei"/>
                <a:cs typeface="Microsoft YaHei"/>
              </a:rPr>
              <a:t>电源连接器安装</a:t>
            </a:r>
            <a:endParaRPr sz="1800">
              <a:latin typeface="Microsoft YaHei"/>
              <a:cs typeface="Microsoft YaHei"/>
            </a:endParaRPr>
          </a:p>
          <a:p>
            <a:pPr marL="12700">
              <a:lnSpc>
                <a:spcPct val="100000"/>
              </a:lnSpc>
              <a:spcBef>
                <a:spcPts val="1100"/>
              </a:spcBef>
            </a:pPr>
            <a:r>
              <a:rPr dirty="0" sz="1400" spc="-10">
                <a:latin typeface="Microsoft YaHei"/>
                <a:cs typeface="Microsoft YaHei"/>
              </a:rPr>
              <a:t>1</a:t>
            </a:r>
            <a:r>
              <a:rPr dirty="0" sz="1400" spc="-20">
                <a:latin typeface="Microsoft YaHei"/>
                <a:cs typeface="Microsoft YaHei"/>
              </a:rPr>
              <a:t>、打开连接器保护帽,打开AAU</a:t>
            </a:r>
            <a:r>
              <a:rPr dirty="0" sz="1400" spc="-30">
                <a:latin typeface="Microsoft YaHei"/>
                <a:cs typeface="Microsoft YaHei"/>
              </a:rPr>
              <a:t>电源保护帽</a:t>
            </a:r>
            <a:endParaRPr sz="1400">
              <a:latin typeface="Microsoft YaHei"/>
              <a:cs typeface="Microsoft YaHei"/>
            </a:endParaRPr>
          </a:p>
          <a:p>
            <a:pPr marL="12700">
              <a:lnSpc>
                <a:spcPct val="100000"/>
              </a:lnSpc>
              <a:spcBef>
                <a:spcPts val="840"/>
              </a:spcBef>
            </a:pPr>
            <a:r>
              <a:rPr dirty="0" sz="1400" spc="-10">
                <a:latin typeface="Microsoft YaHei"/>
                <a:cs typeface="Microsoft YaHei"/>
              </a:rPr>
              <a:t>2</a:t>
            </a:r>
            <a:r>
              <a:rPr dirty="0" sz="1400" spc="-20">
                <a:latin typeface="Microsoft YaHei"/>
                <a:cs typeface="Microsoft YaHei"/>
              </a:rPr>
              <a:t>、将连接器安装到</a:t>
            </a:r>
            <a:r>
              <a:rPr dirty="0" sz="1400" spc="-25">
                <a:latin typeface="Microsoft YaHei"/>
                <a:cs typeface="Microsoft YaHei"/>
              </a:rPr>
              <a:t>AAU</a:t>
            </a:r>
            <a:r>
              <a:rPr dirty="0" sz="1400" spc="-30">
                <a:latin typeface="Microsoft YaHei"/>
                <a:cs typeface="Microsoft YaHei"/>
              </a:rPr>
              <a:t>电源端子上</a:t>
            </a:r>
            <a:endParaRPr sz="1400">
              <a:latin typeface="Microsoft YaHei"/>
              <a:cs typeface="Microsoft YaHei"/>
            </a:endParaRPr>
          </a:p>
          <a:p>
            <a:pPr marL="12700">
              <a:lnSpc>
                <a:spcPct val="100000"/>
              </a:lnSpc>
              <a:spcBef>
                <a:spcPts val="840"/>
              </a:spcBef>
            </a:pPr>
            <a:r>
              <a:rPr dirty="0" sz="1400" spc="-10">
                <a:latin typeface="Microsoft YaHei"/>
                <a:cs typeface="Microsoft YaHei"/>
              </a:rPr>
              <a:t>3</a:t>
            </a:r>
            <a:r>
              <a:rPr dirty="0" sz="1400" spc="-25">
                <a:latin typeface="Microsoft YaHei"/>
                <a:cs typeface="Microsoft YaHei"/>
              </a:rPr>
              <a:t>、将电源连接器安装到位。</a:t>
            </a:r>
            <a:endParaRPr sz="1400">
              <a:latin typeface="Microsoft YaHei"/>
              <a:cs typeface="Microsoft YaHei"/>
            </a:endParaRPr>
          </a:p>
          <a:p>
            <a:pPr marL="12700">
              <a:lnSpc>
                <a:spcPct val="100000"/>
              </a:lnSpc>
              <a:spcBef>
                <a:spcPts val="840"/>
              </a:spcBef>
            </a:pPr>
            <a:r>
              <a:rPr dirty="0" sz="1400" spc="-10">
                <a:latin typeface="Microsoft YaHei"/>
                <a:cs typeface="Microsoft YaHei"/>
              </a:rPr>
              <a:t>4</a:t>
            </a:r>
            <a:r>
              <a:rPr dirty="0" sz="1400" spc="-25">
                <a:latin typeface="Microsoft YaHei"/>
                <a:cs typeface="Microsoft YaHei"/>
              </a:rPr>
              <a:t>、用防水胶带或冷缩套管做好防水。</a:t>
            </a:r>
            <a:endParaRPr sz="1400">
              <a:latin typeface="Microsoft YaHei"/>
              <a:cs typeface="Microsoft YaHei"/>
            </a:endParaRPr>
          </a:p>
        </p:txBody>
      </p:sp>
      <p:pic>
        <p:nvPicPr>
          <p:cNvPr id="5" name="object 5"/>
          <p:cNvPicPr/>
          <p:nvPr/>
        </p:nvPicPr>
        <p:blipFill>
          <a:blip r:embed="rId3" cstate="print"/>
          <a:stretch>
            <a:fillRect/>
          </a:stretch>
        </p:blipFill>
        <p:spPr>
          <a:xfrm>
            <a:off x="274414" y="2627035"/>
            <a:ext cx="2065331" cy="2435222"/>
          </a:xfrm>
          <a:prstGeom prst="rect">
            <a:avLst/>
          </a:prstGeom>
        </p:spPr>
      </p:pic>
      <p:grpSp>
        <p:nvGrpSpPr>
          <p:cNvPr id="6" name="object 6" descr=""/>
          <p:cNvGrpSpPr/>
          <p:nvPr/>
        </p:nvGrpSpPr>
        <p:grpSpPr>
          <a:xfrm>
            <a:off x="2915818" y="2652689"/>
            <a:ext cx="4120515" cy="2435225"/>
            <a:chOff x="2915818" y="2652689"/>
            <a:chExt cx="4120515" cy="2435225"/>
          </a:xfrm>
        </p:grpSpPr>
        <p:pic>
          <p:nvPicPr>
            <p:cNvPr id="7" name="object 7"/>
            <p:cNvPicPr/>
            <p:nvPr/>
          </p:nvPicPr>
          <p:blipFill>
            <a:blip r:embed="rId4" cstate="print"/>
            <a:stretch>
              <a:fillRect/>
            </a:stretch>
          </p:blipFill>
          <p:spPr>
            <a:xfrm>
              <a:off x="2915818" y="2652689"/>
              <a:ext cx="1497009" cy="2435222"/>
            </a:xfrm>
            <a:prstGeom prst="rect">
              <a:avLst/>
            </a:prstGeom>
          </p:spPr>
        </p:pic>
        <p:pic>
          <p:nvPicPr>
            <p:cNvPr id="8" name="object 8" descr=""/>
            <p:cNvPicPr/>
            <p:nvPr/>
          </p:nvPicPr>
          <p:blipFill>
            <a:blip r:embed="rId5" cstate="print"/>
            <a:stretch>
              <a:fillRect/>
            </a:stretch>
          </p:blipFill>
          <p:spPr>
            <a:xfrm>
              <a:off x="4788026" y="2652690"/>
              <a:ext cx="2247896" cy="2349496"/>
            </a:xfrm>
            <a:prstGeom prst="rect">
              <a:avLst/>
            </a:prstGeom>
          </p:spPr>
        </p:pic>
        <p:sp>
          <p:nvSpPr>
            <p:cNvPr id="9" name="object 9" descr=""/>
            <p:cNvSpPr/>
            <p:nvPr/>
          </p:nvSpPr>
          <p:spPr>
            <a:xfrm>
              <a:off x="4464521" y="3507856"/>
              <a:ext cx="301625" cy="167005"/>
            </a:xfrm>
            <a:custGeom>
              <a:avLst/>
              <a:gdLst/>
              <a:ahLst/>
              <a:cxnLst/>
              <a:rect l="l" t="t" r="r" b="b"/>
              <a:pathLst>
                <a:path w="301625" h="167004">
                  <a:moveTo>
                    <a:pt x="218287" y="0"/>
                  </a:moveTo>
                  <a:lnTo>
                    <a:pt x="218287" y="41668"/>
                  </a:lnTo>
                  <a:lnTo>
                    <a:pt x="0" y="41668"/>
                  </a:lnTo>
                  <a:lnTo>
                    <a:pt x="0" y="125006"/>
                  </a:lnTo>
                  <a:lnTo>
                    <a:pt x="218287" y="125006"/>
                  </a:lnTo>
                  <a:lnTo>
                    <a:pt x="218287" y="166687"/>
                  </a:lnTo>
                  <a:lnTo>
                    <a:pt x="301625" y="83337"/>
                  </a:lnTo>
                  <a:lnTo>
                    <a:pt x="218287" y="0"/>
                  </a:lnTo>
                  <a:close/>
                </a:path>
              </a:pathLst>
            </a:custGeom>
            <a:solidFill>
              <a:srgbClr val="00B0F0"/>
            </a:solidFill>
          </p:spPr>
          <p:txBody>
            <a:bodyPr wrap="square" lIns="0" tIns="0" rIns="0" bIns="0" rtlCol="0"/>
            <a:lstStyle/>
            <a:p/>
          </p:txBody>
        </p:sp>
        <p:sp>
          <p:nvSpPr>
            <p:cNvPr id="10" name="object 10" descr=""/>
            <p:cNvSpPr/>
            <p:nvPr/>
          </p:nvSpPr>
          <p:spPr>
            <a:xfrm>
              <a:off x="4464521" y="3507856"/>
              <a:ext cx="301625" cy="167005"/>
            </a:xfrm>
            <a:custGeom>
              <a:avLst/>
              <a:gdLst/>
              <a:ahLst/>
              <a:cxnLst/>
              <a:rect l="l" t="t" r="r" b="b"/>
              <a:pathLst>
                <a:path w="301625" h="167004">
                  <a:moveTo>
                    <a:pt x="0" y="41668"/>
                  </a:moveTo>
                  <a:lnTo>
                    <a:pt x="218287" y="41668"/>
                  </a:lnTo>
                  <a:lnTo>
                    <a:pt x="218287" y="0"/>
                  </a:lnTo>
                  <a:lnTo>
                    <a:pt x="301625" y="83337"/>
                  </a:lnTo>
                  <a:lnTo>
                    <a:pt x="218287" y="166687"/>
                  </a:lnTo>
                  <a:lnTo>
                    <a:pt x="218287" y="125006"/>
                  </a:lnTo>
                  <a:lnTo>
                    <a:pt x="0" y="125006"/>
                  </a:lnTo>
                  <a:lnTo>
                    <a:pt x="0" y="41668"/>
                  </a:lnTo>
                  <a:close/>
                </a:path>
              </a:pathLst>
            </a:custGeom>
            <a:ln w="25400">
              <a:solidFill>
                <a:srgbClr val="00B0F0"/>
              </a:solidFill>
            </a:ln>
          </p:spPr>
          <p:txBody>
            <a:bodyPr wrap="square" lIns="0" tIns="0" rIns="0" bIns="0" rtlCol="0"/>
            <a:lstStyle/>
            <a:p/>
          </p:txBody>
        </p:sp>
      </p:grpSp>
      <p:pic>
        <p:nvPicPr>
          <p:cNvPr id="11" name="object 11"/>
          <p:cNvPicPr/>
          <p:nvPr/>
        </p:nvPicPr>
        <p:blipFill>
          <a:blip r:embed="rId6" cstate="print"/>
          <a:stretch>
            <a:fillRect/>
          </a:stretch>
        </p:blipFill>
        <p:spPr>
          <a:xfrm>
            <a:off x="7596340" y="2595286"/>
            <a:ext cx="1522408" cy="2466971"/>
          </a:xfrm>
          <a:prstGeom prst="rect">
            <a:avLst/>
          </a:prstGeom>
        </p:spPr>
      </p:pic>
      <p:grpSp>
        <p:nvGrpSpPr>
          <p:cNvPr id="12" name="object 12" descr=""/>
          <p:cNvGrpSpPr/>
          <p:nvPr/>
        </p:nvGrpSpPr>
        <p:grpSpPr>
          <a:xfrm>
            <a:off x="2474912" y="3495156"/>
            <a:ext cx="327025" cy="192405"/>
            <a:chOff x="2474912" y="3495156"/>
            <a:chExt cx="327025" cy="192405"/>
          </a:xfrm>
        </p:grpSpPr>
        <p:sp>
          <p:nvSpPr>
            <p:cNvPr id="13" name="object 13" descr=""/>
            <p:cNvSpPr/>
            <p:nvPr/>
          </p:nvSpPr>
          <p:spPr>
            <a:xfrm>
              <a:off x="2487612" y="3507856"/>
              <a:ext cx="301625" cy="167005"/>
            </a:xfrm>
            <a:custGeom>
              <a:avLst/>
              <a:gdLst/>
              <a:ahLst/>
              <a:cxnLst/>
              <a:rect l="l" t="t" r="r" b="b"/>
              <a:pathLst>
                <a:path w="301625" h="167004">
                  <a:moveTo>
                    <a:pt x="218287" y="0"/>
                  </a:moveTo>
                  <a:lnTo>
                    <a:pt x="218287" y="41668"/>
                  </a:lnTo>
                  <a:lnTo>
                    <a:pt x="0" y="41668"/>
                  </a:lnTo>
                  <a:lnTo>
                    <a:pt x="0" y="125006"/>
                  </a:lnTo>
                  <a:lnTo>
                    <a:pt x="218287" y="125006"/>
                  </a:lnTo>
                  <a:lnTo>
                    <a:pt x="218287" y="166687"/>
                  </a:lnTo>
                  <a:lnTo>
                    <a:pt x="301625" y="83337"/>
                  </a:lnTo>
                  <a:lnTo>
                    <a:pt x="218287" y="0"/>
                  </a:lnTo>
                  <a:close/>
                </a:path>
              </a:pathLst>
            </a:custGeom>
            <a:solidFill>
              <a:srgbClr val="00B0F0"/>
            </a:solidFill>
          </p:spPr>
          <p:txBody>
            <a:bodyPr wrap="square" lIns="0" tIns="0" rIns="0" bIns="0" rtlCol="0"/>
            <a:lstStyle/>
            <a:p/>
          </p:txBody>
        </p:sp>
        <p:sp>
          <p:nvSpPr>
            <p:cNvPr id="14" name="object 14" descr=""/>
            <p:cNvSpPr/>
            <p:nvPr/>
          </p:nvSpPr>
          <p:spPr>
            <a:xfrm>
              <a:off x="2487612" y="3507856"/>
              <a:ext cx="301625" cy="167005"/>
            </a:xfrm>
            <a:custGeom>
              <a:avLst/>
              <a:gdLst/>
              <a:ahLst/>
              <a:cxnLst/>
              <a:rect l="l" t="t" r="r" b="b"/>
              <a:pathLst>
                <a:path w="301625" h="167004">
                  <a:moveTo>
                    <a:pt x="0" y="41668"/>
                  </a:moveTo>
                  <a:lnTo>
                    <a:pt x="218287" y="41668"/>
                  </a:lnTo>
                  <a:lnTo>
                    <a:pt x="218287" y="0"/>
                  </a:lnTo>
                  <a:lnTo>
                    <a:pt x="301625" y="83337"/>
                  </a:lnTo>
                  <a:lnTo>
                    <a:pt x="218287" y="166687"/>
                  </a:lnTo>
                  <a:lnTo>
                    <a:pt x="218287" y="125006"/>
                  </a:lnTo>
                  <a:lnTo>
                    <a:pt x="0" y="125006"/>
                  </a:lnTo>
                  <a:lnTo>
                    <a:pt x="0" y="41668"/>
                  </a:lnTo>
                  <a:close/>
                </a:path>
              </a:pathLst>
            </a:custGeom>
            <a:ln w="25400">
              <a:solidFill>
                <a:srgbClr val="00B0F0"/>
              </a:solidFill>
            </a:ln>
          </p:spPr>
          <p:txBody>
            <a:bodyPr wrap="square" lIns="0" tIns="0" rIns="0" bIns="0" rtlCol="0"/>
            <a:lstStyle/>
            <a:p/>
          </p:txBody>
        </p:sp>
      </p:grpSp>
      <p:grpSp>
        <p:nvGrpSpPr>
          <p:cNvPr id="15" name="object 15" descr=""/>
          <p:cNvGrpSpPr/>
          <p:nvPr/>
        </p:nvGrpSpPr>
        <p:grpSpPr>
          <a:xfrm>
            <a:off x="7217015" y="3495156"/>
            <a:ext cx="325755" cy="192405"/>
            <a:chOff x="7217015" y="3495156"/>
            <a:chExt cx="325755" cy="192405"/>
          </a:xfrm>
        </p:grpSpPr>
        <p:sp>
          <p:nvSpPr>
            <p:cNvPr id="16" name="object 16" descr=""/>
            <p:cNvSpPr/>
            <p:nvPr/>
          </p:nvSpPr>
          <p:spPr>
            <a:xfrm>
              <a:off x="7229715" y="3507856"/>
              <a:ext cx="300355" cy="167005"/>
            </a:xfrm>
            <a:custGeom>
              <a:avLst/>
              <a:gdLst/>
              <a:ahLst/>
              <a:cxnLst/>
              <a:rect l="l" t="t" r="r" b="b"/>
              <a:pathLst>
                <a:path w="300354" h="167004">
                  <a:moveTo>
                    <a:pt x="216687" y="0"/>
                  </a:moveTo>
                  <a:lnTo>
                    <a:pt x="216687" y="41668"/>
                  </a:lnTo>
                  <a:lnTo>
                    <a:pt x="0" y="41668"/>
                  </a:lnTo>
                  <a:lnTo>
                    <a:pt x="0" y="125018"/>
                  </a:lnTo>
                  <a:lnTo>
                    <a:pt x="216687" y="125018"/>
                  </a:lnTo>
                  <a:lnTo>
                    <a:pt x="216687" y="166687"/>
                  </a:lnTo>
                  <a:lnTo>
                    <a:pt x="300037" y="83337"/>
                  </a:lnTo>
                  <a:lnTo>
                    <a:pt x="216687" y="0"/>
                  </a:lnTo>
                  <a:close/>
                </a:path>
              </a:pathLst>
            </a:custGeom>
            <a:solidFill>
              <a:srgbClr val="00B0F0"/>
            </a:solidFill>
          </p:spPr>
          <p:txBody>
            <a:bodyPr wrap="square" lIns="0" tIns="0" rIns="0" bIns="0" rtlCol="0"/>
            <a:lstStyle/>
            <a:p/>
          </p:txBody>
        </p:sp>
        <p:sp>
          <p:nvSpPr>
            <p:cNvPr id="17" name="object 17" descr=""/>
            <p:cNvSpPr/>
            <p:nvPr/>
          </p:nvSpPr>
          <p:spPr>
            <a:xfrm>
              <a:off x="7229715" y="3507856"/>
              <a:ext cx="300355" cy="167005"/>
            </a:xfrm>
            <a:custGeom>
              <a:avLst/>
              <a:gdLst/>
              <a:ahLst/>
              <a:cxnLst/>
              <a:rect l="l" t="t" r="r" b="b"/>
              <a:pathLst>
                <a:path w="300354" h="167004">
                  <a:moveTo>
                    <a:pt x="0" y="41668"/>
                  </a:moveTo>
                  <a:lnTo>
                    <a:pt x="216687" y="41668"/>
                  </a:lnTo>
                  <a:lnTo>
                    <a:pt x="216687" y="0"/>
                  </a:lnTo>
                  <a:lnTo>
                    <a:pt x="300037" y="83337"/>
                  </a:lnTo>
                  <a:lnTo>
                    <a:pt x="216687" y="166687"/>
                  </a:lnTo>
                  <a:lnTo>
                    <a:pt x="216687" y="125018"/>
                  </a:lnTo>
                  <a:lnTo>
                    <a:pt x="0" y="125018"/>
                  </a:lnTo>
                  <a:lnTo>
                    <a:pt x="0" y="41668"/>
                  </a:lnTo>
                  <a:close/>
                </a:path>
              </a:pathLst>
            </a:custGeom>
            <a:ln w="25400">
              <a:solidFill>
                <a:srgbClr val="00B0F0"/>
              </a:solidFill>
            </a:ln>
          </p:spPr>
          <p:txBody>
            <a:bodyPr wrap="square" lIns="0" tIns="0" rIns="0" bIns="0" rtlCol="0"/>
            <a:lstStyle/>
            <a:p/>
          </p:txBody>
        </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92373" y="113125"/>
            <a:ext cx="3279140" cy="513080"/>
          </a:xfrm>
          <a:prstGeom prst="rect"/>
        </p:spPr>
        <p:txBody>
          <a:bodyPr wrap="square" lIns="0" tIns="12065" rIns="0" bIns="0" rtlCol="0" vert="horz">
            <a:spAutoFit/>
          </a:bodyPr>
          <a:lstStyle/>
          <a:p>
            <a:pPr marL="12700">
              <a:lnSpc>
                <a:spcPct val="100000"/>
              </a:lnSpc>
              <a:spcBef>
                <a:spcPts val="95"/>
              </a:spcBef>
            </a:pPr>
            <a:r>
              <a:rPr dirty="0" spc="-45"/>
              <a:t>线缆安装工程规范</a:t>
            </a:r>
          </a:p>
        </p:txBody>
      </p:sp>
      <p:pic>
        <p:nvPicPr>
          <p:cNvPr id="3" name="object 3" descr=""/>
          <p:cNvPicPr/>
          <p:nvPr/>
        </p:nvPicPr>
        <p:blipFill>
          <a:blip r:embed="rId2" cstate="print"/>
          <a:stretch>
            <a:fillRect/>
          </a:stretch>
        </p:blipFill>
        <p:spPr>
          <a:xfrm>
            <a:off x="539546" y="895350"/>
            <a:ext cx="3744417" cy="452259"/>
          </a:xfrm>
          <a:prstGeom prst="rect">
            <a:avLst/>
          </a:prstGeom>
        </p:spPr>
      </p:pic>
      <p:sp>
        <p:nvSpPr>
          <p:cNvPr id="4" name="object 4" descr=""/>
          <p:cNvSpPr txBox="1"/>
          <p:nvPr/>
        </p:nvSpPr>
        <p:spPr>
          <a:xfrm>
            <a:off x="589403" y="963240"/>
            <a:ext cx="3531235" cy="1682114"/>
          </a:xfrm>
          <a:prstGeom prst="rect">
            <a:avLst/>
          </a:prstGeom>
        </p:spPr>
        <p:txBody>
          <a:bodyPr wrap="square" lIns="0" tIns="12700" rIns="0" bIns="0" rtlCol="0" vert="horz">
            <a:spAutoFit/>
          </a:bodyPr>
          <a:lstStyle/>
          <a:p>
            <a:pPr marL="354330">
              <a:lnSpc>
                <a:spcPct val="100000"/>
              </a:lnSpc>
              <a:spcBef>
                <a:spcPts val="100"/>
              </a:spcBef>
            </a:pPr>
            <a:r>
              <a:rPr dirty="0" sz="1800" spc="-10">
                <a:latin typeface="Arial MT"/>
                <a:cs typeface="Arial MT"/>
              </a:rPr>
              <a:t>NB-</a:t>
            </a:r>
            <a:r>
              <a:rPr dirty="0" sz="1800">
                <a:latin typeface="Arial MT"/>
                <a:cs typeface="Arial MT"/>
              </a:rPr>
              <a:t>AAU</a:t>
            </a:r>
            <a:r>
              <a:rPr dirty="0" sz="1800">
                <a:latin typeface="Microsoft YaHei"/>
                <a:cs typeface="Microsoft YaHei"/>
              </a:rPr>
              <a:t>光纤安装（</a:t>
            </a:r>
            <a:r>
              <a:rPr dirty="0" sz="1800">
                <a:latin typeface="Arial MT"/>
                <a:cs typeface="Arial MT"/>
              </a:rPr>
              <a:t>AAU</a:t>
            </a:r>
            <a:r>
              <a:rPr dirty="0" sz="1800">
                <a:latin typeface="Microsoft YaHei"/>
                <a:cs typeface="Microsoft YaHei"/>
              </a:rPr>
              <a:t>侧</a:t>
            </a:r>
            <a:r>
              <a:rPr dirty="0" sz="1800" spc="-50">
                <a:latin typeface="Microsoft YaHei"/>
                <a:cs typeface="Microsoft YaHei"/>
              </a:rPr>
              <a:t>）</a:t>
            </a:r>
            <a:endParaRPr sz="1800">
              <a:latin typeface="Microsoft YaHei"/>
              <a:cs typeface="Microsoft YaHei"/>
            </a:endParaRPr>
          </a:p>
          <a:p>
            <a:pPr marL="12700">
              <a:lnSpc>
                <a:spcPct val="100000"/>
              </a:lnSpc>
              <a:spcBef>
                <a:spcPts val="1639"/>
              </a:spcBef>
            </a:pPr>
            <a:r>
              <a:rPr dirty="0" sz="1400" spc="-10">
                <a:latin typeface="Microsoft YaHei"/>
                <a:cs typeface="Microsoft YaHei"/>
              </a:rPr>
              <a:t>1</a:t>
            </a:r>
            <a:r>
              <a:rPr dirty="0" sz="1400" spc="-20">
                <a:latin typeface="Microsoft YaHei"/>
                <a:cs typeface="Microsoft YaHei"/>
              </a:rPr>
              <a:t>、取出</a:t>
            </a:r>
            <a:r>
              <a:rPr dirty="0" sz="1400" spc="-25">
                <a:latin typeface="Microsoft YaHei"/>
                <a:cs typeface="Microsoft YaHei"/>
              </a:rPr>
              <a:t>AAU集束光纤和光模块</a:t>
            </a:r>
            <a:endParaRPr sz="1400">
              <a:latin typeface="Microsoft YaHei"/>
              <a:cs typeface="Microsoft YaHei"/>
            </a:endParaRPr>
          </a:p>
          <a:p>
            <a:pPr marL="12700">
              <a:lnSpc>
                <a:spcPct val="100000"/>
              </a:lnSpc>
              <a:spcBef>
                <a:spcPts val="845"/>
              </a:spcBef>
            </a:pPr>
            <a:r>
              <a:rPr dirty="0" sz="1400" spc="-10">
                <a:latin typeface="Microsoft YaHei"/>
                <a:cs typeface="Microsoft YaHei"/>
              </a:rPr>
              <a:t>2</a:t>
            </a:r>
            <a:r>
              <a:rPr dirty="0" sz="1400" spc="-20">
                <a:latin typeface="Microsoft YaHei"/>
                <a:cs typeface="Microsoft YaHei"/>
              </a:rPr>
              <a:t>、将光模块安装到</a:t>
            </a:r>
            <a:r>
              <a:rPr dirty="0" sz="1400" spc="-25">
                <a:latin typeface="Microsoft YaHei"/>
                <a:cs typeface="Microsoft YaHei"/>
              </a:rPr>
              <a:t>AAU光口上，取下防尘帽</a:t>
            </a:r>
            <a:endParaRPr sz="1400">
              <a:latin typeface="Microsoft YaHei"/>
              <a:cs typeface="Microsoft YaHei"/>
            </a:endParaRPr>
          </a:p>
          <a:p>
            <a:pPr marL="12700">
              <a:lnSpc>
                <a:spcPct val="100000"/>
              </a:lnSpc>
              <a:spcBef>
                <a:spcPts val="840"/>
              </a:spcBef>
            </a:pPr>
            <a:r>
              <a:rPr dirty="0" sz="1400" spc="-10">
                <a:latin typeface="Microsoft YaHei"/>
                <a:cs typeface="Microsoft YaHei"/>
              </a:rPr>
              <a:t>3</a:t>
            </a:r>
            <a:r>
              <a:rPr dirty="0" sz="1400" spc="-25">
                <a:latin typeface="Microsoft YaHei"/>
                <a:cs typeface="Microsoft YaHei"/>
              </a:rPr>
              <a:t>、取下光纤防尘帽，将光纤安装到光模块上</a:t>
            </a:r>
            <a:endParaRPr sz="1400">
              <a:latin typeface="Microsoft YaHei"/>
              <a:cs typeface="Microsoft YaHei"/>
            </a:endParaRPr>
          </a:p>
          <a:p>
            <a:pPr marL="12700">
              <a:lnSpc>
                <a:spcPct val="100000"/>
              </a:lnSpc>
              <a:spcBef>
                <a:spcPts val="840"/>
              </a:spcBef>
            </a:pPr>
            <a:r>
              <a:rPr dirty="0" sz="1400" spc="-10">
                <a:latin typeface="Microsoft YaHei"/>
                <a:cs typeface="Microsoft YaHei"/>
              </a:rPr>
              <a:t>4</a:t>
            </a:r>
            <a:r>
              <a:rPr dirty="0" sz="1400" spc="-20">
                <a:latin typeface="Microsoft YaHei"/>
                <a:cs typeface="Microsoft YaHei"/>
              </a:rPr>
              <a:t>、将光纤航空头安装到</a:t>
            </a:r>
            <a:r>
              <a:rPr dirty="0" sz="1400" spc="-25">
                <a:latin typeface="Microsoft YaHei"/>
                <a:cs typeface="Microsoft YaHei"/>
              </a:rPr>
              <a:t>AAU光口连接器上</a:t>
            </a:r>
            <a:endParaRPr sz="1400">
              <a:latin typeface="Microsoft YaHei"/>
              <a:cs typeface="Microsoft YaHei"/>
            </a:endParaRPr>
          </a:p>
        </p:txBody>
      </p:sp>
      <p:pic>
        <p:nvPicPr>
          <p:cNvPr id="5" name="object 5"/>
          <p:cNvPicPr/>
          <p:nvPr/>
        </p:nvPicPr>
        <p:blipFill>
          <a:blip r:embed="rId3" cstate="print"/>
          <a:stretch>
            <a:fillRect/>
          </a:stretch>
        </p:blipFill>
        <p:spPr>
          <a:xfrm>
            <a:off x="428864" y="2915416"/>
            <a:ext cx="1870264" cy="1854461"/>
          </a:xfrm>
          <a:prstGeom prst="rect">
            <a:avLst/>
          </a:prstGeom>
        </p:spPr>
      </p:pic>
      <p:pic>
        <p:nvPicPr>
          <p:cNvPr id="6" name="object 6"/>
          <p:cNvPicPr/>
          <p:nvPr/>
        </p:nvPicPr>
        <p:blipFill>
          <a:blip r:embed="rId4" cstate="print"/>
          <a:stretch>
            <a:fillRect/>
          </a:stretch>
        </p:blipFill>
        <p:spPr>
          <a:xfrm>
            <a:off x="2903283" y="2877769"/>
            <a:ext cx="1913948" cy="2019515"/>
          </a:xfrm>
          <a:prstGeom prst="rect">
            <a:avLst/>
          </a:prstGeom>
        </p:spPr>
      </p:pic>
      <p:grpSp>
        <p:nvGrpSpPr>
          <p:cNvPr id="7" name="object 7" descr=""/>
          <p:cNvGrpSpPr/>
          <p:nvPr/>
        </p:nvGrpSpPr>
        <p:grpSpPr>
          <a:xfrm>
            <a:off x="5457567" y="2784727"/>
            <a:ext cx="3253740" cy="2136775"/>
            <a:chOff x="5457567" y="2784727"/>
            <a:chExt cx="3253740" cy="2136775"/>
          </a:xfrm>
        </p:grpSpPr>
        <p:pic>
          <p:nvPicPr>
            <p:cNvPr id="8" name="object 8"/>
            <p:cNvPicPr/>
            <p:nvPr/>
          </p:nvPicPr>
          <p:blipFill>
            <a:blip r:embed="rId5" cstate="print"/>
            <a:stretch>
              <a:fillRect/>
            </a:stretch>
          </p:blipFill>
          <p:spPr>
            <a:xfrm>
              <a:off x="5457567" y="2863824"/>
              <a:ext cx="2223441" cy="1944212"/>
            </a:xfrm>
            <a:prstGeom prst="rect">
              <a:avLst/>
            </a:prstGeom>
          </p:spPr>
        </p:pic>
        <p:pic>
          <p:nvPicPr>
            <p:cNvPr id="9" name="object 9"/>
            <p:cNvPicPr/>
            <p:nvPr/>
          </p:nvPicPr>
          <p:blipFill>
            <a:blip r:embed="rId6" cstate="print"/>
            <a:stretch>
              <a:fillRect/>
            </a:stretch>
          </p:blipFill>
          <p:spPr>
            <a:xfrm>
              <a:off x="8048813" y="2784727"/>
              <a:ext cx="662242" cy="2136623"/>
            </a:xfrm>
            <a:prstGeom prst="rect">
              <a:avLst/>
            </a:prstGeom>
          </p:spPr>
        </p:pic>
        <p:sp>
          <p:nvSpPr>
            <p:cNvPr id="10" name="object 10" descr=""/>
            <p:cNvSpPr/>
            <p:nvPr/>
          </p:nvSpPr>
          <p:spPr>
            <a:xfrm>
              <a:off x="7726363" y="3675965"/>
              <a:ext cx="301625" cy="167005"/>
            </a:xfrm>
            <a:custGeom>
              <a:avLst/>
              <a:gdLst/>
              <a:ahLst/>
              <a:cxnLst/>
              <a:rect l="l" t="t" r="r" b="b"/>
              <a:pathLst>
                <a:path w="301625" h="167004">
                  <a:moveTo>
                    <a:pt x="218274" y="0"/>
                  </a:moveTo>
                  <a:lnTo>
                    <a:pt x="218274" y="41668"/>
                  </a:lnTo>
                  <a:lnTo>
                    <a:pt x="0" y="41668"/>
                  </a:lnTo>
                  <a:lnTo>
                    <a:pt x="0" y="125018"/>
                  </a:lnTo>
                  <a:lnTo>
                    <a:pt x="218274" y="125018"/>
                  </a:lnTo>
                  <a:lnTo>
                    <a:pt x="218274" y="166687"/>
                  </a:lnTo>
                  <a:lnTo>
                    <a:pt x="301625" y="83337"/>
                  </a:lnTo>
                  <a:lnTo>
                    <a:pt x="218274" y="0"/>
                  </a:lnTo>
                  <a:close/>
                </a:path>
              </a:pathLst>
            </a:custGeom>
            <a:solidFill>
              <a:srgbClr val="00B0F0"/>
            </a:solidFill>
          </p:spPr>
          <p:txBody>
            <a:bodyPr wrap="square" lIns="0" tIns="0" rIns="0" bIns="0" rtlCol="0"/>
            <a:lstStyle/>
            <a:p/>
          </p:txBody>
        </p:sp>
        <p:sp>
          <p:nvSpPr>
            <p:cNvPr id="11" name="object 11" descr=""/>
            <p:cNvSpPr/>
            <p:nvPr/>
          </p:nvSpPr>
          <p:spPr>
            <a:xfrm>
              <a:off x="7726363" y="3675965"/>
              <a:ext cx="301625" cy="167005"/>
            </a:xfrm>
            <a:custGeom>
              <a:avLst/>
              <a:gdLst/>
              <a:ahLst/>
              <a:cxnLst/>
              <a:rect l="l" t="t" r="r" b="b"/>
              <a:pathLst>
                <a:path w="301625" h="167004">
                  <a:moveTo>
                    <a:pt x="0" y="41668"/>
                  </a:moveTo>
                  <a:lnTo>
                    <a:pt x="218274" y="41668"/>
                  </a:lnTo>
                  <a:lnTo>
                    <a:pt x="218274" y="0"/>
                  </a:lnTo>
                  <a:lnTo>
                    <a:pt x="301625" y="83337"/>
                  </a:lnTo>
                  <a:lnTo>
                    <a:pt x="218274" y="166687"/>
                  </a:lnTo>
                  <a:lnTo>
                    <a:pt x="218274" y="125018"/>
                  </a:lnTo>
                  <a:lnTo>
                    <a:pt x="0" y="125018"/>
                  </a:lnTo>
                  <a:lnTo>
                    <a:pt x="0" y="41668"/>
                  </a:lnTo>
                  <a:close/>
                </a:path>
              </a:pathLst>
            </a:custGeom>
            <a:ln w="25400">
              <a:solidFill>
                <a:srgbClr val="00B0F0"/>
              </a:solidFill>
            </a:ln>
          </p:spPr>
          <p:txBody>
            <a:bodyPr wrap="square" lIns="0" tIns="0" rIns="0" bIns="0" rtlCol="0"/>
            <a:lstStyle/>
            <a:p/>
          </p:txBody>
        </p:sp>
      </p:grpSp>
      <p:grpSp>
        <p:nvGrpSpPr>
          <p:cNvPr id="12" name="object 12" descr=""/>
          <p:cNvGrpSpPr/>
          <p:nvPr/>
        </p:nvGrpSpPr>
        <p:grpSpPr>
          <a:xfrm>
            <a:off x="2474912" y="3656545"/>
            <a:ext cx="327025" cy="192405"/>
            <a:chOff x="2474912" y="3656545"/>
            <a:chExt cx="327025" cy="192405"/>
          </a:xfrm>
        </p:grpSpPr>
        <p:sp>
          <p:nvSpPr>
            <p:cNvPr id="13" name="object 13" descr=""/>
            <p:cNvSpPr/>
            <p:nvPr/>
          </p:nvSpPr>
          <p:spPr>
            <a:xfrm>
              <a:off x="2487612" y="3669245"/>
              <a:ext cx="301625" cy="167005"/>
            </a:xfrm>
            <a:custGeom>
              <a:avLst/>
              <a:gdLst/>
              <a:ahLst/>
              <a:cxnLst/>
              <a:rect l="l" t="t" r="r" b="b"/>
              <a:pathLst>
                <a:path w="301625" h="167004">
                  <a:moveTo>
                    <a:pt x="218287" y="0"/>
                  </a:moveTo>
                  <a:lnTo>
                    <a:pt x="218287" y="41668"/>
                  </a:lnTo>
                  <a:lnTo>
                    <a:pt x="0" y="41668"/>
                  </a:lnTo>
                  <a:lnTo>
                    <a:pt x="0" y="125006"/>
                  </a:lnTo>
                  <a:lnTo>
                    <a:pt x="218287" y="125006"/>
                  </a:lnTo>
                  <a:lnTo>
                    <a:pt x="218287" y="166687"/>
                  </a:lnTo>
                  <a:lnTo>
                    <a:pt x="301625" y="83337"/>
                  </a:lnTo>
                  <a:lnTo>
                    <a:pt x="218287" y="0"/>
                  </a:lnTo>
                  <a:close/>
                </a:path>
              </a:pathLst>
            </a:custGeom>
            <a:solidFill>
              <a:srgbClr val="00B0F0"/>
            </a:solidFill>
          </p:spPr>
          <p:txBody>
            <a:bodyPr wrap="square" lIns="0" tIns="0" rIns="0" bIns="0" rtlCol="0"/>
            <a:lstStyle/>
            <a:p/>
          </p:txBody>
        </p:sp>
        <p:sp>
          <p:nvSpPr>
            <p:cNvPr id="14" name="object 14" descr=""/>
            <p:cNvSpPr/>
            <p:nvPr/>
          </p:nvSpPr>
          <p:spPr>
            <a:xfrm>
              <a:off x="2487612" y="3669245"/>
              <a:ext cx="301625" cy="167005"/>
            </a:xfrm>
            <a:custGeom>
              <a:avLst/>
              <a:gdLst/>
              <a:ahLst/>
              <a:cxnLst/>
              <a:rect l="l" t="t" r="r" b="b"/>
              <a:pathLst>
                <a:path w="301625" h="167004">
                  <a:moveTo>
                    <a:pt x="0" y="41668"/>
                  </a:moveTo>
                  <a:lnTo>
                    <a:pt x="218287" y="41668"/>
                  </a:lnTo>
                  <a:lnTo>
                    <a:pt x="218287" y="0"/>
                  </a:lnTo>
                  <a:lnTo>
                    <a:pt x="301625" y="83337"/>
                  </a:lnTo>
                  <a:lnTo>
                    <a:pt x="218287" y="166687"/>
                  </a:lnTo>
                  <a:lnTo>
                    <a:pt x="218287" y="125006"/>
                  </a:lnTo>
                  <a:lnTo>
                    <a:pt x="0" y="125006"/>
                  </a:lnTo>
                  <a:lnTo>
                    <a:pt x="0" y="41668"/>
                  </a:lnTo>
                  <a:close/>
                </a:path>
              </a:pathLst>
            </a:custGeom>
            <a:ln w="25400">
              <a:solidFill>
                <a:srgbClr val="00B0F0"/>
              </a:solidFill>
            </a:ln>
          </p:spPr>
          <p:txBody>
            <a:bodyPr wrap="square" lIns="0" tIns="0" rIns="0" bIns="0" rtlCol="0"/>
            <a:lstStyle/>
            <a:p/>
          </p:txBody>
        </p:sp>
      </p:grpSp>
      <p:grpSp>
        <p:nvGrpSpPr>
          <p:cNvPr id="15" name="object 15" descr=""/>
          <p:cNvGrpSpPr/>
          <p:nvPr/>
        </p:nvGrpSpPr>
        <p:grpSpPr>
          <a:xfrm>
            <a:off x="4894169" y="3663266"/>
            <a:ext cx="327025" cy="192405"/>
            <a:chOff x="4894169" y="3663266"/>
            <a:chExt cx="327025" cy="192405"/>
          </a:xfrm>
        </p:grpSpPr>
        <p:sp>
          <p:nvSpPr>
            <p:cNvPr id="16" name="object 16" descr=""/>
            <p:cNvSpPr/>
            <p:nvPr/>
          </p:nvSpPr>
          <p:spPr>
            <a:xfrm>
              <a:off x="4906869" y="3675966"/>
              <a:ext cx="301625" cy="167005"/>
            </a:xfrm>
            <a:custGeom>
              <a:avLst/>
              <a:gdLst/>
              <a:ahLst/>
              <a:cxnLst/>
              <a:rect l="l" t="t" r="r" b="b"/>
              <a:pathLst>
                <a:path w="301625" h="167004">
                  <a:moveTo>
                    <a:pt x="218287" y="0"/>
                  </a:moveTo>
                  <a:lnTo>
                    <a:pt x="218287" y="41668"/>
                  </a:lnTo>
                  <a:lnTo>
                    <a:pt x="0" y="41668"/>
                  </a:lnTo>
                  <a:lnTo>
                    <a:pt x="0" y="125006"/>
                  </a:lnTo>
                  <a:lnTo>
                    <a:pt x="218287" y="125006"/>
                  </a:lnTo>
                  <a:lnTo>
                    <a:pt x="218287" y="166687"/>
                  </a:lnTo>
                  <a:lnTo>
                    <a:pt x="301625" y="83337"/>
                  </a:lnTo>
                  <a:lnTo>
                    <a:pt x="218287" y="0"/>
                  </a:lnTo>
                  <a:close/>
                </a:path>
              </a:pathLst>
            </a:custGeom>
            <a:solidFill>
              <a:srgbClr val="00B0F0"/>
            </a:solidFill>
          </p:spPr>
          <p:txBody>
            <a:bodyPr wrap="square" lIns="0" tIns="0" rIns="0" bIns="0" rtlCol="0"/>
            <a:lstStyle/>
            <a:p/>
          </p:txBody>
        </p:sp>
        <p:sp>
          <p:nvSpPr>
            <p:cNvPr id="17" name="object 17" descr=""/>
            <p:cNvSpPr/>
            <p:nvPr/>
          </p:nvSpPr>
          <p:spPr>
            <a:xfrm>
              <a:off x="4906869" y="3675966"/>
              <a:ext cx="301625" cy="167005"/>
            </a:xfrm>
            <a:custGeom>
              <a:avLst/>
              <a:gdLst/>
              <a:ahLst/>
              <a:cxnLst/>
              <a:rect l="l" t="t" r="r" b="b"/>
              <a:pathLst>
                <a:path w="301625" h="167004">
                  <a:moveTo>
                    <a:pt x="0" y="41668"/>
                  </a:moveTo>
                  <a:lnTo>
                    <a:pt x="218287" y="41668"/>
                  </a:lnTo>
                  <a:lnTo>
                    <a:pt x="218287" y="0"/>
                  </a:lnTo>
                  <a:lnTo>
                    <a:pt x="301625" y="83337"/>
                  </a:lnTo>
                  <a:lnTo>
                    <a:pt x="218287" y="166687"/>
                  </a:lnTo>
                  <a:lnTo>
                    <a:pt x="218287" y="125006"/>
                  </a:lnTo>
                  <a:lnTo>
                    <a:pt x="0" y="125006"/>
                  </a:lnTo>
                  <a:lnTo>
                    <a:pt x="0" y="41668"/>
                  </a:lnTo>
                  <a:close/>
                </a:path>
              </a:pathLst>
            </a:custGeom>
            <a:ln w="25400">
              <a:solidFill>
                <a:srgbClr val="00B0F0"/>
              </a:solidFill>
            </a:ln>
          </p:spPr>
          <p:txBody>
            <a:bodyPr wrap="square" lIns="0" tIns="0" rIns="0" bIns="0" rtlCol="0"/>
            <a:lstStyle/>
            <a:p/>
          </p:txBody>
        </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92373" y="113125"/>
            <a:ext cx="3279140" cy="513080"/>
          </a:xfrm>
          <a:prstGeom prst="rect"/>
        </p:spPr>
        <p:txBody>
          <a:bodyPr wrap="square" lIns="0" tIns="12065" rIns="0" bIns="0" rtlCol="0" vert="horz">
            <a:spAutoFit/>
          </a:bodyPr>
          <a:lstStyle/>
          <a:p>
            <a:pPr marL="12700">
              <a:lnSpc>
                <a:spcPct val="100000"/>
              </a:lnSpc>
              <a:spcBef>
                <a:spcPts val="95"/>
              </a:spcBef>
            </a:pPr>
            <a:r>
              <a:rPr dirty="0" spc="-45"/>
              <a:t>线缆安装工程规范</a:t>
            </a:r>
          </a:p>
        </p:txBody>
      </p:sp>
      <p:pic>
        <p:nvPicPr>
          <p:cNvPr id="3" name="object 3" descr=""/>
          <p:cNvPicPr/>
          <p:nvPr/>
        </p:nvPicPr>
        <p:blipFill>
          <a:blip r:embed="rId2" cstate="print"/>
          <a:stretch>
            <a:fillRect/>
          </a:stretch>
        </p:blipFill>
        <p:spPr>
          <a:xfrm>
            <a:off x="539546" y="971550"/>
            <a:ext cx="2016226" cy="376059"/>
          </a:xfrm>
          <a:prstGeom prst="rect">
            <a:avLst/>
          </a:prstGeom>
        </p:spPr>
      </p:pic>
      <p:sp>
        <p:nvSpPr>
          <p:cNvPr id="4" name="object 4" descr=""/>
          <p:cNvSpPr txBox="1"/>
          <p:nvPr/>
        </p:nvSpPr>
        <p:spPr>
          <a:xfrm>
            <a:off x="1077700" y="1001340"/>
            <a:ext cx="939800" cy="299720"/>
          </a:xfrm>
          <a:prstGeom prst="rect">
            <a:avLst/>
          </a:prstGeom>
        </p:spPr>
        <p:txBody>
          <a:bodyPr wrap="square" lIns="0" tIns="12700" rIns="0" bIns="0" rtlCol="0" vert="horz">
            <a:spAutoFit/>
          </a:bodyPr>
          <a:lstStyle/>
          <a:p>
            <a:pPr marL="12700">
              <a:lnSpc>
                <a:spcPct val="100000"/>
              </a:lnSpc>
              <a:spcBef>
                <a:spcPts val="100"/>
              </a:spcBef>
            </a:pPr>
            <a:r>
              <a:rPr dirty="0" sz="1800" spc="-15">
                <a:latin typeface="Microsoft YaHei"/>
                <a:cs typeface="Microsoft YaHei"/>
              </a:rPr>
              <a:t>传输光纤</a:t>
            </a:r>
            <a:endParaRPr sz="1800">
              <a:latin typeface="Microsoft YaHei"/>
              <a:cs typeface="Microsoft YaHei"/>
            </a:endParaRPr>
          </a:p>
        </p:txBody>
      </p:sp>
      <p:pic>
        <p:nvPicPr>
          <p:cNvPr id="5" name="object 5"/>
          <p:cNvPicPr/>
          <p:nvPr/>
        </p:nvPicPr>
        <p:blipFill>
          <a:blip r:embed="rId3" cstate="print"/>
          <a:stretch>
            <a:fillRect/>
          </a:stretch>
        </p:blipFill>
        <p:spPr>
          <a:xfrm>
            <a:off x="545934" y="1961797"/>
            <a:ext cx="2700337" cy="1927221"/>
          </a:xfrm>
          <a:prstGeom prst="rect">
            <a:avLst/>
          </a:prstGeom>
        </p:spPr>
      </p:pic>
      <p:pic>
        <p:nvPicPr>
          <p:cNvPr id="6" name="object 6"/>
          <p:cNvPicPr/>
          <p:nvPr/>
        </p:nvPicPr>
        <p:blipFill>
          <a:blip r:embed="rId4" cstate="print"/>
          <a:stretch>
            <a:fillRect/>
          </a:stretch>
        </p:blipFill>
        <p:spPr>
          <a:xfrm>
            <a:off x="4005996" y="2308870"/>
            <a:ext cx="4736297" cy="1901532"/>
          </a:xfrm>
          <a:prstGeom prst="rect">
            <a:avLst/>
          </a:prstGeom>
        </p:spPr>
      </p:pic>
      <p:sp>
        <p:nvSpPr>
          <p:cNvPr id="7" name="object 7" descr=""/>
          <p:cNvSpPr txBox="1"/>
          <p:nvPr/>
        </p:nvSpPr>
        <p:spPr>
          <a:xfrm>
            <a:off x="5514835" y="1733246"/>
            <a:ext cx="1445895" cy="238760"/>
          </a:xfrm>
          <a:prstGeom prst="rect">
            <a:avLst/>
          </a:prstGeom>
        </p:spPr>
        <p:txBody>
          <a:bodyPr wrap="square" lIns="0" tIns="12065" rIns="0" bIns="0" rtlCol="0" vert="horz">
            <a:spAutoFit/>
          </a:bodyPr>
          <a:lstStyle/>
          <a:p>
            <a:pPr marL="12700">
              <a:lnSpc>
                <a:spcPct val="100000"/>
              </a:lnSpc>
              <a:spcBef>
                <a:spcPts val="95"/>
              </a:spcBef>
            </a:pPr>
            <a:r>
              <a:rPr dirty="0" sz="1400" spc="-25">
                <a:latin typeface="Microsoft YaHei"/>
                <a:cs typeface="Microsoft YaHei"/>
              </a:rPr>
              <a:t>传输光纤安装位置</a:t>
            </a:r>
            <a:endParaRPr sz="1400">
              <a:latin typeface="Microsoft YaHei"/>
              <a:cs typeface="Microsoft YaHei"/>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92373" y="113125"/>
            <a:ext cx="3279140" cy="513080"/>
          </a:xfrm>
          <a:prstGeom prst="rect"/>
        </p:spPr>
        <p:txBody>
          <a:bodyPr wrap="square" lIns="0" tIns="12065" rIns="0" bIns="0" rtlCol="0" vert="horz">
            <a:spAutoFit/>
          </a:bodyPr>
          <a:lstStyle/>
          <a:p>
            <a:pPr marL="12700">
              <a:lnSpc>
                <a:spcPct val="100000"/>
              </a:lnSpc>
              <a:spcBef>
                <a:spcPts val="95"/>
              </a:spcBef>
            </a:pPr>
            <a:r>
              <a:rPr dirty="0" spc="-45"/>
              <a:t>线缆安装工程规范</a:t>
            </a:r>
          </a:p>
        </p:txBody>
      </p:sp>
      <p:pic>
        <p:nvPicPr>
          <p:cNvPr id="3" name="object 3" descr=""/>
          <p:cNvPicPr/>
          <p:nvPr/>
        </p:nvPicPr>
        <p:blipFill>
          <a:blip r:embed="rId2" cstate="print"/>
          <a:stretch>
            <a:fillRect/>
          </a:stretch>
        </p:blipFill>
        <p:spPr>
          <a:xfrm>
            <a:off x="539546" y="971550"/>
            <a:ext cx="3384372" cy="376059"/>
          </a:xfrm>
          <a:prstGeom prst="rect">
            <a:avLst/>
          </a:prstGeom>
        </p:spPr>
      </p:pic>
      <p:sp>
        <p:nvSpPr>
          <p:cNvPr id="4" name="object 4" descr=""/>
          <p:cNvSpPr txBox="1"/>
          <p:nvPr/>
        </p:nvSpPr>
        <p:spPr>
          <a:xfrm>
            <a:off x="762308" y="1001340"/>
            <a:ext cx="2806065" cy="865505"/>
          </a:xfrm>
          <a:prstGeom prst="rect">
            <a:avLst/>
          </a:prstGeom>
        </p:spPr>
        <p:txBody>
          <a:bodyPr wrap="square" lIns="0" tIns="12700" rIns="0" bIns="0" rtlCol="0" vert="horz">
            <a:spAutoFit/>
          </a:bodyPr>
          <a:lstStyle/>
          <a:p>
            <a:pPr marL="364490">
              <a:lnSpc>
                <a:spcPct val="100000"/>
              </a:lnSpc>
              <a:spcBef>
                <a:spcPts val="100"/>
              </a:spcBef>
            </a:pPr>
            <a:r>
              <a:rPr dirty="0" sz="1800">
                <a:latin typeface="Arial MT"/>
                <a:cs typeface="Arial MT"/>
              </a:rPr>
              <a:t>GPS</a:t>
            </a:r>
            <a:r>
              <a:rPr dirty="0" sz="1800" spc="-10">
                <a:latin typeface="Arial MT"/>
                <a:cs typeface="Arial MT"/>
              </a:rPr>
              <a:t> /</a:t>
            </a:r>
            <a:r>
              <a:rPr dirty="0" sz="1800" spc="-10">
                <a:latin typeface="Microsoft YaHei"/>
                <a:cs typeface="Microsoft YaHei"/>
              </a:rPr>
              <a:t>北斗下跳线安装</a:t>
            </a:r>
            <a:endParaRPr sz="1800">
              <a:latin typeface="Microsoft YaHei"/>
              <a:cs typeface="Microsoft YaHei"/>
            </a:endParaRPr>
          </a:p>
          <a:p>
            <a:pPr marL="12700">
              <a:lnSpc>
                <a:spcPct val="100000"/>
              </a:lnSpc>
              <a:spcBef>
                <a:spcPts val="2770"/>
              </a:spcBef>
            </a:pPr>
            <a:r>
              <a:rPr dirty="0" sz="1400">
                <a:latin typeface="Microsoft YaHei"/>
                <a:cs typeface="Microsoft YaHei"/>
              </a:rPr>
              <a:t>GPS</a:t>
            </a:r>
            <a:r>
              <a:rPr dirty="0" sz="1400" spc="-20">
                <a:latin typeface="Microsoft YaHei"/>
                <a:cs typeface="Microsoft YaHei"/>
              </a:rPr>
              <a:t> /北斗下跳线</a:t>
            </a:r>
            <a:r>
              <a:rPr dirty="0" sz="1400" spc="-10">
                <a:latin typeface="Microsoft YaHei"/>
                <a:cs typeface="Microsoft YaHei"/>
              </a:rPr>
              <a:t>BBU</a:t>
            </a:r>
            <a:r>
              <a:rPr dirty="0" sz="1400" spc="-25">
                <a:latin typeface="Microsoft YaHei"/>
                <a:cs typeface="Microsoft YaHei"/>
              </a:rPr>
              <a:t>面板安装位置</a:t>
            </a:r>
            <a:endParaRPr sz="1400">
              <a:latin typeface="Microsoft YaHei"/>
              <a:cs typeface="Microsoft YaHei"/>
            </a:endParaRPr>
          </a:p>
        </p:txBody>
      </p:sp>
      <p:pic>
        <p:nvPicPr>
          <p:cNvPr id="5" name="object 5" descr=""/>
          <p:cNvPicPr/>
          <p:nvPr/>
        </p:nvPicPr>
        <p:blipFill>
          <a:blip r:embed="rId3" cstate="print"/>
          <a:stretch>
            <a:fillRect/>
          </a:stretch>
        </p:blipFill>
        <p:spPr>
          <a:xfrm>
            <a:off x="2009454" y="2091384"/>
            <a:ext cx="5603109" cy="2682267"/>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92373" y="113125"/>
            <a:ext cx="3279140" cy="513080"/>
          </a:xfrm>
          <a:prstGeom prst="rect"/>
        </p:spPr>
        <p:txBody>
          <a:bodyPr wrap="square" lIns="0" tIns="12065" rIns="0" bIns="0" rtlCol="0" vert="horz">
            <a:spAutoFit/>
          </a:bodyPr>
          <a:lstStyle/>
          <a:p>
            <a:pPr marL="12700">
              <a:lnSpc>
                <a:spcPct val="100000"/>
              </a:lnSpc>
              <a:spcBef>
                <a:spcPts val="95"/>
              </a:spcBef>
            </a:pPr>
            <a:r>
              <a:rPr dirty="0" spc="-45"/>
              <a:t>线缆安装工程规范</a:t>
            </a:r>
          </a:p>
        </p:txBody>
      </p:sp>
      <p:pic>
        <p:nvPicPr>
          <p:cNvPr id="3" name="object 3" descr=""/>
          <p:cNvPicPr/>
          <p:nvPr/>
        </p:nvPicPr>
        <p:blipFill>
          <a:blip r:embed="rId2" cstate="print"/>
          <a:stretch>
            <a:fillRect/>
          </a:stretch>
        </p:blipFill>
        <p:spPr>
          <a:xfrm>
            <a:off x="533400" y="895350"/>
            <a:ext cx="3384372" cy="530771"/>
          </a:xfrm>
          <a:prstGeom prst="rect">
            <a:avLst/>
          </a:prstGeom>
        </p:spPr>
      </p:pic>
      <p:sp>
        <p:nvSpPr>
          <p:cNvPr id="4" name="object 4" descr=""/>
          <p:cNvSpPr txBox="1"/>
          <p:nvPr/>
        </p:nvSpPr>
        <p:spPr>
          <a:xfrm>
            <a:off x="762308" y="1002493"/>
            <a:ext cx="2931795" cy="925830"/>
          </a:xfrm>
          <a:prstGeom prst="rect">
            <a:avLst/>
          </a:prstGeom>
        </p:spPr>
        <p:txBody>
          <a:bodyPr wrap="square" lIns="0" tIns="12700" rIns="0" bIns="0" rtlCol="0" vert="horz">
            <a:spAutoFit/>
          </a:bodyPr>
          <a:lstStyle/>
          <a:p>
            <a:pPr algn="ctr">
              <a:lnSpc>
                <a:spcPct val="100000"/>
              </a:lnSpc>
              <a:spcBef>
                <a:spcPts val="100"/>
              </a:spcBef>
            </a:pPr>
            <a:r>
              <a:rPr dirty="0" sz="1800">
                <a:latin typeface="Arial MT"/>
                <a:cs typeface="Arial MT"/>
              </a:rPr>
              <a:t>GPS</a:t>
            </a:r>
            <a:r>
              <a:rPr dirty="0" sz="1800" spc="-10">
                <a:latin typeface="Arial MT"/>
                <a:cs typeface="Arial MT"/>
              </a:rPr>
              <a:t> /</a:t>
            </a:r>
            <a:r>
              <a:rPr dirty="0" sz="1800" spc="-10">
                <a:latin typeface="Microsoft YaHei"/>
                <a:cs typeface="Microsoft YaHei"/>
              </a:rPr>
              <a:t>北斗下跳线安装</a:t>
            </a:r>
            <a:endParaRPr sz="1800">
              <a:latin typeface="Microsoft YaHei"/>
              <a:cs typeface="Microsoft YaHei"/>
            </a:endParaRPr>
          </a:p>
          <a:p>
            <a:pPr algn="ctr">
              <a:lnSpc>
                <a:spcPct val="100000"/>
              </a:lnSpc>
              <a:spcBef>
                <a:spcPts val="3250"/>
              </a:spcBef>
            </a:pPr>
            <a:r>
              <a:rPr dirty="0" sz="1400" spc="-20">
                <a:latin typeface="Microsoft YaHei"/>
                <a:cs typeface="Microsoft YaHei"/>
              </a:rPr>
              <a:t>GPS</a:t>
            </a:r>
            <a:r>
              <a:rPr dirty="0" sz="1400" spc="-25">
                <a:latin typeface="Microsoft YaHei"/>
                <a:cs typeface="Microsoft YaHei"/>
              </a:rPr>
              <a:t>/北斗下跳线另一端与避雷器连接</a:t>
            </a:r>
            <a:endParaRPr sz="1400">
              <a:latin typeface="Microsoft YaHei"/>
              <a:cs typeface="Microsoft YaHei"/>
            </a:endParaRPr>
          </a:p>
        </p:txBody>
      </p:sp>
      <p:grpSp>
        <p:nvGrpSpPr>
          <p:cNvPr id="5" name="object 5" descr=""/>
          <p:cNvGrpSpPr/>
          <p:nvPr/>
        </p:nvGrpSpPr>
        <p:grpSpPr>
          <a:xfrm>
            <a:off x="1202435" y="2434589"/>
            <a:ext cx="3904615" cy="864869"/>
            <a:chOff x="1202435" y="2434589"/>
            <a:chExt cx="3904615" cy="864869"/>
          </a:xfrm>
        </p:grpSpPr>
        <p:pic>
          <p:nvPicPr>
            <p:cNvPr id="6" name="object 6"/>
            <p:cNvPicPr/>
            <p:nvPr/>
          </p:nvPicPr>
          <p:blipFill>
            <a:blip r:embed="rId3" cstate="print"/>
            <a:stretch>
              <a:fillRect/>
            </a:stretch>
          </p:blipFill>
          <p:spPr>
            <a:xfrm>
              <a:off x="1202435" y="2434589"/>
              <a:ext cx="3879341" cy="838961"/>
            </a:xfrm>
            <a:prstGeom prst="rect">
              <a:avLst/>
            </a:prstGeom>
          </p:spPr>
        </p:pic>
        <p:pic>
          <p:nvPicPr>
            <p:cNvPr id="7" name="object 7"/>
            <p:cNvPicPr/>
            <p:nvPr/>
          </p:nvPicPr>
          <p:blipFill>
            <a:blip r:embed="rId4" cstate="print"/>
            <a:stretch>
              <a:fillRect/>
            </a:stretch>
          </p:blipFill>
          <p:spPr>
            <a:xfrm>
              <a:off x="1227581" y="2459735"/>
              <a:ext cx="3879341" cy="839723"/>
            </a:xfrm>
            <a:prstGeom prst="rect">
              <a:avLst/>
            </a:prstGeom>
          </p:spPr>
        </p:pic>
        <p:pic>
          <p:nvPicPr>
            <p:cNvPr id="8" name="object 8"/>
            <p:cNvPicPr/>
            <p:nvPr/>
          </p:nvPicPr>
          <p:blipFill>
            <a:blip r:embed="rId5" cstate="print"/>
            <a:stretch>
              <a:fillRect/>
            </a:stretch>
          </p:blipFill>
          <p:spPr>
            <a:xfrm>
              <a:off x="1225246" y="2457564"/>
              <a:ext cx="3858716" cy="818699"/>
            </a:xfrm>
            <a:prstGeom prst="rect">
              <a:avLst/>
            </a:prstGeom>
          </p:spPr>
        </p:pic>
        <p:sp>
          <p:nvSpPr>
            <p:cNvPr id="9" name="object 9" descr=""/>
            <p:cNvSpPr/>
            <p:nvPr/>
          </p:nvSpPr>
          <p:spPr>
            <a:xfrm>
              <a:off x="1220482" y="2452801"/>
              <a:ext cx="3868420" cy="828675"/>
            </a:xfrm>
            <a:custGeom>
              <a:avLst/>
              <a:gdLst/>
              <a:ahLst/>
              <a:cxnLst/>
              <a:rect l="l" t="t" r="r" b="b"/>
              <a:pathLst>
                <a:path w="3868420" h="828675">
                  <a:moveTo>
                    <a:pt x="0" y="0"/>
                  </a:moveTo>
                  <a:lnTo>
                    <a:pt x="3868242" y="0"/>
                  </a:lnTo>
                  <a:lnTo>
                    <a:pt x="3868242" y="828230"/>
                  </a:lnTo>
                  <a:lnTo>
                    <a:pt x="0" y="828230"/>
                  </a:lnTo>
                  <a:lnTo>
                    <a:pt x="0" y="0"/>
                  </a:lnTo>
                  <a:close/>
                </a:path>
              </a:pathLst>
            </a:custGeom>
            <a:ln w="9525">
              <a:solidFill>
                <a:srgbClr val="FFFFFF"/>
              </a:solidFill>
            </a:ln>
          </p:spPr>
          <p:txBody>
            <a:bodyPr wrap="square" lIns="0" tIns="0" rIns="0" bIns="0" rtlCol="0"/>
            <a:lstStyle/>
            <a:p/>
          </p:txBody>
        </p:sp>
      </p:grpSp>
      <p:grpSp>
        <p:nvGrpSpPr>
          <p:cNvPr id="10" name="object 10" descr=""/>
          <p:cNvGrpSpPr/>
          <p:nvPr/>
        </p:nvGrpSpPr>
        <p:grpSpPr>
          <a:xfrm>
            <a:off x="5227693" y="2198369"/>
            <a:ext cx="2818765" cy="1240790"/>
            <a:chOff x="5227693" y="2198369"/>
            <a:chExt cx="2818765" cy="1240790"/>
          </a:xfrm>
        </p:grpSpPr>
        <p:pic>
          <p:nvPicPr>
            <p:cNvPr id="11" name="object 11"/>
            <p:cNvPicPr/>
            <p:nvPr/>
          </p:nvPicPr>
          <p:blipFill>
            <a:blip r:embed="rId6" cstate="print"/>
            <a:stretch>
              <a:fillRect/>
            </a:stretch>
          </p:blipFill>
          <p:spPr>
            <a:xfrm>
              <a:off x="5389625" y="2198369"/>
              <a:ext cx="2630423" cy="1214627"/>
            </a:xfrm>
            <a:prstGeom prst="rect">
              <a:avLst/>
            </a:prstGeom>
          </p:spPr>
        </p:pic>
        <p:pic>
          <p:nvPicPr>
            <p:cNvPr id="12" name="object 12" descr=""/>
            <p:cNvPicPr/>
            <p:nvPr/>
          </p:nvPicPr>
          <p:blipFill>
            <a:blip r:embed="rId7" cstate="print"/>
            <a:stretch>
              <a:fillRect/>
            </a:stretch>
          </p:blipFill>
          <p:spPr>
            <a:xfrm>
              <a:off x="5403078" y="2211709"/>
              <a:ext cx="2642878" cy="1227195"/>
            </a:xfrm>
            <a:prstGeom prst="rect">
              <a:avLst/>
            </a:prstGeom>
          </p:spPr>
        </p:pic>
        <p:sp>
          <p:nvSpPr>
            <p:cNvPr id="13" name="object 13" descr=""/>
            <p:cNvSpPr/>
            <p:nvPr/>
          </p:nvSpPr>
          <p:spPr>
            <a:xfrm>
              <a:off x="5240393" y="2709569"/>
              <a:ext cx="301625" cy="167005"/>
            </a:xfrm>
            <a:custGeom>
              <a:avLst/>
              <a:gdLst/>
              <a:ahLst/>
              <a:cxnLst/>
              <a:rect l="l" t="t" r="r" b="b"/>
              <a:pathLst>
                <a:path w="301625" h="167005">
                  <a:moveTo>
                    <a:pt x="218274" y="0"/>
                  </a:moveTo>
                  <a:lnTo>
                    <a:pt x="218274" y="41668"/>
                  </a:lnTo>
                  <a:lnTo>
                    <a:pt x="0" y="41668"/>
                  </a:lnTo>
                  <a:lnTo>
                    <a:pt x="0" y="125018"/>
                  </a:lnTo>
                  <a:lnTo>
                    <a:pt x="218274" y="125018"/>
                  </a:lnTo>
                  <a:lnTo>
                    <a:pt x="218274" y="166687"/>
                  </a:lnTo>
                  <a:lnTo>
                    <a:pt x="301625" y="83337"/>
                  </a:lnTo>
                  <a:lnTo>
                    <a:pt x="218274" y="0"/>
                  </a:lnTo>
                  <a:close/>
                </a:path>
              </a:pathLst>
            </a:custGeom>
            <a:solidFill>
              <a:srgbClr val="00B0F0"/>
            </a:solidFill>
          </p:spPr>
          <p:txBody>
            <a:bodyPr wrap="square" lIns="0" tIns="0" rIns="0" bIns="0" rtlCol="0"/>
            <a:lstStyle/>
            <a:p/>
          </p:txBody>
        </p:sp>
        <p:sp>
          <p:nvSpPr>
            <p:cNvPr id="14" name="object 14" descr=""/>
            <p:cNvSpPr/>
            <p:nvPr/>
          </p:nvSpPr>
          <p:spPr>
            <a:xfrm>
              <a:off x="5240393" y="2709569"/>
              <a:ext cx="301625" cy="167005"/>
            </a:xfrm>
            <a:custGeom>
              <a:avLst/>
              <a:gdLst/>
              <a:ahLst/>
              <a:cxnLst/>
              <a:rect l="l" t="t" r="r" b="b"/>
              <a:pathLst>
                <a:path w="301625" h="167005">
                  <a:moveTo>
                    <a:pt x="0" y="41668"/>
                  </a:moveTo>
                  <a:lnTo>
                    <a:pt x="218274" y="41668"/>
                  </a:lnTo>
                  <a:lnTo>
                    <a:pt x="218274" y="0"/>
                  </a:lnTo>
                  <a:lnTo>
                    <a:pt x="301625" y="83337"/>
                  </a:lnTo>
                  <a:lnTo>
                    <a:pt x="218274" y="166687"/>
                  </a:lnTo>
                  <a:lnTo>
                    <a:pt x="218274" y="125018"/>
                  </a:lnTo>
                  <a:lnTo>
                    <a:pt x="0" y="125018"/>
                  </a:lnTo>
                  <a:lnTo>
                    <a:pt x="0" y="41668"/>
                  </a:lnTo>
                  <a:close/>
                </a:path>
              </a:pathLst>
            </a:custGeom>
            <a:ln w="25400">
              <a:solidFill>
                <a:srgbClr val="00B0F0"/>
              </a:solidFill>
            </a:ln>
          </p:spPr>
          <p:txBody>
            <a:bodyPr wrap="square" lIns="0" tIns="0" rIns="0" bIns="0" rtlCol="0"/>
            <a:lstStyle/>
            <a:p/>
          </p:txBody>
        </p:sp>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92373" y="113125"/>
            <a:ext cx="3279140" cy="513080"/>
          </a:xfrm>
          <a:prstGeom prst="rect"/>
        </p:spPr>
        <p:txBody>
          <a:bodyPr wrap="square" lIns="0" tIns="12065" rIns="0" bIns="0" rtlCol="0" vert="horz">
            <a:spAutoFit/>
          </a:bodyPr>
          <a:lstStyle/>
          <a:p>
            <a:pPr marL="12700">
              <a:lnSpc>
                <a:spcPct val="100000"/>
              </a:lnSpc>
              <a:spcBef>
                <a:spcPts val="95"/>
              </a:spcBef>
            </a:pPr>
            <a:r>
              <a:rPr dirty="0" spc="-45"/>
              <a:t>线缆安装工程规范</a:t>
            </a:r>
          </a:p>
        </p:txBody>
      </p:sp>
      <p:pic>
        <p:nvPicPr>
          <p:cNvPr id="3" name="object 3" descr=""/>
          <p:cNvPicPr/>
          <p:nvPr/>
        </p:nvPicPr>
        <p:blipFill>
          <a:blip r:embed="rId2" cstate="print"/>
          <a:stretch>
            <a:fillRect/>
          </a:stretch>
        </p:blipFill>
        <p:spPr>
          <a:xfrm>
            <a:off x="533400" y="895350"/>
            <a:ext cx="3384372" cy="530771"/>
          </a:xfrm>
          <a:prstGeom prst="rect">
            <a:avLst/>
          </a:prstGeom>
        </p:spPr>
      </p:pic>
      <p:sp>
        <p:nvSpPr>
          <p:cNvPr id="4" name="object 4" descr=""/>
          <p:cNvSpPr txBox="1"/>
          <p:nvPr/>
        </p:nvSpPr>
        <p:spPr>
          <a:xfrm>
            <a:off x="1298487" y="1002493"/>
            <a:ext cx="1854200" cy="299720"/>
          </a:xfrm>
          <a:prstGeom prst="rect">
            <a:avLst/>
          </a:prstGeom>
        </p:spPr>
        <p:txBody>
          <a:bodyPr wrap="square" lIns="0" tIns="12700" rIns="0" bIns="0" rtlCol="0" vert="horz">
            <a:spAutoFit/>
          </a:bodyPr>
          <a:lstStyle/>
          <a:p>
            <a:pPr marL="12700">
              <a:lnSpc>
                <a:spcPct val="100000"/>
              </a:lnSpc>
              <a:spcBef>
                <a:spcPts val="100"/>
              </a:spcBef>
            </a:pPr>
            <a:r>
              <a:rPr dirty="0" sz="1800" spc="-10">
                <a:latin typeface="Microsoft YaHei"/>
                <a:cs typeface="Microsoft YaHei"/>
              </a:rPr>
              <a:t>时钟级联网线安装</a:t>
            </a:r>
            <a:endParaRPr sz="1800">
              <a:latin typeface="Microsoft YaHei"/>
              <a:cs typeface="Microsoft YaHei"/>
            </a:endParaRPr>
          </a:p>
        </p:txBody>
      </p:sp>
      <p:grpSp>
        <p:nvGrpSpPr>
          <p:cNvPr id="5" name="object 5" descr=""/>
          <p:cNvGrpSpPr/>
          <p:nvPr/>
        </p:nvGrpSpPr>
        <p:grpSpPr>
          <a:xfrm>
            <a:off x="669797" y="2054351"/>
            <a:ext cx="4486275" cy="2547620"/>
            <a:chOff x="669797" y="2054351"/>
            <a:chExt cx="4486275" cy="2547620"/>
          </a:xfrm>
        </p:grpSpPr>
        <p:pic>
          <p:nvPicPr>
            <p:cNvPr id="6" name="object 6"/>
            <p:cNvPicPr/>
            <p:nvPr/>
          </p:nvPicPr>
          <p:blipFill>
            <a:blip r:embed="rId3" cstate="print"/>
            <a:stretch>
              <a:fillRect/>
            </a:stretch>
          </p:blipFill>
          <p:spPr>
            <a:xfrm>
              <a:off x="669797" y="2054351"/>
              <a:ext cx="4460747" cy="2521457"/>
            </a:xfrm>
            <a:prstGeom prst="rect">
              <a:avLst/>
            </a:prstGeom>
          </p:spPr>
        </p:pic>
        <p:pic>
          <p:nvPicPr>
            <p:cNvPr id="7" name="object 7" descr=""/>
            <p:cNvPicPr/>
            <p:nvPr/>
          </p:nvPicPr>
          <p:blipFill>
            <a:blip r:embed="rId4" cstate="print"/>
            <a:stretch>
              <a:fillRect/>
            </a:stretch>
          </p:blipFill>
          <p:spPr>
            <a:xfrm>
              <a:off x="683567" y="2067699"/>
              <a:ext cx="4472123" cy="2534017"/>
            </a:xfrm>
            <a:prstGeom prst="rect">
              <a:avLst/>
            </a:prstGeom>
          </p:spPr>
        </p:pic>
      </p:grpSp>
      <p:sp>
        <p:nvSpPr>
          <p:cNvPr id="8" name="object 8" descr=""/>
          <p:cNvSpPr txBox="1"/>
          <p:nvPr/>
        </p:nvSpPr>
        <p:spPr>
          <a:xfrm>
            <a:off x="776464" y="1647761"/>
            <a:ext cx="913130" cy="238760"/>
          </a:xfrm>
          <a:prstGeom prst="rect">
            <a:avLst/>
          </a:prstGeom>
        </p:spPr>
        <p:txBody>
          <a:bodyPr wrap="square" lIns="0" tIns="12065" rIns="0" bIns="0" rtlCol="0" vert="horz">
            <a:spAutoFit/>
          </a:bodyPr>
          <a:lstStyle/>
          <a:p>
            <a:pPr marL="12700">
              <a:lnSpc>
                <a:spcPct val="100000"/>
              </a:lnSpc>
              <a:spcBef>
                <a:spcPts val="95"/>
              </a:spcBef>
            </a:pPr>
            <a:r>
              <a:rPr dirty="0" sz="1400" spc="-30">
                <a:latin typeface="Microsoft YaHei"/>
                <a:cs typeface="Microsoft YaHei"/>
              </a:rPr>
              <a:t>网线及线序</a:t>
            </a:r>
            <a:endParaRPr sz="1400">
              <a:latin typeface="Microsoft YaHei"/>
              <a:cs typeface="Microsoft YaHei"/>
            </a:endParaRPr>
          </a:p>
        </p:txBody>
      </p:sp>
      <p:pic>
        <p:nvPicPr>
          <p:cNvPr id="9" name="object 9"/>
          <p:cNvPicPr/>
          <p:nvPr/>
        </p:nvPicPr>
        <p:blipFill>
          <a:blip r:embed="rId5" cstate="print"/>
          <a:stretch>
            <a:fillRect/>
          </a:stretch>
        </p:blipFill>
        <p:spPr>
          <a:xfrm>
            <a:off x="5580113" y="2296011"/>
            <a:ext cx="3105924" cy="2063644"/>
          </a:xfrm>
          <a:prstGeom prst="rect">
            <a:avLst/>
          </a:prstGeom>
        </p:spPr>
      </p:pic>
      <p:sp>
        <p:nvSpPr>
          <p:cNvPr id="10" name="object 10" descr=""/>
          <p:cNvSpPr txBox="1"/>
          <p:nvPr/>
        </p:nvSpPr>
        <p:spPr>
          <a:xfrm>
            <a:off x="5668895" y="1251945"/>
            <a:ext cx="2333625" cy="879475"/>
          </a:xfrm>
          <a:prstGeom prst="rect">
            <a:avLst/>
          </a:prstGeom>
        </p:spPr>
        <p:txBody>
          <a:bodyPr wrap="square" lIns="0" tIns="119380" rIns="0" bIns="0" rtlCol="0" vert="horz">
            <a:spAutoFit/>
          </a:bodyPr>
          <a:lstStyle/>
          <a:p>
            <a:pPr marL="12700">
              <a:lnSpc>
                <a:spcPct val="100000"/>
              </a:lnSpc>
              <a:spcBef>
                <a:spcPts val="940"/>
              </a:spcBef>
            </a:pPr>
            <a:r>
              <a:rPr dirty="0" sz="1400" spc="-30">
                <a:latin typeface="Microsoft YaHei"/>
                <a:cs typeface="Microsoft YaHei"/>
              </a:rPr>
              <a:t>网线线序：</a:t>
            </a:r>
            <a:endParaRPr sz="1400">
              <a:latin typeface="Microsoft YaHei"/>
              <a:cs typeface="Microsoft YaHei"/>
            </a:endParaRPr>
          </a:p>
          <a:p>
            <a:pPr marL="12700" marR="5080">
              <a:lnSpc>
                <a:spcPct val="100000"/>
              </a:lnSpc>
              <a:spcBef>
                <a:spcPts val="840"/>
              </a:spcBef>
            </a:pPr>
            <a:r>
              <a:rPr dirty="0" sz="1400" spc="-25">
                <a:latin typeface="Microsoft YaHei"/>
                <a:cs typeface="Microsoft YaHei"/>
              </a:rPr>
              <a:t>橙白、橙、绿白、蓝、蓝白、绿、棕白、棕</a:t>
            </a:r>
            <a:endParaRPr sz="1400">
              <a:latin typeface="Microsoft YaHei"/>
              <a:cs typeface="Microsoft YaHei"/>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92373" y="113125"/>
            <a:ext cx="3279140" cy="513080"/>
          </a:xfrm>
          <a:prstGeom prst="rect"/>
        </p:spPr>
        <p:txBody>
          <a:bodyPr wrap="square" lIns="0" tIns="12065" rIns="0" bIns="0" rtlCol="0" vert="horz">
            <a:spAutoFit/>
          </a:bodyPr>
          <a:lstStyle/>
          <a:p>
            <a:pPr marL="12700">
              <a:lnSpc>
                <a:spcPct val="100000"/>
              </a:lnSpc>
              <a:spcBef>
                <a:spcPts val="95"/>
              </a:spcBef>
            </a:pPr>
            <a:r>
              <a:rPr dirty="0" spc="-45"/>
              <a:t>线缆安装工程规范</a:t>
            </a:r>
          </a:p>
        </p:txBody>
      </p:sp>
      <p:pic>
        <p:nvPicPr>
          <p:cNvPr id="3" name="object 3" descr=""/>
          <p:cNvPicPr/>
          <p:nvPr/>
        </p:nvPicPr>
        <p:blipFill>
          <a:blip r:embed="rId2" cstate="print"/>
          <a:stretch>
            <a:fillRect/>
          </a:stretch>
        </p:blipFill>
        <p:spPr>
          <a:xfrm>
            <a:off x="533400" y="1047750"/>
            <a:ext cx="3384372" cy="530771"/>
          </a:xfrm>
          <a:prstGeom prst="rect">
            <a:avLst/>
          </a:prstGeom>
        </p:spPr>
      </p:pic>
      <p:grpSp>
        <p:nvGrpSpPr>
          <p:cNvPr id="4" name="object 4" descr=""/>
          <p:cNvGrpSpPr/>
          <p:nvPr/>
        </p:nvGrpSpPr>
        <p:grpSpPr>
          <a:xfrm>
            <a:off x="813816" y="1693926"/>
            <a:ext cx="7339965" cy="2887345"/>
            <a:chOff x="813816" y="1693926"/>
            <a:chExt cx="7339965" cy="2887345"/>
          </a:xfrm>
        </p:grpSpPr>
        <p:pic>
          <p:nvPicPr>
            <p:cNvPr id="5" name="object 5"/>
            <p:cNvPicPr/>
            <p:nvPr/>
          </p:nvPicPr>
          <p:blipFill>
            <a:blip r:embed="rId3" cstate="print"/>
            <a:stretch>
              <a:fillRect/>
            </a:stretch>
          </p:blipFill>
          <p:spPr>
            <a:xfrm>
              <a:off x="813816" y="1693926"/>
              <a:ext cx="7314436" cy="2861309"/>
            </a:xfrm>
            <a:prstGeom prst="rect">
              <a:avLst/>
            </a:prstGeom>
          </p:spPr>
        </p:pic>
        <p:pic>
          <p:nvPicPr>
            <p:cNvPr id="6" name="object 6" descr=""/>
            <p:cNvPicPr/>
            <p:nvPr/>
          </p:nvPicPr>
          <p:blipFill>
            <a:blip r:embed="rId4" cstate="print"/>
            <a:stretch>
              <a:fillRect/>
            </a:stretch>
          </p:blipFill>
          <p:spPr>
            <a:xfrm>
              <a:off x="827583" y="1707654"/>
              <a:ext cx="7325803" cy="2873488"/>
            </a:xfrm>
            <a:prstGeom prst="rect">
              <a:avLst/>
            </a:prstGeom>
          </p:spPr>
        </p:pic>
      </p:grpSp>
      <p:sp>
        <p:nvSpPr>
          <p:cNvPr id="7" name="object 7" descr=""/>
          <p:cNvSpPr txBox="1"/>
          <p:nvPr/>
        </p:nvSpPr>
        <p:spPr>
          <a:xfrm>
            <a:off x="1150302" y="1154893"/>
            <a:ext cx="2272665" cy="854075"/>
          </a:xfrm>
          <a:prstGeom prst="rect">
            <a:avLst/>
          </a:prstGeom>
        </p:spPr>
        <p:txBody>
          <a:bodyPr wrap="square" lIns="0" tIns="12700" rIns="0" bIns="0" rtlCol="0" vert="horz">
            <a:spAutoFit/>
          </a:bodyPr>
          <a:lstStyle/>
          <a:p>
            <a:pPr marL="160655">
              <a:lnSpc>
                <a:spcPct val="100000"/>
              </a:lnSpc>
              <a:spcBef>
                <a:spcPts val="100"/>
              </a:spcBef>
            </a:pPr>
            <a:r>
              <a:rPr dirty="0" sz="1800" spc="-10">
                <a:latin typeface="Microsoft YaHei"/>
                <a:cs typeface="Microsoft YaHei"/>
              </a:rPr>
              <a:t>时钟级联网线安装</a:t>
            </a:r>
            <a:endParaRPr sz="1800">
              <a:latin typeface="Microsoft YaHei"/>
              <a:cs typeface="Microsoft YaHei"/>
            </a:endParaRPr>
          </a:p>
          <a:p>
            <a:pPr marL="12700">
              <a:lnSpc>
                <a:spcPct val="100000"/>
              </a:lnSpc>
              <a:spcBef>
                <a:spcPts val="2685"/>
              </a:spcBef>
            </a:pPr>
            <a:r>
              <a:rPr dirty="0" sz="1400">
                <a:latin typeface="Microsoft YaHei"/>
                <a:cs typeface="Microsoft YaHei"/>
              </a:rPr>
              <a:t>BBU</a:t>
            </a:r>
            <a:r>
              <a:rPr dirty="0" sz="1400" spc="10">
                <a:latin typeface="Microsoft YaHei"/>
                <a:cs typeface="Microsoft YaHei"/>
              </a:rPr>
              <a:t> </a:t>
            </a:r>
            <a:r>
              <a:rPr dirty="0" sz="1400" spc="-10">
                <a:latin typeface="Microsoft YaHei"/>
                <a:cs typeface="Microsoft YaHei"/>
              </a:rPr>
              <a:t>GPS</a:t>
            </a:r>
            <a:r>
              <a:rPr dirty="0" sz="1400" spc="-25">
                <a:latin typeface="Microsoft YaHei"/>
                <a:cs typeface="Microsoft YaHei"/>
              </a:rPr>
              <a:t>/北斗级联安装位置</a:t>
            </a:r>
            <a:endParaRPr sz="1400">
              <a:latin typeface="Microsoft YaHei"/>
              <a:cs typeface="Microsoft YaHei"/>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065" rIns="0" bIns="0" rtlCol="0" vert="horz">
            <a:spAutoFit/>
          </a:bodyPr>
          <a:lstStyle/>
          <a:p>
            <a:pPr marL="12700">
              <a:lnSpc>
                <a:spcPct val="100000"/>
              </a:lnSpc>
              <a:spcBef>
                <a:spcPts val="95"/>
              </a:spcBef>
            </a:pPr>
            <a:r>
              <a:rPr dirty="0" spc="-45"/>
              <a:t>接地、防水工程规范</a:t>
            </a:r>
          </a:p>
        </p:txBody>
      </p:sp>
      <p:pic>
        <p:nvPicPr>
          <p:cNvPr id="3" name="object 3" descr=""/>
          <p:cNvPicPr/>
          <p:nvPr/>
        </p:nvPicPr>
        <p:blipFill>
          <a:blip r:embed="rId2" cstate="print"/>
          <a:stretch>
            <a:fillRect/>
          </a:stretch>
        </p:blipFill>
        <p:spPr>
          <a:xfrm>
            <a:off x="533400" y="971550"/>
            <a:ext cx="2592285" cy="530771"/>
          </a:xfrm>
          <a:prstGeom prst="rect">
            <a:avLst/>
          </a:prstGeom>
        </p:spPr>
      </p:pic>
      <p:sp>
        <p:nvSpPr>
          <p:cNvPr id="4" name="object 4" descr=""/>
          <p:cNvSpPr txBox="1"/>
          <p:nvPr/>
        </p:nvSpPr>
        <p:spPr>
          <a:xfrm>
            <a:off x="906324" y="1078693"/>
            <a:ext cx="1911350" cy="3354704"/>
          </a:xfrm>
          <a:prstGeom prst="rect">
            <a:avLst/>
          </a:prstGeom>
        </p:spPr>
        <p:txBody>
          <a:bodyPr wrap="square" lIns="0" tIns="12700" rIns="0" bIns="0" rtlCol="0" vert="horz">
            <a:spAutoFit/>
          </a:bodyPr>
          <a:lstStyle/>
          <a:p>
            <a:pPr marL="465455">
              <a:lnSpc>
                <a:spcPct val="100000"/>
              </a:lnSpc>
              <a:spcBef>
                <a:spcPts val="100"/>
              </a:spcBef>
            </a:pPr>
            <a:r>
              <a:rPr dirty="0" sz="1800" spc="-15">
                <a:latin typeface="Microsoft YaHei"/>
                <a:cs typeface="Microsoft YaHei"/>
              </a:rPr>
              <a:t>设备接地</a:t>
            </a:r>
            <a:endParaRPr sz="1800">
              <a:latin typeface="Microsoft YaHei"/>
              <a:cs typeface="Microsoft YaHei"/>
            </a:endParaRPr>
          </a:p>
          <a:p>
            <a:pPr marL="297815" indent="-285115">
              <a:lnSpc>
                <a:spcPct val="100000"/>
              </a:lnSpc>
              <a:spcBef>
                <a:spcPts val="2455"/>
              </a:spcBef>
              <a:buFont typeface="Wingdings"/>
              <a:buChar char=""/>
              <a:tabLst>
                <a:tab pos="297815" algn="l"/>
              </a:tabLst>
            </a:pPr>
            <a:r>
              <a:rPr dirty="0" sz="1800" spc="-10">
                <a:latin typeface="Microsoft YaHei"/>
                <a:cs typeface="Microsoft YaHei"/>
              </a:rPr>
              <a:t>BBU</a:t>
            </a:r>
            <a:r>
              <a:rPr dirty="0" sz="1800" spc="-25">
                <a:latin typeface="Microsoft YaHei"/>
                <a:cs typeface="Microsoft YaHei"/>
              </a:rPr>
              <a:t>接地</a:t>
            </a:r>
            <a:endParaRPr sz="1800">
              <a:latin typeface="Microsoft YaHei"/>
              <a:cs typeface="Microsoft YaHei"/>
            </a:endParaRPr>
          </a:p>
          <a:p>
            <a:pPr marL="297815" indent="-285115">
              <a:lnSpc>
                <a:spcPct val="100000"/>
              </a:lnSpc>
              <a:spcBef>
                <a:spcPts val="1080"/>
              </a:spcBef>
              <a:buFont typeface="Wingdings"/>
              <a:buChar char=""/>
              <a:tabLst>
                <a:tab pos="297815" algn="l"/>
              </a:tabLst>
            </a:pPr>
            <a:r>
              <a:rPr dirty="0" sz="1800" spc="-25">
                <a:latin typeface="Microsoft YaHei"/>
                <a:cs typeface="Microsoft YaHei"/>
              </a:rPr>
              <a:t>AAU接地</a:t>
            </a:r>
            <a:endParaRPr sz="1800">
              <a:latin typeface="Microsoft YaHei"/>
              <a:cs typeface="Microsoft YaHei"/>
            </a:endParaRPr>
          </a:p>
          <a:p>
            <a:pPr marL="297815" indent="-285115">
              <a:lnSpc>
                <a:spcPct val="100000"/>
              </a:lnSpc>
              <a:spcBef>
                <a:spcPts val="1080"/>
              </a:spcBef>
              <a:buFont typeface="Wingdings"/>
              <a:buChar char=""/>
              <a:tabLst>
                <a:tab pos="297815" algn="l"/>
              </a:tabLst>
            </a:pPr>
            <a:r>
              <a:rPr dirty="0" sz="1800" spc="-10">
                <a:latin typeface="Microsoft YaHei"/>
                <a:cs typeface="Microsoft YaHei"/>
              </a:rPr>
              <a:t>DCPD</a:t>
            </a:r>
            <a:r>
              <a:rPr dirty="0" sz="1800" spc="-25">
                <a:latin typeface="Microsoft YaHei"/>
                <a:cs typeface="Microsoft YaHei"/>
              </a:rPr>
              <a:t>接地</a:t>
            </a:r>
            <a:endParaRPr sz="1800">
              <a:latin typeface="Microsoft YaHei"/>
              <a:cs typeface="Microsoft YaHei"/>
            </a:endParaRPr>
          </a:p>
          <a:p>
            <a:pPr marL="297815" indent="-285115">
              <a:lnSpc>
                <a:spcPct val="100000"/>
              </a:lnSpc>
              <a:spcBef>
                <a:spcPts val="1080"/>
              </a:spcBef>
              <a:buFont typeface="Wingdings"/>
              <a:buChar char=""/>
              <a:tabLst>
                <a:tab pos="297815" algn="l"/>
              </a:tabLst>
            </a:pPr>
            <a:r>
              <a:rPr dirty="0" sz="1800" spc="-10">
                <a:latin typeface="Microsoft YaHei"/>
                <a:cs typeface="Microsoft YaHei"/>
              </a:rPr>
              <a:t>防雷箱接地</a:t>
            </a:r>
            <a:endParaRPr sz="1800">
              <a:latin typeface="Microsoft YaHei"/>
              <a:cs typeface="Microsoft YaHei"/>
            </a:endParaRPr>
          </a:p>
          <a:p>
            <a:pPr marL="297815" indent="-285115">
              <a:lnSpc>
                <a:spcPct val="100000"/>
              </a:lnSpc>
              <a:spcBef>
                <a:spcPts val="1080"/>
              </a:spcBef>
              <a:buFont typeface="Wingdings"/>
              <a:buChar char=""/>
              <a:tabLst>
                <a:tab pos="297815" algn="l"/>
              </a:tabLst>
            </a:pPr>
            <a:r>
              <a:rPr dirty="0" sz="1800" spc="-10">
                <a:latin typeface="Microsoft YaHei"/>
                <a:cs typeface="Microsoft YaHei"/>
              </a:rPr>
              <a:t>GPS/</a:t>
            </a:r>
            <a:r>
              <a:rPr dirty="0" sz="1800" spc="-15">
                <a:latin typeface="Microsoft YaHei"/>
                <a:cs typeface="Microsoft YaHei"/>
              </a:rPr>
              <a:t>北斗接地</a:t>
            </a:r>
            <a:endParaRPr sz="1800">
              <a:latin typeface="Microsoft YaHei"/>
              <a:cs typeface="Microsoft YaHei"/>
            </a:endParaRPr>
          </a:p>
          <a:p>
            <a:pPr marL="297815" indent="-285115">
              <a:lnSpc>
                <a:spcPct val="100000"/>
              </a:lnSpc>
              <a:spcBef>
                <a:spcPts val="1080"/>
              </a:spcBef>
              <a:buFont typeface="Wingdings"/>
              <a:buChar char=""/>
              <a:tabLst>
                <a:tab pos="297815" algn="l"/>
              </a:tabLst>
            </a:pPr>
            <a:r>
              <a:rPr dirty="0" sz="1800" spc="-10">
                <a:latin typeface="Microsoft YaHei"/>
                <a:cs typeface="Microsoft YaHei"/>
              </a:rPr>
              <a:t>OCB</a:t>
            </a:r>
            <a:r>
              <a:rPr dirty="0" sz="1800" spc="-25">
                <a:latin typeface="Microsoft YaHei"/>
                <a:cs typeface="Microsoft YaHei"/>
              </a:rPr>
              <a:t>接地</a:t>
            </a:r>
            <a:endParaRPr sz="1800">
              <a:latin typeface="Microsoft YaHei"/>
              <a:cs typeface="Microsoft YaHei"/>
            </a:endParaRPr>
          </a:p>
          <a:p>
            <a:pPr marL="297815" indent="-285115">
              <a:lnSpc>
                <a:spcPct val="100000"/>
              </a:lnSpc>
              <a:spcBef>
                <a:spcPts val="1080"/>
              </a:spcBef>
              <a:buFont typeface="Wingdings"/>
              <a:buChar char=""/>
              <a:tabLst>
                <a:tab pos="297815" algn="l"/>
              </a:tabLst>
            </a:pPr>
            <a:r>
              <a:rPr dirty="0" sz="1800" spc="-10">
                <a:latin typeface="Microsoft YaHei"/>
                <a:cs typeface="Microsoft YaHei"/>
              </a:rPr>
              <a:t>室外电源线接地</a:t>
            </a:r>
            <a:endParaRPr sz="1800">
              <a:latin typeface="Microsoft YaHei"/>
              <a:cs typeface="Microsoft YaHei"/>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78409" y="158369"/>
            <a:ext cx="4091940" cy="513080"/>
          </a:xfrm>
          <a:prstGeom prst="rect"/>
        </p:spPr>
        <p:txBody>
          <a:bodyPr wrap="square" lIns="0" tIns="12065" rIns="0" bIns="0" rtlCol="0" vert="horz">
            <a:spAutoFit/>
          </a:bodyPr>
          <a:lstStyle/>
          <a:p>
            <a:pPr marL="12700">
              <a:lnSpc>
                <a:spcPct val="100000"/>
              </a:lnSpc>
              <a:spcBef>
                <a:spcPts val="95"/>
              </a:spcBef>
            </a:pPr>
            <a:r>
              <a:rPr dirty="0" spc="-45"/>
              <a:t>设备接地安装工程规范</a:t>
            </a:r>
          </a:p>
        </p:txBody>
      </p:sp>
      <p:sp>
        <p:nvSpPr>
          <p:cNvPr id="3" name="object 3" descr=""/>
          <p:cNvSpPr txBox="1"/>
          <p:nvPr/>
        </p:nvSpPr>
        <p:spPr>
          <a:xfrm>
            <a:off x="1122348" y="877570"/>
            <a:ext cx="6465570" cy="4049395"/>
          </a:xfrm>
          <a:prstGeom prst="rect">
            <a:avLst/>
          </a:prstGeom>
        </p:spPr>
        <p:txBody>
          <a:bodyPr wrap="square" lIns="0" tIns="12700" rIns="0" bIns="0" rtlCol="0" vert="horz">
            <a:spAutoFit/>
          </a:bodyPr>
          <a:lstStyle/>
          <a:p>
            <a:pPr algn="just" marL="355600" marR="5080" indent="-342900">
              <a:lnSpc>
                <a:spcPct val="150000"/>
              </a:lnSpc>
              <a:spcBef>
                <a:spcPts val="100"/>
              </a:spcBef>
              <a:buFont typeface="Wingdings"/>
              <a:buChar char=""/>
              <a:tabLst>
                <a:tab pos="355600" algn="l"/>
              </a:tabLst>
            </a:pPr>
            <a:r>
              <a:rPr dirty="0" sz="1600" spc="-15">
                <a:solidFill>
                  <a:srgbClr val="C00000"/>
                </a:solidFill>
                <a:latin typeface="SimSun"/>
                <a:cs typeface="SimSun"/>
              </a:rPr>
              <a:t>接地线必须采用整段材料，中间不得焊接、转接其它线缆，也不得设置开关、熔丝等可断开器件。</a:t>
            </a:r>
            <a:endParaRPr sz="1600">
              <a:latin typeface="SimSun"/>
              <a:cs typeface="SimSun"/>
            </a:endParaRPr>
          </a:p>
          <a:p>
            <a:pPr algn="just" marL="354965" indent="-342265">
              <a:lnSpc>
                <a:spcPct val="100000"/>
              </a:lnSpc>
              <a:spcBef>
                <a:spcPts val="960"/>
              </a:spcBef>
              <a:buFont typeface="Wingdings"/>
              <a:buChar char=""/>
              <a:tabLst>
                <a:tab pos="354965" algn="l"/>
              </a:tabLst>
            </a:pPr>
            <a:r>
              <a:rPr dirty="0" sz="1600" spc="-15">
                <a:solidFill>
                  <a:srgbClr val="C00000"/>
                </a:solidFill>
                <a:latin typeface="SimSun"/>
                <a:cs typeface="SimSun"/>
              </a:rPr>
              <a:t>线缆导体全部插入铜鼻子尾中，不允许有铜丝漏置于铜鼻子尾孔外。</a:t>
            </a:r>
            <a:endParaRPr sz="1600">
              <a:latin typeface="SimSun"/>
              <a:cs typeface="SimSun"/>
            </a:endParaRPr>
          </a:p>
          <a:p>
            <a:pPr algn="just" marL="355600" marR="5080" indent="-342900">
              <a:lnSpc>
                <a:spcPct val="150000"/>
              </a:lnSpc>
              <a:buFont typeface="Wingdings"/>
              <a:buChar char=""/>
              <a:tabLst>
                <a:tab pos="355600" algn="l"/>
              </a:tabLst>
            </a:pPr>
            <a:r>
              <a:rPr dirty="0" sz="1600" spc="-15">
                <a:solidFill>
                  <a:srgbClr val="C00000"/>
                </a:solidFill>
                <a:latin typeface="SimSun"/>
                <a:cs typeface="SimSun"/>
              </a:rPr>
              <a:t>使用合适的压线钳压接铜鼻子，铜鼻子尾孔管壁不能压破，并且与线缆压接牢固。</a:t>
            </a:r>
            <a:endParaRPr sz="1600">
              <a:latin typeface="SimSun"/>
              <a:cs typeface="SimSun"/>
            </a:endParaRPr>
          </a:p>
          <a:p>
            <a:pPr algn="just" marL="354965" marR="5080" indent="-342900">
              <a:lnSpc>
                <a:spcPct val="150000"/>
              </a:lnSpc>
              <a:buFont typeface="Wingdings"/>
              <a:buChar char=""/>
              <a:tabLst>
                <a:tab pos="354965" algn="l"/>
              </a:tabLst>
            </a:pPr>
            <a:r>
              <a:rPr dirty="0" sz="1600" spc="-10">
                <a:solidFill>
                  <a:srgbClr val="C00000"/>
                </a:solidFill>
                <a:latin typeface="SimSun"/>
                <a:cs typeface="SimSun"/>
              </a:rPr>
              <a:t>压接完成后，使用热缩套管或</a:t>
            </a:r>
            <a:r>
              <a:rPr dirty="0" sz="1600" spc="-10">
                <a:solidFill>
                  <a:srgbClr val="C00000"/>
                </a:solidFill>
                <a:latin typeface="Times New Roman"/>
                <a:cs typeface="Times New Roman"/>
              </a:rPr>
              <a:t>PVC</a:t>
            </a:r>
            <a:r>
              <a:rPr dirty="0" sz="1600" spc="-15">
                <a:solidFill>
                  <a:srgbClr val="C00000"/>
                </a:solidFill>
                <a:latin typeface="SimSun"/>
                <a:cs typeface="SimSun"/>
              </a:rPr>
              <a:t>胶带对接头处进行保护。使用热缩套管时要求收缩均匀，无空气泡，外壁无烫伤；使用胶带时要求胶带层间重叠度一致，无皱褶，无过度拉伸</a:t>
            </a:r>
            <a:endParaRPr sz="1600">
              <a:latin typeface="SimSun"/>
              <a:cs typeface="SimSun"/>
            </a:endParaRPr>
          </a:p>
          <a:p>
            <a:pPr algn="just" marL="354965" indent="-342265">
              <a:lnSpc>
                <a:spcPct val="100000"/>
              </a:lnSpc>
              <a:spcBef>
                <a:spcPts val="955"/>
              </a:spcBef>
              <a:buFont typeface="Wingdings"/>
              <a:buChar char=""/>
              <a:tabLst>
                <a:tab pos="354965" algn="l"/>
              </a:tabLst>
            </a:pPr>
            <a:r>
              <a:rPr dirty="0" sz="1600" spc="-15">
                <a:solidFill>
                  <a:srgbClr val="C00000"/>
                </a:solidFill>
                <a:latin typeface="SimSun"/>
                <a:cs typeface="SimSun"/>
              </a:rPr>
              <a:t>在满足布线基本要求的基础上，接地线选择最短路由，禁止盘绕。</a:t>
            </a:r>
            <a:endParaRPr sz="1600">
              <a:latin typeface="SimSun"/>
              <a:cs typeface="SimSun"/>
            </a:endParaRPr>
          </a:p>
          <a:p>
            <a:pPr algn="just" marL="354965" indent="-342265">
              <a:lnSpc>
                <a:spcPct val="100000"/>
              </a:lnSpc>
              <a:spcBef>
                <a:spcPts val="960"/>
              </a:spcBef>
              <a:buFont typeface="Wingdings"/>
              <a:buChar char=""/>
              <a:tabLst>
                <a:tab pos="354965" algn="l"/>
              </a:tabLst>
            </a:pPr>
            <a:r>
              <a:rPr dirty="0" sz="1600" spc="-15">
                <a:solidFill>
                  <a:srgbClr val="C00000"/>
                </a:solidFill>
                <a:latin typeface="SimSun"/>
                <a:cs typeface="SimSun"/>
              </a:rPr>
              <a:t>接地线缆铜鼻子与接地排的接触面必须保证完全平行接触。</a:t>
            </a:r>
            <a:endParaRPr sz="1600">
              <a:latin typeface="SimSun"/>
              <a:cs typeface="SimSun"/>
            </a:endParaRPr>
          </a:p>
          <a:p>
            <a:pPr algn="just" marL="354965" indent="-342265">
              <a:lnSpc>
                <a:spcPct val="100000"/>
              </a:lnSpc>
              <a:spcBef>
                <a:spcPts val="960"/>
              </a:spcBef>
              <a:buFont typeface="Wingdings"/>
              <a:buChar char=""/>
              <a:tabLst>
                <a:tab pos="354965" algn="l"/>
              </a:tabLst>
            </a:pPr>
            <a:r>
              <a:rPr dirty="0" sz="1600" spc="-15">
                <a:solidFill>
                  <a:srgbClr val="C00000"/>
                </a:solidFill>
                <a:latin typeface="SimSun"/>
                <a:cs typeface="SimSun"/>
              </a:rPr>
              <a:t>接地点处若有锈蚀或涂层，必须先用锉刀将其除去，保证接触良好。</a:t>
            </a:r>
            <a:endParaRPr sz="1600">
              <a:latin typeface="SimSun"/>
              <a:cs typeface="SimSun"/>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74957" y="158369"/>
            <a:ext cx="4498340" cy="513080"/>
          </a:xfrm>
          <a:prstGeom prst="rect"/>
        </p:spPr>
        <p:txBody>
          <a:bodyPr wrap="square" lIns="0" tIns="12065" rIns="0" bIns="0" rtlCol="0" vert="horz">
            <a:spAutoFit/>
          </a:bodyPr>
          <a:lstStyle/>
          <a:p>
            <a:pPr marL="12700">
              <a:lnSpc>
                <a:spcPct val="100000"/>
              </a:lnSpc>
              <a:spcBef>
                <a:spcPts val="95"/>
              </a:spcBef>
            </a:pPr>
            <a:r>
              <a:rPr dirty="0" spc="-45"/>
              <a:t>设备接地线安装工程规范</a:t>
            </a:r>
          </a:p>
        </p:txBody>
      </p:sp>
      <p:pic>
        <p:nvPicPr>
          <p:cNvPr id="3" name="object 3"/>
          <p:cNvPicPr/>
          <p:nvPr/>
        </p:nvPicPr>
        <p:blipFill>
          <a:blip r:embed="rId2" cstate="print"/>
          <a:stretch>
            <a:fillRect/>
          </a:stretch>
        </p:blipFill>
        <p:spPr>
          <a:xfrm>
            <a:off x="395541" y="1131589"/>
            <a:ext cx="2071608" cy="2448260"/>
          </a:xfrm>
          <a:prstGeom prst="rect">
            <a:avLst/>
          </a:prstGeom>
        </p:spPr>
      </p:pic>
      <p:pic>
        <p:nvPicPr>
          <p:cNvPr id="4" name="object 4"/>
          <p:cNvPicPr/>
          <p:nvPr/>
        </p:nvPicPr>
        <p:blipFill>
          <a:blip r:embed="rId3" cstate="print"/>
          <a:stretch>
            <a:fillRect/>
          </a:stretch>
        </p:blipFill>
        <p:spPr>
          <a:xfrm>
            <a:off x="5868144" y="1163528"/>
            <a:ext cx="2791274" cy="2416334"/>
          </a:xfrm>
          <a:prstGeom prst="rect">
            <a:avLst/>
          </a:prstGeom>
        </p:spPr>
      </p:pic>
      <p:pic>
        <p:nvPicPr>
          <p:cNvPr id="5" name="object 5"/>
          <p:cNvPicPr/>
          <p:nvPr/>
        </p:nvPicPr>
        <p:blipFill>
          <a:blip r:embed="rId4" cstate="print"/>
          <a:stretch>
            <a:fillRect/>
          </a:stretch>
        </p:blipFill>
        <p:spPr>
          <a:xfrm>
            <a:off x="3131845" y="1150851"/>
            <a:ext cx="2450857" cy="2429009"/>
          </a:xfrm>
          <a:prstGeom prst="rect">
            <a:avLst/>
          </a:prstGeom>
        </p:spPr>
      </p:pic>
      <p:sp>
        <p:nvSpPr>
          <p:cNvPr id="6" name="object 6" descr=""/>
          <p:cNvSpPr txBox="1"/>
          <p:nvPr/>
        </p:nvSpPr>
        <p:spPr>
          <a:xfrm>
            <a:off x="88836" y="3897104"/>
            <a:ext cx="2910205" cy="1092835"/>
          </a:xfrm>
          <a:prstGeom prst="rect">
            <a:avLst/>
          </a:prstGeom>
        </p:spPr>
        <p:txBody>
          <a:bodyPr wrap="square" lIns="0" tIns="12065" rIns="0" bIns="0" rtlCol="0" vert="horz">
            <a:spAutoFit/>
          </a:bodyPr>
          <a:lstStyle/>
          <a:p>
            <a:pPr marL="38100" marR="30480" indent="-635">
              <a:lnSpc>
                <a:spcPct val="100099"/>
              </a:lnSpc>
              <a:spcBef>
                <a:spcPts val="95"/>
              </a:spcBef>
            </a:pPr>
            <a:r>
              <a:rPr dirty="0" sz="1400" spc="-10">
                <a:latin typeface="Times New Roman"/>
                <a:cs typeface="Times New Roman"/>
              </a:rPr>
              <a:t>BBU</a:t>
            </a:r>
            <a:r>
              <a:rPr dirty="0" sz="1400" spc="-15">
                <a:latin typeface="SimSun"/>
                <a:cs typeface="SimSun"/>
              </a:rPr>
              <a:t>接地线采用</a:t>
            </a:r>
            <a:r>
              <a:rPr dirty="0" sz="1400" spc="-10">
                <a:latin typeface="Times New Roman"/>
                <a:cs typeface="Times New Roman"/>
              </a:rPr>
              <a:t>16mm</a:t>
            </a:r>
            <a:r>
              <a:rPr dirty="0" baseline="24691" sz="1350" spc="-15">
                <a:latin typeface="Times New Roman"/>
                <a:cs typeface="Times New Roman"/>
              </a:rPr>
              <a:t>2</a:t>
            </a:r>
            <a:r>
              <a:rPr dirty="0" sz="1400" spc="-15">
                <a:latin typeface="SimSun"/>
                <a:cs typeface="SimSun"/>
              </a:rPr>
              <a:t>黄绿接地线，设备侧使用</a:t>
            </a:r>
            <a:r>
              <a:rPr dirty="0" sz="1400" spc="-10">
                <a:latin typeface="Times New Roman"/>
                <a:cs typeface="Times New Roman"/>
              </a:rPr>
              <a:t>16mm</a:t>
            </a:r>
            <a:r>
              <a:rPr dirty="0" baseline="24691" sz="1350" spc="-15">
                <a:latin typeface="Times New Roman"/>
                <a:cs typeface="Times New Roman"/>
              </a:rPr>
              <a:t>2</a:t>
            </a:r>
            <a:r>
              <a:rPr dirty="0" sz="1400" spc="-10">
                <a:latin typeface="SimSun"/>
                <a:cs typeface="SimSun"/>
              </a:rPr>
              <a:t>－</a:t>
            </a:r>
            <a:r>
              <a:rPr dirty="0" sz="1400" spc="-10">
                <a:latin typeface="Times New Roman"/>
                <a:cs typeface="Times New Roman"/>
              </a:rPr>
              <a:t>M4</a:t>
            </a:r>
            <a:r>
              <a:rPr dirty="0" sz="1400" spc="-15">
                <a:latin typeface="SimSun"/>
                <a:cs typeface="SimSun"/>
              </a:rPr>
              <a:t>铜鼻子，接到主设备接地端子上；接地排侧使用</a:t>
            </a:r>
            <a:r>
              <a:rPr dirty="0" sz="1400" spc="-10">
                <a:latin typeface="Times New Roman"/>
                <a:cs typeface="Times New Roman"/>
              </a:rPr>
              <a:t>16mm</a:t>
            </a:r>
            <a:r>
              <a:rPr dirty="0" baseline="24691" sz="1350" spc="-15">
                <a:latin typeface="Times New Roman"/>
                <a:cs typeface="Times New Roman"/>
              </a:rPr>
              <a:t>2</a:t>
            </a:r>
            <a:r>
              <a:rPr dirty="0" sz="1400" spc="-10">
                <a:latin typeface="SimSun"/>
                <a:cs typeface="SimSun"/>
              </a:rPr>
              <a:t>－</a:t>
            </a:r>
            <a:r>
              <a:rPr dirty="0" sz="1400" spc="-10">
                <a:latin typeface="Times New Roman"/>
                <a:cs typeface="Times New Roman"/>
              </a:rPr>
              <a:t>M8</a:t>
            </a:r>
            <a:r>
              <a:rPr dirty="0" sz="1400" spc="-15">
                <a:latin typeface="SimSun"/>
                <a:cs typeface="SimSun"/>
              </a:rPr>
              <a:t>铜鼻子，接至室内接地排上。</a:t>
            </a:r>
            <a:endParaRPr sz="1400">
              <a:latin typeface="SimSun"/>
              <a:cs typeface="SimSun"/>
            </a:endParaRPr>
          </a:p>
        </p:txBody>
      </p:sp>
      <p:sp>
        <p:nvSpPr>
          <p:cNvPr id="7" name="object 7" descr=""/>
          <p:cNvSpPr txBox="1"/>
          <p:nvPr/>
        </p:nvSpPr>
        <p:spPr>
          <a:xfrm>
            <a:off x="3102712" y="3927846"/>
            <a:ext cx="2515870" cy="452120"/>
          </a:xfrm>
          <a:prstGeom prst="rect">
            <a:avLst/>
          </a:prstGeom>
        </p:spPr>
        <p:txBody>
          <a:bodyPr wrap="square" lIns="0" tIns="12065" rIns="0" bIns="0" rtlCol="0" vert="horz">
            <a:spAutoFit/>
          </a:bodyPr>
          <a:lstStyle/>
          <a:p>
            <a:pPr marL="12700" marR="5080">
              <a:lnSpc>
                <a:spcPct val="100000"/>
              </a:lnSpc>
              <a:spcBef>
                <a:spcPts val="95"/>
              </a:spcBef>
            </a:pPr>
            <a:r>
              <a:rPr dirty="0" sz="1400" spc="-25">
                <a:latin typeface="Times New Roman"/>
                <a:cs typeface="Times New Roman"/>
              </a:rPr>
              <a:t>AAU</a:t>
            </a:r>
            <a:r>
              <a:rPr dirty="0" sz="1400" spc="-20">
                <a:latin typeface="SimSun"/>
                <a:cs typeface="SimSun"/>
              </a:rPr>
              <a:t>接地使用</a:t>
            </a:r>
            <a:r>
              <a:rPr dirty="0" sz="1400" spc="-20">
                <a:latin typeface="Times New Roman"/>
                <a:cs typeface="Times New Roman"/>
              </a:rPr>
              <a:t>16mm²</a:t>
            </a:r>
            <a:r>
              <a:rPr dirty="0" sz="1400" spc="-30">
                <a:latin typeface="SimSun"/>
                <a:cs typeface="SimSun"/>
              </a:rPr>
              <a:t>黄绿接地线</a:t>
            </a:r>
            <a:r>
              <a:rPr dirty="0" sz="1400" spc="-20">
                <a:latin typeface="SimSun"/>
                <a:cs typeface="SimSun"/>
              </a:rPr>
              <a:t>进行</a:t>
            </a:r>
            <a:r>
              <a:rPr dirty="0" sz="1400" spc="-25">
                <a:latin typeface="Times New Roman"/>
                <a:cs typeface="Times New Roman"/>
              </a:rPr>
              <a:t>AAU</a:t>
            </a:r>
            <a:r>
              <a:rPr dirty="0" sz="1400" spc="-30">
                <a:latin typeface="SimSun"/>
                <a:cs typeface="SimSun"/>
              </a:rPr>
              <a:t>设备接地</a:t>
            </a:r>
            <a:endParaRPr sz="1400">
              <a:latin typeface="SimSun"/>
              <a:cs typeface="SimSun"/>
            </a:endParaRPr>
          </a:p>
        </p:txBody>
      </p:sp>
      <p:sp>
        <p:nvSpPr>
          <p:cNvPr id="8" name="object 8" descr=""/>
          <p:cNvSpPr txBox="1"/>
          <p:nvPr/>
        </p:nvSpPr>
        <p:spPr>
          <a:xfrm>
            <a:off x="5851645" y="3931574"/>
            <a:ext cx="3016250" cy="665480"/>
          </a:xfrm>
          <a:prstGeom prst="rect">
            <a:avLst/>
          </a:prstGeom>
        </p:spPr>
        <p:txBody>
          <a:bodyPr wrap="square" lIns="0" tIns="12065" rIns="0" bIns="0" rtlCol="0" vert="horz">
            <a:spAutoFit/>
          </a:bodyPr>
          <a:lstStyle/>
          <a:p>
            <a:pPr algn="just" marL="38100" marR="30480" indent="-635">
              <a:lnSpc>
                <a:spcPct val="100000"/>
              </a:lnSpc>
              <a:spcBef>
                <a:spcPts val="95"/>
              </a:spcBef>
            </a:pPr>
            <a:r>
              <a:rPr dirty="0" sz="1400" spc="-20">
                <a:latin typeface="Times New Roman"/>
                <a:cs typeface="Times New Roman"/>
              </a:rPr>
              <a:t>DCPD</a:t>
            </a:r>
            <a:r>
              <a:rPr dirty="0" sz="1400" spc="-20">
                <a:latin typeface="SimSun"/>
                <a:cs typeface="SimSun"/>
              </a:rPr>
              <a:t>接地线采用</a:t>
            </a:r>
            <a:r>
              <a:rPr dirty="0" sz="1400" spc="-10">
                <a:latin typeface="Times New Roman"/>
                <a:cs typeface="Times New Roman"/>
              </a:rPr>
              <a:t>16mm</a:t>
            </a:r>
            <a:r>
              <a:rPr dirty="0" baseline="24691" sz="1350" spc="-15">
                <a:latin typeface="Times New Roman"/>
                <a:cs typeface="Times New Roman"/>
              </a:rPr>
              <a:t>2</a:t>
            </a:r>
            <a:r>
              <a:rPr dirty="0" sz="1400" spc="-25">
                <a:latin typeface="SimSun"/>
                <a:cs typeface="SimSun"/>
              </a:rPr>
              <a:t>黄绿接地线，</a:t>
            </a:r>
            <a:r>
              <a:rPr dirty="0" sz="1400" spc="-20">
                <a:latin typeface="SimSun"/>
                <a:cs typeface="SimSun"/>
              </a:rPr>
              <a:t>设备侧使用</a:t>
            </a:r>
            <a:r>
              <a:rPr dirty="0" sz="1400" spc="-10">
                <a:latin typeface="Times New Roman"/>
                <a:cs typeface="Times New Roman"/>
              </a:rPr>
              <a:t>16mm</a:t>
            </a:r>
            <a:r>
              <a:rPr dirty="0" baseline="24691" sz="1350" spc="-15">
                <a:latin typeface="Times New Roman"/>
                <a:cs typeface="Times New Roman"/>
              </a:rPr>
              <a:t>2</a:t>
            </a:r>
            <a:r>
              <a:rPr dirty="0" sz="1400" spc="-10">
                <a:latin typeface="SimSun"/>
                <a:cs typeface="SimSun"/>
              </a:rPr>
              <a:t>－</a:t>
            </a:r>
            <a:r>
              <a:rPr dirty="0" sz="1400" spc="-10">
                <a:latin typeface="Times New Roman"/>
                <a:cs typeface="Times New Roman"/>
              </a:rPr>
              <a:t>M4</a:t>
            </a:r>
            <a:r>
              <a:rPr dirty="0" sz="1400" spc="-25">
                <a:latin typeface="SimSun"/>
                <a:cs typeface="SimSun"/>
              </a:rPr>
              <a:t>铜鼻子，接地</a:t>
            </a:r>
            <a:r>
              <a:rPr dirty="0" sz="1400" spc="-20">
                <a:latin typeface="SimSun"/>
                <a:cs typeface="SimSun"/>
              </a:rPr>
              <a:t>排侧使用</a:t>
            </a:r>
            <a:r>
              <a:rPr dirty="0" sz="1400" spc="-10">
                <a:latin typeface="Times New Roman"/>
                <a:cs typeface="Times New Roman"/>
              </a:rPr>
              <a:t>16mm</a:t>
            </a:r>
            <a:r>
              <a:rPr dirty="0" baseline="24691" sz="1350" spc="-15">
                <a:latin typeface="Times New Roman"/>
                <a:cs typeface="Times New Roman"/>
              </a:rPr>
              <a:t>2</a:t>
            </a:r>
            <a:r>
              <a:rPr dirty="0" sz="1400" spc="-10">
                <a:latin typeface="SimSun"/>
                <a:cs typeface="SimSun"/>
              </a:rPr>
              <a:t>－</a:t>
            </a:r>
            <a:r>
              <a:rPr dirty="0" sz="1400" spc="-10">
                <a:latin typeface="Times New Roman"/>
                <a:cs typeface="Times New Roman"/>
              </a:rPr>
              <a:t>M8</a:t>
            </a:r>
            <a:r>
              <a:rPr dirty="0" sz="1400" spc="-30">
                <a:latin typeface="SimSun"/>
                <a:cs typeface="SimSun"/>
              </a:rPr>
              <a:t>铜鼻子。</a:t>
            </a:r>
            <a:endParaRPr sz="1400">
              <a:latin typeface="SimSun"/>
              <a:cs typeface="SimSun"/>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065" rIns="0" bIns="0" rtlCol="0" vert="horz">
            <a:spAutoFit/>
          </a:bodyPr>
          <a:lstStyle/>
          <a:p>
            <a:pPr marL="12700">
              <a:lnSpc>
                <a:spcPct val="100000"/>
              </a:lnSpc>
              <a:spcBef>
                <a:spcPts val="95"/>
              </a:spcBef>
            </a:pPr>
            <a:r>
              <a:rPr dirty="0" spc="-45"/>
              <a:t>接地、防水工程规范</a:t>
            </a:r>
          </a:p>
        </p:txBody>
      </p:sp>
      <p:pic>
        <p:nvPicPr>
          <p:cNvPr id="3" name="object 3" descr=""/>
          <p:cNvPicPr/>
          <p:nvPr/>
        </p:nvPicPr>
        <p:blipFill>
          <a:blip r:embed="rId2" cstate="print"/>
          <a:stretch>
            <a:fillRect/>
          </a:stretch>
        </p:blipFill>
        <p:spPr>
          <a:xfrm>
            <a:off x="539546" y="971550"/>
            <a:ext cx="2592285" cy="376059"/>
          </a:xfrm>
          <a:prstGeom prst="rect">
            <a:avLst/>
          </a:prstGeom>
        </p:spPr>
      </p:pic>
      <p:sp>
        <p:nvSpPr>
          <p:cNvPr id="4" name="object 4" descr=""/>
          <p:cNvSpPr txBox="1"/>
          <p:nvPr/>
        </p:nvSpPr>
        <p:spPr>
          <a:xfrm>
            <a:off x="1359305" y="1001340"/>
            <a:ext cx="953135" cy="299720"/>
          </a:xfrm>
          <a:prstGeom prst="rect">
            <a:avLst/>
          </a:prstGeom>
        </p:spPr>
        <p:txBody>
          <a:bodyPr wrap="square" lIns="0" tIns="12700" rIns="0" bIns="0" rtlCol="0" vert="horz">
            <a:spAutoFit/>
          </a:bodyPr>
          <a:lstStyle/>
          <a:p>
            <a:pPr marL="12700">
              <a:lnSpc>
                <a:spcPct val="100000"/>
              </a:lnSpc>
              <a:spcBef>
                <a:spcPts val="100"/>
              </a:spcBef>
            </a:pPr>
            <a:r>
              <a:rPr dirty="0" sz="1800">
                <a:latin typeface="Arial MT"/>
                <a:cs typeface="Arial MT"/>
              </a:rPr>
              <a:t>BBU</a:t>
            </a:r>
            <a:r>
              <a:rPr dirty="0" sz="1800" spc="-25">
                <a:latin typeface="Microsoft YaHei"/>
                <a:cs typeface="Microsoft YaHei"/>
              </a:rPr>
              <a:t>接地</a:t>
            </a:r>
            <a:endParaRPr sz="1800">
              <a:latin typeface="Microsoft YaHei"/>
              <a:cs typeface="Microsoft YaHei"/>
            </a:endParaRPr>
          </a:p>
        </p:txBody>
      </p:sp>
      <p:pic>
        <p:nvPicPr>
          <p:cNvPr id="5" name="object 5"/>
          <p:cNvPicPr/>
          <p:nvPr/>
        </p:nvPicPr>
        <p:blipFill>
          <a:blip r:embed="rId3" cstate="print"/>
          <a:stretch>
            <a:fillRect/>
          </a:stretch>
        </p:blipFill>
        <p:spPr>
          <a:xfrm>
            <a:off x="1487451" y="1476733"/>
            <a:ext cx="6034356" cy="2620959"/>
          </a:xfrm>
          <a:prstGeom prst="rect">
            <a:avLst/>
          </a:prstGeom>
        </p:spPr>
      </p:pic>
      <p:sp>
        <p:nvSpPr>
          <p:cNvPr id="6" name="object 6" descr=""/>
          <p:cNvSpPr txBox="1"/>
          <p:nvPr/>
        </p:nvSpPr>
        <p:spPr>
          <a:xfrm>
            <a:off x="1093129" y="4254337"/>
            <a:ext cx="6732905" cy="452120"/>
          </a:xfrm>
          <a:prstGeom prst="rect">
            <a:avLst/>
          </a:prstGeom>
        </p:spPr>
        <p:txBody>
          <a:bodyPr wrap="square" lIns="0" tIns="12065" rIns="0" bIns="0" rtlCol="0" vert="horz">
            <a:spAutoFit/>
          </a:bodyPr>
          <a:lstStyle/>
          <a:p>
            <a:pPr marL="38100" marR="30480">
              <a:lnSpc>
                <a:spcPct val="100000"/>
              </a:lnSpc>
              <a:spcBef>
                <a:spcPts val="95"/>
              </a:spcBef>
            </a:pPr>
            <a:r>
              <a:rPr dirty="0" sz="1400" spc="-10">
                <a:latin typeface="Microsoft YaHei"/>
                <a:cs typeface="Microsoft YaHei"/>
              </a:rPr>
              <a:t>BBU</a:t>
            </a:r>
            <a:r>
              <a:rPr dirty="0" sz="1400" spc="-20">
                <a:latin typeface="Microsoft YaHei"/>
                <a:cs typeface="Microsoft YaHei"/>
              </a:rPr>
              <a:t>接地线采用</a:t>
            </a:r>
            <a:r>
              <a:rPr dirty="0" sz="1400" spc="-10">
                <a:latin typeface="Microsoft YaHei"/>
                <a:cs typeface="Microsoft YaHei"/>
              </a:rPr>
              <a:t>16mm</a:t>
            </a:r>
            <a:r>
              <a:rPr dirty="0" baseline="24691" sz="1350" spc="-15">
                <a:latin typeface="Microsoft YaHei"/>
                <a:cs typeface="Microsoft YaHei"/>
              </a:rPr>
              <a:t>2</a:t>
            </a:r>
            <a:r>
              <a:rPr dirty="0" sz="1400" spc="-20">
                <a:latin typeface="Microsoft YaHei"/>
                <a:cs typeface="Microsoft YaHei"/>
              </a:rPr>
              <a:t>黄绿接地线，设备侧使用</a:t>
            </a:r>
            <a:r>
              <a:rPr dirty="0" sz="1400" spc="-10">
                <a:latin typeface="Microsoft YaHei"/>
                <a:cs typeface="Microsoft YaHei"/>
              </a:rPr>
              <a:t>16mm</a:t>
            </a:r>
            <a:r>
              <a:rPr dirty="0" baseline="24691" sz="1350" spc="-15">
                <a:latin typeface="Microsoft YaHei"/>
                <a:cs typeface="Microsoft YaHei"/>
              </a:rPr>
              <a:t>2</a:t>
            </a:r>
            <a:r>
              <a:rPr dirty="0" sz="1400" spc="-10">
                <a:latin typeface="Microsoft YaHei"/>
                <a:cs typeface="Microsoft YaHei"/>
              </a:rPr>
              <a:t>－M4</a:t>
            </a:r>
            <a:r>
              <a:rPr dirty="0" sz="1400" spc="-25">
                <a:latin typeface="Microsoft YaHei"/>
                <a:cs typeface="Microsoft YaHei"/>
              </a:rPr>
              <a:t>铜鼻子，一端接到主设</a:t>
            </a:r>
            <a:r>
              <a:rPr dirty="0" sz="1400" spc="-20">
                <a:latin typeface="Microsoft YaHei"/>
                <a:cs typeface="Microsoft YaHei"/>
              </a:rPr>
              <a:t>备接地端子上；接地排侧使用</a:t>
            </a:r>
            <a:r>
              <a:rPr dirty="0" sz="1400" spc="-10">
                <a:latin typeface="Microsoft YaHei"/>
                <a:cs typeface="Microsoft YaHei"/>
              </a:rPr>
              <a:t>16mm</a:t>
            </a:r>
            <a:r>
              <a:rPr dirty="0" baseline="24691" sz="1350" spc="-15">
                <a:latin typeface="Microsoft YaHei"/>
                <a:cs typeface="Microsoft YaHei"/>
              </a:rPr>
              <a:t>2</a:t>
            </a:r>
            <a:r>
              <a:rPr dirty="0" sz="1400" spc="-10">
                <a:latin typeface="Microsoft YaHei"/>
                <a:cs typeface="Microsoft YaHei"/>
              </a:rPr>
              <a:t>－M8</a:t>
            </a:r>
            <a:r>
              <a:rPr dirty="0" sz="1400" spc="-25">
                <a:latin typeface="Microsoft YaHei"/>
                <a:cs typeface="Microsoft YaHei"/>
              </a:rPr>
              <a:t>铜鼻子，另一端接至室内接地排上。</a:t>
            </a:r>
            <a:endParaRPr sz="1400">
              <a:latin typeface="Microsoft YaHei"/>
              <a:cs typeface="Microsoft YaHei"/>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065" rIns="0" bIns="0" rtlCol="0" vert="horz">
            <a:spAutoFit/>
          </a:bodyPr>
          <a:lstStyle/>
          <a:p>
            <a:pPr marL="12700">
              <a:lnSpc>
                <a:spcPct val="100000"/>
              </a:lnSpc>
              <a:spcBef>
                <a:spcPts val="95"/>
              </a:spcBef>
            </a:pPr>
            <a:r>
              <a:rPr dirty="0" spc="-45"/>
              <a:t>接地、防水工程规范</a:t>
            </a:r>
          </a:p>
        </p:txBody>
      </p:sp>
      <p:pic>
        <p:nvPicPr>
          <p:cNvPr id="3" name="object 3" descr=""/>
          <p:cNvPicPr/>
          <p:nvPr/>
        </p:nvPicPr>
        <p:blipFill>
          <a:blip r:embed="rId2" cstate="print"/>
          <a:stretch>
            <a:fillRect/>
          </a:stretch>
        </p:blipFill>
        <p:spPr>
          <a:xfrm>
            <a:off x="539546" y="895350"/>
            <a:ext cx="2592285" cy="452259"/>
          </a:xfrm>
          <a:prstGeom prst="rect">
            <a:avLst/>
          </a:prstGeom>
        </p:spPr>
      </p:pic>
      <p:sp>
        <p:nvSpPr>
          <p:cNvPr id="4" name="object 4" descr=""/>
          <p:cNvSpPr txBox="1"/>
          <p:nvPr/>
        </p:nvSpPr>
        <p:spPr>
          <a:xfrm>
            <a:off x="1359305" y="963240"/>
            <a:ext cx="953135" cy="299720"/>
          </a:xfrm>
          <a:prstGeom prst="rect">
            <a:avLst/>
          </a:prstGeom>
        </p:spPr>
        <p:txBody>
          <a:bodyPr wrap="square" lIns="0" tIns="12700" rIns="0" bIns="0" rtlCol="0" vert="horz">
            <a:spAutoFit/>
          </a:bodyPr>
          <a:lstStyle/>
          <a:p>
            <a:pPr marL="12700">
              <a:lnSpc>
                <a:spcPct val="100000"/>
              </a:lnSpc>
              <a:spcBef>
                <a:spcPts val="100"/>
              </a:spcBef>
            </a:pPr>
            <a:r>
              <a:rPr dirty="0" sz="1800">
                <a:latin typeface="Arial MT"/>
                <a:cs typeface="Arial MT"/>
              </a:rPr>
              <a:t>AAU</a:t>
            </a:r>
            <a:r>
              <a:rPr dirty="0" sz="1800" spc="-25">
                <a:latin typeface="Microsoft YaHei"/>
                <a:cs typeface="Microsoft YaHei"/>
              </a:rPr>
              <a:t>接地</a:t>
            </a:r>
            <a:endParaRPr sz="1800">
              <a:latin typeface="Microsoft YaHei"/>
              <a:cs typeface="Microsoft YaHei"/>
            </a:endParaRPr>
          </a:p>
        </p:txBody>
      </p:sp>
      <p:pic>
        <p:nvPicPr>
          <p:cNvPr id="5" name="object 5"/>
          <p:cNvPicPr/>
          <p:nvPr/>
        </p:nvPicPr>
        <p:blipFill>
          <a:blip r:embed="rId3" cstate="print"/>
          <a:stretch>
            <a:fillRect/>
          </a:stretch>
        </p:blipFill>
        <p:spPr>
          <a:xfrm>
            <a:off x="3851922" y="1415420"/>
            <a:ext cx="3456381" cy="3425564"/>
          </a:xfrm>
          <a:prstGeom prst="rect">
            <a:avLst/>
          </a:prstGeom>
        </p:spPr>
      </p:pic>
      <p:sp>
        <p:nvSpPr>
          <p:cNvPr id="6" name="object 6" descr=""/>
          <p:cNvSpPr txBox="1"/>
          <p:nvPr/>
        </p:nvSpPr>
        <p:spPr>
          <a:xfrm>
            <a:off x="808871" y="2093094"/>
            <a:ext cx="2432050" cy="513715"/>
          </a:xfrm>
          <a:prstGeom prst="rect">
            <a:avLst/>
          </a:prstGeom>
        </p:spPr>
        <p:txBody>
          <a:bodyPr wrap="square" lIns="0" tIns="12700" rIns="0" bIns="0" rtlCol="0" vert="horz">
            <a:spAutoFit/>
          </a:bodyPr>
          <a:lstStyle/>
          <a:p>
            <a:pPr marL="38100" marR="30480">
              <a:lnSpc>
                <a:spcPct val="100000"/>
              </a:lnSpc>
              <a:spcBef>
                <a:spcPts val="100"/>
              </a:spcBef>
            </a:pPr>
            <a:r>
              <a:rPr dirty="0" sz="1600" spc="-20">
                <a:latin typeface="Microsoft YaHei"/>
                <a:cs typeface="Microsoft YaHei"/>
              </a:rPr>
              <a:t>AAU</a:t>
            </a:r>
            <a:r>
              <a:rPr dirty="0" sz="1600">
                <a:latin typeface="Microsoft YaHei"/>
                <a:cs typeface="Microsoft YaHei"/>
              </a:rPr>
              <a:t>接地使用</a:t>
            </a:r>
            <a:r>
              <a:rPr dirty="0" sz="1600" spc="-10">
                <a:latin typeface="Microsoft YaHei"/>
                <a:cs typeface="Microsoft YaHei"/>
              </a:rPr>
              <a:t>16mm</a:t>
            </a:r>
            <a:r>
              <a:rPr dirty="0" baseline="26455" sz="1575" spc="-15">
                <a:latin typeface="Microsoft YaHei"/>
                <a:cs typeface="Microsoft YaHei"/>
              </a:rPr>
              <a:t>2</a:t>
            </a:r>
            <a:r>
              <a:rPr dirty="0" sz="1600" spc="-25">
                <a:latin typeface="Microsoft YaHei"/>
                <a:cs typeface="Microsoft YaHei"/>
              </a:rPr>
              <a:t>黄绿</a:t>
            </a:r>
            <a:r>
              <a:rPr dirty="0" sz="1600">
                <a:latin typeface="Microsoft YaHei"/>
                <a:cs typeface="Microsoft YaHei"/>
              </a:rPr>
              <a:t>接地线进行</a:t>
            </a:r>
            <a:r>
              <a:rPr dirty="0" sz="1600" spc="-20">
                <a:latin typeface="Microsoft YaHei"/>
                <a:cs typeface="Microsoft YaHei"/>
              </a:rPr>
              <a:t>AAU</a:t>
            </a:r>
            <a:r>
              <a:rPr dirty="0" sz="1600" spc="-15">
                <a:latin typeface="Microsoft YaHei"/>
                <a:cs typeface="Microsoft YaHei"/>
              </a:rPr>
              <a:t>设备接地</a:t>
            </a:r>
            <a:endParaRPr sz="1600">
              <a:latin typeface="Microsoft YaHei"/>
              <a:cs typeface="Microsoft YaHei"/>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065" rIns="0" bIns="0" rtlCol="0" vert="horz">
            <a:spAutoFit/>
          </a:bodyPr>
          <a:lstStyle/>
          <a:p>
            <a:pPr marL="12700">
              <a:lnSpc>
                <a:spcPct val="100000"/>
              </a:lnSpc>
              <a:spcBef>
                <a:spcPts val="95"/>
              </a:spcBef>
            </a:pPr>
            <a:r>
              <a:rPr dirty="0" spc="-45"/>
              <a:t>接地、防水工程规范</a:t>
            </a:r>
          </a:p>
        </p:txBody>
      </p:sp>
      <p:pic>
        <p:nvPicPr>
          <p:cNvPr id="3" name="object 3" descr=""/>
          <p:cNvPicPr/>
          <p:nvPr/>
        </p:nvPicPr>
        <p:blipFill>
          <a:blip r:embed="rId2" cstate="print"/>
          <a:stretch>
            <a:fillRect/>
          </a:stretch>
        </p:blipFill>
        <p:spPr>
          <a:xfrm>
            <a:off x="539546" y="895350"/>
            <a:ext cx="2592285" cy="452259"/>
          </a:xfrm>
          <a:prstGeom prst="rect">
            <a:avLst/>
          </a:prstGeom>
        </p:spPr>
      </p:pic>
      <p:sp>
        <p:nvSpPr>
          <p:cNvPr id="4" name="object 4" descr=""/>
          <p:cNvSpPr txBox="1"/>
          <p:nvPr/>
        </p:nvSpPr>
        <p:spPr>
          <a:xfrm>
            <a:off x="1270151" y="963240"/>
            <a:ext cx="1130935" cy="299720"/>
          </a:xfrm>
          <a:prstGeom prst="rect">
            <a:avLst/>
          </a:prstGeom>
        </p:spPr>
        <p:txBody>
          <a:bodyPr wrap="square" lIns="0" tIns="12700" rIns="0" bIns="0" rtlCol="0" vert="horz">
            <a:spAutoFit/>
          </a:bodyPr>
          <a:lstStyle/>
          <a:p>
            <a:pPr marL="12700">
              <a:lnSpc>
                <a:spcPct val="100000"/>
              </a:lnSpc>
              <a:spcBef>
                <a:spcPts val="100"/>
              </a:spcBef>
            </a:pPr>
            <a:r>
              <a:rPr dirty="0" sz="1800" spc="-20">
                <a:latin typeface="Arial MT"/>
                <a:cs typeface="Arial MT"/>
              </a:rPr>
              <a:t>DCPD</a:t>
            </a:r>
            <a:r>
              <a:rPr dirty="0" sz="1800" spc="-25">
                <a:latin typeface="Microsoft YaHei"/>
                <a:cs typeface="Microsoft YaHei"/>
              </a:rPr>
              <a:t>接地</a:t>
            </a:r>
            <a:endParaRPr sz="1800">
              <a:latin typeface="Microsoft YaHei"/>
              <a:cs typeface="Microsoft YaHei"/>
            </a:endParaRPr>
          </a:p>
        </p:txBody>
      </p:sp>
      <p:pic>
        <p:nvPicPr>
          <p:cNvPr id="5" name="object 5"/>
          <p:cNvPicPr/>
          <p:nvPr/>
        </p:nvPicPr>
        <p:blipFill>
          <a:blip r:embed="rId3" cstate="print"/>
          <a:stretch>
            <a:fillRect/>
          </a:stretch>
        </p:blipFill>
        <p:spPr>
          <a:xfrm>
            <a:off x="1821179" y="1442389"/>
            <a:ext cx="5540372" cy="1498596"/>
          </a:xfrm>
          <a:prstGeom prst="rect">
            <a:avLst/>
          </a:prstGeom>
        </p:spPr>
      </p:pic>
      <p:pic>
        <p:nvPicPr>
          <p:cNvPr id="6" name="object 6"/>
          <p:cNvPicPr/>
          <p:nvPr/>
        </p:nvPicPr>
        <p:blipFill>
          <a:blip r:embed="rId4" cstate="print"/>
          <a:stretch>
            <a:fillRect/>
          </a:stretch>
        </p:blipFill>
        <p:spPr>
          <a:xfrm>
            <a:off x="5024882" y="3069236"/>
            <a:ext cx="2336669" cy="2022790"/>
          </a:xfrm>
          <a:prstGeom prst="rect">
            <a:avLst/>
          </a:prstGeom>
        </p:spPr>
      </p:pic>
      <p:sp>
        <p:nvSpPr>
          <p:cNvPr id="7" name="object 7" descr=""/>
          <p:cNvSpPr txBox="1"/>
          <p:nvPr/>
        </p:nvSpPr>
        <p:spPr>
          <a:xfrm>
            <a:off x="900812" y="3351472"/>
            <a:ext cx="3495675" cy="665480"/>
          </a:xfrm>
          <a:prstGeom prst="rect">
            <a:avLst/>
          </a:prstGeom>
        </p:spPr>
        <p:txBody>
          <a:bodyPr wrap="square" lIns="0" tIns="12065" rIns="0" bIns="0" rtlCol="0" vert="horz">
            <a:spAutoFit/>
          </a:bodyPr>
          <a:lstStyle/>
          <a:p>
            <a:pPr algn="just" marL="38100" marR="30480">
              <a:lnSpc>
                <a:spcPct val="100000"/>
              </a:lnSpc>
              <a:spcBef>
                <a:spcPts val="95"/>
              </a:spcBef>
            </a:pPr>
            <a:r>
              <a:rPr dirty="0" sz="1400" spc="-10">
                <a:latin typeface="Microsoft YaHei"/>
                <a:cs typeface="Microsoft YaHei"/>
              </a:rPr>
              <a:t>DCPD</a:t>
            </a:r>
            <a:r>
              <a:rPr dirty="0" sz="1400" spc="-20">
                <a:latin typeface="Microsoft YaHei"/>
                <a:cs typeface="Microsoft YaHei"/>
              </a:rPr>
              <a:t>接地线采用</a:t>
            </a:r>
            <a:r>
              <a:rPr dirty="0" sz="1400" spc="-10">
                <a:latin typeface="Microsoft YaHei"/>
                <a:cs typeface="Microsoft YaHei"/>
              </a:rPr>
              <a:t>16mm</a:t>
            </a:r>
            <a:r>
              <a:rPr dirty="0" baseline="24691" sz="1350" spc="-15">
                <a:latin typeface="Microsoft YaHei"/>
                <a:cs typeface="Microsoft YaHei"/>
              </a:rPr>
              <a:t>2</a:t>
            </a:r>
            <a:r>
              <a:rPr dirty="0" sz="1400" spc="-25">
                <a:latin typeface="Microsoft YaHei"/>
                <a:cs typeface="Microsoft YaHei"/>
              </a:rPr>
              <a:t>黄绿接地线，设备</a:t>
            </a:r>
            <a:r>
              <a:rPr dirty="0" sz="1400" spc="-20">
                <a:latin typeface="Microsoft YaHei"/>
                <a:cs typeface="Microsoft YaHei"/>
              </a:rPr>
              <a:t>侧使用</a:t>
            </a:r>
            <a:r>
              <a:rPr dirty="0" sz="1400" spc="-10">
                <a:latin typeface="Microsoft YaHei"/>
                <a:cs typeface="Microsoft YaHei"/>
              </a:rPr>
              <a:t>16mm</a:t>
            </a:r>
            <a:r>
              <a:rPr dirty="0" baseline="24691" sz="1350" spc="-15">
                <a:latin typeface="Microsoft YaHei"/>
                <a:cs typeface="Microsoft YaHei"/>
              </a:rPr>
              <a:t>2</a:t>
            </a:r>
            <a:r>
              <a:rPr dirty="0" sz="1400" spc="-10">
                <a:latin typeface="Microsoft YaHei"/>
                <a:cs typeface="Microsoft YaHei"/>
              </a:rPr>
              <a:t>－M4</a:t>
            </a:r>
            <a:r>
              <a:rPr dirty="0" sz="1400" spc="-25">
                <a:latin typeface="Microsoft YaHei"/>
                <a:cs typeface="Microsoft YaHei"/>
              </a:rPr>
              <a:t>铜鼻子，接地排侧使用</a:t>
            </a:r>
            <a:r>
              <a:rPr dirty="0" sz="1400" spc="-50">
                <a:latin typeface="Microsoft YaHei"/>
                <a:cs typeface="Microsoft YaHei"/>
              </a:rPr>
              <a:t> </a:t>
            </a:r>
            <a:r>
              <a:rPr dirty="0" sz="1400" spc="-10">
                <a:latin typeface="Microsoft YaHei"/>
                <a:cs typeface="Microsoft YaHei"/>
              </a:rPr>
              <a:t>16mm</a:t>
            </a:r>
            <a:r>
              <a:rPr dirty="0" baseline="24691" sz="1350" spc="-15">
                <a:latin typeface="Microsoft YaHei"/>
                <a:cs typeface="Microsoft YaHei"/>
              </a:rPr>
              <a:t>2</a:t>
            </a:r>
            <a:r>
              <a:rPr dirty="0" sz="1400" spc="-10">
                <a:latin typeface="Microsoft YaHei"/>
                <a:cs typeface="Microsoft YaHei"/>
              </a:rPr>
              <a:t>－M8</a:t>
            </a:r>
            <a:r>
              <a:rPr dirty="0" sz="1400" spc="-30">
                <a:latin typeface="Microsoft YaHei"/>
                <a:cs typeface="Microsoft YaHei"/>
              </a:rPr>
              <a:t>铜鼻子。</a:t>
            </a:r>
            <a:endParaRPr sz="1400">
              <a:latin typeface="Microsoft YaHei"/>
              <a:cs typeface="Microsoft YaHei"/>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82773" y="113125"/>
            <a:ext cx="4498340" cy="513080"/>
          </a:xfrm>
          <a:prstGeom prst="rect"/>
        </p:spPr>
        <p:txBody>
          <a:bodyPr wrap="square" lIns="0" tIns="12065" rIns="0" bIns="0" rtlCol="0" vert="horz">
            <a:spAutoFit/>
          </a:bodyPr>
          <a:lstStyle/>
          <a:p>
            <a:pPr marL="12700">
              <a:lnSpc>
                <a:spcPct val="100000"/>
              </a:lnSpc>
              <a:spcBef>
                <a:spcPts val="95"/>
              </a:spcBef>
            </a:pPr>
            <a:r>
              <a:rPr dirty="0" spc="-45"/>
              <a:t>接地、防水安装工程规范</a:t>
            </a:r>
          </a:p>
        </p:txBody>
      </p:sp>
      <p:pic>
        <p:nvPicPr>
          <p:cNvPr id="3" name="object 3" descr=""/>
          <p:cNvPicPr/>
          <p:nvPr/>
        </p:nvPicPr>
        <p:blipFill>
          <a:blip r:embed="rId2" cstate="print"/>
          <a:stretch>
            <a:fillRect/>
          </a:stretch>
        </p:blipFill>
        <p:spPr>
          <a:xfrm>
            <a:off x="539546" y="971550"/>
            <a:ext cx="2592285" cy="376059"/>
          </a:xfrm>
          <a:prstGeom prst="rect">
            <a:avLst/>
          </a:prstGeom>
        </p:spPr>
      </p:pic>
      <p:sp>
        <p:nvSpPr>
          <p:cNvPr id="4" name="object 4" descr=""/>
          <p:cNvSpPr txBox="1"/>
          <p:nvPr/>
        </p:nvSpPr>
        <p:spPr>
          <a:xfrm>
            <a:off x="1251177" y="1001340"/>
            <a:ext cx="1168400" cy="299720"/>
          </a:xfrm>
          <a:prstGeom prst="rect">
            <a:avLst/>
          </a:prstGeom>
        </p:spPr>
        <p:txBody>
          <a:bodyPr wrap="square" lIns="0" tIns="12700" rIns="0" bIns="0" rtlCol="0" vert="horz">
            <a:spAutoFit/>
          </a:bodyPr>
          <a:lstStyle/>
          <a:p>
            <a:pPr marL="12700">
              <a:lnSpc>
                <a:spcPct val="100000"/>
              </a:lnSpc>
              <a:spcBef>
                <a:spcPts val="100"/>
              </a:spcBef>
            </a:pPr>
            <a:r>
              <a:rPr dirty="0" sz="1800" spc="-10">
                <a:latin typeface="Microsoft YaHei"/>
                <a:cs typeface="Microsoft YaHei"/>
              </a:rPr>
              <a:t>防雷箱接地</a:t>
            </a:r>
            <a:endParaRPr sz="1800">
              <a:latin typeface="Microsoft YaHei"/>
              <a:cs typeface="Microsoft YaHei"/>
            </a:endParaRPr>
          </a:p>
        </p:txBody>
      </p:sp>
      <p:pic>
        <p:nvPicPr>
          <p:cNvPr id="5" name="object 5"/>
          <p:cNvPicPr/>
          <p:nvPr/>
        </p:nvPicPr>
        <p:blipFill>
          <a:blip r:embed="rId3" cstate="print"/>
          <a:stretch>
            <a:fillRect/>
          </a:stretch>
        </p:blipFill>
        <p:spPr>
          <a:xfrm>
            <a:off x="3275855" y="1491630"/>
            <a:ext cx="2304244" cy="3279694"/>
          </a:xfrm>
          <a:prstGeom prst="rect">
            <a:avLst/>
          </a:prstGeom>
        </p:spPr>
      </p:pic>
      <p:pic>
        <p:nvPicPr>
          <p:cNvPr id="6" name="object 6"/>
          <p:cNvPicPr/>
          <p:nvPr/>
        </p:nvPicPr>
        <p:blipFill>
          <a:blip r:embed="rId4" cstate="print"/>
          <a:stretch>
            <a:fillRect/>
          </a:stretch>
        </p:blipFill>
        <p:spPr>
          <a:xfrm>
            <a:off x="6200537" y="1491629"/>
            <a:ext cx="2257470" cy="3277486"/>
          </a:xfrm>
          <a:prstGeom prst="rect">
            <a:avLst/>
          </a:prstGeom>
        </p:spPr>
      </p:pic>
      <p:sp>
        <p:nvSpPr>
          <p:cNvPr id="7" name="object 7" descr=""/>
          <p:cNvSpPr txBox="1"/>
          <p:nvPr/>
        </p:nvSpPr>
        <p:spPr>
          <a:xfrm>
            <a:off x="484395" y="2102945"/>
            <a:ext cx="2517140" cy="757555"/>
          </a:xfrm>
          <a:prstGeom prst="rect">
            <a:avLst/>
          </a:prstGeom>
        </p:spPr>
        <p:txBody>
          <a:bodyPr wrap="square" lIns="0" tIns="12700" rIns="0" bIns="0" rtlCol="0" vert="horz">
            <a:spAutoFit/>
          </a:bodyPr>
          <a:lstStyle/>
          <a:p>
            <a:pPr marL="38100" marR="30480">
              <a:lnSpc>
                <a:spcPct val="100000"/>
              </a:lnSpc>
              <a:spcBef>
                <a:spcPts val="100"/>
              </a:spcBef>
            </a:pPr>
            <a:r>
              <a:rPr dirty="0" sz="1600" spc="-10">
                <a:latin typeface="Microsoft YaHei"/>
                <a:cs typeface="Microsoft YaHei"/>
              </a:rPr>
              <a:t>防雷箱接地线要连接到就近</a:t>
            </a:r>
            <a:r>
              <a:rPr dirty="0" sz="1600" spc="-5">
                <a:latin typeface="Microsoft YaHei"/>
                <a:cs typeface="Microsoft YaHei"/>
              </a:rPr>
              <a:t>的室外防雷地排上，使用</a:t>
            </a:r>
            <a:r>
              <a:rPr dirty="0" sz="1600" spc="-50">
                <a:latin typeface="Microsoft YaHei"/>
                <a:cs typeface="Microsoft YaHei"/>
              </a:rPr>
              <a:t> </a:t>
            </a:r>
            <a:r>
              <a:rPr dirty="0" sz="1600" spc="-10">
                <a:latin typeface="Microsoft YaHei"/>
                <a:cs typeface="Microsoft YaHei"/>
              </a:rPr>
              <a:t>16mm</a:t>
            </a:r>
            <a:r>
              <a:rPr dirty="0" baseline="26455" sz="1575" spc="-15">
                <a:latin typeface="Microsoft YaHei"/>
                <a:cs typeface="Microsoft YaHei"/>
              </a:rPr>
              <a:t>2</a:t>
            </a:r>
            <a:r>
              <a:rPr dirty="0" sz="1600" spc="-10">
                <a:latin typeface="Microsoft YaHei"/>
                <a:cs typeface="Microsoft YaHei"/>
              </a:rPr>
              <a:t>黄绿接地线</a:t>
            </a:r>
            <a:endParaRPr sz="1600">
              <a:latin typeface="Microsoft YaHei"/>
              <a:cs typeface="Microsoft YaHei"/>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88920" y="113125"/>
            <a:ext cx="3686810" cy="513080"/>
          </a:xfrm>
          <a:prstGeom prst="rect">
            <a:avLst/>
          </a:prstGeom>
        </p:spPr>
        <p:txBody>
          <a:bodyPr wrap="square" lIns="0" tIns="12065" rIns="0" bIns="0" rtlCol="0" vert="horz">
            <a:spAutoFit/>
          </a:bodyPr>
          <a:lstStyle/>
          <a:p>
            <a:pPr marL="12700">
              <a:lnSpc>
                <a:spcPct val="100000"/>
              </a:lnSpc>
              <a:spcBef>
                <a:spcPts val="95"/>
              </a:spcBef>
            </a:pPr>
            <a:r>
              <a:rPr dirty="0" sz="3200" spc="-45" b="1">
                <a:solidFill>
                  <a:srgbClr val="FFFFFF"/>
                </a:solidFill>
                <a:latin typeface="Microsoft JhengHei"/>
                <a:cs typeface="Microsoft JhengHei"/>
              </a:rPr>
              <a:t>接地、防水工程规范</a:t>
            </a:r>
            <a:endParaRPr sz="3200">
              <a:latin typeface="Microsoft JhengHei"/>
              <a:cs typeface="Microsoft JhengHei"/>
            </a:endParaRPr>
          </a:p>
        </p:txBody>
      </p:sp>
      <p:pic>
        <p:nvPicPr>
          <p:cNvPr id="3" name="object 3" descr=""/>
          <p:cNvPicPr/>
          <p:nvPr/>
        </p:nvPicPr>
        <p:blipFill>
          <a:blip r:embed="rId2" cstate="print"/>
          <a:stretch>
            <a:fillRect/>
          </a:stretch>
        </p:blipFill>
        <p:spPr>
          <a:xfrm>
            <a:off x="539546" y="971550"/>
            <a:ext cx="2808312" cy="376059"/>
          </a:xfrm>
          <a:prstGeom prst="rect">
            <a:avLst/>
          </a:prstGeom>
        </p:spPr>
      </p:pic>
      <p:sp>
        <p:nvSpPr>
          <p:cNvPr id="4" name="object 4" descr=""/>
          <p:cNvSpPr txBox="1"/>
          <p:nvPr/>
        </p:nvSpPr>
        <p:spPr>
          <a:xfrm>
            <a:off x="819947" y="1001340"/>
            <a:ext cx="2247900" cy="299720"/>
          </a:xfrm>
          <a:prstGeom prst="rect">
            <a:avLst/>
          </a:prstGeom>
        </p:spPr>
        <p:txBody>
          <a:bodyPr wrap="square" lIns="0" tIns="12700" rIns="0" bIns="0" rtlCol="0" vert="horz">
            <a:spAutoFit/>
          </a:bodyPr>
          <a:lstStyle/>
          <a:p>
            <a:pPr marL="12700">
              <a:lnSpc>
                <a:spcPct val="100000"/>
              </a:lnSpc>
              <a:spcBef>
                <a:spcPts val="100"/>
              </a:spcBef>
            </a:pPr>
            <a:r>
              <a:rPr dirty="0" sz="1800" spc="-10">
                <a:latin typeface="Arial MT"/>
                <a:cs typeface="Arial MT"/>
              </a:rPr>
              <a:t>GPS/</a:t>
            </a:r>
            <a:r>
              <a:rPr dirty="0" sz="1800">
                <a:latin typeface="Microsoft YaHei"/>
                <a:cs typeface="Microsoft YaHei"/>
              </a:rPr>
              <a:t>北斗</a:t>
            </a:r>
            <a:r>
              <a:rPr dirty="0" sz="1800" spc="-10">
                <a:latin typeface="Arial MT"/>
                <a:cs typeface="Arial MT"/>
              </a:rPr>
              <a:t>-</a:t>
            </a:r>
            <a:r>
              <a:rPr dirty="0" sz="1800" spc="-10">
                <a:latin typeface="Microsoft YaHei"/>
                <a:cs typeface="Microsoft YaHei"/>
              </a:rPr>
              <a:t>避雷器接地</a:t>
            </a:r>
            <a:endParaRPr sz="1800">
              <a:latin typeface="Microsoft YaHei"/>
              <a:cs typeface="Microsoft YaHei"/>
            </a:endParaRPr>
          </a:p>
        </p:txBody>
      </p:sp>
      <p:pic>
        <p:nvPicPr>
          <p:cNvPr id="5" name="object 5"/>
          <p:cNvPicPr/>
          <p:nvPr/>
        </p:nvPicPr>
        <p:blipFill>
          <a:blip r:embed="rId3" cstate="print"/>
          <a:stretch>
            <a:fillRect/>
          </a:stretch>
        </p:blipFill>
        <p:spPr>
          <a:xfrm>
            <a:off x="716054" y="1851672"/>
            <a:ext cx="4641184" cy="1989076"/>
          </a:xfrm>
          <a:prstGeom prst="rect">
            <a:avLst/>
          </a:prstGeom>
        </p:spPr>
      </p:pic>
      <p:pic>
        <p:nvPicPr>
          <p:cNvPr id="6" name="object 6"/>
          <p:cNvPicPr/>
          <p:nvPr/>
        </p:nvPicPr>
        <p:blipFill>
          <a:blip r:embed="rId4" cstate="print"/>
          <a:stretch>
            <a:fillRect/>
          </a:stretch>
        </p:blipFill>
        <p:spPr>
          <a:xfrm>
            <a:off x="5580113" y="1325896"/>
            <a:ext cx="2448267" cy="3556541"/>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065" rIns="0" bIns="0" rtlCol="0" vert="horz">
            <a:spAutoFit/>
          </a:bodyPr>
          <a:lstStyle/>
          <a:p>
            <a:pPr marL="12700">
              <a:lnSpc>
                <a:spcPct val="100000"/>
              </a:lnSpc>
              <a:spcBef>
                <a:spcPts val="95"/>
              </a:spcBef>
            </a:pPr>
            <a:r>
              <a:rPr dirty="0" spc="-45"/>
              <a:t>接地、防水工程规范</a:t>
            </a:r>
          </a:p>
        </p:txBody>
      </p:sp>
      <p:pic>
        <p:nvPicPr>
          <p:cNvPr id="3" name="object 3" descr=""/>
          <p:cNvPicPr/>
          <p:nvPr/>
        </p:nvPicPr>
        <p:blipFill>
          <a:blip r:embed="rId2" cstate="print"/>
          <a:stretch>
            <a:fillRect/>
          </a:stretch>
        </p:blipFill>
        <p:spPr>
          <a:xfrm>
            <a:off x="539546" y="895350"/>
            <a:ext cx="2808312" cy="452259"/>
          </a:xfrm>
          <a:prstGeom prst="rect">
            <a:avLst/>
          </a:prstGeom>
        </p:spPr>
      </p:pic>
      <p:sp>
        <p:nvSpPr>
          <p:cNvPr id="4" name="object 4" descr=""/>
          <p:cNvSpPr txBox="1"/>
          <p:nvPr/>
        </p:nvSpPr>
        <p:spPr>
          <a:xfrm>
            <a:off x="450847" y="963240"/>
            <a:ext cx="8063865" cy="3606800"/>
          </a:xfrm>
          <a:prstGeom prst="rect">
            <a:avLst/>
          </a:prstGeom>
        </p:spPr>
        <p:txBody>
          <a:bodyPr wrap="square" lIns="0" tIns="12700" rIns="0" bIns="0" rtlCol="0" vert="horz">
            <a:spAutoFit/>
          </a:bodyPr>
          <a:lstStyle/>
          <a:p>
            <a:pPr marL="381635">
              <a:lnSpc>
                <a:spcPct val="100000"/>
              </a:lnSpc>
              <a:spcBef>
                <a:spcPts val="100"/>
              </a:spcBef>
            </a:pPr>
            <a:r>
              <a:rPr dirty="0" sz="1800" spc="-10">
                <a:latin typeface="Arial MT"/>
                <a:cs typeface="Arial MT"/>
              </a:rPr>
              <a:t>GPS/</a:t>
            </a:r>
            <a:r>
              <a:rPr dirty="0" sz="1800">
                <a:latin typeface="Microsoft YaHei"/>
                <a:cs typeface="Microsoft YaHei"/>
              </a:rPr>
              <a:t>北斗</a:t>
            </a:r>
            <a:r>
              <a:rPr dirty="0" sz="1800" spc="-10">
                <a:latin typeface="Arial MT"/>
                <a:cs typeface="Arial MT"/>
              </a:rPr>
              <a:t>-</a:t>
            </a:r>
            <a:r>
              <a:rPr dirty="0" sz="1800" spc="-10">
                <a:latin typeface="Microsoft YaHei"/>
                <a:cs typeface="Microsoft YaHei"/>
              </a:rPr>
              <a:t>避雷器接地</a:t>
            </a:r>
            <a:endParaRPr sz="1800">
              <a:latin typeface="Microsoft YaHei"/>
              <a:cs typeface="Microsoft YaHei"/>
            </a:endParaRPr>
          </a:p>
          <a:p>
            <a:pPr marL="50800">
              <a:lnSpc>
                <a:spcPct val="100000"/>
              </a:lnSpc>
              <a:spcBef>
                <a:spcPts val="2180"/>
              </a:spcBef>
            </a:pPr>
            <a:r>
              <a:rPr dirty="0" sz="1400" spc="-10">
                <a:latin typeface="Microsoft YaHei"/>
                <a:cs typeface="Microsoft YaHei"/>
              </a:rPr>
              <a:t>GPS</a:t>
            </a:r>
            <a:r>
              <a:rPr dirty="0" sz="1400" spc="-25">
                <a:latin typeface="Microsoft YaHei"/>
                <a:cs typeface="Microsoft YaHei"/>
              </a:rPr>
              <a:t>接地主要是射频馈线屏蔽层接地，使用接地套件和防水包来完成接地。</a:t>
            </a:r>
            <a:endParaRPr sz="1400">
              <a:latin typeface="Microsoft YaHei"/>
              <a:cs typeface="Microsoft YaHei"/>
            </a:endParaRPr>
          </a:p>
          <a:p>
            <a:pPr marL="393065" indent="-342265">
              <a:lnSpc>
                <a:spcPct val="100000"/>
              </a:lnSpc>
              <a:spcBef>
                <a:spcPts val="1180"/>
              </a:spcBef>
              <a:buFont typeface="Wingdings"/>
              <a:buChar char=""/>
              <a:tabLst>
                <a:tab pos="393065" algn="l"/>
              </a:tabLst>
            </a:pPr>
            <a:r>
              <a:rPr dirty="0" sz="1400" spc="-10">
                <a:latin typeface="Microsoft YaHei"/>
                <a:cs typeface="Microsoft YaHei"/>
              </a:rPr>
              <a:t>GPS</a:t>
            </a:r>
            <a:r>
              <a:rPr dirty="0" sz="1400" spc="-20">
                <a:latin typeface="Microsoft YaHei"/>
                <a:cs typeface="Microsoft YaHei"/>
              </a:rPr>
              <a:t>避雷器安装在</a:t>
            </a:r>
            <a:r>
              <a:rPr dirty="0" sz="1400" spc="-10">
                <a:latin typeface="Microsoft YaHei"/>
                <a:cs typeface="Microsoft YaHei"/>
              </a:rPr>
              <a:t>GPS</a:t>
            </a:r>
            <a:r>
              <a:rPr dirty="0" sz="1400" spc="-20">
                <a:latin typeface="Microsoft YaHei"/>
                <a:cs typeface="Microsoft YaHei"/>
              </a:rPr>
              <a:t>射频馈线进入馈线窗后1m</a:t>
            </a:r>
            <a:r>
              <a:rPr dirty="0" sz="1400" spc="-35">
                <a:latin typeface="Microsoft YaHei"/>
                <a:cs typeface="Microsoft YaHei"/>
              </a:rPr>
              <a:t>处。</a:t>
            </a:r>
            <a:endParaRPr sz="1400">
              <a:latin typeface="Microsoft YaHei"/>
              <a:cs typeface="Microsoft YaHei"/>
            </a:endParaRPr>
          </a:p>
          <a:p>
            <a:pPr marL="393065" indent="-342265">
              <a:lnSpc>
                <a:spcPct val="100000"/>
              </a:lnSpc>
              <a:spcBef>
                <a:spcPts val="1175"/>
              </a:spcBef>
              <a:buFont typeface="Wingdings"/>
              <a:buChar char=""/>
              <a:tabLst>
                <a:tab pos="393065" algn="l"/>
              </a:tabLst>
            </a:pPr>
            <a:r>
              <a:rPr dirty="0" sz="1400" spc="-10">
                <a:latin typeface="Microsoft YaHei"/>
                <a:cs typeface="Microsoft YaHei"/>
              </a:rPr>
              <a:t>GPS</a:t>
            </a:r>
            <a:r>
              <a:rPr dirty="0" sz="1400" spc="-25">
                <a:latin typeface="Microsoft YaHei"/>
                <a:cs typeface="Microsoft YaHei"/>
              </a:rPr>
              <a:t>避雷器应安装在走线架的两个横挡之间，避雷器不能接触走线架，并与走线架绝缘</a:t>
            </a:r>
            <a:endParaRPr sz="1400">
              <a:latin typeface="Microsoft YaHei"/>
              <a:cs typeface="Microsoft YaHei"/>
            </a:endParaRPr>
          </a:p>
          <a:p>
            <a:pPr marL="393065" marR="129539" indent="-342900">
              <a:lnSpc>
                <a:spcPct val="150000"/>
              </a:lnSpc>
              <a:spcBef>
                <a:spcPts val="335"/>
              </a:spcBef>
              <a:buFont typeface="Wingdings"/>
              <a:buChar char=""/>
              <a:tabLst>
                <a:tab pos="393065" algn="l"/>
              </a:tabLst>
            </a:pPr>
            <a:r>
              <a:rPr dirty="0" sz="1400" spc="-10">
                <a:latin typeface="Microsoft YaHei"/>
                <a:cs typeface="Microsoft YaHei"/>
              </a:rPr>
              <a:t>GPS</a:t>
            </a:r>
            <a:r>
              <a:rPr dirty="0" sz="1400" spc="-20">
                <a:latin typeface="Microsoft YaHei"/>
                <a:cs typeface="Microsoft YaHei"/>
              </a:rPr>
              <a:t>避雷器必须作接地处理，接地线使用</a:t>
            </a:r>
            <a:r>
              <a:rPr dirty="0" sz="1400" spc="-10">
                <a:latin typeface="Microsoft YaHei"/>
                <a:cs typeface="Microsoft YaHei"/>
              </a:rPr>
              <a:t>16mm</a:t>
            </a:r>
            <a:r>
              <a:rPr dirty="0" baseline="24691" sz="1350" spc="-15">
                <a:latin typeface="Microsoft YaHei"/>
                <a:cs typeface="Microsoft YaHei"/>
              </a:rPr>
              <a:t>2</a:t>
            </a:r>
            <a:r>
              <a:rPr dirty="0" sz="1400" spc="-25">
                <a:latin typeface="Microsoft YaHei"/>
                <a:cs typeface="Microsoft YaHei"/>
              </a:rPr>
              <a:t>黄绿电源线，两端配铜鼻子，现场压接，接地线连接至室外地排</a:t>
            </a:r>
            <a:endParaRPr sz="1400">
              <a:latin typeface="Microsoft YaHei"/>
              <a:cs typeface="Microsoft YaHei"/>
            </a:endParaRPr>
          </a:p>
          <a:p>
            <a:pPr marL="393065" marR="43180" indent="-342900">
              <a:lnSpc>
                <a:spcPct val="150000"/>
              </a:lnSpc>
              <a:spcBef>
                <a:spcPts val="335"/>
              </a:spcBef>
              <a:buFont typeface="Wingdings"/>
              <a:buChar char=""/>
              <a:tabLst>
                <a:tab pos="393065" algn="l"/>
              </a:tabLst>
            </a:pPr>
            <a:r>
              <a:rPr dirty="0" sz="1400" spc="-20">
                <a:latin typeface="Microsoft YaHei"/>
                <a:cs typeface="Microsoft YaHei"/>
              </a:rPr>
              <a:t>注意</a:t>
            </a:r>
            <a:r>
              <a:rPr dirty="0" sz="1400" spc="-10">
                <a:latin typeface="Microsoft YaHei"/>
                <a:cs typeface="Microsoft YaHei"/>
              </a:rPr>
              <a:t>GPS</a:t>
            </a:r>
            <a:r>
              <a:rPr dirty="0" sz="1400" spc="-20">
                <a:latin typeface="Microsoft YaHei"/>
                <a:cs typeface="Microsoft YaHei"/>
              </a:rPr>
              <a:t>避雷器标识，“设备端”朝向主设备，连接</a:t>
            </a:r>
            <a:r>
              <a:rPr dirty="0" sz="1400" spc="-10">
                <a:latin typeface="Microsoft YaHei"/>
                <a:cs typeface="Microsoft YaHei"/>
              </a:rPr>
              <a:t>GPS</a:t>
            </a:r>
            <a:r>
              <a:rPr dirty="0" sz="1400" spc="-25">
                <a:latin typeface="Microsoft YaHei"/>
                <a:cs typeface="Microsoft YaHei"/>
              </a:rPr>
              <a:t>下跳线。避雷器上的接地铜鼻子安装在天</a:t>
            </a:r>
            <a:r>
              <a:rPr dirty="0" sz="1400" spc="-35">
                <a:latin typeface="Microsoft YaHei"/>
                <a:cs typeface="Microsoft YaHei"/>
              </a:rPr>
              <a:t>馈端</a:t>
            </a:r>
            <a:endParaRPr sz="1400">
              <a:latin typeface="Microsoft YaHei"/>
              <a:cs typeface="Microsoft YaHei"/>
            </a:endParaRPr>
          </a:p>
          <a:p>
            <a:pPr marL="393065" indent="-342265">
              <a:lnSpc>
                <a:spcPct val="100000"/>
              </a:lnSpc>
              <a:spcBef>
                <a:spcPts val="1175"/>
              </a:spcBef>
              <a:buFont typeface="Wingdings"/>
              <a:buChar char=""/>
              <a:tabLst>
                <a:tab pos="393065" algn="l"/>
              </a:tabLst>
            </a:pPr>
            <a:r>
              <a:rPr dirty="0" sz="1400" spc="-25">
                <a:latin typeface="Microsoft YaHei"/>
                <a:cs typeface="Microsoft YaHei"/>
              </a:rPr>
              <a:t>接地点处若有锈蚀或涂层，必须先用锉刀除去锈蚀层或涂层，保证接触良好。</a:t>
            </a:r>
            <a:endParaRPr sz="1400">
              <a:latin typeface="Microsoft YaHei"/>
              <a:cs typeface="Microsoft YaHei"/>
            </a:endParaRPr>
          </a:p>
          <a:p>
            <a:pPr marL="393065" indent="-342265">
              <a:lnSpc>
                <a:spcPct val="100000"/>
              </a:lnSpc>
              <a:spcBef>
                <a:spcPts val="1175"/>
              </a:spcBef>
              <a:buFont typeface="Wingdings"/>
              <a:buChar char=""/>
              <a:tabLst>
                <a:tab pos="393065" algn="l"/>
              </a:tabLst>
            </a:pPr>
            <a:r>
              <a:rPr dirty="0" sz="1400" spc="-25">
                <a:latin typeface="Microsoft YaHei"/>
                <a:cs typeface="Microsoft YaHei"/>
              </a:rPr>
              <a:t>室外接地点进行防锈处理。</a:t>
            </a:r>
            <a:endParaRPr sz="1400">
              <a:latin typeface="Microsoft YaHei"/>
              <a:cs typeface="Microsoft YaHei"/>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065" rIns="0" bIns="0" rtlCol="0" vert="horz">
            <a:spAutoFit/>
          </a:bodyPr>
          <a:lstStyle/>
          <a:p>
            <a:pPr marL="12700">
              <a:lnSpc>
                <a:spcPct val="100000"/>
              </a:lnSpc>
              <a:spcBef>
                <a:spcPts val="95"/>
              </a:spcBef>
            </a:pPr>
            <a:r>
              <a:rPr dirty="0" spc="-45"/>
              <a:t>接地、防水工程规范</a:t>
            </a:r>
          </a:p>
        </p:txBody>
      </p:sp>
      <p:pic>
        <p:nvPicPr>
          <p:cNvPr id="3" name="object 3" descr=""/>
          <p:cNvPicPr/>
          <p:nvPr/>
        </p:nvPicPr>
        <p:blipFill>
          <a:blip r:embed="rId2" cstate="print"/>
          <a:stretch>
            <a:fillRect/>
          </a:stretch>
        </p:blipFill>
        <p:spPr>
          <a:xfrm>
            <a:off x="539546" y="895350"/>
            <a:ext cx="3096348" cy="452259"/>
          </a:xfrm>
          <a:prstGeom prst="rect">
            <a:avLst/>
          </a:prstGeom>
        </p:spPr>
      </p:pic>
      <p:sp>
        <p:nvSpPr>
          <p:cNvPr id="4" name="object 4" descr=""/>
          <p:cNvSpPr txBox="1"/>
          <p:nvPr/>
        </p:nvSpPr>
        <p:spPr>
          <a:xfrm>
            <a:off x="546284" y="963240"/>
            <a:ext cx="4938395" cy="3944620"/>
          </a:xfrm>
          <a:prstGeom prst="rect">
            <a:avLst/>
          </a:prstGeom>
        </p:spPr>
        <p:txBody>
          <a:bodyPr wrap="square" lIns="0" tIns="12700" rIns="0" bIns="0" rtlCol="0" vert="horz">
            <a:spAutoFit/>
          </a:bodyPr>
          <a:lstStyle/>
          <a:p>
            <a:pPr marL="315595">
              <a:lnSpc>
                <a:spcPct val="100000"/>
              </a:lnSpc>
              <a:spcBef>
                <a:spcPts val="100"/>
              </a:spcBef>
            </a:pPr>
            <a:r>
              <a:rPr dirty="0" sz="1800" spc="-10">
                <a:latin typeface="Arial MT"/>
                <a:cs typeface="Arial MT"/>
              </a:rPr>
              <a:t>GPS/</a:t>
            </a:r>
            <a:r>
              <a:rPr dirty="0" sz="1800">
                <a:latin typeface="Microsoft YaHei"/>
                <a:cs typeface="Microsoft YaHei"/>
              </a:rPr>
              <a:t>北斗</a:t>
            </a:r>
            <a:r>
              <a:rPr dirty="0" sz="1800" spc="-10">
                <a:latin typeface="Arial MT"/>
                <a:cs typeface="Arial MT"/>
              </a:rPr>
              <a:t>-</a:t>
            </a:r>
            <a:r>
              <a:rPr dirty="0" sz="1800" spc="-10">
                <a:latin typeface="Microsoft YaHei"/>
                <a:cs typeface="Microsoft YaHei"/>
              </a:rPr>
              <a:t>馈线接地规范</a:t>
            </a:r>
            <a:endParaRPr sz="1800">
              <a:latin typeface="Microsoft YaHei"/>
              <a:cs typeface="Microsoft YaHei"/>
            </a:endParaRPr>
          </a:p>
          <a:p>
            <a:pPr marL="192405" marR="201295" indent="-180340">
              <a:lnSpc>
                <a:spcPct val="150000"/>
              </a:lnSpc>
              <a:spcBef>
                <a:spcPts val="975"/>
              </a:spcBef>
              <a:buFont typeface="Wingdings"/>
              <a:buChar char=""/>
              <a:tabLst>
                <a:tab pos="192405" algn="l"/>
                <a:tab pos="297815" algn="l"/>
              </a:tabLst>
            </a:pPr>
            <a:r>
              <a:rPr dirty="0" sz="1400">
                <a:latin typeface="Times New Roman"/>
                <a:cs typeface="Times New Roman"/>
              </a:rPr>
              <a:t>	</a:t>
            </a:r>
            <a:r>
              <a:rPr dirty="0" sz="1400" spc="-10">
                <a:latin typeface="Microsoft YaHei"/>
                <a:cs typeface="Microsoft YaHei"/>
              </a:rPr>
              <a:t>GPS</a:t>
            </a:r>
            <a:r>
              <a:rPr dirty="0" sz="1400" spc="-25">
                <a:latin typeface="Microsoft YaHei"/>
                <a:cs typeface="Microsoft YaHei"/>
              </a:rPr>
              <a:t>线缆保护接地引出线在水平布放时始终朝向机房设备</a:t>
            </a:r>
            <a:r>
              <a:rPr dirty="0" sz="1400" spc="-35">
                <a:latin typeface="Microsoft YaHei"/>
                <a:cs typeface="Microsoft YaHei"/>
              </a:rPr>
              <a:t>端；</a:t>
            </a:r>
            <a:endParaRPr sz="1400">
              <a:latin typeface="Microsoft YaHei"/>
              <a:cs typeface="Microsoft YaHei"/>
            </a:endParaRPr>
          </a:p>
          <a:p>
            <a:pPr marL="192405" marR="5080" indent="-180340">
              <a:lnSpc>
                <a:spcPct val="150000"/>
              </a:lnSpc>
              <a:buFont typeface="Wingdings"/>
              <a:buChar char=""/>
              <a:tabLst>
                <a:tab pos="192405" algn="l"/>
                <a:tab pos="297815" algn="l"/>
              </a:tabLst>
            </a:pPr>
            <a:r>
              <a:rPr dirty="0" sz="1400">
                <a:latin typeface="Times New Roman"/>
                <a:cs typeface="Times New Roman"/>
              </a:rPr>
              <a:t>	</a:t>
            </a:r>
            <a:r>
              <a:rPr dirty="0" sz="1400" spc="-10">
                <a:latin typeface="Microsoft YaHei"/>
                <a:cs typeface="Microsoft YaHei"/>
              </a:rPr>
              <a:t>GPS</a:t>
            </a:r>
            <a:r>
              <a:rPr dirty="0" sz="1400" spc="-15">
                <a:latin typeface="Microsoft YaHei"/>
                <a:cs typeface="Microsoft YaHei"/>
              </a:rPr>
              <a:t>/北斗馈线长度在</a:t>
            </a:r>
            <a:r>
              <a:rPr dirty="0" sz="1400" spc="-10">
                <a:latin typeface="Microsoft YaHei"/>
                <a:cs typeface="Microsoft YaHei"/>
              </a:rPr>
              <a:t>10m-60m</a:t>
            </a:r>
            <a:r>
              <a:rPr dirty="0" sz="1400" spc="-15">
                <a:latin typeface="Microsoft YaHei"/>
                <a:cs typeface="Microsoft YaHei"/>
              </a:rPr>
              <a:t>之间时，需要做两处接地，位置分别是：GPS/北斗天线下端1m的馈线平直处和馈线入馈线窗前1m平直处；</a:t>
            </a:r>
            <a:endParaRPr sz="1400">
              <a:latin typeface="Microsoft YaHei"/>
              <a:cs typeface="Microsoft YaHei"/>
            </a:endParaRPr>
          </a:p>
          <a:p>
            <a:pPr marL="192405" marR="217170" indent="-180340">
              <a:lnSpc>
                <a:spcPts val="2520"/>
              </a:lnSpc>
              <a:spcBef>
                <a:spcPts val="220"/>
              </a:spcBef>
              <a:buFont typeface="Wingdings"/>
              <a:buChar char=""/>
              <a:tabLst>
                <a:tab pos="192405" algn="l"/>
                <a:tab pos="297815" algn="l"/>
              </a:tabLst>
            </a:pPr>
            <a:r>
              <a:rPr dirty="0" sz="1400">
                <a:latin typeface="Times New Roman"/>
                <a:cs typeface="Times New Roman"/>
              </a:rPr>
              <a:t>	</a:t>
            </a:r>
            <a:r>
              <a:rPr dirty="0" sz="1400" spc="-20">
                <a:latin typeface="Microsoft YaHei"/>
                <a:cs typeface="Microsoft YaHei"/>
              </a:rPr>
              <a:t>GPS/北斗馈线的长度小于</a:t>
            </a:r>
            <a:r>
              <a:rPr dirty="0" sz="1400" spc="-10">
                <a:latin typeface="Microsoft YaHei"/>
                <a:cs typeface="Microsoft YaHei"/>
              </a:rPr>
              <a:t>10m</a:t>
            </a:r>
            <a:r>
              <a:rPr dirty="0" sz="1400" spc="-20">
                <a:latin typeface="Microsoft YaHei"/>
                <a:cs typeface="Microsoft YaHei"/>
              </a:rPr>
              <a:t>，则取消</a:t>
            </a:r>
            <a:r>
              <a:rPr dirty="0" sz="1400" spc="-10">
                <a:latin typeface="Microsoft YaHei"/>
                <a:cs typeface="Microsoft YaHei"/>
              </a:rPr>
              <a:t>GPS</a:t>
            </a:r>
            <a:r>
              <a:rPr dirty="0" sz="1400" spc="-25">
                <a:latin typeface="Microsoft YaHei"/>
                <a:cs typeface="Microsoft YaHei"/>
              </a:rPr>
              <a:t>/北斗天线下端的馈线接地套件，只需要入馈线窗前的一处馈线接地；</a:t>
            </a:r>
            <a:endParaRPr sz="1400">
              <a:latin typeface="Microsoft YaHei"/>
              <a:cs typeface="Microsoft YaHei"/>
            </a:endParaRPr>
          </a:p>
          <a:p>
            <a:pPr marL="192405" marR="205740" indent="-180340">
              <a:lnSpc>
                <a:spcPts val="2520"/>
              </a:lnSpc>
              <a:buFont typeface="Wingdings"/>
              <a:buChar char=""/>
              <a:tabLst>
                <a:tab pos="192405" algn="l"/>
                <a:tab pos="297815" algn="l"/>
              </a:tabLst>
            </a:pPr>
            <a:r>
              <a:rPr dirty="0" sz="1400">
                <a:latin typeface="Times New Roman"/>
                <a:cs typeface="Times New Roman"/>
              </a:rPr>
              <a:t>	</a:t>
            </a:r>
            <a:r>
              <a:rPr dirty="0" sz="1400" spc="-20">
                <a:latin typeface="Microsoft YaHei"/>
                <a:cs typeface="Microsoft YaHei"/>
              </a:rPr>
              <a:t>GPS/北斗馈线的长度大于</a:t>
            </a:r>
            <a:r>
              <a:rPr dirty="0" sz="1400" spc="-10">
                <a:latin typeface="Microsoft YaHei"/>
                <a:cs typeface="Microsoft YaHei"/>
              </a:rPr>
              <a:t>60</a:t>
            </a:r>
            <a:r>
              <a:rPr dirty="0" sz="1400" spc="-20">
                <a:latin typeface="Microsoft YaHei"/>
                <a:cs typeface="Microsoft YaHei"/>
              </a:rPr>
              <a:t>米，则需要在</a:t>
            </a:r>
            <a:r>
              <a:rPr dirty="0" sz="1400" spc="-10">
                <a:latin typeface="Microsoft YaHei"/>
                <a:cs typeface="Microsoft YaHei"/>
              </a:rPr>
              <a:t>GPS</a:t>
            </a:r>
            <a:r>
              <a:rPr dirty="0" sz="1400" spc="-30">
                <a:latin typeface="Microsoft YaHei"/>
                <a:cs typeface="Microsoft YaHei"/>
              </a:rPr>
              <a:t>/北斗馈线</a:t>
            </a:r>
            <a:r>
              <a:rPr dirty="0" sz="1400" spc="-25">
                <a:latin typeface="Microsoft YaHei"/>
                <a:cs typeface="Microsoft YaHei"/>
              </a:rPr>
              <a:t>的中间部分增加一处接地点，共需要三处馈线接地。</a:t>
            </a:r>
            <a:endParaRPr sz="1400">
              <a:latin typeface="Microsoft YaHei"/>
              <a:cs typeface="Microsoft YaHei"/>
            </a:endParaRPr>
          </a:p>
          <a:p>
            <a:pPr marL="297815" indent="-285115">
              <a:lnSpc>
                <a:spcPct val="100000"/>
              </a:lnSpc>
              <a:spcBef>
                <a:spcPts val="615"/>
              </a:spcBef>
              <a:buFont typeface="Wingdings"/>
              <a:buChar char=""/>
              <a:tabLst>
                <a:tab pos="297815" algn="l"/>
              </a:tabLst>
            </a:pPr>
            <a:r>
              <a:rPr dirty="0" sz="1400" spc="-20">
                <a:latin typeface="Microsoft YaHei"/>
                <a:cs typeface="Microsoft YaHei"/>
              </a:rPr>
              <a:t>使用防水包对接地点的进行防水处理</a:t>
            </a:r>
            <a:r>
              <a:rPr dirty="0" sz="1400">
                <a:latin typeface="Microsoft YaHei"/>
                <a:cs typeface="Microsoft YaHei"/>
              </a:rPr>
              <a:t>（</a:t>
            </a:r>
            <a:r>
              <a:rPr dirty="0" sz="1400" spc="125">
                <a:latin typeface="Microsoft YaHei"/>
                <a:cs typeface="Microsoft YaHei"/>
              </a:rPr>
              <a:t> </a:t>
            </a:r>
            <a:r>
              <a:rPr dirty="0" sz="1400" spc="-10">
                <a:latin typeface="Microsoft YaHei"/>
                <a:cs typeface="Microsoft YaHei"/>
              </a:rPr>
              <a:t>1</a:t>
            </a:r>
            <a:r>
              <a:rPr dirty="0" sz="1400" spc="-20">
                <a:latin typeface="Microsoft YaHei"/>
                <a:cs typeface="Microsoft YaHei"/>
              </a:rPr>
              <a:t>层胶布+</a:t>
            </a:r>
            <a:r>
              <a:rPr dirty="0" sz="1400" spc="-10">
                <a:latin typeface="Microsoft YaHei"/>
                <a:cs typeface="Microsoft YaHei"/>
              </a:rPr>
              <a:t>1</a:t>
            </a:r>
            <a:r>
              <a:rPr dirty="0" sz="1400" spc="-30">
                <a:latin typeface="Microsoft YaHei"/>
                <a:cs typeface="Microsoft YaHei"/>
              </a:rPr>
              <a:t>层胶泥</a:t>
            </a:r>
            <a:endParaRPr sz="1400">
              <a:latin typeface="Microsoft YaHei"/>
              <a:cs typeface="Microsoft YaHei"/>
            </a:endParaRPr>
          </a:p>
          <a:p>
            <a:pPr marL="192405">
              <a:lnSpc>
                <a:spcPct val="100000"/>
              </a:lnSpc>
              <a:spcBef>
                <a:spcPts val="845"/>
              </a:spcBef>
            </a:pPr>
            <a:r>
              <a:rPr dirty="0" sz="1400" spc="-10">
                <a:latin typeface="Microsoft YaHei"/>
                <a:cs typeface="Microsoft YaHei"/>
              </a:rPr>
              <a:t>+3</a:t>
            </a:r>
            <a:r>
              <a:rPr dirty="0" sz="1400" spc="-20">
                <a:latin typeface="Microsoft YaHei"/>
                <a:cs typeface="Microsoft YaHei"/>
              </a:rPr>
              <a:t>层胶布，方式进行密封）</a:t>
            </a:r>
            <a:r>
              <a:rPr dirty="0" sz="1400" spc="-50">
                <a:latin typeface="Microsoft YaHei"/>
                <a:cs typeface="Microsoft YaHei"/>
              </a:rPr>
              <a:t>。</a:t>
            </a:r>
            <a:endParaRPr sz="1400">
              <a:latin typeface="Microsoft YaHei"/>
              <a:cs typeface="Microsoft YaHei"/>
            </a:endParaRPr>
          </a:p>
        </p:txBody>
      </p:sp>
      <p:grpSp>
        <p:nvGrpSpPr>
          <p:cNvPr id="5" name="object 5" descr=""/>
          <p:cNvGrpSpPr/>
          <p:nvPr/>
        </p:nvGrpSpPr>
        <p:grpSpPr>
          <a:xfrm>
            <a:off x="5625083" y="1730501"/>
            <a:ext cx="3265170" cy="2115820"/>
            <a:chOff x="5625083" y="1730501"/>
            <a:chExt cx="3265170" cy="2115820"/>
          </a:xfrm>
        </p:grpSpPr>
        <p:pic>
          <p:nvPicPr>
            <p:cNvPr id="6" name="object 6"/>
            <p:cNvPicPr/>
            <p:nvPr/>
          </p:nvPicPr>
          <p:blipFill>
            <a:blip r:embed="rId3" cstate="print"/>
            <a:stretch>
              <a:fillRect/>
            </a:stretch>
          </p:blipFill>
          <p:spPr>
            <a:xfrm>
              <a:off x="5625083" y="1730501"/>
              <a:ext cx="3240023" cy="2090165"/>
            </a:xfrm>
            <a:prstGeom prst="rect">
              <a:avLst/>
            </a:prstGeom>
          </p:spPr>
        </p:pic>
        <p:pic>
          <p:nvPicPr>
            <p:cNvPr id="7" name="object 7" descr=""/>
            <p:cNvPicPr/>
            <p:nvPr/>
          </p:nvPicPr>
          <p:blipFill>
            <a:blip r:embed="rId4" cstate="print"/>
            <a:stretch>
              <a:fillRect/>
            </a:stretch>
          </p:blipFill>
          <p:spPr>
            <a:xfrm>
              <a:off x="5638482" y="1744015"/>
              <a:ext cx="3251771" cy="2101798"/>
            </a:xfrm>
            <a:prstGeom prst="rect">
              <a:avLst/>
            </a:prstGeom>
          </p:spPr>
        </p:pic>
      </p:gr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88920" y="113125"/>
            <a:ext cx="3686810" cy="513080"/>
          </a:xfrm>
          <a:prstGeom prst="rect">
            <a:avLst/>
          </a:prstGeom>
        </p:spPr>
        <p:txBody>
          <a:bodyPr wrap="square" lIns="0" tIns="12065" rIns="0" bIns="0" rtlCol="0" vert="horz">
            <a:spAutoFit/>
          </a:bodyPr>
          <a:lstStyle/>
          <a:p>
            <a:pPr marL="12700">
              <a:lnSpc>
                <a:spcPct val="100000"/>
              </a:lnSpc>
              <a:spcBef>
                <a:spcPts val="95"/>
              </a:spcBef>
            </a:pPr>
            <a:r>
              <a:rPr dirty="0" sz="3200" spc="-45" b="1">
                <a:solidFill>
                  <a:srgbClr val="FFFFFF"/>
                </a:solidFill>
                <a:latin typeface="Microsoft JhengHei"/>
                <a:cs typeface="Microsoft JhengHei"/>
              </a:rPr>
              <a:t>接地、防水工程规范</a:t>
            </a:r>
            <a:endParaRPr sz="3200">
              <a:latin typeface="Microsoft JhengHei"/>
              <a:cs typeface="Microsoft JhengHei"/>
            </a:endParaRPr>
          </a:p>
        </p:txBody>
      </p:sp>
      <p:pic>
        <p:nvPicPr>
          <p:cNvPr id="3" name="object 3" descr=""/>
          <p:cNvPicPr/>
          <p:nvPr/>
        </p:nvPicPr>
        <p:blipFill>
          <a:blip r:embed="rId2" cstate="print"/>
          <a:stretch>
            <a:fillRect/>
          </a:stretch>
        </p:blipFill>
        <p:spPr>
          <a:xfrm>
            <a:off x="539546" y="895350"/>
            <a:ext cx="3096348" cy="452259"/>
          </a:xfrm>
          <a:prstGeom prst="rect">
            <a:avLst/>
          </a:prstGeom>
        </p:spPr>
      </p:pic>
      <p:sp>
        <p:nvSpPr>
          <p:cNvPr id="4" name="object 4" descr=""/>
          <p:cNvSpPr txBox="1"/>
          <p:nvPr/>
        </p:nvSpPr>
        <p:spPr>
          <a:xfrm>
            <a:off x="1598341" y="963240"/>
            <a:ext cx="978535" cy="299720"/>
          </a:xfrm>
          <a:prstGeom prst="rect">
            <a:avLst/>
          </a:prstGeom>
        </p:spPr>
        <p:txBody>
          <a:bodyPr wrap="square" lIns="0" tIns="12700" rIns="0" bIns="0" rtlCol="0" vert="horz">
            <a:spAutoFit/>
          </a:bodyPr>
          <a:lstStyle/>
          <a:p>
            <a:pPr marL="12700">
              <a:lnSpc>
                <a:spcPct val="100000"/>
              </a:lnSpc>
              <a:spcBef>
                <a:spcPts val="100"/>
              </a:spcBef>
            </a:pPr>
            <a:r>
              <a:rPr dirty="0" sz="1800" spc="-10">
                <a:latin typeface="Arial MT"/>
                <a:cs typeface="Arial MT"/>
              </a:rPr>
              <a:t>OCB</a:t>
            </a:r>
            <a:r>
              <a:rPr dirty="0" sz="1800" spc="-25">
                <a:latin typeface="Microsoft YaHei"/>
                <a:cs typeface="Microsoft YaHei"/>
              </a:rPr>
              <a:t>接地</a:t>
            </a:r>
            <a:endParaRPr sz="1800">
              <a:latin typeface="Microsoft YaHei"/>
              <a:cs typeface="Microsoft YaHei"/>
            </a:endParaRPr>
          </a:p>
        </p:txBody>
      </p:sp>
      <p:pic>
        <p:nvPicPr>
          <p:cNvPr id="5" name="object 5" descr=""/>
          <p:cNvPicPr/>
          <p:nvPr/>
        </p:nvPicPr>
        <p:blipFill>
          <a:blip r:embed="rId3" cstate="print"/>
          <a:stretch>
            <a:fillRect/>
          </a:stretch>
        </p:blipFill>
        <p:spPr>
          <a:xfrm>
            <a:off x="2790077" y="1437900"/>
            <a:ext cx="3417844" cy="2967246"/>
          </a:xfrm>
          <a:prstGeom prst="rect">
            <a:avLst/>
          </a:prstGeom>
        </p:spPr>
      </p:pic>
      <p:sp>
        <p:nvSpPr>
          <p:cNvPr id="6" name="object 6" descr=""/>
          <p:cNvSpPr txBox="1"/>
          <p:nvPr/>
        </p:nvSpPr>
        <p:spPr>
          <a:xfrm>
            <a:off x="2378233" y="4614898"/>
            <a:ext cx="4102100" cy="238760"/>
          </a:xfrm>
          <a:prstGeom prst="rect">
            <a:avLst/>
          </a:prstGeom>
        </p:spPr>
        <p:txBody>
          <a:bodyPr wrap="square" lIns="0" tIns="12065" rIns="0" bIns="0" rtlCol="0" vert="horz">
            <a:spAutoFit/>
          </a:bodyPr>
          <a:lstStyle/>
          <a:p>
            <a:pPr marL="38100">
              <a:lnSpc>
                <a:spcPct val="100000"/>
              </a:lnSpc>
              <a:spcBef>
                <a:spcPts val="95"/>
              </a:spcBef>
            </a:pPr>
            <a:r>
              <a:rPr dirty="0" sz="1400" spc="-10">
                <a:latin typeface="Microsoft YaHei"/>
                <a:cs typeface="Microsoft YaHei"/>
              </a:rPr>
              <a:t>OCB</a:t>
            </a:r>
            <a:r>
              <a:rPr dirty="0" sz="1400" spc="-20">
                <a:latin typeface="Microsoft YaHei"/>
                <a:cs typeface="Microsoft YaHei"/>
              </a:rPr>
              <a:t>接地使用</a:t>
            </a:r>
            <a:r>
              <a:rPr dirty="0" sz="1400" spc="-10">
                <a:latin typeface="Microsoft YaHei"/>
                <a:cs typeface="Microsoft YaHei"/>
              </a:rPr>
              <a:t>16mm</a:t>
            </a:r>
            <a:r>
              <a:rPr dirty="0" baseline="24691" sz="1350" spc="-15">
                <a:latin typeface="Microsoft YaHei"/>
                <a:cs typeface="Microsoft YaHei"/>
              </a:rPr>
              <a:t>2</a:t>
            </a:r>
            <a:r>
              <a:rPr dirty="0" sz="1400" spc="-20">
                <a:latin typeface="Microsoft YaHei"/>
                <a:cs typeface="Microsoft YaHei"/>
              </a:rPr>
              <a:t>黄绿接地线进行</a:t>
            </a:r>
            <a:r>
              <a:rPr dirty="0" sz="1400" spc="-10">
                <a:latin typeface="Microsoft YaHei"/>
                <a:cs typeface="Microsoft YaHei"/>
              </a:rPr>
              <a:t>OCB</a:t>
            </a:r>
            <a:r>
              <a:rPr dirty="0" sz="1400" spc="-30">
                <a:latin typeface="Microsoft YaHei"/>
                <a:cs typeface="Microsoft YaHei"/>
              </a:rPr>
              <a:t>设备接地</a:t>
            </a:r>
            <a:endParaRPr sz="1400">
              <a:latin typeface="Microsoft YaHei"/>
              <a:cs typeface="Microsoft YaHei"/>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065" rIns="0" bIns="0" rtlCol="0" vert="horz">
            <a:spAutoFit/>
          </a:bodyPr>
          <a:lstStyle/>
          <a:p>
            <a:pPr marL="12700">
              <a:lnSpc>
                <a:spcPct val="100000"/>
              </a:lnSpc>
              <a:spcBef>
                <a:spcPts val="95"/>
              </a:spcBef>
            </a:pPr>
            <a:r>
              <a:rPr dirty="0" spc="-45"/>
              <a:t>接地、防水工程规范</a:t>
            </a:r>
          </a:p>
        </p:txBody>
      </p:sp>
      <p:pic>
        <p:nvPicPr>
          <p:cNvPr id="3" name="object 3" descr=""/>
          <p:cNvPicPr/>
          <p:nvPr/>
        </p:nvPicPr>
        <p:blipFill>
          <a:blip r:embed="rId2" cstate="print"/>
          <a:stretch>
            <a:fillRect/>
          </a:stretch>
        </p:blipFill>
        <p:spPr>
          <a:xfrm>
            <a:off x="539546" y="895350"/>
            <a:ext cx="3096348" cy="452259"/>
          </a:xfrm>
          <a:prstGeom prst="rect">
            <a:avLst/>
          </a:prstGeom>
        </p:spPr>
      </p:pic>
      <p:sp>
        <p:nvSpPr>
          <p:cNvPr id="4" name="object 4" descr=""/>
          <p:cNvSpPr txBox="1"/>
          <p:nvPr/>
        </p:nvSpPr>
        <p:spPr>
          <a:xfrm>
            <a:off x="1045815" y="963240"/>
            <a:ext cx="2082800" cy="299720"/>
          </a:xfrm>
          <a:prstGeom prst="rect">
            <a:avLst/>
          </a:prstGeom>
        </p:spPr>
        <p:txBody>
          <a:bodyPr wrap="square" lIns="0" tIns="12700" rIns="0" bIns="0" rtlCol="0" vert="horz">
            <a:spAutoFit/>
          </a:bodyPr>
          <a:lstStyle/>
          <a:p>
            <a:pPr marL="12700">
              <a:lnSpc>
                <a:spcPct val="100000"/>
              </a:lnSpc>
              <a:spcBef>
                <a:spcPts val="100"/>
              </a:spcBef>
            </a:pPr>
            <a:r>
              <a:rPr dirty="0" sz="1800" spc="-10">
                <a:latin typeface="Microsoft YaHei"/>
                <a:cs typeface="Microsoft YaHei"/>
              </a:rPr>
              <a:t>室外电源线接地防水</a:t>
            </a:r>
            <a:endParaRPr sz="1800">
              <a:latin typeface="Microsoft YaHei"/>
              <a:cs typeface="Microsoft YaHei"/>
            </a:endParaRPr>
          </a:p>
        </p:txBody>
      </p:sp>
      <p:grpSp>
        <p:nvGrpSpPr>
          <p:cNvPr id="5" name="object 5" descr=""/>
          <p:cNvGrpSpPr/>
          <p:nvPr/>
        </p:nvGrpSpPr>
        <p:grpSpPr>
          <a:xfrm>
            <a:off x="827583" y="1707654"/>
            <a:ext cx="7647305" cy="1652905"/>
            <a:chOff x="827583" y="1707654"/>
            <a:chExt cx="7647305" cy="1652905"/>
          </a:xfrm>
        </p:grpSpPr>
        <p:pic>
          <p:nvPicPr>
            <p:cNvPr id="6" name="object 6"/>
            <p:cNvPicPr/>
            <p:nvPr/>
          </p:nvPicPr>
          <p:blipFill>
            <a:blip r:embed="rId3" cstate="print"/>
            <a:stretch>
              <a:fillRect/>
            </a:stretch>
          </p:blipFill>
          <p:spPr>
            <a:xfrm>
              <a:off x="827583" y="1707654"/>
              <a:ext cx="3523226" cy="1652586"/>
            </a:xfrm>
            <a:prstGeom prst="rect">
              <a:avLst/>
            </a:prstGeom>
          </p:spPr>
        </p:pic>
        <p:pic>
          <p:nvPicPr>
            <p:cNvPr id="7" name="object 7"/>
            <p:cNvPicPr/>
            <p:nvPr/>
          </p:nvPicPr>
          <p:blipFill>
            <a:blip r:embed="rId4" cstate="print"/>
            <a:stretch>
              <a:fillRect/>
            </a:stretch>
          </p:blipFill>
          <p:spPr>
            <a:xfrm>
              <a:off x="4839195" y="1707654"/>
              <a:ext cx="3635374" cy="1589417"/>
            </a:xfrm>
            <a:prstGeom prst="rect">
              <a:avLst/>
            </a:prstGeom>
          </p:spPr>
        </p:pic>
        <p:sp>
          <p:nvSpPr>
            <p:cNvPr id="8" name="object 8" descr=""/>
            <p:cNvSpPr/>
            <p:nvPr/>
          </p:nvSpPr>
          <p:spPr>
            <a:xfrm>
              <a:off x="2346821" y="2507750"/>
              <a:ext cx="433705" cy="208279"/>
            </a:xfrm>
            <a:custGeom>
              <a:avLst/>
              <a:gdLst/>
              <a:ahLst/>
              <a:cxnLst/>
              <a:rect l="l" t="t" r="r" b="b"/>
              <a:pathLst>
                <a:path w="433705" h="208280">
                  <a:moveTo>
                    <a:pt x="329412" y="0"/>
                  </a:moveTo>
                  <a:lnTo>
                    <a:pt x="329412" y="51993"/>
                  </a:lnTo>
                  <a:lnTo>
                    <a:pt x="0" y="51993"/>
                  </a:lnTo>
                  <a:lnTo>
                    <a:pt x="0" y="155968"/>
                  </a:lnTo>
                  <a:lnTo>
                    <a:pt x="329412" y="155968"/>
                  </a:lnTo>
                  <a:lnTo>
                    <a:pt x="329412" y="207962"/>
                  </a:lnTo>
                  <a:lnTo>
                    <a:pt x="433387" y="103987"/>
                  </a:lnTo>
                  <a:lnTo>
                    <a:pt x="329412" y="0"/>
                  </a:lnTo>
                  <a:close/>
                </a:path>
              </a:pathLst>
            </a:custGeom>
            <a:solidFill>
              <a:srgbClr val="00B0F0"/>
            </a:solidFill>
          </p:spPr>
          <p:txBody>
            <a:bodyPr wrap="square" lIns="0" tIns="0" rIns="0" bIns="0" rtlCol="0"/>
            <a:lstStyle/>
            <a:p/>
          </p:txBody>
        </p:sp>
        <p:sp>
          <p:nvSpPr>
            <p:cNvPr id="9" name="object 9" descr=""/>
            <p:cNvSpPr/>
            <p:nvPr/>
          </p:nvSpPr>
          <p:spPr>
            <a:xfrm>
              <a:off x="2346821" y="2507750"/>
              <a:ext cx="433705" cy="208279"/>
            </a:xfrm>
            <a:custGeom>
              <a:avLst/>
              <a:gdLst/>
              <a:ahLst/>
              <a:cxnLst/>
              <a:rect l="l" t="t" r="r" b="b"/>
              <a:pathLst>
                <a:path w="433705" h="208280">
                  <a:moveTo>
                    <a:pt x="0" y="51993"/>
                  </a:moveTo>
                  <a:lnTo>
                    <a:pt x="329412" y="51993"/>
                  </a:lnTo>
                  <a:lnTo>
                    <a:pt x="329412" y="0"/>
                  </a:lnTo>
                  <a:lnTo>
                    <a:pt x="433387" y="103987"/>
                  </a:lnTo>
                  <a:lnTo>
                    <a:pt x="329412" y="207962"/>
                  </a:lnTo>
                  <a:lnTo>
                    <a:pt x="329412" y="155968"/>
                  </a:lnTo>
                  <a:lnTo>
                    <a:pt x="0" y="155968"/>
                  </a:lnTo>
                  <a:lnTo>
                    <a:pt x="0" y="51993"/>
                  </a:lnTo>
                  <a:close/>
                </a:path>
              </a:pathLst>
            </a:custGeom>
            <a:ln w="25400">
              <a:solidFill>
                <a:srgbClr val="00B0F0"/>
              </a:solidFill>
            </a:ln>
          </p:spPr>
          <p:txBody>
            <a:bodyPr wrap="square" lIns="0" tIns="0" rIns="0" bIns="0" rtlCol="0"/>
            <a:lstStyle/>
            <a:p/>
          </p:txBody>
        </p:sp>
        <p:sp>
          <p:nvSpPr>
            <p:cNvPr id="10" name="object 10" descr=""/>
            <p:cNvSpPr/>
            <p:nvPr/>
          </p:nvSpPr>
          <p:spPr>
            <a:xfrm>
              <a:off x="4396333" y="2499739"/>
              <a:ext cx="431800" cy="208279"/>
            </a:xfrm>
            <a:custGeom>
              <a:avLst/>
              <a:gdLst/>
              <a:ahLst/>
              <a:cxnLst/>
              <a:rect l="l" t="t" r="r" b="b"/>
              <a:pathLst>
                <a:path w="431800" h="208280">
                  <a:moveTo>
                    <a:pt x="327812" y="0"/>
                  </a:moveTo>
                  <a:lnTo>
                    <a:pt x="327812" y="51993"/>
                  </a:lnTo>
                  <a:lnTo>
                    <a:pt x="0" y="51993"/>
                  </a:lnTo>
                  <a:lnTo>
                    <a:pt x="0" y="155968"/>
                  </a:lnTo>
                  <a:lnTo>
                    <a:pt x="327812" y="155968"/>
                  </a:lnTo>
                  <a:lnTo>
                    <a:pt x="327812" y="207962"/>
                  </a:lnTo>
                  <a:lnTo>
                    <a:pt x="431800" y="103987"/>
                  </a:lnTo>
                  <a:lnTo>
                    <a:pt x="327812" y="0"/>
                  </a:lnTo>
                  <a:close/>
                </a:path>
              </a:pathLst>
            </a:custGeom>
            <a:solidFill>
              <a:srgbClr val="00B0F0"/>
            </a:solidFill>
          </p:spPr>
          <p:txBody>
            <a:bodyPr wrap="square" lIns="0" tIns="0" rIns="0" bIns="0" rtlCol="0"/>
            <a:lstStyle/>
            <a:p/>
          </p:txBody>
        </p:sp>
        <p:sp>
          <p:nvSpPr>
            <p:cNvPr id="11" name="object 11" descr=""/>
            <p:cNvSpPr/>
            <p:nvPr/>
          </p:nvSpPr>
          <p:spPr>
            <a:xfrm>
              <a:off x="4396333" y="2499739"/>
              <a:ext cx="431800" cy="208279"/>
            </a:xfrm>
            <a:custGeom>
              <a:avLst/>
              <a:gdLst/>
              <a:ahLst/>
              <a:cxnLst/>
              <a:rect l="l" t="t" r="r" b="b"/>
              <a:pathLst>
                <a:path w="431800" h="208280">
                  <a:moveTo>
                    <a:pt x="0" y="51993"/>
                  </a:moveTo>
                  <a:lnTo>
                    <a:pt x="327812" y="51993"/>
                  </a:lnTo>
                  <a:lnTo>
                    <a:pt x="327812" y="0"/>
                  </a:lnTo>
                  <a:lnTo>
                    <a:pt x="431800" y="103987"/>
                  </a:lnTo>
                  <a:lnTo>
                    <a:pt x="327812" y="207962"/>
                  </a:lnTo>
                  <a:lnTo>
                    <a:pt x="327812" y="155968"/>
                  </a:lnTo>
                  <a:lnTo>
                    <a:pt x="0" y="155968"/>
                  </a:lnTo>
                  <a:lnTo>
                    <a:pt x="0" y="51993"/>
                  </a:lnTo>
                  <a:close/>
                </a:path>
              </a:pathLst>
            </a:custGeom>
            <a:ln w="25400">
              <a:solidFill>
                <a:srgbClr val="00B0F0"/>
              </a:solidFill>
            </a:ln>
          </p:spPr>
          <p:txBody>
            <a:bodyPr wrap="square" lIns="0" tIns="0" rIns="0" bIns="0" rtlCol="0"/>
            <a:lstStyle/>
            <a:p/>
          </p:txBody>
        </p:sp>
        <p:sp>
          <p:nvSpPr>
            <p:cNvPr id="12" name="object 12" descr=""/>
            <p:cNvSpPr/>
            <p:nvPr/>
          </p:nvSpPr>
          <p:spPr>
            <a:xfrm>
              <a:off x="6440983" y="2429963"/>
              <a:ext cx="431800" cy="208279"/>
            </a:xfrm>
            <a:custGeom>
              <a:avLst/>
              <a:gdLst/>
              <a:ahLst/>
              <a:cxnLst/>
              <a:rect l="l" t="t" r="r" b="b"/>
              <a:pathLst>
                <a:path w="431800" h="208280">
                  <a:moveTo>
                    <a:pt x="327825" y="0"/>
                  </a:moveTo>
                  <a:lnTo>
                    <a:pt x="327825" y="51993"/>
                  </a:lnTo>
                  <a:lnTo>
                    <a:pt x="0" y="51993"/>
                  </a:lnTo>
                  <a:lnTo>
                    <a:pt x="0" y="155968"/>
                  </a:lnTo>
                  <a:lnTo>
                    <a:pt x="327825" y="155968"/>
                  </a:lnTo>
                  <a:lnTo>
                    <a:pt x="327825" y="207962"/>
                  </a:lnTo>
                  <a:lnTo>
                    <a:pt x="431800" y="103987"/>
                  </a:lnTo>
                  <a:lnTo>
                    <a:pt x="327825" y="0"/>
                  </a:lnTo>
                  <a:close/>
                </a:path>
              </a:pathLst>
            </a:custGeom>
            <a:solidFill>
              <a:srgbClr val="00B0F0"/>
            </a:solidFill>
          </p:spPr>
          <p:txBody>
            <a:bodyPr wrap="square" lIns="0" tIns="0" rIns="0" bIns="0" rtlCol="0"/>
            <a:lstStyle/>
            <a:p/>
          </p:txBody>
        </p:sp>
        <p:sp>
          <p:nvSpPr>
            <p:cNvPr id="13" name="object 13" descr=""/>
            <p:cNvSpPr/>
            <p:nvPr/>
          </p:nvSpPr>
          <p:spPr>
            <a:xfrm>
              <a:off x="6440983" y="2429963"/>
              <a:ext cx="431800" cy="208279"/>
            </a:xfrm>
            <a:custGeom>
              <a:avLst/>
              <a:gdLst/>
              <a:ahLst/>
              <a:cxnLst/>
              <a:rect l="l" t="t" r="r" b="b"/>
              <a:pathLst>
                <a:path w="431800" h="208280">
                  <a:moveTo>
                    <a:pt x="0" y="51993"/>
                  </a:moveTo>
                  <a:lnTo>
                    <a:pt x="327825" y="51993"/>
                  </a:lnTo>
                  <a:lnTo>
                    <a:pt x="327825" y="0"/>
                  </a:lnTo>
                  <a:lnTo>
                    <a:pt x="431800" y="103987"/>
                  </a:lnTo>
                  <a:lnTo>
                    <a:pt x="327825" y="207962"/>
                  </a:lnTo>
                  <a:lnTo>
                    <a:pt x="327825" y="155968"/>
                  </a:lnTo>
                  <a:lnTo>
                    <a:pt x="0" y="155968"/>
                  </a:lnTo>
                  <a:lnTo>
                    <a:pt x="0" y="51993"/>
                  </a:lnTo>
                  <a:close/>
                </a:path>
              </a:pathLst>
            </a:custGeom>
            <a:ln w="25400">
              <a:solidFill>
                <a:srgbClr val="00B0F0"/>
              </a:solidFill>
            </a:ln>
          </p:spPr>
          <p:txBody>
            <a:bodyPr wrap="square" lIns="0" tIns="0" rIns="0" bIns="0" rtlCol="0"/>
            <a:lstStyle/>
            <a:p/>
          </p:txBody>
        </p:sp>
      </p:grpSp>
      <p:sp>
        <p:nvSpPr>
          <p:cNvPr id="14" name="object 14" descr=""/>
          <p:cNvSpPr txBox="1"/>
          <p:nvPr/>
        </p:nvSpPr>
        <p:spPr>
          <a:xfrm>
            <a:off x="474276" y="3499725"/>
            <a:ext cx="8482965" cy="1199515"/>
          </a:xfrm>
          <a:prstGeom prst="rect">
            <a:avLst/>
          </a:prstGeom>
        </p:spPr>
        <p:txBody>
          <a:bodyPr wrap="square" lIns="0" tIns="119380" rIns="0" bIns="0" rtlCol="0" vert="horz">
            <a:spAutoFit/>
          </a:bodyPr>
          <a:lstStyle/>
          <a:p>
            <a:pPr marL="12700">
              <a:lnSpc>
                <a:spcPct val="100000"/>
              </a:lnSpc>
              <a:spcBef>
                <a:spcPts val="940"/>
              </a:spcBef>
            </a:pPr>
            <a:r>
              <a:rPr dirty="0" sz="1400" spc="-10">
                <a:latin typeface="Microsoft YaHei"/>
                <a:cs typeface="Microsoft YaHei"/>
              </a:rPr>
              <a:t>1</a:t>
            </a:r>
            <a:r>
              <a:rPr dirty="0" sz="1400" spc="-25">
                <a:latin typeface="Microsoft YaHei"/>
                <a:cs typeface="Microsoft YaHei"/>
              </a:rPr>
              <a:t>、清洁接地卡、接头、和需要包覆的区域，避免残留杂质</a:t>
            </a:r>
            <a:endParaRPr sz="1400">
              <a:latin typeface="Microsoft YaHei"/>
              <a:cs typeface="Microsoft YaHei"/>
            </a:endParaRPr>
          </a:p>
          <a:p>
            <a:pPr marL="277495" marR="5080" indent="-265430">
              <a:lnSpc>
                <a:spcPct val="100000"/>
              </a:lnSpc>
              <a:spcBef>
                <a:spcPts val="840"/>
              </a:spcBef>
            </a:pPr>
            <a:r>
              <a:rPr dirty="0" sz="1400" spc="-10">
                <a:latin typeface="Microsoft YaHei"/>
                <a:cs typeface="Microsoft YaHei"/>
              </a:rPr>
              <a:t>2</a:t>
            </a:r>
            <a:r>
              <a:rPr dirty="0" sz="1400" spc="-25">
                <a:latin typeface="Microsoft YaHei"/>
                <a:cs typeface="Microsoft YaHei"/>
              </a:rPr>
              <a:t>、按照接地套件宽度剥去电源线外护套，露出屏蔽层，用接地套件裹住屏蔽层，再用扎带进行固定，使接地套件与屏蔽层充分接触。</a:t>
            </a:r>
            <a:endParaRPr sz="1400">
              <a:latin typeface="Microsoft YaHei"/>
              <a:cs typeface="Microsoft YaHei"/>
            </a:endParaRPr>
          </a:p>
          <a:p>
            <a:pPr marL="12700">
              <a:lnSpc>
                <a:spcPct val="100000"/>
              </a:lnSpc>
              <a:spcBef>
                <a:spcPts val="840"/>
              </a:spcBef>
            </a:pPr>
            <a:r>
              <a:rPr dirty="0" sz="1400" spc="-10">
                <a:latin typeface="Microsoft YaHei"/>
                <a:cs typeface="Microsoft YaHei"/>
              </a:rPr>
              <a:t>3</a:t>
            </a:r>
            <a:r>
              <a:rPr dirty="0" sz="1400" spc="-20">
                <a:latin typeface="Microsoft YaHei"/>
                <a:cs typeface="Microsoft YaHei"/>
              </a:rPr>
              <a:t>、半重叠绕包25mm宽的胶带一个来回，将整个接头部位覆盖住，绕包接头长度约120mm</a:t>
            </a:r>
            <a:r>
              <a:rPr dirty="0" sz="1400" spc="-50">
                <a:latin typeface="Microsoft YaHei"/>
                <a:cs typeface="Microsoft YaHei"/>
              </a:rPr>
              <a:t>长</a:t>
            </a:r>
            <a:endParaRPr sz="1400">
              <a:latin typeface="Microsoft YaHei"/>
              <a:cs typeface="Microsoft YaHei"/>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065" rIns="0" bIns="0" rtlCol="0" vert="horz">
            <a:spAutoFit/>
          </a:bodyPr>
          <a:lstStyle/>
          <a:p>
            <a:pPr marL="12700">
              <a:lnSpc>
                <a:spcPct val="100000"/>
              </a:lnSpc>
              <a:spcBef>
                <a:spcPts val="95"/>
              </a:spcBef>
            </a:pPr>
            <a:r>
              <a:rPr dirty="0" spc="-45"/>
              <a:t>接地、防水工程规范</a:t>
            </a:r>
          </a:p>
        </p:txBody>
      </p:sp>
      <p:pic>
        <p:nvPicPr>
          <p:cNvPr id="3" name="object 3" descr=""/>
          <p:cNvPicPr/>
          <p:nvPr/>
        </p:nvPicPr>
        <p:blipFill>
          <a:blip r:embed="rId2" cstate="print"/>
          <a:stretch>
            <a:fillRect/>
          </a:stretch>
        </p:blipFill>
        <p:spPr>
          <a:xfrm>
            <a:off x="539546" y="971550"/>
            <a:ext cx="3096348" cy="376059"/>
          </a:xfrm>
          <a:prstGeom prst="rect">
            <a:avLst/>
          </a:prstGeom>
        </p:spPr>
      </p:pic>
      <p:sp>
        <p:nvSpPr>
          <p:cNvPr id="4" name="object 4" descr=""/>
          <p:cNvSpPr txBox="1"/>
          <p:nvPr/>
        </p:nvSpPr>
        <p:spPr>
          <a:xfrm>
            <a:off x="1045815" y="1001340"/>
            <a:ext cx="2082800" cy="299720"/>
          </a:xfrm>
          <a:prstGeom prst="rect">
            <a:avLst/>
          </a:prstGeom>
        </p:spPr>
        <p:txBody>
          <a:bodyPr wrap="square" lIns="0" tIns="12700" rIns="0" bIns="0" rtlCol="0" vert="horz">
            <a:spAutoFit/>
          </a:bodyPr>
          <a:lstStyle/>
          <a:p>
            <a:pPr marL="12700">
              <a:lnSpc>
                <a:spcPct val="100000"/>
              </a:lnSpc>
              <a:spcBef>
                <a:spcPts val="100"/>
              </a:spcBef>
            </a:pPr>
            <a:r>
              <a:rPr dirty="0" sz="1800" spc="-10">
                <a:latin typeface="Microsoft YaHei"/>
                <a:cs typeface="Microsoft YaHei"/>
              </a:rPr>
              <a:t>室外电源线接地防水</a:t>
            </a:r>
            <a:endParaRPr sz="1800">
              <a:latin typeface="Microsoft YaHei"/>
              <a:cs typeface="Microsoft YaHei"/>
            </a:endParaRPr>
          </a:p>
        </p:txBody>
      </p:sp>
      <p:grpSp>
        <p:nvGrpSpPr>
          <p:cNvPr id="5" name="object 5" descr=""/>
          <p:cNvGrpSpPr/>
          <p:nvPr/>
        </p:nvGrpSpPr>
        <p:grpSpPr>
          <a:xfrm>
            <a:off x="1043609" y="1563637"/>
            <a:ext cx="7031355" cy="1624330"/>
            <a:chOff x="1043609" y="1563637"/>
            <a:chExt cx="7031355" cy="1624330"/>
          </a:xfrm>
        </p:grpSpPr>
        <p:pic>
          <p:nvPicPr>
            <p:cNvPr id="6" name="object 6"/>
            <p:cNvPicPr/>
            <p:nvPr/>
          </p:nvPicPr>
          <p:blipFill>
            <a:blip r:embed="rId3" cstate="print"/>
            <a:stretch>
              <a:fillRect/>
            </a:stretch>
          </p:blipFill>
          <p:spPr>
            <a:xfrm>
              <a:off x="1043609" y="1563637"/>
              <a:ext cx="3473448" cy="1560158"/>
            </a:xfrm>
            <a:prstGeom prst="rect">
              <a:avLst/>
            </a:prstGeom>
          </p:spPr>
        </p:pic>
        <p:pic>
          <p:nvPicPr>
            <p:cNvPr id="7" name="object 7"/>
            <p:cNvPicPr/>
            <p:nvPr/>
          </p:nvPicPr>
          <p:blipFill>
            <a:blip r:embed="rId4" cstate="print"/>
            <a:stretch>
              <a:fillRect/>
            </a:stretch>
          </p:blipFill>
          <p:spPr>
            <a:xfrm>
              <a:off x="4983784" y="1582841"/>
              <a:ext cx="3090861" cy="1604959"/>
            </a:xfrm>
            <a:prstGeom prst="rect">
              <a:avLst/>
            </a:prstGeom>
          </p:spPr>
        </p:pic>
        <p:sp>
          <p:nvSpPr>
            <p:cNvPr id="8" name="object 8" descr=""/>
            <p:cNvSpPr/>
            <p:nvPr/>
          </p:nvSpPr>
          <p:spPr>
            <a:xfrm>
              <a:off x="2535858" y="2176406"/>
              <a:ext cx="431800" cy="206375"/>
            </a:xfrm>
            <a:custGeom>
              <a:avLst/>
              <a:gdLst/>
              <a:ahLst/>
              <a:cxnLst/>
              <a:rect l="l" t="t" r="r" b="b"/>
              <a:pathLst>
                <a:path w="431800" h="206375">
                  <a:moveTo>
                    <a:pt x="328612" y="0"/>
                  </a:moveTo>
                  <a:lnTo>
                    <a:pt x="328612" y="51600"/>
                  </a:lnTo>
                  <a:lnTo>
                    <a:pt x="0" y="51600"/>
                  </a:lnTo>
                  <a:lnTo>
                    <a:pt x="0" y="154787"/>
                  </a:lnTo>
                  <a:lnTo>
                    <a:pt x="328612" y="154787"/>
                  </a:lnTo>
                  <a:lnTo>
                    <a:pt x="328612" y="206374"/>
                  </a:lnTo>
                  <a:lnTo>
                    <a:pt x="431800" y="103200"/>
                  </a:lnTo>
                  <a:lnTo>
                    <a:pt x="328612" y="0"/>
                  </a:lnTo>
                  <a:close/>
                </a:path>
              </a:pathLst>
            </a:custGeom>
            <a:solidFill>
              <a:srgbClr val="00B0F0"/>
            </a:solidFill>
          </p:spPr>
          <p:txBody>
            <a:bodyPr wrap="square" lIns="0" tIns="0" rIns="0" bIns="0" rtlCol="0"/>
            <a:lstStyle/>
            <a:p/>
          </p:txBody>
        </p:sp>
        <p:sp>
          <p:nvSpPr>
            <p:cNvPr id="9" name="object 9" descr=""/>
            <p:cNvSpPr/>
            <p:nvPr/>
          </p:nvSpPr>
          <p:spPr>
            <a:xfrm>
              <a:off x="2535858" y="2176406"/>
              <a:ext cx="431800" cy="206375"/>
            </a:xfrm>
            <a:custGeom>
              <a:avLst/>
              <a:gdLst/>
              <a:ahLst/>
              <a:cxnLst/>
              <a:rect l="l" t="t" r="r" b="b"/>
              <a:pathLst>
                <a:path w="431800" h="206375">
                  <a:moveTo>
                    <a:pt x="0" y="51600"/>
                  </a:moveTo>
                  <a:lnTo>
                    <a:pt x="328612" y="51600"/>
                  </a:lnTo>
                  <a:lnTo>
                    <a:pt x="328612" y="0"/>
                  </a:lnTo>
                  <a:lnTo>
                    <a:pt x="431800" y="103200"/>
                  </a:lnTo>
                  <a:lnTo>
                    <a:pt x="328612" y="206374"/>
                  </a:lnTo>
                  <a:lnTo>
                    <a:pt x="328612" y="154787"/>
                  </a:lnTo>
                  <a:lnTo>
                    <a:pt x="0" y="154787"/>
                  </a:lnTo>
                  <a:lnTo>
                    <a:pt x="0" y="51600"/>
                  </a:lnTo>
                  <a:close/>
                </a:path>
              </a:pathLst>
            </a:custGeom>
            <a:ln w="25399">
              <a:solidFill>
                <a:srgbClr val="00B0F0"/>
              </a:solidFill>
            </a:ln>
          </p:spPr>
          <p:txBody>
            <a:bodyPr wrap="square" lIns="0" tIns="0" rIns="0" bIns="0" rtlCol="0"/>
            <a:lstStyle/>
            <a:p/>
          </p:txBody>
        </p:sp>
        <p:sp>
          <p:nvSpPr>
            <p:cNvPr id="10" name="object 10" descr=""/>
            <p:cNvSpPr/>
            <p:nvPr/>
          </p:nvSpPr>
          <p:spPr>
            <a:xfrm>
              <a:off x="4551983" y="2243081"/>
              <a:ext cx="431800" cy="206375"/>
            </a:xfrm>
            <a:custGeom>
              <a:avLst/>
              <a:gdLst/>
              <a:ahLst/>
              <a:cxnLst/>
              <a:rect l="l" t="t" r="r" b="b"/>
              <a:pathLst>
                <a:path w="431800" h="206375">
                  <a:moveTo>
                    <a:pt x="328612" y="0"/>
                  </a:moveTo>
                  <a:lnTo>
                    <a:pt x="328612" y="51600"/>
                  </a:lnTo>
                  <a:lnTo>
                    <a:pt x="0" y="51600"/>
                  </a:lnTo>
                  <a:lnTo>
                    <a:pt x="0" y="154787"/>
                  </a:lnTo>
                  <a:lnTo>
                    <a:pt x="328612" y="154787"/>
                  </a:lnTo>
                  <a:lnTo>
                    <a:pt x="328612" y="206374"/>
                  </a:lnTo>
                  <a:lnTo>
                    <a:pt x="431800" y="103200"/>
                  </a:lnTo>
                  <a:lnTo>
                    <a:pt x="328612" y="0"/>
                  </a:lnTo>
                  <a:close/>
                </a:path>
              </a:pathLst>
            </a:custGeom>
            <a:solidFill>
              <a:srgbClr val="00B0F0"/>
            </a:solidFill>
          </p:spPr>
          <p:txBody>
            <a:bodyPr wrap="square" lIns="0" tIns="0" rIns="0" bIns="0" rtlCol="0"/>
            <a:lstStyle/>
            <a:p/>
          </p:txBody>
        </p:sp>
        <p:sp>
          <p:nvSpPr>
            <p:cNvPr id="11" name="object 11" descr=""/>
            <p:cNvSpPr/>
            <p:nvPr/>
          </p:nvSpPr>
          <p:spPr>
            <a:xfrm>
              <a:off x="4551983" y="2243081"/>
              <a:ext cx="431800" cy="206375"/>
            </a:xfrm>
            <a:custGeom>
              <a:avLst/>
              <a:gdLst/>
              <a:ahLst/>
              <a:cxnLst/>
              <a:rect l="l" t="t" r="r" b="b"/>
              <a:pathLst>
                <a:path w="431800" h="206375">
                  <a:moveTo>
                    <a:pt x="0" y="51600"/>
                  </a:moveTo>
                  <a:lnTo>
                    <a:pt x="328612" y="51600"/>
                  </a:lnTo>
                  <a:lnTo>
                    <a:pt x="328612" y="0"/>
                  </a:lnTo>
                  <a:lnTo>
                    <a:pt x="431800" y="103200"/>
                  </a:lnTo>
                  <a:lnTo>
                    <a:pt x="328612" y="206374"/>
                  </a:lnTo>
                  <a:lnTo>
                    <a:pt x="328612" y="154787"/>
                  </a:lnTo>
                  <a:lnTo>
                    <a:pt x="0" y="154787"/>
                  </a:lnTo>
                  <a:lnTo>
                    <a:pt x="0" y="51600"/>
                  </a:lnTo>
                  <a:close/>
                </a:path>
              </a:pathLst>
            </a:custGeom>
            <a:ln w="25399">
              <a:solidFill>
                <a:srgbClr val="00B0F0"/>
              </a:solidFill>
            </a:ln>
          </p:spPr>
          <p:txBody>
            <a:bodyPr wrap="square" lIns="0" tIns="0" rIns="0" bIns="0" rtlCol="0"/>
            <a:lstStyle/>
            <a:p/>
          </p:txBody>
        </p:sp>
        <p:sp>
          <p:nvSpPr>
            <p:cNvPr id="12" name="object 12" descr=""/>
            <p:cNvSpPr/>
            <p:nvPr/>
          </p:nvSpPr>
          <p:spPr>
            <a:xfrm>
              <a:off x="6346650" y="2254197"/>
              <a:ext cx="365125" cy="195580"/>
            </a:xfrm>
            <a:custGeom>
              <a:avLst/>
              <a:gdLst/>
              <a:ahLst/>
              <a:cxnLst/>
              <a:rect l="l" t="t" r="r" b="b"/>
              <a:pathLst>
                <a:path w="365125" h="195580">
                  <a:moveTo>
                    <a:pt x="267500" y="0"/>
                  </a:moveTo>
                  <a:lnTo>
                    <a:pt x="267500" y="48818"/>
                  </a:lnTo>
                  <a:lnTo>
                    <a:pt x="0" y="48818"/>
                  </a:lnTo>
                  <a:lnTo>
                    <a:pt x="0" y="146443"/>
                  </a:lnTo>
                  <a:lnTo>
                    <a:pt x="267500" y="146443"/>
                  </a:lnTo>
                  <a:lnTo>
                    <a:pt x="267500" y="195262"/>
                  </a:lnTo>
                  <a:lnTo>
                    <a:pt x="365125" y="97637"/>
                  </a:lnTo>
                  <a:lnTo>
                    <a:pt x="267500" y="0"/>
                  </a:lnTo>
                  <a:close/>
                </a:path>
              </a:pathLst>
            </a:custGeom>
            <a:solidFill>
              <a:srgbClr val="00B0F0"/>
            </a:solidFill>
          </p:spPr>
          <p:txBody>
            <a:bodyPr wrap="square" lIns="0" tIns="0" rIns="0" bIns="0" rtlCol="0"/>
            <a:lstStyle/>
            <a:p/>
          </p:txBody>
        </p:sp>
        <p:sp>
          <p:nvSpPr>
            <p:cNvPr id="13" name="object 13" descr=""/>
            <p:cNvSpPr/>
            <p:nvPr/>
          </p:nvSpPr>
          <p:spPr>
            <a:xfrm>
              <a:off x="6346650" y="2254197"/>
              <a:ext cx="365125" cy="195580"/>
            </a:xfrm>
            <a:custGeom>
              <a:avLst/>
              <a:gdLst/>
              <a:ahLst/>
              <a:cxnLst/>
              <a:rect l="l" t="t" r="r" b="b"/>
              <a:pathLst>
                <a:path w="365125" h="195580">
                  <a:moveTo>
                    <a:pt x="0" y="48818"/>
                  </a:moveTo>
                  <a:lnTo>
                    <a:pt x="267500" y="48818"/>
                  </a:lnTo>
                  <a:lnTo>
                    <a:pt x="267500" y="0"/>
                  </a:lnTo>
                  <a:lnTo>
                    <a:pt x="365125" y="97637"/>
                  </a:lnTo>
                  <a:lnTo>
                    <a:pt x="267500" y="195262"/>
                  </a:lnTo>
                  <a:lnTo>
                    <a:pt x="267500" y="146443"/>
                  </a:lnTo>
                  <a:lnTo>
                    <a:pt x="0" y="146443"/>
                  </a:lnTo>
                  <a:lnTo>
                    <a:pt x="0" y="48818"/>
                  </a:lnTo>
                  <a:close/>
                </a:path>
              </a:pathLst>
            </a:custGeom>
            <a:ln w="25400">
              <a:solidFill>
                <a:srgbClr val="00B0F0"/>
              </a:solidFill>
            </a:ln>
          </p:spPr>
          <p:txBody>
            <a:bodyPr wrap="square" lIns="0" tIns="0" rIns="0" bIns="0" rtlCol="0"/>
            <a:lstStyle/>
            <a:p/>
          </p:txBody>
        </p:sp>
      </p:grpSp>
      <p:sp>
        <p:nvSpPr>
          <p:cNvPr id="14" name="object 14" descr=""/>
          <p:cNvSpPr txBox="1"/>
          <p:nvPr/>
        </p:nvSpPr>
        <p:spPr>
          <a:xfrm>
            <a:off x="402089" y="3355710"/>
            <a:ext cx="8500745" cy="1199515"/>
          </a:xfrm>
          <a:prstGeom prst="rect">
            <a:avLst/>
          </a:prstGeom>
        </p:spPr>
        <p:txBody>
          <a:bodyPr wrap="square" lIns="0" tIns="119380" rIns="0" bIns="0" rtlCol="0" vert="horz">
            <a:spAutoFit/>
          </a:bodyPr>
          <a:lstStyle/>
          <a:p>
            <a:pPr marL="12700">
              <a:lnSpc>
                <a:spcPct val="100000"/>
              </a:lnSpc>
              <a:spcBef>
                <a:spcPts val="940"/>
              </a:spcBef>
            </a:pPr>
            <a:r>
              <a:rPr dirty="0" sz="1400" spc="-10">
                <a:latin typeface="Microsoft YaHei"/>
                <a:cs typeface="Microsoft YaHei"/>
              </a:rPr>
              <a:t>4</a:t>
            </a:r>
            <a:r>
              <a:rPr dirty="0" sz="1400" spc="-25">
                <a:latin typeface="Microsoft YaHei"/>
                <a:cs typeface="Microsoft YaHei"/>
              </a:rPr>
              <a:t>、半重叠拉伸绕包防水绝缘胶带，将整个接头部位覆盖住，至少保证一个来回</a:t>
            </a:r>
            <a:endParaRPr sz="1400">
              <a:latin typeface="Microsoft YaHei"/>
              <a:cs typeface="Microsoft YaHei"/>
            </a:endParaRPr>
          </a:p>
          <a:p>
            <a:pPr marL="277495" marR="5080" indent="-265430">
              <a:lnSpc>
                <a:spcPct val="100000"/>
              </a:lnSpc>
              <a:spcBef>
                <a:spcPts val="840"/>
              </a:spcBef>
            </a:pPr>
            <a:r>
              <a:rPr dirty="0" sz="1400" spc="-10">
                <a:latin typeface="Microsoft YaHei"/>
                <a:cs typeface="Microsoft YaHei"/>
              </a:rPr>
              <a:t>5</a:t>
            </a:r>
            <a:r>
              <a:rPr dirty="0" sz="1400" spc="-20">
                <a:latin typeface="Microsoft YaHei"/>
                <a:cs typeface="Microsoft YaHei"/>
              </a:rPr>
              <a:t>、半重叠绕包25mm宽的胶带，将整个绕包有胶带的部位全部覆盖住，两端各延伸</a:t>
            </a:r>
            <a:r>
              <a:rPr dirty="0" sz="1400" spc="-10">
                <a:latin typeface="Microsoft YaHei"/>
                <a:cs typeface="Microsoft YaHei"/>
              </a:rPr>
              <a:t>3-</a:t>
            </a:r>
            <a:r>
              <a:rPr dirty="0" sz="1400" spc="-20">
                <a:latin typeface="Microsoft YaHei"/>
                <a:cs typeface="Microsoft YaHei"/>
              </a:rPr>
              <a:t>5cm</a:t>
            </a:r>
            <a:r>
              <a:rPr dirty="0" sz="1400" spc="-25">
                <a:latin typeface="Microsoft YaHei"/>
                <a:cs typeface="Microsoft YaHei"/>
              </a:rPr>
              <a:t>，绕包胶带至少保</a:t>
            </a:r>
            <a:r>
              <a:rPr dirty="0" sz="1400" spc="-30">
                <a:latin typeface="Microsoft YaHei"/>
                <a:cs typeface="Microsoft YaHei"/>
              </a:rPr>
              <a:t>证两个来回</a:t>
            </a:r>
            <a:endParaRPr sz="1400">
              <a:latin typeface="Microsoft YaHei"/>
              <a:cs typeface="Microsoft YaHei"/>
            </a:endParaRPr>
          </a:p>
          <a:p>
            <a:pPr marL="12700">
              <a:lnSpc>
                <a:spcPct val="100000"/>
              </a:lnSpc>
              <a:spcBef>
                <a:spcPts val="840"/>
              </a:spcBef>
            </a:pPr>
            <a:r>
              <a:rPr dirty="0" sz="1400" spc="-10">
                <a:latin typeface="Microsoft YaHei"/>
                <a:cs typeface="Microsoft YaHei"/>
              </a:rPr>
              <a:t>6</a:t>
            </a:r>
            <a:r>
              <a:rPr dirty="0" sz="1400" spc="-25">
                <a:latin typeface="Microsoft YaHei"/>
                <a:cs typeface="Microsoft YaHei"/>
              </a:rPr>
              <a:t>、两端可以与黑色扎带绑扎紧固</a:t>
            </a:r>
            <a:endParaRPr sz="1400">
              <a:latin typeface="Microsoft YaHei"/>
              <a:cs typeface="Microsoft YaHei"/>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065" rIns="0" bIns="0" rtlCol="0" vert="horz">
            <a:spAutoFit/>
          </a:bodyPr>
          <a:lstStyle/>
          <a:p>
            <a:pPr marL="12700">
              <a:lnSpc>
                <a:spcPct val="100000"/>
              </a:lnSpc>
              <a:spcBef>
                <a:spcPts val="95"/>
              </a:spcBef>
            </a:pPr>
            <a:r>
              <a:rPr dirty="0" spc="-45"/>
              <a:t>接地、防水工程规范</a:t>
            </a:r>
          </a:p>
        </p:txBody>
      </p:sp>
      <p:sp>
        <p:nvSpPr>
          <p:cNvPr id="3" name="object 3" descr=""/>
          <p:cNvSpPr txBox="1"/>
          <p:nvPr/>
        </p:nvSpPr>
        <p:spPr>
          <a:xfrm>
            <a:off x="539546" y="819150"/>
            <a:ext cx="1975485" cy="304800"/>
          </a:xfrm>
          <a:prstGeom prst="rect">
            <a:avLst/>
          </a:prstGeom>
          <a:solidFill>
            <a:srgbClr val="92D050"/>
          </a:solidFill>
        </p:spPr>
        <p:txBody>
          <a:bodyPr wrap="square" lIns="0" tIns="19685" rIns="0" bIns="0" rtlCol="0" vert="horz">
            <a:spAutoFit/>
          </a:bodyPr>
          <a:lstStyle/>
          <a:p>
            <a:pPr marL="376555">
              <a:lnSpc>
                <a:spcPct val="100000"/>
              </a:lnSpc>
              <a:spcBef>
                <a:spcPts val="155"/>
              </a:spcBef>
            </a:pPr>
            <a:r>
              <a:rPr dirty="0" sz="1600" spc="-10" b="1">
                <a:solidFill>
                  <a:srgbClr val="FFFFFF"/>
                </a:solidFill>
                <a:latin typeface="Microsoft YaHei"/>
                <a:cs typeface="Microsoft YaHei"/>
              </a:rPr>
              <a:t>电源接地规范</a:t>
            </a:r>
            <a:endParaRPr sz="1600">
              <a:latin typeface="Microsoft YaHei"/>
              <a:cs typeface="Microsoft YaHei"/>
            </a:endParaRPr>
          </a:p>
        </p:txBody>
      </p:sp>
      <p:sp>
        <p:nvSpPr>
          <p:cNvPr id="4" name="object 4" descr=""/>
          <p:cNvSpPr/>
          <p:nvPr/>
        </p:nvSpPr>
        <p:spPr>
          <a:xfrm>
            <a:off x="152400" y="1581150"/>
            <a:ext cx="8839200" cy="3352800"/>
          </a:xfrm>
          <a:custGeom>
            <a:avLst/>
            <a:gdLst/>
            <a:ahLst/>
            <a:cxnLst/>
            <a:rect l="l" t="t" r="r" b="b"/>
            <a:pathLst>
              <a:path w="8839200" h="3352800">
                <a:moveTo>
                  <a:pt x="8839200" y="0"/>
                </a:moveTo>
                <a:lnTo>
                  <a:pt x="0" y="0"/>
                </a:lnTo>
                <a:lnTo>
                  <a:pt x="0" y="3352800"/>
                </a:lnTo>
                <a:lnTo>
                  <a:pt x="8839200" y="3352800"/>
                </a:lnTo>
                <a:lnTo>
                  <a:pt x="8839200" y="0"/>
                </a:lnTo>
                <a:close/>
              </a:path>
            </a:pathLst>
          </a:custGeom>
          <a:solidFill>
            <a:srgbClr val="00B0F0"/>
          </a:solidFill>
        </p:spPr>
        <p:txBody>
          <a:bodyPr wrap="square" lIns="0" tIns="0" rIns="0" bIns="0" rtlCol="0"/>
          <a:lstStyle/>
          <a:p/>
        </p:txBody>
      </p:sp>
      <p:sp>
        <p:nvSpPr>
          <p:cNvPr id="5" name="object 5" descr=""/>
          <p:cNvSpPr txBox="1"/>
          <p:nvPr/>
        </p:nvSpPr>
        <p:spPr>
          <a:xfrm>
            <a:off x="231140" y="1150874"/>
            <a:ext cx="8669020" cy="3790950"/>
          </a:xfrm>
          <a:prstGeom prst="rect">
            <a:avLst/>
          </a:prstGeom>
        </p:spPr>
        <p:txBody>
          <a:bodyPr wrap="square" lIns="0" tIns="12065" rIns="0" bIns="0" rtlCol="0" vert="horz">
            <a:spAutoFit/>
          </a:bodyPr>
          <a:lstStyle/>
          <a:p>
            <a:pPr marL="241300" marR="444500" indent="-635">
              <a:lnSpc>
                <a:spcPct val="100000"/>
              </a:lnSpc>
              <a:spcBef>
                <a:spcPts val="95"/>
              </a:spcBef>
            </a:pPr>
            <a:r>
              <a:rPr dirty="0" sz="1400" spc="-20" b="1">
                <a:solidFill>
                  <a:srgbClr val="C00000"/>
                </a:solidFill>
                <a:latin typeface="Microsoft YaHei"/>
                <a:cs typeface="Microsoft YaHei"/>
              </a:rPr>
              <a:t>当</a:t>
            </a:r>
            <a:r>
              <a:rPr dirty="0" sz="1400" spc="-25" b="1">
                <a:solidFill>
                  <a:srgbClr val="C00000"/>
                </a:solidFill>
                <a:latin typeface="Microsoft YaHei"/>
                <a:cs typeface="Microsoft YaHei"/>
              </a:rPr>
              <a:t>AAU</a:t>
            </a:r>
            <a:r>
              <a:rPr dirty="0" sz="1400" spc="-20" b="1">
                <a:solidFill>
                  <a:srgbClr val="C00000"/>
                </a:solidFill>
                <a:latin typeface="Microsoft YaHei"/>
                <a:cs typeface="Microsoft YaHei"/>
              </a:rPr>
              <a:t>安装在室外环境，采用直流供电时，需要使用</a:t>
            </a:r>
            <a:r>
              <a:rPr dirty="0" sz="1400" spc="-10" b="1">
                <a:solidFill>
                  <a:srgbClr val="C00000"/>
                </a:solidFill>
                <a:latin typeface="Microsoft YaHei"/>
                <a:cs typeface="Microsoft YaHei"/>
              </a:rPr>
              <a:t>2</a:t>
            </a:r>
            <a:r>
              <a:rPr dirty="0" sz="1400" spc="-25" b="1">
                <a:solidFill>
                  <a:srgbClr val="C00000"/>
                </a:solidFill>
                <a:latin typeface="Microsoft YaHei"/>
                <a:cs typeface="Microsoft YaHei"/>
              </a:rPr>
              <a:t>芯屏蔽电源线，电源线屏蔽层需要进行接地，使用接地套件和防水包来完成接地:</a:t>
            </a:r>
            <a:endParaRPr sz="1400">
              <a:latin typeface="Microsoft YaHei"/>
              <a:cs typeface="Microsoft YaHei"/>
            </a:endParaRPr>
          </a:p>
          <a:p>
            <a:pPr algn="just" marL="297180" marR="19050" indent="-285115">
              <a:lnSpc>
                <a:spcPct val="120000"/>
              </a:lnSpc>
              <a:spcBef>
                <a:spcPts val="85"/>
              </a:spcBef>
              <a:buFont typeface="Wingdings"/>
              <a:buChar char=""/>
              <a:tabLst>
                <a:tab pos="298450" algn="l"/>
              </a:tabLst>
            </a:pPr>
            <a:r>
              <a:rPr dirty="0" sz="1300" spc="-10">
                <a:solidFill>
                  <a:srgbClr val="CC6600"/>
                </a:solidFill>
                <a:latin typeface="Microsoft YaHei"/>
                <a:cs typeface="Microsoft YaHei"/>
              </a:rPr>
              <a:t>AAU安装在铁塔时，如果铁塔底部到机房馈线窗的水平走线距离≥7m，则在电源线离塔的拐弯处， 1m</a:t>
            </a:r>
            <a:r>
              <a:rPr dirty="0" sz="1300" spc="-15">
                <a:solidFill>
                  <a:srgbClr val="CC6600"/>
                </a:solidFill>
                <a:latin typeface="Microsoft YaHei"/>
                <a:cs typeface="Microsoft YaHei"/>
              </a:rPr>
              <a:t>范围内，选</a:t>
            </a:r>
            <a:r>
              <a:rPr dirty="0" sz="1300" spc="-15">
                <a:solidFill>
                  <a:srgbClr val="CC6600"/>
                </a:solidFill>
                <a:latin typeface="Microsoft YaHei"/>
                <a:cs typeface="Microsoft YaHei"/>
              </a:rPr>
              <a:t>	</a:t>
            </a:r>
            <a:r>
              <a:rPr dirty="0" sz="1300" spc="-10">
                <a:solidFill>
                  <a:srgbClr val="CC6600"/>
                </a:solidFill>
                <a:latin typeface="Microsoft YaHei"/>
                <a:cs typeface="Microsoft YaHei"/>
              </a:rPr>
              <a:t>择电源线竖直部位，做一点屏蔽层接地，连接至铁塔就近接地点，同时进入馈线前1m</a:t>
            </a:r>
            <a:r>
              <a:rPr dirty="0" sz="1300" spc="-15">
                <a:solidFill>
                  <a:srgbClr val="CC6600"/>
                </a:solidFill>
                <a:latin typeface="Microsoft YaHei"/>
                <a:cs typeface="Microsoft YaHei"/>
              </a:rPr>
              <a:t>范围内，选择电源线平直部位</a:t>
            </a:r>
            <a:endParaRPr sz="1300">
              <a:latin typeface="Microsoft YaHei"/>
              <a:cs typeface="Microsoft YaHei"/>
            </a:endParaRPr>
          </a:p>
          <a:p>
            <a:pPr algn="just" marL="298450" marR="19050">
              <a:lnSpc>
                <a:spcPct val="120000"/>
              </a:lnSpc>
            </a:pPr>
            <a:r>
              <a:rPr dirty="0" sz="1300" spc="-10">
                <a:solidFill>
                  <a:srgbClr val="CC6600"/>
                </a:solidFill>
                <a:latin typeface="Microsoft YaHei"/>
                <a:cs typeface="Microsoft YaHei"/>
              </a:rPr>
              <a:t>，再做一点屏蔽层接地，连接到馈线窗附近的室外防雷接地排。如果铁塔底部到馈线窗的水平走线距离小于7m</a:t>
            </a:r>
            <a:r>
              <a:rPr dirty="0" sz="1300" spc="-30">
                <a:solidFill>
                  <a:srgbClr val="CC6600"/>
                </a:solidFill>
                <a:latin typeface="Microsoft YaHei"/>
                <a:cs typeface="Microsoft YaHei"/>
              </a:rPr>
              <a:t>，则</a:t>
            </a:r>
            <a:r>
              <a:rPr dirty="0" sz="1300">
                <a:solidFill>
                  <a:srgbClr val="CC6600"/>
                </a:solidFill>
                <a:latin typeface="Microsoft YaHei"/>
                <a:cs typeface="Microsoft YaHei"/>
              </a:rPr>
              <a:t>只在进入馈线窗前</a:t>
            </a:r>
            <a:r>
              <a:rPr dirty="0" sz="1300" spc="-10">
                <a:solidFill>
                  <a:srgbClr val="CC6600"/>
                </a:solidFill>
                <a:latin typeface="Microsoft YaHei"/>
                <a:cs typeface="Microsoft YaHei"/>
              </a:rPr>
              <a:t>1m</a:t>
            </a:r>
            <a:r>
              <a:rPr dirty="0" sz="1300" spc="-15">
                <a:solidFill>
                  <a:srgbClr val="CC6600"/>
                </a:solidFill>
                <a:latin typeface="Microsoft YaHei"/>
                <a:cs typeface="Microsoft YaHei"/>
              </a:rPr>
              <a:t>范围内，选择电源线平直部位，做一点屏蔽层接地，连接到馈线窗附近的室外防雷接地排。如</a:t>
            </a:r>
            <a:r>
              <a:rPr dirty="0" sz="1300">
                <a:solidFill>
                  <a:srgbClr val="CC6600"/>
                </a:solidFill>
                <a:latin typeface="Microsoft YaHei"/>
                <a:cs typeface="Microsoft YaHei"/>
              </a:rPr>
              <a:t>果电源线长度超过</a:t>
            </a:r>
            <a:r>
              <a:rPr dirty="0" sz="1300" spc="-10">
                <a:solidFill>
                  <a:srgbClr val="CC6600"/>
                </a:solidFill>
                <a:latin typeface="Microsoft YaHei"/>
                <a:cs typeface="Microsoft YaHei"/>
              </a:rPr>
              <a:t>60m，每增加60m，则在电源线中间多增加一点屏蔽层接地，连接到就近接地点，如60~120m</a:t>
            </a:r>
            <a:endParaRPr sz="1300">
              <a:latin typeface="Microsoft YaHei"/>
              <a:cs typeface="Microsoft YaHei"/>
            </a:endParaRPr>
          </a:p>
          <a:p>
            <a:pPr marL="298450">
              <a:lnSpc>
                <a:spcPct val="100000"/>
              </a:lnSpc>
              <a:spcBef>
                <a:spcPts val="310"/>
              </a:spcBef>
            </a:pPr>
            <a:r>
              <a:rPr dirty="0" sz="1300" spc="-15">
                <a:solidFill>
                  <a:srgbClr val="CC6600"/>
                </a:solidFill>
                <a:latin typeface="Microsoft YaHei"/>
                <a:cs typeface="Microsoft YaHei"/>
              </a:rPr>
              <a:t>，在电源线中间多增加一点屏蔽层接地；</a:t>
            </a:r>
            <a:endParaRPr sz="1300">
              <a:latin typeface="Microsoft YaHei"/>
              <a:cs typeface="Microsoft YaHei"/>
            </a:endParaRPr>
          </a:p>
          <a:p>
            <a:pPr marL="297815" marR="5080" indent="-285750">
              <a:lnSpc>
                <a:spcPts val="1870"/>
              </a:lnSpc>
              <a:spcBef>
                <a:spcPts val="114"/>
              </a:spcBef>
              <a:buFont typeface="Wingdings"/>
              <a:buChar char=""/>
              <a:tabLst>
                <a:tab pos="297815" algn="l"/>
              </a:tabLst>
            </a:pPr>
            <a:r>
              <a:rPr dirty="0" sz="1300" spc="-10">
                <a:solidFill>
                  <a:srgbClr val="CC6600"/>
                </a:solidFill>
                <a:latin typeface="Microsoft YaHei"/>
                <a:cs typeface="Microsoft YaHei"/>
              </a:rPr>
              <a:t>AAU不安装在铁塔时，电源线长度在</a:t>
            </a:r>
            <a:r>
              <a:rPr dirty="0" sz="1300" spc="-5">
                <a:solidFill>
                  <a:srgbClr val="CC6600"/>
                </a:solidFill>
                <a:latin typeface="Microsoft YaHei"/>
                <a:cs typeface="Microsoft YaHei"/>
              </a:rPr>
              <a:t>5</a:t>
            </a:r>
            <a:r>
              <a:rPr dirty="0" sz="1300" spc="-10">
                <a:solidFill>
                  <a:srgbClr val="CC6600"/>
                </a:solidFill>
                <a:latin typeface="Microsoft YaHei"/>
                <a:cs typeface="Microsoft YaHei"/>
              </a:rPr>
              <a:t>m以内不用接地；长度在</a:t>
            </a:r>
            <a:r>
              <a:rPr dirty="0" sz="1300" spc="-5">
                <a:solidFill>
                  <a:srgbClr val="CC6600"/>
                </a:solidFill>
                <a:latin typeface="Microsoft YaHei"/>
                <a:cs typeface="Microsoft YaHei"/>
              </a:rPr>
              <a:t>5</a:t>
            </a:r>
            <a:r>
              <a:rPr dirty="0" sz="1300">
                <a:solidFill>
                  <a:srgbClr val="CC6600"/>
                </a:solidFill>
                <a:latin typeface="Microsoft YaHei"/>
                <a:cs typeface="Microsoft YaHei"/>
              </a:rPr>
              <a:t>～</a:t>
            </a:r>
            <a:r>
              <a:rPr dirty="0" sz="1300" spc="-5">
                <a:solidFill>
                  <a:srgbClr val="CC6600"/>
                </a:solidFill>
                <a:latin typeface="Microsoft YaHei"/>
                <a:cs typeface="Microsoft YaHei"/>
              </a:rPr>
              <a:t>60</a:t>
            </a:r>
            <a:r>
              <a:rPr dirty="0" sz="1300">
                <a:solidFill>
                  <a:srgbClr val="CC6600"/>
                </a:solidFill>
                <a:latin typeface="Microsoft YaHei"/>
                <a:cs typeface="Microsoft YaHei"/>
              </a:rPr>
              <a:t>m</a:t>
            </a:r>
            <a:r>
              <a:rPr dirty="0" sz="1300" spc="-15">
                <a:solidFill>
                  <a:srgbClr val="CC6600"/>
                </a:solidFill>
                <a:latin typeface="Microsoft YaHei"/>
                <a:cs typeface="Microsoft YaHei"/>
              </a:rPr>
              <a:t> 以内增加一点接地，位置在进入馈线窗前</a:t>
            </a:r>
            <a:r>
              <a:rPr dirty="0" sz="1300">
                <a:solidFill>
                  <a:srgbClr val="CC6600"/>
                </a:solidFill>
                <a:latin typeface="Microsoft YaHei"/>
                <a:cs typeface="Microsoft YaHei"/>
              </a:rPr>
              <a:t> </a:t>
            </a:r>
            <a:r>
              <a:rPr dirty="0" sz="1300" spc="-5">
                <a:solidFill>
                  <a:srgbClr val="CC6600"/>
                </a:solidFill>
                <a:latin typeface="Microsoft YaHei"/>
                <a:cs typeface="Microsoft YaHei"/>
              </a:rPr>
              <a:t>1m</a:t>
            </a:r>
            <a:r>
              <a:rPr dirty="0" sz="1300" spc="-10">
                <a:solidFill>
                  <a:srgbClr val="CC6600"/>
                </a:solidFill>
                <a:latin typeface="Microsoft YaHei"/>
                <a:cs typeface="Microsoft YaHei"/>
              </a:rPr>
              <a:t>范围内，选择电源线平直部位，做一点屏蔽层接地，连接到室外接地排；电源线长度超过</a:t>
            </a:r>
            <a:r>
              <a:rPr dirty="0" sz="1300" spc="-5">
                <a:solidFill>
                  <a:srgbClr val="CC6600"/>
                </a:solidFill>
                <a:latin typeface="Microsoft YaHei"/>
                <a:cs typeface="Microsoft YaHei"/>
              </a:rPr>
              <a:t>60</a:t>
            </a:r>
            <a:r>
              <a:rPr dirty="0" sz="1300" spc="-10">
                <a:solidFill>
                  <a:srgbClr val="CC6600"/>
                </a:solidFill>
                <a:latin typeface="Microsoft YaHei"/>
                <a:cs typeface="Microsoft YaHei"/>
              </a:rPr>
              <a:t>m</a:t>
            </a:r>
            <a:r>
              <a:rPr dirty="0" sz="1300" spc="-5">
                <a:solidFill>
                  <a:srgbClr val="CC6600"/>
                </a:solidFill>
                <a:latin typeface="Microsoft YaHei"/>
                <a:cs typeface="Microsoft YaHei"/>
              </a:rPr>
              <a:t>，每增加60</a:t>
            </a:r>
            <a:r>
              <a:rPr dirty="0" sz="1300" spc="-10">
                <a:solidFill>
                  <a:srgbClr val="CC6600"/>
                </a:solidFill>
                <a:latin typeface="Microsoft YaHei"/>
                <a:cs typeface="Microsoft YaHei"/>
              </a:rPr>
              <a:t>m</a:t>
            </a:r>
            <a:r>
              <a:rPr dirty="0" sz="1300">
                <a:solidFill>
                  <a:srgbClr val="CC6600"/>
                </a:solidFill>
                <a:latin typeface="Microsoft YaHei"/>
                <a:cs typeface="Microsoft YaHei"/>
              </a:rPr>
              <a:t>，则</a:t>
            </a:r>
            <a:r>
              <a:rPr dirty="0" sz="1300" spc="-10">
                <a:solidFill>
                  <a:srgbClr val="CC6600"/>
                </a:solidFill>
                <a:latin typeface="Microsoft YaHei"/>
                <a:cs typeface="Microsoft YaHei"/>
              </a:rPr>
              <a:t>在电源线中间多增加一点屏蔽层接地，连接到就近接地点，如</a:t>
            </a:r>
            <a:r>
              <a:rPr dirty="0" sz="1300" spc="-5">
                <a:solidFill>
                  <a:srgbClr val="CC6600"/>
                </a:solidFill>
                <a:latin typeface="Microsoft YaHei"/>
                <a:cs typeface="Microsoft YaHei"/>
              </a:rPr>
              <a:t>60</a:t>
            </a:r>
            <a:r>
              <a:rPr dirty="0" sz="1300" spc="-10">
                <a:solidFill>
                  <a:srgbClr val="CC6600"/>
                </a:solidFill>
                <a:latin typeface="Microsoft YaHei"/>
                <a:cs typeface="Microsoft YaHei"/>
              </a:rPr>
              <a:t>~</a:t>
            </a:r>
            <a:r>
              <a:rPr dirty="0" sz="1300" spc="-5">
                <a:solidFill>
                  <a:srgbClr val="CC6600"/>
                </a:solidFill>
                <a:latin typeface="Microsoft YaHei"/>
                <a:cs typeface="Microsoft YaHei"/>
              </a:rPr>
              <a:t>120m</a:t>
            </a:r>
            <a:r>
              <a:rPr dirty="0" sz="1300" spc="-10">
                <a:solidFill>
                  <a:srgbClr val="CC6600"/>
                </a:solidFill>
                <a:latin typeface="Microsoft YaHei"/>
                <a:cs typeface="Microsoft YaHei"/>
              </a:rPr>
              <a:t>，在电源线中间多增加一点屏蔽层接地；</a:t>
            </a:r>
            <a:endParaRPr sz="1300">
              <a:latin typeface="Microsoft YaHei"/>
              <a:cs typeface="Microsoft YaHei"/>
            </a:endParaRPr>
          </a:p>
          <a:p>
            <a:pPr marL="297815" indent="-285115">
              <a:lnSpc>
                <a:spcPct val="100000"/>
              </a:lnSpc>
              <a:spcBef>
                <a:spcPts val="204"/>
              </a:spcBef>
              <a:buFont typeface="Wingdings"/>
              <a:buChar char=""/>
              <a:tabLst>
                <a:tab pos="297815" algn="l"/>
              </a:tabLst>
            </a:pPr>
            <a:r>
              <a:rPr dirty="0" sz="1300" spc="-10">
                <a:solidFill>
                  <a:srgbClr val="CC6600"/>
                </a:solidFill>
                <a:latin typeface="Microsoft YaHei"/>
                <a:cs typeface="Microsoft YaHei"/>
              </a:rPr>
              <a:t>AAU电源线缆在铁塔底部接地，接地线应在馈线经走线架上铁塔的转弯处上方0.5～1m</a:t>
            </a:r>
            <a:r>
              <a:rPr dirty="0" sz="1300" spc="-20">
                <a:solidFill>
                  <a:srgbClr val="CC6600"/>
                </a:solidFill>
                <a:latin typeface="Microsoft YaHei"/>
                <a:cs typeface="Microsoft YaHei"/>
              </a:rPr>
              <a:t>范围内实施；</a:t>
            </a:r>
            <a:endParaRPr sz="1300">
              <a:latin typeface="Microsoft YaHei"/>
              <a:cs typeface="Microsoft YaHei"/>
            </a:endParaRPr>
          </a:p>
          <a:p>
            <a:pPr marL="242570" indent="-229870">
              <a:lnSpc>
                <a:spcPct val="100000"/>
              </a:lnSpc>
              <a:spcBef>
                <a:spcPts val="310"/>
              </a:spcBef>
              <a:buFont typeface="Wingdings"/>
              <a:buChar char=""/>
              <a:tabLst>
                <a:tab pos="242570" algn="l"/>
              </a:tabLst>
            </a:pPr>
            <a:r>
              <a:rPr dirty="0" sz="1300" spc="-10">
                <a:solidFill>
                  <a:srgbClr val="CC6600"/>
                </a:solidFill>
                <a:latin typeface="Microsoft YaHei"/>
                <a:cs typeface="Microsoft YaHei"/>
              </a:rPr>
              <a:t>接地线引向应由上往下，垂直方向时，分叉朝下，禁止朝上；水平方向时，接地线应沿</a:t>
            </a:r>
            <a:r>
              <a:rPr dirty="0" sz="1300" spc="-20">
                <a:solidFill>
                  <a:srgbClr val="CC6600"/>
                </a:solidFill>
                <a:latin typeface="Microsoft YaHei"/>
                <a:cs typeface="Microsoft YaHei"/>
              </a:rPr>
              <a:t>AAU</a:t>
            </a:r>
            <a:r>
              <a:rPr dirty="0" sz="1300" spc="-15">
                <a:solidFill>
                  <a:srgbClr val="CC6600"/>
                </a:solidFill>
                <a:latin typeface="Microsoft YaHei"/>
                <a:cs typeface="Microsoft YaHei"/>
              </a:rPr>
              <a:t>朝机房方向；</a:t>
            </a:r>
            <a:endParaRPr sz="1300">
              <a:latin typeface="Microsoft YaHei"/>
              <a:cs typeface="Microsoft YaHei"/>
            </a:endParaRPr>
          </a:p>
          <a:p>
            <a:pPr marL="346710" indent="-334010">
              <a:lnSpc>
                <a:spcPct val="100000"/>
              </a:lnSpc>
              <a:spcBef>
                <a:spcPts val="310"/>
              </a:spcBef>
              <a:buFont typeface="Wingdings"/>
              <a:buChar char=""/>
              <a:tabLst>
                <a:tab pos="346710" algn="l"/>
              </a:tabLst>
            </a:pPr>
            <a:r>
              <a:rPr dirty="0" sz="1300" spc="-15">
                <a:solidFill>
                  <a:srgbClr val="CC6600"/>
                </a:solidFill>
                <a:latin typeface="Microsoft YaHei"/>
                <a:cs typeface="Microsoft YaHei"/>
              </a:rPr>
              <a:t>所有连接到汇接铜排的地线长度在满足布线基本要求的基础上选择最短路由；</a:t>
            </a:r>
            <a:endParaRPr sz="1300">
              <a:latin typeface="Microsoft YaHei"/>
              <a:cs typeface="Microsoft YaHei"/>
            </a:endParaRPr>
          </a:p>
          <a:p>
            <a:pPr marL="193675" indent="-180975">
              <a:lnSpc>
                <a:spcPct val="100000"/>
              </a:lnSpc>
              <a:spcBef>
                <a:spcPts val="315"/>
              </a:spcBef>
              <a:buFont typeface="Wingdings"/>
              <a:buChar char=""/>
              <a:tabLst>
                <a:tab pos="193675" algn="l"/>
              </a:tabLst>
            </a:pPr>
            <a:r>
              <a:rPr dirty="0" sz="1300" spc="-10">
                <a:solidFill>
                  <a:srgbClr val="CC6600"/>
                </a:solidFill>
                <a:latin typeface="Microsoft YaHei"/>
                <a:cs typeface="Microsoft YaHei"/>
              </a:rPr>
              <a:t>AAU电源线需按照接地规范进行接地，使用防水包对接地点的进行防水处理时，必须按照按“1层胶布+1</a:t>
            </a:r>
            <a:r>
              <a:rPr dirty="0" sz="1300" spc="-5">
                <a:solidFill>
                  <a:srgbClr val="CC6600"/>
                </a:solidFill>
                <a:latin typeface="Microsoft YaHei"/>
                <a:cs typeface="Microsoft YaHei"/>
              </a:rPr>
              <a:t>层胶泥</a:t>
            </a:r>
            <a:r>
              <a:rPr dirty="0" sz="1300" spc="-25">
                <a:solidFill>
                  <a:srgbClr val="CC6600"/>
                </a:solidFill>
                <a:latin typeface="Microsoft YaHei"/>
                <a:cs typeface="Microsoft YaHei"/>
              </a:rPr>
              <a:t>+3</a:t>
            </a:r>
            <a:endParaRPr sz="1300">
              <a:latin typeface="Microsoft YaHei"/>
              <a:cs typeface="Microsoft YaHei"/>
            </a:endParaRPr>
          </a:p>
          <a:p>
            <a:pPr marL="193675">
              <a:lnSpc>
                <a:spcPct val="100000"/>
              </a:lnSpc>
              <a:spcBef>
                <a:spcPts val="310"/>
              </a:spcBef>
            </a:pPr>
            <a:r>
              <a:rPr dirty="0" sz="1300" spc="-15">
                <a:solidFill>
                  <a:srgbClr val="CC6600"/>
                </a:solidFill>
                <a:latin typeface="Microsoft YaHei"/>
                <a:cs typeface="Microsoft YaHei"/>
              </a:rPr>
              <a:t>层胶布”方式进行密封，并在胶带收口部位用扎带扎紧，防止胶带翘起。如采用其它防水方式需要保证防水效果。</a:t>
            </a:r>
            <a:endParaRPr sz="1300">
              <a:latin typeface="Microsoft YaHei"/>
              <a:cs typeface="Microsoft YaHei"/>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50413" y="169693"/>
            <a:ext cx="3279140" cy="513080"/>
          </a:xfrm>
          <a:prstGeom prst="rect"/>
        </p:spPr>
        <p:txBody>
          <a:bodyPr wrap="square" lIns="0" tIns="12065" rIns="0" bIns="0" rtlCol="0" vert="horz">
            <a:spAutoFit/>
          </a:bodyPr>
          <a:lstStyle/>
          <a:p>
            <a:pPr marL="12700">
              <a:lnSpc>
                <a:spcPct val="100000"/>
              </a:lnSpc>
              <a:spcBef>
                <a:spcPts val="95"/>
              </a:spcBef>
            </a:pPr>
            <a:r>
              <a:rPr dirty="0" spc="-45"/>
              <a:t>线缆接地工程规范</a:t>
            </a:r>
          </a:p>
        </p:txBody>
      </p:sp>
      <p:pic>
        <p:nvPicPr>
          <p:cNvPr id="3" name="object 3"/>
          <p:cNvPicPr/>
          <p:nvPr/>
        </p:nvPicPr>
        <p:blipFill>
          <a:blip r:embed="rId2" cstate="print"/>
          <a:stretch>
            <a:fillRect/>
          </a:stretch>
        </p:blipFill>
        <p:spPr>
          <a:xfrm>
            <a:off x="715546" y="1563637"/>
            <a:ext cx="5466564" cy="3242877"/>
          </a:xfrm>
          <a:prstGeom prst="rect">
            <a:avLst/>
          </a:prstGeom>
        </p:spPr>
      </p:pic>
      <p:sp>
        <p:nvSpPr>
          <p:cNvPr id="4" name="object 4" descr=""/>
          <p:cNvSpPr txBox="1"/>
          <p:nvPr/>
        </p:nvSpPr>
        <p:spPr>
          <a:xfrm>
            <a:off x="4938231" y="1230781"/>
            <a:ext cx="3361690" cy="1732280"/>
          </a:xfrm>
          <a:prstGeom prst="rect">
            <a:avLst/>
          </a:prstGeom>
        </p:spPr>
        <p:txBody>
          <a:bodyPr wrap="square" lIns="0" tIns="134620" rIns="0" bIns="0" rtlCol="0" vert="horz">
            <a:spAutoFit/>
          </a:bodyPr>
          <a:lstStyle/>
          <a:p>
            <a:pPr marL="297815" indent="-285115">
              <a:lnSpc>
                <a:spcPct val="100000"/>
              </a:lnSpc>
              <a:spcBef>
                <a:spcPts val="1060"/>
              </a:spcBef>
              <a:buFont typeface="Wingdings"/>
              <a:buChar char=""/>
              <a:tabLst>
                <a:tab pos="297815" algn="l"/>
              </a:tabLst>
            </a:pPr>
            <a:r>
              <a:rPr dirty="0" sz="1600">
                <a:latin typeface="Microsoft YaHei"/>
                <a:cs typeface="Microsoft YaHei"/>
              </a:rPr>
              <a:t>防雷接地电阻不大于</a:t>
            </a:r>
            <a:r>
              <a:rPr dirty="0" sz="1600" spc="-10">
                <a:latin typeface="Arial MT"/>
                <a:cs typeface="Arial MT"/>
              </a:rPr>
              <a:t>10</a:t>
            </a:r>
            <a:r>
              <a:rPr dirty="0" sz="1600" spc="-20">
                <a:latin typeface="Microsoft YaHei"/>
                <a:cs typeface="Microsoft YaHei"/>
              </a:rPr>
              <a:t>欧姆；</a:t>
            </a:r>
            <a:endParaRPr sz="1600">
              <a:latin typeface="Microsoft YaHei"/>
              <a:cs typeface="Microsoft YaHei"/>
            </a:endParaRPr>
          </a:p>
          <a:p>
            <a:pPr marL="298450" marR="5080" indent="-285750">
              <a:lnSpc>
                <a:spcPct val="100000"/>
              </a:lnSpc>
              <a:spcBef>
                <a:spcPts val="960"/>
              </a:spcBef>
              <a:buFont typeface="Wingdings"/>
              <a:buChar char=""/>
              <a:tabLst>
                <a:tab pos="298450" algn="l"/>
              </a:tabLst>
            </a:pPr>
            <a:r>
              <a:rPr dirty="0" sz="1600" spc="-15">
                <a:latin typeface="Microsoft YaHei"/>
                <a:cs typeface="Microsoft YaHei"/>
              </a:rPr>
              <a:t>避雷针和室内防雷排接地引下线截</a:t>
            </a:r>
            <a:r>
              <a:rPr dirty="0" sz="1600">
                <a:latin typeface="Microsoft YaHei"/>
                <a:cs typeface="Microsoft YaHei"/>
              </a:rPr>
              <a:t>面积不小于</a:t>
            </a:r>
            <a:r>
              <a:rPr dirty="0" sz="1600" spc="-10">
                <a:latin typeface="Arial MT"/>
                <a:cs typeface="Arial MT"/>
              </a:rPr>
              <a:t>35mm²</a:t>
            </a:r>
            <a:r>
              <a:rPr dirty="0" sz="1600" spc="-10">
                <a:latin typeface="Microsoft YaHei"/>
                <a:cs typeface="Microsoft YaHei"/>
              </a:rPr>
              <a:t>；</a:t>
            </a:r>
            <a:endParaRPr sz="1600">
              <a:latin typeface="Microsoft YaHei"/>
              <a:cs typeface="Microsoft YaHei"/>
            </a:endParaRPr>
          </a:p>
          <a:p>
            <a:pPr marL="297815" indent="-285115">
              <a:lnSpc>
                <a:spcPct val="100000"/>
              </a:lnSpc>
              <a:spcBef>
                <a:spcPts val="960"/>
              </a:spcBef>
              <a:buFont typeface="Wingdings"/>
              <a:buChar char=""/>
              <a:tabLst>
                <a:tab pos="297815" algn="l"/>
              </a:tabLst>
            </a:pPr>
            <a:r>
              <a:rPr dirty="0" sz="1600" spc="-10">
                <a:latin typeface="Microsoft YaHei"/>
                <a:cs typeface="Microsoft YaHei"/>
              </a:rPr>
              <a:t>线缆接地应不与其它点复接；</a:t>
            </a:r>
            <a:endParaRPr sz="1600">
              <a:latin typeface="Microsoft YaHei"/>
              <a:cs typeface="Microsoft YaHei"/>
            </a:endParaRPr>
          </a:p>
          <a:p>
            <a:pPr marL="297815" indent="-285115">
              <a:lnSpc>
                <a:spcPct val="100000"/>
              </a:lnSpc>
              <a:spcBef>
                <a:spcPts val="960"/>
              </a:spcBef>
              <a:buFont typeface="Wingdings"/>
              <a:buChar char=""/>
              <a:tabLst>
                <a:tab pos="297815" algn="l"/>
              </a:tabLst>
            </a:pPr>
            <a:r>
              <a:rPr dirty="0" sz="1600" spc="-10">
                <a:latin typeface="Microsoft YaHei"/>
                <a:cs typeface="Microsoft YaHei"/>
              </a:rPr>
              <a:t>确保接地点导电特性良好。</a:t>
            </a:r>
            <a:endParaRPr sz="1600">
              <a:latin typeface="Microsoft YaHei"/>
              <a:cs typeface="Microsoft YaHei"/>
            </a:endParaRPr>
          </a:p>
        </p:txBody>
      </p:sp>
      <p:sp>
        <p:nvSpPr>
          <p:cNvPr id="5" name="object 5" descr=""/>
          <p:cNvSpPr txBox="1"/>
          <p:nvPr/>
        </p:nvSpPr>
        <p:spPr>
          <a:xfrm>
            <a:off x="870206" y="725004"/>
            <a:ext cx="2997200" cy="875030"/>
          </a:xfrm>
          <a:prstGeom prst="rect">
            <a:avLst/>
          </a:prstGeom>
        </p:spPr>
        <p:txBody>
          <a:bodyPr wrap="square" lIns="0" tIns="154940" rIns="0" bIns="0" rtlCol="0" vert="horz">
            <a:spAutoFit/>
          </a:bodyPr>
          <a:lstStyle/>
          <a:p>
            <a:pPr marL="269240">
              <a:lnSpc>
                <a:spcPct val="100000"/>
              </a:lnSpc>
              <a:spcBef>
                <a:spcPts val="1220"/>
              </a:spcBef>
            </a:pPr>
            <a:r>
              <a:rPr dirty="0" sz="2000" spc="-25">
                <a:latin typeface="Microsoft YaHei"/>
                <a:cs typeface="Microsoft YaHei"/>
              </a:rPr>
              <a:t>天馈系统接地示意图</a:t>
            </a:r>
            <a:endParaRPr sz="2000">
              <a:latin typeface="Microsoft YaHei"/>
              <a:cs typeface="Microsoft YaHei"/>
            </a:endParaRPr>
          </a:p>
          <a:p>
            <a:pPr marL="12700">
              <a:lnSpc>
                <a:spcPct val="100000"/>
              </a:lnSpc>
              <a:spcBef>
                <a:spcPts val="1010"/>
              </a:spcBef>
            </a:pPr>
            <a:r>
              <a:rPr dirty="0" sz="1800" spc="-5" b="1">
                <a:latin typeface="Microsoft YaHei"/>
                <a:cs typeface="Microsoft YaHei"/>
              </a:rPr>
              <a:t>抱杆型基站的馈线接地示意图</a:t>
            </a:r>
            <a:endParaRPr sz="1800">
              <a:latin typeface="Microsoft YaHei"/>
              <a:cs typeface="Microsoft YaHei"/>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859913" y="169693"/>
            <a:ext cx="3279140" cy="513080"/>
          </a:xfrm>
          <a:prstGeom prst="rect">
            <a:avLst/>
          </a:prstGeom>
        </p:spPr>
        <p:txBody>
          <a:bodyPr wrap="square" lIns="0" tIns="12065" rIns="0" bIns="0" rtlCol="0" vert="horz">
            <a:spAutoFit/>
          </a:bodyPr>
          <a:lstStyle/>
          <a:p>
            <a:pPr marL="12700">
              <a:lnSpc>
                <a:spcPct val="100000"/>
              </a:lnSpc>
              <a:spcBef>
                <a:spcPts val="95"/>
              </a:spcBef>
            </a:pPr>
            <a:r>
              <a:rPr dirty="0" sz="3200" spc="-45" b="1">
                <a:solidFill>
                  <a:srgbClr val="FFFFFF"/>
                </a:solidFill>
                <a:latin typeface="Microsoft JhengHei"/>
                <a:cs typeface="Microsoft JhengHei"/>
              </a:rPr>
              <a:t>线缆接地工程规范</a:t>
            </a:r>
            <a:endParaRPr sz="3200">
              <a:latin typeface="Microsoft JhengHei"/>
              <a:cs typeface="Microsoft JhengHei"/>
            </a:endParaRPr>
          </a:p>
        </p:txBody>
      </p:sp>
      <p:sp>
        <p:nvSpPr>
          <p:cNvPr id="3" name="object 3" descr=""/>
          <p:cNvSpPr txBox="1"/>
          <p:nvPr/>
        </p:nvSpPr>
        <p:spPr>
          <a:xfrm>
            <a:off x="618291" y="939441"/>
            <a:ext cx="3324225" cy="330200"/>
          </a:xfrm>
          <a:prstGeom prst="rect">
            <a:avLst/>
          </a:prstGeom>
        </p:spPr>
        <p:txBody>
          <a:bodyPr wrap="square" lIns="0" tIns="12065" rIns="0" bIns="0" rtlCol="0" vert="horz">
            <a:spAutoFit/>
          </a:bodyPr>
          <a:lstStyle/>
          <a:p>
            <a:pPr marL="12700">
              <a:lnSpc>
                <a:spcPct val="100000"/>
              </a:lnSpc>
              <a:spcBef>
                <a:spcPts val="95"/>
              </a:spcBef>
            </a:pPr>
            <a:r>
              <a:rPr dirty="0" sz="2000" spc="-25">
                <a:latin typeface="Microsoft YaHei"/>
                <a:cs typeface="Microsoft YaHei"/>
              </a:rPr>
              <a:t>塔架型基站的馈线接地示意图</a:t>
            </a:r>
            <a:endParaRPr sz="2000">
              <a:latin typeface="Microsoft YaHei"/>
              <a:cs typeface="Microsoft YaHei"/>
            </a:endParaRPr>
          </a:p>
        </p:txBody>
      </p:sp>
      <p:pic>
        <p:nvPicPr>
          <p:cNvPr id="4" name="object 4"/>
          <p:cNvPicPr/>
          <p:nvPr/>
        </p:nvPicPr>
        <p:blipFill>
          <a:blip r:embed="rId2" cstate="print"/>
          <a:stretch>
            <a:fillRect/>
          </a:stretch>
        </p:blipFill>
        <p:spPr>
          <a:xfrm>
            <a:off x="1788180" y="1347613"/>
            <a:ext cx="5604761" cy="3341193"/>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2663" y="158369"/>
            <a:ext cx="6125210" cy="513080"/>
          </a:xfrm>
          <a:prstGeom prst="rect"/>
        </p:spPr>
        <p:txBody>
          <a:bodyPr wrap="square" lIns="0" tIns="12065" rIns="0" bIns="0" rtlCol="0" vert="horz">
            <a:spAutoFit/>
          </a:bodyPr>
          <a:lstStyle/>
          <a:p>
            <a:pPr marL="12700">
              <a:lnSpc>
                <a:spcPct val="100000"/>
              </a:lnSpc>
              <a:spcBef>
                <a:spcPts val="95"/>
              </a:spcBef>
            </a:pPr>
            <a:r>
              <a:rPr dirty="0" spc="-45"/>
              <a:t>标签粘贴与设备上电安装工程规范</a:t>
            </a:r>
          </a:p>
        </p:txBody>
      </p:sp>
      <p:sp>
        <p:nvSpPr>
          <p:cNvPr id="3" name="object 3" descr=""/>
          <p:cNvSpPr txBox="1"/>
          <p:nvPr/>
        </p:nvSpPr>
        <p:spPr>
          <a:xfrm>
            <a:off x="66982" y="703353"/>
            <a:ext cx="5278755" cy="4384675"/>
          </a:xfrm>
          <a:prstGeom prst="rect">
            <a:avLst/>
          </a:prstGeom>
        </p:spPr>
        <p:txBody>
          <a:bodyPr wrap="square" lIns="0" tIns="136525" rIns="0" bIns="0" rtlCol="0" vert="horz">
            <a:spAutoFit/>
          </a:bodyPr>
          <a:lstStyle/>
          <a:p>
            <a:pPr marL="275590">
              <a:lnSpc>
                <a:spcPct val="100000"/>
              </a:lnSpc>
              <a:spcBef>
                <a:spcPts val="1075"/>
              </a:spcBef>
            </a:pPr>
            <a:r>
              <a:rPr dirty="0" sz="1400" spc="-30" b="1">
                <a:solidFill>
                  <a:srgbClr val="0950A0"/>
                </a:solidFill>
                <a:latin typeface="Microsoft YaHei"/>
                <a:cs typeface="Microsoft YaHei"/>
              </a:rPr>
              <a:t>标签粘贴</a:t>
            </a:r>
            <a:endParaRPr sz="1400">
              <a:latin typeface="Microsoft YaHei"/>
              <a:cs typeface="Microsoft YaHei"/>
            </a:endParaRPr>
          </a:p>
          <a:p>
            <a:pPr marL="297815" indent="-285115">
              <a:lnSpc>
                <a:spcPct val="100000"/>
              </a:lnSpc>
              <a:spcBef>
                <a:spcPts val="915"/>
              </a:spcBef>
              <a:buFont typeface="Wingdings"/>
              <a:buChar char=""/>
              <a:tabLst>
                <a:tab pos="297815" algn="l"/>
              </a:tabLst>
            </a:pPr>
            <a:r>
              <a:rPr dirty="0" sz="1300" spc="-15">
                <a:latin typeface="Microsoft YaHei"/>
                <a:cs typeface="Microsoft YaHei"/>
              </a:rPr>
              <a:t>标识内容与所标识的线缆要一一对应</a:t>
            </a:r>
            <a:endParaRPr sz="1300">
              <a:latin typeface="Microsoft YaHei"/>
              <a:cs typeface="Microsoft YaHei"/>
            </a:endParaRPr>
          </a:p>
          <a:p>
            <a:pPr marL="298450" marR="1337310" indent="-285750">
              <a:lnSpc>
                <a:spcPct val="150000"/>
              </a:lnSpc>
              <a:buFont typeface="Wingdings"/>
              <a:buChar char=""/>
              <a:tabLst>
                <a:tab pos="298450" algn="l"/>
              </a:tabLst>
            </a:pPr>
            <a:r>
              <a:rPr dirty="0" sz="1300" spc="-15">
                <a:latin typeface="Microsoft YaHei"/>
                <a:cs typeface="Microsoft YaHei"/>
              </a:rPr>
              <a:t>所有线缆标识的朝向、扎带扣方向尽量整齐一致，</a:t>
            </a:r>
            <a:r>
              <a:rPr dirty="0" sz="1300" spc="-10">
                <a:latin typeface="Microsoft YaHei"/>
                <a:cs typeface="Microsoft YaHei"/>
              </a:rPr>
              <a:t>字体朝向便于观察、无遮挡。</a:t>
            </a:r>
            <a:endParaRPr sz="1300">
              <a:latin typeface="Microsoft YaHei"/>
              <a:cs typeface="Microsoft YaHei"/>
            </a:endParaRPr>
          </a:p>
          <a:p>
            <a:pPr marL="297815" indent="-285115">
              <a:lnSpc>
                <a:spcPct val="100000"/>
              </a:lnSpc>
              <a:spcBef>
                <a:spcPts val="780"/>
              </a:spcBef>
              <a:buFont typeface="Wingdings"/>
              <a:buChar char=""/>
              <a:tabLst>
                <a:tab pos="297815" algn="l"/>
              </a:tabLst>
            </a:pPr>
            <a:r>
              <a:rPr dirty="0" sz="1300" spc="-15">
                <a:latin typeface="Microsoft YaHei"/>
                <a:cs typeface="Microsoft YaHei"/>
              </a:rPr>
              <a:t>室内使用标签扎带+标签贴纸；室外使用铝制标签。</a:t>
            </a:r>
            <a:endParaRPr sz="1300">
              <a:latin typeface="Microsoft YaHei"/>
              <a:cs typeface="Microsoft YaHei"/>
            </a:endParaRPr>
          </a:p>
          <a:p>
            <a:pPr marL="347980">
              <a:lnSpc>
                <a:spcPct val="100000"/>
              </a:lnSpc>
              <a:spcBef>
                <a:spcPts val="1485"/>
              </a:spcBef>
            </a:pPr>
            <a:r>
              <a:rPr dirty="0" sz="1400" spc="-30" b="1">
                <a:solidFill>
                  <a:srgbClr val="0950A0"/>
                </a:solidFill>
                <a:latin typeface="Microsoft YaHei"/>
                <a:cs typeface="Microsoft YaHei"/>
              </a:rPr>
              <a:t>设备上电</a:t>
            </a:r>
            <a:endParaRPr sz="1400">
              <a:latin typeface="Microsoft YaHei"/>
              <a:cs typeface="Microsoft YaHei"/>
            </a:endParaRPr>
          </a:p>
          <a:p>
            <a:pPr marL="309880" indent="-285750">
              <a:lnSpc>
                <a:spcPct val="100000"/>
              </a:lnSpc>
              <a:spcBef>
                <a:spcPts val="1065"/>
              </a:spcBef>
              <a:buFont typeface="Wingdings"/>
              <a:buChar char=""/>
              <a:tabLst>
                <a:tab pos="309880" algn="l"/>
              </a:tabLst>
            </a:pPr>
            <a:r>
              <a:rPr dirty="0" sz="1300" spc="-15">
                <a:latin typeface="Microsoft YaHei"/>
                <a:cs typeface="Microsoft YaHei"/>
              </a:rPr>
              <a:t>测量直流回路的正、负极间及的相间电阻值，确认没有短路或断路。</a:t>
            </a:r>
            <a:endParaRPr sz="1300">
              <a:latin typeface="Microsoft YaHei"/>
              <a:cs typeface="Microsoft YaHei"/>
            </a:endParaRPr>
          </a:p>
          <a:p>
            <a:pPr marL="309880" indent="-285750">
              <a:lnSpc>
                <a:spcPct val="100000"/>
              </a:lnSpc>
              <a:spcBef>
                <a:spcPts val="780"/>
              </a:spcBef>
              <a:buFont typeface="Wingdings"/>
              <a:buChar char=""/>
              <a:tabLst>
                <a:tab pos="309880" algn="l"/>
              </a:tabLst>
            </a:pPr>
            <a:r>
              <a:rPr dirty="0" sz="1300" spc="-15">
                <a:latin typeface="Microsoft YaHei"/>
                <a:cs typeface="Microsoft YaHei"/>
              </a:rPr>
              <a:t>直流用线颜色是否规范，安全标识是否齐全。</a:t>
            </a:r>
            <a:endParaRPr sz="1300">
              <a:latin typeface="Microsoft YaHei"/>
              <a:cs typeface="Microsoft YaHei"/>
            </a:endParaRPr>
          </a:p>
          <a:p>
            <a:pPr marL="309880" indent="-285750">
              <a:lnSpc>
                <a:spcPct val="100000"/>
              </a:lnSpc>
              <a:spcBef>
                <a:spcPts val="780"/>
              </a:spcBef>
              <a:buFont typeface="Wingdings"/>
              <a:buChar char=""/>
              <a:tabLst>
                <a:tab pos="309880" algn="l"/>
              </a:tabLst>
            </a:pPr>
            <a:r>
              <a:rPr dirty="0" sz="1300" spc="-15">
                <a:latin typeface="Microsoft YaHei"/>
                <a:cs typeface="Microsoft YaHei"/>
              </a:rPr>
              <a:t>直流输出连接点稳固性、线序、极性是否正确。</a:t>
            </a:r>
            <a:endParaRPr sz="1300">
              <a:latin typeface="Microsoft YaHei"/>
              <a:cs typeface="Microsoft YaHei"/>
            </a:endParaRPr>
          </a:p>
          <a:p>
            <a:pPr marL="309880" indent="-285750">
              <a:lnSpc>
                <a:spcPct val="100000"/>
              </a:lnSpc>
              <a:spcBef>
                <a:spcPts val="780"/>
              </a:spcBef>
              <a:buFont typeface="Wingdings"/>
              <a:buChar char=""/>
              <a:tabLst>
                <a:tab pos="309880" algn="l"/>
              </a:tabLst>
            </a:pPr>
            <a:r>
              <a:rPr dirty="0" sz="1300" spc="-10">
                <a:latin typeface="Microsoft YaHei"/>
                <a:cs typeface="Microsoft YaHei"/>
              </a:rPr>
              <a:t>电气部件连接及固定是否牢靠</a:t>
            </a:r>
            <a:endParaRPr sz="1300">
              <a:latin typeface="Microsoft YaHei"/>
              <a:cs typeface="Microsoft YaHei"/>
            </a:endParaRPr>
          </a:p>
          <a:p>
            <a:pPr marL="309880" indent="-285750">
              <a:lnSpc>
                <a:spcPct val="100000"/>
              </a:lnSpc>
              <a:spcBef>
                <a:spcPts val="780"/>
              </a:spcBef>
              <a:buFont typeface="Wingdings"/>
              <a:buChar char=""/>
              <a:tabLst>
                <a:tab pos="309880" algn="l"/>
              </a:tabLst>
            </a:pPr>
            <a:r>
              <a:rPr dirty="0" sz="1300" spc="-15">
                <a:latin typeface="Microsoft YaHei"/>
                <a:cs typeface="Microsoft YaHei"/>
              </a:rPr>
              <a:t>检查光缆接口与扇区对应关系，确认无误。</a:t>
            </a:r>
            <a:endParaRPr sz="1300">
              <a:latin typeface="Microsoft YaHei"/>
              <a:cs typeface="Microsoft YaHei"/>
            </a:endParaRPr>
          </a:p>
          <a:p>
            <a:pPr marL="309880" indent="-285750">
              <a:lnSpc>
                <a:spcPct val="100000"/>
              </a:lnSpc>
              <a:spcBef>
                <a:spcPts val="780"/>
              </a:spcBef>
              <a:buFont typeface="Wingdings"/>
              <a:buChar char=""/>
              <a:tabLst>
                <a:tab pos="309880" algn="l"/>
              </a:tabLst>
            </a:pPr>
            <a:r>
              <a:rPr dirty="0" sz="1300" spc="-15">
                <a:latin typeface="Microsoft YaHei"/>
                <a:cs typeface="Microsoft YaHei"/>
              </a:rPr>
              <a:t>确认所有空开状态是否正确，施工过程中无误操作。</a:t>
            </a:r>
            <a:endParaRPr sz="1300">
              <a:latin typeface="Microsoft YaHei"/>
              <a:cs typeface="Microsoft YaHei"/>
            </a:endParaRPr>
          </a:p>
          <a:p>
            <a:pPr marL="309880" indent="-285750">
              <a:lnSpc>
                <a:spcPct val="100000"/>
              </a:lnSpc>
              <a:spcBef>
                <a:spcPts val="780"/>
              </a:spcBef>
              <a:buFont typeface="Wingdings"/>
              <a:buChar char=""/>
              <a:tabLst>
                <a:tab pos="309880" algn="l"/>
              </a:tabLst>
            </a:pPr>
            <a:r>
              <a:rPr dirty="0" sz="1300" spc="-10">
                <a:latin typeface="Microsoft YaHei"/>
                <a:cs typeface="Microsoft YaHei"/>
              </a:rPr>
              <a:t>地线连接是否正确、接触牢靠。</a:t>
            </a:r>
            <a:endParaRPr sz="1300">
              <a:latin typeface="Microsoft YaHei"/>
              <a:cs typeface="Microsoft YaHei"/>
            </a:endParaRPr>
          </a:p>
          <a:p>
            <a:pPr marL="309880" indent="-285750">
              <a:lnSpc>
                <a:spcPct val="100000"/>
              </a:lnSpc>
              <a:spcBef>
                <a:spcPts val="780"/>
              </a:spcBef>
              <a:buFont typeface="Wingdings"/>
              <a:buChar char=""/>
              <a:tabLst>
                <a:tab pos="309880" algn="l"/>
              </a:tabLst>
            </a:pPr>
            <a:r>
              <a:rPr dirty="0" sz="1300" spc="-15">
                <a:latin typeface="Microsoft YaHei"/>
                <a:cs typeface="Microsoft YaHei"/>
              </a:rPr>
              <a:t>布线是否整齐、电缆绑扎是否符合工艺要求</a:t>
            </a:r>
            <a:endParaRPr sz="1300">
              <a:latin typeface="Microsoft YaHei"/>
              <a:cs typeface="Microsoft YaHei"/>
            </a:endParaRPr>
          </a:p>
        </p:txBody>
      </p:sp>
      <p:pic>
        <p:nvPicPr>
          <p:cNvPr id="4" name="object 4"/>
          <p:cNvPicPr/>
          <p:nvPr/>
        </p:nvPicPr>
        <p:blipFill>
          <a:blip r:embed="rId2" cstate="print"/>
          <a:stretch>
            <a:fillRect/>
          </a:stretch>
        </p:blipFill>
        <p:spPr>
          <a:xfrm>
            <a:off x="5946609" y="2592743"/>
            <a:ext cx="2009766" cy="2476492"/>
          </a:xfrm>
          <a:prstGeom prst="rect">
            <a:avLst/>
          </a:prstGeom>
        </p:spPr>
      </p:pic>
      <p:pic>
        <p:nvPicPr>
          <p:cNvPr id="5" name="object 5"/>
          <p:cNvPicPr/>
          <p:nvPr/>
        </p:nvPicPr>
        <p:blipFill>
          <a:blip r:embed="rId3" cstate="print"/>
          <a:stretch>
            <a:fillRect/>
          </a:stretch>
        </p:blipFill>
        <p:spPr>
          <a:xfrm>
            <a:off x="4267200" y="819150"/>
            <a:ext cx="4668121" cy="1711020"/>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3581401" y="895350"/>
            <a:ext cx="0" cy="3962400"/>
          </a:xfrm>
          <a:custGeom>
            <a:avLst/>
            <a:gdLst/>
            <a:ahLst/>
            <a:cxnLst/>
            <a:rect l="l" t="t" r="r" b="b"/>
            <a:pathLst>
              <a:path w="0" h="3962400">
                <a:moveTo>
                  <a:pt x="0" y="0"/>
                </a:moveTo>
                <a:lnTo>
                  <a:pt x="0" y="3962400"/>
                </a:lnTo>
              </a:path>
            </a:pathLst>
          </a:custGeom>
          <a:ln w="34925">
            <a:solidFill>
              <a:srgbClr val="000000"/>
            </a:solidFill>
          </a:ln>
        </p:spPr>
        <p:txBody>
          <a:bodyPr wrap="square" lIns="0" tIns="0" rIns="0" bIns="0" rtlCol="0"/>
          <a:lstStyle/>
          <a:p/>
        </p:txBody>
      </p:sp>
      <p:grpSp>
        <p:nvGrpSpPr>
          <p:cNvPr id="3" name="object 3" descr=""/>
          <p:cNvGrpSpPr/>
          <p:nvPr/>
        </p:nvGrpSpPr>
        <p:grpSpPr>
          <a:xfrm>
            <a:off x="3803650" y="1574801"/>
            <a:ext cx="5118100" cy="498475"/>
            <a:chOff x="3803650" y="1574801"/>
            <a:chExt cx="5118100" cy="498475"/>
          </a:xfrm>
        </p:grpSpPr>
        <p:pic>
          <p:nvPicPr>
            <p:cNvPr id="4" name="object 4" descr=""/>
            <p:cNvPicPr/>
            <p:nvPr/>
          </p:nvPicPr>
          <p:blipFill>
            <a:blip r:embed="rId2" cstate="print"/>
            <a:stretch>
              <a:fillRect/>
            </a:stretch>
          </p:blipFill>
          <p:spPr>
            <a:xfrm>
              <a:off x="3810000" y="1581151"/>
              <a:ext cx="5105400" cy="485775"/>
            </a:xfrm>
            <a:prstGeom prst="rect">
              <a:avLst/>
            </a:prstGeom>
          </p:spPr>
        </p:pic>
        <p:sp>
          <p:nvSpPr>
            <p:cNvPr id="5" name="object 5" descr=""/>
            <p:cNvSpPr/>
            <p:nvPr/>
          </p:nvSpPr>
          <p:spPr>
            <a:xfrm>
              <a:off x="3810000" y="1581151"/>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6" name="object 6" descr=""/>
          <p:cNvGrpSpPr/>
          <p:nvPr/>
        </p:nvGrpSpPr>
        <p:grpSpPr>
          <a:xfrm>
            <a:off x="3803650" y="2260600"/>
            <a:ext cx="5118100" cy="498475"/>
            <a:chOff x="3803650" y="2260600"/>
            <a:chExt cx="5118100" cy="498475"/>
          </a:xfrm>
        </p:grpSpPr>
        <p:pic>
          <p:nvPicPr>
            <p:cNvPr id="7" name="object 7" descr=""/>
            <p:cNvPicPr/>
            <p:nvPr/>
          </p:nvPicPr>
          <p:blipFill>
            <a:blip r:embed="rId3" cstate="print"/>
            <a:stretch>
              <a:fillRect/>
            </a:stretch>
          </p:blipFill>
          <p:spPr>
            <a:xfrm>
              <a:off x="3810000" y="2266950"/>
              <a:ext cx="5105400" cy="485775"/>
            </a:xfrm>
            <a:prstGeom prst="rect">
              <a:avLst/>
            </a:prstGeom>
          </p:spPr>
        </p:pic>
        <p:sp>
          <p:nvSpPr>
            <p:cNvPr id="8" name="object 8" descr=""/>
            <p:cNvSpPr/>
            <p:nvPr/>
          </p:nvSpPr>
          <p:spPr>
            <a:xfrm>
              <a:off x="3810000" y="2266950"/>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9" name="object 9" descr=""/>
          <p:cNvGrpSpPr/>
          <p:nvPr/>
        </p:nvGrpSpPr>
        <p:grpSpPr>
          <a:xfrm>
            <a:off x="3803650" y="889001"/>
            <a:ext cx="5118100" cy="498475"/>
            <a:chOff x="3803650" y="889001"/>
            <a:chExt cx="5118100" cy="498475"/>
          </a:xfrm>
        </p:grpSpPr>
        <p:pic>
          <p:nvPicPr>
            <p:cNvPr id="10" name="object 10" descr=""/>
            <p:cNvPicPr/>
            <p:nvPr/>
          </p:nvPicPr>
          <p:blipFill>
            <a:blip r:embed="rId4" cstate="print"/>
            <a:stretch>
              <a:fillRect/>
            </a:stretch>
          </p:blipFill>
          <p:spPr>
            <a:xfrm>
              <a:off x="3810000" y="895351"/>
              <a:ext cx="5105400" cy="485775"/>
            </a:xfrm>
            <a:prstGeom prst="rect">
              <a:avLst/>
            </a:prstGeom>
          </p:spPr>
        </p:pic>
        <p:sp>
          <p:nvSpPr>
            <p:cNvPr id="11" name="object 11" descr=""/>
            <p:cNvSpPr/>
            <p:nvPr/>
          </p:nvSpPr>
          <p:spPr>
            <a:xfrm>
              <a:off x="3810000" y="895351"/>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12" name="object 12"/>
          <p:cNvSpPr txBox="1">
            <a:spLocks noGrp="1"/>
          </p:cNvSpPr>
          <p:nvPr>
            <p:ph type="title"/>
          </p:nvPr>
        </p:nvSpPr>
        <p:spPr>
          <a:xfrm>
            <a:off x="3022219" y="39229"/>
            <a:ext cx="3098800" cy="695960"/>
          </a:xfrm>
          <a:prstGeom prst="rect"/>
        </p:spPr>
        <p:txBody>
          <a:bodyPr wrap="square" lIns="0" tIns="12065" rIns="0" bIns="0" rtlCol="0" vert="horz">
            <a:spAutoFit/>
          </a:bodyPr>
          <a:lstStyle/>
          <a:p>
            <a:pPr marL="12700">
              <a:lnSpc>
                <a:spcPct val="100000"/>
              </a:lnSpc>
              <a:spcBef>
                <a:spcPts val="95"/>
              </a:spcBef>
              <a:tabLst>
                <a:tab pos="850265" algn="l"/>
                <a:tab pos="1688464" algn="l"/>
                <a:tab pos="2526665" algn="l"/>
              </a:tabLst>
            </a:pPr>
            <a:r>
              <a:rPr dirty="0" sz="4400" spc="-50"/>
              <a:t>主</a:t>
            </a:r>
            <a:r>
              <a:rPr dirty="0" sz="4400"/>
              <a:t>	</a:t>
            </a:r>
            <a:r>
              <a:rPr dirty="0" sz="4400" spc="-50"/>
              <a:t>要</a:t>
            </a:r>
            <a:r>
              <a:rPr dirty="0" sz="4400"/>
              <a:t>	</a:t>
            </a:r>
            <a:r>
              <a:rPr dirty="0" sz="4400" spc="-50"/>
              <a:t>内</a:t>
            </a:r>
            <a:r>
              <a:rPr dirty="0" sz="4400"/>
              <a:t>	</a:t>
            </a:r>
            <a:r>
              <a:rPr dirty="0" sz="4400" spc="-50"/>
              <a:t>容</a:t>
            </a:r>
            <a:endParaRPr sz="4400"/>
          </a:p>
        </p:txBody>
      </p:sp>
      <p:grpSp>
        <p:nvGrpSpPr>
          <p:cNvPr id="13" name="object 13" descr=""/>
          <p:cNvGrpSpPr/>
          <p:nvPr/>
        </p:nvGrpSpPr>
        <p:grpSpPr>
          <a:xfrm>
            <a:off x="3803650" y="2946400"/>
            <a:ext cx="5118100" cy="498475"/>
            <a:chOff x="3803650" y="2946400"/>
            <a:chExt cx="5118100" cy="498475"/>
          </a:xfrm>
        </p:grpSpPr>
        <p:pic>
          <p:nvPicPr>
            <p:cNvPr id="14" name="object 14" descr=""/>
            <p:cNvPicPr/>
            <p:nvPr/>
          </p:nvPicPr>
          <p:blipFill>
            <a:blip r:embed="rId5" cstate="print"/>
            <a:stretch>
              <a:fillRect/>
            </a:stretch>
          </p:blipFill>
          <p:spPr>
            <a:xfrm>
              <a:off x="3810000" y="2952750"/>
              <a:ext cx="5105400" cy="485775"/>
            </a:xfrm>
            <a:prstGeom prst="rect">
              <a:avLst/>
            </a:prstGeom>
          </p:spPr>
        </p:pic>
        <p:sp>
          <p:nvSpPr>
            <p:cNvPr id="15" name="object 15" descr=""/>
            <p:cNvSpPr/>
            <p:nvPr/>
          </p:nvSpPr>
          <p:spPr>
            <a:xfrm>
              <a:off x="3810000" y="2952750"/>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pic>
        <p:nvPicPr>
          <p:cNvPr id="16" name="object 16"/>
          <p:cNvPicPr/>
          <p:nvPr/>
        </p:nvPicPr>
        <p:blipFill>
          <a:blip r:embed="rId6" cstate="print"/>
          <a:stretch>
            <a:fillRect/>
          </a:stretch>
        </p:blipFill>
        <p:spPr>
          <a:xfrm>
            <a:off x="152400" y="895350"/>
            <a:ext cx="3276599" cy="3962399"/>
          </a:xfrm>
          <a:prstGeom prst="rect">
            <a:avLst/>
          </a:prstGeom>
        </p:spPr>
      </p:pic>
      <p:grpSp>
        <p:nvGrpSpPr>
          <p:cNvPr id="17" name="object 17" descr=""/>
          <p:cNvGrpSpPr/>
          <p:nvPr/>
        </p:nvGrpSpPr>
        <p:grpSpPr>
          <a:xfrm>
            <a:off x="3803650" y="3632200"/>
            <a:ext cx="5118100" cy="498475"/>
            <a:chOff x="3803650" y="3632200"/>
            <a:chExt cx="5118100" cy="498475"/>
          </a:xfrm>
        </p:grpSpPr>
        <p:pic>
          <p:nvPicPr>
            <p:cNvPr id="18" name="object 18" descr=""/>
            <p:cNvPicPr/>
            <p:nvPr/>
          </p:nvPicPr>
          <p:blipFill>
            <a:blip r:embed="rId5" cstate="print"/>
            <a:stretch>
              <a:fillRect/>
            </a:stretch>
          </p:blipFill>
          <p:spPr>
            <a:xfrm>
              <a:off x="3810000" y="3638550"/>
              <a:ext cx="5105400" cy="485775"/>
            </a:xfrm>
            <a:prstGeom prst="rect">
              <a:avLst/>
            </a:prstGeom>
          </p:spPr>
        </p:pic>
        <p:sp>
          <p:nvSpPr>
            <p:cNvPr id="19" name="object 19" descr=""/>
            <p:cNvSpPr/>
            <p:nvPr/>
          </p:nvSpPr>
          <p:spPr>
            <a:xfrm>
              <a:off x="3810000" y="3638550"/>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20" name="object 20" descr=""/>
          <p:cNvGrpSpPr/>
          <p:nvPr/>
        </p:nvGrpSpPr>
        <p:grpSpPr>
          <a:xfrm>
            <a:off x="3803650" y="4318000"/>
            <a:ext cx="5118100" cy="498475"/>
            <a:chOff x="3803650" y="4318000"/>
            <a:chExt cx="5118100" cy="498475"/>
          </a:xfrm>
        </p:grpSpPr>
        <p:pic>
          <p:nvPicPr>
            <p:cNvPr id="21" name="object 21" descr=""/>
            <p:cNvPicPr/>
            <p:nvPr/>
          </p:nvPicPr>
          <p:blipFill>
            <a:blip r:embed="rId5" cstate="print"/>
            <a:stretch>
              <a:fillRect/>
            </a:stretch>
          </p:blipFill>
          <p:spPr>
            <a:xfrm>
              <a:off x="3810000" y="4324350"/>
              <a:ext cx="5105400" cy="485775"/>
            </a:xfrm>
            <a:prstGeom prst="rect">
              <a:avLst/>
            </a:prstGeom>
          </p:spPr>
        </p:pic>
        <p:sp>
          <p:nvSpPr>
            <p:cNvPr id="22" name="object 22" descr=""/>
            <p:cNvSpPr/>
            <p:nvPr/>
          </p:nvSpPr>
          <p:spPr>
            <a:xfrm>
              <a:off x="3810000" y="4324350"/>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23" name="object 23" descr=""/>
          <p:cNvSpPr txBox="1"/>
          <p:nvPr/>
        </p:nvSpPr>
        <p:spPr>
          <a:xfrm>
            <a:off x="3912453" y="931989"/>
            <a:ext cx="4716145" cy="3820160"/>
          </a:xfrm>
          <a:prstGeom prst="rect">
            <a:avLst/>
          </a:prstGeom>
        </p:spPr>
        <p:txBody>
          <a:bodyPr wrap="square" lIns="0" tIns="12700" rIns="0" bIns="0" rtlCol="0" vert="horz">
            <a:spAutoFit/>
          </a:bodyPr>
          <a:lstStyle/>
          <a:p>
            <a:pPr marL="12700">
              <a:lnSpc>
                <a:spcPct val="100000"/>
              </a:lnSpc>
              <a:spcBef>
                <a:spcPts val="100"/>
              </a:spcBef>
            </a:pPr>
            <a:r>
              <a:rPr dirty="0" sz="2400">
                <a:latin typeface="Microsoft YaHei"/>
                <a:cs typeface="Microsoft YaHei"/>
              </a:rPr>
              <a:t>一、</a:t>
            </a:r>
            <a:r>
              <a:rPr dirty="0" sz="2400" spc="-20">
                <a:latin typeface="Times New Roman"/>
                <a:cs typeface="Times New Roman"/>
              </a:rPr>
              <a:t>5G</a:t>
            </a:r>
            <a:r>
              <a:rPr dirty="0" sz="2400">
                <a:latin typeface="Microsoft YaHei"/>
                <a:cs typeface="Microsoft YaHei"/>
              </a:rPr>
              <a:t>系统基站</a:t>
            </a:r>
            <a:r>
              <a:rPr dirty="0" sz="2400" spc="-10">
                <a:latin typeface="Times New Roman"/>
                <a:cs typeface="Times New Roman"/>
              </a:rPr>
              <a:t>BBU</a:t>
            </a:r>
            <a:r>
              <a:rPr dirty="0" sz="2400" spc="-10">
                <a:latin typeface="Microsoft YaHei"/>
                <a:cs typeface="Microsoft YaHei"/>
              </a:rPr>
              <a:t>安装工程规范</a:t>
            </a:r>
            <a:endParaRPr sz="2400">
              <a:latin typeface="Microsoft YaHei"/>
              <a:cs typeface="Microsoft YaHei"/>
            </a:endParaRPr>
          </a:p>
          <a:p>
            <a:pPr algn="just" marL="12700" marR="5080">
              <a:lnSpc>
                <a:spcPct val="187500"/>
              </a:lnSpc>
            </a:pPr>
            <a:r>
              <a:rPr dirty="0" sz="2400">
                <a:latin typeface="Microsoft YaHei"/>
                <a:cs typeface="Microsoft YaHei"/>
              </a:rPr>
              <a:t>二、</a:t>
            </a:r>
            <a:r>
              <a:rPr dirty="0" sz="2400" spc="-20">
                <a:latin typeface="Times New Roman"/>
                <a:cs typeface="Times New Roman"/>
              </a:rPr>
              <a:t>5G</a:t>
            </a:r>
            <a:r>
              <a:rPr dirty="0" sz="2400">
                <a:latin typeface="Microsoft YaHei"/>
                <a:cs typeface="Microsoft YaHei"/>
              </a:rPr>
              <a:t>系统基站</a:t>
            </a:r>
            <a:r>
              <a:rPr dirty="0" sz="2400" spc="-25">
                <a:latin typeface="Times New Roman"/>
                <a:cs typeface="Times New Roman"/>
              </a:rPr>
              <a:t>AAU</a:t>
            </a:r>
            <a:r>
              <a:rPr dirty="0" sz="2400" spc="-10">
                <a:latin typeface="Microsoft YaHei"/>
                <a:cs typeface="Microsoft YaHei"/>
              </a:rPr>
              <a:t>安装工程规范</a:t>
            </a:r>
            <a:r>
              <a:rPr dirty="0" sz="2400">
                <a:latin typeface="Microsoft YaHei"/>
                <a:cs typeface="Microsoft YaHei"/>
              </a:rPr>
              <a:t>三、</a:t>
            </a:r>
            <a:r>
              <a:rPr dirty="0" sz="2400" spc="-20">
                <a:latin typeface="Times New Roman"/>
                <a:cs typeface="Times New Roman"/>
              </a:rPr>
              <a:t>5G</a:t>
            </a:r>
            <a:r>
              <a:rPr dirty="0" sz="2400" spc="-5">
                <a:latin typeface="Microsoft YaHei"/>
                <a:cs typeface="Microsoft YaHei"/>
              </a:rPr>
              <a:t>系统基站安装配套工程规范</a:t>
            </a:r>
            <a:r>
              <a:rPr dirty="0" sz="2400">
                <a:latin typeface="Microsoft YaHei"/>
                <a:cs typeface="Microsoft YaHei"/>
              </a:rPr>
              <a:t>四、</a:t>
            </a:r>
            <a:r>
              <a:rPr dirty="0" sz="2400" spc="-20">
                <a:latin typeface="Times New Roman"/>
                <a:cs typeface="Times New Roman"/>
              </a:rPr>
              <a:t>5G</a:t>
            </a:r>
            <a:r>
              <a:rPr dirty="0" sz="2400" spc="-5">
                <a:latin typeface="Microsoft YaHei"/>
                <a:cs typeface="Microsoft YaHei"/>
              </a:rPr>
              <a:t>系统基站线缆安装工程规范</a:t>
            </a:r>
            <a:r>
              <a:rPr dirty="0" sz="2400" b="1">
                <a:solidFill>
                  <a:srgbClr val="FF0000"/>
                </a:solidFill>
                <a:latin typeface="Microsoft YaHei"/>
                <a:cs typeface="Microsoft YaHei"/>
              </a:rPr>
              <a:t>五、</a:t>
            </a:r>
            <a:r>
              <a:rPr dirty="0" sz="2400" b="1">
                <a:solidFill>
                  <a:srgbClr val="FF0000"/>
                </a:solidFill>
                <a:latin typeface="Times New Roman"/>
                <a:cs typeface="Times New Roman"/>
              </a:rPr>
              <a:t>5G</a:t>
            </a:r>
            <a:r>
              <a:rPr dirty="0" sz="2400" spc="-5" b="1">
                <a:solidFill>
                  <a:srgbClr val="FF0000"/>
                </a:solidFill>
                <a:latin typeface="Microsoft YaHei"/>
                <a:cs typeface="Microsoft YaHei"/>
              </a:rPr>
              <a:t>系统基站安装常见问题分析</a:t>
            </a:r>
            <a:r>
              <a:rPr dirty="0" sz="2400">
                <a:latin typeface="Microsoft YaHei"/>
                <a:cs typeface="Microsoft YaHei"/>
              </a:rPr>
              <a:t>六、</a:t>
            </a:r>
            <a:r>
              <a:rPr dirty="0" sz="2400" spc="-20">
                <a:latin typeface="Times New Roman"/>
                <a:cs typeface="Times New Roman"/>
              </a:rPr>
              <a:t>5G</a:t>
            </a:r>
            <a:r>
              <a:rPr dirty="0" sz="2400" spc="-5">
                <a:latin typeface="Microsoft YaHei"/>
                <a:cs typeface="Microsoft YaHei"/>
              </a:rPr>
              <a:t>系统基站开通调测性能测试</a:t>
            </a:r>
            <a:endParaRPr sz="2400">
              <a:latin typeface="Microsoft YaHei"/>
              <a:cs typeface="Microsoft YaHei"/>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84557" y="158369"/>
            <a:ext cx="3279140" cy="513080"/>
          </a:xfrm>
          <a:prstGeom prst="rect"/>
        </p:spPr>
        <p:txBody>
          <a:bodyPr wrap="square" lIns="0" tIns="12065" rIns="0" bIns="0" rtlCol="0" vert="horz">
            <a:spAutoFit/>
          </a:bodyPr>
          <a:lstStyle/>
          <a:p>
            <a:pPr marL="12700">
              <a:lnSpc>
                <a:spcPct val="100000"/>
              </a:lnSpc>
              <a:spcBef>
                <a:spcPts val="95"/>
              </a:spcBef>
            </a:pPr>
            <a:r>
              <a:rPr dirty="0" spc="-45"/>
              <a:t>安装过程中的问题</a:t>
            </a:r>
          </a:p>
        </p:txBody>
      </p:sp>
      <p:sp>
        <p:nvSpPr>
          <p:cNvPr id="3" name="object 3" descr=""/>
          <p:cNvSpPr txBox="1"/>
          <p:nvPr/>
        </p:nvSpPr>
        <p:spPr>
          <a:xfrm>
            <a:off x="474276" y="1130270"/>
            <a:ext cx="7053580" cy="3317875"/>
          </a:xfrm>
          <a:prstGeom prst="rect">
            <a:avLst/>
          </a:prstGeom>
        </p:spPr>
        <p:txBody>
          <a:bodyPr wrap="square" lIns="0" tIns="134620" rIns="0" bIns="0" rtlCol="0" vert="horz">
            <a:spAutoFit/>
          </a:bodyPr>
          <a:lstStyle/>
          <a:p>
            <a:pPr marL="12700">
              <a:lnSpc>
                <a:spcPct val="100000"/>
              </a:lnSpc>
              <a:spcBef>
                <a:spcPts val="1060"/>
              </a:spcBef>
            </a:pPr>
            <a:r>
              <a:rPr dirty="0" sz="1600" spc="-10">
                <a:latin typeface="SimSun"/>
                <a:cs typeface="SimSun"/>
              </a:rPr>
              <a:t>安装、制作过程中出现的问题：</a:t>
            </a:r>
            <a:endParaRPr sz="1600">
              <a:latin typeface="SimSun"/>
              <a:cs typeface="SimSun"/>
            </a:endParaRPr>
          </a:p>
          <a:p>
            <a:pPr marL="297815" indent="-285115">
              <a:lnSpc>
                <a:spcPct val="100000"/>
              </a:lnSpc>
              <a:spcBef>
                <a:spcPts val="960"/>
              </a:spcBef>
              <a:buFont typeface="Wingdings"/>
              <a:buChar char=""/>
              <a:tabLst>
                <a:tab pos="297815" algn="l"/>
              </a:tabLst>
            </a:pPr>
            <a:r>
              <a:rPr dirty="0" sz="1600" spc="-10">
                <a:latin typeface="Times New Roman"/>
                <a:cs typeface="Times New Roman"/>
              </a:rPr>
              <a:t>DCPD</a:t>
            </a:r>
            <a:r>
              <a:rPr dirty="0" sz="1600" spc="-10">
                <a:latin typeface="SimSun"/>
                <a:cs typeface="SimSun"/>
              </a:rPr>
              <a:t>输出端铜鼻子装反</a:t>
            </a:r>
            <a:r>
              <a:rPr dirty="0" sz="1600" spc="-50">
                <a:latin typeface="Times New Roman"/>
                <a:cs typeface="Times New Roman"/>
              </a:rPr>
              <a:t>;</a:t>
            </a:r>
            <a:endParaRPr sz="1600">
              <a:latin typeface="Times New Roman"/>
              <a:cs typeface="Times New Roman"/>
            </a:endParaRPr>
          </a:p>
          <a:p>
            <a:pPr marL="298450" indent="-285750">
              <a:lnSpc>
                <a:spcPct val="100000"/>
              </a:lnSpc>
              <a:spcBef>
                <a:spcPts val="960"/>
              </a:spcBef>
              <a:buFont typeface="Wingdings"/>
              <a:buChar char=""/>
              <a:tabLst>
                <a:tab pos="298450" algn="l"/>
              </a:tabLst>
            </a:pPr>
            <a:r>
              <a:rPr dirty="0" sz="1600" spc="-10">
                <a:latin typeface="Times New Roman"/>
                <a:cs typeface="Times New Roman"/>
              </a:rPr>
              <a:t>AAU</a:t>
            </a:r>
            <a:r>
              <a:rPr dirty="0" sz="1600" spc="-10">
                <a:latin typeface="SimSun"/>
                <a:cs typeface="SimSun"/>
              </a:rPr>
              <a:t>可调背架双螺母固定问题</a:t>
            </a:r>
            <a:r>
              <a:rPr dirty="0" sz="1600" spc="-50">
                <a:latin typeface="Times New Roman"/>
                <a:cs typeface="Times New Roman"/>
              </a:rPr>
              <a:t>;</a:t>
            </a:r>
            <a:endParaRPr sz="1600">
              <a:latin typeface="Times New Roman"/>
              <a:cs typeface="Times New Roman"/>
            </a:endParaRPr>
          </a:p>
          <a:p>
            <a:pPr marL="298450" indent="-285750">
              <a:lnSpc>
                <a:spcPct val="100000"/>
              </a:lnSpc>
              <a:spcBef>
                <a:spcPts val="960"/>
              </a:spcBef>
              <a:buFont typeface="Wingdings"/>
              <a:buChar char=""/>
              <a:tabLst>
                <a:tab pos="298450" algn="l"/>
              </a:tabLst>
            </a:pPr>
            <a:r>
              <a:rPr dirty="0" sz="1600" spc="-10">
                <a:latin typeface="Times New Roman"/>
                <a:cs typeface="Times New Roman"/>
              </a:rPr>
              <a:t>AAU</a:t>
            </a:r>
            <a:r>
              <a:rPr dirty="0" sz="1600" spc="-10">
                <a:latin typeface="SimSun"/>
                <a:cs typeface="SimSun"/>
              </a:rPr>
              <a:t>线缆绑扎未预留调整下倾角、方位角空间</a:t>
            </a:r>
            <a:r>
              <a:rPr dirty="0" sz="1600" spc="-50">
                <a:latin typeface="Times New Roman"/>
                <a:cs typeface="Times New Roman"/>
              </a:rPr>
              <a:t>;</a:t>
            </a:r>
            <a:endParaRPr sz="1600">
              <a:latin typeface="Times New Roman"/>
              <a:cs typeface="Times New Roman"/>
            </a:endParaRPr>
          </a:p>
          <a:p>
            <a:pPr marL="298450" indent="-285750">
              <a:lnSpc>
                <a:spcPct val="100000"/>
              </a:lnSpc>
              <a:spcBef>
                <a:spcPts val="960"/>
              </a:spcBef>
              <a:buFont typeface="Wingdings"/>
              <a:buChar char=""/>
              <a:tabLst>
                <a:tab pos="298450" algn="l"/>
              </a:tabLst>
            </a:pPr>
            <a:r>
              <a:rPr dirty="0" sz="1600">
                <a:latin typeface="Times New Roman"/>
                <a:cs typeface="Times New Roman"/>
              </a:rPr>
              <a:t>GPS</a:t>
            </a:r>
            <a:r>
              <a:rPr dirty="0" sz="1600" spc="-20">
                <a:latin typeface="Times New Roman"/>
                <a:cs typeface="Times New Roman"/>
              </a:rPr>
              <a:t> /</a:t>
            </a:r>
            <a:r>
              <a:rPr dirty="0" sz="1600">
                <a:latin typeface="SimSun"/>
                <a:cs typeface="SimSun"/>
              </a:rPr>
              <a:t>北斗安装位置</a:t>
            </a:r>
            <a:r>
              <a:rPr dirty="0" sz="1600" spc="-50">
                <a:latin typeface="Times New Roman"/>
                <a:cs typeface="Times New Roman"/>
              </a:rPr>
              <a:t>;</a:t>
            </a:r>
            <a:endParaRPr sz="1600">
              <a:latin typeface="Times New Roman"/>
              <a:cs typeface="Times New Roman"/>
            </a:endParaRPr>
          </a:p>
          <a:p>
            <a:pPr marL="298450" indent="-285750">
              <a:lnSpc>
                <a:spcPct val="100000"/>
              </a:lnSpc>
              <a:spcBef>
                <a:spcPts val="960"/>
              </a:spcBef>
              <a:buFont typeface="Wingdings"/>
              <a:buChar char=""/>
              <a:tabLst>
                <a:tab pos="298450" algn="l"/>
              </a:tabLst>
            </a:pPr>
            <a:r>
              <a:rPr dirty="0" sz="1600">
                <a:latin typeface="SimSun"/>
                <a:cs typeface="SimSun"/>
              </a:rPr>
              <a:t>避雷器安装位置</a:t>
            </a:r>
            <a:r>
              <a:rPr dirty="0" sz="1600" spc="-50">
                <a:latin typeface="Times New Roman"/>
                <a:cs typeface="Times New Roman"/>
              </a:rPr>
              <a:t>;</a:t>
            </a:r>
            <a:endParaRPr sz="1600">
              <a:latin typeface="Times New Roman"/>
              <a:cs typeface="Times New Roman"/>
            </a:endParaRPr>
          </a:p>
          <a:p>
            <a:pPr marL="298450" marR="5080" indent="-286385">
              <a:lnSpc>
                <a:spcPct val="150000"/>
              </a:lnSpc>
              <a:buFont typeface="Wingdings"/>
              <a:buChar char=""/>
              <a:tabLst>
                <a:tab pos="298450" algn="l"/>
              </a:tabLst>
            </a:pPr>
            <a:r>
              <a:rPr dirty="0" sz="1600">
                <a:latin typeface="SimSun"/>
                <a:cs typeface="SimSun"/>
              </a:rPr>
              <a:t>选用</a:t>
            </a:r>
            <a:r>
              <a:rPr dirty="0" sz="1600" spc="-10">
                <a:latin typeface="Times New Roman"/>
                <a:cs typeface="Times New Roman"/>
              </a:rPr>
              <a:t>2*16mm2</a:t>
            </a:r>
            <a:r>
              <a:rPr dirty="0" sz="1600" spc="-10">
                <a:latin typeface="SimSun"/>
                <a:cs typeface="SimSun"/>
              </a:rPr>
              <a:t>电源线，未使用</a:t>
            </a:r>
            <a:r>
              <a:rPr dirty="0" sz="1600" spc="-10">
                <a:latin typeface="Times New Roman"/>
                <a:cs typeface="Times New Roman"/>
              </a:rPr>
              <a:t>OCB</a:t>
            </a:r>
            <a:r>
              <a:rPr dirty="0" sz="1600" spc="-5">
                <a:latin typeface="SimSun"/>
                <a:cs typeface="SimSun"/>
              </a:rPr>
              <a:t>转接</a:t>
            </a:r>
            <a:r>
              <a:rPr dirty="0" sz="1600" spc="-10">
                <a:latin typeface="Times New Roman"/>
                <a:cs typeface="Times New Roman"/>
              </a:rPr>
              <a:t>2*10mm2</a:t>
            </a:r>
            <a:r>
              <a:rPr dirty="0" sz="1600" spc="-15">
                <a:latin typeface="SimSun"/>
                <a:cs typeface="SimSun"/>
              </a:rPr>
              <a:t>，将电源线部分线芯剪除，</a:t>
            </a:r>
            <a:r>
              <a:rPr dirty="0" sz="1600">
                <a:latin typeface="SimSun"/>
                <a:cs typeface="SimSun"/>
              </a:rPr>
              <a:t>并强行装入</a:t>
            </a:r>
            <a:r>
              <a:rPr dirty="0" sz="1600" spc="-10">
                <a:latin typeface="Times New Roman"/>
                <a:cs typeface="Times New Roman"/>
              </a:rPr>
              <a:t>AAU</a:t>
            </a:r>
            <a:r>
              <a:rPr dirty="0" sz="1600" spc="-5">
                <a:latin typeface="SimSun"/>
                <a:cs typeface="SimSun"/>
              </a:rPr>
              <a:t>电源连接器</a:t>
            </a:r>
            <a:r>
              <a:rPr dirty="0" sz="1600" spc="-50">
                <a:latin typeface="Times New Roman"/>
                <a:cs typeface="Times New Roman"/>
              </a:rPr>
              <a:t>;</a:t>
            </a:r>
            <a:endParaRPr sz="1600">
              <a:latin typeface="Times New Roman"/>
              <a:cs typeface="Times New Roman"/>
            </a:endParaRPr>
          </a:p>
          <a:p>
            <a:pPr marL="298450" indent="-285750">
              <a:lnSpc>
                <a:spcPct val="100000"/>
              </a:lnSpc>
              <a:spcBef>
                <a:spcPts val="960"/>
              </a:spcBef>
              <a:buFont typeface="Wingdings"/>
              <a:buChar char=""/>
              <a:tabLst>
                <a:tab pos="298450" algn="l"/>
              </a:tabLst>
            </a:pPr>
            <a:r>
              <a:rPr dirty="0" sz="1600">
                <a:latin typeface="SimSun"/>
                <a:cs typeface="SimSun"/>
              </a:rPr>
              <a:t>制作</a:t>
            </a:r>
            <a:r>
              <a:rPr dirty="0" sz="1600" spc="-10">
                <a:latin typeface="Times New Roman"/>
                <a:cs typeface="Times New Roman"/>
              </a:rPr>
              <a:t>AAU</a:t>
            </a:r>
            <a:r>
              <a:rPr dirty="0" sz="1600" spc="-15">
                <a:latin typeface="SimSun"/>
                <a:cs typeface="SimSun"/>
              </a:rPr>
              <a:t>电源连接器时，线缆屏蔽层被剪除。</a:t>
            </a:r>
            <a:endParaRPr sz="1600">
              <a:latin typeface="SimSun"/>
              <a:cs typeface="SimSun"/>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30308" y="158369"/>
            <a:ext cx="318897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DCPD</a:t>
            </a:r>
            <a:r>
              <a:rPr dirty="0" spc="-40"/>
              <a:t>铜鼻子装反</a:t>
            </a:r>
          </a:p>
        </p:txBody>
      </p:sp>
      <p:grpSp>
        <p:nvGrpSpPr>
          <p:cNvPr id="3" name="object 3" descr=""/>
          <p:cNvGrpSpPr/>
          <p:nvPr/>
        </p:nvGrpSpPr>
        <p:grpSpPr>
          <a:xfrm>
            <a:off x="957833" y="829817"/>
            <a:ext cx="1437640" cy="1513840"/>
            <a:chOff x="957833" y="829817"/>
            <a:chExt cx="1437640" cy="1513840"/>
          </a:xfrm>
        </p:grpSpPr>
        <p:pic>
          <p:nvPicPr>
            <p:cNvPr id="4" name="object 4"/>
            <p:cNvPicPr/>
            <p:nvPr/>
          </p:nvPicPr>
          <p:blipFill>
            <a:blip r:embed="rId2" cstate="print"/>
            <a:stretch>
              <a:fillRect/>
            </a:stretch>
          </p:blipFill>
          <p:spPr>
            <a:xfrm>
              <a:off x="957833" y="829817"/>
              <a:ext cx="1411223" cy="1487423"/>
            </a:xfrm>
            <a:prstGeom prst="rect">
              <a:avLst/>
            </a:prstGeom>
          </p:spPr>
        </p:pic>
        <p:pic>
          <p:nvPicPr>
            <p:cNvPr id="5" name="object 5" descr=""/>
            <p:cNvPicPr/>
            <p:nvPr/>
          </p:nvPicPr>
          <p:blipFill>
            <a:blip r:embed="rId3" cstate="print"/>
            <a:stretch>
              <a:fillRect/>
            </a:stretch>
          </p:blipFill>
          <p:spPr>
            <a:xfrm>
              <a:off x="971599" y="843557"/>
              <a:ext cx="1423353" cy="1499592"/>
            </a:xfrm>
            <a:prstGeom prst="rect">
              <a:avLst/>
            </a:prstGeom>
          </p:spPr>
        </p:pic>
      </p:grpSp>
      <p:sp>
        <p:nvSpPr>
          <p:cNvPr id="6" name="object 6" descr=""/>
          <p:cNvSpPr txBox="1"/>
          <p:nvPr/>
        </p:nvSpPr>
        <p:spPr>
          <a:xfrm>
            <a:off x="3714635" y="1072865"/>
            <a:ext cx="4070350" cy="904875"/>
          </a:xfrm>
          <a:prstGeom prst="rect">
            <a:avLst/>
          </a:prstGeom>
        </p:spPr>
        <p:txBody>
          <a:bodyPr wrap="square" lIns="0" tIns="78740" rIns="0" bIns="0" rtlCol="0" vert="horz">
            <a:spAutoFit/>
          </a:bodyPr>
          <a:lstStyle/>
          <a:p>
            <a:pPr marL="12700">
              <a:lnSpc>
                <a:spcPct val="100000"/>
              </a:lnSpc>
              <a:spcBef>
                <a:spcPts val="620"/>
              </a:spcBef>
            </a:pPr>
            <a:r>
              <a:rPr dirty="0" sz="1400" spc="-35">
                <a:solidFill>
                  <a:srgbClr val="FF0000"/>
                </a:solidFill>
                <a:latin typeface="SimSun"/>
                <a:cs typeface="SimSun"/>
              </a:rPr>
              <a:t>注意：</a:t>
            </a:r>
            <a:endParaRPr sz="1400">
              <a:latin typeface="SimSun"/>
              <a:cs typeface="SimSun"/>
            </a:endParaRPr>
          </a:p>
          <a:p>
            <a:pPr marL="354965" indent="-342265">
              <a:lnSpc>
                <a:spcPct val="100000"/>
              </a:lnSpc>
              <a:spcBef>
                <a:spcPts val="525"/>
              </a:spcBef>
              <a:buFont typeface="Wingdings"/>
              <a:buChar char=""/>
              <a:tabLst>
                <a:tab pos="354965" algn="l"/>
              </a:tabLst>
            </a:pPr>
            <a:r>
              <a:rPr dirty="0" sz="1400" spc="-20">
                <a:solidFill>
                  <a:srgbClr val="FF0000"/>
                </a:solidFill>
                <a:latin typeface="Arial MT"/>
                <a:cs typeface="Arial MT"/>
              </a:rPr>
              <a:t>DCPD</a:t>
            </a:r>
            <a:r>
              <a:rPr dirty="0" sz="1400" spc="-25">
                <a:solidFill>
                  <a:srgbClr val="FF0000"/>
                </a:solidFill>
                <a:latin typeface="SimSun"/>
                <a:cs typeface="SimSun"/>
              </a:rPr>
              <a:t>电源线安装时，输入输出端分别标有铜鼻</a:t>
            </a:r>
            <a:endParaRPr sz="1400">
              <a:latin typeface="SimSun"/>
              <a:cs typeface="SimSun"/>
            </a:endParaRPr>
          </a:p>
          <a:p>
            <a:pPr marL="355600">
              <a:lnSpc>
                <a:spcPct val="100000"/>
              </a:lnSpc>
              <a:spcBef>
                <a:spcPts val="840"/>
              </a:spcBef>
            </a:pPr>
            <a:r>
              <a:rPr dirty="0" sz="1400" spc="-25">
                <a:solidFill>
                  <a:srgbClr val="FF0000"/>
                </a:solidFill>
                <a:latin typeface="SimSun"/>
                <a:cs typeface="SimSun"/>
              </a:rPr>
              <a:t>子安装指示。</a:t>
            </a:r>
            <a:endParaRPr sz="1400">
              <a:latin typeface="SimSun"/>
              <a:cs typeface="SimSun"/>
            </a:endParaRPr>
          </a:p>
        </p:txBody>
      </p:sp>
      <p:pic>
        <p:nvPicPr>
          <p:cNvPr id="7" name="object 7"/>
          <p:cNvPicPr/>
          <p:nvPr/>
        </p:nvPicPr>
        <p:blipFill>
          <a:blip r:embed="rId4" cstate="print"/>
          <a:stretch>
            <a:fillRect/>
          </a:stretch>
        </p:blipFill>
        <p:spPr>
          <a:xfrm>
            <a:off x="4519142" y="2860954"/>
            <a:ext cx="3845549" cy="2087059"/>
          </a:xfrm>
          <a:prstGeom prst="rect">
            <a:avLst/>
          </a:prstGeom>
        </p:spPr>
      </p:pic>
      <p:pic>
        <p:nvPicPr>
          <p:cNvPr id="8" name="object 8"/>
          <p:cNvPicPr/>
          <p:nvPr/>
        </p:nvPicPr>
        <p:blipFill>
          <a:blip r:embed="rId5" cstate="print"/>
          <a:stretch>
            <a:fillRect/>
          </a:stretch>
        </p:blipFill>
        <p:spPr>
          <a:xfrm>
            <a:off x="273368" y="2841525"/>
            <a:ext cx="3597298" cy="2106482"/>
          </a:xfrm>
          <a:prstGeom prst="rect">
            <a:avLst/>
          </a:prstGeom>
        </p:spPr>
      </p:pic>
      <p:sp>
        <p:nvSpPr>
          <p:cNvPr id="9" name="object 9" descr=""/>
          <p:cNvSpPr txBox="1"/>
          <p:nvPr/>
        </p:nvSpPr>
        <p:spPr>
          <a:xfrm>
            <a:off x="352108" y="2533360"/>
            <a:ext cx="1271905" cy="238760"/>
          </a:xfrm>
          <a:prstGeom prst="rect">
            <a:avLst/>
          </a:prstGeom>
        </p:spPr>
        <p:txBody>
          <a:bodyPr wrap="square" lIns="0" tIns="12065" rIns="0" bIns="0" rtlCol="0" vert="horz">
            <a:spAutoFit/>
          </a:bodyPr>
          <a:lstStyle/>
          <a:p>
            <a:pPr marL="12700">
              <a:lnSpc>
                <a:spcPct val="100000"/>
              </a:lnSpc>
              <a:spcBef>
                <a:spcPts val="95"/>
              </a:spcBef>
            </a:pPr>
            <a:r>
              <a:rPr dirty="0" sz="1400" spc="-20">
                <a:latin typeface="SimSun"/>
                <a:cs typeface="SimSun"/>
              </a:rPr>
              <a:t>铜鼻子安装正常</a:t>
            </a:r>
            <a:endParaRPr sz="1400">
              <a:latin typeface="SimSun"/>
              <a:cs typeface="SimSun"/>
            </a:endParaRPr>
          </a:p>
        </p:txBody>
      </p:sp>
      <p:sp>
        <p:nvSpPr>
          <p:cNvPr id="10" name="object 10" descr=""/>
          <p:cNvSpPr txBox="1"/>
          <p:nvPr/>
        </p:nvSpPr>
        <p:spPr>
          <a:xfrm>
            <a:off x="4579621" y="2527010"/>
            <a:ext cx="1271905" cy="238760"/>
          </a:xfrm>
          <a:prstGeom prst="rect">
            <a:avLst/>
          </a:prstGeom>
        </p:spPr>
        <p:txBody>
          <a:bodyPr wrap="square" lIns="0" tIns="12065" rIns="0" bIns="0" rtlCol="0" vert="horz">
            <a:spAutoFit/>
          </a:bodyPr>
          <a:lstStyle/>
          <a:p>
            <a:pPr marL="12700">
              <a:lnSpc>
                <a:spcPct val="100000"/>
              </a:lnSpc>
              <a:spcBef>
                <a:spcPts val="95"/>
              </a:spcBef>
            </a:pPr>
            <a:r>
              <a:rPr dirty="0" sz="1400" spc="-20">
                <a:latin typeface="SimSun"/>
                <a:cs typeface="SimSun"/>
              </a:rPr>
              <a:t>铜鼻子安装错误</a:t>
            </a:r>
            <a:endParaRPr sz="1400">
              <a:latin typeface="SimSun"/>
              <a:cs typeface="SimSun"/>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51060" y="158369"/>
            <a:ext cx="334772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AAU</a:t>
            </a:r>
            <a:r>
              <a:rPr dirty="0" spc="-40"/>
              <a:t>安装固定问题</a:t>
            </a:r>
          </a:p>
        </p:txBody>
      </p:sp>
      <p:pic>
        <p:nvPicPr>
          <p:cNvPr id="3" name="object 3"/>
          <p:cNvPicPr/>
          <p:nvPr/>
        </p:nvPicPr>
        <p:blipFill>
          <a:blip r:embed="rId2" cstate="print"/>
          <a:stretch>
            <a:fillRect/>
          </a:stretch>
        </p:blipFill>
        <p:spPr>
          <a:xfrm>
            <a:off x="2693047" y="1876187"/>
            <a:ext cx="2180138" cy="2538354"/>
          </a:xfrm>
          <a:prstGeom prst="rect">
            <a:avLst/>
          </a:prstGeom>
        </p:spPr>
      </p:pic>
      <p:pic>
        <p:nvPicPr>
          <p:cNvPr id="4" name="object 4"/>
          <p:cNvPicPr/>
          <p:nvPr/>
        </p:nvPicPr>
        <p:blipFill>
          <a:blip r:embed="rId3" cstate="print"/>
          <a:stretch>
            <a:fillRect/>
          </a:stretch>
        </p:blipFill>
        <p:spPr>
          <a:xfrm>
            <a:off x="107503" y="1483656"/>
            <a:ext cx="2362200" cy="3324225"/>
          </a:xfrm>
          <a:prstGeom prst="rect">
            <a:avLst/>
          </a:prstGeom>
        </p:spPr>
      </p:pic>
      <p:pic>
        <p:nvPicPr>
          <p:cNvPr id="5" name="object 5"/>
          <p:cNvPicPr/>
          <p:nvPr/>
        </p:nvPicPr>
        <p:blipFill>
          <a:blip r:embed="rId4" cstate="print"/>
          <a:stretch>
            <a:fillRect/>
          </a:stretch>
        </p:blipFill>
        <p:spPr>
          <a:xfrm>
            <a:off x="7353160" y="1707222"/>
            <a:ext cx="1755343" cy="2498938"/>
          </a:xfrm>
          <a:prstGeom prst="rect">
            <a:avLst/>
          </a:prstGeom>
        </p:spPr>
      </p:pic>
      <p:pic>
        <p:nvPicPr>
          <p:cNvPr id="6" name="object 6"/>
          <p:cNvPicPr/>
          <p:nvPr/>
        </p:nvPicPr>
        <p:blipFill>
          <a:blip r:embed="rId5" cstate="print"/>
          <a:stretch>
            <a:fillRect/>
          </a:stretch>
        </p:blipFill>
        <p:spPr>
          <a:xfrm>
            <a:off x="5292079" y="1700644"/>
            <a:ext cx="1930842" cy="2505517"/>
          </a:xfrm>
          <a:prstGeom prst="rect">
            <a:avLst/>
          </a:prstGeom>
        </p:spPr>
      </p:pic>
      <p:sp>
        <p:nvSpPr>
          <p:cNvPr id="7" name="object 7" descr=""/>
          <p:cNvSpPr txBox="1"/>
          <p:nvPr/>
        </p:nvSpPr>
        <p:spPr>
          <a:xfrm>
            <a:off x="5370819" y="1149983"/>
            <a:ext cx="3036570" cy="299720"/>
          </a:xfrm>
          <a:prstGeom prst="rect">
            <a:avLst/>
          </a:prstGeom>
        </p:spPr>
        <p:txBody>
          <a:bodyPr wrap="square" lIns="0" tIns="12700" rIns="0" bIns="0" rtlCol="0" vert="horz">
            <a:spAutoFit/>
          </a:bodyPr>
          <a:lstStyle/>
          <a:p>
            <a:pPr marL="12700">
              <a:lnSpc>
                <a:spcPct val="100000"/>
              </a:lnSpc>
              <a:spcBef>
                <a:spcPts val="100"/>
              </a:spcBef>
            </a:pPr>
            <a:r>
              <a:rPr dirty="0" sz="1800" spc="-20">
                <a:latin typeface="Times New Roman"/>
                <a:cs typeface="Times New Roman"/>
              </a:rPr>
              <a:t>AAU</a:t>
            </a:r>
            <a:r>
              <a:rPr dirty="0" sz="1800" spc="-30">
                <a:latin typeface="SimSun"/>
                <a:cs typeface="SimSun"/>
              </a:rPr>
              <a:t>可调背架双螺母固定问题</a:t>
            </a:r>
            <a:endParaRPr sz="1800">
              <a:latin typeface="SimSun"/>
              <a:cs typeface="SimSun"/>
            </a:endParaRPr>
          </a:p>
        </p:txBody>
      </p:sp>
      <p:sp>
        <p:nvSpPr>
          <p:cNvPr id="8" name="object 8" descr=""/>
          <p:cNvSpPr txBox="1"/>
          <p:nvPr/>
        </p:nvSpPr>
        <p:spPr>
          <a:xfrm>
            <a:off x="86730" y="1018309"/>
            <a:ext cx="4636770" cy="299720"/>
          </a:xfrm>
          <a:prstGeom prst="rect">
            <a:avLst/>
          </a:prstGeom>
        </p:spPr>
        <p:txBody>
          <a:bodyPr wrap="square" lIns="0" tIns="12700" rIns="0" bIns="0" rtlCol="0" vert="horz">
            <a:spAutoFit/>
          </a:bodyPr>
          <a:lstStyle/>
          <a:p>
            <a:pPr marL="12700">
              <a:lnSpc>
                <a:spcPct val="100000"/>
              </a:lnSpc>
              <a:spcBef>
                <a:spcPts val="100"/>
              </a:spcBef>
            </a:pPr>
            <a:r>
              <a:rPr dirty="0" sz="1800" spc="-20">
                <a:latin typeface="Times New Roman"/>
                <a:cs typeface="Times New Roman"/>
              </a:rPr>
              <a:t>AAU</a:t>
            </a:r>
            <a:r>
              <a:rPr dirty="0" sz="1800" spc="-30">
                <a:latin typeface="SimSun"/>
                <a:cs typeface="SimSun"/>
              </a:rPr>
              <a:t>线缆绑扎未预留调整下倾角、方位角空间</a:t>
            </a:r>
            <a:endParaRPr sz="1800">
              <a:latin typeface="SimSun"/>
              <a:cs typeface="SimSun"/>
            </a:endParaRPr>
          </a:p>
        </p:txBody>
      </p:sp>
      <p:sp>
        <p:nvSpPr>
          <p:cNvPr id="9" name="object 9" descr=""/>
          <p:cNvSpPr txBox="1"/>
          <p:nvPr/>
        </p:nvSpPr>
        <p:spPr>
          <a:xfrm>
            <a:off x="5336540" y="4265625"/>
            <a:ext cx="2854325" cy="584835"/>
          </a:xfrm>
          <a:prstGeom prst="rect">
            <a:avLst/>
          </a:prstGeom>
        </p:spPr>
        <p:txBody>
          <a:bodyPr wrap="square" lIns="0" tIns="78740" rIns="0" bIns="0" rtlCol="0" vert="horz">
            <a:spAutoFit/>
          </a:bodyPr>
          <a:lstStyle/>
          <a:p>
            <a:pPr marL="12700">
              <a:lnSpc>
                <a:spcPct val="100000"/>
              </a:lnSpc>
              <a:spcBef>
                <a:spcPts val="620"/>
              </a:spcBef>
            </a:pPr>
            <a:r>
              <a:rPr dirty="0" sz="1400" spc="-35">
                <a:solidFill>
                  <a:srgbClr val="FF0000"/>
                </a:solidFill>
                <a:latin typeface="SimSun"/>
                <a:cs typeface="SimSun"/>
              </a:rPr>
              <a:t>注意：</a:t>
            </a:r>
            <a:endParaRPr sz="1400">
              <a:latin typeface="SimSun"/>
              <a:cs typeface="SimSun"/>
            </a:endParaRPr>
          </a:p>
          <a:p>
            <a:pPr marL="354965" indent="-342265">
              <a:lnSpc>
                <a:spcPct val="100000"/>
              </a:lnSpc>
              <a:spcBef>
                <a:spcPts val="525"/>
              </a:spcBef>
              <a:buFont typeface="Wingdings"/>
              <a:buChar char=""/>
              <a:tabLst>
                <a:tab pos="354965" algn="l"/>
              </a:tabLst>
            </a:pPr>
            <a:r>
              <a:rPr dirty="0" sz="1400" spc="-25">
                <a:solidFill>
                  <a:srgbClr val="FF0000"/>
                </a:solidFill>
                <a:latin typeface="SimSun"/>
                <a:cs typeface="SimSun"/>
              </a:rPr>
              <a:t>安装背架必须使用双螺母固定。</a:t>
            </a:r>
            <a:endParaRPr sz="1400">
              <a:latin typeface="SimSun"/>
              <a:cs typeface="SimSun"/>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44778" y="158369"/>
            <a:ext cx="5806440" cy="513080"/>
          </a:xfrm>
          <a:prstGeom prst="rect"/>
        </p:spPr>
        <p:txBody>
          <a:bodyPr wrap="square" lIns="0" tIns="12065" rIns="0" bIns="0" rtlCol="0" vert="horz">
            <a:spAutoFit/>
          </a:bodyPr>
          <a:lstStyle/>
          <a:p>
            <a:pPr marL="12700">
              <a:lnSpc>
                <a:spcPct val="100000"/>
              </a:lnSpc>
              <a:spcBef>
                <a:spcPts val="95"/>
              </a:spcBef>
            </a:pPr>
            <a:r>
              <a:rPr dirty="0" spc="-10">
                <a:latin typeface="Times New Roman"/>
                <a:cs typeface="Times New Roman"/>
              </a:rPr>
              <a:t>GPS/</a:t>
            </a:r>
            <a:r>
              <a:rPr dirty="0" spc="-45"/>
              <a:t>北斗天线及避雷器安装位置</a:t>
            </a:r>
          </a:p>
        </p:txBody>
      </p:sp>
      <p:sp>
        <p:nvSpPr>
          <p:cNvPr id="3" name="object 3" descr=""/>
          <p:cNvSpPr txBox="1"/>
          <p:nvPr/>
        </p:nvSpPr>
        <p:spPr>
          <a:xfrm>
            <a:off x="535940" y="848359"/>
            <a:ext cx="939800" cy="299720"/>
          </a:xfrm>
          <a:prstGeom prst="rect">
            <a:avLst/>
          </a:prstGeom>
        </p:spPr>
        <p:txBody>
          <a:bodyPr wrap="square" lIns="0" tIns="12700" rIns="0" bIns="0" rtlCol="0" vert="horz">
            <a:spAutoFit/>
          </a:bodyPr>
          <a:lstStyle/>
          <a:p>
            <a:pPr marL="12700">
              <a:lnSpc>
                <a:spcPct val="100000"/>
              </a:lnSpc>
              <a:spcBef>
                <a:spcPts val="100"/>
              </a:spcBef>
            </a:pPr>
            <a:r>
              <a:rPr dirty="0" sz="1800" spc="-15">
                <a:latin typeface="SimSun"/>
                <a:cs typeface="SimSun"/>
              </a:rPr>
              <a:t>问题照片</a:t>
            </a:r>
            <a:endParaRPr sz="1800">
              <a:latin typeface="SimSun"/>
              <a:cs typeface="SimSun"/>
            </a:endParaRPr>
          </a:p>
        </p:txBody>
      </p:sp>
      <p:pic>
        <p:nvPicPr>
          <p:cNvPr id="4" name="object 4"/>
          <p:cNvPicPr/>
          <p:nvPr/>
        </p:nvPicPr>
        <p:blipFill>
          <a:blip r:embed="rId2" cstate="print"/>
          <a:stretch>
            <a:fillRect/>
          </a:stretch>
        </p:blipFill>
        <p:spPr>
          <a:xfrm>
            <a:off x="457200" y="1123950"/>
            <a:ext cx="3414712" cy="3103562"/>
          </a:xfrm>
          <a:prstGeom prst="rect">
            <a:avLst/>
          </a:prstGeom>
        </p:spPr>
      </p:pic>
      <p:pic>
        <p:nvPicPr>
          <p:cNvPr id="5" name="object 5"/>
          <p:cNvPicPr/>
          <p:nvPr/>
        </p:nvPicPr>
        <p:blipFill>
          <a:blip r:embed="rId3" cstate="print"/>
          <a:stretch>
            <a:fillRect/>
          </a:stretch>
        </p:blipFill>
        <p:spPr>
          <a:xfrm>
            <a:off x="4572000" y="1099832"/>
            <a:ext cx="4129087" cy="2874959"/>
          </a:xfrm>
          <a:prstGeom prst="rect">
            <a:avLst/>
          </a:prstGeom>
        </p:spPr>
      </p:pic>
      <p:sp>
        <p:nvSpPr>
          <p:cNvPr id="6" name="object 6" descr=""/>
          <p:cNvSpPr txBox="1"/>
          <p:nvPr/>
        </p:nvSpPr>
        <p:spPr>
          <a:xfrm>
            <a:off x="78739" y="4207679"/>
            <a:ext cx="3579495" cy="666115"/>
          </a:xfrm>
          <a:prstGeom prst="rect">
            <a:avLst/>
          </a:prstGeom>
        </p:spPr>
        <p:txBody>
          <a:bodyPr wrap="square" lIns="0" tIns="12065" rIns="0" bIns="0" rtlCol="0" vert="horz">
            <a:spAutoFit/>
          </a:bodyPr>
          <a:lstStyle/>
          <a:p>
            <a:pPr marL="12700">
              <a:lnSpc>
                <a:spcPct val="100000"/>
              </a:lnSpc>
              <a:spcBef>
                <a:spcPts val="95"/>
              </a:spcBef>
            </a:pPr>
            <a:r>
              <a:rPr dirty="0" sz="1400" spc="-35">
                <a:solidFill>
                  <a:srgbClr val="FF0000"/>
                </a:solidFill>
                <a:latin typeface="SimSun"/>
                <a:cs typeface="SimSun"/>
              </a:rPr>
              <a:t>注意：</a:t>
            </a:r>
            <a:endParaRPr sz="1400">
              <a:latin typeface="SimSun"/>
              <a:cs typeface="SimSun"/>
            </a:endParaRPr>
          </a:p>
          <a:p>
            <a:pPr marL="355600" marR="5080" indent="-342900">
              <a:lnSpc>
                <a:spcPct val="100000"/>
              </a:lnSpc>
              <a:spcBef>
                <a:spcPts val="10"/>
              </a:spcBef>
              <a:buFont typeface="Wingdings"/>
              <a:buChar char=""/>
              <a:tabLst>
                <a:tab pos="355600" algn="l"/>
              </a:tabLst>
            </a:pPr>
            <a:r>
              <a:rPr dirty="0" sz="1400" spc="-10">
                <a:solidFill>
                  <a:srgbClr val="FF0000"/>
                </a:solidFill>
                <a:latin typeface="Arial MT"/>
                <a:cs typeface="Arial MT"/>
              </a:rPr>
              <a:t>GPS/</a:t>
            </a:r>
            <a:r>
              <a:rPr dirty="0" sz="1400" spc="-20">
                <a:solidFill>
                  <a:srgbClr val="FF0000"/>
                </a:solidFill>
                <a:latin typeface="SimSun"/>
                <a:cs typeface="SimSun"/>
              </a:rPr>
              <a:t>北斗楼顶安装时，注意禁止</a:t>
            </a:r>
            <a:r>
              <a:rPr dirty="0" sz="1400">
                <a:solidFill>
                  <a:srgbClr val="FF0000"/>
                </a:solidFill>
                <a:latin typeface="Arial MT"/>
                <a:cs typeface="Arial MT"/>
              </a:rPr>
              <a:t>GPS /</a:t>
            </a:r>
            <a:r>
              <a:rPr dirty="0" sz="1400" spc="-50">
                <a:solidFill>
                  <a:srgbClr val="FF0000"/>
                </a:solidFill>
                <a:latin typeface="SimSun"/>
                <a:cs typeface="SimSun"/>
              </a:rPr>
              <a:t>北</a:t>
            </a:r>
            <a:r>
              <a:rPr dirty="0" sz="1400" spc="-25">
                <a:solidFill>
                  <a:srgbClr val="FF0000"/>
                </a:solidFill>
                <a:latin typeface="SimSun"/>
                <a:cs typeface="SimSun"/>
              </a:rPr>
              <a:t>斗安装在楼顶接地网上。</a:t>
            </a:r>
            <a:endParaRPr sz="1400">
              <a:latin typeface="SimSun"/>
              <a:cs typeface="SimSun"/>
            </a:endParaRPr>
          </a:p>
        </p:txBody>
      </p:sp>
      <p:sp>
        <p:nvSpPr>
          <p:cNvPr id="7" name="object 7" descr=""/>
          <p:cNvSpPr txBox="1"/>
          <p:nvPr/>
        </p:nvSpPr>
        <p:spPr>
          <a:xfrm>
            <a:off x="4650740" y="848359"/>
            <a:ext cx="939800" cy="299720"/>
          </a:xfrm>
          <a:prstGeom prst="rect">
            <a:avLst/>
          </a:prstGeom>
        </p:spPr>
        <p:txBody>
          <a:bodyPr wrap="square" lIns="0" tIns="12700" rIns="0" bIns="0" rtlCol="0" vert="horz">
            <a:spAutoFit/>
          </a:bodyPr>
          <a:lstStyle/>
          <a:p>
            <a:pPr marL="12700">
              <a:lnSpc>
                <a:spcPct val="100000"/>
              </a:lnSpc>
              <a:spcBef>
                <a:spcPts val="100"/>
              </a:spcBef>
            </a:pPr>
            <a:r>
              <a:rPr dirty="0" sz="1800" spc="-15">
                <a:latin typeface="SimSun"/>
                <a:cs typeface="SimSun"/>
              </a:rPr>
              <a:t>问题照片</a:t>
            </a:r>
            <a:endParaRPr sz="1800">
              <a:latin typeface="SimSun"/>
              <a:cs typeface="SimSun"/>
            </a:endParaRPr>
          </a:p>
        </p:txBody>
      </p:sp>
      <p:sp>
        <p:nvSpPr>
          <p:cNvPr id="8" name="object 8" descr=""/>
          <p:cNvSpPr txBox="1"/>
          <p:nvPr/>
        </p:nvSpPr>
        <p:spPr>
          <a:xfrm>
            <a:off x="4650740" y="3884625"/>
            <a:ext cx="3921125" cy="904875"/>
          </a:xfrm>
          <a:prstGeom prst="rect">
            <a:avLst/>
          </a:prstGeom>
        </p:spPr>
        <p:txBody>
          <a:bodyPr wrap="square" lIns="0" tIns="78740" rIns="0" bIns="0" rtlCol="0" vert="horz">
            <a:spAutoFit/>
          </a:bodyPr>
          <a:lstStyle/>
          <a:p>
            <a:pPr marL="12700">
              <a:lnSpc>
                <a:spcPct val="100000"/>
              </a:lnSpc>
              <a:spcBef>
                <a:spcPts val="620"/>
              </a:spcBef>
            </a:pPr>
            <a:r>
              <a:rPr dirty="0" sz="1400" spc="-35">
                <a:solidFill>
                  <a:srgbClr val="FF0000"/>
                </a:solidFill>
                <a:latin typeface="SimSun"/>
                <a:cs typeface="SimSun"/>
              </a:rPr>
              <a:t>注意：</a:t>
            </a:r>
            <a:endParaRPr sz="1400">
              <a:latin typeface="SimSun"/>
              <a:cs typeface="SimSun"/>
            </a:endParaRPr>
          </a:p>
          <a:p>
            <a:pPr marL="354965" indent="-342265">
              <a:lnSpc>
                <a:spcPct val="100000"/>
              </a:lnSpc>
              <a:spcBef>
                <a:spcPts val="525"/>
              </a:spcBef>
              <a:buFont typeface="Wingdings"/>
              <a:buChar char=""/>
              <a:tabLst>
                <a:tab pos="354965" algn="l"/>
              </a:tabLst>
            </a:pPr>
            <a:r>
              <a:rPr dirty="0" sz="1400" spc="-25">
                <a:solidFill>
                  <a:srgbClr val="FF0000"/>
                </a:solidFill>
                <a:latin typeface="SimSun"/>
                <a:cs typeface="SimSun"/>
              </a:rPr>
              <a:t>安装避雷器，避雷器不能接触走线架，避雷器</a:t>
            </a:r>
            <a:endParaRPr sz="1400">
              <a:latin typeface="SimSun"/>
              <a:cs typeface="SimSun"/>
            </a:endParaRPr>
          </a:p>
          <a:p>
            <a:pPr marL="355600">
              <a:lnSpc>
                <a:spcPct val="100000"/>
              </a:lnSpc>
              <a:spcBef>
                <a:spcPts val="840"/>
              </a:spcBef>
            </a:pPr>
            <a:r>
              <a:rPr dirty="0" sz="1400" spc="-25">
                <a:solidFill>
                  <a:srgbClr val="FF0000"/>
                </a:solidFill>
                <a:latin typeface="SimSun"/>
                <a:cs typeface="SimSun"/>
              </a:rPr>
              <a:t>应安装在走线架的两个横挡之间。</a:t>
            </a:r>
            <a:endParaRPr sz="1400">
              <a:latin typeface="SimSun"/>
              <a:cs typeface="SimSun"/>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41460" y="158369"/>
            <a:ext cx="456692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AAU</a:t>
            </a:r>
            <a:r>
              <a:rPr dirty="0" spc="-45"/>
              <a:t>电源连接器制作问题</a:t>
            </a:r>
          </a:p>
        </p:txBody>
      </p:sp>
      <p:pic>
        <p:nvPicPr>
          <p:cNvPr id="3" name="object 3"/>
          <p:cNvPicPr/>
          <p:nvPr/>
        </p:nvPicPr>
        <p:blipFill>
          <a:blip r:embed="rId2" cstate="print"/>
          <a:stretch>
            <a:fillRect/>
          </a:stretch>
        </p:blipFill>
        <p:spPr>
          <a:xfrm>
            <a:off x="762000" y="895350"/>
            <a:ext cx="2146299" cy="2024062"/>
          </a:xfrm>
          <a:prstGeom prst="rect">
            <a:avLst/>
          </a:prstGeom>
        </p:spPr>
      </p:pic>
      <p:pic>
        <p:nvPicPr>
          <p:cNvPr id="4" name="object 4"/>
          <p:cNvPicPr/>
          <p:nvPr/>
        </p:nvPicPr>
        <p:blipFill>
          <a:blip r:embed="rId3" cstate="print"/>
          <a:stretch>
            <a:fillRect/>
          </a:stretch>
        </p:blipFill>
        <p:spPr>
          <a:xfrm>
            <a:off x="762000" y="3199605"/>
            <a:ext cx="2328862" cy="1555744"/>
          </a:xfrm>
          <a:prstGeom prst="rect">
            <a:avLst/>
          </a:prstGeom>
        </p:spPr>
      </p:pic>
      <p:sp>
        <p:nvSpPr>
          <p:cNvPr id="5" name="object 5" descr=""/>
          <p:cNvSpPr txBox="1"/>
          <p:nvPr/>
        </p:nvSpPr>
        <p:spPr>
          <a:xfrm>
            <a:off x="3869472" y="1050120"/>
            <a:ext cx="3656329" cy="1654810"/>
          </a:xfrm>
          <a:prstGeom prst="rect">
            <a:avLst/>
          </a:prstGeom>
        </p:spPr>
        <p:txBody>
          <a:bodyPr wrap="square" lIns="0" tIns="70485" rIns="0" bIns="0" rtlCol="0" vert="horz">
            <a:spAutoFit/>
          </a:bodyPr>
          <a:lstStyle/>
          <a:p>
            <a:pPr marL="12700">
              <a:lnSpc>
                <a:spcPct val="100000"/>
              </a:lnSpc>
              <a:spcBef>
                <a:spcPts val="555"/>
              </a:spcBef>
            </a:pPr>
            <a:r>
              <a:rPr dirty="0" sz="2000" spc="-30">
                <a:solidFill>
                  <a:srgbClr val="FF0000"/>
                </a:solidFill>
                <a:latin typeface="SimSun"/>
                <a:cs typeface="SimSun"/>
              </a:rPr>
              <a:t>注意：</a:t>
            </a:r>
            <a:endParaRPr sz="2000">
              <a:latin typeface="SimSun"/>
              <a:cs typeface="SimSun"/>
            </a:endParaRPr>
          </a:p>
          <a:p>
            <a:pPr marL="355600" marR="5080" indent="-342900">
              <a:lnSpc>
                <a:spcPct val="100000"/>
              </a:lnSpc>
              <a:spcBef>
                <a:spcPts val="370"/>
              </a:spcBef>
              <a:buFont typeface="Wingdings"/>
              <a:buChar char=""/>
              <a:tabLst>
                <a:tab pos="355600" algn="l"/>
              </a:tabLst>
            </a:pPr>
            <a:r>
              <a:rPr dirty="0" sz="1600">
                <a:solidFill>
                  <a:srgbClr val="FF0000"/>
                </a:solidFill>
                <a:latin typeface="SimSun"/>
                <a:cs typeface="SimSun"/>
              </a:rPr>
              <a:t>使用2* 16mm²</a:t>
            </a:r>
            <a:r>
              <a:rPr dirty="0" sz="1600" spc="-5">
                <a:solidFill>
                  <a:srgbClr val="FF0000"/>
                </a:solidFill>
                <a:latin typeface="SimSun"/>
                <a:cs typeface="SimSun"/>
              </a:rPr>
              <a:t>电源线后，禁止使用剪线钳，将电源线部分剪除，并强行插</a:t>
            </a:r>
            <a:r>
              <a:rPr dirty="0" sz="1600">
                <a:solidFill>
                  <a:srgbClr val="FF0000"/>
                </a:solidFill>
                <a:latin typeface="SimSun"/>
                <a:cs typeface="SimSun"/>
              </a:rPr>
              <a:t>入AAU</a:t>
            </a:r>
            <a:r>
              <a:rPr dirty="0" sz="1600" spc="-5">
                <a:solidFill>
                  <a:srgbClr val="FF0000"/>
                </a:solidFill>
                <a:latin typeface="SimSun"/>
                <a:cs typeface="SimSun"/>
              </a:rPr>
              <a:t>电源连接器，必须选用转接盒</a:t>
            </a:r>
            <a:r>
              <a:rPr dirty="0" sz="1600">
                <a:solidFill>
                  <a:srgbClr val="FF0000"/>
                </a:solidFill>
                <a:latin typeface="SimSun"/>
                <a:cs typeface="SimSun"/>
              </a:rPr>
              <a:t>进行2*16转换2*10，再使用2*10 </a:t>
            </a:r>
            <a:r>
              <a:rPr dirty="0" sz="1600" spc="-25">
                <a:solidFill>
                  <a:srgbClr val="FF0000"/>
                </a:solidFill>
                <a:latin typeface="SimSun"/>
                <a:cs typeface="SimSun"/>
              </a:rPr>
              <a:t>mm²</a:t>
            </a:r>
            <a:r>
              <a:rPr dirty="0" sz="1600" spc="-15">
                <a:solidFill>
                  <a:srgbClr val="FF0000"/>
                </a:solidFill>
                <a:latin typeface="SimSun"/>
                <a:cs typeface="SimSun"/>
              </a:rPr>
              <a:t>线制作。</a:t>
            </a:r>
            <a:endParaRPr sz="1600">
              <a:latin typeface="SimSun"/>
              <a:cs typeface="SimSun"/>
            </a:endParaRPr>
          </a:p>
        </p:txBody>
      </p:sp>
      <p:sp>
        <p:nvSpPr>
          <p:cNvPr id="6" name="object 6" descr=""/>
          <p:cNvSpPr txBox="1"/>
          <p:nvPr/>
        </p:nvSpPr>
        <p:spPr>
          <a:xfrm>
            <a:off x="4229760" y="3450737"/>
            <a:ext cx="1864995" cy="679450"/>
          </a:xfrm>
          <a:prstGeom prst="rect">
            <a:avLst/>
          </a:prstGeom>
        </p:spPr>
        <p:txBody>
          <a:bodyPr wrap="square" lIns="0" tIns="70485" rIns="0" bIns="0" rtlCol="0" vert="horz">
            <a:spAutoFit/>
          </a:bodyPr>
          <a:lstStyle/>
          <a:p>
            <a:pPr marL="12700">
              <a:lnSpc>
                <a:spcPct val="100000"/>
              </a:lnSpc>
              <a:spcBef>
                <a:spcPts val="555"/>
              </a:spcBef>
            </a:pPr>
            <a:r>
              <a:rPr dirty="0" sz="2000" spc="-30">
                <a:solidFill>
                  <a:srgbClr val="FF0000"/>
                </a:solidFill>
                <a:latin typeface="SimSun"/>
                <a:cs typeface="SimSun"/>
              </a:rPr>
              <a:t>注意：</a:t>
            </a:r>
            <a:endParaRPr sz="2000">
              <a:latin typeface="SimSun"/>
              <a:cs typeface="SimSun"/>
            </a:endParaRPr>
          </a:p>
          <a:p>
            <a:pPr marL="12700">
              <a:lnSpc>
                <a:spcPct val="100000"/>
              </a:lnSpc>
              <a:spcBef>
                <a:spcPts val="370"/>
              </a:spcBef>
            </a:pPr>
            <a:r>
              <a:rPr dirty="0" sz="1600" spc="-10">
                <a:solidFill>
                  <a:srgbClr val="FF0000"/>
                </a:solidFill>
                <a:latin typeface="SimSun"/>
                <a:cs typeface="SimSun"/>
              </a:rPr>
              <a:t>禁止将屏蔽层被剪除</a:t>
            </a:r>
            <a:endParaRPr sz="1600">
              <a:latin typeface="SimSun"/>
              <a:cs typeface="SimSun"/>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26417" y="113125"/>
            <a:ext cx="4610735"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设备安装现场督导内容</a:t>
            </a:r>
          </a:p>
        </p:txBody>
      </p:sp>
      <p:pic>
        <p:nvPicPr>
          <p:cNvPr id="3" name="object 3" descr=""/>
          <p:cNvPicPr/>
          <p:nvPr/>
        </p:nvPicPr>
        <p:blipFill>
          <a:blip r:embed="rId2" cstate="print"/>
          <a:stretch>
            <a:fillRect/>
          </a:stretch>
        </p:blipFill>
        <p:spPr>
          <a:xfrm>
            <a:off x="609600" y="971550"/>
            <a:ext cx="2484297" cy="530771"/>
          </a:xfrm>
          <a:prstGeom prst="rect">
            <a:avLst/>
          </a:prstGeom>
        </p:spPr>
      </p:pic>
      <p:sp>
        <p:nvSpPr>
          <p:cNvPr id="4" name="object 4" descr=""/>
          <p:cNvSpPr txBox="1"/>
          <p:nvPr/>
        </p:nvSpPr>
        <p:spPr>
          <a:xfrm>
            <a:off x="1381403" y="1078693"/>
            <a:ext cx="939800" cy="299720"/>
          </a:xfrm>
          <a:prstGeom prst="rect">
            <a:avLst/>
          </a:prstGeom>
        </p:spPr>
        <p:txBody>
          <a:bodyPr wrap="square" lIns="0" tIns="12700" rIns="0" bIns="0" rtlCol="0" vert="horz">
            <a:spAutoFit/>
          </a:bodyPr>
          <a:lstStyle/>
          <a:p>
            <a:pPr marL="12700">
              <a:lnSpc>
                <a:spcPct val="100000"/>
              </a:lnSpc>
              <a:spcBef>
                <a:spcPts val="100"/>
              </a:spcBef>
            </a:pPr>
            <a:r>
              <a:rPr dirty="0" sz="1800" spc="-15">
                <a:latin typeface="Microsoft YaHei"/>
                <a:cs typeface="Microsoft YaHei"/>
              </a:rPr>
              <a:t>归档材料</a:t>
            </a:r>
            <a:endParaRPr sz="1800">
              <a:latin typeface="Microsoft YaHei"/>
              <a:cs typeface="Microsoft YaHei"/>
            </a:endParaRPr>
          </a:p>
        </p:txBody>
      </p:sp>
      <p:sp>
        <p:nvSpPr>
          <p:cNvPr id="5" name="object 5" descr=""/>
          <p:cNvSpPr txBox="1"/>
          <p:nvPr/>
        </p:nvSpPr>
        <p:spPr>
          <a:xfrm>
            <a:off x="964665" y="1588242"/>
            <a:ext cx="1854200" cy="574040"/>
          </a:xfrm>
          <a:prstGeom prst="rect">
            <a:avLst/>
          </a:prstGeom>
        </p:spPr>
        <p:txBody>
          <a:bodyPr wrap="square" lIns="0" tIns="12700" rIns="0" bIns="0" rtlCol="0" vert="horz">
            <a:spAutoFit/>
          </a:bodyPr>
          <a:lstStyle/>
          <a:p>
            <a:pPr algn="ctr">
              <a:lnSpc>
                <a:spcPct val="100000"/>
              </a:lnSpc>
              <a:spcBef>
                <a:spcPts val="100"/>
              </a:spcBef>
            </a:pPr>
            <a:r>
              <a:rPr dirty="0" sz="1800" spc="-10">
                <a:latin typeface="Microsoft YaHei"/>
                <a:cs typeface="Microsoft YaHei"/>
              </a:rPr>
              <a:t>基站安装督导现场</a:t>
            </a:r>
            <a:endParaRPr sz="1800">
              <a:latin typeface="Microsoft YaHei"/>
              <a:cs typeface="Microsoft YaHei"/>
            </a:endParaRPr>
          </a:p>
          <a:p>
            <a:pPr algn="ctr" marL="635">
              <a:lnSpc>
                <a:spcPct val="100000"/>
              </a:lnSpc>
            </a:pPr>
            <a:r>
              <a:rPr dirty="0" sz="1800" spc="-10">
                <a:latin typeface="Microsoft YaHei"/>
                <a:cs typeface="Microsoft YaHei"/>
              </a:rPr>
              <a:t>checklist</a:t>
            </a:r>
            <a:endParaRPr sz="1800">
              <a:latin typeface="Microsoft YaHei"/>
              <a:cs typeface="Microsoft YaHei"/>
            </a:endParaRPr>
          </a:p>
        </p:txBody>
      </p:sp>
      <p:sp>
        <p:nvSpPr>
          <p:cNvPr id="6" name="object 6" descr=""/>
          <p:cNvSpPr txBox="1"/>
          <p:nvPr/>
        </p:nvSpPr>
        <p:spPr>
          <a:xfrm>
            <a:off x="4036466" y="3922865"/>
            <a:ext cx="337185" cy="113664"/>
          </a:xfrm>
          <a:prstGeom prst="rect">
            <a:avLst/>
          </a:prstGeom>
        </p:spPr>
        <p:txBody>
          <a:bodyPr wrap="square" lIns="0" tIns="15875" rIns="0" bIns="0" rtlCol="0" vert="horz">
            <a:spAutoFit/>
          </a:bodyPr>
          <a:lstStyle/>
          <a:p>
            <a:pPr marL="12700">
              <a:lnSpc>
                <a:spcPct val="100000"/>
              </a:lnSpc>
              <a:spcBef>
                <a:spcPts val="125"/>
              </a:spcBef>
            </a:pPr>
            <a:r>
              <a:rPr dirty="0" sz="550" spc="45">
                <a:latin typeface="SimSun"/>
                <a:cs typeface="SimSun"/>
              </a:rPr>
              <a:t>防水要求</a:t>
            </a:r>
            <a:endParaRPr sz="550">
              <a:latin typeface="SimSun"/>
              <a:cs typeface="SimSun"/>
            </a:endParaRPr>
          </a:p>
        </p:txBody>
      </p:sp>
      <p:sp>
        <p:nvSpPr>
          <p:cNvPr id="7" name="object 7" descr=""/>
          <p:cNvSpPr txBox="1"/>
          <p:nvPr/>
        </p:nvSpPr>
        <p:spPr>
          <a:xfrm>
            <a:off x="3994557" y="4103853"/>
            <a:ext cx="414655" cy="113664"/>
          </a:xfrm>
          <a:prstGeom prst="rect">
            <a:avLst/>
          </a:prstGeom>
        </p:spPr>
        <p:txBody>
          <a:bodyPr wrap="square" lIns="0" tIns="15875" rIns="0" bIns="0" rtlCol="0" vert="horz">
            <a:spAutoFit/>
          </a:bodyPr>
          <a:lstStyle/>
          <a:p>
            <a:pPr marL="12700">
              <a:lnSpc>
                <a:spcPct val="100000"/>
              </a:lnSpc>
              <a:spcBef>
                <a:spcPts val="125"/>
              </a:spcBef>
            </a:pPr>
            <a:r>
              <a:rPr dirty="0" sz="550" spc="50">
                <a:latin typeface="SimSun"/>
                <a:cs typeface="SimSun"/>
              </a:rPr>
              <a:t>接地检查点</a:t>
            </a:r>
            <a:endParaRPr sz="550">
              <a:latin typeface="SimSun"/>
              <a:cs typeface="SimSun"/>
            </a:endParaRPr>
          </a:p>
        </p:txBody>
      </p:sp>
      <p:sp>
        <p:nvSpPr>
          <p:cNvPr id="8" name="object 8" descr=""/>
          <p:cNvSpPr txBox="1"/>
          <p:nvPr/>
        </p:nvSpPr>
        <p:spPr>
          <a:xfrm>
            <a:off x="3850868" y="4822149"/>
            <a:ext cx="695960" cy="134620"/>
          </a:xfrm>
          <a:prstGeom prst="rect">
            <a:avLst/>
          </a:prstGeom>
        </p:spPr>
        <p:txBody>
          <a:bodyPr wrap="square" lIns="0" tIns="13970" rIns="0" bIns="0" rtlCol="0" vert="horz">
            <a:spAutoFit/>
          </a:bodyPr>
          <a:lstStyle/>
          <a:p>
            <a:pPr marL="12700">
              <a:lnSpc>
                <a:spcPct val="100000"/>
              </a:lnSpc>
              <a:spcBef>
                <a:spcPts val="110"/>
              </a:spcBef>
            </a:pPr>
            <a:r>
              <a:rPr dirty="0" sz="700" spc="-10">
                <a:latin typeface="SimSun"/>
                <a:cs typeface="SimSun"/>
              </a:rPr>
              <a:t>资产可管理要求</a:t>
            </a:r>
            <a:endParaRPr sz="700">
              <a:latin typeface="SimSun"/>
              <a:cs typeface="SimSun"/>
            </a:endParaRPr>
          </a:p>
        </p:txBody>
      </p:sp>
      <p:sp>
        <p:nvSpPr>
          <p:cNvPr id="9" name="object 9" descr=""/>
          <p:cNvSpPr txBox="1"/>
          <p:nvPr/>
        </p:nvSpPr>
        <p:spPr>
          <a:xfrm>
            <a:off x="4695042" y="4318777"/>
            <a:ext cx="3959225" cy="175895"/>
          </a:xfrm>
          <a:prstGeom prst="rect">
            <a:avLst/>
          </a:prstGeom>
        </p:spPr>
        <p:txBody>
          <a:bodyPr wrap="square" lIns="0" tIns="15875" rIns="0" bIns="0" rtlCol="0" vert="horz">
            <a:spAutoFit/>
          </a:bodyPr>
          <a:lstStyle/>
          <a:p>
            <a:pPr marL="12700">
              <a:lnSpc>
                <a:spcPts val="575"/>
              </a:lnSpc>
              <a:spcBef>
                <a:spcPts val="125"/>
              </a:spcBef>
            </a:pPr>
            <a:r>
              <a:rPr dirty="0" sz="550" spc="60">
                <a:latin typeface="SimSun"/>
                <a:cs typeface="SimSun"/>
              </a:rPr>
              <a:t>室外标签采用铝制标签，包括</a:t>
            </a:r>
            <a:r>
              <a:rPr dirty="0" sz="550" spc="50">
                <a:latin typeface="SimSun"/>
                <a:cs typeface="SimSun"/>
              </a:rPr>
              <a:t>AAU</a:t>
            </a:r>
            <a:r>
              <a:rPr dirty="0" sz="550" spc="60">
                <a:latin typeface="SimSun"/>
                <a:cs typeface="SimSun"/>
              </a:rPr>
              <a:t>电源线、接地、光纤、馈线通道及</a:t>
            </a:r>
            <a:r>
              <a:rPr dirty="0" sz="550" spc="50">
                <a:latin typeface="SimSun"/>
                <a:cs typeface="SimSun"/>
              </a:rPr>
              <a:t>GPS</a:t>
            </a:r>
            <a:r>
              <a:rPr dirty="0" sz="550" spc="45">
                <a:latin typeface="SimSun"/>
                <a:cs typeface="SimSun"/>
              </a:rPr>
              <a:t>天线标签</a:t>
            </a:r>
            <a:endParaRPr sz="550">
              <a:latin typeface="SimSun"/>
              <a:cs typeface="SimSun"/>
            </a:endParaRPr>
          </a:p>
          <a:p>
            <a:pPr marL="12700">
              <a:lnSpc>
                <a:spcPts val="575"/>
              </a:lnSpc>
            </a:pPr>
            <a:r>
              <a:rPr dirty="0" sz="550" spc="55">
                <a:latin typeface="SimSun"/>
                <a:cs typeface="SimSun"/>
              </a:rPr>
              <a:t>室内：</a:t>
            </a:r>
            <a:r>
              <a:rPr dirty="0" sz="550" spc="50">
                <a:latin typeface="SimSun"/>
                <a:cs typeface="SimSun"/>
              </a:rPr>
              <a:t>BBU</a:t>
            </a:r>
            <a:r>
              <a:rPr dirty="0" sz="550" spc="55">
                <a:latin typeface="SimSun"/>
                <a:cs typeface="SimSun"/>
              </a:rPr>
              <a:t>整体拍照，要求正面拍摄。涵盖线缆是否整齐，标签是否完善，</a:t>
            </a:r>
            <a:r>
              <a:rPr dirty="0" sz="550" spc="50">
                <a:latin typeface="SimSun"/>
                <a:cs typeface="SimSun"/>
              </a:rPr>
              <a:t>BBU</a:t>
            </a:r>
            <a:r>
              <a:rPr dirty="0" sz="550" spc="55">
                <a:latin typeface="SimSun"/>
                <a:cs typeface="SimSun"/>
              </a:rPr>
              <a:t>是否接地；</a:t>
            </a:r>
            <a:r>
              <a:rPr dirty="0" sz="550" spc="50">
                <a:latin typeface="SimSun"/>
                <a:cs typeface="SimSun"/>
              </a:rPr>
              <a:t>GPS</a:t>
            </a:r>
            <a:r>
              <a:rPr dirty="0" sz="550" spc="55">
                <a:latin typeface="SimSun"/>
                <a:cs typeface="SimSun"/>
              </a:rPr>
              <a:t>避雷器接地；</a:t>
            </a:r>
            <a:r>
              <a:rPr dirty="0" sz="550" spc="50">
                <a:latin typeface="SimSun"/>
                <a:cs typeface="SimSun"/>
              </a:rPr>
              <a:t>DCPD/</a:t>
            </a:r>
            <a:r>
              <a:rPr dirty="0" sz="550" spc="10">
                <a:latin typeface="SimSun"/>
                <a:cs typeface="SimSun"/>
              </a:rPr>
              <a:t>防</a:t>
            </a:r>
            <a:endParaRPr sz="550">
              <a:latin typeface="SimSun"/>
              <a:cs typeface="SimSun"/>
            </a:endParaRPr>
          </a:p>
        </p:txBody>
      </p:sp>
      <p:sp>
        <p:nvSpPr>
          <p:cNvPr id="10" name="object 10" descr=""/>
          <p:cNvSpPr txBox="1"/>
          <p:nvPr/>
        </p:nvSpPr>
        <p:spPr>
          <a:xfrm>
            <a:off x="4695042" y="4471485"/>
            <a:ext cx="337185" cy="113664"/>
          </a:xfrm>
          <a:prstGeom prst="rect">
            <a:avLst/>
          </a:prstGeom>
        </p:spPr>
        <p:txBody>
          <a:bodyPr wrap="square" lIns="0" tIns="15875" rIns="0" bIns="0" rtlCol="0" vert="horz">
            <a:spAutoFit/>
          </a:bodyPr>
          <a:lstStyle/>
          <a:p>
            <a:pPr marL="12700">
              <a:lnSpc>
                <a:spcPct val="100000"/>
              </a:lnSpc>
              <a:spcBef>
                <a:spcPts val="125"/>
              </a:spcBef>
            </a:pPr>
            <a:r>
              <a:rPr dirty="0" sz="550" spc="45">
                <a:latin typeface="SimSun"/>
                <a:cs typeface="SimSun"/>
              </a:rPr>
              <a:t>雷箱接地</a:t>
            </a:r>
            <a:endParaRPr sz="550">
              <a:latin typeface="SimSun"/>
              <a:cs typeface="SimSun"/>
            </a:endParaRPr>
          </a:p>
        </p:txBody>
      </p:sp>
      <p:sp>
        <p:nvSpPr>
          <p:cNvPr id="11" name="object 11" descr=""/>
          <p:cNvSpPr txBox="1"/>
          <p:nvPr/>
        </p:nvSpPr>
        <p:spPr>
          <a:xfrm>
            <a:off x="4695042" y="4533699"/>
            <a:ext cx="4030979" cy="294640"/>
          </a:xfrm>
          <a:prstGeom prst="rect">
            <a:avLst/>
          </a:prstGeom>
        </p:spPr>
        <p:txBody>
          <a:bodyPr wrap="square" lIns="0" tIns="9525" rIns="0" bIns="0" rtlCol="0" vert="horz">
            <a:spAutoFit/>
          </a:bodyPr>
          <a:lstStyle/>
          <a:p>
            <a:pPr algn="just" marL="12700" marR="5080">
              <a:lnSpc>
                <a:spcPct val="108000"/>
              </a:lnSpc>
              <a:spcBef>
                <a:spcPts val="75"/>
              </a:spcBef>
            </a:pPr>
            <a:r>
              <a:rPr dirty="0" sz="550" spc="55">
                <a:latin typeface="SimSun"/>
                <a:cs typeface="SimSun"/>
              </a:rPr>
              <a:t>室外：</a:t>
            </a:r>
            <a:r>
              <a:rPr dirty="0" sz="550" spc="50">
                <a:latin typeface="SimSun"/>
                <a:cs typeface="SimSun"/>
              </a:rPr>
              <a:t>AAU</a:t>
            </a:r>
            <a:r>
              <a:rPr dirty="0" sz="550" spc="60">
                <a:latin typeface="SimSun"/>
                <a:cs typeface="SimSun"/>
              </a:rPr>
              <a:t>覆盖方向，每扇区</a:t>
            </a:r>
            <a:r>
              <a:rPr dirty="0" sz="550" spc="50">
                <a:latin typeface="SimSun"/>
                <a:cs typeface="SimSun"/>
              </a:rPr>
              <a:t>1</a:t>
            </a:r>
            <a:r>
              <a:rPr dirty="0" sz="550" spc="55">
                <a:latin typeface="SimSun"/>
                <a:cs typeface="SimSun"/>
              </a:rPr>
              <a:t>张，涵盖覆盖方向和设备一起体现在同一张照片；</a:t>
            </a:r>
            <a:r>
              <a:rPr dirty="0" sz="550" spc="50">
                <a:latin typeface="SimSun"/>
                <a:cs typeface="SimSun"/>
              </a:rPr>
              <a:t>AAU</a:t>
            </a:r>
            <a:r>
              <a:rPr dirty="0" sz="550" spc="60">
                <a:latin typeface="SimSun"/>
                <a:cs typeface="SimSun"/>
              </a:rPr>
              <a:t>接地及标签：每个扇区拍摄</a:t>
            </a:r>
            <a:r>
              <a:rPr dirty="0" sz="550" spc="50">
                <a:latin typeface="SimSun"/>
                <a:cs typeface="SimSun"/>
              </a:rPr>
              <a:t>1</a:t>
            </a:r>
            <a:r>
              <a:rPr dirty="0" sz="550" spc="35">
                <a:latin typeface="SimSun"/>
                <a:cs typeface="SimSun"/>
              </a:rPr>
              <a:t>张，</a:t>
            </a:r>
            <a:r>
              <a:rPr dirty="0" sz="550" spc="60">
                <a:latin typeface="SimSun"/>
                <a:cs typeface="SimSun"/>
              </a:rPr>
              <a:t>主要涵盖与</a:t>
            </a:r>
            <a:r>
              <a:rPr dirty="0" sz="550" spc="50">
                <a:latin typeface="SimSun"/>
                <a:cs typeface="SimSun"/>
              </a:rPr>
              <a:t>AAU</a:t>
            </a:r>
            <a:r>
              <a:rPr dirty="0" sz="550" spc="60">
                <a:latin typeface="SimSun"/>
                <a:cs typeface="SimSun"/>
              </a:rPr>
              <a:t>相关线缆：光纤、电源线、接地线、馈线防水</a:t>
            </a:r>
            <a:r>
              <a:rPr dirty="0" sz="550" spc="50">
                <a:latin typeface="SimSun"/>
                <a:cs typeface="SimSun"/>
              </a:rPr>
              <a:t>（LTE</a:t>
            </a:r>
            <a:r>
              <a:rPr dirty="0" sz="550" spc="60">
                <a:latin typeface="SimSun"/>
                <a:cs typeface="SimSun"/>
              </a:rPr>
              <a:t>部分）</a:t>
            </a:r>
            <a:r>
              <a:rPr dirty="0" sz="550" spc="55">
                <a:latin typeface="SimSun"/>
                <a:cs typeface="SimSun"/>
              </a:rPr>
              <a:t>及对应铝制标牌；</a:t>
            </a:r>
            <a:r>
              <a:rPr dirty="0" sz="550" spc="50">
                <a:latin typeface="SimSun"/>
                <a:cs typeface="SimSun"/>
              </a:rPr>
              <a:t>GPS</a:t>
            </a:r>
            <a:r>
              <a:rPr dirty="0" sz="550" spc="55">
                <a:latin typeface="SimSun"/>
                <a:cs typeface="SimSun"/>
              </a:rPr>
              <a:t>天线：</a:t>
            </a:r>
            <a:r>
              <a:rPr dirty="0" sz="550" spc="50">
                <a:latin typeface="SimSun"/>
                <a:cs typeface="SimSun"/>
              </a:rPr>
              <a:t>GPS天线是否绑扎铝制标牌</a:t>
            </a:r>
            <a:endParaRPr sz="550">
              <a:latin typeface="SimSun"/>
              <a:cs typeface="SimSun"/>
            </a:endParaRPr>
          </a:p>
        </p:txBody>
      </p:sp>
      <p:sp>
        <p:nvSpPr>
          <p:cNvPr id="12" name="object 12" descr=""/>
          <p:cNvSpPr txBox="1"/>
          <p:nvPr/>
        </p:nvSpPr>
        <p:spPr>
          <a:xfrm>
            <a:off x="4695042" y="4827804"/>
            <a:ext cx="2186940" cy="113664"/>
          </a:xfrm>
          <a:prstGeom prst="rect">
            <a:avLst/>
          </a:prstGeom>
        </p:spPr>
        <p:txBody>
          <a:bodyPr wrap="square" lIns="0" tIns="15875" rIns="0" bIns="0" rtlCol="0" vert="horz">
            <a:spAutoFit/>
          </a:bodyPr>
          <a:lstStyle/>
          <a:p>
            <a:pPr marL="12700">
              <a:lnSpc>
                <a:spcPct val="100000"/>
              </a:lnSpc>
              <a:spcBef>
                <a:spcPts val="125"/>
              </a:spcBef>
            </a:pPr>
            <a:r>
              <a:rPr dirty="0" sz="550" spc="55">
                <a:latin typeface="SimSun"/>
                <a:cs typeface="SimSun"/>
              </a:rPr>
              <a:t>采集机框序列号,采集每扇区</a:t>
            </a:r>
            <a:r>
              <a:rPr dirty="0" sz="550" spc="50">
                <a:latin typeface="SimSun"/>
                <a:cs typeface="SimSun"/>
              </a:rPr>
              <a:t>AAU</a:t>
            </a:r>
            <a:r>
              <a:rPr dirty="0" sz="550" spc="55">
                <a:latin typeface="SimSun"/>
                <a:cs typeface="SimSun"/>
              </a:rPr>
              <a:t>序列号，</a:t>
            </a:r>
            <a:r>
              <a:rPr dirty="0" sz="550" spc="50">
                <a:latin typeface="SimSun"/>
                <a:cs typeface="SimSun"/>
              </a:rPr>
              <a:t>LMT导出每板卡序列号</a:t>
            </a:r>
            <a:endParaRPr sz="550">
              <a:latin typeface="SimSun"/>
              <a:cs typeface="SimSun"/>
            </a:endParaRPr>
          </a:p>
        </p:txBody>
      </p:sp>
      <p:sp>
        <p:nvSpPr>
          <p:cNvPr id="13" name="object 13" descr=""/>
          <p:cNvSpPr txBox="1"/>
          <p:nvPr/>
        </p:nvSpPr>
        <p:spPr>
          <a:xfrm>
            <a:off x="4695042" y="3600481"/>
            <a:ext cx="3995420" cy="204470"/>
          </a:xfrm>
          <a:prstGeom prst="rect">
            <a:avLst/>
          </a:prstGeom>
        </p:spPr>
        <p:txBody>
          <a:bodyPr wrap="square" lIns="0" tIns="9525" rIns="0" bIns="0" rtlCol="0" vert="horz">
            <a:spAutoFit/>
          </a:bodyPr>
          <a:lstStyle/>
          <a:p>
            <a:pPr marL="12700" marR="5080">
              <a:lnSpc>
                <a:spcPct val="108000"/>
              </a:lnSpc>
              <a:spcBef>
                <a:spcPts val="75"/>
              </a:spcBef>
            </a:pPr>
            <a:r>
              <a:rPr dirty="0" sz="550" spc="55">
                <a:latin typeface="SimSun"/>
                <a:cs typeface="SimSun"/>
              </a:rPr>
              <a:t>防雷箱尽量选择靠近馈线窗的位置安装，严禁安装在馈线窗及壁挂式空调的正下方以及蓄电池组的正上方，尽量缩短</a:t>
            </a:r>
            <a:r>
              <a:rPr dirty="0" sz="550" spc="60">
                <a:latin typeface="SimSun"/>
                <a:cs typeface="SimSun"/>
              </a:rPr>
              <a:t>接地线至室外接地排的连接长度。安装高度宜为</a:t>
            </a:r>
            <a:r>
              <a:rPr dirty="0" sz="550" spc="50">
                <a:latin typeface="SimSun"/>
                <a:cs typeface="SimSun"/>
              </a:rPr>
              <a:t>1.4～1.8</a:t>
            </a:r>
            <a:r>
              <a:rPr dirty="0" sz="550" spc="55">
                <a:latin typeface="SimSun"/>
                <a:cs typeface="SimSun"/>
              </a:rPr>
              <a:t>米，方便安装及维护操作</a:t>
            </a:r>
            <a:endParaRPr sz="550">
              <a:latin typeface="SimSun"/>
              <a:cs typeface="SimSun"/>
            </a:endParaRPr>
          </a:p>
        </p:txBody>
      </p:sp>
      <p:sp>
        <p:nvSpPr>
          <p:cNvPr id="14" name="object 14" descr=""/>
          <p:cNvSpPr txBox="1"/>
          <p:nvPr/>
        </p:nvSpPr>
        <p:spPr>
          <a:xfrm>
            <a:off x="5455398" y="755580"/>
            <a:ext cx="1534160" cy="188595"/>
          </a:xfrm>
          <a:prstGeom prst="rect">
            <a:avLst/>
          </a:prstGeom>
        </p:spPr>
        <p:txBody>
          <a:bodyPr wrap="square" lIns="0" tIns="14604" rIns="0" bIns="0" rtlCol="0" vert="horz">
            <a:spAutoFit/>
          </a:bodyPr>
          <a:lstStyle/>
          <a:p>
            <a:pPr marL="12700">
              <a:lnSpc>
                <a:spcPct val="100000"/>
              </a:lnSpc>
              <a:spcBef>
                <a:spcPts val="114"/>
              </a:spcBef>
            </a:pPr>
            <a:r>
              <a:rPr dirty="0" sz="1050" spc="70">
                <a:solidFill>
                  <a:srgbClr val="FF0000"/>
                </a:solidFill>
                <a:latin typeface="SimSun"/>
                <a:cs typeface="SimSun"/>
              </a:rPr>
              <a:t>现场安装督导</a:t>
            </a:r>
            <a:r>
              <a:rPr dirty="0" sz="1050" spc="-10">
                <a:solidFill>
                  <a:srgbClr val="FF0000"/>
                </a:solidFill>
                <a:latin typeface="SimSun"/>
                <a:cs typeface="SimSun"/>
              </a:rPr>
              <a:t>checklist</a:t>
            </a:r>
            <a:endParaRPr sz="1050">
              <a:latin typeface="SimSun"/>
              <a:cs typeface="SimSun"/>
            </a:endParaRPr>
          </a:p>
        </p:txBody>
      </p:sp>
      <p:sp>
        <p:nvSpPr>
          <p:cNvPr id="15" name="object 15" descr=""/>
          <p:cNvSpPr txBox="1"/>
          <p:nvPr/>
        </p:nvSpPr>
        <p:spPr>
          <a:xfrm>
            <a:off x="3916725" y="1083621"/>
            <a:ext cx="570230" cy="113664"/>
          </a:xfrm>
          <a:prstGeom prst="rect">
            <a:avLst/>
          </a:prstGeom>
        </p:spPr>
        <p:txBody>
          <a:bodyPr wrap="square" lIns="0" tIns="15875" rIns="0" bIns="0" rtlCol="0" vert="horz">
            <a:spAutoFit/>
          </a:bodyPr>
          <a:lstStyle/>
          <a:p>
            <a:pPr marL="12700">
              <a:lnSpc>
                <a:spcPct val="100000"/>
              </a:lnSpc>
              <a:spcBef>
                <a:spcPts val="125"/>
              </a:spcBef>
            </a:pPr>
            <a:r>
              <a:rPr dirty="0" sz="550" spc="50">
                <a:latin typeface="SimSun"/>
                <a:cs typeface="SimSun"/>
              </a:rPr>
              <a:t>安装前检查工作</a:t>
            </a:r>
            <a:endParaRPr sz="550">
              <a:latin typeface="SimSun"/>
              <a:cs typeface="SimSun"/>
            </a:endParaRPr>
          </a:p>
        </p:txBody>
      </p:sp>
      <p:sp>
        <p:nvSpPr>
          <p:cNvPr id="16" name="object 16" descr=""/>
          <p:cNvSpPr txBox="1"/>
          <p:nvPr/>
        </p:nvSpPr>
        <p:spPr>
          <a:xfrm>
            <a:off x="4695042" y="919600"/>
            <a:ext cx="2593975" cy="113664"/>
          </a:xfrm>
          <a:prstGeom prst="rect">
            <a:avLst/>
          </a:prstGeom>
        </p:spPr>
        <p:txBody>
          <a:bodyPr wrap="square" lIns="0" tIns="15875" rIns="0" bIns="0" rtlCol="0" vert="horz">
            <a:spAutoFit/>
          </a:bodyPr>
          <a:lstStyle/>
          <a:p>
            <a:pPr marL="12700">
              <a:lnSpc>
                <a:spcPct val="100000"/>
              </a:lnSpc>
              <a:spcBef>
                <a:spcPts val="125"/>
              </a:spcBef>
            </a:pPr>
            <a:r>
              <a:rPr dirty="0" sz="550" spc="55">
                <a:latin typeface="SimSun"/>
                <a:cs typeface="SimSun"/>
              </a:rPr>
              <a:t>检查开关电源、走线架、天馈等配套是否满足建设要求，存在问题及时反映</a:t>
            </a:r>
            <a:endParaRPr sz="550">
              <a:latin typeface="SimSun"/>
              <a:cs typeface="SimSun"/>
            </a:endParaRPr>
          </a:p>
        </p:txBody>
      </p:sp>
      <p:sp>
        <p:nvSpPr>
          <p:cNvPr id="17" name="object 17" descr=""/>
          <p:cNvSpPr txBox="1"/>
          <p:nvPr/>
        </p:nvSpPr>
        <p:spPr>
          <a:xfrm>
            <a:off x="4695042" y="1027063"/>
            <a:ext cx="2905760" cy="113664"/>
          </a:xfrm>
          <a:prstGeom prst="rect">
            <a:avLst/>
          </a:prstGeom>
        </p:spPr>
        <p:txBody>
          <a:bodyPr wrap="square" lIns="0" tIns="15875" rIns="0" bIns="0" rtlCol="0" vert="horz">
            <a:spAutoFit/>
          </a:bodyPr>
          <a:lstStyle/>
          <a:p>
            <a:pPr marL="12700">
              <a:lnSpc>
                <a:spcPct val="100000"/>
              </a:lnSpc>
              <a:spcBef>
                <a:spcPts val="125"/>
              </a:spcBef>
            </a:pPr>
            <a:r>
              <a:rPr dirty="0" sz="550" spc="55">
                <a:latin typeface="SimSun"/>
                <a:cs typeface="SimSun"/>
              </a:rPr>
              <a:t>检查施工队所领取物料是否满足建设需求，避免出现物料短缺不能按照预期完成任务</a:t>
            </a:r>
            <a:endParaRPr sz="550">
              <a:latin typeface="SimSun"/>
              <a:cs typeface="SimSun"/>
            </a:endParaRPr>
          </a:p>
        </p:txBody>
      </p:sp>
      <p:sp>
        <p:nvSpPr>
          <p:cNvPr id="18" name="object 18" descr=""/>
          <p:cNvSpPr txBox="1"/>
          <p:nvPr/>
        </p:nvSpPr>
        <p:spPr>
          <a:xfrm>
            <a:off x="4695042" y="1151491"/>
            <a:ext cx="1971675" cy="113664"/>
          </a:xfrm>
          <a:prstGeom prst="rect">
            <a:avLst/>
          </a:prstGeom>
        </p:spPr>
        <p:txBody>
          <a:bodyPr wrap="square" lIns="0" tIns="15875" rIns="0" bIns="0" rtlCol="0" vert="horz">
            <a:spAutoFit/>
          </a:bodyPr>
          <a:lstStyle/>
          <a:p>
            <a:pPr marL="12700">
              <a:lnSpc>
                <a:spcPct val="100000"/>
              </a:lnSpc>
              <a:spcBef>
                <a:spcPts val="125"/>
              </a:spcBef>
            </a:pPr>
            <a:r>
              <a:rPr dirty="0" sz="550" spc="55">
                <a:latin typeface="SimSun"/>
                <a:cs typeface="SimSun"/>
              </a:rPr>
              <a:t>登高证、电工证、安全防护工具是否齐全并进行安全交底</a:t>
            </a:r>
            <a:endParaRPr sz="550">
              <a:latin typeface="SimSun"/>
              <a:cs typeface="SimSun"/>
            </a:endParaRPr>
          </a:p>
        </p:txBody>
      </p:sp>
      <p:sp>
        <p:nvSpPr>
          <p:cNvPr id="19" name="object 19" descr=""/>
          <p:cNvSpPr txBox="1"/>
          <p:nvPr/>
        </p:nvSpPr>
        <p:spPr>
          <a:xfrm>
            <a:off x="4695042" y="1258952"/>
            <a:ext cx="1971675" cy="113664"/>
          </a:xfrm>
          <a:prstGeom prst="rect">
            <a:avLst/>
          </a:prstGeom>
        </p:spPr>
        <p:txBody>
          <a:bodyPr wrap="square" lIns="0" tIns="15875" rIns="0" bIns="0" rtlCol="0" vert="horz">
            <a:spAutoFit/>
          </a:bodyPr>
          <a:lstStyle/>
          <a:p>
            <a:pPr marL="12700">
              <a:lnSpc>
                <a:spcPct val="100000"/>
              </a:lnSpc>
              <a:spcBef>
                <a:spcPts val="125"/>
              </a:spcBef>
            </a:pPr>
            <a:r>
              <a:rPr dirty="0" sz="550" spc="55">
                <a:latin typeface="SimSun"/>
                <a:cs typeface="SimSun"/>
              </a:rPr>
              <a:t>设置施工区域安全围栏，安全警示标志必须符合相关规定</a:t>
            </a:r>
            <a:endParaRPr sz="550">
              <a:latin typeface="SimSun"/>
              <a:cs typeface="SimSun"/>
            </a:endParaRPr>
          </a:p>
        </p:txBody>
      </p:sp>
      <p:sp>
        <p:nvSpPr>
          <p:cNvPr id="20" name="object 20" descr=""/>
          <p:cNvSpPr txBox="1"/>
          <p:nvPr/>
        </p:nvSpPr>
        <p:spPr>
          <a:xfrm>
            <a:off x="4048440" y="1632239"/>
            <a:ext cx="307340" cy="113664"/>
          </a:xfrm>
          <a:prstGeom prst="rect">
            <a:avLst/>
          </a:prstGeom>
        </p:spPr>
        <p:txBody>
          <a:bodyPr wrap="square" lIns="0" tIns="15875" rIns="0" bIns="0" rtlCol="0" vert="horz">
            <a:spAutoFit/>
          </a:bodyPr>
          <a:lstStyle/>
          <a:p>
            <a:pPr marL="12700">
              <a:lnSpc>
                <a:spcPct val="100000"/>
              </a:lnSpc>
              <a:spcBef>
                <a:spcPts val="125"/>
              </a:spcBef>
            </a:pPr>
            <a:r>
              <a:rPr dirty="0" sz="550" spc="50">
                <a:latin typeface="SimSun"/>
                <a:cs typeface="SimSun"/>
              </a:rPr>
              <a:t>AAU</a:t>
            </a:r>
            <a:r>
              <a:rPr dirty="0" sz="550" spc="35">
                <a:latin typeface="SimSun"/>
                <a:cs typeface="SimSun"/>
              </a:rPr>
              <a:t>安装</a:t>
            </a:r>
            <a:endParaRPr sz="550">
              <a:latin typeface="SimSun"/>
              <a:cs typeface="SimSun"/>
            </a:endParaRPr>
          </a:p>
        </p:txBody>
      </p:sp>
      <p:sp>
        <p:nvSpPr>
          <p:cNvPr id="21" name="object 21" descr=""/>
          <p:cNvSpPr txBox="1"/>
          <p:nvPr/>
        </p:nvSpPr>
        <p:spPr>
          <a:xfrm>
            <a:off x="4695042" y="1400348"/>
            <a:ext cx="4013200" cy="204470"/>
          </a:xfrm>
          <a:prstGeom prst="rect">
            <a:avLst/>
          </a:prstGeom>
        </p:spPr>
        <p:txBody>
          <a:bodyPr wrap="square" lIns="0" tIns="9525" rIns="0" bIns="0" rtlCol="0" vert="horz">
            <a:spAutoFit/>
          </a:bodyPr>
          <a:lstStyle/>
          <a:p>
            <a:pPr marL="12700" marR="5080">
              <a:lnSpc>
                <a:spcPct val="108000"/>
              </a:lnSpc>
              <a:spcBef>
                <a:spcPts val="75"/>
              </a:spcBef>
            </a:pPr>
            <a:r>
              <a:rPr dirty="0" sz="550" spc="50">
                <a:latin typeface="SimSun"/>
                <a:cs typeface="SimSun"/>
              </a:rPr>
              <a:t>AAU</a:t>
            </a:r>
            <a:r>
              <a:rPr dirty="0" sz="550" spc="60">
                <a:latin typeface="SimSun"/>
                <a:cs typeface="SimSun"/>
              </a:rPr>
              <a:t>天线面背部安装支架时禁止施工人员跨坐在</a:t>
            </a:r>
            <a:r>
              <a:rPr dirty="0" sz="550" spc="50">
                <a:latin typeface="SimSun"/>
                <a:cs typeface="SimSun"/>
              </a:rPr>
              <a:t>AAU</a:t>
            </a:r>
            <a:r>
              <a:rPr dirty="0" sz="550" spc="55">
                <a:latin typeface="SimSun"/>
                <a:cs typeface="SimSun"/>
              </a:rPr>
              <a:t>上，且要求天线面垫有泡沫等其他软质材料，防止天线面刮花或者破损，表面干净整洁，无磕碰、变形、开裂</a:t>
            </a:r>
            <a:endParaRPr sz="550">
              <a:latin typeface="SimSun"/>
              <a:cs typeface="SimSun"/>
            </a:endParaRPr>
          </a:p>
        </p:txBody>
      </p:sp>
      <p:sp>
        <p:nvSpPr>
          <p:cNvPr id="22" name="object 22" descr=""/>
          <p:cNvSpPr txBox="1"/>
          <p:nvPr/>
        </p:nvSpPr>
        <p:spPr>
          <a:xfrm>
            <a:off x="4695042" y="1598305"/>
            <a:ext cx="3168650" cy="113664"/>
          </a:xfrm>
          <a:prstGeom prst="rect">
            <a:avLst/>
          </a:prstGeom>
        </p:spPr>
        <p:txBody>
          <a:bodyPr wrap="square" lIns="0" tIns="15875" rIns="0" bIns="0" rtlCol="0" vert="horz">
            <a:spAutoFit/>
          </a:bodyPr>
          <a:lstStyle/>
          <a:p>
            <a:pPr marL="12700">
              <a:lnSpc>
                <a:spcPct val="100000"/>
              </a:lnSpc>
              <a:spcBef>
                <a:spcPts val="125"/>
              </a:spcBef>
            </a:pPr>
            <a:r>
              <a:rPr dirty="0" sz="550" spc="50">
                <a:latin typeface="SimSun"/>
                <a:cs typeface="SimSun"/>
              </a:rPr>
              <a:t>AAU</a:t>
            </a:r>
            <a:r>
              <a:rPr dirty="0" sz="550" spc="60">
                <a:latin typeface="SimSun"/>
                <a:cs typeface="SimSun"/>
              </a:rPr>
              <a:t>吊装过程必须</a:t>
            </a:r>
            <a:r>
              <a:rPr dirty="0" sz="550" spc="50">
                <a:latin typeface="SimSun"/>
                <a:cs typeface="SimSun"/>
              </a:rPr>
              <a:t>4</a:t>
            </a:r>
            <a:r>
              <a:rPr dirty="0" sz="550" spc="60">
                <a:latin typeface="SimSun"/>
                <a:cs typeface="SimSun"/>
              </a:rPr>
              <a:t>人参与，使用粗麻绳，且有牵引绳控制</a:t>
            </a:r>
            <a:r>
              <a:rPr dirty="0" sz="550" spc="50">
                <a:latin typeface="SimSun"/>
                <a:cs typeface="SimSun"/>
              </a:rPr>
              <a:t>AAU</a:t>
            </a:r>
            <a:r>
              <a:rPr dirty="0" sz="550" spc="60">
                <a:latin typeface="SimSun"/>
                <a:cs typeface="SimSun"/>
              </a:rPr>
              <a:t>摆幅，防止</a:t>
            </a:r>
            <a:r>
              <a:rPr dirty="0" sz="550" spc="50">
                <a:latin typeface="SimSun"/>
                <a:cs typeface="SimSun"/>
              </a:rPr>
              <a:t>AAU与塔体发生碰撞</a:t>
            </a:r>
            <a:endParaRPr sz="550">
              <a:latin typeface="SimSun"/>
              <a:cs typeface="SimSun"/>
            </a:endParaRPr>
          </a:p>
        </p:txBody>
      </p:sp>
      <p:sp>
        <p:nvSpPr>
          <p:cNvPr id="23" name="object 23" descr=""/>
          <p:cNvSpPr txBox="1"/>
          <p:nvPr/>
        </p:nvSpPr>
        <p:spPr>
          <a:xfrm>
            <a:off x="4695042" y="1705766"/>
            <a:ext cx="2851785" cy="113664"/>
          </a:xfrm>
          <a:prstGeom prst="rect">
            <a:avLst/>
          </a:prstGeom>
        </p:spPr>
        <p:txBody>
          <a:bodyPr wrap="square" lIns="0" tIns="15875" rIns="0" bIns="0" rtlCol="0" vert="horz">
            <a:spAutoFit/>
          </a:bodyPr>
          <a:lstStyle/>
          <a:p>
            <a:pPr marL="12700">
              <a:lnSpc>
                <a:spcPct val="100000"/>
              </a:lnSpc>
              <a:spcBef>
                <a:spcPts val="125"/>
              </a:spcBef>
            </a:pPr>
            <a:r>
              <a:rPr dirty="0" sz="550" spc="50">
                <a:latin typeface="SimSun"/>
                <a:cs typeface="SimSun"/>
              </a:rPr>
              <a:t>AAU</a:t>
            </a:r>
            <a:r>
              <a:rPr dirty="0" sz="550" spc="60">
                <a:latin typeface="SimSun"/>
                <a:cs typeface="SimSun"/>
              </a:rPr>
              <a:t>挂高（</a:t>
            </a:r>
            <a:r>
              <a:rPr dirty="0" sz="550" spc="55">
                <a:latin typeface="SimSun"/>
                <a:cs typeface="SimSun"/>
              </a:rPr>
              <a:t>误差≤</a:t>
            </a:r>
            <a:r>
              <a:rPr dirty="0" sz="550" spc="50">
                <a:latin typeface="SimSun"/>
                <a:cs typeface="SimSun"/>
              </a:rPr>
              <a:t>10%）</a:t>
            </a:r>
            <a:r>
              <a:rPr dirty="0" sz="550" spc="60">
                <a:latin typeface="SimSun"/>
                <a:cs typeface="SimSun"/>
              </a:rPr>
              <a:t>、方位角（</a:t>
            </a:r>
            <a:r>
              <a:rPr dirty="0" sz="550" spc="55">
                <a:latin typeface="SimSun"/>
                <a:cs typeface="SimSun"/>
              </a:rPr>
              <a:t>误差≤5</a:t>
            </a:r>
            <a:r>
              <a:rPr dirty="0" sz="550" spc="60">
                <a:latin typeface="SimSun"/>
                <a:cs typeface="SimSun"/>
              </a:rPr>
              <a:t>度）、下倾角（</a:t>
            </a:r>
            <a:r>
              <a:rPr dirty="0" sz="550" spc="55">
                <a:latin typeface="SimSun"/>
                <a:cs typeface="SimSun"/>
              </a:rPr>
              <a:t>误差≤1</a:t>
            </a:r>
            <a:r>
              <a:rPr dirty="0" sz="550" spc="60">
                <a:latin typeface="SimSun"/>
                <a:cs typeface="SimSun"/>
              </a:rPr>
              <a:t>度）</a:t>
            </a:r>
            <a:r>
              <a:rPr dirty="0" sz="550" spc="50">
                <a:latin typeface="SimSun"/>
                <a:cs typeface="SimSun"/>
              </a:rPr>
              <a:t>与设计一致</a:t>
            </a:r>
            <a:endParaRPr sz="550">
              <a:latin typeface="SimSun"/>
              <a:cs typeface="SimSun"/>
            </a:endParaRPr>
          </a:p>
        </p:txBody>
      </p:sp>
      <p:sp>
        <p:nvSpPr>
          <p:cNvPr id="24" name="object 24" descr=""/>
          <p:cNvSpPr txBox="1"/>
          <p:nvPr/>
        </p:nvSpPr>
        <p:spPr>
          <a:xfrm>
            <a:off x="4695042" y="1813227"/>
            <a:ext cx="3576320" cy="113664"/>
          </a:xfrm>
          <a:prstGeom prst="rect">
            <a:avLst/>
          </a:prstGeom>
        </p:spPr>
        <p:txBody>
          <a:bodyPr wrap="square" lIns="0" tIns="15875" rIns="0" bIns="0" rtlCol="0" vert="horz">
            <a:spAutoFit/>
          </a:bodyPr>
          <a:lstStyle/>
          <a:p>
            <a:pPr marL="12700">
              <a:lnSpc>
                <a:spcPct val="100000"/>
              </a:lnSpc>
              <a:spcBef>
                <a:spcPts val="125"/>
              </a:spcBef>
            </a:pPr>
            <a:r>
              <a:rPr dirty="0" sz="550" spc="50">
                <a:latin typeface="SimSun"/>
                <a:cs typeface="SimSun"/>
              </a:rPr>
              <a:t>AAU</a:t>
            </a:r>
            <a:r>
              <a:rPr dirty="0" sz="550" spc="55">
                <a:latin typeface="SimSun"/>
                <a:cs typeface="SimSun"/>
              </a:rPr>
              <a:t>电源线、接地线端子型号和线缆直径相符，芯线剪切齐整，不得剪除部分芯线后用小号压线端子压接</a:t>
            </a:r>
            <a:endParaRPr sz="550">
              <a:latin typeface="SimSun"/>
              <a:cs typeface="SimSun"/>
            </a:endParaRPr>
          </a:p>
        </p:txBody>
      </p:sp>
      <p:sp>
        <p:nvSpPr>
          <p:cNvPr id="25" name="object 25" descr=""/>
          <p:cNvSpPr txBox="1"/>
          <p:nvPr/>
        </p:nvSpPr>
        <p:spPr>
          <a:xfrm>
            <a:off x="4695042" y="1920689"/>
            <a:ext cx="2875280" cy="113664"/>
          </a:xfrm>
          <a:prstGeom prst="rect">
            <a:avLst/>
          </a:prstGeom>
        </p:spPr>
        <p:txBody>
          <a:bodyPr wrap="square" lIns="0" tIns="15875" rIns="0" bIns="0" rtlCol="0" vert="horz">
            <a:spAutoFit/>
          </a:bodyPr>
          <a:lstStyle/>
          <a:p>
            <a:pPr marL="12700">
              <a:lnSpc>
                <a:spcPct val="100000"/>
              </a:lnSpc>
              <a:spcBef>
                <a:spcPts val="125"/>
              </a:spcBef>
            </a:pPr>
            <a:r>
              <a:rPr dirty="0" sz="550" spc="50">
                <a:latin typeface="SimSun"/>
                <a:cs typeface="SimSun"/>
              </a:rPr>
              <a:t>AAU</a:t>
            </a:r>
            <a:r>
              <a:rPr dirty="0" sz="550" spc="55">
                <a:latin typeface="SimSun"/>
                <a:cs typeface="SimSun"/>
              </a:rPr>
              <a:t>电源线连接完成后，电源连接器应进行防尘防盐雾保护，要求防水交代缠绕一层</a:t>
            </a:r>
            <a:endParaRPr sz="550">
              <a:latin typeface="SimSun"/>
              <a:cs typeface="SimSun"/>
            </a:endParaRPr>
          </a:p>
        </p:txBody>
      </p:sp>
      <p:sp>
        <p:nvSpPr>
          <p:cNvPr id="26" name="object 26" descr=""/>
          <p:cNvSpPr txBox="1"/>
          <p:nvPr/>
        </p:nvSpPr>
        <p:spPr>
          <a:xfrm>
            <a:off x="3892777" y="3617448"/>
            <a:ext cx="624205" cy="113664"/>
          </a:xfrm>
          <a:prstGeom prst="rect">
            <a:avLst/>
          </a:prstGeom>
        </p:spPr>
        <p:txBody>
          <a:bodyPr wrap="square" lIns="0" tIns="15875" rIns="0" bIns="0" rtlCol="0" vert="horz">
            <a:spAutoFit/>
          </a:bodyPr>
          <a:lstStyle/>
          <a:p>
            <a:pPr marL="12700">
              <a:lnSpc>
                <a:spcPct val="100000"/>
              </a:lnSpc>
              <a:spcBef>
                <a:spcPts val="125"/>
              </a:spcBef>
            </a:pPr>
            <a:r>
              <a:rPr dirty="0" sz="550" spc="50">
                <a:latin typeface="SimSun"/>
                <a:cs typeface="SimSun"/>
              </a:rPr>
              <a:t>DCPD/防雷箱安装</a:t>
            </a:r>
            <a:endParaRPr sz="550">
              <a:latin typeface="SimSun"/>
              <a:cs typeface="SimSun"/>
            </a:endParaRPr>
          </a:p>
        </p:txBody>
      </p:sp>
      <p:sp>
        <p:nvSpPr>
          <p:cNvPr id="27" name="object 27" descr=""/>
          <p:cNvSpPr txBox="1"/>
          <p:nvPr/>
        </p:nvSpPr>
        <p:spPr>
          <a:xfrm>
            <a:off x="4695042" y="3509987"/>
            <a:ext cx="3091180" cy="113664"/>
          </a:xfrm>
          <a:prstGeom prst="rect">
            <a:avLst/>
          </a:prstGeom>
        </p:spPr>
        <p:txBody>
          <a:bodyPr wrap="square" lIns="0" tIns="15875" rIns="0" bIns="0" rtlCol="0" vert="horz">
            <a:spAutoFit/>
          </a:bodyPr>
          <a:lstStyle/>
          <a:p>
            <a:pPr marL="12700">
              <a:lnSpc>
                <a:spcPct val="100000"/>
              </a:lnSpc>
              <a:spcBef>
                <a:spcPts val="125"/>
              </a:spcBef>
            </a:pPr>
            <a:r>
              <a:rPr dirty="0" sz="550" spc="60">
                <a:latin typeface="SimSun"/>
                <a:cs typeface="SimSun"/>
              </a:rPr>
              <a:t>理线架应安装在机柜</a:t>
            </a:r>
            <a:r>
              <a:rPr dirty="0" sz="550" spc="50">
                <a:latin typeface="SimSun"/>
                <a:cs typeface="SimSun"/>
              </a:rPr>
              <a:t>DCPD</a:t>
            </a:r>
            <a:r>
              <a:rPr dirty="0" sz="550" spc="60">
                <a:latin typeface="SimSun"/>
                <a:cs typeface="SimSun"/>
              </a:rPr>
              <a:t>下侧</a:t>
            </a:r>
            <a:r>
              <a:rPr dirty="0" sz="550" spc="50">
                <a:latin typeface="SimSun"/>
                <a:cs typeface="SimSun"/>
              </a:rPr>
              <a:t>1U</a:t>
            </a:r>
            <a:r>
              <a:rPr dirty="0" sz="550" spc="55">
                <a:latin typeface="SimSun"/>
                <a:cs typeface="SimSun"/>
              </a:rPr>
              <a:t>处，</a:t>
            </a:r>
            <a:r>
              <a:rPr dirty="0" sz="550" spc="50">
                <a:latin typeface="SimSun"/>
                <a:cs typeface="SimSun"/>
              </a:rPr>
              <a:t>DCPD</a:t>
            </a:r>
            <a:r>
              <a:rPr dirty="0" sz="550" spc="55">
                <a:latin typeface="SimSun"/>
                <a:cs typeface="SimSun"/>
              </a:rPr>
              <a:t>输出电源线必须帮扎在理线架上，绑扎整齐牢固</a:t>
            </a:r>
            <a:endParaRPr sz="550">
              <a:latin typeface="SimSun"/>
              <a:cs typeface="SimSun"/>
            </a:endParaRPr>
          </a:p>
        </p:txBody>
      </p:sp>
      <p:sp>
        <p:nvSpPr>
          <p:cNvPr id="28" name="object 28" descr=""/>
          <p:cNvSpPr txBox="1"/>
          <p:nvPr/>
        </p:nvSpPr>
        <p:spPr>
          <a:xfrm>
            <a:off x="4695042" y="2016838"/>
            <a:ext cx="3971290" cy="204470"/>
          </a:xfrm>
          <a:prstGeom prst="rect">
            <a:avLst/>
          </a:prstGeom>
        </p:spPr>
        <p:txBody>
          <a:bodyPr wrap="square" lIns="0" tIns="9525" rIns="0" bIns="0" rtlCol="0" vert="horz">
            <a:spAutoFit/>
          </a:bodyPr>
          <a:lstStyle/>
          <a:p>
            <a:pPr marL="12700" marR="5080">
              <a:lnSpc>
                <a:spcPct val="108000"/>
              </a:lnSpc>
              <a:spcBef>
                <a:spcPts val="75"/>
              </a:spcBef>
            </a:pPr>
            <a:r>
              <a:rPr dirty="0" sz="550" spc="60">
                <a:latin typeface="SimSun"/>
                <a:cs typeface="SimSun"/>
              </a:rPr>
              <a:t>面板前方进风口处禁止遮挡，影响设备进风，建议如有风路相反设备则需要安装在</a:t>
            </a:r>
            <a:r>
              <a:rPr dirty="0" sz="550" spc="50">
                <a:latin typeface="SimSun"/>
                <a:cs typeface="SimSun"/>
              </a:rPr>
              <a:t>5GBBU</a:t>
            </a:r>
            <a:r>
              <a:rPr dirty="0" sz="550" spc="55">
                <a:latin typeface="SimSun"/>
                <a:cs typeface="SimSun"/>
              </a:rPr>
              <a:t>设备下方，并且两个设备间</a:t>
            </a:r>
            <a:r>
              <a:rPr dirty="0" sz="550" spc="60">
                <a:latin typeface="SimSun"/>
                <a:cs typeface="SimSun"/>
              </a:rPr>
              <a:t>要留出</a:t>
            </a:r>
            <a:r>
              <a:rPr dirty="0" sz="550" spc="50">
                <a:latin typeface="SimSun"/>
                <a:cs typeface="SimSun"/>
              </a:rPr>
              <a:t>5U</a:t>
            </a:r>
            <a:r>
              <a:rPr dirty="0" sz="550" spc="45">
                <a:latin typeface="SimSun"/>
                <a:cs typeface="SimSun"/>
              </a:rPr>
              <a:t>散热空间</a:t>
            </a:r>
            <a:endParaRPr sz="550">
              <a:latin typeface="SimSun"/>
              <a:cs typeface="SimSun"/>
            </a:endParaRPr>
          </a:p>
        </p:txBody>
      </p:sp>
      <p:sp>
        <p:nvSpPr>
          <p:cNvPr id="29" name="object 29" descr=""/>
          <p:cNvSpPr txBox="1"/>
          <p:nvPr/>
        </p:nvSpPr>
        <p:spPr>
          <a:xfrm>
            <a:off x="4048440" y="2701198"/>
            <a:ext cx="307340" cy="113664"/>
          </a:xfrm>
          <a:prstGeom prst="rect">
            <a:avLst/>
          </a:prstGeom>
        </p:spPr>
        <p:txBody>
          <a:bodyPr wrap="square" lIns="0" tIns="15875" rIns="0" bIns="0" rtlCol="0" vert="horz">
            <a:spAutoFit/>
          </a:bodyPr>
          <a:lstStyle/>
          <a:p>
            <a:pPr marL="12700">
              <a:lnSpc>
                <a:spcPct val="100000"/>
              </a:lnSpc>
              <a:spcBef>
                <a:spcPts val="125"/>
              </a:spcBef>
            </a:pPr>
            <a:r>
              <a:rPr dirty="0" sz="550" spc="50">
                <a:latin typeface="SimSun"/>
                <a:cs typeface="SimSun"/>
              </a:rPr>
              <a:t>GPS</a:t>
            </a:r>
            <a:r>
              <a:rPr dirty="0" sz="550" spc="35">
                <a:latin typeface="SimSun"/>
                <a:cs typeface="SimSun"/>
              </a:rPr>
              <a:t>安装</a:t>
            </a:r>
            <a:endParaRPr sz="550">
              <a:latin typeface="SimSun"/>
              <a:cs typeface="SimSun"/>
            </a:endParaRPr>
          </a:p>
        </p:txBody>
      </p:sp>
      <p:sp>
        <p:nvSpPr>
          <p:cNvPr id="30" name="object 30" descr=""/>
          <p:cNvSpPr txBox="1"/>
          <p:nvPr/>
        </p:nvSpPr>
        <p:spPr>
          <a:xfrm>
            <a:off x="4048440" y="2180859"/>
            <a:ext cx="4432300" cy="391160"/>
          </a:xfrm>
          <a:prstGeom prst="rect">
            <a:avLst/>
          </a:prstGeom>
        </p:spPr>
        <p:txBody>
          <a:bodyPr wrap="square" lIns="0" tIns="15875" rIns="0" bIns="0" rtlCol="0" vert="horz">
            <a:spAutoFit/>
          </a:bodyPr>
          <a:lstStyle/>
          <a:p>
            <a:pPr marL="12700">
              <a:lnSpc>
                <a:spcPts val="575"/>
              </a:lnSpc>
              <a:spcBef>
                <a:spcPts val="125"/>
              </a:spcBef>
            </a:pPr>
            <a:r>
              <a:rPr dirty="0" sz="550" spc="50">
                <a:latin typeface="SimSun"/>
                <a:cs typeface="SimSun"/>
              </a:rPr>
              <a:t>BBU</a:t>
            </a:r>
            <a:r>
              <a:rPr dirty="0" sz="550" spc="35">
                <a:latin typeface="SimSun"/>
                <a:cs typeface="SimSun"/>
              </a:rPr>
              <a:t>安装</a:t>
            </a:r>
            <a:endParaRPr sz="550">
              <a:latin typeface="SimSun"/>
              <a:cs typeface="SimSun"/>
            </a:endParaRPr>
          </a:p>
          <a:p>
            <a:pPr marL="659130">
              <a:lnSpc>
                <a:spcPts val="575"/>
              </a:lnSpc>
            </a:pPr>
            <a:r>
              <a:rPr dirty="0" sz="550" spc="50">
                <a:latin typeface="SimSun"/>
                <a:cs typeface="SimSun"/>
              </a:rPr>
              <a:t>BBU</a:t>
            </a:r>
            <a:r>
              <a:rPr dirty="0" sz="550" spc="60">
                <a:latin typeface="SimSun"/>
                <a:cs typeface="SimSun"/>
              </a:rPr>
              <a:t>在</a:t>
            </a:r>
            <a:r>
              <a:rPr dirty="0" sz="550" spc="50">
                <a:latin typeface="SimSun"/>
                <a:cs typeface="SimSun"/>
              </a:rPr>
              <a:t>19</a:t>
            </a:r>
            <a:r>
              <a:rPr dirty="0" sz="550" spc="55">
                <a:latin typeface="SimSun"/>
                <a:cs typeface="SimSun"/>
              </a:rPr>
              <a:t>寸标准机柜安装时建议使用托盘或托架安装</a:t>
            </a:r>
            <a:endParaRPr sz="550">
              <a:latin typeface="SimSun"/>
              <a:cs typeface="SimSun"/>
            </a:endParaRPr>
          </a:p>
          <a:p>
            <a:pPr marL="659130">
              <a:lnSpc>
                <a:spcPct val="100000"/>
              </a:lnSpc>
              <a:spcBef>
                <a:spcPts val="190"/>
              </a:spcBef>
            </a:pPr>
            <a:r>
              <a:rPr dirty="0" sz="550" spc="55">
                <a:latin typeface="SimSun"/>
                <a:cs typeface="SimSun"/>
              </a:rPr>
              <a:t>防静电手环安装到位，</a:t>
            </a:r>
            <a:r>
              <a:rPr dirty="0" sz="550" spc="50">
                <a:latin typeface="SimSun"/>
                <a:cs typeface="SimSun"/>
              </a:rPr>
              <a:t>BBU</a:t>
            </a:r>
            <a:r>
              <a:rPr dirty="0" sz="550" spc="60">
                <a:latin typeface="SimSun"/>
                <a:cs typeface="SimSun"/>
              </a:rPr>
              <a:t>接地线连接可靠，使用</a:t>
            </a:r>
            <a:r>
              <a:rPr dirty="0" sz="550">
                <a:latin typeface="SimSun"/>
                <a:cs typeface="SimSun"/>
              </a:rPr>
              <a:t>RVZ</a:t>
            </a:r>
            <a:r>
              <a:rPr dirty="0" sz="550" spc="225">
                <a:latin typeface="SimSun"/>
                <a:cs typeface="SimSun"/>
              </a:rPr>
              <a:t> </a:t>
            </a:r>
            <a:r>
              <a:rPr dirty="0" sz="550" spc="50">
                <a:latin typeface="SimSun"/>
                <a:cs typeface="SimSun"/>
              </a:rPr>
              <a:t>16mm2黄绿电源线</a:t>
            </a:r>
            <a:endParaRPr sz="550">
              <a:latin typeface="SimSun"/>
              <a:cs typeface="SimSun"/>
            </a:endParaRPr>
          </a:p>
          <a:p>
            <a:pPr marL="659130">
              <a:lnSpc>
                <a:spcPct val="100000"/>
              </a:lnSpc>
              <a:spcBef>
                <a:spcPts val="185"/>
              </a:spcBef>
            </a:pPr>
            <a:r>
              <a:rPr dirty="0" sz="550" spc="50">
                <a:latin typeface="SimSun"/>
                <a:cs typeface="SimSun"/>
              </a:rPr>
              <a:t>GPS</a:t>
            </a:r>
            <a:r>
              <a:rPr dirty="0" sz="550" spc="60">
                <a:latin typeface="SimSun"/>
                <a:cs typeface="SimSun"/>
              </a:rPr>
              <a:t>应安装在避雷针有效保护范围内，安装在较空旷位置，上方</a:t>
            </a:r>
            <a:r>
              <a:rPr dirty="0" sz="550">
                <a:latin typeface="SimSun"/>
                <a:cs typeface="SimSun"/>
              </a:rPr>
              <a:t>90</a:t>
            </a:r>
            <a:r>
              <a:rPr dirty="0" sz="550" spc="80">
                <a:latin typeface="SimSun"/>
                <a:cs typeface="SimSun"/>
              </a:rPr>
              <a:t> 度范围内</a:t>
            </a:r>
            <a:r>
              <a:rPr dirty="0" sz="550" spc="60">
                <a:latin typeface="SimSun"/>
                <a:cs typeface="SimSun"/>
              </a:rPr>
              <a:t>（至少南向</a:t>
            </a:r>
            <a:r>
              <a:rPr dirty="0" sz="550" spc="55">
                <a:latin typeface="SimSun"/>
                <a:cs typeface="SimSun"/>
              </a:rPr>
              <a:t>45°）</a:t>
            </a:r>
            <a:r>
              <a:rPr dirty="0" sz="550" spc="50">
                <a:latin typeface="SimSun"/>
                <a:cs typeface="SimSun"/>
              </a:rPr>
              <a:t>应无建筑物遮挡</a:t>
            </a:r>
            <a:endParaRPr sz="550">
              <a:latin typeface="SimSun"/>
              <a:cs typeface="SimSun"/>
            </a:endParaRPr>
          </a:p>
        </p:txBody>
      </p:sp>
      <p:sp>
        <p:nvSpPr>
          <p:cNvPr id="31" name="object 31" descr=""/>
          <p:cNvSpPr txBox="1"/>
          <p:nvPr/>
        </p:nvSpPr>
        <p:spPr>
          <a:xfrm>
            <a:off x="4695042" y="2588080"/>
            <a:ext cx="4006850" cy="385445"/>
          </a:xfrm>
          <a:prstGeom prst="rect">
            <a:avLst/>
          </a:prstGeom>
        </p:spPr>
        <p:txBody>
          <a:bodyPr wrap="square" lIns="0" tIns="9525" rIns="0" bIns="0" rtlCol="0" vert="horz">
            <a:spAutoFit/>
          </a:bodyPr>
          <a:lstStyle/>
          <a:p>
            <a:pPr marL="12700" marR="5080">
              <a:lnSpc>
                <a:spcPct val="108000"/>
              </a:lnSpc>
              <a:spcBef>
                <a:spcPts val="75"/>
              </a:spcBef>
            </a:pPr>
            <a:r>
              <a:rPr dirty="0" sz="550" spc="60">
                <a:latin typeface="SimSun"/>
                <a:cs typeface="SimSun"/>
              </a:rPr>
              <a:t>离开</a:t>
            </a:r>
            <a:r>
              <a:rPr dirty="0" sz="550" spc="50">
                <a:latin typeface="SimSun"/>
                <a:cs typeface="SimSun"/>
              </a:rPr>
              <a:t>GPS</a:t>
            </a:r>
            <a:r>
              <a:rPr dirty="0" sz="550" spc="60">
                <a:latin typeface="SimSun"/>
                <a:cs typeface="SimSun"/>
              </a:rPr>
              <a:t>天线</a:t>
            </a:r>
            <a:r>
              <a:rPr dirty="0" sz="550" spc="50">
                <a:latin typeface="SimSun"/>
                <a:cs typeface="SimSun"/>
              </a:rPr>
              <a:t>1m</a:t>
            </a:r>
            <a:r>
              <a:rPr dirty="0" sz="550" spc="60">
                <a:latin typeface="SimSun"/>
                <a:cs typeface="SimSun"/>
              </a:rPr>
              <a:t>处，选择射频馈线平直部位，必须做一处馈线屏蔽层接地，连接至就近接地点，进入馈线窗前</a:t>
            </a:r>
            <a:r>
              <a:rPr dirty="0" sz="550" spc="50">
                <a:latin typeface="SimSun"/>
                <a:cs typeface="SimSun"/>
              </a:rPr>
              <a:t>1m</a:t>
            </a:r>
            <a:r>
              <a:rPr dirty="0" sz="550" spc="35">
                <a:latin typeface="SimSun"/>
                <a:cs typeface="SimSun"/>
              </a:rPr>
              <a:t>范围</a:t>
            </a:r>
            <a:r>
              <a:rPr dirty="0" sz="550" spc="60">
                <a:latin typeface="SimSun"/>
                <a:cs typeface="SimSun"/>
              </a:rPr>
              <a:t>内的平直部位必须做一处接地，连接至馈线窗处的室外地排。一般的线缆长度在</a:t>
            </a:r>
            <a:r>
              <a:rPr dirty="0" sz="550">
                <a:latin typeface="SimSun"/>
                <a:cs typeface="SimSun"/>
              </a:rPr>
              <a:t>10m</a:t>
            </a:r>
            <a:r>
              <a:rPr dirty="0" sz="550" spc="35">
                <a:latin typeface="SimSun"/>
                <a:cs typeface="SimSun"/>
              </a:rPr>
              <a:t> 以内做一点接地，位置在进入馈</a:t>
            </a:r>
            <a:r>
              <a:rPr dirty="0" sz="550" spc="60">
                <a:latin typeface="SimSun"/>
                <a:cs typeface="SimSun"/>
              </a:rPr>
              <a:t>线窗前</a:t>
            </a:r>
            <a:r>
              <a:rPr dirty="0" sz="550" spc="50">
                <a:latin typeface="SimSun"/>
                <a:cs typeface="SimSun"/>
              </a:rPr>
              <a:t>1m</a:t>
            </a:r>
            <a:r>
              <a:rPr dirty="0" sz="550" spc="60">
                <a:latin typeface="SimSun"/>
                <a:cs typeface="SimSun"/>
              </a:rPr>
              <a:t>范围内；长度在</a:t>
            </a:r>
            <a:r>
              <a:rPr dirty="0" sz="550">
                <a:latin typeface="SimSun"/>
                <a:cs typeface="SimSun"/>
              </a:rPr>
              <a:t>10～60m</a:t>
            </a:r>
            <a:r>
              <a:rPr dirty="0" sz="550" spc="60">
                <a:latin typeface="SimSun"/>
                <a:cs typeface="SimSun"/>
              </a:rPr>
              <a:t> 以内做两点接地，位置分别在离开天线或</a:t>
            </a:r>
            <a:r>
              <a:rPr dirty="0" sz="550" spc="50">
                <a:latin typeface="SimSun"/>
                <a:cs typeface="SimSun"/>
              </a:rPr>
              <a:t>GPS</a:t>
            </a:r>
            <a:r>
              <a:rPr dirty="0" sz="550" spc="60">
                <a:latin typeface="SimSun"/>
                <a:cs typeface="SimSun"/>
              </a:rPr>
              <a:t>天线</a:t>
            </a:r>
            <a:r>
              <a:rPr dirty="0" sz="550" spc="50">
                <a:latin typeface="SimSun"/>
                <a:cs typeface="SimSun"/>
              </a:rPr>
              <a:t>1m</a:t>
            </a:r>
            <a:r>
              <a:rPr dirty="0" sz="550" spc="60">
                <a:latin typeface="SimSun"/>
                <a:cs typeface="SimSun"/>
              </a:rPr>
              <a:t>范围内和进入馈线窗前</a:t>
            </a:r>
            <a:r>
              <a:rPr dirty="0" sz="550" spc="50">
                <a:latin typeface="SimSun"/>
                <a:cs typeface="SimSun"/>
              </a:rPr>
              <a:t>1m</a:t>
            </a:r>
            <a:r>
              <a:rPr dirty="0" sz="550" spc="35">
                <a:latin typeface="SimSun"/>
                <a:cs typeface="SimSun"/>
              </a:rPr>
              <a:t>范围</a:t>
            </a:r>
            <a:r>
              <a:rPr dirty="0" sz="550" spc="60">
                <a:latin typeface="SimSun"/>
                <a:cs typeface="SimSun"/>
              </a:rPr>
              <a:t>内；超过</a:t>
            </a:r>
            <a:r>
              <a:rPr dirty="0" sz="550" spc="50">
                <a:latin typeface="SimSun"/>
                <a:cs typeface="SimSun"/>
              </a:rPr>
              <a:t>60m</a:t>
            </a:r>
            <a:r>
              <a:rPr dirty="0" sz="550" spc="55">
                <a:latin typeface="SimSun"/>
                <a:cs typeface="SimSun"/>
              </a:rPr>
              <a:t>的，在线缆中间增加一处接地</a:t>
            </a:r>
            <a:endParaRPr sz="550">
              <a:latin typeface="SimSun"/>
              <a:cs typeface="SimSun"/>
            </a:endParaRPr>
          </a:p>
        </p:txBody>
      </p:sp>
      <p:sp>
        <p:nvSpPr>
          <p:cNvPr id="32" name="object 32" descr=""/>
          <p:cNvSpPr txBox="1"/>
          <p:nvPr/>
        </p:nvSpPr>
        <p:spPr>
          <a:xfrm>
            <a:off x="4695042" y="3871963"/>
            <a:ext cx="4001135" cy="300355"/>
          </a:xfrm>
          <a:prstGeom prst="rect">
            <a:avLst/>
          </a:prstGeom>
        </p:spPr>
        <p:txBody>
          <a:bodyPr wrap="square" lIns="0" tIns="9525" rIns="0" bIns="0" rtlCol="0" vert="horz">
            <a:spAutoFit/>
          </a:bodyPr>
          <a:lstStyle/>
          <a:p>
            <a:pPr marL="12700" marR="34925">
              <a:lnSpc>
                <a:spcPct val="108000"/>
              </a:lnSpc>
              <a:spcBef>
                <a:spcPts val="75"/>
              </a:spcBef>
            </a:pPr>
            <a:r>
              <a:rPr dirty="0" sz="550" spc="55">
                <a:latin typeface="SimSun"/>
                <a:cs typeface="SimSun"/>
              </a:rPr>
              <a:t>所有馈线接头按“1</a:t>
            </a:r>
            <a:r>
              <a:rPr dirty="0" sz="550" spc="60">
                <a:latin typeface="SimSun"/>
                <a:cs typeface="SimSun"/>
              </a:rPr>
              <a:t>层胶布</a:t>
            </a:r>
            <a:r>
              <a:rPr dirty="0" sz="550" spc="50">
                <a:latin typeface="SimSun"/>
                <a:cs typeface="SimSun"/>
              </a:rPr>
              <a:t>+3</a:t>
            </a:r>
            <a:r>
              <a:rPr dirty="0" sz="550" spc="60">
                <a:latin typeface="SimSun"/>
                <a:cs typeface="SimSun"/>
              </a:rPr>
              <a:t>层胶泥</a:t>
            </a:r>
            <a:r>
              <a:rPr dirty="0" sz="550" spc="50">
                <a:latin typeface="SimSun"/>
                <a:cs typeface="SimSun"/>
              </a:rPr>
              <a:t>+3</a:t>
            </a:r>
            <a:r>
              <a:rPr dirty="0" sz="550" spc="55">
                <a:latin typeface="SimSun"/>
                <a:cs typeface="SimSun"/>
              </a:rPr>
              <a:t>层胶布”方式进行密封，并在胶带收口部位用扎带扎紧，防止胶带翘起。如采用其它防水方式需要保证防水效果</a:t>
            </a:r>
            <a:endParaRPr sz="550">
              <a:latin typeface="SimSun"/>
              <a:cs typeface="SimSun"/>
            </a:endParaRPr>
          </a:p>
          <a:p>
            <a:pPr marL="12700">
              <a:lnSpc>
                <a:spcPct val="100000"/>
              </a:lnSpc>
              <a:spcBef>
                <a:spcPts val="95"/>
              </a:spcBef>
            </a:pPr>
            <a:r>
              <a:rPr dirty="0" sz="550" spc="55">
                <a:latin typeface="SimSun"/>
                <a:cs typeface="SimSun"/>
              </a:rPr>
              <a:t>接地检查点包括：</a:t>
            </a:r>
            <a:r>
              <a:rPr dirty="0" sz="550" spc="50">
                <a:latin typeface="SimSun"/>
                <a:cs typeface="SimSun"/>
              </a:rPr>
              <a:t>AAU</a:t>
            </a:r>
            <a:r>
              <a:rPr dirty="0" sz="550" spc="55">
                <a:latin typeface="SimSun"/>
                <a:cs typeface="SimSun"/>
              </a:rPr>
              <a:t>接地，</a:t>
            </a:r>
            <a:r>
              <a:rPr dirty="0" sz="550" spc="50">
                <a:latin typeface="SimSun"/>
                <a:cs typeface="SimSun"/>
              </a:rPr>
              <a:t>GPS</a:t>
            </a:r>
            <a:r>
              <a:rPr dirty="0" sz="550" spc="55">
                <a:latin typeface="SimSun"/>
                <a:cs typeface="SimSun"/>
              </a:rPr>
              <a:t>馈线使用接地套件接地，</a:t>
            </a:r>
            <a:r>
              <a:rPr dirty="0" sz="550" spc="50">
                <a:latin typeface="SimSun"/>
                <a:cs typeface="SimSun"/>
              </a:rPr>
              <a:t>AAU</a:t>
            </a:r>
            <a:r>
              <a:rPr dirty="0" sz="550" spc="55">
                <a:latin typeface="SimSun"/>
                <a:cs typeface="SimSun"/>
              </a:rPr>
              <a:t>电源线使用接地套件接地，</a:t>
            </a:r>
            <a:r>
              <a:rPr dirty="0" sz="550" spc="50">
                <a:latin typeface="SimSun"/>
                <a:cs typeface="SimSun"/>
              </a:rPr>
              <a:t>BBU</a:t>
            </a:r>
            <a:r>
              <a:rPr dirty="0" sz="550" spc="55">
                <a:latin typeface="SimSun"/>
                <a:cs typeface="SimSun"/>
              </a:rPr>
              <a:t>接地，</a:t>
            </a:r>
            <a:r>
              <a:rPr dirty="0" sz="550" spc="50">
                <a:latin typeface="SimSun"/>
                <a:cs typeface="SimSun"/>
              </a:rPr>
              <a:t>GPS避雷器接地，</a:t>
            </a:r>
            <a:endParaRPr sz="550">
              <a:latin typeface="SimSun"/>
              <a:cs typeface="SimSun"/>
            </a:endParaRPr>
          </a:p>
        </p:txBody>
      </p:sp>
      <p:sp>
        <p:nvSpPr>
          <p:cNvPr id="33" name="object 33" descr=""/>
          <p:cNvSpPr txBox="1"/>
          <p:nvPr/>
        </p:nvSpPr>
        <p:spPr>
          <a:xfrm>
            <a:off x="4000544" y="4256562"/>
            <a:ext cx="408940" cy="134620"/>
          </a:xfrm>
          <a:prstGeom prst="rect">
            <a:avLst/>
          </a:prstGeom>
        </p:spPr>
        <p:txBody>
          <a:bodyPr wrap="square" lIns="0" tIns="13970" rIns="0" bIns="0" rtlCol="0" vert="horz">
            <a:spAutoFit/>
          </a:bodyPr>
          <a:lstStyle/>
          <a:p>
            <a:pPr marL="12700">
              <a:lnSpc>
                <a:spcPct val="100000"/>
              </a:lnSpc>
              <a:spcBef>
                <a:spcPts val="110"/>
              </a:spcBef>
            </a:pPr>
            <a:r>
              <a:rPr dirty="0" sz="700" spc="-15">
                <a:latin typeface="SimSun"/>
                <a:cs typeface="SimSun"/>
              </a:rPr>
              <a:t>标签检查</a:t>
            </a:r>
            <a:endParaRPr sz="700">
              <a:latin typeface="SimSun"/>
              <a:cs typeface="SimSun"/>
            </a:endParaRPr>
          </a:p>
        </p:txBody>
      </p:sp>
      <p:sp>
        <p:nvSpPr>
          <p:cNvPr id="34" name="object 34" descr=""/>
          <p:cNvSpPr txBox="1"/>
          <p:nvPr/>
        </p:nvSpPr>
        <p:spPr>
          <a:xfrm>
            <a:off x="3856855" y="4561979"/>
            <a:ext cx="695960" cy="134620"/>
          </a:xfrm>
          <a:prstGeom prst="rect">
            <a:avLst/>
          </a:prstGeom>
        </p:spPr>
        <p:txBody>
          <a:bodyPr wrap="square" lIns="0" tIns="13970" rIns="0" bIns="0" rtlCol="0" vert="horz">
            <a:spAutoFit/>
          </a:bodyPr>
          <a:lstStyle/>
          <a:p>
            <a:pPr marL="12700">
              <a:lnSpc>
                <a:spcPct val="100000"/>
              </a:lnSpc>
              <a:spcBef>
                <a:spcPts val="110"/>
              </a:spcBef>
            </a:pPr>
            <a:r>
              <a:rPr dirty="0" sz="700" spc="-10">
                <a:latin typeface="SimSun"/>
                <a:cs typeface="SimSun"/>
              </a:rPr>
              <a:t>质量可视化要求</a:t>
            </a:r>
            <a:endParaRPr sz="700">
              <a:latin typeface="SimSun"/>
              <a:cs typeface="SimSun"/>
            </a:endParaRPr>
          </a:p>
        </p:txBody>
      </p:sp>
      <p:sp>
        <p:nvSpPr>
          <p:cNvPr id="35" name="object 35" descr=""/>
          <p:cNvSpPr txBox="1"/>
          <p:nvPr/>
        </p:nvSpPr>
        <p:spPr>
          <a:xfrm>
            <a:off x="4669642" y="4166068"/>
            <a:ext cx="4046220" cy="113664"/>
          </a:xfrm>
          <a:prstGeom prst="rect">
            <a:avLst/>
          </a:prstGeom>
        </p:spPr>
        <p:txBody>
          <a:bodyPr wrap="square" lIns="0" tIns="15875" rIns="0" bIns="0" rtlCol="0" vert="horz">
            <a:spAutoFit/>
          </a:bodyPr>
          <a:lstStyle/>
          <a:p>
            <a:pPr marL="38100">
              <a:lnSpc>
                <a:spcPct val="100000"/>
              </a:lnSpc>
              <a:spcBef>
                <a:spcPts val="125"/>
              </a:spcBef>
            </a:pPr>
            <a:r>
              <a:rPr dirty="0" baseline="15151" sz="825" spc="-412">
                <a:latin typeface="SimSun"/>
                <a:cs typeface="SimSun"/>
              </a:rPr>
              <a:t>D</a:t>
            </a:r>
            <a:r>
              <a:rPr dirty="0" sz="550" spc="-229">
                <a:latin typeface="SimSun"/>
                <a:cs typeface="SimSun"/>
              </a:rPr>
              <a:t>标</a:t>
            </a:r>
            <a:r>
              <a:rPr dirty="0" baseline="15151" sz="825">
                <a:latin typeface="SimSun"/>
                <a:cs typeface="SimSun"/>
              </a:rPr>
              <a:t>C</a:t>
            </a:r>
            <a:r>
              <a:rPr dirty="0" sz="550" spc="-509">
                <a:latin typeface="SimSun"/>
                <a:cs typeface="SimSun"/>
              </a:rPr>
              <a:t>签</a:t>
            </a:r>
            <a:r>
              <a:rPr dirty="0" baseline="15151" sz="825">
                <a:latin typeface="SimSun"/>
                <a:cs typeface="SimSun"/>
              </a:rPr>
              <a:t>PD</a:t>
            </a:r>
            <a:r>
              <a:rPr dirty="0" sz="550" spc="-459">
                <a:latin typeface="SimSun"/>
                <a:cs typeface="SimSun"/>
              </a:rPr>
              <a:t>与</a:t>
            </a:r>
            <a:r>
              <a:rPr dirty="0" baseline="15151" sz="825" spc="-37">
                <a:latin typeface="SimSun"/>
                <a:cs typeface="SimSun"/>
              </a:rPr>
              <a:t>04</a:t>
            </a:r>
            <a:r>
              <a:rPr dirty="0" sz="550" spc="-415">
                <a:latin typeface="SimSun"/>
                <a:cs typeface="SimSun"/>
              </a:rPr>
              <a:t>小</a:t>
            </a:r>
            <a:r>
              <a:rPr dirty="0" baseline="15151" sz="825" spc="-277">
                <a:latin typeface="SimSun"/>
                <a:cs typeface="SimSun"/>
              </a:rPr>
              <a:t>/防</a:t>
            </a:r>
            <a:r>
              <a:rPr dirty="0" sz="550" spc="-90">
                <a:latin typeface="SimSun"/>
                <a:cs typeface="SimSun"/>
              </a:rPr>
              <a:t>区</a:t>
            </a:r>
            <a:r>
              <a:rPr dirty="0" baseline="15151" sz="825" spc="-622">
                <a:latin typeface="SimSun"/>
                <a:cs typeface="SimSun"/>
              </a:rPr>
              <a:t>雷</a:t>
            </a:r>
            <a:r>
              <a:rPr dirty="0" sz="550" spc="-90">
                <a:latin typeface="SimSun"/>
                <a:cs typeface="SimSun"/>
              </a:rPr>
              <a:t>一</a:t>
            </a:r>
            <a:r>
              <a:rPr dirty="0" baseline="15151" sz="825" spc="-622">
                <a:latin typeface="SimSun"/>
                <a:cs typeface="SimSun"/>
              </a:rPr>
              <a:t>箱</a:t>
            </a:r>
            <a:r>
              <a:rPr dirty="0" sz="550" spc="-90">
                <a:latin typeface="SimSun"/>
                <a:cs typeface="SimSun"/>
              </a:rPr>
              <a:t>一</a:t>
            </a:r>
            <a:r>
              <a:rPr dirty="0" baseline="15151" sz="825" spc="-622">
                <a:latin typeface="SimSun"/>
                <a:cs typeface="SimSun"/>
              </a:rPr>
              <a:t>接</a:t>
            </a:r>
            <a:r>
              <a:rPr dirty="0" sz="550" spc="-90">
                <a:latin typeface="SimSun"/>
                <a:cs typeface="SimSun"/>
              </a:rPr>
              <a:t>对</a:t>
            </a:r>
            <a:r>
              <a:rPr dirty="0" baseline="15151" sz="825" spc="-622">
                <a:latin typeface="SimSun"/>
                <a:cs typeface="SimSun"/>
              </a:rPr>
              <a:t>地</a:t>
            </a:r>
            <a:r>
              <a:rPr dirty="0" sz="550" spc="55">
                <a:latin typeface="SimSun"/>
                <a:cs typeface="SimSun"/>
              </a:rPr>
              <a:t>应，标签内容与所标识的线缆、接口要一一对应，要求标签绑扎位置、方向要一致，整齐美观、便</a:t>
            </a:r>
            <a:endParaRPr sz="550">
              <a:latin typeface="SimSun"/>
              <a:cs typeface="SimSun"/>
            </a:endParaRPr>
          </a:p>
        </p:txBody>
      </p:sp>
      <p:sp>
        <p:nvSpPr>
          <p:cNvPr id="36" name="object 36" descr=""/>
          <p:cNvSpPr txBox="1"/>
          <p:nvPr/>
        </p:nvSpPr>
        <p:spPr>
          <a:xfrm>
            <a:off x="4695042" y="4256562"/>
            <a:ext cx="259079" cy="113664"/>
          </a:xfrm>
          <a:prstGeom prst="rect">
            <a:avLst/>
          </a:prstGeom>
        </p:spPr>
        <p:txBody>
          <a:bodyPr wrap="square" lIns="0" tIns="15875" rIns="0" bIns="0" rtlCol="0" vert="horz">
            <a:spAutoFit/>
          </a:bodyPr>
          <a:lstStyle/>
          <a:p>
            <a:pPr marL="12700">
              <a:lnSpc>
                <a:spcPct val="100000"/>
              </a:lnSpc>
              <a:spcBef>
                <a:spcPts val="125"/>
              </a:spcBef>
            </a:pPr>
            <a:r>
              <a:rPr dirty="0" sz="550" spc="40">
                <a:latin typeface="SimSun"/>
                <a:cs typeface="SimSun"/>
              </a:rPr>
              <a:t>于观看</a:t>
            </a:r>
            <a:endParaRPr sz="550">
              <a:latin typeface="SimSun"/>
              <a:cs typeface="SimSun"/>
            </a:endParaRPr>
          </a:p>
        </p:txBody>
      </p:sp>
      <p:sp>
        <p:nvSpPr>
          <p:cNvPr id="37" name="object 37" descr=""/>
          <p:cNvSpPr txBox="1"/>
          <p:nvPr/>
        </p:nvSpPr>
        <p:spPr>
          <a:xfrm>
            <a:off x="3958634" y="3227194"/>
            <a:ext cx="492759" cy="113664"/>
          </a:xfrm>
          <a:prstGeom prst="rect">
            <a:avLst/>
          </a:prstGeom>
        </p:spPr>
        <p:txBody>
          <a:bodyPr wrap="square" lIns="0" tIns="15875" rIns="0" bIns="0" rtlCol="0" vert="horz">
            <a:spAutoFit/>
          </a:bodyPr>
          <a:lstStyle/>
          <a:p>
            <a:pPr marL="12700">
              <a:lnSpc>
                <a:spcPct val="100000"/>
              </a:lnSpc>
              <a:spcBef>
                <a:spcPts val="125"/>
              </a:spcBef>
            </a:pPr>
            <a:r>
              <a:rPr dirty="0" sz="550" spc="50">
                <a:latin typeface="SimSun"/>
                <a:cs typeface="SimSun"/>
              </a:rPr>
              <a:t>线缆布放要求</a:t>
            </a:r>
            <a:endParaRPr sz="550">
              <a:latin typeface="SimSun"/>
              <a:cs typeface="SimSun"/>
            </a:endParaRPr>
          </a:p>
        </p:txBody>
      </p:sp>
      <p:sp>
        <p:nvSpPr>
          <p:cNvPr id="38" name="object 38" descr=""/>
          <p:cNvSpPr txBox="1"/>
          <p:nvPr/>
        </p:nvSpPr>
        <p:spPr>
          <a:xfrm>
            <a:off x="4695042" y="2959106"/>
            <a:ext cx="4025265" cy="229235"/>
          </a:xfrm>
          <a:prstGeom prst="rect">
            <a:avLst/>
          </a:prstGeom>
        </p:spPr>
        <p:txBody>
          <a:bodyPr wrap="square" lIns="0" tIns="11430" rIns="0" bIns="0" rtlCol="0" vert="horz">
            <a:spAutoFit/>
          </a:bodyPr>
          <a:lstStyle/>
          <a:p>
            <a:pPr marL="12700" marR="5080">
              <a:lnSpc>
                <a:spcPct val="121500"/>
              </a:lnSpc>
              <a:spcBef>
                <a:spcPts val="90"/>
              </a:spcBef>
            </a:pPr>
            <a:r>
              <a:rPr dirty="0" sz="550" spc="60">
                <a:latin typeface="SimSun"/>
                <a:cs typeface="SimSun"/>
              </a:rPr>
              <a:t>检查</a:t>
            </a:r>
            <a:r>
              <a:rPr dirty="0" sz="550" spc="50">
                <a:latin typeface="SimSun"/>
                <a:cs typeface="SimSun"/>
              </a:rPr>
              <a:t>GPS</a:t>
            </a:r>
            <a:r>
              <a:rPr dirty="0" sz="550" spc="60">
                <a:latin typeface="SimSun"/>
                <a:cs typeface="SimSun"/>
              </a:rPr>
              <a:t>避雷器是否接地，注意</a:t>
            </a:r>
            <a:r>
              <a:rPr dirty="0" sz="550" spc="50">
                <a:latin typeface="SimSun"/>
                <a:cs typeface="SimSun"/>
              </a:rPr>
              <a:t>GPS</a:t>
            </a:r>
            <a:r>
              <a:rPr dirty="0" sz="550" spc="60">
                <a:latin typeface="SimSun"/>
                <a:cs typeface="SimSun"/>
              </a:rPr>
              <a:t>的设备侧和天线侧标识，不能装反，且要求</a:t>
            </a:r>
            <a:r>
              <a:rPr dirty="0" sz="550" spc="50">
                <a:latin typeface="SimSun"/>
                <a:cs typeface="SimSun"/>
              </a:rPr>
              <a:t>GPS</a:t>
            </a:r>
            <a:r>
              <a:rPr dirty="0" sz="550" spc="60">
                <a:latin typeface="SimSun"/>
                <a:cs typeface="SimSun"/>
              </a:rPr>
              <a:t>避雷器要求置于金属走线架</a:t>
            </a:r>
            <a:r>
              <a:rPr dirty="0" sz="550" spc="50">
                <a:latin typeface="SimSun"/>
                <a:cs typeface="SimSun"/>
              </a:rPr>
              <a:t>2</a:t>
            </a:r>
            <a:r>
              <a:rPr dirty="0" sz="550" spc="40">
                <a:latin typeface="SimSun"/>
                <a:cs typeface="SimSun"/>
              </a:rPr>
              <a:t>个横档</a:t>
            </a:r>
            <a:r>
              <a:rPr dirty="0" sz="550" spc="55">
                <a:latin typeface="SimSun"/>
                <a:cs typeface="SimSun"/>
              </a:rPr>
              <a:t>弛度，不能紧绷，光纤连接完成后，应将航空头拧紧，不能漏水；未用接口的保护帽严禁取下。</a:t>
            </a:r>
            <a:endParaRPr sz="550">
              <a:latin typeface="SimSun"/>
              <a:cs typeface="SimSun"/>
            </a:endParaRPr>
          </a:p>
        </p:txBody>
      </p:sp>
      <p:sp>
        <p:nvSpPr>
          <p:cNvPr id="39" name="object 39" descr=""/>
          <p:cNvSpPr txBox="1"/>
          <p:nvPr/>
        </p:nvSpPr>
        <p:spPr>
          <a:xfrm>
            <a:off x="4695042" y="3187603"/>
            <a:ext cx="4067175" cy="113664"/>
          </a:xfrm>
          <a:prstGeom prst="rect">
            <a:avLst/>
          </a:prstGeom>
        </p:spPr>
        <p:txBody>
          <a:bodyPr wrap="square" lIns="0" tIns="15875" rIns="0" bIns="0" rtlCol="0" vert="horz">
            <a:spAutoFit/>
          </a:bodyPr>
          <a:lstStyle/>
          <a:p>
            <a:pPr marL="12700">
              <a:lnSpc>
                <a:spcPct val="100000"/>
              </a:lnSpc>
              <a:spcBef>
                <a:spcPts val="125"/>
              </a:spcBef>
            </a:pPr>
            <a:r>
              <a:rPr dirty="0" sz="550" spc="60">
                <a:latin typeface="SimSun"/>
                <a:cs typeface="SimSun"/>
              </a:rPr>
              <a:t>线缆布放在室外时，馈线卡固定间距为</a:t>
            </a:r>
            <a:r>
              <a:rPr dirty="0" sz="550" spc="50">
                <a:latin typeface="SimSun"/>
                <a:cs typeface="SimSun"/>
              </a:rPr>
              <a:t>800mm</a:t>
            </a:r>
            <a:r>
              <a:rPr dirty="0" sz="550" spc="55">
                <a:latin typeface="SimSun"/>
                <a:cs typeface="SimSun"/>
              </a:rPr>
              <a:t>，扎带绑扎固定间隔为</a:t>
            </a:r>
            <a:r>
              <a:rPr dirty="0" sz="550" spc="50">
                <a:latin typeface="SimSun"/>
                <a:cs typeface="SimSun"/>
              </a:rPr>
              <a:t>400mm</a:t>
            </a:r>
            <a:r>
              <a:rPr dirty="0" sz="550" spc="45">
                <a:latin typeface="SimSun"/>
                <a:cs typeface="SimSun"/>
              </a:rPr>
              <a:t>，线缆弯曲处不得使用馈线卡等固定,扎带应</a:t>
            </a:r>
            <a:endParaRPr sz="550">
              <a:latin typeface="SimSun"/>
              <a:cs typeface="SimSun"/>
            </a:endParaRPr>
          </a:p>
        </p:txBody>
      </p:sp>
      <p:sp>
        <p:nvSpPr>
          <p:cNvPr id="40" name="object 40" descr=""/>
          <p:cNvSpPr txBox="1"/>
          <p:nvPr/>
        </p:nvSpPr>
        <p:spPr>
          <a:xfrm>
            <a:off x="4695042" y="3275834"/>
            <a:ext cx="4079240" cy="240665"/>
          </a:xfrm>
          <a:prstGeom prst="rect">
            <a:avLst/>
          </a:prstGeom>
        </p:spPr>
        <p:txBody>
          <a:bodyPr wrap="square" lIns="0" tIns="12065" rIns="0" bIns="0" rtlCol="0" vert="horz">
            <a:spAutoFit/>
          </a:bodyPr>
          <a:lstStyle/>
          <a:p>
            <a:pPr marL="12700" marR="5080">
              <a:lnSpc>
                <a:spcPct val="128200"/>
              </a:lnSpc>
              <a:spcBef>
                <a:spcPts val="95"/>
              </a:spcBef>
            </a:pPr>
            <a:r>
              <a:rPr dirty="0" sz="550" spc="60">
                <a:latin typeface="SimSun"/>
                <a:cs typeface="SimSun"/>
              </a:rPr>
              <a:t>进入馈线窗前需要做回水弯，建议切角大于</a:t>
            </a:r>
            <a:r>
              <a:rPr dirty="0" sz="550" spc="55">
                <a:latin typeface="SimSun"/>
                <a:cs typeface="SimSun"/>
              </a:rPr>
              <a:t>60</a:t>
            </a:r>
            <a:r>
              <a:rPr dirty="0" sz="550" spc="50">
                <a:latin typeface="SimSun"/>
                <a:cs typeface="SimSun"/>
              </a:rPr>
              <a:t>°，但必须大于此种馈线规定的最小弯曲半径，最低点低于该馈线入口处</a:t>
            </a:r>
            <a:r>
              <a:rPr dirty="0" sz="550" spc="55">
                <a:latin typeface="SimSun"/>
                <a:cs typeface="SimSun"/>
              </a:rPr>
              <a:t>信号线与电源线应分开绑扎，避免干扰</a:t>
            </a:r>
            <a:endParaRPr sz="550">
              <a:latin typeface="SimSun"/>
              <a:cs typeface="SimSun"/>
            </a:endParaRPr>
          </a:p>
        </p:txBody>
      </p:sp>
      <p:grpSp>
        <p:nvGrpSpPr>
          <p:cNvPr id="41" name="object 41" descr=""/>
          <p:cNvGrpSpPr/>
          <p:nvPr/>
        </p:nvGrpSpPr>
        <p:grpSpPr>
          <a:xfrm>
            <a:off x="3707905" y="756942"/>
            <a:ext cx="5023485" cy="4185920"/>
            <a:chOff x="3707905" y="756942"/>
            <a:chExt cx="5023485" cy="4185920"/>
          </a:xfrm>
        </p:grpSpPr>
        <p:sp>
          <p:nvSpPr>
            <p:cNvPr id="42" name="object 42" descr=""/>
            <p:cNvSpPr/>
            <p:nvPr/>
          </p:nvSpPr>
          <p:spPr>
            <a:xfrm>
              <a:off x="3707905" y="756968"/>
              <a:ext cx="6350" cy="0"/>
            </a:xfrm>
            <a:custGeom>
              <a:avLst/>
              <a:gdLst/>
              <a:ahLst/>
              <a:cxnLst/>
              <a:rect l="l" t="t" r="r" b="b"/>
              <a:pathLst>
                <a:path w="6350" h="0">
                  <a:moveTo>
                    <a:pt x="5987" y="0"/>
                  </a:moveTo>
                  <a:lnTo>
                    <a:pt x="0" y="0"/>
                  </a:lnTo>
                  <a:lnTo>
                    <a:pt x="5987" y="0"/>
                  </a:lnTo>
                  <a:close/>
                </a:path>
              </a:pathLst>
            </a:custGeom>
            <a:solidFill>
              <a:srgbClr val="DADCDD"/>
            </a:solidFill>
          </p:spPr>
          <p:txBody>
            <a:bodyPr wrap="square" lIns="0" tIns="0" rIns="0" bIns="0" rtlCol="0"/>
            <a:lstStyle/>
            <a:p/>
          </p:txBody>
        </p:sp>
        <p:sp>
          <p:nvSpPr>
            <p:cNvPr id="43" name="object 43" descr=""/>
            <p:cNvSpPr/>
            <p:nvPr/>
          </p:nvSpPr>
          <p:spPr>
            <a:xfrm>
              <a:off x="3713892" y="756968"/>
              <a:ext cx="5017770" cy="0"/>
            </a:xfrm>
            <a:custGeom>
              <a:avLst/>
              <a:gdLst/>
              <a:ahLst/>
              <a:cxnLst/>
              <a:rect l="l" t="t" r="r" b="b"/>
              <a:pathLst>
                <a:path w="5017770" h="0">
                  <a:moveTo>
                    <a:pt x="0" y="0"/>
                  </a:moveTo>
                  <a:lnTo>
                    <a:pt x="5017148" y="0"/>
                  </a:lnTo>
                </a:path>
              </a:pathLst>
            </a:custGeom>
            <a:ln w="3175">
              <a:solidFill>
                <a:srgbClr val="000000"/>
              </a:solidFill>
            </a:ln>
          </p:spPr>
          <p:txBody>
            <a:bodyPr wrap="square" lIns="0" tIns="0" rIns="0" bIns="0" rtlCol="0"/>
            <a:lstStyle/>
            <a:p/>
          </p:txBody>
        </p:sp>
        <p:sp>
          <p:nvSpPr>
            <p:cNvPr id="44" name="object 44" descr=""/>
            <p:cNvSpPr/>
            <p:nvPr/>
          </p:nvSpPr>
          <p:spPr>
            <a:xfrm>
              <a:off x="3713888" y="756977"/>
              <a:ext cx="5017770" cy="5715"/>
            </a:xfrm>
            <a:custGeom>
              <a:avLst/>
              <a:gdLst/>
              <a:ahLst/>
              <a:cxnLst/>
              <a:rect l="l" t="t" r="r" b="b"/>
              <a:pathLst>
                <a:path w="5017770" h="5715">
                  <a:moveTo>
                    <a:pt x="5017148" y="5650"/>
                  </a:moveTo>
                  <a:lnTo>
                    <a:pt x="0" y="5650"/>
                  </a:lnTo>
                  <a:lnTo>
                    <a:pt x="0" y="0"/>
                  </a:lnTo>
                  <a:lnTo>
                    <a:pt x="5017148" y="0"/>
                  </a:lnTo>
                  <a:lnTo>
                    <a:pt x="5017148" y="5650"/>
                  </a:lnTo>
                  <a:close/>
                </a:path>
              </a:pathLst>
            </a:custGeom>
            <a:solidFill>
              <a:srgbClr val="000000"/>
            </a:solidFill>
          </p:spPr>
          <p:txBody>
            <a:bodyPr wrap="square" lIns="0" tIns="0" rIns="0" bIns="0" rtlCol="0"/>
            <a:lstStyle/>
            <a:p/>
          </p:txBody>
        </p:sp>
        <p:sp>
          <p:nvSpPr>
            <p:cNvPr id="45" name="object 45" descr=""/>
            <p:cNvSpPr/>
            <p:nvPr/>
          </p:nvSpPr>
          <p:spPr>
            <a:xfrm>
              <a:off x="3713894" y="926642"/>
              <a:ext cx="5017770" cy="0"/>
            </a:xfrm>
            <a:custGeom>
              <a:avLst/>
              <a:gdLst/>
              <a:ahLst/>
              <a:cxnLst/>
              <a:rect l="l" t="t" r="r" b="b"/>
              <a:pathLst>
                <a:path w="5017770" h="0">
                  <a:moveTo>
                    <a:pt x="0" y="0"/>
                  </a:moveTo>
                  <a:lnTo>
                    <a:pt x="5017148" y="0"/>
                  </a:lnTo>
                </a:path>
              </a:pathLst>
            </a:custGeom>
            <a:ln w="3175">
              <a:solidFill>
                <a:srgbClr val="000000"/>
              </a:solidFill>
            </a:ln>
          </p:spPr>
          <p:txBody>
            <a:bodyPr wrap="square" lIns="0" tIns="0" rIns="0" bIns="0" rtlCol="0"/>
            <a:lstStyle/>
            <a:p/>
          </p:txBody>
        </p:sp>
        <p:sp>
          <p:nvSpPr>
            <p:cNvPr id="46" name="object 46" descr=""/>
            <p:cNvSpPr/>
            <p:nvPr/>
          </p:nvSpPr>
          <p:spPr>
            <a:xfrm>
              <a:off x="3713890" y="926640"/>
              <a:ext cx="5017770" cy="5715"/>
            </a:xfrm>
            <a:custGeom>
              <a:avLst/>
              <a:gdLst/>
              <a:ahLst/>
              <a:cxnLst/>
              <a:rect l="l" t="t" r="r" b="b"/>
              <a:pathLst>
                <a:path w="5017770" h="5715">
                  <a:moveTo>
                    <a:pt x="5017148" y="5655"/>
                  </a:moveTo>
                  <a:lnTo>
                    <a:pt x="0" y="5655"/>
                  </a:lnTo>
                  <a:lnTo>
                    <a:pt x="0" y="0"/>
                  </a:lnTo>
                  <a:lnTo>
                    <a:pt x="5017148" y="0"/>
                  </a:lnTo>
                  <a:lnTo>
                    <a:pt x="5017148" y="5655"/>
                  </a:lnTo>
                  <a:close/>
                </a:path>
              </a:pathLst>
            </a:custGeom>
            <a:solidFill>
              <a:srgbClr val="000000"/>
            </a:solidFill>
          </p:spPr>
          <p:txBody>
            <a:bodyPr wrap="square" lIns="0" tIns="0" rIns="0" bIns="0" rtlCol="0"/>
            <a:lstStyle/>
            <a:p/>
          </p:txBody>
        </p:sp>
        <p:sp>
          <p:nvSpPr>
            <p:cNvPr id="47" name="object 47" descr=""/>
            <p:cNvSpPr/>
            <p:nvPr/>
          </p:nvSpPr>
          <p:spPr>
            <a:xfrm>
              <a:off x="4695771" y="1034103"/>
              <a:ext cx="4035425" cy="0"/>
            </a:xfrm>
            <a:custGeom>
              <a:avLst/>
              <a:gdLst/>
              <a:ahLst/>
              <a:cxnLst/>
              <a:rect l="l" t="t" r="r" b="b"/>
              <a:pathLst>
                <a:path w="4035425" h="0">
                  <a:moveTo>
                    <a:pt x="0" y="0"/>
                  </a:moveTo>
                  <a:lnTo>
                    <a:pt x="4035272" y="0"/>
                  </a:lnTo>
                </a:path>
              </a:pathLst>
            </a:custGeom>
            <a:ln w="3175">
              <a:solidFill>
                <a:srgbClr val="000000"/>
              </a:solidFill>
            </a:ln>
          </p:spPr>
          <p:txBody>
            <a:bodyPr wrap="square" lIns="0" tIns="0" rIns="0" bIns="0" rtlCol="0"/>
            <a:lstStyle/>
            <a:p/>
          </p:txBody>
        </p:sp>
        <p:sp>
          <p:nvSpPr>
            <p:cNvPr id="48" name="object 48" descr=""/>
            <p:cNvSpPr/>
            <p:nvPr/>
          </p:nvSpPr>
          <p:spPr>
            <a:xfrm>
              <a:off x="4695767" y="1034101"/>
              <a:ext cx="4035425" cy="5715"/>
            </a:xfrm>
            <a:custGeom>
              <a:avLst/>
              <a:gdLst/>
              <a:ahLst/>
              <a:cxnLst/>
              <a:rect l="l" t="t" r="r" b="b"/>
              <a:pathLst>
                <a:path w="4035425" h="5715">
                  <a:moveTo>
                    <a:pt x="4035272" y="5655"/>
                  </a:moveTo>
                  <a:lnTo>
                    <a:pt x="0" y="5655"/>
                  </a:lnTo>
                  <a:lnTo>
                    <a:pt x="0" y="0"/>
                  </a:lnTo>
                  <a:lnTo>
                    <a:pt x="4035272" y="0"/>
                  </a:lnTo>
                  <a:lnTo>
                    <a:pt x="4035272" y="5655"/>
                  </a:lnTo>
                  <a:close/>
                </a:path>
              </a:pathLst>
            </a:custGeom>
            <a:solidFill>
              <a:srgbClr val="000000"/>
            </a:solidFill>
          </p:spPr>
          <p:txBody>
            <a:bodyPr wrap="square" lIns="0" tIns="0" rIns="0" bIns="0" rtlCol="0"/>
            <a:lstStyle/>
            <a:p/>
          </p:txBody>
        </p:sp>
        <p:sp>
          <p:nvSpPr>
            <p:cNvPr id="49" name="object 49" descr=""/>
            <p:cNvSpPr/>
            <p:nvPr/>
          </p:nvSpPr>
          <p:spPr>
            <a:xfrm>
              <a:off x="4695771" y="1141563"/>
              <a:ext cx="4035425" cy="0"/>
            </a:xfrm>
            <a:custGeom>
              <a:avLst/>
              <a:gdLst/>
              <a:ahLst/>
              <a:cxnLst/>
              <a:rect l="l" t="t" r="r" b="b"/>
              <a:pathLst>
                <a:path w="4035425" h="0">
                  <a:moveTo>
                    <a:pt x="0" y="0"/>
                  </a:moveTo>
                  <a:lnTo>
                    <a:pt x="4035272" y="0"/>
                  </a:lnTo>
                </a:path>
              </a:pathLst>
            </a:custGeom>
            <a:ln w="3175">
              <a:solidFill>
                <a:srgbClr val="000000"/>
              </a:solidFill>
            </a:ln>
          </p:spPr>
          <p:txBody>
            <a:bodyPr wrap="square" lIns="0" tIns="0" rIns="0" bIns="0" rtlCol="0"/>
            <a:lstStyle/>
            <a:p/>
          </p:txBody>
        </p:sp>
        <p:sp>
          <p:nvSpPr>
            <p:cNvPr id="50" name="object 50" descr=""/>
            <p:cNvSpPr/>
            <p:nvPr/>
          </p:nvSpPr>
          <p:spPr>
            <a:xfrm>
              <a:off x="4695768" y="1141561"/>
              <a:ext cx="4035425" cy="5715"/>
            </a:xfrm>
            <a:custGeom>
              <a:avLst/>
              <a:gdLst/>
              <a:ahLst/>
              <a:cxnLst/>
              <a:rect l="l" t="t" r="r" b="b"/>
              <a:pathLst>
                <a:path w="4035425" h="5715">
                  <a:moveTo>
                    <a:pt x="4035272" y="5655"/>
                  </a:moveTo>
                  <a:lnTo>
                    <a:pt x="0" y="5655"/>
                  </a:lnTo>
                  <a:lnTo>
                    <a:pt x="0" y="0"/>
                  </a:lnTo>
                  <a:lnTo>
                    <a:pt x="4035272" y="0"/>
                  </a:lnTo>
                  <a:lnTo>
                    <a:pt x="4035272" y="5655"/>
                  </a:lnTo>
                  <a:close/>
                </a:path>
              </a:pathLst>
            </a:custGeom>
            <a:solidFill>
              <a:srgbClr val="000000"/>
            </a:solidFill>
          </p:spPr>
          <p:txBody>
            <a:bodyPr wrap="square" lIns="0" tIns="0" rIns="0" bIns="0" rtlCol="0"/>
            <a:lstStyle/>
            <a:p/>
          </p:txBody>
        </p:sp>
        <p:sp>
          <p:nvSpPr>
            <p:cNvPr id="51" name="object 51" descr=""/>
            <p:cNvSpPr/>
            <p:nvPr/>
          </p:nvSpPr>
          <p:spPr>
            <a:xfrm>
              <a:off x="4695772" y="1249024"/>
              <a:ext cx="4035425" cy="0"/>
            </a:xfrm>
            <a:custGeom>
              <a:avLst/>
              <a:gdLst/>
              <a:ahLst/>
              <a:cxnLst/>
              <a:rect l="l" t="t" r="r" b="b"/>
              <a:pathLst>
                <a:path w="4035425" h="0">
                  <a:moveTo>
                    <a:pt x="0" y="0"/>
                  </a:moveTo>
                  <a:lnTo>
                    <a:pt x="4035272" y="0"/>
                  </a:lnTo>
                </a:path>
              </a:pathLst>
            </a:custGeom>
            <a:ln w="3175">
              <a:solidFill>
                <a:srgbClr val="000000"/>
              </a:solidFill>
            </a:ln>
          </p:spPr>
          <p:txBody>
            <a:bodyPr wrap="square" lIns="0" tIns="0" rIns="0" bIns="0" rtlCol="0"/>
            <a:lstStyle/>
            <a:p/>
          </p:txBody>
        </p:sp>
        <p:sp>
          <p:nvSpPr>
            <p:cNvPr id="52" name="object 52" descr=""/>
            <p:cNvSpPr/>
            <p:nvPr/>
          </p:nvSpPr>
          <p:spPr>
            <a:xfrm>
              <a:off x="4695768" y="1249022"/>
              <a:ext cx="4035425" cy="5715"/>
            </a:xfrm>
            <a:custGeom>
              <a:avLst/>
              <a:gdLst/>
              <a:ahLst/>
              <a:cxnLst/>
              <a:rect l="l" t="t" r="r" b="b"/>
              <a:pathLst>
                <a:path w="4035425" h="5715">
                  <a:moveTo>
                    <a:pt x="4035272" y="5661"/>
                  </a:moveTo>
                  <a:lnTo>
                    <a:pt x="0" y="5661"/>
                  </a:lnTo>
                  <a:lnTo>
                    <a:pt x="0" y="0"/>
                  </a:lnTo>
                  <a:lnTo>
                    <a:pt x="4035272" y="0"/>
                  </a:lnTo>
                  <a:lnTo>
                    <a:pt x="4035272" y="5661"/>
                  </a:lnTo>
                  <a:close/>
                </a:path>
              </a:pathLst>
            </a:custGeom>
            <a:solidFill>
              <a:srgbClr val="000000"/>
            </a:solidFill>
          </p:spPr>
          <p:txBody>
            <a:bodyPr wrap="square" lIns="0" tIns="0" rIns="0" bIns="0" rtlCol="0"/>
            <a:lstStyle/>
            <a:p/>
          </p:txBody>
        </p:sp>
        <p:sp>
          <p:nvSpPr>
            <p:cNvPr id="53" name="object 53" descr=""/>
            <p:cNvSpPr/>
            <p:nvPr/>
          </p:nvSpPr>
          <p:spPr>
            <a:xfrm>
              <a:off x="3713897" y="1356485"/>
              <a:ext cx="5017770" cy="0"/>
            </a:xfrm>
            <a:custGeom>
              <a:avLst/>
              <a:gdLst/>
              <a:ahLst/>
              <a:cxnLst/>
              <a:rect l="l" t="t" r="r" b="b"/>
              <a:pathLst>
                <a:path w="5017770" h="0">
                  <a:moveTo>
                    <a:pt x="0" y="0"/>
                  </a:moveTo>
                  <a:lnTo>
                    <a:pt x="5017148" y="0"/>
                  </a:lnTo>
                </a:path>
              </a:pathLst>
            </a:custGeom>
            <a:ln w="3175">
              <a:solidFill>
                <a:srgbClr val="000000"/>
              </a:solidFill>
            </a:ln>
          </p:spPr>
          <p:txBody>
            <a:bodyPr wrap="square" lIns="0" tIns="0" rIns="0" bIns="0" rtlCol="0"/>
            <a:lstStyle/>
            <a:p/>
          </p:txBody>
        </p:sp>
        <p:sp>
          <p:nvSpPr>
            <p:cNvPr id="54" name="object 54" descr=""/>
            <p:cNvSpPr/>
            <p:nvPr/>
          </p:nvSpPr>
          <p:spPr>
            <a:xfrm>
              <a:off x="3713893" y="1356488"/>
              <a:ext cx="5017770" cy="5715"/>
            </a:xfrm>
            <a:custGeom>
              <a:avLst/>
              <a:gdLst/>
              <a:ahLst/>
              <a:cxnLst/>
              <a:rect l="l" t="t" r="r" b="b"/>
              <a:pathLst>
                <a:path w="5017770" h="5715">
                  <a:moveTo>
                    <a:pt x="5017148" y="5655"/>
                  </a:moveTo>
                  <a:lnTo>
                    <a:pt x="0" y="5655"/>
                  </a:lnTo>
                  <a:lnTo>
                    <a:pt x="0" y="0"/>
                  </a:lnTo>
                  <a:lnTo>
                    <a:pt x="5017148" y="0"/>
                  </a:lnTo>
                  <a:lnTo>
                    <a:pt x="5017148" y="5655"/>
                  </a:lnTo>
                  <a:close/>
                </a:path>
              </a:pathLst>
            </a:custGeom>
            <a:solidFill>
              <a:srgbClr val="000000"/>
            </a:solidFill>
          </p:spPr>
          <p:txBody>
            <a:bodyPr wrap="square" lIns="0" tIns="0" rIns="0" bIns="0" rtlCol="0"/>
            <a:lstStyle/>
            <a:p/>
          </p:txBody>
        </p:sp>
        <p:sp>
          <p:nvSpPr>
            <p:cNvPr id="55" name="object 55" descr=""/>
            <p:cNvSpPr/>
            <p:nvPr/>
          </p:nvSpPr>
          <p:spPr>
            <a:xfrm>
              <a:off x="4695774" y="1594030"/>
              <a:ext cx="4035425" cy="0"/>
            </a:xfrm>
            <a:custGeom>
              <a:avLst/>
              <a:gdLst/>
              <a:ahLst/>
              <a:cxnLst/>
              <a:rect l="l" t="t" r="r" b="b"/>
              <a:pathLst>
                <a:path w="4035425" h="0">
                  <a:moveTo>
                    <a:pt x="0" y="0"/>
                  </a:moveTo>
                  <a:lnTo>
                    <a:pt x="4035272" y="0"/>
                  </a:lnTo>
                </a:path>
              </a:pathLst>
            </a:custGeom>
            <a:ln w="3175">
              <a:solidFill>
                <a:srgbClr val="000000"/>
              </a:solidFill>
            </a:ln>
          </p:spPr>
          <p:txBody>
            <a:bodyPr wrap="square" lIns="0" tIns="0" rIns="0" bIns="0" rtlCol="0"/>
            <a:lstStyle/>
            <a:p/>
          </p:txBody>
        </p:sp>
        <p:sp>
          <p:nvSpPr>
            <p:cNvPr id="56" name="object 56" descr=""/>
            <p:cNvSpPr/>
            <p:nvPr/>
          </p:nvSpPr>
          <p:spPr>
            <a:xfrm>
              <a:off x="4695770" y="1594028"/>
              <a:ext cx="4035425" cy="5715"/>
            </a:xfrm>
            <a:custGeom>
              <a:avLst/>
              <a:gdLst/>
              <a:ahLst/>
              <a:cxnLst/>
              <a:rect l="l" t="t" r="r" b="b"/>
              <a:pathLst>
                <a:path w="4035425" h="5715">
                  <a:moveTo>
                    <a:pt x="4035272" y="5655"/>
                  </a:moveTo>
                  <a:lnTo>
                    <a:pt x="0" y="5655"/>
                  </a:lnTo>
                  <a:lnTo>
                    <a:pt x="0" y="0"/>
                  </a:lnTo>
                  <a:lnTo>
                    <a:pt x="4035272" y="0"/>
                  </a:lnTo>
                  <a:lnTo>
                    <a:pt x="4035272" y="5655"/>
                  </a:lnTo>
                  <a:close/>
                </a:path>
              </a:pathLst>
            </a:custGeom>
            <a:solidFill>
              <a:srgbClr val="000000"/>
            </a:solidFill>
          </p:spPr>
          <p:txBody>
            <a:bodyPr wrap="square" lIns="0" tIns="0" rIns="0" bIns="0" rtlCol="0"/>
            <a:lstStyle/>
            <a:p/>
          </p:txBody>
        </p:sp>
        <p:sp>
          <p:nvSpPr>
            <p:cNvPr id="57" name="object 57" descr=""/>
            <p:cNvSpPr/>
            <p:nvPr/>
          </p:nvSpPr>
          <p:spPr>
            <a:xfrm>
              <a:off x="4695775" y="1701491"/>
              <a:ext cx="4035425" cy="0"/>
            </a:xfrm>
            <a:custGeom>
              <a:avLst/>
              <a:gdLst/>
              <a:ahLst/>
              <a:cxnLst/>
              <a:rect l="l" t="t" r="r" b="b"/>
              <a:pathLst>
                <a:path w="4035425" h="0">
                  <a:moveTo>
                    <a:pt x="0" y="0"/>
                  </a:moveTo>
                  <a:lnTo>
                    <a:pt x="4035272" y="0"/>
                  </a:lnTo>
                </a:path>
              </a:pathLst>
            </a:custGeom>
            <a:ln w="3175">
              <a:solidFill>
                <a:srgbClr val="000000"/>
              </a:solidFill>
            </a:ln>
          </p:spPr>
          <p:txBody>
            <a:bodyPr wrap="square" lIns="0" tIns="0" rIns="0" bIns="0" rtlCol="0"/>
            <a:lstStyle/>
            <a:p/>
          </p:txBody>
        </p:sp>
        <p:sp>
          <p:nvSpPr>
            <p:cNvPr id="58" name="object 58" descr=""/>
            <p:cNvSpPr/>
            <p:nvPr/>
          </p:nvSpPr>
          <p:spPr>
            <a:xfrm>
              <a:off x="4695771" y="1701489"/>
              <a:ext cx="4035425" cy="5715"/>
            </a:xfrm>
            <a:custGeom>
              <a:avLst/>
              <a:gdLst/>
              <a:ahLst/>
              <a:cxnLst/>
              <a:rect l="l" t="t" r="r" b="b"/>
              <a:pathLst>
                <a:path w="4035425" h="5714">
                  <a:moveTo>
                    <a:pt x="4035272" y="5655"/>
                  </a:moveTo>
                  <a:lnTo>
                    <a:pt x="0" y="5655"/>
                  </a:lnTo>
                  <a:lnTo>
                    <a:pt x="0" y="0"/>
                  </a:lnTo>
                  <a:lnTo>
                    <a:pt x="4035272" y="0"/>
                  </a:lnTo>
                  <a:lnTo>
                    <a:pt x="4035272" y="5655"/>
                  </a:lnTo>
                  <a:close/>
                </a:path>
              </a:pathLst>
            </a:custGeom>
            <a:solidFill>
              <a:srgbClr val="000000"/>
            </a:solidFill>
          </p:spPr>
          <p:txBody>
            <a:bodyPr wrap="square" lIns="0" tIns="0" rIns="0" bIns="0" rtlCol="0"/>
            <a:lstStyle/>
            <a:p/>
          </p:txBody>
        </p:sp>
        <p:sp>
          <p:nvSpPr>
            <p:cNvPr id="59" name="object 59" descr=""/>
            <p:cNvSpPr/>
            <p:nvPr/>
          </p:nvSpPr>
          <p:spPr>
            <a:xfrm>
              <a:off x="4695775" y="1808952"/>
              <a:ext cx="4035425" cy="0"/>
            </a:xfrm>
            <a:custGeom>
              <a:avLst/>
              <a:gdLst/>
              <a:ahLst/>
              <a:cxnLst/>
              <a:rect l="l" t="t" r="r" b="b"/>
              <a:pathLst>
                <a:path w="4035425" h="0">
                  <a:moveTo>
                    <a:pt x="0" y="0"/>
                  </a:moveTo>
                  <a:lnTo>
                    <a:pt x="4035272" y="0"/>
                  </a:lnTo>
                </a:path>
              </a:pathLst>
            </a:custGeom>
            <a:ln w="3175">
              <a:solidFill>
                <a:srgbClr val="000000"/>
              </a:solidFill>
            </a:ln>
          </p:spPr>
          <p:txBody>
            <a:bodyPr wrap="square" lIns="0" tIns="0" rIns="0" bIns="0" rtlCol="0"/>
            <a:lstStyle/>
            <a:p/>
          </p:txBody>
        </p:sp>
        <p:sp>
          <p:nvSpPr>
            <p:cNvPr id="60" name="object 60" descr=""/>
            <p:cNvSpPr/>
            <p:nvPr/>
          </p:nvSpPr>
          <p:spPr>
            <a:xfrm>
              <a:off x="4695771" y="1808950"/>
              <a:ext cx="4035425" cy="5715"/>
            </a:xfrm>
            <a:custGeom>
              <a:avLst/>
              <a:gdLst/>
              <a:ahLst/>
              <a:cxnLst/>
              <a:rect l="l" t="t" r="r" b="b"/>
              <a:pathLst>
                <a:path w="4035425" h="5714">
                  <a:moveTo>
                    <a:pt x="4035272" y="5661"/>
                  </a:moveTo>
                  <a:lnTo>
                    <a:pt x="0" y="5661"/>
                  </a:lnTo>
                  <a:lnTo>
                    <a:pt x="0" y="0"/>
                  </a:lnTo>
                  <a:lnTo>
                    <a:pt x="4035272" y="0"/>
                  </a:lnTo>
                  <a:lnTo>
                    <a:pt x="4035272" y="5661"/>
                  </a:lnTo>
                  <a:close/>
                </a:path>
              </a:pathLst>
            </a:custGeom>
            <a:solidFill>
              <a:srgbClr val="000000"/>
            </a:solidFill>
          </p:spPr>
          <p:txBody>
            <a:bodyPr wrap="square" lIns="0" tIns="0" rIns="0" bIns="0" rtlCol="0"/>
            <a:lstStyle/>
            <a:p/>
          </p:txBody>
        </p:sp>
        <p:sp>
          <p:nvSpPr>
            <p:cNvPr id="61" name="object 61" descr=""/>
            <p:cNvSpPr/>
            <p:nvPr/>
          </p:nvSpPr>
          <p:spPr>
            <a:xfrm>
              <a:off x="4695776" y="1916413"/>
              <a:ext cx="4035425" cy="0"/>
            </a:xfrm>
            <a:custGeom>
              <a:avLst/>
              <a:gdLst/>
              <a:ahLst/>
              <a:cxnLst/>
              <a:rect l="l" t="t" r="r" b="b"/>
              <a:pathLst>
                <a:path w="4035425" h="0">
                  <a:moveTo>
                    <a:pt x="0" y="0"/>
                  </a:moveTo>
                  <a:lnTo>
                    <a:pt x="4035272" y="0"/>
                  </a:lnTo>
                </a:path>
              </a:pathLst>
            </a:custGeom>
            <a:ln w="3175">
              <a:solidFill>
                <a:srgbClr val="000000"/>
              </a:solidFill>
            </a:ln>
          </p:spPr>
          <p:txBody>
            <a:bodyPr wrap="square" lIns="0" tIns="0" rIns="0" bIns="0" rtlCol="0"/>
            <a:lstStyle/>
            <a:p/>
          </p:txBody>
        </p:sp>
        <p:sp>
          <p:nvSpPr>
            <p:cNvPr id="62" name="object 62" descr=""/>
            <p:cNvSpPr/>
            <p:nvPr/>
          </p:nvSpPr>
          <p:spPr>
            <a:xfrm>
              <a:off x="4695772" y="1916416"/>
              <a:ext cx="4035425" cy="5715"/>
            </a:xfrm>
            <a:custGeom>
              <a:avLst/>
              <a:gdLst/>
              <a:ahLst/>
              <a:cxnLst/>
              <a:rect l="l" t="t" r="r" b="b"/>
              <a:pathLst>
                <a:path w="4035425" h="5714">
                  <a:moveTo>
                    <a:pt x="4035272" y="5655"/>
                  </a:moveTo>
                  <a:lnTo>
                    <a:pt x="0" y="5655"/>
                  </a:lnTo>
                  <a:lnTo>
                    <a:pt x="0" y="0"/>
                  </a:lnTo>
                  <a:lnTo>
                    <a:pt x="4035272" y="0"/>
                  </a:lnTo>
                  <a:lnTo>
                    <a:pt x="4035272" y="5655"/>
                  </a:lnTo>
                  <a:close/>
                </a:path>
              </a:pathLst>
            </a:custGeom>
            <a:solidFill>
              <a:srgbClr val="000000"/>
            </a:solidFill>
          </p:spPr>
          <p:txBody>
            <a:bodyPr wrap="square" lIns="0" tIns="0" rIns="0" bIns="0" rtlCol="0"/>
            <a:lstStyle/>
            <a:p/>
          </p:txBody>
        </p:sp>
        <p:sp>
          <p:nvSpPr>
            <p:cNvPr id="63" name="object 63" descr=""/>
            <p:cNvSpPr/>
            <p:nvPr/>
          </p:nvSpPr>
          <p:spPr>
            <a:xfrm>
              <a:off x="3713901" y="2023873"/>
              <a:ext cx="5017770" cy="0"/>
            </a:xfrm>
            <a:custGeom>
              <a:avLst/>
              <a:gdLst/>
              <a:ahLst/>
              <a:cxnLst/>
              <a:rect l="l" t="t" r="r" b="b"/>
              <a:pathLst>
                <a:path w="5017770" h="0">
                  <a:moveTo>
                    <a:pt x="0" y="0"/>
                  </a:moveTo>
                  <a:lnTo>
                    <a:pt x="5017148" y="0"/>
                  </a:lnTo>
                </a:path>
              </a:pathLst>
            </a:custGeom>
            <a:ln w="3175">
              <a:solidFill>
                <a:srgbClr val="000000"/>
              </a:solidFill>
            </a:ln>
          </p:spPr>
          <p:txBody>
            <a:bodyPr wrap="square" lIns="0" tIns="0" rIns="0" bIns="0" rtlCol="0"/>
            <a:lstStyle/>
            <a:p/>
          </p:txBody>
        </p:sp>
        <p:sp>
          <p:nvSpPr>
            <p:cNvPr id="64" name="object 64" descr=""/>
            <p:cNvSpPr/>
            <p:nvPr/>
          </p:nvSpPr>
          <p:spPr>
            <a:xfrm>
              <a:off x="3713897" y="2023877"/>
              <a:ext cx="5017770" cy="5715"/>
            </a:xfrm>
            <a:custGeom>
              <a:avLst/>
              <a:gdLst/>
              <a:ahLst/>
              <a:cxnLst/>
              <a:rect l="l" t="t" r="r" b="b"/>
              <a:pathLst>
                <a:path w="5017770" h="5714">
                  <a:moveTo>
                    <a:pt x="5017142" y="5655"/>
                  </a:moveTo>
                  <a:lnTo>
                    <a:pt x="0" y="5655"/>
                  </a:lnTo>
                  <a:lnTo>
                    <a:pt x="0" y="0"/>
                  </a:lnTo>
                  <a:lnTo>
                    <a:pt x="5017142" y="0"/>
                  </a:lnTo>
                  <a:lnTo>
                    <a:pt x="5017142" y="5655"/>
                  </a:lnTo>
                  <a:close/>
                </a:path>
              </a:pathLst>
            </a:custGeom>
            <a:solidFill>
              <a:srgbClr val="000000"/>
            </a:solidFill>
          </p:spPr>
          <p:txBody>
            <a:bodyPr wrap="square" lIns="0" tIns="0" rIns="0" bIns="0" rtlCol="0"/>
            <a:lstStyle/>
            <a:p/>
          </p:txBody>
        </p:sp>
        <p:sp>
          <p:nvSpPr>
            <p:cNvPr id="65" name="object 65" descr=""/>
            <p:cNvSpPr/>
            <p:nvPr/>
          </p:nvSpPr>
          <p:spPr>
            <a:xfrm>
              <a:off x="4695778" y="2233140"/>
              <a:ext cx="4035425" cy="0"/>
            </a:xfrm>
            <a:custGeom>
              <a:avLst/>
              <a:gdLst/>
              <a:ahLst/>
              <a:cxnLst/>
              <a:rect l="l" t="t" r="r" b="b"/>
              <a:pathLst>
                <a:path w="4035425" h="0">
                  <a:moveTo>
                    <a:pt x="0" y="0"/>
                  </a:moveTo>
                  <a:lnTo>
                    <a:pt x="4035272" y="0"/>
                  </a:lnTo>
                </a:path>
              </a:pathLst>
            </a:custGeom>
            <a:ln w="3175">
              <a:solidFill>
                <a:srgbClr val="000000"/>
              </a:solidFill>
            </a:ln>
          </p:spPr>
          <p:txBody>
            <a:bodyPr wrap="square" lIns="0" tIns="0" rIns="0" bIns="0" rtlCol="0"/>
            <a:lstStyle/>
            <a:p/>
          </p:txBody>
        </p:sp>
        <p:sp>
          <p:nvSpPr>
            <p:cNvPr id="66" name="object 66" descr=""/>
            <p:cNvSpPr/>
            <p:nvPr/>
          </p:nvSpPr>
          <p:spPr>
            <a:xfrm>
              <a:off x="4695774" y="2233143"/>
              <a:ext cx="4035425" cy="5715"/>
            </a:xfrm>
            <a:custGeom>
              <a:avLst/>
              <a:gdLst/>
              <a:ahLst/>
              <a:cxnLst/>
              <a:rect l="l" t="t" r="r" b="b"/>
              <a:pathLst>
                <a:path w="4035425" h="5714">
                  <a:moveTo>
                    <a:pt x="4035266" y="5655"/>
                  </a:moveTo>
                  <a:lnTo>
                    <a:pt x="0" y="5655"/>
                  </a:lnTo>
                  <a:lnTo>
                    <a:pt x="0" y="0"/>
                  </a:lnTo>
                  <a:lnTo>
                    <a:pt x="4035266" y="0"/>
                  </a:lnTo>
                  <a:lnTo>
                    <a:pt x="4035266" y="5655"/>
                  </a:lnTo>
                  <a:close/>
                </a:path>
              </a:pathLst>
            </a:custGeom>
            <a:solidFill>
              <a:srgbClr val="000000"/>
            </a:solidFill>
          </p:spPr>
          <p:txBody>
            <a:bodyPr wrap="square" lIns="0" tIns="0" rIns="0" bIns="0" rtlCol="0"/>
            <a:lstStyle/>
            <a:p/>
          </p:txBody>
        </p:sp>
        <p:sp>
          <p:nvSpPr>
            <p:cNvPr id="67" name="object 67" descr=""/>
            <p:cNvSpPr/>
            <p:nvPr/>
          </p:nvSpPr>
          <p:spPr>
            <a:xfrm>
              <a:off x="4695778" y="2340600"/>
              <a:ext cx="4035425" cy="0"/>
            </a:xfrm>
            <a:custGeom>
              <a:avLst/>
              <a:gdLst/>
              <a:ahLst/>
              <a:cxnLst/>
              <a:rect l="l" t="t" r="r" b="b"/>
              <a:pathLst>
                <a:path w="4035425" h="0">
                  <a:moveTo>
                    <a:pt x="0" y="0"/>
                  </a:moveTo>
                  <a:lnTo>
                    <a:pt x="4035272" y="0"/>
                  </a:lnTo>
                </a:path>
              </a:pathLst>
            </a:custGeom>
            <a:ln w="3175">
              <a:solidFill>
                <a:srgbClr val="000000"/>
              </a:solidFill>
            </a:ln>
          </p:spPr>
          <p:txBody>
            <a:bodyPr wrap="square" lIns="0" tIns="0" rIns="0" bIns="0" rtlCol="0"/>
            <a:lstStyle/>
            <a:p/>
          </p:txBody>
        </p:sp>
        <p:sp>
          <p:nvSpPr>
            <p:cNvPr id="68" name="object 68" descr=""/>
            <p:cNvSpPr/>
            <p:nvPr/>
          </p:nvSpPr>
          <p:spPr>
            <a:xfrm>
              <a:off x="4695775" y="2340598"/>
              <a:ext cx="4035425" cy="5715"/>
            </a:xfrm>
            <a:custGeom>
              <a:avLst/>
              <a:gdLst/>
              <a:ahLst/>
              <a:cxnLst/>
              <a:rect l="l" t="t" r="r" b="b"/>
              <a:pathLst>
                <a:path w="4035425" h="5714">
                  <a:moveTo>
                    <a:pt x="4035266" y="5655"/>
                  </a:moveTo>
                  <a:lnTo>
                    <a:pt x="0" y="5655"/>
                  </a:lnTo>
                  <a:lnTo>
                    <a:pt x="0" y="0"/>
                  </a:lnTo>
                  <a:lnTo>
                    <a:pt x="4035266" y="0"/>
                  </a:lnTo>
                  <a:lnTo>
                    <a:pt x="4035266" y="5655"/>
                  </a:lnTo>
                  <a:close/>
                </a:path>
              </a:pathLst>
            </a:custGeom>
            <a:solidFill>
              <a:srgbClr val="000000"/>
            </a:solidFill>
          </p:spPr>
          <p:txBody>
            <a:bodyPr wrap="square" lIns="0" tIns="0" rIns="0" bIns="0" rtlCol="0"/>
            <a:lstStyle/>
            <a:p/>
          </p:txBody>
        </p:sp>
        <p:sp>
          <p:nvSpPr>
            <p:cNvPr id="69" name="object 69" descr=""/>
            <p:cNvSpPr/>
            <p:nvPr/>
          </p:nvSpPr>
          <p:spPr>
            <a:xfrm>
              <a:off x="3713903" y="2448061"/>
              <a:ext cx="5017770" cy="0"/>
            </a:xfrm>
            <a:custGeom>
              <a:avLst/>
              <a:gdLst/>
              <a:ahLst/>
              <a:cxnLst/>
              <a:rect l="l" t="t" r="r" b="b"/>
              <a:pathLst>
                <a:path w="5017770" h="0">
                  <a:moveTo>
                    <a:pt x="0" y="0"/>
                  </a:moveTo>
                  <a:lnTo>
                    <a:pt x="5017148" y="0"/>
                  </a:lnTo>
                </a:path>
              </a:pathLst>
            </a:custGeom>
            <a:ln w="3175">
              <a:solidFill>
                <a:srgbClr val="000000"/>
              </a:solidFill>
            </a:ln>
          </p:spPr>
          <p:txBody>
            <a:bodyPr wrap="square" lIns="0" tIns="0" rIns="0" bIns="0" rtlCol="0"/>
            <a:lstStyle/>
            <a:p/>
          </p:txBody>
        </p:sp>
        <p:sp>
          <p:nvSpPr>
            <p:cNvPr id="70" name="object 70" descr=""/>
            <p:cNvSpPr/>
            <p:nvPr/>
          </p:nvSpPr>
          <p:spPr>
            <a:xfrm>
              <a:off x="3713899" y="2448059"/>
              <a:ext cx="5017770" cy="5715"/>
            </a:xfrm>
            <a:custGeom>
              <a:avLst/>
              <a:gdLst/>
              <a:ahLst/>
              <a:cxnLst/>
              <a:rect l="l" t="t" r="r" b="b"/>
              <a:pathLst>
                <a:path w="5017770" h="5714">
                  <a:moveTo>
                    <a:pt x="5017142" y="5655"/>
                  </a:moveTo>
                  <a:lnTo>
                    <a:pt x="0" y="5655"/>
                  </a:lnTo>
                  <a:lnTo>
                    <a:pt x="0" y="0"/>
                  </a:lnTo>
                  <a:lnTo>
                    <a:pt x="5017142" y="0"/>
                  </a:lnTo>
                  <a:lnTo>
                    <a:pt x="5017142" y="5655"/>
                  </a:lnTo>
                  <a:close/>
                </a:path>
              </a:pathLst>
            </a:custGeom>
            <a:solidFill>
              <a:srgbClr val="000000"/>
            </a:solidFill>
          </p:spPr>
          <p:txBody>
            <a:bodyPr wrap="square" lIns="0" tIns="0" rIns="0" bIns="0" rtlCol="0"/>
            <a:lstStyle/>
            <a:p/>
          </p:txBody>
        </p:sp>
        <p:sp>
          <p:nvSpPr>
            <p:cNvPr id="71" name="object 71" descr=""/>
            <p:cNvSpPr/>
            <p:nvPr/>
          </p:nvSpPr>
          <p:spPr>
            <a:xfrm>
              <a:off x="4695780" y="2555522"/>
              <a:ext cx="4035425" cy="0"/>
            </a:xfrm>
            <a:custGeom>
              <a:avLst/>
              <a:gdLst/>
              <a:ahLst/>
              <a:cxnLst/>
              <a:rect l="l" t="t" r="r" b="b"/>
              <a:pathLst>
                <a:path w="4035425" h="0">
                  <a:moveTo>
                    <a:pt x="0" y="0"/>
                  </a:moveTo>
                  <a:lnTo>
                    <a:pt x="4035272" y="0"/>
                  </a:lnTo>
                </a:path>
              </a:pathLst>
            </a:custGeom>
            <a:ln w="3175">
              <a:solidFill>
                <a:srgbClr val="000000"/>
              </a:solidFill>
            </a:ln>
          </p:spPr>
          <p:txBody>
            <a:bodyPr wrap="square" lIns="0" tIns="0" rIns="0" bIns="0" rtlCol="0"/>
            <a:lstStyle/>
            <a:p/>
          </p:txBody>
        </p:sp>
        <p:sp>
          <p:nvSpPr>
            <p:cNvPr id="72" name="object 72" descr=""/>
            <p:cNvSpPr/>
            <p:nvPr/>
          </p:nvSpPr>
          <p:spPr>
            <a:xfrm>
              <a:off x="4695776" y="2555520"/>
              <a:ext cx="4035425" cy="5715"/>
            </a:xfrm>
            <a:custGeom>
              <a:avLst/>
              <a:gdLst/>
              <a:ahLst/>
              <a:cxnLst/>
              <a:rect l="l" t="t" r="r" b="b"/>
              <a:pathLst>
                <a:path w="4035425" h="5714">
                  <a:moveTo>
                    <a:pt x="4035266" y="5655"/>
                  </a:moveTo>
                  <a:lnTo>
                    <a:pt x="0" y="5655"/>
                  </a:lnTo>
                  <a:lnTo>
                    <a:pt x="0" y="0"/>
                  </a:lnTo>
                  <a:lnTo>
                    <a:pt x="4035266" y="0"/>
                  </a:lnTo>
                  <a:lnTo>
                    <a:pt x="4035266" y="5655"/>
                  </a:lnTo>
                  <a:close/>
                </a:path>
              </a:pathLst>
            </a:custGeom>
            <a:solidFill>
              <a:srgbClr val="000000"/>
            </a:solidFill>
          </p:spPr>
          <p:txBody>
            <a:bodyPr wrap="square" lIns="0" tIns="0" rIns="0" bIns="0" rtlCol="0"/>
            <a:lstStyle/>
            <a:p/>
          </p:txBody>
        </p:sp>
        <p:sp>
          <p:nvSpPr>
            <p:cNvPr id="73" name="object 73" descr=""/>
            <p:cNvSpPr/>
            <p:nvPr/>
          </p:nvSpPr>
          <p:spPr>
            <a:xfrm>
              <a:off x="4695781" y="2962744"/>
              <a:ext cx="4035425" cy="0"/>
            </a:xfrm>
            <a:custGeom>
              <a:avLst/>
              <a:gdLst/>
              <a:ahLst/>
              <a:cxnLst/>
              <a:rect l="l" t="t" r="r" b="b"/>
              <a:pathLst>
                <a:path w="4035425" h="0">
                  <a:moveTo>
                    <a:pt x="0" y="0"/>
                  </a:moveTo>
                  <a:lnTo>
                    <a:pt x="4035272" y="0"/>
                  </a:lnTo>
                </a:path>
              </a:pathLst>
            </a:custGeom>
            <a:ln w="3175">
              <a:solidFill>
                <a:srgbClr val="000000"/>
              </a:solidFill>
            </a:ln>
          </p:spPr>
          <p:txBody>
            <a:bodyPr wrap="square" lIns="0" tIns="0" rIns="0" bIns="0" rtlCol="0"/>
            <a:lstStyle/>
            <a:p/>
          </p:txBody>
        </p:sp>
        <p:sp>
          <p:nvSpPr>
            <p:cNvPr id="74" name="object 74" descr=""/>
            <p:cNvSpPr/>
            <p:nvPr/>
          </p:nvSpPr>
          <p:spPr>
            <a:xfrm>
              <a:off x="4695777" y="2962741"/>
              <a:ext cx="4035425" cy="5715"/>
            </a:xfrm>
            <a:custGeom>
              <a:avLst/>
              <a:gdLst/>
              <a:ahLst/>
              <a:cxnLst/>
              <a:rect l="l" t="t" r="r" b="b"/>
              <a:pathLst>
                <a:path w="4035425" h="5714">
                  <a:moveTo>
                    <a:pt x="4035266" y="5655"/>
                  </a:moveTo>
                  <a:lnTo>
                    <a:pt x="0" y="5655"/>
                  </a:lnTo>
                  <a:lnTo>
                    <a:pt x="0" y="0"/>
                  </a:lnTo>
                  <a:lnTo>
                    <a:pt x="4035266" y="0"/>
                  </a:lnTo>
                  <a:lnTo>
                    <a:pt x="4035266" y="5655"/>
                  </a:lnTo>
                  <a:close/>
                </a:path>
              </a:pathLst>
            </a:custGeom>
            <a:solidFill>
              <a:srgbClr val="000000"/>
            </a:solidFill>
          </p:spPr>
          <p:txBody>
            <a:bodyPr wrap="square" lIns="0" tIns="0" rIns="0" bIns="0" rtlCol="0"/>
            <a:lstStyle/>
            <a:p/>
          </p:txBody>
        </p:sp>
        <p:sp>
          <p:nvSpPr>
            <p:cNvPr id="75" name="object 75" descr=""/>
            <p:cNvSpPr/>
            <p:nvPr/>
          </p:nvSpPr>
          <p:spPr>
            <a:xfrm>
              <a:off x="3713905" y="3070204"/>
              <a:ext cx="5017770" cy="0"/>
            </a:xfrm>
            <a:custGeom>
              <a:avLst/>
              <a:gdLst/>
              <a:ahLst/>
              <a:cxnLst/>
              <a:rect l="l" t="t" r="r" b="b"/>
              <a:pathLst>
                <a:path w="5017770" h="0">
                  <a:moveTo>
                    <a:pt x="0" y="0"/>
                  </a:moveTo>
                  <a:lnTo>
                    <a:pt x="5017148" y="0"/>
                  </a:lnTo>
                </a:path>
              </a:pathLst>
            </a:custGeom>
            <a:ln w="3175">
              <a:solidFill>
                <a:srgbClr val="000000"/>
              </a:solidFill>
            </a:ln>
          </p:spPr>
          <p:txBody>
            <a:bodyPr wrap="square" lIns="0" tIns="0" rIns="0" bIns="0" rtlCol="0"/>
            <a:lstStyle/>
            <a:p/>
          </p:txBody>
        </p:sp>
        <p:sp>
          <p:nvSpPr>
            <p:cNvPr id="76" name="object 76" descr=""/>
            <p:cNvSpPr/>
            <p:nvPr/>
          </p:nvSpPr>
          <p:spPr>
            <a:xfrm>
              <a:off x="3713901" y="3070202"/>
              <a:ext cx="5017770" cy="5715"/>
            </a:xfrm>
            <a:custGeom>
              <a:avLst/>
              <a:gdLst/>
              <a:ahLst/>
              <a:cxnLst/>
              <a:rect l="l" t="t" r="r" b="b"/>
              <a:pathLst>
                <a:path w="5017770" h="5714">
                  <a:moveTo>
                    <a:pt x="5017142" y="5655"/>
                  </a:moveTo>
                  <a:lnTo>
                    <a:pt x="0" y="5655"/>
                  </a:lnTo>
                  <a:lnTo>
                    <a:pt x="0" y="0"/>
                  </a:lnTo>
                  <a:lnTo>
                    <a:pt x="5017142" y="0"/>
                  </a:lnTo>
                  <a:lnTo>
                    <a:pt x="5017142" y="5655"/>
                  </a:lnTo>
                  <a:close/>
                </a:path>
              </a:pathLst>
            </a:custGeom>
            <a:solidFill>
              <a:srgbClr val="000000"/>
            </a:solidFill>
          </p:spPr>
          <p:txBody>
            <a:bodyPr wrap="square" lIns="0" tIns="0" rIns="0" bIns="0" rtlCol="0"/>
            <a:lstStyle/>
            <a:p/>
          </p:txBody>
        </p:sp>
        <p:sp>
          <p:nvSpPr>
            <p:cNvPr id="77" name="object 77" descr=""/>
            <p:cNvSpPr/>
            <p:nvPr/>
          </p:nvSpPr>
          <p:spPr>
            <a:xfrm>
              <a:off x="4695782" y="3177665"/>
              <a:ext cx="4035425" cy="0"/>
            </a:xfrm>
            <a:custGeom>
              <a:avLst/>
              <a:gdLst/>
              <a:ahLst/>
              <a:cxnLst/>
              <a:rect l="l" t="t" r="r" b="b"/>
              <a:pathLst>
                <a:path w="4035425" h="0">
                  <a:moveTo>
                    <a:pt x="0" y="0"/>
                  </a:moveTo>
                  <a:lnTo>
                    <a:pt x="4035272" y="0"/>
                  </a:lnTo>
                </a:path>
              </a:pathLst>
            </a:custGeom>
            <a:ln w="3175">
              <a:solidFill>
                <a:srgbClr val="000000"/>
              </a:solidFill>
            </a:ln>
          </p:spPr>
          <p:txBody>
            <a:bodyPr wrap="square" lIns="0" tIns="0" rIns="0" bIns="0" rtlCol="0"/>
            <a:lstStyle/>
            <a:p/>
          </p:txBody>
        </p:sp>
        <p:sp>
          <p:nvSpPr>
            <p:cNvPr id="78" name="object 78" descr=""/>
            <p:cNvSpPr/>
            <p:nvPr/>
          </p:nvSpPr>
          <p:spPr>
            <a:xfrm>
              <a:off x="4695778" y="3177663"/>
              <a:ext cx="4035425" cy="5715"/>
            </a:xfrm>
            <a:custGeom>
              <a:avLst/>
              <a:gdLst/>
              <a:ahLst/>
              <a:cxnLst/>
              <a:rect l="l" t="t" r="r" b="b"/>
              <a:pathLst>
                <a:path w="4035425" h="5714">
                  <a:moveTo>
                    <a:pt x="4035266" y="5655"/>
                  </a:moveTo>
                  <a:lnTo>
                    <a:pt x="0" y="5655"/>
                  </a:lnTo>
                  <a:lnTo>
                    <a:pt x="0" y="0"/>
                  </a:lnTo>
                  <a:lnTo>
                    <a:pt x="4035266" y="0"/>
                  </a:lnTo>
                  <a:lnTo>
                    <a:pt x="4035266" y="5655"/>
                  </a:lnTo>
                  <a:close/>
                </a:path>
              </a:pathLst>
            </a:custGeom>
            <a:solidFill>
              <a:srgbClr val="000000"/>
            </a:solidFill>
          </p:spPr>
          <p:txBody>
            <a:bodyPr wrap="square" lIns="0" tIns="0" rIns="0" bIns="0" rtlCol="0"/>
            <a:lstStyle/>
            <a:p/>
          </p:txBody>
        </p:sp>
        <p:sp>
          <p:nvSpPr>
            <p:cNvPr id="79" name="object 79" descr=""/>
            <p:cNvSpPr/>
            <p:nvPr/>
          </p:nvSpPr>
          <p:spPr>
            <a:xfrm>
              <a:off x="4695783" y="3285126"/>
              <a:ext cx="4035425" cy="0"/>
            </a:xfrm>
            <a:custGeom>
              <a:avLst/>
              <a:gdLst/>
              <a:ahLst/>
              <a:cxnLst/>
              <a:rect l="l" t="t" r="r" b="b"/>
              <a:pathLst>
                <a:path w="4035425" h="0">
                  <a:moveTo>
                    <a:pt x="0" y="0"/>
                  </a:moveTo>
                  <a:lnTo>
                    <a:pt x="4035272" y="0"/>
                  </a:lnTo>
                </a:path>
              </a:pathLst>
            </a:custGeom>
            <a:ln w="3175">
              <a:solidFill>
                <a:srgbClr val="000000"/>
              </a:solidFill>
            </a:ln>
          </p:spPr>
          <p:txBody>
            <a:bodyPr wrap="square" lIns="0" tIns="0" rIns="0" bIns="0" rtlCol="0"/>
            <a:lstStyle/>
            <a:p/>
          </p:txBody>
        </p:sp>
        <p:sp>
          <p:nvSpPr>
            <p:cNvPr id="80" name="object 80" descr=""/>
            <p:cNvSpPr/>
            <p:nvPr/>
          </p:nvSpPr>
          <p:spPr>
            <a:xfrm>
              <a:off x="4695779" y="3285123"/>
              <a:ext cx="4035425" cy="5715"/>
            </a:xfrm>
            <a:custGeom>
              <a:avLst/>
              <a:gdLst/>
              <a:ahLst/>
              <a:cxnLst/>
              <a:rect l="l" t="t" r="r" b="b"/>
              <a:pathLst>
                <a:path w="4035425" h="5714">
                  <a:moveTo>
                    <a:pt x="4035260" y="5661"/>
                  </a:moveTo>
                  <a:lnTo>
                    <a:pt x="0" y="5661"/>
                  </a:lnTo>
                  <a:lnTo>
                    <a:pt x="0" y="0"/>
                  </a:lnTo>
                  <a:lnTo>
                    <a:pt x="4035260" y="0"/>
                  </a:lnTo>
                  <a:lnTo>
                    <a:pt x="4035260" y="5661"/>
                  </a:lnTo>
                  <a:close/>
                </a:path>
              </a:pathLst>
            </a:custGeom>
            <a:solidFill>
              <a:srgbClr val="000000"/>
            </a:solidFill>
          </p:spPr>
          <p:txBody>
            <a:bodyPr wrap="square" lIns="0" tIns="0" rIns="0" bIns="0" rtlCol="0"/>
            <a:lstStyle/>
            <a:p/>
          </p:txBody>
        </p:sp>
        <p:sp>
          <p:nvSpPr>
            <p:cNvPr id="81" name="object 81" descr=""/>
            <p:cNvSpPr/>
            <p:nvPr/>
          </p:nvSpPr>
          <p:spPr>
            <a:xfrm>
              <a:off x="4695784" y="3392586"/>
              <a:ext cx="4035425" cy="0"/>
            </a:xfrm>
            <a:custGeom>
              <a:avLst/>
              <a:gdLst/>
              <a:ahLst/>
              <a:cxnLst/>
              <a:rect l="l" t="t" r="r" b="b"/>
              <a:pathLst>
                <a:path w="4035425" h="0">
                  <a:moveTo>
                    <a:pt x="0" y="0"/>
                  </a:moveTo>
                  <a:lnTo>
                    <a:pt x="4035272" y="0"/>
                  </a:lnTo>
                </a:path>
              </a:pathLst>
            </a:custGeom>
            <a:ln w="3175">
              <a:solidFill>
                <a:srgbClr val="000000"/>
              </a:solidFill>
            </a:ln>
          </p:spPr>
          <p:txBody>
            <a:bodyPr wrap="square" lIns="0" tIns="0" rIns="0" bIns="0" rtlCol="0"/>
            <a:lstStyle/>
            <a:p/>
          </p:txBody>
        </p:sp>
        <p:sp>
          <p:nvSpPr>
            <p:cNvPr id="82" name="object 82" descr=""/>
            <p:cNvSpPr/>
            <p:nvPr/>
          </p:nvSpPr>
          <p:spPr>
            <a:xfrm>
              <a:off x="4695780" y="3392590"/>
              <a:ext cx="4035425" cy="5715"/>
            </a:xfrm>
            <a:custGeom>
              <a:avLst/>
              <a:gdLst/>
              <a:ahLst/>
              <a:cxnLst/>
              <a:rect l="l" t="t" r="r" b="b"/>
              <a:pathLst>
                <a:path w="4035425" h="5714">
                  <a:moveTo>
                    <a:pt x="4035260" y="5655"/>
                  </a:moveTo>
                  <a:lnTo>
                    <a:pt x="0" y="5655"/>
                  </a:lnTo>
                  <a:lnTo>
                    <a:pt x="0" y="0"/>
                  </a:lnTo>
                  <a:lnTo>
                    <a:pt x="4035260" y="0"/>
                  </a:lnTo>
                  <a:lnTo>
                    <a:pt x="4035260" y="5655"/>
                  </a:lnTo>
                  <a:close/>
                </a:path>
              </a:pathLst>
            </a:custGeom>
            <a:solidFill>
              <a:srgbClr val="000000"/>
            </a:solidFill>
          </p:spPr>
          <p:txBody>
            <a:bodyPr wrap="square" lIns="0" tIns="0" rIns="0" bIns="0" rtlCol="0"/>
            <a:lstStyle/>
            <a:p/>
          </p:txBody>
        </p:sp>
        <p:sp>
          <p:nvSpPr>
            <p:cNvPr id="83" name="object 83" descr=""/>
            <p:cNvSpPr/>
            <p:nvPr/>
          </p:nvSpPr>
          <p:spPr>
            <a:xfrm>
              <a:off x="3713908" y="3500047"/>
              <a:ext cx="5017770" cy="0"/>
            </a:xfrm>
            <a:custGeom>
              <a:avLst/>
              <a:gdLst/>
              <a:ahLst/>
              <a:cxnLst/>
              <a:rect l="l" t="t" r="r" b="b"/>
              <a:pathLst>
                <a:path w="5017770" h="0">
                  <a:moveTo>
                    <a:pt x="0" y="0"/>
                  </a:moveTo>
                  <a:lnTo>
                    <a:pt x="5017148" y="0"/>
                  </a:lnTo>
                </a:path>
              </a:pathLst>
            </a:custGeom>
            <a:ln w="3175">
              <a:solidFill>
                <a:srgbClr val="000000"/>
              </a:solidFill>
            </a:ln>
          </p:spPr>
          <p:txBody>
            <a:bodyPr wrap="square" lIns="0" tIns="0" rIns="0" bIns="0" rtlCol="0"/>
            <a:lstStyle/>
            <a:p/>
          </p:txBody>
        </p:sp>
        <p:sp>
          <p:nvSpPr>
            <p:cNvPr id="84" name="object 84" descr=""/>
            <p:cNvSpPr/>
            <p:nvPr/>
          </p:nvSpPr>
          <p:spPr>
            <a:xfrm>
              <a:off x="3713904" y="3500050"/>
              <a:ext cx="5017135" cy="5715"/>
            </a:xfrm>
            <a:custGeom>
              <a:avLst/>
              <a:gdLst/>
              <a:ahLst/>
              <a:cxnLst/>
              <a:rect l="l" t="t" r="r" b="b"/>
              <a:pathLst>
                <a:path w="5017134" h="5714">
                  <a:moveTo>
                    <a:pt x="5017136" y="5655"/>
                  </a:moveTo>
                  <a:lnTo>
                    <a:pt x="0" y="5655"/>
                  </a:lnTo>
                  <a:lnTo>
                    <a:pt x="0" y="0"/>
                  </a:lnTo>
                  <a:lnTo>
                    <a:pt x="5017136" y="0"/>
                  </a:lnTo>
                  <a:lnTo>
                    <a:pt x="5017136" y="5655"/>
                  </a:lnTo>
                  <a:close/>
                </a:path>
              </a:pathLst>
            </a:custGeom>
            <a:solidFill>
              <a:srgbClr val="000000"/>
            </a:solidFill>
          </p:spPr>
          <p:txBody>
            <a:bodyPr wrap="square" lIns="0" tIns="0" rIns="0" bIns="0" rtlCol="0"/>
            <a:lstStyle/>
            <a:p/>
          </p:txBody>
        </p:sp>
        <p:sp>
          <p:nvSpPr>
            <p:cNvPr id="85" name="object 85" descr=""/>
            <p:cNvSpPr/>
            <p:nvPr/>
          </p:nvSpPr>
          <p:spPr>
            <a:xfrm>
              <a:off x="4695785" y="3607508"/>
              <a:ext cx="4035425" cy="0"/>
            </a:xfrm>
            <a:custGeom>
              <a:avLst/>
              <a:gdLst/>
              <a:ahLst/>
              <a:cxnLst/>
              <a:rect l="l" t="t" r="r" b="b"/>
              <a:pathLst>
                <a:path w="4035425" h="0">
                  <a:moveTo>
                    <a:pt x="0" y="0"/>
                  </a:moveTo>
                  <a:lnTo>
                    <a:pt x="4035272" y="0"/>
                  </a:lnTo>
                </a:path>
              </a:pathLst>
            </a:custGeom>
            <a:ln w="3175">
              <a:solidFill>
                <a:srgbClr val="000000"/>
              </a:solidFill>
            </a:ln>
          </p:spPr>
          <p:txBody>
            <a:bodyPr wrap="square" lIns="0" tIns="0" rIns="0" bIns="0" rtlCol="0"/>
            <a:lstStyle/>
            <a:p/>
          </p:txBody>
        </p:sp>
        <p:sp>
          <p:nvSpPr>
            <p:cNvPr id="86" name="object 86" descr=""/>
            <p:cNvSpPr/>
            <p:nvPr/>
          </p:nvSpPr>
          <p:spPr>
            <a:xfrm>
              <a:off x="4695782" y="3607511"/>
              <a:ext cx="4035425" cy="5715"/>
            </a:xfrm>
            <a:custGeom>
              <a:avLst/>
              <a:gdLst/>
              <a:ahLst/>
              <a:cxnLst/>
              <a:rect l="l" t="t" r="r" b="b"/>
              <a:pathLst>
                <a:path w="4035425" h="5714">
                  <a:moveTo>
                    <a:pt x="4035260" y="5655"/>
                  </a:moveTo>
                  <a:lnTo>
                    <a:pt x="0" y="5655"/>
                  </a:lnTo>
                  <a:lnTo>
                    <a:pt x="0" y="0"/>
                  </a:lnTo>
                  <a:lnTo>
                    <a:pt x="4035260" y="0"/>
                  </a:lnTo>
                  <a:lnTo>
                    <a:pt x="4035260" y="5655"/>
                  </a:lnTo>
                  <a:close/>
                </a:path>
              </a:pathLst>
            </a:custGeom>
            <a:solidFill>
              <a:srgbClr val="000000"/>
            </a:solidFill>
          </p:spPr>
          <p:txBody>
            <a:bodyPr wrap="square" lIns="0" tIns="0" rIns="0" bIns="0" rtlCol="0"/>
            <a:lstStyle/>
            <a:p/>
          </p:txBody>
        </p:sp>
        <p:sp>
          <p:nvSpPr>
            <p:cNvPr id="87" name="object 87" descr=""/>
            <p:cNvSpPr/>
            <p:nvPr/>
          </p:nvSpPr>
          <p:spPr>
            <a:xfrm>
              <a:off x="3713910" y="3845053"/>
              <a:ext cx="5017770" cy="0"/>
            </a:xfrm>
            <a:custGeom>
              <a:avLst/>
              <a:gdLst/>
              <a:ahLst/>
              <a:cxnLst/>
              <a:rect l="l" t="t" r="r" b="b"/>
              <a:pathLst>
                <a:path w="5017770" h="0">
                  <a:moveTo>
                    <a:pt x="0" y="0"/>
                  </a:moveTo>
                  <a:lnTo>
                    <a:pt x="5017148" y="0"/>
                  </a:lnTo>
                </a:path>
              </a:pathLst>
            </a:custGeom>
            <a:ln w="3175">
              <a:solidFill>
                <a:srgbClr val="000000"/>
              </a:solidFill>
            </a:ln>
          </p:spPr>
          <p:txBody>
            <a:bodyPr wrap="square" lIns="0" tIns="0" rIns="0" bIns="0" rtlCol="0"/>
            <a:lstStyle/>
            <a:p/>
          </p:txBody>
        </p:sp>
        <p:sp>
          <p:nvSpPr>
            <p:cNvPr id="88" name="object 88" descr=""/>
            <p:cNvSpPr/>
            <p:nvPr/>
          </p:nvSpPr>
          <p:spPr>
            <a:xfrm>
              <a:off x="3713906" y="3845051"/>
              <a:ext cx="5017135" cy="5715"/>
            </a:xfrm>
            <a:custGeom>
              <a:avLst/>
              <a:gdLst/>
              <a:ahLst/>
              <a:cxnLst/>
              <a:rect l="l" t="t" r="r" b="b"/>
              <a:pathLst>
                <a:path w="5017134" h="5714">
                  <a:moveTo>
                    <a:pt x="5017136" y="5661"/>
                  </a:moveTo>
                  <a:lnTo>
                    <a:pt x="0" y="5661"/>
                  </a:lnTo>
                  <a:lnTo>
                    <a:pt x="0" y="0"/>
                  </a:lnTo>
                  <a:lnTo>
                    <a:pt x="5017136" y="0"/>
                  </a:lnTo>
                  <a:lnTo>
                    <a:pt x="5017136" y="5661"/>
                  </a:lnTo>
                  <a:close/>
                </a:path>
              </a:pathLst>
            </a:custGeom>
            <a:solidFill>
              <a:srgbClr val="000000"/>
            </a:solidFill>
          </p:spPr>
          <p:txBody>
            <a:bodyPr wrap="square" lIns="0" tIns="0" rIns="0" bIns="0" rtlCol="0"/>
            <a:lstStyle/>
            <a:p/>
          </p:txBody>
        </p:sp>
        <p:sp>
          <p:nvSpPr>
            <p:cNvPr id="89" name="object 89" descr=""/>
            <p:cNvSpPr/>
            <p:nvPr/>
          </p:nvSpPr>
          <p:spPr>
            <a:xfrm>
              <a:off x="3713911" y="4105222"/>
              <a:ext cx="5017770" cy="0"/>
            </a:xfrm>
            <a:custGeom>
              <a:avLst/>
              <a:gdLst/>
              <a:ahLst/>
              <a:cxnLst/>
              <a:rect l="l" t="t" r="r" b="b"/>
              <a:pathLst>
                <a:path w="5017770" h="0">
                  <a:moveTo>
                    <a:pt x="0" y="0"/>
                  </a:moveTo>
                  <a:lnTo>
                    <a:pt x="5017148" y="0"/>
                  </a:lnTo>
                </a:path>
              </a:pathLst>
            </a:custGeom>
            <a:ln w="3175">
              <a:solidFill>
                <a:srgbClr val="000000"/>
              </a:solidFill>
            </a:ln>
          </p:spPr>
          <p:txBody>
            <a:bodyPr wrap="square" lIns="0" tIns="0" rIns="0" bIns="0" rtlCol="0"/>
            <a:lstStyle/>
            <a:p/>
          </p:txBody>
        </p:sp>
        <p:sp>
          <p:nvSpPr>
            <p:cNvPr id="90" name="object 90" descr=""/>
            <p:cNvSpPr/>
            <p:nvPr/>
          </p:nvSpPr>
          <p:spPr>
            <a:xfrm>
              <a:off x="3713907" y="4105221"/>
              <a:ext cx="5017135" cy="5715"/>
            </a:xfrm>
            <a:custGeom>
              <a:avLst/>
              <a:gdLst/>
              <a:ahLst/>
              <a:cxnLst/>
              <a:rect l="l" t="t" r="r" b="b"/>
              <a:pathLst>
                <a:path w="5017134" h="5714">
                  <a:moveTo>
                    <a:pt x="5017136" y="5661"/>
                  </a:moveTo>
                  <a:lnTo>
                    <a:pt x="0" y="5661"/>
                  </a:lnTo>
                  <a:lnTo>
                    <a:pt x="0" y="0"/>
                  </a:lnTo>
                  <a:lnTo>
                    <a:pt x="5017136" y="0"/>
                  </a:lnTo>
                  <a:lnTo>
                    <a:pt x="5017136" y="5661"/>
                  </a:lnTo>
                  <a:close/>
                </a:path>
              </a:pathLst>
            </a:custGeom>
            <a:solidFill>
              <a:srgbClr val="000000"/>
            </a:solidFill>
          </p:spPr>
          <p:txBody>
            <a:bodyPr wrap="square" lIns="0" tIns="0" rIns="0" bIns="0" rtlCol="0"/>
            <a:lstStyle/>
            <a:p/>
          </p:txBody>
        </p:sp>
        <p:sp>
          <p:nvSpPr>
            <p:cNvPr id="91" name="object 91" descr=""/>
            <p:cNvSpPr/>
            <p:nvPr/>
          </p:nvSpPr>
          <p:spPr>
            <a:xfrm>
              <a:off x="3713911" y="4212683"/>
              <a:ext cx="5017770" cy="0"/>
            </a:xfrm>
            <a:custGeom>
              <a:avLst/>
              <a:gdLst/>
              <a:ahLst/>
              <a:cxnLst/>
              <a:rect l="l" t="t" r="r" b="b"/>
              <a:pathLst>
                <a:path w="5017770" h="0">
                  <a:moveTo>
                    <a:pt x="0" y="0"/>
                  </a:moveTo>
                  <a:lnTo>
                    <a:pt x="5017148" y="0"/>
                  </a:lnTo>
                </a:path>
              </a:pathLst>
            </a:custGeom>
            <a:ln w="3175">
              <a:solidFill>
                <a:srgbClr val="000000"/>
              </a:solidFill>
            </a:ln>
          </p:spPr>
          <p:txBody>
            <a:bodyPr wrap="square" lIns="0" tIns="0" rIns="0" bIns="0" rtlCol="0"/>
            <a:lstStyle/>
            <a:p/>
          </p:txBody>
        </p:sp>
        <p:sp>
          <p:nvSpPr>
            <p:cNvPr id="92" name="object 92" descr=""/>
            <p:cNvSpPr/>
            <p:nvPr/>
          </p:nvSpPr>
          <p:spPr>
            <a:xfrm>
              <a:off x="3713908" y="4212687"/>
              <a:ext cx="5017135" cy="5715"/>
            </a:xfrm>
            <a:custGeom>
              <a:avLst/>
              <a:gdLst/>
              <a:ahLst/>
              <a:cxnLst/>
              <a:rect l="l" t="t" r="r" b="b"/>
              <a:pathLst>
                <a:path w="5017134" h="5714">
                  <a:moveTo>
                    <a:pt x="5017130" y="5655"/>
                  </a:moveTo>
                  <a:lnTo>
                    <a:pt x="0" y="5655"/>
                  </a:lnTo>
                  <a:lnTo>
                    <a:pt x="0" y="0"/>
                  </a:lnTo>
                  <a:lnTo>
                    <a:pt x="5017130" y="0"/>
                  </a:lnTo>
                  <a:lnTo>
                    <a:pt x="5017130" y="5655"/>
                  </a:lnTo>
                  <a:close/>
                </a:path>
              </a:pathLst>
            </a:custGeom>
            <a:solidFill>
              <a:srgbClr val="000000"/>
            </a:solidFill>
          </p:spPr>
          <p:txBody>
            <a:bodyPr wrap="square" lIns="0" tIns="0" rIns="0" bIns="0" rtlCol="0"/>
            <a:lstStyle/>
            <a:p/>
          </p:txBody>
        </p:sp>
        <p:sp>
          <p:nvSpPr>
            <p:cNvPr id="93" name="object 93" descr=""/>
            <p:cNvSpPr/>
            <p:nvPr/>
          </p:nvSpPr>
          <p:spPr>
            <a:xfrm>
              <a:off x="4695788" y="4320144"/>
              <a:ext cx="4035425" cy="0"/>
            </a:xfrm>
            <a:custGeom>
              <a:avLst/>
              <a:gdLst/>
              <a:ahLst/>
              <a:cxnLst/>
              <a:rect l="l" t="t" r="r" b="b"/>
              <a:pathLst>
                <a:path w="4035425" h="0">
                  <a:moveTo>
                    <a:pt x="0" y="0"/>
                  </a:moveTo>
                  <a:lnTo>
                    <a:pt x="4035272" y="0"/>
                  </a:lnTo>
                </a:path>
              </a:pathLst>
            </a:custGeom>
            <a:ln w="3175">
              <a:solidFill>
                <a:srgbClr val="000000"/>
              </a:solidFill>
            </a:ln>
          </p:spPr>
          <p:txBody>
            <a:bodyPr wrap="square" lIns="0" tIns="0" rIns="0" bIns="0" rtlCol="0"/>
            <a:lstStyle/>
            <a:p/>
          </p:txBody>
        </p:sp>
        <p:sp>
          <p:nvSpPr>
            <p:cNvPr id="94" name="object 94" descr=""/>
            <p:cNvSpPr/>
            <p:nvPr/>
          </p:nvSpPr>
          <p:spPr>
            <a:xfrm>
              <a:off x="4695785" y="4320147"/>
              <a:ext cx="4035425" cy="5715"/>
            </a:xfrm>
            <a:custGeom>
              <a:avLst/>
              <a:gdLst/>
              <a:ahLst/>
              <a:cxnLst/>
              <a:rect l="l" t="t" r="r" b="b"/>
              <a:pathLst>
                <a:path w="4035425" h="5714">
                  <a:moveTo>
                    <a:pt x="4035254" y="5655"/>
                  </a:moveTo>
                  <a:lnTo>
                    <a:pt x="0" y="5655"/>
                  </a:lnTo>
                  <a:lnTo>
                    <a:pt x="0" y="0"/>
                  </a:lnTo>
                  <a:lnTo>
                    <a:pt x="4035254" y="0"/>
                  </a:lnTo>
                  <a:lnTo>
                    <a:pt x="4035254" y="5655"/>
                  </a:lnTo>
                  <a:close/>
                </a:path>
              </a:pathLst>
            </a:custGeom>
            <a:solidFill>
              <a:srgbClr val="000000"/>
            </a:solidFill>
          </p:spPr>
          <p:txBody>
            <a:bodyPr wrap="square" lIns="0" tIns="0" rIns="0" bIns="0" rtlCol="0"/>
            <a:lstStyle/>
            <a:p/>
          </p:txBody>
        </p:sp>
        <p:sp>
          <p:nvSpPr>
            <p:cNvPr id="95" name="object 95" descr=""/>
            <p:cNvSpPr/>
            <p:nvPr/>
          </p:nvSpPr>
          <p:spPr>
            <a:xfrm>
              <a:off x="3713913" y="4427605"/>
              <a:ext cx="5017770" cy="0"/>
            </a:xfrm>
            <a:custGeom>
              <a:avLst/>
              <a:gdLst/>
              <a:ahLst/>
              <a:cxnLst/>
              <a:rect l="l" t="t" r="r" b="b"/>
              <a:pathLst>
                <a:path w="5017770" h="0">
                  <a:moveTo>
                    <a:pt x="0" y="0"/>
                  </a:moveTo>
                  <a:lnTo>
                    <a:pt x="5017148" y="0"/>
                  </a:lnTo>
                </a:path>
              </a:pathLst>
            </a:custGeom>
            <a:ln w="3175">
              <a:solidFill>
                <a:srgbClr val="000000"/>
              </a:solidFill>
            </a:ln>
          </p:spPr>
          <p:txBody>
            <a:bodyPr wrap="square" lIns="0" tIns="0" rIns="0" bIns="0" rtlCol="0"/>
            <a:lstStyle/>
            <a:p/>
          </p:txBody>
        </p:sp>
        <p:sp>
          <p:nvSpPr>
            <p:cNvPr id="96" name="object 96" descr=""/>
            <p:cNvSpPr/>
            <p:nvPr/>
          </p:nvSpPr>
          <p:spPr>
            <a:xfrm>
              <a:off x="3713909" y="4427602"/>
              <a:ext cx="5017135" cy="5715"/>
            </a:xfrm>
            <a:custGeom>
              <a:avLst/>
              <a:gdLst/>
              <a:ahLst/>
              <a:cxnLst/>
              <a:rect l="l" t="t" r="r" b="b"/>
              <a:pathLst>
                <a:path w="5017134" h="5714">
                  <a:moveTo>
                    <a:pt x="5017130" y="5655"/>
                  </a:moveTo>
                  <a:lnTo>
                    <a:pt x="0" y="5655"/>
                  </a:lnTo>
                  <a:lnTo>
                    <a:pt x="0" y="0"/>
                  </a:lnTo>
                  <a:lnTo>
                    <a:pt x="5017130" y="0"/>
                  </a:lnTo>
                  <a:lnTo>
                    <a:pt x="5017130" y="5655"/>
                  </a:lnTo>
                  <a:close/>
                </a:path>
              </a:pathLst>
            </a:custGeom>
            <a:solidFill>
              <a:srgbClr val="000000"/>
            </a:solidFill>
          </p:spPr>
          <p:txBody>
            <a:bodyPr wrap="square" lIns="0" tIns="0" rIns="0" bIns="0" rtlCol="0"/>
            <a:lstStyle/>
            <a:p/>
          </p:txBody>
        </p:sp>
        <p:sp>
          <p:nvSpPr>
            <p:cNvPr id="97" name="object 97" descr=""/>
            <p:cNvSpPr/>
            <p:nvPr/>
          </p:nvSpPr>
          <p:spPr>
            <a:xfrm>
              <a:off x="4695790" y="4535065"/>
              <a:ext cx="4035425" cy="0"/>
            </a:xfrm>
            <a:custGeom>
              <a:avLst/>
              <a:gdLst/>
              <a:ahLst/>
              <a:cxnLst/>
              <a:rect l="l" t="t" r="r" b="b"/>
              <a:pathLst>
                <a:path w="4035425" h="0">
                  <a:moveTo>
                    <a:pt x="0" y="0"/>
                  </a:moveTo>
                  <a:lnTo>
                    <a:pt x="4035272" y="0"/>
                  </a:lnTo>
                </a:path>
              </a:pathLst>
            </a:custGeom>
            <a:ln w="3175">
              <a:solidFill>
                <a:srgbClr val="000000"/>
              </a:solidFill>
            </a:ln>
          </p:spPr>
          <p:txBody>
            <a:bodyPr wrap="square" lIns="0" tIns="0" rIns="0" bIns="0" rtlCol="0"/>
            <a:lstStyle/>
            <a:p/>
          </p:txBody>
        </p:sp>
        <p:sp>
          <p:nvSpPr>
            <p:cNvPr id="98" name="object 98" descr=""/>
            <p:cNvSpPr/>
            <p:nvPr/>
          </p:nvSpPr>
          <p:spPr>
            <a:xfrm>
              <a:off x="4695786" y="4535063"/>
              <a:ext cx="4035425" cy="5715"/>
            </a:xfrm>
            <a:custGeom>
              <a:avLst/>
              <a:gdLst/>
              <a:ahLst/>
              <a:cxnLst/>
              <a:rect l="l" t="t" r="r" b="b"/>
              <a:pathLst>
                <a:path w="4035425" h="5714">
                  <a:moveTo>
                    <a:pt x="4035254" y="5655"/>
                  </a:moveTo>
                  <a:lnTo>
                    <a:pt x="0" y="5655"/>
                  </a:lnTo>
                  <a:lnTo>
                    <a:pt x="0" y="0"/>
                  </a:lnTo>
                  <a:lnTo>
                    <a:pt x="4035254" y="0"/>
                  </a:lnTo>
                  <a:lnTo>
                    <a:pt x="4035254" y="5655"/>
                  </a:lnTo>
                  <a:close/>
                </a:path>
              </a:pathLst>
            </a:custGeom>
            <a:solidFill>
              <a:srgbClr val="000000"/>
            </a:solidFill>
          </p:spPr>
          <p:txBody>
            <a:bodyPr wrap="square" lIns="0" tIns="0" rIns="0" bIns="0" rtlCol="0"/>
            <a:lstStyle/>
            <a:p/>
          </p:txBody>
        </p:sp>
        <p:sp>
          <p:nvSpPr>
            <p:cNvPr id="99" name="object 99" descr=""/>
            <p:cNvSpPr/>
            <p:nvPr/>
          </p:nvSpPr>
          <p:spPr>
            <a:xfrm>
              <a:off x="3713914" y="4829170"/>
              <a:ext cx="5017770" cy="0"/>
            </a:xfrm>
            <a:custGeom>
              <a:avLst/>
              <a:gdLst/>
              <a:ahLst/>
              <a:cxnLst/>
              <a:rect l="l" t="t" r="r" b="b"/>
              <a:pathLst>
                <a:path w="5017770" h="0">
                  <a:moveTo>
                    <a:pt x="0" y="0"/>
                  </a:moveTo>
                  <a:lnTo>
                    <a:pt x="5017148" y="0"/>
                  </a:lnTo>
                </a:path>
              </a:pathLst>
            </a:custGeom>
            <a:ln w="3175">
              <a:solidFill>
                <a:srgbClr val="000000"/>
              </a:solidFill>
            </a:ln>
          </p:spPr>
          <p:txBody>
            <a:bodyPr wrap="square" lIns="0" tIns="0" rIns="0" bIns="0" rtlCol="0"/>
            <a:lstStyle/>
            <a:p/>
          </p:txBody>
        </p:sp>
        <p:sp>
          <p:nvSpPr>
            <p:cNvPr id="100" name="object 100" descr=""/>
            <p:cNvSpPr/>
            <p:nvPr/>
          </p:nvSpPr>
          <p:spPr>
            <a:xfrm>
              <a:off x="3713911" y="4829173"/>
              <a:ext cx="5017135" cy="5715"/>
            </a:xfrm>
            <a:custGeom>
              <a:avLst/>
              <a:gdLst/>
              <a:ahLst/>
              <a:cxnLst/>
              <a:rect l="l" t="t" r="r" b="b"/>
              <a:pathLst>
                <a:path w="5017134" h="5714">
                  <a:moveTo>
                    <a:pt x="5017130" y="5655"/>
                  </a:moveTo>
                  <a:lnTo>
                    <a:pt x="0" y="5655"/>
                  </a:lnTo>
                  <a:lnTo>
                    <a:pt x="0" y="0"/>
                  </a:lnTo>
                  <a:lnTo>
                    <a:pt x="5017130" y="0"/>
                  </a:lnTo>
                  <a:lnTo>
                    <a:pt x="5017130" y="5655"/>
                  </a:lnTo>
                  <a:close/>
                </a:path>
              </a:pathLst>
            </a:custGeom>
            <a:solidFill>
              <a:srgbClr val="000000"/>
            </a:solidFill>
          </p:spPr>
          <p:txBody>
            <a:bodyPr wrap="square" lIns="0" tIns="0" rIns="0" bIns="0" rtlCol="0"/>
            <a:lstStyle/>
            <a:p/>
          </p:txBody>
        </p:sp>
        <p:sp>
          <p:nvSpPr>
            <p:cNvPr id="101" name="object 101" descr=""/>
            <p:cNvSpPr/>
            <p:nvPr/>
          </p:nvSpPr>
          <p:spPr>
            <a:xfrm>
              <a:off x="3707928" y="756944"/>
              <a:ext cx="0" cy="4185920"/>
            </a:xfrm>
            <a:custGeom>
              <a:avLst/>
              <a:gdLst/>
              <a:ahLst/>
              <a:cxnLst/>
              <a:rect l="l" t="t" r="r" b="b"/>
              <a:pathLst>
                <a:path w="0" h="4185920">
                  <a:moveTo>
                    <a:pt x="0" y="0"/>
                  </a:moveTo>
                  <a:lnTo>
                    <a:pt x="0" y="4185342"/>
                  </a:lnTo>
                </a:path>
              </a:pathLst>
            </a:custGeom>
            <a:ln w="3175">
              <a:solidFill>
                <a:srgbClr val="000000"/>
              </a:solidFill>
            </a:ln>
          </p:spPr>
          <p:txBody>
            <a:bodyPr wrap="square" lIns="0" tIns="0" rIns="0" bIns="0" rtlCol="0"/>
            <a:lstStyle/>
            <a:p/>
          </p:txBody>
        </p:sp>
        <p:sp>
          <p:nvSpPr>
            <p:cNvPr id="102" name="object 102" descr=""/>
            <p:cNvSpPr/>
            <p:nvPr/>
          </p:nvSpPr>
          <p:spPr>
            <a:xfrm>
              <a:off x="3707930" y="756976"/>
              <a:ext cx="6350" cy="4185920"/>
            </a:xfrm>
            <a:custGeom>
              <a:avLst/>
              <a:gdLst/>
              <a:ahLst/>
              <a:cxnLst/>
              <a:rect l="l" t="t" r="r" b="b"/>
              <a:pathLst>
                <a:path w="6350" h="4185920">
                  <a:moveTo>
                    <a:pt x="5987" y="4185308"/>
                  </a:moveTo>
                  <a:lnTo>
                    <a:pt x="0" y="4185308"/>
                  </a:lnTo>
                  <a:lnTo>
                    <a:pt x="0" y="0"/>
                  </a:lnTo>
                  <a:lnTo>
                    <a:pt x="5987" y="0"/>
                  </a:lnTo>
                  <a:lnTo>
                    <a:pt x="5987" y="4185308"/>
                  </a:lnTo>
                  <a:close/>
                </a:path>
              </a:pathLst>
            </a:custGeom>
            <a:solidFill>
              <a:srgbClr val="000000"/>
            </a:solidFill>
          </p:spPr>
          <p:txBody>
            <a:bodyPr wrap="square" lIns="0" tIns="0" rIns="0" bIns="0" rtlCol="0"/>
            <a:lstStyle/>
            <a:p/>
          </p:txBody>
        </p:sp>
        <p:sp>
          <p:nvSpPr>
            <p:cNvPr id="103" name="object 103" descr=""/>
            <p:cNvSpPr/>
            <p:nvPr/>
          </p:nvSpPr>
          <p:spPr>
            <a:xfrm>
              <a:off x="4689805" y="932275"/>
              <a:ext cx="0" cy="4010025"/>
            </a:xfrm>
            <a:custGeom>
              <a:avLst/>
              <a:gdLst/>
              <a:ahLst/>
              <a:cxnLst/>
              <a:rect l="l" t="t" r="r" b="b"/>
              <a:pathLst>
                <a:path w="0" h="4010025">
                  <a:moveTo>
                    <a:pt x="0" y="0"/>
                  </a:moveTo>
                  <a:lnTo>
                    <a:pt x="0" y="4010010"/>
                  </a:lnTo>
                </a:path>
              </a:pathLst>
            </a:custGeom>
            <a:ln w="3175">
              <a:solidFill>
                <a:srgbClr val="000000"/>
              </a:solidFill>
            </a:ln>
          </p:spPr>
          <p:txBody>
            <a:bodyPr wrap="square" lIns="0" tIns="0" rIns="0" bIns="0" rtlCol="0"/>
            <a:lstStyle/>
            <a:p/>
          </p:txBody>
        </p:sp>
        <p:sp>
          <p:nvSpPr>
            <p:cNvPr id="104" name="object 104" descr=""/>
            <p:cNvSpPr/>
            <p:nvPr/>
          </p:nvSpPr>
          <p:spPr>
            <a:xfrm>
              <a:off x="4689802" y="932273"/>
              <a:ext cx="6350" cy="4010025"/>
            </a:xfrm>
            <a:custGeom>
              <a:avLst/>
              <a:gdLst/>
              <a:ahLst/>
              <a:cxnLst/>
              <a:rect l="l" t="t" r="r" b="b"/>
              <a:pathLst>
                <a:path w="6350" h="4010025">
                  <a:moveTo>
                    <a:pt x="5987" y="4010010"/>
                  </a:moveTo>
                  <a:lnTo>
                    <a:pt x="0" y="4010010"/>
                  </a:lnTo>
                  <a:lnTo>
                    <a:pt x="0" y="0"/>
                  </a:lnTo>
                  <a:lnTo>
                    <a:pt x="5987" y="0"/>
                  </a:lnTo>
                  <a:lnTo>
                    <a:pt x="5987" y="4010010"/>
                  </a:lnTo>
                  <a:close/>
                </a:path>
              </a:pathLst>
            </a:custGeom>
            <a:solidFill>
              <a:srgbClr val="000000"/>
            </a:solidFill>
          </p:spPr>
          <p:txBody>
            <a:bodyPr wrap="square" lIns="0" tIns="0" rIns="0" bIns="0" rtlCol="0"/>
            <a:lstStyle/>
            <a:p/>
          </p:txBody>
        </p:sp>
        <p:sp>
          <p:nvSpPr>
            <p:cNvPr id="105" name="object 105" descr=""/>
            <p:cNvSpPr/>
            <p:nvPr/>
          </p:nvSpPr>
          <p:spPr>
            <a:xfrm>
              <a:off x="3713918" y="4936627"/>
              <a:ext cx="5017770" cy="0"/>
            </a:xfrm>
            <a:custGeom>
              <a:avLst/>
              <a:gdLst/>
              <a:ahLst/>
              <a:cxnLst/>
              <a:rect l="l" t="t" r="r" b="b"/>
              <a:pathLst>
                <a:path w="5017770" h="0">
                  <a:moveTo>
                    <a:pt x="0" y="0"/>
                  </a:moveTo>
                  <a:lnTo>
                    <a:pt x="5017148" y="0"/>
                  </a:lnTo>
                </a:path>
              </a:pathLst>
            </a:custGeom>
            <a:ln w="3175">
              <a:solidFill>
                <a:srgbClr val="000000"/>
              </a:solidFill>
            </a:ln>
          </p:spPr>
          <p:txBody>
            <a:bodyPr wrap="square" lIns="0" tIns="0" rIns="0" bIns="0" rtlCol="0"/>
            <a:lstStyle/>
            <a:p/>
          </p:txBody>
        </p:sp>
        <p:sp>
          <p:nvSpPr>
            <p:cNvPr id="106" name="object 106" descr=""/>
            <p:cNvSpPr/>
            <p:nvPr/>
          </p:nvSpPr>
          <p:spPr>
            <a:xfrm>
              <a:off x="3713915" y="4936625"/>
              <a:ext cx="5017135" cy="5715"/>
            </a:xfrm>
            <a:custGeom>
              <a:avLst/>
              <a:gdLst/>
              <a:ahLst/>
              <a:cxnLst/>
              <a:rect l="l" t="t" r="r" b="b"/>
              <a:pathLst>
                <a:path w="5017134" h="5714">
                  <a:moveTo>
                    <a:pt x="5017124" y="5655"/>
                  </a:moveTo>
                  <a:lnTo>
                    <a:pt x="0" y="5655"/>
                  </a:lnTo>
                  <a:lnTo>
                    <a:pt x="0" y="0"/>
                  </a:lnTo>
                  <a:lnTo>
                    <a:pt x="5017124" y="0"/>
                  </a:lnTo>
                  <a:lnTo>
                    <a:pt x="5017124" y="5655"/>
                  </a:lnTo>
                  <a:close/>
                </a:path>
              </a:pathLst>
            </a:custGeom>
            <a:solidFill>
              <a:srgbClr val="000000"/>
            </a:solidFill>
          </p:spPr>
          <p:txBody>
            <a:bodyPr wrap="square" lIns="0" tIns="0" rIns="0" bIns="0" rtlCol="0"/>
            <a:lstStyle/>
            <a:p/>
          </p:txBody>
        </p:sp>
        <p:sp>
          <p:nvSpPr>
            <p:cNvPr id="107" name="object 107" descr=""/>
            <p:cNvSpPr/>
            <p:nvPr/>
          </p:nvSpPr>
          <p:spPr>
            <a:xfrm>
              <a:off x="8725080" y="762596"/>
              <a:ext cx="0" cy="4180204"/>
            </a:xfrm>
            <a:custGeom>
              <a:avLst/>
              <a:gdLst/>
              <a:ahLst/>
              <a:cxnLst/>
              <a:rect l="l" t="t" r="r" b="b"/>
              <a:pathLst>
                <a:path w="0" h="4180204">
                  <a:moveTo>
                    <a:pt x="0" y="0"/>
                  </a:moveTo>
                  <a:lnTo>
                    <a:pt x="0" y="4179686"/>
                  </a:lnTo>
                </a:path>
              </a:pathLst>
            </a:custGeom>
            <a:ln w="3175">
              <a:solidFill>
                <a:srgbClr val="000000"/>
              </a:solidFill>
            </a:ln>
          </p:spPr>
          <p:txBody>
            <a:bodyPr wrap="square" lIns="0" tIns="0" rIns="0" bIns="0" rtlCol="0"/>
            <a:lstStyle/>
            <a:p/>
          </p:txBody>
        </p:sp>
        <p:sp>
          <p:nvSpPr>
            <p:cNvPr id="108" name="object 108" descr=""/>
            <p:cNvSpPr/>
            <p:nvPr/>
          </p:nvSpPr>
          <p:spPr>
            <a:xfrm>
              <a:off x="8725082" y="762594"/>
              <a:ext cx="6350" cy="4180204"/>
            </a:xfrm>
            <a:custGeom>
              <a:avLst/>
              <a:gdLst/>
              <a:ahLst/>
              <a:cxnLst/>
              <a:rect l="l" t="t" r="r" b="b"/>
              <a:pathLst>
                <a:path w="6350" h="4180204">
                  <a:moveTo>
                    <a:pt x="5963" y="4179686"/>
                  </a:moveTo>
                  <a:lnTo>
                    <a:pt x="0" y="4179686"/>
                  </a:lnTo>
                  <a:lnTo>
                    <a:pt x="0" y="0"/>
                  </a:lnTo>
                  <a:lnTo>
                    <a:pt x="5963" y="0"/>
                  </a:lnTo>
                  <a:lnTo>
                    <a:pt x="5963" y="4179686"/>
                  </a:lnTo>
                  <a:close/>
                </a:path>
              </a:pathLst>
            </a:custGeom>
            <a:solidFill>
              <a:srgbClr val="000000"/>
            </a:solidFill>
          </p:spPr>
          <p:txBody>
            <a:bodyPr wrap="square" lIns="0" tIns="0" rIns="0" bIns="0" rtlCol="0"/>
            <a:lstStyle/>
            <a:p/>
          </p:txBody>
        </p:sp>
        <p:sp>
          <p:nvSpPr>
            <p:cNvPr id="109" name="object 109" descr=""/>
            <p:cNvSpPr/>
            <p:nvPr/>
          </p:nvSpPr>
          <p:spPr>
            <a:xfrm>
              <a:off x="3707930" y="4942281"/>
              <a:ext cx="5023485" cy="635"/>
            </a:xfrm>
            <a:custGeom>
              <a:avLst/>
              <a:gdLst/>
              <a:ahLst/>
              <a:cxnLst/>
              <a:rect l="l" t="t" r="r" b="b"/>
              <a:pathLst>
                <a:path w="5023484" h="635">
                  <a:moveTo>
                    <a:pt x="5981" y="0"/>
                  </a:moveTo>
                  <a:lnTo>
                    <a:pt x="0" y="0"/>
                  </a:lnTo>
                  <a:lnTo>
                    <a:pt x="5981" y="38"/>
                  </a:lnTo>
                  <a:close/>
                </a:path>
                <a:path w="5023484" h="635">
                  <a:moveTo>
                    <a:pt x="987856" y="0"/>
                  </a:moveTo>
                  <a:lnTo>
                    <a:pt x="981875" y="0"/>
                  </a:lnTo>
                  <a:lnTo>
                    <a:pt x="987856" y="38"/>
                  </a:lnTo>
                  <a:close/>
                </a:path>
                <a:path w="5023484" h="635">
                  <a:moveTo>
                    <a:pt x="1418920" y="0"/>
                  </a:moveTo>
                  <a:lnTo>
                    <a:pt x="1412938" y="0"/>
                  </a:lnTo>
                  <a:lnTo>
                    <a:pt x="1418920" y="38"/>
                  </a:lnTo>
                  <a:close/>
                </a:path>
                <a:path w="5023484" h="635">
                  <a:moveTo>
                    <a:pt x="1849996" y="0"/>
                  </a:moveTo>
                  <a:lnTo>
                    <a:pt x="1844001" y="0"/>
                  </a:lnTo>
                  <a:lnTo>
                    <a:pt x="1849996" y="25"/>
                  </a:lnTo>
                  <a:close/>
                </a:path>
                <a:path w="5023484" h="635">
                  <a:moveTo>
                    <a:pt x="2281059" y="0"/>
                  </a:moveTo>
                  <a:lnTo>
                    <a:pt x="2275078" y="0"/>
                  </a:lnTo>
                  <a:lnTo>
                    <a:pt x="2281059" y="25"/>
                  </a:lnTo>
                  <a:close/>
                </a:path>
                <a:path w="5023484" h="635">
                  <a:moveTo>
                    <a:pt x="4951298" y="0"/>
                  </a:moveTo>
                  <a:lnTo>
                    <a:pt x="4945304" y="0"/>
                  </a:lnTo>
                  <a:lnTo>
                    <a:pt x="4951298" y="25"/>
                  </a:lnTo>
                  <a:close/>
                </a:path>
                <a:path w="5023484" h="635">
                  <a:moveTo>
                    <a:pt x="5023104" y="0"/>
                  </a:moveTo>
                  <a:lnTo>
                    <a:pt x="5017147" y="0"/>
                  </a:lnTo>
                  <a:lnTo>
                    <a:pt x="5023104" y="25"/>
                  </a:lnTo>
                  <a:close/>
                </a:path>
              </a:pathLst>
            </a:custGeom>
            <a:solidFill>
              <a:srgbClr val="DADCDD"/>
            </a:solidFill>
          </p:spPr>
          <p:txBody>
            <a:bodyPr wrap="square" lIns="0" tIns="0" rIns="0" bIns="0" rtlCol="0"/>
            <a:lstStyle/>
            <a:p/>
          </p:txBody>
        </p:sp>
      </p:grpSp>
      <p:pic>
        <p:nvPicPr>
          <p:cNvPr id="110" name="object 110" descr=""/>
          <p:cNvPicPr/>
          <p:nvPr/>
        </p:nvPicPr>
        <p:blipFill>
          <a:blip r:embed="rId3" cstate="print"/>
          <a:stretch>
            <a:fillRect/>
          </a:stretch>
        </p:blipFill>
        <p:spPr>
          <a:xfrm>
            <a:off x="1277023" y="2720351"/>
            <a:ext cx="1346187" cy="921273"/>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3581401" y="895350"/>
            <a:ext cx="0" cy="3962400"/>
          </a:xfrm>
          <a:custGeom>
            <a:avLst/>
            <a:gdLst/>
            <a:ahLst/>
            <a:cxnLst/>
            <a:rect l="l" t="t" r="r" b="b"/>
            <a:pathLst>
              <a:path w="0" h="3962400">
                <a:moveTo>
                  <a:pt x="0" y="0"/>
                </a:moveTo>
                <a:lnTo>
                  <a:pt x="0" y="3962400"/>
                </a:lnTo>
              </a:path>
            </a:pathLst>
          </a:custGeom>
          <a:ln w="34925">
            <a:solidFill>
              <a:srgbClr val="000000"/>
            </a:solidFill>
          </a:ln>
        </p:spPr>
        <p:txBody>
          <a:bodyPr wrap="square" lIns="0" tIns="0" rIns="0" bIns="0" rtlCol="0"/>
          <a:lstStyle/>
          <a:p/>
        </p:txBody>
      </p:sp>
      <p:grpSp>
        <p:nvGrpSpPr>
          <p:cNvPr id="3" name="object 3" descr=""/>
          <p:cNvGrpSpPr/>
          <p:nvPr/>
        </p:nvGrpSpPr>
        <p:grpSpPr>
          <a:xfrm>
            <a:off x="3803650" y="1574801"/>
            <a:ext cx="5118100" cy="498475"/>
            <a:chOff x="3803650" y="1574801"/>
            <a:chExt cx="5118100" cy="498475"/>
          </a:xfrm>
        </p:grpSpPr>
        <p:pic>
          <p:nvPicPr>
            <p:cNvPr id="4" name="object 4" descr=""/>
            <p:cNvPicPr/>
            <p:nvPr/>
          </p:nvPicPr>
          <p:blipFill>
            <a:blip r:embed="rId2" cstate="print"/>
            <a:stretch>
              <a:fillRect/>
            </a:stretch>
          </p:blipFill>
          <p:spPr>
            <a:xfrm>
              <a:off x="3810000" y="1581151"/>
              <a:ext cx="5105400" cy="485775"/>
            </a:xfrm>
            <a:prstGeom prst="rect">
              <a:avLst/>
            </a:prstGeom>
          </p:spPr>
        </p:pic>
        <p:sp>
          <p:nvSpPr>
            <p:cNvPr id="5" name="object 5" descr=""/>
            <p:cNvSpPr/>
            <p:nvPr/>
          </p:nvSpPr>
          <p:spPr>
            <a:xfrm>
              <a:off x="3810000" y="1581151"/>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6" name="object 6" descr=""/>
          <p:cNvGrpSpPr/>
          <p:nvPr/>
        </p:nvGrpSpPr>
        <p:grpSpPr>
          <a:xfrm>
            <a:off x="3803650" y="2260600"/>
            <a:ext cx="5118100" cy="498475"/>
            <a:chOff x="3803650" y="2260600"/>
            <a:chExt cx="5118100" cy="498475"/>
          </a:xfrm>
        </p:grpSpPr>
        <p:pic>
          <p:nvPicPr>
            <p:cNvPr id="7" name="object 7" descr=""/>
            <p:cNvPicPr/>
            <p:nvPr/>
          </p:nvPicPr>
          <p:blipFill>
            <a:blip r:embed="rId3" cstate="print"/>
            <a:stretch>
              <a:fillRect/>
            </a:stretch>
          </p:blipFill>
          <p:spPr>
            <a:xfrm>
              <a:off x="3810000" y="2266950"/>
              <a:ext cx="5105400" cy="485775"/>
            </a:xfrm>
            <a:prstGeom prst="rect">
              <a:avLst/>
            </a:prstGeom>
          </p:spPr>
        </p:pic>
        <p:sp>
          <p:nvSpPr>
            <p:cNvPr id="8" name="object 8" descr=""/>
            <p:cNvSpPr/>
            <p:nvPr/>
          </p:nvSpPr>
          <p:spPr>
            <a:xfrm>
              <a:off x="3810000" y="2266950"/>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9" name="object 9" descr=""/>
          <p:cNvGrpSpPr/>
          <p:nvPr/>
        </p:nvGrpSpPr>
        <p:grpSpPr>
          <a:xfrm>
            <a:off x="3803650" y="889001"/>
            <a:ext cx="5118100" cy="498475"/>
            <a:chOff x="3803650" y="889001"/>
            <a:chExt cx="5118100" cy="498475"/>
          </a:xfrm>
        </p:grpSpPr>
        <p:pic>
          <p:nvPicPr>
            <p:cNvPr id="10" name="object 10" descr=""/>
            <p:cNvPicPr/>
            <p:nvPr/>
          </p:nvPicPr>
          <p:blipFill>
            <a:blip r:embed="rId4" cstate="print"/>
            <a:stretch>
              <a:fillRect/>
            </a:stretch>
          </p:blipFill>
          <p:spPr>
            <a:xfrm>
              <a:off x="3810000" y="895351"/>
              <a:ext cx="5105400" cy="485775"/>
            </a:xfrm>
            <a:prstGeom prst="rect">
              <a:avLst/>
            </a:prstGeom>
          </p:spPr>
        </p:pic>
        <p:sp>
          <p:nvSpPr>
            <p:cNvPr id="11" name="object 11" descr=""/>
            <p:cNvSpPr/>
            <p:nvPr/>
          </p:nvSpPr>
          <p:spPr>
            <a:xfrm>
              <a:off x="3810000" y="895351"/>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12" name="object 12"/>
          <p:cNvSpPr txBox="1">
            <a:spLocks noGrp="1"/>
          </p:cNvSpPr>
          <p:nvPr>
            <p:ph type="title"/>
          </p:nvPr>
        </p:nvSpPr>
        <p:spPr>
          <a:xfrm>
            <a:off x="3174619" y="39229"/>
            <a:ext cx="3098800" cy="695960"/>
          </a:xfrm>
          <a:prstGeom prst="rect"/>
        </p:spPr>
        <p:txBody>
          <a:bodyPr wrap="square" lIns="0" tIns="12065" rIns="0" bIns="0" rtlCol="0" vert="horz">
            <a:spAutoFit/>
          </a:bodyPr>
          <a:lstStyle/>
          <a:p>
            <a:pPr marL="12700">
              <a:lnSpc>
                <a:spcPct val="100000"/>
              </a:lnSpc>
              <a:spcBef>
                <a:spcPts val="95"/>
              </a:spcBef>
              <a:tabLst>
                <a:tab pos="850265" algn="l"/>
                <a:tab pos="1688464" algn="l"/>
                <a:tab pos="2526665" algn="l"/>
              </a:tabLst>
            </a:pPr>
            <a:r>
              <a:rPr dirty="0" sz="4400" spc="-50"/>
              <a:t>主</a:t>
            </a:r>
            <a:r>
              <a:rPr dirty="0" sz="4400"/>
              <a:t>	</a:t>
            </a:r>
            <a:r>
              <a:rPr dirty="0" sz="4400" spc="-50"/>
              <a:t>要</a:t>
            </a:r>
            <a:r>
              <a:rPr dirty="0" sz="4400"/>
              <a:t>	</a:t>
            </a:r>
            <a:r>
              <a:rPr dirty="0" sz="4400" spc="-50"/>
              <a:t>内</a:t>
            </a:r>
            <a:r>
              <a:rPr dirty="0" sz="4400"/>
              <a:t>	</a:t>
            </a:r>
            <a:r>
              <a:rPr dirty="0" sz="4400" spc="-50"/>
              <a:t>容</a:t>
            </a:r>
            <a:endParaRPr sz="4400"/>
          </a:p>
        </p:txBody>
      </p:sp>
      <p:grpSp>
        <p:nvGrpSpPr>
          <p:cNvPr id="13" name="object 13" descr=""/>
          <p:cNvGrpSpPr/>
          <p:nvPr/>
        </p:nvGrpSpPr>
        <p:grpSpPr>
          <a:xfrm>
            <a:off x="3803650" y="2946400"/>
            <a:ext cx="5118100" cy="498475"/>
            <a:chOff x="3803650" y="2946400"/>
            <a:chExt cx="5118100" cy="498475"/>
          </a:xfrm>
        </p:grpSpPr>
        <p:pic>
          <p:nvPicPr>
            <p:cNvPr id="14" name="object 14" descr=""/>
            <p:cNvPicPr/>
            <p:nvPr/>
          </p:nvPicPr>
          <p:blipFill>
            <a:blip r:embed="rId5" cstate="print"/>
            <a:stretch>
              <a:fillRect/>
            </a:stretch>
          </p:blipFill>
          <p:spPr>
            <a:xfrm>
              <a:off x="3810000" y="2952750"/>
              <a:ext cx="5105400" cy="485775"/>
            </a:xfrm>
            <a:prstGeom prst="rect">
              <a:avLst/>
            </a:prstGeom>
          </p:spPr>
        </p:pic>
        <p:sp>
          <p:nvSpPr>
            <p:cNvPr id="15" name="object 15" descr=""/>
            <p:cNvSpPr/>
            <p:nvPr/>
          </p:nvSpPr>
          <p:spPr>
            <a:xfrm>
              <a:off x="3810000" y="2952750"/>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pic>
        <p:nvPicPr>
          <p:cNvPr id="16" name="object 16"/>
          <p:cNvPicPr/>
          <p:nvPr/>
        </p:nvPicPr>
        <p:blipFill>
          <a:blip r:embed="rId6" cstate="print"/>
          <a:stretch>
            <a:fillRect/>
          </a:stretch>
        </p:blipFill>
        <p:spPr>
          <a:xfrm>
            <a:off x="152400" y="895350"/>
            <a:ext cx="3276599" cy="3962399"/>
          </a:xfrm>
          <a:prstGeom prst="rect">
            <a:avLst/>
          </a:prstGeom>
        </p:spPr>
      </p:pic>
      <p:grpSp>
        <p:nvGrpSpPr>
          <p:cNvPr id="17" name="object 17" descr=""/>
          <p:cNvGrpSpPr/>
          <p:nvPr/>
        </p:nvGrpSpPr>
        <p:grpSpPr>
          <a:xfrm>
            <a:off x="3803650" y="3632200"/>
            <a:ext cx="5118100" cy="498475"/>
            <a:chOff x="3803650" y="3632200"/>
            <a:chExt cx="5118100" cy="498475"/>
          </a:xfrm>
        </p:grpSpPr>
        <p:pic>
          <p:nvPicPr>
            <p:cNvPr id="18" name="object 18" descr=""/>
            <p:cNvPicPr/>
            <p:nvPr/>
          </p:nvPicPr>
          <p:blipFill>
            <a:blip r:embed="rId5" cstate="print"/>
            <a:stretch>
              <a:fillRect/>
            </a:stretch>
          </p:blipFill>
          <p:spPr>
            <a:xfrm>
              <a:off x="3810000" y="3638550"/>
              <a:ext cx="5105400" cy="485775"/>
            </a:xfrm>
            <a:prstGeom prst="rect">
              <a:avLst/>
            </a:prstGeom>
          </p:spPr>
        </p:pic>
        <p:sp>
          <p:nvSpPr>
            <p:cNvPr id="19" name="object 19" descr=""/>
            <p:cNvSpPr/>
            <p:nvPr/>
          </p:nvSpPr>
          <p:spPr>
            <a:xfrm>
              <a:off x="3810000" y="3638550"/>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20" name="object 20" descr=""/>
          <p:cNvGrpSpPr/>
          <p:nvPr/>
        </p:nvGrpSpPr>
        <p:grpSpPr>
          <a:xfrm>
            <a:off x="3803650" y="4318000"/>
            <a:ext cx="5118100" cy="498475"/>
            <a:chOff x="3803650" y="4318000"/>
            <a:chExt cx="5118100" cy="498475"/>
          </a:xfrm>
        </p:grpSpPr>
        <p:pic>
          <p:nvPicPr>
            <p:cNvPr id="21" name="object 21" descr=""/>
            <p:cNvPicPr/>
            <p:nvPr/>
          </p:nvPicPr>
          <p:blipFill>
            <a:blip r:embed="rId5" cstate="print"/>
            <a:stretch>
              <a:fillRect/>
            </a:stretch>
          </p:blipFill>
          <p:spPr>
            <a:xfrm>
              <a:off x="3810000" y="4324350"/>
              <a:ext cx="5105400" cy="485775"/>
            </a:xfrm>
            <a:prstGeom prst="rect">
              <a:avLst/>
            </a:prstGeom>
          </p:spPr>
        </p:pic>
        <p:sp>
          <p:nvSpPr>
            <p:cNvPr id="22" name="object 22" descr=""/>
            <p:cNvSpPr/>
            <p:nvPr/>
          </p:nvSpPr>
          <p:spPr>
            <a:xfrm>
              <a:off x="3810000" y="4324350"/>
              <a:ext cx="5105400" cy="485775"/>
            </a:xfrm>
            <a:custGeom>
              <a:avLst/>
              <a:gdLst/>
              <a:ahLst/>
              <a:cxnLst/>
              <a:rect l="l" t="t" r="r" b="b"/>
              <a:pathLst>
                <a:path w="5105400" h="485775">
                  <a:moveTo>
                    <a:pt x="0" y="80962"/>
                  </a:moveTo>
                  <a:lnTo>
                    <a:pt x="6362" y="49447"/>
                  </a:lnTo>
                  <a:lnTo>
                    <a:pt x="23712" y="23712"/>
                  </a:lnTo>
                  <a:lnTo>
                    <a:pt x="49447" y="6362"/>
                  </a:lnTo>
                  <a:lnTo>
                    <a:pt x="80962" y="0"/>
                  </a:lnTo>
                  <a:lnTo>
                    <a:pt x="5024437" y="0"/>
                  </a:lnTo>
                  <a:lnTo>
                    <a:pt x="5055952" y="6362"/>
                  </a:lnTo>
                  <a:lnTo>
                    <a:pt x="5081687" y="23712"/>
                  </a:lnTo>
                  <a:lnTo>
                    <a:pt x="5099037" y="49447"/>
                  </a:lnTo>
                  <a:lnTo>
                    <a:pt x="5105400" y="80962"/>
                  </a:lnTo>
                  <a:lnTo>
                    <a:pt x="5105400" y="404812"/>
                  </a:lnTo>
                  <a:lnTo>
                    <a:pt x="5099037" y="436327"/>
                  </a:lnTo>
                  <a:lnTo>
                    <a:pt x="5081687" y="462062"/>
                  </a:lnTo>
                  <a:lnTo>
                    <a:pt x="5055952" y="479412"/>
                  </a:lnTo>
                  <a:lnTo>
                    <a:pt x="50244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23" name="object 23" descr=""/>
          <p:cNvSpPr txBox="1"/>
          <p:nvPr/>
        </p:nvSpPr>
        <p:spPr>
          <a:xfrm>
            <a:off x="3912453" y="931989"/>
            <a:ext cx="4716145" cy="3819525"/>
          </a:xfrm>
          <a:prstGeom prst="rect">
            <a:avLst/>
          </a:prstGeom>
        </p:spPr>
        <p:txBody>
          <a:bodyPr wrap="square" lIns="0" tIns="12700" rIns="0" bIns="0" rtlCol="0" vert="horz">
            <a:spAutoFit/>
          </a:bodyPr>
          <a:lstStyle/>
          <a:p>
            <a:pPr marL="12700">
              <a:lnSpc>
                <a:spcPct val="100000"/>
              </a:lnSpc>
              <a:spcBef>
                <a:spcPts val="100"/>
              </a:spcBef>
            </a:pPr>
            <a:r>
              <a:rPr dirty="0" sz="2400">
                <a:latin typeface="Microsoft YaHei"/>
                <a:cs typeface="Microsoft YaHei"/>
              </a:rPr>
              <a:t>一、</a:t>
            </a:r>
            <a:r>
              <a:rPr dirty="0" sz="2400" spc="-20">
                <a:latin typeface="Times New Roman"/>
                <a:cs typeface="Times New Roman"/>
              </a:rPr>
              <a:t>5G</a:t>
            </a:r>
            <a:r>
              <a:rPr dirty="0" sz="2400">
                <a:latin typeface="Microsoft YaHei"/>
                <a:cs typeface="Microsoft YaHei"/>
              </a:rPr>
              <a:t>系统基站</a:t>
            </a:r>
            <a:r>
              <a:rPr dirty="0" sz="2400" spc="-10">
                <a:latin typeface="Times New Roman"/>
                <a:cs typeface="Times New Roman"/>
              </a:rPr>
              <a:t>BBU</a:t>
            </a:r>
            <a:r>
              <a:rPr dirty="0" sz="2400" spc="-10">
                <a:latin typeface="Microsoft YaHei"/>
                <a:cs typeface="Microsoft YaHei"/>
              </a:rPr>
              <a:t>安装工程规范</a:t>
            </a:r>
            <a:endParaRPr sz="2400">
              <a:latin typeface="Microsoft YaHei"/>
              <a:cs typeface="Microsoft YaHei"/>
            </a:endParaRPr>
          </a:p>
          <a:p>
            <a:pPr algn="just" marL="12700" marR="5080">
              <a:lnSpc>
                <a:spcPct val="187400"/>
              </a:lnSpc>
            </a:pPr>
            <a:r>
              <a:rPr dirty="0" sz="2400">
                <a:latin typeface="Microsoft YaHei"/>
                <a:cs typeface="Microsoft YaHei"/>
              </a:rPr>
              <a:t>二、</a:t>
            </a:r>
            <a:r>
              <a:rPr dirty="0" sz="2400" spc="-20">
                <a:latin typeface="Times New Roman"/>
                <a:cs typeface="Times New Roman"/>
              </a:rPr>
              <a:t>5G</a:t>
            </a:r>
            <a:r>
              <a:rPr dirty="0" sz="2400">
                <a:latin typeface="Microsoft YaHei"/>
                <a:cs typeface="Microsoft YaHei"/>
              </a:rPr>
              <a:t>系统基站</a:t>
            </a:r>
            <a:r>
              <a:rPr dirty="0" sz="2400" spc="-25">
                <a:latin typeface="Times New Roman"/>
                <a:cs typeface="Times New Roman"/>
              </a:rPr>
              <a:t>AAU</a:t>
            </a:r>
            <a:r>
              <a:rPr dirty="0" sz="2400" spc="-10">
                <a:latin typeface="Microsoft YaHei"/>
                <a:cs typeface="Microsoft YaHei"/>
              </a:rPr>
              <a:t>安装工程规范</a:t>
            </a:r>
            <a:r>
              <a:rPr dirty="0" sz="2400">
                <a:latin typeface="Microsoft YaHei"/>
                <a:cs typeface="Microsoft YaHei"/>
              </a:rPr>
              <a:t>三、</a:t>
            </a:r>
            <a:r>
              <a:rPr dirty="0" sz="2400" spc="-20">
                <a:latin typeface="Times New Roman"/>
                <a:cs typeface="Times New Roman"/>
              </a:rPr>
              <a:t>5G</a:t>
            </a:r>
            <a:r>
              <a:rPr dirty="0" sz="2400" spc="-5">
                <a:latin typeface="Microsoft YaHei"/>
                <a:cs typeface="Microsoft YaHei"/>
              </a:rPr>
              <a:t>系统基站安装配套工程规范</a:t>
            </a:r>
            <a:r>
              <a:rPr dirty="0" sz="2400">
                <a:latin typeface="Microsoft YaHei"/>
                <a:cs typeface="Microsoft YaHei"/>
              </a:rPr>
              <a:t>四、</a:t>
            </a:r>
            <a:r>
              <a:rPr dirty="0" sz="2400" spc="-20">
                <a:latin typeface="Times New Roman"/>
                <a:cs typeface="Times New Roman"/>
              </a:rPr>
              <a:t>5G</a:t>
            </a:r>
            <a:r>
              <a:rPr dirty="0" sz="2400" spc="-5">
                <a:latin typeface="Microsoft YaHei"/>
                <a:cs typeface="Microsoft YaHei"/>
              </a:rPr>
              <a:t>系统基站线缆安装工程规范</a:t>
            </a:r>
            <a:r>
              <a:rPr dirty="0" sz="2400">
                <a:latin typeface="Microsoft YaHei"/>
                <a:cs typeface="Microsoft YaHei"/>
              </a:rPr>
              <a:t>五、</a:t>
            </a:r>
            <a:r>
              <a:rPr dirty="0" sz="2400" spc="-20">
                <a:latin typeface="Times New Roman"/>
                <a:cs typeface="Times New Roman"/>
              </a:rPr>
              <a:t>5G</a:t>
            </a:r>
            <a:r>
              <a:rPr dirty="0" sz="2400" spc="-5">
                <a:latin typeface="Microsoft YaHei"/>
                <a:cs typeface="Microsoft YaHei"/>
              </a:rPr>
              <a:t>系统基站安装常见问题分析</a:t>
            </a:r>
            <a:r>
              <a:rPr dirty="0" sz="2400" b="1">
                <a:solidFill>
                  <a:srgbClr val="FF0000"/>
                </a:solidFill>
                <a:latin typeface="Microsoft YaHei"/>
                <a:cs typeface="Microsoft YaHei"/>
              </a:rPr>
              <a:t>六、</a:t>
            </a:r>
            <a:r>
              <a:rPr dirty="0" sz="2400" b="1">
                <a:solidFill>
                  <a:srgbClr val="FF0000"/>
                </a:solidFill>
                <a:latin typeface="Times New Roman"/>
                <a:cs typeface="Times New Roman"/>
              </a:rPr>
              <a:t>5G</a:t>
            </a:r>
            <a:r>
              <a:rPr dirty="0" sz="2400" spc="-5" b="1">
                <a:solidFill>
                  <a:srgbClr val="FF0000"/>
                </a:solidFill>
                <a:latin typeface="Microsoft YaHei"/>
                <a:cs typeface="Microsoft YaHei"/>
              </a:rPr>
              <a:t>系统基站开通调测性能测试</a:t>
            </a:r>
            <a:endParaRPr sz="2400">
              <a:latin typeface="Microsoft YaHei"/>
              <a:cs typeface="Microsoft YaHei"/>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96667" y="113125"/>
            <a:ext cx="4091940" cy="513080"/>
          </a:xfrm>
          <a:prstGeom prst="rect"/>
        </p:spPr>
        <p:txBody>
          <a:bodyPr wrap="square" lIns="0" tIns="12065" rIns="0" bIns="0" rtlCol="0" vert="horz">
            <a:spAutoFit/>
          </a:bodyPr>
          <a:lstStyle/>
          <a:p>
            <a:pPr marL="12700">
              <a:lnSpc>
                <a:spcPct val="100000"/>
              </a:lnSpc>
              <a:spcBef>
                <a:spcPts val="95"/>
              </a:spcBef>
            </a:pPr>
            <a:r>
              <a:rPr dirty="0" spc="-45"/>
              <a:t>基站开通调测总体流程</a:t>
            </a:r>
          </a:p>
        </p:txBody>
      </p:sp>
      <p:sp>
        <p:nvSpPr>
          <p:cNvPr id="3" name="object 3" descr=""/>
          <p:cNvSpPr/>
          <p:nvPr/>
        </p:nvSpPr>
        <p:spPr>
          <a:xfrm>
            <a:off x="972526" y="2082335"/>
            <a:ext cx="1934845" cy="1595755"/>
          </a:xfrm>
          <a:custGeom>
            <a:avLst/>
            <a:gdLst/>
            <a:ahLst/>
            <a:cxnLst/>
            <a:rect l="l" t="t" r="r" b="b"/>
            <a:pathLst>
              <a:path w="1934845" h="1595754">
                <a:moveTo>
                  <a:pt x="0" y="159537"/>
                </a:moveTo>
                <a:lnTo>
                  <a:pt x="8133" y="109110"/>
                </a:lnTo>
                <a:lnTo>
                  <a:pt x="30780" y="65315"/>
                </a:lnTo>
                <a:lnTo>
                  <a:pt x="65315" y="30780"/>
                </a:lnTo>
                <a:lnTo>
                  <a:pt x="109110" y="8133"/>
                </a:lnTo>
                <a:lnTo>
                  <a:pt x="159537" y="0"/>
                </a:lnTo>
                <a:lnTo>
                  <a:pt x="1774710" y="0"/>
                </a:lnTo>
                <a:lnTo>
                  <a:pt x="1825132" y="8133"/>
                </a:lnTo>
                <a:lnTo>
                  <a:pt x="1868926" y="30780"/>
                </a:lnTo>
                <a:lnTo>
                  <a:pt x="1903460" y="65315"/>
                </a:lnTo>
                <a:lnTo>
                  <a:pt x="1926107" y="109110"/>
                </a:lnTo>
                <a:lnTo>
                  <a:pt x="1934235" y="159537"/>
                </a:lnTo>
                <a:lnTo>
                  <a:pt x="1934248" y="1435811"/>
                </a:lnTo>
                <a:lnTo>
                  <a:pt x="1926113" y="1486238"/>
                </a:lnTo>
                <a:lnTo>
                  <a:pt x="1903463" y="1530033"/>
                </a:lnTo>
                <a:lnTo>
                  <a:pt x="1868927" y="1564567"/>
                </a:lnTo>
                <a:lnTo>
                  <a:pt x="1825132" y="1587215"/>
                </a:lnTo>
                <a:lnTo>
                  <a:pt x="1774710" y="1595348"/>
                </a:lnTo>
                <a:lnTo>
                  <a:pt x="159537" y="1595348"/>
                </a:lnTo>
                <a:lnTo>
                  <a:pt x="109110" y="1587215"/>
                </a:lnTo>
                <a:lnTo>
                  <a:pt x="65315" y="1564567"/>
                </a:lnTo>
                <a:lnTo>
                  <a:pt x="30780" y="1530033"/>
                </a:lnTo>
                <a:lnTo>
                  <a:pt x="8133" y="1486238"/>
                </a:lnTo>
                <a:lnTo>
                  <a:pt x="0" y="1435811"/>
                </a:lnTo>
                <a:lnTo>
                  <a:pt x="0" y="159537"/>
                </a:lnTo>
                <a:close/>
              </a:path>
            </a:pathLst>
          </a:custGeom>
          <a:ln w="25400">
            <a:solidFill>
              <a:srgbClr val="DAEDEF"/>
            </a:solidFill>
          </a:ln>
        </p:spPr>
        <p:txBody>
          <a:bodyPr wrap="square" lIns="0" tIns="0" rIns="0" bIns="0" rtlCol="0"/>
          <a:lstStyle/>
          <a:p/>
        </p:txBody>
      </p:sp>
      <p:sp>
        <p:nvSpPr>
          <p:cNvPr id="4" name="object 4" descr=""/>
          <p:cNvSpPr txBox="1"/>
          <p:nvPr/>
        </p:nvSpPr>
        <p:spPr>
          <a:xfrm>
            <a:off x="1120364" y="2172627"/>
            <a:ext cx="1214755" cy="857885"/>
          </a:xfrm>
          <a:prstGeom prst="rect">
            <a:avLst/>
          </a:prstGeom>
        </p:spPr>
        <p:txBody>
          <a:bodyPr wrap="square" lIns="0" tIns="45720" rIns="0" bIns="0" rtlCol="0" vert="horz">
            <a:spAutoFit/>
          </a:bodyPr>
          <a:lstStyle/>
          <a:p>
            <a:pPr marL="185420" indent="-172720">
              <a:lnSpc>
                <a:spcPct val="100000"/>
              </a:lnSpc>
              <a:spcBef>
                <a:spcPts val="360"/>
              </a:spcBef>
              <a:buFont typeface="Arial MT"/>
              <a:buChar char="•"/>
              <a:tabLst>
                <a:tab pos="185420" algn="l"/>
              </a:tabLst>
            </a:pPr>
            <a:r>
              <a:rPr dirty="0" sz="1600" spc="-15">
                <a:latin typeface="SimSun"/>
                <a:cs typeface="SimSun"/>
              </a:rPr>
              <a:t>硬件准备</a:t>
            </a:r>
            <a:endParaRPr sz="1600">
              <a:latin typeface="SimSun"/>
              <a:cs typeface="SimSun"/>
            </a:endParaRPr>
          </a:p>
          <a:p>
            <a:pPr marL="185420" indent="-172720">
              <a:lnSpc>
                <a:spcPct val="100000"/>
              </a:lnSpc>
              <a:spcBef>
                <a:spcPts val="265"/>
              </a:spcBef>
              <a:buFont typeface="Arial MT"/>
              <a:buChar char="•"/>
              <a:tabLst>
                <a:tab pos="185420" algn="l"/>
              </a:tabLst>
            </a:pPr>
            <a:r>
              <a:rPr dirty="0" sz="1600" spc="-15">
                <a:latin typeface="SimSun"/>
                <a:cs typeface="SimSun"/>
              </a:rPr>
              <a:t>软件准备</a:t>
            </a:r>
            <a:endParaRPr sz="1600">
              <a:latin typeface="SimSun"/>
              <a:cs typeface="SimSun"/>
            </a:endParaRPr>
          </a:p>
          <a:p>
            <a:pPr marL="185420" indent="-172720">
              <a:lnSpc>
                <a:spcPct val="100000"/>
              </a:lnSpc>
              <a:spcBef>
                <a:spcPts val="265"/>
              </a:spcBef>
              <a:buFont typeface="Arial MT"/>
              <a:buChar char="•"/>
              <a:tabLst>
                <a:tab pos="185420" algn="l"/>
              </a:tabLst>
            </a:pPr>
            <a:r>
              <a:rPr dirty="0" sz="1600" spc="-10">
                <a:latin typeface="SimSun"/>
                <a:cs typeface="SimSun"/>
              </a:rPr>
              <a:t>上电前检查</a:t>
            </a:r>
            <a:endParaRPr sz="1600">
              <a:latin typeface="SimSun"/>
              <a:cs typeface="SimSun"/>
            </a:endParaRPr>
          </a:p>
        </p:txBody>
      </p:sp>
      <p:grpSp>
        <p:nvGrpSpPr>
          <p:cNvPr id="5" name="object 5" descr=""/>
          <p:cNvGrpSpPr/>
          <p:nvPr/>
        </p:nvGrpSpPr>
        <p:grpSpPr>
          <a:xfrm>
            <a:off x="1389659" y="3323117"/>
            <a:ext cx="2623185" cy="1235075"/>
            <a:chOff x="1389659" y="3323117"/>
            <a:chExt cx="2623185" cy="1235075"/>
          </a:xfrm>
        </p:grpSpPr>
        <p:sp>
          <p:nvSpPr>
            <p:cNvPr id="6" name="object 6" descr=""/>
            <p:cNvSpPr/>
            <p:nvPr/>
          </p:nvSpPr>
          <p:spPr>
            <a:xfrm>
              <a:off x="2236167" y="3998993"/>
              <a:ext cx="1776730" cy="559435"/>
            </a:xfrm>
            <a:custGeom>
              <a:avLst/>
              <a:gdLst/>
              <a:ahLst/>
              <a:cxnLst/>
              <a:rect l="l" t="t" r="r" b="b"/>
              <a:pathLst>
                <a:path w="1776729" h="559435">
                  <a:moveTo>
                    <a:pt x="62039" y="0"/>
                  </a:moveTo>
                  <a:lnTo>
                    <a:pt x="0" y="35229"/>
                  </a:lnTo>
                  <a:lnTo>
                    <a:pt x="25094" y="77089"/>
                  </a:lnTo>
                  <a:lnTo>
                    <a:pt x="52080" y="117641"/>
                  </a:lnTo>
                  <a:lnTo>
                    <a:pt x="80906" y="156823"/>
                  </a:lnTo>
                  <a:lnTo>
                    <a:pt x="111515" y="194577"/>
                  </a:lnTo>
                  <a:lnTo>
                    <a:pt x="143856" y="230841"/>
                  </a:lnTo>
                  <a:lnTo>
                    <a:pt x="177873" y="265557"/>
                  </a:lnTo>
                  <a:lnTo>
                    <a:pt x="213513" y="298662"/>
                  </a:lnTo>
                  <a:lnTo>
                    <a:pt x="250722" y="330098"/>
                  </a:lnTo>
                  <a:lnTo>
                    <a:pt x="289445" y="359803"/>
                  </a:lnTo>
                  <a:lnTo>
                    <a:pt x="329436" y="387616"/>
                  </a:lnTo>
                  <a:lnTo>
                    <a:pt x="370268" y="413295"/>
                  </a:lnTo>
                  <a:lnTo>
                    <a:pt x="411871" y="436851"/>
                  </a:lnTo>
                  <a:lnTo>
                    <a:pt x="454176" y="458295"/>
                  </a:lnTo>
                  <a:lnTo>
                    <a:pt x="497114" y="477637"/>
                  </a:lnTo>
                  <a:lnTo>
                    <a:pt x="540614" y="494889"/>
                  </a:lnTo>
                  <a:lnTo>
                    <a:pt x="585002" y="510178"/>
                  </a:lnTo>
                  <a:lnTo>
                    <a:pt x="629026" y="523166"/>
                  </a:lnTo>
                  <a:lnTo>
                    <a:pt x="673798" y="534211"/>
                  </a:lnTo>
                  <a:lnTo>
                    <a:pt x="718856" y="543210"/>
                  </a:lnTo>
                  <a:lnTo>
                    <a:pt x="764130" y="550172"/>
                  </a:lnTo>
                  <a:lnTo>
                    <a:pt x="809551" y="555109"/>
                  </a:lnTo>
                  <a:lnTo>
                    <a:pt x="855048" y="558031"/>
                  </a:lnTo>
                  <a:lnTo>
                    <a:pt x="900553" y="558950"/>
                  </a:lnTo>
                  <a:lnTo>
                    <a:pt x="945997" y="557875"/>
                  </a:lnTo>
                  <a:lnTo>
                    <a:pt x="991309" y="554818"/>
                  </a:lnTo>
                  <a:lnTo>
                    <a:pt x="1036421" y="549789"/>
                  </a:lnTo>
                  <a:lnTo>
                    <a:pt x="1081262" y="542800"/>
                  </a:lnTo>
                  <a:lnTo>
                    <a:pt x="1125764" y="533862"/>
                  </a:lnTo>
                  <a:lnTo>
                    <a:pt x="1169858" y="522984"/>
                  </a:lnTo>
                  <a:lnTo>
                    <a:pt x="1213473" y="510178"/>
                  </a:lnTo>
                  <a:lnTo>
                    <a:pt x="1256540" y="495455"/>
                  </a:lnTo>
                  <a:lnTo>
                    <a:pt x="1276579" y="487605"/>
                  </a:lnTo>
                  <a:lnTo>
                    <a:pt x="887539" y="487605"/>
                  </a:lnTo>
                  <a:lnTo>
                    <a:pt x="842523" y="485947"/>
                  </a:lnTo>
                  <a:lnTo>
                    <a:pt x="797720" y="482198"/>
                  </a:lnTo>
                  <a:lnTo>
                    <a:pt x="753204" y="476378"/>
                  </a:lnTo>
                  <a:lnTo>
                    <a:pt x="709050" y="468509"/>
                  </a:lnTo>
                  <a:lnTo>
                    <a:pt x="665334" y="458610"/>
                  </a:lnTo>
                  <a:lnTo>
                    <a:pt x="622131" y="446704"/>
                  </a:lnTo>
                  <a:lnTo>
                    <a:pt x="579517" y="432810"/>
                  </a:lnTo>
                  <a:lnTo>
                    <a:pt x="537566" y="416949"/>
                  </a:lnTo>
                  <a:lnTo>
                    <a:pt x="496353" y="399142"/>
                  </a:lnTo>
                  <a:lnTo>
                    <a:pt x="455955" y="379410"/>
                  </a:lnTo>
                  <a:lnTo>
                    <a:pt x="416445" y="357774"/>
                  </a:lnTo>
                  <a:lnTo>
                    <a:pt x="377900" y="334253"/>
                  </a:lnTo>
                  <a:lnTo>
                    <a:pt x="340395" y="308870"/>
                  </a:lnTo>
                  <a:lnTo>
                    <a:pt x="304004" y="281644"/>
                  </a:lnTo>
                  <a:lnTo>
                    <a:pt x="268803" y="252596"/>
                  </a:lnTo>
                  <a:lnTo>
                    <a:pt x="234868" y="221748"/>
                  </a:lnTo>
                  <a:lnTo>
                    <a:pt x="202273" y="189119"/>
                  </a:lnTo>
                  <a:lnTo>
                    <a:pt x="171094" y="154731"/>
                  </a:lnTo>
                  <a:lnTo>
                    <a:pt x="141406" y="118604"/>
                  </a:lnTo>
                  <a:lnTo>
                    <a:pt x="113284" y="80760"/>
                  </a:lnTo>
                  <a:lnTo>
                    <a:pt x="86803" y="41218"/>
                  </a:lnTo>
                  <a:lnTo>
                    <a:pt x="62039" y="0"/>
                  </a:lnTo>
                  <a:close/>
                </a:path>
                <a:path w="1776729" h="559435">
                  <a:moveTo>
                    <a:pt x="1768119" y="17614"/>
                  </a:moveTo>
                  <a:lnTo>
                    <a:pt x="1631391" y="75666"/>
                  </a:lnTo>
                  <a:lnTo>
                    <a:pt x="1672513" y="99021"/>
                  </a:lnTo>
                  <a:lnTo>
                    <a:pt x="1641601" y="138419"/>
                  </a:lnTo>
                  <a:lnTo>
                    <a:pt x="1608751" y="176083"/>
                  </a:lnTo>
                  <a:lnTo>
                    <a:pt x="1574039" y="211944"/>
                  </a:lnTo>
                  <a:lnTo>
                    <a:pt x="1537541" y="245938"/>
                  </a:lnTo>
                  <a:lnTo>
                    <a:pt x="1499331" y="277997"/>
                  </a:lnTo>
                  <a:lnTo>
                    <a:pt x="1459487" y="308055"/>
                  </a:lnTo>
                  <a:lnTo>
                    <a:pt x="1418082" y="336044"/>
                  </a:lnTo>
                  <a:lnTo>
                    <a:pt x="1375194" y="361899"/>
                  </a:lnTo>
                  <a:lnTo>
                    <a:pt x="1332810" y="384612"/>
                  </a:lnTo>
                  <a:lnTo>
                    <a:pt x="1289811" y="405005"/>
                  </a:lnTo>
                  <a:lnTo>
                    <a:pt x="1246272" y="423101"/>
                  </a:lnTo>
                  <a:lnTo>
                    <a:pt x="1202268" y="438918"/>
                  </a:lnTo>
                  <a:lnTo>
                    <a:pt x="1157874" y="452479"/>
                  </a:lnTo>
                  <a:lnTo>
                    <a:pt x="1113165" y="463803"/>
                  </a:lnTo>
                  <a:lnTo>
                    <a:pt x="1068218" y="472911"/>
                  </a:lnTo>
                  <a:lnTo>
                    <a:pt x="1023106" y="479825"/>
                  </a:lnTo>
                  <a:lnTo>
                    <a:pt x="977906" y="484565"/>
                  </a:lnTo>
                  <a:lnTo>
                    <a:pt x="932691" y="487151"/>
                  </a:lnTo>
                  <a:lnTo>
                    <a:pt x="887539" y="487605"/>
                  </a:lnTo>
                  <a:lnTo>
                    <a:pt x="1276579" y="487605"/>
                  </a:lnTo>
                  <a:lnTo>
                    <a:pt x="1340755" y="460300"/>
                  </a:lnTo>
                  <a:lnTo>
                    <a:pt x="1381763" y="439890"/>
                  </a:lnTo>
                  <a:lnTo>
                    <a:pt x="1421945" y="417606"/>
                  </a:lnTo>
                  <a:lnTo>
                    <a:pt x="1461233" y="393459"/>
                  </a:lnTo>
                  <a:lnTo>
                    <a:pt x="1499557" y="367459"/>
                  </a:lnTo>
                  <a:lnTo>
                    <a:pt x="1536848" y="339618"/>
                  </a:lnTo>
                  <a:lnTo>
                    <a:pt x="1573035" y="309946"/>
                  </a:lnTo>
                  <a:lnTo>
                    <a:pt x="1608050" y="278455"/>
                  </a:lnTo>
                  <a:lnTo>
                    <a:pt x="1641823" y="245154"/>
                  </a:lnTo>
                  <a:lnTo>
                    <a:pt x="1674285" y="210055"/>
                  </a:lnTo>
                  <a:lnTo>
                    <a:pt x="1705366" y="173168"/>
                  </a:lnTo>
                  <a:lnTo>
                    <a:pt x="1734997" y="134505"/>
                  </a:lnTo>
                  <a:lnTo>
                    <a:pt x="1774809" y="134505"/>
                  </a:lnTo>
                  <a:lnTo>
                    <a:pt x="1768119" y="17614"/>
                  </a:lnTo>
                  <a:close/>
                </a:path>
                <a:path w="1776729" h="559435">
                  <a:moveTo>
                    <a:pt x="1774809" y="134505"/>
                  </a:moveTo>
                  <a:lnTo>
                    <a:pt x="1734997" y="134505"/>
                  </a:lnTo>
                  <a:lnTo>
                    <a:pt x="1776145" y="157861"/>
                  </a:lnTo>
                  <a:lnTo>
                    <a:pt x="1774809" y="134505"/>
                  </a:lnTo>
                  <a:close/>
                </a:path>
              </a:pathLst>
            </a:custGeom>
            <a:solidFill>
              <a:srgbClr val="DAEDEF"/>
            </a:solidFill>
          </p:spPr>
          <p:txBody>
            <a:bodyPr wrap="square" lIns="0" tIns="0" rIns="0" bIns="0" rtlCol="0"/>
            <a:lstStyle/>
            <a:p/>
          </p:txBody>
        </p:sp>
        <p:sp>
          <p:nvSpPr>
            <p:cNvPr id="7" name="object 7" descr=""/>
            <p:cNvSpPr/>
            <p:nvPr/>
          </p:nvSpPr>
          <p:spPr>
            <a:xfrm>
              <a:off x="1402359" y="3335817"/>
              <a:ext cx="1719580" cy="683895"/>
            </a:xfrm>
            <a:custGeom>
              <a:avLst/>
              <a:gdLst/>
              <a:ahLst/>
              <a:cxnLst/>
              <a:rect l="l" t="t" r="r" b="b"/>
              <a:pathLst>
                <a:path w="1719580" h="683895">
                  <a:moveTo>
                    <a:pt x="1650949" y="0"/>
                  </a:moveTo>
                  <a:lnTo>
                    <a:pt x="68376" y="0"/>
                  </a:lnTo>
                  <a:lnTo>
                    <a:pt x="41758" y="5374"/>
                  </a:lnTo>
                  <a:lnTo>
                    <a:pt x="20024" y="20029"/>
                  </a:lnTo>
                  <a:lnTo>
                    <a:pt x="5372" y="41764"/>
                  </a:lnTo>
                  <a:lnTo>
                    <a:pt x="0" y="68376"/>
                  </a:lnTo>
                  <a:lnTo>
                    <a:pt x="0" y="615353"/>
                  </a:lnTo>
                  <a:lnTo>
                    <a:pt x="5372" y="641965"/>
                  </a:lnTo>
                  <a:lnTo>
                    <a:pt x="20024" y="663700"/>
                  </a:lnTo>
                  <a:lnTo>
                    <a:pt x="41758" y="678355"/>
                  </a:lnTo>
                  <a:lnTo>
                    <a:pt x="68376" y="683729"/>
                  </a:lnTo>
                  <a:lnTo>
                    <a:pt x="1650949" y="683729"/>
                  </a:lnTo>
                  <a:lnTo>
                    <a:pt x="1677567" y="678355"/>
                  </a:lnTo>
                  <a:lnTo>
                    <a:pt x="1699301" y="663700"/>
                  </a:lnTo>
                  <a:lnTo>
                    <a:pt x="1713953" y="641965"/>
                  </a:lnTo>
                  <a:lnTo>
                    <a:pt x="1719326" y="615353"/>
                  </a:lnTo>
                  <a:lnTo>
                    <a:pt x="1719326" y="68376"/>
                  </a:lnTo>
                  <a:lnTo>
                    <a:pt x="1713953" y="41764"/>
                  </a:lnTo>
                  <a:lnTo>
                    <a:pt x="1699301" y="20029"/>
                  </a:lnTo>
                  <a:lnTo>
                    <a:pt x="1677567" y="5374"/>
                  </a:lnTo>
                  <a:lnTo>
                    <a:pt x="1650949" y="0"/>
                  </a:lnTo>
                  <a:close/>
                </a:path>
              </a:pathLst>
            </a:custGeom>
            <a:solidFill>
              <a:srgbClr val="CC6600"/>
            </a:solidFill>
          </p:spPr>
          <p:txBody>
            <a:bodyPr wrap="square" lIns="0" tIns="0" rIns="0" bIns="0" rtlCol="0"/>
            <a:lstStyle/>
            <a:p/>
          </p:txBody>
        </p:sp>
        <p:sp>
          <p:nvSpPr>
            <p:cNvPr id="8" name="object 8" descr=""/>
            <p:cNvSpPr/>
            <p:nvPr/>
          </p:nvSpPr>
          <p:spPr>
            <a:xfrm>
              <a:off x="1402359" y="3335817"/>
              <a:ext cx="1719580" cy="683895"/>
            </a:xfrm>
            <a:custGeom>
              <a:avLst/>
              <a:gdLst/>
              <a:ahLst/>
              <a:cxnLst/>
              <a:rect l="l" t="t" r="r" b="b"/>
              <a:pathLst>
                <a:path w="1719580" h="683895">
                  <a:moveTo>
                    <a:pt x="0" y="68376"/>
                  </a:moveTo>
                  <a:lnTo>
                    <a:pt x="5372" y="41764"/>
                  </a:lnTo>
                  <a:lnTo>
                    <a:pt x="20024" y="20029"/>
                  </a:lnTo>
                  <a:lnTo>
                    <a:pt x="41758" y="5374"/>
                  </a:lnTo>
                  <a:lnTo>
                    <a:pt x="68376" y="0"/>
                  </a:lnTo>
                  <a:lnTo>
                    <a:pt x="1650949" y="0"/>
                  </a:lnTo>
                  <a:lnTo>
                    <a:pt x="1677567" y="5374"/>
                  </a:lnTo>
                  <a:lnTo>
                    <a:pt x="1699301" y="20029"/>
                  </a:lnTo>
                  <a:lnTo>
                    <a:pt x="1713953" y="41764"/>
                  </a:lnTo>
                  <a:lnTo>
                    <a:pt x="1719326" y="68376"/>
                  </a:lnTo>
                  <a:lnTo>
                    <a:pt x="1719326" y="615353"/>
                  </a:lnTo>
                  <a:lnTo>
                    <a:pt x="1713953" y="641965"/>
                  </a:lnTo>
                  <a:lnTo>
                    <a:pt x="1699301" y="663700"/>
                  </a:lnTo>
                  <a:lnTo>
                    <a:pt x="1677567" y="678355"/>
                  </a:lnTo>
                  <a:lnTo>
                    <a:pt x="1650949" y="683729"/>
                  </a:lnTo>
                  <a:lnTo>
                    <a:pt x="68376" y="683729"/>
                  </a:lnTo>
                  <a:lnTo>
                    <a:pt x="41758" y="678355"/>
                  </a:lnTo>
                  <a:lnTo>
                    <a:pt x="20024" y="663700"/>
                  </a:lnTo>
                  <a:lnTo>
                    <a:pt x="5372" y="641965"/>
                  </a:lnTo>
                  <a:lnTo>
                    <a:pt x="0" y="615353"/>
                  </a:lnTo>
                  <a:lnTo>
                    <a:pt x="0" y="68376"/>
                  </a:lnTo>
                  <a:close/>
                </a:path>
              </a:pathLst>
            </a:custGeom>
            <a:ln w="25400">
              <a:solidFill>
                <a:srgbClr val="FFFFFF"/>
              </a:solidFill>
            </a:ln>
          </p:spPr>
          <p:txBody>
            <a:bodyPr wrap="square" lIns="0" tIns="0" rIns="0" bIns="0" rtlCol="0"/>
            <a:lstStyle/>
            <a:p/>
          </p:txBody>
        </p:sp>
      </p:grpSp>
      <p:sp>
        <p:nvSpPr>
          <p:cNvPr id="9" name="object 9" descr=""/>
          <p:cNvSpPr txBox="1"/>
          <p:nvPr/>
        </p:nvSpPr>
        <p:spPr>
          <a:xfrm>
            <a:off x="1487257" y="3396376"/>
            <a:ext cx="1549400" cy="482600"/>
          </a:xfrm>
          <a:prstGeom prst="rect">
            <a:avLst/>
          </a:prstGeom>
        </p:spPr>
        <p:txBody>
          <a:bodyPr wrap="square" lIns="0" tIns="12700" rIns="0" bIns="0" rtlCol="0" vert="horz">
            <a:spAutoFit/>
          </a:bodyPr>
          <a:lstStyle/>
          <a:p>
            <a:pPr marL="12700">
              <a:lnSpc>
                <a:spcPct val="100000"/>
              </a:lnSpc>
              <a:spcBef>
                <a:spcPts val="100"/>
              </a:spcBef>
            </a:pPr>
            <a:r>
              <a:rPr dirty="0" sz="3000" spc="-15">
                <a:solidFill>
                  <a:srgbClr val="FFFFFF"/>
                </a:solidFill>
                <a:latin typeface="SimSun"/>
                <a:cs typeface="SimSun"/>
              </a:rPr>
              <a:t>开通准备</a:t>
            </a:r>
            <a:endParaRPr sz="3000">
              <a:latin typeface="SimSun"/>
              <a:cs typeface="SimSun"/>
            </a:endParaRPr>
          </a:p>
        </p:txBody>
      </p:sp>
      <p:sp>
        <p:nvSpPr>
          <p:cNvPr id="10" name="object 10" descr=""/>
          <p:cNvSpPr/>
          <p:nvPr/>
        </p:nvSpPr>
        <p:spPr>
          <a:xfrm>
            <a:off x="3461416" y="2082335"/>
            <a:ext cx="1934845" cy="1595755"/>
          </a:xfrm>
          <a:custGeom>
            <a:avLst/>
            <a:gdLst/>
            <a:ahLst/>
            <a:cxnLst/>
            <a:rect l="l" t="t" r="r" b="b"/>
            <a:pathLst>
              <a:path w="1934845" h="1595754">
                <a:moveTo>
                  <a:pt x="0" y="159537"/>
                </a:moveTo>
                <a:lnTo>
                  <a:pt x="8133" y="109110"/>
                </a:lnTo>
                <a:lnTo>
                  <a:pt x="30780" y="65315"/>
                </a:lnTo>
                <a:lnTo>
                  <a:pt x="65315" y="30780"/>
                </a:lnTo>
                <a:lnTo>
                  <a:pt x="109110" y="8133"/>
                </a:lnTo>
                <a:lnTo>
                  <a:pt x="159537" y="0"/>
                </a:lnTo>
                <a:lnTo>
                  <a:pt x="1774710" y="0"/>
                </a:lnTo>
                <a:lnTo>
                  <a:pt x="1825132" y="8133"/>
                </a:lnTo>
                <a:lnTo>
                  <a:pt x="1868927" y="30780"/>
                </a:lnTo>
                <a:lnTo>
                  <a:pt x="1903463" y="65315"/>
                </a:lnTo>
                <a:lnTo>
                  <a:pt x="1926113" y="109110"/>
                </a:lnTo>
                <a:lnTo>
                  <a:pt x="1934248" y="159537"/>
                </a:lnTo>
                <a:lnTo>
                  <a:pt x="1934248" y="1435811"/>
                </a:lnTo>
                <a:lnTo>
                  <a:pt x="1926113" y="1486238"/>
                </a:lnTo>
                <a:lnTo>
                  <a:pt x="1903463" y="1530033"/>
                </a:lnTo>
                <a:lnTo>
                  <a:pt x="1868927" y="1564567"/>
                </a:lnTo>
                <a:lnTo>
                  <a:pt x="1825132" y="1587215"/>
                </a:lnTo>
                <a:lnTo>
                  <a:pt x="1774710" y="1595348"/>
                </a:lnTo>
                <a:lnTo>
                  <a:pt x="159537" y="1595348"/>
                </a:lnTo>
                <a:lnTo>
                  <a:pt x="109110" y="1587215"/>
                </a:lnTo>
                <a:lnTo>
                  <a:pt x="65315" y="1564567"/>
                </a:lnTo>
                <a:lnTo>
                  <a:pt x="30780" y="1530033"/>
                </a:lnTo>
                <a:lnTo>
                  <a:pt x="8133" y="1486238"/>
                </a:lnTo>
                <a:lnTo>
                  <a:pt x="0" y="1435811"/>
                </a:lnTo>
                <a:lnTo>
                  <a:pt x="0" y="159537"/>
                </a:lnTo>
                <a:close/>
              </a:path>
            </a:pathLst>
          </a:custGeom>
          <a:ln w="25400">
            <a:solidFill>
              <a:srgbClr val="759CCB"/>
            </a:solidFill>
          </a:ln>
        </p:spPr>
        <p:txBody>
          <a:bodyPr wrap="square" lIns="0" tIns="0" rIns="0" bIns="0" rtlCol="0"/>
          <a:lstStyle/>
          <a:p/>
        </p:txBody>
      </p:sp>
      <p:sp>
        <p:nvSpPr>
          <p:cNvPr id="11" name="object 11" descr=""/>
          <p:cNvSpPr txBox="1"/>
          <p:nvPr/>
        </p:nvSpPr>
        <p:spPr>
          <a:xfrm>
            <a:off x="3609254" y="2514488"/>
            <a:ext cx="1417955" cy="857885"/>
          </a:xfrm>
          <a:prstGeom prst="rect">
            <a:avLst/>
          </a:prstGeom>
        </p:spPr>
        <p:txBody>
          <a:bodyPr wrap="square" lIns="0" tIns="45720" rIns="0" bIns="0" rtlCol="0" vert="horz">
            <a:spAutoFit/>
          </a:bodyPr>
          <a:lstStyle/>
          <a:p>
            <a:pPr marL="185420" indent="-172720">
              <a:lnSpc>
                <a:spcPct val="100000"/>
              </a:lnSpc>
              <a:spcBef>
                <a:spcPts val="360"/>
              </a:spcBef>
              <a:buFont typeface="Arial MT"/>
              <a:buChar char="•"/>
              <a:tabLst>
                <a:tab pos="185420" algn="l"/>
              </a:tabLst>
            </a:pPr>
            <a:r>
              <a:rPr dirty="0" sz="1600" spc="-15">
                <a:latin typeface="SimSun"/>
                <a:cs typeface="SimSun"/>
              </a:rPr>
              <a:t>版本升级</a:t>
            </a:r>
            <a:endParaRPr sz="1600">
              <a:latin typeface="SimSun"/>
              <a:cs typeface="SimSun"/>
            </a:endParaRPr>
          </a:p>
          <a:p>
            <a:pPr marL="185420" indent="-172720">
              <a:lnSpc>
                <a:spcPct val="100000"/>
              </a:lnSpc>
              <a:spcBef>
                <a:spcPts val="265"/>
              </a:spcBef>
              <a:buFont typeface="Arial MT"/>
              <a:buChar char="•"/>
              <a:tabLst>
                <a:tab pos="185420" algn="l"/>
              </a:tabLst>
            </a:pPr>
            <a:r>
              <a:rPr dirty="0" sz="1600" spc="-10">
                <a:latin typeface="SimSun"/>
                <a:cs typeface="SimSun"/>
              </a:rPr>
              <a:t>配置文件导入</a:t>
            </a:r>
            <a:endParaRPr sz="1600">
              <a:latin typeface="SimSun"/>
              <a:cs typeface="SimSun"/>
            </a:endParaRPr>
          </a:p>
          <a:p>
            <a:pPr marL="185420" indent="-172720">
              <a:lnSpc>
                <a:spcPct val="100000"/>
              </a:lnSpc>
              <a:spcBef>
                <a:spcPts val="265"/>
              </a:spcBef>
              <a:buFont typeface="Arial MT"/>
              <a:buChar char="•"/>
              <a:tabLst>
                <a:tab pos="185420" algn="l"/>
              </a:tabLst>
            </a:pPr>
            <a:r>
              <a:rPr dirty="0" sz="1600" spc="-10">
                <a:latin typeface="SimSun"/>
                <a:cs typeface="SimSun"/>
              </a:rPr>
              <a:t>基站状态查询</a:t>
            </a:r>
            <a:endParaRPr sz="1600">
              <a:latin typeface="SimSun"/>
              <a:cs typeface="SimSun"/>
            </a:endParaRPr>
          </a:p>
        </p:txBody>
      </p:sp>
      <p:grpSp>
        <p:nvGrpSpPr>
          <p:cNvPr id="12" name="object 12" descr=""/>
          <p:cNvGrpSpPr/>
          <p:nvPr/>
        </p:nvGrpSpPr>
        <p:grpSpPr>
          <a:xfrm>
            <a:off x="3878548" y="1139402"/>
            <a:ext cx="2838450" cy="1297940"/>
            <a:chOff x="3878548" y="1139402"/>
            <a:chExt cx="2838450" cy="1297940"/>
          </a:xfrm>
        </p:grpSpPr>
        <p:sp>
          <p:nvSpPr>
            <p:cNvPr id="13" name="object 13" descr=""/>
            <p:cNvSpPr/>
            <p:nvPr/>
          </p:nvSpPr>
          <p:spPr>
            <a:xfrm>
              <a:off x="4725060" y="1139402"/>
              <a:ext cx="1991995" cy="621665"/>
            </a:xfrm>
            <a:custGeom>
              <a:avLst/>
              <a:gdLst/>
              <a:ahLst/>
              <a:cxnLst/>
              <a:rect l="l" t="t" r="r" b="b"/>
              <a:pathLst>
                <a:path w="1991995" h="621664">
                  <a:moveTo>
                    <a:pt x="1007473" y="0"/>
                  </a:moveTo>
                  <a:lnTo>
                    <a:pt x="962760" y="887"/>
                  </a:lnTo>
                  <a:lnTo>
                    <a:pt x="918193" y="3495"/>
                  </a:lnTo>
                  <a:lnTo>
                    <a:pt x="873823" y="7807"/>
                  </a:lnTo>
                  <a:lnTo>
                    <a:pt x="828905" y="13918"/>
                  </a:lnTo>
                  <a:lnTo>
                    <a:pt x="829083" y="13918"/>
                  </a:lnTo>
                  <a:lnTo>
                    <a:pt x="785876" y="21490"/>
                  </a:lnTo>
                  <a:lnTo>
                    <a:pt x="742401" y="30833"/>
                  </a:lnTo>
                  <a:lnTo>
                    <a:pt x="699325" y="41825"/>
                  </a:lnTo>
                  <a:lnTo>
                    <a:pt x="656700" y="54452"/>
                  </a:lnTo>
                  <a:lnTo>
                    <a:pt x="614577" y="68700"/>
                  </a:lnTo>
                  <a:lnTo>
                    <a:pt x="573005" y="84555"/>
                  </a:lnTo>
                  <a:lnTo>
                    <a:pt x="532037" y="102003"/>
                  </a:lnTo>
                  <a:lnTo>
                    <a:pt x="491723" y="121031"/>
                  </a:lnTo>
                  <a:lnTo>
                    <a:pt x="452113" y="141623"/>
                  </a:lnTo>
                  <a:lnTo>
                    <a:pt x="413258" y="163766"/>
                  </a:lnTo>
                  <a:lnTo>
                    <a:pt x="375210" y="187446"/>
                  </a:lnTo>
                  <a:lnTo>
                    <a:pt x="338018" y="212649"/>
                  </a:lnTo>
                  <a:lnTo>
                    <a:pt x="301735" y="239361"/>
                  </a:lnTo>
                  <a:lnTo>
                    <a:pt x="266410" y="267569"/>
                  </a:lnTo>
                  <a:lnTo>
                    <a:pt x="232094" y="297257"/>
                  </a:lnTo>
                  <a:lnTo>
                    <a:pt x="198838" y="328412"/>
                  </a:lnTo>
                  <a:lnTo>
                    <a:pt x="166694" y="361020"/>
                  </a:lnTo>
                  <a:lnTo>
                    <a:pt x="135711" y="395067"/>
                  </a:lnTo>
                  <a:lnTo>
                    <a:pt x="105940" y="430539"/>
                  </a:lnTo>
                  <a:lnTo>
                    <a:pt x="77433" y="467422"/>
                  </a:lnTo>
                  <a:lnTo>
                    <a:pt x="50240" y="505703"/>
                  </a:lnTo>
                  <a:lnTo>
                    <a:pt x="24337" y="545491"/>
                  </a:lnTo>
                  <a:lnTo>
                    <a:pt x="0" y="586398"/>
                  </a:lnTo>
                  <a:lnTo>
                    <a:pt x="62039" y="621628"/>
                  </a:lnTo>
                  <a:lnTo>
                    <a:pt x="88752" y="577100"/>
                  </a:lnTo>
                  <a:lnTo>
                    <a:pt x="117503" y="533983"/>
                  </a:lnTo>
                  <a:lnTo>
                    <a:pt x="148232" y="492345"/>
                  </a:lnTo>
                  <a:lnTo>
                    <a:pt x="180880" y="452249"/>
                  </a:lnTo>
                  <a:lnTo>
                    <a:pt x="215388" y="413763"/>
                  </a:lnTo>
                  <a:lnTo>
                    <a:pt x="251699" y="376950"/>
                  </a:lnTo>
                  <a:lnTo>
                    <a:pt x="289752" y="341878"/>
                  </a:lnTo>
                  <a:lnTo>
                    <a:pt x="329490" y="308611"/>
                  </a:lnTo>
                  <a:lnTo>
                    <a:pt x="370852" y="277216"/>
                  </a:lnTo>
                  <a:lnTo>
                    <a:pt x="410717" y="249737"/>
                  </a:lnTo>
                  <a:lnTo>
                    <a:pt x="451365" y="224269"/>
                  </a:lnTo>
                  <a:lnTo>
                    <a:pt x="492734" y="200801"/>
                  </a:lnTo>
                  <a:lnTo>
                    <a:pt x="534763" y="179323"/>
                  </a:lnTo>
                  <a:lnTo>
                    <a:pt x="577390" y="159826"/>
                  </a:lnTo>
                  <a:lnTo>
                    <a:pt x="620552" y="142300"/>
                  </a:lnTo>
                  <a:lnTo>
                    <a:pt x="664189" y="126734"/>
                  </a:lnTo>
                  <a:lnTo>
                    <a:pt x="708240" y="113119"/>
                  </a:lnTo>
                  <a:lnTo>
                    <a:pt x="752641" y="101445"/>
                  </a:lnTo>
                  <a:lnTo>
                    <a:pt x="797332" y="91702"/>
                  </a:lnTo>
                  <a:lnTo>
                    <a:pt x="842250" y="83879"/>
                  </a:lnTo>
                  <a:lnTo>
                    <a:pt x="887335" y="77967"/>
                  </a:lnTo>
                  <a:lnTo>
                    <a:pt x="932524" y="73957"/>
                  </a:lnTo>
                  <a:lnTo>
                    <a:pt x="977756" y="71837"/>
                  </a:lnTo>
                  <a:lnTo>
                    <a:pt x="1408070" y="71674"/>
                  </a:lnTo>
                  <a:lnTo>
                    <a:pt x="1364330" y="56461"/>
                  </a:lnTo>
                  <a:lnTo>
                    <a:pt x="1320279" y="43092"/>
                  </a:lnTo>
                  <a:lnTo>
                    <a:pt x="1275968" y="31555"/>
                  </a:lnTo>
                  <a:lnTo>
                    <a:pt x="1231446" y="21835"/>
                  </a:lnTo>
                  <a:lnTo>
                    <a:pt x="1186766" y="13918"/>
                  </a:lnTo>
                  <a:lnTo>
                    <a:pt x="1142101" y="7807"/>
                  </a:lnTo>
                  <a:lnTo>
                    <a:pt x="1097729" y="3495"/>
                  </a:lnTo>
                  <a:lnTo>
                    <a:pt x="1098134" y="3495"/>
                  </a:lnTo>
                  <a:lnTo>
                    <a:pt x="1053024" y="887"/>
                  </a:lnTo>
                  <a:lnTo>
                    <a:pt x="1054558" y="887"/>
                  </a:lnTo>
                  <a:lnTo>
                    <a:pt x="1007473" y="0"/>
                  </a:lnTo>
                  <a:close/>
                </a:path>
                <a:path w="1991995" h="621664">
                  <a:moveTo>
                    <a:pt x="1408070" y="71674"/>
                  </a:moveTo>
                  <a:lnTo>
                    <a:pt x="1025065" y="71674"/>
                  </a:lnTo>
                  <a:lnTo>
                    <a:pt x="1068102" y="73231"/>
                  </a:lnTo>
                  <a:lnTo>
                    <a:pt x="1113093" y="76724"/>
                  </a:lnTo>
                  <a:lnTo>
                    <a:pt x="1157880" y="82069"/>
                  </a:lnTo>
                  <a:lnTo>
                    <a:pt x="1202401" y="89254"/>
                  </a:lnTo>
                  <a:lnTo>
                    <a:pt x="1246595" y="98271"/>
                  </a:lnTo>
                  <a:lnTo>
                    <a:pt x="1290400" y="109110"/>
                  </a:lnTo>
                  <a:lnTo>
                    <a:pt x="1333754" y="121760"/>
                  </a:lnTo>
                  <a:lnTo>
                    <a:pt x="1376597" y="136211"/>
                  </a:lnTo>
                  <a:lnTo>
                    <a:pt x="1418865" y="152453"/>
                  </a:lnTo>
                  <a:lnTo>
                    <a:pt x="1460498" y="170477"/>
                  </a:lnTo>
                  <a:lnTo>
                    <a:pt x="1501433" y="190273"/>
                  </a:lnTo>
                  <a:lnTo>
                    <a:pt x="1541610" y="211830"/>
                  </a:lnTo>
                  <a:lnTo>
                    <a:pt x="1580966" y="235139"/>
                  </a:lnTo>
                  <a:lnTo>
                    <a:pt x="1619440" y="260189"/>
                  </a:lnTo>
                  <a:lnTo>
                    <a:pt x="1656970" y="286971"/>
                  </a:lnTo>
                  <a:lnTo>
                    <a:pt x="1693495" y="315475"/>
                  </a:lnTo>
                  <a:lnTo>
                    <a:pt x="1728952" y="345691"/>
                  </a:lnTo>
                  <a:lnTo>
                    <a:pt x="1763280" y="377608"/>
                  </a:lnTo>
                  <a:lnTo>
                    <a:pt x="1796418" y="411218"/>
                  </a:lnTo>
                  <a:lnTo>
                    <a:pt x="1828303" y="446509"/>
                  </a:lnTo>
                  <a:lnTo>
                    <a:pt x="1858875" y="483472"/>
                  </a:lnTo>
                  <a:lnTo>
                    <a:pt x="1888083" y="522098"/>
                  </a:lnTo>
                  <a:lnTo>
                    <a:pt x="1846897" y="545491"/>
                  </a:lnTo>
                  <a:lnTo>
                    <a:pt x="1983028" y="604013"/>
                  </a:lnTo>
                  <a:lnTo>
                    <a:pt x="1990229" y="486677"/>
                  </a:lnTo>
                  <a:lnTo>
                    <a:pt x="1950466" y="486677"/>
                  </a:lnTo>
                  <a:lnTo>
                    <a:pt x="1920232" y="446108"/>
                  </a:lnTo>
                  <a:lnTo>
                    <a:pt x="1888318" y="406972"/>
                  </a:lnTo>
                  <a:lnTo>
                    <a:pt x="1854776" y="369318"/>
                  </a:lnTo>
                  <a:lnTo>
                    <a:pt x="1819660" y="333193"/>
                  </a:lnTo>
                  <a:lnTo>
                    <a:pt x="1783024" y="298646"/>
                  </a:lnTo>
                  <a:lnTo>
                    <a:pt x="1744920" y="265724"/>
                  </a:lnTo>
                  <a:lnTo>
                    <a:pt x="1705403" y="234477"/>
                  </a:lnTo>
                  <a:lnTo>
                    <a:pt x="1664525" y="204951"/>
                  </a:lnTo>
                  <a:lnTo>
                    <a:pt x="1622340" y="177195"/>
                  </a:lnTo>
                  <a:lnTo>
                    <a:pt x="1578902" y="151258"/>
                  </a:lnTo>
                  <a:lnTo>
                    <a:pt x="1536915" y="128524"/>
                  </a:lnTo>
                  <a:lnTo>
                    <a:pt x="1494413" y="107692"/>
                  </a:lnTo>
                  <a:lnTo>
                    <a:pt x="1451448" y="88746"/>
                  </a:lnTo>
                  <a:lnTo>
                    <a:pt x="1408070" y="71674"/>
                  </a:lnTo>
                  <a:close/>
                </a:path>
                <a:path w="1991995" h="621664">
                  <a:moveTo>
                    <a:pt x="1991664" y="463284"/>
                  </a:moveTo>
                  <a:lnTo>
                    <a:pt x="1950466" y="486677"/>
                  </a:lnTo>
                  <a:lnTo>
                    <a:pt x="1990229" y="486677"/>
                  </a:lnTo>
                  <a:lnTo>
                    <a:pt x="1991664" y="463284"/>
                  </a:lnTo>
                  <a:close/>
                </a:path>
              </a:pathLst>
            </a:custGeom>
            <a:solidFill>
              <a:srgbClr val="2D2D8A"/>
            </a:solidFill>
          </p:spPr>
          <p:txBody>
            <a:bodyPr wrap="square" lIns="0" tIns="0" rIns="0" bIns="0" rtlCol="0"/>
            <a:lstStyle/>
            <a:p/>
          </p:txBody>
        </p:sp>
        <p:sp>
          <p:nvSpPr>
            <p:cNvPr id="14" name="object 14" descr=""/>
            <p:cNvSpPr/>
            <p:nvPr/>
          </p:nvSpPr>
          <p:spPr>
            <a:xfrm>
              <a:off x="3891248" y="1740472"/>
              <a:ext cx="1719580" cy="683895"/>
            </a:xfrm>
            <a:custGeom>
              <a:avLst/>
              <a:gdLst/>
              <a:ahLst/>
              <a:cxnLst/>
              <a:rect l="l" t="t" r="r" b="b"/>
              <a:pathLst>
                <a:path w="1719579" h="683894">
                  <a:moveTo>
                    <a:pt x="1650949" y="0"/>
                  </a:moveTo>
                  <a:lnTo>
                    <a:pt x="68376" y="0"/>
                  </a:lnTo>
                  <a:lnTo>
                    <a:pt x="41758" y="5374"/>
                  </a:lnTo>
                  <a:lnTo>
                    <a:pt x="20024" y="20029"/>
                  </a:lnTo>
                  <a:lnTo>
                    <a:pt x="5372" y="41764"/>
                  </a:lnTo>
                  <a:lnTo>
                    <a:pt x="0" y="68376"/>
                  </a:lnTo>
                  <a:lnTo>
                    <a:pt x="0" y="615353"/>
                  </a:lnTo>
                  <a:lnTo>
                    <a:pt x="5372" y="641963"/>
                  </a:lnTo>
                  <a:lnTo>
                    <a:pt x="20024" y="663694"/>
                  </a:lnTo>
                  <a:lnTo>
                    <a:pt x="41758" y="678344"/>
                  </a:lnTo>
                  <a:lnTo>
                    <a:pt x="68376" y="683717"/>
                  </a:lnTo>
                  <a:lnTo>
                    <a:pt x="1650949" y="683717"/>
                  </a:lnTo>
                  <a:lnTo>
                    <a:pt x="1677567" y="678344"/>
                  </a:lnTo>
                  <a:lnTo>
                    <a:pt x="1699301" y="663694"/>
                  </a:lnTo>
                  <a:lnTo>
                    <a:pt x="1713953" y="641963"/>
                  </a:lnTo>
                  <a:lnTo>
                    <a:pt x="1719326" y="615353"/>
                  </a:lnTo>
                  <a:lnTo>
                    <a:pt x="1719326" y="68376"/>
                  </a:lnTo>
                  <a:lnTo>
                    <a:pt x="1713953" y="41764"/>
                  </a:lnTo>
                  <a:lnTo>
                    <a:pt x="1699301" y="20029"/>
                  </a:lnTo>
                  <a:lnTo>
                    <a:pt x="1677567" y="5374"/>
                  </a:lnTo>
                  <a:lnTo>
                    <a:pt x="1650949" y="0"/>
                  </a:lnTo>
                  <a:close/>
                </a:path>
              </a:pathLst>
            </a:custGeom>
            <a:solidFill>
              <a:srgbClr val="00B050"/>
            </a:solidFill>
          </p:spPr>
          <p:txBody>
            <a:bodyPr wrap="square" lIns="0" tIns="0" rIns="0" bIns="0" rtlCol="0"/>
            <a:lstStyle/>
            <a:p/>
          </p:txBody>
        </p:sp>
        <p:sp>
          <p:nvSpPr>
            <p:cNvPr id="15" name="object 15" descr=""/>
            <p:cNvSpPr/>
            <p:nvPr/>
          </p:nvSpPr>
          <p:spPr>
            <a:xfrm>
              <a:off x="3891248" y="1740472"/>
              <a:ext cx="1719580" cy="683895"/>
            </a:xfrm>
            <a:custGeom>
              <a:avLst/>
              <a:gdLst/>
              <a:ahLst/>
              <a:cxnLst/>
              <a:rect l="l" t="t" r="r" b="b"/>
              <a:pathLst>
                <a:path w="1719579" h="683894">
                  <a:moveTo>
                    <a:pt x="0" y="68376"/>
                  </a:moveTo>
                  <a:lnTo>
                    <a:pt x="5372" y="41764"/>
                  </a:lnTo>
                  <a:lnTo>
                    <a:pt x="20024" y="20029"/>
                  </a:lnTo>
                  <a:lnTo>
                    <a:pt x="41758" y="5374"/>
                  </a:lnTo>
                  <a:lnTo>
                    <a:pt x="68376" y="0"/>
                  </a:lnTo>
                  <a:lnTo>
                    <a:pt x="1650949" y="0"/>
                  </a:lnTo>
                  <a:lnTo>
                    <a:pt x="1677567" y="5374"/>
                  </a:lnTo>
                  <a:lnTo>
                    <a:pt x="1699301" y="20029"/>
                  </a:lnTo>
                  <a:lnTo>
                    <a:pt x="1713953" y="41764"/>
                  </a:lnTo>
                  <a:lnTo>
                    <a:pt x="1719326" y="68376"/>
                  </a:lnTo>
                  <a:lnTo>
                    <a:pt x="1719326" y="615353"/>
                  </a:lnTo>
                  <a:lnTo>
                    <a:pt x="1713953" y="641963"/>
                  </a:lnTo>
                  <a:lnTo>
                    <a:pt x="1699301" y="663694"/>
                  </a:lnTo>
                  <a:lnTo>
                    <a:pt x="1677567" y="678344"/>
                  </a:lnTo>
                  <a:lnTo>
                    <a:pt x="1650949" y="683717"/>
                  </a:lnTo>
                  <a:lnTo>
                    <a:pt x="68376" y="683717"/>
                  </a:lnTo>
                  <a:lnTo>
                    <a:pt x="41758" y="678344"/>
                  </a:lnTo>
                  <a:lnTo>
                    <a:pt x="20024" y="663694"/>
                  </a:lnTo>
                  <a:lnTo>
                    <a:pt x="5372" y="641963"/>
                  </a:lnTo>
                  <a:lnTo>
                    <a:pt x="0" y="615353"/>
                  </a:lnTo>
                  <a:lnTo>
                    <a:pt x="0" y="68376"/>
                  </a:lnTo>
                  <a:close/>
                </a:path>
              </a:pathLst>
            </a:custGeom>
            <a:ln w="25400">
              <a:solidFill>
                <a:srgbClr val="FFFFFF"/>
              </a:solidFill>
            </a:ln>
          </p:spPr>
          <p:txBody>
            <a:bodyPr wrap="square" lIns="0" tIns="0" rIns="0" bIns="0" rtlCol="0"/>
            <a:lstStyle/>
            <a:p/>
          </p:txBody>
        </p:sp>
      </p:grpSp>
      <p:sp>
        <p:nvSpPr>
          <p:cNvPr id="16" name="object 16" descr=""/>
          <p:cNvSpPr txBox="1"/>
          <p:nvPr/>
        </p:nvSpPr>
        <p:spPr>
          <a:xfrm>
            <a:off x="3976146" y="1801031"/>
            <a:ext cx="1549400" cy="482600"/>
          </a:xfrm>
          <a:prstGeom prst="rect">
            <a:avLst/>
          </a:prstGeom>
        </p:spPr>
        <p:txBody>
          <a:bodyPr wrap="square" lIns="0" tIns="12700" rIns="0" bIns="0" rtlCol="0" vert="horz">
            <a:spAutoFit/>
          </a:bodyPr>
          <a:lstStyle/>
          <a:p>
            <a:pPr marL="12700">
              <a:lnSpc>
                <a:spcPct val="100000"/>
              </a:lnSpc>
              <a:spcBef>
                <a:spcPts val="100"/>
              </a:spcBef>
            </a:pPr>
            <a:r>
              <a:rPr dirty="0" sz="3000" spc="-15">
                <a:solidFill>
                  <a:srgbClr val="FFFFFF"/>
                </a:solidFill>
                <a:latin typeface="SimSun"/>
                <a:cs typeface="SimSun"/>
              </a:rPr>
              <a:t>开通调测</a:t>
            </a:r>
            <a:endParaRPr sz="3000">
              <a:latin typeface="SimSun"/>
              <a:cs typeface="SimSun"/>
            </a:endParaRPr>
          </a:p>
        </p:txBody>
      </p:sp>
      <p:sp>
        <p:nvSpPr>
          <p:cNvPr id="17" name="object 17" descr=""/>
          <p:cNvSpPr/>
          <p:nvPr/>
        </p:nvSpPr>
        <p:spPr>
          <a:xfrm>
            <a:off x="5950305" y="2082335"/>
            <a:ext cx="1934845" cy="1595755"/>
          </a:xfrm>
          <a:custGeom>
            <a:avLst/>
            <a:gdLst/>
            <a:ahLst/>
            <a:cxnLst/>
            <a:rect l="l" t="t" r="r" b="b"/>
            <a:pathLst>
              <a:path w="1934845" h="1595754">
                <a:moveTo>
                  <a:pt x="0" y="159537"/>
                </a:moveTo>
                <a:lnTo>
                  <a:pt x="8133" y="109110"/>
                </a:lnTo>
                <a:lnTo>
                  <a:pt x="30780" y="65315"/>
                </a:lnTo>
                <a:lnTo>
                  <a:pt x="65315" y="30780"/>
                </a:lnTo>
                <a:lnTo>
                  <a:pt x="109110" y="8133"/>
                </a:lnTo>
                <a:lnTo>
                  <a:pt x="159537" y="0"/>
                </a:lnTo>
                <a:lnTo>
                  <a:pt x="1774710" y="0"/>
                </a:lnTo>
                <a:lnTo>
                  <a:pt x="1825132" y="8133"/>
                </a:lnTo>
                <a:lnTo>
                  <a:pt x="1868927" y="30780"/>
                </a:lnTo>
                <a:lnTo>
                  <a:pt x="1903463" y="65315"/>
                </a:lnTo>
                <a:lnTo>
                  <a:pt x="1926113" y="109110"/>
                </a:lnTo>
                <a:lnTo>
                  <a:pt x="1934248" y="159537"/>
                </a:lnTo>
                <a:lnTo>
                  <a:pt x="1934248" y="1435811"/>
                </a:lnTo>
                <a:lnTo>
                  <a:pt x="1926113" y="1486238"/>
                </a:lnTo>
                <a:lnTo>
                  <a:pt x="1903463" y="1530033"/>
                </a:lnTo>
                <a:lnTo>
                  <a:pt x="1868927" y="1564567"/>
                </a:lnTo>
                <a:lnTo>
                  <a:pt x="1825132" y="1587215"/>
                </a:lnTo>
                <a:lnTo>
                  <a:pt x="1774710" y="1595348"/>
                </a:lnTo>
                <a:lnTo>
                  <a:pt x="159537" y="1595348"/>
                </a:lnTo>
                <a:lnTo>
                  <a:pt x="109110" y="1587215"/>
                </a:lnTo>
                <a:lnTo>
                  <a:pt x="65315" y="1564567"/>
                </a:lnTo>
                <a:lnTo>
                  <a:pt x="30780" y="1530033"/>
                </a:lnTo>
                <a:lnTo>
                  <a:pt x="8133" y="1486238"/>
                </a:lnTo>
                <a:lnTo>
                  <a:pt x="0" y="1435811"/>
                </a:lnTo>
                <a:lnTo>
                  <a:pt x="0" y="159537"/>
                </a:lnTo>
                <a:close/>
              </a:path>
            </a:pathLst>
          </a:custGeom>
          <a:ln w="25400">
            <a:solidFill>
              <a:srgbClr val="2D2D8A"/>
            </a:solidFill>
          </a:ln>
        </p:spPr>
        <p:txBody>
          <a:bodyPr wrap="square" lIns="0" tIns="0" rIns="0" bIns="0" rtlCol="0"/>
          <a:lstStyle/>
          <a:p/>
        </p:txBody>
      </p:sp>
      <p:sp>
        <p:nvSpPr>
          <p:cNvPr id="18" name="object 18" descr=""/>
          <p:cNvSpPr txBox="1"/>
          <p:nvPr/>
        </p:nvSpPr>
        <p:spPr>
          <a:xfrm>
            <a:off x="6098143" y="2172627"/>
            <a:ext cx="1010919" cy="857885"/>
          </a:xfrm>
          <a:prstGeom prst="rect">
            <a:avLst/>
          </a:prstGeom>
        </p:spPr>
        <p:txBody>
          <a:bodyPr wrap="square" lIns="0" tIns="45720" rIns="0" bIns="0" rtlCol="0" vert="horz">
            <a:spAutoFit/>
          </a:bodyPr>
          <a:lstStyle/>
          <a:p>
            <a:pPr marL="185420" indent="-172720">
              <a:lnSpc>
                <a:spcPct val="100000"/>
              </a:lnSpc>
              <a:spcBef>
                <a:spcPts val="360"/>
              </a:spcBef>
              <a:buFont typeface="Arial MT"/>
              <a:buChar char="•"/>
              <a:tabLst>
                <a:tab pos="185420" algn="l"/>
              </a:tabLst>
            </a:pPr>
            <a:r>
              <a:rPr dirty="0" sz="1600" spc="-25">
                <a:latin typeface="SimSun"/>
                <a:cs typeface="SimSun"/>
              </a:rPr>
              <a:t>联调</a:t>
            </a:r>
            <a:endParaRPr sz="1600">
              <a:latin typeface="SimSun"/>
              <a:cs typeface="SimSun"/>
            </a:endParaRPr>
          </a:p>
          <a:p>
            <a:pPr marL="185420" indent="-172720">
              <a:lnSpc>
                <a:spcPct val="100000"/>
              </a:lnSpc>
              <a:spcBef>
                <a:spcPts val="265"/>
              </a:spcBef>
              <a:buFont typeface="Arial MT"/>
              <a:buChar char="•"/>
              <a:tabLst>
                <a:tab pos="185420" algn="l"/>
              </a:tabLst>
            </a:pPr>
            <a:r>
              <a:rPr dirty="0" sz="1600" spc="-15">
                <a:latin typeface="SimSun"/>
                <a:cs typeface="SimSun"/>
              </a:rPr>
              <a:t>故障排查</a:t>
            </a:r>
            <a:endParaRPr sz="1600">
              <a:latin typeface="SimSun"/>
              <a:cs typeface="SimSun"/>
            </a:endParaRPr>
          </a:p>
          <a:p>
            <a:pPr marL="185420" indent="-172720">
              <a:lnSpc>
                <a:spcPct val="100000"/>
              </a:lnSpc>
              <a:spcBef>
                <a:spcPts val="265"/>
              </a:spcBef>
              <a:buFont typeface="Arial MT"/>
              <a:buChar char="•"/>
              <a:tabLst>
                <a:tab pos="185420" algn="l"/>
              </a:tabLst>
            </a:pPr>
            <a:r>
              <a:rPr dirty="0" sz="1600" spc="-15">
                <a:latin typeface="SimSun"/>
                <a:cs typeface="SimSun"/>
              </a:rPr>
              <a:t>业务验证</a:t>
            </a:r>
            <a:endParaRPr sz="1600">
              <a:latin typeface="SimSun"/>
              <a:cs typeface="SimSun"/>
            </a:endParaRPr>
          </a:p>
        </p:txBody>
      </p:sp>
      <p:grpSp>
        <p:nvGrpSpPr>
          <p:cNvPr id="19" name="object 19" descr=""/>
          <p:cNvGrpSpPr/>
          <p:nvPr/>
        </p:nvGrpSpPr>
        <p:grpSpPr>
          <a:xfrm>
            <a:off x="6367436" y="3323117"/>
            <a:ext cx="1744980" cy="709295"/>
            <a:chOff x="6367436" y="3323117"/>
            <a:chExt cx="1744980" cy="709295"/>
          </a:xfrm>
        </p:grpSpPr>
        <p:sp>
          <p:nvSpPr>
            <p:cNvPr id="20" name="object 20" descr=""/>
            <p:cNvSpPr/>
            <p:nvPr/>
          </p:nvSpPr>
          <p:spPr>
            <a:xfrm>
              <a:off x="6380136" y="3335817"/>
              <a:ext cx="1719580" cy="683895"/>
            </a:xfrm>
            <a:custGeom>
              <a:avLst/>
              <a:gdLst/>
              <a:ahLst/>
              <a:cxnLst/>
              <a:rect l="l" t="t" r="r" b="b"/>
              <a:pathLst>
                <a:path w="1719579" h="683895">
                  <a:moveTo>
                    <a:pt x="1650949" y="0"/>
                  </a:moveTo>
                  <a:lnTo>
                    <a:pt x="68376" y="0"/>
                  </a:lnTo>
                  <a:lnTo>
                    <a:pt x="41758" y="5374"/>
                  </a:lnTo>
                  <a:lnTo>
                    <a:pt x="20024" y="20029"/>
                  </a:lnTo>
                  <a:lnTo>
                    <a:pt x="5372" y="41764"/>
                  </a:lnTo>
                  <a:lnTo>
                    <a:pt x="0" y="68376"/>
                  </a:lnTo>
                  <a:lnTo>
                    <a:pt x="0" y="615353"/>
                  </a:lnTo>
                  <a:lnTo>
                    <a:pt x="5372" y="641965"/>
                  </a:lnTo>
                  <a:lnTo>
                    <a:pt x="20024" y="663700"/>
                  </a:lnTo>
                  <a:lnTo>
                    <a:pt x="41758" y="678355"/>
                  </a:lnTo>
                  <a:lnTo>
                    <a:pt x="68376" y="683729"/>
                  </a:lnTo>
                  <a:lnTo>
                    <a:pt x="1650949" y="683729"/>
                  </a:lnTo>
                  <a:lnTo>
                    <a:pt x="1677567" y="678355"/>
                  </a:lnTo>
                  <a:lnTo>
                    <a:pt x="1699301" y="663700"/>
                  </a:lnTo>
                  <a:lnTo>
                    <a:pt x="1713953" y="641965"/>
                  </a:lnTo>
                  <a:lnTo>
                    <a:pt x="1719326" y="615353"/>
                  </a:lnTo>
                  <a:lnTo>
                    <a:pt x="1719326" y="68376"/>
                  </a:lnTo>
                  <a:lnTo>
                    <a:pt x="1713953" y="41764"/>
                  </a:lnTo>
                  <a:lnTo>
                    <a:pt x="1699301" y="20029"/>
                  </a:lnTo>
                  <a:lnTo>
                    <a:pt x="1677567" y="5374"/>
                  </a:lnTo>
                  <a:lnTo>
                    <a:pt x="1650949" y="0"/>
                  </a:lnTo>
                  <a:close/>
                </a:path>
              </a:pathLst>
            </a:custGeom>
            <a:solidFill>
              <a:srgbClr val="2D2D8A"/>
            </a:solidFill>
          </p:spPr>
          <p:txBody>
            <a:bodyPr wrap="square" lIns="0" tIns="0" rIns="0" bIns="0" rtlCol="0"/>
            <a:lstStyle/>
            <a:p/>
          </p:txBody>
        </p:sp>
        <p:sp>
          <p:nvSpPr>
            <p:cNvPr id="21" name="object 21" descr=""/>
            <p:cNvSpPr/>
            <p:nvPr/>
          </p:nvSpPr>
          <p:spPr>
            <a:xfrm>
              <a:off x="6380136" y="3335817"/>
              <a:ext cx="1719580" cy="683895"/>
            </a:xfrm>
            <a:custGeom>
              <a:avLst/>
              <a:gdLst/>
              <a:ahLst/>
              <a:cxnLst/>
              <a:rect l="l" t="t" r="r" b="b"/>
              <a:pathLst>
                <a:path w="1719579" h="683895">
                  <a:moveTo>
                    <a:pt x="0" y="68376"/>
                  </a:moveTo>
                  <a:lnTo>
                    <a:pt x="5372" y="41764"/>
                  </a:lnTo>
                  <a:lnTo>
                    <a:pt x="20024" y="20029"/>
                  </a:lnTo>
                  <a:lnTo>
                    <a:pt x="41758" y="5374"/>
                  </a:lnTo>
                  <a:lnTo>
                    <a:pt x="68376" y="0"/>
                  </a:lnTo>
                  <a:lnTo>
                    <a:pt x="1650949" y="0"/>
                  </a:lnTo>
                  <a:lnTo>
                    <a:pt x="1677567" y="5374"/>
                  </a:lnTo>
                  <a:lnTo>
                    <a:pt x="1699301" y="20029"/>
                  </a:lnTo>
                  <a:lnTo>
                    <a:pt x="1713953" y="41764"/>
                  </a:lnTo>
                  <a:lnTo>
                    <a:pt x="1719326" y="68376"/>
                  </a:lnTo>
                  <a:lnTo>
                    <a:pt x="1719326" y="615353"/>
                  </a:lnTo>
                  <a:lnTo>
                    <a:pt x="1713953" y="641965"/>
                  </a:lnTo>
                  <a:lnTo>
                    <a:pt x="1699301" y="663700"/>
                  </a:lnTo>
                  <a:lnTo>
                    <a:pt x="1677567" y="678355"/>
                  </a:lnTo>
                  <a:lnTo>
                    <a:pt x="1650949" y="683729"/>
                  </a:lnTo>
                  <a:lnTo>
                    <a:pt x="68376" y="683729"/>
                  </a:lnTo>
                  <a:lnTo>
                    <a:pt x="41758" y="678355"/>
                  </a:lnTo>
                  <a:lnTo>
                    <a:pt x="20024" y="663700"/>
                  </a:lnTo>
                  <a:lnTo>
                    <a:pt x="5372" y="641965"/>
                  </a:lnTo>
                  <a:lnTo>
                    <a:pt x="0" y="615353"/>
                  </a:lnTo>
                  <a:lnTo>
                    <a:pt x="0" y="68376"/>
                  </a:lnTo>
                  <a:close/>
                </a:path>
              </a:pathLst>
            </a:custGeom>
            <a:ln w="25400">
              <a:solidFill>
                <a:srgbClr val="FFFFFF"/>
              </a:solidFill>
            </a:ln>
          </p:spPr>
          <p:txBody>
            <a:bodyPr wrap="square" lIns="0" tIns="0" rIns="0" bIns="0" rtlCol="0"/>
            <a:lstStyle/>
            <a:p/>
          </p:txBody>
        </p:sp>
      </p:grpSp>
      <p:sp>
        <p:nvSpPr>
          <p:cNvPr id="22" name="object 22" descr=""/>
          <p:cNvSpPr txBox="1"/>
          <p:nvPr/>
        </p:nvSpPr>
        <p:spPr>
          <a:xfrm>
            <a:off x="6465035" y="3396376"/>
            <a:ext cx="1549400" cy="482600"/>
          </a:xfrm>
          <a:prstGeom prst="rect">
            <a:avLst/>
          </a:prstGeom>
        </p:spPr>
        <p:txBody>
          <a:bodyPr wrap="square" lIns="0" tIns="12700" rIns="0" bIns="0" rtlCol="0" vert="horz">
            <a:spAutoFit/>
          </a:bodyPr>
          <a:lstStyle/>
          <a:p>
            <a:pPr marL="12700">
              <a:lnSpc>
                <a:spcPct val="100000"/>
              </a:lnSpc>
              <a:spcBef>
                <a:spcPts val="100"/>
              </a:spcBef>
            </a:pPr>
            <a:r>
              <a:rPr dirty="0" sz="3000" spc="-15">
                <a:solidFill>
                  <a:srgbClr val="FFFFFF"/>
                </a:solidFill>
                <a:latin typeface="SimSun"/>
                <a:cs typeface="SimSun"/>
              </a:rPr>
              <a:t>联调测试</a:t>
            </a:r>
            <a:endParaRPr sz="3000">
              <a:latin typeface="SimSun"/>
              <a:cs typeface="SimSun"/>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02813" y="113125"/>
            <a:ext cx="3279140" cy="513080"/>
          </a:xfrm>
          <a:prstGeom prst="rect"/>
        </p:spPr>
        <p:txBody>
          <a:bodyPr wrap="square" lIns="0" tIns="12065" rIns="0" bIns="0" rtlCol="0" vert="horz">
            <a:spAutoFit/>
          </a:bodyPr>
          <a:lstStyle/>
          <a:p>
            <a:pPr marL="12700">
              <a:lnSpc>
                <a:spcPct val="100000"/>
              </a:lnSpc>
              <a:spcBef>
                <a:spcPts val="95"/>
              </a:spcBef>
            </a:pPr>
            <a:r>
              <a:rPr dirty="0" spc="-45"/>
              <a:t>开通调测环境说明</a:t>
            </a:r>
          </a:p>
        </p:txBody>
      </p:sp>
      <p:sp>
        <p:nvSpPr>
          <p:cNvPr id="3" name="object 3" descr=""/>
          <p:cNvSpPr txBox="1"/>
          <p:nvPr/>
        </p:nvSpPr>
        <p:spPr>
          <a:xfrm>
            <a:off x="251518" y="1228531"/>
            <a:ext cx="8641080" cy="1847850"/>
          </a:xfrm>
          <a:prstGeom prst="rect">
            <a:avLst/>
          </a:prstGeom>
          <a:ln w="12700">
            <a:solidFill>
              <a:srgbClr val="000000"/>
            </a:solidFill>
          </a:ln>
        </p:spPr>
        <p:txBody>
          <a:bodyPr wrap="square" lIns="0" tIns="99060" rIns="0" bIns="0" rtlCol="0" vert="horz">
            <a:spAutoFit/>
          </a:bodyPr>
          <a:lstStyle/>
          <a:p>
            <a:pPr marL="90805">
              <a:lnSpc>
                <a:spcPct val="100000"/>
              </a:lnSpc>
              <a:spcBef>
                <a:spcPts val="780"/>
              </a:spcBef>
            </a:pPr>
            <a:r>
              <a:rPr dirty="0" sz="1200" spc="-10">
                <a:latin typeface="SimSun"/>
                <a:cs typeface="SimSun"/>
              </a:rPr>
              <a:t>硬件型号：</a:t>
            </a:r>
            <a:endParaRPr sz="1200">
              <a:latin typeface="SimSun"/>
              <a:cs typeface="SimSun"/>
            </a:endParaRPr>
          </a:p>
          <a:p>
            <a:pPr marL="90805">
              <a:lnSpc>
                <a:spcPct val="100000"/>
              </a:lnSpc>
              <a:spcBef>
                <a:spcPts val="720"/>
              </a:spcBef>
            </a:pPr>
            <a:r>
              <a:rPr dirty="0" sz="1200" spc="-10">
                <a:latin typeface="Arial MT"/>
                <a:cs typeface="Arial MT"/>
              </a:rPr>
              <a:t>1</a:t>
            </a:r>
            <a:r>
              <a:rPr dirty="0" sz="1200" spc="-5">
                <a:latin typeface="SimSun"/>
                <a:cs typeface="SimSun"/>
              </a:rPr>
              <a:t>、主控板型号：</a:t>
            </a:r>
            <a:r>
              <a:rPr dirty="0" sz="1200" spc="-10">
                <a:latin typeface="Arial MT"/>
                <a:cs typeface="Arial MT"/>
              </a:rPr>
              <a:t>HSCTD</a:t>
            </a:r>
            <a:r>
              <a:rPr dirty="0" sz="1200" spc="-10">
                <a:latin typeface="SimSun"/>
                <a:cs typeface="SimSun"/>
              </a:rPr>
              <a:t>（</a:t>
            </a:r>
            <a:r>
              <a:rPr dirty="0" sz="1200" spc="-10">
                <a:latin typeface="Arial MT"/>
                <a:cs typeface="Arial MT"/>
              </a:rPr>
              <a:t>1</a:t>
            </a:r>
            <a:r>
              <a:rPr dirty="0" sz="1200">
                <a:latin typeface="SimSun"/>
                <a:cs typeface="SimSun"/>
              </a:rPr>
              <a:t>槽位</a:t>
            </a:r>
            <a:r>
              <a:rPr dirty="0" sz="1200" spc="-50">
                <a:latin typeface="SimSun"/>
                <a:cs typeface="SimSun"/>
              </a:rPr>
              <a:t>）</a:t>
            </a:r>
            <a:endParaRPr sz="1200">
              <a:latin typeface="SimSun"/>
              <a:cs typeface="SimSun"/>
            </a:endParaRPr>
          </a:p>
          <a:p>
            <a:pPr marL="91440">
              <a:lnSpc>
                <a:spcPct val="100000"/>
              </a:lnSpc>
              <a:spcBef>
                <a:spcPts val="720"/>
              </a:spcBef>
            </a:pPr>
            <a:r>
              <a:rPr dirty="0" sz="1200" spc="-10">
                <a:latin typeface="Arial MT"/>
                <a:cs typeface="Arial MT"/>
              </a:rPr>
              <a:t>2</a:t>
            </a:r>
            <a:r>
              <a:rPr dirty="0" sz="1200" spc="-5">
                <a:latin typeface="SimSun"/>
                <a:cs typeface="SimSun"/>
              </a:rPr>
              <a:t>、基带板型号：</a:t>
            </a:r>
            <a:r>
              <a:rPr dirty="0" sz="1200" spc="-10">
                <a:latin typeface="Arial MT"/>
                <a:cs typeface="Arial MT"/>
              </a:rPr>
              <a:t>HBPOD</a:t>
            </a:r>
            <a:r>
              <a:rPr dirty="0" sz="1200" spc="-10">
                <a:latin typeface="SimSun"/>
                <a:cs typeface="SimSun"/>
              </a:rPr>
              <a:t>（</a:t>
            </a:r>
            <a:r>
              <a:rPr dirty="0" sz="1200" spc="-10">
                <a:latin typeface="Arial MT"/>
                <a:cs typeface="Arial MT"/>
              </a:rPr>
              <a:t>3</a:t>
            </a:r>
            <a:r>
              <a:rPr dirty="0" sz="1200" spc="-5">
                <a:latin typeface="SimSun"/>
                <a:cs typeface="SimSun"/>
              </a:rPr>
              <a:t>块基带板，</a:t>
            </a:r>
            <a:r>
              <a:rPr dirty="0" sz="1200" spc="-10">
                <a:latin typeface="Arial MT"/>
                <a:cs typeface="Arial MT"/>
              </a:rPr>
              <a:t>6</a:t>
            </a:r>
            <a:r>
              <a:rPr dirty="0" sz="1200">
                <a:latin typeface="SimSun"/>
                <a:cs typeface="SimSun"/>
              </a:rPr>
              <a:t>、</a:t>
            </a:r>
            <a:r>
              <a:rPr dirty="0" sz="1200" spc="-10">
                <a:latin typeface="Arial MT"/>
                <a:cs typeface="Arial MT"/>
              </a:rPr>
              <a:t>8</a:t>
            </a:r>
            <a:r>
              <a:rPr dirty="0" sz="1200">
                <a:latin typeface="SimSun"/>
                <a:cs typeface="SimSun"/>
              </a:rPr>
              <a:t>、</a:t>
            </a:r>
            <a:r>
              <a:rPr dirty="0" sz="1200" spc="-10">
                <a:latin typeface="Arial MT"/>
                <a:cs typeface="Arial MT"/>
              </a:rPr>
              <a:t>10</a:t>
            </a:r>
            <a:r>
              <a:rPr dirty="0" sz="1200">
                <a:latin typeface="SimSun"/>
                <a:cs typeface="SimSun"/>
              </a:rPr>
              <a:t>槽位</a:t>
            </a:r>
            <a:r>
              <a:rPr dirty="0" sz="1200" spc="-50">
                <a:latin typeface="SimSun"/>
                <a:cs typeface="SimSun"/>
              </a:rPr>
              <a:t>）</a:t>
            </a:r>
            <a:endParaRPr sz="1200">
              <a:latin typeface="SimSun"/>
              <a:cs typeface="SimSun"/>
            </a:endParaRPr>
          </a:p>
          <a:p>
            <a:pPr marL="90805">
              <a:lnSpc>
                <a:spcPct val="100000"/>
              </a:lnSpc>
              <a:spcBef>
                <a:spcPts val="720"/>
              </a:spcBef>
            </a:pPr>
            <a:r>
              <a:rPr dirty="0" sz="1200" spc="-10">
                <a:latin typeface="Arial MT"/>
                <a:cs typeface="Arial MT"/>
              </a:rPr>
              <a:t>3</a:t>
            </a:r>
            <a:r>
              <a:rPr dirty="0" sz="1200">
                <a:latin typeface="SimSun"/>
                <a:cs typeface="SimSun"/>
              </a:rPr>
              <a:t>、</a:t>
            </a:r>
            <a:r>
              <a:rPr dirty="0" sz="1200" spc="-10">
                <a:latin typeface="Arial MT"/>
                <a:cs typeface="Arial MT"/>
              </a:rPr>
              <a:t>AAU</a:t>
            </a:r>
            <a:r>
              <a:rPr dirty="0" sz="1200" spc="110">
                <a:latin typeface="SimSun"/>
                <a:cs typeface="SimSun"/>
              </a:rPr>
              <a:t>型号： </a:t>
            </a:r>
            <a:r>
              <a:rPr dirty="0" sz="1200" spc="-10">
                <a:latin typeface="Arial MT"/>
                <a:cs typeface="Arial MT"/>
              </a:rPr>
              <a:t>TDAU5164N41</a:t>
            </a:r>
            <a:r>
              <a:rPr dirty="0" sz="1200" spc="-5">
                <a:latin typeface="SimSun"/>
                <a:cs typeface="SimSun"/>
              </a:rPr>
              <a:t>，光模块</a:t>
            </a:r>
            <a:r>
              <a:rPr dirty="0" sz="1200" spc="-20">
                <a:latin typeface="Arial MT"/>
                <a:cs typeface="Arial MT"/>
              </a:rPr>
              <a:t>100G</a:t>
            </a:r>
            <a:endParaRPr sz="1200">
              <a:latin typeface="Arial MT"/>
              <a:cs typeface="Arial MT"/>
            </a:endParaRPr>
          </a:p>
          <a:p>
            <a:pPr marL="90805">
              <a:lnSpc>
                <a:spcPct val="100000"/>
              </a:lnSpc>
              <a:spcBef>
                <a:spcPts val="720"/>
              </a:spcBef>
            </a:pPr>
            <a:r>
              <a:rPr dirty="0" sz="1200" spc="-10">
                <a:latin typeface="Arial MT"/>
                <a:cs typeface="Arial MT"/>
              </a:rPr>
              <a:t>4</a:t>
            </a:r>
            <a:r>
              <a:rPr dirty="0" sz="1200">
                <a:latin typeface="SimSun"/>
                <a:cs typeface="SimSun"/>
              </a:rPr>
              <a:t>、电源</a:t>
            </a:r>
            <a:r>
              <a:rPr dirty="0" sz="1200" spc="-10">
                <a:latin typeface="Arial MT"/>
                <a:cs typeface="Arial MT"/>
              </a:rPr>
              <a:t>&amp;</a:t>
            </a:r>
            <a:r>
              <a:rPr dirty="0" sz="1200" spc="-60">
                <a:latin typeface="SimSun"/>
                <a:cs typeface="SimSun"/>
              </a:rPr>
              <a:t>监控： </a:t>
            </a:r>
            <a:r>
              <a:rPr dirty="0" sz="1200" spc="-10">
                <a:latin typeface="Arial MT"/>
                <a:cs typeface="Arial MT"/>
              </a:rPr>
              <a:t>HDPSD</a:t>
            </a:r>
            <a:r>
              <a:rPr dirty="0" sz="1200" spc="-10">
                <a:latin typeface="SimSun"/>
                <a:cs typeface="SimSun"/>
              </a:rPr>
              <a:t>（</a:t>
            </a:r>
            <a:r>
              <a:rPr dirty="0" sz="1200" spc="-10">
                <a:latin typeface="Arial MT"/>
                <a:cs typeface="Arial MT"/>
              </a:rPr>
              <a:t>4</a:t>
            </a:r>
            <a:r>
              <a:rPr dirty="0" sz="1200">
                <a:latin typeface="SimSun"/>
                <a:cs typeface="SimSun"/>
              </a:rPr>
              <a:t>和</a:t>
            </a:r>
            <a:r>
              <a:rPr dirty="0" sz="1200" spc="-10">
                <a:latin typeface="Arial MT"/>
                <a:cs typeface="Arial MT"/>
              </a:rPr>
              <a:t>5</a:t>
            </a:r>
            <a:r>
              <a:rPr dirty="0" sz="1200">
                <a:latin typeface="SimSun"/>
                <a:cs typeface="SimSun"/>
              </a:rPr>
              <a:t>槽位</a:t>
            </a:r>
            <a:r>
              <a:rPr dirty="0" sz="1200" spc="-50">
                <a:latin typeface="SimSun"/>
                <a:cs typeface="SimSun"/>
              </a:rPr>
              <a:t>）</a:t>
            </a:r>
            <a:endParaRPr sz="1200">
              <a:latin typeface="SimSun"/>
              <a:cs typeface="SimSun"/>
            </a:endParaRPr>
          </a:p>
          <a:p>
            <a:pPr marL="90805">
              <a:lnSpc>
                <a:spcPct val="100000"/>
              </a:lnSpc>
              <a:spcBef>
                <a:spcPts val="720"/>
              </a:spcBef>
              <a:tabLst>
                <a:tab pos="1217295" algn="l"/>
              </a:tabLst>
            </a:pPr>
            <a:r>
              <a:rPr dirty="0" sz="1200" spc="-10">
                <a:latin typeface="Arial MT"/>
                <a:cs typeface="Arial MT"/>
              </a:rPr>
              <a:t>5</a:t>
            </a:r>
            <a:r>
              <a:rPr dirty="0" sz="1200">
                <a:latin typeface="SimSun"/>
                <a:cs typeface="SimSun"/>
              </a:rPr>
              <a:t>、天线信息</a:t>
            </a:r>
            <a:r>
              <a:rPr dirty="0" sz="1200" spc="-50">
                <a:latin typeface="SimSun"/>
                <a:cs typeface="SimSun"/>
              </a:rPr>
              <a:t>：</a:t>
            </a:r>
            <a:r>
              <a:rPr dirty="0" sz="1200">
                <a:latin typeface="SimSun"/>
                <a:cs typeface="SimSun"/>
              </a:rPr>
              <a:t>	</a:t>
            </a:r>
            <a:r>
              <a:rPr dirty="0" sz="1200" spc="-10">
                <a:latin typeface="Arial MT"/>
                <a:cs typeface="Arial MT"/>
              </a:rPr>
              <a:t>64</a:t>
            </a:r>
            <a:r>
              <a:rPr dirty="0" sz="1200">
                <a:latin typeface="SimSun"/>
                <a:cs typeface="SimSun"/>
              </a:rPr>
              <a:t>通道天线</a:t>
            </a:r>
            <a:r>
              <a:rPr dirty="0" sz="1200" spc="-10">
                <a:latin typeface="SimSun"/>
                <a:cs typeface="SimSun"/>
              </a:rPr>
              <a:t>（</a:t>
            </a:r>
            <a:r>
              <a:rPr dirty="0" sz="1200" spc="-10">
                <a:latin typeface="Arial MT"/>
                <a:cs typeface="Arial MT"/>
              </a:rPr>
              <a:t>SA</a:t>
            </a:r>
            <a:r>
              <a:rPr dirty="0" sz="1200" spc="-10">
                <a:latin typeface="SimSun"/>
                <a:cs typeface="SimSun"/>
              </a:rPr>
              <a:t>：</a:t>
            </a:r>
            <a:r>
              <a:rPr dirty="0" sz="1200">
                <a:latin typeface="SimSun"/>
                <a:cs typeface="SimSun"/>
              </a:rPr>
              <a:t>虹信</a:t>
            </a:r>
            <a:r>
              <a:rPr dirty="0" sz="1200">
                <a:latin typeface="Arial MT"/>
                <a:cs typeface="Arial MT"/>
              </a:rPr>
              <a:t>HXMM6XT10M</a:t>
            </a:r>
            <a:r>
              <a:rPr dirty="0" sz="1200" spc="-5">
                <a:latin typeface="Arial MT"/>
                <a:cs typeface="Arial MT"/>
              </a:rPr>
              <a:t> </a:t>
            </a:r>
            <a:r>
              <a:rPr dirty="0" sz="1200">
                <a:latin typeface="SimSun"/>
                <a:cs typeface="SimSun"/>
              </a:rPr>
              <a:t>或</a:t>
            </a:r>
            <a:r>
              <a:rPr dirty="0" sz="1200" spc="80">
                <a:latin typeface="SimSun"/>
                <a:cs typeface="SimSun"/>
              </a:rPr>
              <a:t> </a:t>
            </a:r>
            <a:r>
              <a:rPr dirty="0" sz="1200" spc="-10">
                <a:latin typeface="Arial MT"/>
                <a:cs typeface="Arial MT"/>
              </a:rPr>
              <a:t>NSA</a:t>
            </a:r>
            <a:r>
              <a:rPr dirty="0" sz="1200" spc="-10">
                <a:latin typeface="SimSun"/>
                <a:cs typeface="SimSun"/>
              </a:rPr>
              <a:t>：</a:t>
            </a:r>
            <a:r>
              <a:rPr dirty="0" sz="1200">
                <a:latin typeface="SimSun"/>
                <a:cs typeface="SimSun"/>
              </a:rPr>
              <a:t>通宇</a:t>
            </a:r>
            <a:r>
              <a:rPr dirty="0" sz="1200" spc="-10">
                <a:latin typeface="Arial MT"/>
                <a:cs typeface="Arial MT"/>
              </a:rPr>
              <a:t>T335BC84A01</a:t>
            </a:r>
            <a:r>
              <a:rPr dirty="0" sz="1200" spc="-10">
                <a:latin typeface="SimSun"/>
                <a:cs typeface="SimSun"/>
              </a:rPr>
              <a:t>）</a:t>
            </a:r>
            <a:endParaRPr sz="1200">
              <a:latin typeface="SimSun"/>
              <a:cs typeface="SimSun"/>
            </a:endParaRPr>
          </a:p>
        </p:txBody>
      </p:sp>
      <p:sp>
        <p:nvSpPr>
          <p:cNvPr id="4" name="object 4" descr=""/>
          <p:cNvSpPr txBox="1"/>
          <p:nvPr/>
        </p:nvSpPr>
        <p:spPr>
          <a:xfrm>
            <a:off x="251519" y="3185720"/>
            <a:ext cx="8641080" cy="1554480"/>
          </a:xfrm>
          <a:prstGeom prst="rect">
            <a:avLst/>
          </a:prstGeom>
          <a:ln w="12700">
            <a:solidFill>
              <a:srgbClr val="000000"/>
            </a:solidFill>
          </a:ln>
        </p:spPr>
        <p:txBody>
          <a:bodyPr wrap="square" lIns="0" tIns="99060" rIns="0" bIns="0" rtlCol="0" vert="horz">
            <a:spAutoFit/>
          </a:bodyPr>
          <a:lstStyle/>
          <a:p>
            <a:pPr marL="90805">
              <a:lnSpc>
                <a:spcPct val="100000"/>
              </a:lnSpc>
              <a:spcBef>
                <a:spcPts val="780"/>
              </a:spcBef>
            </a:pPr>
            <a:r>
              <a:rPr dirty="0" sz="1200" spc="-10" b="1">
                <a:latin typeface="Arial"/>
                <a:cs typeface="Arial"/>
              </a:rPr>
              <a:t>NSA</a:t>
            </a:r>
            <a:r>
              <a:rPr dirty="0" sz="1200" spc="-10">
                <a:latin typeface="SimSun"/>
                <a:cs typeface="SimSun"/>
              </a:rPr>
              <a:t>基站版本：</a:t>
            </a:r>
            <a:endParaRPr sz="1200">
              <a:latin typeface="SimSun"/>
              <a:cs typeface="SimSun"/>
            </a:endParaRPr>
          </a:p>
          <a:p>
            <a:pPr marL="90805">
              <a:lnSpc>
                <a:spcPct val="100000"/>
              </a:lnSpc>
              <a:spcBef>
                <a:spcPts val="720"/>
              </a:spcBef>
            </a:pPr>
            <a:r>
              <a:rPr dirty="0" sz="1200" spc="-10">
                <a:latin typeface="Arial MT"/>
                <a:cs typeface="Arial MT"/>
              </a:rPr>
              <a:t>EMB6116_5G_GNB_V0.90.00.03_20190102</a:t>
            </a:r>
            <a:endParaRPr sz="1200">
              <a:latin typeface="Arial MT"/>
              <a:cs typeface="Arial MT"/>
            </a:endParaRPr>
          </a:p>
          <a:p>
            <a:pPr marL="91440">
              <a:lnSpc>
                <a:spcPct val="100000"/>
              </a:lnSpc>
              <a:spcBef>
                <a:spcPts val="720"/>
              </a:spcBef>
            </a:pPr>
            <a:r>
              <a:rPr dirty="0" sz="1200" spc="-10" b="1">
                <a:latin typeface="Arial"/>
                <a:cs typeface="Arial"/>
              </a:rPr>
              <a:t>SA</a:t>
            </a:r>
            <a:r>
              <a:rPr dirty="0" sz="1200" spc="-10">
                <a:latin typeface="SimSun"/>
                <a:cs typeface="SimSun"/>
              </a:rPr>
              <a:t>基站版本：</a:t>
            </a:r>
            <a:endParaRPr sz="1200">
              <a:latin typeface="SimSun"/>
              <a:cs typeface="SimSun"/>
            </a:endParaRPr>
          </a:p>
          <a:p>
            <a:pPr marL="90805">
              <a:lnSpc>
                <a:spcPct val="100000"/>
              </a:lnSpc>
              <a:spcBef>
                <a:spcPts val="720"/>
              </a:spcBef>
            </a:pPr>
            <a:r>
              <a:rPr dirty="0" sz="1200" spc="-10">
                <a:latin typeface="Arial MT"/>
                <a:cs typeface="Arial MT"/>
              </a:rPr>
              <a:t>EMB6116_5G_GNB_V0.90.00.02_20181130</a:t>
            </a:r>
            <a:endParaRPr sz="1200">
              <a:latin typeface="Arial MT"/>
              <a:cs typeface="Arial MT"/>
            </a:endParaRPr>
          </a:p>
          <a:p>
            <a:pPr marL="90805">
              <a:lnSpc>
                <a:spcPct val="100000"/>
              </a:lnSpc>
              <a:spcBef>
                <a:spcPts val="860"/>
              </a:spcBef>
            </a:pPr>
            <a:r>
              <a:rPr dirty="0" sz="1200">
                <a:latin typeface="SimSun"/>
                <a:cs typeface="SimSun"/>
              </a:rPr>
              <a:t>注：本教材基于</a:t>
            </a:r>
            <a:r>
              <a:rPr dirty="0" sz="1200" spc="-10">
                <a:latin typeface="Arial MT"/>
                <a:cs typeface="Arial MT"/>
              </a:rPr>
              <a:t>NSA</a:t>
            </a:r>
            <a:r>
              <a:rPr dirty="0" sz="1200">
                <a:latin typeface="SimSun"/>
                <a:cs typeface="SimSun"/>
              </a:rPr>
              <a:t>版本开发</a:t>
            </a:r>
            <a:r>
              <a:rPr dirty="0" sz="1600" spc="-50">
                <a:latin typeface="SimSun"/>
                <a:cs typeface="SimSun"/>
              </a:rPr>
              <a:t>。</a:t>
            </a:r>
            <a:endParaRPr sz="1600">
              <a:latin typeface="SimSun"/>
              <a:cs typeface="SimSun"/>
            </a:endParaRPr>
          </a:p>
        </p:txBody>
      </p:sp>
      <p:sp>
        <p:nvSpPr>
          <p:cNvPr id="5" name="object 5" descr=""/>
          <p:cNvSpPr txBox="1"/>
          <p:nvPr/>
        </p:nvSpPr>
        <p:spPr>
          <a:xfrm>
            <a:off x="330316" y="893784"/>
            <a:ext cx="2059939" cy="269875"/>
          </a:xfrm>
          <a:prstGeom prst="rect">
            <a:avLst/>
          </a:prstGeom>
        </p:spPr>
        <p:txBody>
          <a:bodyPr wrap="square" lIns="0" tIns="12700" rIns="0" bIns="0" rtlCol="0" vert="horz">
            <a:spAutoFit/>
          </a:bodyPr>
          <a:lstStyle/>
          <a:p>
            <a:pPr marL="12700">
              <a:lnSpc>
                <a:spcPct val="100000"/>
              </a:lnSpc>
              <a:spcBef>
                <a:spcPts val="100"/>
              </a:spcBef>
            </a:pPr>
            <a:r>
              <a:rPr dirty="0" sz="1600" spc="-5" b="1">
                <a:latin typeface="Microsoft YaHei"/>
                <a:cs typeface="Microsoft YaHei"/>
              </a:rPr>
              <a:t>硬件型号与基站版本：</a:t>
            </a:r>
            <a:endParaRPr sz="1600">
              <a:latin typeface="Microsoft YaHei"/>
              <a:cs typeface="Microsoft YaHei"/>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58567" y="113125"/>
            <a:ext cx="4091940" cy="513080"/>
          </a:xfrm>
          <a:prstGeom prst="rect"/>
        </p:spPr>
        <p:txBody>
          <a:bodyPr wrap="square" lIns="0" tIns="12065" rIns="0" bIns="0" rtlCol="0" vert="horz">
            <a:spAutoFit/>
          </a:bodyPr>
          <a:lstStyle/>
          <a:p>
            <a:pPr marL="12700">
              <a:lnSpc>
                <a:spcPct val="100000"/>
              </a:lnSpc>
              <a:spcBef>
                <a:spcPts val="95"/>
              </a:spcBef>
            </a:pPr>
            <a:r>
              <a:rPr dirty="0" spc="-45"/>
              <a:t>基站配置文件关键参数</a:t>
            </a:r>
          </a:p>
        </p:txBody>
      </p:sp>
      <p:graphicFrame>
        <p:nvGraphicFramePr>
          <p:cNvPr id="3" name="object 3" descr=""/>
          <p:cNvGraphicFramePr>
            <a:graphicFrameLocks noGrp="1"/>
          </p:cNvGraphicFramePr>
          <p:nvPr/>
        </p:nvGraphicFramePr>
        <p:xfrm>
          <a:off x="222250" y="1270000"/>
          <a:ext cx="8729980" cy="3596004"/>
        </p:xfrm>
        <a:graphic>
          <a:graphicData uri="http://schemas.openxmlformats.org/drawingml/2006/table">
            <a:tbl>
              <a:tblPr firstRow="1" bandRow="1">
                <a:tableStyleId>{2D5ABB26-0587-4C30-8999-92F81FD0307C}</a:tableStyleId>
              </a:tblPr>
              <a:tblGrid>
                <a:gridCol w="1255395"/>
                <a:gridCol w="1985010"/>
                <a:gridCol w="1259205"/>
                <a:gridCol w="1477010"/>
                <a:gridCol w="1284604"/>
                <a:gridCol w="1379854"/>
              </a:tblGrid>
              <a:tr h="354965">
                <a:tc>
                  <a:txBody>
                    <a:bodyPr/>
                    <a:lstStyle/>
                    <a:p>
                      <a:pPr algn="ctr">
                        <a:lnSpc>
                          <a:spcPct val="100000"/>
                        </a:lnSpc>
                        <a:spcBef>
                          <a:spcPts val="330"/>
                        </a:spcBef>
                      </a:pPr>
                      <a:r>
                        <a:rPr dirty="0" sz="1600" spc="-30">
                          <a:latin typeface="SimSun"/>
                          <a:cs typeface="SimSun"/>
                        </a:rPr>
                        <a:t>类别</a:t>
                      </a:r>
                      <a:endParaRPr sz="1600">
                        <a:latin typeface="SimSun"/>
                        <a:cs typeface="SimSun"/>
                      </a:endParaRPr>
                    </a:p>
                  </a:txBody>
                  <a:tcPr marL="0" marR="0" marB="0" marT="41910">
                    <a:lnL w="12700">
                      <a:solidFill>
                        <a:srgbClr val="BBE0E3"/>
                      </a:solidFill>
                      <a:prstDash val="solid"/>
                    </a:lnL>
                    <a:lnR w="12700">
                      <a:solidFill>
                        <a:srgbClr val="BBE0E3"/>
                      </a:solidFill>
                      <a:prstDash val="solid"/>
                    </a:lnR>
                    <a:lnT w="12700">
                      <a:solidFill>
                        <a:srgbClr val="BBE0E3"/>
                      </a:solidFill>
                      <a:prstDash val="solid"/>
                    </a:lnT>
                    <a:lnB w="28575">
                      <a:solidFill>
                        <a:srgbClr val="BBE0E3"/>
                      </a:solidFill>
                      <a:prstDash val="solid"/>
                    </a:lnB>
                  </a:tcPr>
                </a:tc>
                <a:tc>
                  <a:txBody>
                    <a:bodyPr/>
                    <a:lstStyle/>
                    <a:p>
                      <a:pPr algn="ctr">
                        <a:lnSpc>
                          <a:spcPct val="100000"/>
                        </a:lnSpc>
                        <a:spcBef>
                          <a:spcPts val="330"/>
                        </a:spcBef>
                      </a:pPr>
                      <a:r>
                        <a:rPr dirty="0" sz="1600">
                          <a:latin typeface="SimSun"/>
                          <a:cs typeface="SimSun"/>
                        </a:rPr>
                        <a:t>参数</a:t>
                      </a:r>
                      <a:r>
                        <a:rPr dirty="0" sz="1600" spc="-50" b="1">
                          <a:latin typeface="Arial"/>
                          <a:cs typeface="Arial"/>
                        </a:rPr>
                        <a:t>1</a:t>
                      </a:r>
                      <a:endParaRPr sz="1600">
                        <a:latin typeface="Arial"/>
                        <a:cs typeface="Arial"/>
                      </a:endParaRPr>
                    </a:p>
                  </a:txBody>
                  <a:tcPr marL="0" marR="0" marB="0" marT="41910">
                    <a:lnL w="12700">
                      <a:solidFill>
                        <a:srgbClr val="BBE0E3"/>
                      </a:solidFill>
                      <a:prstDash val="solid"/>
                    </a:lnL>
                    <a:lnR w="12700">
                      <a:solidFill>
                        <a:srgbClr val="BBE0E3"/>
                      </a:solidFill>
                      <a:prstDash val="solid"/>
                    </a:lnR>
                    <a:lnT w="12700">
                      <a:solidFill>
                        <a:srgbClr val="BBE0E3"/>
                      </a:solidFill>
                      <a:prstDash val="solid"/>
                    </a:lnT>
                    <a:lnB w="28575">
                      <a:solidFill>
                        <a:srgbClr val="BBE0E3"/>
                      </a:solidFill>
                      <a:prstDash val="solid"/>
                    </a:lnB>
                  </a:tcPr>
                </a:tc>
                <a:tc>
                  <a:txBody>
                    <a:bodyPr/>
                    <a:lstStyle/>
                    <a:p>
                      <a:pPr algn="ctr">
                        <a:lnSpc>
                          <a:spcPct val="100000"/>
                        </a:lnSpc>
                        <a:spcBef>
                          <a:spcPts val="330"/>
                        </a:spcBef>
                      </a:pPr>
                      <a:r>
                        <a:rPr dirty="0" sz="1600">
                          <a:latin typeface="SimSun"/>
                          <a:cs typeface="SimSun"/>
                        </a:rPr>
                        <a:t>参数</a:t>
                      </a:r>
                      <a:r>
                        <a:rPr dirty="0" sz="1600" spc="-50" b="1">
                          <a:latin typeface="Arial"/>
                          <a:cs typeface="Arial"/>
                        </a:rPr>
                        <a:t>2</a:t>
                      </a:r>
                      <a:endParaRPr sz="1600">
                        <a:latin typeface="Arial"/>
                        <a:cs typeface="Arial"/>
                      </a:endParaRPr>
                    </a:p>
                  </a:txBody>
                  <a:tcPr marL="0" marR="0" marB="0" marT="41910">
                    <a:lnL w="12700">
                      <a:solidFill>
                        <a:srgbClr val="BBE0E3"/>
                      </a:solidFill>
                      <a:prstDash val="solid"/>
                    </a:lnL>
                    <a:lnR w="12700">
                      <a:solidFill>
                        <a:srgbClr val="BBE0E3"/>
                      </a:solidFill>
                      <a:prstDash val="solid"/>
                    </a:lnR>
                    <a:lnT w="12700">
                      <a:solidFill>
                        <a:srgbClr val="BBE0E3"/>
                      </a:solidFill>
                      <a:prstDash val="solid"/>
                    </a:lnT>
                    <a:lnB w="28575">
                      <a:solidFill>
                        <a:srgbClr val="BBE0E3"/>
                      </a:solidFill>
                      <a:prstDash val="solid"/>
                    </a:lnB>
                  </a:tcPr>
                </a:tc>
                <a:tc>
                  <a:txBody>
                    <a:bodyPr/>
                    <a:lstStyle/>
                    <a:p>
                      <a:pPr algn="ctr">
                        <a:lnSpc>
                          <a:spcPct val="100000"/>
                        </a:lnSpc>
                        <a:spcBef>
                          <a:spcPts val="330"/>
                        </a:spcBef>
                      </a:pPr>
                      <a:r>
                        <a:rPr dirty="0" sz="1600">
                          <a:latin typeface="SimSun"/>
                          <a:cs typeface="SimSun"/>
                        </a:rPr>
                        <a:t>参数</a:t>
                      </a:r>
                      <a:r>
                        <a:rPr dirty="0" sz="1600" spc="-50" b="1">
                          <a:latin typeface="Arial"/>
                          <a:cs typeface="Arial"/>
                        </a:rPr>
                        <a:t>3</a:t>
                      </a:r>
                      <a:endParaRPr sz="1600">
                        <a:latin typeface="Arial"/>
                        <a:cs typeface="Arial"/>
                      </a:endParaRPr>
                    </a:p>
                  </a:txBody>
                  <a:tcPr marL="0" marR="0" marB="0" marT="41910">
                    <a:lnL w="12700">
                      <a:solidFill>
                        <a:srgbClr val="BBE0E3"/>
                      </a:solidFill>
                      <a:prstDash val="solid"/>
                    </a:lnL>
                    <a:lnR w="12700">
                      <a:solidFill>
                        <a:srgbClr val="BBE0E3"/>
                      </a:solidFill>
                      <a:prstDash val="solid"/>
                    </a:lnR>
                    <a:lnT w="12700">
                      <a:solidFill>
                        <a:srgbClr val="BBE0E3"/>
                      </a:solidFill>
                      <a:prstDash val="solid"/>
                    </a:lnT>
                    <a:lnB w="28575">
                      <a:solidFill>
                        <a:srgbClr val="BBE0E3"/>
                      </a:solidFill>
                      <a:prstDash val="solid"/>
                    </a:lnB>
                  </a:tcPr>
                </a:tc>
                <a:tc>
                  <a:txBody>
                    <a:bodyPr/>
                    <a:lstStyle/>
                    <a:p>
                      <a:pPr algn="ctr">
                        <a:lnSpc>
                          <a:spcPct val="100000"/>
                        </a:lnSpc>
                        <a:spcBef>
                          <a:spcPts val="330"/>
                        </a:spcBef>
                      </a:pPr>
                      <a:r>
                        <a:rPr dirty="0" sz="1600">
                          <a:latin typeface="SimSun"/>
                          <a:cs typeface="SimSun"/>
                        </a:rPr>
                        <a:t>参数</a:t>
                      </a:r>
                      <a:r>
                        <a:rPr dirty="0" sz="1600" spc="-50" b="1">
                          <a:latin typeface="Arial"/>
                          <a:cs typeface="Arial"/>
                        </a:rPr>
                        <a:t>4</a:t>
                      </a:r>
                      <a:endParaRPr sz="1600">
                        <a:latin typeface="Arial"/>
                        <a:cs typeface="Arial"/>
                      </a:endParaRPr>
                    </a:p>
                  </a:txBody>
                  <a:tcPr marL="0" marR="0" marB="0" marT="41910">
                    <a:lnL w="12700">
                      <a:solidFill>
                        <a:srgbClr val="BBE0E3"/>
                      </a:solidFill>
                      <a:prstDash val="solid"/>
                    </a:lnL>
                    <a:lnR w="12700">
                      <a:solidFill>
                        <a:srgbClr val="BBE0E3"/>
                      </a:solidFill>
                      <a:prstDash val="solid"/>
                    </a:lnR>
                    <a:lnT w="12700">
                      <a:solidFill>
                        <a:srgbClr val="BBE0E3"/>
                      </a:solidFill>
                      <a:prstDash val="solid"/>
                    </a:lnT>
                    <a:lnB w="28575">
                      <a:solidFill>
                        <a:srgbClr val="BBE0E3"/>
                      </a:solidFill>
                      <a:prstDash val="solid"/>
                    </a:lnB>
                  </a:tcPr>
                </a:tc>
                <a:tc>
                  <a:txBody>
                    <a:bodyPr/>
                    <a:lstStyle/>
                    <a:p>
                      <a:pPr algn="ctr">
                        <a:lnSpc>
                          <a:spcPct val="100000"/>
                        </a:lnSpc>
                        <a:spcBef>
                          <a:spcPts val="330"/>
                        </a:spcBef>
                      </a:pPr>
                      <a:r>
                        <a:rPr dirty="0" sz="1600">
                          <a:latin typeface="SimSun"/>
                          <a:cs typeface="SimSun"/>
                        </a:rPr>
                        <a:t>参数</a:t>
                      </a:r>
                      <a:r>
                        <a:rPr dirty="0" sz="1600" spc="-50" b="1">
                          <a:latin typeface="Arial"/>
                          <a:cs typeface="Arial"/>
                        </a:rPr>
                        <a:t>5</a:t>
                      </a:r>
                      <a:endParaRPr sz="1600">
                        <a:latin typeface="Arial"/>
                        <a:cs typeface="Arial"/>
                      </a:endParaRPr>
                    </a:p>
                  </a:txBody>
                  <a:tcPr marL="0" marR="0" marB="0" marT="41910">
                    <a:lnL w="12700">
                      <a:solidFill>
                        <a:srgbClr val="BBE0E3"/>
                      </a:solidFill>
                      <a:prstDash val="solid"/>
                    </a:lnL>
                    <a:lnR w="12700">
                      <a:solidFill>
                        <a:srgbClr val="BBE0E3"/>
                      </a:solidFill>
                      <a:prstDash val="solid"/>
                    </a:lnR>
                    <a:lnT w="12700">
                      <a:solidFill>
                        <a:srgbClr val="BBE0E3"/>
                      </a:solidFill>
                      <a:prstDash val="solid"/>
                    </a:lnT>
                    <a:lnB w="28575">
                      <a:solidFill>
                        <a:srgbClr val="BBE0E3"/>
                      </a:solidFill>
                      <a:prstDash val="solid"/>
                    </a:lnB>
                  </a:tcPr>
                </a:tc>
              </a:tr>
              <a:tr h="557530">
                <a:tc>
                  <a:txBody>
                    <a:bodyPr/>
                    <a:lstStyle/>
                    <a:p>
                      <a:pPr algn="ctr">
                        <a:lnSpc>
                          <a:spcPct val="100000"/>
                        </a:lnSpc>
                        <a:spcBef>
                          <a:spcPts val="1205"/>
                        </a:spcBef>
                      </a:pPr>
                      <a:r>
                        <a:rPr dirty="0" sz="1600" spc="-15">
                          <a:latin typeface="SimSun"/>
                          <a:cs typeface="SimSun"/>
                        </a:rPr>
                        <a:t>网元信息</a:t>
                      </a:r>
                      <a:endParaRPr sz="1600">
                        <a:latin typeface="SimSun"/>
                        <a:cs typeface="SimSun"/>
                      </a:endParaRPr>
                    </a:p>
                  </a:txBody>
                  <a:tcPr marL="0" marR="0" marB="0" marT="153035">
                    <a:lnL w="12700">
                      <a:solidFill>
                        <a:srgbClr val="BBE0E3"/>
                      </a:solidFill>
                      <a:prstDash val="solid"/>
                    </a:lnL>
                    <a:lnR w="12700">
                      <a:solidFill>
                        <a:srgbClr val="BBE0E3"/>
                      </a:solidFill>
                      <a:prstDash val="solid"/>
                    </a:lnR>
                    <a:lnT w="28575">
                      <a:solidFill>
                        <a:srgbClr val="BBE0E3"/>
                      </a:solidFill>
                      <a:prstDash val="solid"/>
                    </a:lnT>
                    <a:lnB w="12700">
                      <a:solidFill>
                        <a:srgbClr val="BBE0E3"/>
                      </a:solidFill>
                      <a:prstDash val="solid"/>
                    </a:lnB>
                    <a:solidFill>
                      <a:srgbClr val="BBE0E3">
                        <a:alpha val="19999"/>
                      </a:srgbClr>
                    </a:solidFill>
                  </a:tcPr>
                </a:tc>
                <a:tc>
                  <a:txBody>
                    <a:bodyPr/>
                    <a:lstStyle/>
                    <a:p>
                      <a:pPr algn="ctr" marL="635">
                        <a:lnSpc>
                          <a:spcPct val="100000"/>
                        </a:lnSpc>
                        <a:spcBef>
                          <a:spcPts val="1205"/>
                        </a:spcBef>
                      </a:pPr>
                      <a:r>
                        <a:rPr dirty="0" sz="1600" spc="-5">
                          <a:latin typeface="SimSun"/>
                          <a:cs typeface="SimSun"/>
                        </a:rPr>
                        <a:t>网元标识</a:t>
                      </a:r>
                      <a:r>
                        <a:rPr dirty="0" sz="1600">
                          <a:latin typeface="SimSun"/>
                          <a:cs typeface="SimSun"/>
                        </a:rPr>
                        <a:t>（</a:t>
                      </a:r>
                      <a:r>
                        <a:rPr dirty="0" sz="1600" spc="-5">
                          <a:latin typeface="SimSun"/>
                          <a:cs typeface="SimSun"/>
                        </a:rPr>
                        <a:t>逻辑</a:t>
                      </a:r>
                      <a:r>
                        <a:rPr dirty="0" sz="1600" spc="-25">
                          <a:latin typeface="Arial MT"/>
                          <a:cs typeface="Arial MT"/>
                        </a:rPr>
                        <a:t>ID</a:t>
                      </a:r>
                      <a:r>
                        <a:rPr dirty="0" sz="1600" spc="-25">
                          <a:latin typeface="SimSun"/>
                          <a:cs typeface="SimSun"/>
                        </a:rPr>
                        <a:t>）</a:t>
                      </a:r>
                      <a:endParaRPr sz="1600">
                        <a:latin typeface="SimSun"/>
                        <a:cs typeface="SimSun"/>
                      </a:endParaRPr>
                    </a:p>
                  </a:txBody>
                  <a:tcPr marL="0" marR="0" marB="0" marT="153035">
                    <a:lnL w="12700">
                      <a:solidFill>
                        <a:srgbClr val="BBE0E3"/>
                      </a:solidFill>
                      <a:prstDash val="solid"/>
                    </a:lnL>
                    <a:lnR w="12700">
                      <a:solidFill>
                        <a:srgbClr val="BBE0E3"/>
                      </a:solidFill>
                      <a:prstDash val="solid"/>
                    </a:lnR>
                    <a:lnT w="28575">
                      <a:solidFill>
                        <a:srgbClr val="BBE0E3"/>
                      </a:solidFill>
                      <a:prstDash val="solid"/>
                    </a:lnT>
                    <a:lnB w="12700">
                      <a:solidFill>
                        <a:srgbClr val="BBE0E3"/>
                      </a:solidFill>
                      <a:prstDash val="solid"/>
                    </a:lnB>
                    <a:solidFill>
                      <a:srgbClr val="BBE0E3">
                        <a:alpha val="19999"/>
                      </a:srgbClr>
                    </a:solidFill>
                  </a:tcPr>
                </a:tc>
                <a:tc>
                  <a:txBody>
                    <a:bodyPr/>
                    <a:lstStyle/>
                    <a:p>
                      <a:pPr algn="ctr">
                        <a:lnSpc>
                          <a:spcPct val="100000"/>
                        </a:lnSpc>
                        <a:spcBef>
                          <a:spcPts val="1205"/>
                        </a:spcBef>
                      </a:pPr>
                      <a:r>
                        <a:rPr dirty="0" sz="1600" spc="-10">
                          <a:latin typeface="SimSun"/>
                          <a:cs typeface="SimSun"/>
                        </a:rPr>
                        <a:t>设备友好名</a:t>
                      </a:r>
                      <a:endParaRPr sz="1600">
                        <a:latin typeface="SimSun"/>
                        <a:cs typeface="SimSun"/>
                      </a:endParaRPr>
                    </a:p>
                  </a:txBody>
                  <a:tcPr marL="0" marR="0" marB="0" marT="153035">
                    <a:lnL w="12700">
                      <a:solidFill>
                        <a:srgbClr val="BBE0E3"/>
                      </a:solidFill>
                      <a:prstDash val="solid"/>
                    </a:lnL>
                    <a:lnR w="12700">
                      <a:solidFill>
                        <a:srgbClr val="BBE0E3"/>
                      </a:solidFill>
                      <a:prstDash val="solid"/>
                    </a:lnR>
                    <a:lnT w="28575">
                      <a:solidFill>
                        <a:srgbClr val="BBE0E3"/>
                      </a:solidFill>
                      <a:prstDash val="solid"/>
                    </a:lnT>
                    <a:lnB w="12700">
                      <a:solidFill>
                        <a:srgbClr val="BBE0E3"/>
                      </a:solidFill>
                      <a:prstDash val="solid"/>
                    </a:lnB>
                    <a:solidFill>
                      <a:srgbClr val="BBE0E3">
                        <a:alpha val="19999"/>
                      </a:srgbClr>
                    </a:solidFill>
                  </a:tcPr>
                </a:tc>
                <a:tc>
                  <a:txBody>
                    <a:bodyPr/>
                    <a:lstStyle/>
                    <a:p>
                      <a:pPr algn="ctr">
                        <a:lnSpc>
                          <a:spcPct val="100000"/>
                        </a:lnSpc>
                        <a:spcBef>
                          <a:spcPts val="1205"/>
                        </a:spcBef>
                      </a:pPr>
                      <a:r>
                        <a:rPr dirty="0" sz="1600">
                          <a:latin typeface="SimSun"/>
                          <a:cs typeface="SimSun"/>
                        </a:rPr>
                        <a:t>基站物理</a:t>
                      </a:r>
                      <a:r>
                        <a:rPr dirty="0" sz="1600" spc="-25">
                          <a:latin typeface="Arial MT"/>
                          <a:cs typeface="Arial MT"/>
                        </a:rPr>
                        <a:t>ID</a:t>
                      </a:r>
                      <a:endParaRPr sz="1600">
                        <a:latin typeface="Arial MT"/>
                        <a:cs typeface="Arial MT"/>
                      </a:endParaRPr>
                    </a:p>
                  </a:txBody>
                  <a:tcPr marL="0" marR="0" marB="0" marT="153035">
                    <a:lnL w="12700">
                      <a:solidFill>
                        <a:srgbClr val="BBE0E3"/>
                      </a:solidFill>
                      <a:prstDash val="solid"/>
                    </a:lnL>
                    <a:lnR w="12700">
                      <a:solidFill>
                        <a:srgbClr val="BBE0E3"/>
                      </a:solidFill>
                      <a:prstDash val="solid"/>
                    </a:lnR>
                    <a:lnT w="28575">
                      <a:solidFill>
                        <a:srgbClr val="BBE0E3"/>
                      </a:solidFill>
                      <a:prstDash val="solid"/>
                    </a:lnT>
                    <a:lnB w="12700">
                      <a:solidFill>
                        <a:srgbClr val="BBE0E3"/>
                      </a:solidFill>
                      <a:prstDash val="solid"/>
                    </a:lnB>
                    <a:solidFill>
                      <a:srgbClr val="BBE0E3">
                        <a:alpha val="19999"/>
                      </a:srgbClr>
                    </a:solidFill>
                  </a:tcPr>
                </a:tc>
                <a:tc>
                  <a:txBody>
                    <a:bodyPr/>
                    <a:lstStyle/>
                    <a:p>
                      <a:pPr algn="ctr">
                        <a:lnSpc>
                          <a:spcPct val="100000"/>
                        </a:lnSpc>
                        <a:spcBef>
                          <a:spcPts val="1205"/>
                        </a:spcBef>
                      </a:pPr>
                      <a:r>
                        <a:rPr dirty="0" sz="1600">
                          <a:latin typeface="Arial MT"/>
                          <a:cs typeface="Arial MT"/>
                        </a:rPr>
                        <a:t>GNB</a:t>
                      </a:r>
                      <a:r>
                        <a:rPr dirty="0" sz="1600">
                          <a:latin typeface="SimSun"/>
                          <a:cs typeface="SimSun"/>
                        </a:rPr>
                        <a:t>全球</a:t>
                      </a:r>
                      <a:r>
                        <a:rPr dirty="0" sz="1600" spc="-25">
                          <a:latin typeface="Arial MT"/>
                          <a:cs typeface="Arial MT"/>
                        </a:rPr>
                        <a:t>ID</a:t>
                      </a:r>
                      <a:endParaRPr sz="1600">
                        <a:latin typeface="Arial MT"/>
                        <a:cs typeface="Arial MT"/>
                      </a:endParaRPr>
                    </a:p>
                  </a:txBody>
                  <a:tcPr marL="0" marR="0" marB="0" marT="153035">
                    <a:lnL w="12700">
                      <a:solidFill>
                        <a:srgbClr val="BBE0E3"/>
                      </a:solidFill>
                      <a:prstDash val="solid"/>
                    </a:lnL>
                    <a:lnR w="12700">
                      <a:solidFill>
                        <a:srgbClr val="BBE0E3"/>
                      </a:solidFill>
                      <a:prstDash val="solid"/>
                    </a:lnR>
                    <a:lnT w="28575">
                      <a:solidFill>
                        <a:srgbClr val="BBE0E3"/>
                      </a:solidFill>
                      <a:prstDash val="solid"/>
                    </a:lnT>
                    <a:lnB w="12700">
                      <a:solidFill>
                        <a:srgbClr val="BBE0E3"/>
                      </a:solidFill>
                      <a:prstDash val="solid"/>
                    </a:lnB>
                    <a:solidFill>
                      <a:srgbClr val="BBE0E3">
                        <a:alpha val="19999"/>
                      </a:srgbClr>
                    </a:solidFill>
                  </a:tcPr>
                </a:tc>
                <a:tc>
                  <a:txBody>
                    <a:bodyPr/>
                    <a:lstStyle/>
                    <a:p>
                      <a:pPr>
                        <a:lnSpc>
                          <a:spcPct val="100000"/>
                        </a:lnSpc>
                      </a:pPr>
                      <a:endParaRPr sz="1600">
                        <a:latin typeface="Times New Roman"/>
                        <a:cs typeface="Times New Roman"/>
                      </a:endParaRPr>
                    </a:p>
                  </a:txBody>
                  <a:tcPr marL="0" marR="0" marB="0" marT="0">
                    <a:lnL w="12700">
                      <a:solidFill>
                        <a:srgbClr val="BBE0E3"/>
                      </a:solidFill>
                      <a:prstDash val="solid"/>
                    </a:lnL>
                    <a:lnR w="12700">
                      <a:solidFill>
                        <a:srgbClr val="BBE0E3"/>
                      </a:solidFill>
                      <a:prstDash val="solid"/>
                    </a:lnR>
                    <a:lnT w="28575">
                      <a:solidFill>
                        <a:srgbClr val="BBE0E3"/>
                      </a:solidFill>
                      <a:prstDash val="solid"/>
                    </a:lnT>
                    <a:lnB w="12700">
                      <a:solidFill>
                        <a:srgbClr val="BBE0E3"/>
                      </a:solidFill>
                      <a:prstDash val="solid"/>
                    </a:lnB>
                    <a:solidFill>
                      <a:srgbClr val="BBE0E3">
                        <a:alpha val="19999"/>
                      </a:srgbClr>
                    </a:solidFill>
                  </a:tcPr>
                </a:tc>
              </a:tr>
              <a:tr h="382270">
                <a:tc>
                  <a:txBody>
                    <a:bodyPr/>
                    <a:lstStyle/>
                    <a:p>
                      <a:pPr algn="ctr">
                        <a:lnSpc>
                          <a:spcPct val="100000"/>
                        </a:lnSpc>
                        <a:spcBef>
                          <a:spcPts val="515"/>
                        </a:spcBef>
                      </a:pPr>
                      <a:r>
                        <a:rPr dirty="0" sz="1600" spc="-10">
                          <a:latin typeface="SimSun"/>
                          <a:cs typeface="SimSun"/>
                        </a:rPr>
                        <a:t>操作维护路</a:t>
                      </a:r>
                      <a:endParaRPr sz="1600">
                        <a:latin typeface="SimSun"/>
                        <a:cs typeface="SimSun"/>
                      </a:endParaRPr>
                    </a:p>
                  </a:txBody>
                  <a:tcPr marL="0" marR="0" marB="0" marT="65405">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tcPr>
                </a:tc>
                <a:tc>
                  <a:txBody>
                    <a:bodyPr/>
                    <a:lstStyle/>
                    <a:p>
                      <a:pPr algn="ctr">
                        <a:lnSpc>
                          <a:spcPct val="100000"/>
                        </a:lnSpc>
                        <a:spcBef>
                          <a:spcPts val="515"/>
                        </a:spcBef>
                      </a:pPr>
                      <a:r>
                        <a:rPr dirty="0" sz="1600">
                          <a:latin typeface="SimSun"/>
                          <a:cs typeface="SimSun"/>
                        </a:rPr>
                        <a:t>本地</a:t>
                      </a:r>
                      <a:r>
                        <a:rPr dirty="0" sz="1600" spc="-10">
                          <a:latin typeface="Arial MT"/>
                          <a:cs typeface="Arial MT"/>
                        </a:rPr>
                        <a:t>IP</a:t>
                      </a:r>
                      <a:r>
                        <a:rPr dirty="0" sz="1600" spc="-25">
                          <a:latin typeface="SimSun"/>
                          <a:cs typeface="SimSun"/>
                        </a:rPr>
                        <a:t>地址</a:t>
                      </a:r>
                      <a:endParaRPr sz="1600">
                        <a:latin typeface="SimSun"/>
                        <a:cs typeface="SimSun"/>
                      </a:endParaRPr>
                    </a:p>
                  </a:txBody>
                  <a:tcPr marL="0" marR="0" marB="0" marT="65405">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tcPr>
                </a:tc>
                <a:tc>
                  <a:txBody>
                    <a:bodyPr/>
                    <a:lstStyle/>
                    <a:p>
                      <a:pPr algn="ctr">
                        <a:lnSpc>
                          <a:spcPct val="100000"/>
                        </a:lnSpc>
                        <a:spcBef>
                          <a:spcPts val="515"/>
                        </a:spcBef>
                      </a:pPr>
                      <a:r>
                        <a:rPr dirty="0" sz="1600" spc="-15">
                          <a:latin typeface="SimSun"/>
                          <a:cs typeface="SimSun"/>
                        </a:rPr>
                        <a:t>子网掩码</a:t>
                      </a:r>
                      <a:endParaRPr sz="1600">
                        <a:latin typeface="SimSun"/>
                        <a:cs typeface="SimSun"/>
                      </a:endParaRPr>
                    </a:p>
                  </a:txBody>
                  <a:tcPr marL="0" marR="0" marB="0" marT="65405">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tcPr>
                </a:tc>
                <a:tc>
                  <a:txBody>
                    <a:bodyPr/>
                    <a:lstStyle/>
                    <a:p>
                      <a:pPr algn="ctr">
                        <a:lnSpc>
                          <a:spcPct val="100000"/>
                        </a:lnSpc>
                        <a:spcBef>
                          <a:spcPts val="515"/>
                        </a:spcBef>
                      </a:pPr>
                      <a:r>
                        <a:rPr dirty="0" sz="1600" spc="-15">
                          <a:latin typeface="SimSun"/>
                          <a:cs typeface="SimSun"/>
                        </a:rPr>
                        <a:t>默认网关</a:t>
                      </a:r>
                      <a:endParaRPr sz="1600">
                        <a:latin typeface="SimSun"/>
                        <a:cs typeface="SimSun"/>
                      </a:endParaRPr>
                    </a:p>
                  </a:txBody>
                  <a:tcPr marL="0" marR="0" marB="0" marT="65405">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tcPr>
                </a:tc>
                <a:tc>
                  <a:txBody>
                    <a:bodyPr/>
                    <a:lstStyle/>
                    <a:p>
                      <a:pPr algn="ctr">
                        <a:lnSpc>
                          <a:spcPct val="100000"/>
                        </a:lnSpc>
                        <a:spcBef>
                          <a:spcPts val="515"/>
                        </a:spcBef>
                      </a:pPr>
                      <a:r>
                        <a:rPr dirty="0" sz="1600">
                          <a:latin typeface="SimSun"/>
                          <a:cs typeface="SimSun"/>
                        </a:rPr>
                        <a:t>对端</a:t>
                      </a:r>
                      <a:r>
                        <a:rPr dirty="0" sz="1600" spc="-10">
                          <a:latin typeface="Arial MT"/>
                          <a:cs typeface="Arial MT"/>
                        </a:rPr>
                        <a:t>IP</a:t>
                      </a:r>
                      <a:r>
                        <a:rPr dirty="0" sz="1600" spc="-25">
                          <a:latin typeface="SimSun"/>
                          <a:cs typeface="SimSun"/>
                        </a:rPr>
                        <a:t>地址</a:t>
                      </a:r>
                      <a:endParaRPr sz="1600">
                        <a:latin typeface="SimSun"/>
                        <a:cs typeface="SimSun"/>
                      </a:endParaRPr>
                    </a:p>
                  </a:txBody>
                  <a:tcPr marL="0" marR="0" marB="0" marT="65405">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tcPr>
                </a:tc>
                <a:tc>
                  <a:txBody>
                    <a:bodyPr/>
                    <a:lstStyle/>
                    <a:p>
                      <a:pPr algn="ctr">
                        <a:lnSpc>
                          <a:spcPct val="100000"/>
                        </a:lnSpc>
                        <a:spcBef>
                          <a:spcPts val="515"/>
                        </a:spcBef>
                      </a:pPr>
                      <a:r>
                        <a:rPr dirty="0" sz="1600" spc="-10">
                          <a:latin typeface="Arial MT"/>
                          <a:cs typeface="Arial MT"/>
                        </a:rPr>
                        <a:t>VLAN</a:t>
                      </a:r>
                      <a:r>
                        <a:rPr dirty="0" sz="1600" spc="-30">
                          <a:latin typeface="SimSun"/>
                          <a:cs typeface="SimSun"/>
                        </a:rPr>
                        <a:t>标识</a:t>
                      </a:r>
                      <a:endParaRPr sz="1600">
                        <a:latin typeface="SimSun"/>
                        <a:cs typeface="SimSun"/>
                      </a:endParaRPr>
                    </a:p>
                  </a:txBody>
                  <a:tcPr marL="0" marR="0" marB="0" marT="65405">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tcPr>
                </a:tc>
              </a:tr>
              <a:tr h="613410">
                <a:tc>
                  <a:txBody>
                    <a:bodyPr/>
                    <a:lstStyle/>
                    <a:p>
                      <a:pPr algn="ctr">
                        <a:lnSpc>
                          <a:spcPct val="100000"/>
                        </a:lnSpc>
                        <a:spcBef>
                          <a:spcPts val="1425"/>
                        </a:spcBef>
                      </a:pPr>
                      <a:r>
                        <a:rPr dirty="0" sz="1600" spc="-10">
                          <a:latin typeface="Arial MT"/>
                          <a:cs typeface="Arial MT"/>
                        </a:rPr>
                        <a:t>SCTP</a:t>
                      </a:r>
                      <a:r>
                        <a:rPr dirty="0" sz="1600" spc="-25">
                          <a:latin typeface="SimSun"/>
                          <a:cs typeface="SimSun"/>
                        </a:rPr>
                        <a:t>链路</a:t>
                      </a:r>
                      <a:endParaRPr sz="1600">
                        <a:latin typeface="SimSun"/>
                        <a:cs typeface="SimSun"/>
                      </a:endParaRPr>
                    </a:p>
                  </a:txBody>
                  <a:tcPr marL="0" marR="0" marB="0" marT="180975">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solidFill>
                      <a:srgbClr val="BBE0E3">
                        <a:alpha val="19999"/>
                      </a:srgbClr>
                    </a:solidFill>
                  </a:tcPr>
                </a:tc>
                <a:tc>
                  <a:txBody>
                    <a:bodyPr/>
                    <a:lstStyle/>
                    <a:p>
                      <a:pPr algn="ctr" marL="635">
                        <a:lnSpc>
                          <a:spcPct val="100000"/>
                        </a:lnSpc>
                        <a:spcBef>
                          <a:spcPts val="1425"/>
                        </a:spcBef>
                      </a:pPr>
                      <a:r>
                        <a:rPr dirty="0" sz="1600" spc="-10">
                          <a:latin typeface="Arial MT"/>
                          <a:cs typeface="Arial MT"/>
                        </a:rPr>
                        <a:t>SCTP</a:t>
                      </a:r>
                      <a:r>
                        <a:rPr dirty="0" sz="1600" spc="-15">
                          <a:latin typeface="SimSun"/>
                          <a:cs typeface="SimSun"/>
                        </a:rPr>
                        <a:t>链路工作模式</a:t>
                      </a:r>
                      <a:endParaRPr sz="1600">
                        <a:latin typeface="SimSun"/>
                        <a:cs typeface="SimSun"/>
                      </a:endParaRPr>
                    </a:p>
                  </a:txBody>
                  <a:tcPr marL="0" marR="0" marB="0" marT="180975">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solidFill>
                      <a:srgbClr val="BBE0E3">
                        <a:alpha val="19999"/>
                      </a:srgbClr>
                    </a:solidFill>
                  </a:tcPr>
                </a:tc>
                <a:tc>
                  <a:txBody>
                    <a:bodyPr/>
                    <a:lstStyle/>
                    <a:p>
                      <a:pPr algn="ctr">
                        <a:lnSpc>
                          <a:spcPct val="100000"/>
                        </a:lnSpc>
                        <a:spcBef>
                          <a:spcPts val="1425"/>
                        </a:spcBef>
                      </a:pPr>
                      <a:r>
                        <a:rPr dirty="0" sz="1600">
                          <a:latin typeface="SimSun"/>
                          <a:cs typeface="SimSun"/>
                        </a:rPr>
                        <a:t>对端</a:t>
                      </a:r>
                      <a:r>
                        <a:rPr dirty="0" sz="1600" spc="-10">
                          <a:latin typeface="Arial MT"/>
                          <a:cs typeface="Arial MT"/>
                        </a:rPr>
                        <a:t>IP</a:t>
                      </a:r>
                      <a:r>
                        <a:rPr dirty="0" sz="1600" spc="-25">
                          <a:latin typeface="SimSun"/>
                          <a:cs typeface="SimSun"/>
                        </a:rPr>
                        <a:t>地址</a:t>
                      </a:r>
                      <a:endParaRPr sz="1600">
                        <a:latin typeface="SimSun"/>
                        <a:cs typeface="SimSun"/>
                      </a:endParaRPr>
                    </a:p>
                  </a:txBody>
                  <a:tcPr marL="0" marR="0" marB="0" marT="180975">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solidFill>
                      <a:srgbClr val="BBE0E3">
                        <a:alpha val="19999"/>
                      </a:srgbClr>
                    </a:solidFill>
                  </a:tcPr>
                </a:tc>
                <a:tc>
                  <a:txBody>
                    <a:bodyPr/>
                    <a:lstStyle/>
                    <a:p>
                      <a:pPr algn="ctr">
                        <a:lnSpc>
                          <a:spcPct val="100000"/>
                        </a:lnSpc>
                        <a:spcBef>
                          <a:spcPts val="1425"/>
                        </a:spcBef>
                      </a:pPr>
                      <a:r>
                        <a:rPr dirty="0" sz="1600" spc="-10">
                          <a:latin typeface="SimSun"/>
                          <a:cs typeface="SimSun"/>
                        </a:rPr>
                        <a:t>对端网元类型</a:t>
                      </a:r>
                      <a:endParaRPr sz="1600">
                        <a:latin typeface="SimSun"/>
                        <a:cs typeface="SimSun"/>
                      </a:endParaRPr>
                    </a:p>
                  </a:txBody>
                  <a:tcPr marL="0" marR="0" marB="0" marT="180975">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solidFill>
                      <a:srgbClr val="BBE0E3">
                        <a:alpha val="19999"/>
                      </a:srgbClr>
                    </a:solidFill>
                  </a:tcPr>
                </a:tc>
                <a:tc>
                  <a:txBody>
                    <a:bodyPr/>
                    <a:lstStyle/>
                    <a:p>
                      <a:pPr>
                        <a:lnSpc>
                          <a:spcPct val="100000"/>
                        </a:lnSpc>
                      </a:pPr>
                      <a:endParaRPr sz="1600">
                        <a:latin typeface="Times New Roman"/>
                        <a:cs typeface="Times New Roman"/>
                      </a:endParaRPr>
                    </a:p>
                  </a:txBody>
                  <a:tcPr marL="0" marR="0" marB="0" marT="0">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solidFill>
                      <a:srgbClr val="BBE0E3">
                        <a:alpha val="19999"/>
                      </a:srgbClr>
                    </a:solidFill>
                  </a:tcPr>
                </a:tc>
                <a:tc>
                  <a:txBody>
                    <a:bodyPr/>
                    <a:lstStyle/>
                    <a:p>
                      <a:pPr>
                        <a:lnSpc>
                          <a:spcPct val="100000"/>
                        </a:lnSpc>
                      </a:pPr>
                      <a:endParaRPr sz="1600">
                        <a:latin typeface="Times New Roman"/>
                        <a:cs typeface="Times New Roman"/>
                      </a:endParaRPr>
                    </a:p>
                  </a:txBody>
                  <a:tcPr marL="0" marR="0" marB="0" marT="0">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solidFill>
                      <a:srgbClr val="BBE0E3">
                        <a:alpha val="19999"/>
                      </a:srgbClr>
                    </a:solidFill>
                  </a:tcPr>
                </a:tc>
              </a:tr>
              <a:tr h="354965">
                <a:tc>
                  <a:txBody>
                    <a:bodyPr/>
                    <a:lstStyle/>
                    <a:p>
                      <a:pPr algn="ctr">
                        <a:lnSpc>
                          <a:spcPct val="100000"/>
                        </a:lnSpc>
                        <a:spcBef>
                          <a:spcPts val="409"/>
                        </a:spcBef>
                      </a:pPr>
                      <a:r>
                        <a:rPr dirty="0" sz="1600" spc="-10">
                          <a:latin typeface="Arial MT"/>
                          <a:cs typeface="Arial MT"/>
                        </a:rPr>
                        <a:t>IP</a:t>
                      </a:r>
                      <a:r>
                        <a:rPr dirty="0" sz="1600" spc="-25">
                          <a:latin typeface="SimSun"/>
                          <a:cs typeface="SimSun"/>
                        </a:rPr>
                        <a:t>地址</a:t>
                      </a:r>
                      <a:endParaRPr sz="1600">
                        <a:latin typeface="SimSun"/>
                        <a:cs typeface="SimSun"/>
                      </a:endParaRPr>
                    </a:p>
                  </a:txBody>
                  <a:tcPr marL="0" marR="0" marB="0" marT="52069">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tcPr>
                </a:tc>
                <a:tc>
                  <a:txBody>
                    <a:bodyPr/>
                    <a:lstStyle/>
                    <a:p>
                      <a:pPr algn="ctr">
                        <a:lnSpc>
                          <a:spcPct val="100000"/>
                        </a:lnSpc>
                        <a:spcBef>
                          <a:spcPts val="409"/>
                        </a:spcBef>
                      </a:pPr>
                      <a:r>
                        <a:rPr dirty="0" sz="1600" spc="-10">
                          <a:latin typeface="Arial MT"/>
                          <a:cs typeface="Arial MT"/>
                        </a:rPr>
                        <a:t>IP</a:t>
                      </a:r>
                      <a:r>
                        <a:rPr dirty="0" sz="1600" spc="-25">
                          <a:latin typeface="SimSun"/>
                          <a:cs typeface="SimSun"/>
                        </a:rPr>
                        <a:t>地址</a:t>
                      </a:r>
                      <a:endParaRPr sz="1600">
                        <a:latin typeface="SimSun"/>
                        <a:cs typeface="SimSun"/>
                      </a:endParaRPr>
                    </a:p>
                  </a:txBody>
                  <a:tcPr marL="0" marR="0" marB="0" marT="52069">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tcPr>
                </a:tc>
                <a:tc>
                  <a:txBody>
                    <a:bodyPr/>
                    <a:lstStyle/>
                    <a:p>
                      <a:pPr algn="ctr">
                        <a:lnSpc>
                          <a:spcPct val="100000"/>
                        </a:lnSpc>
                        <a:spcBef>
                          <a:spcPts val="409"/>
                        </a:spcBef>
                      </a:pPr>
                      <a:r>
                        <a:rPr dirty="0" sz="1600" spc="-15">
                          <a:latin typeface="SimSun"/>
                          <a:cs typeface="SimSun"/>
                        </a:rPr>
                        <a:t>子网掩码</a:t>
                      </a:r>
                      <a:endParaRPr sz="1600">
                        <a:latin typeface="SimSun"/>
                        <a:cs typeface="SimSun"/>
                      </a:endParaRPr>
                    </a:p>
                  </a:txBody>
                  <a:tcPr marL="0" marR="0" marB="0" marT="52069">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tcPr>
                </a:tc>
                <a:tc>
                  <a:txBody>
                    <a:bodyPr/>
                    <a:lstStyle/>
                    <a:p>
                      <a:pPr>
                        <a:lnSpc>
                          <a:spcPct val="100000"/>
                        </a:lnSpc>
                      </a:pPr>
                      <a:endParaRPr sz="1600">
                        <a:latin typeface="Times New Roman"/>
                        <a:cs typeface="Times New Roman"/>
                      </a:endParaRPr>
                    </a:p>
                  </a:txBody>
                  <a:tcPr marL="0" marR="0" marB="0" marT="0">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tcPr>
                </a:tc>
                <a:tc>
                  <a:txBody>
                    <a:bodyPr/>
                    <a:lstStyle/>
                    <a:p>
                      <a:pPr>
                        <a:lnSpc>
                          <a:spcPct val="100000"/>
                        </a:lnSpc>
                      </a:pPr>
                      <a:endParaRPr sz="1600">
                        <a:latin typeface="Times New Roman"/>
                        <a:cs typeface="Times New Roman"/>
                      </a:endParaRPr>
                    </a:p>
                  </a:txBody>
                  <a:tcPr marL="0" marR="0" marB="0" marT="0">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tcPr>
                </a:tc>
                <a:tc>
                  <a:txBody>
                    <a:bodyPr/>
                    <a:lstStyle/>
                    <a:p>
                      <a:pPr>
                        <a:lnSpc>
                          <a:spcPct val="100000"/>
                        </a:lnSpc>
                      </a:pPr>
                      <a:endParaRPr sz="1600">
                        <a:latin typeface="Times New Roman"/>
                        <a:cs typeface="Times New Roman"/>
                      </a:endParaRPr>
                    </a:p>
                  </a:txBody>
                  <a:tcPr marL="0" marR="0" marB="0" marT="0">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tcPr>
                </a:tc>
              </a:tr>
              <a:tr h="398780">
                <a:tc>
                  <a:txBody>
                    <a:bodyPr/>
                    <a:lstStyle/>
                    <a:p>
                      <a:pPr algn="ctr">
                        <a:lnSpc>
                          <a:spcPct val="100000"/>
                        </a:lnSpc>
                        <a:spcBef>
                          <a:spcPts val="580"/>
                        </a:spcBef>
                      </a:pPr>
                      <a:r>
                        <a:rPr dirty="0" sz="1600" spc="-15">
                          <a:latin typeface="SimSun"/>
                          <a:cs typeface="SimSun"/>
                        </a:rPr>
                        <a:t>路由关系</a:t>
                      </a:r>
                      <a:endParaRPr sz="1600">
                        <a:latin typeface="SimSun"/>
                        <a:cs typeface="SimSun"/>
                      </a:endParaRPr>
                    </a:p>
                  </a:txBody>
                  <a:tcPr marL="0" marR="0" marB="0" marT="73660">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solidFill>
                      <a:srgbClr val="BBE0E3">
                        <a:alpha val="19999"/>
                      </a:srgbClr>
                    </a:solidFill>
                  </a:tcPr>
                </a:tc>
                <a:tc>
                  <a:txBody>
                    <a:bodyPr/>
                    <a:lstStyle/>
                    <a:p>
                      <a:pPr algn="ctr">
                        <a:lnSpc>
                          <a:spcPct val="100000"/>
                        </a:lnSpc>
                        <a:spcBef>
                          <a:spcPts val="580"/>
                        </a:spcBef>
                      </a:pPr>
                      <a:r>
                        <a:rPr dirty="0" sz="1600">
                          <a:latin typeface="SimSun"/>
                          <a:cs typeface="SimSun"/>
                        </a:rPr>
                        <a:t>对端</a:t>
                      </a:r>
                      <a:r>
                        <a:rPr dirty="0" sz="1600" spc="-10">
                          <a:latin typeface="Arial MT"/>
                          <a:cs typeface="Arial MT"/>
                        </a:rPr>
                        <a:t>IP</a:t>
                      </a:r>
                      <a:r>
                        <a:rPr dirty="0" sz="1600" spc="-15">
                          <a:latin typeface="SimSun"/>
                          <a:cs typeface="SimSun"/>
                        </a:rPr>
                        <a:t>地址网段</a:t>
                      </a:r>
                      <a:endParaRPr sz="1600">
                        <a:latin typeface="SimSun"/>
                        <a:cs typeface="SimSun"/>
                      </a:endParaRPr>
                    </a:p>
                  </a:txBody>
                  <a:tcPr marL="0" marR="0" marB="0" marT="73660">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solidFill>
                      <a:srgbClr val="BBE0E3">
                        <a:alpha val="19999"/>
                      </a:srgbClr>
                    </a:solidFill>
                  </a:tcPr>
                </a:tc>
                <a:tc>
                  <a:txBody>
                    <a:bodyPr/>
                    <a:lstStyle/>
                    <a:p>
                      <a:pPr algn="ctr">
                        <a:lnSpc>
                          <a:spcPct val="100000"/>
                        </a:lnSpc>
                        <a:spcBef>
                          <a:spcPts val="580"/>
                        </a:spcBef>
                      </a:pPr>
                      <a:r>
                        <a:rPr dirty="0" sz="1600">
                          <a:latin typeface="SimSun"/>
                          <a:cs typeface="SimSun"/>
                        </a:rPr>
                        <a:t>对端</a:t>
                      </a:r>
                      <a:r>
                        <a:rPr dirty="0" sz="1600" spc="-10">
                          <a:latin typeface="Arial MT"/>
                          <a:cs typeface="Arial MT"/>
                        </a:rPr>
                        <a:t>IP</a:t>
                      </a:r>
                      <a:r>
                        <a:rPr dirty="0" sz="1600" spc="-25">
                          <a:latin typeface="SimSun"/>
                          <a:cs typeface="SimSun"/>
                        </a:rPr>
                        <a:t>掩码</a:t>
                      </a:r>
                      <a:endParaRPr sz="1600">
                        <a:latin typeface="SimSun"/>
                        <a:cs typeface="SimSun"/>
                      </a:endParaRPr>
                    </a:p>
                  </a:txBody>
                  <a:tcPr marL="0" marR="0" marB="0" marT="73660">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solidFill>
                      <a:srgbClr val="BBE0E3">
                        <a:alpha val="19999"/>
                      </a:srgbClr>
                    </a:solidFill>
                  </a:tcPr>
                </a:tc>
                <a:tc>
                  <a:txBody>
                    <a:bodyPr/>
                    <a:lstStyle/>
                    <a:p>
                      <a:pPr algn="ctr">
                        <a:lnSpc>
                          <a:spcPct val="100000"/>
                        </a:lnSpc>
                        <a:spcBef>
                          <a:spcPts val="580"/>
                        </a:spcBef>
                      </a:pPr>
                      <a:r>
                        <a:rPr dirty="0" sz="1600">
                          <a:latin typeface="SimSun"/>
                          <a:cs typeface="SimSun"/>
                        </a:rPr>
                        <a:t>网关</a:t>
                      </a:r>
                      <a:r>
                        <a:rPr dirty="0" sz="1600" spc="-10">
                          <a:latin typeface="Arial MT"/>
                          <a:cs typeface="Arial MT"/>
                        </a:rPr>
                        <a:t>IP</a:t>
                      </a:r>
                      <a:r>
                        <a:rPr dirty="0" sz="1600" spc="-25">
                          <a:latin typeface="SimSun"/>
                          <a:cs typeface="SimSun"/>
                        </a:rPr>
                        <a:t>地址</a:t>
                      </a:r>
                      <a:endParaRPr sz="1600">
                        <a:latin typeface="SimSun"/>
                        <a:cs typeface="SimSun"/>
                      </a:endParaRPr>
                    </a:p>
                  </a:txBody>
                  <a:tcPr marL="0" marR="0" marB="0" marT="73660">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solidFill>
                      <a:srgbClr val="BBE0E3">
                        <a:alpha val="19999"/>
                      </a:srgbClr>
                    </a:solidFill>
                  </a:tcPr>
                </a:tc>
                <a:tc>
                  <a:txBody>
                    <a:bodyPr/>
                    <a:lstStyle/>
                    <a:p>
                      <a:pPr>
                        <a:lnSpc>
                          <a:spcPct val="100000"/>
                        </a:lnSpc>
                      </a:pPr>
                      <a:endParaRPr sz="1600">
                        <a:latin typeface="Times New Roman"/>
                        <a:cs typeface="Times New Roman"/>
                      </a:endParaRPr>
                    </a:p>
                  </a:txBody>
                  <a:tcPr marL="0" marR="0" marB="0" marT="0">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solidFill>
                      <a:srgbClr val="BBE0E3">
                        <a:alpha val="19999"/>
                      </a:srgbClr>
                    </a:solidFill>
                  </a:tcPr>
                </a:tc>
                <a:tc>
                  <a:txBody>
                    <a:bodyPr/>
                    <a:lstStyle/>
                    <a:p>
                      <a:pPr>
                        <a:lnSpc>
                          <a:spcPct val="100000"/>
                        </a:lnSpc>
                      </a:pPr>
                      <a:endParaRPr sz="1600">
                        <a:latin typeface="Times New Roman"/>
                        <a:cs typeface="Times New Roman"/>
                      </a:endParaRPr>
                    </a:p>
                  </a:txBody>
                  <a:tcPr marL="0" marR="0" marB="0" marT="0">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solidFill>
                      <a:srgbClr val="BBE0E3">
                        <a:alpha val="19999"/>
                      </a:srgbClr>
                    </a:solidFill>
                  </a:tcPr>
                </a:tc>
              </a:tr>
              <a:tr h="354965">
                <a:tc>
                  <a:txBody>
                    <a:bodyPr/>
                    <a:lstStyle/>
                    <a:p>
                      <a:pPr algn="ctr">
                        <a:lnSpc>
                          <a:spcPct val="100000"/>
                        </a:lnSpc>
                        <a:spcBef>
                          <a:spcPts val="409"/>
                        </a:spcBef>
                      </a:pPr>
                      <a:r>
                        <a:rPr dirty="0" sz="1600" spc="-10">
                          <a:latin typeface="Arial MT"/>
                          <a:cs typeface="Arial MT"/>
                        </a:rPr>
                        <a:t>VLAN</a:t>
                      </a:r>
                      <a:r>
                        <a:rPr dirty="0" sz="1600" spc="-30">
                          <a:latin typeface="SimSun"/>
                          <a:cs typeface="SimSun"/>
                        </a:rPr>
                        <a:t>配置</a:t>
                      </a:r>
                      <a:endParaRPr sz="1600">
                        <a:latin typeface="SimSun"/>
                        <a:cs typeface="SimSun"/>
                      </a:endParaRPr>
                    </a:p>
                  </a:txBody>
                  <a:tcPr marL="0" marR="0" marB="0" marT="52069">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tcPr>
                </a:tc>
                <a:tc>
                  <a:txBody>
                    <a:bodyPr/>
                    <a:lstStyle/>
                    <a:p>
                      <a:pPr algn="ctr">
                        <a:lnSpc>
                          <a:spcPct val="100000"/>
                        </a:lnSpc>
                        <a:spcBef>
                          <a:spcPts val="409"/>
                        </a:spcBef>
                      </a:pPr>
                      <a:r>
                        <a:rPr dirty="0" sz="1600" spc="-10">
                          <a:latin typeface="Arial MT"/>
                          <a:cs typeface="Arial MT"/>
                        </a:rPr>
                        <a:t>VLAN</a:t>
                      </a:r>
                      <a:r>
                        <a:rPr dirty="0" sz="1600" spc="-30">
                          <a:latin typeface="SimSun"/>
                          <a:cs typeface="SimSun"/>
                        </a:rPr>
                        <a:t>标识</a:t>
                      </a:r>
                      <a:endParaRPr sz="1600">
                        <a:latin typeface="SimSun"/>
                        <a:cs typeface="SimSun"/>
                      </a:endParaRPr>
                    </a:p>
                  </a:txBody>
                  <a:tcPr marL="0" marR="0" marB="0" marT="52069">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tcPr>
                </a:tc>
                <a:tc>
                  <a:txBody>
                    <a:bodyPr/>
                    <a:lstStyle/>
                    <a:p>
                      <a:pPr algn="ctr">
                        <a:lnSpc>
                          <a:spcPct val="100000"/>
                        </a:lnSpc>
                        <a:spcBef>
                          <a:spcPts val="409"/>
                        </a:spcBef>
                      </a:pPr>
                      <a:r>
                        <a:rPr dirty="0" sz="1600" spc="-10">
                          <a:latin typeface="Arial MT"/>
                          <a:cs typeface="Arial MT"/>
                        </a:rPr>
                        <a:t>VLAN</a:t>
                      </a:r>
                      <a:r>
                        <a:rPr dirty="0" sz="1600" spc="-30">
                          <a:latin typeface="SimSun"/>
                          <a:cs typeface="SimSun"/>
                        </a:rPr>
                        <a:t>类型</a:t>
                      </a:r>
                      <a:endParaRPr sz="1600">
                        <a:latin typeface="SimSun"/>
                        <a:cs typeface="SimSun"/>
                      </a:endParaRPr>
                    </a:p>
                  </a:txBody>
                  <a:tcPr marL="0" marR="0" marB="0" marT="52069">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tcPr>
                </a:tc>
                <a:tc>
                  <a:txBody>
                    <a:bodyPr/>
                    <a:lstStyle/>
                    <a:p>
                      <a:pPr>
                        <a:lnSpc>
                          <a:spcPct val="100000"/>
                        </a:lnSpc>
                      </a:pPr>
                      <a:endParaRPr sz="1600">
                        <a:latin typeface="Times New Roman"/>
                        <a:cs typeface="Times New Roman"/>
                      </a:endParaRPr>
                    </a:p>
                  </a:txBody>
                  <a:tcPr marL="0" marR="0" marB="0" marT="0">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tcPr>
                </a:tc>
                <a:tc>
                  <a:txBody>
                    <a:bodyPr/>
                    <a:lstStyle/>
                    <a:p>
                      <a:pPr>
                        <a:lnSpc>
                          <a:spcPct val="100000"/>
                        </a:lnSpc>
                      </a:pPr>
                      <a:endParaRPr sz="1600">
                        <a:latin typeface="Times New Roman"/>
                        <a:cs typeface="Times New Roman"/>
                      </a:endParaRPr>
                    </a:p>
                  </a:txBody>
                  <a:tcPr marL="0" marR="0" marB="0" marT="0">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tcPr>
                </a:tc>
                <a:tc>
                  <a:txBody>
                    <a:bodyPr/>
                    <a:lstStyle/>
                    <a:p>
                      <a:pPr>
                        <a:lnSpc>
                          <a:spcPct val="100000"/>
                        </a:lnSpc>
                      </a:pPr>
                      <a:endParaRPr sz="1600">
                        <a:latin typeface="Times New Roman"/>
                        <a:cs typeface="Times New Roman"/>
                      </a:endParaRPr>
                    </a:p>
                  </a:txBody>
                  <a:tcPr marL="0" marR="0" marB="0" marT="0">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tcPr>
                </a:tc>
              </a:tr>
              <a:tr h="579120">
                <a:tc>
                  <a:txBody>
                    <a:bodyPr/>
                    <a:lstStyle/>
                    <a:p>
                      <a:pPr algn="ctr">
                        <a:lnSpc>
                          <a:spcPct val="100000"/>
                        </a:lnSpc>
                        <a:spcBef>
                          <a:spcPts val="1290"/>
                        </a:spcBef>
                      </a:pPr>
                      <a:r>
                        <a:rPr dirty="0" sz="1600">
                          <a:latin typeface="Arial MT"/>
                          <a:cs typeface="Arial MT"/>
                        </a:rPr>
                        <a:t>NR</a:t>
                      </a:r>
                      <a:r>
                        <a:rPr dirty="0" sz="1600" spc="-25">
                          <a:latin typeface="SimSun"/>
                          <a:cs typeface="SimSun"/>
                        </a:rPr>
                        <a:t>小区</a:t>
                      </a:r>
                      <a:endParaRPr sz="1600">
                        <a:latin typeface="SimSun"/>
                        <a:cs typeface="SimSun"/>
                      </a:endParaRPr>
                    </a:p>
                  </a:txBody>
                  <a:tcPr marL="0" marR="0" marB="0" marT="163830">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solidFill>
                      <a:srgbClr val="BBE0E3">
                        <a:alpha val="19999"/>
                      </a:srgbClr>
                    </a:solidFill>
                  </a:tcPr>
                </a:tc>
                <a:tc>
                  <a:txBody>
                    <a:bodyPr/>
                    <a:lstStyle/>
                    <a:p>
                      <a:pPr algn="ctr">
                        <a:lnSpc>
                          <a:spcPct val="100000"/>
                        </a:lnSpc>
                        <a:spcBef>
                          <a:spcPts val="1290"/>
                        </a:spcBef>
                      </a:pPr>
                      <a:r>
                        <a:rPr dirty="0" sz="1600" spc="-10">
                          <a:latin typeface="SimSun"/>
                          <a:cs typeface="SimSun"/>
                        </a:rPr>
                        <a:t>小区友好名</a:t>
                      </a:r>
                      <a:endParaRPr sz="1600">
                        <a:latin typeface="SimSun"/>
                        <a:cs typeface="SimSun"/>
                      </a:endParaRPr>
                    </a:p>
                  </a:txBody>
                  <a:tcPr marL="0" marR="0" marB="0" marT="163830">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solidFill>
                      <a:srgbClr val="BBE0E3">
                        <a:alpha val="19999"/>
                      </a:srgbClr>
                    </a:solidFill>
                  </a:tcPr>
                </a:tc>
                <a:tc>
                  <a:txBody>
                    <a:bodyPr/>
                    <a:lstStyle/>
                    <a:p>
                      <a:pPr algn="ctr">
                        <a:lnSpc>
                          <a:spcPct val="100000"/>
                        </a:lnSpc>
                        <a:spcBef>
                          <a:spcPts val="1290"/>
                        </a:spcBef>
                      </a:pPr>
                      <a:r>
                        <a:rPr dirty="0" sz="1600">
                          <a:latin typeface="SimSun"/>
                          <a:cs typeface="SimSun"/>
                        </a:rPr>
                        <a:t>小区物理</a:t>
                      </a:r>
                      <a:r>
                        <a:rPr dirty="0" sz="1600" spc="-25">
                          <a:latin typeface="Arial MT"/>
                          <a:cs typeface="Arial MT"/>
                        </a:rPr>
                        <a:t>ID</a:t>
                      </a:r>
                      <a:endParaRPr sz="1600">
                        <a:latin typeface="Arial MT"/>
                        <a:cs typeface="Arial MT"/>
                      </a:endParaRPr>
                    </a:p>
                  </a:txBody>
                  <a:tcPr marL="0" marR="0" marB="0" marT="163830">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solidFill>
                      <a:srgbClr val="BBE0E3">
                        <a:alpha val="19999"/>
                      </a:srgbClr>
                    </a:solidFill>
                  </a:tcPr>
                </a:tc>
                <a:tc>
                  <a:txBody>
                    <a:bodyPr/>
                    <a:lstStyle/>
                    <a:p>
                      <a:pPr marL="635635" marR="120650" indent="-508634">
                        <a:lnSpc>
                          <a:spcPct val="100000"/>
                        </a:lnSpc>
                        <a:spcBef>
                          <a:spcPts val="330"/>
                        </a:spcBef>
                      </a:pPr>
                      <a:r>
                        <a:rPr dirty="0" sz="1600">
                          <a:latin typeface="SimSun"/>
                          <a:cs typeface="SimSun"/>
                        </a:rPr>
                        <a:t>小区物理</a:t>
                      </a:r>
                      <a:r>
                        <a:rPr dirty="0" sz="1600" spc="-10">
                          <a:latin typeface="Arial MT"/>
                          <a:cs typeface="Arial MT"/>
                        </a:rPr>
                        <a:t>ID</a:t>
                      </a:r>
                      <a:r>
                        <a:rPr dirty="0" sz="1600" spc="-50">
                          <a:latin typeface="SimSun"/>
                          <a:cs typeface="SimSun"/>
                        </a:rPr>
                        <a:t>列表</a:t>
                      </a:r>
                      <a:endParaRPr sz="1600">
                        <a:latin typeface="SimSun"/>
                        <a:cs typeface="SimSun"/>
                      </a:endParaRPr>
                    </a:p>
                  </a:txBody>
                  <a:tcPr marL="0" marR="0" marB="0" marT="41910">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solidFill>
                      <a:srgbClr val="BBE0E3">
                        <a:alpha val="19999"/>
                      </a:srgbClr>
                    </a:solidFill>
                  </a:tcPr>
                </a:tc>
                <a:tc>
                  <a:txBody>
                    <a:bodyPr/>
                    <a:lstStyle/>
                    <a:p>
                      <a:pPr marL="336550" marR="126364" indent="-203835">
                        <a:lnSpc>
                          <a:spcPts val="1839"/>
                        </a:lnSpc>
                        <a:spcBef>
                          <a:spcPts val="540"/>
                        </a:spcBef>
                      </a:pPr>
                      <a:r>
                        <a:rPr dirty="0" sz="1600" spc="-10">
                          <a:latin typeface="SimSun"/>
                          <a:cs typeface="SimSun"/>
                        </a:rPr>
                        <a:t>小区所属跟</a:t>
                      </a:r>
                      <a:r>
                        <a:rPr dirty="0" sz="1600">
                          <a:latin typeface="SimSun"/>
                          <a:cs typeface="SimSun"/>
                        </a:rPr>
                        <a:t>踪区</a:t>
                      </a:r>
                      <a:r>
                        <a:rPr dirty="0" sz="1600" spc="-25">
                          <a:latin typeface="Arial MT"/>
                          <a:cs typeface="Arial MT"/>
                        </a:rPr>
                        <a:t>ID</a:t>
                      </a:r>
                      <a:endParaRPr sz="1600">
                        <a:latin typeface="Arial MT"/>
                        <a:cs typeface="Arial MT"/>
                      </a:endParaRPr>
                    </a:p>
                  </a:txBody>
                  <a:tcPr marL="0" marR="0" marB="0" marT="68580">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solidFill>
                      <a:srgbClr val="BBE0E3">
                        <a:alpha val="19999"/>
                      </a:srgbClr>
                    </a:solidFill>
                  </a:tcPr>
                </a:tc>
                <a:tc>
                  <a:txBody>
                    <a:bodyPr/>
                    <a:lstStyle/>
                    <a:p>
                      <a:pPr marL="180340" marR="173355">
                        <a:lnSpc>
                          <a:spcPct val="100000"/>
                        </a:lnSpc>
                        <a:spcBef>
                          <a:spcPts val="330"/>
                        </a:spcBef>
                      </a:pPr>
                      <a:r>
                        <a:rPr dirty="0" sz="1600" spc="-10">
                          <a:latin typeface="SimSun"/>
                          <a:cs typeface="SimSun"/>
                        </a:rPr>
                        <a:t>移动国家码移动网络码</a:t>
                      </a:r>
                      <a:endParaRPr sz="1600">
                        <a:latin typeface="SimSun"/>
                        <a:cs typeface="SimSun"/>
                      </a:endParaRPr>
                    </a:p>
                  </a:txBody>
                  <a:tcPr marL="0" marR="0" marB="0" marT="41910">
                    <a:lnL w="12700">
                      <a:solidFill>
                        <a:srgbClr val="BBE0E3"/>
                      </a:solidFill>
                      <a:prstDash val="solid"/>
                    </a:lnL>
                    <a:lnR w="12700">
                      <a:solidFill>
                        <a:srgbClr val="BBE0E3"/>
                      </a:solidFill>
                      <a:prstDash val="solid"/>
                    </a:lnR>
                    <a:lnT w="12700">
                      <a:solidFill>
                        <a:srgbClr val="BBE0E3"/>
                      </a:solidFill>
                      <a:prstDash val="solid"/>
                    </a:lnT>
                    <a:lnB w="12700">
                      <a:solidFill>
                        <a:srgbClr val="BBE0E3"/>
                      </a:solidFill>
                      <a:prstDash val="solid"/>
                    </a:lnB>
                    <a:solidFill>
                      <a:srgbClr val="BBE0E3">
                        <a:alpha val="19999"/>
                      </a:srgbClr>
                    </a:solidFill>
                  </a:tcPr>
                </a:tc>
              </a:tr>
            </a:tbl>
          </a:graphicData>
        </a:graphic>
      </p:graphicFrame>
      <p:sp>
        <p:nvSpPr>
          <p:cNvPr id="4" name="object 4" descr=""/>
          <p:cNvSpPr txBox="1"/>
          <p:nvPr/>
        </p:nvSpPr>
        <p:spPr>
          <a:xfrm>
            <a:off x="307112" y="908621"/>
            <a:ext cx="3482975" cy="269875"/>
          </a:xfrm>
          <a:prstGeom prst="rect">
            <a:avLst/>
          </a:prstGeom>
        </p:spPr>
        <p:txBody>
          <a:bodyPr wrap="square" lIns="0" tIns="12700" rIns="0" bIns="0" rtlCol="0" vert="horz">
            <a:spAutoFit/>
          </a:bodyPr>
          <a:lstStyle/>
          <a:p>
            <a:pPr marL="12700">
              <a:lnSpc>
                <a:spcPct val="100000"/>
              </a:lnSpc>
              <a:spcBef>
                <a:spcPts val="100"/>
              </a:spcBef>
            </a:pPr>
            <a:r>
              <a:rPr dirty="0" sz="1600" spc="-15" b="1">
                <a:latin typeface="Microsoft YaHei"/>
                <a:cs typeface="Microsoft YaHei"/>
              </a:rPr>
              <a:t>下表中参数为基站或小区的特性参数：</a:t>
            </a:r>
            <a:endParaRPr sz="1600">
              <a:latin typeface="Microsoft YaHei"/>
              <a:cs typeface="Microsoft YaHei"/>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64713" y="113125"/>
            <a:ext cx="3279140" cy="513080"/>
          </a:xfrm>
          <a:prstGeom prst="rect"/>
        </p:spPr>
        <p:txBody>
          <a:bodyPr wrap="square" lIns="0" tIns="12065" rIns="0" bIns="0" rtlCol="0" vert="horz">
            <a:spAutoFit/>
          </a:bodyPr>
          <a:lstStyle/>
          <a:p>
            <a:pPr marL="12700">
              <a:lnSpc>
                <a:spcPct val="100000"/>
              </a:lnSpc>
              <a:spcBef>
                <a:spcPts val="95"/>
              </a:spcBef>
            </a:pPr>
            <a:r>
              <a:rPr dirty="0" spc="-45"/>
              <a:t>打开配置文件模板</a:t>
            </a:r>
          </a:p>
        </p:txBody>
      </p:sp>
      <p:sp>
        <p:nvSpPr>
          <p:cNvPr id="3" name="object 3" descr=""/>
          <p:cNvSpPr txBox="1"/>
          <p:nvPr/>
        </p:nvSpPr>
        <p:spPr>
          <a:xfrm>
            <a:off x="301824" y="890413"/>
            <a:ext cx="8641080" cy="1080135"/>
          </a:xfrm>
          <a:prstGeom prst="rect">
            <a:avLst/>
          </a:prstGeom>
          <a:ln w="12700">
            <a:solidFill>
              <a:srgbClr val="000000"/>
            </a:solidFill>
          </a:ln>
        </p:spPr>
        <p:txBody>
          <a:bodyPr wrap="square" lIns="0" tIns="107950" rIns="0" bIns="0" rtlCol="0" vert="horz">
            <a:spAutoFit/>
          </a:bodyPr>
          <a:lstStyle/>
          <a:p>
            <a:pPr marL="90805">
              <a:lnSpc>
                <a:spcPct val="100000"/>
              </a:lnSpc>
              <a:spcBef>
                <a:spcPts val="850"/>
              </a:spcBef>
            </a:pPr>
            <a:r>
              <a:rPr dirty="0" sz="1400" spc="-10">
                <a:latin typeface="Microsoft YaHei"/>
                <a:cs typeface="Microsoft YaHei"/>
              </a:rPr>
              <a:t>1</a:t>
            </a:r>
            <a:r>
              <a:rPr dirty="0" sz="1400" spc="-20">
                <a:latin typeface="Microsoft YaHei"/>
                <a:cs typeface="Microsoft YaHei"/>
              </a:rPr>
              <a:t>、配置文件模板格式为：</a:t>
            </a:r>
            <a:r>
              <a:rPr dirty="0" sz="1400" spc="-10">
                <a:latin typeface="Microsoft YaHei"/>
                <a:cs typeface="Microsoft YaHei"/>
              </a:rPr>
              <a:t>xxx.cfg</a:t>
            </a:r>
            <a:r>
              <a:rPr dirty="0" sz="1400" spc="-25">
                <a:latin typeface="Microsoft YaHei"/>
                <a:cs typeface="Microsoft YaHei"/>
              </a:rPr>
              <a:t>，一般是项目做好的的通用型模板，便于参数拉齐；</a:t>
            </a:r>
            <a:endParaRPr sz="1400">
              <a:latin typeface="Microsoft YaHei"/>
              <a:cs typeface="Microsoft YaHei"/>
            </a:endParaRPr>
          </a:p>
          <a:p>
            <a:pPr marL="91440">
              <a:lnSpc>
                <a:spcPct val="100000"/>
              </a:lnSpc>
              <a:spcBef>
                <a:spcPts val="840"/>
              </a:spcBef>
            </a:pPr>
            <a:r>
              <a:rPr dirty="0" sz="1400" spc="-10">
                <a:latin typeface="Microsoft YaHei"/>
                <a:cs typeface="Microsoft YaHei"/>
              </a:rPr>
              <a:t>2</a:t>
            </a:r>
            <a:r>
              <a:rPr dirty="0" sz="1400" spc="-20">
                <a:latin typeface="Microsoft YaHei"/>
                <a:cs typeface="Microsoft YaHei"/>
              </a:rPr>
              <a:t>、示例使用的模板文件名为：</a:t>
            </a:r>
            <a:r>
              <a:rPr dirty="0" sz="1400">
                <a:latin typeface="Microsoft YaHei"/>
                <a:cs typeface="Microsoft YaHei"/>
              </a:rPr>
              <a:t>NSA</a:t>
            </a:r>
            <a:r>
              <a:rPr dirty="0" sz="1400" spc="70">
                <a:latin typeface="Microsoft YaHei"/>
                <a:cs typeface="Microsoft YaHei"/>
              </a:rPr>
              <a:t> </a:t>
            </a:r>
            <a:r>
              <a:rPr dirty="0" sz="1400" spc="-10">
                <a:latin typeface="Microsoft YaHei"/>
                <a:cs typeface="Microsoft YaHei"/>
              </a:rPr>
              <a:t>S111</a:t>
            </a:r>
            <a:r>
              <a:rPr dirty="0" sz="1400" spc="-20">
                <a:latin typeface="Microsoft YaHei"/>
                <a:cs typeface="Microsoft YaHei"/>
              </a:rPr>
              <a:t>开站模板.cfg</a:t>
            </a:r>
            <a:endParaRPr sz="1400">
              <a:latin typeface="Microsoft YaHei"/>
              <a:cs typeface="Microsoft YaHei"/>
            </a:endParaRPr>
          </a:p>
          <a:p>
            <a:pPr marL="91440">
              <a:lnSpc>
                <a:spcPct val="100000"/>
              </a:lnSpc>
              <a:spcBef>
                <a:spcPts val="840"/>
              </a:spcBef>
            </a:pPr>
            <a:r>
              <a:rPr dirty="0" sz="1400" spc="-10">
                <a:latin typeface="Microsoft YaHei"/>
                <a:cs typeface="Microsoft YaHei"/>
              </a:rPr>
              <a:t>3</a:t>
            </a:r>
            <a:r>
              <a:rPr dirty="0" sz="1400" spc="-20">
                <a:latin typeface="Microsoft YaHei"/>
                <a:cs typeface="Microsoft YaHei"/>
              </a:rPr>
              <a:t>、操作节点：NR设备（右击</a:t>
            </a:r>
            <a:r>
              <a:rPr dirty="0" sz="1400" spc="-10">
                <a:latin typeface="Microsoft YaHei"/>
                <a:cs typeface="Microsoft YaHei"/>
              </a:rPr>
              <a:t>）</a:t>
            </a:r>
            <a:r>
              <a:rPr dirty="0" sz="1400" spc="-20">
                <a:latin typeface="Microsoft YaHei"/>
                <a:cs typeface="Microsoft YaHei"/>
              </a:rPr>
              <a:t>­­­­­­­­→打开初配文件→选择“</a:t>
            </a:r>
            <a:r>
              <a:rPr dirty="0" sz="1400">
                <a:latin typeface="Microsoft YaHei"/>
                <a:cs typeface="Microsoft YaHei"/>
              </a:rPr>
              <a:t>NSA</a:t>
            </a:r>
            <a:r>
              <a:rPr dirty="0" sz="1400" spc="125">
                <a:latin typeface="Microsoft YaHei"/>
                <a:cs typeface="Microsoft YaHei"/>
              </a:rPr>
              <a:t> </a:t>
            </a:r>
            <a:r>
              <a:rPr dirty="0" sz="1400" spc="-10">
                <a:latin typeface="Microsoft YaHei"/>
                <a:cs typeface="Microsoft YaHei"/>
              </a:rPr>
              <a:t>S111</a:t>
            </a:r>
            <a:r>
              <a:rPr dirty="0" sz="1400" spc="-20">
                <a:latin typeface="Microsoft YaHei"/>
                <a:cs typeface="Microsoft YaHei"/>
              </a:rPr>
              <a:t>开站模板.</a:t>
            </a:r>
            <a:r>
              <a:rPr dirty="0" sz="1400" spc="-10">
                <a:latin typeface="Microsoft YaHei"/>
                <a:cs typeface="Microsoft YaHei"/>
              </a:rPr>
              <a:t>cfg”</a:t>
            </a:r>
            <a:endParaRPr sz="1400">
              <a:latin typeface="Microsoft YaHei"/>
              <a:cs typeface="Microsoft YaHei"/>
            </a:endParaRPr>
          </a:p>
        </p:txBody>
      </p:sp>
      <p:pic>
        <p:nvPicPr>
          <p:cNvPr id="4" name="object 4"/>
          <p:cNvPicPr/>
          <p:nvPr/>
        </p:nvPicPr>
        <p:blipFill>
          <a:blip r:embed="rId2" cstate="print"/>
          <a:stretch>
            <a:fillRect/>
          </a:stretch>
        </p:blipFill>
        <p:spPr>
          <a:xfrm>
            <a:off x="984326" y="2129510"/>
            <a:ext cx="3062050" cy="2753689"/>
          </a:xfrm>
          <a:prstGeom prst="rect">
            <a:avLst/>
          </a:prstGeom>
        </p:spPr>
      </p:pic>
      <p:pic>
        <p:nvPicPr>
          <p:cNvPr id="5" name="object 5"/>
          <p:cNvPicPr/>
          <p:nvPr/>
        </p:nvPicPr>
        <p:blipFill>
          <a:blip r:embed="rId3" cstate="print"/>
          <a:stretch>
            <a:fillRect/>
          </a:stretch>
        </p:blipFill>
        <p:spPr>
          <a:xfrm>
            <a:off x="5486400" y="2114550"/>
            <a:ext cx="2736303" cy="2808311"/>
          </a:xfrm>
          <a:prstGeom prst="rect">
            <a:avLst/>
          </a:prstGeom>
        </p:spPr>
      </p:pic>
      <p:sp>
        <p:nvSpPr>
          <p:cNvPr id="6" name="object 6" descr=""/>
          <p:cNvSpPr/>
          <p:nvPr/>
        </p:nvSpPr>
        <p:spPr>
          <a:xfrm>
            <a:off x="4334272" y="3410680"/>
            <a:ext cx="698500" cy="374015"/>
          </a:xfrm>
          <a:custGeom>
            <a:avLst/>
            <a:gdLst/>
            <a:ahLst/>
            <a:cxnLst/>
            <a:rect l="l" t="t" r="r" b="b"/>
            <a:pathLst>
              <a:path w="698500" h="374014">
                <a:moveTo>
                  <a:pt x="511352" y="0"/>
                </a:moveTo>
                <a:lnTo>
                  <a:pt x="511352" y="93395"/>
                </a:lnTo>
                <a:lnTo>
                  <a:pt x="0" y="93395"/>
                </a:lnTo>
                <a:lnTo>
                  <a:pt x="0" y="280187"/>
                </a:lnTo>
                <a:lnTo>
                  <a:pt x="511352" y="280187"/>
                </a:lnTo>
                <a:lnTo>
                  <a:pt x="511352" y="373570"/>
                </a:lnTo>
                <a:lnTo>
                  <a:pt x="698144" y="186791"/>
                </a:lnTo>
                <a:lnTo>
                  <a:pt x="511352" y="0"/>
                </a:lnTo>
                <a:close/>
              </a:path>
            </a:pathLst>
          </a:custGeom>
          <a:solidFill>
            <a:srgbClr val="BBE0E3"/>
          </a:solidFill>
        </p:spPr>
        <p:txBody>
          <a:bodyPr wrap="square" lIns="0" tIns="0" rIns="0" bIns="0" rtlCol="0"/>
          <a:lstStyle/>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71619" y="113125"/>
            <a:ext cx="2467610" cy="513080"/>
          </a:xfrm>
          <a:prstGeom prst="rect"/>
        </p:spPr>
        <p:txBody>
          <a:bodyPr wrap="square" lIns="0" tIns="12065" rIns="0" bIns="0" rtlCol="0" vert="horz">
            <a:spAutoFit/>
          </a:bodyPr>
          <a:lstStyle/>
          <a:p>
            <a:pPr marL="12700">
              <a:lnSpc>
                <a:spcPct val="100000"/>
              </a:lnSpc>
              <a:spcBef>
                <a:spcPts val="95"/>
              </a:spcBef>
            </a:pPr>
            <a:r>
              <a:rPr dirty="0" spc="-40"/>
              <a:t>配置文件制作</a:t>
            </a:r>
          </a:p>
        </p:txBody>
      </p:sp>
      <p:grpSp>
        <p:nvGrpSpPr>
          <p:cNvPr id="3" name="object 3" descr=""/>
          <p:cNvGrpSpPr/>
          <p:nvPr/>
        </p:nvGrpSpPr>
        <p:grpSpPr>
          <a:xfrm>
            <a:off x="194713" y="882650"/>
            <a:ext cx="8747760" cy="3960495"/>
            <a:chOff x="194713" y="882650"/>
            <a:chExt cx="8747760" cy="3960495"/>
          </a:xfrm>
        </p:grpSpPr>
        <p:sp>
          <p:nvSpPr>
            <p:cNvPr id="4" name="object 4" descr=""/>
            <p:cNvSpPr/>
            <p:nvPr/>
          </p:nvSpPr>
          <p:spPr>
            <a:xfrm>
              <a:off x="304800" y="889000"/>
              <a:ext cx="0" cy="1597025"/>
            </a:xfrm>
            <a:custGeom>
              <a:avLst/>
              <a:gdLst/>
              <a:ahLst/>
              <a:cxnLst/>
              <a:rect l="l" t="t" r="r" b="b"/>
              <a:pathLst>
                <a:path w="0" h="1597025">
                  <a:moveTo>
                    <a:pt x="0" y="0"/>
                  </a:moveTo>
                  <a:lnTo>
                    <a:pt x="0" y="1596872"/>
                  </a:lnTo>
                </a:path>
              </a:pathLst>
            </a:custGeom>
            <a:ln w="12700">
              <a:solidFill>
                <a:srgbClr val="000000"/>
              </a:solidFill>
            </a:ln>
          </p:spPr>
          <p:txBody>
            <a:bodyPr wrap="square" lIns="0" tIns="0" rIns="0" bIns="0" rtlCol="0"/>
            <a:lstStyle/>
            <a:p/>
          </p:txBody>
        </p:sp>
        <p:sp>
          <p:nvSpPr>
            <p:cNvPr id="5" name="object 5" descr=""/>
            <p:cNvSpPr/>
            <p:nvPr/>
          </p:nvSpPr>
          <p:spPr>
            <a:xfrm>
              <a:off x="8929165" y="889000"/>
              <a:ext cx="0" cy="1597025"/>
            </a:xfrm>
            <a:custGeom>
              <a:avLst/>
              <a:gdLst/>
              <a:ahLst/>
              <a:cxnLst/>
              <a:rect l="l" t="t" r="r" b="b"/>
              <a:pathLst>
                <a:path w="0" h="1597025">
                  <a:moveTo>
                    <a:pt x="0" y="0"/>
                  </a:moveTo>
                  <a:lnTo>
                    <a:pt x="0" y="1596872"/>
                  </a:lnTo>
                </a:path>
              </a:pathLst>
            </a:custGeom>
            <a:ln w="12700">
              <a:solidFill>
                <a:srgbClr val="000000"/>
              </a:solidFill>
            </a:ln>
          </p:spPr>
          <p:txBody>
            <a:bodyPr wrap="square" lIns="0" tIns="0" rIns="0" bIns="0" rtlCol="0"/>
            <a:lstStyle/>
            <a:p/>
          </p:txBody>
        </p:sp>
        <p:sp>
          <p:nvSpPr>
            <p:cNvPr id="6" name="object 6" descr=""/>
            <p:cNvSpPr/>
            <p:nvPr/>
          </p:nvSpPr>
          <p:spPr>
            <a:xfrm>
              <a:off x="298450" y="895350"/>
              <a:ext cx="8637270" cy="0"/>
            </a:xfrm>
            <a:custGeom>
              <a:avLst/>
              <a:gdLst/>
              <a:ahLst/>
              <a:cxnLst/>
              <a:rect l="l" t="t" r="r" b="b"/>
              <a:pathLst>
                <a:path w="8637270" h="0">
                  <a:moveTo>
                    <a:pt x="0" y="0"/>
                  </a:moveTo>
                  <a:lnTo>
                    <a:pt x="8637066" y="0"/>
                  </a:lnTo>
                </a:path>
              </a:pathLst>
            </a:custGeom>
            <a:ln w="12700">
              <a:solidFill>
                <a:srgbClr val="000000"/>
              </a:solidFill>
            </a:ln>
          </p:spPr>
          <p:txBody>
            <a:bodyPr wrap="square" lIns="0" tIns="0" rIns="0" bIns="0" rtlCol="0"/>
            <a:lstStyle/>
            <a:p/>
          </p:txBody>
        </p:sp>
        <p:sp>
          <p:nvSpPr>
            <p:cNvPr id="7" name="object 7" descr=""/>
            <p:cNvSpPr/>
            <p:nvPr/>
          </p:nvSpPr>
          <p:spPr>
            <a:xfrm>
              <a:off x="298450" y="2479526"/>
              <a:ext cx="8637270" cy="0"/>
            </a:xfrm>
            <a:custGeom>
              <a:avLst/>
              <a:gdLst/>
              <a:ahLst/>
              <a:cxnLst/>
              <a:rect l="l" t="t" r="r" b="b"/>
              <a:pathLst>
                <a:path w="8637270" h="0">
                  <a:moveTo>
                    <a:pt x="0" y="0"/>
                  </a:moveTo>
                  <a:lnTo>
                    <a:pt x="8637066" y="0"/>
                  </a:lnTo>
                </a:path>
              </a:pathLst>
            </a:custGeom>
            <a:ln w="12700">
              <a:solidFill>
                <a:srgbClr val="000000"/>
              </a:solidFill>
            </a:ln>
          </p:spPr>
          <p:txBody>
            <a:bodyPr wrap="square" lIns="0" tIns="0" rIns="0" bIns="0" rtlCol="0"/>
            <a:lstStyle/>
            <a:p/>
          </p:txBody>
        </p:sp>
        <p:pic>
          <p:nvPicPr>
            <p:cNvPr id="8" name="object 8"/>
            <p:cNvPicPr/>
            <p:nvPr/>
          </p:nvPicPr>
          <p:blipFill>
            <a:blip r:embed="rId2" cstate="print"/>
            <a:stretch>
              <a:fillRect/>
            </a:stretch>
          </p:blipFill>
          <p:spPr>
            <a:xfrm>
              <a:off x="288031" y="2715767"/>
              <a:ext cx="8604444" cy="1008110"/>
            </a:xfrm>
            <a:prstGeom prst="rect">
              <a:avLst/>
            </a:prstGeom>
          </p:spPr>
        </p:pic>
        <p:pic>
          <p:nvPicPr>
            <p:cNvPr id="9" name="object 9"/>
            <p:cNvPicPr/>
            <p:nvPr/>
          </p:nvPicPr>
          <p:blipFill>
            <a:blip r:embed="rId3" cstate="print"/>
            <a:stretch>
              <a:fillRect/>
            </a:stretch>
          </p:blipFill>
          <p:spPr>
            <a:xfrm>
              <a:off x="288036" y="3817594"/>
              <a:ext cx="8624361" cy="914395"/>
            </a:xfrm>
            <a:prstGeom prst="rect">
              <a:avLst/>
            </a:prstGeom>
          </p:spPr>
        </p:pic>
        <p:sp>
          <p:nvSpPr>
            <p:cNvPr id="10" name="object 10" descr=""/>
            <p:cNvSpPr/>
            <p:nvPr/>
          </p:nvSpPr>
          <p:spPr>
            <a:xfrm>
              <a:off x="207413" y="924703"/>
              <a:ext cx="0" cy="383540"/>
            </a:xfrm>
            <a:custGeom>
              <a:avLst/>
              <a:gdLst/>
              <a:ahLst/>
              <a:cxnLst/>
              <a:rect l="l" t="t" r="r" b="b"/>
              <a:pathLst>
                <a:path w="0" h="383540">
                  <a:moveTo>
                    <a:pt x="0" y="0"/>
                  </a:moveTo>
                  <a:lnTo>
                    <a:pt x="0" y="383540"/>
                  </a:lnTo>
                </a:path>
              </a:pathLst>
            </a:custGeom>
            <a:ln w="12700">
              <a:solidFill>
                <a:srgbClr val="000000"/>
              </a:solidFill>
            </a:ln>
          </p:spPr>
          <p:txBody>
            <a:bodyPr wrap="square" lIns="0" tIns="0" rIns="0" bIns="0" rtlCol="0"/>
            <a:lstStyle/>
            <a:p/>
          </p:txBody>
        </p:sp>
        <p:sp>
          <p:nvSpPr>
            <p:cNvPr id="11" name="object 11" descr=""/>
            <p:cNvSpPr/>
            <p:nvPr/>
          </p:nvSpPr>
          <p:spPr>
            <a:xfrm>
              <a:off x="8869560" y="924703"/>
              <a:ext cx="0" cy="383540"/>
            </a:xfrm>
            <a:custGeom>
              <a:avLst/>
              <a:gdLst/>
              <a:ahLst/>
              <a:cxnLst/>
              <a:rect l="l" t="t" r="r" b="b"/>
              <a:pathLst>
                <a:path w="0" h="383540">
                  <a:moveTo>
                    <a:pt x="0" y="0"/>
                  </a:moveTo>
                  <a:lnTo>
                    <a:pt x="0" y="383540"/>
                  </a:lnTo>
                </a:path>
              </a:pathLst>
            </a:custGeom>
            <a:ln w="12700">
              <a:solidFill>
                <a:srgbClr val="000000"/>
              </a:solidFill>
            </a:ln>
          </p:spPr>
          <p:txBody>
            <a:bodyPr wrap="square" lIns="0" tIns="0" rIns="0" bIns="0" rtlCol="0"/>
            <a:lstStyle/>
            <a:p/>
          </p:txBody>
        </p:sp>
        <p:sp>
          <p:nvSpPr>
            <p:cNvPr id="12" name="object 12" descr=""/>
            <p:cNvSpPr/>
            <p:nvPr/>
          </p:nvSpPr>
          <p:spPr>
            <a:xfrm>
              <a:off x="201063" y="931053"/>
              <a:ext cx="8675370" cy="0"/>
            </a:xfrm>
            <a:custGeom>
              <a:avLst/>
              <a:gdLst/>
              <a:ahLst/>
              <a:cxnLst/>
              <a:rect l="l" t="t" r="r" b="b"/>
              <a:pathLst>
                <a:path w="8675370" h="0">
                  <a:moveTo>
                    <a:pt x="0" y="0"/>
                  </a:moveTo>
                  <a:lnTo>
                    <a:pt x="8674849" y="0"/>
                  </a:lnTo>
                </a:path>
              </a:pathLst>
            </a:custGeom>
            <a:ln w="12700">
              <a:solidFill>
                <a:srgbClr val="000000"/>
              </a:solidFill>
            </a:ln>
          </p:spPr>
          <p:txBody>
            <a:bodyPr wrap="square" lIns="0" tIns="0" rIns="0" bIns="0" rtlCol="0"/>
            <a:lstStyle/>
            <a:p/>
          </p:txBody>
        </p:sp>
        <p:sp>
          <p:nvSpPr>
            <p:cNvPr id="13" name="object 13" descr=""/>
            <p:cNvSpPr/>
            <p:nvPr/>
          </p:nvSpPr>
          <p:spPr>
            <a:xfrm>
              <a:off x="201063" y="1301894"/>
              <a:ext cx="8675370" cy="0"/>
            </a:xfrm>
            <a:custGeom>
              <a:avLst/>
              <a:gdLst/>
              <a:ahLst/>
              <a:cxnLst/>
              <a:rect l="l" t="t" r="r" b="b"/>
              <a:pathLst>
                <a:path w="8675370" h="0">
                  <a:moveTo>
                    <a:pt x="0" y="0"/>
                  </a:moveTo>
                  <a:lnTo>
                    <a:pt x="8674849" y="0"/>
                  </a:lnTo>
                </a:path>
              </a:pathLst>
            </a:custGeom>
            <a:ln w="12700">
              <a:solidFill>
                <a:srgbClr val="000000"/>
              </a:solidFill>
            </a:ln>
          </p:spPr>
          <p:txBody>
            <a:bodyPr wrap="square" lIns="0" tIns="0" rIns="0" bIns="0" rtlCol="0"/>
            <a:lstStyle/>
            <a:p/>
          </p:txBody>
        </p:sp>
        <p:sp>
          <p:nvSpPr>
            <p:cNvPr id="14" name="object 14" descr=""/>
            <p:cNvSpPr/>
            <p:nvPr/>
          </p:nvSpPr>
          <p:spPr>
            <a:xfrm>
              <a:off x="228600" y="1853958"/>
              <a:ext cx="8641080" cy="1701164"/>
            </a:xfrm>
            <a:custGeom>
              <a:avLst/>
              <a:gdLst/>
              <a:ahLst/>
              <a:cxnLst/>
              <a:rect l="l" t="t" r="r" b="b"/>
              <a:pathLst>
                <a:path w="8641080" h="1701164">
                  <a:moveTo>
                    <a:pt x="8640953" y="1275562"/>
                  </a:moveTo>
                  <a:lnTo>
                    <a:pt x="4307446" y="1275562"/>
                  </a:lnTo>
                  <a:lnTo>
                    <a:pt x="2176208" y="1275562"/>
                  </a:lnTo>
                  <a:lnTo>
                    <a:pt x="0" y="1275562"/>
                  </a:lnTo>
                  <a:lnTo>
                    <a:pt x="0" y="1700758"/>
                  </a:lnTo>
                  <a:lnTo>
                    <a:pt x="2176208" y="1700758"/>
                  </a:lnTo>
                  <a:lnTo>
                    <a:pt x="4307446" y="1700758"/>
                  </a:lnTo>
                  <a:lnTo>
                    <a:pt x="8640953" y="1700758"/>
                  </a:lnTo>
                  <a:lnTo>
                    <a:pt x="8640953" y="1275562"/>
                  </a:lnTo>
                  <a:close/>
                </a:path>
                <a:path w="8641080" h="1701164">
                  <a:moveTo>
                    <a:pt x="8640953" y="0"/>
                  </a:moveTo>
                  <a:lnTo>
                    <a:pt x="4307446" y="0"/>
                  </a:lnTo>
                  <a:lnTo>
                    <a:pt x="2176208" y="0"/>
                  </a:lnTo>
                  <a:lnTo>
                    <a:pt x="0" y="0"/>
                  </a:lnTo>
                  <a:lnTo>
                    <a:pt x="0" y="850379"/>
                  </a:lnTo>
                  <a:lnTo>
                    <a:pt x="2176208" y="850379"/>
                  </a:lnTo>
                  <a:lnTo>
                    <a:pt x="4307446" y="850379"/>
                  </a:lnTo>
                  <a:lnTo>
                    <a:pt x="8640953" y="850379"/>
                  </a:lnTo>
                  <a:lnTo>
                    <a:pt x="8640953" y="0"/>
                  </a:lnTo>
                  <a:close/>
                </a:path>
              </a:pathLst>
            </a:custGeom>
            <a:solidFill>
              <a:srgbClr val="BBE0E3">
                <a:alpha val="19999"/>
              </a:srgbClr>
            </a:solidFill>
          </p:spPr>
          <p:txBody>
            <a:bodyPr wrap="square" lIns="0" tIns="0" rIns="0" bIns="0" rtlCol="0"/>
            <a:lstStyle/>
            <a:p/>
          </p:txBody>
        </p:sp>
        <p:sp>
          <p:nvSpPr>
            <p:cNvPr id="15" name="object 15" descr=""/>
            <p:cNvSpPr/>
            <p:nvPr/>
          </p:nvSpPr>
          <p:spPr>
            <a:xfrm>
              <a:off x="2404813" y="1422400"/>
              <a:ext cx="0" cy="3414395"/>
            </a:xfrm>
            <a:custGeom>
              <a:avLst/>
              <a:gdLst/>
              <a:ahLst/>
              <a:cxnLst/>
              <a:rect l="l" t="t" r="r" b="b"/>
              <a:pathLst>
                <a:path w="0" h="3414395">
                  <a:moveTo>
                    <a:pt x="0" y="0"/>
                  </a:moveTo>
                  <a:lnTo>
                    <a:pt x="0" y="3414229"/>
                  </a:lnTo>
                </a:path>
              </a:pathLst>
            </a:custGeom>
            <a:ln w="12700">
              <a:solidFill>
                <a:srgbClr val="BBE0E3"/>
              </a:solidFill>
            </a:ln>
          </p:spPr>
          <p:txBody>
            <a:bodyPr wrap="square" lIns="0" tIns="0" rIns="0" bIns="0" rtlCol="0"/>
            <a:lstStyle/>
            <a:p/>
          </p:txBody>
        </p:sp>
        <p:sp>
          <p:nvSpPr>
            <p:cNvPr id="16" name="object 16" descr=""/>
            <p:cNvSpPr/>
            <p:nvPr/>
          </p:nvSpPr>
          <p:spPr>
            <a:xfrm>
              <a:off x="4536048" y="1422400"/>
              <a:ext cx="0" cy="3414395"/>
            </a:xfrm>
            <a:custGeom>
              <a:avLst/>
              <a:gdLst/>
              <a:ahLst/>
              <a:cxnLst/>
              <a:rect l="l" t="t" r="r" b="b"/>
              <a:pathLst>
                <a:path w="0" h="3414395">
                  <a:moveTo>
                    <a:pt x="0" y="0"/>
                  </a:moveTo>
                  <a:lnTo>
                    <a:pt x="0" y="3414229"/>
                  </a:lnTo>
                </a:path>
              </a:pathLst>
            </a:custGeom>
            <a:ln w="12700">
              <a:solidFill>
                <a:srgbClr val="BBE0E3"/>
              </a:solidFill>
            </a:ln>
          </p:spPr>
          <p:txBody>
            <a:bodyPr wrap="square" lIns="0" tIns="0" rIns="0" bIns="0" rtlCol="0"/>
            <a:lstStyle/>
            <a:p/>
          </p:txBody>
        </p:sp>
        <p:sp>
          <p:nvSpPr>
            <p:cNvPr id="17" name="object 17" descr=""/>
            <p:cNvSpPr/>
            <p:nvPr/>
          </p:nvSpPr>
          <p:spPr>
            <a:xfrm>
              <a:off x="222250" y="1853942"/>
              <a:ext cx="8653780" cy="0"/>
            </a:xfrm>
            <a:custGeom>
              <a:avLst/>
              <a:gdLst/>
              <a:ahLst/>
              <a:cxnLst/>
              <a:rect l="l" t="t" r="r" b="b"/>
              <a:pathLst>
                <a:path w="8653780" h="0">
                  <a:moveTo>
                    <a:pt x="0" y="0"/>
                  </a:moveTo>
                  <a:lnTo>
                    <a:pt x="8653665" y="0"/>
                  </a:lnTo>
                </a:path>
              </a:pathLst>
            </a:custGeom>
            <a:ln w="25400">
              <a:solidFill>
                <a:srgbClr val="BBE0E3"/>
              </a:solidFill>
            </a:ln>
          </p:spPr>
          <p:txBody>
            <a:bodyPr wrap="square" lIns="0" tIns="0" rIns="0" bIns="0" rtlCol="0"/>
            <a:lstStyle/>
            <a:p/>
          </p:txBody>
        </p:sp>
        <p:sp>
          <p:nvSpPr>
            <p:cNvPr id="18" name="object 18" descr=""/>
            <p:cNvSpPr/>
            <p:nvPr/>
          </p:nvSpPr>
          <p:spPr>
            <a:xfrm>
              <a:off x="222250" y="2704326"/>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19" name="object 19" descr=""/>
            <p:cNvSpPr/>
            <p:nvPr/>
          </p:nvSpPr>
          <p:spPr>
            <a:xfrm>
              <a:off x="222250" y="3129517"/>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20" name="object 20" descr=""/>
            <p:cNvSpPr/>
            <p:nvPr/>
          </p:nvSpPr>
          <p:spPr>
            <a:xfrm>
              <a:off x="222250" y="3554709"/>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21" name="object 21" descr=""/>
            <p:cNvSpPr/>
            <p:nvPr/>
          </p:nvSpPr>
          <p:spPr>
            <a:xfrm>
              <a:off x="228600" y="1422400"/>
              <a:ext cx="0" cy="3414395"/>
            </a:xfrm>
            <a:custGeom>
              <a:avLst/>
              <a:gdLst/>
              <a:ahLst/>
              <a:cxnLst/>
              <a:rect l="l" t="t" r="r" b="b"/>
              <a:pathLst>
                <a:path w="0" h="3414395">
                  <a:moveTo>
                    <a:pt x="0" y="0"/>
                  </a:moveTo>
                  <a:lnTo>
                    <a:pt x="0" y="3414229"/>
                  </a:lnTo>
                </a:path>
              </a:pathLst>
            </a:custGeom>
            <a:ln w="12700">
              <a:solidFill>
                <a:srgbClr val="BBE0E3"/>
              </a:solidFill>
            </a:ln>
          </p:spPr>
          <p:txBody>
            <a:bodyPr wrap="square" lIns="0" tIns="0" rIns="0" bIns="0" rtlCol="0"/>
            <a:lstStyle/>
            <a:p/>
          </p:txBody>
        </p:sp>
        <p:sp>
          <p:nvSpPr>
            <p:cNvPr id="22" name="object 22" descr=""/>
            <p:cNvSpPr/>
            <p:nvPr/>
          </p:nvSpPr>
          <p:spPr>
            <a:xfrm>
              <a:off x="8869559" y="1422400"/>
              <a:ext cx="0" cy="3414395"/>
            </a:xfrm>
            <a:custGeom>
              <a:avLst/>
              <a:gdLst/>
              <a:ahLst/>
              <a:cxnLst/>
              <a:rect l="l" t="t" r="r" b="b"/>
              <a:pathLst>
                <a:path w="0" h="3414395">
                  <a:moveTo>
                    <a:pt x="0" y="0"/>
                  </a:moveTo>
                  <a:lnTo>
                    <a:pt x="0" y="3414229"/>
                  </a:lnTo>
                </a:path>
              </a:pathLst>
            </a:custGeom>
            <a:ln w="12700">
              <a:solidFill>
                <a:srgbClr val="BBE0E3"/>
              </a:solidFill>
            </a:ln>
          </p:spPr>
          <p:txBody>
            <a:bodyPr wrap="square" lIns="0" tIns="0" rIns="0" bIns="0" rtlCol="0"/>
            <a:lstStyle/>
            <a:p/>
          </p:txBody>
        </p:sp>
        <p:sp>
          <p:nvSpPr>
            <p:cNvPr id="23" name="object 23" descr=""/>
            <p:cNvSpPr/>
            <p:nvPr/>
          </p:nvSpPr>
          <p:spPr>
            <a:xfrm>
              <a:off x="222250" y="1428750"/>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24" name="object 24" descr=""/>
            <p:cNvSpPr/>
            <p:nvPr/>
          </p:nvSpPr>
          <p:spPr>
            <a:xfrm>
              <a:off x="222250" y="4830286"/>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grpSp>
      <p:sp>
        <p:nvSpPr>
          <p:cNvPr id="25" name="object 25" descr=""/>
          <p:cNvSpPr txBox="1"/>
          <p:nvPr/>
        </p:nvSpPr>
        <p:spPr>
          <a:xfrm>
            <a:off x="500430" y="2820046"/>
            <a:ext cx="2787015" cy="1494155"/>
          </a:xfrm>
          <a:prstGeom prst="rect">
            <a:avLst/>
          </a:prstGeom>
        </p:spPr>
        <p:txBody>
          <a:bodyPr wrap="square" lIns="0" tIns="0" rIns="0" bIns="0" rtlCol="0" vert="horz">
            <a:spAutoFit/>
          </a:bodyPr>
          <a:lstStyle/>
          <a:p>
            <a:pPr>
              <a:lnSpc>
                <a:spcPts val="1695"/>
              </a:lnSpc>
              <a:tabLst>
                <a:tab pos="1972310" algn="l"/>
              </a:tabLst>
            </a:pPr>
            <a:r>
              <a:rPr dirty="0" sz="1600">
                <a:latin typeface="SimSun"/>
                <a:cs typeface="SimSun"/>
              </a:rPr>
              <a:t>备友好</a:t>
            </a:r>
            <a:r>
              <a:rPr dirty="0" sz="1600" spc="-50">
                <a:latin typeface="SimSun"/>
                <a:cs typeface="SimSun"/>
              </a:rPr>
              <a:t>名</a:t>
            </a:r>
            <a:r>
              <a:rPr dirty="0" sz="1600">
                <a:latin typeface="SimSun"/>
                <a:cs typeface="SimSun"/>
              </a:rPr>
              <a:t>	站点名</a:t>
            </a:r>
            <a:r>
              <a:rPr dirty="0" sz="1600" spc="-50">
                <a:latin typeface="SimSun"/>
                <a:cs typeface="SimSun"/>
              </a:rPr>
              <a:t>称</a:t>
            </a:r>
            <a:endParaRPr sz="1600">
              <a:latin typeface="SimSun"/>
              <a:cs typeface="SimSun"/>
            </a:endParaRPr>
          </a:p>
          <a:p>
            <a:pPr>
              <a:lnSpc>
                <a:spcPct val="100000"/>
              </a:lnSpc>
              <a:spcBef>
                <a:spcPts val="1425"/>
              </a:spcBef>
              <a:tabLst>
                <a:tab pos="1972310" algn="l"/>
              </a:tabLst>
            </a:pPr>
            <a:r>
              <a:rPr dirty="0" sz="1600">
                <a:latin typeface="SimSun"/>
                <a:cs typeface="SimSun"/>
              </a:rPr>
              <a:t>站物理</a:t>
            </a:r>
            <a:r>
              <a:rPr dirty="0" sz="1600" spc="-25">
                <a:latin typeface="Arial MT"/>
                <a:cs typeface="Arial MT"/>
              </a:rPr>
              <a:t>ID</a:t>
            </a:r>
            <a:r>
              <a:rPr dirty="0" sz="1600">
                <a:latin typeface="Arial MT"/>
                <a:cs typeface="Arial MT"/>
              </a:rPr>
              <a:t>	eNB</a:t>
            </a:r>
            <a:r>
              <a:rPr dirty="0" sz="1600" spc="-30">
                <a:latin typeface="Arial MT"/>
                <a:cs typeface="Arial MT"/>
              </a:rPr>
              <a:t> </a:t>
            </a:r>
            <a:r>
              <a:rPr dirty="0" sz="1600" spc="-25">
                <a:latin typeface="Arial MT"/>
                <a:cs typeface="Arial MT"/>
              </a:rPr>
              <a:t>ID</a:t>
            </a:r>
            <a:endParaRPr sz="1600">
              <a:latin typeface="Arial MT"/>
              <a:cs typeface="Arial MT"/>
            </a:endParaRPr>
          </a:p>
          <a:p>
            <a:pPr>
              <a:lnSpc>
                <a:spcPct val="100000"/>
              </a:lnSpc>
            </a:pPr>
            <a:endParaRPr sz="1600">
              <a:latin typeface="Arial MT"/>
              <a:cs typeface="Arial MT"/>
            </a:endParaRPr>
          </a:p>
          <a:p>
            <a:pPr>
              <a:lnSpc>
                <a:spcPct val="100000"/>
              </a:lnSpc>
              <a:spcBef>
                <a:spcPts val="1095"/>
              </a:spcBef>
            </a:pPr>
            <a:endParaRPr sz="1600">
              <a:latin typeface="Arial MT"/>
              <a:cs typeface="Arial MT"/>
            </a:endParaRPr>
          </a:p>
          <a:p>
            <a:pPr marL="101600">
              <a:lnSpc>
                <a:spcPct val="100000"/>
              </a:lnSpc>
              <a:spcBef>
                <a:spcPts val="5"/>
              </a:spcBef>
              <a:tabLst>
                <a:tab pos="1972310" algn="l"/>
              </a:tabLst>
            </a:pPr>
            <a:r>
              <a:rPr dirty="0" sz="1600">
                <a:latin typeface="Arial MT"/>
                <a:cs typeface="Arial MT"/>
              </a:rPr>
              <a:t>B</a:t>
            </a:r>
            <a:r>
              <a:rPr dirty="0" sz="1600">
                <a:latin typeface="SimSun"/>
                <a:cs typeface="SimSun"/>
              </a:rPr>
              <a:t>全球</a:t>
            </a:r>
            <a:r>
              <a:rPr dirty="0" sz="1600" spc="-25">
                <a:latin typeface="Arial MT"/>
                <a:cs typeface="Arial MT"/>
              </a:rPr>
              <a:t>ID</a:t>
            </a:r>
            <a:r>
              <a:rPr dirty="0" sz="1600">
                <a:latin typeface="Arial MT"/>
                <a:cs typeface="Arial MT"/>
              </a:rPr>
              <a:t>	eNB</a:t>
            </a:r>
            <a:r>
              <a:rPr dirty="0" sz="1600" spc="-30">
                <a:latin typeface="Arial MT"/>
                <a:cs typeface="Arial MT"/>
              </a:rPr>
              <a:t> </a:t>
            </a:r>
            <a:r>
              <a:rPr dirty="0" sz="1600" spc="-25">
                <a:latin typeface="Arial MT"/>
                <a:cs typeface="Arial MT"/>
              </a:rPr>
              <a:t>ID</a:t>
            </a:r>
            <a:endParaRPr sz="1600">
              <a:latin typeface="Arial MT"/>
              <a:cs typeface="Arial MT"/>
            </a:endParaRPr>
          </a:p>
        </p:txBody>
      </p:sp>
      <p:sp>
        <p:nvSpPr>
          <p:cNvPr id="26" name="object 26" descr=""/>
          <p:cNvSpPr txBox="1"/>
          <p:nvPr/>
        </p:nvSpPr>
        <p:spPr>
          <a:xfrm>
            <a:off x="5214866" y="3245265"/>
            <a:ext cx="2966720" cy="1265555"/>
          </a:xfrm>
          <a:prstGeom prst="rect">
            <a:avLst/>
          </a:prstGeom>
        </p:spPr>
        <p:txBody>
          <a:bodyPr wrap="square" lIns="0" tIns="0" rIns="0" bIns="0" rtlCol="0" vert="horz">
            <a:spAutoFit/>
          </a:bodyPr>
          <a:lstStyle/>
          <a:p>
            <a:pPr>
              <a:lnSpc>
                <a:spcPts val="1695"/>
              </a:lnSpc>
            </a:pPr>
            <a:r>
              <a:rPr dirty="0" sz="1600" spc="-10">
                <a:latin typeface="SimSun"/>
                <a:cs typeface="SimSun"/>
              </a:rPr>
              <a:t>网元标识一致。</a:t>
            </a:r>
            <a:endParaRPr sz="1600">
              <a:latin typeface="SimSun"/>
              <a:cs typeface="SimSun"/>
            </a:endParaRPr>
          </a:p>
          <a:p>
            <a:pPr>
              <a:lnSpc>
                <a:spcPct val="100000"/>
              </a:lnSpc>
              <a:spcBef>
                <a:spcPts val="1395"/>
              </a:spcBef>
            </a:pPr>
            <a:endParaRPr sz="1600">
              <a:latin typeface="SimSun"/>
              <a:cs typeface="SimSun"/>
            </a:endParaRPr>
          </a:p>
          <a:p>
            <a:pPr marL="43180">
              <a:lnSpc>
                <a:spcPct val="100000"/>
              </a:lnSpc>
            </a:pPr>
            <a:r>
              <a:rPr dirty="0" sz="1600">
                <a:latin typeface="SimSun"/>
                <a:cs typeface="SimSun"/>
              </a:rPr>
              <a:t>球</a:t>
            </a:r>
            <a:r>
              <a:rPr dirty="0" sz="1600">
                <a:latin typeface="Arial MT"/>
                <a:cs typeface="Arial MT"/>
              </a:rPr>
              <a:t>ID</a:t>
            </a:r>
            <a:r>
              <a:rPr dirty="0" sz="1600" spc="-5">
                <a:latin typeface="SimSun"/>
                <a:cs typeface="SimSun"/>
              </a:rPr>
              <a:t>必须与核心网侧添加的一致</a:t>
            </a:r>
            <a:endParaRPr sz="1600">
              <a:latin typeface="SimSun"/>
              <a:cs typeface="SimSun"/>
            </a:endParaRPr>
          </a:p>
          <a:p>
            <a:pPr>
              <a:lnSpc>
                <a:spcPct val="100000"/>
              </a:lnSpc>
              <a:spcBef>
                <a:spcPts val="960"/>
              </a:spcBef>
            </a:pPr>
            <a:r>
              <a:rPr dirty="0" sz="1600" spc="-10">
                <a:latin typeface="Arial MT"/>
                <a:cs typeface="Arial MT"/>
              </a:rPr>
              <a:t>SCTP</a:t>
            </a:r>
            <a:r>
              <a:rPr dirty="0" sz="1600" spc="-15">
                <a:latin typeface="SimSun"/>
                <a:cs typeface="SimSun"/>
              </a:rPr>
              <a:t>链路闪断。</a:t>
            </a:r>
            <a:endParaRPr sz="1600">
              <a:latin typeface="SimSun"/>
              <a:cs typeface="SimSun"/>
            </a:endParaRPr>
          </a:p>
        </p:txBody>
      </p:sp>
      <p:grpSp>
        <p:nvGrpSpPr>
          <p:cNvPr id="27" name="object 27" descr=""/>
          <p:cNvGrpSpPr/>
          <p:nvPr/>
        </p:nvGrpSpPr>
        <p:grpSpPr>
          <a:xfrm>
            <a:off x="265356" y="845154"/>
            <a:ext cx="8699500" cy="4025265"/>
            <a:chOff x="265356" y="845154"/>
            <a:chExt cx="8699500" cy="4025265"/>
          </a:xfrm>
        </p:grpSpPr>
        <p:sp>
          <p:nvSpPr>
            <p:cNvPr id="28" name="object 28" descr=""/>
            <p:cNvSpPr/>
            <p:nvPr/>
          </p:nvSpPr>
          <p:spPr>
            <a:xfrm>
              <a:off x="278056" y="851504"/>
              <a:ext cx="0" cy="1384300"/>
            </a:xfrm>
            <a:custGeom>
              <a:avLst/>
              <a:gdLst/>
              <a:ahLst/>
              <a:cxnLst/>
              <a:rect l="l" t="t" r="r" b="b"/>
              <a:pathLst>
                <a:path w="0" h="1384300">
                  <a:moveTo>
                    <a:pt x="0" y="0"/>
                  </a:moveTo>
                  <a:lnTo>
                    <a:pt x="0" y="1384300"/>
                  </a:lnTo>
                </a:path>
              </a:pathLst>
            </a:custGeom>
            <a:ln w="12700">
              <a:solidFill>
                <a:srgbClr val="000000"/>
              </a:solidFill>
            </a:ln>
          </p:spPr>
          <p:txBody>
            <a:bodyPr wrap="square" lIns="0" tIns="0" rIns="0" bIns="0" rtlCol="0"/>
            <a:lstStyle/>
            <a:p/>
          </p:txBody>
        </p:sp>
        <p:sp>
          <p:nvSpPr>
            <p:cNvPr id="29" name="object 29" descr=""/>
            <p:cNvSpPr/>
            <p:nvPr/>
          </p:nvSpPr>
          <p:spPr>
            <a:xfrm>
              <a:off x="8867622" y="851504"/>
              <a:ext cx="0" cy="1384300"/>
            </a:xfrm>
            <a:custGeom>
              <a:avLst/>
              <a:gdLst/>
              <a:ahLst/>
              <a:cxnLst/>
              <a:rect l="l" t="t" r="r" b="b"/>
              <a:pathLst>
                <a:path w="0" h="1384300">
                  <a:moveTo>
                    <a:pt x="0" y="0"/>
                  </a:moveTo>
                  <a:lnTo>
                    <a:pt x="0" y="1384300"/>
                  </a:lnTo>
                </a:path>
              </a:pathLst>
            </a:custGeom>
            <a:ln w="12700">
              <a:solidFill>
                <a:srgbClr val="000000"/>
              </a:solidFill>
            </a:ln>
          </p:spPr>
          <p:txBody>
            <a:bodyPr wrap="square" lIns="0" tIns="0" rIns="0" bIns="0" rtlCol="0"/>
            <a:lstStyle/>
            <a:p/>
          </p:txBody>
        </p:sp>
        <p:sp>
          <p:nvSpPr>
            <p:cNvPr id="30" name="object 30" descr=""/>
            <p:cNvSpPr/>
            <p:nvPr/>
          </p:nvSpPr>
          <p:spPr>
            <a:xfrm>
              <a:off x="271706" y="857854"/>
              <a:ext cx="8602345" cy="0"/>
            </a:xfrm>
            <a:custGeom>
              <a:avLst/>
              <a:gdLst/>
              <a:ahLst/>
              <a:cxnLst/>
              <a:rect l="l" t="t" r="r" b="b"/>
              <a:pathLst>
                <a:path w="8602345" h="0">
                  <a:moveTo>
                    <a:pt x="0" y="0"/>
                  </a:moveTo>
                  <a:lnTo>
                    <a:pt x="8602268" y="0"/>
                  </a:lnTo>
                </a:path>
              </a:pathLst>
            </a:custGeom>
            <a:ln w="12700">
              <a:solidFill>
                <a:srgbClr val="000000"/>
              </a:solidFill>
            </a:ln>
          </p:spPr>
          <p:txBody>
            <a:bodyPr wrap="square" lIns="0" tIns="0" rIns="0" bIns="0" rtlCol="0"/>
            <a:lstStyle/>
            <a:p/>
          </p:txBody>
        </p:sp>
        <p:sp>
          <p:nvSpPr>
            <p:cNvPr id="31" name="object 31" descr=""/>
            <p:cNvSpPr/>
            <p:nvPr/>
          </p:nvSpPr>
          <p:spPr>
            <a:xfrm>
              <a:off x="271706" y="2229454"/>
              <a:ext cx="8602345" cy="0"/>
            </a:xfrm>
            <a:custGeom>
              <a:avLst/>
              <a:gdLst/>
              <a:ahLst/>
              <a:cxnLst/>
              <a:rect l="l" t="t" r="r" b="b"/>
              <a:pathLst>
                <a:path w="8602345" h="0">
                  <a:moveTo>
                    <a:pt x="0" y="0"/>
                  </a:moveTo>
                  <a:lnTo>
                    <a:pt x="8602268" y="0"/>
                  </a:lnTo>
                </a:path>
              </a:pathLst>
            </a:custGeom>
            <a:ln w="12700">
              <a:solidFill>
                <a:srgbClr val="000000"/>
              </a:solidFill>
            </a:ln>
          </p:spPr>
          <p:txBody>
            <a:bodyPr wrap="square" lIns="0" tIns="0" rIns="0" bIns="0" rtlCol="0"/>
            <a:lstStyle/>
            <a:p/>
          </p:txBody>
        </p:sp>
        <p:pic>
          <p:nvPicPr>
            <p:cNvPr id="32" name="object 32"/>
            <p:cNvPicPr/>
            <p:nvPr/>
          </p:nvPicPr>
          <p:blipFill>
            <a:blip r:embed="rId4" cstate="print"/>
            <a:stretch>
              <a:fillRect/>
            </a:stretch>
          </p:blipFill>
          <p:spPr>
            <a:xfrm>
              <a:off x="638098" y="2495549"/>
              <a:ext cx="3384372" cy="2334460"/>
            </a:xfrm>
            <a:prstGeom prst="rect">
              <a:avLst/>
            </a:prstGeom>
          </p:spPr>
        </p:pic>
        <p:pic>
          <p:nvPicPr>
            <p:cNvPr id="33" name="object 33"/>
            <p:cNvPicPr/>
            <p:nvPr/>
          </p:nvPicPr>
          <p:blipFill>
            <a:blip r:embed="rId5" cstate="print"/>
            <a:stretch>
              <a:fillRect/>
            </a:stretch>
          </p:blipFill>
          <p:spPr>
            <a:xfrm>
              <a:off x="5257800" y="2495549"/>
              <a:ext cx="3085152" cy="2334460"/>
            </a:xfrm>
            <a:prstGeom prst="rect">
              <a:avLst/>
            </a:prstGeom>
          </p:spPr>
        </p:pic>
        <p:sp>
          <p:nvSpPr>
            <p:cNvPr id="34" name="object 34" descr=""/>
            <p:cNvSpPr/>
            <p:nvPr/>
          </p:nvSpPr>
          <p:spPr>
            <a:xfrm>
              <a:off x="4318407" y="3411595"/>
              <a:ext cx="780415" cy="407670"/>
            </a:xfrm>
            <a:custGeom>
              <a:avLst/>
              <a:gdLst/>
              <a:ahLst/>
              <a:cxnLst/>
              <a:rect l="l" t="t" r="r" b="b"/>
              <a:pathLst>
                <a:path w="780414" h="407670">
                  <a:moveTo>
                    <a:pt x="576453" y="0"/>
                  </a:moveTo>
                  <a:lnTo>
                    <a:pt x="576453" y="101866"/>
                  </a:lnTo>
                  <a:lnTo>
                    <a:pt x="0" y="101866"/>
                  </a:lnTo>
                  <a:lnTo>
                    <a:pt x="0" y="305612"/>
                  </a:lnTo>
                  <a:lnTo>
                    <a:pt x="576453" y="305612"/>
                  </a:lnTo>
                  <a:lnTo>
                    <a:pt x="576453" y="407479"/>
                  </a:lnTo>
                  <a:lnTo>
                    <a:pt x="780199" y="203733"/>
                  </a:lnTo>
                  <a:lnTo>
                    <a:pt x="576453" y="0"/>
                  </a:lnTo>
                  <a:close/>
                </a:path>
              </a:pathLst>
            </a:custGeom>
            <a:solidFill>
              <a:srgbClr val="BBE0E3"/>
            </a:solidFill>
          </p:spPr>
          <p:txBody>
            <a:bodyPr wrap="square" lIns="0" tIns="0" rIns="0" bIns="0" rtlCol="0"/>
            <a:lstStyle/>
            <a:p/>
          </p:txBody>
        </p:sp>
        <p:sp>
          <p:nvSpPr>
            <p:cNvPr id="35" name="object 35" descr=""/>
            <p:cNvSpPr/>
            <p:nvPr/>
          </p:nvSpPr>
          <p:spPr>
            <a:xfrm>
              <a:off x="4318407" y="3411595"/>
              <a:ext cx="780415" cy="407670"/>
            </a:xfrm>
            <a:custGeom>
              <a:avLst/>
              <a:gdLst/>
              <a:ahLst/>
              <a:cxnLst/>
              <a:rect l="l" t="t" r="r" b="b"/>
              <a:pathLst>
                <a:path w="780414" h="407670">
                  <a:moveTo>
                    <a:pt x="0" y="101866"/>
                  </a:moveTo>
                  <a:lnTo>
                    <a:pt x="576453" y="101866"/>
                  </a:lnTo>
                  <a:lnTo>
                    <a:pt x="576453" y="0"/>
                  </a:lnTo>
                  <a:lnTo>
                    <a:pt x="780199" y="203733"/>
                  </a:lnTo>
                  <a:lnTo>
                    <a:pt x="576453" y="407479"/>
                  </a:lnTo>
                  <a:lnTo>
                    <a:pt x="576453" y="305612"/>
                  </a:lnTo>
                  <a:lnTo>
                    <a:pt x="0" y="305612"/>
                  </a:lnTo>
                  <a:lnTo>
                    <a:pt x="0" y="101866"/>
                  </a:lnTo>
                  <a:close/>
                </a:path>
              </a:pathLst>
            </a:custGeom>
            <a:ln w="25400">
              <a:solidFill>
                <a:srgbClr val="FFFFFF"/>
              </a:solidFill>
            </a:ln>
          </p:spPr>
          <p:txBody>
            <a:bodyPr wrap="square" lIns="0" tIns="0" rIns="0" bIns="0" rtlCol="0"/>
            <a:lstStyle/>
            <a:p/>
          </p:txBody>
        </p:sp>
        <p:sp>
          <p:nvSpPr>
            <p:cNvPr id="36" name="object 36" descr=""/>
            <p:cNvSpPr/>
            <p:nvPr/>
          </p:nvSpPr>
          <p:spPr>
            <a:xfrm>
              <a:off x="304801" y="952130"/>
              <a:ext cx="0" cy="383540"/>
            </a:xfrm>
            <a:custGeom>
              <a:avLst/>
              <a:gdLst/>
              <a:ahLst/>
              <a:cxnLst/>
              <a:rect l="l" t="t" r="r" b="b"/>
              <a:pathLst>
                <a:path w="0" h="383540">
                  <a:moveTo>
                    <a:pt x="0" y="0"/>
                  </a:moveTo>
                  <a:lnTo>
                    <a:pt x="0" y="383540"/>
                  </a:lnTo>
                </a:path>
              </a:pathLst>
            </a:custGeom>
            <a:ln w="12700">
              <a:solidFill>
                <a:srgbClr val="000000"/>
              </a:solidFill>
            </a:ln>
          </p:spPr>
          <p:txBody>
            <a:bodyPr wrap="square" lIns="0" tIns="0" rIns="0" bIns="0" rtlCol="0"/>
            <a:lstStyle/>
            <a:p/>
          </p:txBody>
        </p:sp>
        <p:sp>
          <p:nvSpPr>
            <p:cNvPr id="37" name="object 37" descr=""/>
            <p:cNvSpPr/>
            <p:nvPr/>
          </p:nvSpPr>
          <p:spPr>
            <a:xfrm>
              <a:off x="8945760" y="952130"/>
              <a:ext cx="0" cy="383540"/>
            </a:xfrm>
            <a:custGeom>
              <a:avLst/>
              <a:gdLst/>
              <a:ahLst/>
              <a:cxnLst/>
              <a:rect l="l" t="t" r="r" b="b"/>
              <a:pathLst>
                <a:path w="0" h="383540">
                  <a:moveTo>
                    <a:pt x="0" y="0"/>
                  </a:moveTo>
                  <a:lnTo>
                    <a:pt x="0" y="383540"/>
                  </a:lnTo>
                </a:path>
              </a:pathLst>
            </a:custGeom>
            <a:ln w="12700">
              <a:solidFill>
                <a:srgbClr val="000000"/>
              </a:solidFill>
            </a:ln>
          </p:spPr>
          <p:txBody>
            <a:bodyPr wrap="square" lIns="0" tIns="0" rIns="0" bIns="0" rtlCol="0"/>
            <a:lstStyle/>
            <a:p/>
          </p:txBody>
        </p:sp>
        <p:sp>
          <p:nvSpPr>
            <p:cNvPr id="38" name="object 38" descr=""/>
            <p:cNvSpPr/>
            <p:nvPr/>
          </p:nvSpPr>
          <p:spPr>
            <a:xfrm>
              <a:off x="298451" y="958480"/>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sp>
          <p:nvSpPr>
            <p:cNvPr id="39" name="object 39" descr=""/>
            <p:cNvSpPr/>
            <p:nvPr/>
          </p:nvSpPr>
          <p:spPr>
            <a:xfrm>
              <a:off x="298451" y="1329320"/>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sp>
          <p:nvSpPr>
            <p:cNvPr id="40" name="object 40" descr=""/>
            <p:cNvSpPr/>
            <p:nvPr/>
          </p:nvSpPr>
          <p:spPr>
            <a:xfrm>
              <a:off x="304800" y="1954352"/>
              <a:ext cx="8641080" cy="2903855"/>
            </a:xfrm>
            <a:custGeom>
              <a:avLst/>
              <a:gdLst/>
              <a:ahLst/>
              <a:cxnLst/>
              <a:rect l="l" t="t" r="r" b="b"/>
              <a:pathLst>
                <a:path w="8641080" h="2903854">
                  <a:moveTo>
                    <a:pt x="4093070" y="2377757"/>
                  </a:moveTo>
                  <a:lnTo>
                    <a:pt x="1894941" y="2377757"/>
                  </a:lnTo>
                  <a:lnTo>
                    <a:pt x="0" y="2377757"/>
                  </a:lnTo>
                  <a:lnTo>
                    <a:pt x="0" y="2903359"/>
                  </a:lnTo>
                  <a:lnTo>
                    <a:pt x="1894941" y="2903359"/>
                  </a:lnTo>
                  <a:lnTo>
                    <a:pt x="4093070" y="2903359"/>
                  </a:lnTo>
                  <a:lnTo>
                    <a:pt x="4093070" y="2377757"/>
                  </a:lnTo>
                  <a:close/>
                </a:path>
                <a:path w="8641080" h="2903854">
                  <a:moveTo>
                    <a:pt x="4093070" y="1326540"/>
                  </a:moveTo>
                  <a:lnTo>
                    <a:pt x="1894941" y="1326540"/>
                  </a:lnTo>
                  <a:lnTo>
                    <a:pt x="0" y="1326540"/>
                  </a:lnTo>
                  <a:lnTo>
                    <a:pt x="0" y="1852142"/>
                  </a:lnTo>
                  <a:lnTo>
                    <a:pt x="1894941" y="1852142"/>
                  </a:lnTo>
                  <a:lnTo>
                    <a:pt x="4093070" y="1852142"/>
                  </a:lnTo>
                  <a:lnTo>
                    <a:pt x="4093070" y="1326540"/>
                  </a:lnTo>
                  <a:close/>
                </a:path>
                <a:path w="8641080" h="2903854">
                  <a:moveTo>
                    <a:pt x="4093070" y="0"/>
                  </a:moveTo>
                  <a:lnTo>
                    <a:pt x="1894941" y="0"/>
                  </a:lnTo>
                  <a:lnTo>
                    <a:pt x="0" y="0"/>
                  </a:lnTo>
                  <a:lnTo>
                    <a:pt x="0" y="525602"/>
                  </a:lnTo>
                  <a:lnTo>
                    <a:pt x="1894941" y="525602"/>
                  </a:lnTo>
                  <a:lnTo>
                    <a:pt x="4093070" y="525602"/>
                  </a:lnTo>
                  <a:lnTo>
                    <a:pt x="4093070" y="0"/>
                  </a:lnTo>
                  <a:close/>
                </a:path>
                <a:path w="8641080" h="2903854">
                  <a:moveTo>
                    <a:pt x="8640953" y="2377757"/>
                  </a:moveTo>
                  <a:lnTo>
                    <a:pt x="4093083" y="2377757"/>
                  </a:lnTo>
                  <a:lnTo>
                    <a:pt x="4093083" y="2903359"/>
                  </a:lnTo>
                  <a:lnTo>
                    <a:pt x="8640953" y="2903359"/>
                  </a:lnTo>
                  <a:lnTo>
                    <a:pt x="8640953" y="2377757"/>
                  </a:lnTo>
                  <a:close/>
                </a:path>
                <a:path w="8641080" h="2903854">
                  <a:moveTo>
                    <a:pt x="8640953" y="1326540"/>
                  </a:moveTo>
                  <a:lnTo>
                    <a:pt x="4093083" y="1326540"/>
                  </a:lnTo>
                  <a:lnTo>
                    <a:pt x="4093083" y="1852142"/>
                  </a:lnTo>
                  <a:lnTo>
                    <a:pt x="8640953" y="1852142"/>
                  </a:lnTo>
                  <a:lnTo>
                    <a:pt x="8640953" y="1326540"/>
                  </a:lnTo>
                  <a:close/>
                </a:path>
                <a:path w="8641080" h="2903854">
                  <a:moveTo>
                    <a:pt x="8640953" y="0"/>
                  </a:moveTo>
                  <a:lnTo>
                    <a:pt x="4093083" y="0"/>
                  </a:lnTo>
                  <a:lnTo>
                    <a:pt x="4093083" y="525602"/>
                  </a:lnTo>
                  <a:lnTo>
                    <a:pt x="8640953" y="525602"/>
                  </a:lnTo>
                  <a:lnTo>
                    <a:pt x="8640953" y="0"/>
                  </a:lnTo>
                  <a:close/>
                </a:path>
              </a:pathLst>
            </a:custGeom>
            <a:solidFill>
              <a:srgbClr val="BBE0E3">
                <a:alpha val="19999"/>
              </a:srgbClr>
            </a:solidFill>
          </p:spPr>
          <p:txBody>
            <a:bodyPr wrap="square" lIns="0" tIns="0" rIns="0" bIns="0" rtlCol="0"/>
            <a:lstStyle/>
            <a:p/>
          </p:txBody>
        </p:sp>
        <p:sp>
          <p:nvSpPr>
            <p:cNvPr id="41" name="object 41" descr=""/>
            <p:cNvSpPr/>
            <p:nvPr/>
          </p:nvSpPr>
          <p:spPr>
            <a:xfrm>
              <a:off x="2199746" y="1422400"/>
              <a:ext cx="0" cy="3441700"/>
            </a:xfrm>
            <a:custGeom>
              <a:avLst/>
              <a:gdLst/>
              <a:ahLst/>
              <a:cxnLst/>
              <a:rect l="l" t="t" r="r" b="b"/>
              <a:pathLst>
                <a:path w="0" h="3441700">
                  <a:moveTo>
                    <a:pt x="0" y="0"/>
                  </a:moveTo>
                  <a:lnTo>
                    <a:pt x="0" y="3441661"/>
                  </a:lnTo>
                </a:path>
              </a:pathLst>
            </a:custGeom>
            <a:ln w="12700">
              <a:solidFill>
                <a:srgbClr val="BBE0E3"/>
              </a:solidFill>
            </a:ln>
          </p:spPr>
          <p:txBody>
            <a:bodyPr wrap="square" lIns="0" tIns="0" rIns="0" bIns="0" rtlCol="0"/>
            <a:lstStyle/>
            <a:p/>
          </p:txBody>
        </p:sp>
        <p:sp>
          <p:nvSpPr>
            <p:cNvPr id="42" name="object 42" descr=""/>
            <p:cNvSpPr/>
            <p:nvPr/>
          </p:nvSpPr>
          <p:spPr>
            <a:xfrm>
              <a:off x="4397886" y="1422400"/>
              <a:ext cx="0" cy="3441700"/>
            </a:xfrm>
            <a:custGeom>
              <a:avLst/>
              <a:gdLst/>
              <a:ahLst/>
              <a:cxnLst/>
              <a:rect l="l" t="t" r="r" b="b"/>
              <a:pathLst>
                <a:path w="0" h="3441700">
                  <a:moveTo>
                    <a:pt x="0" y="0"/>
                  </a:moveTo>
                  <a:lnTo>
                    <a:pt x="0" y="3441661"/>
                  </a:lnTo>
                </a:path>
              </a:pathLst>
            </a:custGeom>
            <a:ln w="12700">
              <a:solidFill>
                <a:srgbClr val="BBE0E3"/>
              </a:solidFill>
            </a:ln>
          </p:spPr>
          <p:txBody>
            <a:bodyPr wrap="square" lIns="0" tIns="0" rIns="0" bIns="0" rtlCol="0"/>
            <a:lstStyle/>
            <a:p/>
          </p:txBody>
        </p:sp>
        <p:sp>
          <p:nvSpPr>
            <p:cNvPr id="43" name="object 43" descr=""/>
            <p:cNvSpPr/>
            <p:nvPr/>
          </p:nvSpPr>
          <p:spPr>
            <a:xfrm>
              <a:off x="298449" y="1954355"/>
              <a:ext cx="8653780" cy="0"/>
            </a:xfrm>
            <a:custGeom>
              <a:avLst/>
              <a:gdLst/>
              <a:ahLst/>
              <a:cxnLst/>
              <a:rect l="l" t="t" r="r" b="b"/>
              <a:pathLst>
                <a:path w="8653780" h="0">
                  <a:moveTo>
                    <a:pt x="0" y="0"/>
                  </a:moveTo>
                  <a:lnTo>
                    <a:pt x="8653665" y="0"/>
                  </a:lnTo>
                </a:path>
              </a:pathLst>
            </a:custGeom>
            <a:ln w="25400">
              <a:solidFill>
                <a:srgbClr val="BBE0E3"/>
              </a:solidFill>
            </a:ln>
          </p:spPr>
          <p:txBody>
            <a:bodyPr wrap="square" lIns="0" tIns="0" rIns="0" bIns="0" rtlCol="0"/>
            <a:lstStyle/>
            <a:p/>
          </p:txBody>
        </p:sp>
        <p:sp>
          <p:nvSpPr>
            <p:cNvPr id="44" name="object 44" descr=""/>
            <p:cNvSpPr/>
            <p:nvPr/>
          </p:nvSpPr>
          <p:spPr>
            <a:xfrm>
              <a:off x="298449" y="2479962"/>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45" name="object 45" descr=""/>
            <p:cNvSpPr/>
            <p:nvPr/>
          </p:nvSpPr>
          <p:spPr>
            <a:xfrm>
              <a:off x="298449" y="3280896"/>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46" name="object 46" descr=""/>
            <p:cNvSpPr/>
            <p:nvPr/>
          </p:nvSpPr>
          <p:spPr>
            <a:xfrm>
              <a:off x="298449" y="3806502"/>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47" name="object 47" descr=""/>
            <p:cNvSpPr/>
            <p:nvPr/>
          </p:nvSpPr>
          <p:spPr>
            <a:xfrm>
              <a:off x="298449" y="4332108"/>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48" name="object 48" descr=""/>
            <p:cNvSpPr/>
            <p:nvPr/>
          </p:nvSpPr>
          <p:spPr>
            <a:xfrm>
              <a:off x="304799" y="1422400"/>
              <a:ext cx="0" cy="3441700"/>
            </a:xfrm>
            <a:custGeom>
              <a:avLst/>
              <a:gdLst/>
              <a:ahLst/>
              <a:cxnLst/>
              <a:rect l="l" t="t" r="r" b="b"/>
              <a:pathLst>
                <a:path w="0" h="3441700">
                  <a:moveTo>
                    <a:pt x="0" y="0"/>
                  </a:moveTo>
                  <a:lnTo>
                    <a:pt x="0" y="3441661"/>
                  </a:lnTo>
                </a:path>
              </a:pathLst>
            </a:custGeom>
            <a:ln w="12700">
              <a:solidFill>
                <a:srgbClr val="BBE0E3"/>
              </a:solidFill>
            </a:ln>
          </p:spPr>
          <p:txBody>
            <a:bodyPr wrap="square" lIns="0" tIns="0" rIns="0" bIns="0" rtlCol="0"/>
            <a:lstStyle/>
            <a:p/>
          </p:txBody>
        </p:sp>
        <p:sp>
          <p:nvSpPr>
            <p:cNvPr id="49" name="object 49" descr=""/>
            <p:cNvSpPr/>
            <p:nvPr/>
          </p:nvSpPr>
          <p:spPr>
            <a:xfrm>
              <a:off x="8945760" y="1422400"/>
              <a:ext cx="0" cy="3441700"/>
            </a:xfrm>
            <a:custGeom>
              <a:avLst/>
              <a:gdLst/>
              <a:ahLst/>
              <a:cxnLst/>
              <a:rect l="l" t="t" r="r" b="b"/>
              <a:pathLst>
                <a:path w="0" h="3441700">
                  <a:moveTo>
                    <a:pt x="0" y="0"/>
                  </a:moveTo>
                  <a:lnTo>
                    <a:pt x="0" y="3441661"/>
                  </a:lnTo>
                </a:path>
              </a:pathLst>
            </a:custGeom>
            <a:ln w="12700">
              <a:solidFill>
                <a:srgbClr val="BBE0E3"/>
              </a:solidFill>
            </a:ln>
          </p:spPr>
          <p:txBody>
            <a:bodyPr wrap="square" lIns="0" tIns="0" rIns="0" bIns="0" rtlCol="0"/>
            <a:lstStyle/>
            <a:p/>
          </p:txBody>
        </p:sp>
        <p:sp>
          <p:nvSpPr>
            <p:cNvPr id="50" name="object 50" descr=""/>
            <p:cNvSpPr/>
            <p:nvPr/>
          </p:nvSpPr>
          <p:spPr>
            <a:xfrm>
              <a:off x="298449" y="1428750"/>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51" name="object 51" descr=""/>
            <p:cNvSpPr/>
            <p:nvPr/>
          </p:nvSpPr>
          <p:spPr>
            <a:xfrm>
              <a:off x="298449" y="4857714"/>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grpSp>
      <p:sp>
        <p:nvSpPr>
          <p:cNvPr id="52" name="object 52" descr=""/>
          <p:cNvSpPr txBox="1"/>
          <p:nvPr/>
        </p:nvSpPr>
        <p:spPr>
          <a:xfrm>
            <a:off x="5144352" y="3437241"/>
            <a:ext cx="135890" cy="227329"/>
          </a:xfrm>
          <a:prstGeom prst="rect">
            <a:avLst/>
          </a:prstGeom>
        </p:spPr>
        <p:txBody>
          <a:bodyPr wrap="square" lIns="0" tIns="0" rIns="0" bIns="0" rtlCol="0" vert="horz">
            <a:spAutoFit/>
          </a:bodyPr>
          <a:lstStyle/>
          <a:p>
            <a:pPr>
              <a:lnSpc>
                <a:spcPts val="1770"/>
              </a:lnSpc>
            </a:pPr>
            <a:r>
              <a:rPr dirty="0" sz="1600" spc="-50">
                <a:latin typeface="Arial MT"/>
                <a:cs typeface="Arial MT"/>
              </a:rPr>
              <a:t>P</a:t>
            </a:r>
            <a:endParaRPr sz="1600">
              <a:latin typeface="Arial MT"/>
              <a:cs typeface="Arial MT"/>
            </a:endParaRPr>
          </a:p>
        </p:txBody>
      </p:sp>
      <p:sp>
        <p:nvSpPr>
          <p:cNvPr id="53" name="object 53" descr=""/>
          <p:cNvSpPr txBox="1"/>
          <p:nvPr/>
        </p:nvSpPr>
        <p:spPr>
          <a:xfrm>
            <a:off x="296976" y="2783309"/>
            <a:ext cx="1085850" cy="1932939"/>
          </a:xfrm>
          <a:prstGeom prst="rect">
            <a:avLst/>
          </a:prstGeom>
        </p:spPr>
        <p:txBody>
          <a:bodyPr wrap="square" lIns="0" tIns="0" rIns="0" bIns="0" rtlCol="0" vert="horz">
            <a:spAutoFit/>
          </a:bodyPr>
          <a:lstStyle/>
          <a:p>
            <a:pPr>
              <a:lnSpc>
                <a:spcPts val="1695"/>
              </a:lnSpc>
            </a:pPr>
            <a:r>
              <a:rPr dirty="0" baseline="-10416" sz="2400" spc="-1507">
                <a:latin typeface="SimSun"/>
                <a:cs typeface="SimSun"/>
              </a:rPr>
              <a:t>设</a:t>
            </a:r>
            <a:r>
              <a:rPr dirty="0" sz="1600" spc="-15">
                <a:latin typeface="SimSun"/>
                <a:cs typeface="SimSun"/>
              </a:rPr>
              <a:t>子网掩码</a:t>
            </a:r>
            <a:endParaRPr sz="1600">
              <a:latin typeface="SimSun"/>
              <a:cs typeface="SimSun"/>
            </a:endParaRPr>
          </a:p>
          <a:p>
            <a:pPr>
              <a:lnSpc>
                <a:spcPts val="1755"/>
              </a:lnSpc>
              <a:spcBef>
                <a:spcPts val="1714"/>
              </a:spcBef>
            </a:pPr>
            <a:r>
              <a:rPr dirty="0" sz="1600" spc="-50">
                <a:latin typeface="SimSun"/>
                <a:cs typeface="SimSun"/>
              </a:rPr>
              <a:t>基</a:t>
            </a:r>
            <a:endParaRPr sz="1600">
              <a:latin typeface="SimSun"/>
              <a:cs typeface="SimSun"/>
            </a:endParaRPr>
          </a:p>
          <a:p>
            <a:pPr marL="76200">
              <a:lnSpc>
                <a:spcPts val="1755"/>
              </a:lnSpc>
            </a:pPr>
            <a:r>
              <a:rPr dirty="0" sz="1600" spc="-15">
                <a:latin typeface="SimSun"/>
                <a:cs typeface="SimSun"/>
              </a:rPr>
              <a:t>默认网关</a:t>
            </a:r>
            <a:endParaRPr sz="1600">
              <a:latin typeface="SimSun"/>
              <a:cs typeface="SimSun"/>
            </a:endParaRPr>
          </a:p>
          <a:p>
            <a:pPr>
              <a:lnSpc>
                <a:spcPct val="100000"/>
              </a:lnSpc>
              <a:spcBef>
                <a:spcPts val="170"/>
              </a:spcBef>
            </a:pPr>
            <a:endParaRPr sz="1600">
              <a:latin typeface="SimSun"/>
              <a:cs typeface="SimSun"/>
            </a:endParaRPr>
          </a:p>
          <a:p>
            <a:pPr marL="76200">
              <a:lnSpc>
                <a:spcPts val="1445"/>
              </a:lnSpc>
            </a:pPr>
            <a:r>
              <a:rPr dirty="0" sz="1600">
                <a:latin typeface="SimSun"/>
                <a:cs typeface="SimSun"/>
              </a:rPr>
              <a:t>对端</a:t>
            </a:r>
            <a:r>
              <a:rPr dirty="0" sz="1600" spc="-10" b="1">
                <a:latin typeface="Arial"/>
                <a:cs typeface="Arial"/>
              </a:rPr>
              <a:t>IP</a:t>
            </a:r>
            <a:r>
              <a:rPr dirty="0" sz="1600" spc="-25">
                <a:latin typeface="SimSun"/>
                <a:cs typeface="SimSun"/>
              </a:rPr>
              <a:t>地址</a:t>
            </a:r>
            <a:endParaRPr sz="1600">
              <a:latin typeface="SimSun"/>
              <a:cs typeface="SimSun"/>
            </a:endParaRPr>
          </a:p>
          <a:p>
            <a:pPr>
              <a:lnSpc>
                <a:spcPts val="1445"/>
              </a:lnSpc>
            </a:pPr>
            <a:r>
              <a:rPr dirty="0" sz="1600" spc="-25">
                <a:latin typeface="Arial MT"/>
                <a:cs typeface="Arial MT"/>
              </a:rPr>
              <a:t>GN</a:t>
            </a:r>
            <a:endParaRPr sz="1600">
              <a:latin typeface="Arial MT"/>
              <a:cs typeface="Arial MT"/>
            </a:endParaRPr>
          </a:p>
          <a:p>
            <a:pPr marL="76200">
              <a:lnSpc>
                <a:spcPct val="100000"/>
              </a:lnSpc>
              <a:spcBef>
                <a:spcPts val="1245"/>
              </a:spcBef>
            </a:pPr>
            <a:r>
              <a:rPr dirty="0" sz="1600" spc="-10" b="1">
                <a:latin typeface="Arial"/>
                <a:cs typeface="Arial"/>
              </a:rPr>
              <a:t>VLAN</a:t>
            </a:r>
            <a:r>
              <a:rPr dirty="0" sz="1600" spc="-25">
                <a:latin typeface="SimSun"/>
                <a:cs typeface="SimSun"/>
              </a:rPr>
              <a:t>标识</a:t>
            </a:r>
            <a:endParaRPr sz="1600">
              <a:latin typeface="SimSun"/>
              <a:cs typeface="SimSun"/>
            </a:endParaRPr>
          </a:p>
        </p:txBody>
      </p:sp>
      <p:sp>
        <p:nvSpPr>
          <p:cNvPr id="54" name="object 54" descr=""/>
          <p:cNvSpPr txBox="1"/>
          <p:nvPr/>
        </p:nvSpPr>
        <p:spPr>
          <a:xfrm>
            <a:off x="2268326" y="2108414"/>
            <a:ext cx="147320" cy="2605405"/>
          </a:xfrm>
          <a:prstGeom prst="rect">
            <a:avLst/>
          </a:prstGeom>
        </p:spPr>
        <p:txBody>
          <a:bodyPr wrap="square" lIns="0" tIns="0" rIns="0" bIns="0" rtlCol="0" vert="horz">
            <a:spAutoFit/>
          </a:bodyPr>
          <a:lstStyle/>
          <a:p>
            <a:pPr>
              <a:lnSpc>
                <a:spcPts val="1770"/>
              </a:lnSpc>
            </a:pPr>
            <a:r>
              <a:rPr dirty="0" sz="1600" spc="-50">
                <a:latin typeface="Arial MT"/>
                <a:cs typeface="Arial MT"/>
              </a:rPr>
              <a:t>5</a:t>
            </a:r>
            <a:endParaRPr sz="1600">
              <a:latin typeface="Arial MT"/>
              <a:cs typeface="Arial MT"/>
            </a:endParaRPr>
          </a:p>
          <a:p>
            <a:pPr>
              <a:lnSpc>
                <a:spcPct val="100000"/>
              </a:lnSpc>
              <a:spcBef>
                <a:spcPts val="1480"/>
              </a:spcBef>
            </a:pPr>
            <a:endParaRPr sz="1600">
              <a:latin typeface="Arial MT"/>
              <a:cs typeface="Arial MT"/>
            </a:endParaRPr>
          </a:p>
          <a:p>
            <a:pPr>
              <a:lnSpc>
                <a:spcPct val="100000"/>
              </a:lnSpc>
            </a:pPr>
            <a:r>
              <a:rPr dirty="0" sz="1600" spc="-50">
                <a:latin typeface="Arial MT"/>
                <a:cs typeface="Arial MT"/>
              </a:rPr>
              <a:t>5</a:t>
            </a:r>
            <a:endParaRPr sz="1600">
              <a:latin typeface="Arial MT"/>
              <a:cs typeface="Arial MT"/>
            </a:endParaRPr>
          </a:p>
          <a:p>
            <a:pPr>
              <a:lnSpc>
                <a:spcPct val="100000"/>
              </a:lnSpc>
              <a:spcBef>
                <a:spcPts val="1460"/>
              </a:spcBef>
            </a:pPr>
            <a:endParaRPr sz="1600">
              <a:latin typeface="Arial MT"/>
              <a:cs typeface="Arial MT"/>
            </a:endParaRPr>
          </a:p>
          <a:p>
            <a:pPr>
              <a:lnSpc>
                <a:spcPct val="100000"/>
              </a:lnSpc>
            </a:pPr>
            <a:r>
              <a:rPr dirty="0" sz="1600" spc="-50">
                <a:latin typeface="Arial MT"/>
                <a:cs typeface="Arial MT"/>
              </a:rPr>
              <a:t>5</a:t>
            </a:r>
            <a:endParaRPr sz="1600">
              <a:latin typeface="Arial MT"/>
              <a:cs typeface="Arial MT"/>
            </a:endParaRPr>
          </a:p>
          <a:p>
            <a:pPr indent="-635">
              <a:lnSpc>
                <a:spcPct val="214600"/>
              </a:lnSpc>
              <a:spcBef>
                <a:spcPts val="20"/>
              </a:spcBef>
            </a:pPr>
            <a:r>
              <a:rPr dirty="0" sz="1600" spc="-50">
                <a:latin typeface="Arial MT"/>
                <a:cs typeface="Arial MT"/>
              </a:rPr>
              <a:t>N 5</a:t>
            </a:r>
            <a:endParaRPr sz="1600">
              <a:latin typeface="Arial MT"/>
              <a:cs typeface="Arial MT"/>
            </a:endParaRPr>
          </a:p>
        </p:txBody>
      </p:sp>
      <p:sp>
        <p:nvSpPr>
          <p:cNvPr id="55" name="object 55" descr=""/>
          <p:cNvSpPr txBox="1"/>
          <p:nvPr/>
        </p:nvSpPr>
        <p:spPr>
          <a:xfrm>
            <a:off x="2740929" y="2773970"/>
            <a:ext cx="1985645" cy="1939925"/>
          </a:xfrm>
          <a:prstGeom prst="rect">
            <a:avLst/>
          </a:prstGeom>
        </p:spPr>
        <p:txBody>
          <a:bodyPr wrap="square" lIns="0" tIns="0" rIns="0" bIns="0" rtlCol="0" vert="horz">
            <a:spAutoFit/>
          </a:bodyPr>
          <a:lstStyle/>
          <a:p>
            <a:pPr marL="24765">
              <a:lnSpc>
                <a:spcPts val="1770"/>
              </a:lnSpc>
              <a:tabLst>
                <a:tab pos="1781810" algn="l"/>
              </a:tabLst>
            </a:pPr>
            <a:r>
              <a:rPr dirty="0" sz="1600">
                <a:latin typeface="Arial MT"/>
                <a:cs typeface="Arial MT"/>
              </a:rPr>
              <a:t>AM</a:t>
            </a:r>
            <a:r>
              <a:rPr dirty="0" sz="1600" spc="-15">
                <a:latin typeface="Arial MT"/>
                <a:cs typeface="Arial MT"/>
              </a:rPr>
              <a:t> </a:t>
            </a:r>
            <a:r>
              <a:rPr dirty="0" sz="1600" spc="-10">
                <a:latin typeface="Arial MT"/>
                <a:cs typeface="Arial MT"/>
              </a:rPr>
              <a:t>IP</a:t>
            </a:r>
            <a:r>
              <a:rPr dirty="0" sz="1600">
                <a:latin typeface="SimSun"/>
                <a:cs typeface="SimSun"/>
              </a:rPr>
              <a:t>掩</a:t>
            </a:r>
            <a:r>
              <a:rPr dirty="0" sz="1600" spc="-50">
                <a:latin typeface="SimSun"/>
                <a:cs typeface="SimSun"/>
              </a:rPr>
              <a:t>码</a:t>
            </a:r>
            <a:r>
              <a:rPr dirty="0" sz="1600">
                <a:latin typeface="SimSun"/>
                <a:cs typeface="SimSun"/>
              </a:rPr>
              <a:t>	</a:t>
            </a:r>
            <a:r>
              <a:rPr dirty="0" sz="1600" spc="-50">
                <a:latin typeface="SimSun"/>
                <a:cs typeface="SimSun"/>
              </a:rPr>
              <a:t>按</a:t>
            </a:r>
            <a:endParaRPr sz="1600">
              <a:latin typeface="SimSun"/>
              <a:cs typeface="SimSun"/>
            </a:endParaRPr>
          </a:p>
          <a:p>
            <a:pPr>
              <a:lnSpc>
                <a:spcPct val="100000"/>
              </a:lnSpc>
              <a:spcBef>
                <a:spcPts val="1250"/>
              </a:spcBef>
            </a:pPr>
            <a:endParaRPr sz="1600">
              <a:latin typeface="SimSun"/>
              <a:cs typeface="SimSun"/>
            </a:endParaRPr>
          </a:p>
          <a:p>
            <a:pPr marL="24765">
              <a:lnSpc>
                <a:spcPct val="100000"/>
              </a:lnSpc>
            </a:pPr>
            <a:r>
              <a:rPr dirty="0" sz="1600" spc="-10">
                <a:latin typeface="Arial MT"/>
                <a:cs typeface="Arial MT"/>
              </a:rPr>
              <a:t>AM</a:t>
            </a:r>
            <a:r>
              <a:rPr dirty="0" sz="1600">
                <a:latin typeface="SimSun"/>
                <a:cs typeface="SimSun"/>
              </a:rPr>
              <a:t>网关</a:t>
            </a:r>
            <a:r>
              <a:rPr dirty="0" sz="1600" spc="-25">
                <a:latin typeface="Arial MT"/>
                <a:cs typeface="Arial MT"/>
              </a:rPr>
              <a:t>IP</a:t>
            </a:r>
            <a:endParaRPr sz="1600">
              <a:latin typeface="Arial MT"/>
              <a:cs typeface="Arial MT"/>
            </a:endParaRPr>
          </a:p>
          <a:p>
            <a:pPr>
              <a:lnSpc>
                <a:spcPct val="100000"/>
              </a:lnSpc>
              <a:spcBef>
                <a:spcPts val="380"/>
              </a:spcBef>
            </a:pPr>
            <a:endParaRPr sz="1600">
              <a:latin typeface="Arial MT"/>
              <a:cs typeface="Arial MT"/>
            </a:endParaRPr>
          </a:p>
          <a:p>
            <a:pPr>
              <a:lnSpc>
                <a:spcPct val="100000"/>
              </a:lnSpc>
              <a:tabLst>
                <a:tab pos="1781810" algn="l"/>
              </a:tabLst>
            </a:pPr>
            <a:r>
              <a:rPr dirty="0" sz="1600" spc="-10">
                <a:latin typeface="Arial MT"/>
                <a:cs typeface="Arial MT"/>
              </a:rPr>
              <a:t>IP</a:t>
            </a:r>
            <a:r>
              <a:rPr dirty="0" sz="1600">
                <a:latin typeface="SimSun"/>
                <a:cs typeface="SimSun"/>
              </a:rPr>
              <a:t>地</a:t>
            </a:r>
            <a:r>
              <a:rPr dirty="0" sz="1600" spc="-50">
                <a:latin typeface="SimSun"/>
                <a:cs typeface="SimSun"/>
              </a:rPr>
              <a:t>址</a:t>
            </a:r>
            <a:r>
              <a:rPr dirty="0" sz="1600">
                <a:latin typeface="SimSun"/>
                <a:cs typeface="SimSun"/>
              </a:rPr>
              <a:t>	</a:t>
            </a:r>
            <a:r>
              <a:rPr dirty="0" sz="1600" spc="-50">
                <a:latin typeface="SimSun"/>
                <a:cs typeface="SimSun"/>
              </a:rPr>
              <a:t>对</a:t>
            </a:r>
            <a:endParaRPr sz="1600">
              <a:latin typeface="SimSun"/>
              <a:cs typeface="SimSun"/>
            </a:endParaRPr>
          </a:p>
          <a:p>
            <a:pPr>
              <a:lnSpc>
                <a:spcPct val="100000"/>
              </a:lnSpc>
              <a:spcBef>
                <a:spcPts val="165"/>
              </a:spcBef>
            </a:pPr>
            <a:endParaRPr sz="1600">
              <a:latin typeface="SimSun"/>
              <a:cs typeface="SimSun"/>
            </a:endParaRPr>
          </a:p>
          <a:p>
            <a:pPr marL="24765">
              <a:lnSpc>
                <a:spcPct val="100000"/>
              </a:lnSpc>
              <a:spcBef>
                <a:spcPts val="5"/>
              </a:spcBef>
              <a:tabLst>
                <a:tab pos="1781810" algn="l"/>
              </a:tabLst>
            </a:pPr>
            <a:r>
              <a:rPr dirty="0" sz="1600">
                <a:latin typeface="Arial MT"/>
                <a:cs typeface="Arial MT"/>
              </a:rPr>
              <a:t>AM</a:t>
            </a:r>
            <a:r>
              <a:rPr dirty="0" sz="1600" spc="-10">
                <a:latin typeface="Arial MT"/>
                <a:cs typeface="Arial MT"/>
              </a:rPr>
              <a:t> </a:t>
            </a:r>
            <a:r>
              <a:rPr dirty="0" sz="1600" spc="-20">
                <a:latin typeface="Arial MT"/>
                <a:cs typeface="Arial MT"/>
              </a:rPr>
              <a:t>VLAN</a:t>
            </a:r>
            <a:r>
              <a:rPr dirty="0" sz="1600">
                <a:latin typeface="Arial MT"/>
                <a:cs typeface="Arial MT"/>
              </a:rPr>
              <a:t>	</a:t>
            </a:r>
            <a:r>
              <a:rPr dirty="0" sz="1600" spc="-50">
                <a:latin typeface="SimSun"/>
                <a:cs typeface="SimSun"/>
              </a:rPr>
              <a:t>对</a:t>
            </a:r>
            <a:endParaRPr sz="1600">
              <a:latin typeface="SimSun"/>
              <a:cs typeface="SimSun"/>
            </a:endParaRPr>
          </a:p>
        </p:txBody>
      </p:sp>
      <p:sp>
        <p:nvSpPr>
          <p:cNvPr id="56" name="object 56" descr=""/>
          <p:cNvSpPr txBox="1"/>
          <p:nvPr/>
        </p:nvSpPr>
        <p:spPr>
          <a:xfrm>
            <a:off x="5336616" y="2773970"/>
            <a:ext cx="3465829" cy="1941830"/>
          </a:xfrm>
          <a:prstGeom prst="rect">
            <a:avLst/>
          </a:prstGeom>
        </p:spPr>
        <p:txBody>
          <a:bodyPr wrap="square" lIns="0" tIns="0" rIns="0" bIns="0" rtlCol="0" vert="horz">
            <a:spAutoFit/>
          </a:bodyPr>
          <a:lstStyle/>
          <a:p>
            <a:pPr>
              <a:lnSpc>
                <a:spcPts val="1770"/>
              </a:lnSpc>
            </a:pPr>
            <a:r>
              <a:rPr dirty="0" sz="1600" spc="-10">
                <a:latin typeface="SimSun"/>
                <a:cs typeface="SimSun"/>
              </a:rPr>
              <a:t>据，一般是掩码位数，需换算</a:t>
            </a:r>
            <a:r>
              <a:rPr dirty="0" sz="1600" spc="-25">
                <a:latin typeface="Arial MT"/>
                <a:cs typeface="Arial MT"/>
              </a:rPr>
              <a:t>IP</a:t>
            </a:r>
            <a:endParaRPr sz="1600">
              <a:latin typeface="Arial MT"/>
              <a:cs typeface="Arial MT"/>
            </a:endParaRPr>
          </a:p>
          <a:p>
            <a:pPr>
              <a:lnSpc>
                <a:spcPct val="100000"/>
              </a:lnSpc>
              <a:spcBef>
                <a:spcPts val="1460"/>
              </a:spcBef>
            </a:pPr>
            <a:endParaRPr sz="1600">
              <a:latin typeface="Arial MT"/>
              <a:cs typeface="Arial MT"/>
            </a:endParaRPr>
          </a:p>
          <a:p>
            <a:pPr marL="67310">
              <a:lnSpc>
                <a:spcPct val="100000"/>
              </a:lnSpc>
            </a:pPr>
            <a:r>
              <a:rPr dirty="0" sz="1600">
                <a:latin typeface="Arial MT"/>
                <a:cs typeface="Arial MT"/>
              </a:rPr>
              <a:t>N</a:t>
            </a:r>
            <a:r>
              <a:rPr dirty="0" sz="1600">
                <a:latin typeface="SimSun"/>
                <a:cs typeface="SimSun"/>
              </a:rPr>
              <a:t>的</a:t>
            </a:r>
            <a:r>
              <a:rPr dirty="0" sz="1600" spc="-10">
                <a:latin typeface="Arial MT"/>
                <a:cs typeface="Arial MT"/>
              </a:rPr>
              <a:t>IP</a:t>
            </a:r>
            <a:r>
              <a:rPr dirty="0" sz="1600" spc="-30">
                <a:latin typeface="SimSun"/>
                <a:cs typeface="SimSun"/>
              </a:rPr>
              <a:t>地址</a:t>
            </a:r>
            <a:endParaRPr sz="1600">
              <a:latin typeface="SimSun"/>
              <a:cs typeface="SimSun"/>
            </a:endParaRPr>
          </a:p>
          <a:p>
            <a:pPr>
              <a:lnSpc>
                <a:spcPct val="215499"/>
              </a:lnSpc>
              <a:tabLst>
                <a:tab pos="2844165" algn="l"/>
              </a:tabLst>
            </a:pPr>
            <a:r>
              <a:rPr dirty="0" sz="1600">
                <a:latin typeface="SimSun"/>
                <a:cs typeface="SimSun"/>
              </a:rPr>
              <a:t>的接入服务器</a:t>
            </a:r>
            <a:r>
              <a:rPr dirty="0" sz="1600" spc="-10">
                <a:latin typeface="Arial MT"/>
                <a:cs typeface="Arial MT"/>
              </a:rPr>
              <a:t>IP</a:t>
            </a:r>
            <a:r>
              <a:rPr dirty="0" sz="1600">
                <a:latin typeface="SimSun"/>
                <a:cs typeface="SimSun"/>
              </a:rPr>
              <a:t>地</a:t>
            </a:r>
            <a:r>
              <a:rPr dirty="0" sz="1600" spc="-50">
                <a:latin typeface="SimSun"/>
                <a:cs typeface="SimSun"/>
              </a:rPr>
              <a:t>址</a:t>
            </a:r>
            <a:r>
              <a:rPr dirty="0" sz="1600">
                <a:latin typeface="SimSun"/>
                <a:cs typeface="SimSun"/>
              </a:rPr>
              <a:t>	</a:t>
            </a:r>
            <a:r>
              <a:rPr dirty="0" baseline="12152" sz="2400">
                <a:latin typeface="SimSun"/>
                <a:cs typeface="SimSun"/>
              </a:rPr>
              <a:t>，否</a:t>
            </a:r>
            <a:r>
              <a:rPr dirty="0" baseline="12152" sz="2400" spc="-75">
                <a:latin typeface="SimSun"/>
                <a:cs typeface="SimSun"/>
              </a:rPr>
              <a:t>则</a:t>
            </a:r>
            <a:r>
              <a:rPr dirty="0" sz="1600">
                <a:latin typeface="SimSun"/>
                <a:cs typeface="SimSun"/>
              </a:rPr>
              <a:t>类</a:t>
            </a:r>
            <a:r>
              <a:rPr dirty="0" sz="1600" spc="-20">
                <a:latin typeface="Arial MT"/>
                <a:cs typeface="Arial MT"/>
              </a:rPr>
              <a:t>VLAN</a:t>
            </a:r>
            <a:endParaRPr sz="1600">
              <a:latin typeface="Arial MT"/>
              <a:cs typeface="Arial MT"/>
            </a:endParaRPr>
          </a:p>
        </p:txBody>
      </p:sp>
      <p:sp>
        <p:nvSpPr>
          <p:cNvPr id="57" name="object 57" descr=""/>
          <p:cNvSpPr txBox="1"/>
          <p:nvPr/>
        </p:nvSpPr>
        <p:spPr>
          <a:xfrm>
            <a:off x="369496" y="1876374"/>
            <a:ext cx="1624965" cy="311785"/>
          </a:xfrm>
          <a:prstGeom prst="rect">
            <a:avLst/>
          </a:prstGeom>
        </p:spPr>
        <p:txBody>
          <a:bodyPr wrap="square" lIns="0" tIns="10160" rIns="0" bIns="0" rtlCol="0" vert="horz">
            <a:spAutoFit/>
          </a:bodyPr>
          <a:lstStyle/>
          <a:p>
            <a:pPr marL="16510">
              <a:lnSpc>
                <a:spcPct val="100000"/>
              </a:lnSpc>
              <a:spcBef>
                <a:spcPts val="80"/>
              </a:spcBef>
            </a:pPr>
            <a:r>
              <a:rPr dirty="0" sz="1400" spc="-10">
                <a:latin typeface="Microsoft YaHei"/>
                <a:cs typeface="Microsoft YaHei"/>
              </a:rPr>
              <a:t>3</a:t>
            </a:r>
            <a:r>
              <a:rPr dirty="0" sz="1400" spc="10">
                <a:latin typeface="Microsoft YaHei"/>
                <a:cs typeface="Microsoft YaHei"/>
              </a:rPr>
              <a:t>、选中需要修改 </a:t>
            </a:r>
            <a:r>
              <a:rPr dirty="0" baseline="-23809" sz="2100" spc="-75">
                <a:latin typeface="Microsoft YaHei"/>
                <a:cs typeface="Microsoft YaHei"/>
              </a:rPr>
              <a:t>，</a:t>
            </a:r>
            <a:endParaRPr baseline="-23809" sz="2100">
              <a:latin typeface="Microsoft YaHei"/>
              <a:cs typeface="Microsoft YaHei"/>
            </a:endParaRPr>
          </a:p>
        </p:txBody>
      </p:sp>
      <p:grpSp>
        <p:nvGrpSpPr>
          <p:cNvPr id="58" name="object 58" descr=""/>
          <p:cNvGrpSpPr/>
          <p:nvPr/>
        </p:nvGrpSpPr>
        <p:grpSpPr>
          <a:xfrm>
            <a:off x="282229" y="805440"/>
            <a:ext cx="8594725" cy="1397000"/>
            <a:chOff x="282229" y="805440"/>
            <a:chExt cx="8594725" cy="1397000"/>
          </a:xfrm>
        </p:grpSpPr>
        <p:sp>
          <p:nvSpPr>
            <p:cNvPr id="59" name="object 59" descr=""/>
            <p:cNvSpPr/>
            <p:nvPr/>
          </p:nvSpPr>
          <p:spPr>
            <a:xfrm>
              <a:off x="294929" y="811790"/>
              <a:ext cx="0" cy="1384300"/>
            </a:xfrm>
            <a:custGeom>
              <a:avLst/>
              <a:gdLst/>
              <a:ahLst/>
              <a:cxnLst/>
              <a:rect l="l" t="t" r="r" b="b"/>
              <a:pathLst>
                <a:path w="0" h="1384300">
                  <a:moveTo>
                    <a:pt x="0" y="0"/>
                  </a:moveTo>
                  <a:lnTo>
                    <a:pt x="0" y="1384300"/>
                  </a:lnTo>
                </a:path>
              </a:pathLst>
            </a:custGeom>
            <a:ln w="12700">
              <a:solidFill>
                <a:srgbClr val="000000"/>
              </a:solidFill>
            </a:ln>
          </p:spPr>
          <p:txBody>
            <a:bodyPr wrap="square" lIns="0" tIns="0" rIns="0" bIns="0" rtlCol="0"/>
            <a:lstStyle/>
            <a:p/>
          </p:txBody>
        </p:sp>
        <p:sp>
          <p:nvSpPr>
            <p:cNvPr id="60" name="object 60" descr=""/>
            <p:cNvSpPr/>
            <p:nvPr/>
          </p:nvSpPr>
          <p:spPr>
            <a:xfrm>
              <a:off x="8863880" y="811790"/>
              <a:ext cx="0" cy="1384300"/>
            </a:xfrm>
            <a:custGeom>
              <a:avLst/>
              <a:gdLst/>
              <a:ahLst/>
              <a:cxnLst/>
              <a:rect l="l" t="t" r="r" b="b"/>
              <a:pathLst>
                <a:path w="0" h="1384300">
                  <a:moveTo>
                    <a:pt x="0" y="0"/>
                  </a:moveTo>
                  <a:lnTo>
                    <a:pt x="0" y="1384300"/>
                  </a:lnTo>
                </a:path>
              </a:pathLst>
            </a:custGeom>
            <a:ln w="12700">
              <a:solidFill>
                <a:srgbClr val="000000"/>
              </a:solidFill>
            </a:ln>
          </p:spPr>
          <p:txBody>
            <a:bodyPr wrap="square" lIns="0" tIns="0" rIns="0" bIns="0" rtlCol="0"/>
            <a:lstStyle/>
            <a:p/>
          </p:txBody>
        </p:sp>
        <p:sp>
          <p:nvSpPr>
            <p:cNvPr id="61" name="object 61" descr=""/>
            <p:cNvSpPr/>
            <p:nvPr/>
          </p:nvSpPr>
          <p:spPr>
            <a:xfrm>
              <a:off x="288579" y="818140"/>
              <a:ext cx="8582025" cy="0"/>
            </a:xfrm>
            <a:custGeom>
              <a:avLst/>
              <a:gdLst/>
              <a:ahLst/>
              <a:cxnLst/>
              <a:rect l="l" t="t" r="r" b="b"/>
              <a:pathLst>
                <a:path w="8582025" h="0">
                  <a:moveTo>
                    <a:pt x="0" y="0"/>
                  </a:moveTo>
                  <a:lnTo>
                    <a:pt x="8581656" y="0"/>
                  </a:lnTo>
                </a:path>
              </a:pathLst>
            </a:custGeom>
            <a:ln w="12700">
              <a:solidFill>
                <a:srgbClr val="000000"/>
              </a:solidFill>
            </a:ln>
          </p:spPr>
          <p:txBody>
            <a:bodyPr wrap="square" lIns="0" tIns="0" rIns="0" bIns="0" rtlCol="0"/>
            <a:lstStyle/>
            <a:p/>
          </p:txBody>
        </p:sp>
        <p:sp>
          <p:nvSpPr>
            <p:cNvPr id="62" name="object 62" descr=""/>
            <p:cNvSpPr/>
            <p:nvPr/>
          </p:nvSpPr>
          <p:spPr>
            <a:xfrm>
              <a:off x="288579" y="2189740"/>
              <a:ext cx="8582025" cy="0"/>
            </a:xfrm>
            <a:custGeom>
              <a:avLst/>
              <a:gdLst/>
              <a:ahLst/>
              <a:cxnLst/>
              <a:rect l="l" t="t" r="r" b="b"/>
              <a:pathLst>
                <a:path w="8582025" h="0">
                  <a:moveTo>
                    <a:pt x="0" y="0"/>
                  </a:moveTo>
                  <a:lnTo>
                    <a:pt x="8581656" y="0"/>
                  </a:lnTo>
                </a:path>
              </a:pathLst>
            </a:custGeom>
            <a:ln w="12700">
              <a:solidFill>
                <a:srgbClr val="000000"/>
              </a:solidFill>
            </a:ln>
          </p:spPr>
          <p:txBody>
            <a:bodyPr wrap="square" lIns="0" tIns="0" rIns="0" bIns="0" rtlCol="0"/>
            <a:lstStyle/>
            <a:p/>
          </p:txBody>
        </p:sp>
      </p:grpSp>
      <p:sp>
        <p:nvSpPr>
          <p:cNvPr id="63" name="object 63" descr=""/>
          <p:cNvSpPr txBox="1"/>
          <p:nvPr/>
        </p:nvSpPr>
        <p:spPr>
          <a:xfrm>
            <a:off x="2249353" y="1876374"/>
            <a:ext cx="2150110" cy="274320"/>
          </a:xfrm>
          <a:prstGeom prst="rect">
            <a:avLst/>
          </a:prstGeom>
        </p:spPr>
        <p:txBody>
          <a:bodyPr wrap="square" lIns="0" tIns="10160" rIns="0" bIns="0" rtlCol="0" vert="horz">
            <a:spAutoFit/>
          </a:bodyPr>
          <a:lstStyle/>
          <a:p>
            <a:pPr marL="16510">
              <a:lnSpc>
                <a:spcPct val="100000"/>
              </a:lnSpc>
              <a:spcBef>
                <a:spcPts val="80"/>
              </a:spcBef>
            </a:pPr>
            <a:r>
              <a:rPr dirty="0" sz="1400" spc="-25">
                <a:latin typeface="Microsoft YaHei"/>
                <a:cs typeface="Microsoft YaHei"/>
              </a:rPr>
              <a:t>名称”后的“参数值”，按</a:t>
            </a:r>
            <a:endParaRPr sz="1400">
              <a:latin typeface="Microsoft YaHei"/>
              <a:cs typeface="Microsoft YaHei"/>
            </a:endParaRPr>
          </a:p>
        </p:txBody>
      </p:sp>
      <p:sp>
        <p:nvSpPr>
          <p:cNvPr id="64" name="object 64" descr=""/>
          <p:cNvSpPr txBox="1"/>
          <p:nvPr/>
        </p:nvSpPr>
        <p:spPr>
          <a:xfrm>
            <a:off x="5110602" y="1876374"/>
            <a:ext cx="1955800" cy="274320"/>
          </a:xfrm>
          <a:prstGeom prst="rect">
            <a:avLst/>
          </a:prstGeom>
        </p:spPr>
        <p:txBody>
          <a:bodyPr wrap="square" lIns="0" tIns="10160" rIns="0" bIns="0" rtlCol="0" vert="horz">
            <a:spAutoFit/>
          </a:bodyPr>
          <a:lstStyle/>
          <a:p>
            <a:pPr>
              <a:lnSpc>
                <a:spcPct val="100000"/>
              </a:lnSpc>
              <a:spcBef>
                <a:spcPts val="80"/>
              </a:spcBef>
            </a:pPr>
            <a:r>
              <a:rPr dirty="0" sz="1400" spc="-25">
                <a:latin typeface="Microsoft YaHei"/>
                <a:cs typeface="Microsoft YaHei"/>
              </a:rPr>
              <a:t>修改，完成后点“确定”</a:t>
            </a:r>
            <a:endParaRPr sz="1400">
              <a:latin typeface="Microsoft YaHei"/>
              <a:cs typeface="Microsoft YaHei"/>
            </a:endParaRPr>
          </a:p>
        </p:txBody>
      </p:sp>
      <p:sp>
        <p:nvSpPr>
          <p:cNvPr id="65" name="object 65" descr=""/>
          <p:cNvSpPr txBox="1"/>
          <p:nvPr/>
        </p:nvSpPr>
        <p:spPr>
          <a:xfrm>
            <a:off x="396240" y="1953583"/>
            <a:ext cx="1558290" cy="271145"/>
          </a:xfrm>
          <a:prstGeom prst="rect">
            <a:avLst/>
          </a:prstGeom>
        </p:spPr>
        <p:txBody>
          <a:bodyPr wrap="square" lIns="0" tIns="0" rIns="0" bIns="0" rtlCol="0" vert="horz">
            <a:spAutoFit/>
          </a:bodyPr>
          <a:lstStyle/>
          <a:p>
            <a:pPr>
              <a:lnSpc>
                <a:spcPts val="1800"/>
              </a:lnSpc>
            </a:pPr>
            <a:r>
              <a:rPr dirty="0" sz="1400" spc="-270">
                <a:latin typeface="Microsoft YaHei"/>
                <a:cs typeface="Microsoft YaHei"/>
              </a:rPr>
              <a:t>如下为</a:t>
            </a:r>
            <a:r>
              <a:rPr dirty="0" baseline="-10416" sz="2400" spc="-1297">
                <a:latin typeface="SimSun"/>
                <a:cs typeface="SimSun"/>
              </a:rPr>
              <a:t>对</a:t>
            </a:r>
            <a:r>
              <a:rPr dirty="0" sz="1400" spc="-555">
                <a:latin typeface="Microsoft YaHei"/>
                <a:cs typeface="Microsoft YaHei"/>
              </a:rPr>
              <a:t>参</a:t>
            </a:r>
            <a:r>
              <a:rPr dirty="0" baseline="-10416" sz="2400" spc="-1604">
                <a:latin typeface="SimSun"/>
                <a:cs typeface="SimSun"/>
              </a:rPr>
              <a:t>端</a:t>
            </a:r>
            <a:r>
              <a:rPr dirty="0" sz="1400" spc="-350">
                <a:latin typeface="Microsoft YaHei"/>
                <a:cs typeface="Microsoft YaHei"/>
              </a:rPr>
              <a:t>数</a:t>
            </a:r>
            <a:r>
              <a:rPr dirty="0" baseline="-10416" sz="2400" spc="-195">
                <a:latin typeface="Arial MT"/>
                <a:cs typeface="Arial MT"/>
              </a:rPr>
              <a:t>I</a:t>
            </a:r>
            <a:r>
              <a:rPr dirty="0" sz="1400" spc="-1305">
                <a:latin typeface="Microsoft YaHei"/>
                <a:cs typeface="Microsoft YaHei"/>
              </a:rPr>
              <a:t>规</a:t>
            </a:r>
            <a:r>
              <a:rPr dirty="0" baseline="-10416" sz="2400">
                <a:latin typeface="Arial MT"/>
                <a:cs typeface="Arial MT"/>
              </a:rPr>
              <a:t>P</a:t>
            </a:r>
            <a:r>
              <a:rPr dirty="0" baseline="-10416" sz="2400" spc="-2077">
                <a:latin typeface="SimSun"/>
                <a:cs typeface="SimSun"/>
              </a:rPr>
              <a:t>地</a:t>
            </a:r>
            <a:r>
              <a:rPr dirty="0" sz="1400" spc="-35">
                <a:latin typeface="Microsoft YaHei"/>
                <a:cs typeface="Microsoft YaHei"/>
              </a:rPr>
              <a:t>划</a:t>
            </a:r>
            <a:r>
              <a:rPr dirty="0" baseline="-10416" sz="2400" spc="-2385">
                <a:latin typeface="SimSun"/>
                <a:cs typeface="SimSun"/>
              </a:rPr>
              <a:t>址</a:t>
            </a:r>
            <a:r>
              <a:rPr dirty="0" sz="1400" spc="175">
                <a:latin typeface="Microsoft YaHei"/>
                <a:cs typeface="Microsoft YaHei"/>
              </a:rPr>
              <a:t>表</a:t>
            </a:r>
            <a:r>
              <a:rPr dirty="0" baseline="-10416" sz="2400" spc="-75">
                <a:latin typeface="Arial MT"/>
                <a:cs typeface="Arial MT"/>
              </a:rPr>
              <a:t>1</a:t>
            </a:r>
            <a:endParaRPr baseline="-10416" sz="2400">
              <a:latin typeface="Arial MT"/>
              <a:cs typeface="Arial MT"/>
            </a:endParaRPr>
          </a:p>
        </p:txBody>
      </p:sp>
      <p:sp>
        <p:nvSpPr>
          <p:cNvPr id="66" name="object 66" descr=""/>
          <p:cNvSpPr txBox="1"/>
          <p:nvPr/>
        </p:nvSpPr>
        <p:spPr>
          <a:xfrm>
            <a:off x="2349245" y="1953583"/>
            <a:ext cx="2310765" cy="2760345"/>
          </a:xfrm>
          <a:prstGeom prst="rect">
            <a:avLst/>
          </a:prstGeom>
        </p:spPr>
        <p:txBody>
          <a:bodyPr wrap="square" lIns="0" tIns="10160" rIns="0" bIns="0" rtlCol="0" vert="horz">
            <a:spAutoFit/>
          </a:bodyPr>
          <a:lstStyle/>
          <a:p>
            <a:pPr>
              <a:lnSpc>
                <a:spcPts val="740"/>
              </a:lnSpc>
              <a:spcBef>
                <a:spcPts val="80"/>
              </a:spcBef>
            </a:pPr>
            <a:r>
              <a:rPr dirty="0" sz="1400" spc="-30">
                <a:latin typeface="Microsoft YaHei"/>
                <a:cs typeface="Microsoft YaHei"/>
              </a:rPr>
              <a:t>模板为基础</a:t>
            </a:r>
            <a:endParaRPr sz="1400">
              <a:latin typeface="Microsoft YaHei"/>
              <a:cs typeface="Microsoft YaHei"/>
            </a:endParaRPr>
          </a:p>
          <a:p>
            <a:pPr marL="31750">
              <a:lnSpc>
                <a:spcPts val="980"/>
              </a:lnSpc>
              <a:tabLst>
                <a:tab pos="888365" algn="l"/>
              </a:tabLst>
            </a:pPr>
            <a:r>
              <a:rPr dirty="0" baseline="-41666" sz="2400" spc="-839">
                <a:latin typeface="Arial MT"/>
                <a:cs typeface="Arial MT"/>
              </a:rPr>
              <a:t>G</a:t>
            </a:r>
            <a:r>
              <a:rPr dirty="0" baseline="-59027" sz="2400" spc="-600">
                <a:latin typeface="Arial MT"/>
                <a:cs typeface="Arial MT"/>
              </a:rPr>
              <a:t>e</a:t>
            </a:r>
            <a:r>
              <a:rPr dirty="0" baseline="-41666" sz="2400" spc="-44">
                <a:latin typeface="Arial MT"/>
                <a:cs typeface="Arial MT"/>
              </a:rPr>
              <a:t>-</a:t>
            </a:r>
            <a:r>
              <a:rPr dirty="0" baseline="-41666" sz="2400">
                <a:latin typeface="Arial MT"/>
                <a:cs typeface="Arial MT"/>
              </a:rPr>
              <a:t>	</a:t>
            </a:r>
            <a:r>
              <a:rPr dirty="0" sz="1400" spc="-240">
                <a:latin typeface="Microsoft YaHei"/>
                <a:cs typeface="Microsoft YaHei"/>
              </a:rPr>
              <a:t>，制</a:t>
            </a:r>
            <a:r>
              <a:rPr dirty="0" baseline="-10416" sz="2400" spc="-1747">
                <a:latin typeface="SimSun"/>
                <a:cs typeface="SimSun"/>
              </a:rPr>
              <a:t>无</a:t>
            </a:r>
            <a:r>
              <a:rPr dirty="0" sz="1400" spc="-25">
                <a:latin typeface="Microsoft YaHei"/>
                <a:cs typeface="Microsoft YaHei"/>
              </a:rPr>
              <a:t>作“湖北科技</a:t>
            </a:r>
            <a:endParaRPr sz="1400">
              <a:latin typeface="Microsoft YaHei"/>
              <a:cs typeface="Microsoft YaHei"/>
            </a:endParaRPr>
          </a:p>
          <a:p>
            <a:pPr>
              <a:lnSpc>
                <a:spcPct val="100000"/>
              </a:lnSpc>
              <a:spcBef>
                <a:spcPts val="1925"/>
              </a:spcBef>
            </a:pPr>
            <a:endParaRPr sz="1400">
              <a:latin typeface="Microsoft YaHei"/>
              <a:cs typeface="Microsoft YaHei"/>
            </a:endParaRPr>
          </a:p>
          <a:p>
            <a:pPr marL="31750">
              <a:lnSpc>
                <a:spcPct val="100000"/>
              </a:lnSpc>
              <a:spcBef>
                <a:spcPts val="5"/>
              </a:spcBef>
            </a:pPr>
            <a:r>
              <a:rPr dirty="0" sz="1600" spc="-25">
                <a:latin typeface="Arial MT"/>
                <a:cs typeface="Arial MT"/>
              </a:rPr>
              <a:t>G-</a:t>
            </a:r>
            <a:endParaRPr sz="1600">
              <a:latin typeface="Arial MT"/>
              <a:cs typeface="Arial MT"/>
            </a:endParaRPr>
          </a:p>
          <a:p>
            <a:pPr marL="31750" marR="1964689">
              <a:lnSpc>
                <a:spcPct val="215099"/>
              </a:lnSpc>
              <a:spcBef>
                <a:spcPts val="1090"/>
              </a:spcBef>
            </a:pPr>
            <a:r>
              <a:rPr dirty="0" sz="1600" spc="-25">
                <a:latin typeface="Arial MT"/>
                <a:cs typeface="Arial MT"/>
              </a:rPr>
              <a:t>G- EA G-</a:t>
            </a:r>
            <a:endParaRPr sz="1600">
              <a:latin typeface="Arial MT"/>
              <a:cs typeface="Arial MT"/>
            </a:endParaRPr>
          </a:p>
        </p:txBody>
      </p:sp>
      <p:sp>
        <p:nvSpPr>
          <p:cNvPr id="67" name="object 67" descr=""/>
          <p:cNvSpPr txBox="1"/>
          <p:nvPr/>
        </p:nvSpPr>
        <p:spPr>
          <a:xfrm>
            <a:off x="1716715" y="1876374"/>
            <a:ext cx="3213100" cy="1541145"/>
          </a:xfrm>
          <a:prstGeom prst="rect">
            <a:avLst/>
          </a:prstGeom>
        </p:spPr>
        <p:txBody>
          <a:bodyPr wrap="square" lIns="0" tIns="10160" rIns="0" bIns="0" rtlCol="0" vert="horz">
            <a:spAutoFit/>
          </a:bodyPr>
          <a:lstStyle/>
          <a:p>
            <a:pPr marL="16510">
              <a:lnSpc>
                <a:spcPts val="1650"/>
              </a:lnSpc>
              <a:spcBef>
                <a:spcPts val="80"/>
              </a:spcBef>
              <a:tabLst>
                <a:tab pos="2681605" algn="l"/>
              </a:tabLst>
            </a:pPr>
            <a:r>
              <a:rPr dirty="0" sz="1400" spc="-20">
                <a:latin typeface="Microsoft YaHei"/>
                <a:cs typeface="Microsoft YaHei"/>
              </a:rPr>
              <a:t>“</a:t>
            </a:r>
            <a:r>
              <a:rPr dirty="0" sz="1400" spc="-760">
                <a:latin typeface="Microsoft YaHei"/>
                <a:cs typeface="Microsoft YaHei"/>
              </a:rPr>
              <a:t>参</a:t>
            </a:r>
            <a:r>
              <a:rPr dirty="0" baseline="-23809" sz="2100" spc="-1012">
                <a:latin typeface="Microsoft YaHei"/>
                <a:cs typeface="Microsoft YaHei"/>
              </a:rPr>
              <a:t>将</a:t>
            </a:r>
            <a:r>
              <a:rPr dirty="0" sz="1400" spc="-760">
                <a:latin typeface="Microsoft YaHei"/>
                <a:cs typeface="Microsoft YaHei"/>
              </a:rPr>
              <a:t>数</a:t>
            </a:r>
            <a:r>
              <a:rPr dirty="0" baseline="-23809" sz="2100" spc="-75">
                <a:latin typeface="Microsoft YaHei"/>
                <a:cs typeface="Microsoft YaHei"/>
              </a:rPr>
              <a:t>以</a:t>
            </a:r>
            <a:r>
              <a:rPr dirty="0" baseline="-23809" sz="2100">
                <a:latin typeface="Microsoft YaHei"/>
                <a:cs typeface="Microsoft YaHei"/>
              </a:rPr>
              <a:t>	</a:t>
            </a:r>
            <a:r>
              <a:rPr dirty="0" sz="1400" spc="-10">
                <a:latin typeface="Microsoft YaHei"/>
                <a:cs typeface="Microsoft YaHei"/>
              </a:rPr>
              <a:t>规</a:t>
            </a:r>
            <a:r>
              <a:rPr dirty="0" sz="1400" spc="-50">
                <a:latin typeface="Microsoft YaHei"/>
                <a:cs typeface="Microsoft YaHei"/>
              </a:rPr>
              <a:t>划</a:t>
            </a:r>
            <a:endParaRPr sz="1400">
              <a:latin typeface="Microsoft YaHei"/>
              <a:cs typeface="Microsoft YaHei"/>
            </a:endParaRPr>
          </a:p>
          <a:p>
            <a:pPr marL="207645">
              <a:lnSpc>
                <a:spcPts val="1675"/>
              </a:lnSpc>
              <a:tabLst>
                <a:tab pos="3009265" algn="l"/>
              </a:tabLst>
            </a:pPr>
            <a:r>
              <a:rPr dirty="0" baseline="-17361" sz="2400" spc="-75">
                <a:latin typeface="SimSun"/>
                <a:cs typeface="SimSun"/>
              </a:rPr>
              <a:t>）</a:t>
            </a:r>
            <a:r>
              <a:rPr dirty="0" baseline="-17361" sz="2400">
                <a:latin typeface="SimSun"/>
                <a:cs typeface="SimSun"/>
              </a:rPr>
              <a:t>	</a:t>
            </a:r>
            <a:r>
              <a:rPr dirty="0" sz="1600" spc="-50">
                <a:latin typeface="SimSun"/>
                <a:cs typeface="SimSun"/>
              </a:rPr>
              <a:t>站</a:t>
            </a:r>
            <a:endParaRPr sz="1600">
              <a:latin typeface="SimSun"/>
              <a:cs typeface="SimSun"/>
            </a:endParaRPr>
          </a:p>
          <a:p>
            <a:pPr marL="83820">
              <a:lnSpc>
                <a:spcPts val="1705"/>
              </a:lnSpc>
            </a:pPr>
            <a:r>
              <a:rPr dirty="0" sz="1600" spc="-50">
                <a:latin typeface="SimSun"/>
                <a:cs typeface="SimSun"/>
              </a:rPr>
              <a:t>型</a:t>
            </a:r>
            <a:endParaRPr sz="1600">
              <a:latin typeface="SimSun"/>
              <a:cs typeface="SimSun"/>
            </a:endParaRPr>
          </a:p>
          <a:p>
            <a:pPr>
              <a:lnSpc>
                <a:spcPct val="100000"/>
              </a:lnSpc>
            </a:pPr>
            <a:endParaRPr sz="1600">
              <a:latin typeface="SimSun"/>
              <a:cs typeface="SimSun"/>
            </a:endParaRPr>
          </a:p>
          <a:p>
            <a:pPr>
              <a:lnSpc>
                <a:spcPct val="100000"/>
              </a:lnSpc>
              <a:spcBef>
                <a:spcPts val="1100"/>
              </a:spcBef>
            </a:pPr>
            <a:endParaRPr sz="1600">
              <a:latin typeface="SimSun"/>
              <a:cs typeface="SimSun"/>
            </a:endParaRPr>
          </a:p>
          <a:p>
            <a:pPr marL="179705">
              <a:lnSpc>
                <a:spcPts val="1825"/>
              </a:lnSpc>
            </a:pPr>
            <a:r>
              <a:rPr dirty="0" sz="1600" spc="-50">
                <a:latin typeface="SimSun"/>
                <a:cs typeface="SimSun"/>
              </a:rPr>
              <a:t>址</a:t>
            </a:r>
            <a:endParaRPr sz="1600">
              <a:latin typeface="SimSun"/>
              <a:cs typeface="SimSun"/>
            </a:endParaRPr>
          </a:p>
        </p:txBody>
      </p:sp>
      <p:sp>
        <p:nvSpPr>
          <p:cNvPr id="68" name="object 68" descr=""/>
          <p:cNvSpPr txBox="1"/>
          <p:nvPr/>
        </p:nvSpPr>
        <p:spPr>
          <a:xfrm>
            <a:off x="297179" y="2110700"/>
            <a:ext cx="1627505" cy="2670175"/>
          </a:xfrm>
          <a:prstGeom prst="rect">
            <a:avLst/>
          </a:prstGeom>
        </p:spPr>
        <p:txBody>
          <a:bodyPr wrap="square" lIns="0" tIns="159385" rIns="0" bIns="0" rtlCol="0" vert="horz">
            <a:spAutoFit/>
          </a:bodyPr>
          <a:lstStyle/>
          <a:p>
            <a:pPr marL="486409" indent="-487045">
              <a:lnSpc>
                <a:spcPct val="52300"/>
              </a:lnSpc>
              <a:spcBef>
                <a:spcPts val="1255"/>
              </a:spcBef>
            </a:pPr>
            <a:r>
              <a:rPr dirty="0" sz="1600" spc="-1005">
                <a:latin typeface="SimSun"/>
                <a:cs typeface="SimSun"/>
              </a:rPr>
              <a:t>网</a:t>
            </a:r>
            <a:r>
              <a:rPr dirty="0" baseline="17361" sz="2400" spc="-900">
                <a:latin typeface="SimSun"/>
                <a:cs typeface="SimSun"/>
              </a:rPr>
              <a:t>本</a:t>
            </a:r>
            <a:r>
              <a:rPr dirty="0" sz="1600" spc="-1000">
                <a:latin typeface="SimSun"/>
                <a:cs typeface="SimSun"/>
              </a:rPr>
              <a:t>元</a:t>
            </a:r>
            <a:r>
              <a:rPr dirty="0" baseline="17361" sz="2400" spc="-914">
                <a:latin typeface="SimSun"/>
                <a:cs typeface="SimSun"/>
              </a:rPr>
              <a:t>地</a:t>
            </a:r>
            <a:r>
              <a:rPr dirty="0" sz="1600" spc="-990">
                <a:latin typeface="SimSun"/>
                <a:cs typeface="SimSun"/>
              </a:rPr>
              <a:t>标</a:t>
            </a:r>
            <a:r>
              <a:rPr dirty="0" baseline="17361" sz="2400" spc="-30" b="1">
                <a:latin typeface="Arial"/>
                <a:cs typeface="Arial"/>
              </a:rPr>
              <a:t>I</a:t>
            </a:r>
            <a:r>
              <a:rPr dirty="0" baseline="17361" sz="2400" spc="-802" b="1">
                <a:latin typeface="Arial"/>
                <a:cs typeface="Arial"/>
              </a:rPr>
              <a:t>P</a:t>
            </a:r>
            <a:r>
              <a:rPr dirty="0" sz="1600" spc="-1080">
                <a:latin typeface="SimSun"/>
                <a:cs typeface="SimSun"/>
              </a:rPr>
              <a:t>识</a:t>
            </a:r>
            <a:r>
              <a:rPr dirty="0" baseline="17361" sz="2400" spc="-787">
                <a:latin typeface="SimSun"/>
                <a:cs typeface="SimSun"/>
              </a:rPr>
              <a:t>地</a:t>
            </a:r>
            <a:r>
              <a:rPr dirty="0" sz="1600" spc="-1075">
                <a:latin typeface="SimSun"/>
                <a:cs typeface="SimSun"/>
              </a:rPr>
              <a:t>（</a:t>
            </a:r>
            <a:r>
              <a:rPr dirty="0" baseline="17361" sz="2400" spc="-794">
                <a:latin typeface="SimSun"/>
                <a:cs typeface="SimSun"/>
              </a:rPr>
              <a:t>址</a:t>
            </a:r>
            <a:r>
              <a:rPr dirty="0" sz="1600">
                <a:latin typeface="SimSun"/>
                <a:cs typeface="SimSun"/>
              </a:rPr>
              <a:t>逻辑</a:t>
            </a:r>
            <a:r>
              <a:rPr dirty="0" sz="1600" spc="-25">
                <a:latin typeface="Arial MT"/>
                <a:cs typeface="Arial MT"/>
              </a:rPr>
              <a:t>ID</a:t>
            </a:r>
            <a:r>
              <a:rPr dirty="0" sz="1600" spc="-10">
                <a:latin typeface="SimSun"/>
                <a:cs typeface="SimSun"/>
              </a:rPr>
              <a:t>链路协议类</a:t>
            </a:r>
            <a:endParaRPr sz="1600">
              <a:latin typeface="SimSun"/>
              <a:cs typeface="SimSun"/>
            </a:endParaRPr>
          </a:p>
          <a:p>
            <a:pPr algn="ctr" marL="689610" marR="115570">
              <a:lnSpc>
                <a:spcPct val="123700"/>
              </a:lnSpc>
            </a:pPr>
            <a:r>
              <a:rPr dirty="0" sz="1600" spc="-10">
                <a:latin typeface="Arial MT"/>
                <a:cs typeface="Arial MT"/>
              </a:rPr>
              <a:t>IP</a:t>
            </a:r>
            <a:r>
              <a:rPr dirty="0" sz="1600" spc="-25">
                <a:latin typeface="SimSun"/>
                <a:cs typeface="SimSun"/>
              </a:rPr>
              <a:t>地址</a:t>
            </a:r>
            <a:r>
              <a:rPr dirty="0" sz="1600" spc="-50">
                <a:latin typeface="SimSun"/>
                <a:cs typeface="SimSun"/>
              </a:rPr>
              <a:t> </a:t>
            </a:r>
            <a:r>
              <a:rPr dirty="0" sz="1600" spc="-15">
                <a:latin typeface="SimSun"/>
                <a:cs typeface="SimSun"/>
              </a:rPr>
              <a:t>子网掩码</a:t>
            </a:r>
            <a:endParaRPr sz="1600">
              <a:latin typeface="SimSun"/>
              <a:cs typeface="SimSun"/>
            </a:endParaRPr>
          </a:p>
          <a:p>
            <a:pPr algn="just" marL="593090" marR="19685" indent="-203835">
              <a:lnSpc>
                <a:spcPct val="123700"/>
              </a:lnSpc>
            </a:pPr>
            <a:r>
              <a:rPr dirty="0" sz="1600">
                <a:latin typeface="SimSun"/>
                <a:cs typeface="SimSun"/>
              </a:rPr>
              <a:t>对端</a:t>
            </a:r>
            <a:r>
              <a:rPr dirty="0" sz="1600" spc="-10">
                <a:latin typeface="Arial MT"/>
                <a:cs typeface="Arial MT"/>
              </a:rPr>
              <a:t>IP</a:t>
            </a:r>
            <a:r>
              <a:rPr dirty="0" sz="1600" spc="-20">
                <a:latin typeface="SimSun"/>
                <a:cs typeface="SimSun"/>
              </a:rPr>
              <a:t>网段地</a:t>
            </a:r>
            <a:r>
              <a:rPr dirty="0" sz="1600">
                <a:latin typeface="SimSun"/>
                <a:cs typeface="SimSun"/>
              </a:rPr>
              <a:t>对端</a:t>
            </a:r>
            <a:r>
              <a:rPr dirty="0" sz="1600" spc="-10">
                <a:latin typeface="Arial MT"/>
                <a:cs typeface="Arial MT"/>
              </a:rPr>
              <a:t>IP</a:t>
            </a:r>
            <a:r>
              <a:rPr dirty="0" sz="1600" spc="-25">
                <a:latin typeface="SimSun"/>
                <a:cs typeface="SimSun"/>
              </a:rPr>
              <a:t>掩码</a:t>
            </a:r>
            <a:r>
              <a:rPr dirty="0" sz="1600">
                <a:latin typeface="SimSun"/>
                <a:cs typeface="SimSun"/>
              </a:rPr>
              <a:t>网关</a:t>
            </a:r>
            <a:r>
              <a:rPr dirty="0" sz="1600" spc="-10">
                <a:latin typeface="Arial MT"/>
                <a:cs typeface="Arial MT"/>
              </a:rPr>
              <a:t>IP</a:t>
            </a:r>
            <a:r>
              <a:rPr dirty="0" sz="1600" spc="-25">
                <a:latin typeface="SimSun"/>
                <a:cs typeface="SimSun"/>
              </a:rPr>
              <a:t>地址</a:t>
            </a:r>
            <a:r>
              <a:rPr dirty="0" sz="1600" spc="-50">
                <a:latin typeface="SimSun"/>
                <a:cs typeface="SimSun"/>
              </a:rPr>
              <a:t> </a:t>
            </a:r>
            <a:r>
              <a:rPr dirty="0" sz="1600" spc="-10">
                <a:latin typeface="Arial MT"/>
                <a:cs typeface="Arial MT"/>
              </a:rPr>
              <a:t>VLAN</a:t>
            </a:r>
            <a:r>
              <a:rPr dirty="0" sz="1600" spc="-30">
                <a:latin typeface="SimSun"/>
                <a:cs typeface="SimSun"/>
              </a:rPr>
              <a:t>标识</a:t>
            </a:r>
            <a:endParaRPr sz="1600">
              <a:latin typeface="SimSun"/>
              <a:cs typeface="SimSun"/>
            </a:endParaRPr>
          </a:p>
          <a:p>
            <a:pPr algn="ctr" marL="563880">
              <a:lnSpc>
                <a:spcPct val="100000"/>
              </a:lnSpc>
              <a:spcBef>
                <a:spcPts val="1575"/>
              </a:spcBef>
            </a:pPr>
            <a:r>
              <a:rPr dirty="0" sz="1600" spc="-10">
                <a:latin typeface="Arial MT"/>
                <a:cs typeface="Arial MT"/>
              </a:rPr>
              <a:t>VLAN</a:t>
            </a:r>
            <a:r>
              <a:rPr dirty="0" sz="1600" spc="-30">
                <a:latin typeface="SimSun"/>
                <a:cs typeface="SimSun"/>
              </a:rPr>
              <a:t>类型</a:t>
            </a:r>
            <a:endParaRPr sz="1600">
              <a:latin typeface="SimSun"/>
              <a:cs typeface="SimSun"/>
            </a:endParaRPr>
          </a:p>
        </p:txBody>
      </p:sp>
      <p:sp>
        <p:nvSpPr>
          <p:cNvPr id="69" name="object 69" descr=""/>
          <p:cNvSpPr txBox="1"/>
          <p:nvPr/>
        </p:nvSpPr>
        <p:spPr>
          <a:xfrm>
            <a:off x="2586068" y="2012944"/>
            <a:ext cx="2343785" cy="2753360"/>
          </a:xfrm>
          <a:prstGeom prst="rect">
            <a:avLst/>
          </a:prstGeom>
        </p:spPr>
        <p:txBody>
          <a:bodyPr wrap="square" lIns="0" tIns="0" rIns="0" bIns="0" rtlCol="0" vert="horz">
            <a:spAutoFit/>
          </a:bodyPr>
          <a:lstStyle/>
          <a:p>
            <a:pPr marL="2018030">
              <a:lnSpc>
                <a:spcPts val="1160"/>
              </a:lnSpc>
            </a:pPr>
            <a:r>
              <a:rPr dirty="0" sz="1600" spc="60">
                <a:latin typeface="SimSun"/>
                <a:cs typeface="SimSun"/>
              </a:rPr>
              <a:t>规</a:t>
            </a:r>
            <a:endParaRPr sz="1600">
              <a:latin typeface="SimSun"/>
              <a:cs typeface="SimSun"/>
            </a:endParaRPr>
          </a:p>
          <a:p>
            <a:pPr>
              <a:lnSpc>
                <a:spcPts val="1380"/>
              </a:lnSpc>
              <a:tabLst>
                <a:tab pos="1936114" algn="l"/>
              </a:tabLst>
            </a:pPr>
            <a:r>
              <a:rPr dirty="0" baseline="-15625" sz="2400" spc="-1500">
                <a:latin typeface="Arial MT"/>
                <a:cs typeface="Arial MT"/>
              </a:rPr>
              <a:t>N</a:t>
            </a:r>
            <a:r>
              <a:rPr dirty="0" sz="1600" spc="-275">
                <a:latin typeface="Arial MT"/>
                <a:cs typeface="Arial MT"/>
              </a:rPr>
              <a:t>O</a:t>
            </a:r>
            <a:r>
              <a:rPr dirty="0" baseline="-15625" sz="2400" spc="-1237">
                <a:latin typeface="Arial MT"/>
                <a:cs typeface="Arial MT"/>
              </a:rPr>
              <a:t>B</a:t>
            </a:r>
            <a:r>
              <a:rPr dirty="0" sz="1600" spc="-15">
                <a:latin typeface="Arial MT"/>
                <a:cs typeface="Arial MT"/>
              </a:rPr>
              <a:t>A</a:t>
            </a:r>
            <a:r>
              <a:rPr dirty="0" sz="1600" spc="-1185">
                <a:latin typeface="Arial MT"/>
                <a:cs typeface="Arial MT"/>
              </a:rPr>
              <a:t>M</a:t>
            </a:r>
            <a:r>
              <a:rPr dirty="0" baseline="-15625" sz="2400" spc="-30">
                <a:latin typeface="Arial MT"/>
                <a:cs typeface="Arial MT"/>
              </a:rPr>
              <a:t>I</a:t>
            </a:r>
            <a:r>
              <a:rPr dirty="0" baseline="-15625" sz="2400" spc="-7">
                <a:latin typeface="Arial MT"/>
                <a:cs typeface="Arial MT"/>
              </a:rPr>
              <a:t>D</a:t>
            </a:r>
            <a:r>
              <a:rPr dirty="0" sz="1600" spc="-20">
                <a:latin typeface="Arial MT"/>
                <a:cs typeface="Arial MT"/>
              </a:rPr>
              <a:t>I</a:t>
            </a:r>
            <a:r>
              <a:rPr dirty="0" sz="1600" spc="-10">
                <a:latin typeface="Arial MT"/>
                <a:cs typeface="Arial MT"/>
              </a:rPr>
              <a:t>P</a:t>
            </a:r>
            <a:r>
              <a:rPr dirty="0" sz="1600">
                <a:latin typeface="Arial MT"/>
                <a:cs typeface="Arial MT"/>
              </a:rPr>
              <a:t>	</a:t>
            </a:r>
            <a:r>
              <a:rPr dirty="0" sz="1600" spc="-50">
                <a:latin typeface="SimSun"/>
                <a:cs typeface="SimSun"/>
              </a:rPr>
              <a:t>基</a:t>
            </a:r>
            <a:endParaRPr sz="1600">
              <a:latin typeface="SimSun"/>
              <a:cs typeface="SimSun"/>
            </a:endParaRPr>
          </a:p>
          <a:p>
            <a:pPr marL="950594">
              <a:lnSpc>
                <a:spcPts val="1875"/>
              </a:lnSpc>
              <a:spcBef>
                <a:spcPts val="114"/>
              </a:spcBef>
              <a:tabLst>
                <a:tab pos="2018030" algn="l"/>
              </a:tabLst>
            </a:pPr>
            <a:r>
              <a:rPr dirty="0" baseline="19097" sz="2400" spc="-75">
                <a:latin typeface="SimSun"/>
                <a:cs typeface="SimSun"/>
              </a:rPr>
              <a:t>无</a:t>
            </a:r>
            <a:r>
              <a:rPr dirty="0" baseline="19097" sz="2400">
                <a:latin typeface="SimSun"/>
                <a:cs typeface="SimSun"/>
              </a:rPr>
              <a:t>	</a:t>
            </a:r>
            <a:r>
              <a:rPr dirty="0" sz="1600" spc="-25">
                <a:latin typeface="Arial MT"/>
                <a:cs typeface="Arial MT"/>
              </a:rPr>
              <a:t>gN</a:t>
            </a:r>
            <a:endParaRPr sz="1600">
              <a:latin typeface="Arial MT"/>
              <a:cs typeface="Arial MT"/>
            </a:endParaRPr>
          </a:p>
          <a:p>
            <a:pPr algn="ctr" marR="229870">
              <a:lnSpc>
                <a:spcPts val="1875"/>
              </a:lnSpc>
            </a:pPr>
            <a:r>
              <a:rPr dirty="0" sz="1600" spc="-20">
                <a:latin typeface="Arial MT"/>
                <a:cs typeface="Arial MT"/>
              </a:rPr>
              <a:t>5G-</a:t>
            </a:r>
            <a:r>
              <a:rPr dirty="0" sz="1600">
                <a:latin typeface="SimSun"/>
                <a:cs typeface="SimSun"/>
              </a:rPr>
              <a:t>业务</a:t>
            </a:r>
            <a:r>
              <a:rPr dirty="0" sz="1600" spc="-25">
                <a:latin typeface="Arial MT"/>
                <a:cs typeface="Arial MT"/>
              </a:rPr>
              <a:t>IP</a:t>
            </a:r>
            <a:endParaRPr sz="1600">
              <a:latin typeface="Arial MT"/>
              <a:cs typeface="Arial MT"/>
            </a:endParaRPr>
          </a:p>
          <a:p>
            <a:pPr algn="r">
              <a:lnSpc>
                <a:spcPct val="100000"/>
              </a:lnSpc>
              <a:spcBef>
                <a:spcPts val="455"/>
              </a:spcBef>
              <a:tabLst>
                <a:tab pos="358775" algn="l"/>
                <a:tab pos="2118360" algn="l"/>
              </a:tabLst>
            </a:pPr>
            <a:r>
              <a:rPr dirty="0" baseline="34722" sz="2400" spc="-75">
                <a:latin typeface="Arial MT"/>
                <a:cs typeface="Arial MT"/>
              </a:rPr>
              <a:t>O</a:t>
            </a:r>
            <a:r>
              <a:rPr dirty="0" baseline="34722" sz="2400">
                <a:latin typeface="Arial MT"/>
                <a:cs typeface="Arial MT"/>
              </a:rPr>
              <a:t>	</a:t>
            </a:r>
            <a:r>
              <a:rPr dirty="0" sz="1600" spc="-20">
                <a:latin typeface="Arial MT"/>
                <a:cs typeface="Arial MT"/>
              </a:rPr>
              <a:t>5G-</a:t>
            </a:r>
            <a:r>
              <a:rPr dirty="0" sz="1600">
                <a:latin typeface="SimSun"/>
                <a:cs typeface="SimSun"/>
              </a:rPr>
              <a:t>业务</a:t>
            </a:r>
            <a:r>
              <a:rPr dirty="0" sz="1600" spc="-10">
                <a:latin typeface="Arial MT"/>
                <a:cs typeface="Arial MT"/>
              </a:rPr>
              <a:t>IP</a:t>
            </a:r>
            <a:r>
              <a:rPr dirty="0" sz="1600">
                <a:latin typeface="SimSun"/>
                <a:cs typeface="SimSun"/>
              </a:rPr>
              <a:t>掩</a:t>
            </a:r>
            <a:r>
              <a:rPr dirty="0" sz="1600" spc="-50">
                <a:latin typeface="SimSun"/>
                <a:cs typeface="SimSun"/>
              </a:rPr>
              <a:t>码</a:t>
            </a:r>
            <a:r>
              <a:rPr dirty="0" sz="1600">
                <a:latin typeface="SimSun"/>
                <a:cs typeface="SimSun"/>
              </a:rPr>
              <a:t>	</a:t>
            </a:r>
            <a:r>
              <a:rPr dirty="0" baseline="34722" sz="2400" spc="-75">
                <a:latin typeface="SimSun"/>
                <a:cs typeface="SimSun"/>
              </a:rPr>
              <a:t>规</a:t>
            </a:r>
            <a:endParaRPr baseline="34722" sz="2400">
              <a:latin typeface="SimSun"/>
              <a:cs typeface="SimSun"/>
            </a:endParaRPr>
          </a:p>
          <a:p>
            <a:pPr marL="978535">
              <a:lnSpc>
                <a:spcPts val="1875"/>
              </a:lnSpc>
              <a:spcBef>
                <a:spcPts val="455"/>
              </a:spcBef>
              <a:tabLst>
                <a:tab pos="2018030" algn="l"/>
              </a:tabLst>
            </a:pPr>
            <a:r>
              <a:rPr dirty="0" sz="1600" spc="-50">
                <a:latin typeface="SimSun"/>
                <a:cs typeface="SimSun"/>
              </a:rPr>
              <a:t>无</a:t>
            </a:r>
            <a:r>
              <a:rPr dirty="0" sz="1600">
                <a:latin typeface="SimSun"/>
                <a:cs typeface="SimSun"/>
              </a:rPr>
              <a:t>	</a:t>
            </a:r>
            <a:r>
              <a:rPr dirty="0" baseline="-8680" sz="2400" spc="-75">
                <a:latin typeface="SimSun"/>
                <a:cs typeface="SimSun"/>
              </a:rPr>
              <a:t>目</a:t>
            </a:r>
            <a:endParaRPr baseline="-8680" sz="2400">
              <a:latin typeface="SimSun"/>
              <a:cs typeface="SimSun"/>
            </a:endParaRPr>
          </a:p>
          <a:p>
            <a:pPr marL="20955">
              <a:lnSpc>
                <a:spcPts val="1875"/>
              </a:lnSpc>
              <a:tabLst>
                <a:tab pos="978535" algn="l"/>
                <a:tab pos="1879600" algn="l"/>
              </a:tabLst>
            </a:pPr>
            <a:r>
              <a:rPr dirty="0" sz="1600" spc="-50">
                <a:latin typeface="Arial MT"/>
                <a:cs typeface="Arial MT"/>
              </a:rPr>
              <a:t>O</a:t>
            </a:r>
            <a:r>
              <a:rPr dirty="0" sz="1600">
                <a:latin typeface="Arial MT"/>
                <a:cs typeface="Arial MT"/>
              </a:rPr>
              <a:t>	</a:t>
            </a:r>
            <a:r>
              <a:rPr dirty="0" baseline="-19097" sz="2400" spc="-75">
                <a:latin typeface="SimSun"/>
                <a:cs typeface="SimSun"/>
              </a:rPr>
              <a:t>无</a:t>
            </a:r>
            <a:r>
              <a:rPr dirty="0" baseline="-19097" sz="2400">
                <a:latin typeface="SimSun"/>
                <a:cs typeface="SimSun"/>
              </a:rPr>
              <a:t>	</a:t>
            </a:r>
            <a:r>
              <a:rPr dirty="0" sz="1600" spc="-25">
                <a:latin typeface="Arial MT"/>
                <a:cs typeface="Arial MT"/>
              </a:rPr>
              <a:t>OM</a:t>
            </a:r>
            <a:endParaRPr sz="1600">
              <a:latin typeface="Arial MT"/>
              <a:cs typeface="Arial MT"/>
            </a:endParaRPr>
          </a:p>
          <a:p>
            <a:pPr algn="r" marR="12065">
              <a:lnSpc>
                <a:spcPct val="100000"/>
              </a:lnSpc>
              <a:spcBef>
                <a:spcPts val="994"/>
              </a:spcBef>
              <a:tabLst>
                <a:tab pos="1638300" algn="l"/>
              </a:tabLst>
            </a:pPr>
            <a:r>
              <a:rPr dirty="0" sz="1600" spc="-20">
                <a:latin typeface="Arial MT"/>
                <a:cs typeface="Arial MT"/>
              </a:rPr>
              <a:t>5G-</a:t>
            </a:r>
            <a:r>
              <a:rPr dirty="0" sz="1600">
                <a:latin typeface="SimSun"/>
                <a:cs typeface="SimSun"/>
              </a:rPr>
              <a:t>业务网关</a:t>
            </a:r>
            <a:r>
              <a:rPr dirty="0" sz="1600" spc="-25">
                <a:latin typeface="Arial MT"/>
                <a:cs typeface="Arial MT"/>
              </a:rPr>
              <a:t>IP</a:t>
            </a:r>
            <a:r>
              <a:rPr dirty="0" sz="1600">
                <a:latin typeface="Arial MT"/>
                <a:cs typeface="Arial MT"/>
              </a:rPr>
              <a:t>	</a:t>
            </a:r>
            <a:r>
              <a:rPr dirty="0" baseline="-29513" sz="2400" spc="-457">
                <a:latin typeface="Arial MT"/>
                <a:cs typeface="Arial MT"/>
              </a:rPr>
              <a:t>G</a:t>
            </a:r>
            <a:r>
              <a:rPr dirty="0" baseline="-41666" sz="2400" spc="-1972">
                <a:latin typeface="SimSun"/>
                <a:cs typeface="SimSun"/>
              </a:rPr>
              <a:t>应</a:t>
            </a:r>
            <a:r>
              <a:rPr dirty="0" baseline="-29513" sz="2400" spc="-75">
                <a:latin typeface="Arial MT"/>
                <a:cs typeface="Arial MT"/>
              </a:rPr>
              <a:t>N</a:t>
            </a:r>
            <a:endParaRPr baseline="-29513" sz="2400">
              <a:latin typeface="Arial MT"/>
              <a:cs typeface="Arial MT"/>
            </a:endParaRPr>
          </a:p>
          <a:p>
            <a:pPr algn="ctr" marR="231140">
              <a:lnSpc>
                <a:spcPts val="1645"/>
              </a:lnSpc>
              <a:spcBef>
                <a:spcPts val="455"/>
              </a:spcBef>
            </a:pPr>
            <a:r>
              <a:rPr dirty="0" sz="1600" spc="-20">
                <a:latin typeface="Arial MT"/>
                <a:cs typeface="Arial MT"/>
              </a:rPr>
              <a:t>5G-</a:t>
            </a:r>
            <a:r>
              <a:rPr dirty="0" sz="1600">
                <a:latin typeface="SimSun"/>
                <a:cs typeface="SimSun"/>
              </a:rPr>
              <a:t>业务</a:t>
            </a:r>
            <a:r>
              <a:rPr dirty="0" sz="1600" spc="-20">
                <a:latin typeface="Arial MT"/>
                <a:cs typeface="Arial MT"/>
              </a:rPr>
              <a:t>VLAN</a:t>
            </a:r>
            <a:endParaRPr sz="1600">
              <a:latin typeface="Arial MT"/>
              <a:cs typeface="Arial MT"/>
            </a:endParaRPr>
          </a:p>
          <a:p>
            <a:pPr marL="2018030">
              <a:lnSpc>
                <a:spcPts val="1495"/>
              </a:lnSpc>
            </a:pPr>
            <a:r>
              <a:rPr dirty="0" sz="1600" spc="-50">
                <a:latin typeface="SimSun"/>
                <a:cs typeface="SimSun"/>
              </a:rPr>
              <a:t>会</a:t>
            </a:r>
            <a:endParaRPr sz="1600">
              <a:latin typeface="SimSun"/>
              <a:cs typeface="SimSun"/>
            </a:endParaRPr>
          </a:p>
          <a:p>
            <a:pPr marL="20955">
              <a:lnSpc>
                <a:spcPts val="1770"/>
              </a:lnSpc>
              <a:tabLst>
                <a:tab pos="949960" algn="l"/>
                <a:tab pos="2139950" algn="l"/>
              </a:tabLst>
            </a:pPr>
            <a:r>
              <a:rPr dirty="0" sz="1600" spc="-50">
                <a:latin typeface="Arial MT"/>
                <a:cs typeface="Arial MT"/>
              </a:rPr>
              <a:t>O</a:t>
            </a:r>
            <a:r>
              <a:rPr dirty="0" sz="1600">
                <a:latin typeface="Arial MT"/>
                <a:cs typeface="Arial MT"/>
              </a:rPr>
              <a:t>	</a:t>
            </a:r>
            <a:r>
              <a:rPr dirty="0" baseline="-17361" sz="2400" spc="-75">
                <a:latin typeface="SimSun"/>
                <a:cs typeface="SimSun"/>
              </a:rPr>
              <a:t>无</a:t>
            </a:r>
            <a:r>
              <a:rPr dirty="0" baseline="-17361" sz="2400">
                <a:latin typeface="SimSun"/>
                <a:cs typeface="SimSun"/>
              </a:rPr>
              <a:t>	</a:t>
            </a:r>
            <a:r>
              <a:rPr dirty="0" sz="1600" spc="-50">
                <a:latin typeface="SimSun"/>
                <a:cs typeface="SimSun"/>
              </a:rPr>
              <a:t>应</a:t>
            </a:r>
            <a:endParaRPr sz="1600">
              <a:latin typeface="SimSun"/>
              <a:cs typeface="SimSun"/>
            </a:endParaRPr>
          </a:p>
        </p:txBody>
      </p:sp>
      <p:sp>
        <p:nvSpPr>
          <p:cNvPr id="70" name="object 70" descr=""/>
          <p:cNvSpPr txBox="1"/>
          <p:nvPr/>
        </p:nvSpPr>
        <p:spPr>
          <a:xfrm>
            <a:off x="5011412" y="1953583"/>
            <a:ext cx="2916555" cy="2949575"/>
          </a:xfrm>
          <a:prstGeom prst="rect">
            <a:avLst/>
          </a:prstGeom>
        </p:spPr>
        <p:txBody>
          <a:bodyPr wrap="square" lIns="0" tIns="31114" rIns="0" bIns="0" rtlCol="0" vert="horz">
            <a:spAutoFit/>
          </a:bodyPr>
          <a:lstStyle/>
          <a:p>
            <a:pPr marL="3810">
              <a:lnSpc>
                <a:spcPts val="1380"/>
              </a:lnSpc>
              <a:spcBef>
                <a:spcPts val="244"/>
              </a:spcBef>
            </a:pPr>
            <a:r>
              <a:rPr dirty="0" baseline="13888" sz="2100" spc="-1829">
                <a:latin typeface="Microsoft YaHei"/>
                <a:cs typeface="Microsoft YaHei"/>
              </a:rPr>
              <a:t>学</a:t>
            </a:r>
            <a:r>
              <a:rPr dirty="0" sz="1600" spc="-405">
                <a:latin typeface="SimSun"/>
                <a:cs typeface="SimSun"/>
              </a:rPr>
              <a:t>参</a:t>
            </a:r>
            <a:r>
              <a:rPr dirty="0" baseline="13888" sz="2100" spc="-1357">
                <a:latin typeface="Microsoft YaHei"/>
                <a:cs typeface="Microsoft YaHei"/>
              </a:rPr>
              <a:t>院</a:t>
            </a:r>
            <a:r>
              <a:rPr dirty="0" sz="1600" spc="-710">
                <a:latin typeface="SimSun"/>
                <a:cs typeface="SimSun"/>
              </a:rPr>
              <a:t>数</a:t>
            </a:r>
            <a:r>
              <a:rPr dirty="0" baseline="13888" sz="2100" spc="-419">
                <a:latin typeface="Microsoft YaHei"/>
                <a:cs typeface="Microsoft YaHei"/>
              </a:rPr>
              <a:t>实训</a:t>
            </a:r>
            <a:r>
              <a:rPr dirty="0" baseline="1736" sz="2400" spc="-825">
                <a:latin typeface="Arial MT"/>
                <a:cs typeface="Arial MT"/>
              </a:rPr>
              <a:t>A</a:t>
            </a:r>
            <a:r>
              <a:rPr dirty="0" baseline="13888" sz="2100" spc="-1297">
                <a:latin typeface="Microsoft YaHei"/>
                <a:cs typeface="Microsoft YaHei"/>
              </a:rPr>
              <a:t>楼</a:t>
            </a:r>
            <a:r>
              <a:rPr dirty="0" baseline="1736" sz="2400" spc="-735">
                <a:latin typeface="Arial MT"/>
                <a:cs typeface="Arial MT"/>
              </a:rPr>
              <a:t>M</a:t>
            </a:r>
            <a:r>
              <a:rPr dirty="0" baseline="13888" sz="2100" spc="-1410">
                <a:latin typeface="Microsoft YaHei"/>
                <a:cs typeface="Microsoft YaHei"/>
              </a:rPr>
              <a:t>”</a:t>
            </a:r>
            <a:r>
              <a:rPr dirty="0" baseline="1736" sz="2400" spc="-97">
                <a:latin typeface="Arial MT"/>
                <a:cs typeface="Arial MT"/>
              </a:rPr>
              <a:t>F</a:t>
            </a:r>
            <a:r>
              <a:rPr dirty="0" baseline="13888" sz="2100" spc="-1372">
                <a:latin typeface="Microsoft YaHei"/>
                <a:cs typeface="Microsoft YaHei"/>
              </a:rPr>
              <a:t>的</a:t>
            </a:r>
            <a:r>
              <a:rPr dirty="0" baseline="1736" sz="2400" spc="-22">
                <a:latin typeface="Arial MT"/>
                <a:cs typeface="Arial MT"/>
              </a:rPr>
              <a:t>I</a:t>
            </a:r>
            <a:r>
              <a:rPr dirty="0" baseline="1736" sz="2400" spc="-937">
                <a:latin typeface="Arial MT"/>
                <a:cs typeface="Arial MT"/>
              </a:rPr>
              <a:t>P</a:t>
            </a:r>
            <a:r>
              <a:rPr dirty="0" baseline="13888" sz="2100" spc="-569">
                <a:latin typeface="Microsoft YaHei"/>
                <a:cs typeface="Microsoft YaHei"/>
              </a:rPr>
              <a:t>配</a:t>
            </a:r>
            <a:r>
              <a:rPr dirty="0" baseline="1736" sz="2400" spc="-1852">
                <a:latin typeface="SimSun"/>
                <a:cs typeface="SimSun"/>
              </a:rPr>
              <a:t>或</a:t>
            </a:r>
            <a:r>
              <a:rPr dirty="0" baseline="13888" sz="2100" spc="-869">
                <a:latin typeface="Microsoft YaHei"/>
                <a:cs typeface="Microsoft YaHei"/>
              </a:rPr>
              <a:t>置文</a:t>
            </a:r>
            <a:r>
              <a:rPr dirty="0" baseline="1736" sz="2400" spc="-7">
                <a:latin typeface="Arial MT"/>
                <a:cs typeface="Arial MT"/>
              </a:rPr>
              <a:t>4</a:t>
            </a:r>
            <a:r>
              <a:rPr dirty="0" baseline="1736" sz="2400" spc="-1545">
                <a:latin typeface="Arial MT"/>
                <a:cs typeface="Arial MT"/>
              </a:rPr>
              <a:t>G</a:t>
            </a:r>
            <a:r>
              <a:rPr dirty="0" baseline="13888" sz="2100" spc="-600">
                <a:latin typeface="Microsoft YaHei"/>
                <a:cs typeface="Microsoft YaHei"/>
              </a:rPr>
              <a:t>件</a:t>
            </a:r>
            <a:r>
              <a:rPr dirty="0" baseline="1736" sz="2400" spc="-1822">
                <a:latin typeface="SimSun"/>
                <a:cs typeface="SimSun"/>
              </a:rPr>
              <a:t>基</a:t>
            </a:r>
            <a:r>
              <a:rPr dirty="0" baseline="13888" sz="2100" spc="-307">
                <a:latin typeface="Microsoft YaHei"/>
                <a:cs typeface="Microsoft YaHei"/>
              </a:rPr>
              <a:t>。</a:t>
            </a:r>
            <a:r>
              <a:rPr dirty="0" baseline="1736" sz="2400">
                <a:latin typeface="SimSun"/>
                <a:cs typeface="SimSun"/>
              </a:rPr>
              <a:t>站业务</a:t>
            </a:r>
            <a:r>
              <a:rPr dirty="0" baseline="1736" sz="2400" spc="-37">
                <a:latin typeface="Arial MT"/>
                <a:cs typeface="Arial MT"/>
              </a:rPr>
              <a:t>IP</a:t>
            </a:r>
            <a:endParaRPr baseline="1736" sz="2400">
              <a:latin typeface="Arial MT"/>
              <a:cs typeface="Arial MT"/>
            </a:endParaRPr>
          </a:p>
          <a:p>
            <a:pPr marL="121285">
              <a:lnSpc>
                <a:spcPts val="1380"/>
              </a:lnSpc>
            </a:pPr>
            <a:r>
              <a:rPr dirty="0" sz="1600" spc="-25">
                <a:latin typeface="SimSun"/>
                <a:cs typeface="SimSun"/>
              </a:rPr>
              <a:t>管理</a:t>
            </a:r>
            <a:endParaRPr sz="1600">
              <a:latin typeface="SimSun"/>
              <a:cs typeface="SimSun"/>
            </a:endParaRPr>
          </a:p>
          <a:p>
            <a:pPr algn="ctr" marR="2358390">
              <a:lnSpc>
                <a:spcPct val="100000"/>
              </a:lnSpc>
              <a:spcBef>
                <a:spcPts val="114"/>
              </a:spcBef>
            </a:pPr>
            <a:r>
              <a:rPr dirty="0" sz="1600">
                <a:latin typeface="Arial MT"/>
                <a:cs typeface="Arial MT"/>
              </a:rPr>
              <a:t>D</a:t>
            </a:r>
            <a:r>
              <a:rPr dirty="0" sz="1600" spc="-50">
                <a:latin typeface="SimSun"/>
                <a:cs typeface="SimSun"/>
              </a:rPr>
              <a:t>。</a:t>
            </a:r>
            <a:endParaRPr sz="1600">
              <a:latin typeface="SimSun"/>
              <a:cs typeface="SimSun"/>
            </a:endParaRPr>
          </a:p>
          <a:p>
            <a:pPr marL="121285">
              <a:lnSpc>
                <a:spcPct val="100000"/>
              </a:lnSpc>
              <a:spcBef>
                <a:spcPts val="1265"/>
              </a:spcBef>
            </a:pPr>
            <a:r>
              <a:rPr dirty="0" sz="1600" spc="-50">
                <a:latin typeface="SimSun"/>
                <a:cs typeface="SimSun"/>
              </a:rPr>
              <a:t>数</a:t>
            </a:r>
            <a:endParaRPr sz="1600">
              <a:latin typeface="SimSun"/>
              <a:cs typeface="SimSun"/>
            </a:endParaRPr>
          </a:p>
          <a:p>
            <a:pPr algn="ctr" marR="2339975">
              <a:lnSpc>
                <a:spcPts val="1590"/>
              </a:lnSpc>
              <a:spcBef>
                <a:spcPts val="2045"/>
              </a:spcBef>
            </a:pPr>
            <a:r>
              <a:rPr dirty="0" sz="1600" spc="-565">
                <a:latin typeface="SimSun"/>
                <a:cs typeface="SimSun"/>
              </a:rPr>
              <a:t>和含</a:t>
            </a:r>
            <a:r>
              <a:rPr dirty="0" sz="1600" spc="-25">
                <a:latin typeface="Arial MT"/>
                <a:cs typeface="Arial MT"/>
              </a:rPr>
              <a:t>AM </a:t>
            </a:r>
            <a:r>
              <a:rPr dirty="0" sz="1600" spc="-50">
                <a:latin typeface="Arial MT"/>
                <a:cs typeface="Arial MT"/>
              </a:rPr>
              <a:t>T</a:t>
            </a:r>
            <a:endParaRPr sz="1600">
              <a:latin typeface="Arial MT"/>
              <a:cs typeface="Arial MT"/>
            </a:endParaRPr>
          </a:p>
          <a:p>
            <a:pPr marR="2583180" indent="38735">
              <a:lnSpc>
                <a:spcPct val="150000"/>
              </a:lnSpc>
              <a:spcBef>
                <a:spcPts val="900"/>
              </a:spcBef>
            </a:pPr>
            <a:r>
              <a:rPr dirty="0" sz="1600" spc="-955">
                <a:latin typeface="SimSun"/>
                <a:cs typeface="SimSun"/>
              </a:rPr>
              <a:t>全</a:t>
            </a:r>
            <a:r>
              <a:rPr dirty="0" baseline="-12152" sz="2400" spc="-75">
                <a:latin typeface="SimSun"/>
                <a:cs typeface="SimSun"/>
              </a:rPr>
              <a:t>管</a:t>
            </a:r>
            <a:r>
              <a:rPr dirty="0" sz="1600" spc="-50">
                <a:latin typeface="SimSun"/>
                <a:cs typeface="SimSun"/>
              </a:rPr>
              <a:t>现</a:t>
            </a:r>
            <a:endParaRPr sz="1600">
              <a:latin typeface="SimSun"/>
              <a:cs typeface="SimSun"/>
            </a:endParaRPr>
          </a:p>
          <a:p>
            <a:pPr marL="121285">
              <a:lnSpc>
                <a:spcPts val="1395"/>
              </a:lnSpc>
            </a:pPr>
            <a:r>
              <a:rPr dirty="0" sz="1600" spc="-50">
                <a:latin typeface="SimSun"/>
                <a:cs typeface="SimSun"/>
              </a:rPr>
              <a:t>理</a:t>
            </a:r>
            <a:endParaRPr sz="1600">
              <a:latin typeface="SimSun"/>
              <a:cs typeface="SimSun"/>
            </a:endParaRPr>
          </a:p>
          <a:p>
            <a:pPr algn="ctr" marR="2336165">
              <a:lnSpc>
                <a:spcPts val="1695"/>
              </a:lnSpc>
            </a:pPr>
            <a:r>
              <a:rPr dirty="0" sz="1600" spc="-25">
                <a:latin typeface="Arial MT"/>
                <a:cs typeface="Arial MT"/>
              </a:rPr>
              <a:t>NSA</a:t>
            </a:r>
            <a:endParaRPr sz="1600">
              <a:latin typeface="Arial MT"/>
              <a:cs typeface="Arial MT"/>
            </a:endParaRPr>
          </a:p>
        </p:txBody>
      </p:sp>
      <p:sp>
        <p:nvSpPr>
          <p:cNvPr id="71" name="object 71" descr=""/>
          <p:cNvSpPr txBox="1"/>
          <p:nvPr/>
        </p:nvSpPr>
        <p:spPr>
          <a:xfrm>
            <a:off x="5475572" y="2003606"/>
            <a:ext cx="3325495" cy="2899410"/>
          </a:xfrm>
          <a:prstGeom prst="rect">
            <a:avLst/>
          </a:prstGeom>
        </p:spPr>
        <p:txBody>
          <a:bodyPr wrap="square" lIns="0" tIns="0" rIns="0" bIns="0" rtlCol="0" vert="horz">
            <a:spAutoFit/>
          </a:bodyPr>
          <a:lstStyle/>
          <a:p>
            <a:pPr>
              <a:lnSpc>
                <a:spcPts val="1230"/>
              </a:lnSpc>
            </a:pPr>
            <a:r>
              <a:rPr dirty="0" sz="1600" spc="-1095">
                <a:latin typeface="SimSun"/>
                <a:cs typeface="SimSun"/>
              </a:rPr>
              <a:t>名</a:t>
            </a:r>
            <a:r>
              <a:rPr dirty="0" baseline="-29513" sz="2400" spc="-247">
                <a:latin typeface="Arial MT"/>
                <a:cs typeface="Arial MT"/>
              </a:rPr>
              <a:t>IP</a:t>
            </a:r>
            <a:r>
              <a:rPr dirty="0" sz="1600" spc="105">
                <a:latin typeface="SimSun"/>
                <a:cs typeface="SimSun"/>
              </a:rPr>
              <a:t>称为</a:t>
            </a:r>
            <a:r>
              <a:rPr dirty="0" sz="1600">
                <a:latin typeface="Arial MT"/>
                <a:cs typeface="Arial MT"/>
              </a:rPr>
              <a:t>eNB</a:t>
            </a:r>
            <a:r>
              <a:rPr dirty="0" sz="1600" spc="490">
                <a:latin typeface="Arial MT"/>
                <a:cs typeface="Arial MT"/>
              </a:rPr>
              <a:t> </a:t>
            </a:r>
            <a:r>
              <a:rPr dirty="0" sz="1600" spc="70">
                <a:latin typeface="Arial MT"/>
                <a:cs typeface="Arial MT"/>
              </a:rPr>
              <a:t>ID</a:t>
            </a:r>
            <a:r>
              <a:rPr dirty="0" sz="1600" spc="95">
                <a:latin typeface="SimSun"/>
                <a:cs typeface="SimSun"/>
              </a:rPr>
              <a:t>，后续可</a:t>
            </a:r>
            <a:r>
              <a:rPr dirty="0" sz="1600" spc="-1300">
                <a:latin typeface="SimSun"/>
                <a:cs typeface="SimSun"/>
              </a:rPr>
              <a:t>能</a:t>
            </a:r>
            <a:r>
              <a:rPr dirty="0" baseline="-29513" sz="2400" spc="-104">
                <a:latin typeface="Arial MT"/>
                <a:cs typeface="Arial MT"/>
              </a:rPr>
              <a:t>IP</a:t>
            </a:r>
            <a:r>
              <a:rPr dirty="0" sz="1600" spc="65">
                <a:latin typeface="SimSun"/>
                <a:cs typeface="SimSun"/>
              </a:rPr>
              <a:t>会修改为</a:t>
            </a:r>
            <a:endParaRPr sz="1600">
              <a:latin typeface="SimSun"/>
              <a:cs typeface="SimSun"/>
            </a:endParaRPr>
          </a:p>
          <a:p>
            <a:pPr marL="256540">
              <a:lnSpc>
                <a:spcPts val="1170"/>
              </a:lnSpc>
            </a:pPr>
            <a:r>
              <a:rPr dirty="0" sz="1600" spc="-10">
                <a:latin typeface="SimSun"/>
                <a:cs typeface="SimSun"/>
              </a:rPr>
              <a:t>，后台远程登录基站的</a:t>
            </a:r>
            <a:endParaRPr sz="1600">
              <a:latin typeface="SimSun"/>
              <a:cs typeface="SimSun"/>
            </a:endParaRPr>
          </a:p>
          <a:p>
            <a:pPr algn="ctr" marR="678815">
              <a:lnSpc>
                <a:spcPts val="1705"/>
              </a:lnSpc>
            </a:pPr>
            <a:r>
              <a:rPr dirty="0" sz="1600">
                <a:latin typeface="Arial MT"/>
                <a:cs typeface="Arial MT"/>
              </a:rPr>
              <a:t>AMF</a:t>
            </a:r>
            <a:r>
              <a:rPr dirty="0" sz="1600" spc="-10">
                <a:latin typeface="Arial MT"/>
                <a:cs typeface="Arial MT"/>
              </a:rPr>
              <a:t> </a:t>
            </a:r>
            <a:r>
              <a:rPr dirty="0" sz="1600" spc="-180">
                <a:latin typeface="SimSun"/>
                <a:cs typeface="SimSun"/>
              </a:rPr>
              <a:t>或 </a:t>
            </a:r>
            <a:r>
              <a:rPr dirty="0" sz="1600" spc="-20">
                <a:latin typeface="Arial MT"/>
                <a:cs typeface="Arial MT"/>
              </a:rPr>
              <a:t>ENDC</a:t>
            </a:r>
            <a:endParaRPr sz="1600">
              <a:latin typeface="Arial MT"/>
              <a:cs typeface="Arial MT"/>
            </a:endParaRPr>
          </a:p>
          <a:p>
            <a:pPr algn="ctr" marL="307340" marR="986790">
              <a:lnSpc>
                <a:spcPct val="123700"/>
              </a:lnSpc>
            </a:pPr>
            <a:r>
              <a:rPr dirty="0" sz="1600">
                <a:latin typeface="SimSun"/>
                <a:cs typeface="SimSun"/>
              </a:rPr>
              <a:t>基站业务</a:t>
            </a:r>
            <a:r>
              <a:rPr dirty="0" sz="1600" spc="-10">
                <a:latin typeface="Arial MT"/>
                <a:cs typeface="Arial MT"/>
              </a:rPr>
              <a:t>IP</a:t>
            </a:r>
            <a:r>
              <a:rPr dirty="0" sz="1600" spc="-15">
                <a:latin typeface="SimSun"/>
                <a:cs typeface="SimSun"/>
              </a:rPr>
              <a:t>，影响业务</a:t>
            </a:r>
            <a:r>
              <a:rPr dirty="0" sz="1600" spc="-10">
                <a:latin typeface="SimSun"/>
                <a:cs typeface="SimSun"/>
              </a:rPr>
              <a:t>子网掩码需要换算</a:t>
            </a:r>
            <a:endParaRPr sz="1600">
              <a:latin typeface="SimSun"/>
              <a:cs typeface="SimSun"/>
            </a:endParaRPr>
          </a:p>
          <a:p>
            <a:pPr marL="911225" marR="73025" indent="-807085">
              <a:lnSpc>
                <a:spcPct val="100000"/>
              </a:lnSpc>
              <a:spcBef>
                <a:spcPts val="680"/>
              </a:spcBef>
            </a:pPr>
            <a:r>
              <a:rPr dirty="0" sz="1600" spc="-10">
                <a:latin typeface="Arial MT"/>
                <a:cs typeface="Arial MT"/>
              </a:rPr>
              <a:t>F/UPF/4G</a:t>
            </a:r>
            <a:r>
              <a:rPr dirty="0" sz="1600">
                <a:latin typeface="SimSun"/>
                <a:cs typeface="SimSun"/>
              </a:rPr>
              <a:t>基站</a:t>
            </a:r>
            <a:r>
              <a:rPr dirty="0" sz="1600" spc="-10">
                <a:latin typeface="Arial MT"/>
                <a:cs typeface="Arial MT"/>
              </a:rPr>
              <a:t>IP</a:t>
            </a:r>
            <a:r>
              <a:rPr dirty="0" sz="1600" spc="-15">
                <a:latin typeface="SimSun"/>
                <a:cs typeface="SimSun"/>
              </a:rPr>
              <a:t>的网段，掩码按规划配置。</a:t>
            </a:r>
            <a:endParaRPr sz="1600">
              <a:latin typeface="SimSun"/>
              <a:cs typeface="SimSun"/>
            </a:endParaRPr>
          </a:p>
          <a:p>
            <a:pPr marL="848994" marR="1185545" indent="-345440">
              <a:lnSpc>
                <a:spcPct val="123700"/>
              </a:lnSpc>
              <a:spcBef>
                <a:spcPts val="225"/>
              </a:spcBef>
            </a:pPr>
            <a:r>
              <a:rPr dirty="0" sz="1600" spc="-10">
                <a:latin typeface="SimSun"/>
                <a:cs typeface="SimSun"/>
              </a:rPr>
              <a:t>对应业务网关地址</a:t>
            </a:r>
            <a:r>
              <a:rPr dirty="0" sz="1600">
                <a:latin typeface="SimSun"/>
                <a:cs typeface="SimSun"/>
              </a:rPr>
              <a:t>业务</a:t>
            </a:r>
            <a:r>
              <a:rPr dirty="0" sz="1600" spc="-20">
                <a:latin typeface="Arial MT"/>
                <a:cs typeface="Arial MT"/>
              </a:rPr>
              <a:t>VLAN</a:t>
            </a:r>
            <a:endParaRPr sz="1600">
              <a:latin typeface="Arial MT"/>
              <a:cs typeface="Arial MT"/>
            </a:endParaRPr>
          </a:p>
          <a:p>
            <a:pPr algn="ctr" marR="681990">
              <a:lnSpc>
                <a:spcPct val="100000"/>
              </a:lnSpc>
              <a:spcBef>
                <a:spcPts val="620"/>
              </a:spcBef>
            </a:pPr>
            <a:r>
              <a:rPr dirty="0" sz="1600" spc="-10">
                <a:latin typeface="Arial MT"/>
                <a:cs typeface="Arial MT"/>
              </a:rPr>
              <a:t>SA</a:t>
            </a:r>
            <a:r>
              <a:rPr dirty="0" sz="1600" spc="-10">
                <a:latin typeface="SimSun"/>
                <a:cs typeface="SimSun"/>
              </a:rPr>
              <a:t>：</a:t>
            </a:r>
            <a:r>
              <a:rPr dirty="0" sz="1600" spc="-10">
                <a:latin typeface="Arial MT"/>
                <a:cs typeface="Arial MT"/>
              </a:rPr>
              <a:t>S1</a:t>
            </a:r>
            <a:r>
              <a:rPr dirty="0" sz="1600" spc="-5">
                <a:latin typeface="SimSun"/>
                <a:cs typeface="SimSun"/>
              </a:rPr>
              <a:t>信令</a:t>
            </a:r>
            <a:r>
              <a:rPr dirty="0" sz="1600" spc="-10">
                <a:latin typeface="Arial MT"/>
                <a:cs typeface="Arial MT"/>
              </a:rPr>
              <a:t>/S1</a:t>
            </a:r>
            <a:r>
              <a:rPr dirty="0" sz="1600" spc="-25">
                <a:latin typeface="SimSun"/>
                <a:cs typeface="SimSun"/>
              </a:rPr>
              <a:t>用户</a:t>
            </a:r>
            <a:endParaRPr sz="1600">
              <a:latin typeface="SimSun"/>
              <a:cs typeface="SimSun"/>
            </a:endParaRPr>
          </a:p>
          <a:p>
            <a:pPr marL="31115">
              <a:lnSpc>
                <a:spcPct val="100000"/>
              </a:lnSpc>
            </a:pPr>
            <a:r>
              <a:rPr dirty="0" sz="1600" spc="-10">
                <a:latin typeface="SimSun"/>
                <a:cs typeface="SimSun"/>
              </a:rPr>
              <a:t>：</a:t>
            </a:r>
            <a:r>
              <a:rPr dirty="0" sz="1600" spc="-10">
                <a:latin typeface="Arial MT"/>
                <a:cs typeface="Arial MT"/>
              </a:rPr>
              <a:t>X2</a:t>
            </a:r>
            <a:r>
              <a:rPr dirty="0" sz="1600" spc="-5">
                <a:latin typeface="SimSun"/>
                <a:cs typeface="SimSun"/>
              </a:rPr>
              <a:t>信令</a:t>
            </a:r>
            <a:r>
              <a:rPr dirty="0" sz="1600" spc="-10">
                <a:latin typeface="Arial MT"/>
                <a:cs typeface="Arial MT"/>
              </a:rPr>
              <a:t>/X2</a:t>
            </a:r>
            <a:r>
              <a:rPr dirty="0" sz="1600" spc="-5">
                <a:latin typeface="SimSun"/>
                <a:cs typeface="SimSun"/>
              </a:rPr>
              <a:t>用户</a:t>
            </a:r>
            <a:r>
              <a:rPr dirty="0" sz="1600" spc="-10">
                <a:latin typeface="Arial MT"/>
                <a:cs typeface="Arial MT"/>
              </a:rPr>
              <a:t>/S1</a:t>
            </a:r>
            <a:r>
              <a:rPr dirty="0" sz="1600">
                <a:latin typeface="SimSun"/>
                <a:cs typeface="SimSun"/>
              </a:rPr>
              <a:t>信令</a:t>
            </a:r>
            <a:r>
              <a:rPr dirty="0" sz="1600" spc="-10">
                <a:latin typeface="Arial MT"/>
                <a:cs typeface="Arial MT"/>
              </a:rPr>
              <a:t>/S1</a:t>
            </a:r>
            <a:r>
              <a:rPr dirty="0" sz="1600" spc="-30">
                <a:latin typeface="SimSun"/>
                <a:cs typeface="SimSun"/>
              </a:rPr>
              <a:t>用户</a:t>
            </a:r>
            <a:endParaRPr sz="1600">
              <a:latin typeface="SimSun"/>
              <a:cs typeface="SimSun"/>
            </a:endParaRPr>
          </a:p>
        </p:txBody>
      </p:sp>
      <p:grpSp>
        <p:nvGrpSpPr>
          <p:cNvPr id="72" name="object 72" descr=""/>
          <p:cNvGrpSpPr/>
          <p:nvPr/>
        </p:nvGrpSpPr>
        <p:grpSpPr>
          <a:xfrm>
            <a:off x="209550" y="874436"/>
            <a:ext cx="8679180" cy="4091304"/>
            <a:chOff x="209550" y="874436"/>
            <a:chExt cx="8679180" cy="4091304"/>
          </a:xfrm>
        </p:grpSpPr>
        <p:pic>
          <p:nvPicPr>
            <p:cNvPr id="73" name="object 73"/>
            <p:cNvPicPr/>
            <p:nvPr/>
          </p:nvPicPr>
          <p:blipFill>
            <a:blip r:embed="rId6" cstate="print"/>
            <a:stretch>
              <a:fillRect/>
            </a:stretch>
          </p:blipFill>
          <p:spPr>
            <a:xfrm>
              <a:off x="294932" y="2342505"/>
              <a:ext cx="1584171" cy="2504703"/>
            </a:xfrm>
            <a:prstGeom prst="rect">
              <a:avLst/>
            </a:prstGeom>
          </p:spPr>
        </p:pic>
        <p:pic>
          <p:nvPicPr>
            <p:cNvPr id="74" name="object 74"/>
            <p:cNvPicPr/>
            <p:nvPr/>
          </p:nvPicPr>
          <p:blipFill>
            <a:blip r:embed="rId7" cstate="print"/>
            <a:stretch>
              <a:fillRect/>
            </a:stretch>
          </p:blipFill>
          <p:spPr>
            <a:xfrm>
              <a:off x="2743200" y="2343150"/>
              <a:ext cx="1820557" cy="2504065"/>
            </a:xfrm>
            <a:prstGeom prst="rect">
              <a:avLst/>
            </a:prstGeom>
          </p:spPr>
        </p:pic>
        <p:pic>
          <p:nvPicPr>
            <p:cNvPr id="75" name="object 75"/>
            <p:cNvPicPr/>
            <p:nvPr/>
          </p:nvPicPr>
          <p:blipFill>
            <a:blip r:embed="rId8" cstate="print"/>
            <a:stretch>
              <a:fillRect/>
            </a:stretch>
          </p:blipFill>
          <p:spPr>
            <a:xfrm>
              <a:off x="5479503" y="2342197"/>
              <a:ext cx="3384372" cy="2505017"/>
            </a:xfrm>
            <a:prstGeom prst="rect">
              <a:avLst/>
            </a:prstGeom>
          </p:spPr>
        </p:pic>
        <p:sp>
          <p:nvSpPr>
            <p:cNvPr id="76" name="object 76" descr=""/>
            <p:cNvSpPr/>
            <p:nvPr/>
          </p:nvSpPr>
          <p:spPr>
            <a:xfrm>
              <a:off x="1951112" y="3375482"/>
              <a:ext cx="403860" cy="284480"/>
            </a:xfrm>
            <a:custGeom>
              <a:avLst/>
              <a:gdLst/>
              <a:ahLst/>
              <a:cxnLst/>
              <a:rect l="l" t="t" r="r" b="b"/>
              <a:pathLst>
                <a:path w="403860" h="284479">
                  <a:moveTo>
                    <a:pt x="261264" y="0"/>
                  </a:moveTo>
                  <a:lnTo>
                    <a:pt x="261264" y="71081"/>
                  </a:lnTo>
                  <a:lnTo>
                    <a:pt x="0" y="71081"/>
                  </a:lnTo>
                  <a:lnTo>
                    <a:pt x="0" y="213245"/>
                  </a:lnTo>
                  <a:lnTo>
                    <a:pt x="261264" y="213245"/>
                  </a:lnTo>
                  <a:lnTo>
                    <a:pt x="261264" y="284327"/>
                  </a:lnTo>
                  <a:lnTo>
                    <a:pt x="403428" y="142163"/>
                  </a:lnTo>
                  <a:lnTo>
                    <a:pt x="261264" y="0"/>
                  </a:lnTo>
                  <a:close/>
                </a:path>
              </a:pathLst>
            </a:custGeom>
            <a:solidFill>
              <a:srgbClr val="BBE0E3"/>
            </a:solidFill>
          </p:spPr>
          <p:txBody>
            <a:bodyPr wrap="square" lIns="0" tIns="0" rIns="0" bIns="0" rtlCol="0"/>
            <a:lstStyle/>
            <a:p/>
          </p:txBody>
        </p:sp>
        <p:sp>
          <p:nvSpPr>
            <p:cNvPr id="77" name="object 77" descr=""/>
            <p:cNvSpPr/>
            <p:nvPr/>
          </p:nvSpPr>
          <p:spPr>
            <a:xfrm>
              <a:off x="1951112" y="3375482"/>
              <a:ext cx="403860" cy="284480"/>
            </a:xfrm>
            <a:custGeom>
              <a:avLst/>
              <a:gdLst/>
              <a:ahLst/>
              <a:cxnLst/>
              <a:rect l="l" t="t" r="r" b="b"/>
              <a:pathLst>
                <a:path w="403860" h="284479">
                  <a:moveTo>
                    <a:pt x="0" y="71081"/>
                  </a:moveTo>
                  <a:lnTo>
                    <a:pt x="261264" y="71081"/>
                  </a:lnTo>
                  <a:lnTo>
                    <a:pt x="261264" y="0"/>
                  </a:lnTo>
                  <a:lnTo>
                    <a:pt x="403428" y="142163"/>
                  </a:lnTo>
                  <a:lnTo>
                    <a:pt x="261264" y="284327"/>
                  </a:lnTo>
                  <a:lnTo>
                    <a:pt x="261264" y="213245"/>
                  </a:lnTo>
                  <a:lnTo>
                    <a:pt x="0" y="213245"/>
                  </a:lnTo>
                  <a:lnTo>
                    <a:pt x="0" y="71081"/>
                  </a:lnTo>
                  <a:close/>
                </a:path>
              </a:pathLst>
            </a:custGeom>
            <a:ln w="25400">
              <a:solidFill>
                <a:srgbClr val="FFFFFF"/>
              </a:solidFill>
            </a:ln>
          </p:spPr>
          <p:txBody>
            <a:bodyPr wrap="square" lIns="0" tIns="0" rIns="0" bIns="0" rtlCol="0"/>
            <a:lstStyle/>
            <a:p/>
          </p:txBody>
        </p:sp>
        <p:sp>
          <p:nvSpPr>
            <p:cNvPr id="78" name="object 78" descr=""/>
            <p:cNvSpPr/>
            <p:nvPr/>
          </p:nvSpPr>
          <p:spPr>
            <a:xfrm>
              <a:off x="4831431" y="3443791"/>
              <a:ext cx="378460" cy="284480"/>
            </a:xfrm>
            <a:custGeom>
              <a:avLst/>
              <a:gdLst/>
              <a:ahLst/>
              <a:cxnLst/>
              <a:rect l="l" t="t" r="r" b="b"/>
              <a:pathLst>
                <a:path w="378460" h="284479">
                  <a:moveTo>
                    <a:pt x="235788" y="0"/>
                  </a:moveTo>
                  <a:lnTo>
                    <a:pt x="235788" y="71081"/>
                  </a:lnTo>
                  <a:lnTo>
                    <a:pt x="0" y="71081"/>
                  </a:lnTo>
                  <a:lnTo>
                    <a:pt x="0" y="213245"/>
                  </a:lnTo>
                  <a:lnTo>
                    <a:pt x="235788" y="213245"/>
                  </a:lnTo>
                  <a:lnTo>
                    <a:pt x="235788" y="284327"/>
                  </a:lnTo>
                  <a:lnTo>
                    <a:pt x="377952" y="142163"/>
                  </a:lnTo>
                  <a:lnTo>
                    <a:pt x="235788" y="0"/>
                  </a:lnTo>
                  <a:close/>
                </a:path>
              </a:pathLst>
            </a:custGeom>
            <a:solidFill>
              <a:srgbClr val="BBE0E3"/>
            </a:solidFill>
          </p:spPr>
          <p:txBody>
            <a:bodyPr wrap="square" lIns="0" tIns="0" rIns="0" bIns="0" rtlCol="0"/>
            <a:lstStyle/>
            <a:p/>
          </p:txBody>
        </p:sp>
        <p:sp>
          <p:nvSpPr>
            <p:cNvPr id="79" name="object 79" descr=""/>
            <p:cNvSpPr/>
            <p:nvPr/>
          </p:nvSpPr>
          <p:spPr>
            <a:xfrm>
              <a:off x="4831431" y="3443791"/>
              <a:ext cx="378460" cy="284480"/>
            </a:xfrm>
            <a:custGeom>
              <a:avLst/>
              <a:gdLst/>
              <a:ahLst/>
              <a:cxnLst/>
              <a:rect l="l" t="t" r="r" b="b"/>
              <a:pathLst>
                <a:path w="378460" h="284479">
                  <a:moveTo>
                    <a:pt x="0" y="71081"/>
                  </a:moveTo>
                  <a:lnTo>
                    <a:pt x="235788" y="71081"/>
                  </a:lnTo>
                  <a:lnTo>
                    <a:pt x="235788" y="0"/>
                  </a:lnTo>
                  <a:lnTo>
                    <a:pt x="377952" y="142163"/>
                  </a:lnTo>
                  <a:lnTo>
                    <a:pt x="235788" y="284327"/>
                  </a:lnTo>
                  <a:lnTo>
                    <a:pt x="235788" y="213245"/>
                  </a:lnTo>
                  <a:lnTo>
                    <a:pt x="0" y="213245"/>
                  </a:lnTo>
                  <a:lnTo>
                    <a:pt x="0" y="71081"/>
                  </a:lnTo>
                  <a:close/>
                </a:path>
              </a:pathLst>
            </a:custGeom>
            <a:ln w="25400">
              <a:solidFill>
                <a:srgbClr val="FFFFFF"/>
              </a:solidFill>
            </a:ln>
          </p:spPr>
          <p:txBody>
            <a:bodyPr wrap="square" lIns="0" tIns="0" rIns="0" bIns="0" rtlCol="0"/>
            <a:lstStyle/>
            <a:p/>
          </p:txBody>
        </p:sp>
        <p:sp>
          <p:nvSpPr>
            <p:cNvPr id="80" name="object 80" descr=""/>
            <p:cNvSpPr/>
            <p:nvPr/>
          </p:nvSpPr>
          <p:spPr>
            <a:xfrm>
              <a:off x="228600" y="880786"/>
              <a:ext cx="0" cy="383540"/>
            </a:xfrm>
            <a:custGeom>
              <a:avLst/>
              <a:gdLst/>
              <a:ahLst/>
              <a:cxnLst/>
              <a:rect l="l" t="t" r="r" b="b"/>
              <a:pathLst>
                <a:path w="0" h="383540">
                  <a:moveTo>
                    <a:pt x="0" y="0"/>
                  </a:moveTo>
                  <a:lnTo>
                    <a:pt x="0" y="383540"/>
                  </a:lnTo>
                </a:path>
              </a:pathLst>
            </a:custGeom>
            <a:ln w="12700">
              <a:solidFill>
                <a:srgbClr val="000000"/>
              </a:solidFill>
            </a:ln>
          </p:spPr>
          <p:txBody>
            <a:bodyPr wrap="square" lIns="0" tIns="0" rIns="0" bIns="0" rtlCol="0"/>
            <a:lstStyle/>
            <a:p/>
          </p:txBody>
        </p:sp>
        <p:sp>
          <p:nvSpPr>
            <p:cNvPr id="81" name="object 81" descr=""/>
            <p:cNvSpPr/>
            <p:nvPr/>
          </p:nvSpPr>
          <p:spPr>
            <a:xfrm>
              <a:off x="8869560" y="880786"/>
              <a:ext cx="0" cy="383540"/>
            </a:xfrm>
            <a:custGeom>
              <a:avLst/>
              <a:gdLst/>
              <a:ahLst/>
              <a:cxnLst/>
              <a:rect l="l" t="t" r="r" b="b"/>
              <a:pathLst>
                <a:path w="0" h="383540">
                  <a:moveTo>
                    <a:pt x="0" y="0"/>
                  </a:moveTo>
                  <a:lnTo>
                    <a:pt x="0" y="383540"/>
                  </a:lnTo>
                </a:path>
              </a:pathLst>
            </a:custGeom>
            <a:ln w="12700">
              <a:solidFill>
                <a:srgbClr val="000000"/>
              </a:solidFill>
            </a:ln>
          </p:spPr>
          <p:txBody>
            <a:bodyPr wrap="square" lIns="0" tIns="0" rIns="0" bIns="0" rtlCol="0"/>
            <a:lstStyle/>
            <a:p/>
          </p:txBody>
        </p:sp>
        <p:sp>
          <p:nvSpPr>
            <p:cNvPr id="82" name="object 82" descr=""/>
            <p:cNvSpPr/>
            <p:nvPr/>
          </p:nvSpPr>
          <p:spPr>
            <a:xfrm>
              <a:off x="222250" y="887136"/>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sp>
          <p:nvSpPr>
            <p:cNvPr id="83" name="object 83" descr=""/>
            <p:cNvSpPr/>
            <p:nvPr/>
          </p:nvSpPr>
          <p:spPr>
            <a:xfrm>
              <a:off x="222250" y="1257976"/>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sp>
          <p:nvSpPr>
            <p:cNvPr id="84" name="object 84" descr=""/>
            <p:cNvSpPr/>
            <p:nvPr/>
          </p:nvSpPr>
          <p:spPr>
            <a:xfrm>
              <a:off x="228600" y="1650364"/>
              <a:ext cx="8641080" cy="2715895"/>
            </a:xfrm>
            <a:custGeom>
              <a:avLst/>
              <a:gdLst/>
              <a:ahLst/>
              <a:cxnLst/>
              <a:rect l="l" t="t" r="r" b="b"/>
              <a:pathLst>
                <a:path w="8641080" h="2715895">
                  <a:moveTo>
                    <a:pt x="4490745" y="1811299"/>
                  </a:moveTo>
                  <a:lnTo>
                    <a:pt x="2330500" y="1811299"/>
                  </a:lnTo>
                  <a:lnTo>
                    <a:pt x="0" y="1811299"/>
                  </a:lnTo>
                  <a:lnTo>
                    <a:pt x="0" y="2112772"/>
                  </a:lnTo>
                  <a:lnTo>
                    <a:pt x="2330500" y="2112772"/>
                  </a:lnTo>
                  <a:lnTo>
                    <a:pt x="4490745" y="2112772"/>
                  </a:lnTo>
                  <a:lnTo>
                    <a:pt x="4490745" y="1811299"/>
                  </a:lnTo>
                  <a:close/>
                </a:path>
                <a:path w="8641080" h="2715895">
                  <a:moveTo>
                    <a:pt x="8640953" y="2414244"/>
                  </a:moveTo>
                  <a:lnTo>
                    <a:pt x="4490745" y="2414244"/>
                  </a:lnTo>
                  <a:lnTo>
                    <a:pt x="2330500" y="2414244"/>
                  </a:lnTo>
                  <a:lnTo>
                    <a:pt x="0" y="2414244"/>
                  </a:lnTo>
                  <a:lnTo>
                    <a:pt x="0" y="2715717"/>
                  </a:lnTo>
                  <a:lnTo>
                    <a:pt x="2330500" y="2715717"/>
                  </a:lnTo>
                  <a:lnTo>
                    <a:pt x="4490732" y="2715717"/>
                  </a:lnTo>
                  <a:lnTo>
                    <a:pt x="8640953" y="2715717"/>
                  </a:lnTo>
                  <a:lnTo>
                    <a:pt x="8640953" y="2414244"/>
                  </a:lnTo>
                  <a:close/>
                </a:path>
                <a:path w="8641080" h="2715895">
                  <a:moveTo>
                    <a:pt x="8640953" y="1208354"/>
                  </a:moveTo>
                  <a:lnTo>
                    <a:pt x="4490745" y="1208354"/>
                  </a:lnTo>
                  <a:lnTo>
                    <a:pt x="2330500" y="1208354"/>
                  </a:lnTo>
                  <a:lnTo>
                    <a:pt x="0" y="1208354"/>
                  </a:lnTo>
                  <a:lnTo>
                    <a:pt x="0" y="1509826"/>
                  </a:lnTo>
                  <a:lnTo>
                    <a:pt x="2330500" y="1509826"/>
                  </a:lnTo>
                  <a:lnTo>
                    <a:pt x="4490732" y="1509826"/>
                  </a:lnTo>
                  <a:lnTo>
                    <a:pt x="8640953" y="1509826"/>
                  </a:lnTo>
                  <a:lnTo>
                    <a:pt x="8640953" y="1208354"/>
                  </a:lnTo>
                  <a:close/>
                </a:path>
                <a:path w="8641080" h="2715895">
                  <a:moveTo>
                    <a:pt x="8640953" y="605409"/>
                  </a:moveTo>
                  <a:lnTo>
                    <a:pt x="4490745" y="605409"/>
                  </a:lnTo>
                  <a:lnTo>
                    <a:pt x="2330500" y="605409"/>
                  </a:lnTo>
                  <a:lnTo>
                    <a:pt x="0" y="605409"/>
                  </a:lnTo>
                  <a:lnTo>
                    <a:pt x="0" y="906881"/>
                  </a:lnTo>
                  <a:lnTo>
                    <a:pt x="2330500" y="906881"/>
                  </a:lnTo>
                  <a:lnTo>
                    <a:pt x="4490732" y="906881"/>
                  </a:lnTo>
                  <a:lnTo>
                    <a:pt x="8640953" y="906881"/>
                  </a:lnTo>
                  <a:lnTo>
                    <a:pt x="8640953" y="605409"/>
                  </a:lnTo>
                  <a:close/>
                </a:path>
                <a:path w="8641080" h="2715895">
                  <a:moveTo>
                    <a:pt x="8640953" y="0"/>
                  </a:moveTo>
                  <a:lnTo>
                    <a:pt x="4490745" y="0"/>
                  </a:lnTo>
                  <a:lnTo>
                    <a:pt x="2330500" y="0"/>
                  </a:lnTo>
                  <a:lnTo>
                    <a:pt x="0" y="0"/>
                  </a:lnTo>
                  <a:lnTo>
                    <a:pt x="0" y="301472"/>
                  </a:lnTo>
                  <a:lnTo>
                    <a:pt x="2330500" y="301472"/>
                  </a:lnTo>
                  <a:lnTo>
                    <a:pt x="4490732" y="301472"/>
                  </a:lnTo>
                  <a:lnTo>
                    <a:pt x="8640953" y="301472"/>
                  </a:lnTo>
                  <a:lnTo>
                    <a:pt x="8640953" y="0"/>
                  </a:lnTo>
                  <a:close/>
                </a:path>
              </a:pathLst>
            </a:custGeom>
            <a:solidFill>
              <a:srgbClr val="BBE0E3">
                <a:alpha val="19999"/>
              </a:srgbClr>
            </a:solidFill>
          </p:spPr>
          <p:txBody>
            <a:bodyPr wrap="square" lIns="0" tIns="0" rIns="0" bIns="0" rtlCol="0"/>
            <a:lstStyle/>
            <a:p/>
          </p:txBody>
        </p:sp>
        <p:sp>
          <p:nvSpPr>
            <p:cNvPr id="85" name="object 85" descr=""/>
            <p:cNvSpPr/>
            <p:nvPr/>
          </p:nvSpPr>
          <p:spPr>
            <a:xfrm>
              <a:off x="2559098" y="1346200"/>
              <a:ext cx="0" cy="3613150"/>
            </a:xfrm>
            <a:custGeom>
              <a:avLst/>
              <a:gdLst/>
              <a:ahLst/>
              <a:cxnLst/>
              <a:rect l="l" t="t" r="r" b="b"/>
              <a:pathLst>
                <a:path w="0" h="3613150">
                  <a:moveTo>
                    <a:pt x="0" y="0"/>
                  </a:moveTo>
                  <a:lnTo>
                    <a:pt x="0" y="3613099"/>
                  </a:lnTo>
                </a:path>
              </a:pathLst>
            </a:custGeom>
            <a:ln w="12700">
              <a:solidFill>
                <a:srgbClr val="BBE0E3"/>
              </a:solidFill>
            </a:ln>
          </p:spPr>
          <p:txBody>
            <a:bodyPr wrap="square" lIns="0" tIns="0" rIns="0" bIns="0" rtlCol="0"/>
            <a:lstStyle/>
            <a:p/>
          </p:txBody>
        </p:sp>
        <p:sp>
          <p:nvSpPr>
            <p:cNvPr id="86" name="object 86" descr=""/>
            <p:cNvSpPr/>
            <p:nvPr/>
          </p:nvSpPr>
          <p:spPr>
            <a:xfrm>
              <a:off x="4719337" y="1346200"/>
              <a:ext cx="0" cy="3613150"/>
            </a:xfrm>
            <a:custGeom>
              <a:avLst/>
              <a:gdLst/>
              <a:ahLst/>
              <a:cxnLst/>
              <a:rect l="l" t="t" r="r" b="b"/>
              <a:pathLst>
                <a:path w="0" h="3613150">
                  <a:moveTo>
                    <a:pt x="0" y="0"/>
                  </a:moveTo>
                  <a:lnTo>
                    <a:pt x="0" y="3613099"/>
                  </a:lnTo>
                </a:path>
              </a:pathLst>
            </a:custGeom>
            <a:ln w="12700">
              <a:solidFill>
                <a:srgbClr val="BBE0E3"/>
              </a:solidFill>
            </a:ln>
          </p:spPr>
          <p:txBody>
            <a:bodyPr wrap="square" lIns="0" tIns="0" rIns="0" bIns="0" rtlCol="0"/>
            <a:lstStyle/>
            <a:p/>
          </p:txBody>
        </p:sp>
        <p:sp>
          <p:nvSpPr>
            <p:cNvPr id="87" name="object 87" descr=""/>
            <p:cNvSpPr/>
            <p:nvPr/>
          </p:nvSpPr>
          <p:spPr>
            <a:xfrm>
              <a:off x="222250" y="1650361"/>
              <a:ext cx="8653780" cy="0"/>
            </a:xfrm>
            <a:custGeom>
              <a:avLst/>
              <a:gdLst/>
              <a:ahLst/>
              <a:cxnLst/>
              <a:rect l="l" t="t" r="r" b="b"/>
              <a:pathLst>
                <a:path w="8653780" h="0">
                  <a:moveTo>
                    <a:pt x="0" y="0"/>
                  </a:moveTo>
                  <a:lnTo>
                    <a:pt x="8653665" y="0"/>
                  </a:lnTo>
                </a:path>
              </a:pathLst>
            </a:custGeom>
            <a:ln w="25400">
              <a:solidFill>
                <a:srgbClr val="BBE0E3"/>
              </a:solidFill>
            </a:ln>
          </p:spPr>
          <p:txBody>
            <a:bodyPr wrap="square" lIns="0" tIns="0" rIns="0" bIns="0" rtlCol="0"/>
            <a:lstStyle/>
            <a:p/>
          </p:txBody>
        </p:sp>
        <p:sp>
          <p:nvSpPr>
            <p:cNvPr id="88" name="object 88" descr=""/>
            <p:cNvSpPr/>
            <p:nvPr/>
          </p:nvSpPr>
          <p:spPr>
            <a:xfrm>
              <a:off x="222250" y="1951833"/>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89" name="object 89" descr=""/>
            <p:cNvSpPr/>
            <p:nvPr/>
          </p:nvSpPr>
          <p:spPr>
            <a:xfrm>
              <a:off x="222250" y="2255776"/>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90" name="object 90" descr=""/>
            <p:cNvSpPr/>
            <p:nvPr/>
          </p:nvSpPr>
          <p:spPr>
            <a:xfrm>
              <a:off x="222250" y="2557250"/>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91" name="object 91" descr=""/>
            <p:cNvSpPr/>
            <p:nvPr/>
          </p:nvSpPr>
          <p:spPr>
            <a:xfrm>
              <a:off x="222250" y="2858722"/>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92" name="object 92" descr=""/>
            <p:cNvSpPr/>
            <p:nvPr/>
          </p:nvSpPr>
          <p:spPr>
            <a:xfrm>
              <a:off x="222250" y="3160195"/>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93" name="object 93" descr=""/>
            <p:cNvSpPr/>
            <p:nvPr/>
          </p:nvSpPr>
          <p:spPr>
            <a:xfrm>
              <a:off x="222250" y="3461669"/>
              <a:ext cx="4504055" cy="0"/>
            </a:xfrm>
            <a:custGeom>
              <a:avLst/>
              <a:gdLst/>
              <a:ahLst/>
              <a:cxnLst/>
              <a:rect l="l" t="t" r="r" b="b"/>
              <a:pathLst>
                <a:path w="4504055" h="0">
                  <a:moveTo>
                    <a:pt x="0" y="0"/>
                  </a:moveTo>
                  <a:lnTo>
                    <a:pt x="4503432" y="0"/>
                  </a:lnTo>
                </a:path>
              </a:pathLst>
            </a:custGeom>
            <a:ln w="12700">
              <a:solidFill>
                <a:srgbClr val="BBE0E3"/>
              </a:solidFill>
            </a:ln>
          </p:spPr>
          <p:txBody>
            <a:bodyPr wrap="square" lIns="0" tIns="0" rIns="0" bIns="0" rtlCol="0"/>
            <a:lstStyle/>
            <a:p/>
          </p:txBody>
        </p:sp>
        <p:sp>
          <p:nvSpPr>
            <p:cNvPr id="94" name="object 94" descr=""/>
            <p:cNvSpPr/>
            <p:nvPr/>
          </p:nvSpPr>
          <p:spPr>
            <a:xfrm>
              <a:off x="222250" y="3763142"/>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95" name="object 95" descr=""/>
            <p:cNvSpPr/>
            <p:nvPr/>
          </p:nvSpPr>
          <p:spPr>
            <a:xfrm>
              <a:off x="222250" y="4064614"/>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96" name="object 96" descr=""/>
            <p:cNvSpPr/>
            <p:nvPr/>
          </p:nvSpPr>
          <p:spPr>
            <a:xfrm>
              <a:off x="222250" y="4366088"/>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97" name="object 97" descr=""/>
            <p:cNvSpPr/>
            <p:nvPr/>
          </p:nvSpPr>
          <p:spPr>
            <a:xfrm>
              <a:off x="228600" y="1346200"/>
              <a:ext cx="0" cy="3613150"/>
            </a:xfrm>
            <a:custGeom>
              <a:avLst/>
              <a:gdLst/>
              <a:ahLst/>
              <a:cxnLst/>
              <a:rect l="l" t="t" r="r" b="b"/>
              <a:pathLst>
                <a:path w="0" h="3613150">
                  <a:moveTo>
                    <a:pt x="0" y="0"/>
                  </a:moveTo>
                  <a:lnTo>
                    <a:pt x="0" y="3613099"/>
                  </a:lnTo>
                </a:path>
              </a:pathLst>
            </a:custGeom>
            <a:ln w="12700">
              <a:solidFill>
                <a:srgbClr val="BBE0E3"/>
              </a:solidFill>
            </a:ln>
          </p:spPr>
          <p:txBody>
            <a:bodyPr wrap="square" lIns="0" tIns="0" rIns="0" bIns="0" rtlCol="0"/>
            <a:lstStyle/>
            <a:p/>
          </p:txBody>
        </p:sp>
        <p:sp>
          <p:nvSpPr>
            <p:cNvPr id="98" name="object 98" descr=""/>
            <p:cNvSpPr/>
            <p:nvPr/>
          </p:nvSpPr>
          <p:spPr>
            <a:xfrm>
              <a:off x="8869560" y="1346200"/>
              <a:ext cx="0" cy="3613150"/>
            </a:xfrm>
            <a:custGeom>
              <a:avLst/>
              <a:gdLst/>
              <a:ahLst/>
              <a:cxnLst/>
              <a:rect l="l" t="t" r="r" b="b"/>
              <a:pathLst>
                <a:path w="0" h="3613150">
                  <a:moveTo>
                    <a:pt x="0" y="0"/>
                  </a:moveTo>
                  <a:lnTo>
                    <a:pt x="0" y="3613099"/>
                  </a:lnTo>
                </a:path>
              </a:pathLst>
            </a:custGeom>
            <a:ln w="12700">
              <a:solidFill>
                <a:srgbClr val="BBE0E3"/>
              </a:solidFill>
            </a:ln>
          </p:spPr>
          <p:txBody>
            <a:bodyPr wrap="square" lIns="0" tIns="0" rIns="0" bIns="0" rtlCol="0"/>
            <a:lstStyle/>
            <a:p/>
          </p:txBody>
        </p:sp>
        <p:sp>
          <p:nvSpPr>
            <p:cNvPr id="99" name="object 99" descr=""/>
            <p:cNvSpPr/>
            <p:nvPr/>
          </p:nvSpPr>
          <p:spPr>
            <a:xfrm>
              <a:off x="222250" y="1352550"/>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100" name="object 100" descr=""/>
            <p:cNvSpPr/>
            <p:nvPr/>
          </p:nvSpPr>
          <p:spPr>
            <a:xfrm>
              <a:off x="222250" y="4952950"/>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grpSp>
      <p:grpSp>
        <p:nvGrpSpPr>
          <p:cNvPr id="101" name="object 101" descr=""/>
          <p:cNvGrpSpPr/>
          <p:nvPr/>
        </p:nvGrpSpPr>
        <p:grpSpPr>
          <a:xfrm>
            <a:off x="200347" y="840159"/>
            <a:ext cx="8727440" cy="4043679"/>
            <a:chOff x="200347" y="840159"/>
            <a:chExt cx="8727440" cy="4043679"/>
          </a:xfrm>
        </p:grpSpPr>
        <p:sp>
          <p:nvSpPr>
            <p:cNvPr id="102" name="object 102" descr=""/>
            <p:cNvSpPr/>
            <p:nvPr/>
          </p:nvSpPr>
          <p:spPr>
            <a:xfrm>
              <a:off x="234008" y="882081"/>
              <a:ext cx="0" cy="1064260"/>
            </a:xfrm>
            <a:custGeom>
              <a:avLst/>
              <a:gdLst/>
              <a:ahLst/>
              <a:cxnLst/>
              <a:rect l="l" t="t" r="r" b="b"/>
              <a:pathLst>
                <a:path w="0" h="1064260">
                  <a:moveTo>
                    <a:pt x="0" y="0"/>
                  </a:moveTo>
                  <a:lnTo>
                    <a:pt x="0" y="1064260"/>
                  </a:lnTo>
                </a:path>
              </a:pathLst>
            </a:custGeom>
            <a:ln w="12700">
              <a:solidFill>
                <a:srgbClr val="000000"/>
              </a:solidFill>
            </a:ln>
          </p:spPr>
          <p:txBody>
            <a:bodyPr wrap="square" lIns="0" tIns="0" rIns="0" bIns="0" rtlCol="0"/>
            <a:lstStyle/>
            <a:p/>
          </p:txBody>
        </p:sp>
        <p:sp>
          <p:nvSpPr>
            <p:cNvPr id="103" name="object 103" descr=""/>
            <p:cNvSpPr/>
            <p:nvPr/>
          </p:nvSpPr>
          <p:spPr>
            <a:xfrm>
              <a:off x="8874968" y="882081"/>
              <a:ext cx="0" cy="1064260"/>
            </a:xfrm>
            <a:custGeom>
              <a:avLst/>
              <a:gdLst/>
              <a:ahLst/>
              <a:cxnLst/>
              <a:rect l="l" t="t" r="r" b="b"/>
              <a:pathLst>
                <a:path w="0" h="1064260">
                  <a:moveTo>
                    <a:pt x="0" y="0"/>
                  </a:moveTo>
                  <a:lnTo>
                    <a:pt x="0" y="1064260"/>
                  </a:lnTo>
                </a:path>
              </a:pathLst>
            </a:custGeom>
            <a:ln w="12700">
              <a:solidFill>
                <a:srgbClr val="000000"/>
              </a:solidFill>
            </a:ln>
          </p:spPr>
          <p:txBody>
            <a:bodyPr wrap="square" lIns="0" tIns="0" rIns="0" bIns="0" rtlCol="0"/>
            <a:lstStyle/>
            <a:p/>
          </p:txBody>
        </p:sp>
        <p:sp>
          <p:nvSpPr>
            <p:cNvPr id="104" name="object 104" descr=""/>
            <p:cNvSpPr/>
            <p:nvPr/>
          </p:nvSpPr>
          <p:spPr>
            <a:xfrm>
              <a:off x="227658" y="888431"/>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sp>
          <p:nvSpPr>
            <p:cNvPr id="105" name="object 105" descr=""/>
            <p:cNvSpPr/>
            <p:nvPr/>
          </p:nvSpPr>
          <p:spPr>
            <a:xfrm>
              <a:off x="227658" y="1939990"/>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pic>
          <p:nvPicPr>
            <p:cNvPr id="106" name="object 106"/>
            <p:cNvPicPr/>
            <p:nvPr/>
          </p:nvPicPr>
          <p:blipFill>
            <a:blip r:embed="rId9" cstate="print"/>
            <a:stretch>
              <a:fillRect/>
            </a:stretch>
          </p:blipFill>
          <p:spPr>
            <a:xfrm>
              <a:off x="234010" y="2114550"/>
              <a:ext cx="1738787" cy="2768688"/>
            </a:xfrm>
            <a:prstGeom prst="rect">
              <a:avLst/>
            </a:prstGeom>
          </p:spPr>
        </p:pic>
        <p:pic>
          <p:nvPicPr>
            <p:cNvPr id="107" name="object 107"/>
            <p:cNvPicPr/>
            <p:nvPr/>
          </p:nvPicPr>
          <p:blipFill>
            <a:blip r:embed="rId10" cstate="print"/>
            <a:stretch>
              <a:fillRect/>
            </a:stretch>
          </p:blipFill>
          <p:spPr>
            <a:xfrm>
              <a:off x="2682279" y="2114550"/>
              <a:ext cx="2175961" cy="2768688"/>
            </a:xfrm>
            <a:prstGeom prst="rect">
              <a:avLst/>
            </a:prstGeom>
          </p:spPr>
        </p:pic>
        <p:pic>
          <p:nvPicPr>
            <p:cNvPr id="108" name="object 108"/>
            <p:cNvPicPr/>
            <p:nvPr/>
          </p:nvPicPr>
          <p:blipFill>
            <a:blip r:embed="rId11" cstate="print"/>
            <a:stretch>
              <a:fillRect/>
            </a:stretch>
          </p:blipFill>
          <p:spPr>
            <a:xfrm>
              <a:off x="5562600" y="2114550"/>
              <a:ext cx="3268116" cy="2768688"/>
            </a:xfrm>
            <a:prstGeom prst="rect">
              <a:avLst/>
            </a:prstGeom>
          </p:spPr>
        </p:pic>
        <p:sp>
          <p:nvSpPr>
            <p:cNvPr id="109" name="object 109" descr=""/>
            <p:cNvSpPr/>
            <p:nvPr/>
          </p:nvSpPr>
          <p:spPr>
            <a:xfrm>
              <a:off x="2106216" y="3338690"/>
              <a:ext cx="389890" cy="264795"/>
            </a:xfrm>
            <a:custGeom>
              <a:avLst/>
              <a:gdLst/>
              <a:ahLst/>
              <a:cxnLst/>
              <a:rect l="l" t="t" r="r" b="b"/>
              <a:pathLst>
                <a:path w="389889" h="264795">
                  <a:moveTo>
                    <a:pt x="257047" y="0"/>
                  </a:moveTo>
                  <a:lnTo>
                    <a:pt x="257047" y="66192"/>
                  </a:lnTo>
                  <a:lnTo>
                    <a:pt x="0" y="66192"/>
                  </a:lnTo>
                  <a:lnTo>
                    <a:pt x="0" y="198589"/>
                  </a:lnTo>
                  <a:lnTo>
                    <a:pt x="257047" y="198589"/>
                  </a:lnTo>
                  <a:lnTo>
                    <a:pt x="257047" y="264782"/>
                  </a:lnTo>
                  <a:lnTo>
                    <a:pt x="389445" y="132384"/>
                  </a:lnTo>
                  <a:lnTo>
                    <a:pt x="257047" y="0"/>
                  </a:lnTo>
                  <a:close/>
                </a:path>
              </a:pathLst>
            </a:custGeom>
            <a:solidFill>
              <a:srgbClr val="BBE0E3"/>
            </a:solidFill>
          </p:spPr>
          <p:txBody>
            <a:bodyPr wrap="square" lIns="0" tIns="0" rIns="0" bIns="0" rtlCol="0"/>
            <a:lstStyle/>
            <a:p/>
          </p:txBody>
        </p:sp>
        <p:sp>
          <p:nvSpPr>
            <p:cNvPr id="110" name="object 110" descr=""/>
            <p:cNvSpPr/>
            <p:nvPr/>
          </p:nvSpPr>
          <p:spPr>
            <a:xfrm>
              <a:off x="2106216" y="3338690"/>
              <a:ext cx="389890" cy="264795"/>
            </a:xfrm>
            <a:custGeom>
              <a:avLst/>
              <a:gdLst/>
              <a:ahLst/>
              <a:cxnLst/>
              <a:rect l="l" t="t" r="r" b="b"/>
              <a:pathLst>
                <a:path w="389889" h="264795">
                  <a:moveTo>
                    <a:pt x="0" y="66192"/>
                  </a:moveTo>
                  <a:lnTo>
                    <a:pt x="257047" y="66192"/>
                  </a:lnTo>
                  <a:lnTo>
                    <a:pt x="257047" y="0"/>
                  </a:lnTo>
                  <a:lnTo>
                    <a:pt x="389445" y="132384"/>
                  </a:lnTo>
                  <a:lnTo>
                    <a:pt x="257047" y="264782"/>
                  </a:lnTo>
                  <a:lnTo>
                    <a:pt x="257047" y="198589"/>
                  </a:lnTo>
                  <a:lnTo>
                    <a:pt x="0" y="198589"/>
                  </a:lnTo>
                  <a:lnTo>
                    <a:pt x="0" y="66192"/>
                  </a:lnTo>
                  <a:close/>
                </a:path>
              </a:pathLst>
            </a:custGeom>
            <a:ln w="25399">
              <a:solidFill>
                <a:srgbClr val="FFFFFF"/>
              </a:solidFill>
            </a:ln>
          </p:spPr>
          <p:txBody>
            <a:bodyPr wrap="square" lIns="0" tIns="0" rIns="0" bIns="0" rtlCol="0"/>
            <a:lstStyle/>
            <a:p/>
          </p:txBody>
        </p:sp>
        <p:sp>
          <p:nvSpPr>
            <p:cNvPr id="111" name="object 111" descr=""/>
            <p:cNvSpPr/>
            <p:nvPr/>
          </p:nvSpPr>
          <p:spPr>
            <a:xfrm>
              <a:off x="5029136" y="3289926"/>
              <a:ext cx="389890" cy="264795"/>
            </a:xfrm>
            <a:custGeom>
              <a:avLst/>
              <a:gdLst/>
              <a:ahLst/>
              <a:cxnLst/>
              <a:rect l="l" t="t" r="r" b="b"/>
              <a:pathLst>
                <a:path w="389889" h="264795">
                  <a:moveTo>
                    <a:pt x="257047" y="0"/>
                  </a:moveTo>
                  <a:lnTo>
                    <a:pt x="257047" y="66192"/>
                  </a:lnTo>
                  <a:lnTo>
                    <a:pt x="0" y="66192"/>
                  </a:lnTo>
                  <a:lnTo>
                    <a:pt x="0" y="198589"/>
                  </a:lnTo>
                  <a:lnTo>
                    <a:pt x="257047" y="198589"/>
                  </a:lnTo>
                  <a:lnTo>
                    <a:pt x="257047" y="264782"/>
                  </a:lnTo>
                  <a:lnTo>
                    <a:pt x="389445" y="132384"/>
                  </a:lnTo>
                  <a:lnTo>
                    <a:pt x="257047" y="0"/>
                  </a:lnTo>
                  <a:close/>
                </a:path>
              </a:pathLst>
            </a:custGeom>
            <a:solidFill>
              <a:srgbClr val="BBE0E3"/>
            </a:solidFill>
          </p:spPr>
          <p:txBody>
            <a:bodyPr wrap="square" lIns="0" tIns="0" rIns="0" bIns="0" rtlCol="0"/>
            <a:lstStyle/>
            <a:p/>
          </p:txBody>
        </p:sp>
        <p:sp>
          <p:nvSpPr>
            <p:cNvPr id="112" name="object 112" descr=""/>
            <p:cNvSpPr/>
            <p:nvPr/>
          </p:nvSpPr>
          <p:spPr>
            <a:xfrm>
              <a:off x="5029136" y="3289926"/>
              <a:ext cx="389890" cy="264795"/>
            </a:xfrm>
            <a:custGeom>
              <a:avLst/>
              <a:gdLst/>
              <a:ahLst/>
              <a:cxnLst/>
              <a:rect l="l" t="t" r="r" b="b"/>
              <a:pathLst>
                <a:path w="389889" h="264795">
                  <a:moveTo>
                    <a:pt x="0" y="66192"/>
                  </a:moveTo>
                  <a:lnTo>
                    <a:pt x="257047" y="66192"/>
                  </a:lnTo>
                  <a:lnTo>
                    <a:pt x="257047" y="0"/>
                  </a:lnTo>
                  <a:lnTo>
                    <a:pt x="389445" y="132384"/>
                  </a:lnTo>
                  <a:lnTo>
                    <a:pt x="257047" y="264782"/>
                  </a:lnTo>
                  <a:lnTo>
                    <a:pt x="257047" y="198589"/>
                  </a:lnTo>
                  <a:lnTo>
                    <a:pt x="0" y="198589"/>
                  </a:lnTo>
                  <a:lnTo>
                    <a:pt x="0" y="66192"/>
                  </a:lnTo>
                  <a:close/>
                </a:path>
              </a:pathLst>
            </a:custGeom>
            <a:ln w="25399">
              <a:solidFill>
                <a:srgbClr val="FFFFFF"/>
              </a:solidFill>
            </a:ln>
          </p:spPr>
          <p:txBody>
            <a:bodyPr wrap="square" lIns="0" tIns="0" rIns="0" bIns="0" rtlCol="0"/>
            <a:lstStyle/>
            <a:p/>
          </p:txBody>
        </p:sp>
        <p:sp>
          <p:nvSpPr>
            <p:cNvPr id="113" name="object 113" descr=""/>
            <p:cNvSpPr/>
            <p:nvPr/>
          </p:nvSpPr>
          <p:spPr>
            <a:xfrm>
              <a:off x="273704" y="846509"/>
              <a:ext cx="0" cy="1064260"/>
            </a:xfrm>
            <a:custGeom>
              <a:avLst/>
              <a:gdLst/>
              <a:ahLst/>
              <a:cxnLst/>
              <a:rect l="l" t="t" r="r" b="b"/>
              <a:pathLst>
                <a:path w="0" h="1064260">
                  <a:moveTo>
                    <a:pt x="0" y="0"/>
                  </a:moveTo>
                  <a:lnTo>
                    <a:pt x="0" y="1064260"/>
                  </a:lnTo>
                </a:path>
              </a:pathLst>
            </a:custGeom>
            <a:ln w="12700">
              <a:solidFill>
                <a:srgbClr val="000000"/>
              </a:solidFill>
            </a:ln>
          </p:spPr>
          <p:txBody>
            <a:bodyPr wrap="square" lIns="0" tIns="0" rIns="0" bIns="0" rtlCol="0"/>
            <a:lstStyle/>
            <a:p/>
          </p:txBody>
        </p:sp>
        <p:sp>
          <p:nvSpPr>
            <p:cNvPr id="114" name="object 114" descr=""/>
            <p:cNvSpPr/>
            <p:nvPr/>
          </p:nvSpPr>
          <p:spPr>
            <a:xfrm>
              <a:off x="8914664" y="846509"/>
              <a:ext cx="0" cy="1064260"/>
            </a:xfrm>
            <a:custGeom>
              <a:avLst/>
              <a:gdLst/>
              <a:ahLst/>
              <a:cxnLst/>
              <a:rect l="l" t="t" r="r" b="b"/>
              <a:pathLst>
                <a:path w="0" h="1064260">
                  <a:moveTo>
                    <a:pt x="0" y="0"/>
                  </a:moveTo>
                  <a:lnTo>
                    <a:pt x="0" y="1064260"/>
                  </a:lnTo>
                </a:path>
              </a:pathLst>
            </a:custGeom>
            <a:ln w="12700">
              <a:solidFill>
                <a:srgbClr val="000000"/>
              </a:solidFill>
            </a:ln>
          </p:spPr>
          <p:txBody>
            <a:bodyPr wrap="square" lIns="0" tIns="0" rIns="0" bIns="0" rtlCol="0"/>
            <a:lstStyle/>
            <a:p/>
          </p:txBody>
        </p:sp>
        <p:sp>
          <p:nvSpPr>
            <p:cNvPr id="115" name="object 115" descr=""/>
            <p:cNvSpPr/>
            <p:nvPr/>
          </p:nvSpPr>
          <p:spPr>
            <a:xfrm>
              <a:off x="267354" y="852859"/>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sp>
          <p:nvSpPr>
            <p:cNvPr id="116" name="object 116" descr=""/>
            <p:cNvSpPr/>
            <p:nvPr/>
          </p:nvSpPr>
          <p:spPr>
            <a:xfrm>
              <a:off x="267354" y="1904419"/>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pic>
          <p:nvPicPr>
            <p:cNvPr id="117" name="object 117"/>
            <p:cNvPicPr/>
            <p:nvPr/>
          </p:nvPicPr>
          <p:blipFill>
            <a:blip r:embed="rId12" cstate="print"/>
            <a:stretch>
              <a:fillRect/>
            </a:stretch>
          </p:blipFill>
          <p:spPr>
            <a:xfrm>
              <a:off x="248869" y="2038350"/>
              <a:ext cx="1695619" cy="2806103"/>
            </a:xfrm>
            <a:prstGeom prst="rect">
              <a:avLst/>
            </a:prstGeom>
          </p:spPr>
        </p:pic>
        <p:pic>
          <p:nvPicPr>
            <p:cNvPr id="118" name="object 118"/>
            <p:cNvPicPr/>
            <p:nvPr/>
          </p:nvPicPr>
          <p:blipFill>
            <a:blip r:embed="rId13" cstate="print"/>
            <a:stretch>
              <a:fillRect/>
            </a:stretch>
          </p:blipFill>
          <p:spPr>
            <a:xfrm>
              <a:off x="2412034" y="2038350"/>
              <a:ext cx="2254158" cy="2806102"/>
            </a:xfrm>
            <a:prstGeom prst="rect">
              <a:avLst/>
            </a:prstGeom>
          </p:spPr>
        </p:pic>
        <p:pic>
          <p:nvPicPr>
            <p:cNvPr id="119" name="object 119"/>
            <p:cNvPicPr/>
            <p:nvPr/>
          </p:nvPicPr>
          <p:blipFill>
            <a:blip r:embed="rId14" cstate="print"/>
            <a:stretch>
              <a:fillRect/>
            </a:stretch>
          </p:blipFill>
          <p:spPr>
            <a:xfrm>
              <a:off x="5181600" y="2038350"/>
              <a:ext cx="3733063" cy="2806103"/>
            </a:xfrm>
            <a:prstGeom prst="rect">
              <a:avLst/>
            </a:prstGeom>
          </p:spPr>
        </p:pic>
        <p:sp>
          <p:nvSpPr>
            <p:cNvPr id="120" name="object 120" descr=""/>
            <p:cNvSpPr/>
            <p:nvPr/>
          </p:nvSpPr>
          <p:spPr>
            <a:xfrm>
              <a:off x="1929889" y="3423375"/>
              <a:ext cx="384810" cy="271780"/>
            </a:xfrm>
            <a:custGeom>
              <a:avLst/>
              <a:gdLst/>
              <a:ahLst/>
              <a:cxnLst/>
              <a:rect l="l" t="t" r="r" b="b"/>
              <a:pathLst>
                <a:path w="384810" h="271779">
                  <a:moveTo>
                    <a:pt x="248780" y="0"/>
                  </a:moveTo>
                  <a:lnTo>
                    <a:pt x="248780" y="67792"/>
                  </a:lnTo>
                  <a:lnTo>
                    <a:pt x="0" y="67792"/>
                  </a:lnTo>
                  <a:lnTo>
                    <a:pt x="0" y="203365"/>
                  </a:lnTo>
                  <a:lnTo>
                    <a:pt x="248780" y="203365"/>
                  </a:lnTo>
                  <a:lnTo>
                    <a:pt x="248780" y="271157"/>
                  </a:lnTo>
                  <a:lnTo>
                    <a:pt x="384352" y="135585"/>
                  </a:lnTo>
                  <a:lnTo>
                    <a:pt x="248780" y="0"/>
                  </a:lnTo>
                  <a:close/>
                </a:path>
              </a:pathLst>
            </a:custGeom>
            <a:solidFill>
              <a:srgbClr val="BBE0E3"/>
            </a:solidFill>
          </p:spPr>
          <p:txBody>
            <a:bodyPr wrap="square" lIns="0" tIns="0" rIns="0" bIns="0" rtlCol="0"/>
            <a:lstStyle/>
            <a:p/>
          </p:txBody>
        </p:sp>
        <p:sp>
          <p:nvSpPr>
            <p:cNvPr id="121" name="object 121" descr=""/>
            <p:cNvSpPr/>
            <p:nvPr/>
          </p:nvSpPr>
          <p:spPr>
            <a:xfrm>
              <a:off x="1929889" y="3423375"/>
              <a:ext cx="384810" cy="271780"/>
            </a:xfrm>
            <a:custGeom>
              <a:avLst/>
              <a:gdLst/>
              <a:ahLst/>
              <a:cxnLst/>
              <a:rect l="l" t="t" r="r" b="b"/>
              <a:pathLst>
                <a:path w="384810" h="271779">
                  <a:moveTo>
                    <a:pt x="0" y="67792"/>
                  </a:moveTo>
                  <a:lnTo>
                    <a:pt x="248780" y="67792"/>
                  </a:lnTo>
                  <a:lnTo>
                    <a:pt x="248780" y="0"/>
                  </a:lnTo>
                  <a:lnTo>
                    <a:pt x="384352" y="135585"/>
                  </a:lnTo>
                  <a:lnTo>
                    <a:pt x="248780" y="271157"/>
                  </a:lnTo>
                  <a:lnTo>
                    <a:pt x="248780" y="203365"/>
                  </a:lnTo>
                  <a:lnTo>
                    <a:pt x="0" y="203365"/>
                  </a:lnTo>
                  <a:lnTo>
                    <a:pt x="0" y="67792"/>
                  </a:lnTo>
                  <a:close/>
                </a:path>
              </a:pathLst>
            </a:custGeom>
            <a:ln w="25400">
              <a:solidFill>
                <a:srgbClr val="FFFFFF"/>
              </a:solidFill>
            </a:ln>
          </p:spPr>
          <p:txBody>
            <a:bodyPr wrap="square" lIns="0" tIns="0" rIns="0" bIns="0" rtlCol="0"/>
            <a:lstStyle/>
            <a:p/>
          </p:txBody>
        </p:sp>
        <p:sp>
          <p:nvSpPr>
            <p:cNvPr id="122" name="object 122" descr=""/>
            <p:cNvSpPr/>
            <p:nvPr/>
          </p:nvSpPr>
          <p:spPr>
            <a:xfrm>
              <a:off x="4713881" y="3406498"/>
              <a:ext cx="384810" cy="271780"/>
            </a:xfrm>
            <a:custGeom>
              <a:avLst/>
              <a:gdLst/>
              <a:ahLst/>
              <a:cxnLst/>
              <a:rect l="l" t="t" r="r" b="b"/>
              <a:pathLst>
                <a:path w="384810" h="271779">
                  <a:moveTo>
                    <a:pt x="248780" y="0"/>
                  </a:moveTo>
                  <a:lnTo>
                    <a:pt x="248780" y="67792"/>
                  </a:lnTo>
                  <a:lnTo>
                    <a:pt x="0" y="67792"/>
                  </a:lnTo>
                  <a:lnTo>
                    <a:pt x="0" y="203365"/>
                  </a:lnTo>
                  <a:lnTo>
                    <a:pt x="248780" y="203365"/>
                  </a:lnTo>
                  <a:lnTo>
                    <a:pt x="248780" y="271157"/>
                  </a:lnTo>
                  <a:lnTo>
                    <a:pt x="384352" y="135585"/>
                  </a:lnTo>
                  <a:lnTo>
                    <a:pt x="248780" y="0"/>
                  </a:lnTo>
                  <a:close/>
                </a:path>
              </a:pathLst>
            </a:custGeom>
            <a:solidFill>
              <a:srgbClr val="BBE0E3"/>
            </a:solidFill>
          </p:spPr>
          <p:txBody>
            <a:bodyPr wrap="square" lIns="0" tIns="0" rIns="0" bIns="0" rtlCol="0"/>
            <a:lstStyle/>
            <a:p/>
          </p:txBody>
        </p:sp>
        <p:sp>
          <p:nvSpPr>
            <p:cNvPr id="123" name="object 123" descr=""/>
            <p:cNvSpPr/>
            <p:nvPr/>
          </p:nvSpPr>
          <p:spPr>
            <a:xfrm>
              <a:off x="4713881" y="3406498"/>
              <a:ext cx="384810" cy="271780"/>
            </a:xfrm>
            <a:custGeom>
              <a:avLst/>
              <a:gdLst/>
              <a:ahLst/>
              <a:cxnLst/>
              <a:rect l="l" t="t" r="r" b="b"/>
              <a:pathLst>
                <a:path w="384810" h="271779">
                  <a:moveTo>
                    <a:pt x="0" y="67792"/>
                  </a:moveTo>
                  <a:lnTo>
                    <a:pt x="248780" y="67792"/>
                  </a:lnTo>
                  <a:lnTo>
                    <a:pt x="248780" y="0"/>
                  </a:lnTo>
                  <a:lnTo>
                    <a:pt x="384352" y="135585"/>
                  </a:lnTo>
                  <a:lnTo>
                    <a:pt x="248780" y="271157"/>
                  </a:lnTo>
                  <a:lnTo>
                    <a:pt x="248780" y="203365"/>
                  </a:lnTo>
                  <a:lnTo>
                    <a:pt x="0" y="203365"/>
                  </a:lnTo>
                  <a:lnTo>
                    <a:pt x="0" y="67792"/>
                  </a:lnTo>
                  <a:close/>
                </a:path>
              </a:pathLst>
            </a:custGeom>
            <a:ln w="25400">
              <a:solidFill>
                <a:srgbClr val="FFFFFF"/>
              </a:solidFill>
            </a:ln>
          </p:spPr>
          <p:txBody>
            <a:bodyPr wrap="square" lIns="0" tIns="0" rIns="0" bIns="0" rtlCol="0"/>
            <a:lstStyle/>
            <a:p/>
          </p:txBody>
        </p:sp>
        <p:sp>
          <p:nvSpPr>
            <p:cNvPr id="124" name="object 124" descr=""/>
            <p:cNvSpPr/>
            <p:nvPr/>
          </p:nvSpPr>
          <p:spPr>
            <a:xfrm>
              <a:off x="213047" y="928978"/>
              <a:ext cx="0" cy="1064260"/>
            </a:xfrm>
            <a:custGeom>
              <a:avLst/>
              <a:gdLst/>
              <a:ahLst/>
              <a:cxnLst/>
              <a:rect l="l" t="t" r="r" b="b"/>
              <a:pathLst>
                <a:path w="0" h="1064260">
                  <a:moveTo>
                    <a:pt x="0" y="0"/>
                  </a:moveTo>
                  <a:lnTo>
                    <a:pt x="0" y="1064260"/>
                  </a:lnTo>
                </a:path>
              </a:pathLst>
            </a:custGeom>
            <a:ln w="12700">
              <a:solidFill>
                <a:srgbClr val="000000"/>
              </a:solidFill>
            </a:ln>
          </p:spPr>
          <p:txBody>
            <a:bodyPr wrap="square" lIns="0" tIns="0" rIns="0" bIns="0" rtlCol="0"/>
            <a:lstStyle/>
            <a:p/>
          </p:txBody>
        </p:sp>
        <p:sp>
          <p:nvSpPr>
            <p:cNvPr id="125" name="object 125" descr=""/>
            <p:cNvSpPr/>
            <p:nvPr/>
          </p:nvSpPr>
          <p:spPr>
            <a:xfrm>
              <a:off x="8854008" y="928978"/>
              <a:ext cx="0" cy="1064260"/>
            </a:xfrm>
            <a:custGeom>
              <a:avLst/>
              <a:gdLst/>
              <a:ahLst/>
              <a:cxnLst/>
              <a:rect l="l" t="t" r="r" b="b"/>
              <a:pathLst>
                <a:path w="0" h="1064260">
                  <a:moveTo>
                    <a:pt x="0" y="0"/>
                  </a:moveTo>
                  <a:lnTo>
                    <a:pt x="0" y="1064260"/>
                  </a:lnTo>
                </a:path>
              </a:pathLst>
            </a:custGeom>
            <a:ln w="12700">
              <a:solidFill>
                <a:srgbClr val="000000"/>
              </a:solidFill>
            </a:ln>
          </p:spPr>
          <p:txBody>
            <a:bodyPr wrap="square" lIns="0" tIns="0" rIns="0" bIns="0" rtlCol="0"/>
            <a:lstStyle/>
            <a:p/>
          </p:txBody>
        </p:sp>
        <p:sp>
          <p:nvSpPr>
            <p:cNvPr id="126" name="object 126" descr=""/>
            <p:cNvSpPr/>
            <p:nvPr/>
          </p:nvSpPr>
          <p:spPr>
            <a:xfrm>
              <a:off x="206697" y="935328"/>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sp>
          <p:nvSpPr>
            <p:cNvPr id="127" name="object 127" descr=""/>
            <p:cNvSpPr/>
            <p:nvPr/>
          </p:nvSpPr>
          <p:spPr>
            <a:xfrm>
              <a:off x="206697" y="1986889"/>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grpSp>
      <p:sp>
        <p:nvSpPr>
          <p:cNvPr id="128" name="object 128" descr=""/>
          <p:cNvSpPr txBox="1"/>
          <p:nvPr/>
        </p:nvSpPr>
        <p:spPr>
          <a:xfrm>
            <a:off x="291787" y="1350947"/>
            <a:ext cx="840105" cy="238760"/>
          </a:xfrm>
          <a:prstGeom prst="rect">
            <a:avLst/>
          </a:prstGeom>
        </p:spPr>
        <p:txBody>
          <a:bodyPr wrap="square" lIns="0" tIns="12065" rIns="0" bIns="0" rtlCol="0" vert="horz">
            <a:spAutoFit/>
          </a:bodyPr>
          <a:lstStyle/>
          <a:p>
            <a:pPr marL="12700">
              <a:lnSpc>
                <a:spcPct val="100000"/>
              </a:lnSpc>
              <a:spcBef>
                <a:spcPts val="95"/>
              </a:spcBef>
            </a:pPr>
            <a:r>
              <a:rPr dirty="0" sz="1400" spc="-10">
                <a:latin typeface="Microsoft YaHei"/>
                <a:cs typeface="Microsoft YaHei"/>
              </a:rPr>
              <a:t>1</a:t>
            </a:r>
            <a:r>
              <a:rPr dirty="0" sz="1400" spc="-30">
                <a:latin typeface="Microsoft YaHei"/>
                <a:cs typeface="Microsoft YaHei"/>
              </a:rPr>
              <a:t>、点击“</a:t>
            </a:r>
            <a:endParaRPr sz="1400">
              <a:latin typeface="Microsoft YaHei"/>
              <a:cs typeface="Microsoft YaHei"/>
            </a:endParaRPr>
          </a:p>
        </p:txBody>
      </p:sp>
      <p:sp>
        <p:nvSpPr>
          <p:cNvPr id="129" name="object 129" descr=""/>
          <p:cNvSpPr txBox="1"/>
          <p:nvPr/>
        </p:nvSpPr>
        <p:spPr>
          <a:xfrm>
            <a:off x="962483" y="1236143"/>
            <a:ext cx="6527800" cy="3465195"/>
          </a:xfrm>
          <a:prstGeom prst="rect">
            <a:avLst/>
          </a:prstGeom>
        </p:spPr>
        <p:txBody>
          <a:bodyPr wrap="square" lIns="0" tIns="3175" rIns="0" bIns="0" rtlCol="0" vert="horz">
            <a:spAutoFit/>
          </a:bodyPr>
          <a:lstStyle/>
          <a:p>
            <a:pPr>
              <a:lnSpc>
                <a:spcPct val="100000"/>
              </a:lnSpc>
              <a:spcBef>
                <a:spcPts val="25"/>
              </a:spcBef>
            </a:pPr>
            <a:endParaRPr sz="1400">
              <a:latin typeface="Times New Roman"/>
              <a:cs typeface="Times New Roman"/>
            </a:endParaRPr>
          </a:p>
          <a:p>
            <a:pPr marL="156210" indent="-95885">
              <a:lnSpc>
                <a:spcPct val="29300"/>
              </a:lnSpc>
            </a:pPr>
            <a:r>
              <a:rPr dirty="0" baseline="13888" sz="2100" spc="-2010">
                <a:latin typeface="Microsoft YaHei"/>
                <a:cs typeface="Microsoft YaHei"/>
              </a:rPr>
              <a:t>“</a:t>
            </a:r>
            <a:r>
              <a:rPr dirty="0" baseline="-9920" sz="2100" spc="-1920">
                <a:latin typeface="Microsoft YaHei"/>
                <a:cs typeface="Microsoft YaHei"/>
              </a:rPr>
              <a:t>传</a:t>
            </a:r>
            <a:r>
              <a:rPr dirty="0" sz="1400" spc="-705">
                <a:latin typeface="Microsoft YaHei"/>
                <a:cs typeface="Microsoft YaHei"/>
              </a:rPr>
              <a:t>“</a:t>
            </a:r>
            <a:r>
              <a:rPr dirty="0" baseline="-7936" sz="2100" spc="-794">
                <a:latin typeface="Microsoft YaHei"/>
                <a:cs typeface="Microsoft YaHei"/>
              </a:rPr>
              <a:t>S</a:t>
            </a:r>
            <a:r>
              <a:rPr dirty="0" baseline="-9920" sz="2100" spc="-1695">
                <a:latin typeface="Microsoft YaHei"/>
                <a:cs typeface="Microsoft YaHei"/>
              </a:rPr>
              <a:t>N</a:t>
            </a:r>
            <a:r>
              <a:rPr dirty="0" baseline="3968" sz="2100" spc="-375">
                <a:latin typeface="Microsoft YaHei"/>
                <a:cs typeface="Microsoft YaHei"/>
              </a:rPr>
              <a:t>I</a:t>
            </a:r>
            <a:r>
              <a:rPr dirty="0" baseline="13888" sz="2100" spc="-1612">
                <a:latin typeface="Microsoft YaHei"/>
                <a:cs typeface="Microsoft YaHei"/>
              </a:rPr>
              <a:t>N</a:t>
            </a:r>
            <a:r>
              <a:rPr dirty="0" baseline="-9920" sz="2100" spc="-1920">
                <a:latin typeface="Microsoft YaHei"/>
                <a:cs typeface="Microsoft YaHei"/>
              </a:rPr>
              <a:t>输</a:t>
            </a:r>
            <a:r>
              <a:rPr dirty="0" sz="1400" spc="-935">
                <a:latin typeface="Microsoft YaHei"/>
                <a:cs typeface="Microsoft YaHei"/>
              </a:rPr>
              <a:t>V</a:t>
            </a:r>
            <a:r>
              <a:rPr dirty="0" baseline="3968" sz="2100" spc="-1185">
                <a:latin typeface="Microsoft YaHei"/>
                <a:cs typeface="Microsoft YaHei"/>
              </a:rPr>
              <a:t>P</a:t>
            </a:r>
            <a:r>
              <a:rPr dirty="0" baseline="-7936" sz="2100" spc="-494">
                <a:latin typeface="Microsoft YaHei"/>
                <a:cs typeface="Microsoft YaHei"/>
              </a:rPr>
              <a:t>C</a:t>
            </a:r>
            <a:r>
              <a:rPr dirty="0" baseline="-9920" sz="2100" spc="-997">
                <a:latin typeface="Microsoft YaHei"/>
                <a:cs typeface="Microsoft YaHei"/>
              </a:rPr>
              <a:t>S</a:t>
            </a:r>
            <a:r>
              <a:rPr dirty="0" baseline="3968" sz="2100" spc="-2070">
                <a:latin typeface="Microsoft YaHei"/>
                <a:cs typeface="Microsoft YaHei"/>
              </a:rPr>
              <a:t>地</a:t>
            </a:r>
            <a:r>
              <a:rPr dirty="0" baseline="13888" sz="2100" spc="-1005">
                <a:latin typeface="Microsoft YaHei"/>
                <a:cs typeface="Microsoft YaHei"/>
              </a:rPr>
              <a:t>S</a:t>
            </a:r>
            <a:r>
              <a:rPr dirty="0" sz="1400" spc="-670">
                <a:latin typeface="Microsoft YaHei"/>
                <a:cs typeface="Microsoft YaHei"/>
              </a:rPr>
              <a:t>L</a:t>
            </a:r>
            <a:r>
              <a:rPr dirty="0" baseline="-7936" sz="2100" spc="-1005">
                <a:latin typeface="Microsoft YaHei"/>
                <a:cs typeface="Microsoft YaHei"/>
              </a:rPr>
              <a:t>T</a:t>
            </a:r>
            <a:r>
              <a:rPr dirty="0" baseline="-9920" sz="2100" spc="-1717">
                <a:latin typeface="Microsoft YaHei"/>
                <a:cs typeface="Microsoft YaHei"/>
              </a:rPr>
              <a:t>规</a:t>
            </a:r>
            <a:r>
              <a:rPr dirty="0" baseline="-9920" sz="2100" spc="-839">
                <a:latin typeface="Microsoft YaHei"/>
                <a:cs typeface="Microsoft YaHei"/>
              </a:rPr>
              <a:t>A</a:t>
            </a:r>
            <a:r>
              <a:rPr dirty="0" baseline="-7936" sz="2100" spc="-839">
                <a:latin typeface="Microsoft YaHei"/>
                <a:cs typeface="Microsoft YaHei"/>
              </a:rPr>
              <a:t>P</a:t>
            </a:r>
            <a:r>
              <a:rPr dirty="0" baseline="3968" sz="2100" spc="-1560">
                <a:latin typeface="Microsoft YaHei"/>
                <a:cs typeface="Microsoft YaHei"/>
              </a:rPr>
              <a:t>址</a:t>
            </a:r>
            <a:r>
              <a:rPr dirty="0" baseline="-9920" sz="2100" spc="-2070">
                <a:latin typeface="Microsoft YaHei"/>
                <a:cs typeface="Microsoft YaHei"/>
              </a:rPr>
              <a:t>划</a:t>
            </a:r>
            <a:r>
              <a:rPr dirty="0" sz="1400" spc="-1140">
                <a:latin typeface="Microsoft YaHei"/>
                <a:cs typeface="Microsoft YaHei"/>
              </a:rPr>
              <a:t>N</a:t>
            </a:r>
            <a:r>
              <a:rPr dirty="0" baseline="-7936" sz="2100" spc="-1762">
                <a:latin typeface="Microsoft YaHei"/>
                <a:cs typeface="Microsoft YaHei"/>
              </a:rPr>
              <a:t>偶</a:t>
            </a:r>
            <a:r>
              <a:rPr dirty="0" baseline="-9920" sz="2100" spc="-937">
                <a:latin typeface="Microsoft YaHei"/>
                <a:cs typeface="Microsoft YaHei"/>
              </a:rPr>
              <a:t>S</a:t>
            </a:r>
            <a:r>
              <a:rPr dirty="0" baseline="13888" sz="2100" spc="-412">
                <a:latin typeface="Microsoft YaHei"/>
                <a:cs typeface="Microsoft YaHei"/>
              </a:rPr>
              <a:t>S</a:t>
            </a:r>
            <a:r>
              <a:rPr dirty="0" baseline="3968" sz="2100" spc="-2017">
                <a:latin typeface="Microsoft YaHei"/>
                <a:cs typeface="Microsoft YaHei"/>
              </a:rPr>
              <a:t>”</a:t>
            </a:r>
            <a:r>
              <a:rPr dirty="0" baseline="-9920" sz="2100" spc="-1132">
                <a:latin typeface="Microsoft YaHei"/>
                <a:cs typeface="Microsoft YaHei"/>
              </a:rPr>
              <a:t>1</a:t>
            </a:r>
            <a:r>
              <a:rPr dirty="0" sz="1400" spc="-1300">
                <a:latin typeface="Microsoft YaHei"/>
                <a:cs typeface="Microsoft YaHei"/>
              </a:rPr>
              <a:t>配</a:t>
            </a:r>
            <a:r>
              <a:rPr dirty="0" baseline="13888" sz="2100" spc="-1080">
                <a:latin typeface="Microsoft YaHei"/>
                <a:cs typeface="Microsoft YaHei"/>
              </a:rPr>
              <a:t>1</a:t>
            </a:r>
            <a:r>
              <a:rPr dirty="0" baseline="-9920" sz="2100" spc="-2054">
                <a:latin typeface="Microsoft YaHei"/>
                <a:cs typeface="Microsoft YaHei"/>
              </a:rPr>
              <a:t>表</a:t>
            </a:r>
            <a:r>
              <a:rPr dirty="0" baseline="-7936" sz="2100" spc="-1417">
                <a:latin typeface="Microsoft YaHei"/>
                <a:cs typeface="Microsoft YaHei"/>
              </a:rPr>
              <a:t>联</a:t>
            </a:r>
            <a:r>
              <a:rPr dirty="0" baseline="-9920" sz="2100" spc="-960">
                <a:latin typeface="Microsoft YaHei"/>
                <a:cs typeface="Microsoft YaHei"/>
              </a:rPr>
              <a:t>1</a:t>
            </a:r>
            <a:r>
              <a:rPr dirty="0" baseline="13888" sz="2100" spc="-780">
                <a:latin typeface="Microsoft YaHei"/>
                <a:cs typeface="Microsoft YaHei"/>
              </a:rPr>
              <a:t>1</a:t>
            </a:r>
            <a:r>
              <a:rPr dirty="0" baseline="3968" sz="2100" spc="-1904">
                <a:latin typeface="Microsoft YaHei"/>
                <a:cs typeface="Microsoft YaHei"/>
              </a:rPr>
              <a:t>，</a:t>
            </a:r>
            <a:r>
              <a:rPr dirty="0" sz="1400" spc="-1245">
                <a:latin typeface="Microsoft YaHei"/>
                <a:cs typeface="Microsoft YaHei"/>
              </a:rPr>
              <a:t>置</a:t>
            </a:r>
            <a:r>
              <a:rPr dirty="0" baseline="-9920" sz="2100" spc="-1087">
                <a:latin typeface="Microsoft YaHei"/>
                <a:cs typeface="Microsoft YaHei"/>
              </a:rPr>
              <a:t>1</a:t>
            </a:r>
            <a:r>
              <a:rPr dirty="0" baseline="-7936" sz="2100" spc="-1995">
                <a:latin typeface="Microsoft YaHei"/>
                <a:cs typeface="Microsoft YaHei"/>
              </a:rPr>
              <a:t>”</a:t>
            </a:r>
            <a:r>
              <a:rPr dirty="0" baseline="13888" sz="2100" spc="-300">
                <a:latin typeface="Microsoft YaHei"/>
                <a:cs typeface="Microsoft YaHei"/>
              </a:rPr>
              <a:t>1</a:t>
            </a:r>
            <a:r>
              <a:rPr dirty="0" baseline="-9920" sz="2100" spc="-1732">
                <a:latin typeface="Microsoft YaHei"/>
                <a:cs typeface="Microsoft YaHei"/>
              </a:rPr>
              <a:t>开</a:t>
            </a:r>
            <a:r>
              <a:rPr dirty="0" baseline="3968" sz="2100" spc="-1904">
                <a:latin typeface="Microsoft YaHei"/>
                <a:cs typeface="Microsoft YaHei"/>
              </a:rPr>
              <a:t>右</a:t>
            </a:r>
            <a:r>
              <a:rPr dirty="0" sz="1400" spc="-1135">
                <a:latin typeface="Microsoft YaHei"/>
                <a:cs typeface="Microsoft YaHei"/>
              </a:rPr>
              <a:t>”</a:t>
            </a:r>
            <a:r>
              <a:rPr dirty="0" baseline="-7936" sz="2100" spc="-1050">
                <a:latin typeface="Microsoft YaHei"/>
                <a:cs typeface="Microsoft YaHei"/>
              </a:rPr>
              <a:t>右</a:t>
            </a:r>
            <a:r>
              <a:rPr dirty="0" baseline="-9920" sz="2100" spc="-1732">
                <a:latin typeface="Microsoft YaHei"/>
                <a:cs typeface="Microsoft YaHei"/>
              </a:rPr>
              <a:t>站</a:t>
            </a:r>
            <a:r>
              <a:rPr dirty="0" baseline="3968" sz="2100" spc="-1904">
                <a:latin typeface="Microsoft YaHei"/>
                <a:cs typeface="Microsoft YaHei"/>
              </a:rPr>
              <a:t>侧</a:t>
            </a:r>
            <a:r>
              <a:rPr dirty="0" sz="1400" spc="-1135">
                <a:latin typeface="Microsoft YaHei"/>
                <a:cs typeface="Microsoft YaHei"/>
              </a:rPr>
              <a:t>右</a:t>
            </a:r>
            <a:r>
              <a:rPr dirty="0" baseline="-7936" sz="2100" spc="-1050">
                <a:latin typeface="Microsoft YaHei"/>
                <a:cs typeface="Microsoft YaHei"/>
              </a:rPr>
              <a:t>侧</a:t>
            </a:r>
            <a:r>
              <a:rPr dirty="0" baseline="-9920" sz="2100" spc="-1725">
                <a:latin typeface="Microsoft YaHei"/>
                <a:cs typeface="Microsoft YaHei"/>
              </a:rPr>
              <a:t>模</a:t>
            </a:r>
            <a:r>
              <a:rPr dirty="0" baseline="3968" sz="2100" spc="-1912">
                <a:latin typeface="Microsoft YaHei"/>
                <a:cs typeface="Microsoft YaHei"/>
              </a:rPr>
              <a:t>出</a:t>
            </a:r>
            <a:r>
              <a:rPr dirty="0" sz="1400" spc="-1130">
                <a:latin typeface="Microsoft YaHei"/>
                <a:cs typeface="Microsoft YaHei"/>
              </a:rPr>
              <a:t>侧</a:t>
            </a:r>
            <a:r>
              <a:rPr dirty="0" baseline="-7936" sz="2100" spc="-1057">
                <a:latin typeface="Microsoft YaHei"/>
                <a:cs typeface="Microsoft YaHei"/>
              </a:rPr>
              <a:t>出</a:t>
            </a:r>
            <a:r>
              <a:rPr dirty="0" baseline="-9920" sz="2100" spc="-1725">
                <a:latin typeface="Microsoft YaHei"/>
                <a:cs typeface="Microsoft YaHei"/>
              </a:rPr>
              <a:t>板</a:t>
            </a:r>
            <a:r>
              <a:rPr dirty="0" baseline="3968" sz="2100" spc="-1912">
                <a:latin typeface="Microsoft YaHei"/>
                <a:cs typeface="Microsoft YaHei"/>
              </a:rPr>
              <a:t>现</a:t>
            </a:r>
            <a:r>
              <a:rPr dirty="0" sz="1400" spc="-1130">
                <a:latin typeface="Microsoft YaHei"/>
                <a:cs typeface="Microsoft YaHei"/>
              </a:rPr>
              <a:t>出</a:t>
            </a:r>
            <a:r>
              <a:rPr dirty="0" baseline="-7936" sz="2100" spc="-1050">
                <a:latin typeface="Microsoft YaHei"/>
                <a:cs typeface="Microsoft YaHei"/>
              </a:rPr>
              <a:t>现</a:t>
            </a:r>
            <a:r>
              <a:rPr dirty="0" baseline="-9920" sz="2100" spc="-1725">
                <a:latin typeface="Microsoft YaHei"/>
                <a:cs typeface="Microsoft YaHei"/>
              </a:rPr>
              <a:t>”</a:t>
            </a:r>
            <a:r>
              <a:rPr dirty="0" baseline="3968" sz="2100" spc="-427">
                <a:latin typeface="Microsoft YaHei"/>
                <a:cs typeface="Microsoft YaHei"/>
              </a:rPr>
              <a:t>I</a:t>
            </a:r>
            <a:r>
              <a:rPr dirty="0" sz="1400" spc="-1135">
                <a:latin typeface="Microsoft YaHei"/>
                <a:cs typeface="Microsoft YaHei"/>
              </a:rPr>
              <a:t>现</a:t>
            </a:r>
            <a:r>
              <a:rPr dirty="0" baseline="3968" sz="2100" spc="-1297">
                <a:latin typeface="Microsoft YaHei"/>
                <a:cs typeface="Microsoft YaHei"/>
              </a:rPr>
              <a:t>P</a:t>
            </a:r>
            <a:r>
              <a:rPr dirty="0" baseline="-7936" sz="2100" spc="-1050">
                <a:latin typeface="Microsoft YaHei"/>
                <a:cs typeface="Microsoft YaHei"/>
              </a:rPr>
              <a:t>偶</a:t>
            </a:r>
            <a:r>
              <a:rPr dirty="0" baseline="-9920" sz="2100" spc="-1912">
                <a:latin typeface="Microsoft YaHei"/>
                <a:cs typeface="Microsoft YaHei"/>
              </a:rPr>
              <a:t>，</a:t>
            </a:r>
            <a:r>
              <a:rPr dirty="0" baseline="3968" sz="2100" spc="-2047">
                <a:latin typeface="Microsoft YaHei"/>
                <a:cs typeface="Microsoft YaHei"/>
              </a:rPr>
              <a:t>地</a:t>
            </a:r>
            <a:r>
              <a:rPr dirty="0" baseline="13888" sz="2100" spc="-1814">
                <a:latin typeface="Microsoft YaHei"/>
                <a:cs typeface="Microsoft YaHei"/>
              </a:rPr>
              <a:t>前</a:t>
            </a:r>
            <a:r>
              <a:rPr dirty="0" sz="1400" spc="-670">
                <a:latin typeface="Microsoft YaHei"/>
                <a:cs typeface="Microsoft YaHei"/>
              </a:rPr>
              <a:t>V</a:t>
            </a:r>
            <a:r>
              <a:rPr dirty="0" baseline="-7936" sz="2100" spc="-1139">
                <a:latin typeface="Microsoft YaHei"/>
                <a:cs typeface="Microsoft YaHei"/>
              </a:rPr>
              <a:t>联</a:t>
            </a:r>
            <a:r>
              <a:rPr dirty="0" sz="1400" spc="-670">
                <a:latin typeface="Microsoft YaHei"/>
                <a:cs typeface="Microsoft YaHei"/>
              </a:rPr>
              <a:t>L</a:t>
            </a:r>
            <a:r>
              <a:rPr dirty="0" baseline="-9920" sz="2100" spc="-2032">
                <a:latin typeface="Microsoft YaHei"/>
                <a:cs typeface="Microsoft YaHei"/>
              </a:rPr>
              <a:t>出</a:t>
            </a:r>
            <a:r>
              <a:rPr dirty="0" baseline="1984" sz="2100" spc="-2002">
                <a:latin typeface="Microsoft YaHei"/>
                <a:cs typeface="Microsoft YaHei"/>
              </a:rPr>
              <a:t>右</a:t>
            </a:r>
            <a:r>
              <a:rPr dirty="0" baseline="3968" sz="2100" spc="-2047">
                <a:latin typeface="Microsoft YaHei"/>
                <a:cs typeface="Microsoft YaHei"/>
              </a:rPr>
              <a:t>址</a:t>
            </a:r>
            <a:r>
              <a:rPr dirty="0" baseline="13888" sz="2100" spc="-1380">
                <a:latin typeface="Microsoft YaHei"/>
                <a:cs typeface="Microsoft YaHei"/>
              </a:rPr>
              <a:t>的</a:t>
            </a:r>
            <a:r>
              <a:rPr dirty="0" baseline="-7936" sz="2100" spc="-2092">
                <a:latin typeface="Microsoft YaHei"/>
                <a:cs typeface="Microsoft YaHei"/>
              </a:rPr>
              <a:t>信</a:t>
            </a:r>
            <a:r>
              <a:rPr dirty="0" sz="1400" spc="-305">
                <a:latin typeface="Microsoft YaHei"/>
                <a:cs typeface="Microsoft YaHei"/>
              </a:rPr>
              <a:t>A</a:t>
            </a:r>
            <a:r>
              <a:rPr dirty="0" baseline="-9920" sz="2100" spc="-2032">
                <a:latin typeface="Microsoft YaHei"/>
                <a:cs typeface="Microsoft YaHei"/>
              </a:rPr>
              <a:t>现</a:t>
            </a:r>
            <a:r>
              <a:rPr dirty="0" baseline="1984" sz="2100" spc="-2002">
                <a:latin typeface="Microsoft YaHei"/>
                <a:cs typeface="Microsoft YaHei"/>
              </a:rPr>
              <a:t>侧</a:t>
            </a:r>
            <a:r>
              <a:rPr dirty="0" baseline="3968" sz="2100" spc="-2047">
                <a:latin typeface="Microsoft YaHei"/>
                <a:cs typeface="Microsoft YaHei"/>
              </a:rPr>
              <a:t>信</a:t>
            </a:r>
            <a:r>
              <a:rPr dirty="0" baseline="13888" sz="2100" spc="-1979">
                <a:latin typeface="Microsoft YaHei"/>
                <a:cs typeface="Microsoft YaHei"/>
              </a:rPr>
              <a:t>“</a:t>
            </a:r>
            <a:r>
              <a:rPr dirty="0" sz="1400" spc="-760">
                <a:latin typeface="Microsoft YaHei"/>
                <a:cs typeface="Microsoft YaHei"/>
              </a:rPr>
              <a:t>N</a:t>
            </a:r>
            <a:r>
              <a:rPr dirty="0" baseline="-7936" sz="2100" spc="-1050">
                <a:latin typeface="Microsoft YaHei"/>
                <a:cs typeface="Microsoft YaHei"/>
              </a:rPr>
              <a:t>息</a:t>
            </a:r>
            <a:r>
              <a:rPr dirty="0" baseline="-9920" sz="2100" spc="-2077">
                <a:latin typeface="Microsoft YaHei"/>
                <a:cs typeface="Microsoft YaHei"/>
              </a:rPr>
              <a:t>下</a:t>
            </a:r>
            <a:r>
              <a:rPr dirty="0" sz="1400" spc="-1390">
                <a:latin typeface="Microsoft YaHei"/>
                <a:cs typeface="Microsoft YaHei"/>
              </a:rPr>
              <a:t>信</a:t>
            </a:r>
            <a:r>
              <a:rPr dirty="0" baseline="1984" sz="2100" spc="-2002">
                <a:latin typeface="Microsoft YaHei"/>
                <a:cs typeface="Microsoft YaHei"/>
              </a:rPr>
              <a:t>会</a:t>
            </a:r>
            <a:r>
              <a:rPr dirty="0" baseline="3968" sz="2100" spc="-2047">
                <a:latin typeface="Microsoft YaHei"/>
                <a:cs typeface="Microsoft YaHei"/>
              </a:rPr>
              <a:t>息</a:t>
            </a:r>
            <a:r>
              <a:rPr dirty="0" baseline="13888" sz="2100" spc="-825">
                <a:latin typeface="Microsoft YaHei"/>
                <a:cs typeface="Microsoft YaHei"/>
              </a:rPr>
              <a:t>+</a:t>
            </a:r>
            <a:r>
              <a:rPr dirty="0" baseline="-7936" sz="2100" spc="-1305">
                <a:latin typeface="Microsoft YaHei"/>
                <a:cs typeface="Microsoft YaHei"/>
              </a:rPr>
              <a:t>，</a:t>
            </a:r>
            <a:r>
              <a:rPr dirty="0" baseline="13888" sz="2100" spc="-1867">
                <a:latin typeface="Microsoft YaHei"/>
                <a:cs typeface="Microsoft YaHei"/>
              </a:rPr>
              <a:t>”</a:t>
            </a:r>
            <a:r>
              <a:rPr dirty="0" baseline="-9920" sz="2100" spc="-2077">
                <a:latin typeface="Microsoft YaHei"/>
                <a:cs typeface="Microsoft YaHei"/>
              </a:rPr>
              <a:t>拉</a:t>
            </a:r>
            <a:r>
              <a:rPr dirty="0" sz="1400" spc="-1390">
                <a:latin typeface="Microsoft YaHei"/>
                <a:cs typeface="Microsoft YaHei"/>
              </a:rPr>
              <a:t>息</a:t>
            </a:r>
            <a:r>
              <a:rPr dirty="0" baseline="1984" sz="2100" spc="-2002">
                <a:latin typeface="Microsoft YaHei"/>
                <a:cs typeface="Microsoft YaHei"/>
              </a:rPr>
              <a:t>出</a:t>
            </a:r>
            <a:r>
              <a:rPr dirty="0" baseline="3968" sz="2100" spc="-1297">
                <a:latin typeface="Microsoft YaHei"/>
                <a:cs typeface="Microsoft YaHei"/>
              </a:rPr>
              <a:t>，</a:t>
            </a:r>
            <a:r>
              <a:rPr dirty="0" baseline="-7936" sz="2100" spc="-1050">
                <a:latin typeface="Microsoft YaHei"/>
                <a:cs typeface="Microsoft YaHei"/>
              </a:rPr>
              <a:t>选</a:t>
            </a:r>
            <a:r>
              <a:rPr dirty="0" baseline="-9920" sz="2100" spc="-2085">
                <a:latin typeface="Microsoft YaHei"/>
                <a:cs typeface="Microsoft YaHei"/>
              </a:rPr>
              <a:t>菜</a:t>
            </a:r>
            <a:r>
              <a:rPr dirty="0" sz="1400" spc="-1385">
                <a:latin typeface="Microsoft YaHei"/>
                <a:cs typeface="Microsoft YaHei"/>
              </a:rPr>
              <a:t>，</a:t>
            </a:r>
            <a:r>
              <a:rPr dirty="0" baseline="1984" sz="2100" spc="-2002">
                <a:latin typeface="Microsoft YaHei"/>
                <a:cs typeface="Microsoft YaHei"/>
              </a:rPr>
              <a:t>现</a:t>
            </a:r>
            <a:r>
              <a:rPr dirty="0" baseline="3968" sz="2100" spc="-1942">
                <a:latin typeface="Microsoft YaHei"/>
                <a:cs typeface="Microsoft YaHei"/>
              </a:rPr>
              <a:t>选</a:t>
            </a:r>
            <a:r>
              <a:rPr dirty="0" baseline="13888" sz="2100" spc="-1492">
                <a:latin typeface="Microsoft YaHei"/>
                <a:cs typeface="Microsoft YaHei"/>
              </a:rPr>
              <a:t>→</a:t>
            </a:r>
            <a:r>
              <a:rPr dirty="0" baseline="-7936" sz="2100" spc="-1050">
                <a:latin typeface="Microsoft YaHei"/>
                <a:cs typeface="Microsoft YaHei"/>
              </a:rPr>
              <a:t>中</a:t>
            </a:r>
            <a:r>
              <a:rPr dirty="0" baseline="-9920" sz="2100" spc="-2077">
                <a:latin typeface="Microsoft YaHei"/>
                <a:cs typeface="Microsoft YaHei"/>
              </a:rPr>
              <a:t>单</a:t>
            </a:r>
            <a:r>
              <a:rPr dirty="0" sz="1400" spc="-1390">
                <a:latin typeface="Microsoft YaHei"/>
                <a:cs typeface="Microsoft YaHei"/>
              </a:rPr>
              <a:t>选</a:t>
            </a:r>
            <a:r>
              <a:rPr dirty="0" baseline="1984" sz="2100" spc="-2002">
                <a:latin typeface="Microsoft YaHei"/>
                <a:cs typeface="Microsoft YaHei"/>
              </a:rPr>
              <a:t>基</a:t>
            </a:r>
            <a:r>
              <a:rPr dirty="0" baseline="3968" sz="2100" spc="-1942">
                <a:latin typeface="Microsoft YaHei"/>
                <a:cs typeface="Microsoft YaHei"/>
              </a:rPr>
              <a:t>中</a:t>
            </a:r>
            <a:r>
              <a:rPr dirty="0" baseline="13888" sz="2100" spc="-1485">
                <a:latin typeface="Microsoft YaHei"/>
                <a:cs typeface="Microsoft YaHei"/>
              </a:rPr>
              <a:t>局</a:t>
            </a:r>
            <a:r>
              <a:rPr dirty="0" baseline="-7936" sz="2100" spc="-1057">
                <a:latin typeface="Microsoft YaHei"/>
                <a:cs typeface="Microsoft YaHei"/>
              </a:rPr>
              <a:t>偶</a:t>
            </a:r>
            <a:r>
              <a:rPr dirty="0" baseline="-9920" sz="2100" spc="-2077">
                <a:latin typeface="Microsoft YaHei"/>
                <a:cs typeface="Microsoft YaHei"/>
              </a:rPr>
              <a:t>，</a:t>
            </a:r>
            <a:r>
              <a:rPr dirty="0" sz="1400" spc="-1390">
                <a:latin typeface="Microsoft YaHei"/>
                <a:cs typeface="Microsoft YaHei"/>
              </a:rPr>
              <a:t>中</a:t>
            </a:r>
            <a:r>
              <a:rPr dirty="0" baseline="1984" sz="2100" spc="-1995">
                <a:latin typeface="Microsoft YaHei"/>
                <a:cs typeface="Microsoft YaHei"/>
              </a:rPr>
              <a:t>站</a:t>
            </a:r>
            <a:r>
              <a:rPr dirty="0" baseline="3968" sz="2100" spc="-450">
                <a:latin typeface="Microsoft YaHei"/>
                <a:cs typeface="Microsoft YaHei"/>
              </a:rPr>
              <a:t>I</a:t>
            </a:r>
            <a:r>
              <a:rPr dirty="0" baseline="13888" sz="2100" spc="-1687">
                <a:latin typeface="Microsoft YaHei"/>
                <a:cs typeface="Microsoft YaHei"/>
              </a:rPr>
              <a:t>向</a:t>
            </a:r>
            <a:r>
              <a:rPr dirty="0" baseline="3968" sz="2100" spc="-1102">
                <a:latin typeface="Microsoft YaHei"/>
                <a:cs typeface="Microsoft YaHei"/>
              </a:rPr>
              <a:t>P</a:t>
            </a:r>
            <a:r>
              <a:rPr dirty="0" baseline="-7936" sz="2100" spc="-1050">
                <a:latin typeface="Microsoft YaHei"/>
                <a:cs typeface="Microsoft YaHei"/>
              </a:rPr>
              <a:t>联</a:t>
            </a:r>
            <a:r>
              <a:rPr dirty="0" baseline="-9920" sz="2100" spc="-2100">
                <a:latin typeface="Microsoft YaHei"/>
                <a:cs typeface="Microsoft YaHei"/>
              </a:rPr>
              <a:t>选</a:t>
            </a:r>
            <a:r>
              <a:rPr dirty="0" baseline="3968" sz="2100" spc="-2100">
                <a:latin typeface="Microsoft YaHei"/>
                <a:cs typeface="Microsoft YaHei"/>
              </a:rPr>
              <a:t>信</a:t>
            </a:r>
            <a:r>
              <a:rPr dirty="0" sz="1400" spc="-1385">
                <a:latin typeface="Microsoft YaHei"/>
                <a:cs typeface="Microsoft YaHei"/>
              </a:rPr>
              <a:t>要</a:t>
            </a:r>
            <a:r>
              <a:rPr dirty="0" baseline="1984" sz="2100" spc="-1822">
                <a:latin typeface="Microsoft YaHei"/>
                <a:cs typeface="Microsoft YaHei"/>
              </a:rPr>
              <a:t>信</a:t>
            </a:r>
            <a:r>
              <a:rPr dirty="0" baseline="13888" sz="2100" spc="-1485">
                <a:latin typeface="Microsoft YaHei"/>
                <a:cs typeface="Microsoft YaHei"/>
              </a:rPr>
              <a:t>→</a:t>
            </a:r>
            <a:r>
              <a:rPr dirty="0" baseline="-7936" sz="2100" spc="-1050">
                <a:latin typeface="Microsoft YaHei"/>
                <a:cs typeface="Microsoft YaHei"/>
              </a:rPr>
              <a:t>信</a:t>
            </a:r>
            <a:r>
              <a:rPr dirty="0" baseline="-9920" sz="2100" spc="-2100">
                <a:latin typeface="Microsoft YaHei"/>
                <a:cs typeface="Microsoft YaHei"/>
              </a:rPr>
              <a:t>中</a:t>
            </a:r>
            <a:r>
              <a:rPr dirty="0" baseline="3968" sz="2100" spc="-2092">
                <a:latin typeface="Microsoft YaHei"/>
                <a:cs typeface="Microsoft YaHei"/>
              </a:rPr>
              <a:t>息</a:t>
            </a:r>
            <a:r>
              <a:rPr dirty="0" sz="1400" spc="-1390">
                <a:latin typeface="Microsoft YaHei"/>
                <a:cs typeface="Microsoft YaHei"/>
              </a:rPr>
              <a:t>修</a:t>
            </a:r>
            <a:r>
              <a:rPr dirty="0" baseline="1984" sz="2100" spc="-1822">
                <a:latin typeface="Microsoft YaHei"/>
                <a:cs typeface="Microsoft YaHei"/>
              </a:rPr>
              <a:t>息</a:t>
            </a:r>
            <a:r>
              <a:rPr dirty="0" baseline="13888" sz="2100" spc="-1477">
                <a:latin typeface="Microsoft YaHei"/>
                <a:cs typeface="Microsoft YaHei"/>
              </a:rPr>
              <a:t>管</a:t>
            </a:r>
            <a:r>
              <a:rPr dirty="0" baseline="-7936" sz="2100" spc="-1057">
                <a:latin typeface="Microsoft YaHei"/>
                <a:cs typeface="Microsoft YaHei"/>
              </a:rPr>
              <a:t>息</a:t>
            </a:r>
            <a:r>
              <a:rPr dirty="0" baseline="-9920" sz="2100" spc="-2100">
                <a:latin typeface="Microsoft YaHei"/>
                <a:cs typeface="Microsoft YaHei"/>
              </a:rPr>
              <a:t>“</a:t>
            </a:r>
            <a:r>
              <a:rPr dirty="0" baseline="3968" sz="2100" spc="-2092">
                <a:latin typeface="Microsoft YaHei"/>
                <a:cs typeface="Microsoft YaHei"/>
              </a:rPr>
              <a:t>后</a:t>
            </a:r>
            <a:r>
              <a:rPr dirty="0" sz="1400" spc="-1390">
                <a:latin typeface="Microsoft YaHei"/>
                <a:cs typeface="Microsoft YaHei"/>
              </a:rPr>
              <a:t>改</a:t>
            </a:r>
            <a:r>
              <a:rPr dirty="0" baseline="1984" sz="2100" spc="-1822">
                <a:latin typeface="Microsoft YaHei"/>
                <a:cs typeface="Microsoft YaHei"/>
              </a:rPr>
              <a:t>；</a:t>
            </a:r>
            <a:r>
              <a:rPr dirty="0" baseline="13888" sz="2100" spc="-1477">
                <a:latin typeface="Microsoft YaHei"/>
                <a:cs typeface="Microsoft YaHei"/>
              </a:rPr>
              <a:t>理</a:t>
            </a:r>
            <a:r>
              <a:rPr dirty="0" baseline="-7936" sz="2100" spc="-1050">
                <a:latin typeface="Microsoft YaHei"/>
                <a:cs typeface="Microsoft YaHei"/>
              </a:rPr>
              <a:t>后</a:t>
            </a:r>
            <a:r>
              <a:rPr dirty="0" baseline="-9920" sz="2100" spc="-2100">
                <a:latin typeface="Microsoft YaHei"/>
                <a:cs typeface="Microsoft YaHei"/>
              </a:rPr>
              <a:t>离</a:t>
            </a:r>
            <a:r>
              <a:rPr dirty="0" baseline="3968" sz="2100" spc="-2100">
                <a:latin typeface="Microsoft YaHei"/>
                <a:cs typeface="Microsoft YaHei"/>
              </a:rPr>
              <a:t>右</a:t>
            </a:r>
            <a:r>
              <a:rPr dirty="0" sz="1400" spc="-1190">
                <a:latin typeface="Microsoft YaHei"/>
                <a:cs typeface="Microsoft YaHei"/>
              </a:rPr>
              <a:t>的</a:t>
            </a:r>
            <a:r>
              <a:rPr dirty="0" baseline="13888" sz="2100" spc="-1477">
                <a:latin typeface="Microsoft YaHei"/>
                <a:cs typeface="Microsoft YaHei"/>
              </a:rPr>
              <a:t>站</a:t>
            </a:r>
            <a:r>
              <a:rPr dirty="0" baseline="-7936" sz="2100" spc="-1050">
                <a:latin typeface="Microsoft YaHei"/>
                <a:cs typeface="Microsoft YaHei"/>
              </a:rPr>
              <a:t>右</a:t>
            </a:r>
            <a:r>
              <a:rPr dirty="0" baseline="-9920" sz="2100" spc="-2100">
                <a:latin typeface="Microsoft YaHei"/>
                <a:cs typeface="Microsoft YaHei"/>
              </a:rPr>
              <a:t>线</a:t>
            </a:r>
            <a:r>
              <a:rPr dirty="0" baseline="3968" sz="2100" spc="-2092">
                <a:latin typeface="Microsoft YaHei"/>
                <a:cs typeface="Microsoft YaHei"/>
              </a:rPr>
              <a:t>键</a:t>
            </a:r>
            <a:r>
              <a:rPr dirty="0" sz="1400" spc="-1195">
                <a:latin typeface="Microsoft YaHei"/>
                <a:cs typeface="Microsoft YaHei"/>
              </a:rPr>
              <a:t>右</a:t>
            </a:r>
            <a:r>
              <a:rPr dirty="0" baseline="13888" sz="2100" spc="-1462">
                <a:latin typeface="Microsoft YaHei"/>
                <a:cs typeface="Microsoft YaHei"/>
              </a:rPr>
              <a:t>→</a:t>
            </a:r>
            <a:r>
              <a:rPr dirty="0" baseline="-7936" sz="2100" spc="-1057">
                <a:latin typeface="Microsoft YaHei"/>
                <a:cs typeface="Microsoft YaHei"/>
              </a:rPr>
              <a:t>键</a:t>
            </a:r>
            <a:r>
              <a:rPr dirty="0" baseline="-9920" sz="2100" spc="-2100">
                <a:latin typeface="Microsoft YaHei"/>
                <a:cs typeface="Microsoft YaHei"/>
              </a:rPr>
              <a:t>网</a:t>
            </a:r>
            <a:r>
              <a:rPr dirty="0" baseline="3968" sz="2100" spc="-2092">
                <a:latin typeface="Microsoft YaHei"/>
                <a:cs typeface="Microsoft YaHei"/>
              </a:rPr>
              <a:t>，</a:t>
            </a:r>
            <a:r>
              <a:rPr dirty="0" sz="1400" spc="-1195">
                <a:latin typeface="Microsoft YaHei"/>
                <a:cs typeface="Microsoft YaHei"/>
              </a:rPr>
              <a:t>键</a:t>
            </a:r>
            <a:r>
              <a:rPr dirty="0" baseline="13888" sz="2100" spc="-1462">
                <a:latin typeface="Microsoft YaHei"/>
                <a:cs typeface="Microsoft YaHei"/>
              </a:rPr>
              <a:t>操</a:t>
            </a:r>
            <a:r>
              <a:rPr dirty="0" baseline="-7936" sz="2100" spc="-1050">
                <a:latin typeface="Microsoft YaHei"/>
                <a:cs typeface="Microsoft YaHei"/>
              </a:rPr>
              <a:t>，</a:t>
            </a:r>
            <a:r>
              <a:rPr dirty="0" baseline="-9920" sz="2100" spc="-2100">
                <a:latin typeface="Microsoft YaHei"/>
                <a:cs typeface="Microsoft YaHei"/>
              </a:rPr>
              <a:t>络</a:t>
            </a:r>
            <a:r>
              <a:rPr dirty="0" baseline="3968" sz="2100" spc="-2100">
                <a:latin typeface="Microsoft YaHei"/>
                <a:cs typeface="Microsoft YaHei"/>
              </a:rPr>
              <a:t>选</a:t>
            </a:r>
            <a:r>
              <a:rPr dirty="0" sz="1400" spc="-1195">
                <a:latin typeface="Microsoft YaHei"/>
                <a:cs typeface="Microsoft YaHei"/>
              </a:rPr>
              <a:t>，</a:t>
            </a:r>
            <a:r>
              <a:rPr dirty="0" baseline="13888" sz="2100" spc="-1462">
                <a:latin typeface="Microsoft YaHei"/>
                <a:cs typeface="Microsoft YaHei"/>
              </a:rPr>
              <a:t>作</a:t>
            </a:r>
            <a:r>
              <a:rPr dirty="0" baseline="-7936" sz="2100" spc="-1050">
                <a:latin typeface="Microsoft YaHei"/>
                <a:cs typeface="Microsoft YaHei"/>
              </a:rPr>
              <a:t>选</a:t>
            </a:r>
            <a:r>
              <a:rPr dirty="0" baseline="-9920" sz="2100" spc="-2100">
                <a:latin typeface="Microsoft YaHei"/>
                <a:cs typeface="Microsoft YaHei"/>
              </a:rPr>
              <a:t>规</a:t>
            </a:r>
            <a:r>
              <a:rPr dirty="0" baseline="3968" sz="2100" spc="-2092">
                <a:latin typeface="Microsoft YaHei"/>
                <a:cs typeface="Microsoft YaHei"/>
              </a:rPr>
              <a:t>中</a:t>
            </a:r>
            <a:r>
              <a:rPr dirty="0" sz="1400" spc="-1205">
                <a:latin typeface="Microsoft YaHei"/>
                <a:cs typeface="Microsoft YaHei"/>
              </a:rPr>
              <a:t>选</a:t>
            </a:r>
            <a:r>
              <a:rPr dirty="0" baseline="13888" sz="2100" spc="-1455">
                <a:latin typeface="Microsoft YaHei"/>
                <a:cs typeface="Microsoft YaHei"/>
              </a:rPr>
              <a:t>维</a:t>
            </a:r>
            <a:r>
              <a:rPr dirty="0" baseline="-7936" sz="2100" spc="-1057">
                <a:latin typeface="Microsoft YaHei"/>
                <a:cs typeface="Microsoft YaHei"/>
              </a:rPr>
              <a:t>中</a:t>
            </a:r>
            <a:r>
              <a:rPr dirty="0" baseline="-9920" sz="2100" spc="-2100">
                <a:latin typeface="Microsoft YaHei"/>
                <a:cs typeface="Microsoft YaHei"/>
              </a:rPr>
              <a:t>划</a:t>
            </a:r>
            <a:r>
              <a:rPr dirty="0" baseline="3968" sz="2100" spc="-2092">
                <a:latin typeface="Microsoft YaHei"/>
                <a:cs typeface="Microsoft YaHei"/>
              </a:rPr>
              <a:t>“</a:t>
            </a:r>
            <a:r>
              <a:rPr dirty="0" sz="1400" spc="-1205">
                <a:latin typeface="Microsoft YaHei"/>
                <a:cs typeface="Microsoft YaHei"/>
              </a:rPr>
              <a:t>中</a:t>
            </a:r>
            <a:r>
              <a:rPr dirty="0" baseline="13888" sz="2100" spc="-1455">
                <a:latin typeface="Microsoft YaHei"/>
                <a:cs typeface="Microsoft YaHei"/>
              </a:rPr>
              <a:t>护</a:t>
            </a:r>
            <a:r>
              <a:rPr dirty="0" baseline="-7936" sz="2100" spc="-1042">
                <a:latin typeface="Microsoft YaHei"/>
                <a:cs typeface="Microsoft YaHei"/>
              </a:rPr>
              <a:t>“</a:t>
            </a:r>
            <a:r>
              <a:rPr dirty="0" baseline="-9920" sz="2100" spc="-2100">
                <a:latin typeface="Microsoft YaHei"/>
                <a:cs typeface="Microsoft YaHei"/>
              </a:rPr>
              <a:t>”</a:t>
            </a:r>
            <a:r>
              <a:rPr dirty="0" baseline="3968" sz="2100" spc="-2100">
                <a:latin typeface="Microsoft YaHei"/>
                <a:cs typeface="Microsoft YaHei"/>
              </a:rPr>
              <a:t>修</a:t>
            </a:r>
            <a:r>
              <a:rPr dirty="0" sz="1400" spc="-1205">
                <a:latin typeface="Microsoft YaHei"/>
                <a:cs typeface="Microsoft YaHei"/>
              </a:rPr>
              <a:t>“</a:t>
            </a:r>
            <a:r>
              <a:rPr dirty="0" baseline="13888" sz="2100" spc="-1455">
                <a:latin typeface="Microsoft YaHei"/>
                <a:cs typeface="Microsoft YaHei"/>
              </a:rPr>
              <a:t>链</a:t>
            </a:r>
            <a:r>
              <a:rPr dirty="0" baseline="-7936" sz="2100" spc="-1050">
                <a:latin typeface="Microsoft YaHei"/>
                <a:cs typeface="Microsoft YaHei"/>
              </a:rPr>
              <a:t>修</a:t>
            </a:r>
            <a:r>
              <a:rPr dirty="0" baseline="-9920" sz="2100" spc="-2100">
                <a:latin typeface="Microsoft YaHei"/>
                <a:cs typeface="Microsoft YaHei"/>
              </a:rPr>
              <a:t>；</a:t>
            </a:r>
            <a:r>
              <a:rPr dirty="0" baseline="3968" sz="2100" spc="-2092">
                <a:latin typeface="Microsoft YaHei"/>
                <a:cs typeface="Microsoft YaHei"/>
              </a:rPr>
              <a:t>改</a:t>
            </a:r>
            <a:r>
              <a:rPr dirty="0" sz="1400" spc="-1210">
                <a:latin typeface="Microsoft YaHei"/>
                <a:cs typeface="Microsoft YaHei"/>
              </a:rPr>
              <a:t>修</a:t>
            </a:r>
            <a:r>
              <a:rPr dirty="0" baseline="13888" sz="2100" spc="-1447">
                <a:latin typeface="Microsoft YaHei"/>
                <a:cs typeface="Microsoft YaHei"/>
              </a:rPr>
              <a:t>路</a:t>
            </a:r>
            <a:r>
              <a:rPr dirty="0" baseline="-7936" sz="2100" spc="-1027">
                <a:latin typeface="Microsoft YaHei"/>
                <a:cs typeface="Microsoft YaHei"/>
              </a:rPr>
              <a:t>改</a:t>
            </a:r>
            <a:r>
              <a:rPr dirty="0" baseline="3968" sz="2100" spc="-607">
                <a:latin typeface="Microsoft YaHei"/>
                <a:cs typeface="Microsoft YaHei"/>
              </a:rPr>
              <a:t>I</a:t>
            </a:r>
            <a:r>
              <a:rPr dirty="0" sz="1400" spc="-1015">
                <a:latin typeface="Microsoft YaHei"/>
                <a:cs typeface="Microsoft YaHei"/>
              </a:rPr>
              <a:t>改</a:t>
            </a:r>
            <a:r>
              <a:rPr dirty="0" baseline="3968" sz="2100" spc="-622">
                <a:latin typeface="Microsoft YaHei"/>
                <a:cs typeface="Microsoft YaHei"/>
              </a:rPr>
              <a:t>P</a:t>
            </a:r>
            <a:r>
              <a:rPr dirty="0" baseline="-7936" sz="2100" spc="-622">
                <a:latin typeface="Microsoft YaHei"/>
                <a:cs typeface="Microsoft YaHei"/>
              </a:rPr>
              <a:t>S</a:t>
            </a:r>
            <a:r>
              <a:rPr dirty="0" baseline="3968" sz="2100" spc="-1912">
                <a:latin typeface="Microsoft YaHei"/>
                <a:cs typeface="Microsoft YaHei"/>
              </a:rPr>
              <a:t>地</a:t>
            </a:r>
            <a:r>
              <a:rPr dirty="0" sz="1400" spc="-890">
                <a:latin typeface="Microsoft YaHei"/>
                <a:cs typeface="Microsoft YaHei"/>
              </a:rPr>
              <a:t>V</a:t>
            </a:r>
            <a:r>
              <a:rPr dirty="0" baseline="-7936" sz="2100" spc="-97">
                <a:latin typeface="Microsoft YaHei"/>
                <a:cs typeface="Microsoft YaHei"/>
              </a:rPr>
              <a:t>C</a:t>
            </a:r>
            <a:r>
              <a:rPr dirty="0" sz="1400" spc="-660">
                <a:latin typeface="Microsoft YaHei"/>
                <a:cs typeface="Microsoft YaHei"/>
              </a:rPr>
              <a:t>L</a:t>
            </a:r>
            <a:r>
              <a:rPr dirty="0" baseline="-7936" sz="2100" spc="-825">
                <a:latin typeface="Microsoft YaHei"/>
                <a:cs typeface="Microsoft YaHei"/>
              </a:rPr>
              <a:t>T</a:t>
            </a:r>
            <a:r>
              <a:rPr dirty="0" baseline="3968" sz="2100" spc="-1447">
                <a:latin typeface="Microsoft YaHei"/>
                <a:cs typeface="Microsoft YaHei"/>
              </a:rPr>
              <a:t>址</a:t>
            </a:r>
            <a:r>
              <a:rPr dirty="0" sz="1400" spc="-894">
                <a:latin typeface="Microsoft YaHei"/>
                <a:cs typeface="Microsoft YaHei"/>
              </a:rPr>
              <a:t>A</a:t>
            </a:r>
            <a:r>
              <a:rPr dirty="0" baseline="-7936" sz="2100" spc="-15">
                <a:latin typeface="Microsoft YaHei"/>
                <a:cs typeface="Microsoft YaHei"/>
              </a:rPr>
              <a:t>P</a:t>
            </a:r>
            <a:r>
              <a:rPr dirty="0" baseline="3968" sz="2100" spc="-2107">
                <a:latin typeface="Microsoft YaHei"/>
                <a:cs typeface="Microsoft YaHei"/>
              </a:rPr>
              <a:t>”</a:t>
            </a:r>
            <a:r>
              <a:rPr dirty="0" baseline="-7936" sz="2100" spc="-2085">
                <a:latin typeface="Microsoft YaHei"/>
                <a:cs typeface="Microsoft YaHei"/>
              </a:rPr>
              <a:t>偶</a:t>
            </a:r>
            <a:r>
              <a:rPr dirty="0" sz="1400" spc="-20">
                <a:latin typeface="Microsoft YaHei"/>
                <a:cs typeface="Microsoft YaHei"/>
              </a:rPr>
              <a:t>N</a:t>
            </a:r>
            <a:r>
              <a:rPr dirty="0" sz="1400" spc="-1180">
                <a:latin typeface="Microsoft YaHei"/>
                <a:cs typeface="Microsoft YaHei"/>
              </a:rPr>
              <a:t>配</a:t>
            </a:r>
            <a:r>
              <a:rPr dirty="0" baseline="-7936" sz="2100" spc="-382">
                <a:latin typeface="Microsoft YaHei"/>
                <a:cs typeface="Microsoft YaHei"/>
              </a:rPr>
              <a:t>联</a:t>
            </a:r>
            <a:r>
              <a:rPr dirty="0" sz="1400" spc="-1180">
                <a:latin typeface="Microsoft YaHei"/>
                <a:cs typeface="Microsoft YaHei"/>
              </a:rPr>
              <a:t>置</a:t>
            </a:r>
            <a:r>
              <a:rPr dirty="0" baseline="-7936" sz="2100" spc="-202">
                <a:latin typeface="Microsoft YaHei"/>
                <a:cs typeface="Microsoft YaHei"/>
              </a:rPr>
              <a:t>”</a:t>
            </a:r>
            <a:r>
              <a:rPr dirty="0" sz="1400" spc="-495">
                <a:latin typeface="Microsoft YaHei"/>
                <a:cs typeface="Microsoft YaHei"/>
              </a:rPr>
              <a:t>”路</a:t>
            </a:r>
            <a:r>
              <a:rPr dirty="0" baseline="-10416" sz="2400" spc="-1155">
                <a:latin typeface="SimSun"/>
                <a:cs typeface="SimSun"/>
              </a:rPr>
              <a:t>数</a:t>
            </a:r>
            <a:r>
              <a:rPr dirty="0" sz="1400" spc="-650">
                <a:latin typeface="Microsoft YaHei"/>
                <a:cs typeface="Microsoft YaHei"/>
              </a:rPr>
              <a:t>由</a:t>
            </a:r>
            <a:r>
              <a:rPr dirty="0" baseline="-10416" sz="2400" spc="-1462">
                <a:latin typeface="SimSun"/>
                <a:cs typeface="SimSun"/>
              </a:rPr>
              <a:t>名</a:t>
            </a:r>
            <a:r>
              <a:rPr dirty="0" sz="1400" spc="-445">
                <a:latin typeface="Microsoft YaHei"/>
                <a:cs typeface="Microsoft YaHei"/>
              </a:rPr>
              <a:t>关</a:t>
            </a:r>
            <a:r>
              <a:rPr dirty="0" baseline="-10416" sz="2400" spc="-1770">
                <a:latin typeface="SimSun"/>
                <a:cs typeface="SimSun"/>
              </a:rPr>
              <a:t>称</a:t>
            </a:r>
            <a:r>
              <a:rPr dirty="0" sz="1400" spc="-95">
                <a:latin typeface="Microsoft YaHei"/>
                <a:cs typeface="Microsoft YaHei"/>
              </a:rPr>
              <a:t>系”，右侧出现</a:t>
            </a:r>
            <a:r>
              <a:rPr dirty="0" baseline="-10416" sz="2400" spc="-1582">
                <a:latin typeface="SimSun"/>
                <a:cs typeface="SimSun"/>
              </a:rPr>
              <a:t>对</a:t>
            </a:r>
            <a:r>
              <a:rPr dirty="0" sz="1400" spc="-365">
                <a:latin typeface="Microsoft YaHei"/>
                <a:cs typeface="Microsoft YaHei"/>
              </a:rPr>
              <a:t>路</a:t>
            </a:r>
            <a:r>
              <a:rPr dirty="0" baseline="-10416" sz="2400" spc="-1889">
                <a:latin typeface="SimSun"/>
                <a:cs typeface="SimSun"/>
              </a:rPr>
              <a:t>应</a:t>
            </a:r>
            <a:r>
              <a:rPr dirty="0" sz="1400" spc="-160">
                <a:latin typeface="Microsoft YaHei"/>
                <a:cs typeface="Microsoft YaHei"/>
              </a:rPr>
              <a:t>由</a:t>
            </a:r>
            <a:r>
              <a:rPr dirty="0" baseline="-10416" sz="2400" spc="-2190">
                <a:latin typeface="SimSun"/>
                <a:cs typeface="SimSun"/>
              </a:rPr>
              <a:t>规</a:t>
            </a:r>
            <a:r>
              <a:rPr dirty="0" sz="1400" spc="-685">
                <a:latin typeface="Microsoft YaHei"/>
                <a:cs typeface="Microsoft YaHei"/>
              </a:rPr>
              <a:t>信息</a:t>
            </a:r>
            <a:r>
              <a:rPr dirty="0" baseline="-10416" sz="2400" spc="-390">
                <a:latin typeface="SimSun"/>
                <a:cs typeface="SimSun"/>
              </a:rPr>
              <a:t>划</a:t>
            </a:r>
            <a:r>
              <a:rPr dirty="0" sz="1400" spc="-1155">
                <a:latin typeface="Microsoft YaHei"/>
                <a:cs typeface="Microsoft YaHei"/>
              </a:rPr>
              <a:t>，</a:t>
            </a:r>
            <a:r>
              <a:rPr dirty="0" baseline="-10416" sz="2400" spc="-697">
                <a:latin typeface="SimSun"/>
                <a:cs typeface="SimSun"/>
              </a:rPr>
              <a:t>表</a:t>
            </a:r>
            <a:r>
              <a:rPr dirty="0" sz="1400" spc="-950">
                <a:latin typeface="Microsoft YaHei"/>
                <a:cs typeface="Microsoft YaHei"/>
              </a:rPr>
              <a:t>选</a:t>
            </a:r>
            <a:r>
              <a:rPr dirty="0" baseline="-10416" sz="2400" spc="-997">
                <a:latin typeface="SimSun"/>
                <a:cs typeface="SimSun"/>
              </a:rPr>
              <a:t>中</a:t>
            </a:r>
            <a:r>
              <a:rPr dirty="0" sz="1400" spc="-755">
                <a:latin typeface="Microsoft YaHei"/>
                <a:cs typeface="Microsoft YaHei"/>
              </a:rPr>
              <a:t>中</a:t>
            </a:r>
            <a:r>
              <a:rPr dirty="0" baseline="-10416" sz="2400" spc="-1305">
                <a:latin typeface="SimSun"/>
                <a:cs typeface="SimSun"/>
              </a:rPr>
              <a:t>名</a:t>
            </a:r>
            <a:r>
              <a:rPr dirty="0" sz="1400" spc="-550">
                <a:latin typeface="Microsoft YaHei"/>
                <a:cs typeface="Microsoft YaHei"/>
              </a:rPr>
              <a:t>要</a:t>
            </a:r>
            <a:r>
              <a:rPr dirty="0" baseline="-10416" sz="2400" spc="-1604">
                <a:latin typeface="SimSun"/>
                <a:cs typeface="SimSun"/>
              </a:rPr>
              <a:t>称</a:t>
            </a:r>
            <a:r>
              <a:rPr dirty="0" sz="1400" spc="-40">
                <a:latin typeface="Microsoft YaHei"/>
                <a:cs typeface="Microsoft YaHei"/>
              </a:rPr>
              <a:t>修改的右键，选中“修改路由</a:t>
            </a:r>
            <a:r>
              <a:rPr dirty="0" baseline="-10416" sz="2400" spc="-1950">
                <a:latin typeface="SimSun"/>
                <a:cs typeface="SimSun"/>
              </a:rPr>
              <a:t>备</a:t>
            </a:r>
            <a:r>
              <a:rPr dirty="0" sz="1400" spc="-114">
                <a:latin typeface="Microsoft YaHei"/>
                <a:cs typeface="Microsoft YaHei"/>
              </a:rPr>
              <a:t>关</a:t>
            </a:r>
            <a:r>
              <a:rPr dirty="0" baseline="-10416" sz="2400" spc="-2257">
                <a:latin typeface="SimSun"/>
                <a:cs typeface="SimSun"/>
              </a:rPr>
              <a:t>注</a:t>
            </a:r>
            <a:r>
              <a:rPr dirty="0" sz="1400" spc="-15">
                <a:latin typeface="Microsoft YaHei"/>
                <a:cs typeface="Microsoft YaHei"/>
              </a:rPr>
              <a:t>系”</a:t>
            </a:r>
            <a:endParaRPr sz="1400">
              <a:latin typeface="Microsoft YaHei"/>
              <a:cs typeface="Microsoft YaHei"/>
            </a:endParaRPr>
          </a:p>
          <a:p>
            <a:pPr>
              <a:lnSpc>
                <a:spcPts val="1305"/>
              </a:lnSpc>
            </a:pPr>
            <a:r>
              <a:rPr dirty="0" baseline="-7936" sz="2100" spc="-1695">
                <a:latin typeface="Microsoft YaHei"/>
                <a:cs typeface="Microsoft YaHei"/>
              </a:rPr>
              <a:t>“</a:t>
            </a:r>
            <a:r>
              <a:rPr dirty="0" baseline="-9920" sz="2100" spc="-2085">
                <a:latin typeface="Microsoft YaHei"/>
                <a:cs typeface="Microsoft YaHei"/>
              </a:rPr>
              <a:t>显</a:t>
            </a:r>
            <a:r>
              <a:rPr dirty="0" baseline="3968" sz="2100" spc="-1882">
                <a:latin typeface="Microsoft YaHei"/>
                <a:cs typeface="Microsoft YaHei"/>
              </a:rPr>
              <a:t>需</a:t>
            </a:r>
            <a:r>
              <a:rPr dirty="0" baseline="3086" sz="2700" spc="-2692">
                <a:latin typeface="SimSun"/>
                <a:cs typeface="SimSun"/>
              </a:rPr>
              <a:t>数</a:t>
            </a:r>
            <a:r>
              <a:rPr dirty="0" baseline="13888" sz="2100" spc="-1800">
                <a:latin typeface="Microsoft YaHei"/>
                <a:cs typeface="Microsoft YaHei"/>
              </a:rPr>
              <a:t>“</a:t>
            </a:r>
            <a:r>
              <a:rPr dirty="0" sz="1400" spc="-930">
                <a:latin typeface="Microsoft YaHei"/>
                <a:cs typeface="Microsoft YaHei"/>
              </a:rPr>
              <a:t>需</a:t>
            </a:r>
            <a:r>
              <a:rPr dirty="0" baseline="19097" sz="2400" spc="-2362">
                <a:latin typeface="SimSun"/>
                <a:cs typeface="SimSun"/>
              </a:rPr>
              <a:t>数</a:t>
            </a:r>
            <a:r>
              <a:rPr dirty="0" baseline="-9920" sz="2100" spc="-1837">
                <a:latin typeface="Microsoft YaHei"/>
                <a:cs typeface="Microsoft YaHei"/>
              </a:rPr>
              <a:t>区</a:t>
            </a:r>
            <a:r>
              <a:rPr dirty="0" baseline="-7936" sz="2100" spc="-1695">
                <a:latin typeface="Microsoft YaHei"/>
                <a:cs typeface="Microsoft YaHei"/>
              </a:rPr>
              <a:t>参</a:t>
            </a:r>
            <a:r>
              <a:rPr dirty="0" baseline="-9920" sz="2100" spc="-2085">
                <a:latin typeface="Microsoft YaHei"/>
                <a:cs typeface="Microsoft YaHei"/>
              </a:rPr>
              <a:t>示</a:t>
            </a:r>
            <a:r>
              <a:rPr dirty="0" baseline="3968" sz="2100" spc="-2077">
                <a:latin typeface="Microsoft YaHei"/>
                <a:cs typeface="Microsoft YaHei"/>
              </a:rPr>
              <a:t>要</a:t>
            </a:r>
            <a:r>
              <a:rPr dirty="0" baseline="1984" sz="2100" spc="-1050">
                <a:latin typeface="Microsoft YaHei"/>
                <a:cs typeface="Microsoft YaHei"/>
              </a:rPr>
              <a:t>5</a:t>
            </a:r>
            <a:r>
              <a:rPr dirty="0" baseline="13888" sz="2100" spc="-1800">
                <a:latin typeface="Microsoft YaHei"/>
                <a:cs typeface="Microsoft YaHei"/>
              </a:rPr>
              <a:t>操</a:t>
            </a:r>
            <a:r>
              <a:rPr dirty="0" sz="1400" spc="-1225">
                <a:latin typeface="Microsoft YaHei"/>
                <a:cs typeface="Microsoft YaHei"/>
              </a:rPr>
              <a:t>要</a:t>
            </a:r>
            <a:r>
              <a:rPr dirty="0" baseline="3086" sz="2700" spc="-2272">
                <a:latin typeface="SimSun"/>
                <a:cs typeface="SimSun"/>
              </a:rPr>
              <a:t>名</a:t>
            </a:r>
            <a:r>
              <a:rPr dirty="0" baseline="1984" sz="2100" spc="-1192">
                <a:latin typeface="Microsoft YaHei"/>
                <a:cs typeface="Microsoft YaHei"/>
              </a:rPr>
              <a:t>0</a:t>
            </a:r>
            <a:r>
              <a:rPr dirty="0" baseline="-9920" sz="2100" spc="-1852">
                <a:latin typeface="Microsoft YaHei"/>
                <a:cs typeface="Microsoft YaHei"/>
              </a:rPr>
              <a:t>参</a:t>
            </a:r>
            <a:r>
              <a:rPr dirty="0" baseline="19097" sz="2400" spc="-2392">
                <a:latin typeface="SimSun"/>
                <a:cs typeface="SimSun"/>
              </a:rPr>
              <a:t>名</a:t>
            </a:r>
            <a:r>
              <a:rPr dirty="0" baseline="-7936" sz="2100" spc="-1695">
                <a:latin typeface="Microsoft YaHei"/>
                <a:cs typeface="Microsoft YaHei"/>
              </a:rPr>
              <a:t>数</a:t>
            </a:r>
            <a:r>
              <a:rPr dirty="0" baseline="-9920" sz="2100" spc="-2085">
                <a:latin typeface="Microsoft YaHei"/>
                <a:cs typeface="Microsoft YaHei"/>
              </a:rPr>
              <a:t>网</a:t>
            </a:r>
            <a:r>
              <a:rPr dirty="0" baseline="3968" sz="2100" spc="-1875">
                <a:latin typeface="Microsoft YaHei"/>
                <a:cs typeface="Microsoft YaHei"/>
              </a:rPr>
              <a:t>修</a:t>
            </a:r>
            <a:r>
              <a:rPr dirty="0" baseline="13888" sz="2100" spc="-1950">
                <a:latin typeface="Microsoft YaHei"/>
                <a:cs typeface="Microsoft YaHei"/>
              </a:rPr>
              <a:t>作</a:t>
            </a:r>
            <a:r>
              <a:rPr dirty="0" baseline="1984" sz="2100" spc="-1102">
                <a:latin typeface="Microsoft YaHei"/>
                <a:cs typeface="Microsoft YaHei"/>
              </a:rPr>
              <a:t>0</a:t>
            </a:r>
            <a:r>
              <a:rPr dirty="0" sz="1400" spc="-900">
                <a:latin typeface="Microsoft YaHei"/>
                <a:cs typeface="Microsoft YaHei"/>
              </a:rPr>
              <a:t>修</a:t>
            </a:r>
            <a:r>
              <a:rPr dirty="0" baseline="-9920" sz="2100" spc="-2002">
                <a:latin typeface="Microsoft YaHei"/>
                <a:cs typeface="Microsoft YaHei"/>
              </a:rPr>
              <a:t>数</a:t>
            </a:r>
            <a:r>
              <a:rPr dirty="0" baseline="3086" sz="2700" spc="-2535">
                <a:latin typeface="SimSun"/>
                <a:cs typeface="SimSun"/>
              </a:rPr>
              <a:t>称</a:t>
            </a:r>
            <a:r>
              <a:rPr dirty="0" baseline="-7936" sz="2100" spc="-2100">
                <a:latin typeface="Microsoft YaHei"/>
                <a:cs typeface="Microsoft YaHei"/>
              </a:rPr>
              <a:t>名</a:t>
            </a:r>
            <a:r>
              <a:rPr dirty="0" baseline="1984" sz="2100" spc="-975">
                <a:latin typeface="Microsoft YaHei"/>
                <a:cs typeface="Microsoft YaHei"/>
              </a:rPr>
              <a:t>1</a:t>
            </a:r>
            <a:r>
              <a:rPr dirty="0" baseline="19097" sz="2400" spc="-2279">
                <a:latin typeface="SimSun"/>
                <a:cs typeface="SimSun"/>
              </a:rPr>
              <a:t>称</a:t>
            </a:r>
            <a:r>
              <a:rPr dirty="0" baseline="-9920" sz="2100" spc="-2085">
                <a:latin typeface="Microsoft YaHei"/>
                <a:cs typeface="Microsoft YaHei"/>
              </a:rPr>
              <a:t>络</a:t>
            </a:r>
            <a:r>
              <a:rPr dirty="0" baseline="3968" sz="2100" spc="-1875">
                <a:latin typeface="Microsoft YaHei"/>
                <a:cs typeface="Microsoft YaHei"/>
              </a:rPr>
              <a:t>改</a:t>
            </a:r>
            <a:r>
              <a:rPr dirty="0" baseline="13888" sz="2100" spc="-1800">
                <a:latin typeface="Microsoft YaHei"/>
                <a:cs typeface="Microsoft YaHei"/>
              </a:rPr>
              <a:t>维</a:t>
            </a:r>
            <a:r>
              <a:rPr dirty="0" sz="1400" spc="-1270">
                <a:latin typeface="Microsoft YaHei"/>
                <a:cs typeface="Microsoft YaHei"/>
              </a:rPr>
              <a:t>改</a:t>
            </a:r>
            <a:r>
              <a:rPr dirty="0" baseline="1984" sz="2100" spc="-697">
                <a:latin typeface="Microsoft YaHei"/>
                <a:cs typeface="Microsoft YaHei"/>
              </a:rPr>
              <a:t>7</a:t>
            </a:r>
            <a:r>
              <a:rPr dirty="0" baseline="-9920" sz="2100" spc="-1837">
                <a:latin typeface="Microsoft YaHei"/>
                <a:cs typeface="Microsoft YaHei"/>
              </a:rPr>
              <a:t>规</a:t>
            </a:r>
            <a:r>
              <a:rPr dirty="0" baseline="-7936" sz="2100" spc="-1725">
                <a:latin typeface="Microsoft YaHei"/>
                <a:cs typeface="Microsoft YaHei"/>
              </a:rPr>
              <a:t>称</a:t>
            </a:r>
            <a:r>
              <a:rPr dirty="0" baseline="1984" sz="2100" spc="-2085">
                <a:latin typeface="Microsoft YaHei"/>
                <a:cs typeface="Microsoft YaHei"/>
              </a:rPr>
              <a:t>”</a:t>
            </a:r>
            <a:r>
              <a:rPr dirty="0" baseline="-9920" sz="2100" spc="-2085">
                <a:latin typeface="Microsoft YaHei"/>
                <a:cs typeface="Microsoft YaHei"/>
              </a:rPr>
              <a:t>规</a:t>
            </a:r>
            <a:r>
              <a:rPr dirty="0" baseline="3968" sz="2100" spc="-1875">
                <a:latin typeface="Microsoft YaHei"/>
                <a:cs typeface="Microsoft YaHei"/>
              </a:rPr>
              <a:t>“</a:t>
            </a:r>
            <a:r>
              <a:rPr dirty="0" baseline="13888" sz="2100" spc="-1800">
                <a:latin typeface="Microsoft YaHei"/>
                <a:cs typeface="Microsoft YaHei"/>
              </a:rPr>
              <a:t>护</a:t>
            </a:r>
            <a:r>
              <a:rPr dirty="0" sz="1400" spc="-900">
                <a:latin typeface="Microsoft YaHei"/>
                <a:cs typeface="Microsoft YaHei"/>
              </a:rPr>
              <a:t>“</a:t>
            </a:r>
            <a:r>
              <a:rPr dirty="0" baseline="-9920" sz="2100" spc="-1837">
                <a:latin typeface="Microsoft YaHei"/>
                <a:cs typeface="Microsoft YaHei"/>
              </a:rPr>
              <a:t>划</a:t>
            </a:r>
            <a:r>
              <a:rPr dirty="0" baseline="-7936" sz="2100" spc="-1904">
                <a:latin typeface="Microsoft YaHei"/>
                <a:cs typeface="Microsoft YaHei"/>
              </a:rPr>
              <a:t>”</a:t>
            </a:r>
            <a:r>
              <a:rPr dirty="0" baseline="1984" sz="2100" spc="-1904">
                <a:latin typeface="Microsoft YaHei"/>
                <a:cs typeface="Microsoft YaHei"/>
              </a:rPr>
              <a:t>，</a:t>
            </a:r>
            <a:r>
              <a:rPr dirty="0" baseline="-9920" sz="2100" spc="-2085">
                <a:latin typeface="Microsoft YaHei"/>
                <a:cs typeface="Microsoft YaHei"/>
              </a:rPr>
              <a:t>划</a:t>
            </a:r>
            <a:r>
              <a:rPr dirty="0" baseline="3968" sz="2100" spc="-1875">
                <a:latin typeface="Microsoft YaHei"/>
                <a:cs typeface="Microsoft YaHei"/>
              </a:rPr>
              <a:t>参</a:t>
            </a:r>
            <a:r>
              <a:rPr dirty="0" baseline="13888" sz="2100" spc="-1800">
                <a:latin typeface="Microsoft YaHei"/>
                <a:cs typeface="Microsoft YaHei"/>
              </a:rPr>
              <a:t>链</a:t>
            </a:r>
            <a:r>
              <a:rPr dirty="0" sz="1400" spc="-900">
                <a:latin typeface="Microsoft YaHei"/>
                <a:cs typeface="Microsoft YaHei"/>
              </a:rPr>
              <a:t>参</a:t>
            </a:r>
            <a:r>
              <a:rPr dirty="0" baseline="-9920" sz="2100" spc="-1837">
                <a:latin typeface="Microsoft YaHei"/>
                <a:cs typeface="Microsoft YaHei"/>
              </a:rPr>
              <a:t>表</a:t>
            </a:r>
            <a:r>
              <a:rPr dirty="0" baseline="-7936" sz="2100" spc="-1904">
                <a:latin typeface="Microsoft YaHei"/>
                <a:cs typeface="Microsoft YaHei"/>
              </a:rPr>
              <a:t>—</a:t>
            </a:r>
            <a:r>
              <a:rPr dirty="0" baseline="1984" sz="2100" spc="-2085">
                <a:latin typeface="Microsoft YaHei"/>
                <a:cs typeface="Microsoft YaHei"/>
              </a:rPr>
              <a:t>右</a:t>
            </a:r>
            <a:r>
              <a:rPr dirty="0" baseline="-9920" sz="2100" spc="-2085">
                <a:latin typeface="Microsoft YaHei"/>
                <a:cs typeface="Microsoft YaHei"/>
              </a:rPr>
              <a:t>信</a:t>
            </a:r>
            <a:r>
              <a:rPr dirty="0" baseline="3968" sz="2100" spc="-1875">
                <a:latin typeface="Microsoft YaHei"/>
                <a:cs typeface="Microsoft YaHei"/>
              </a:rPr>
              <a:t>数</a:t>
            </a:r>
            <a:r>
              <a:rPr dirty="0" baseline="13888" sz="2100" spc="-1800">
                <a:latin typeface="Microsoft YaHei"/>
                <a:cs typeface="Microsoft YaHei"/>
              </a:rPr>
              <a:t>路</a:t>
            </a:r>
            <a:r>
              <a:rPr dirty="0" sz="1400" spc="-595">
                <a:latin typeface="Microsoft YaHei"/>
                <a:cs typeface="Microsoft YaHei"/>
              </a:rPr>
              <a:t>数</a:t>
            </a:r>
            <a:r>
              <a:rPr dirty="0" baseline="-7936" sz="2100" spc="-1889">
                <a:latin typeface="Microsoft YaHei"/>
                <a:cs typeface="Microsoft YaHei"/>
              </a:rPr>
              <a:t>“</a:t>
            </a:r>
            <a:r>
              <a:rPr dirty="0" baseline="1984" sz="2100" spc="-2092">
                <a:latin typeface="Microsoft YaHei"/>
                <a:cs typeface="Microsoft YaHei"/>
              </a:rPr>
              <a:t>键</a:t>
            </a:r>
            <a:r>
              <a:rPr dirty="0" baseline="-9920" sz="2100" spc="-2085">
                <a:latin typeface="Microsoft YaHei"/>
                <a:cs typeface="Microsoft YaHei"/>
              </a:rPr>
              <a:t>息</a:t>
            </a:r>
            <a:r>
              <a:rPr dirty="0" baseline="3968" sz="2100" spc="-1875">
                <a:latin typeface="Microsoft YaHei"/>
                <a:cs typeface="Microsoft YaHei"/>
              </a:rPr>
              <a:t>名</a:t>
            </a:r>
            <a:r>
              <a:rPr dirty="0" baseline="13888" sz="2100" spc="-1800">
                <a:latin typeface="Microsoft YaHei"/>
                <a:cs typeface="Microsoft YaHei"/>
              </a:rPr>
              <a:t>”</a:t>
            </a:r>
            <a:r>
              <a:rPr dirty="0" sz="1400" spc="-735">
                <a:latin typeface="Microsoft YaHei"/>
                <a:cs typeface="Microsoft YaHei"/>
              </a:rPr>
              <a:t>名</a:t>
            </a:r>
            <a:r>
              <a:rPr dirty="0" baseline="3086" sz="2700" spc="-2497">
                <a:latin typeface="SimSun"/>
                <a:cs typeface="SimSun"/>
              </a:rPr>
              <a:t>对</a:t>
            </a:r>
            <a:r>
              <a:rPr dirty="0" baseline="-7936" sz="2100" spc="-1889">
                <a:latin typeface="Microsoft YaHei"/>
                <a:cs typeface="Microsoft YaHei"/>
              </a:rPr>
              <a:t>参</a:t>
            </a:r>
            <a:r>
              <a:rPr dirty="0" baseline="1984" sz="2100" spc="-2092">
                <a:latin typeface="Microsoft YaHei"/>
                <a:cs typeface="Microsoft YaHei"/>
              </a:rPr>
              <a:t>，</a:t>
            </a:r>
            <a:r>
              <a:rPr dirty="0" baseline="-9920" sz="2100" spc="-2085">
                <a:latin typeface="Microsoft YaHei"/>
                <a:cs typeface="Microsoft YaHei"/>
              </a:rPr>
              <a:t>的</a:t>
            </a:r>
            <a:r>
              <a:rPr dirty="0" baseline="3968" sz="2100" spc="-1875">
                <a:latin typeface="Microsoft YaHei"/>
                <a:cs typeface="Microsoft YaHei"/>
              </a:rPr>
              <a:t>称</a:t>
            </a:r>
            <a:r>
              <a:rPr dirty="0" baseline="13888" sz="2100" spc="-1800">
                <a:latin typeface="Microsoft YaHei"/>
                <a:cs typeface="Microsoft YaHei"/>
              </a:rPr>
              <a:t>，</a:t>
            </a:r>
            <a:r>
              <a:rPr dirty="0" sz="1400" spc="-595">
                <a:latin typeface="Microsoft YaHei"/>
                <a:cs typeface="Microsoft YaHei"/>
              </a:rPr>
              <a:t>称</a:t>
            </a:r>
            <a:r>
              <a:rPr dirty="0" baseline="-7936" sz="2100" spc="-1889">
                <a:latin typeface="Microsoft YaHei"/>
                <a:cs typeface="Microsoft YaHei"/>
              </a:rPr>
              <a:t>数</a:t>
            </a:r>
            <a:r>
              <a:rPr dirty="0" baseline="1984" sz="2100" spc="-2092">
                <a:latin typeface="Microsoft YaHei"/>
                <a:cs typeface="Microsoft YaHei"/>
              </a:rPr>
              <a:t>点</a:t>
            </a:r>
            <a:r>
              <a:rPr dirty="0" baseline="-9920" sz="2100" spc="-2085">
                <a:latin typeface="Microsoft YaHei"/>
                <a:cs typeface="Microsoft YaHei"/>
              </a:rPr>
              <a:t>进</a:t>
            </a:r>
            <a:r>
              <a:rPr dirty="0" baseline="3968" sz="2100" spc="-2017">
                <a:latin typeface="Microsoft YaHei"/>
                <a:cs typeface="Microsoft YaHei"/>
              </a:rPr>
              <a:t>”</a:t>
            </a:r>
            <a:r>
              <a:rPr dirty="0" baseline="3086" sz="2700" spc="-2557">
                <a:latin typeface="SimSun"/>
                <a:cs typeface="SimSun"/>
              </a:rPr>
              <a:t>应</a:t>
            </a:r>
            <a:r>
              <a:rPr dirty="0" baseline="13888" sz="2100" spc="-1800">
                <a:latin typeface="Microsoft YaHei"/>
                <a:cs typeface="Microsoft YaHei"/>
              </a:rPr>
              <a:t>右</a:t>
            </a:r>
            <a:r>
              <a:rPr dirty="0" sz="1400" spc="-1375">
                <a:latin typeface="Microsoft YaHei"/>
                <a:cs typeface="Microsoft YaHei"/>
              </a:rPr>
              <a:t>”</a:t>
            </a:r>
            <a:r>
              <a:rPr dirty="0" baseline="19097" sz="2400" spc="-1237">
                <a:latin typeface="SimSun"/>
                <a:cs typeface="SimSun"/>
              </a:rPr>
              <a:t>对</a:t>
            </a:r>
            <a:r>
              <a:rPr dirty="0" baseline="-7936" sz="2100" spc="-1882">
                <a:latin typeface="Microsoft YaHei"/>
                <a:cs typeface="Microsoft YaHei"/>
              </a:rPr>
              <a:t>值</a:t>
            </a:r>
            <a:r>
              <a:rPr dirty="0" baseline="1984" sz="2100" spc="-2100">
                <a:latin typeface="Microsoft YaHei"/>
                <a:cs typeface="Microsoft YaHei"/>
              </a:rPr>
              <a:t>击</a:t>
            </a:r>
            <a:r>
              <a:rPr dirty="0" baseline="-9920" sz="2100" spc="-2085">
                <a:latin typeface="Microsoft YaHei"/>
                <a:cs typeface="Microsoft YaHei"/>
              </a:rPr>
              <a:t>度</a:t>
            </a:r>
            <a:r>
              <a:rPr dirty="0" baseline="3968" sz="2100" spc="-2054">
                <a:latin typeface="Microsoft YaHei"/>
                <a:cs typeface="Microsoft YaHei"/>
              </a:rPr>
              <a:t>—</a:t>
            </a:r>
            <a:r>
              <a:rPr dirty="0" baseline="13888" sz="2100" spc="-1800">
                <a:latin typeface="Microsoft YaHei"/>
                <a:cs typeface="Microsoft YaHei"/>
              </a:rPr>
              <a:t>侧</a:t>
            </a:r>
            <a:r>
              <a:rPr dirty="0" sz="1400" spc="-1315">
                <a:latin typeface="Microsoft YaHei"/>
                <a:cs typeface="Microsoft YaHei"/>
              </a:rPr>
              <a:t>后</a:t>
            </a:r>
            <a:r>
              <a:rPr dirty="0" baseline="3086" sz="2700" spc="-2475">
                <a:latin typeface="SimSun"/>
                <a:cs typeface="SimSun"/>
              </a:rPr>
              <a:t>规</a:t>
            </a:r>
            <a:r>
              <a:rPr dirty="0" baseline="19097" sz="2400" spc="-1552">
                <a:latin typeface="SimSun"/>
                <a:cs typeface="SimSun"/>
              </a:rPr>
              <a:t>应</a:t>
            </a:r>
            <a:r>
              <a:rPr dirty="0" baseline="-7936" sz="2100" spc="-1987">
                <a:latin typeface="Microsoft YaHei"/>
                <a:cs typeface="Microsoft YaHei"/>
              </a:rPr>
              <a:t>”</a:t>
            </a:r>
            <a:r>
              <a:rPr dirty="0" baseline="1984" sz="2100" spc="-1987">
                <a:latin typeface="Microsoft YaHei"/>
                <a:cs typeface="Microsoft YaHei"/>
              </a:rPr>
              <a:t>“</a:t>
            </a:r>
            <a:r>
              <a:rPr dirty="0" baseline="-9920" sz="2100" spc="-1920">
                <a:latin typeface="Microsoft YaHei"/>
                <a:cs typeface="Microsoft YaHei"/>
              </a:rPr>
              <a:t>条</a:t>
            </a:r>
            <a:r>
              <a:rPr dirty="0" baseline="3968" sz="2100" spc="-2039">
                <a:latin typeface="Microsoft YaHei"/>
                <a:cs typeface="Microsoft YaHei"/>
              </a:rPr>
              <a:t>“</a:t>
            </a:r>
            <a:r>
              <a:rPr dirty="0" baseline="13888" sz="2100" spc="-1800">
                <a:latin typeface="Microsoft YaHei"/>
                <a:cs typeface="Microsoft YaHei"/>
              </a:rPr>
              <a:t>出</a:t>
            </a:r>
            <a:r>
              <a:rPr dirty="0" sz="1400" spc="-960">
                <a:latin typeface="Microsoft YaHei"/>
                <a:cs typeface="Microsoft YaHei"/>
              </a:rPr>
              <a:t>的</a:t>
            </a:r>
            <a:r>
              <a:rPr dirty="0" baseline="19097" sz="2400" spc="-2340">
                <a:latin typeface="SimSun"/>
                <a:cs typeface="SimSun"/>
              </a:rPr>
              <a:t>规</a:t>
            </a:r>
            <a:r>
              <a:rPr dirty="0" baseline="3086" sz="2700" spc="-2220">
                <a:latin typeface="SimSun"/>
                <a:cs typeface="SimSun"/>
              </a:rPr>
              <a:t>划</a:t>
            </a:r>
            <a:r>
              <a:rPr dirty="0" baseline="-7936" sz="2100" spc="-1889">
                <a:latin typeface="Microsoft YaHei"/>
                <a:cs typeface="Microsoft YaHei"/>
              </a:rPr>
              <a:t>，</a:t>
            </a:r>
            <a:r>
              <a:rPr dirty="0" baseline="1984" sz="2100" spc="-2092">
                <a:latin typeface="Microsoft YaHei"/>
                <a:cs typeface="Microsoft YaHei"/>
              </a:rPr>
              <a:t>修</a:t>
            </a:r>
            <a:r>
              <a:rPr dirty="0" baseline="-9920" sz="2100" spc="-1912">
                <a:latin typeface="Microsoft YaHei"/>
                <a:cs typeface="Microsoft YaHei"/>
              </a:rPr>
              <a:t>，</a:t>
            </a:r>
            <a:r>
              <a:rPr dirty="0" baseline="3968" sz="2100" spc="-2047">
                <a:latin typeface="Microsoft YaHei"/>
                <a:cs typeface="Microsoft YaHei"/>
              </a:rPr>
              <a:t>参</a:t>
            </a:r>
            <a:r>
              <a:rPr dirty="0" baseline="13888" sz="2100" spc="-1800">
                <a:latin typeface="Microsoft YaHei"/>
                <a:cs typeface="Microsoft YaHei"/>
              </a:rPr>
              <a:t>现</a:t>
            </a:r>
            <a:r>
              <a:rPr dirty="0" sz="1400" spc="-750">
                <a:latin typeface="Microsoft YaHei"/>
                <a:cs typeface="Microsoft YaHei"/>
              </a:rPr>
              <a:t>“</a:t>
            </a:r>
            <a:r>
              <a:rPr dirty="0" baseline="19097" sz="2400" spc="-2175">
                <a:latin typeface="SimSun"/>
                <a:cs typeface="SimSun"/>
              </a:rPr>
              <a:t>划</a:t>
            </a:r>
            <a:r>
              <a:rPr dirty="0" baseline="-7936" sz="2100" spc="-1995">
                <a:latin typeface="Microsoft YaHei"/>
                <a:cs typeface="Microsoft YaHei"/>
              </a:rPr>
              <a:t>按</a:t>
            </a:r>
            <a:r>
              <a:rPr dirty="0" baseline="3086" sz="2700" spc="-2595">
                <a:latin typeface="SimSun"/>
                <a:cs typeface="SimSun"/>
              </a:rPr>
              <a:t>表</a:t>
            </a:r>
            <a:r>
              <a:rPr dirty="0" baseline="1984" sz="2100" spc="-2100">
                <a:latin typeface="Microsoft YaHei"/>
                <a:cs typeface="Microsoft YaHei"/>
              </a:rPr>
              <a:t>改</a:t>
            </a:r>
            <a:r>
              <a:rPr dirty="0" baseline="-9920" sz="2100" spc="-1912">
                <a:latin typeface="Microsoft YaHei"/>
                <a:cs typeface="Microsoft YaHei"/>
              </a:rPr>
              <a:t>此</a:t>
            </a:r>
            <a:r>
              <a:rPr dirty="0" baseline="3968" sz="2100" spc="-2047">
                <a:latin typeface="Microsoft YaHei"/>
                <a:cs typeface="Microsoft YaHei"/>
              </a:rPr>
              <a:t>数</a:t>
            </a:r>
            <a:r>
              <a:rPr dirty="0" baseline="13888" sz="2100" spc="-1800">
                <a:latin typeface="Microsoft YaHei"/>
                <a:cs typeface="Microsoft YaHei"/>
              </a:rPr>
              <a:t>链</a:t>
            </a:r>
            <a:r>
              <a:rPr dirty="0" sz="1400" spc="-595">
                <a:latin typeface="Microsoft YaHei"/>
                <a:cs typeface="Microsoft YaHei"/>
              </a:rPr>
              <a:t>参</a:t>
            </a:r>
            <a:r>
              <a:rPr dirty="0" baseline="-7936" sz="2100" spc="-2039">
                <a:latin typeface="Microsoft YaHei"/>
                <a:cs typeface="Microsoft YaHei"/>
              </a:rPr>
              <a:t>要</a:t>
            </a:r>
            <a:r>
              <a:rPr dirty="0" baseline="19097" sz="2400" spc="-2242">
                <a:latin typeface="SimSun"/>
                <a:cs typeface="SimSun"/>
              </a:rPr>
              <a:t>表</a:t>
            </a:r>
            <a:r>
              <a:rPr dirty="0" baseline="1984" sz="2100" spc="-2092">
                <a:latin typeface="Microsoft YaHei"/>
                <a:cs typeface="Microsoft YaHei"/>
              </a:rPr>
              <a:t>双</a:t>
            </a:r>
            <a:r>
              <a:rPr dirty="0" baseline="-9920" sz="2100" spc="-1920">
                <a:latin typeface="Microsoft YaHei"/>
                <a:cs typeface="Microsoft YaHei"/>
              </a:rPr>
              <a:t>处</a:t>
            </a:r>
            <a:r>
              <a:rPr dirty="0" baseline="3968" sz="2100" spc="-2039">
                <a:latin typeface="Microsoft YaHei"/>
                <a:cs typeface="Microsoft YaHei"/>
              </a:rPr>
              <a:t>值</a:t>
            </a:r>
            <a:r>
              <a:rPr dirty="0" baseline="13888" sz="2100" spc="-1927">
                <a:latin typeface="Microsoft YaHei"/>
                <a:cs typeface="Microsoft YaHei"/>
              </a:rPr>
              <a:t>路</a:t>
            </a:r>
            <a:r>
              <a:rPr dirty="0" baseline="3086" sz="2700" spc="-2579">
                <a:latin typeface="SimSun"/>
                <a:cs typeface="SimSun"/>
              </a:rPr>
              <a:t>中</a:t>
            </a:r>
            <a:r>
              <a:rPr dirty="0" sz="1400" spc="-595">
                <a:latin typeface="Microsoft YaHei"/>
                <a:cs typeface="Microsoft YaHei"/>
              </a:rPr>
              <a:t>数</a:t>
            </a:r>
            <a:r>
              <a:rPr dirty="0" baseline="-7936" sz="2100" spc="-1889">
                <a:latin typeface="Microsoft YaHei"/>
                <a:cs typeface="Microsoft YaHei"/>
              </a:rPr>
              <a:t>求</a:t>
            </a:r>
            <a:r>
              <a:rPr dirty="0" baseline="1984" sz="2100" spc="-2092">
                <a:latin typeface="Microsoft YaHei"/>
                <a:cs typeface="Microsoft YaHei"/>
              </a:rPr>
              <a:t>模</a:t>
            </a:r>
            <a:r>
              <a:rPr dirty="0" baseline="-9920" sz="2100" spc="-1995">
                <a:latin typeface="Microsoft YaHei"/>
                <a:cs typeface="Microsoft YaHei"/>
              </a:rPr>
              <a:t>用</a:t>
            </a:r>
            <a:r>
              <a:rPr dirty="0" baseline="19097" sz="2400" spc="-2325">
                <a:latin typeface="SimSun"/>
                <a:cs typeface="SimSun"/>
              </a:rPr>
              <a:t>中</a:t>
            </a:r>
            <a:r>
              <a:rPr dirty="0" baseline="3968" sz="2100" spc="-2047">
                <a:latin typeface="Microsoft YaHei"/>
                <a:cs typeface="Microsoft YaHei"/>
              </a:rPr>
              <a:t>”</a:t>
            </a:r>
            <a:r>
              <a:rPr dirty="0" baseline="13888" sz="2100" spc="-1800">
                <a:latin typeface="Microsoft YaHei"/>
                <a:cs typeface="Microsoft YaHei"/>
              </a:rPr>
              <a:t>信</a:t>
            </a:r>
            <a:r>
              <a:rPr dirty="0" sz="1400" spc="-1080">
                <a:latin typeface="Microsoft YaHei"/>
                <a:cs typeface="Microsoft YaHei"/>
              </a:rPr>
              <a:t>值</a:t>
            </a:r>
            <a:r>
              <a:rPr dirty="0" baseline="3086" sz="2700" spc="-1979">
                <a:latin typeface="SimSun"/>
                <a:cs typeface="SimSun"/>
              </a:rPr>
              <a:t>名</a:t>
            </a:r>
            <a:r>
              <a:rPr dirty="0" baseline="-7936" sz="2100" spc="-1882">
                <a:latin typeface="Microsoft YaHei"/>
                <a:cs typeface="Microsoft YaHei"/>
              </a:rPr>
              <a:t>修</a:t>
            </a:r>
            <a:r>
              <a:rPr dirty="0" baseline="1984" sz="2100" spc="-2100">
                <a:latin typeface="Microsoft YaHei"/>
                <a:cs typeface="Microsoft YaHei"/>
              </a:rPr>
              <a:t>基</a:t>
            </a:r>
            <a:r>
              <a:rPr dirty="0" baseline="-9920" sz="2100" spc="-1912">
                <a:latin typeface="Microsoft YaHei"/>
                <a:cs typeface="Microsoft YaHei"/>
              </a:rPr>
              <a:t>时</a:t>
            </a:r>
            <a:r>
              <a:rPr dirty="0" baseline="3968" sz="2100" spc="-2047">
                <a:latin typeface="Microsoft YaHei"/>
                <a:cs typeface="Microsoft YaHei"/>
              </a:rPr>
              <a:t>，</a:t>
            </a:r>
            <a:r>
              <a:rPr dirty="0" baseline="13888" sz="2100" spc="-1964">
                <a:latin typeface="Microsoft YaHei"/>
                <a:cs typeface="Microsoft YaHei"/>
              </a:rPr>
              <a:t>息</a:t>
            </a:r>
            <a:r>
              <a:rPr dirty="0" baseline="19097" sz="2400" spc="-2242">
                <a:latin typeface="SimSun"/>
                <a:cs typeface="SimSun"/>
              </a:rPr>
              <a:t>名</a:t>
            </a:r>
            <a:r>
              <a:rPr dirty="0" sz="1400" spc="-665">
                <a:latin typeface="Microsoft YaHei"/>
                <a:cs typeface="Microsoft YaHei"/>
              </a:rPr>
              <a:t>”</a:t>
            </a:r>
            <a:r>
              <a:rPr dirty="0" baseline="3086" sz="2700" spc="-2602">
                <a:latin typeface="SimSun"/>
                <a:cs typeface="SimSun"/>
              </a:rPr>
              <a:t>称</a:t>
            </a:r>
            <a:r>
              <a:rPr dirty="0" baseline="-7936" sz="2100" spc="-1882">
                <a:latin typeface="Microsoft YaHei"/>
                <a:cs typeface="Microsoft YaHei"/>
              </a:rPr>
              <a:t>改</a:t>
            </a:r>
            <a:r>
              <a:rPr dirty="0" baseline="1984" sz="2100" spc="-2092">
                <a:latin typeface="Microsoft YaHei"/>
                <a:cs typeface="Microsoft YaHei"/>
              </a:rPr>
              <a:t>站</a:t>
            </a:r>
            <a:r>
              <a:rPr dirty="0" baseline="-9920" sz="2100" spc="-1920">
                <a:latin typeface="Microsoft YaHei"/>
                <a:cs typeface="Microsoft YaHei"/>
              </a:rPr>
              <a:t>较</a:t>
            </a:r>
            <a:r>
              <a:rPr dirty="0" baseline="3968" sz="2100" spc="-1717">
                <a:latin typeface="Microsoft YaHei"/>
                <a:cs typeface="Microsoft YaHei"/>
              </a:rPr>
              <a:t>按</a:t>
            </a:r>
            <a:r>
              <a:rPr dirty="0" sz="1400" spc="-1315">
                <a:latin typeface="Microsoft YaHei"/>
                <a:cs typeface="Microsoft YaHei"/>
              </a:rPr>
              <a:t>，</a:t>
            </a:r>
            <a:r>
              <a:rPr dirty="0" baseline="19097" sz="2400" spc="-1327">
                <a:latin typeface="SimSun"/>
                <a:cs typeface="SimSun"/>
              </a:rPr>
              <a:t>称</a:t>
            </a:r>
            <a:r>
              <a:rPr dirty="0" baseline="-7936" sz="2100" spc="-1995">
                <a:latin typeface="Microsoft YaHei"/>
                <a:cs typeface="Microsoft YaHei"/>
              </a:rPr>
              <a:t>，</a:t>
            </a:r>
            <a:r>
              <a:rPr dirty="0" baseline="1984" sz="2100" spc="-1995">
                <a:latin typeface="Microsoft YaHei"/>
                <a:cs typeface="Microsoft YaHei"/>
              </a:rPr>
              <a:t>”</a:t>
            </a:r>
            <a:r>
              <a:rPr dirty="0" baseline="-9920" sz="2100" spc="-1912">
                <a:latin typeface="Microsoft YaHei"/>
                <a:cs typeface="Microsoft YaHei"/>
              </a:rPr>
              <a:t>长</a:t>
            </a:r>
            <a:r>
              <a:rPr dirty="0" baseline="3968" sz="2100" spc="-2047">
                <a:latin typeface="Microsoft YaHei"/>
                <a:cs typeface="Microsoft YaHei"/>
              </a:rPr>
              <a:t>要</a:t>
            </a:r>
            <a:r>
              <a:rPr dirty="0" baseline="13888" sz="2100" spc="-1800">
                <a:latin typeface="Microsoft YaHei"/>
                <a:cs typeface="Microsoft YaHei"/>
              </a:rPr>
              <a:t>选</a:t>
            </a:r>
            <a:r>
              <a:rPr dirty="0" sz="1400" spc="-595">
                <a:latin typeface="Microsoft YaHei"/>
                <a:cs typeface="Microsoft YaHei"/>
              </a:rPr>
              <a:t>按</a:t>
            </a:r>
            <a:r>
              <a:rPr dirty="0" baseline="-7936" sz="2100" spc="-1860">
                <a:latin typeface="Microsoft YaHei"/>
                <a:cs typeface="Microsoft YaHei"/>
              </a:rPr>
              <a:t>完</a:t>
            </a:r>
            <a:r>
              <a:rPr dirty="0" baseline="-9920" sz="2100" spc="-1912">
                <a:latin typeface="Microsoft YaHei"/>
                <a:cs typeface="Microsoft YaHei"/>
              </a:rPr>
              <a:t>，</a:t>
            </a:r>
            <a:r>
              <a:rPr dirty="0" baseline="3968" sz="2100" spc="-2047">
                <a:latin typeface="Microsoft YaHei"/>
                <a:cs typeface="Microsoft YaHei"/>
              </a:rPr>
              <a:t>求</a:t>
            </a:r>
            <a:r>
              <a:rPr dirty="0" baseline="13888" sz="2100" spc="-1800">
                <a:latin typeface="Microsoft YaHei"/>
                <a:cs typeface="Microsoft YaHei"/>
              </a:rPr>
              <a:t>中</a:t>
            </a:r>
            <a:r>
              <a:rPr dirty="0" sz="1400" spc="-595">
                <a:latin typeface="Microsoft YaHei"/>
                <a:cs typeface="Microsoft YaHei"/>
              </a:rPr>
              <a:t>要</a:t>
            </a:r>
            <a:r>
              <a:rPr dirty="0" baseline="-7936" sz="2100" spc="-1882">
                <a:latin typeface="Microsoft YaHei"/>
                <a:cs typeface="Microsoft YaHei"/>
              </a:rPr>
              <a:t>成</a:t>
            </a:r>
            <a:r>
              <a:rPr dirty="0" baseline="1984" sz="2100" spc="-2092">
                <a:latin typeface="Microsoft YaHei"/>
                <a:cs typeface="Microsoft YaHei"/>
              </a:rPr>
              <a:t>会</a:t>
            </a:r>
            <a:r>
              <a:rPr dirty="0" baseline="-9920" sz="2100" spc="-1920">
                <a:latin typeface="Microsoft YaHei"/>
                <a:cs typeface="Microsoft YaHei"/>
              </a:rPr>
              <a:t>约</a:t>
            </a:r>
            <a:r>
              <a:rPr dirty="0" baseline="3968" sz="2100" spc="-2039">
                <a:latin typeface="Microsoft YaHei"/>
                <a:cs typeface="Microsoft YaHei"/>
              </a:rPr>
              <a:t>修</a:t>
            </a:r>
            <a:r>
              <a:rPr dirty="0" baseline="13888" sz="2100" spc="-1800">
                <a:latin typeface="Microsoft YaHei"/>
                <a:cs typeface="Microsoft YaHei"/>
              </a:rPr>
              <a:t>右</a:t>
            </a:r>
            <a:r>
              <a:rPr dirty="0" sz="1400" spc="-595">
                <a:latin typeface="Microsoft YaHei"/>
                <a:cs typeface="Microsoft YaHei"/>
              </a:rPr>
              <a:t>求</a:t>
            </a:r>
            <a:r>
              <a:rPr dirty="0" baseline="-7936" sz="2100" spc="-1889">
                <a:latin typeface="Microsoft YaHei"/>
                <a:cs typeface="Microsoft YaHei"/>
              </a:rPr>
              <a:t>后</a:t>
            </a:r>
            <a:r>
              <a:rPr dirty="0" baseline="1984" sz="2100" spc="-2092">
                <a:latin typeface="Microsoft YaHei"/>
                <a:cs typeface="Microsoft YaHei"/>
              </a:rPr>
              <a:t>弹</a:t>
            </a:r>
            <a:r>
              <a:rPr dirty="0" baseline="-9920" sz="2100" spc="-1035">
                <a:latin typeface="Microsoft YaHei"/>
                <a:cs typeface="Microsoft YaHei"/>
              </a:rPr>
              <a:t>1</a:t>
            </a:r>
            <a:r>
              <a:rPr dirty="0" baseline="3968" sz="2100" spc="-2047">
                <a:latin typeface="Microsoft YaHei"/>
                <a:cs typeface="Microsoft YaHei"/>
              </a:rPr>
              <a:t>改</a:t>
            </a:r>
            <a:r>
              <a:rPr dirty="0" baseline="13888" sz="2100" spc="-1800">
                <a:latin typeface="Microsoft YaHei"/>
                <a:cs typeface="Microsoft YaHei"/>
              </a:rPr>
              <a:t>击</a:t>
            </a:r>
            <a:r>
              <a:rPr dirty="0" sz="1400" spc="-990">
                <a:latin typeface="Microsoft YaHei"/>
                <a:cs typeface="Microsoft YaHei"/>
              </a:rPr>
              <a:t>修</a:t>
            </a:r>
            <a:r>
              <a:rPr dirty="0" baseline="-9920" sz="2100" spc="-652">
                <a:latin typeface="Microsoft YaHei"/>
                <a:cs typeface="Microsoft YaHei"/>
              </a:rPr>
              <a:t>0</a:t>
            </a:r>
            <a:r>
              <a:rPr dirty="0" baseline="-7936" sz="2100" spc="-1882">
                <a:latin typeface="Microsoft YaHei"/>
                <a:cs typeface="Microsoft YaHei"/>
              </a:rPr>
              <a:t>点</a:t>
            </a:r>
            <a:r>
              <a:rPr dirty="0" baseline="1984" sz="2100" spc="-1889">
                <a:latin typeface="Microsoft YaHei"/>
                <a:cs typeface="Microsoft YaHei"/>
              </a:rPr>
              <a:t>出</a:t>
            </a:r>
            <a:r>
              <a:rPr dirty="0" baseline="3968" sz="2100" spc="-1957">
                <a:latin typeface="Microsoft YaHei"/>
                <a:cs typeface="Microsoft YaHei"/>
              </a:rPr>
              <a:t>，</a:t>
            </a:r>
            <a:r>
              <a:rPr dirty="0" baseline="-9920" sz="2100" spc="-1897">
                <a:latin typeface="Microsoft YaHei"/>
                <a:cs typeface="Microsoft YaHei"/>
              </a:rPr>
              <a:t>分</a:t>
            </a:r>
            <a:r>
              <a:rPr dirty="0" sz="1400" spc="-595">
                <a:latin typeface="Microsoft YaHei"/>
                <a:cs typeface="Microsoft YaHei"/>
              </a:rPr>
              <a:t>改</a:t>
            </a:r>
            <a:r>
              <a:rPr dirty="0" baseline="-7936" sz="2100" spc="-1882">
                <a:latin typeface="Microsoft YaHei"/>
                <a:cs typeface="Microsoft YaHei"/>
              </a:rPr>
              <a:t>“</a:t>
            </a:r>
            <a:r>
              <a:rPr dirty="0" baseline="1984" sz="2100" spc="-1889">
                <a:latin typeface="Microsoft YaHei"/>
                <a:cs typeface="Microsoft YaHei"/>
              </a:rPr>
              <a:t>窗</a:t>
            </a:r>
            <a:r>
              <a:rPr dirty="0" baseline="3968" sz="2100" spc="-2039">
                <a:latin typeface="Microsoft YaHei"/>
                <a:cs typeface="Microsoft YaHei"/>
              </a:rPr>
              <a:t>完</a:t>
            </a:r>
            <a:r>
              <a:rPr dirty="0" baseline="13888" sz="2100" spc="-2039">
                <a:latin typeface="Microsoft YaHei"/>
                <a:cs typeface="Microsoft YaHei"/>
              </a:rPr>
              <a:t>选</a:t>
            </a:r>
            <a:r>
              <a:rPr dirty="0" baseline="-9920" sz="2100" spc="-1882">
                <a:latin typeface="Microsoft YaHei"/>
                <a:cs typeface="Microsoft YaHei"/>
              </a:rPr>
              <a:t>钟</a:t>
            </a:r>
            <a:r>
              <a:rPr dirty="0" sz="1400" spc="-595">
                <a:latin typeface="Microsoft YaHei"/>
                <a:cs typeface="Microsoft YaHei"/>
              </a:rPr>
              <a:t>，</a:t>
            </a:r>
            <a:r>
              <a:rPr dirty="0" baseline="-7936" sz="2100" spc="-1889">
                <a:latin typeface="Microsoft YaHei"/>
                <a:cs typeface="Microsoft YaHei"/>
              </a:rPr>
              <a:t>确</a:t>
            </a:r>
            <a:r>
              <a:rPr dirty="0" baseline="1984" sz="2100" spc="-1882">
                <a:latin typeface="Microsoft YaHei"/>
                <a:cs typeface="Microsoft YaHei"/>
              </a:rPr>
              <a:t>口</a:t>
            </a:r>
            <a:r>
              <a:rPr dirty="0" baseline="3968" sz="2100" spc="-2047">
                <a:latin typeface="Microsoft YaHei"/>
                <a:cs typeface="Microsoft YaHei"/>
              </a:rPr>
              <a:t>成</a:t>
            </a:r>
            <a:r>
              <a:rPr dirty="0" baseline="13888" sz="2100" spc="-2032">
                <a:latin typeface="Microsoft YaHei"/>
                <a:cs typeface="Microsoft YaHei"/>
              </a:rPr>
              <a:t>择</a:t>
            </a:r>
            <a:r>
              <a:rPr dirty="0" baseline="-9920" sz="2100" spc="-1897">
                <a:latin typeface="Microsoft YaHei"/>
                <a:cs typeface="Microsoft YaHei"/>
              </a:rPr>
              <a:t>左</a:t>
            </a:r>
            <a:r>
              <a:rPr dirty="0" sz="1400" spc="-595">
                <a:latin typeface="Microsoft YaHei"/>
                <a:cs typeface="Microsoft YaHei"/>
              </a:rPr>
              <a:t>完</a:t>
            </a:r>
            <a:r>
              <a:rPr dirty="0" baseline="-7936" sz="2100" spc="-1882">
                <a:latin typeface="Microsoft YaHei"/>
                <a:cs typeface="Microsoft YaHei"/>
              </a:rPr>
              <a:t>定</a:t>
            </a:r>
            <a:r>
              <a:rPr dirty="0" baseline="1984" sz="2100" spc="-1889">
                <a:latin typeface="Microsoft YaHei"/>
                <a:cs typeface="Microsoft YaHei"/>
              </a:rPr>
              <a:t>信</a:t>
            </a:r>
            <a:r>
              <a:rPr dirty="0" baseline="3968" sz="2100" spc="-2047">
                <a:latin typeface="Microsoft YaHei"/>
                <a:cs typeface="Microsoft YaHei"/>
              </a:rPr>
              <a:t>后</a:t>
            </a:r>
            <a:r>
              <a:rPr dirty="0" baseline="13888" sz="2100" spc="-2032">
                <a:latin typeface="Microsoft YaHei"/>
                <a:cs typeface="Microsoft YaHei"/>
              </a:rPr>
              <a:t>“</a:t>
            </a:r>
            <a:r>
              <a:rPr dirty="0" baseline="-9920" sz="2100" spc="-1897">
                <a:latin typeface="Microsoft YaHei"/>
                <a:cs typeface="Microsoft YaHei"/>
              </a:rPr>
              <a:t>右</a:t>
            </a:r>
            <a:r>
              <a:rPr dirty="0" sz="1400" spc="-595">
                <a:latin typeface="Microsoft YaHei"/>
                <a:cs typeface="Microsoft YaHei"/>
              </a:rPr>
              <a:t>成</a:t>
            </a:r>
            <a:r>
              <a:rPr dirty="0" baseline="-7936" sz="2100" spc="-1882">
                <a:latin typeface="Microsoft YaHei"/>
                <a:cs typeface="Microsoft YaHei"/>
              </a:rPr>
              <a:t>”</a:t>
            </a:r>
            <a:r>
              <a:rPr dirty="0" baseline="1984" sz="2100" spc="-1889">
                <a:latin typeface="Microsoft YaHei"/>
                <a:cs typeface="Microsoft YaHei"/>
              </a:rPr>
              <a:t>息</a:t>
            </a:r>
            <a:r>
              <a:rPr dirty="0" baseline="3968" sz="2100" spc="-2039">
                <a:latin typeface="Microsoft YaHei"/>
                <a:cs typeface="Microsoft YaHei"/>
              </a:rPr>
              <a:t>点</a:t>
            </a:r>
            <a:r>
              <a:rPr dirty="0" baseline="13888" sz="2100" spc="-2039">
                <a:latin typeface="Microsoft YaHei"/>
                <a:cs typeface="Microsoft YaHei"/>
              </a:rPr>
              <a:t>修</a:t>
            </a:r>
            <a:r>
              <a:rPr dirty="0" baseline="-9920" sz="2100" spc="-1882">
                <a:latin typeface="Microsoft YaHei"/>
                <a:cs typeface="Microsoft YaHei"/>
              </a:rPr>
              <a:t>。</a:t>
            </a:r>
            <a:r>
              <a:rPr dirty="0" sz="1400" spc="-440">
                <a:latin typeface="Microsoft YaHei"/>
                <a:cs typeface="Microsoft YaHei"/>
              </a:rPr>
              <a:t>后</a:t>
            </a:r>
            <a:r>
              <a:rPr dirty="0" baseline="1984" sz="2100" spc="-1964">
                <a:latin typeface="Microsoft YaHei"/>
                <a:cs typeface="Microsoft YaHei"/>
              </a:rPr>
              <a:t>；</a:t>
            </a:r>
            <a:r>
              <a:rPr dirty="0" baseline="3968" sz="2100" spc="-1964">
                <a:latin typeface="Microsoft YaHei"/>
                <a:cs typeface="Microsoft YaHei"/>
              </a:rPr>
              <a:t>“</a:t>
            </a:r>
            <a:r>
              <a:rPr dirty="0" baseline="13888" sz="2100" spc="-1800">
                <a:latin typeface="Microsoft YaHei"/>
                <a:cs typeface="Microsoft YaHei"/>
              </a:rPr>
              <a:t>改</a:t>
            </a:r>
            <a:r>
              <a:rPr dirty="0" sz="1400" spc="-280">
                <a:latin typeface="Microsoft YaHei"/>
                <a:cs typeface="Microsoft YaHei"/>
              </a:rPr>
              <a:t>点</a:t>
            </a:r>
            <a:r>
              <a:rPr dirty="0" baseline="3968" sz="2100" spc="-2047">
                <a:latin typeface="Microsoft YaHei"/>
                <a:cs typeface="Microsoft YaHei"/>
              </a:rPr>
              <a:t>确</a:t>
            </a:r>
            <a:r>
              <a:rPr dirty="0" baseline="13888" sz="2100" spc="-1800">
                <a:latin typeface="Microsoft YaHei"/>
                <a:cs typeface="Microsoft YaHei"/>
              </a:rPr>
              <a:t>操</a:t>
            </a:r>
            <a:r>
              <a:rPr dirty="0" sz="1400" spc="-280">
                <a:latin typeface="Microsoft YaHei"/>
                <a:cs typeface="Microsoft YaHei"/>
              </a:rPr>
              <a:t>“</a:t>
            </a:r>
            <a:r>
              <a:rPr dirty="0" baseline="3968" sz="2100" spc="-2039">
                <a:latin typeface="Microsoft YaHei"/>
                <a:cs typeface="Microsoft YaHei"/>
              </a:rPr>
              <a:t>定</a:t>
            </a:r>
            <a:r>
              <a:rPr dirty="0" baseline="13888" sz="2100" spc="-1800">
                <a:latin typeface="Microsoft YaHei"/>
                <a:cs typeface="Microsoft YaHei"/>
              </a:rPr>
              <a:t>作</a:t>
            </a:r>
            <a:r>
              <a:rPr dirty="0" sz="1400" spc="-280">
                <a:latin typeface="Microsoft YaHei"/>
                <a:cs typeface="Microsoft YaHei"/>
              </a:rPr>
              <a:t>确</a:t>
            </a:r>
            <a:r>
              <a:rPr dirty="0" baseline="3968" sz="2100" spc="-2047">
                <a:latin typeface="Microsoft YaHei"/>
                <a:cs typeface="Microsoft YaHei"/>
              </a:rPr>
              <a:t>”</a:t>
            </a:r>
            <a:r>
              <a:rPr dirty="0" baseline="13888" sz="2100" spc="-1800">
                <a:latin typeface="Microsoft YaHei"/>
                <a:cs typeface="Microsoft YaHei"/>
              </a:rPr>
              <a:t>维</a:t>
            </a:r>
            <a:r>
              <a:rPr dirty="0" sz="1400" spc="-940">
                <a:latin typeface="Microsoft YaHei"/>
                <a:cs typeface="Microsoft YaHei"/>
              </a:rPr>
              <a:t>定</a:t>
            </a:r>
            <a:r>
              <a:rPr dirty="0" baseline="3086" sz="2700" spc="-2047">
                <a:latin typeface="SimSun"/>
                <a:cs typeface="SimSun"/>
              </a:rPr>
              <a:t>备</a:t>
            </a:r>
            <a:r>
              <a:rPr dirty="0" baseline="19097" sz="2400" spc="-2002">
                <a:latin typeface="SimSun"/>
                <a:cs typeface="SimSun"/>
              </a:rPr>
              <a:t>备</a:t>
            </a:r>
            <a:r>
              <a:rPr dirty="0" baseline="13888" sz="2100" spc="-1800">
                <a:latin typeface="Microsoft YaHei"/>
                <a:cs typeface="Microsoft YaHei"/>
              </a:rPr>
              <a:t>护</a:t>
            </a:r>
            <a:r>
              <a:rPr dirty="0" sz="1400" spc="-530">
                <a:latin typeface="Microsoft YaHei"/>
                <a:cs typeface="Microsoft YaHei"/>
              </a:rPr>
              <a:t>”</a:t>
            </a:r>
            <a:r>
              <a:rPr dirty="0" baseline="3086" sz="2700" spc="-2340">
                <a:latin typeface="SimSun"/>
                <a:cs typeface="SimSun"/>
              </a:rPr>
              <a:t>注</a:t>
            </a:r>
            <a:r>
              <a:rPr dirty="0" baseline="19097" sz="2400" spc="-2310">
                <a:latin typeface="SimSun"/>
                <a:cs typeface="SimSun"/>
              </a:rPr>
              <a:t>注</a:t>
            </a:r>
            <a:r>
              <a:rPr dirty="0" baseline="13888" sz="2100" spc="-52">
                <a:latin typeface="Microsoft YaHei"/>
                <a:cs typeface="Microsoft YaHei"/>
              </a:rPr>
              <a:t>链路”</a:t>
            </a:r>
            <a:endParaRPr baseline="13888" sz="2100">
              <a:latin typeface="Microsoft YaHei"/>
              <a:cs typeface="Microsoft YaHei"/>
            </a:endParaRPr>
          </a:p>
          <a:p>
            <a:pPr marL="156210">
              <a:lnSpc>
                <a:spcPts val="1155"/>
              </a:lnSpc>
            </a:pPr>
            <a:r>
              <a:rPr dirty="0" sz="1400" spc="-315">
                <a:latin typeface="Microsoft YaHei"/>
                <a:cs typeface="Microsoft YaHei"/>
              </a:rPr>
              <a:t>要</a:t>
            </a:r>
            <a:r>
              <a:rPr dirty="0" baseline="-5208" sz="2400" spc="-1957">
                <a:latin typeface="SimSun"/>
                <a:cs typeface="SimSun"/>
              </a:rPr>
              <a:t>路</a:t>
            </a:r>
            <a:r>
              <a:rPr dirty="0" sz="1400" spc="-120">
                <a:latin typeface="Microsoft YaHei"/>
                <a:cs typeface="Microsoft YaHei"/>
              </a:rPr>
              <a:t>修</a:t>
            </a:r>
            <a:r>
              <a:rPr dirty="0" baseline="-5208" sz="2400" spc="-2265">
                <a:latin typeface="SimSun"/>
                <a:cs typeface="SimSun"/>
              </a:rPr>
              <a:t>工</a:t>
            </a:r>
            <a:r>
              <a:rPr dirty="0" sz="1400" spc="-670">
                <a:latin typeface="Microsoft YaHei"/>
                <a:cs typeface="Microsoft YaHei"/>
              </a:rPr>
              <a:t>改“</a:t>
            </a:r>
            <a:r>
              <a:rPr dirty="0" baseline="-5208" sz="2400" spc="-465">
                <a:latin typeface="SimSun"/>
                <a:cs typeface="SimSun"/>
              </a:rPr>
              <a:t>作</a:t>
            </a:r>
            <a:r>
              <a:rPr dirty="0" sz="1400" spc="-1110">
                <a:latin typeface="Microsoft YaHei"/>
                <a:cs typeface="Microsoft YaHei"/>
              </a:rPr>
              <a:t>参</a:t>
            </a:r>
            <a:r>
              <a:rPr dirty="0" baseline="-5208" sz="2400" spc="-772">
                <a:latin typeface="SimSun"/>
                <a:cs typeface="SimSun"/>
              </a:rPr>
              <a:t>模</a:t>
            </a:r>
            <a:r>
              <a:rPr dirty="0" sz="1400" spc="-905">
                <a:latin typeface="Microsoft YaHei"/>
                <a:cs typeface="Microsoft YaHei"/>
              </a:rPr>
              <a:t>数</a:t>
            </a:r>
            <a:r>
              <a:rPr dirty="0" baseline="-5208" sz="2400" spc="-1072">
                <a:latin typeface="SimSun"/>
                <a:cs typeface="SimSun"/>
              </a:rPr>
              <a:t>式</a:t>
            </a:r>
            <a:r>
              <a:rPr dirty="0" sz="1400" spc="-105">
                <a:latin typeface="Microsoft YaHei"/>
                <a:cs typeface="Microsoft YaHei"/>
              </a:rPr>
              <a:t>名称”—“参数值</a:t>
            </a:r>
            <a:r>
              <a:rPr dirty="0" baseline="-5208" sz="2400" spc="-1417">
                <a:latin typeface="SimSun"/>
                <a:cs typeface="SimSun"/>
              </a:rPr>
              <a:t>无</a:t>
            </a:r>
            <a:r>
              <a:rPr dirty="0" sz="1400" spc="-30">
                <a:latin typeface="Microsoft YaHei"/>
                <a:cs typeface="Microsoft YaHei"/>
              </a:rPr>
              <a:t>”，按要求修改，完成后点“确</a:t>
            </a:r>
            <a:r>
              <a:rPr dirty="0" baseline="-5208" sz="2400" spc="-2287">
                <a:latin typeface="SimSun"/>
                <a:cs typeface="SimSun"/>
              </a:rPr>
              <a:t>客</a:t>
            </a:r>
            <a:r>
              <a:rPr dirty="0" sz="1400" spc="-655">
                <a:latin typeface="Microsoft YaHei"/>
                <a:cs typeface="Microsoft YaHei"/>
              </a:rPr>
              <a:t>定”</a:t>
            </a:r>
            <a:r>
              <a:rPr dirty="0" baseline="-5208" sz="2400" spc="-157">
                <a:latin typeface="SimSun"/>
                <a:cs typeface="SimSun"/>
              </a:rPr>
              <a:t>户端 </a:t>
            </a:r>
            <a:r>
              <a:rPr dirty="0" baseline="-5208" sz="2400" spc="44">
                <a:latin typeface="Arial MT"/>
                <a:cs typeface="Arial MT"/>
              </a:rPr>
              <a:t>/ </a:t>
            </a:r>
            <a:r>
              <a:rPr dirty="0" baseline="-5208" sz="2400" spc="-30">
                <a:latin typeface="SimSun"/>
                <a:cs typeface="SimSun"/>
              </a:rPr>
              <a:t>服务器</a:t>
            </a:r>
            <a:endParaRPr baseline="-5208" sz="2400">
              <a:latin typeface="SimSun"/>
              <a:cs typeface="SimSun"/>
            </a:endParaRPr>
          </a:p>
          <a:p>
            <a:pPr marL="3696970" marR="2210435" indent="94615">
              <a:lnSpc>
                <a:spcPct val="16600"/>
              </a:lnSpc>
              <a:spcBef>
                <a:spcPts val="1340"/>
              </a:spcBef>
            </a:pPr>
            <a:r>
              <a:rPr dirty="0" sz="1400" spc="-35">
                <a:latin typeface="Microsoft YaHei"/>
                <a:cs typeface="Microsoft YaHei"/>
              </a:rPr>
              <a:t>数据</a:t>
            </a:r>
            <a:r>
              <a:rPr dirty="0" sz="1400" spc="500">
                <a:latin typeface="Microsoft YaHei"/>
                <a:cs typeface="Microsoft YaHei"/>
              </a:rPr>
              <a:t>  </a:t>
            </a:r>
            <a:r>
              <a:rPr dirty="0" baseline="-11904" sz="2100" spc="-1200">
                <a:latin typeface="Microsoft YaHei"/>
                <a:cs typeface="Microsoft YaHei"/>
              </a:rPr>
              <a:t>职</a:t>
            </a:r>
            <a:r>
              <a:rPr dirty="0" sz="1400" spc="-750">
                <a:latin typeface="Microsoft YaHei"/>
                <a:cs typeface="Microsoft YaHei"/>
              </a:rPr>
              <a:t>数</a:t>
            </a:r>
            <a:r>
              <a:rPr dirty="0" baseline="-22569" sz="2400" spc="-2227">
                <a:latin typeface="SimSun"/>
                <a:cs typeface="SimSun"/>
              </a:rPr>
              <a:t>划</a:t>
            </a:r>
            <a:r>
              <a:rPr dirty="0" baseline="-11904" sz="2100" spc="-1207">
                <a:latin typeface="Microsoft YaHei"/>
                <a:cs typeface="Microsoft YaHei"/>
              </a:rPr>
              <a:t>业</a:t>
            </a:r>
            <a:r>
              <a:rPr dirty="0" sz="1400" spc="-30">
                <a:latin typeface="Microsoft YaHei"/>
                <a:cs typeface="Microsoft YaHei"/>
              </a:rPr>
              <a:t>据修</a:t>
            </a:r>
            <a:endParaRPr sz="1400">
              <a:latin typeface="Microsoft YaHei"/>
              <a:cs typeface="Microsoft YaHei"/>
            </a:endParaRPr>
          </a:p>
          <a:p>
            <a:pPr algn="r" marR="2348865">
              <a:lnSpc>
                <a:spcPts val="1505"/>
              </a:lnSpc>
            </a:pPr>
            <a:r>
              <a:rPr dirty="0" sz="1600" spc="-50">
                <a:latin typeface="SimSun"/>
                <a:cs typeface="SimSun"/>
              </a:rPr>
              <a:t>的</a:t>
            </a:r>
            <a:endParaRPr sz="1600">
              <a:latin typeface="SimSun"/>
              <a:cs typeface="SimSun"/>
            </a:endParaRPr>
          </a:p>
          <a:p>
            <a:pPr marL="3901440">
              <a:lnSpc>
                <a:spcPct val="100000"/>
              </a:lnSpc>
              <a:spcBef>
                <a:spcPts val="120"/>
              </a:spcBef>
            </a:pPr>
            <a:r>
              <a:rPr dirty="0" sz="1600">
                <a:latin typeface="Arial MT"/>
                <a:cs typeface="Arial MT"/>
              </a:rPr>
              <a:t>B</a:t>
            </a:r>
            <a:r>
              <a:rPr dirty="0" sz="1600" spc="-15">
                <a:latin typeface="Arial MT"/>
                <a:cs typeface="Arial MT"/>
              </a:rPr>
              <a:t> </a:t>
            </a:r>
            <a:r>
              <a:rPr dirty="0" sz="1600" spc="-50">
                <a:latin typeface="Arial MT"/>
                <a:cs typeface="Arial MT"/>
              </a:rPr>
              <a:t>I</a:t>
            </a:r>
            <a:endParaRPr sz="1600">
              <a:latin typeface="Arial MT"/>
              <a:cs typeface="Arial MT"/>
            </a:endParaRPr>
          </a:p>
          <a:p>
            <a:pPr marL="3966845">
              <a:lnSpc>
                <a:spcPct val="100000"/>
              </a:lnSpc>
              <a:spcBef>
                <a:spcPts val="1265"/>
              </a:spcBef>
            </a:pPr>
            <a:r>
              <a:rPr dirty="0" sz="1600" spc="-50">
                <a:latin typeface="SimSun"/>
                <a:cs typeface="SimSun"/>
              </a:rPr>
              <a:t>划</a:t>
            </a:r>
            <a:endParaRPr sz="1600">
              <a:latin typeface="SimSun"/>
              <a:cs typeface="SimSun"/>
            </a:endParaRPr>
          </a:p>
          <a:p>
            <a:pPr algn="r" marR="2410460">
              <a:lnSpc>
                <a:spcPts val="1755"/>
              </a:lnSpc>
              <a:spcBef>
                <a:spcPts val="1714"/>
              </a:spcBef>
            </a:pPr>
            <a:r>
              <a:rPr dirty="0" sz="1600" spc="-590">
                <a:latin typeface="SimSun"/>
                <a:cs typeface="SimSun"/>
              </a:rPr>
              <a:t>前包</a:t>
            </a:r>
            <a:endParaRPr sz="1600">
              <a:latin typeface="SimSun"/>
              <a:cs typeface="SimSun"/>
            </a:endParaRPr>
          </a:p>
          <a:p>
            <a:pPr marL="3830954">
              <a:lnSpc>
                <a:spcPts val="1755"/>
              </a:lnSpc>
            </a:pPr>
            <a:r>
              <a:rPr dirty="0" sz="1600">
                <a:latin typeface="Arial MT"/>
                <a:cs typeface="Arial MT"/>
              </a:rPr>
              <a:t>C</a:t>
            </a:r>
            <a:r>
              <a:rPr dirty="0" sz="1600" spc="-50">
                <a:latin typeface="SimSun"/>
                <a:cs typeface="SimSun"/>
              </a:rPr>
              <a:t>侧</a:t>
            </a:r>
            <a:endParaRPr sz="1600">
              <a:latin typeface="SimSun"/>
              <a:cs typeface="SimSun"/>
            </a:endParaRPr>
          </a:p>
          <a:p>
            <a:pPr marL="3845560" marR="2348865" indent="100965">
              <a:lnSpc>
                <a:spcPct val="150000"/>
              </a:lnSpc>
              <a:spcBef>
                <a:spcPts val="900"/>
              </a:spcBef>
            </a:pPr>
            <a:r>
              <a:rPr dirty="0" sz="1600" spc="-910">
                <a:latin typeface="Arial MT"/>
                <a:cs typeface="Arial MT"/>
              </a:rPr>
              <a:t>B</a:t>
            </a:r>
            <a:r>
              <a:rPr dirty="0" baseline="-12152" sz="2400" spc="-75">
                <a:latin typeface="SimSun"/>
                <a:cs typeface="SimSun"/>
              </a:rPr>
              <a:t>网</a:t>
            </a:r>
            <a:r>
              <a:rPr dirty="0" sz="1600" spc="-50">
                <a:latin typeface="SimSun"/>
                <a:cs typeface="SimSun"/>
              </a:rPr>
              <a:t>出</a:t>
            </a:r>
            <a:endParaRPr sz="1600">
              <a:latin typeface="SimSun"/>
              <a:cs typeface="SimSun"/>
            </a:endParaRPr>
          </a:p>
          <a:p>
            <a:pPr marL="3966845">
              <a:lnSpc>
                <a:spcPts val="1520"/>
              </a:lnSpc>
            </a:pPr>
            <a:r>
              <a:rPr dirty="0" sz="1600" spc="-50">
                <a:latin typeface="SimSun"/>
                <a:cs typeface="SimSun"/>
              </a:rPr>
              <a:t>管</a:t>
            </a:r>
            <a:endParaRPr sz="1600">
              <a:latin typeface="SimSun"/>
              <a:cs typeface="SimSun"/>
            </a:endParaRPr>
          </a:p>
        </p:txBody>
      </p:sp>
      <p:grpSp>
        <p:nvGrpSpPr>
          <p:cNvPr id="130" name="object 130" descr=""/>
          <p:cNvGrpSpPr/>
          <p:nvPr/>
        </p:nvGrpSpPr>
        <p:grpSpPr>
          <a:xfrm>
            <a:off x="213047" y="852596"/>
            <a:ext cx="8763000" cy="4061460"/>
            <a:chOff x="213047" y="852596"/>
            <a:chExt cx="8763000" cy="4061460"/>
          </a:xfrm>
        </p:grpSpPr>
        <p:sp>
          <p:nvSpPr>
            <p:cNvPr id="131" name="object 131" descr=""/>
            <p:cNvSpPr/>
            <p:nvPr/>
          </p:nvSpPr>
          <p:spPr>
            <a:xfrm>
              <a:off x="4725233" y="3383596"/>
              <a:ext cx="384810" cy="271780"/>
            </a:xfrm>
            <a:custGeom>
              <a:avLst/>
              <a:gdLst/>
              <a:ahLst/>
              <a:cxnLst/>
              <a:rect l="l" t="t" r="r" b="b"/>
              <a:pathLst>
                <a:path w="384810" h="271779">
                  <a:moveTo>
                    <a:pt x="248780" y="0"/>
                  </a:moveTo>
                  <a:lnTo>
                    <a:pt x="248780" y="67792"/>
                  </a:lnTo>
                  <a:lnTo>
                    <a:pt x="0" y="67792"/>
                  </a:lnTo>
                  <a:lnTo>
                    <a:pt x="0" y="203365"/>
                  </a:lnTo>
                  <a:lnTo>
                    <a:pt x="248780" y="203365"/>
                  </a:lnTo>
                  <a:lnTo>
                    <a:pt x="248780" y="271157"/>
                  </a:lnTo>
                  <a:lnTo>
                    <a:pt x="384352" y="135585"/>
                  </a:lnTo>
                  <a:lnTo>
                    <a:pt x="248780" y="0"/>
                  </a:lnTo>
                  <a:close/>
                </a:path>
              </a:pathLst>
            </a:custGeom>
            <a:solidFill>
              <a:srgbClr val="BBE0E3"/>
            </a:solidFill>
          </p:spPr>
          <p:txBody>
            <a:bodyPr wrap="square" lIns="0" tIns="0" rIns="0" bIns="0" rtlCol="0"/>
            <a:lstStyle/>
            <a:p/>
          </p:txBody>
        </p:sp>
        <p:sp>
          <p:nvSpPr>
            <p:cNvPr id="132" name="object 132" descr=""/>
            <p:cNvSpPr/>
            <p:nvPr/>
          </p:nvSpPr>
          <p:spPr>
            <a:xfrm>
              <a:off x="4725233" y="3383596"/>
              <a:ext cx="384810" cy="271780"/>
            </a:xfrm>
            <a:custGeom>
              <a:avLst/>
              <a:gdLst/>
              <a:ahLst/>
              <a:cxnLst/>
              <a:rect l="l" t="t" r="r" b="b"/>
              <a:pathLst>
                <a:path w="384810" h="271779">
                  <a:moveTo>
                    <a:pt x="0" y="67792"/>
                  </a:moveTo>
                  <a:lnTo>
                    <a:pt x="248780" y="67792"/>
                  </a:lnTo>
                  <a:lnTo>
                    <a:pt x="248780" y="0"/>
                  </a:lnTo>
                  <a:lnTo>
                    <a:pt x="384352" y="135585"/>
                  </a:lnTo>
                  <a:lnTo>
                    <a:pt x="248780" y="271157"/>
                  </a:lnTo>
                  <a:lnTo>
                    <a:pt x="248780" y="203365"/>
                  </a:lnTo>
                  <a:lnTo>
                    <a:pt x="0" y="203365"/>
                  </a:lnTo>
                  <a:lnTo>
                    <a:pt x="0" y="67792"/>
                  </a:lnTo>
                  <a:close/>
                </a:path>
              </a:pathLst>
            </a:custGeom>
            <a:ln w="25400">
              <a:solidFill>
                <a:srgbClr val="FFFFFF"/>
              </a:solidFill>
            </a:ln>
          </p:spPr>
          <p:txBody>
            <a:bodyPr wrap="square" lIns="0" tIns="0" rIns="0" bIns="0" rtlCol="0"/>
            <a:lstStyle/>
            <a:p/>
          </p:txBody>
        </p:sp>
        <p:pic>
          <p:nvPicPr>
            <p:cNvPr id="133" name="object 133"/>
            <p:cNvPicPr/>
            <p:nvPr/>
          </p:nvPicPr>
          <p:blipFill>
            <a:blip r:embed="rId15" cstate="print"/>
            <a:stretch>
              <a:fillRect/>
            </a:stretch>
          </p:blipFill>
          <p:spPr>
            <a:xfrm>
              <a:off x="213047" y="2190750"/>
              <a:ext cx="1673727" cy="2723066"/>
            </a:xfrm>
            <a:prstGeom prst="rect">
              <a:avLst/>
            </a:prstGeom>
          </p:spPr>
        </p:pic>
        <p:pic>
          <p:nvPicPr>
            <p:cNvPr id="134" name="object 134"/>
            <p:cNvPicPr/>
            <p:nvPr/>
          </p:nvPicPr>
          <p:blipFill>
            <a:blip r:embed="rId16" cstate="print"/>
            <a:stretch>
              <a:fillRect/>
            </a:stretch>
          </p:blipFill>
          <p:spPr>
            <a:xfrm>
              <a:off x="5181600" y="2190750"/>
              <a:ext cx="3672407" cy="2723067"/>
            </a:xfrm>
            <a:prstGeom prst="rect">
              <a:avLst/>
            </a:prstGeom>
          </p:spPr>
        </p:pic>
        <p:pic>
          <p:nvPicPr>
            <p:cNvPr id="135" name="object 135"/>
            <p:cNvPicPr/>
            <p:nvPr/>
          </p:nvPicPr>
          <p:blipFill>
            <a:blip r:embed="rId17" cstate="print"/>
            <a:stretch>
              <a:fillRect/>
            </a:stretch>
          </p:blipFill>
          <p:spPr>
            <a:xfrm>
              <a:off x="2313190" y="2190750"/>
              <a:ext cx="2324092" cy="2723057"/>
            </a:xfrm>
            <a:prstGeom prst="rect">
              <a:avLst/>
            </a:prstGeom>
          </p:spPr>
        </p:pic>
        <p:sp>
          <p:nvSpPr>
            <p:cNvPr id="136" name="object 136" descr=""/>
            <p:cNvSpPr/>
            <p:nvPr/>
          </p:nvSpPr>
          <p:spPr>
            <a:xfrm>
              <a:off x="1958788" y="3383596"/>
              <a:ext cx="384810" cy="271780"/>
            </a:xfrm>
            <a:custGeom>
              <a:avLst/>
              <a:gdLst/>
              <a:ahLst/>
              <a:cxnLst/>
              <a:rect l="l" t="t" r="r" b="b"/>
              <a:pathLst>
                <a:path w="384810" h="271779">
                  <a:moveTo>
                    <a:pt x="248780" y="0"/>
                  </a:moveTo>
                  <a:lnTo>
                    <a:pt x="248780" y="67792"/>
                  </a:lnTo>
                  <a:lnTo>
                    <a:pt x="0" y="67792"/>
                  </a:lnTo>
                  <a:lnTo>
                    <a:pt x="0" y="203365"/>
                  </a:lnTo>
                  <a:lnTo>
                    <a:pt x="248780" y="203365"/>
                  </a:lnTo>
                  <a:lnTo>
                    <a:pt x="248780" y="271157"/>
                  </a:lnTo>
                  <a:lnTo>
                    <a:pt x="384352" y="135585"/>
                  </a:lnTo>
                  <a:lnTo>
                    <a:pt x="248780" y="0"/>
                  </a:lnTo>
                  <a:close/>
                </a:path>
              </a:pathLst>
            </a:custGeom>
            <a:solidFill>
              <a:srgbClr val="BBE0E3"/>
            </a:solidFill>
          </p:spPr>
          <p:txBody>
            <a:bodyPr wrap="square" lIns="0" tIns="0" rIns="0" bIns="0" rtlCol="0"/>
            <a:lstStyle/>
            <a:p/>
          </p:txBody>
        </p:sp>
        <p:sp>
          <p:nvSpPr>
            <p:cNvPr id="137" name="object 137" descr=""/>
            <p:cNvSpPr/>
            <p:nvPr/>
          </p:nvSpPr>
          <p:spPr>
            <a:xfrm>
              <a:off x="1958788" y="3383596"/>
              <a:ext cx="384810" cy="271780"/>
            </a:xfrm>
            <a:custGeom>
              <a:avLst/>
              <a:gdLst/>
              <a:ahLst/>
              <a:cxnLst/>
              <a:rect l="l" t="t" r="r" b="b"/>
              <a:pathLst>
                <a:path w="384810" h="271779">
                  <a:moveTo>
                    <a:pt x="0" y="67792"/>
                  </a:moveTo>
                  <a:lnTo>
                    <a:pt x="248780" y="67792"/>
                  </a:lnTo>
                  <a:lnTo>
                    <a:pt x="248780" y="0"/>
                  </a:lnTo>
                  <a:lnTo>
                    <a:pt x="384352" y="135585"/>
                  </a:lnTo>
                  <a:lnTo>
                    <a:pt x="248780" y="271157"/>
                  </a:lnTo>
                  <a:lnTo>
                    <a:pt x="248780" y="203365"/>
                  </a:lnTo>
                  <a:lnTo>
                    <a:pt x="0" y="203365"/>
                  </a:lnTo>
                  <a:lnTo>
                    <a:pt x="0" y="67792"/>
                  </a:lnTo>
                  <a:close/>
                </a:path>
              </a:pathLst>
            </a:custGeom>
            <a:ln w="25400">
              <a:solidFill>
                <a:srgbClr val="FFFFFF"/>
              </a:solidFill>
            </a:ln>
          </p:spPr>
          <p:txBody>
            <a:bodyPr wrap="square" lIns="0" tIns="0" rIns="0" bIns="0" rtlCol="0"/>
            <a:lstStyle/>
            <a:p/>
          </p:txBody>
        </p:sp>
        <p:sp>
          <p:nvSpPr>
            <p:cNvPr id="138" name="object 138" descr=""/>
            <p:cNvSpPr/>
            <p:nvPr/>
          </p:nvSpPr>
          <p:spPr>
            <a:xfrm>
              <a:off x="322058" y="858946"/>
              <a:ext cx="0" cy="1064260"/>
            </a:xfrm>
            <a:custGeom>
              <a:avLst/>
              <a:gdLst/>
              <a:ahLst/>
              <a:cxnLst/>
              <a:rect l="l" t="t" r="r" b="b"/>
              <a:pathLst>
                <a:path w="0" h="1064260">
                  <a:moveTo>
                    <a:pt x="0" y="0"/>
                  </a:moveTo>
                  <a:lnTo>
                    <a:pt x="0" y="1064260"/>
                  </a:lnTo>
                </a:path>
              </a:pathLst>
            </a:custGeom>
            <a:ln w="12700">
              <a:solidFill>
                <a:srgbClr val="000000"/>
              </a:solidFill>
            </a:ln>
          </p:spPr>
          <p:txBody>
            <a:bodyPr wrap="square" lIns="0" tIns="0" rIns="0" bIns="0" rtlCol="0"/>
            <a:lstStyle/>
            <a:p/>
          </p:txBody>
        </p:sp>
        <p:sp>
          <p:nvSpPr>
            <p:cNvPr id="139" name="object 139" descr=""/>
            <p:cNvSpPr/>
            <p:nvPr/>
          </p:nvSpPr>
          <p:spPr>
            <a:xfrm>
              <a:off x="8963018" y="858946"/>
              <a:ext cx="0" cy="1064260"/>
            </a:xfrm>
            <a:custGeom>
              <a:avLst/>
              <a:gdLst/>
              <a:ahLst/>
              <a:cxnLst/>
              <a:rect l="l" t="t" r="r" b="b"/>
              <a:pathLst>
                <a:path w="0" h="1064260">
                  <a:moveTo>
                    <a:pt x="0" y="0"/>
                  </a:moveTo>
                  <a:lnTo>
                    <a:pt x="0" y="1064260"/>
                  </a:lnTo>
                </a:path>
              </a:pathLst>
            </a:custGeom>
            <a:ln w="12700">
              <a:solidFill>
                <a:srgbClr val="000000"/>
              </a:solidFill>
            </a:ln>
          </p:spPr>
          <p:txBody>
            <a:bodyPr wrap="square" lIns="0" tIns="0" rIns="0" bIns="0" rtlCol="0"/>
            <a:lstStyle/>
            <a:p/>
          </p:txBody>
        </p:sp>
        <p:sp>
          <p:nvSpPr>
            <p:cNvPr id="140" name="object 140" descr=""/>
            <p:cNvSpPr/>
            <p:nvPr/>
          </p:nvSpPr>
          <p:spPr>
            <a:xfrm>
              <a:off x="315708" y="865296"/>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sp>
          <p:nvSpPr>
            <p:cNvPr id="141" name="object 141" descr=""/>
            <p:cNvSpPr/>
            <p:nvPr/>
          </p:nvSpPr>
          <p:spPr>
            <a:xfrm>
              <a:off x="315708" y="1916856"/>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sp>
          <p:nvSpPr>
            <p:cNvPr id="142" name="object 142" descr=""/>
            <p:cNvSpPr/>
            <p:nvPr/>
          </p:nvSpPr>
          <p:spPr>
            <a:xfrm>
              <a:off x="1834225" y="3274919"/>
              <a:ext cx="384810" cy="271780"/>
            </a:xfrm>
            <a:custGeom>
              <a:avLst/>
              <a:gdLst/>
              <a:ahLst/>
              <a:cxnLst/>
              <a:rect l="l" t="t" r="r" b="b"/>
              <a:pathLst>
                <a:path w="384810" h="271779">
                  <a:moveTo>
                    <a:pt x="248780" y="0"/>
                  </a:moveTo>
                  <a:lnTo>
                    <a:pt x="248780" y="67792"/>
                  </a:lnTo>
                  <a:lnTo>
                    <a:pt x="0" y="67792"/>
                  </a:lnTo>
                  <a:lnTo>
                    <a:pt x="0" y="203365"/>
                  </a:lnTo>
                  <a:lnTo>
                    <a:pt x="248780" y="203365"/>
                  </a:lnTo>
                  <a:lnTo>
                    <a:pt x="248780" y="271157"/>
                  </a:lnTo>
                  <a:lnTo>
                    <a:pt x="384352" y="135585"/>
                  </a:lnTo>
                  <a:lnTo>
                    <a:pt x="248780" y="0"/>
                  </a:lnTo>
                  <a:close/>
                </a:path>
              </a:pathLst>
            </a:custGeom>
            <a:solidFill>
              <a:srgbClr val="BBE0E3"/>
            </a:solidFill>
          </p:spPr>
          <p:txBody>
            <a:bodyPr wrap="square" lIns="0" tIns="0" rIns="0" bIns="0" rtlCol="0"/>
            <a:lstStyle/>
            <a:p/>
          </p:txBody>
        </p:sp>
        <p:sp>
          <p:nvSpPr>
            <p:cNvPr id="143" name="object 143" descr=""/>
            <p:cNvSpPr/>
            <p:nvPr/>
          </p:nvSpPr>
          <p:spPr>
            <a:xfrm>
              <a:off x="1834225" y="3274919"/>
              <a:ext cx="384810" cy="271780"/>
            </a:xfrm>
            <a:custGeom>
              <a:avLst/>
              <a:gdLst/>
              <a:ahLst/>
              <a:cxnLst/>
              <a:rect l="l" t="t" r="r" b="b"/>
              <a:pathLst>
                <a:path w="384810" h="271779">
                  <a:moveTo>
                    <a:pt x="0" y="67792"/>
                  </a:moveTo>
                  <a:lnTo>
                    <a:pt x="248780" y="67792"/>
                  </a:lnTo>
                  <a:lnTo>
                    <a:pt x="248780" y="0"/>
                  </a:lnTo>
                  <a:lnTo>
                    <a:pt x="384352" y="135585"/>
                  </a:lnTo>
                  <a:lnTo>
                    <a:pt x="248780" y="271157"/>
                  </a:lnTo>
                  <a:lnTo>
                    <a:pt x="248780" y="203365"/>
                  </a:lnTo>
                  <a:lnTo>
                    <a:pt x="0" y="203365"/>
                  </a:lnTo>
                  <a:lnTo>
                    <a:pt x="0" y="67792"/>
                  </a:lnTo>
                  <a:close/>
                </a:path>
              </a:pathLst>
            </a:custGeom>
            <a:ln w="25400">
              <a:solidFill>
                <a:srgbClr val="FFFFFF"/>
              </a:solidFill>
            </a:ln>
          </p:spPr>
          <p:txBody>
            <a:bodyPr wrap="square" lIns="0" tIns="0" rIns="0" bIns="0" rtlCol="0"/>
            <a:lstStyle/>
            <a:p/>
          </p:txBody>
        </p:sp>
        <p:sp>
          <p:nvSpPr>
            <p:cNvPr id="144" name="object 144" descr=""/>
            <p:cNvSpPr/>
            <p:nvPr/>
          </p:nvSpPr>
          <p:spPr>
            <a:xfrm>
              <a:off x="4618217" y="3291796"/>
              <a:ext cx="384810" cy="271780"/>
            </a:xfrm>
            <a:custGeom>
              <a:avLst/>
              <a:gdLst/>
              <a:ahLst/>
              <a:cxnLst/>
              <a:rect l="l" t="t" r="r" b="b"/>
              <a:pathLst>
                <a:path w="384810" h="271779">
                  <a:moveTo>
                    <a:pt x="248780" y="0"/>
                  </a:moveTo>
                  <a:lnTo>
                    <a:pt x="248780" y="67792"/>
                  </a:lnTo>
                  <a:lnTo>
                    <a:pt x="0" y="67792"/>
                  </a:lnTo>
                  <a:lnTo>
                    <a:pt x="0" y="203365"/>
                  </a:lnTo>
                  <a:lnTo>
                    <a:pt x="248780" y="203365"/>
                  </a:lnTo>
                  <a:lnTo>
                    <a:pt x="248780" y="271157"/>
                  </a:lnTo>
                  <a:lnTo>
                    <a:pt x="384352" y="135585"/>
                  </a:lnTo>
                  <a:lnTo>
                    <a:pt x="248780" y="0"/>
                  </a:lnTo>
                  <a:close/>
                </a:path>
              </a:pathLst>
            </a:custGeom>
            <a:solidFill>
              <a:srgbClr val="BBE0E3"/>
            </a:solidFill>
          </p:spPr>
          <p:txBody>
            <a:bodyPr wrap="square" lIns="0" tIns="0" rIns="0" bIns="0" rtlCol="0"/>
            <a:lstStyle/>
            <a:p/>
          </p:txBody>
        </p:sp>
        <p:sp>
          <p:nvSpPr>
            <p:cNvPr id="145" name="object 145" descr=""/>
            <p:cNvSpPr/>
            <p:nvPr/>
          </p:nvSpPr>
          <p:spPr>
            <a:xfrm>
              <a:off x="4618217" y="3291796"/>
              <a:ext cx="384810" cy="271780"/>
            </a:xfrm>
            <a:custGeom>
              <a:avLst/>
              <a:gdLst/>
              <a:ahLst/>
              <a:cxnLst/>
              <a:rect l="l" t="t" r="r" b="b"/>
              <a:pathLst>
                <a:path w="384810" h="271779">
                  <a:moveTo>
                    <a:pt x="0" y="67792"/>
                  </a:moveTo>
                  <a:lnTo>
                    <a:pt x="248780" y="67792"/>
                  </a:lnTo>
                  <a:lnTo>
                    <a:pt x="248780" y="0"/>
                  </a:lnTo>
                  <a:lnTo>
                    <a:pt x="384352" y="135585"/>
                  </a:lnTo>
                  <a:lnTo>
                    <a:pt x="248780" y="271157"/>
                  </a:lnTo>
                  <a:lnTo>
                    <a:pt x="248780" y="203365"/>
                  </a:lnTo>
                  <a:lnTo>
                    <a:pt x="0" y="203365"/>
                  </a:lnTo>
                  <a:lnTo>
                    <a:pt x="0" y="67792"/>
                  </a:lnTo>
                  <a:close/>
                </a:path>
              </a:pathLst>
            </a:custGeom>
            <a:ln w="25400">
              <a:solidFill>
                <a:srgbClr val="FFFFFF"/>
              </a:solidFill>
            </a:ln>
          </p:spPr>
          <p:txBody>
            <a:bodyPr wrap="square" lIns="0" tIns="0" rIns="0" bIns="0" rtlCol="0"/>
            <a:lstStyle/>
            <a:p/>
          </p:txBody>
        </p:sp>
        <p:pic>
          <p:nvPicPr>
            <p:cNvPr id="146" name="object 146"/>
            <p:cNvPicPr/>
            <p:nvPr/>
          </p:nvPicPr>
          <p:blipFill>
            <a:blip r:embed="rId18" cstate="print"/>
            <a:stretch>
              <a:fillRect/>
            </a:stretch>
          </p:blipFill>
          <p:spPr>
            <a:xfrm>
              <a:off x="322059" y="1978778"/>
              <a:ext cx="1531502" cy="2915585"/>
            </a:xfrm>
            <a:prstGeom prst="rect">
              <a:avLst/>
            </a:prstGeom>
          </p:spPr>
        </p:pic>
        <p:pic>
          <p:nvPicPr>
            <p:cNvPr id="147" name="object 147"/>
            <p:cNvPicPr/>
            <p:nvPr/>
          </p:nvPicPr>
          <p:blipFill>
            <a:blip r:embed="rId19" cstate="print"/>
            <a:stretch>
              <a:fillRect/>
            </a:stretch>
          </p:blipFill>
          <p:spPr>
            <a:xfrm>
              <a:off x="2362199" y="1962150"/>
              <a:ext cx="2064308" cy="2932221"/>
            </a:xfrm>
            <a:prstGeom prst="rect">
              <a:avLst/>
            </a:prstGeom>
          </p:spPr>
        </p:pic>
        <p:pic>
          <p:nvPicPr>
            <p:cNvPr id="148" name="object 148"/>
            <p:cNvPicPr/>
            <p:nvPr/>
          </p:nvPicPr>
          <p:blipFill>
            <a:blip r:embed="rId20" cstate="print"/>
            <a:stretch>
              <a:fillRect/>
            </a:stretch>
          </p:blipFill>
          <p:spPr>
            <a:xfrm>
              <a:off x="5134470" y="1978778"/>
              <a:ext cx="3828547" cy="2915585"/>
            </a:xfrm>
            <a:prstGeom prst="rect">
              <a:avLst/>
            </a:prstGeom>
          </p:spPr>
        </p:pic>
        <p:sp>
          <p:nvSpPr>
            <p:cNvPr id="149" name="object 149" descr=""/>
            <p:cNvSpPr/>
            <p:nvPr/>
          </p:nvSpPr>
          <p:spPr>
            <a:xfrm>
              <a:off x="270569" y="889421"/>
              <a:ext cx="0" cy="1064260"/>
            </a:xfrm>
            <a:custGeom>
              <a:avLst/>
              <a:gdLst/>
              <a:ahLst/>
              <a:cxnLst/>
              <a:rect l="l" t="t" r="r" b="b"/>
              <a:pathLst>
                <a:path w="0" h="1064260">
                  <a:moveTo>
                    <a:pt x="0" y="0"/>
                  </a:moveTo>
                  <a:lnTo>
                    <a:pt x="0" y="1064260"/>
                  </a:lnTo>
                </a:path>
              </a:pathLst>
            </a:custGeom>
            <a:ln w="12700">
              <a:solidFill>
                <a:srgbClr val="000000"/>
              </a:solidFill>
            </a:ln>
          </p:spPr>
          <p:txBody>
            <a:bodyPr wrap="square" lIns="0" tIns="0" rIns="0" bIns="0" rtlCol="0"/>
            <a:lstStyle/>
            <a:p/>
          </p:txBody>
        </p:sp>
        <p:sp>
          <p:nvSpPr>
            <p:cNvPr id="150" name="object 150" descr=""/>
            <p:cNvSpPr/>
            <p:nvPr/>
          </p:nvSpPr>
          <p:spPr>
            <a:xfrm>
              <a:off x="8911530" y="889421"/>
              <a:ext cx="0" cy="1064260"/>
            </a:xfrm>
            <a:custGeom>
              <a:avLst/>
              <a:gdLst/>
              <a:ahLst/>
              <a:cxnLst/>
              <a:rect l="l" t="t" r="r" b="b"/>
              <a:pathLst>
                <a:path w="0" h="1064260">
                  <a:moveTo>
                    <a:pt x="0" y="0"/>
                  </a:moveTo>
                  <a:lnTo>
                    <a:pt x="0" y="1064260"/>
                  </a:lnTo>
                </a:path>
              </a:pathLst>
            </a:custGeom>
            <a:ln w="12700">
              <a:solidFill>
                <a:srgbClr val="000000"/>
              </a:solidFill>
            </a:ln>
          </p:spPr>
          <p:txBody>
            <a:bodyPr wrap="square" lIns="0" tIns="0" rIns="0" bIns="0" rtlCol="0"/>
            <a:lstStyle/>
            <a:p/>
          </p:txBody>
        </p:sp>
        <p:sp>
          <p:nvSpPr>
            <p:cNvPr id="151" name="object 151" descr=""/>
            <p:cNvSpPr/>
            <p:nvPr/>
          </p:nvSpPr>
          <p:spPr>
            <a:xfrm>
              <a:off x="264219" y="895771"/>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sp>
          <p:nvSpPr>
            <p:cNvPr id="152" name="object 152" descr=""/>
            <p:cNvSpPr/>
            <p:nvPr/>
          </p:nvSpPr>
          <p:spPr>
            <a:xfrm>
              <a:off x="264219" y="1947331"/>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grpSp>
      <p:grpSp>
        <p:nvGrpSpPr>
          <p:cNvPr id="153" name="object 153" descr=""/>
          <p:cNvGrpSpPr/>
          <p:nvPr/>
        </p:nvGrpSpPr>
        <p:grpSpPr>
          <a:xfrm>
            <a:off x="215900" y="882650"/>
            <a:ext cx="8666480" cy="4194175"/>
            <a:chOff x="215900" y="882650"/>
            <a:chExt cx="8666480" cy="4194175"/>
          </a:xfrm>
        </p:grpSpPr>
        <p:pic>
          <p:nvPicPr>
            <p:cNvPr id="154" name="object 154"/>
            <p:cNvPicPr/>
            <p:nvPr/>
          </p:nvPicPr>
          <p:blipFill>
            <a:blip r:embed="rId21" cstate="print"/>
            <a:stretch>
              <a:fillRect/>
            </a:stretch>
          </p:blipFill>
          <p:spPr>
            <a:xfrm>
              <a:off x="270573" y="1979961"/>
              <a:ext cx="4484928" cy="2934684"/>
            </a:xfrm>
            <a:prstGeom prst="rect">
              <a:avLst/>
            </a:prstGeom>
          </p:spPr>
        </p:pic>
        <p:pic>
          <p:nvPicPr>
            <p:cNvPr id="155" name="object 155"/>
            <p:cNvPicPr/>
            <p:nvPr/>
          </p:nvPicPr>
          <p:blipFill>
            <a:blip r:embed="rId22" cstate="print"/>
            <a:stretch>
              <a:fillRect/>
            </a:stretch>
          </p:blipFill>
          <p:spPr>
            <a:xfrm>
              <a:off x="5257800" y="2952750"/>
              <a:ext cx="3591172" cy="823341"/>
            </a:xfrm>
            <a:prstGeom prst="rect">
              <a:avLst/>
            </a:prstGeom>
          </p:spPr>
        </p:pic>
        <p:sp>
          <p:nvSpPr>
            <p:cNvPr id="156" name="object 156" descr=""/>
            <p:cNvSpPr/>
            <p:nvPr/>
          </p:nvSpPr>
          <p:spPr>
            <a:xfrm>
              <a:off x="4854762" y="3272033"/>
              <a:ext cx="384810" cy="271780"/>
            </a:xfrm>
            <a:custGeom>
              <a:avLst/>
              <a:gdLst/>
              <a:ahLst/>
              <a:cxnLst/>
              <a:rect l="l" t="t" r="r" b="b"/>
              <a:pathLst>
                <a:path w="384810" h="271779">
                  <a:moveTo>
                    <a:pt x="248780" y="0"/>
                  </a:moveTo>
                  <a:lnTo>
                    <a:pt x="248780" y="67792"/>
                  </a:lnTo>
                  <a:lnTo>
                    <a:pt x="0" y="67792"/>
                  </a:lnTo>
                  <a:lnTo>
                    <a:pt x="0" y="203365"/>
                  </a:lnTo>
                  <a:lnTo>
                    <a:pt x="248780" y="203365"/>
                  </a:lnTo>
                  <a:lnTo>
                    <a:pt x="248780" y="271157"/>
                  </a:lnTo>
                  <a:lnTo>
                    <a:pt x="384352" y="135585"/>
                  </a:lnTo>
                  <a:lnTo>
                    <a:pt x="248780" y="0"/>
                  </a:lnTo>
                  <a:close/>
                </a:path>
              </a:pathLst>
            </a:custGeom>
            <a:solidFill>
              <a:srgbClr val="BBE0E3"/>
            </a:solidFill>
          </p:spPr>
          <p:txBody>
            <a:bodyPr wrap="square" lIns="0" tIns="0" rIns="0" bIns="0" rtlCol="0"/>
            <a:lstStyle/>
            <a:p/>
          </p:txBody>
        </p:sp>
        <p:sp>
          <p:nvSpPr>
            <p:cNvPr id="157" name="object 157" descr=""/>
            <p:cNvSpPr/>
            <p:nvPr/>
          </p:nvSpPr>
          <p:spPr>
            <a:xfrm>
              <a:off x="4854762" y="3272033"/>
              <a:ext cx="384810" cy="271780"/>
            </a:xfrm>
            <a:custGeom>
              <a:avLst/>
              <a:gdLst/>
              <a:ahLst/>
              <a:cxnLst/>
              <a:rect l="l" t="t" r="r" b="b"/>
              <a:pathLst>
                <a:path w="384810" h="271779">
                  <a:moveTo>
                    <a:pt x="0" y="67792"/>
                  </a:moveTo>
                  <a:lnTo>
                    <a:pt x="248780" y="67792"/>
                  </a:lnTo>
                  <a:lnTo>
                    <a:pt x="248780" y="0"/>
                  </a:lnTo>
                  <a:lnTo>
                    <a:pt x="384352" y="135585"/>
                  </a:lnTo>
                  <a:lnTo>
                    <a:pt x="248780" y="271157"/>
                  </a:lnTo>
                  <a:lnTo>
                    <a:pt x="248780" y="203365"/>
                  </a:lnTo>
                  <a:lnTo>
                    <a:pt x="0" y="203365"/>
                  </a:lnTo>
                  <a:lnTo>
                    <a:pt x="0" y="67792"/>
                  </a:lnTo>
                  <a:close/>
                </a:path>
              </a:pathLst>
            </a:custGeom>
            <a:ln w="25400">
              <a:solidFill>
                <a:srgbClr val="FFFFFF"/>
              </a:solidFill>
            </a:ln>
          </p:spPr>
          <p:txBody>
            <a:bodyPr wrap="square" lIns="0" tIns="0" rIns="0" bIns="0" rtlCol="0"/>
            <a:lstStyle/>
            <a:p/>
          </p:txBody>
        </p:sp>
        <p:sp>
          <p:nvSpPr>
            <p:cNvPr id="158" name="object 158" descr=""/>
            <p:cNvSpPr/>
            <p:nvPr/>
          </p:nvSpPr>
          <p:spPr>
            <a:xfrm>
              <a:off x="1066798" y="889000"/>
              <a:ext cx="0" cy="383540"/>
            </a:xfrm>
            <a:custGeom>
              <a:avLst/>
              <a:gdLst/>
              <a:ahLst/>
              <a:cxnLst/>
              <a:rect l="l" t="t" r="r" b="b"/>
              <a:pathLst>
                <a:path w="0" h="383540">
                  <a:moveTo>
                    <a:pt x="0" y="0"/>
                  </a:moveTo>
                  <a:lnTo>
                    <a:pt x="0" y="383540"/>
                  </a:lnTo>
                </a:path>
              </a:pathLst>
            </a:custGeom>
            <a:ln w="12700">
              <a:solidFill>
                <a:srgbClr val="000000"/>
              </a:solidFill>
            </a:ln>
          </p:spPr>
          <p:txBody>
            <a:bodyPr wrap="square" lIns="0" tIns="0" rIns="0" bIns="0" rtlCol="0"/>
            <a:lstStyle/>
            <a:p/>
          </p:txBody>
        </p:sp>
        <p:sp>
          <p:nvSpPr>
            <p:cNvPr id="159" name="object 159" descr=""/>
            <p:cNvSpPr/>
            <p:nvPr/>
          </p:nvSpPr>
          <p:spPr>
            <a:xfrm>
              <a:off x="8001000" y="889000"/>
              <a:ext cx="0" cy="383540"/>
            </a:xfrm>
            <a:custGeom>
              <a:avLst/>
              <a:gdLst/>
              <a:ahLst/>
              <a:cxnLst/>
              <a:rect l="l" t="t" r="r" b="b"/>
              <a:pathLst>
                <a:path w="0" h="383540">
                  <a:moveTo>
                    <a:pt x="0" y="0"/>
                  </a:moveTo>
                  <a:lnTo>
                    <a:pt x="0" y="383540"/>
                  </a:lnTo>
                </a:path>
              </a:pathLst>
            </a:custGeom>
            <a:ln w="12700">
              <a:solidFill>
                <a:srgbClr val="000000"/>
              </a:solidFill>
            </a:ln>
          </p:spPr>
          <p:txBody>
            <a:bodyPr wrap="square" lIns="0" tIns="0" rIns="0" bIns="0" rtlCol="0"/>
            <a:lstStyle/>
            <a:p/>
          </p:txBody>
        </p:sp>
        <p:sp>
          <p:nvSpPr>
            <p:cNvPr id="160" name="object 160" descr=""/>
            <p:cNvSpPr/>
            <p:nvPr/>
          </p:nvSpPr>
          <p:spPr>
            <a:xfrm>
              <a:off x="1060448" y="895350"/>
              <a:ext cx="6946900" cy="0"/>
            </a:xfrm>
            <a:custGeom>
              <a:avLst/>
              <a:gdLst/>
              <a:ahLst/>
              <a:cxnLst/>
              <a:rect l="l" t="t" r="r" b="b"/>
              <a:pathLst>
                <a:path w="6946900" h="0">
                  <a:moveTo>
                    <a:pt x="0" y="0"/>
                  </a:moveTo>
                  <a:lnTo>
                    <a:pt x="6946900" y="0"/>
                  </a:lnTo>
                </a:path>
              </a:pathLst>
            </a:custGeom>
            <a:ln w="12700">
              <a:solidFill>
                <a:srgbClr val="000000"/>
              </a:solidFill>
            </a:ln>
          </p:spPr>
          <p:txBody>
            <a:bodyPr wrap="square" lIns="0" tIns="0" rIns="0" bIns="0" rtlCol="0"/>
            <a:lstStyle/>
            <a:p/>
          </p:txBody>
        </p:sp>
        <p:sp>
          <p:nvSpPr>
            <p:cNvPr id="161" name="object 161" descr=""/>
            <p:cNvSpPr/>
            <p:nvPr/>
          </p:nvSpPr>
          <p:spPr>
            <a:xfrm>
              <a:off x="1060448" y="1266190"/>
              <a:ext cx="6946900" cy="0"/>
            </a:xfrm>
            <a:custGeom>
              <a:avLst/>
              <a:gdLst/>
              <a:ahLst/>
              <a:cxnLst/>
              <a:rect l="l" t="t" r="r" b="b"/>
              <a:pathLst>
                <a:path w="6946900" h="0">
                  <a:moveTo>
                    <a:pt x="0" y="0"/>
                  </a:moveTo>
                  <a:lnTo>
                    <a:pt x="6946900" y="0"/>
                  </a:lnTo>
                </a:path>
              </a:pathLst>
            </a:custGeom>
            <a:ln w="12700">
              <a:solidFill>
                <a:srgbClr val="000000"/>
              </a:solidFill>
            </a:ln>
          </p:spPr>
          <p:txBody>
            <a:bodyPr wrap="square" lIns="0" tIns="0" rIns="0" bIns="0" rtlCol="0"/>
            <a:lstStyle/>
            <a:p/>
          </p:txBody>
        </p:sp>
        <p:pic>
          <p:nvPicPr>
            <p:cNvPr id="162" name="object 162"/>
            <p:cNvPicPr/>
            <p:nvPr/>
          </p:nvPicPr>
          <p:blipFill>
            <a:blip r:embed="rId23" cstate="print"/>
            <a:stretch>
              <a:fillRect/>
            </a:stretch>
          </p:blipFill>
          <p:spPr>
            <a:xfrm>
              <a:off x="1164704" y="1323089"/>
              <a:ext cx="6683996" cy="3601322"/>
            </a:xfrm>
            <a:prstGeom prst="rect">
              <a:avLst/>
            </a:prstGeom>
          </p:spPr>
        </p:pic>
        <p:sp>
          <p:nvSpPr>
            <p:cNvPr id="163" name="object 163" descr=""/>
            <p:cNvSpPr/>
            <p:nvPr/>
          </p:nvSpPr>
          <p:spPr>
            <a:xfrm>
              <a:off x="1219198" y="1041400"/>
              <a:ext cx="0" cy="383540"/>
            </a:xfrm>
            <a:custGeom>
              <a:avLst/>
              <a:gdLst/>
              <a:ahLst/>
              <a:cxnLst/>
              <a:rect l="l" t="t" r="r" b="b"/>
              <a:pathLst>
                <a:path w="0" h="383540">
                  <a:moveTo>
                    <a:pt x="0" y="0"/>
                  </a:moveTo>
                  <a:lnTo>
                    <a:pt x="0" y="383540"/>
                  </a:lnTo>
                </a:path>
              </a:pathLst>
            </a:custGeom>
            <a:ln w="12700">
              <a:solidFill>
                <a:srgbClr val="000000"/>
              </a:solidFill>
            </a:ln>
          </p:spPr>
          <p:txBody>
            <a:bodyPr wrap="square" lIns="0" tIns="0" rIns="0" bIns="0" rtlCol="0"/>
            <a:lstStyle/>
            <a:p/>
          </p:txBody>
        </p:sp>
        <p:sp>
          <p:nvSpPr>
            <p:cNvPr id="164" name="object 164" descr=""/>
            <p:cNvSpPr/>
            <p:nvPr/>
          </p:nvSpPr>
          <p:spPr>
            <a:xfrm>
              <a:off x="8153400" y="1041400"/>
              <a:ext cx="0" cy="383540"/>
            </a:xfrm>
            <a:custGeom>
              <a:avLst/>
              <a:gdLst/>
              <a:ahLst/>
              <a:cxnLst/>
              <a:rect l="l" t="t" r="r" b="b"/>
              <a:pathLst>
                <a:path w="0" h="383540">
                  <a:moveTo>
                    <a:pt x="0" y="0"/>
                  </a:moveTo>
                  <a:lnTo>
                    <a:pt x="0" y="383540"/>
                  </a:lnTo>
                </a:path>
              </a:pathLst>
            </a:custGeom>
            <a:ln w="12700">
              <a:solidFill>
                <a:srgbClr val="000000"/>
              </a:solidFill>
            </a:ln>
          </p:spPr>
          <p:txBody>
            <a:bodyPr wrap="square" lIns="0" tIns="0" rIns="0" bIns="0" rtlCol="0"/>
            <a:lstStyle/>
            <a:p/>
          </p:txBody>
        </p:sp>
        <p:sp>
          <p:nvSpPr>
            <p:cNvPr id="165" name="object 165" descr=""/>
            <p:cNvSpPr/>
            <p:nvPr/>
          </p:nvSpPr>
          <p:spPr>
            <a:xfrm>
              <a:off x="1212848" y="1047750"/>
              <a:ext cx="6946900" cy="0"/>
            </a:xfrm>
            <a:custGeom>
              <a:avLst/>
              <a:gdLst/>
              <a:ahLst/>
              <a:cxnLst/>
              <a:rect l="l" t="t" r="r" b="b"/>
              <a:pathLst>
                <a:path w="6946900" h="0">
                  <a:moveTo>
                    <a:pt x="0" y="0"/>
                  </a:moveTo>
                  <a:lnTo>
                    <a:pt x="6946900" y="0"/>
                  </a:lnTo>
                </a:path>
              </a:pathLst>
            </a:custGeom>
            <a:ln w="12700">
              <a:solidFill>
                <a:srgbClr val="000000"/>
              </a:solidFill>
            </a:ln>
          </p:spPr>
          <p:txBody>
            <a:bodyPr wrap="square" lIns="0" tIns="0" rIns="0" bIns="0" rtlCol="0"/>
            <a:lstStyle/>
            <a:p/>
          </p:txBody>
        </p:sp>
        <p:sp>
          <p:nvSpPr>
            <p:cNvPr id="166" name="object 166" descr=""/>
            <p:cNvSpPr/>
            <p:nvPr/>
          </p:nvSpPr>
          <p:spPr>
            <a:xfrm>
              <a:off x="1212848" y="1418590"/>
              <a:ext cx="6946900" cy="0"/>
            </a:xfrm>
            <a:custGeom>
              <a:avLst/>
              <a:gdLst/>
              <a:ahLst/>
              <a:cxnLst/>
              <a:rect l="l" t="t" r="r" b="b"/>
              <a:pathLst>
                <a:path w="6946900" h="0">
                  <a:moveTo>
                    <a:pt x="0" y="0"/>
                  </a:moveTo>
                  <a:lnTo>
                    <a:pt x="6946900" y="0"/>
                  </a:lnTo>
                </a:path>
              </a:pathLst>
            </a:custGeom>
            <a:ln w="12700">
              <a:solidFill>
                <a:srgbClr val="000000"/>
              </a:solidFill>
            </a:ln>
          </p:spPr>
          <p:txBody>
            <a:bodyPr wrap="square" lIns="0" tIns="0" rIns="0" bIns="0" rtlCol="0"/>
            <a:lstStyle/>
            <a:p/>
          </p:txBody>
        </p:sp>
        <p:pic>
          <p:nvPicPr>
            <p:cNvPr id="167" name="object 167"/>
            <p:cNvPicPr/>
            <p:nvPr/>
          </p:nvPicPr>
          <p:blipFill>
            <a:blip r:embed="rId23" cstate="print"/>
            <a:stretch>
              <a:fillRect/>
            </a:stretch>
          </p:blipFill>
          <p:spPr>
            <a:xfrm>
              <a:off x="1317104" y="1475489"/>
              <a:ext cx="6683996" cy="3601335"/>
            </a:xfrm>
            <a:prstGeom prst="rect">
              <a:avLst/>
            </a:prstGeom>
          </p:spPr>
        </p:pic>
        <p:sp>
          <p:nvSpPr>
            <p:cNvPr id="168" name="object 168" descr=""/>
            <p:cNvSpPr/>
            <p:nvPr/>
          </p:nvSpPr>
          <p:spPr>
            <a:xfrm>
              <a:off x="228600" y="965200"/>
              <a:ext cx="0" cy="1064260"/>
            </a:xfrm>
            <a:custGeom>
              <a:avLst/>
              <a:gdLst/>
              <a:ahLst/>
              <a:cxnLst/>
              <a:rect l="l" t="t" r="r" b="b"/>
              <a:pathLst>
                <a:path w="0" h="1064260">
                  <a:moveTo>
                    <a:pt x="0" y="0"/>
                  </a:moveTo>
                  <a:lnTo>
                    <a:pt x="0" y="1064260"/>
                  </a:lnTo>
                </a:path>
              </a:pathLst>
            </a:custGeom>
            <a:ln w="12700">
              <a:solidFill>
                <a:srgbClr val="000000"/>
              </a:solidFill>
            </a:ln>
          </p:spPr>
          <p:txBody>
            <a:bodyPr wrap="square" lIns="0" tIns="0" rIns="0" bIns="0" rtlCol="0"/>
            <a:lstStyle/>
            <a:p/>
          </p:txBody>
        </p:sp>
        <p:sp>
          <p:nvSpPr>
            <p:cNvPr id="169" name="object 169" descr=""/>
            <p:cNvSpPr/>
            <p:nvPr/>
          </p:nvSpPr>
          <p:spPr>
            <a:xfrm>
              <a:off x="8869560" y="965200"/>
              <a:ext cx="0" cy="1064260"/>
            </a:xfrm>
            <a:custGeom>
              <a:avLst/>
              <a:gdLst/>
              <a:ahLst/>
              <a:cxnLst/>
              <a:rect l="l" t="t" r="r" b="b"/>
              <a:pathLst>
                <a:path w="0" h="1064260">
                  <a:moveTo>
                    <a:pt x="0" y="0"/>
                  </a:moveTo>
                  <a:lnTo>
                    <a:pt x="0" y="1064260"/>
                  </a:lnTo>
                </a:path>
              </a:pathLst>
            </a:custGeom>
            <a:ln w="12700">
              <a:solidFill>
                <a:srgbClr val="000000"/>
              </a:solidFill>
            </a:ln>
          </p:spPr>
          <p:txBody>
            <a:bodyPr wrap="square" lIns="0" tIns="0" rIns="0" bIns="0" rtlCol="0"/>
            <a:lstStyle/>
            <a:p/>
          </p:txBody>
        </p:sp>
        <p:sp>
          <p:nvSpPr>
            <p:cNvPr id="170" name="object 170" descr=""/>
            <p:cNvSpPr/>
            <p:nvPr/>
          </p:nvSpPr>
          <p:spPr>
            <a:xfrm>
              <a:off x="222250" y="971550"/>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sp>
          <p:nvSpPr>
            <p:cNvPr id="171" name="object 171" descr=""/>
            <p:cNvSpPr/>
            <p:nvPr/>
          </p:nvSpPr>
          <p:spPr>
            <a:xfrm>
              <a:off x="222250" y="2023110"/>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grpSp>
      <p:sp>
        <p:nvSpPr>
          <p:cNvPr id="172" name="object 172" descr=""/>
          <p:cNvSpPr txBox="1"/>
          <p:nvPr/>
        </p:nvSpPr>
        <p:spPr>
          <a:xfrm>
            <a:off x="266387" y="1074674"/>
            <a:ext cx="4634865" cy="238760"/>
          </a:xfrm>
          <a:prstGeom prst="rect">
            <a:avLst/>
          </a:prstGeom>
        </p:spPr>
        <p:txBody>
          <a:bodyPr wrap="square" lIns="0" tIns="12065" rIns="0" bIns="0" rtlCol="0" vert="horz">
            <a:spAutoFit/>
          </a:bodyPr>
          <a:lstStyle/>
          <a:p>
            <a:pPr marL="38100">
              <a:lnSpc>
                <a:spcPct val="100000"/>
              </a:lnSpc>
              <a:spcBef>
                <a:spcPts val="95"/>
              </a:spcBef>
            </a:pPr>
            <a:r>
              <a:rPr dirty="0" baseline="13888" sz="2100" spc="-1942">
                <a:latin typeface="Microsoft YaHei"/>
                <a:cs typeface="Microsoft YaHei"/>
              </a:rPr>
              <a:t>路</a:t>
            </a:r>
            <a:r>
              <a:rPr dirty="0" baseline="1984" sz="2100" spc="-217">
                <a:latin typeface="Microsoft YaHei"/>
                <a:cs typeface="Microsoft YaHei"/>
              </a:rPr>
              <a:t>板</a:t>
            </a:r>
            <a:r>
              <a:rPr dirty="0" baseline="13888" sz="2100" spc="-1942">
                <a:latin typeface="Microsoft YaHei"/>
                <a:cs typeface="Microsoft YaHei"/>
              </a:rPr>
              <a:t>由</a:t>
            </a:r>
            <a:r>
              <a:rPr dirty="0" baseline="1984" sz="2100" spc="-217">
                <a:latin typeface="Microsoft YaHei"/>
                <a:cs typeface="Microsoft YaHei"/>
              </a:rPr>
              <a:t>卡</a:t>
            </a:r>
            <a:r>
              <a:rPr dirty="0" baseline="13888" sz="2100" spc="-1942">
                <a:latin typeface="Microsoft YaHei"/>
                <a:cs typeface="Microsoft YaHei"/>
              </a:rPr>
              <a:t>关</a:t>
            </a:r>
            <a:r>
              <a:rPr dirty="0" baseline="1984" sz="2100" spc="-217">
                <a:latin typeface="Microsoft YaHei"/>
                <a:cs typeface="Microsoft YaHei"/>
              </a:rPr>
              <a:t>规</a:t>
            </a:r>
            <a:r>
              <a:rPr dirty="0" baseline="13888" sz="2100" spc="-1942">
                <a:latin typeface="Microsoft YaHei"/>
                <a:cs typeface="Microsoft YaHei"/>
              </a:rPr>
              <a:t>系</a:t>
            </a:r>
            <a:r>
              <a:rPr dirty="0" baseline="1984" sz="2100" spc="-217">
                <a:latin typeface="Microsoft YaHei"/>
                <a:cs typeface="Microsoft YaHei"/>
              </a:rPr>
              <a:t>划</a:t>
            </a:r>
            <a:r>
              <a:rPr dirty="0" baseline="13888" sz="2100" spc="-1942">
                <a:latin typeface="Microsoft YaHei"/>
                <a:cs typeface="Microsoft YaHei"/>
              </a:rPr>
              <a:t>修</a:t>
            </a:r>
            <a:r>
              <a:rPr dirty="0" baseline="1984" sz="2100" spc="-217">
                <a:latin typeface="Microsoft YaHei"/>
                <a:cs typeface="Microsoft YaHei"/>
              </a:rPr>
              <a:t>信</a:t>
            </a:r>
            <a:r>
              <a:rPr dirty="0" baseline="13888" sz="2100" spc="-1942">
                <a:latin typeface="Microsoft YaHei"/>
                <a:cs typeface="Microsoft YaHei"/>
              </a:rPr>
              <a:t>改</a:t>
            </a:r>
            <a:r>
              <a:rPr dirty="0" baseline="1984" sz="2100" spc="-907">
                <a:latin typeface="Microsoft YaHei"/>
                <a:cs typeface="Microsoft YaHei"/>
              </a:rPr>
              <a:t>息</a:t>
            </a:r>
            <a:r>
              <a:rPr dirty="0" sz="1400" spc="-950">
                <a:latin typeface="Microsoft YaHei"/>
                <a:cs typeface="Microsoft YaHei"/>
              </a:rPr>
              <a:t>进</a:t>
            </a:r>
            <a:r>
              <a:rPr dirty="0" baseline="13888" sz="2100" spc="-1942">
                <a:latin typeface="Microsoft YaHei"/>
                <a:cs typeface="Microsoft YaHei"/>
              </a:rPr>
              <a:t>的</a:t>
            </a:r>
            <a:r>
              <a:rPr dirty="0" baseline="1984" sz="2100" spc="-907">
                <a:latin typeface="Microsoft YaHei"/>
                <a:cs typeface="Microsoft YaHei"/>
              </a:rPr>
              <a:t>：</a:t>
            </a:r>
            <a:r>
              <a:rPr dirty="0" sz="1400" spc="-950">
                <a:latin typeface="Microsoft YaHei"/>
                <a:cs typeface="Microsoft YaHei"/>
              </a:rPr>
              <a:t>入</a:t>
            </a:r>
            <a:r>
              <a:rPr dirty="0" baseline="13888" sz="2100" spc="-727">
                <a:latin typeface="Microsoft YaHei"/>
                <a:cs typeface="Microsoft YaHei"/>
              </a:rPr>
              <a:t>操</a:t>
            </a:r>
            <a:r>
              <a:rPr dirty="0" sz="1400" spc="-950">
                <a:latin typeface="Microsoft YaHei"/>
                <a:cs typeface="Microsoft YaHei"/>
              </a:rPr>
              <a:t>离</a:t>
            </a:r>
            <a:r>
              <a:rPr dirty="0" baseline="13888" sz="2100" spc="-727">
                <a:latin typeface="Microsoft YaHei"/>
                <a:cs typeface="Microsoft YaHei"/>
              </a:rPr>
              <a:t>作</a:t>
            </a:r>
            <a:r>
              <a:rPr dirty="0" sz="1400" spc="-950">
                <a:latin typeface="Microsoft YaHei"/>
                <a:cs typeface="Microsoft YaHei"/>
              </a:rPr>
              <a:t>线</a:t>
            </a:r>
            <a:r>
              <a:rPr dirty="0" baseline="13888" sz="2100" spc="-727">
                <a:latin typeface="Microsoft YaHei"/>
                <a:cs typeface="Microsoft YaHei"/>
              </a:rPr>
              <a:t>方</a:t>
            </a:r>
            <a:r>
              <a:rPr dirty="0" sz="1400" spc="-950">
                <a:latin typeface="Microsoft YaHei"/>
                <a:cs typeface="Microsoft YaHei"/>
              </a:rPr>
              <a:t>网</a:t>
            </a:r>
            <a:r>
              <a:rPr dirty="0" baseline="13888" sz="2100" spc="-727">
                <a:latin typeface="Microsoft YaHei"/>
                <a:cs typeface="Microsoft YaHei"/>
              </a:rPr>
              <a:t>法</a:t>
            </a:r>
            <a:r>
              <a:rPr dirty="0" sz="1400" spc="-950">
                <a:latin typeface="Microsoft YaHei"/>
                <a:cs typeface="Microsoft YaHei"/>
              </a:rPr>
              <a:t>络</a:t>
            </a:r>
            <a:r>
              <a:rPr dirty="0" baseline="13888" sz="2100" spc="-727">
                <a:latin typeface="Microsoft YaHei"/>
                <a:cs typeface="Microsoft YaHei"/>
              </a:rPr>
              <a:t>：</a:t>
            </a:r>
            <a:r>
              <a:rPr dirty="0" sz="1400" spc="-25">
                <a:latin typeface="Microsoft YaHei"/>
                <a:cs typeface="Microsoft YaHei"/>
              </a:rPr>
              <a:t>规划后，界面显示如下图所示：</a:t>
            </a:r>
            <a:endParaRPr sz="1400">
              <a:latin typeface="Microsoft YaHei"/>
              <a:cs typeface="Microsoft YaHei"/>
            </a:endParaRPr>
          </a:p>
        </p:txBody>
      </p:sp>
      <p:sp>
        <p:nvSpPr>
          <p:cNvPr id="173" name="object 173" descr=""/>
          <p:cNvSpPr txBox="1"/>
          <p:nvPr/>
        </p:nvSpPr>
        <p:spPr>
          <a:xfrm>
            <a:off x="266387" y="1645155"/>
            <a:ext cx="421005" cy="269875"/>
          </a:xfrm>
          <a:prstGeom prst="rect">
            <a:avLst/>
          </a:prstGeom>
        </p:spPr>
        <p:txBody>
          <a:bodyPr wrap="square" lIns="0" tIns="12700" rIns="0" bIns="0" rtlCol="0" vert="horz">
            <a:spAutoFit/>
          </a:bodyPr>
          <a:lstStyle/>
          <a:p>
            <a:pPr marL="38100">
              <a:lnSpc>
                <a:spcPct val="100000"/>
              </a:lnSpc>
              <a:spcBef>
                <a:spcPts val="100"/>
              </a:spcBef>
            </a:pPr>
            <a:r>
              <a:rPr dirty="0" sz="1400" spc="-710">
                <a:latin typeface="Microsoft YaHei"/>
                <a:cs typeface="Microsoft YaHei"/>
              </a:rPr>
              <a:t>2</a:t>
            </a:r>
            <a:r>
              <a:rPr dirty="0" baseline="-11904" sz="2100" spc="-1072">
                <a:latin typeface="Microsoft YaHei"/>
                <a:cs typeface="Microsoft YaHei"/>
              </a:rPr>
              <a:t>规</a:t>
            </a:r>
            <a:r>
              <a:rPr dirty="0" sz="1400" spc="-595">
                <a:latin typeface="Microsoft YaHei"/>
                <a:cs typeface="Microsoft YaHei"/>
              </a:rPr>
              <a:t>、</a:t>
            </a:r>
            <a:r>
              <a:rPr dirty="0" baseline="-5208" sz="2400" spc="-75">
                <a:latin typeface="Arial MT"/>
                <a:cs typeface="Arial MT"/>
              </a:rPr>
              <a:t>S</a:t>
            </a:r>
            <a:endParaRPr baseline="-5208" sz="2400">
              <a:latin typeface="Arial MT"/>
              <a:cs typeface="Arial MT"/>
            </a:endParaRPr>
          </a:p>
        </p:txBody>
      </p:sp>
      <p:sp>
        <p:nvSpPr>
          <p:cNvPr id="174" name="object 174" descr=""/>
          <p:cNvSpPr txBox="1"/>
          <p:nvPr/>
        </p:nvSpPr>
        <p:spPr>
          <a:xfrm>
            <a:off x="497586" y="1389553"/>
            <a:ext cx="8128000" cy="554990"/>
          </a:xfrm>
          <a:prstGeom prst="rect">
            <a:avLst/>
          </a:prstGeom>
        </p:spPr>
        <p:txBody>
          <a:bodyPr wrap="square" lIns="0" tIns="0" rIns="0" bIns="0" rtlCol="0" vert="horz">
            <a:spAutoFit/>
          </a:bodyPr>
          <a:lstStyle/>
          <a:p>
            <a:pPr marL="187960">
              <a:lnSpc>
                <a:spcPts val="1590"/>
              </a:lnSpc>
            </a:pPr>
            <a:r>
              <a:rPr dirty="0" sz="1400" spc="-235">
                <a:latin typeface="Microsoft YaHei"/>
                <a:cs typeface="Microsoft YaHei"/>
              </a:rPr>
              <a:t>规划</a:t>
            </a:r>
            <a:r>
              <a:rPr dirty="0" sz="1600" spc="-1180">
                <a:latin typeface="SimSun"/>
                <a:cs typeface="SimSun"/>
              </a:rPr>
              <a:t>参</a:t>
            </a:r>
            <a:r>
              <a:rPr dirty="0" sz="1400" spc="-20">
                <a:latin typeface="Microsoft YaHei"/>
                <a:cs typeface="Microsoft YaHei"/>
              </a:rPr>
              <a:t>要和实际应用保持一致。另：</a:t>
            </a:r>
            <a:r>
              <a:rPr dirty="0" sz="1400" spc="-10">
                <a:latin typeface="Microsoft YaHei"/>
                <a:cs typeface="Microsoft YaHei"/>
              </a:rPr>
              <a:t>4和5</a:t>
            </a:r>
            <a:r>
              <a:rPr dirty="0" sz="1400" spc="-20">
                <a:latin typeface="Microsoft YaHei"/>
                <a:cs typeface="Microsoft YaHei"/>
              </a:rPr>
              <a:t>槽位的板卡实物虽合并为一块HDPSD</a:t>
            </a:r>
            <a:r>
              <a:rPr dirty="0" sz="1400" spc="-25">
                <a:latin typeface="Microsoft YaHei"/>
                <a:cs typeface="Microsoft YaHei"/>
              </a:rPr>
              <a:t>，但板卡规划时，要分开</a:t>
            </a:r>
            <a:endParaRPr sz="1400">
              <a:latin typeface="Microsoft YaHei"/>
              <a:cs typeface="Microsoft YaHei"/>
            </a:endParaRPr>
          </a:p>
          <a:p>
            <a:pPr marL="146050">
              <a:lnSpc>
                <a:spcPts val="1375"/>
              </a:lnSpc>
            </a:pPr>
            <a:r>
              <a:rPr dirty="0" baseline="-9920" sz="2100" spc="-2085">
                <a:latin typeface="Microsoft YaHei"/>
                <a:cs typeface="Microsoft YaHei"/>
              </a:rPr>
              <a:t>如</a:t>
            </a:r>
            <a:r>
              <a:rPr dirty="0" baseline="3968" sz="2100" spc="-1875">
                <a:latin typeface="Microsoft YaHei"/>
                <a:cs typeface="Microsoft YaHei"/>
              </a:rPr>
              <a:t>选</a:t>
            </a:r>
            <a:r>
              <a:rPr dirty="0" baseline="13888" sz="2100" spc="-1800">
                <a:latin typeface="Microsoft YaHei"/>
                <a:cs typeface="Microsoft YaHei"/>
              </a:rPr>
              <a:t>点</a:t>
            </a:r>
            <a:r>
              <a:rPr dirty="0" sz="1400" spc="-645">
                <a:latin typeface="Microsoft YaHei"/>
                <a:cs typeface="Microsoft YaHei"/>
              </a:rPr>
              <a:t>选</a:t>
            </a:r>
            <a:r>
              <a:rPr dirty="0" baseline="3086" sz="2700" spc="-2370">
                <a:latin typeface="SimSun"/>
                <a:cs typeface="SimSun"/>
              </a:rPr>
              <a:t>参</a:t>
            </a:r>
            <a:r>
              <a:rPr dirty="0" baseline="-9920" sz="2100" spc="-2085">
                <a:latin typeface="Microsoft YaHei"/>
                <a:cs typeface="Microsoft YaHei"/>
              </a:rPr>
              <a:t>下</a:t>
            </a:r>
            <a:r>
              <a:rPr dirty="0" baseline="3968" sz="2100" spc="-1875">
                <a:latin typeface="Microsoft YaHei"/>
                <a:cs typeface="Microsoft YaHei"/>
              </a:rPr>
              <a:t>中</a:t>
            </a:r>
            <a:r>
              <a:rPr dirty="0" baseline="13888" sz="2100" spc="-1800">
                <a:latin typeface="Microsoft YaHei"/>
                <a:cs typeface="Microsoft YaHei"/>
              </a:rPr>
              <a:t>击</a:t>
            </a:r>
            <a:r>
              <a:rPr dirty="0" sz="1400" spc="-1140">
                <a:latin typeface="Microsoft YaHei"/>
                <a:cs typeface="Microsoft YaHei"/>
              </a:rPr>
              <a:t>中</a:t>
            </a:r>
            <a:r>
              <a:rPr dirty="0" baseline="19097" sz="2400" spc="-75">
                <a:latin typeface="SimSun"/>
                <a:cs typeface="SimSun"/>
              </a:rPr>
              <a:t>参</a:t>
            </a:r>
            <a:endParaRPr baseline="19097" sz="2400">
              <a:latin typeface="SimSun"/>
              <a:cs typeface="SimSun"/>
            </a:endParaRPr>
          </a:p>
          <a:p>
            <a:pPr>
              <a:lnSpc>
                <a:spcPts val="1360"/>
              </a:lnSpc>
            </a:pPr>
            <a:r>
              <a:rPr dirty="0" sz="1400" spc="-715">
                <a:latin typeface="Microsoft YaHei"/>
                <a:cs typeface="Microsoft YaHei"/>
              </a:rPr>
              <a:t>划</a:t>
            </a:r>
            <a:r>
              <a:rPr dirty="0" baseline="11904" sz="2100" spc="-1387">
                <a:latin typeface="Microsoft YaHei"/>
                <a:cs typeface="Microsoft YaHei"/>
              </a:rPr>
              <a:t>选</a:t>
            </a:r>
            <a:r>
              <a:rPr dirty="0" baseline="5208" sz="2400" spc="-1710">
                <a:latin typeface="Arial MT"/>
                <a:cs typeface="Arial MT"/>
              </a:rPr>
              <a:t>C</a:t>
            </a:r>
            <a:r>
              <a:rPr dirty="0" baseline="35714" sz="2100" spc="-1845">
                <a:latin typeface="Microsoft YaHei"/>
                <a:cs typeface="Microsoft YaHei"/>
              </a:rPr>
              <a:t>选</a:t>
            </a:r>
            <a:r>
              <a:rPr dirty="0" sz="1400" spc="-1395">
                <a:latin typeface="Microsoft YaHei"/>
                <a:cs typeface="Microsoft YaHei"/>
              </a:rPr>
              <a:t>，</a:t>
            </a:r>
            <a:r>
              <a:rPr dirty="0" baseline="23809" sz="2100" spc="-712">
                <a:latin typeface="Microsoft YaHei"/>
                <a:cs typeface="Microsoft YaHei"/>
              </a:rPr>
              <a:t>N</a:t>
            </a:r>
            <a:r>
              <a:rPr dirty="0" baseline="11904" sz="2100" spc="-1747">
                <a:latin typeface="Microsoft YaHei"/>
                <a:cs typeface="Microsoft YaHei"/>
              </a:rPr>
              <a:t>中</a:t>
            </a:r>
            <a:r>
              <a:rPr dirty="0" baseline="5208" sz="2400" spc="-1230">
                <a:latin typeface="Arial MT"/>
                <a:cs typeface="Arial MT"/>
              </a:rPr>
              <a:t>T</a:t>
            </a:r>
            <a:r>
              <a:rPr dirty="0" baseline="23809" sz="2100" spc="-1230">
                <a:latin typeface="Microsoft YaHei"/>
                <a:cs typeface="Microsoft YaHei"/>
              </a:rPr>
              <a:t>R</a:t>
            </a:r>
            <a:r>
              <a:rPr dirty="0" baseline="35714" sz="2100" spc="-1845">
                <a:latin typeface="Microsoft YaHei"/>
                <a:cs typeface="Microsoft YaHei"/>
              </a:rPr>
              <a:t>中</a:t>
            </a:r>
            <a:r>
              <a:rPr dirty="0" sz="1400" spc="-305">
                <a:latin typeface="Microsoft YaHei"/>
                <a:cs typeface="Microsoft YaHei"/>
              </a:rPr>
              <a:t>4</a:t>
            </a:r>
            <a:r>
              <a:rPr dirty="0" baseline="5208" sz="2400" spc="-1410">
                <a:latin typeface="Arial MT"/>
                <a:cs typeface="Arial MT"/>
              </a:rPr>
              <a:t>P</a:t>
            </a:r>
            <a:r>
              <a:rPr dirty="0" baseline="23809" sz="2100" spc="-2085">
                <a:latin typeface="Microsoft YaHei"/>
                <a:cs typeface="Microsoft YaHei"/>
              </a:rPr>
              <a:t>小</a:t>
            </a:r>
            <a:r>
              <a:rPr dirty="0" baseline="11904" sz="2100" spc="-1942">
                <a:latin typeface="Microsoft YaHei"/>
                <a:cs typeface="Microsoft YaHei"/>
              </a:rPr>
              <a:t>需</a:t>
            </a:r>
            <a:r>
              <a:rPr dirty="0" sz="1400" spc="-1025">
                <a:latin typeface="Microsoft YaHei"/>
                <a:cs typeface="Microsoft YaHei"/>
              </a:rPr>
              <a:t>槽</a:t>
            </a:r>
            <a:r>
              <a:rPr dirty="0" baseline="35714" sz="2100" spc="-1552">
                <a:latin typeface="Microsoft YaHei"/>
                <a:cs typeface="Microsoft YaHei"/>
              </a:rPr>
              <a:t>“</a:t>
            </a:r>
            <a:r>
              <a:rPr dirty="0" baseline="5208" sz="2400" spc="-1470">
                <a:latin typeface="SimSun"/>
                <a:cs typeface="SimSun"/>
              </a:rPr>
              <a:t>链</a:t>
            </a:r>
            <a:r>
              <a:rPr dirty="0" sz="1400" spc="-20">
                <a:latin typeface="Microsoft YaHei"/>
                <a:cs typeface="Microsoft YaHei"/>
              </a:rPr>
              <a:t>位</a:t>
            </a:r>
            <a:r>
              <a:rPr dirty="0" sz="1400" spc="-10">
                <a:latin typeface="Microsoft YaHei"/>
                <a:cs typeface="Microsoft YaHei"/>
              </a:rPr>
              <a:t>PSU，5</a:t>
            </a:r>
            <a:r>
              <a:rPr dirty="0" sz="1400" spc="-20">
                <a:latin typeface="Microsoft YaHei"/>
                <a:cs typeface="Microsoft YaHei"/>
              </a:rPr>
              <a:t>槽位EMAU</a:t>
            </a:r>
            <a:r>
              <a:rPr dirty="0" sz="1400" spc="-50">
                <a:latin typeface="Microsoft YaHei"/>
                <a:cs typeface="Microsoft YaHei"/>
              </a:rPr>
              <a:t>。</a:t>
            </a:r>
            <a:endParaRPr sz="1400">
              <a:latin typeface="Microsoft YaHei"/>
              <a:cs typeface="Microsoft YaHei"/>
            </a:endParaRPr>
          </a:p>
        </p:txBody>
      </p:sp>
      <p:grpSp>
        <p:nvGrpSpPr>
          <p:cNvPr id="175" name="object 175" descr=""/>
          <p:cNvGrpSpPr/>
          <p:nvPr/>
        </p:nvGrpSpPr>
        <p:grpSpPr>
          <a:xfrm>
            <a:off x="215900" y="882824"/>
            <a:ext cx="8712200" cy="4041775"/>
            <a:chOff x="215900" y="882824"/>
            <a:chExt cx="8712200" cy="4041775"/>
          </a:xfrm>
        </p:grpSpPr>
        <p:pic>
          <p:nvPicPr>
            <p:cNvPr id="176" name="object 176"/>
            <p:cNvPicPr/>
            <p:nvPr/>
          </p:nvPicPr>
          <p:blipFill>
            <a:blip r:embed="rId24" cstate="print"/>
            <a:stretch>
              <a:fillRect/>
            </a:stretch>
          </p:blipFill>
          <p:spPr>
            <a:xfrm>
              <a:off x="1187627" y="2067699"/>
              <a:ext cx="6840755" cy="2592282"/>
            </a:xfrm>
            <a:prstGeom prst="rect">
              <a:avLst/>
            </a:prstGeom>
          </p:spPr>
        </p:pic>
        <p:sp>
          <p:nvSpPr>
            <p:cNvPr id="177" name="object 177" descr=""/>
            <p:cNvSpPr/>
            <p:nvPr/>
          </p:nvSpPr>
          <p:spPr>
            <a:xfrm>
              <a:off x="325760" y="889174"/>
              <a:ext cx="0" cy="383540"/>
            </a:xfrm>
            <a:custGeom>
              <a:avLst/>
              <a:gdLst/>
              <a:ahLst/>
              <a:cxnLst/>
              <a:rect l="l" t="t" r="r" b="b"/>
              <a:pathLst>
                <a:path w="0" h="383540">
                  <a:moveTo>
                    <a:pt x="0" y="0"/>
                  </a:moveTo>
                  <a:lnTo>
                    <a:pt x="0" y="383540"/>
                  </a:lnTo>
                </a:path>
              </a:pathLst>
            </a:custGeom>
            <a:ln w="12700">
              <a:solidFill>
                <a:srgbClr val="000000"/>
              </a:solidFill>
            </a:ln>
          </p:spPr>
          <p:txBody>
            <a:bodyPr wrap="square" lIns="0" tIns="0" rIns="0" bIns="0" rtlCol="0"/>
            <a:lstStyle/>
            <a:p/>
          </p:txBody>
        </p:sp>
        <p:sp>
          <p:nvSpPr>
            <p:cNvPr id="178" name="object 178" descr=""/>
            <p:cNvSpPr/>
            <p:nvPr/>
          </p:nvSpPr>
          <p:spPr>
            <a:xfrm>
              <a:off x="8915327" y="889174"/>
              <a:ext cx="0" cy="383540"/>
            </a:xfrm>
            <a:custGeom>
              <a:avLst/>
              <a:gdLst/>
              <a:ahLst/>
              <a:cxnLst/>
              <a:rect l="l" t="t" r="r" b="b"/>
              <a:pathLst>
                <a:path w="0" h="383540">
                  <a:moveTo>
                    <a:pt x="0" y="0"/>
                  </a:moveTo>
                  <a:lnTo>
                    <a:pt x="0" y="383540"/>
                  </a:lnTo>
                </a:path>
              </a:pathLst>
            </a:custGeom>
            <a:ln w="12700">
              <a:solidFill>
                <a:srgbClr val="000000"/>
              </a:solidFill>
            </a:ln>
          </p:spPr>
          <p:txBody>
            <a:bodyPr wrap="square" lIns="0" tIns="0" rIns="0" bIns="0" rtlCol="0"/>
            <a:lstStyle/>
            <a:p/>
          </p:txBody>
        </p:sp>
        <p:sp>
          <p:nvSpPr>
            <p:cNvPr id="179" name="object 179" descr=""/>
            <p:cNvSpPr/>
            <p:nvPr/>
          </p:nvSpPr>
          <p:spPr>
            <a:xfrm>
              <a:off x="319410" y="895524"/>
              <a:ext cx="8602345" cy="0"/>
            </a:xfrm>
            <a:custGeom>
              <a:avLst/>
              <a:gdLst/>
              <a:ahLst/>
              <a:cxnLst/>
              <a:rect l="l" t="t" r="r" b="b"/>
              <a:pathLst>
                <a:path w="8602345" h="0">
                  <a:moveTo>
                    <a:pt x="0" y="0"/>
                  </a:moveTo>
                  <a:lnTo>
                    <a:pt x="8602268" y="0"/>
                  </a:lnTo>
                </a:path>
              </a:pathLst>
            </a:custGeom>
            <a:ln w="12700">
              <a:solidFill>
                <a:srgbClr val="000000"/>
              </a:solidFill>
            </a:ln>
          </p:spPr>
          <p:txBody>
            <a:bodyPr wrap="square" lIns="0" tIns="0" rIns="0" bIns="0" rtlCol="0"/>
            <a:lstStyle/>
            <a:p/>
          </p:txBody>
        </p:sp>
        <p:sp>
          <p:nvSpPr>
            <p:cNvPr id="180" name="object 180" descr=""/>
            <p:cNvSpPr/>
            <p:nvPr/>
          </p:nvSpPr>
          <p:spPr>
            <a:xfrm>
              <a:off x="319410" y="1266364"/>
              <a:ext cx="8602345" cy="0"/>
            </a:xfrm>
            <a:custGeom>
              <a:avLst/>
              <a:gdLst/>
              <a:ahLst/>
              <a:cxnLst/>
              <a:rect l="l" t="t" r="r" b="b"/>
              <a:pathLst>
                <a:path w="8602345" h="0">
                  <a:moveTo>
                    <a:pt x="0" y="0"/>
                  </a:moveTo>
                  <a:lnTo>
                    <a:pt x="8602268" y="0"/>
                  </a:lnTo>
                </a:path>
              </a:pathLst>
            </a:custGeom>
            <a:ln w="12700">
              <a:solidFill>
                <a:srgbClr val="000000"/>
              </a:solidFill>
            </a:ln>
          </p:spPr>
          <p:txBody>
            <a:bodyPr wrap="square" lIns="0" tIns="0" rIns="0" bIns="0" rtlCol="0"/>
            <a:lstStyle/>
            <a:p/>
          </p:txBody>
        </p:sp>
        <p:pic>
          <p:nvPicPr>
            <p:cNvPr id="181" name="object 181"/>
            <p:cNvPicPr/>
            <p:nvPr/>
          </p:nvPicPr>
          <p:blipFill>
            <a:blip r:embed="rId25" cstate="print"/>
            <a:stretch>
              <a:fillRect/>
            </a:stretch>
          </p:blipFill>
          <p:spPr>
            <a:xfrm>
              <a:off x="685800" y="1504950"/>
              <a:ext cx="7920880" cy="3419648"/>
            </a:xfrm>
            <a:prstGeom prst="rect">
              <a:avLst/>
            </a:prstGeom>
          </p:spPr>
        </p:pic>
        <p:sp>
          <p:nvSpPr>
            <p:cNvPr id="182" name="object 182" descr=""/>
            <p:cNvSpPr/>
            <p:nvPr/>
          </p:nvSpPr>
          <p:spPr>
            <a:xfrm>
              <a:off x="228600" y="899219"/>
              <a:ext cx="0" cy="1384300"/>
            </a:xfrm>
            <a:custGeom>
              <a:avLst/>
              <a:gdLst/>
              <a:ahLst/>
              <a:cxnLst/>
              <a:rect l="l" t="t" r="r" b="b"/>
              <a:pathLst>
                <a:path w="0" h="1384300">
                  <a:moveTo>
                    <a:pt x="0" y="0"/>
                  </a:moveTo>
                  <a:lnTo>
                    <a:pt x="0" y="1384300"/>
                  </a:lnTo>
                </a:path>
              </a:pathLst>
            </a:custGeom>
            <a:ln w="12700">
              <a:solidFill>
                <a:srgbClr val="000000"/>
              </a:solidFill>
            </a:ln>
          </p:spPr>
          <p:txBody>
            <a:bodyPr wrap="square" lIns="0" tIns="0" rIns="0" bIns="0" rtlCol="0"/>
            <a:lstStyle/>
            <a:p/>
          </p:txBody>
        </p:sp>
        <p:sp>
          <p:nvSpPr>
            <p:cNvPr id="183" name="object 183" descr=""/>
            <p:cNvSpPr/>
            <p:nvPr/>
          </p:nvSpPr>
          <p:spPr>
            <a:xfrm>
              <a:off x="8869560" y="899219"/>
              <a:ext cx="0" cy="1384300"/>
            </a:xfrm>
            <a:custGeom>
              <a:avLst/>
              <a:gdLst/>
              <a:ahLst/>
              <a:cxnLst/>
              <a:rect l="l" t="t" r="r" b="b"/>
              <a:pathLst>
                <a:path w="0" h="1384300">
                  <a:moveTo>
                    <a:pt x="0" y="0"/>
                  </a:moveTo>
                  <a:lnTo>
                    <a:pt x="0" y="1384300"/>
                  </a:lnTo>
                </a:path>
              </a:pathLst>
            </a:custGeom>
            <a:ln w="12700">
              <a:solidFill>
                <a:srgbClr val="000000"/>
              </a:solidFill>
            </a:ln>
          </p:spPr>
          <p:txBody>
            <a:bodyPr wrap="square" lIns="0" tIns="0" rIns="0" bIns="0" rtlCol="0"/>
            <a:lstStyle/>
            <a:p/>
          </p:txBody>
        </p:sp>
        <p:sp>
          <p:nvSpPr>
            <p:cNvPr id="184" name="object 184" descr=""/>
            <p:cNvSpPr/>
            <p:nvPr/>
          </p:nvSpPr>
          <p:spPr>
            <a:xfrm>
              <a:off x="222250" y="905569"/>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sp>
          <p:nvSpPr>
            <p:cNvPr id="185" name="object 185" descr=""/>
            <p:cNvSpPr/>
            <p:nvPr/>
          </p:nvSpPr>
          <p:spPr>
            <a:xfrm>
              <a:off x="222250" y="2277169"/>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grpSp>
      <p:sp>
        <p:nvSpPr>
          <p:cNvPr id="186" name="object 186" descr=""/>
          <p:cNvSpPr txBox="1"/>
          <p:nvPr/>
        </p:nvSpPr>
        <p:spPr>
          <a:xfrm>
            <a:off x="675131" y="1963803"/>
            <a:ext cx="1243330" cy="234950"/>
          </a:xfrm>
          <a:prstGeom prst="rect">
            <a:avLst/>
          </a:prstGeom>
        </p:spPr>
        <p:txBody>
          <a:bodyPr wrap="square" lIns="0" tIns="10160" rIns="0" bIns="0" rtlCol="0" vert="horz">
            <a:spAutoFit/>
          </a:bodyPr>
          <a:lstStyle/>
          <a:p>
            <a:pPr>
              <a:lnSpc>
                <a:spcPct val="100000"/>
              </a:lnSpc>
              <a:spcBef>
                <a:spcPts val="80"/>
              </a:spcBef>
            </a:pPr>
            <a:r>
              <a:rPr dirty="0" sz="1400" spc="-25">
                <a:latin typeface="Microsoft YaHei"/>
                <a:cs typeface="Microsoft YaHei"/>
              </a:rPr>
              <a:t>下发网络规划。</a:t>
            </a:r>
            <a:endParaRPr sz="1400">
              <a:latin typeface="Microsoft YaHei"/>
              <a:cs typeface="Microsoft YaHei"/>
            </a:endParaRPr>
          </a:p>
        </p:txBody>
      </p:sp>
      <p:sp>
        <p:nvSpPr>
          <p:cNvPr id="187" name="object 187" descr=""/>
          <p:cNvSpPr txBox="1"/>
          <p:nvPr/>
        </p:nvSpPr>
        <p:spPr>
          <a:xfrm>
            <a:off x="320040" y="1963803"/>
            <a:ext cx="4011929" cy="2647950"/>
          </a:xfrm>
          <a:prstGeom prst="rect">
            <a:avLst/>
          </a:prstGeom>
        </p:spPr>
        <p:txBody>
          <a:bodyPr wrap="square" lIns="0" tIns="121285" rIns="0" bIns="0" rtlCol="0" vert="horz">
            <a:spAutoFit/>
          </a:bodyPr>
          <a:lstStyle/>
          <a:p>
            <a:pPr>
              <a:lnSpc>
                <a:spcPct val="100000"/>
              </a:lnSpc>
              <a:spcBef>
                <a:spcPts val="955"/>
              </a:spcBef>
              <a:tabLst>
                <a:tab pos="690880" algn="l"/>
                <a:tab pos="3197225" algn="l"/>
              </a:tabLst>
            </a:pPr>
            <a:r>
              <a:rPr dirty="0" baseline="43650" sz="2100" spc="-30">
                <a:latin typeface="Microsoft YaHei"/>
                <a:cs typeface="Microsoft YaHei"/>
              </a:rPr>
              <a:t>右</a:t>
            </a:r>
            <a:r>
              <a:rPr dirty="0" baseline="43650" sz="2100" spc="-75">
                <a:latin typeface="Microsoft YaHei"/>
                <a:cs typeface="Microsoft YaHei"/>
              </a:rPr>
              <a:t>键</a:t>
            </a:r>
            <a:r>
              <a:rPr dirty="0" baseline="43650" sz="2100">
                <a:latin typeface="Microsoft YaHei"/>
                <a:cs typeface="Microsoft YaHei"/>
              </a:rPr>
              <a:t>	</a:t>
            </a:r>
            <a:r>
              <a:rPr dirty="0" sz="1600">
                <a:latin typeface="Microsoft YaHei"/>
                <a:cs typeface="Microsoft YaHei"/>
              </a:rPr>
              <a:t>小区友好</a:t>
            </a:r>
            <a:r>
              <a:rPr dirty="0" sz="1600" spc="-50">
                <a:latin typeface="Microsoft YaHei"/>
                <a:cs typeface="Microsoft YaHei"/>
              </a:rPr>
              <a:t>名</a:t>
            </a:r>
            <a:r>
              <a:rPr dirty="0" sz="1600">
                <a:latin typeface="Microsoft YaHei"/>
                <a:cs typeface="Microsoft YaHei"/>
              </a:rPr>
              <a:t>	小区名</a:t>
            </a:r>
            <a:r>
              <a:rPr dirty="0" sz="1600" spc="-50">
                <a:latin typeface="Microsoft YaHei"/>
                <a:cs typeface="Microsoft YaHei"/>
              </a:rPr>
              <a:t>称</a:t>
            </a:r>
            <a:endParaRPr sz="1600">
              <a:latin typeface="Microsoft YaHei"/>
              <a:cs typeface="Microsoft YaHei"/>
            </a:endParaRPr>
          </a:p>
          <a:p>
            <a:pPr algn="r" marR="238760">
              <a:lnSpc>
                <a:spcPct val="100000"/>
              </a:lnSpc>
              <a:spcBef>
                <a:spcPts val="1460"/>
              </a:spcBef>
              <a:tabLst>
                <a:tab pos="2757805" algn="l"/>
              </a:tabLst>
            </a:pPr>
            <a:r>
              <a:rPr dirty="0" sz="1600">
                <a:latin typeface="Microsoft YaHei"/>
                <a:cs typeface="Microsoft YaHei"/>
              </a:rPr>
              <a:t>小区物理</a:t>
            </a:r>
            <a:r>
              <a:rPr dirty="0" sz="1600" spc="-25">
                <a:latin typeface="Microsoft YaHei"/>
                <a:cs typeface="Microsoft YaHei"/>
              </a:rPr>
              <a:t>ID</a:t>
            </a:r>
            <a:r>
              <a:rPr dirty="0" sz="1600">
                <a:latin typeface="Microsoft YaHei"/>
                <a:cs typeface="Microsoft YaHei"/>
              </a:rPr>
              <a:t>	</a:t>
            </a:r>
            <a:r>
              <a:rPr dirty="0" sz="1600" spc="-25">
                <a:latin typeface="Microsoft YaHei"/>
                <a:cs typeface="Microsoft YaHei"/>
              </a:rPr>
              <a:t>PCI</a:t>
            </a:r>
            <a:endParaRPr sz="1600">
              <a:latin typeface="Microsoft YaHei"/>
              <a:cs typeface="Microsoft YaHei"/>
            </a:endParaRPr>
          </a:p>
          <a:p>
            <a:pPr algn="r" marR="238760">
              <a:lnSpc>
                <a:spcPct val="100000"/>
              </a:lnSpc>
              <a:spcBef>
                <a:spcPts val="1300"/>
              </a:spcBef>
              <a:tabLst>
                <a:tab pos="2961640" algn="l"/>
              </a:tabLst>
            </a:pPr>
            <a:r>
              <a:rPr dirty="0" sz="1600">
                <a:latin typeface="Microsoft YaHei"/>
                <a:cs typeface="Microsoft YaHei"/>
              </a:rPr>
              <a:t>小区物理</a:t>
            </a:r>
            <a:r>
              <a:rPr dirty="0" sz="1600" spc="-20">
                <a:latin typeface="Microsoft YaHei"/>
                <a:cs typeface="Microsoft YaHei"/>
              </a:rPr>
              <a:t>ID</a:t>
            </a:r>
            <a:r>
              <a:rPr dirty="0" sz="1600">
                <a:latin typeface="Microsoft YaHei"/>
                <a:cs typeface="Microsoft YaHei"/>
              </a:rPr>
              <a:t>列</a:t>
            </a:r>
            <a:r>
              <a:rPr dirty="0" sz="1600" spc="-50">
                <a:latin typeface="Microsoft YaHei"/>
                <a:cs typeface="Microsoft YaHei"/>
              </a:rPr>
              <a:t>表</a:t>
            </a:r>
            <a:r>
              <a:rPr dirty="0" sz="1600">
                <a:latin typeface="Microsoft YaHei"/>
                <a:cs typeface="Microsoft YaHei"/>
              </a:rPr>
              <a:t>	</a:t>
            </a:r>
            <a:r>
              <a:rPr dirty="0" sz="1600" spc="-25">
                <a:latin typeface="Microsoft YaHei"/>
                <a:cs typeface="Microsoft YaHei"/>
              </a:rPr>
              <a:t>PCI</a:t>
            </a:r>
            <a:endParaRPr sz="1600">
              <a:latin typeface="Microsoft YaHei"/>
              <a:cs typeface="Microsoft YaHei"/>
            </a:endParaRPr>
          </a:p>
          <a:p>
            <a:pPr algn="r" marR="211454">
              <a:lnSpc>
                <a:spcPct val="100000"/>
              </a:lnSpc>
              <a:spcBef>
                <a:spcPts val="1300"/>
              </a:spcBef>
              <a:tabLst>
                <a:tab pos="3034665" algn="l"/>
              </a:tabLst>
            </a:pPr>
            <a:r>
              <a:rPr dirty="0" sz="1600">
                <a:latin typeface="Microsoft YaHei"/>
                <a:cs typeface="Microsoft YaHei"/>
              </a:rPr>
              <a:t>小区所属跟踪区</a:t>
            </a:r>
            <a:r>
              <a:rPr dirty="0" sz="1600" spc="-25">
                <a:latin typeface="Microsoft YaHei"/>
                <a:cs typeface="Microsoft YaHei"/>
              </a:rPr>
              <a:t>ID</a:t>
            </a:r>
            <a:r>
              <a:rPr dirty="0" sz="1600">
                <a:latin typeface="Microsoft YaHei"/>
                <a:cs typeface="Microsoft YaHei"/>
              </a:rPr>
              <a:t>	</a:t>
            </a:r>
            <a:r>
              <a:rPr dirty="0" sz="1600" spc="-25">
                <a:latin typeface="Microsoft YaHei"/>
                <a:cs typeface="Microsoft YaHei"/>
              </a:rPr>
              <a:t>TAC</a:t>
            </a:r>
            <a:endParaRPr sz="1600">
              <a:latin typeface="Microsoft YaHei"/>
              <a:cs typeface="Microsoft YaHei"/>
            </a:endParaRPr>
          </a:p>
          <a:p>
            <a:pPr algn="r" marR="167005">
              <a:lnSpc>
                <a:spcPct val="100000"/>
              </a:lnSpc>
              <a:spcBef>
                <a:spcPts val="1300"/>
              </a:spcBef>
              <a:tabLst>
                <a:tab pos="2679700" algn="l"/>
              </a:tabLst>
            </a:pPr>
            <a:r>
              <a:rPr dirty="0" sz="1600">
                <a:latin typeface="Microsoft YaHei"/>
                <a:cs typeface="Microsoft YaHei"/>
              </a:rPr>
              <a:t>移动国家</a:t>
            </a:r>
            <a:r>
              <a:rPr dirty="0" sz="1600" spc="-50">
                <a:latin typeface="Microsoft YaHei"/>
                <a:cs typeface="Microsoft YaHei"/>
              </a:rPr>
              <a:t>码</a:t>
            </a:r>
            <a:r>
              <a:rPr dirty="0" sz="1600">
                <a:latin typeface="Microsoft YaHei"/>
                <a:cs typeface="Microsoft YaHei"/>
              </a:rPr>
              <a:t>	</a:t>
            </a:r>
            <a:r>
              <a:rPr dirty="0" sz="1600" spc="-25">
                <a:latin typeface="Microsoft YaHei"/>
                <a:cs typeface="Microsoft YaHei"/>
              </a:rPr>
              <a:t>MCC</a:t>
            </a:r>
            <a:endParaRPr sz="1600">
              <a:latin typeface="Microsoft YaHei"/>
              <a:cs typeface="Microsoft YaHei"/>
            </a:endParaRPr>
          </a:p>
          <a:p>
            <a:pPr algn="r" marR="149225">
              <a:lnSpc>
                <a:spcPct val="100000"/>
              </a:lnSpc>
              <a:spcBef>
                <a:spcPts val="2910"/>
              </a:spcBef>
              <a:tabLst>
                <a:tab pos="2661920" algn="l"/>
              </a:tabLst>
            </a:pPr>
            <a:r>
              <a:rPr dirty="0" sz="1600">
                <a:latin typeface="Microsoft YaHei"/>
                <a:cs typeface="Microsoft YaHei"/>
              </a:rPr>
              <a:t>移动网络</a:t>
            </a:r>
            <a:r>
              <a:rPr dirty="0" sz="1600" spc="-50">
                <a:latin typeface="Microsoft YaHei"/>
                <a:cs typeface="Microsoft YaHei"/>
              </a:rPr>
              <a:t>码</a:t>
            </a:r>
            <a:r>
              <a:rPr dirty="0" sz="1600">
                <a:latin typeface="Microsoft YaHei"/>
                <a:cs typeface="Microsoft YaHei"/>
              </a:rPr>
              <a:t>	</a:t>
            </a:r>
            <a:r>
              <a:rPr dirty="0" sz="1600" spc="-25">
                <a:latin typeface="Microsoft YaHei"/>
                <a:cs typeface="Microsoft YaHei"/>
              </a:rPr>
              <a:t>MNC</a:t>
            </a:r>
            <a:endParaRPr sz="1600">
              <a:latin typeface="Microsoft YaHei"/>
              <a:cs typeface="Microsoft YaHei"/>
            </a:endParaRPr>
          </a:p>
        </p:txBody>
      </p:sp>
      <p:grpSp>
        <p:nvGrpSpPr>
          <p:cNvPr id="188" name="object 188" descr=""/>
          <p:cNvGrpSpPr/>
          <p:nvPr/>
        </p:nvGrpSpPr>
        <p:grpSpPr>
          <a:xfrm>
            <a:off x="209551" y="882650"/>
            <a:ext cx="8679180" cy="4052570"/>
            <a:chOff x="209551" y="882650"/>
            <a:chExt cx="8679180" cy="4052570"/>
          </a:xfrm>
        </p:grpSpPr>
        <p:pic>
          <p:nvPicPr>
            <p:cNvPr id="189" name="object 189"/>
            <p:cNvPicPr/>
            <p:nvPr/>
          </p:nvPicPr>
          <p:blipFill>
            <a:blip r:embed="rId26" cstate="print"/>
            <a:stretch>
              <a:fillRect/>
            </a:stretch>
          </p:blipFill>
          <p:spPr>
            <a:xfrm>
              <a:off x="228599" y="2419350"/>
              <a:ext cx="4896543" cy="2483543"/>
            </a:xfrm>
            <a:prstGeom prst="rect">
              <a:avLst/>
            </a:prstGeom>
          </p:spPr>
        </p:pic>
        <p:pic>
          <p:nvPicPr>
            <p:cNvPr id="190" name="object 190"/>
            <p:cNvPicPr/>
            <p:nvPr/>
          </p:nvPicPr>
          <p:blipFill>
            <a:blip r:embed="rId27" cstate="print"/>
            <a:stretch>
              <a:fillRect/>
            </a:stretch>
          </p:blipFill>
          <p:spPr>
            <a:xfrm>
              <a:off x="5845225" y="2419350"/>
              <a:ext cx="3024333" cy="2515491"/>
            </a:xfrm>
            <a:prstGeom prst="rect">
              <a:avLst/>
            </a:prstGeom>
          </p:spPr>
        </p:pic>
        <p:sp>
          <p:nvSpPr>
            <p:cNvPr id="191" name="object 191" descr=""/>
            <p:cNvSpPr/>
            <p:nvPr/>
          </p:nvSpPr>
          <p:spPr>
            <a:xfrm>
              <a:off x="228599" y="889000"/>
              <a:ext cx="0" cy="762000"/>
            </a:xfrm>
            <a:custGeom>
              <a:avLst/>
              <a:gdLst/>
              <a:ahLst/>
              <a:cxnLst/>
              <a:rect l="l" t="t" r="r" b="b"/>
              <a:pathLst>
                <a:path w="0" h="762000">
                  <a:moveTo>
                    <a:pt x="0" y="0"/>
                  </a:moveTo>
                  <a:lnTo>
                    <a:pt x="0" y="761949"/>
                  </a:lnTo>
                </a:path>
              </a:pathLst>
            </a:custGeom>
            <a:ln w="12700">
              <a:solidFill>
                <a:srgbClr val="000000"/>
              </a:solidFill>
            </a:ln>
          </p:spPr>
          <p:txBody>
            <a:bodyPr wrap="square" lIns="0" tIns="0" rIns="0" bIns="0" rtlCol="0"/>
            <a:lstStyle/>
            <a:p/>
          </p:txBody>
        </p:sp>
        <p:sp>
          <p:nvSpPr>
            <p:cNvPr id="192" name="object 192" descr=""/>
            <p:cNvSpPr/>
            <p:nvPr/>
          </p:nvSpPr>
          <p:spPr>
            <a:xfrm>
              <a:off x="8869560" y="889000"/>
              <a:ext cx="0" cy="762000"/>
            </a:xfrm>
            <a:custGeom>
              <a:avLst/>
              <a:gdLst/>
              <a:ahLst/>
              <a:cxnLst/>
              <a:rect l="l" t="t" r="r" b="b"/>
              <a:pathLst>
                <a:path w="0" h="762000">
                  <a:moveTo>
                    <a:pt x="0" y="0"/>
                  </a:moveTo>
                  <a:lnTo>
                    <a:pt x="0" y="761949"/>
                  </a:lnTo>
                </a:path>
              </a:pathLst>
            </a:custGeom>
            <a:ln w="12700">
              <a:solidFill>
                <a:srgbClr val="000000"/>
              </a:solidFill>
            </a:ln>
          </p:spPr>
          <p:txBody>
            <a:bodyPr wrap="square" lIns="0" tIns="0" rIns="0" bIns="0" rtlCol="0"/>
            <a:lstStyle/>
            <a:p/>
          </p:txBody>
        </p:sp>
        <p:sp>
          <p:nvSpPr>
            <p:cNvPr id="193" name="object 193" descr=""/>
            <p:cNvSpPr/>
            <p:nvPr/>
          </p:nvSpPr>
          <p:spPr>
            <a:xfrm>
              <a:off x="222249" y="895350"/>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sp>
          <p:nvSpPr>
            <p:cNvPr id="194" name="object 194" descr=""/>
            <p:cNvSpPr/>
            <p:nvPr/>
          </p:nvSpPr>
          <p:spPr>
            <a:xfrm>
              <a:off x="222249" y="1644600"/>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pic>
          <p:nvPicPr>
            <p:cNvPr id="195" name="object 195"/>
            <p:cNvPicPr/>
            <p:nvPr/>
          </p:nvPicPr>
          <p:blipFill>
            <a:blip r:embed="rId28" cstate="print"/>
            <a:stretch>
              <a:fillRect/>
            </a:stretch>
          </p:blipFill>
          <p:spPr>
            <a:xfrm>
              <a:off x="773785" y="2047836"/>
              <a:ext cx="7591716" cy="2837123"/>
            </a:xfrm>
            <a:prstGeom prst="rect">
              <a:avLst/>
            </a:prstGeom>
          </p:spPr>
        </p:pic>
        <p:sp>
          <p:nvSpPr>
            <p:cNvPr id="196" name="object 196" descr=""/>
            <p:cNvSpPr/>
            <p:nvPr/>
          </p:nvSpPr>
          <p:spPr>
            <a:xfrm>
              <a:off x="228599" y="965200"/>
              <a:ext cx="0" cy="383540"/>
            </a:xfrm>
            <a:custGeom>
              <a:avLst/>
              <a:gdLst/>
              <a:ahLst/>
              <a:cxnLst/>
              <a:rect l="l" t="t" r="r" b="b"/>
              <a:pathLst>
                <a:path w="0" h="383540">
                  <a:moveTo>
                    <a:pt x="0" y="0"/>
                  </a:moveTo>
                  <a:lnTo>
                    <a:pt x="0" y="383540"/>
                  </a:lnTo>
                </a:path>
              </a:pathLst>
            </a:custGeom>
            <a:ln w="12700">
              <a:solidFill>
                <a:srgbClr val="000000"/>
              </a:solidFill>
            </a:ln>
          </p:spPr>
          <p:txBody>
            <a:bodyPr wrap="square" lIns="0" tIns="0" rIns="0" bIns="0" rtlCol="0"/>
            <a:lstStyle/>
            <a:p/>
          </p:txBody>
        </p:sp>
        <p:sp>
          <p:nvSpPr>
            <p:cNvPr id="197" name="object 197" descr=""/>
            <p:cNvSpPr/>
            <p:nvPr/>
          </p:nvSpPr>
          <p:spPr>
            <a:xfrm>
              <a:off x="8869560" y="965200"/>
              <a:ext cx="0" cy="383540"/>
            </a:xfrm>
            <a:custGeom>
              <a:avLst/>
              <a:gdLst/>
              <a:ahLst/>
              <a:cxnLst/>
              <a:rect l="l" t="t" r="r" b="b"/>
              <a:pathLst>
                <a:path w="0" h="383540">
                  <a:moveTo>
                    <a:pt x="0" y="0"/>
                  </a:moveTo>
                  <a:lnTo>
                    <a:pt x="0" y="383540"/>
                  </a:lnTo>
                </a:path>
              </a:pathLst>
            </a:custGeom>
            <a:ln w="12700">
              <a:solidFill>
                <a:srgbClr val="000000"/>
              </a:solidFill>
            </a:ln>
          </p:spPr>
          <p:txBody>
            <a:bodyPr wrap="square" lIns="0" tIns="0" rIns="0" bIns="0" rtlCol="0"/>
            <a:lstStyle/>
            <a:p/>
          </p:txBody>
        </p:sp>
        <p:sp>
          <p:nvSpPr>
            <p:cNvPr id="198" name="object 198" descr=""/>
            <p:cNvSpPr/>
            <p:nvPr/>
          </p:nvSpPr>
          <p:spPr>
            <a:xfrm>
              <a:off x="222249" y="971550"/>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sp>
          <p:nvSpPr>
            <p:cNvPr id="199" name="object 199" descr=""/>
            <p:cNvSpPr/>
            <p:nvPr/>
          </p:nvSpPr>
          <p:spPr>
            <a:xfrm>
              <a:off x="222249" y="1342390"/>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sp>
          <p:nvSpPr>
            <p:cNvPr id="200" name="object 200" descr=""/>
            <p:cNvSpPr/>
            <p:nvPr/>
          </p:nvSpPr>
          <p:spPr>
            <a:xfrm>
              <a:off x="228600" y="1989912"/>
              <a:ext cx="8641080" cy="2085975"/>
            </a:xfrm>
            <a:custGeom>
              <a:avLst/>
              <a:gdLst/>
              <a:ahLst/>
              <a:cxnLst/>
              <a:rect l="l" t="t" r="r" b="b"/>
              <a:pathLst>
                <a:path w="8641080" h="2085975">
                  <a:moveTo>
                    <a:pt x="4808055" y="1676628"/>
                  </a:moveTo>
                  <a:lnTo>
                    <a:pt x="2583154" y="1676628"/>
                  </a:lnTo>
                  <a:lnTo>
                    <a:pt x="0" y="1676628"/>
                  </a:lnTo>
                  <a:lnTo>
                    <a:pt x="0" y="2085568"/>
                  </a:lnTo>
                  <a:lnTo>
                    <a:pt x="2583154" y="2085568"/>
                  </a:lnTo>
                  <a:lnTo>
                    <a:pt x="4808055" y="2085568"/>
                  </a:lnTo>
                  <a:lnTo>
                    <a:pt x="4808055" y="1676628"/>
                  </a:lnTo>
                  <a:close/>
                </a:path>
                <a:path w="8641080" h="2085975">
                  <a:moveTo>
                    <a:pt x="4808055" y="858748"/>
                  </a:moveTo>
                  <a:lnTo>
                    <a:pt x="2583154" y="858748"/>
                  </a:lnTo>
                  <a:lnTo>
                    <a:pt x="0" y="858748"/>
                  </a:lnTo>
                  <a:lnTo>
                    <a:pt x="0" y="1267701"/>
                  </a:lnTo>
                  <a:lnTo>
                    <a:pt x="2583154" y="1267701"/>
                  </a:lnTo>
                  <a:lnTo>
                    <a:pt x="4808055" y="1267701"/>
                  </a:lnTo>
                  <a:lnTo>
                    <a:pt x="4808055" y="858748"/>
                  </a:lnTo>
                  <a:close/>
                </a:path>
                <a:path w="8641080" h="2085975">
                  <a:moveTo>
                    <a:pt x="4808055" y="0"/>
                  </a:moveTo>
                  <a:lnTo>
                    <a:pt x="2583154" y="0"/>
                  </a:lnTo>
                  <a:lnTo>
                    <a:pt x="0" y="0"/>
                  </a:lnTo>
                  <a:lnTo>
                    <a:pt x="0" y="449834"/>
                  </a:lnTo>
                  <a:lnTo>
                    <a:pt x="2583154" y="449834"/>
                  </a:lnTo>
                  <a:lnTo>
                    <a:pt x="4808055" y="449834"/>
                  </a:lnTo>
                  <a:lnTo>
                    <a:pt x="4808055" y="0"/>
                  </a:lnTo>
                  <a:close/>
                </a:path>
                <a:path w="8641080" h="2085975">
                  <a:moveTo>
                    <a:pt x="8640966" y="1676628"/>
                  </a:moveTo>
                  <a:lnTo>
                    <a:pt x="4808080" y="1676628"/>
                  </a:lnTo>
                  <a:lnTo>
                    <a:pt x="4808080" y="2085568"/>
                  </a:lnTo>
                  <a:lnTo>
                    <a:pt x="8640966" y="2085568"/>
                  </a:lnTo>
                  <a:lnTo>
                    <a:pt x="8640966" y="1676628"/>
                  </a:lnTo>
                  <a:close/>
                </a:path>
                <a:path w="8641080" h="2085975">
                  <a:moveTo>
                    <a:pt x="8640966" y="858748"/>
                  </a:moveTo>
                  <a:lnTo>
                    <a:pt x="4808080" y="858748"/>
                  </a:lnTo>
                  <a:lnTo>
                    <a:pt x="4808080" y="1267701"/>
                  </a:lnTo>
                  <a:lnTo>
                    <a:pt x="8640966" y="1267701"/>
                  </a:lnTo>
                  <a:lnTo>
                    <a:pt x="8640966" y="858748"/>
                  </a:lnTo>
                  <a:close/>
                </a:path>
                <a:path w="8641080" h="2085975">
                  <a:moveTo>
                    <a:pt x="8640966" y="0"/>
                  </a:moveTo>
                  <a:lnTo>
                    <a:pt x="4808080" y="0"/>
                  </a:lnTo>
                  <a:lnTo>
                    <a:pt x="4808080" y="449834"/>
                  </a:lnTo>
                  <a:lnTo>
                    <a:pt x="8640966" y="449834"/>
                  </a:lnTo>
                  <a:lnTo>
                    <a:pt x="8640966" y="0"/>
                  </a:lnTo>
                  <a:close/>
                </a:path>
              </a:pathLst>
            </a:custGeom>
            <a:solidFill>
              <a:srgbClr val="BBE0E3">
                <a:alpha val="19999"/>
              </a:srgbClr>
            </a:solidFill>
          </p:spPr>
          <p:txBody>
            <a:bodyPr wrap="square" lIns="0" tIns="0" rIns="0" bIns="0" rtlCol="0"/>
            <a:lstStyle/>
            <a:p/>
          </p:txBody>
        </p:sp>
        <p:sp>
          <p:nvSpPr>
            <p:cNvPr id="201" name="object 201" descr=""/>
            <p:cNvSpPr/>
            <p:nvPr/>
          </p:nvSpPr>
          <p:spPr>
            <a:xfrm>
              <a:off x="2811759" y="1574626"/>
              <a:ext cx="0" cy="3325495"/>
            </a:xfrm>
            <a:custGeom>
              <a:avLst/>
              <a:gdLst/>
              <a:ahLst/>
              <a:cxnLst/>
              <a:rect l="l" t="t" r="r" b="b"/>
              <a:pathLst>
                <a:path w="0" h="3325495">
                  <a:moveTo>
                    <a:pt x="0" y="0"/>
                  </a:moveTo>
                  <a:lnTo>
                    <a:pt x="0" y="3325063"/>
                  </a:lnTo>
                </a:path>
              </a:pathLst>
            </a:custGeom>
            <a:ln w="12700">
              <a:solidFill>
                <a:srgbClr val="BBE0E3"/>
              </a:solidFill>
            </a:ln>
          </p:spPr>
          <p:txBody>
            <a:bodyPr wrap="square" lIns="0" tIns="0" rIns="0" bIns="0" rtlCol="0"/>
            <a:lstStyle/>
            <a:p/>
          </p:txBody>
        </p:sp>
        <p:sp>
          <p:nvSpPr>
            <p:cNvPr id="202" name="object 202" descr=""/>
            <p:cNvSpPr/>
            <p:nvPr/>
          </p:nvSpPr>
          <p:spPr>
            <a:xfrm>
              <a:off x="5036675" y="1574626"/>
              <a:ext cx="0" cy="3325495"/>
            </a:xfrm>
            <a:custGeom>
              <a:avLst/>
              <a:gdLst/>
              <a:ahLst/>
              <a:cxnLst/>
              <a:rect l="l" t="t" r="r" b="b"/>
              <a:pathLst>
                <a:path w="0" h="3325495">
                  <a:moveTo>
                    <a:pt x="0" y="0"/>
                  </a:moveTo>
                  <a:lnTo>
                    <a:pt x="0" y="3325063"/>
                  </a:lnTo>
                </a:path>
              </a:pathLst>
            </a:custGeom>
            <a:ln w="12700">
              <a:solidFill>
                <a:srgbClr val="BBE0E3"/>
              </a:solidFill>
            </a:ln>
          </p:spPr>
          <p:txBody>
            <a:bodyPr wrap="square" lIns="0" tIns="0" rIns="0" bIns="0" rtlCol="0"/>
            <a:lstStyle/>
            <a:p/>
          </p:txBody>
        </p:sp>
        <p:sp>
          <p:nvSpPr>
            <p:cNvPr id="203" name="object 203" descr=""/>
            <p:cNvSpPr/>
            <p:nvPr/>
          </p:nvSpPr>
          <p:spPr>
            <a:xfrm>
              <a:off x="222251" y="1989912"/>
              <a:ext cx="8653780" cy="0"/>
            </a:xfrm>
            <a:custGeom>
              <a:avLst/>
              <a:gdLst/>
              <a:ahLst/>
              <a:cxnLst/>
              <a:rect l="l" t="t" r="r" b="b"/>
              <a:pathLst>
                <a:path w="8653780" h="0">
                  <a:moveTo>
                    <a:pt x="0" y="0"/>
                  </a:moveTo>
                  <a:lnTo>
                    <a:pt x="8653665" y="0"/>
                  </a:lnTo>
                </a:path>
              </a:pathLst>
            </a:custGeom>
            <a:ln w="25400">
              <a:solidFill>
                <a:srgbClr val="BBE0E3"/>
              </a:solidFill>
            </a:ln>
          </p:spPr>
          <p:txBody>
            <a:bodyPr wrap="square" lIns="0" tIns="0" rIns="0" bIns="0" rtlCol="0"/>
            <a:lstStyle/>
            <a:p/>
          </p:txBody>
        </p:sp>
        <p:sp>
          <p:nvSpPr>
            <p:cNvPr id="204" name="object 204" descr=""/>
            <p:cNvSpPr/>
            <p:nvPr/>
          </p:nvSpPr>
          <p:spPr>
            <a:xfrm>
              <a:off x="222251" y="2439728"/>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205" name="object 205" descr=""/>
            <p:cNvSpPr/>
            <p:nvPr/>
          </p:nvSpPr>
          <p:spPr>
            <a:xfrm>
              <a:off x="222251" y="2848664"/>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206" name="object 206" descr=""/>
            <p:cNvSpPr/>
            <p:nvPr/>
          </p:nvSpPr>
          <p:spPr>
            <a:xfrm>
              <a:off x="222251" y="3257600"/>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207" name="object 207" descr=""/>
            <p:cNvSpPr/>
            <p:nvPr/>
          </p:nvSpPr>
          <p:spPr>
            <a:xfrm>
              <a:off x="222251" y="3666537"/>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208" name="object 208" descr=""/>
            <p:cNvSpPr/>
            <p:nvPr/>
          </p:nvSpPr>
          <p:spPr>
            <a:xfrm>
              <a:off x="222251" y="4075473"/>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209" name="object 209" descr=""/>
            <p:cNvSpPr/>
            <p:nvPr/>
          </p:nvSpPr>
          <p:spPr>
            <a:xfrm>
              <a:off x="228601" y="1574626"/>
              <a:ext cx="0" cy="3325495"/>
            </a:xfrm>
            <a:custGeom>
              <a:avLst/>
              <a:gdLst/>
              <a:ahLst/>
              <a:cxnLst/>
              <a:rect l="l" t="t" r="r" b="b"/>
              <a:pathLst>
                <a:path w="0" h="3325495">
                  <a:moveTo>
                    <a:pt x="0" y="0"/>
                  </a:moveTo>
                  <a:lnTo>
                    <a:pt x="0" y="3325063"/>
                  </a:lnTo>
                </a:path>
              </a:pathLst>
            </a:custGeom>
            <a:ln w="12700">
              <a:solidFill>
                <a:srgbClr val="BBE0E3"/>
              </a:solidFill>
            </a:ln>
          </p:spPr>
          <p:txBody>
            <a:bodyPr wrap="square" lIns="0" tIns="0" rIns="0" bIns="0" rtlCol="0"/>
            <a:lstStyle/>
            <a:p/>
          </p:txBody>
        </p:sp>
        <p:sp>
          <p:nvSpPr>
            <p:cNvPr id="210" name="object 210" descr=""/>
            <p:cNvSpPr/>
            <p:nvPr/>
          </p:nvSpPr>
          <p:spPr>
            <a:xfrm>
              <a:off x="8869560" y="1574626"/>
              <a:ext cx="0" cy="3325495"/>
            </a:xfrm>
            <a:custGeom>
              <a:avLst/>
              <a:gdLst/>
              <a:ahLst/>
              <a:cxnLst/>
              <a:rect l="l" t="t" r="r" b="b"/>
              <a:pathLst>
                <a:path w="0" h="3325495">
                  <a:moveTo>
                    <a:pt x="0" y="0"/>
                  </a:moveTo>
                  <a:lnTo>
                    <a:pt x="0" y="3325063"/>
                  </a:lnTo>
                </a:path>
              </a:pathLst>
            </a:custGeom>
            <a:ln w="12700">
              <a:solidFill>
                <a:srgbClr val="BBE0E3"/>
              </a:solidFill>
            </a:ln>
          </p:spPr>
          <p:txBody>
            <a:bodyPr wrap="square" lIns="0" tIns="0" rIns="0" bIns="0" rtlCol="0"/>
            <a:lstStyle/>
            <a:p/>
          </p:txBody>
        </p:sp>
        <p:sp>
          <p:nvSpPr>
            <p:cNvPr id="211" name="object 211" descr=""/>
            <p:cNvSpPr/>
            <p:nvPr/>
          </p:nvSpPr>
          <p:spPr>
            <a:xfrm>
              <a:off x="222251" y="1580976"/>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212" name="object 212" descr=""/>
            <p:cNvSpPr/>
            <p:nvPr/>
          </p:nvSpPr>
          <p:spPr>
            <a:xfrm>
              <a:off x="222251" y="4893345"/>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grpSp>
      <p:sp>
        <p:nvSpPr>
          <p:cNvPr id="213" name="object 213" descr=""/>
          <p:cNvSpPr txBox="1"/>
          <p:nvPr/>
        </p:nvSpPr>
        <p:spPr>
          <a:xfrm>
            <a:off x="5184666" y="4221031"/>
            <a:ext cx="199390" cy="268605"/>
          </a:xfrm>
          <a:prstGeom prst="rect">
            <a:avLst/>
          </a:prstGeom>
        </p:spPr>
        <p:txBody>
          <a:bodyPr wrap="square" lIns="0" tIns="12065" rIns="0" bIns="0" rtlCol="0" vert="horz">
            <a:spAutoFit/>
          </a:bodyPr>
          <a:lstStyle/>
          <a:p>
            <a:pPr>
              <a:lnSpc>
                <a:spcPct val="100000"/>
              </a:lnSpc>
              <a:spcBef>
                <a:spcPts val="95"/>
              </a:spcBef>
            </a:pPr>
            <a:r>
              <a:rPr dirty="0" sz="1600" spc="-50">
                <a:latin typeface="Microsoft YaHei"/>
                <a:cs typeface="Microsoft YaHei"/>
              </a:rPr>
              <a:t>M</a:t>
            </a:r>
            <a:endParaRPr sz="1600">
              <a:latin typeface="Microsoft YaHei"/>
              <a:cs typeface="Microsoft YaHei"/>
            </a:endParaRPr>
          </a:p>
        </p:txBody>
      </p:sp>
      <p:sp>
        <p:nvSpPr>
          <p:cNvPr id="214" name="object 214" descr=""/>
          <p:cNvSpPr txBox="1"/>
          <p:nvPr/>
        </p:nvSpPr>
        <p:spPr>
          <a:xfrm>
            <a:off x="5383462" y="2911601"/>
            <a:ext cx="3338195" cy="1821814"/>
          </a:xfrm>
          <a:prstGeom prst="rect">
            <a:avLst/>
          </a:prstGeom>
        </p:spPr>
        <p:txBody>
          <a:bodyPr wrap="square" lIns="0" tIns="12065" rIns="0" bIns="0" rtlCol="0" vert="horz">
            <a:spAutoFit/>
          </a:bodyPr>
          <a:lstStyle/>
          <a:p>
            <a:pPr marL="900430">
              <a:lnSpc>
                <a:spcPct val="100000"/>
              </a:lnSpc>
              <a:spcBef>
                <a:spcPts val="95"/>
              </a:spcBef>
            </a:pPr>
            <a:r>
              <a:rPr dirty="0" sz="1600">
                <a:latin typeface="Microsoft YaHei"/>
                <a:cs typeface="Microsoft YaHei"/>
              </a:rPr>
              <a:t>和</a:t>
            </a:r>
            <a:r>
              <a:rPr dirty="0" sz="1600" spc="-10">
                <a:latin typeface="Microsoft YaHei"/>
                <a:cs typeface="Microsoft YaHei"/>
              </a:rPr>
              <a:t>PCI</a:t>
            </a:r>
            <a:r>
              <a:rPr dirty="0" sz="1600" spc="-15">
                <a:latin typeface="Microsoft YaHei"/>
                <a:cs typeface="Microsoft YaHei"/>
              </a:rPr>
              <a:t>保持一致</a:t>
            </a:r>
            <a:endParaRPr sz="1600">
              <a:latin typeface="Microsoft YaHei"/>
              <a:cs typeface="Microsoft YaHei"/>
            </a:endParaRPr>
          </a:p>
          <a:p>
            <a:pPr marL="779780" marR="969644" indent="76835">
              <a:lnSpc>
                <a:spcPct val="167700"/>
              </a:lnSpc>
            </a:pPr>
            <a:r>
              <a:rPr dirty="0" sz="1600" spc="-10">
                <a:latin typeface="Microsoft YaHei"/>
                <a:cs typeface="Microsoft YaHei"/>
              </a:rPr>
              <a:t>按规划数据配置</a:t>
            </a:r>
            <a:r>
              <a:rPr dirty="0" sz="1600" spc="-5">
                <a:latin typeface="Microsoft YaHei"/>
                <a:cs typeface="Microsoft YaHei"/>
              </a:rPr>
              <a:t>中国固定为：</a:t>
            </a:r>
            <a:r>
              <a:rPr dirty="0" sz="1600" spc="-20">
                <a:latin typeface="Microsoft YaHei"/>
                <a:cs typeface="Microsoft YaHei"/>
              </a:rPr>
              <a:t>460</a:t>
            </a:r>
            <a:endParaRPr sz="1600">
              <a:latin typeface="Microsoft YaHei"/>
              <a:cs typeface="Microsoft YaHei"/>
            </a:endParaRPr>
          </a:p>
          <a:p>
            <a:pPr marL="348615" indent="-349250">
              <a:lnSpc>
                <a:spcPct val="100000"/>
              </a:lnSpc>
              <a:spcBef>
                <a:spcPts val="1950"/>
              </a:spcBef>
            </a:pPr>
            <a:r>
              <a:rPr dirty="0" sz="1600" spc="-20">
                <a:latin typeface="Microsoft YaHei"/>
                <a:cs typeface="Microsoft YaHei"/>
              </a:rPr>
              <a:t>NC</a:t>
            </a:r>
            <a:r>
              <a:rPr dirty="0" sz="1600" spc="-5">
                <a:latin typeface="Microsoft YaHei"/>
                <a:cs typeface="Microsoft YaHei"/>
              </a:rPr>
              <a:t>包含两种情况：</a:t>
            </a:r>
            <a:r>
              <a:rPr dirty="0" sz="1600" spc="-10">
                <a:latin typeface="Microsoft YaHei"/>
                <a:cs typeface="Microsoft YaHei"/>
              </a:rPr>
              <a:t>08</a:t>
            </a:r>
            <a:r>
              <a:rPr dirty="0" sz="1600">
                <a:latin typeface="Microsoft YaHei"/>
                <a:cs typeface="Microsoft YaHei"/>
              </a:rPr>
              <a:t>或者</a:t>
            </a:r>
            <a:r>
              <a:rPr dirty="0" sz="1600" spc="-10">
                <a:latin typeface="Microsoft YaHei"/>
                <a:cs typeface="Microsoft YaHei"/>
              </a:rPr>
              <a:t>029</a:t>
            </a:r>
            <a:r>
              <a:rPr dirty="0" sz="1600" spc="-20">
                <a:latin typeface="Microsoft YaHei"/>
                <a:cs typeface="Microsoft YaHei"/>
              </a:rPr>
              <a:t>，配置</a:t>
            </a:r>
            <a:r>
              <a:rPr dirty="0" sz="1600" spc="-10">
                <a:latin typeface="Microsoft YaHei"/>
                <a:cs typeface="Microsoft YaHei"/>
              </a:rPr>
              <a:t>数据时，请参考规划数据表</a:t>
            </a:r>
            <a:endParaRPr sz="1600">
              <a:latin typeface="Microsoft YaHei"/>
              <a:cs typeface="Microsoft YaHei"/>
            </a:endParaRPr>
          </a:p>
        </p:txBody>
      </p:sp>
      <p:grpSp>
        <p:nvGrpSpPr>
          <p:cNvPr id="215" name="object 215" descr=""/>
          <p:cNvGrpSpPr/>
          <p:nvPr/>
        </p:nvGrpSpPr>
        <p:grpSpPr>
          <a:xfrm>
            <a:off x="178941" y="842074"/>
            <a:ext cx="8747760" cy="4098290"/>
            <a:chOff x="178941" y="842074"/>
            <a:chExt cx="8747760" cy="4098290"/>
          </a:xfrm>
        </p:grpSpPr>
        <p:sp>
          <p:nvSpPr>
            <p:cNvPr id="216" name="object 216" descr=""/>
            <p:cNvSpPr/>
            <p:nvPr/>
          </p:nvSpPr>
          <p:spPr>
            <a:xfrm>
              <a:off x="272479" y="848424"/>
              <a:ext cx="0" cy="1064260"/>
            </a:xfrm>
            <a:custGeom>
              <a:avLst/>
              <a:gdLst/>
              <a:ahLst/>
              <a:cxnLst/>
              <a:rect l="l" t="t" r="r" b="b"/>
              <a:pathLst>
                <a:path w="0" h="1064260">
                  <a:moveTo>
                    <a:pt x="0" y="0"/>
                  </a:moveTo>
                  <a:lnTo>
                    <a:pt x="0" y="1064260"/>
                  </a:lnTo>
                </a:path>
              </a:pathLst>
            </a:custGeom>
            <a:ln w="12700">
              <a:solidFill>
                <a:srgbClr val="000000"/>
              </a:solidFill>
            </a:ln>
          </p:spPr>
          <p:txBody>
            <a:bodyPr wrap="square" lIns="0" tIns="0" rIns="0" bIns="0" rtlCol="0"/>
            <a:lstStyle/>
            <a:p/>
          </p:txBody>
        </p:sp>
        <p:sp>
          <p:nvSpPr>
            <p:cNvPr id="217" name="object 217" descr=""/>
            <p:cNvSpPr/>
            <p:nvPr/>
          </p:nvSpPr>
          <p:spPr>
            <a:xfrm>
              <a:off x="8913440" y="848424"/>
              <a:ext cx="0" cy="1064260"/>
            </a:xfrm>
            <a:custGeom>
              <a:avLst/>
              <a:gdLst/>
              <a:ahLst/>
              <a:cxnLst/>
              <a:rect l="l" t="t" r="r" b="b"/>
              <a:pathLst>
                <a:path w="0" h="1064260">
                  <a:moveTo>
                    <a:pt x="0" y="0"/>
                  </a:moveTo>
                  <a:lnTo>
                    <a:pt x="0" y="1064260"/>
                  </a:lnTo>
                </a:path>
              </a:pathLst>
            </a:custGeom>
            <a:ln w="12700">
              <a:solidFill>
                <a:srgbClr val="000000"/>
              </a:solidFill>
            </a:ln>
          </p:spPr>
          <p:txBody>
            <a:bodyPr wrap="square" lIns="0" tIns="0" rIns="0" bIns="0" rtlCol="0"/>
            <a:lstStyle/>
            <a:p/>
          </p:txBody>
        </p:sp>
        <p:sp>
          <p:nvSpPr>
            <p:cNvPr id="218" name="object 218" descr=""/>
            <p:cNvSpPr/>
            <p:nvPr/>
          </p:nvSpPr>
          <p:spPr>
            <a:xfrm>
              <a:off x="266129" y="854774"/>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sp>
          <p:nvSpPr>
            <p:cNvPr id="219" name="object 219" descr=""/>
            <p:cNvSpPr/>
            <p:nvPr/>
          </p:nvSpPr>
          <p:spPr>
            <a:xfrm>
              <a:off x="266129" y="1906334"/>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pic>
          <p:nvPicPr>
            <p:cNvPr id="220" name="object 220"/>
            <p:cNvPicPr/>
            <p:nvPr/>
          </p:nvPicPr>
          <p:blipFill>
            <a:blip r:embed="rId29" cstate="print"/>
            <a:stretch>
              <a:fillRect/>
            </a:stretch>
          </p:blipFill>
          <p:spPr>
            <a:xfrm>
              <a:off x="272480" y="1962150"/>
              <a:ext cx="4320474" cy="2977845"/>
            </a:xfrm>
            <a:prstGeom prst="rect">
              <a:avLst/>
            </a:prstGeom>
          </p:spPr>
        </p:pic>
        <p:pic>
          <p:nvPicPr>
            <p:cNvPr id="221" name="object 221"/>
            <p:cNvPicPr/>
            <p:nvPr/>
          </p:nvPicPr>
          <p:blipFill>
            <a:blip r:embed="rId30" cstate="print"/>
            <a:stretch>
              <a:fillRect/>
            </a:stretch>
          </p:blipFill>
          <p:spPr>
            <a:xfrm>
              <a:off x="5257799" y="1962150"/>
              <a:ext cx="3655638" cy="2977845"/>
            </a:xfrm>
            <a:prstGeom prst="rect">
              <a:avLst/>
            </a:prstGeom>
          </p:spPr>
        </p:pic>
        <p:sp>
          <p:nvSpPr>
            <p:cNvPr id="222" name="object 222" descr=""/>
            <p:cNvSpPr/>
            <p:nvPr/>
          </p:nvSpPr>
          <p:spPr>
            <a:xfrm>
              <a:off x="4664967" y="3221107"/>
              <a:ext cx="521334" cy="370205"/>
            </a:xfrm>
            <a:custGeom>
              <a:avLst/>
              <a:gdLst/>
              <a:ahLst/>
              <a:cxnLst/>
              <a:rect l="l" t="t" r="r" b="b"/>
              <a:pathLst>
                <a:path w="521335" h="370204">
                  <a:moveTo>
                    <a:pt x="335838" y="0"/>
                  </a:moveTo>
                  <a:lnTo>
                    <a:pt x="335838" y="92494"/>
                  </a:lnTo>
                  <a:lnTo>
                    <a:pt x="0" y="92494"/>
                  </a:lnTo>
                  <a:lnTo>
                    <a:pt x="0" y="277482"/>
                  </a:lnTo>
                  <a:lnTo>
                    <a:pt x="335838" y="277482"/>
                  </a:lnTo>
                  <a:lnTo>
                    <a:pt x="335838" y="369976"/>
                  </a:lnTo>
                  <a:lnTo>
                    <a:pt x="520827" y="184988"/>
                  </a:lnTo>
                  <a:lnTo>
                    <a:pt x="335838" y="0"/>
                  </a:lnTo>
                  <a:close/>
                </a:path>
              </a:pathLst>
            </a:custGeom>
            <a:solidFill>
              <a:srgbClr val="BBE0E3"/>
            </a:solidFill>
          </p:spPr>
          <p:txBody>
            <a:bodyPr wrap="square" lIns="0" tIns="0" rIns="0" bIns="0" rtlCol="0"/>
            <a:lstStyle/>
            <a:p/>
          </p:txBody>
        </p:sp>
        <p:sp>
          <p:nvSpPr>
            <p:cNvPr id="223" name="object 223" descr=""/>
            <p:cNvSpPr/>
            <p:nvPr/>
          </p:nvSpPr>
          <p:spPr>
            <a:xfrm>
              <a:off x="4664967" y="3221107"/>
              <a:ext cx="521334" cy="370205"/>
            </a:xfrm>
            <a:custGeom>
              <a:avLst/>
              <a:gdLst/>
              <a:ahLst/>
              <a:cxnLst/>
              <a:rect l="l" t="t" r="r" b="b"/>
              <a:pathLst>
                <a:path w="521335" h="370204">
                  <a:moveTo>
                    <a:pt x="0" y="92494"/>
                  </a:moveTo>
                  <a:lnTo>
                    <a:pt x="335838" y="92494"/>
                  </a:lnTo>
                  <a:lnTo>
                    <a:pt x="335838" y="0"/>
                  </a:lnTo>
                  <a:lnTo>
                    <a:pt x="520827" y="184988"/>
                  </a:lnTo>
                  <a:lnTo>
                    <a:pt x="335838" y="369976"/>
                  </a:lnTo>
                  <a:lnTo>
                    <a:pt x="335838" y="277482"/>
                  </a:lnTo>
                  <a:lnTo>
                    <a:pt x="0" y="277482"/>
                  </a:lnTo>
                  <a:lnTo>
                    <a:pt x="0" y="92494"/>
                  </a:lnTo>
                  <a:close/>
                </a:path>
              </a:pathLst>
            </a:custGeom>
            <a:ln w="25400">
              <a:solidFill>
                <a:srgbClr val="FFFFFF"/>
              </a:solidFill>
            </a:ln>
          </p:spPr>
          <p:txBody>
            <a:bodyPr wrap="square" lIns="0" tIns="0" rIns="0" bIns="0" rtlCol="0"/>
            <a:lstStyle/>
            <a:p/>
          </p:txBody>
        </p:sp>
        <p:sp>
          <p:nvSpPr>
            <p:cNvPr id="224" name="object 224" descr=""/>
            <p:cNvSpPr/>
            <p:nvPr/>
          </p:nvSpPr>
          <p:spPr>
            <a:xfrm>
              <a:off x="269775" y="881047"/>
              <a:ext cx="0" cy="744220"/>
            </a:xfrm>
            <a:custGeom>
              <a:avLst/>
              <a:gdLst/>
              <a:ahLst/>
              <a:cxnLst/>
              <a:rect l="l" t="t" r="r" b="b"/>
              <a:pathLst>
                <a:path w="0" h="744219">
                  <a:moveTo>
                    <a:pt x="0" y="0"/>
                  </a:moveTo>
                  <a:lnTo>
                    <a:pt x="0" y="744220"/>
                  </a:lnTo>
                </a:path>
              </a:pathLst>
            </a:custGeom>
            <a:ln w="12700">
              <a:solidFill>
                <a:srgbClr val="000000"/>
              </a:solidFill>
            </a:ln>
          </p:spPr>
          <p:txBody>
            <a:bodyPr wrap="square" lIns="0" tIns="0" rIns="0" bIns="0" rtlCol="0"/>
            <a:lstStyle/>
            <a:p/>
          </p:txBody>
        </p:sp>
        <p:sp>
          <p:nvSpPr>
            <p:cNvPr id="225" name="object 225" descr=""/>
            <p:cNvSpPr/>
            <p:nvPr/>
          </p:nvSpPr>
          <p:spPr>
            <a:xfrm>
              <a:off x="8910736" y="881047"/>
              <a:ext cx="0" cy="744220"/>
            </a:xfrm>
            <a:custGeom>
              <a:avLst/>
              <a:gdLst/>
              <a:ahLst/>
              <a:cxnLst/>
              <a:rect l="l" t="t" r="r" b="b"/>
              <a:pathLst>
                <a:path w="0" h="744219">
                  <a:moveTo>
                    <a:pt x="0" y="0"/>
                  </a:moveTo>
                  <a:lnTo>
                    <a:pt x="0" y="744220"/>
                  </a:lnTo>
                </a:path>
              </a:pathLst>
            </a:custGeom>
            <a:ln w="12700">
              <a:solidFill>
                <a:srgbClr val="000000"/>
              </a:solidFill>
            </a:ln>
          </p:spPr>
          <p:txBody>
            <a:bodyPr wrap="square" lIns="0" tIns="0" rIns="0" bIns="0" rtlCol="0"/>
            <a:lstStyle/>
            <a:p/>
          </p:txBody>
        </p:sp>
        <p:sp>
          <p:nvSpPr>
            <p:cNvPr id="226" name="object 226" descr=""/>
            <p:cNvSpPr/>
            <p:nvPr/>
          </p:nvSpPr>
          <p:spPr>
            <a:xfrm>
              <a:off x="263425" y="887397"/>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sp>
          <p:nvSpPr>
            <p:cNvPr id="227" name="object 227" descr=""/>
            <p:cNvSpPr/>
            <p:nvPr/>
          </p:nvSpPr>
          <p:spPr>
            <a:xfrm>
              <a:off x="263425" y="1618917"/>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pic>
          <p:nvPicPr>
            <p:cNvPr id="228" name="object 228"/>
            <p:cNvPicPr/>
            <p:nvPr/>
          </p:nvPicPr>
          <p:blipFill>
            <a:blip r:embed="rId31" cstate="print"/>
            <a:stretch>
              <a:fillRect/>
            </a:stretch>
          </p:blipFill>
          <p:spPr>
            <a:xfrm>
              <a:off x="2286000" y="1809750"/>
              <a:ext cx="4536503" cy="3084817"/>
            </a:xfrm>
            <a:prstGeom prst="rect">
              <a:avLst/>
            </a:prstGeom>
          </p:spPr>
        </p:pic>
        <p:sp>
          <p:nvSpPr>
            <p:cNvPr id="229" name="object 229" descr=""/>
            <p:cNvSpPr/>
            <p:nvPr/>
          </p:nvSpPr>
          <p:spPr>
            <a:xfrm>
              <a:off x="191641" y="863276"/>
              <a:ext cx="0" cy="1384300"/>
            </a:xfrm>
            <a:custGeom>
              <a:avLst/>
              <a:gdLst/>
              <a:ahLst/>
              <a:cxnLst/>
              <a:rect l="l" t="t" r="r" b="b"/>
              <a:pathLst>
                <a:path w="0" h="1384300">
                  <a:moveTo>
                    <a:pt x="0" y="0"/>
                  </a:moveTo>
                  <a:lnTo>
                    <a:pt x="0" y="1384300"/>
                  </a:lnTo>
                </a:path>
              </a:pathLst>
            </a:custGeom>
            <a:ln w="12700">
              <a:solidFill>
                <a:srgbClr val="000000"/>
              </a:solidFill>
            </a:ln>
          </p:spPr>
          <p:txBody>
            <a:bodyPr wrap="square" lIns="0" tIns="0" rIns="0" bIns="0" rtlCol="0"/>
            <a:lstStyle/>
            <a:p/>
          </p:txBody>
        </p:sp>
        <p:sp>
          <p:nvSpPr>
            <p:cNvPr id="230" name="object 230" descr=""/>
            <p:cNvSpPr/>
            <p:nvPr/>
          </p:nvSpPr>
          <p:spPr>
            <a:xfrm>
              <a:off x="8891389" y="863276"/>
              <a:ext cx="0" cy="1384300"/>
            </a:xfrm>
            <a:custGeom>
              <a:avLst/>
              <a:gdLst/>
              <a:ahLst/>
              <a:cxnLst/>
              <a:rect l="l" t="t" r="r" b="b"/>
              <a:pathLst>
                <a:path w="0" h="1384300">
                  <a:moveTo>
                    <a:pt x="0" y="0"/>
                  </a:moveTo>
                  <a:lnTo>
                    <a:pt x="0" y="1384300"/>
                  </a:lnTo>
                </a:path>
              </a:pathLst>
            </a:custGeom>
            <a:ln w="12700">
              <a:solidFill>
                <a:srgbClr val="000000"/>
              </a:solidFill>
            </a:ln>
          </p:spPr>
          <p:txBody>
            <a:bodyPr wrap="square" lIns="0" tIns="0" rIns="0" bIns="0" rtlCol="0"/>
            <a:lstStyle/>
            <a:p/>
          </p:txBody>
        </p:sp>
        <p:sp>
          <p:nvSpPr>
            <p:cNvPr id="231" name="object 231" descr=""/>
            <p:cNvSpPr/>
            <p:nvPr/>
          </p:nvSpPr>
          <p:spPr>
            <a:xfrm>
              <a:off x="185291" y="869626"/>
              <a:ext cx="8712835" cy="0"/>
            </a:xfrm>
            <a:custGeom>
              <a:avLst/>
              <a:gdLst/>
              <a:ahLst/>
              <a:cxnLst/>
              <a:rect l="l" t="t" r="r" b="b"/>
              <a:pathLst>
                <a:path w="8712835" h="0">
                  <a:moveTo>
                    <a:pt x="0" y="0"/>
                  </a:moveTo>
                  <a:lnTo>
                    <a:pt x="8712454" y="0"/>
                  </a:lnTo>
                </a:path>
              </a:pathLst>
            </a:custGeom>
            <a:ln w="12700">
              <a:solidFill>
                <a:srgbClr val="000000"/>
              </a:solidFill>
            </a:ln>
          </p:spPr>
          <p:txBody>
            <a:bodyPr wrap="square" lIns="0" tIns="0" rIns="0" bIns="0" rtlCol="0"/>
            <a:lstStyle/>
            <a:p/>
          </p:txBody>
        </p:sp>
        <p:sp>
          <p:nvSpPr>
            <p:cNvPr id="232" name="object 232" descr=""/>
            <p:cNvSpPr/>
            <p:nvPr/>
          </p:nvSpPr>
          <p:spPr>
            <a:xfrm>
              <a:off x="185291" y="2241226"/>
              <a:ext cx="8712835" cy="0"/>
            </a:xfrm>
            <a:custGeom>
              <a:avLst/>
              <a:gdLst/>
              <a:ahLst/>
              <a:cxnLst/>
              <a:rect l="l" t="t" r="r" b="b"/>
              <a:pathLst>
                <a:path w="8712835" h="0">
                  <a:moveTo>
                    <a:pt x="0" y="0"/>
                  </a:moveTo>
                  <a:lnTo>
                    <a:pt x="8712454" y="0"/>
                  </a:lnTo>
                </a:path>
              </a:pathLst>
            </a:custGeom>
            <a:ln w="12700">
              <a:solidFill>
                <a:srgbClr val="000000"/>
              </a:solidFill>
            </a:ln>
          </p:spPr>
          <p:txBody>
            <a:bodyPr wrap="square" lIns="0" tIns="0" rIns="0" bIns="0" rtlCol="0"/>
            <a:lstStyle/>
            <a:p/>
          </p:txBody>
        </p:sp>
      </p:grpSp>
      <p:sp>
        <p:nvSpPr>
          <p:cNvPr id="233" name="object 233" descr=""/>
          <p:cNvSpPr txBox="1"/>
          <p:nvPr/>
        </p:nvSpPr>
        <p:spPr>
          <a:xfrm>
            <a:off x="270559" y="1925477"/>
            <a:ext cx="6541770" cy="238760"/>
          </a:xfrm>
          <a:prstGeom prst="rect">
            <a:avLst/>
          </a:prstGeom>
        </p:spPr>
        <p:txBody>
          <a:bodyPr wrap="square" lIns="0" tIns="12065" rIns="0" bIns="0" rtlCol="0" vert="horz">
            <a:spAutoFit/>
          </a:bodyPr>
          <a:lstStyle/>
          <a:p>
            <a:pPr marL="12700">
              <a:lnSpc>
                <a:spcPct val="100000"/>
              </a:lnSpc>
              <a:spcBef>
                <a:spcPts val="95"/>
              </a:spcBef>
            </a:pPr>
            <a:r>
              <a:rPr dirty="0" sz="1400" spc="-10">
                <a:latin typeface="Microsoft YaHei"/>
                <a:cs typeface="Microsoft YaHei"/>
              </a:rPr>
              <a:t>3</a:t>
            </a:r>
            <a:r>
              <a:rPr dirty="0" sz="1400" spc="-25">
                <a:latin typeface="Microsoft YaHei"/>
                <a:cs typeface="Microsoft YaHei"/>
              </a:rPr>
              <a:t>、选中需要修改“参数名称”—“参数值”，按规划数据修改，完成后点“确定”</a:t>
            </a:r>
            <a:endParaRPr sz="1400">
              <a:latin typeface="Microsoft YaHei"/>
              <a:cs typeface="Microsoft YaHei"/>
            </a:endParaRPr>
          </a:p>
        </p:txBody>
      </p:sp>
      <p:grpSp>
        <p:nvGrpSpPr>
          <p:cNvPr id="234" name="object 234" descr=""/>
          <p:cNvGrpSpPr/>
          <p:nvPr/>
        </p:nvGrpSpPr>
        <p:grpSpPr>
          <a:xfrm>
            <a:off x="222248" y="842317"/>
            <a:ext cx="8656320" cy="4093845"/>
            <a:chOff x="222248" y="842317"/>
            <a:chExt cx="8656320" cy="4093845"/>
          </a:xfrm>
        </p:grpSpPr>
        <p:pic>
          <p:nvPicPr>
            <p:cNvPr id="235" name="object 235"/>
            <p:cNvPicPr/>
            <p:nvPr/>
          </p:nvPicPr>
          <p:blipFill>
            <a:blip r:embed="rId32" cstate="print"/>
            <a:stretch>
              <a:fillRect/>
            </a:stretch>
          </p:blipFill>
          <p:spPr>
            <a:xfrm>
              <a:off x="237233" y="2343149"/>
              <a:ext cx="1903223" cy="2592456"/>
            </a:xfrm>
            <a:prstGeom prst="rect">
              <a:avLst/>
            </a:prstGeom>
          </p:spPr>
        </p:pic>
        <p:pic>
          <p:nvPicPr>
            <p:cNvPr id="236" name="object 236"/>
            <p:cNvPicPr/>
            <p:nvPr/>
          </p:nvPicPr>
          <p:blipFill>
            <a:blip r:embed="rId33" cstate="print"/>
            <a:stretch>
              <a:fillRect/>
            </a:stretch>
          </p:blipFill>
          <p:spPr>
            <a:xfrm>
              <a:off x="2819400" y="2343150"/>
              <a:ext cx="2075891" cy="2592450"/>
            </a:xfrm>
            <a:prstGeom prst="rect">
              <a:avLst/>
            </a:prstGeom>
          </p:spPr>
        </p:pic>
        <p:pic>
          <p:nvPicPr>
            <p:cNvPr id="237" name="object 237"/>
            <p:cNvPicPr/>
            <p:nvPr/>
          </p:nvPicPr>
          <p:blipFill>
            <a:blip r:embed="rId34" cstate="print"/>
            <a:stretch>
              <a:fillRect/>
            </a:stretch>
          </p:blipFill>
          <p:spPr>
            <a:xfrm>
              <a:off x="5419750" y="2956293"/>
              <a:ext cx="3458438" cy="1259063"/>
            </a:xfrm>
            <a:prstGeom prst="rect">
              <a:avLst/>
            </a:prstGeom>
          </p:spPr>
        </p:pic>
        <p:sp>
          <p:nvSpPr>
            <p:cNvPr id="238" name="object 238" descr=""/>
            <p:cNvSpPr/>
            <p:nvPr/>
          </p:nvSpPr>
          <p:spPr>
            <a:xfrm>
              <a:off x="2253457" y="3423266"/>
              <a:ext cx="384810" cy="271780"/>
            </a:xfrm>
            <a:custGeom>
              <a:avLst/>
              <a:gdLst/>
              <a:ahLst/>
              <a:cxnLst/>
              <a:rect l="l" t="t" r="r" b="b"/>
              <a:pathLst>
                <a:path w="384810" h="271779">
                  <a:moveTo>
                    <a:pt x="248780" y="0"/>
                  </a:moveTo>
                  <a:lnTo>
                    <a:pt x="248780" y="67792"/>
                  </a:lnTo>
                  <a:lnTo>
                    <a:pt x="0" y="67792"/>
                  </a:lnTo>
                  <a:lnTo>
                    <a:pt x="0" y="203365"/>
                  </a:lnTo>
                  <a:lnTo>
                    <a:pt x="248780" y="203365"/>
                  </a:lnTo>
                  <a:lnTo>
                    <a:pt x="248780" y="271157"/>
                  </a:lnTo>
                  <a:lnTo>
                    <a:pt x="384352" y="135585"/>
                  </a:lnTo>
                  <a:lnTo>
                    <a:pt x="248780" y="0"/>
                  </a:lnTo>
                  <a:close/>
                </a:path>
              </a:pathLst>
            </a:custGeom>
            <a:solidFill>
              <a:srgbClr val="BBE0E3"/>
            </a:solidFill>
          </p:spPr>
          <p:txBody>
            <a:bodyPr wrap="square" lIns="0" tIns="0" rIns="0" bIns="0" rtlCol="0"/>
            <a:lstStyle/>
            <a:p/>
          </p:txBody>
        </p:sp>
        <p:sp>
          <p:nvSpPr>
            <p:cNvPr id="239" name="object 239" descr=""/>
            <p:cNvSpPr/>
            <p:nvPr/>
          </p:nvSpPr>
          <p:spPr>
            <a:xfrm>
              <a:off x="2253457" y="3423266"/>
              <a:ext cx="384810" cy="271780"/>
            </a:xfrm>
            <a:custGeom>
              <a:avLst/>
              <a:gdLst/>
              <a:ahLst/>
              <a:cxnLst/>
              <a:rect l="l" t="t" r="r" b="b"/>
              <a:pathLst>
                <a:path w="384810" h="271779">
                  <a:moveTo>
                    <a:pt x="0" y="67792"/>
                  </a:moveTo>
                  <a:lnTo>
                    <a:pt x="248780" y="67792"/>
                  </a:lnTo>
                  <a:lnTo>
                    <a:pt x="248780" y="0"/>
                  </a:lnTo>
                  <a:lnTo>
                    <a:pt x="384352" y="135585"/>
                  </a:lnTo>
                  <a:lnTo>
                    <a:pt x="248780" y="271157"/>
                  </a:lnTo>
                  <a:lnTo>
                    <a:pt x="248780" y="203365"/>
                  </a:lnTo>
                  <a:lnTo>
                    <a:pt x="0" y="203365"/>
                  </a:lnTo>
                  <a:lnTo>
                    <a:pt x="0" y="67792"/>
                  </a:lnTo>
                  <a:close/>
                </a:path>
              </a:pathLst>
            </a:custGeom>
            <a:ln w="25400">
              <a:solidFill>
                <a:srgbClr val="FFFFFF"/>
              </a:solidFill>
            </a:ln>
          </p:spPr>
          <p:txBody>
            <a:bodyPr wrap="square" lIns="0" tIns="0" rIns="0" bIns="0" rtlCol="0"/>
            <a:lstStyle/>
            <a:p/>
          </p:txBody>
        </p:sp>
        <p:sp>
          <p:nvSpPr>
            <p:cNvPr id="240" name="object 240" descr=""/>
            <p:cNvSpPr/>
            <p:nvPr/>
          </p:nvSpPr>
          <p:spPr>
            <a:xfrm>
              <a:off x="4965442" y="3440143"/>
              <a:ext cx="384810" cy="271780"/>
            </a:xfrm>
            <a:custGeom>
              <a:avLst/>
              <a:gdLst/>
              <a:ahLst/>
              <a:cxnLst/>
              <a:rect l="l" t="t" r="r" b="b"/>
              <a:pathLst>
                <a:path w="384810" h="271779">
                  <a:moveTo>
                    <a:pt x="248780" y="0"/>
                  </a:moveTo>
                  <a:lnTo>
                    <a:pt x="248780" y="67792"/>
                  </a:lnTo>
                  <a:lnTo>
                    <a:pt x="0" y="67792"/>
                  </a:lnTo>
                  <a:lnTo>
                    <a:pt x="0" y="203365"/>
                  </a:lnTo>
                  <a:lnTo>
                    <a:pt x="248780" y="203365"/>
                  </a:lnTo>
                  <a:lnTo>
                    <a:pt x="248780" y="271157"/>
                  </a:lnTo>
                  <a:lnTo>
                    <a:pt x="384352" y="135585"/>
                  </a:lnTo>
                  <a:lnTo>
                    <a:pt x="248780" y="0"/>
                  </a:lnTo>
                  <a:close/>
                </a:path>
              </a:pathLst>
            </a:custGeom>
            <a:solidFill>
              <a:srgbClr val="BBE0E3"/>
            </a:solidFill>
          </p:spPr>
          <p:txBody>
            <a:bodyPr wrap="square" lIns="0" tIns="0" rIns="0" bIns="0" rtlCol="0"/>
            <a:lstStyle/>
            <a:p/>
          </p:txBody>
        </p:sp>
        <p:sp>
          <p:nvSpPr>
            <p:cNvPr id="241" name="object 241" descr=""/>
            <p:cNvSpPr/>
            <p:nvPr/>
          </p:nvSpPr>
          <p:spPr>
            <a:xfrm>
              <a:off x="4965442" y="3440143"/>
              <a:ext cx="384810" cy="271780"/>
            </a:xfrm>
            <a:custGeom>
              <a:avLst/>
              <a:gdLst/>
              <a:ahLst/>
              <a:cxnLst/>
              <a:rect l="l" t="t" r="r" b="b"/>
              <a:pathLst>
                <a:path w="384810" h="271779">
                  <a:moveTo>
                    <a:pt x="0" y="67792"/>
                  </a:moveTo>
                  <a:lnTo>
                    <a:pt x="248780" y="67792"/>
                  </a:lnTo>
                  <a:lnTo>
                    <a:pt x="248780" y="0"/>
                  </a:lnTo>
                  <a:lnTo>
                    <a:pt x="384352" y="135585"/>
                  </a:lnTo>
                  <a:lnTo>
                    <a:pt x="248780" y="271157"/>
                  </a:lnTo>
                  <a:lnTo>
                    <a:pt x="248780" y="203365"/>
                  </a:lnTo>
                  <a:lnTo>
                    <a:pt x="0" y="203365"/>
                  </a:lnTo>
                  <a:lnTo>
                    <a:pt x="0" y="67792"/>
                  </a:lnTo>
                  <a:close/>
                </a:path>
              </a:pathLst>
            </a:custGeom>
            <a:ln w="25400">
              <a:solidFill>
                <a:srgbClr val="FFFFFF"/>
              </a:solidFill>
            </a:ln>
          </p:spPr>
          <p:txBody>
            <a:bodyPr wrap="square" lIns="0" tIns="0" rIns="0" bIns="0" rtlCol="0"/>
            <a:lstStyle/>
            <a:p/>
          </p:txBody>
        </p:sp>
        <p:sp>
          <p:nvSpPr>
            <p:cNvPr id="242" name="object 242" descr=""/>
            <p:cNvSpPr/>
            <p:nvPr/>
          </p:nvSpPr>
          <p:spPr>
            <a:xfrm>
              <a:off x="228598" y="842317"/>
              <a:ext cx="0" cy="1064260"/>
            </a:xfrm>
            <a:custGeom>
              <a:avLst/>
              <a:gdLst/>
              <a:ahLst/>
              <a:cxnLst/>
              <a:rect l="l" t="t" r="r" b="b"/>
              <a:pathLst>
                <a:path w="0" h="1064260">
                  <a:moveTo>
                    <a:pt x="0" y="0"/>
                  </a:moveTo>
                  <a:lnTo>
                    <a:pt x="0" y="1064260"/>
                  </a:lnTo>
                </a:path>
              </a:pathLst>
            </a:custGeom>
            <a:ln w="12700">
              <a:solidFill>
                <a:srgbClr val="000000"/>
              </a:solidFill>
            </a:ln>
          </p:spPr>
          <p:txBody>
            <a:bodyPr wrap="square" lIns="0" tIns="0" rIns="0" bIns="0" rtlCol="0"/>
            <a:lstStyle/>
            <a:p/>
          </p:txBody>
        </p:sp>
        <p:sp>
          <p:nvSpPr>
            <p:cNvPr id="243" name="object 243" descr=""/>
            <p:cNvSpPr/>
            <p:nvPr/>
          </p:nvSpPr>
          <p:spPr>
            <a:xfrm>
              <a:off x="8869560" y="842317"/>
              <a:ext cx="0" cy="1064260"/>
            </a:xfrm>
            <a:custGeom>
              <a:avLst/>
              <a:gdLst/>
              <a:ahLst/>
              <a:cxnLst/>
              <a:rect l="l" t="t" r="r" b="b"/>
              <a:pathLst>
                <a:path w="0" h="1064260">
                  <a:moveTo>
                    <a:pt x="0" y="0"/>
                  </a:moveTo>
                  <a:lnTo>
                    <a:pt x="0" y="1064260"/>
                  </a:lnTo>
                </a:path>
              </a:pathLst>
            </a:custGeom>
            <a:ln w="12700">
              <a:solidFill>
                <a:srgbClr val="000000"/>
              </a:solidFill>
            </a:ln>
          </p:spPr>
          <p:txBody>
            <a:bodyPr wrap="square" lIns="0" tIns="0" rIns="0" bIns="0" rtlCol="0"/>
            <a:lstStyle/>
            <a:p/>
          </p:txBody>
        </p:sp>
        <p:sp>
          <p:nvSpPr>
            <p:cNvPr id="244" name="object 244" descr=""/>
            <p:cNvSpPr/>
            <p:nvPr/>
          </p:nvSpPr>
          <p:spPr>
            <a:xfrm>
              <a:off x="222248" y="848667"/>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sp>
          <p:nvSpPr>
            <p:cNvPr id="245" name="object 245" descr=""/>
            <p:cNvSpPr/>
            <p:nvPr/>
          </p:nvSpPr>
          <p:spPr>
            <a:xfrm>
              <a:off x="222248" y="1900228"/>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grpSp>
      <p:sp>
        <p:nvSpPr>
          <p:cNvPr id="246" name="object 246" descr=""/>
          <p:cNvSpPr txBox="1"/>
          <p:nvPr/>
        </p:nvSpPr>
        <p:spPr>
          <a:xfrm>
            <a:off x="244981" y="998474"/>
            <a:ext cx="4504055" cy="238760"/>
          </a:xfrm>
          <a:prstGeom prst="rect">
            <a:avLst/>
          </a:prstGeom>
        </p:spPr>
        <p:txBody>
          <a:bodyPr wrap="square" lIns="0" tIns="12065" rIns="0" bIns="0" rtlCol="0" vert="horz">
            <a:spAutoFit/>
          </a:bodyPr>
          <a:lstStyle/>
          <a:p>
            <a:pPr marL="38100">
              <a:lnSpc>
                <a:spcPct val="100000"/>
              </a:lnSpc>
              <a:spcBef>
                <a:spcPts val="95"/>
              </a:spcBef>
            </a:pPr>
            <a:r>
              <a:rPr dirty="0" baseline="9920" sz="2100" spc="-1545">
                <a:latin typeface="Microsoft YaHei"/>
                <a:cs typeface="Microsoft YaHei"/>
              </a:rPr>
              <a:t>N</a:t>
            </a:r>
            <a:r>
              <a:rPr dirty="0" baseline="11904" sz="2100" spc="-1875">
                <a:latin typeface="Microsoft YaHei"/>
                <a:cs typeface="Microsoft YaHei"/>
              </a:rPr>
              <a:t>网</a:t>
            </a:r>
            <a:r>
              <a:rPr dirty="0" baseline="17857" sz="2100" spc="-2100">
                <a:latin typeface="Microsoft YaHei"/>
                <a:cs typeface="Microsoft YaHei"/>
              </a:rPr>
              <a:t>配</a:t>
            </a:r>
            <a:r>
              <a:rPr dirty="0" sz="1400" spc="-1400">
                <a:latin typeface="Microsoft YaHei"/>
                <a:cs typeface="Microsoft YaHei"/>
              </a:rPr>
              <a:t>基</a:t>
            </a:r>
            <a:r>
              <a:rPr dirty="0" baseline="25793" sz="2100" spc="-2100">
                <a:latin typeface="Microsoft YaHei"/>
                <a:cs typeface="Microsoft YaHei"/>
              </a:rPr>
              <a:t>传</a:t>
            </a:r>
            <a:r>
              <a:rPr dirty="0" baseline="1984" sz="2100" spc="-2062">
                <a:latin typeface="Microsoft YaHei"/>
                <a:cs typeface="Microsoft YaHei"/>
              </a:rPr>
              <a:t>本</a:t>
            </a:r>
            <a:r>
              <a:rPr dirty="0" baseline="3968" sz="2100" spc="-817">
                <a:latin typeface="Microsoft YaHei"/>
                <a:cs typeface="Microsoft YaHei"/>
              </a:rPr>
              <a:t>S</a:t>
            </a:r>
            <a:r>
              <a:rPr dirty="0" baseline="3968" sz="2100" spc="-1732">
                <a:latin typeface="Microsoft YaHei"/>
                <a:cs typeface="Microsoft YaHei"/>
              </a:rPr>
              <a:t>N</a:t>
            </a:r>
            <a:r>
              <a:rPr dirty="0" baseline="1984" sz="2100" spc="-2100">
                <a:latin typeface="Microsoft YaHei"/>
                <a:cs typeface="Microsoft YaHei"/>
              </a:rPr>
              <a:t>板</a:t>
            </a:r>
            <a:r>
              <a:rPr dirty="0" baseline="15873" sz="2100" spc="-1710">
                <a:latin typeface="Microsoft YaHei"/>
                <a:cs typeface="Microsoft YaHei"/>
              </a:rPr>
              <a:t>N</a:t>
            </a:r>
            <a:r>
              <a:rPr dirty="0" baseline="15873" sz="2100" spc="-2070">
                <a:latin typeface="Microsoft YaHei"/>
                <a:cs typeface="Microsoft YaHei"/>
              </a:rPr>
              <a:t>业</a:t>
            </a:r>
            <a:r>
              <a:rPr dirty="0" baseline="13888" sz="2100" spc="-1927">
                <a:latin typeface="Microsoft YaHei"/>
                <a:cs typeface="Microsoft YaHei"/>
              </a:rPr>
              <a:t>基</a:t>
            </a:r>
            <a:r>
              <a:rPr dirty="0" baseline="25793" sz="2100" spc="-2010">
                <a:latin typeface="Microsoft YaHei"/>
                <a:cs typeface="Microsoft YaHei"/>
              </a:rPr>
              <a:t>操</a:t>
            </a:r>
            <a:r>
              <a:rPr dirty="0" baseline="1984" sz="2100" spc="-2100">
                <a:latin typeface="Microsoft YaHei"/>
                <a:cs typeface="Microsoft YaHei"/>
              </a:rPr>
              <a:t>基</a:t>
            </a:r>
            <a:r>
              <a:rPr dirty="0" baseline="3968" sz="2100" spc="-1920">
                <a:latin typeface="Microsoft YaHei"/>
                <a:cs typeface="Microsoft YaHei"/>
              </a:rPr>
              <a:t>操</a:t>
            </a:r>
            <a:r>
              <a:rPr dirty="0" baseline="11904" sz="2100" spc="-1162">
                <a:latin typeface="Microsoft YaHei"/>
                <a:cs typeface="Microsoft YaHei"/>
              </a:rPr>
              <a:t>V</a:t>
            </a:r>
            <a:r>
              <a:rPr dirty="0" baseline="9920" sz="2100" spc="-1162">
                <a:latin typeface="Microsoft YaHei"/>
                <a:cs typeface="Microsoft YaHei"/>
              </a:rPr>
              <a:t>R</a:t>
            </a:r>
            <a:r>
              <a:rPr dirty="0" baseline="3968" sz="2100" spc="-1162">
                <a:latin typeface="Microsoft YaHei"/>
                <a:cs typeface="Microsoft YaHei"/>
              </a:rPr>
              <a:t>C</a:t>
            </a:r>
            <a:r>
              <a:rPr dirty="0" baseline="11904" sz="2100" spc="-1875">
                <a:latin typeface="Microsoft YaHei"/>
                <a:cs typeface="Microsoft YaHei"/>
              </a:rPr>
              <a:t>元</a:t>
            </a:r>
            <a:r>
              <a:rPr dirty="0" baseline="17857" sz="2100" spc="-2100">
                <a:latin typeface="Microsoft YaHei"/>
                <a:cs typeface="Microsoft YaHei"/>
              </a:rPr>
              <a:t>置</a:t>
            </a:r>
            <a:r>
              <a:rPr dirty="0" sz="1400" spc="-1400">
                <a:latin typeface="Microsoft YaHei"/>
                <a:cs typeface="Microsoft YaHei"/>
              </a:rPr>
              <a:t>站</a:t>
            </a:r>
            <a:r>
              <a:rPr dirty="0" baseline="25793" sz="2100" spc="-2100">
                <a:latin typeface="Microsoft YaHei"/>
                <a:cs typeface="Microsoft YaHei"/>
              </a:rPr>
              <a:t>输</a:t>
            </a:r>
            <a:r>
              <a:rPr dirty="0" baseline="1984" sz="2100" spc="-2032">
                <a:latin typeface="Microsoft YaHei"/>
                <a:cs typeface="Microsoft YaHei"/>
              </a:rPr>
              <a:t>地</a:t>
            </a:r>
            <a:r>
              <a:rPr dirty="0" baseline="3968" sz="2100" spc="-1095" b="1">
                <a:latin typeface="Microsoft YaHei"/>
                <a:cs typeface="Microsoft YaHei"/>
              </a:rPr>
              <a:t>R</a:t>
            </a:r>
            <a:r>
              <a:rPr dirty="0" baseline="11904" sz="2100" spc="-1095">
                <a:latin typeface="Microsoft YaHei"/>
                <a:cs typeface="Microsoft YaHei"/>
              </a:rPr>
              <a:t>L</a:t>
            </a:r>
            <a:r>
              <a:rPr dirty="0" baseline="1984" sz="2100" spc="-2085">
                <a:latin typeface="Microsoft YaHei"/>
                <a:cs typeface="Microsoft YaHei"/>
              </a:rPr>
              <a:t>卡</a:t>
            </a:r>
            <a:r>
              <a:rPr dirty="0" baseline="15873" sz="2100" spc="-2100">
                <a:latin typeface="Microsoft YaHei"/>
                <a:cs typeface="Microsoft YaHei"/>
              </a:rPr>
              <a:t>务</a:t>
            </a:r>
            <a:r>
              <a:rPr dirty="0" baseline="9920" sz="2100" spc="-2085">
                <a:latin typeface="Microsoft YaHei"/>
                <a:cs typeface="Microsoft YaHei"/>
              </a:rPr>
              <a:t>小</a:t>
            </a:r>
            <a:r>
              <a:rPr dirty="0" baseline="3968" sz="2100" spc="-1200">
                <a:latin typeface="Microsoft YaHei"/>
                <a:cs typeface="Microsoft YaHei"/>
              </a:rPr>
              <a:t>T</a:t>
            </a:r>
            <a:r>
              <a:rPr dirty="0" baseline="13888" sz="2100" spc="-1927">
                <a:latin typeface="Microsoft YaHei"/>
                <a:cs typeface="Microsoft YaHei"/>
              </a:rPr>
              <a:t>站</a:t>
            </a:r>
            <a:r>
              <a:rPr dirty="0" baseline="25793" sz="2100" spc="-2010">
                <a:latin typeface="Microsoft YaHei"/>
                <a:cs typeface="Microsoft YaHei"/>
              </a:rPr>
              <a:t>作</a:t>
            </a:r>
            <a:r>
              <a:rPr dirty="0" baseline="1984" sz="2100" spc="-2100">
                <a:latin typeface="Microsoft YaHei"/>
                <a:cs typeface="Microsoft YaHei"/>
              </a:rPr>
              <a:t>站</a:t>
            </a:r>
            <a:r>
              <a:rPr dirty="0" baseline="3968" sz="2100" spc="-1530">
                <a:latin typeface="Microsoft YaHei"/>
                <a:cs typeface="Microsoft YaHei"/>
              </a:rPr>
              <a:t>作</a:t>
            </a:r>
            <a:r>
              <a:rPr dirty="0" baseline="15873" sz="2100" spc="-2039">
                <a:latin typeface="Microsoft YaHei"/>
                <a:cs typeface="Microsoft YaHei"/>
              </a:rPr>
              <a:t>小</a:t>
            </a:r>
            <a:r>
              <a:rPr dirty="0" baseline="11904" sz="2100" spc="-1260">
                <a:latin typeface="Microsoft YaHei"/>
                <a:cs typeface="Microsoft YaHei"/>
              </a:rPr>
              <a:t>A</a:t>
            </a:r>
            <a:r>
              <a:rPr dirty="0" baseline="3968" sz="2100" spc="-1260">
                <a:latin typeface="Microsoft YaHei"/>
                <a:cs typeface="Microsoft YaHei"/>
              </a:rPr>
              <a:t>P</a:t>
            </a:r>
            <a:r>
              <a:rPr dirty="0" baseline="11904" sz="2100" spc="-1875">
                <a:latin typeface="Microsoft YaHei"/>
                <a:cs typeface="Microsoft YaHei"/>
              </a:rPr>
              <a:t>信</a:t>
            </a:r>
            <a:r>
              <a:rPr dirty="0" baseline="17857" sz="2100" spc="-2100">
                <a:latin typeface="Microsoft YaHei"/>
                <a:cs typeface="Microsoft YaHei"/>
              </a:rPr>
              <a:t>文</a:t>
            </a:r>
            <a:r>
              <a:rPr dirty="0" sz="1400" spc="-1400">
                <a:latin typeface="Microsoft YaHei"/>
                <a:cs typeface="Microsoft YaHei"/>
              </a:rPr>
              <a:t>开</a:t>
            </a:r>
            <a:r>
              <a:rPr dirty="0" baseline="25793" sz="2100" spc="-2100">
                <a:latin typeface="Microsoft YaHei"/>
                <a:cs typeface="Microsoft YaHei"/>
              </a:rPr>
              <a:t>管</a:t>
            </a:r>
            <a:r>
              <a:rPr dirty="0" baseline="1984" sz="2100" spc="-1860">
                <a:latin typeface="Microsoft YaHei"/>
                <a:cs typeface="Microsoft YaHei"/>
              </a:rPr>
              <a:t>小规</a:t>
            </a:r>
            <a:r>
              <a:rPr dirty="0" baseline="15873" sz="2100" spc="-622">
                <a:latin typeface="Microsoft YaHei"/>
                <a:cs typeface="Microsoft YaHei"/>
              </a:rPr>
              <a:t>I</a:t>
            </a:r>
            <a:r>
              <a:rPr dirty="0" baseline="9920" sz="2100" spc="-2077">
                <a:latin typeface="Microsoft YaHei"/>
                <a:cs typeface="Microsoft YaHei"/>
              </a:rPr>
              <a:t>区</a:t>
            </a:r>
            <a:r>
              <a:rPr dirty="0" baseline="13888" sz="2100" spc="-1927">
                <a:latin typeface="Microsoft YaHei"/>
                <a:cs typeface="Microsoft YaHei"/>
              </a:rPr>
              <a:t>基</a:t>
            </a:r>
            <a:r>
              <a:rPr dirty="0" baseline="25793" sz="2100" spc="-2010">
                <a:latin typeface="Microsoft YaHei"/>
                <a:cs typeface="Microsoft YaHei"/>
              </a:rPr>
              <a:t>维</a:t>
            </a:r>
            <a:r>
              <a:rPr dirty="0" baseline="1984" sz="2100" spc="-2100">
                <a:latin typeface="Microsoft YaHei"/>
                <a:cs typeface="Microsoft YaHei"/>
              </a:rPr>
              <a:t>开</a:t>
            </a:r>
            <a:r>
              <a:rPr dirty="0" baseline="3968" sz="2100" spc="-2070">
                <a:latin typeface="Microsoft YaHei"/>
                <a:cs typeface="Microsoft YaHei"/>
              </a:rPr>
              <a:t>维</a:t>
            </a:r>
            <a:r>
              <a:rPr dirty="0" baseline="11904" sz="2100" spc="-1710">
                <a:latin typeface="Microsoft YaHei"/>
                <a:cs typeface="Microsoft YaHei"/>
              </a:rPr>
              <a:t>N</a:t>
            </a:r>
            <a:r>
              <a:rPr dirty="0" baseline="3968" sz="2100" spc="-1950">
                <a:latin typeface="Microsoft YaHei"/>
                <a:cs typeface="Microsoft YaHei"/>
              </a:rPr>
              <a:t>偶</a:t>
            </a:r>
            <a:r>
              <a:rPr dirty="0" baseline="15873" sz="2100" spc="-952">
                <a:latin typeface="Microsoft YaHei"/>
                <a:cs typeface="Microsoft YaHei"/>
              </a:rPr>
              <a:t>P</a:t>
            </a:r>
            <a:r>
              <a:rPr dirty="0" baseline="15873" sz="2100" spc="-1770">
                <a:latin typeface="Microsoft YaHei"/>
                <a:cs typeface="Microsoft YaHei"/>
              </a:rPr>
              <a:t>区</a:t>
            </a:r>
            <a:r>
              <a:rPr dirty="0" baseline="11904" sz="2100" spc="-1875">
                <a:latin typeface="Microsoft YaHei"/>
                <a:cs typeface="Microsoft YaHei"/>
              </a:rPr>
              <a:t>息</a:t>
            </a:r>
            <a:r>
              <a:rPr dirty="0" baseline="17857" sz="2100" spc="-2100">
                <a:latin typeface="Microsoft YaHei"/>
                <a:cs typeface="Microsoft YaHei"/>
              </a:rPr>
              <a:t>件</a:t>
            </a:r>
            <a:r>
              <a:rPr dirty="0" sz="1400" spc="-1400">
                <a:latin typeface="Microsoft YaHei"/>
                <a:cs typeface="Microsoft YaHei"/>
              </a:rPr>
              <a:t>通</a:t>
            </a:r>
            <a:r>
              <a:rPr dirty="0" baseline="25793" sz="2100" spc="-2100">
                <a:latin typeface="Microsoft YaHei"/>
                <a:cs typeface="Microsoft YaHei"/>
              </a:rPr>
              <a:t>理</a:t>
            </a:r>
            <a:r>
              <a:rPr dirty="0" baseline="1984" sz="2100" spc="-1785">
                <a:latin typeface="Microsoft YaHei"/>
                <a:cs typeface="Microsoft YaHei"/>
              </a:rPr>
              <a:t>区</a:t>
            </a:r>
            <a:r>
              <a:rPr dirty="0" baseline="15873" sz="2100" spc="-1964">
                <a:latin typeface="Microsoft YaHei"/>
                <a:cs typeface="Microsoft YaHei"/>
              </a:rPr>
              <a:t>地</a:t>
            </a:r>
            <a:r>
              <a:rPr dirty="0" baseline="1984" sz="2100" spc="-2085">
                <a:latin typeface="Microsoft YaHei"/>
                <a:cs typeface="Microsoft YaHei"/>
              </a:rPr>
              <a:t>划</a:t>
            </a:r>
            <a:r>
              <a:rPr dirty="0" baseline="9920" sz="2100" spc="-2100">
                <a:latin typeface="Microsoft YaHei"/>
                <a:cs typeface="Microsoft YaHei"/>
              </a:rPr>
              <a:t>网</a:t>
            </a:r>
            <a:r>
              <a:rPr dirty="0" baseline="11904" sz="2100" spc="-2092">
                <a:latin typeface="Microsoft YaHei"/>
                <a:cs typeface="Microsoft YaHei"/>
              </a:rPr>
              <a:t>配</a:t>
            </a:r>
            <a:r>
              <a:rPr dirty="0" baseline="13888" sz="2100" spc="-1927">
                <a:latin typeface="Microsoft YaHei"/>
                <a:cs typeface="Microsoft YaHei"/>
              </a:rPr>
              <a:t>本</a:t>
            </a:r>
            <a:r>
              <a:rPr dirty="0" baseline="25793" sz="2100" spc="-2010">
                <a:latin typeface="Microsoft YaHei"/>
                <a:cs typeface="Microsoft YaHei"/>
              </a:rPr>
              <a:t>护</a:t>
            </a:r>
            <a:r>
              <a:rPr dirty="0" baseline="1984" sz="2100" spc="-2100">
                <a:latin typeface="Microsoft YaHei"/>
                <a:cs typeface="Microsoft YaHei"/>
              </a:rPr>
              <a:t>通</a:t>
            </a:r>
            <a:r>
              <a:rPr dirty="0" baseline="3968" sz="2100" spc="-1829">
                <a:latin typeface="Microsoft YaHei"/>
                <a:cs typeface="Microsoft YaHei"/>
              </a:rPr>
              <a:t>护联</a:t>
            </a:r>
            <a:r>
              <a:rPr dirty="0" baseline="15873" sz="2100" spc="-1770">
                <a:latin typeface="Microsoft YaHei"/>
                <a:cs typeface="Microsoft YaHei"/>
              </a:rPr>
              <a:t>配</a:t>
            </a:r>
            <a:r>
              <a:rPr dirty="0" baseline="11904" sz="2100" spc="-1875">
                <a:latin typeface="Microsoft YaHei"/>
                <a:cs typeface="Microsoft YaHei"/>
              </a:rPr>
              <a:t>部</a:t>
            </a:r>
            <a:r>
              <a:rPr dirty="0" baseline="17857" sz="2100" spc="-2100">
                <a:latin typeface="Microsoft YaHei"/>
                <a:cs typeface="Microsoft YaHei"/>
              </a:rPr>
              <a:t>修</a:t>
            </a:r>
            <a:r>
              <a:rPr dirty="0" sz="1400" spc="-1400">
                <a:latin typeface="Microsoft YaHei"/>
                <a:cs typeface="Microsoft YaHei"/>
              </a:rPr>
              <a:t>调</a:t>
            </a:r>
            <a:r>
              <a:rPr dirty="0" baseline="25793" sz="2100" spc="-2100">
                <a:latin typeface="Microsoft YaHei"/>
                <a:cs typeface="Microsoft YaHei"/>
              </a:rPr>
              <a:t>参</a:t>
            </a:r>
            <a:r>
              <a:rPr dirty="0" baseline="1984" sz="2100" spc="-1785">
                <a:latin typeface="Microsoft YaHei"/>
                <a:cs typeface="Microsoft YaHei"/>
              </a:rPr>
              <a:t>规</a:t>
            </a:r>
            <a:r>
              <a:rPr dirty="0" baseline="15873" sz="2100" spc="-1964">
                <a:latin typeface="Microsoft YaHei"/>
                <a:cs typeface="Microsoft YaHei"/>
              </a:rPr>
              <a:t>址</a:t>
            </a:r>
            <a:r>
              <a:rPr dirty="0" baseline="1984" sz="2100" spc="-2085">
                <a:latin typeface="Microsoft YaHei"/>
                <a:cs typeface="Microsoft YaHei"/>
              </a:rPr>
              <a:t>和</a:t>
            </a:r>
            <a:r>
              <a:rPr dirty="0" baseline="9920" sz="2100" spc="-2100">
                <a:latin typeface="Microsoft YaHei"/>
                <a:cs typeface="Microsoft YaHei"/>
              </a:rPr>
              <a:t>络</a:t>
            </a:r>
            <a:r>
              <a:rPr dirty="0" baseline="11904" sz="2100" spc="-2092">
                <a:latin typeface="Microsoft YaHei"/>
                <a:cs typeface="Microsoft YaHei"/>
              </a:rPr>
              <a:t>置</a:t>
            </a:r>
            <a:r>
              <a:rPr dirty="0" baseline="13888" sz="2100" spc="-1927">
                <a:latin typeface="Microsoft YaHei"/>
                <a:cs typeface="Microsoft YaHei"/>
              </a:rPr>
              <a:t>信</a:t>
            </a:r>
            <a:r>
              <a:rPr dirty="0" baseline="25793" sz="2100" spc="-2010">
                <a:latin typeface="Microsoft YaHei"/>
                <a:cs typeface="Microsoft YaHei"/>
              </a:rPr>
              <a:t>链</a:t>
            </a:r>
            <a:r>
              <a:rPr dirty="0" baseline="1984" sz="2100" spc="-2100">
                <a:latin typeface="Microsoft YaHei"/>
                <a:cs typeface="Microsoft YaHei"/>
              </a:rPr>
              <a:t>需</a:t>
            </a:r>
            <a:r>
              <a:rPr dirty="0" baseline="3968" sz="2100" spc="-1829">
                <a:latin typeface="Microsoft YaHei"/>
                <a:cs typeface="Microsoft YaHei"/>
              </a:rPr>
              <a:t>链参</a:t>
            </a:r>
            <a:r>
              <a:rPr dirty="0" baseline="15873" sz="2100" spc="-2100">
                <a:latin typeface="Microsoft YaHei"/>
                <a:cs typeface="Microsoft YaHei"/>
              </a:rPr>
              <a:t>置</a:t>
            </a:r>
            <a:r>
              <a:rPr dirty="0" baseline="23809" sz="2100" spc="-1785">
                <a:latin typeface="Microsoft YaHei"/>
                <a:cs typeface="Microsoft YaHei"/>
              </a:rPr>
              <a:t>进</a:t>
            </a:r>
            <a:r>
              <a:rPr dirty="0" baseline="11904" sz="2100" spc="-1875">
                <a:latin typeface="Microsoft YaHei"/>
                <a:cs typeface="Microsoft YaHei"/>
              </a:rPr>
              <a:t>分</a:t>
            </a:r>
            <a:r>
              <a:rPr dirty="0" baseline="17857" sz="2100" spc="-2100">
                <a:latin typeface="Microsoft YaHei"/>
                <a:cs typeface="Microsoft YaHei"/>
              </a:rPr>
              <a:t>改</a:t>
            </a:r>
            <a:r>
              <a:rPr dirty="0" sz="1400" spc="-1400">
                <a:latin typeface="Microsoft YaHei"/>
                <a:cs typeface="Microsoft YaHei"/>
              </a:rPr>
              <a:t>测</a:t>
            </a:r>
            <a:r>
              <a:rPr dirty="0" baseline="25793" sz="2100" spc="-2100">
                <a:latin typeface="Microsoft YaHei"/>
                <a:cs typeface="Microsoft YaHei"/>
              </a:rPr>
              <a:t>数</a:t>
            </a:r>
            <a:r>
              <a:rPr dirty="0" baseline="1984" sz="2100" spc="-1785">
                <a:latin typeface="Microsoft YaHei"/>
                <a:cs typeface="Microsoft YaHei"/>
              </a:rPr>
              <a:t>划</a:t>
            </a:r>
            <a:r>
              <a:rPr dirty="0" baseline="15873" sz="2100" spc="-1964">
                <a:latin typeface="Microsoft YaHei"/>
                <a:cs typeface="Microsoft YaHei"/>
              </a:rPr>
              <a:t>修</a:t>
            </a:r>
            <a:r>
              <a:rPr dirty="0" baseline="1984" sz="2100" spc="-2085">
                <a:latin typeface="Microsoft YaHei"/>
                <a:cs typeface="Microsoft YaHei"/>
              </a:rPr>
              <a:t>本</a:t>
            </a:r>
            <a:r>
              <a:rPr dirty="0" baseline="9920" sz="2100" spc="-2100">
                <a:latin typeface="Microsoft YaHei"/>
                <a:cs typeface="Microsoft YaHei"/>
              </a:rPr>
              <a:t>规</a:t>
            </a:r>
            <a:r>
              <a:rPr dirty="0" baseline="11904" sz="2100" spc="-2092">
                <a:latin typeface="Microsoft YaHei"/>
                <a:cs typeface="Microsoft YaHei"/>
              </a:rPr>
              <a:t>修</a:t>
            </a:r>
            <a:r>
              <a:rPr dirty="0" baseline="13888" sz="2100" spc="-1927">
                <a:latin typeface="Microsoft YaHei"/>
                <a:cs typeface="Microsoft YaHei"/>
              </a:rPr>
              <a:t>息</a:t>
            </a:r>
            <a:r>
              <a:rPr dirty="0" baseline="25793" sz="2100" spc="-2010">
                <a:latin typeface="Microsoft YaHei"/>
                <a:cs typeface="Microsoft YaHei"/>
              </a:rPr>
              <a:t>路</a:t>
            </a:r>
            <a:r>
              <a:rPr dirty="0" baseline="1984" sz="2100" spc="-2100">
                <a:latin typeface="Microsoft YaHei"/>
                <a:cs typeface="Microsoft YaHei"/>
              </a:rPr>
              <a:t>要</a:t>
            </a:r>
            <a:r>
              <a:rPr dirty="0" baseline="3968" sz="2100" spc="-1829">
                <a:latin typeface="Microsoft YaHei"/>
                <a:cs typeface="Microsoft YaHei"/>
              </a:rPr>
              <a:t>路数</a:t>
            </a:r>
            <a:r>
              <a:rPr dirty="0" baseline="15873" sz="2100" spc="-2100">
                <a:latin typeface="Microsoft YaHei"/>
                <a:cs typeface="Microsoft YaHei"/>
              </a:rPr>
              <a:t>参</a:t>
            </a:r>
            <a:r>
              <a:rPr dirty="0" baseline="23809" sz="2100" spc="-1785">
                <a:latin typeface="Microsoft YaHei"/>
                <a:cs typeface="Microsoft YaHei"/>
              </a:rPr>
              <a:t>入</a:t>
            </a:r>
            <a:r>
              <a:rPr dirty="0" baseline="11904" sz="2100" spc="-1875">
                <a:latin typeface="Microsoft YaHei"/>
                <a:cs typeface="Microsoft YaHei"/>
              </a:rPr>
              <a:t>需</a:t>
            </a:r>
            <a:r>
              <a:rPr dirty="0" baseline="17857" sz="2100" spc="-2100">
                <a:latin typeface="Microsoft YaHei"/>
                <a:cs typeface="Microsoft YaHei"/>
              </a:rPr>
              <a:t>完</a:t>
            </a:r>
            <a:r>
              <a:rPr dirty="0" sz="1400" spc="-1400">
                <a:latin typeface="Microsoft YaHei"/>
                <a:cs typeface="Microsoft YaHei"/>
              </a:rPr>
              <a:t>时</a:t>
            </a:r>
            <a:r>
              <a:rPr dirty="0" baseline="25793" sz="2100" spc="-2100">
                <a:latin typeface="Microsoft YaHei"/>
                <a:cs typeface="Microsoft YaHei"/>
              </a:rPr>
              <a:t>共</a:t>
            </a:r>
            <a:r>
              <a:rPr dirty="0" baseline="1984" sz="2100" spc="-1785">
                <a:latin typeface="Microsoft YaHei"/>
                <a:cs typeface="Microsoft YaHei"/>
              </a:rPr>
              <a:t>完</a:t>
            </a:r>
            <a:r>
              <a:rPr dirty="0" baseline="15873" sz="2100" spc="-1964">
                <a:latin typeface="Microsoft YaHei"/>
                <a:cs typeface="Microsoft YaHei"/>
              </a:rPr>
              <a:t>改</a:t>
            </a:r>
            <a:r>
              <a:rPr dirty="0" baseline="1984" sz="2100" spc="-2085">
                <a:latin typeface="Microsoft YaHei"/>
                <a:cs typeface="Microsoft YaHei"/>
              </a:rPr>
              <a:t>地</a:t>
            </a:r>
            <a:r>
              <a:rPr dirty="0" baseline="9920" sz="2100" spc="-2100">
                <a:latin typeface="Microsoft YaHei"/>
                <a:cs typeface="Microsoft YaHei"/>
              </a:rPr>
              <a:t>划</a:t>
            </a:r>
            <a:r>
              <a:rPr dirty="0" baseline="11904" sz="2100" spc="-2092">
                <a:latin typeface="Microsoft YaHei"/>
                <a:cs typeface="Microsoft YaHei"/>
              </a:rPr>
              <a:t>改</a:t>
            </a:r>
            <a:r>
              <a:rPr dirty="0" baseline="13888" sz="2100" spc="-1927">
                <a:latin typeface="Microsoft YaHei"/>
                <a:cs typeface="Microsoft YaHei"/>
              </a:rPr>
              <a:t>修</a:t>
            </a:r>
            <a:r>
              <a:rPr dirty="0" baseline="25793" sz="2100" spc="-2010">
                <a:latin typeface="Microsoft YaHei"/>
                <a:cs typeface="Microsoft YaHei"/>
              </a:rPr>
              <a:t>参</a:t>
            </a:r>
            <a:r>
              <a:rPr dirty="0" baseline="1984" sz="2100" spc="-2100">
                <a:latin typeface="Microsoft YaHei"/>
                <a:cs typeface="Microsoft YaHei"/>
              </a:rPr>
              <a:t>两</a:t>
            </a:r>
            <a:r>
              <a:rPr dirty="0" baseline="3968" sz="2100" spc="-1829">
                <a:latin typeface="Microsoft YaHei"/>
                <a:cs typeface="Microsoft YaHei"/>
              </a:rPr>
              <a:t>参修</a:t>
            </a:r>
            <a:r>
              <a:rPr dirty="0" baseline="15873" sz="2100" spc="-2100">
                <a:latin typeface="Microsoft YaHei"/>
                <a:cs typeface="Microsoft YaHei"/>
              </a:rPr>
              <a:t>数</a:t>
            </a:r>
            <a:r>
              <a:rPr dirty="0" baseline="23809" sz="2100" spc="-1785">
                <a:latin typeface="Microsoft YaHei"/>
                <a:cs typeface="Microsoft YaHei"/>
              </a:rPr>
              <a:t>离</a:t>
            </a:r>
            <a:r>
              <a:rPr dirty="0" baseline="11904" sz="2100" spc="-1875">
                <a:latin typeface="Microsoft YaHei"/>
                <a:cs typeface="Microsoft YaHei"/>
              </a:rPr>
              <a:t>要</a:t>
            </a:r>
            <a:r>
              <a:rPr dirty="0" baseline="17857" sz="2100" spc="-2100">
                <a:latin typeface="Microsoft YaHei"/>
                <a:cs typeface="Microsoft YaHei"/>
              </a:rPr>
              <a:t>成</a:t>
            </a:r>
            <a:r>
              <a:rPr dirty="0" sz="1400" spc="-1400">
                <a:latin typeface="Microsoft YaHei"/>
                <a:cs typeface="Microsoft YaHei"/>
              </a:rPr>
              <a:t>，</a:t>
            </a:r>
            <a:r>
              <a:rPr dirty="0" baseline="25793" sz="2100" spc="-2100">
                <a:latin typeface="Microsoft YaHei"/>
                <a:cs typeface="Microsoft YaHei"/>
              </a:rPr>
              <a:t>四</a:t>
            </a:r>
            <a:r>
              <a:rPr dirty="0" baseline="1984" sz="2100" spc="-1785">
                <a:latin typeface="Microsoft YaHei"/>
                <a:cs typeface="Microsoft YaHei"/>
              </a:rPr>
              <a:t>成</a:t>
            </a:r>
            <a:r>
              <a:rPr dirty="0" baseline="15873" sz="2100" spc="-1964">
                <a:latin typeface="Microsoft YaHei"/>
                <a:cs typeface="Microsoft YaHei"/>
              </a:rPr>
              <a:t>的</a:t>
            </a:r>
            <a:r>
              <a:rPr dirty="0" baseline="1984" sz="2100" spc="-2085">
                <a:latin typeface="Microsoft YaHei"/>
                <a:cs typeface="Microsoft YaHei"/>
              </a:rPr>
              <a:t>小</a:t>
            </a:r>
            <a:r>
              <a:rPr dirty="0" baseline="9920" sz="2100" spc="-2100">
                <a:latin typeface="Microsoft YaHei"/>
                <a:cs typeface="Microsoft YaHei"/>
              </a:rPr>
              <a:t>参</a:t>
            </a:r>
            <a:r>
              <a:rPr dirty="0" baseline="11904" sz="2100" spc="-2092">
                <a:latin typeface="Microsoft YaHei"/>
                <a:cs typeface="Microsoft YaHei"/>
              </a:rPr>
              <a:t>的</a:t>
            </a:r>
            <a:r>
              <a:rPr dirty="0" baseline="13888" sz="2100" spc="-1927">
                <a:latin typeface="Microsoft YaHei"/>
                <a:cs typeface="Microsoft YaHei"/>
              </a:rPr>
              <a:t>改</a:t>
            </a:r>
            <a:r>
              <a:rPr dirty="0" baseline="25793" sz="2100" spc="-2010">
                <a:latin typeface="Microsoft YaHei"/>
                <a:cs typeface="Microsoft YaHei"/>
              </a:rPr>
              <a:t>数</a:t>
            </a:r>
            <a:r>
              <a:rPr dirty="0" baseline="1984" sz="2100" spc="-2100">
                <a:latin typeface="Microsoft YaHei"/>
                <a:cs typeface="Microsoft YaHei"/>
              </a:rPr>
              <a:t>部</a:t>
            </a:r>
            <a:r>
              <a:rPr dirty="0" baseline="3968" sz="2100" spc="-1829">
                <a:latin typeface="Microsoft YaHei"/>
                <a:cs typeface="Microsoft YaHei"/>
              </a:rPr>
              <a:t>数改</a:t>
            </a:r>
            <a:r>
              <a:rPr dirty="0" baseline="15873" sz="2100" spc="-2100">
                <a:latin typeface="Microsoft YaHei"/>
                <a:cs typeface="Microsoft YaHei"/>
              </a:rPr>
              <a:t>修</a:t>
            </a:r>
            <a:r>
              <a:rPr dirty="0" baseline="23809" sz="2100" spc="-1785">
                <a:latin typeface="Microsoft YaHei"/>
                <a:cs typeface="Microsoft YaHei"/>
              </a:rPr>
              <a:t>线</a:t>
            </a:r>
            <a:r>
              <a:rPr dirty="0" baseline="11904" sz="2100" spc="-1875">
                <a:latin typeface="Microsoft YaHei"/>
                <a:cs typeface="Microsoft YaHei"/>
              </a:rPr>
              <a:t>修</a:t>
            </a:r>
            <a:r>
              <a:rPr dirty="0" baseline="17857" sz="2100" spc="-2100">
                <a:latin typeface="Microsoft YaHei"/>
                <a:cs typeface="Microsoft YaHei"/>
              </a:rPr>
              <a:t>后</a:t>
            </a:r>
            <a:r>
              <a:rPr dirty="0" sz="1400" spc="-1400">
                <a:latin typeface="Microsoft YaHei"/>
                <a:cs typeface="Microsoft YaHei"/>
              </a:rPr>
              <a:t>涉</a:t>
            </a:r>
            <a:r>
              <a:rPr dirty="0" baseline="25793" sz="2100" spc="-2100">
                <a:latin typeface="Microsoft YaHei"/>
                <a:cs typeface="Microsoft YaHei"/>
              </a:rPr>
              <a:t>类</a:t>
            </a:r>
            <a:r>
              <a:rPr dirty="0" baseline="1984" sz="2100" spc="-1785">
                <a:latin typeface="Microsoft YaHei"/>
                <a:cs typeface="Microsoft YaHei"/>
              </a:rPr>
              <a:t>后</a:t>
            </a:r>
            <a:r>
              <a:rPr dirty="0" baseline="15873" sz="2100" spc="-1964">
                <a:latin typeface="Microsoft YaHei"/>
                <a:cs typeface="Microsoft YaHei"/>
              </a:rPr>
              <a:t>操</a:t>
            </a:r>
            <a:r>
              <a:rPr dirty="0" baseline="1984" sz="2100" spc="-2085">
                <a:latin typeface="Microsoft YaHei"/>
                <a:cs typeface="Microsoft YaHei"/>
              </a:rPr>
              <a:t>区</a:t>
            </a:r>
            <a:r>
              <a:rPr dirty="0" baseline="9920" sz="2100" spc="-2100">
                <a:latin typeface="Microsoft YaHei"/>
                <a:cs typeface="Microsoft YaHei"/>
              </a:rPr>
              <a:t>数</a:t>
            </a:r>
            <a:r>
              <a:rPr dirty="0" baseline="11904" sz="2100" spc="-2092">
                <a:latin typeface="Microsoft YaHei"/>
                <a:cs typeface="Microsoft YaHei"/>
              </a:rPr>
              <a:t>操</a:t>
            </a:r>
            <a:r>
              <a:rPr dirty="0" baseline="13888" sz="2100" spc="-1927">
                <a:latin typeface="Microsoft YaHei"/>
                <a:cs typeface="Microsoft YaHei"/>
              </a:rPr>
              <a:t>的</a:t>
            </a:r>
            <a:r>
              <a:rPr dirty="0" baseline="25793" sz="2100" spc="-2010">
                <a:latin typeface="Microsoft YaHei"/>
                <a:cs typeface="Microsoft YaHei"/>
              </a:rPr>
              <a:t>修</a:t>
            </a:r>
            <a:r>
              <a:rPr dirty="0" baseline="1984" sz="2100" spc="-2100">
                <a:latin typeface="Microsoft YaHei"/>
                <a:cs typeface="Microsoft YaHei"/>
              </a:rPr>
              <a:t>分</a:t>
            </a:r>
            <a:r>
              <a:rPr dirty="0" baseline="3968" sz="2100" spc="-1829">
                <a:latin typeface="Microsoft YaHei"/>
                <a:cs typeface="Microsoft YaHei"/>
              </a:rPr>
              <a:t>信的</a:t>
            </a:r>
            <a:r>
              <a:rPr dirty="0" baseline="15873" sz="2100" spc="-2100">
                <a:latin typeface="Microsoft YaHei"/>
                <a:cs typeface="Microsoft YaHei"/>
              </a:rPr>
              <a:t>改</a:t>
            </a:r>
            <a:r>
              <a:rPr dirty="0" baseline="23809" sz="2100" spc="-1785">
                <a:latin typeface="Microsoft YaHei"/>
                <a:cs typeface="Microsoft YaHei"/>
              </a:rPr>
              <a:t>网</a:t>
            </a:r>
            <a:r>
              <a:rPr dirty="0" baseline="11904" sz="2100" spc="-1875">
                <a:latin typeface="Microsoft YaHei"/>
                <a:cs typeface="Microsoft YaHei"/>
              </a:rPr>
              <a:t>改</a:t>
            </a:r>
            <a:r>
              <a:rPr dirty="0" baseline="17857" sz="2100" spc="-2100">
                <a:latin typeface="Microsoft YaHei"/>
                <a:cs typeface="Microsoft YaHei"/>
              </a:rPr>
              <a:t>，</a:t>
            </a:r>
            <a:r>
              <a:rPr dirty="0" sz="1400" spc="-1400">
                <a:latin typeface="Microsoft YaHei"/>
                <a:cs typeface="Microsoft YaHei"/>
              </a:rPr>
              <a:t>及</a:t>
            </a:r>
            <a:r>
              <a:rPr dirty="0" baseline="1984" sz="2100" spc="-1785">
                <a:latin typeface="Microsoft YaHei"/>
                <a:cs typeface="Microsoft YaHei"/>
              </a:rPr>
              <a:t>，</a:t>
            </a:r>
            <a:r>
              <a:rPr dirty="0" baseline="15873" sz="2100" spc="-1964">
                <a:latin typeface="Microsoft YaHei"/>
                <a:cs typeface="Microsoft YaHei"/>
              </a:rPr>
              <a:t>作</a:t>
            </a:r>
            <a:r>
              <a:rPr dirty="0" baseline="1984" sz="2100" spc="-2085">
                <a:latin typeface="Microsoft YaHei"/>
                <a:cs typeface="Microsoft YaHei"/>
              </a:rPr>
              <a:t>规</a:t>
            </a:r>
            <a:r>
              <a:rPr dirty="0" baseline="9920" sz="2100" spc="-2100">
                <a:latin typeface="Microsoft YaHei"/>
                <a:cs typeface="Microsoft YaHei"/>
              </a:rPr>
              <a:t>修</a:t>
            </a:r>
            <a:r>
              <a:rPr dirty="0" baseline="11904" sz="2100" spc="-2092">
                <a:latin typeface="Microsoft YaHei"/>
                <a:cs typeface="Microsoft YaHei"/>
              </a:rPr>
              <a:t>作</a:t>
            </a:r>
            <a:r>
              <a:rPr dirty="0" baseline="13888" sz="2100" spc="-1927">
                <a:latin typeface="Microsoft YaHei"/>
                <a:cs typeface="Microsoft YaHei"/>
              </a:rPr>
              <a:t>操</a:t>
            </a:r>
            <a:r>
              <a:rPr dirty="0" baseline="25793" sz="2100" spc="-2010">
                <a:latin typeface="Microsoft YaHei"/>
                <a:cs typeface="Microsoft YaHei"/>
              </a:rPr>
              <a:t>改</a:t>
            </a:r>
            <a:r>
              <a:rPr dirty="0" baseline="1984" sz="2100" spc="-2100">
                <a:latin typeface="Microsoft YaHei"/>
                <a:cs typeface="Microsoft YaHei"/>
              </a:rPr>
              <a:t>参</a:t>
            </a:r>
            <a:r>
              <a:rPr dirty="0" baseline="3968" sz="2100" spc="-1829">
                <a:latin typeface="Microsoft YaHei"/>
                <a:cs typeface="Microsoft YaHei"/>
              </a:rPr>
              <a:t>息操</a:t>
            </a:r>
            <a:r>
              <a:rPr dirty="0" baseline="15873" sz="2100" spc="-2100">
                <a:latin typeface="Microsoft YaHei"/>
                <a:cs typeface="Microsoft YaHei"/>
              </a:rPr>
              <a:t>操</a:t>
            </a:r>
            <a:r>
              <a:rPr dirty="0" baseline="23809" sz="2100" spc="-1785">
                <a:latin typeface="Microsoft YaHei"/>
                <a:cs typeface="Microsoft YaHei"/>
              </a:rPr>
              <a:t>络</a:t>
            </a:r>
            <a:r>
              <a:rPr dirty="0" baseline="11904" sz="2100" spc="-1875">
                <a:latin typeface="Microsoft YaHei"/>
                <a:cs typeface="Microsoft YaHei"/>
              </a:rPr>
              <a:t>的</a:t>
            </a:r>
            <a:r>
              <a:rPr dirty="0" baseline="17857" sz="2100" spc="-2100">
                <a:latin typeface="Microsoft YaHei"/>
                <a:cs typeface="Microsoft YaHei"/>
              </a:rPr>
              <a:t>点</a:t>
            </a:r>
            <a:r>
              <a:rPr dirty="0" sz="1400" spc="-1400">
                <a:latin typeface="Microsoft YaHei"/>
                <a:cs typeface="Microsoft YaHei"/>
              </a:rPr>
              <a:t>的</a:t>
            </a:r>
            <a:r>
              <a:rPr dirty="0" baseline="25793" sz="2100" spc="-2100">
                <a:latin typeface="Microsoft YaHei"/>
                <a:cs typeface="Microsoft YaHei"/>
              </a:rPr>
              <a:t>如</a:t>
            </a:r>
            <a:r>
              <a:rPr dirty="0" baseline="1984" sz="2100" spc="-1785">
                <a:latin typeface="Microsoft YaHei"/>
                <a:cs typeface="Microsoft YaHei"/>
              </a:rPr>
              <a:t>查</a:t>
            </a:r>
            <a:r>
              <a:rPr dirty="0" baseline="15873" sz="2100" spc="-1964">
                <a:latin typeface="Microsoft YaHei"/>
                <a:cs typeface="Microsoft YaHei"/>
              </a:rPr>
              <a:t>方</a:t>
            </a:r>
            <a:r>
              <a:rPr dirty="0" baseline="1984" sz="2100" spc="-2085">
                <a:latin typeface="Microsoft YaHei"/>
                <a:cs typeface="Microsoft YaHei"/>
              </a:rPr>
              <a:t>划</a:t>
            </a:r>
            <a:r>
              <a:rPr dirty="0" baseline="9920" sz="2100" spc="-2100">
                <a:latin typeface="Microsoft YaHei"/>
                <a:cs typeface="Microsoft YaHei"/>
              </a:rPr>
              <a:t>改</a:t>
            </a:r>
            <a:r>
              <a:rPr dirty="0" baseline="11904" sz="2100" spc="-2092">
                <a:latin typeface="Microsoft YaHei"/>
                <a:cs typeface="Microsoft YaHei"/>
              </a:rPr>
              <a:t>方</a:t>
            </a:r>
            <a:r>
              <a:rPr dirty="0" baseline="13888" sz="2100" spc="-1927">
                <a:latin typeface="Microsoft YaHei"/>
                <a:cs typeface="Microsoft YaHei"/>
              </a:rPr>
              <a:t>作</a:t>
            </a:r>
            <a:r>
              <a:rPr dirty="0" baseline="25793" sz="2100" spc="-2010">
                <a:latin typeface="Microsoft YaHei"/>
                <a:cs typeface="Microsoft YaHei"/>
              </a:rPr>
              <a:t>的</a:t>
            </a:r>
            <a:r>
              <a:rPr dirty="0" baseline="1984" sz="2100" spc="-2100">
                <a:latin typeface="Microsoft YaHei"/>
                <a:cs typeface="Microsoft YaHei"/>
              </a:rPr>
              <a:t>数</a:t>
            </a:r>
            <a:r>
              <a:rPr dirty="0" baseline="3968" sz="2100" spc="-1829">
                <a:latin typeface="Microsoft YaHei"/>
                <a:cs typeface="Microsoft YaHei"/>
              </a:rPr>
              <a:t>：作</a:t>
            </a:r>
            <a:r>
              <a:rPr dirty="0" baseline="15873" sz="2100" spc="-2100">
                <a:latin typeface="Microsoft YaHei"/>
                <a:cs typeface="Microsoft YaHei"/>
              </a:rPr>
              <a:t>作</a:t>
            </a:r>
            <a:r>
              <a:rPr dirty="0" baseline="23809" sz="2100" spc="-1785">
                <a:latin typeface="Microsoft YaHei"/>
                <a:cs typeface="Microsoft YaHei"/>
              </a:rPr>
              <a:t>规</a:t>
            </a:r>
            <a:r>
              <a:rPr dirty="0" baseline="11904" sz="2100" spc="-1875">
                <a:latin typeface="Microsoft YaHei"/>
                <a:cs typeface="Microsoft YaHei"/>
              </a:rPr>
              <a:t>共</a:t>
            </a:r>
            <a:r>
              <a:rPr dirty="0" baseline="17857" sz="2100" spc="-2100">
                <a:latin typeface="Microsoft YaHei"/>
                <a:cs typeface="Microsoft YaHei"/>
              </a:rPr>
              <a:t>击</a:t>
            </a:r>
            <a:r>
              <a:rPr dirty="0" sz="1400" spc="-1400">
                <a:latin typeface="Microsoft YaHei"/>
                <a:cs typeface="Microsoft YaHei"/>
              </a:rPr>
              <a:t>小</a:t>
            </a:r>
            <a:r>
              <a:rPr dirty="0" baseline="25793" sz="2100" spc="-2100">
                <a:latin typeface="Microsoft YaHei"/>
                <a:cs typeface="Microsoft YaHei"/>
              </a:rPr>
              <a:t>下</a:t>
            </a:r>
            <a:r>
              <a:rPr dirty="0" baseline="1984" sz="2100" spc="-1785">
                <a:latin typeface="Microsoft YaHei"/>
                <a:cs typeface="Microsoft YaHei"/>
              </a:rPr>
              <a:t>看</a:t>
            </a:r>
            <a:r>
              <a:rPr dirty="0" baseline="15873" sz="2100" spc="-1964">
                <a:latin typeface="Microsoft YaHei"/>
                <a:cs typeface="Microsoft YaHei"/>
              </a:rPr>
              <a:t>法</a:t>
            </a:r>
            <a:r>
              <a:rPr dirty="0" baseline="1984" sz="2100" spc="-2085">
                <a:latin typeface="Microsoft YaHei"/>
                <a:cs typeface="Microsoft YaHei"/>
              </a:rPr>
              <a:t>进</a:t>
            </a:r>
            <a:r>
              <a:rPr dirty="0" baseline="9920" sz="2100" spc="-2100">
                <a:latin typeface="Microsoft YaHei"/>
                <a:cs typeface="Microsoft YaHei"/>
              </a:rPr>
              <a:t>操</a:t>
            </a:r>
            <a:r>
              <a:rPr dirty="0" baseline="11904" sz="2100" spc="-2092">
                <a:latin typeface="Microsoft YaHei"/>
                <a:cs typeface="Microsoft YaHei"/>
              </a:rPr>
              <a:t>法</a:t>
            </a:r>
            <a:r>
              <a:rPr dirty="0" baseline="13888" sz="2100" spc="-1927">
                <a:latin typeface="Microsoft YaHei"/>
                <a:cs typeface="Microsoft YaHei"/>
              </a:rPr>
              <a:t>方</a:t>
            </a:r>
            <a:r>
              <a:rPr dirty="0" baseline="25793" sz="2100" spc="-2010">
                <a:latin typeface="Microsoft YaHei"/>
                <a:cs typeface="Microsoft YaHei"/>
              </a:rPr>
              <a:t>操</a:t>
            </a:r>
            <a:r>
              <a:rPr dirty="0" baseline="1984" sz="2100" spc="-2054">
                <a:latin typeface="Microsoft YaHei"/>
                <a:cs typeface="Microsoft YaHei"/>
              </a:rPr>
              <a:t>：</a:t>
            </a:r>
            <a:r>
              <a:rPr dirty="0" baseline="3968" sz="2100" spc="-1604">
                <a:latin typeface="Microsoft YaHei"/>
                <a:cs typeface="Microsoft YaHei"/>
              </a:rPr>
              <a:t>方</a:t>
            </a:r>
            <a:r>
              <a:rPr dirty="0" baseline="15873" sz="2100" spc="-2100">
                <a:latin typeface="Microsoft YaHei"/>
                <a:cs typeface="Microsoft YaHei"/>
              </a:rPr>
              <a:t>：</a:t>
            </a:r>
            <a:r>
              <a:rPr dirty="0" baseline="23809" sz="2100" spc="-1785">
                <a:latin typeface="Microsoft YaHei"/>
                <a:cs typeface="Microsoft YaHei"/>
              </a:rPr>
              <a:t>划</a:t>
            </a:r>
            <a:r>
              <a:rPr dirty="0" baseline="11904" sz="2100" spc="-1875">
                <a:latin typeface="Microsoft YaHei"/>
                <a:cs typeface="Microsoft YaHei"/>
              </a:rPr>
              <a:t>四</a:t>
            </a:r>
            <a:r>
              <a:rPr dirty="0" baseline="17857" sz="2100" spc="-2100">
                <a:latin typeface="Microsoft YaHei"/>
                <a:cs typeface="Microsoft YaHei"/>
              </a:rPr>
              <a:t>保</a:t>
            </a:r>
            <a:r>
              <a:rPr dirty="0" sz="1400" spc="-1400">
                <a:latin typeface="Microsoft YaHei"/>
                <a:cs typeface="Microsoft YaHei"/>
              </a:rPr>
              <a:t>区</a:t>
            </a:r>
            <a:r>
              <a:rPr dirty="0" baseline="25793" sz="2100" spc="-2100">
                <a:latin typeface="Microsoft YaHei"/>
                <a:cs typeface="Microsoft YaHei"/>
              </a:rPr>
              <a:t>表</a:t>
            </a:r>
            <a:r>
              <a:rPr dirty="0" baseline="1984" sz="2100" spc="-1777">
                <a:latin typeface="Microsoft YaHei"/>
                <a:cs typeface="Microsoft YaHei"/>
              </a:rPr>
              <a:t>以</a:t>
            </a:r>
            <a:r>
              <a:rPr dirty="0" baseline="15873" sz="2100" spc="-1972">
                <a:latin typeface="Microsoft YaHei"/>
                <a:cs typeface="Microsoft YaHei"/>
              </a:rPr>
              <a:t>：</a:t>
            </a:r>
            <a:r>
              <a:rPr dirty="0" baseline="1984" sz="2100" spc="-2085">
                <a:latin typeface="Microsoft YaHei"/>
                <a:cs typeface="Microsoft YaHei"/>
              </a:rPr>
              <a:t>入</a:t>
            </a:r>
            <a:r>
              <a:rPr dirty="0" baseline="9920" sz="2100" spc="-2100">
                <a:latin typeface="Microsoft YaHei"/>
                <a:cs typeface="Microsoft YaHei"/>
              </a:rPr>
              <a:t>作</a:t>
            </a:r>
            <a:r>
              <a:rPr dirty="0" baseline="11904" sz="2100" spc="-2092">
                <a:latin typeface="Microsoft YaHei"/>
                <a:cs typeface="Microsoft YaHei"/>
              </a:rPr>
              <a:t>：</a:t>
            </a:r>
            <a:r>
              <a:rPr dirty="0" baseline="13888" sz="2100" spc="-1927">
                <a:latin typeface="Microsoft YaHei"/>
                <a:cs typeface="Microsoft YaHei"/>
              </a:rPr>
              <a:t>法</a:t>
            </a:r>
            <a:r>
              <a:rPr dirty="0" baseline="25793" sz="2100" spc="-1935">
                <a:latin typeface="Microsoft YaHei"/>
                <a:cs typeface="Microsoft YaHei"/>
              </a:rPr>
              <a:t>作</a:t>
            </a:r>
            <a:r>
              <a:rPr dirty="0" baseline="3968" sz="2100" spc="-1582">
                <a:latin typeface="Microsoft YaHei"/>
                <a:cs typeface="Microsoft YaHei"/>
              </a:rPr>
              <a:t>法</a:t>
            </a:r>
            <a:r>
              <a:rPr dirty="0" baseline="23809" sz="2100" spc="-1785">
                <a:latin typeface="Microsoft YaHei"/>
                <a:cs typeface="Microsoft YaHei"/>
              </a:rPr>
              <a:t>后</a:t>
            </a:r>
            <a:r>
              <a:rPr dirty="0" baseline="11904" sz="2100" spc="-1875">
                <a:latin typeface="Microsoft YaHei"/>
                <a:cs typeface="Microsoft YaHei"/>
              </a:rPr>
              <a:t>个</a:t>
            </a:r>
            <a:r>
              <a:rPr dirty="0" baseline="17857" sz="2100" spc="-2100">
                <a:latin typeface="Microsoft YaHei"/>
                <a:cs typeface="Microsoft YaHei"/>
              </a:rPr>
              <a:t>存</a:t>
            </a:r>
            <a:r>
              <a:rPr dirty="0" sz="1400" spc="-1400">
                <a:latin typeface="Microsoft YaHei"/>
                <a:cs typeface="Microsoft YaHei"/>
              </a:rPr>
              <a:t>参</a:t>
            </a:r>
            <a:r>
              <a:rPr dirty="0" baseline="25793" sz="2100" spc="-2100">
                <a:latin typeface="Microsoft YaHei"/>
                <a:cs typeface="Microsoft YaHei"/>
              </a:rPr>
              <a:t>所</a:t>
            </a:r>
            <a:r>
              <a:rPr dirty="0" baseline="1984" sz="2100" spc="-1860">
                <a:latin typeface="Microsoft YaHei"/>
                <a:cs typeface="Microsoft YaHei"/>
              </a:rPr>
              <a:t>下方</a:t>
            </a:r>
            <a:r>
              <a:rPr dirty="0" baseline="9920" sz="2100" spc="-1875" b="1">
                <a:latin typeface="Microsoft YaHei"/>
                <a:cs typeface="Microsoft YaHei"/>
              </a:rPr>
              <a:t>：</a:t>
            </a:r>
            <a:r>
              <a:rPr dirty="0" baseline="25793" sz="2100" spc="-1927">
                <a:latin typeface="Microsoft YaHei"/>
                <a:cs typeface="Microsoft YaHei"/>
              </a:rPr>
              <a:t>方</a:t>
            </a:r>
            <a:r>
              <a:rPr dirty="0" baseline="3968" sz="2100" spc="-1687">
                <a:latin typeface="Microsoft YaHei"/>
                <a:cs typeface="Microsoft YaHei"/>
              </a:rPr>
              <a:t>：</a:t>
            </a:r>
            <a:r>
              <a:rPr dirty="0" baseline="23809" sz="2100" spc="-1687">
                <a:latin typeface="Microsoft YaHei"/>
                <a:cs typeface="Microsoft YaHei"/>
              </a:rPr>
              <a:t>，</a:t>
            </a:r>
            <a:r>
              <a:rPr dirty="0" baseline="11904" sz="2100" spc="-1875">
                <a:latin typeface="Microsoft YaHei"/>
                <a:cs typeface="Microsoft YaHei"/>
              </a:rPr>
              <a:t>参</a:t>
            </a:r>
            <a:r>
              <a:rPr dirty="0" baseline="17857" sz="2100" spc="-2100">
                <a:latin typeface="Microsoft YaHei"/>
                <a:cs typeface="Microsoft YaHei"/>
              </a:rPr>
              <a:t>。</a:t>
            </a:r>
            <a:r>
              <a:rPr dirty="0" sz="1400" spc="-1400">
                <a:latin typeface="Microsoft YaHei"/>
                <a:cs typeface="Microsoft YaHei"/>
              </a:rPr>
              <a:t>数</a:t>
            </a:r>
            <a:r>
              <a:rPr dirty="0" baseline="25793" sz="2100" spc="-2100">
                <a:latin typeface="Microsoft YaHei"/>
                <a:cs typeface="Microsoft YaHei"/>
              </a:rPr>
              <a:t>示</a:t>
            </a:r>
            <a:r>
              <a:rPr dirty="0" baseline="1984" sz="2100" spc="-1372">
                <a:latin typeface="Microsoft YaHei"/>
                <a:cs typeface="Microsoft YaHei"/>
              </a:rPr>
              <a:t>节法</a:t>
            </a:r>
            <a:r>
              <a:rPr dirty="0" baseline="23809" sz="2100" spc="-1785">
                <a:latin typeface="Microsoft YaHei"/>
                <a:cs typeface="Microsoft YaHei"/>
              </a:rPr>
              <a:t>界</a:t>
            </a:r>
            <a:r>
              <a:rPr dirty="0" baseline="11904" sz="2100" spc="-1875">
                <a:latin typeface="Microsoft YaHei"/>
                <a:cs typeface="Microsoft YaHei"/>
              </a:rPr>
              <a:t>数</a:t>
            </a:r>
            <a:r>
              <a:rPr dirty="0" baseline="17857" sz="2100" spc="-2100">
                <a:latin typeface="Microsoft YaHei"/>
                <a:cs typeface="Microsoft YaHei"/>
              </a:rPr>
              <a:t>操</a:t>
            </a:r>
            <a:r>
              <a:rPr dirty="0" sz="1400" spc="-1400">
                <a:latin typeface="Microsoft YaHei"/>
                <a:cs typeface="Microsoft YaHei"/>
              </a:rPr>
              <a:t>如</a:t>
            </a:r>
            <a:r>
              <a:rPr dirty="0" baseline="25793" sz="2100" spc="-2100">
                <a:latin typeface="Microsoft YaHei"/>
                <a:cs typeface="Microsoft YaHei"/>
              </a:rPr>
              <a:t>：</a:t>
            </a:r>
            <a:r>
              <a:rPr dirty="0" baseline="1984" sz="2100" spc="-1372">
                <a:latin typeface="Microsoft YaHei"/>
                <a:cs typeface="Microsoft YaHei"/>
              </a:rPr>
              <a:t>点：</a:t>
            </a:r>
            <a:r>
              <a:rPr dirty="0" baseline="23809" sz="2100" spc="-1777">
                <a:latin typeface="Microsoft YaHei"/>
                <a:cs typeface="Microsoft YaHei"/>
              </a:rPr>
              <a:t>面</a:t>
            </a:r>
            <a:r>
              <a:rPr dirty="0" baseline="11904" sz="2100" spc="-1875">
                <a:latin typeface="Microsoft YaHei"/>
                <a:cs typeface="Microsoft YaHei"/>
              </a:rPr>
              <a:t>：</a:t>
            </a:r>
            <a:r>
              <a:rPr dirty="0" baseline="17857" sz="2100" spc="-2100">
                <a:latin typeface="Microsoft YaHei"/>
                <a:cs typeface="Microsoft YaHei"/>
              </a:rPr>
              <a:t>作</a:t>
            </a:r>
            <a:r>
              <a:rPr dirty="0" baseline="1984" sz="2100" spc="-2100">
                <a:latin typeface="Microsoft YaHei"/>
                <a:cs typeface="Microsoft YaHei"/>
              </a:rPr>
              <a:t>的</a:t>
            </a:r>
            <a:r>
              <a:rPr dirty="0" sz="1400" spc="-415">
                <a:latin typeface="Microsoft YaHei"/>
                <a:cs typeface="Microsoft YaHei"/>
              </a:rPr>
              <a:t>下</a:t>
            </a:r>
            <a:r>
              <a:rPr dirty="0" baseline="23809" sz="2100" spc="-1777">
                <a:latin typeface="Microsoft YaHei"/>
                <a:cs typeface="Microsoft YaHei"/>
              </a:rPr>
              <a:t>显</a:t>
            </a:r>
            <a:r>
              <a:rPr dirty="0" baseline="11904" sz="2100" spc="-1875">
                <a:latin typeface="Microsoft YaHei"/>
                <a:cs typeface="Microsoft YaHei"/>
              </a:rPr>
              <a:t>如</a:t>
            </a:r>
            <a:r>
              <a:rPr dirty="0" baseline="17857" sz="2100" spc="-2100">
                <a:latin typeface="Microsoft YaHei"/>
                <a:cs typeface="Microsoft YaHei"/>
              </a:rPr>
              <a:t>方</a:t>
            </a:r>
            <a:r>
              <a:rPr dirty="0" baseline="1984" sz="2100" spc="-2100">
                <a:latin typeface="Microsoft YaHei"/>
                <a:cs typeface="Microsoft YaHei"/>
              </a:rPr>
              <a:t>规</a:t>
            </a:r>
            <a:r>
              <a:rPr dirty="0" sz="1400" spc="-415">
                <a:latin typeface="Microsoft YaHei"/>
                <a:cs typeface="Microsoft YaHei"/>
              </a:rPr>
              <a:t>表</a:t>
            </a:r>
            <a:r>
              <a:rPr dirty="0" baseline="23809" sz="2100" spc="-1777">
                <a:latin typeface="Microsoft YaHei"/>
                <a:cs typeface="Microsoft YaHei"/>
              </a:rPr>
              <a:t>示</a:t>
            </a:r>
            <a:r>
              <a:rPr dirty="0" baseline="11904" sz="2100" spc="-1875">
                <a:latin typeface="Microsoft YaHei"/>
                <a:cs typeface="Microsoft YaHei"/>
              </a:rPr>
              <a:t>下</a:t>
            </a:r>
            <a:r>
              <a:rPr dirty="0" baseline="17857" sz="2100" spc="-2100">
                <a:latin typeface="Microsoft YaHei"/>
                <a:cs typeface="Microsoft YaHei"/>
              </a:rPr>
              <a:t>法</a:t>
            </a:r>
            <a:r>
              <a:rPr dirty="0" baseline="1984" sz="2100" spc="-2100">
                <a:latin typeface="Microsoft YaHei"/>
                <a:cs typeface="Microsoft YaHei"/>
              </a:rPr>
              <a:t>划</a:t>
            </a:r>
            <a:r>
              <a:rPr dirty="0" sz="1400" spc="-415">
                <a:latin typeface="Microsoft YaHei"/>
                <a:cs typeface="Microsoft YaHei"/>
              </a:rPr>
              <a:t>所</a:t>
            </a:r>
            <a:r>
              <a:rPr dirty="0" baseline="23809" sz="2100" spc="-1770">
                <a:latin typeface="Microsoft YaHei"/>
                <a:cs typeface="Microsoft YaHei"/>
              </a:rPr>
              <a:t>如</a:t>
            </a:r>
            <a:r>
              <a:rPr dirty="0" baseline="11904" sz="2100" spc="-1875">
                <a:latin typeface="Microsoft YaHei"/>
                <a:cs typeface="Microsoft YaHei"/>
              </a:rPr>
              <a:t>表</a:t>
            </a:r>
            <a:r>
              <a:rPr dirty="0" baseline="17857" sz="2100" spc="-2100">
                <a:latin typeface="Microsoft YaHei"/>
                <a:cs typeface="Microsoft YaHei"/>
              </a:rPr>
              <a:t>如</a:t>
            </a:r>
            <a:r>
              <a:rPr dirty="0" sz="1400" spc="-1400">
                <a:latin typeface="Microsoft YaHei"/>
                <a:cs typeface="Microsoft YaHei"/>
              </a:rPr>
              <a:t>示</a:t>
            </a:r>
            <a:r>
              <a:rPr dirty="0" baseline="1984" sz="2100" spc="-630">
                <a:latin typeface="Microsoft YaHei"/>
                <a:cs typeface="Microsoft YaHei"/>
              </a:rPr>
              <a:t>信</a:t>
            </a:r>
            <a:r>
              <a:rPr dirty="0" baseline="23809" sz="2100" spc="-1522">
                <a:latin typeface="Microsoft YaHei"/>
                <a:cs typeface="Microsoft YaHei"/>
              </a:rPr>
              <a:t>下</a:t>
            </a:r>
            <a:r>
              <a:rPr dirty="0" baseline="17857" sz="2100" spc="-2100">
                <a:latin typeface="Microsoft YaHei"/>
                <a:cs typeface="Microsoft YaHei"/>
              </a:rPr>
              <a:t>下</a:t>
            </a:r>
            <a:r>
              <a:rPr dirty="0" sz="1400" spc="-1400">
                <a:latin typeface="Microsoft YaHei"/>
                <a:cs typeface="Microsoft YaHei"/>
              </a:rPr>
              <a:t>：</a:t>
            </a:r>
            <a:r>
              <a:rPr dirty="0" baseline="1984" sz="2100" spc="-622">
                <a:latin typeface="Microsoft YaHei"/>
                <a:cs typeface="Microsoft YaHei"/>
              </a:rPr>
              <a:t>息</a:t>
            </a:r>
            <a:r>
              <a:rPr dirty="0" baseline="23809" sz="2100" spc="-1530">
                <a:latin typeface="Microsoft YaHei"/>
                <a:cs typeface="Microsoft YaHei"/>
              </a:rPr>
              <a:t>图</a:t>
            </a:r>
            <a:r>
              <a:rPr dirty="0" baseline="17857" sz="2100" spc="-622">
                <a:latin typeface="Microsoft YaHei"/>
                <a:cs typeface="Microsoft YaHei"/>
              </a:rPr>
              <a:t>：</a:t>
            </a:r>
            <a:r>
              <a:rPr dirty="0" baseline="23809" sz="2100" spc="-44">
                <a:latin typeface="Microsoft YaHei"/>
                <a:cs typeface="Microsoft YaHei"/>
              </a:rPr>
              <a:t>所示：</a:t>
            </a:r>
            <a:endParaRPr baseline="23809" sz="2100">
              <a:latin typeface="Microsoft YaHei"/>
              <a:cs typeface="Microsoft YaHei"/>
            </a:endParaRPr>
          </a:p>
        </p:txBody>
      </p:sp>
      <p:sp>
        <p:nvSpPr>
          <p:cNvPr id="247" name="object 247" descr=""/>
          <p:cNvSpPr txBox="1"/>
          <p:nvPr/>
        </p:nvSpPr>
        <p:spPr>
          <a:xfrm>
            <a:off x="244981" y="1321189"/>
            <a:ext cx="8420100" cy="238760"/>
          </a:xfrm>
          <a:prstGeom prst="rect">
            <a:avLst/>
          </a:prstGeom>
        </p:spPr>
        <p:txBody>
          <a:bodyPr wrap="square" lIns="0" tIns="12065" rIns="0" bIns="0" rtlCol="0" vert="horz">
            <a:spAutoFit/>
          </a:bodyPr>
          <a:lstStyle/>
          <a:p>
            <a:pPr marL="38100">
              <a:lnSpc>
                <a:spcPct val="100000"/>
              </a:lnSpc>
              <a:spcBef>
                <a:spcPts val="95"/>
              </a:spcBef>
            </a:pPr>
            <a:r>
              <a:rPr dirty="0" baseline="11904" sz="2100" spc="-810">
                <a:latin typeface="Microsoft YaHei"/>
                <a:cs typeface="Microsoft YaHei"/>
              </a:rPr>
              <a:t>1</a:t>
            </a:r>
            <a:r>
              <a:rPr dirty="0" baseline="17857" sz="2100" spc="-2100">
                <a:latin typeface="Microsoft YaHei"/>
                <a:cs typeface="Microsoft YaHei"/>
              </a:rPr>
              <a:t>右</a:t>
            </a:r>
            <a:r>
              <a:rPr dirty="0" baseline="3968" sz="2100" spc="-2062">
                <a:latin typeface="Microsoft YaHei"/>
                <a:cs typeface="Microsoft YaHei"/>
              </a:rPr>
              <a:t>打</a:t>
            </a:r>
            <a:r>
              <a:rPr dirty="0" baseline="5952" sz="2100" spc="-1064">
                <a:latin typeface="Microsoft YaHei"/>
                <a:cs typeface="Microsoft YaHei"/>
              </a:rPr>
              <a:t>13</a:t>
            </a:r>
            <a:r>
              <a:rPr dirty="0" baseline="15873" sz="2100" spc="-1064">
                <a:latin typeface="Microsoft YaHei"/>
                <a:cs typeface="Microsoft YaHei"/>
              </a:rPr>
              <a:t>1</a:t>
            </a:r>
            <a:r>
              <a:rPr dirty="0" baseline="27777" sz="2100" spc="-1064">
                <a:latin typeface="Microsoft YaHei"/>
                <a:cs typeface="Microsoft YaHei"/>
              </a:rPr>
              <a:t>1</a:t>
            </a:r>
            <a:r>
              <a:rPr dirty="0" baseline="11904" sz="2100" spc="-1814">
                <a:latin typeface="Microsoft YaHei"/>
                <a:cs typeface="Microsoft YaHei"/>
              </a:rPr>
              <a:t>、</a:t>
            </a:r>
            <a:r>
              <a:rPr dirty="0" baseline="11904" sz="2100" spc="-1110" b="1">
                <a:latin typeface="Microsoft YaHei"/>
                <a:cs typeface="Microsoft YaHei"/>
              </a:rPr>
              <a:t>1</a:t>
            </a:r>
            <a:r>
              <a:rPr dirty="0" baseline="5952" sz="2100" spc="-1702">
                <a:latin typeface="Microsoft YaHei"/>
                <a:cs typeface="Microsoft YaHei"/>
              </a:rPr>
              <a:t>、</a:t>
            </a:r>
            <a:r>
              <a:rPr dirty="0" baseline="5952" sz="2100" spc="-1747" b="1">
                <a:latin typeface="Microsoft YaHei"/>
                <a:cs typeface="Microsoft YaHei"/>
              </a:rPr>
              <a:t>、</a:t>
            </a:r>
            <a:r>
              <a:rPr dirty="0" baseline="17857" sz="2100" spc="-2100">
                <a:latin typeface="Microsoft YaHei"/>
                <a:cs typeface="Microsoft YaHei"/>
              </a:rPr>
              <a:t>键</a:t>
            </a:r>
            <a:r>
              <a:rPr dirty="0" baseline="3968" sz="2100" spc="-1882">
                <a:latin typeface="Microsoft YaHei"/>
                <a:cs typeface="Microsoft YaHei"/>
              </a:rPr>
              <a:t>开</a:t>
            </a:r>
            <a:r>
              <a:rPr dirty="0" baseline="11904" sz="2100" spc="-1597">
                <a:latin typeface="Microsoft YaHei"/>
                <a:cs typeface="Microsoft YaHei"/>
              </a:rPr>
              <a:t>、操</a:t>
            </a:r>
            <a:r>
              <a:rPr dirty="0" baseline="5952" sz="2100" spc="-1904">
                <a:latin typeface="Microsoft YaHei"/>
                <a:cs typeface="Microsoft YaHei"/>
              </a:rPr>
              <a:t>点选</a:t>
            </a:r>
            <a:r>
              <a:rPr dirty="0" baseline="3968" sz="2100" spc="-2100">
                <a:latin typeface="Microsoft YaHei"/>
                <a:cs typeface="Microsoft YaHei"/>
              </a:rPr>
              <a:t>右</a:t>
            </a:r>
            <a:r>
              <a:rPr dirty="0" baseline="15873" sz="2100" spc="-2010">
                <a:latin typeface="Microsoft YaHei"/>
                <a:cs typeface="Microsoft YaHei"/>
              </a:rPr>
              <a:t>操点左</a:t>
            </a:r>
            <a:r>
              <a:rPr dirty="0" baseline="17857" sz="2100" spc="-2100">
                <a:latin typeface="Microsoft YaHei"/>
                <a:cs typeface="Microsoft YaHei"/>
              </a:rPr>
              <a:t>点</a:t>
            </a:r>
            <a:r>
              <a:rPr dirty="0" baseline="3968" sz="2100" spc="-2062">
                <a:latin typeface="Microsoft YaHei"/>
                <a:cs typeface="Microsoft YaHei"/>
              </a:rPr>
              <a:t>“基</a:t>
            </a:r>
            <a:r>
              <a:rPr dirty="0" sz="1400" spc="-1340">
                <a:latin typeface="Microsoft YaHei"/>
                <a:cs typeface="Microsoft YaHei"/>
              </a:rPr>
              <a:t>选</a:t>
            </a:r>
            <a:r>
              <a:rPr dirty="0" baseline="11904" sz="2100" spc="-1597">
                <a:latin typeface="Microsoft YaHei"/>
                <a:cs typeface="Microsoft YaHei"/>
              </a:rPr>
              <a:t>点作</a:t>
            </a:r>
            <a:r>
              <a:rPr dirty="0" baseline="5952" sz="2100" spc="-1904">
                <a:latin typeface="Microsoft YaHei"/>
                <a:cs typeface="Microsoft YaHei"/>
              </a:rPr>
              <a:t>击中</a:t>
            </a:r>
            <a:r>
              <a:rPr dirty="0" baseline="3968" sz="2100" spc="-2100">
                <a:latin typeface="Microsoft YaHei"/>
                <a:cs typeface="Microsoft YaHei"/>
              </a:rPr>
              <a:t>击</a:t>
            </a:r>
            <a:r>
              <a:rPr dirty="0" baseline="15873" sz="2100" spc="-2100">
                <a:latin typeface="Microsoft YaHei"/>
                <a:cs typeface="Microsoft YaHei"/>
              </a:rPr>
              <a:t>作</a:t>
            </a:r>
            <a:r>
              <a:rPr dirty="0" baseline="15873" sz="2100" spc="-1875" b="1">
                <a:latin typeface="Microsoft YaHei"/>
                <a:cs typeface="Microsoft YaHei"/>
              </a:rPr>
              <a:t>击</a:t>
            </a:r>
            <a:r>
              <a:rPr dirty="0" baseline="27777" sz="2100" spc="-2039">
                <a:latin typeface="Microsoft YaHei"/>
                <a:cs typeface="Microsoft YaHei"/>
              </a:rPr>
              <a:t>中</a:t>
            </a:r>
            <a:r>
              <a:rPr dirty="0" baseline="17857" sz="2100" spc="-2100">
                <a:latin typeface="Microsoft YaHei"/>
                <a:cs typeface="Microsoft YaHei"/>
              </a:rPr>
              <a:t>击</a:t>
            </a:r>
            <a:r>
              <a:rPr dirty="0" baseline="3968" sz="2100" spc="-1695">
                <a:latin typeface="Microsoft YaHei"/>
                <a:cs typeface="Microsoft YaHei"/>
              </a:rPr>
              <a:t>N</a:t>
            </a:r>
            <a:r>
              <a:rPr dirty="0" baseline="3968" sz="2100" spc="-2032">
                <a:latin typeface="Microsoft YaHei"/>
                <a:cs typeface="Microsoft YaHei"/>
              </a:rPr>
              <a:t>站</a:t>
            </a:r>
            <a:r>
              <a:rPr dirty="0" sz="1400" spc="-1340">
                <a:latin typeface="Microsoft YaHei"/>
                <a:cs typeface="Microsoft YaHei"/>
              </a:rPr>
              <a:t>择</a:t>
            </a:r>
            <a:r>
              <a:rPr dirty="0" baseline="11904" sz="2100" spc="-1597">
                <a:latin typeface="Microsoft YaHei"/>
                <a:cs typeface="Microsoft YaHei"/>
              </a:rPr>
              <a:t>击节</a:t>
            </a:r>
            <a:r>
              <a:rPr dirty="0" baseline="5952" sz="2100" spc="-1710">
                <a:latin typeface="Microsoft YaHei"/>
                <a:cs typeface="Microsoft YaHei"/>
              </a:rPr>
              <a:t>“</a:t>
            </a:r>
            <a:r>
              <a:rPr dirty="0" baseline="3968" sz="2100" spc="-1710">
                <a:latin typeface="Microsoft YaHei"/>
                <a:cs typeface="Microsoft YaHei"/>
              </a:rPr>
              <a:t>S</a:t>
            </a:r>
            <a:r>
              <a:rPr dirty="0" baseline="5952" sz="2100" spc="-2100">
                <a:latin typeface="Microsoft YaHei"/>
                <a:cs typeface="Microsoft YaHei"/>
              </a:rPr>
              <a:t>需</a:t>
            </a:r>
            <a:r>
              <a:rPr dirty="0" baseline="3968" sz="2100" spc="-2100">
                <a:latin typeface="Microsoft YaHei"/>
                <a:cs typeface="Microsoft YaHei"/>
              </a:rPr>
              <a:t>“</a:t>
            </a:r>
            <a:r>
              <a:rPr dirty="0" baseline="15873" sz="2100" spc="-1777">
                <a:latin typeface="Microsoft YaHei"/>
                <a:cs typeface="Microsoft YaHei"/>
              </a:rPr>
              <a:t>节</a:t>
            </a:r>
            <a:r>
              <a:rPr dirty="0" baseline="17857" sz="2100" spc="-1995">
                <a:latin typeface="Microsoft YaHei"/>
                <a:cs typeface="Microsoft YaHei"/>
              </a:rPr>
              <a:t>“</a:t>
            </a:r>
            <a:r>
              <a:rPr dirty="0" sz="1400" spc="-969">
                <a:latin typeface="Microsoft YaHei"/>
                <a:cs typeface="Microsoft YaHei"/>
              </a:rPr>
              <a:t>要</a:t>
            </a:r>
            <a:r>
              <a:rPr dirty="0" baseline="11904" sz="2100" spc="-2100">
                <a:latin typeface="Microsoft YaHei"/>
                <a:cs typeface="Microsoft YaHei"/>
              </a:rPr>
              <a:t>点</a:t>
            </a:r>
            <a:r>
              <a:rPr dirty="0" baseline="3968" sz="2100" spc="-585">
                <a:latin typeface="Microsoft YaHei"/>
                <a:cs typeface="Microsoft YaHei"/>
              </a:rPr>
              <a:t>A</a:t>
            </a:r>
            <a:r>
              <a:rPr dirty="0" baseline="5952" sz="2100" spc="-2092">
                <a:latin typeface="Microsoft YaHei"/>
                <a:cs typeface="Microsoft YaHei"/>
              </a:rPr>
              <a:t>要</a:t>
            </a:r>
            <a:r>
              <a:rPr dirty="0" baseline="15873" sz="2100" spc="-1777">
                <a:latin typeface="Microsoft YaHei"/>
                <a:cs typeface="Microsoft YaHei"/>
              </a:rPr>
              <a:t>点</a:t>
            </a:r>
            <a:r>
              <a:rPr dirty="0" baseline="17857" sz="2100" spc="-1604">
                <a:latin typeface="Microsoft YaHei"/>
                <a:cs typeface="Microsoft YaHei"/>
              </a:rPr>
              <a:t>N</a:t>
            </a:r>
            <a:r>
              <a:rPr dirty="0" sz="1400" spc="-969">
                <a:latin typeface="Microsoft YaHei"/>
                <a:cs typeface="Microsoft YaHei"/>
              </a:rPr>
              <a:t>规</a:t>
            </a:r>
            <a:r>
              <a:rPr dirty="0" baseline="11904" sz="2100" spc="-2107">
                <a:latin typeface="Microsoft YaHei"/>
                <a:cs typeface="Microsoft YaHei"/>
              </a:rPr>
              <a:t>：</a:t>
            </a:r>
            <a:r>
              <a:rPr dirty="0" baseline="3968" sz="2100" spc="-367">
                <a:latin typeface="Microsoft YaHei"/>
                <a:cs typeface="Microsoft YaHei"/>
              </a:rPr>
              <a:t>S</a:t>
            </a:r>
            <a:r>
              <a:rPr dirty="0" baseline="17857" sz="2100" spc="-1222">
                <a:latin typeface="Microsoft YaHei"/>
                <a:cs typeface="Microsoft YaHei"/>
              </a:rPr>
              <a:t>S</a:t>
            </a:r>
            <a:r>
              <a:rPr dirty="0" baseline="5952" sz="2100" spc="-2092">
                <a:latin typeface="Microsoft YaHei"/>
                <a:cs typeface="Microsoft YaHei"/>
              </a:rPr>
              <a:t>修</a:t>
            </a:r>
            <a:r>
              <a:rPr dirty="0" baseline="15873" sz="2100" spc="-1837">
                <a:latin typeface="Microsoft YaHei"/>
                <a:cs typeface="Microsoft YaHei"/>
              </a:rPr>
              <a:t>：</a:t>
            </a:r>
            <a:r>
              <a:rPr dirty="0" baseline="3968" sz="2100" spc="-1057">
                <a:latin typeface="Microsoft YaHei"/>
                <a:cs typeface="Microsoft YaHei"/>
              </a:rPr>
              <a:t>1</a:t>
            </a:r>
            <a:r>
              <a:rPr dirty="0" sz="1400" spc="-969">
                <a:latin typeface="Microsoft YaHei"/>
                <a:cs typeface="Microsoft YaHei"/>
              </a:rPr>
              <a:t>划</a:t>
            </a:r>
            <a:r>
              <a:rPr dirty="0" baseline="11904" sz="2100" spc="-2122">
                <a:latin typeface="Microsoft YaHei"/>
                <a:cs typeface="Microsoft YaHei"/>
              </a:rPr>
              <a:t>“</a:t>
            </a:r>
            <a:r>
              <a:rPr dirty="0" baseline="17857" sz="2100" spc="-1147">
                <a:latin typeface="Microsoft YaHei"/>
                <a:cs typeface="Microsoft YaHei"/>
              </a:rPr>
              <a:t>A</a:t>
            </a:r>
            <a:r>
              <a:rPr dirty="0" baseline="3968" sz="2100" spc="-705">
                <a:latin typeface="Microsoft YaHei"/>
                <a:cs typeface="Microsoft YaHei"/>
              </a:rPr>
              <a:t>1</a:t>
            </a:r>
            <a:r>
              <a:rPr dirty="0" baseline="5952" sz="2100" spc="-2092">
                <a:latin typeface="Microsoft YaHei"/>
                <a:cs typeface="Microsoft YaHei"/>
              </a:rPr>
              <a:t>改</a:t>
            </a:r>
            <a:r>
              <a:rPr dirty="0" baseline="15873" sz="2100" spc="-1650">
                <a:latin typeface="Microsoft YaHei"/>
                <a:cs typeface="Microsoft YaHei"/>
              </a:rPr>
              <a:t>“</a:t>
            </a:r>
            <a:r>
              <a:rPr dirty="0" sz="1400" spc="-1295">
                <a:latin typeface="Microsoft YaHei"/>
                <a:cs typeface="Microsoft YaHei"/>
              </a:rPr>
              <a:t>的</a:t>
            </a:r>
            <a:r>
              <a:rPr dirty="0" baseline="3968" sz="2100" spc="-765">
                <a:latin typeface="Microsoft YaHei"/>
                <a:cs typeface="Microsoft YaHei"/>
              </a:rPr>
              <a:t>1</a:t>
            </a:r>
            <a:r>
              <a:rPr dirty="0" baseline="11904" sz="2100" spc="-1702">
                <a:latin typeface="Microsoft YaHei"/>
                <a:cs typeface="Microsoft YaHei"/>
              </a:rPr>
              <a:t>N</a:t>
            </a:r>
            <a:r>
              <a:rPr dirty="0" baseline="17857" sz="2100" spc="-532">
                <a:latin typeface="Microsoft YaHei"/>
                <a:cs typeface="Microsoft YaHei"/>
              </a:rPr>
              <a:t>S</a:t>
            </a:r>
            <a:r>
              <a:rPr dirty="0" baseline="3968" sz="2100" spc="-1942">
                <a:latin typeface="Microsoft YaHei"/>
                <a:cs typeface="Microsoft YaHei"/>
              </a:rPr>
              <a:t>开</a:t>
            </a:r>
            <a:r>
              <a:rPr dirty="0" baseline="5952" sz="2100" spc="-2092">
                <a:latin typeface="Microsoft YaHei"/>
                <a:cs typeface="Microsoft YaHei"/>
              </a:rPr>
              <a:t>“</a:t>
            </a:r>
            <a:r>
              <a:rPr dirty="0" baseline="15873" sz="2100" spc="-1432">
                <a:latin typeface="Microsoft YaHei"/>
                <a:cs typeface="Microsoft YaHei"/>
              </a:rPr>
              <a:t>N</a:t>
            </a:r>
            <a:r>
              <a:rPr dirty="0" baseline="17857" sz="2100" spc="-1072">
                <a:latin typeface="Microsoft YaHei"/>
                <a:cs typeface="Microsoft YaHei"/>
              </a:rPr>
              <a:t>1</a:t>
            </a:r>
            <a:r>
              <a:rPr dirty="0" sz="1400" spc="-1230">
                <a:latin typeface="Microsoft YaHei"/>
                <a:cs typeface="Microsoft YaHei"/>
              </a:rPr>
              <a:t>小</a:t>
            </a:r>
            <a:r>
              <a:rPr dirty="0" baseline="11904" sz="2100" spc="-855">
                <a:latin typeface="Microsoft YaHei"/>
                <a:cs typeface="Microsoft YaHei"/>
              </a:rPr>
              <a:t>S</a:t>
            </a:r>
            <a:r>
              <a:rPr dirty="0" baseline="17857" sz="2100" spc="-855">
                <a:latin typeface="Microsoft YaHei"/>
                <a:cs typeface="Microsoft YaHei"/>
              </a:rPr>
              <a:t>1</a:t>
            </a:r>
            <a:r>
              <a:rPr dirty="0" baseline="15873" sz="2100" spc="-855">
                <a:latin typeface="Microsoft YaHei"/>
                <a:cs typeface="Microsoft YaHei"/>
              </a:rPr>
              <a:t>S</a:t>
            </a:r>
            <a:r>
              <a:rPr dirty="0" baseline="3968" sz="2100" spc="-2054">
                <a:latin typeface="Microsoft YaHei"/>
                <a:cs typeface="Microsoft YaHei"/>
              </a:rPr>
              <a:t>站</a:t>
            </a:r>
            <a:r>
              <a:rPr dirty="0" baseline="11904" sz="2100" spc="-1380">
                <a:latin typeface="Microsoft YaHei"/>
                <a:cs typeface="Microsoft YaHei"/>
              </a:rPr>
              <a:t>A</a:t>
            </a:r>
            <a:r>
              <a:rPr dirty="0" baseline="5952" sz="2100" spc="-1620">
                <a:latin typeface="Microsoft YaHei"/>
                <a:cs typeface="Microsoft YaHei"/>
              </a:rPr>
              <a:t>参</a:t>
            </a:r>
            <a:r>
              <a:rPr dirty="0" sz="1400" spc="-1290">
                <a:latin typeface="Microsoft YaHei"/>
                <a:cs typeface="Microsoft YaHei"/>
              </a:rPr>
              <a:t>区</a:t>
            </a:r>
            <a:r>
              <a:rPr dirty="0" baseline="17857" sz="2100" spc="-757">
                <a:latin typeface="Microsoft YaHei"/>
                <a:cs typeface="Microsoft YaHei"/>
              </a:rPr>
              <a:t>1</a:t>
            </a:r>
            <a:r>
              <a:rPr dirty="0" baseline="15873" sz="2100" spc="-757">
                <a:latin typeface="Microsoft YaHei"/>
                <a:cs typeface="Microsoft YaHei"/>
              </a:rPr>
              <a:t>A</a:t>
            </a:r>
            <a:r>
              <a:rPr dirty="0" baseline="3968" sz="2100" spc="-2100">
                <a:latin typeface="Microsoft YaHei"/>
                <a:cs typeface="Microsoft YaHei"/>
              </a:rPr>
              <a:t>模</a:t>
            </a:r>
            <a:r>
              <a:rPr dirty="0" baseline="17857" sz="2100" spc="-2025">
                <a:latin typeface="Microsoft YaHei"/>
                <a:cs typeface="Microsoft YaHei"/>
              </a:rPr>
              <a:t>开</a:t>
            </a:r>
            <a:r>
              <a:rPr dirty="0" baseline="11904" sz="2100" spc="-1155">
                <a:latin typeface="Microsoft YaHei"/>
                <a:cs typeface="Microsoft YaHei"/>
              </a:rPr>
              <a:t>S</a:t>
            </a:r>
            <a:r>
              <a:rPr dirty="0" baseline="5952" sz="2100" spc="-1620">
                <a:latin typeface="Microsoft YaHei"/>
                <a:cs typeface="Microsoft YaHei"/>
              </a:rPr>
              <a:t>数</a:t>
            </a:r>
            <a:r>
              <a:rPr dirty="0" sz="1400" spc="-1165">
                <a:latin typeface="Microsoft YaHei"/>
                <a:cs typeface="Microsoft YaHei"/>
              </a:rPr>
              <a:t>进</a:t>
            </a:r>
            <a:r>
              <a:rPr dirty="0" baseline="15873" sz="2100" spc="-712">
                <a:latin typeface="Microsoft YaHei"/>
                <a:cs typeface="Microsoft YaHei"/>
              </a:rPr>
              <a:t>S</a:t>
            </a:r>
            <a:r>
              <a:rPr dirty="0" baseline="11904" sz="2100" spc="-712">
                <a:latin typeface="Microsoft YaHei"/>
                <a:cs typeface="Microsoft YaHei"/>
              </a:rPr>
              <a:t>1</a:t>
            </a:r>
            <a:r>
              <a:rPr dirty="0" baseline="17857" sz="2100" spc="-2100">
                <a:latin typeface="Microsoft YaHei"/>
                <a:cs typeface="Microsoft YaHei"/>
              </a:rPr>
              <a:t>站</a:t>
            </a:r>
            <a:r>
              <a:rPr dirty="0" baseline="3968" sz="2100" spc="-1964">
                <a:latin typeface="Microsoft YaHei"/>
                <a:cs typeface="Microsoft YaHei"/>
              </a:rPr>
              <a:t>板</a:t>
            </a:r>
            <a:r>
              <a:rPr dirty="0" baseline="15873" sz="2100" spc="-1237">
                <a:latin typeface="Microsoft YaHei"/>
                <a:cs typeface="Microsoft YaHei"/>
              </a:rPr>
              <a:t>1</a:t>
            </a:r>
            <a:r>
              <a:rPr dirty="0" baseline="5952" sz="2100" spc="-1860">
                <a:latin typeface="Microsoft YaHei"/>
                <a:cs typeface="Microsoft YaHei"/>
              </a:rPr>
              <a:t>名</a:t>
            </a:r>
            <a:r>
              <a:rPr dirty="0" baseline="11904" sz="2100" spc="-1012">
                <a:latin typeface="Microsoft YaHei"/>
                <a:cs typeface="Microsoft YaHei"/>
              </a:rPr>
              <a:t>1</a:t>
            </a:r>
            <a:r>
              <a:rPr dirty="0" sz="1400" spc="-750">
                <a:latin typeface="Microsoft YaHei"/>
                <a:cs typeface="Microsoft YaHei"/>
              </a:rPr>
              <a:t>行</a:t>
            </a:r>
            <a:r>
              <a:rPr dirty="0" baseline="11904" sz="2100" spc="-869" b="1">
                <a:latin typeface="Microsoft YaHei"/>
                <a:cs typeface="Microsoft YaHei"/>
              </a:rPr>
              <a:t>1</a:t>
            </a:r>
            <a:r>
              <a:rPr dirty="0" baseline="17857" sz="2100" spc="-2100">
                <a:latin typeface="Microsoft YaHei"/>
                <a:cs typeface="Microsoft YaHei"/>
              </a:rPr>
              <a:t>模</a:t>
            </a:r>
            <a:r>
              <a:rPr dirty="0" baseline="3968" sz="2100" spc="-1950">
                <a:latin typeface="Microsoft YaHei"/>
                <a:cs typeface="Microsoft YaHei"/>
              </a:rPr>
              <a:t>”</a:t>
            </a:r>
            <a:r>
              <a:rPr dirty="0" baseline="5952" sz="2100" spc="-1770">
                <a:latin typeface="Microsoft YaHei"/>
                <a:cs typeface="Microsoft YaHei"/>
              </a:rPr>
              <a:t>称</a:t>
            </a:r>
            <a:r>
              <a:rPr dirty="0" baseline="15873" sz="2100" spc="-1102">
                <a:latin typeface="Microsoft YaHei"/>
                <a:cs typeface="Microsoft YaHei"/>
              </a:rPr>
              <a:t>1</a:t>
            </a:r>
            <a:r>
              <a:rPr dirty="0" sz="1400" spc="-1330">
                <a:latin typeface="Microsoft YaHei"/>
                <a:cs typeface="Microsoft YaHei"/>
              </a:rPr>
              <a:t>网</a:t>
            </a:r>
            <a:r>
              <a:rPr dirty="0" baseline="11904" sz="2100" spc="-1170">
                <a:latin typeface="Microsoft YaHei"/>
                <a:cs typeface="Microsoft YaHei"/>
              </a:rPr>
              <a:t>开</a:t>
            </a:r>
            <a:r>
              <a:rPr dirty="0" baseline="15873" sz="2100" spc="-1785">
                <a:latin typeface="Microsoft YaHei"/>
                <a:cs typeface="Microsoft YaHei"/>
              </a:rPr>
              <a:t>开</a:t>
            </a:r>
            <a:r>
              <a:rPr dirty="0" baseline="17857" sz="2100" spc="-2100">
                <a:latin typeface="Microsoft YaHei"/>
                <a:cs typeface="Microsoft YaHei"/>
              </a:rPr>
              <a:t>板</a:t>
            </a:r>
            <a:r>
              <a:rPr dirty="0" baseline="3968" sz="2100" spc="-1950">
                <a:latin typeface="Microsoft YaHei"/>
                <a:cs typeface="Microsoft YaHei"/>
              </a:rPr>
              <a:t>菜</a:t>
            </a:r>
            <a:r>
              <a:rPr dirty="0" baseline="5952" sz="2100" spc="-1620">
                <a:latin typeface="Microsoft YaHei"/>
                <a:cs typeface="Microsoft YaHei"/>
              </a:rPr>
              <a:t>”</a:t>
            </a:r>
            <a:r>
              <a:rPr dirty="0" sz="1400" spc="-1330">
                <a:latin typeface="Microsoft YaHei"/>
                <a:cs typeface="Microsoft YaHei"/>
              </a:rPr>
              <a:t>络</a:t>
            </a:r>
            <a:r>
              <a:rPr dirty="0" baseline="11904" sz="2100" spc="-1170">
                <a:latin typeface="Microsoft YaHei"/>
                <a:cs typeface="Microsoft YaHei"/>
              </a:rPr>
              <a:t>站</a:t>
            </a:r>
            <a:r>
              <a:rPr dirty="0" baseline="15873" sz="2100" spc="-1777">
                <a:latin typeface="Microsoft YaHei"/>
                <a:cs typeface="Microsoft YaHei"/>
              </a:rPr>
              <a:t>站</a:t>
            </a:r>
            <a:r>
              <a:rPr dirty="0" baseline="17857" sz="2100" spc="-2100">
                <a:latin typeface="Microsoft YaHei"/>
                <a:cs typeface="Microsoft YaHei"/>
              </a:rPr>
              <a:t>”</a:t>
            </a:r>
            <a:r>
              <a:rPr dirty="0" baseline="3968" sz="2100" spc="-1957">
                <a:latin typeface="Microsoft YaHei"/>
                <a:cs typeface="Microsoft YaHei"/>
              </a:rPr>
              <a:t>单</a:t>
            </a:r>
            <a:r>
              <a:rPr dirty="0" baseline="5952" sz="2100" spc="-1612">
                <a:latin typeface="Microsoft YaHei"/>
                <a:cs typeface="Microsoft YaHei"/>
              </a:rPr>
              <a:t>后</a:t>
            </a:r>
            <a:r>
              <a:rPr dirty="0" sz="1400" spc="-1335">
                <a:latin typeface="Microsoft YaHei"/>
                <a:cs typeface="Microsoft YaHei"/>
              </a:rPr>
              <a:t>规</a:t>
            </a:r>
            <a:r>
              <a:rPr dirty="0" baseline="11904" sz="2100" spc="-1170">
                <a:latin typeface="Microsoft YaHei"/>
                <a:cs typeface="Microsoft YaHei"/>
              </a:rPr>
              <a:t>模</a:t>
            </a:r>
            <a:r>
              <a:rPr dirty="0" baseline="15873" sz="2100" spc="-1777">
                <a:latin typeface="Microsoft YaHei"/>
                <a:cs typeface="Microsoft YaHei"/>
              </a:rPr>
              <a:t>模</a:t>
            </a:r>
            <a:r>
              <a:rPr dirty="0" baseline="17857" sz="2100" spc="-1950">
                <a:latin typeface="Microsoft YaHei"/>
                <a:cs typeface="Microsoft YaHei"/>
              </a:rPr>
              <a:t>，</a:t>
            </a:r>
            <a:r>
              <a:rPr dirty="0" baseline="5952" sz="2100" spc="-1620">
                <a:latin typeface="Microsoft YaHei"/>
                <a:cs typeface="Microsoft YaHei"/>
              </a:rPr>
              <a:t>的</a:t>
            </a:r>
            <a:r>
              <a:rPr dirty="0" sz="1400" spc="-1335">
                <a:latin typeface="Microsoft YaHei"/>
                <a:cs typeface="Microsoft YaHei"/>
              </a:rPr>
              <a:t>划</a:t>
            </a:r>
            <a:r>
              <a:rPr dirty="0" baseline="11904" sz="2100" spc="-1170">
                <a:latin typeface="Microsoft YaHei"/>
                <a:cs typeface="Microsoft YaHei"/>
              </a:rPr>
              <a:t>板</a:t>
            </a:r>
            <a:r>
              <a:rPr dirty="0" baseline="15873" sz="2100" spc="-1777">
                <a:latin typeface="Microsoft YaHei"/>
                <a:cs typeface="Microsoft YaHei"/>
              </a:rPr>
              <a:t>板</a:t>
            </a:r>
            <a:r>
              <a:rPr dirty="0" baseline="17857" sz="2100" spc="-2100">
                <a:latin typeface="Microsoft YaHei"/>
                <a:cs typeface="Microsoft YaHei"/>
              </a:rPr>
              <a:t>选</a:t>
            </a:r>
            <a:r>
              <a:rPr dirty="0" baseline="3968" sz="2100" spc="-1950">
                <a:latin typeface="Microsoft YaHei"/>
                <a:cs typeface="Microsoft YaHei"/>
              </a:rPr>
              <a:t>按</a:t>
            </a:r>
            <a:r>
              <a:rPr dirty="0" baseline="5952" sz="2100" spc="-1635">
                <a:latin typeface="Microsoft YaHei"/>
                <a:cs typeface="Microsoft YaHei"/>
              </a:rPr>
              <a:t>“</a:t>
            </a:r>
            <a:r>
              <a:rPr dirty="0" sz="1400" spc="-1340">
                <a:latin typeface="Microsoft YaHei"/>
                <a:cs typeface="Microsoft YaHei"/>
              </a:rPr>
              <a:t>（</a:t>
            </a:r>
            <a:r>
              <a:rPr dirty="0" baseline="11904" sz="2100" spc="-1177">
                <a:latin typeface="Microsoft YaHei"/>
                <a:cs typeface="Microsoft YaHei"/>
              </a:rPr>
              <a:t>”</a:t>
            </a:r>
            <a:r>
              <a:rPr dirty="0" baseline="15873" sz="2100" spc="-1792">
                <a:latin typeface="Microsoft YaHei"/>
                <a:cs typeface="Microsoft YaHei"/>
              </a:rPr>
              <a:t>”</a:t>
            </a:r>
            <a:r>
              <a:rPr dirty="0" baseline="17857" sz="2100" spc="-2100">
                <a:latin typeface="Microsoft YaHei"/>
                <a:cs typeface="Microsoft YaHei"/>
              </a:rPr>
              <a:t>择</a:t>
            </a:r>
            <a:r>
              <a:rPr dirty="0" baseline="3968" sz="2100" spc="-1957">
                <a:latin typeface="Microsoft YaHei"/>
                <a:cs typeface="Microsoft YaHei"/>
              </a:rPr>
              <a:t>照</a:t>
            </a:r>
            <a:r>
              <a:rPr dirty="0" baseline="5952" sz="2100" spc="-1612">
                <a:latin typeface="Microsoft YaHei"/>
                <a:cs typeface="Microsoft YaHei"/>
              </a:rPr>
              <a:t>参</a:t>
            </a:r>
            <a:r>
              <a:rPr dirty="0" sz="1400" spc="-750">
                <a:latin typeface="Microsoft YaHei"/>
                <a:cs typeface="Microsoft YaHei"/>
              </a:rPr>
              <a:t>0</a:t>
            </a:r>
            <a:r>
              <a:rPr dirty="0" baseline="11904" sz="2100" spc="-1170">
                <a:latin typeface="Microsoft YaHei"/>
                <a:cs typeface="Microsoft YaHei"/>
              </a:rPr>
              <a:t>前</a:t>
            </a:r>
            <a:r>
              <a:rPr dirty="0" baseline="15873" sz="2100" spc="-1964">
                <a:latin typeface="Microsoft YaHei"/>
                <a:cs typeface="Microsoft YaHei"/>
              </a:rPr>
              <a:t>前</a:t>
            </a:r>
            <a:r>
              <a:rPr dirty="0" sz="1400" spc="-484">
                <a:latin typeface="Microsoft YaHei"/>
                <a:cs typeface="Microsoft YaHei"/>
              </a:rPr>
              <a:t>/</a:t>
            </a:r>
            <a:r>
              <a:rPr dirty="0" baseline="17857" sz="2100" spc="-2129">
                <a:latin typeface="Microsoft YaHei"/>
                <a:cs typeface="Microsoft YaHei"/>
              </a:rPr>
              <a:t>“</a:t>
            </a:r>
            <a:r>
              <a:rPr dirty="0" baseline="3968" sz="2100" spc="-1950">
                <a:latin typeface="Microsoft YaHei"/>
                <a:cs typeface="Microsoft YaHei"/>
              </a:rPr>
              <a:t>如</a:t>
            </a:r>
            <a:r>
              <a:rPr dirty="0" baseline="5952" sz="2100" spc="-1582">
                <a:latin typeface="Microsoft YaHei"/>
                <a:cs typeface="Microsoft YaHei"/>
              </a:rPr>
              <a:t>数</a:t>
            </a:r>
            <a:r>
              <a:rPr dirty="0" sz="1400" spc="-775">
                <a:latin typeface="Microsoft YaHei"/>
                <a:cs typeface="Microsoft YaHei"/>
              </a:rPr>
              <a:t>1</a:t>
            </a:r>
            <a:r>
              <a:rPr dirty="0" baseline="11904" sz="2100" spc="-1170">
                <a:latin typeface="Microsoft YaHei"/>
                <a:cs typeface="Microsoft YaHei"/>
              </a:rPr>
              <a:t>的</a:t>
            </a:r>
            <a:r>
              <a:rPr dirty="0" baseline="15873" sz="2100" spc="-1927">
                <a:latin typeface="Microsoft YaHei"/>
                <a:cs typeface="Microsoft YaHei"/>
              </a:rPr>
              <a:t>的</a:t>
            </a:r>
            <a:r>
              <a:rPr dirty="0" sz="1400" spc="-509">
                <a:latin typeface="Microsoft YaHei"/>
                <a:cs typeface="Microsoft YaHei"/>
              </a:rPr>
              <a:t>/</a:t>
            </a:r>
            <a:r>
              <a:rPr dirty="0" baseline="17857" sz="2100" spc="-2100">
                <a:latin typeface="Microsoft YaHei"/>
                <a:cs typeface="Microsoft YaHei"/>
              </a:rPr>
              <a:t>保</a:t>
            </a:r>
            <a:r>
              <a:rPr dirty="0" baseline="3968" sz="2100" spc="-1950">
                <a:latin typeface="Microsoft YaHei"/>
                <a:cs typeface="Microsoft YaHei"/>
              </a:rPr>
              <a:t>下</a:t>
            </a:r>
            <a:r>
              <a:rPr dirty="0" baseline="5952" sz="2100" spc="-1537">
                <a:latin typeface="Microsoft YaHei"/>
                <a:cs typeface="Microsoft YaHei"/>
              </a:rPr>
              <a:t>值</a:t>
            </a:r>
            <a:r>
              <a:rPr dirty="0" sz="1400" spc="-810">
                <a:latin typeface="Microsoft YaHei"/>
                <a:cs typeface="Microsoft YaHei"/>
              </a:rPr>
              <a:t>2</a:t>
            </a:r>
            <a:r>
              <a:rPr dirty="0" baseline="11904" sz="2100" spc="-1177">
                <a:latin typeface="Microsoft YaHei"/>
                <a:cs typeface="Microsoft YaHei"/>
              </a:rPr>
              <a:t>“</a:t>
            </a:r>
            <a:r>
              <a:rPr dirty="0" baseline="15873" sz="2100" spc="-1904">
                <a:latin typeface="Microsoft YaHei"/>
                <a:cs typeface="Microsoft YaHei"/>
              </a:rPr>
              <a:t>“</a:t>
            </a:r>
            <a:r>
              <a:rPr dirty="0" sz="1400" spc="-1350">
                <a:latin typeface="Microsoft YaHei"/>
                <a:cs typeface="Microsoft YaHei"/>
              </a:rPr>
              <a:t>）</a:t>
            </a:r>
            <a:r>
              <a:rPr dirty="0" baseline="17857" sz="2100" spc="-2100">
                <a:latin typeface="Microsoft YaHei"/>
                <a:cs typeface="Microsoft YaHei"/>
              </a:rPr>
              <a:t>存</a:t>
            </a:r>
            <a:r>
              <a:rPr dirty="0" baseline="3968" sz="2100" spc="-1957">
                <a:latin typeface="Microsoft YaHei"/>
                <a:cs typeface="Microsoft YaHei"/>
              </a:rPr>
              <a:t>顺</a:t>
            </a:r>
            <a:r>
              <a:rPr dirty="0" baseline="5952" sz="2100" spc="-1500">
                <a:latin typeface="Microsoft YaHei"/>
                <a:cs typeface="Microsoft YaHei"/>
              </a:rPr>
              <a:t>”</a:t>
            </a:r>
            <a:r>
              <a:rPr dirty="0" baseline="11904" sz="2100" spc="-630">
                <a:latin typeface="Microsoft YaHei"/>
                <a:cs typeface="Microsoft YaHei"/>
              </a:rPr>
              <a:t>+</a:t>
            </a:r>
            <a:r>
              <a:rPr dirty="0" baseline="15873" sz="2100" spc="-1357">
                <a:latin typeface="Microsoft YaHei"/>
                <a:cs typeface="Microsoft YaHei"/>
              </a:rPr>
              <a:t>+</a:t>
            </a:r>
            <a:r>
              <a:rPr dirty="0" sz="1400" spc="-1350">
                <a:latin typeface="Microsoft YaHei"/>
                <a:cs typeface="Microsoft YaHei"/>
              </a:rPr>
              <a:t>→</a:t>
            </a:r>
            <a:r>
              <a:rPr dirty="0" baseline="17857" sz="2100" spc="-2100">
                <a:latin typeface="Microsoft YaHei"/>
                <a:cs typeface="Microsoft YaHei"/>
              </a:rPr>
              <a:t>配</a:t>
            </a:r>
            <a:r>
              <a:rPr dirty="0" baseline="3968" sz="2100" spc="-1950">
                <a:latin typeface="Microsoft YaHei"/>
                <a:cs typeface="Microsoft YaHei"/>
              </a:rPr>
              <a:t>序</a:t>
            </a:r>
            <a:r>
              <a:rPr dirty="0" baseline="5952" sz="2100" spc="-2054">
                <a:latin typeface="Microsoft YaHei"/>
                <a:cs typeface="Microsoft YaHei"/>
              </a:rPr>
              <a:t>，</a:t>
            </a:r>
            <a:r>
              <a:rPr dirty="0" baseline="11904" sz="2100" spc="-1177">
                <a:latin typeface="Microsoft YaHei"/>
                <a:cs typeface="Microsoft YaHei"/>
              </a:rPr>
              <a:t>”</a:t>
            </a:r>
            <a:r>
              <a:rPr dirty="0" baseline="15873" sz="2100" spc="-1350">
                <a:latin typeface="Microsoft YaHei"/>
                <a:cs typeface="Microsoft YaHei"/>
              </a:rPr>
              <a:t>”</a:t>
            </a:r>
            <a:r>
              <a:rPr dirty="0" sz="1400" spc="-1345">
                <a:latin typeface="Microsoft YaHei"/>
                <a:cs typeface="Microsoft YaHei"/>
              </a:rPr>
              <a:t>选</a:t>
            </a:r>
            <a:r>
              <a:rPr dirty="0" baseline="17857" sz="2100" spc="-2100">
                <a:latin typeface="Microsoft YaHei"/>
                <a:cs typeface="Microsoft YaHei"/>
              </a:rPr>
              <a:t>置</a:t>
            </a:r>
            <a:r>
              <a:rPr dirty="0" baseline="3968" sz="2100" spc="-1950">
                <a:latin typeface="Microsoft YaHei"/>
                <a:cs typeface="Microsoft YaHei"/>
              </a:rPr>
              <a:t>查</a:t>
            </a:r>
            <a:r>
              <a:rPr dirty="0" baseline="5952" sz="2100" spc="-1380">
                <a:latin typeface="Microsoft YaHei"/>
                <a:cs typeface="Microsoft YaHei"/>
              </a:rPr>
              <a:t>参</a:t>
            </a:r>
            <a:r>
              <a:rPr dirty="0" baseline="11904" sz="2100" spc="-1170">
                <a:latin typeface="Microsoft YaHei"/>
                <a:cs typeface="Microsoft YaHei"/>
              </a:rPr>
              <a:t>→</a:t>
            </a:r>
            <a:r>
              <a:rPr dirty="0" baseline="15873" sz="2100" spc="-2010">
                <a:latin typeface="Microsoft YaHei"/>
                <a:cs typeface="Microsoft YaHei"/>
              </a:rPr>
              <a:t>→</a:t>
            </a:r>
            <a:r>
              <a:rPr dirty="0" sz="1400" spc="-1340">
                <a:latin typeface="Microsoft YaHei"/>
                <a:cs typeface="Microsoft YaHei"/>
              </a:rPr>
              <a:t>板</a:t>
            </a:r>
            <a:r>
              <a:rPr dirty="0" baseline="17857" sz="2100" spc="-2100">
                <a:latin typeface="Microsoft YaHei"/>
                <a:cs typeface="Microsoft YaHei"/>
              </a:rPr>
              <a:t>文</a:t>
            </a:r>
            <a:r>
              <a:rPr dirty="0" baseline="3968" sz="2100" spc="-1957">
                <a:latin typeface="Microsoft YaHei"/>
                <a:cs typeface="Microsoft YaHei"/>
              </a:rPr>
              <a:t>找</a:t>
            </a:r>
            <a:r>
              <a:rPr dirty="0" baseline="5952" sz="2100" spc="-1380">
                <a:latin typeface="Microsoft YaHei"/>
                <a:cs typeface="Microsoft YaHei"/>
              </a:rPr>
              <a:t>考</a:t>
            </a:r>
            <a:r>
              <a:rPr dirty="0" baseline="11904" sz="2100" spc="-765">
                <a:latin typeface="Microsoft YaHei"/>
                <a:cs typeface="Microsoft YaHei"/>
              </a:rPr>
              <a:t>N</a:t>
            </a:r>
            <a:r>
              <a:rPr dirty="0" baseline="15873" sz="2100" spc="-1604">
                <a:latin typeface="Microsoft YaHei"/>
                <a:cs typeface="Microsoft YaHei"/>
              </a:rPr>
              <a:t>N</a:t>
            </a:r>
            <a:r>
              <a:rPr dirty="0" sz="1400" spc="-1340">
                <a:latin typeface="Microsoft YaHei"/>
                <a:cs typeface="Microsoft YaHei"/>
              </a:rPr>
              <a:t>卡</a:t>
            </a:r>
            <a:r>
              <a:rPr dirty="0" baseline="17857" sz="2100" spc="-2100">
                <a:latin typeface="Microsoft YaHei"/>
                <a:cs typeface="Microsoft YaHei"/>
              </a:rPr>
              <a:t>件</a:t>
            </a:r>
            <a:r>
              <a:rPr dirty="0" baseline="3968" sz="2100" spc="-1950">
                <a:latin typeface="Microsoft YaHei"/>
                <a:cs typeface="Microsoft YaHei"/>
              </a:rPr>
              <a:t>：</a:t>
            </a:r>
            <a:r>
              <a:rPr dirty="0" baseline="5952" sz="2100" spc="-1785">
                <a:latin typeface="Microsoft YaHei"/>
                <a:cs typeface="Microsoft YaHei"/>
              </a:rPr>
              <a:t>按</a:t>
            </a:r>
            <a:r>
              <a:rPr dirty="0" baseline="11904" sz="2100" spc="-690">
                <a:latin typeface="Microsoft YaHei"/>
                <a:cs typeface="Microsoft YaHei"/>
              </a:rPr>
              <a:t>R</a:t>
            </a:r>
            <a:r>
              <a:rPr dirty="0" baseline="15873" sz="2100" spc="-690">
                <a:latin typeface="Microsoft YaHei"/>
                <a:cs typeface="Microsoft YaHei"/>
              </a:rPr>
              <a:t>R</a:t>
            </a:r>
            <a:r>
              <a:rPr dirty="0" baseline="11904" sz="2100" spc="-2010">
                <a:latin typeface="Microsoft YaHei"/>
                <a:cs typeface="Microsoft YaHei"/>
              </a:rPr>
              <a:t>业</a:t>
            </a:r>
            <a:r>
              <a:rPr dirty="0" sz="1400" spc="-1325">
                <a:latin typeface="Microsoft YaHei"/>
                <a:cs typeface="Microsoft YaHei"/>
              </a:rPr>
              <a:t>（</a:t>
            </a:r>
            <a:r>
              <a:rPr dirty="0" baseline="17857" sz="2100" spc="-1987">
                <a:latin typeface="Microsoft YaHei"/>
                <a:cs typeface="Microsoft YaHei"/>
              </a:rPr>
              <a:t>”</a:t>
            </a:r>
            <a:r>
              <a:rPr dirty="0" baseline="3968" sz="2100" spc="-1987">
                <a:latin typeface="Microsoft YaHei"/>
                <a:cs typeface="Microsoft YaHei"/>
              </a:rPr>
              <a:t>N</a:t>
            </a:r>
            <a:r>
              <a:rPr dirty="0" baseline="5952" sz="2100" spc="-1560">
                <a:latin typeface="Microsoft YaHei"/>
                <a:cs typeface="Microsoft YaHei"/>
              </a:rPr>
              <a:t>规</a:t>
            </a:r>
            <a:r>
              <a:rPr dirty="0" baseline="15873" sz="2100" spc="-1147">
                <a:latin typeface="Microsoft YaHei"/>
                <a:cs typeface="Microsoft YaHei"/>
              </a:rPr>
              <a:t>业</a:t>
            </a:r>
            <a:r>
              <a:rPr dirty="0" baseline="3968" sz="2100" spc="-1207">
                <a:latin typeface="Microsoft YaHei"/>
                <a:cs typeface="Microsoft YaHei"/>
              </a:rPr>
              <a:t>R</a:t>
            </a:r>
            <a:r>
              <a:rPr dirty="0" baseline="11904" sz="2100" spc="-2010">
                <a:latin typeface="Microsoft YaHei"/>
                <a:cs typeface="Microsoft YaHei"/>
              </a:rPr>
              <a:t>务</a:t>
            </a:r>
            <a:r>
              <a:rPr dirty="0" sz="1400" spc="-755">
                <a:latin typeface="Microsoft YaHei"/>
                <a:cs typeface="Microsoft YaHei"/>
              </a:rPr>
              <a:t>6</a:t>
            </a:r>
            <a:r>
              <a:rPr dirty="0" baseline="17857" sz="2100" spc="-1957">
                <a:latin typeface="Microsoft YaHei"/>
                <a:cs typeface="Microsoft YaHei"/>
              </a:rPr>
              <a:t>，</a:t>
            </a:r>
            <a:r>
              <a:rPr dirty="0" baseline="5952" sz="2100" spc="-1560">
                <a:latin typeface="Microsoft YaHei"/>
                <a:cs typeface="Microsoft YaHei"/>
              </a:rPr>
              <a:t>划</a:t>
            </a:r>
            <a:r>
              <a:rPr dirty="0" baseline="15873" sz="2100" spc="-1875">
                <a:latin typeface="Microsoft YaHei"/>
                <a:cs typeface="Microsoft YaHei"/>
              </a:rPr>
              <a:t>务</a:t>
            </a:r>
            <a:r>
              <a:rPr dirty="0" baseline="3968" sz="2100" spc="-1979">
                <a:latin typeface="Microsoft YaHei"/>
                <a:cs typeface="Microsoft YaHei"/>
              </a:rPr>
              <a:t>业</a:t>
            </a:r>
            <a:r>
              <a:rPr dirty="0" sz="1400" spc="-105">
                <a:latin typeface="Microsoft YaHei"/>
                <a:cs typeface="Microsoft YaHei"/>
              </a:rPr>
              <a:t>/</a:t>
            </a:r>
            <a:r>
              <a:rPr dirty="0" baseline="11904" sz="2100" spc="-1964">
                <a:latin typeface="Microsoft YaHei"/>
                <a:cs typeface="Microsoft YaHei"/>
              </a:rPr>
              <a:t>→</a:t>
            </a:r>
            <a:r>
              <a:rPr dirty="0" sz="1400" spc="-785">
                <a:latin typeface="Microsoft YaHei"/>
                <a:cs typeface="Microsoft YaHei"/>
              </a:rPr>
              <a:t>8</a:t>
            </a:r>
            <a:r>
              <a:rPr dirty="0" baseline="17857" sz="2100" spc="-1950">
                <a:latin typeface="Microsoft YaHei"/>
                <a:cs typeface="Microsoft YaHei"/>
              </a:rPr>
              <a:t>也</a:t>
            </a:r>
            <a:r>
              <a:rPr dirty="0" baseline="5952" sz="2100" spc="-1567">
                <a:latin typeface="Microsoft YaHei"/>
                <a:cs typeface="Microsoft YaHei"/>
              </a:rPr>
              <a:t>数</a:t>
            </a:r>
            <a:r>
              <a:rPr dirty="0" baseline="15873" sz="2100" spc="-1875">
                <a:latin typeface="Microsoft YaHei"/>
                <a:cs typeface="Microsoft YaHei"/>
              </a:rPr>
              <a:t>→</a:t>
            </a:r>
            <a:r>
              <a:rPr dirty="0" baseline="3968" sz="2100" spc="-1935">
                <a:latin typeface="Microsoft YaHei"/>
                <a:cs typeface="Microsoft YaHei"/>
              </a:rPr>
              <a:t>务</a:t>
            </a:r>
            <a:r>
              <a:rPr dirty="0" sz="1400" spc="-135">
                <a:latin typeface="Microsoft YaHei"/>
                <a:cs typeface="Microsoft YaHei"/>
              </a:rPr>
              <a:t>/</a:t>
            </a:r>
            <a:r>
              <a:rPr dirty="0" baseline="11904" sz="2100" spc="-1537">
                <a:latin typeface="Microsoft YaHei"/>
                <a:cs typeface="Microsoft YaHei"/>
              </a:rPr>
              <a:t>N</a:t>
            </a:r>
            <a:r>
              <a:rPr dirty="0" sz="1400" spc="-810">
                <a:latin typeface="Microsoft YaHei"/>
                <a:cs typeface="Microsoft YaHei"/>
              </a:rPr>
              <a:t>1</a:t>
            </a:r>
            <a:r>
              <a:rPr dirty="0" baseline="17857" sz="2100" spc="-1950">
                <a:latin typeface="Microsoft YaHei"/>
                <a:cs typeface="Microsoft YaHei"/>
              </a:rPr>
              <a:t>可</a:t>
            </a:r>
            <a:r>
              <a:rPr dirty="0" baseline="5952" sz="2100" spc="-1567">
                <a:latin typeface="Microsoft YaHei"/>
                <a:cs typeface="Microsoft YaHei"/>
              </a:rPr>
              <a:t>据</a:t>
            </a:r>
            <a:r>
              <a:rPr dirty="0" baseline="15873" sz="2100" spc="-1462">
                <a:latin typeface="Microsoft YaHei"/>
                <a:cs typeface="Microsoft YaHei"/>
              </a:rPr>
              <a:t>N</a:t>
            </a:r>
            <a:r>
              <a:rPr dirty="0" baseline="3968" sz="2100" spc="-1897">
                <a:latin typeface="Microsoft YaHei"/>
                <a:cs typeface="Microsoft YaHei"/>
              </a:rPr>
              <a:t>→</a:t>
            </a:r>
            <a:r>
              <a:rPr dirty="0" sz="1400" spc="-655">
                <a:latin typeface="Microsoft YaHei"/>
                <a:cs typeface="Microsoft YaHei"/>
              </a:rPr>
              <a:t>0</a:t>
            </a:r>
            <a:r>
              <a:rPr dirty="0" baseline="11904" sz="2100" spc="-735">
                <a:latin typeface="Microsoft YaHei"/>
                <a:cs typeface="Microsoft YaHei"/>
              </a:rPr>
              <a:t>R</a:t>
            </a:r>
            <a:r>
              <a:rPr dirty="0" baseline="17857" sz="2100" spc="-1957">
                <a:latin typeface="Microsoft YaHei"/>
                <a:cs typeface="Microsoft YaHei"/>
              </a:rPr>
              <a:t>选</a:t>
            </a:r>
            <a:r>
              <a:rPr dirty="0" baseline="5952" sz="2100" spc="-1964">
                <a:latin typeface="Microsoft YaHei"/>
                <a:cs typeface="Microsoft YaHei"/>
              </a:rPr>
              <a:t>修</a:t>
            </a:r>
            <a:r>
              <a:rPr dirty="0" baseline="15873" sz="2100" spc="-1357">
                <a:latin typeface="Microsoft YaHei"/>
                <a:cs typeface="Microsoft YaHei"/>
              </a:rPr>
              <a:t>R</a:t>
            </a:r>
            <a:r>
              <a:rPr dirty="0" sz="1400" spc="-1150">
                <a:latin typeface="Microsoft YaHei"/>
                <a:cs typeface="Microsoft YaHei"/>
              </a:rPr>
              <a:t>槽</a:t>
            </a:r>
            <a:r>
              <a:rPr dirty="0" baseline="11904" sz="2100" spc="-1882">
                <a:latin typeface="Microsoft YaHei"/>
                <a:cs typeface="Microsoft YaHei"/>
              </a:rPr>
              <a:t>小</a:t>
            </a:r>
            <a:r>
              <a:rPr dirty="0" baseline="3968" sz="2100" spc="-1012">
                <a:latin typeface="Microsoft YaHei"/>
                <a:cs typeface="Microsoft YaHei"/>
              </a:rPr>
              <a:t>N</a:t>
            </a:r>
            <a:r>
              <a:rPr dirty="0" baseline="15873" sz="2100" spc="-1717">
                <a:latin typeface="Microsoft YaHei"/>
                <a:cs typeface="Microsoft YaHei"/>
              </a:rPr>
              <a:t>小</a:t>
            </a:r>
            <a:r>
              <a:rPr dirty="0" baseline="17857" sz="2100" spc="-1950">
                <a:latin typeface="Microsoft YaHei"/>
                <a:cs typeface="Microsoft YaHei"/>
              </a:rPr>
              <a:t>“</a:t>
            </a:r>
            <a:r>
              <a:rPr dirty="0" baseline="5952" sz="2100" spc="-1957">
                <a:latin typeface="Microsoft YaHei"/>
                <a:cs typeface="Microsoft YaHei"/>
              </a:rPr>
              <a:t>改</a:t>
            </a:r>
            <a:r>
              <a:rPr dirty="0" sz="1400" spc="-1255">
                <a:latin typeface="Microsoft YaHei"/>
                <a:cs typeface="Microsoft YaHei"/>
              </a:rPr>
              <a:t>位</a:t>
            </a:r>
            <a:r>
              <a:rPr dirty="0" baseline="3968" sz="2100" spc="-1214">
                <a:latin typeface="Microsoft YaHei"/>
                <a:cs typeface="Microsoft YaHei"/>
              </a:rPr>
              <a:t>R</a:t>
            </a:r>
            <a:r>
              <a:rPr dirty="0" baseline="11904" sz="2100" spc="-1170">
                <a:latin typeface="Microsoft YaHei"/>
                <a:cs typeface="Microsoft YaHei"/>
              </a:rPr>
              <a:t>区</a:t>
            </a:r>
            <a:r>
              <a:rPr dirty="0" baseline="15873" sz="2100" spc="-1860">
                <a:latin typeface="Microsoft YaHei"/>
                <a:cs typeface="Microsoft YaHei"/>
              </a:rPr>
              <a:t>区</a:t>
            </a:r>
            <a:r>
              <a:rPr dirty="0" baseline="3968" sz="2100" spc="-1979">
                <a:latin typeface="Microsoft YaHei"/>
                <a:cs typeface="Microsoft YaHei"/>
              </a:rPr>
              <a:t>本</a:t>
            </a:r>
            <a:r>
              <a:rPr dirty="0" baseline="17857" sz="2100" spc="-1950">
                <a:latin typeface="Microsoft YaHei"/>
                <a:cs typeface="Microsoft YaHei"/>
              </a:rPr>
              <a:t>另</a:t>
            </a:r>
            <a:r>
              <a:rPr dirty="0" baseline="5952" sz="2100" spc="-1950">
                <a:latin typeface="Microsoft YaHei"/>
                <a:cs typeface="Microsoft YaHei"/>
              </a:rPr>
              <a:t>，</a:t>
            </a:r>
            <a:r>
              <a:rPr dirty="0" sz="1400" spc="-1155">
                <a:latin typeface="Microsoft YaHei"/>
                <a:cs typeface="Microsoft YaHei"/>
              </a:rPr>
              <a:t>的</a:t>
            </a:r>
            <a:r>
              <a:rPr dirty="0" baseline="11904" sz="2100" spc="-1514">
                <a:latin typeface="Microsoft YaHei"/>
                <a:cs typeface="Microsoft YaHei"/>
              </a:rPr>
              <a:t>→</a:t>
            </a:r>
            <a:r>
              <a:rPr dirty="0" baseline="15873" sz="2100" spc="-1514">
                <a:latin typeface="Microsoft YaHei"/>
                <a:cs typeface="Microsoft YaHei"/>
              </a:rPr>
              <a:t>→</a:t>
            </a:r>
            <a:r>
              <a:rPr dirty="0" baseline="3968" sz="2100" spc="-1972">
                <a:latin typeface="Microsoft YaHei"/>
                <a:cs typeface="Microsoft YaHei"/>
              </a:rPr>
              <a:t>地</a:t>
            </a:r>
            <a:r>
              <a:rPr dirty="0" baseline="17857" sz="2100" spc="-1957">
                <a:latin typeface="Microsoft YaHei"/>
                <a:cs typeface="Microsoft YaHei"/>
              </a:rPr>
              <a:t>存</a:t>
            </a:r>
            <a:r>
              <a:rPr dirty="0" baseline="5952" sz="2100" spc="-1942">
                <a:latin typeface="Microsoft YaHei"/>
                <a:cs typeface="Microsoft YaHei"/>
              </a:rPr>
              <a:t>完</a:t>
            </a:r>
            <a:r>
              <a:rPr dirty="0" sz="1400" spc="-775">
                <a:latin typeface="Microsoft YaHei"/>
                <a:cs typeface="Microsoft YaHei"/>
              </a:rPr>
              <a:t>H</a:t>
            </a:r>
            <a:r>
              <a:rPr dirty="0" baseline="11904" sz="2100" spc="-1162">
                <a:latin typeface="Microsoft YaHei"/>
                <a:cs typeface="Microsoft YaHei"/>
              </a:rPr>
              <a:t>N</a:t>
            </a:r>
            <a:r>
              <a:rPr dirty="0" baseline="15873" sz="2100" spc="-1162">
                <a:latin typeface="Microsoft YaHei"/>
                <a:cs typeface="Microsoft YaHei"/>
              </a:rPr>
              <a:t>N</a:t>
            </a:r>
            <a:r>
              <a:rPr dirty="0" baseline="3968" sz="2100" spc="-2100">
                <a:latin typeface="Microsoft YaHei"/>
                <a:cs typeface="Microsoft YaHei"/>
              </a:rPr>
              <a:t>小</a:t>
            </a:r>
            <a:r>
              <a:rPr dirty="0" sz="1400" spc="-790">
                <a:latin typeface="Microsoft YaHei"/>
                <a:cs typeface="Microsoft YaHei"/>
              </a:rPr>
              <a:t>B</a:t>
            </a:r>
            <a:r>
              <a:rPr dirty="0" baseline="17857" sz="2100" spc="-1950">
                <a:latin typeface="Microsoft YaHei"/>
                <a:cs typeface="Microsoft YaHei"/>
              </a:rPr>
              <a:t>配</a:t>
            </a:r>
            <a:r>
              <a:rPr dirty="0" baseline="5952" sz="2100" spc="-1964">
                <a:latin typeface="Microsoft YaHei"/>
                <a:cs typeface="Microsoft YaHei"/>
              </a:rPr>
              <a:t>成</a:t>
            </a:r>
            <a:r>
              <a:rPr dirty="0" baseline="11904" sz="2100" spc="-892">
                <a:latin typeface="Microsoft YaHei"/>
                <a:cs typeface="Microsoft YaHei"/>
              </a:rPr>
              <a:t>R</a:t>
            </a:r>
            <a:r>
              <a:rPr dirty="0" sz="1400" spc="-595">
                <a:latin typeface="Microsoft YaHei"/>
                <a:cs typeface="Microsoft YaHei"/>
              </a:rPr>
              <a:t>P</a:t>
            </a:r>
            <a:r>
              <a:rPr dirty="0" baseline="15873" sz="2100" spc="-892">
                <a:latin typeface="Microsoft YaHei"/>
                <a:cs typeface="Microsoft YaHei"/>
              </a:rPr>
              <a:t>R</a:t>
            </a:r>
            <a:r>
              <a:rPr dirty="0" baseline="11904" sz="2100" spc="-1867">
                <a:latin typeface="Microsoft YaHei"/>
                <a:cs typeface="Microsoft YaHei"/>
              </a:rPr>
              <a:t>小</a:t>
            </a:r>
            <a:r>
              <a:rPr dirty="0" baseline="3968" sz="2100" spc="-1979">
                <a:latin typeface="Microsoft YaHei"/>
                <a:cs typeface="Microsoft YaHei"/>
              </a:rPr>
              <a:t>区</a:t>
            </a:r>
            <a:r>
              <a:rPr dirty="0" baseline="17857" sz="2100" spc="-1950">
                <a:latin typeface="Microsoft YaHei"/>
                <a:cs typeface="Microsoft YaHei"/>
              </a:rPr>
              <a:t>置</a:t>
            </a:r>
            <a:r>
              <a:rPr dirty="0" baseline="5952" sz="2100" spc="-1912">
                <a:latin typeface="Microsoft YaHei"/>
                <a:cs typeface="Microsoft YaHei"/>
              </a:rPr>
              <a:t>后</a:t>
            </a:r>
            <a:r>
              <a:rPr dirty="0" sz="1400" spc="-1025">
                <a:latin typeface="Microsoft YaHei"/>
                <a:cs typeface="Microsoft YaHei"/>
              </a:rPr>
              <a:t>O</a:t>
            </a:r>
            <a:r>
              <a:rPr dirty="0" baseline="15873" sz="2100" spc="-975">
                <a:latin typeface="Microsoft YaHei"/>
                <a:cs typeface="Microsoft YaHei"/>
              </a:rPr>
              <a:t>小</a:t>
            </a:r>
            <a:r>
              <a:rPr dirty="0" baseline="11904" sz="2100" spc="-1875">
                <a:latin typeface="Microsoft YaHei"/>
                <a:cs typeface="Microsoft YaHei"/>
              </a:rPr>
              <a:t>区</a:t>
            </a:r>
            <a:r>
              <a:rPr dirty="0" baseline="3968" sz="2100" spc="-1987">
                <a:latin typeface="Microsoft YaHei"/>
                <a:cs typeface="Microsoft YaHei"/>
              </a:rPr>
              <a:t>→</a:t>
            </a:r>
            <a:r>
              <a:rPr dirty="0" sz="1400" spc="-1325">
                <a:latin typeface="Microsoft YaHei"/>
                <a:cs typeface="Microsoft YaHei"/>
              </a:rPr>
              <a:t>D</a:t>
            </a:r>
            <a:r>
              <a:rPr dirty="0" baseline="17857" sz="2100" spc="-1957">
                <a:latin typeface="Microsoft YaHei"/>
                <a:cs typeface="Microsoft YaHei"/>
              </a:rPr>
              <a:t>文</a:t>
            </a:r>
            <a:r>
              <a:rPr dirty="0" baseline="5952" sz="2100" spc="-1732">
                <a:latin typeface="Microsoft YaHei"/>
                <a:cs typeface="Microsoft YaHei"/>
              </a:rPr>
              <a:t>点</a:t>
            </a:r>
            <a:r>
              <a:rPr dirty="0" baseline="15873" sz="2100" spc="-1102">
                <a:latin typeface="Microsoft YaHei"/>
                <a:cs typeface="Microsoft YaHei"/>
              </a:rPr>
              <a:t>区</a:t>
            </a:r>
            <a:r>
              <a:rPr dirty="0" sz="1400" spc="-1335">
                <a:latin typeface="Microsoft YaHei"/>
                <a:cs typeface="Microsoft YaHei"/>
              </a:rPr>
              <a:t>）</a:t>
            </a:r>
            <a:r>
              <a:rPr dirty="0" baseline="11904" sz="2100" spc="-1867">
                <a:latin typeface="Microsoft YaHei"/>
                <a:cs typeface="Microsoft YaHei"/>
              </a:rPr>
              <a:t>网</a:t>
            </a:r>
            <a:r>
              <a:rPr dirty="0" baseline="3968" sz="2100" spc="-1589">
                <a:latin typeface="Microsoft YaHei"/>
                <a:cs typeface="Microsoft YaHei"/>
              </a:rPr>
              <a:t>N</a:t>
            </a:r>
            <a:r>
              <a:rPr dirty="0" baseline="17857" sz="2100" spc="-1950">
                <a:latin typeface="Microsoft YaHei"/>
                <a:cs typeface="Microsoft YaHei"/>
              </a:rPr>
              <a:t>件</a:t>
            </a:r>
            <a:r>
              <a:rPr dirty="0" baseline="5952" sz="2100" spc="-1739">
                <a:latin typeface="Microsoft YaHei"/>
                <a:cs typeface="Microsoft YaHei"/>
              </a:rPr>
              <a:t>“</a:t>
            </a:r>
            <a:r>
              <a:rPr dirty="0" baseline="15873" sz="2100" spc="-1117">
                <a:latin typeface="Microsoft YaHei"/>
                <a:cs typeface="Microsoft YaHei"/>
              </a:rPr>
              <a:t>配</a:t>
            </a:r>
            <a:r>
              <a:rPr dirty="0" baseline="3968" sz="2100" spc="-1995">
                <a:latin typeface="Microsoft YaHei"/>
                <a:cs typeface="Microsoft YaHei"/>
              </a:rPr>
              <a:t>R</a:t>
            </a:r>
            <a:r>
              <a:rPr dirty="0" sz="1400" spc="-1330">
                <a:latin typeface="Microsoft YaHei"/>
                <a:cs typeface="Microsoft YaHei"/>
              </a:rPr>
              <a:t>→</a:t>
            </a:r>
            <a:r>
              <a:rPr dirty="0" baseline="11904" sz="2100" spc="-1725">
                <a:latin typeface="Microsoft YaHei"/>
                <a:cs typeface="Microsoft YaHei"/>
              </a:rPr>
              <a:t>络</a:t>
            </a:r>
            <a:r>
              <a:rPr dirty="0" baseline="17857" sz="2100" spc="-1950">
                <a:latin typeface="Microsoft YaHei"/>
                <a:cs typeface="Microsoft YaHei"/>
              </a:rPr>
              <a:t>”</a:t>
            </a:r>
            <a:r>
              <a:rPr dirty="0" baseline="5952" sz="2100" spc="-1739">
                <a:latin typeface="Microsoft YaHei"/>
                <a:cs typeface="Microsoft YaHei"/>
              </a:rPr>
              <a:t>确</a:t>
            </a:r>
            <a:r>
              <a:rPr dirty="0" baseline="15873" sz="2100" spc="-1845">
                <a:latin typeface="Microsoft YaHei"/>
                <a:cs typeface="Microsoft YaHei"/>
              </a:rPr>
              <a:t>置</a:t>
            </a:r>
            <a:r>
              <a:rPr dirty="0" baseline="3968" sz="2100" spc="-1380">
                <a:latin typeface="Microsoft YaHei"/>
                <a:cs typeface="Microsoft YaHei"/>
              </a:rPr>
              <a:t>本</a:t>
            </a:r>
            <a:r>
              <a:rPr dirty="0" sz="1400" spc="-1330">
                <a:latin typeface="Microsoft YaHei"/>
                <a:cs typeface="Microsoft YaHei"/>
              </a:rPr>
              <a:t>选</a:t>
            </a:r>
            <a:r>
              <a:rPr dirty="0" baseline="11904" sz="2100" spc="-1725">
                <a:latin typeface="Microsoft YaHei"/>
                <a:cs typeface="Microsoft YaHei"/>
              </a:rPr>
              <a:t>规</a:t>
            </a:r>
            <a:r>
              <a:rPr dirty="0" baseline="17857" sz="2100" spc="-1957">
                <a:latin typeface="Microsoft YaHei"/>
                <a:cs typeface="Microsoft YaHei"/>
              </a:rPr>
              <a:t>在</a:t>
            </a:r>
            <a:r>
              <a:rPr dirty="0" baseline="5952" sz="2100" spc="-1462">
                <a:latin typeface="Microsoft YaHei"/>
                <a:cs typeface="Microsoft YaHei"/>
              </a:rPr>
              <a:t>定</a:t>
            </a:r>
            <a:r>
              <a:rPr dirty="0" baseline="3968" sz="2100" spc="-1245">
                <a:latin typeface="Microsoft YaHei"/>
                <a:cs typeface="Microsoft YaHei"/>
              </a:rPr>
              <a:t>地</a:t>
            </a:r>
            <a:r>
              <a:rPr dirty="0" baseline="11904" sz="2100" spc="-1725">
                <a:latin typeface="Microsoft YaHei"/>
                <a:cs typeface="Microsoft YaHei"/>
              </a:rPr>
              <a:t>划</a:t>
            </a:r>
            <a:r>
              <a:rPr dirty="0" baseline="17857" sz="2100" spc="-1950">
                <a:latin typeface="Microsoft YaHei"/>
                <a:cs typeface="Microsoft YaHei"/>
              </a:rPr>
              <a:t>信</a:t>
            </a:r>
            <a:r>
              <a:rPr dirty="0" baseline="5952" sz="2100" spc="-1462">
                <a:latin typeface="Microsoft YaHei"/>
                <a:cs typeface="Microsoft YaHei"/>
              </a:rPr>
              <a:t>”</a:t>
            </a:r>
            <a:r>
              <a:rPr dirty="0" baseline="3968" sz="2100" spc="-855">
                <a:latin typeface="Microsoft YaHei"/>
                <a:cs typeface="Microsoft YaHei"/>
              </a:rPr>
              <a:t>小</a:t>
            </a:r>
            <a:r>
              <a:rPr dirty="0" baseline="17857" sz="2100" spc="-1289">
                <a:latin typeface="Microsoft YaHei"/>
                <a:cs typeface="Microsoft YaHei"/>
              </a:rPr>
              <a:t>息</a:t>
            </a:r>
            <a:r>
              <a:rPr dirty="0" baseline="3968" sz="2100" spc="-847">
                <a:latin typeface="Microsoft YaHei"/>
                <a:cs typeface="Microsoft YaHei"/>
              </a:rPr>
              <a:t>区</a:t>
            </a:r>
            <a:r>
              <a:rPr dirty="0" baseline="17857" sz="2100" spc="-1297">
                <a:latin typeface="Microsoft YaHei"/>
                <a:cs typeface="Microsoft YaHei"/>
              </a:rPr>
              <a:t>浏</a:t>
            </a:r>
            <a:r>
              <a:rPr dirty="0" baseline="3968" sz="2100" spc="-847">
                <a:latin typeface="Microsoft YaHei"/>
                <a:cs typeface="Microsoft YaHei"/>
              </a:rPr>
              <a:t>规</a:t>
            </a:r>
            <a:r>
              <a:rPr dirty="0" baseline="17857" sz="2100" spc="-1289">
                <a:latin typeface="Microsoft YaHei"/>
                <a:cs typeface="Microsoft YaHei"/>
              </a:rPr>
              <a:t>览</a:t>
            </a:r>
            <a:r>
              <a:rPr dirty="0" baseline="3968" sz="2100" spc="-855">
                <a:latin typeface="Microsoft YaHei"/>
                <a:cs typeface="Microsoft YaHei"/>
              </a:rPr>
              <a:t>划</a:t>
            </a:r>
            <a:r>
              <a:rPr dirty="0" baseline="17857" sz="2100" spc="-44">
                <a:latin typeface="Microsoft YaHei"/>
                <a:cs typeface="Microsoft YaHei"/>
              </a:rPr>
              <a:t>窗口出现</a:t>
            </a:r>
            <a:endParaRPr baseline="17857" sz="2100">
              <a:latin typeface="Microsoft YaHei"/>
              <a:cs typeface="Microsoft YaHei"/>
            </a:endParaRPr>
          </a:p>
        </p:txBody>
      </p:sp>
      <p:sp>
        <p:nvSpPr>
          <p:cNvPr id="248" name="object 248" descr=""/>
          <p:cNvSpPr txBox="1"/>
          <p:nvPr/>
        </p:nvSpPr>
        <p:spPr>
          <a:xfrm>
            <a:off x="245159" y="1615396"/>
            <a:ext cx="8526780" cy="269875"/>
          </a:xfrm>
          <a:prstGeom prst="rect">
            <a:avLst/>
          </a:prstGeom>
        </p:spPr>
        <p:txBody>
          <a:bodyPr wrap="square" lIns="0" tIns="12700" rIns="0" bIns="0" rtlCol="0" vert="horz">
            <a:spAutoFit/>
          </a:bodyPr>
          <a:lstStyle/>
          <a:p>
            <a:pPr marL="38100">
              <a:lnSpc>
                <a:spcPct val="100000"/>
              </a:lnSpc>
              <a:spcBef>
                <a:spcPts val="100"/>
              </a:spcBef>
            </a:pPr>
            <a:r>
              <a:rPr dirty="0" baseline="11904" sz="2100" spc="-817">
                <a:latin typeface="Microsoft YaHei"/>
                <a:cs typeface="Microsoft YaHei"/>
              </a:rPr>
              <a:t>2</a:t>
            </a:r>
            <a:r>
              <a:rPr dirty="0" baseline="17857" sz="2100" spc="-2100">
                <a:latin typeface="Microsoft YaHei"/>
                <a:cs typeface="Microsoft YaHei"/>
              </a:rPr>
              <a:t>如</a:t>
            </a:r>
            <a:r>
              <a:rPr dirty="0" sz="1400" spc="-740">
                <a:latin typeface="Microsoft YaHei"/>
                <a:cs typeface="Microsoft YaHei"/>
              </a:rPr>
              <a:t>A</a:t>
            </a:r>
            <a:r>
              <a:rPr dirty="0" baseline="5952" sz="2100" spc="-1110">
                <a:latin typeface="Microsoft YaHei"/>
                <a:cs typeface="Microsoft YaHei"/>
              </a:rPr>
              <a:t>2</a:t>
            </a:r>
            <a:r>
              <a:rPr dirty="0" baseline="15873" sz="2100" spc="-1110">
                <a:latin typeface="Microsoft YaHei"/>
                <a:cs typeface="Microsoft YaHei"/>
              </a:rPr>
              <a:t>2</a:t>
            </a:r>
            <a:r>
              <a:rPr dirty="0" baseline="27777" sz="2100" spc="-1110">
                <a:latin typeface="Microsoft YaHei"/>
                <a:cs typeface="Microsoft YaHei"/>
              </a:rPr>
              <a:t>2</a:t>
            </a:r>
            <a:r>
              <a:rPr dirty="0" baseline="11904" sz="2100" spc="-1822">
                <a:latin typeface="Microsoft YaHei"/>
                <a:cs typeface="Microsoft YaHei"/>
              </a:rPr>
              <a:t>、</a:t>
            </a:r>
            <a:r>
              <a:rPr dirty="0" baseline="11904" sz="2100" spc="-1102" b="1">
                <a:latin typeface="Microsoft YaHei"/>
                <a:cs typeface="Microsoft YaHei"/>
              </a:rPr>
              <a:t>2</a:t>
            </a:r>
            <a:r>
              <a:rPr dirty="0" baseline="5952" sz="2100" spc="-1942">
                <a:latin typeface="Microsoft YaHei"/>
                <a:cs typeface="Microsoft YaHei"/>
              </a:rPr>
              <a:t>、</a:t>
            </a:r>
            <a:r>
              <a:rPr dirty="0" sz="1400" spc="-810">
                <a:latin typeface="Microsoft YaHei"/>
                <a:cs typeface="Microsoft YaHei"/>
              </a:rPr>
              <a:t>A</a:t>
            </a:r>
            <a:r>
              <a:rPr dirty="0" baseline="15873" sz="2100" spc="-1777" b="1">
                <a:latin typeface="Microsoft YaHei"/>
                <a:cs typeface="Microsoft YaHei"/>
              </a:rPr>
              <a:t>、</a:t>
            </a:r>
            <a:r>
              <a:rPr dirty="0" baseline="17857" sz="2100" spc="-1882">
                <a:latin typeface="Microsoft YaHei"/>
                <a:cs typeface="Microsoft YaHei"/>
              </a:rPr>
              <a:t>下</a:t>
            </a:r>
            <a:r>
              <a:rPr dirty="0" baseline="11904" sz="2100" spc="-1829">
                <a:latin typeface="Microsoft YaHei"/>
                <a:cs typeface="Microsoft YaHei"/>
              </a:rPr>
              <a:t>、点</a:t>
            </a:r>
            <a:r>
              <a:rPr dirty="0" sz="1400" spc="-445">
                <a:latin typeface="Microsoft YaHei"/>
                <a:cs typeface="Microsoft YaHei"/>
              </a:rPr>
              <a:t>U</a:t>
            </a:r>
            <a:r>
              <a:rPr dirty="0" baseline="15873" sz="2100" spc="-1777">
                <a:latin typeface="Microsoft YaHei"/>
                <a:cs typeface="Microsoft YaHei"/>
              </a:rPr>
              <a:t>点</a:t>
            </a:r>
            <a:r>
              <a:rPr dirty="0" baseline="17857" sz="2100" spc="-1822">
                <a:latin typeface="Microsoft YaHei"/>
                <a:cs typeface="Microsoft YaHei"/>
              </a:rPr>
              <a:t>信</a:t>
            </a:r>
            <a:r>
              <a:rPr dirty="0" sz="1400" spc="-135">
                <a:latin typeface="Microsoft YaHei"/>
                <a:cs typeface="Microsoft YaHei"/>
              </a:rPr>
              <a:t>(</a:t>
            </a:r>
            <a:r>
              <a:rPr dirty="0" baseline="11904" sz="2100" spc="-1920">
                <a:latin typeface="Microsoft YaHei"/>
                <a:cs typeface="Microsoft YaHei"/>
              </a:rPr>
              <a:t>中</a:t>
            </a:r>
            <a:r>
              <a:rPr dirty="0" sz="1400" spc="-300">
                <a:latin typeface="Microsoft YaHei"/>
                <a:cs typeface="Microsoft YaHei"/>
              </a:rPr>
              <a:t>T</a:t>
            </a:r>
            <a:r>
              <a:rPr dirty="0" baseline="15873" sz="2100" spc="-1777">
                <a:latin typeface="Microsoft YaHei"/>
                <a:cs typeface="Microsoft YaHei"/>
              </a:rPr>
              <a:t>中</a:t>
            </a:r>
            <a:r>
              <a:rPr dirty="0" baseline="17857" sz="2100" spc="-2017">
                <a:latin typeface="Microsoft YaHei"/>
                <a:cs typeface="Microsoft YaHei"/>
              </a:rPr>
              <a:t>息</a:t>
            </a:r>
            <a:r>
              <a:rPr dirty="0" sz="1400" spc="-610">
                <a:latin typeface="Microsoft YaHei"/>
                <a:cs typeface="Microsoft YaHei"/>
              </a:rPr>
              <a:t>D</a:t>
            </a:r>
            <a:r>
              <a:rPr dirty="0" baseline="11904" sz="2100" spc="-1252">
                <a:latin typeface="Microsoft YaHei"/>
                <a:cs typeface="Microsoft YaHei"/>
              </a:rPr>
              <a:t>要</a:t>
            </a:r>
            <a:r>
              <a:rPr dirty="0" sz="1400" spc="-940">
                <a:latin typeface="Microsoft YaHei"/>
                <a:cs typeface="Microsoft YaHei"/>
              </a:rPr>
              <a:t>A</a:t>
            </a:r>
            <a:r>
              <a:rPr dirty="0" baseline="15873" sz="2100" spc="-1777">
                <a:latin typeface="Microsoft YaHei"/>
                <a:cs typeface="Microsoft YaHei"/>
              </a:rPr>
              <a:t>要</a:t>
            </a:r>
            <a:r>
              <a:rPr dirty="0" baseline="17857" sz="2100" spc="-1327">
                <a:latin typeface="Microsoft YaHei"/>
                <a:cs typeface="Microsoft YaHei"/>
              </a:rPr>
              <a:t>，</a:t>
            </a:r>
            <a:r>
              <a:rPr dirty="0" baseline="11904" sz="2100" spc="-1942">
                <a:latin typeface="Microsoft YaHei"/>
                <a:cs typeface="Microsoft YaHei"/>
              </a:rPr>
              <a:t>修</a:t>
            </a:r>
            <a:r>
              <a:rPr dirty="0" baseline="-6944" sz="2400" spc="-2370">
                <a:latin typeface="Microsoft YaHei"/>
                <a:cs typeface="Microsoft YaHei"/>
              </a:rPr>
              <a:t>参</a:t>
            </a:r>
            <a:r>
              <a:rPr dirty="0" sz="1400" spc="-570">
                <a:latin typeface="Microsoft YaHei"/>
                <a:cs typeface="Microsoft YaHei"/>
              </a:rPr>
              <a:t>U</a:t>
            </a:r>
            <a:r>
              <a:rPr dirty="0" baseline="15873" sz="2100" spc="-1777">
                <a:latin typeface="Microsoft YaHei"/>
                <a:cs typeface="Microsoft YaHei"/>
              </a:rPr>
              <a:t>修</a:t>
            </a:r>
            <a:r>
              <a:rPr dirty="0" baseline="17857" sz="2100" spc="-1635">
                <a:latin typeface="Microsoft YaHei"/>
                <a:cs typeface="Microsoft YaHei"/>
              </a:rPr>
              <a:t>说</a:t>
            </a:r>
            <a:r>
              <a:rPr dirty="0" sz="1400" spc="-625">
                <a:latin typeface="Microsoft YaHei"/>
                <a:cs typeface="Microsoft YaHei"/>
              </a:rPr>
              <a:t>5</a:t>
            </a:r>
            <a:r>
              <a:rPr dirty="0" baseline="11904" sz="2100" spc="-1635">
                <a:latin typeface="Microsoft YaHei"/>
                <a:cs typeface="Microsoft YaHei"/>
              </a:rPr>
              <a:t>改</a:t>
            </a:r>
            <a:r>
              <a:rPr dirty="0" baseline="-6944" sz="2400" spc="-1972">
                <a:latin typeface="Microsoft YaHei"/>
                <a:cs typeface="Microsoft YaHei"/>
              </a:rPr>
              <a:t>数</a:t>
            </a:r>
            <a:r>
              <a:rPr dirty="0" sz="1400" spc="-810">
                <a:latin typeface="Microsoft YaHei"/>
                <a:cs typeface="Microsoft YaHei"/>
              </a:rPr>
              <a:t>1</a:t>
            </a:r>
            <a:r>
              <a:rPr dirty="0" baseline="15873" sz="2100" spc="-1777">
                <a:latin typeface="Microsoft YaHei"/>
                <a:cs typeface="Microsoft YaHei"/>
              </a:rPr>
              <a:t>改</a:t>
            </a:r>
            <a:r>
              <a:rPr dirty="0" baseline="17857" sz="2100" spc="-1327">
                <a:latin typeface="Microsoft YaHei"/>
                <a:cs typeface="Microsoft YaHei"/>
              </a:rPr>
              <a:t>明</a:t>
            </a:r>
            <a:r>
              <a:rPr dirty="0" baseline="11904" sz="2100" spc="-2062">
                <a:latin typeface="Microsoft YaHei"/>
                <a:cs typeface="Microsoft YaHei"/>
              </a:rPr>
              <a:t>的</a:t>
            </a:r>
            <a:r>
              <a:rPr dirty="0" sz="1400" spc="-345">
                <a:latin typeface="Microsoft YaHei"/>
                <a:cs typeface="Microsoft YaHei"/>
              </a:rPr>
              <a:t>6</a:t>
            </a:r>
            <a:r>
              <a:rPr dirty="0" baseline="-6944" sz="2400" spc="-2242">
                <a:latin typeface="Microsoft YaHei"/>
                <a:cs typeface="Microsoft YaHei"/>
              </a:rPr>
              <a:t>名</a:t>
            </a:r>
            <a:r>
              <a:rPr dirty="0" baseline="15873" sz="2100" spc="-1785">
                <a:latin typeface="Microsoft YaHei"/>
                <a:cs typeface="Microsoft YaHei"/>
              </a:rPr>
              <a:t>的</a:t>
            </a:r>
            <a:r>
              <a:rPr dirty="0" sz="1400" spc="-825">
                <a:latin typeface="Microsoft YaHei"/>
                <a:cs typeface="Microsoft YaHei"/>
              </a:rPr>
              <a:t>4</a:t>
            </a:r>
            <a:r>
              <a:rPr dirty="0" baseline="17857" sz="2100" spc="-1327">
                <a:latin typeface="Microsoft YaHei"/>
                <a:cs typeface="Microsoft YaHei"/>
              </a:rPr>
              <a:t>配</a:t>
            </a:r>
            <a:r>
              <a:rPr dirty="0" baseline="11904" sz="2100" spc="-1364">
                <a:latin typeface="Microsoft YaHei"/>
                <a:cs typeface="Microsoft YaHei"/>
              </a:rPr>
              <a:t>N</a:t>
            </a:r>
            <a:r>
              <a:rPr dirty="0" sz="1400" spc="-910">
                <a:latin typeface="Microsoft YaHei"/>
                <a:cs typeface="Microsoft YaHei"/>
              </a:rPr>
              <a:t>N</a:t>
            </a:r>
            <a:r>
              <a:rPr dirty="0" baseline="15873" sz="2100" spc="-1364">
                <a:latin typeface="Microsoft YaHei"/>
                <a:cs typeface="Microsoft YaHei"/>
              </a:rPr>
              <a:t>N</a:t>
            </a:r>
            <a:r>
              <a:rPr dirty="0" baseline="-6944" sz="2400" spc="-2204">
                <a:latin typeface="Microsoft YaHei"/>
                <a:cs typeface="Microsoft YaHei"/>
              </a:rPr>
              <a:t>称</a:t>
            </a:r>
            <a:r>
              <a:rPr dirty="0" baseline="17857" sz="2100" spc="-1717">
                <a:latin typeface="Microsoft YaHei"/>
                <a:cs typeface="Microsoft YaHei"/>
              </a:rPr>
              <a:t>置</a:t>
            </a:r>
            <a:r>
              <a:rPr dirty="0" baseline="11904" sz="2100" spc="-877">
                <a:latin typeface="Microsoft YaHei"/>
                <a:cs typeface="Microsoft YaHei"/>
              </a:rPr>
              <a:t>R</a:t>
            </a:r>
            <a:r>
              <a:rPr dirty="0" sz="1400" spc="-585">
                <a:latin typeface="Microsoft YaHei"/>
                <a:cs typeface="Microsoft YaHei"/>
              </a:rPr>
              <a:t>4</a:t>
            </a:r>
            <a:r>
              <a:rPr dirty="0" baseline="15873" sz="2100" spc="-877">
                <a:latin typeface="Microsoft YaHei"/>
                <a:cs typeface="Microsoft YaHei"/>
              </a:rPr>
              <a:t>R</a:t>
            </a:r>
            <a:r>
              <a:rPr dirty="0" baseline="11904" sz="2100" spc="-1829">
                <a:latin typeface="Microsoft YaHei"/>
                <a:cs typeface="Microsoft YaHei"/>
              </a:rPr>
              <a:t>小</a:t>
            </a:r>
            <a:r>
              <a:rPr dirty="0" sz="1400" spc="-810">
                <a:latin typeface="Microsoft YaHei"/>
                <a:cs typeface="Microsoft YaHei"/>
              </a:rPr>
              <a:t>1</a:t>
            </a:r>
            <a:r>
              <a:rPr dirty="0" baseline="17857" sz="2100" spc="-1492">
                <a:latin typeface="Microsoft YaHei"/>
                <a:cs typeface="Microsoft YaHei"/>
              </a:rPr>
              <a:t>文</a:t>
            </a:r>
            <a:r>
              <a:rPr dirty="0" baseline="15873" sz="2100" spc="-1552">
                <a:latin typeface="Microsoft YaHei"/>
                <a:cs typeface="Microsoft YaHei"/>
              </a:rPr>
              <a:t>小</a:t>
            </a:r>
            <a:r>
              <a:rPr dirty="0" sz="1400" spc="-90">
                <a:latin typeface="Microsoft YaHei"/>
                <a:cs typeface="Microsoft YaHei"/>
              </a:rPr>
              <a:t>)</a:t>
            </a:r>
            <a:r>
              <a:rPr dirty="0" baseline="11904" sz="2100" spc="-1800">
                <a:latin typeface="Microsoft YaHei"/>
                <a:cs typeface="Microsoft YaHei"/>
              </a:rPr>
              <a:t>区</a:t>
            </a:r>
            <a:r>
              <a:rPr dirty="0" baseline="17857" sz="2100" spc="-1672">
                <a:latin typeface="Microsoft YaHei"/>
                <a:cs typeface="Microsoft YaHei"/>
              </a:rPr>
              <a:t>件</a:t>
            </a:r>
            <a:r>
              <a:rPr dirty="0" sz="1400" spc="-1295">
                <a:latin typeface="Microsoft YaHei"/>
                <a:cs typeface="Microsoft YaHei"/>
              </a:rPr>
              <a:t>→</a:t>
            </a:r>
            <a:r>
              <a:rPr dirty="0" baseline="15873" sz="2100" spc="-982">
                <a:latin typeface="Microsoft YaHei"/>
                <a:cs typeface="Microsoft YaHei"/>
              </a:rPr>
              <a:t>区</a:t>
            </a:r>
            <a:r>
              <a:rPr dirty="0" baseline="11904" sz="2100" spc="-1800">
                <a:latin typeface="Microsoft YaHei"/>
                <a:cs typeface="Microsoft YaHei"/>
              </a:rPr>
              <a:t>网</a:t>
            </a:r>
            <a:r>
              <a:rPr dirty="0" baseline="17857" sz="2100" spc="-1672">
                <a:latin typeface="Microsoft YaHei"/>
                <a:cs typeface="Microsoft YaHei"/>
              </a:rPr>
              <a:t>保</a:t>
            </a:r>
            <a:r>
              <a:rPr dirty="0" sz="1400" spc="-1295">
                <a:latin typeface="Microsoft YaHei"/>
                <a:cs typeface="Microsoft YaHei"/>
              </a:rPr>
              <a:t>选</a:t>
            </a:r>
            <a:r>
              <a:rPr dirty="0" baseline="15873" sz="2100" spc="-982">
                <a:latin typeface="Microsoft YaHei"/>
                <a:cs typeface="Microsoft YaHei"/>
              </a:rPr>
              <a:t>后</a:t>
            </a:r>
            <a:r>
              <a:rPr dirty="0" baseline="11904" sz="2100" spc="-1800">
                <a:latin typeface="Microsoft YaHei"/>
                <a:cs typeface="Microsoft YaHei"/>
              </a:rPr>
              <a:t>络</a:t>
            </a:r>
            <a:r>
              <a:rPr dirty="0" baseline="17857" sz="2100" spc="-1672">
                <a:latin typeface="Microsoft YaHei"/>
                <a:cs typeface="Microsoft YaHei"/>
              </a:rPr>
              <a:t>存</a:t>
            </a:r>
            <a:r>
              <a:rPr dirty="0" sz="1400" spc="-1295">
                <a:latin typeface="Microsoft YaHei"/>
                <a:cs typeface="Microsoft YaHei"/>
              </a:rPr>
              <a:t>天</a:t>
            </a:r>
            <a:r>
              <a:rPr dirty="0" baseline="15873" sz="2100" spc="-982">
                <a:latin typeface="Microsoft YaHei"/>
                <a:cs typeface="Microsoft YaHei"/>
              </a:rPr>
              <a:t>右</a:t>
            </a:r>
            <a:r>
              <a:rPr dirty="0" baseline="11904" sz="2100" spc="-1800">
                <a:latin typeface="Microsoft YaHei"/>
                <a:cs typeface="Microsoft YaHei"/>
              </a:rPr>
              <a:t>规</a:t>
            </a:r>
            <a:r>
              <a:rPr dirty="0" baseline="17857" sz="2100" spc="-1672">
                <a:latin typeface="Microsoft YaHei"/>
                <a:cs typeface="Microsoft YaHei"/>
              </a:rPr>
              <a:t>成</a:t>
            </a:r>
            <a:r>
              <a:rPr dirty="0" sz="1400" spc="-1295">
                <a:latin typeface="Microsoft YaHei"/>
                <a:cs typeface="Microsoft YaHei"/>
              </a:rPr>
              <a:t>线</a:t>
            </a:r>
            <a:r>
              <a:rPr dirty="0" baseline="15873" sz="2100" spc="-975">
                <a:latin typeface="Microsoft YaHei"/>
                <a:cs typeface="Microsoft YaHei"/>
              </a:rPr>
              <a:t>键</a:t>
            </a:r>
            <a:r>
              <a:rPr dirty="0" baseline="11904" sz="2100" spc="-1807">
                <a:latin typeface="Microsoft YaHei"/>
                <a:cs typeface="Microsoft YaHei"/>
              </a:rPr>
              <a:t>划</a:t>
            </a:r>
            <a:r>
              <a:rPr dirty="0" baseline="17857" sz="2100" spc="-1672">
                <a:latin typeface="Microsoft YaHei"/>
                <a:cs typeface="Microsoft YaHei"/>
              </a:rPr>
              <a:t>功</a:t>
            </a:r>
            <a:r>
              <a:rPr dirty="0" sz="1400" spc="-350">
                <a:latin typeface="Microsoft YaHei"/>
                <a:cs typeface="Microsoft YaHei"/>
              </a:rPr>
              <a:t>(</a:t>
            </a:r>
            <a:r>
              <a:rPr dirty="0" baseline="15873" sz="2100" spc="-1620">
                <a:latin typeface="Microsoft YaHei"/>
                <a:cs typeface="Microsoft YaHei"/>
              </a:rPr>
              <a:t>，</a:t>
            </a:r>
            <a:r>
              <a:rPr dirty="0" sz="1400" spc="-415">
                <a:latin typeface="Microsoft YaHei"/>
                <a:cs typeface="Microsoft YaHei"/>
              </a:rPr>
              <a:t>6</a:t>
            </a:r>
            <a:r>
              <a:rPr dirty="0" baseline="11904" sz="2100" spc="-1807">
                <a:latin typeface="Microsoft YaHei"/>
                <a:cs typeface="Microsoft YaHei"/>
              </a:rPr>
              <a:t>参</a:t>
            </a:r>
            <a:r>
              <a:rPr dirty="0" baseline="17857" sz="2100" spc="-1837">
                <a:latin typeface="Microsoft YaHei"/>
                <a:cs typeface="Microsoft YaHei"/>
              </a:rPr>
              <a:t>。</a:t>
            </a:r>
            <a:r>
              <a:rPr dirty="0" sz="1400" spc="-600">
                <a:latin typeface="Microsoft YaHei"/>
                <a:cs typeface="Microsoft YaHei"/>
              </a:rPr>
              <a:t>4</a:t>
            </a:r>
            <a:r>
              <a:rPr dirty="0" baseline="15873" sz="2100" spc="-1260">
                <a:latin typeface="Microsoft YaHei"/>
                <a:cs typeface="Microsoft YaHei"/>
              </a:rPr>
              <a:t>选</a:t>
            </a:r>
            <a:r>
              <a:rPr dirty="0" baseline="-6944" sz="2400" spc="-2385">
                <a:latin typeface="Microsoft YaHei"/>
                <a:cs typeface="Microsoft YaHei"/>
              </a:rPr>
              <a:t>对</a:t>
            </a:r>
            <a:r>
              <a:rPr dirty="0" sz="1400" spc="-1245">
                <a:latin typeface="Microsoft YaHei"/>
                <a:cs typeface="Microsoft YaHei"/>
              </a:rPr>
              <a:t>通</a:t>
            </a:r>
            <a:r>
              <a:rPr dirty="0" baseline="11904" sz="2100" spc="-1170">
                <a:latin typeface="Microsoft YaHei"/>
                <a:cs typeface="Microsoft YaHei"/>
              </a:rPr>
              <a:t>数</a:t>
            </a:r>
            <a:r>
              <a:rPr dirty="0" baseline="15873" sz="2100" spc="-1237">
                <a:latin typeface="Microsoft YaHei"/>
                <a:cs typeface="Microsoft YaHei"/>
              </a:rPr>
              <a:t>择</a:t>
            </a:r>
            <a:r>
              <a:rPr dirty="0" sz="1400" spc="-1235">
                <a:latin typeface="Microsoft YaHei"/>
                <a:cs typeface="Microsoft YaHei"/>
              </a:rPr>
              <a:t>道</a:t>
            </a:r>
            <a:r>
              <a:rPr dirty="0" baseline="11904" sz="2100" spc="-2100">
                <a:latin typeface="Microsoft YaHei"/>
                <a:cs typeface="Microsoft YaHei"/>
              </a:rPr>
              <a:t>，</a:t>
            </a:r>
            <a:r>
              <a:rPr dirty="0" baseline="-6944" sz="2400" spc="-1470">
                <a:latin typeface="Microsoft YaHei"/>
                <a:cs typeface="Microsoft YaHei"/>
              </a:rPr>
              <a:t>应</a:t>
            </a:r>
            <a:r>
              <a:rPr dirty="0" baseline="15873" sz="2100" spc="-1252">
                <a:latin typeface="Microsoft YaHei"/>
                <a:cs typeface="Microsoft YaHei"/>
              </a:rPr>
              <a:t>“</a:t>
            </a:r>
            <a:r>
              <a:rPr dirty="0" sz="1400" spc="-300">
                <a:latin typeface="Microsoft YaHei"/>
                <a:cs typeface="Microsoft YaHei"/>
              </a:rPr>
              <a:t>)</a:t>
            </a:r>
            <a:r>
              <a:rPr dirty="0" baseline="11904" sz="2100" spc="-1800">
                <a:latin typeface="Microsoft YaHei"/>
                <a:cs typeface="Microsoft YaHei"/>
              </a:rPr>
              <a:t>然</a:t>
            </a:r>
            <a:r>
              <a:rPr dirty="0" baseline="-6944" sz="2400" spc="-1777">
                <a:latin typeface="Microsoft YaHei"/>
                <a:cs typeface="Microsoft YaHei"/>
              </a:rPr>
              <a:t>规</a:t>
            </a:r>
            <a:r>
              <a:rPr dirty="0" baseline="15873" sz="2100" spc="-2010">
                <a:latin typeface="Microsoft YaHei"/>
                <a:cs typeface="Microsoft YaHei"/>
              </a:rPr>
              <a:t>修</a:t>
            </a:r>
            <a:r>
              <a:rPr dirty="0" sz="1400" spc="-725">
                <a:latin typeface="Microsoft YaHei"/>
                <a:cs typeface="Microsoft YaHei"/>
              </a:rPr>
              <a:t>→</a:t>
            </a:r>
            <a:r>
              <a:rPr dirty="0" baseline="11904" sz="2100" spc="-1492">
                <a:latin typeface="Microsoft YaHei"/>
                <a:cs typeface="Microsoft YaHei"/>
              </a:rPr>
              <a:t>后</a:t>
            </a:r>
            <a:r>
              <a:rPr dirty="0" baseline="-6944" sz="2400" spc="-2085">
                <a:latin typeface="Microsoft YaHei"/>
                <a:cs typeface="Microsoft YaHei"/>
              </a:rPr>
              <a:t>划</a:t>
            </a:r>
            <a:r>
              <a:rPr dirty="0" baseline="15873" sz="2100" spc="-2010">
                <a:latin typeface="Microsoft YaHei"/>
                <a:cs typeface="Microsoft YaHei"/>
              </a:rPr>
              <a:t>改</a:t>
            </a:r>
            <a:r>
              <a:rPr dirty="0" sz="1400" spc="-720">
                <a:latin typeface="Microsoft YaHei"/>
                <a:cs typeface="Microsoft YaHei"/>
              </a:rPr>
              <a:t>连</a:t>
            </a:r>
            <a:r>
              <a:rPr dirty="0" baseline="11904" sz="2100" spc="-1192">
                <a:latin typeface="Microsoft YaHei"/>
                <a:cs typeface="Microsoft YaHei"/>
              </a:rPr>
              <a:t>右</a:t>
            </a:r>
            <a:r>
              <a:rPr dirty="0" baseline="-6944" sz="2400" spc="-2377">
                <a:latin typeface="Microsoft YaHei"/>
                <a:cs typeface="Microsoft YaHei"/>
              </a:rPr>
              <a:t>表</a:t>
            </a:r>
            <a:r>
              <a:rPr dirty="0" baseline="15873" sz="2100" spc="-1627">
                <a:latin typeface="Microsoft YaHei"/>
                <a:cs typeface="Microsoft YaHei"/>
              </a:rPr>
              <a:t>N</a:t>
            </a:r>
            <a:r>
              <a:rPr dirty="0" sz="1400" spc="-720">
                <a:latin typeface="Microsoft YaHei"/>
                <a:cs typeface="Microsoft YaHei"/>
              </a:rPr>
              <a:t>线</a:t>
            </a:r>
            <a:r>
              <a:rPr dirty="0" baseline="11904" sz="2100" spc="-1567">
                <a:latin typeface="Microsoft YaHei"/>
                <a:cs typeface="Microsoft YaHei"/>
              </a:rPr>
              <a:t>键</a:t>
            </a:r>
            <a:r>
              <a:rPr dirty="0" baseline="15873" sz="2100" spc="-877">
                <a:latin typeface="Microsoft YaHei"/>
                <a:cs typeface="Microsoft YaHei"/>
              </a:rPr>
              <a:t>R</a:t>
            </a:r>
            <a:r>
              <a:rPr dirty="0" sz="1400" spc="-1295">
                <a:latin typeface="Microsoft YaHei"/>
                <a:cs typeface="Microsoft YaHei"/>
              </a:rPr>
              <a:t>→</a:t>
            </a:r>
            <a:r>
              <a:rPr dirty="0" baseline="-6944" sz="2400" spc="-1710">
                <a:latin typeface="Microsoft YaHei"/>
                <a:cs typeface="Microsoft YaHei"/>
              </a:rPr>
              <a:t>中</a:t>
            </a:r>
            <a:r>
              <a:rPr dirty="0" baseline="15873" sz="2100" spc="-1957">
                <a:latin typeface="Microsoft YaHei"/>
                <a:cs typeface="Microsoft YaHei"/>
              </a:rPr>
              <a:t>小</a:t>
            </a:r>
            <a:r>
              <a:rPr dirty="0" baseline="11904" sz="2100" spc="-1064">
                <a:latin typeface="Microsoft YaHei"/>
                <a:cs typeface="Microsoft YaHei"/>
              </a:rPr>
              <a:t>，</a:t>
            </a:r>
            <a:r>
              <a:rPr dirty="0" sz="1400" spc="-1090">
                <a:latin typeface="Microsoft YaHei"/>
                <a:cs typeface="Microsoft YaHei"/>
              </a:rPr>
              <a:t>本</a:t>
            </a:r>
            <a:r>
              <a:rPr dirty="0" baseline="-6944" sz="2400" spc="-2010">
                <a:latin typeface="Microsoft YaHei"/>
                <a:cs typeface="Microsoft YaHei"/>
              </a:rPr>
              <a:t>名</a:t>
            </a:r>
            <a:r>
              <a:rPr dirty="0" baseline="15873" sz="2100" spc="-1957">
                <a:latin typeface="Microsoft YaHei"/>
                <a:cs typeface="Microsoft YaHei"/>
              </a:rPr>
              <a:t>区</a:t>
            </a:r>
            <a:r>
              <a:rPr dirty="0" baseline="11904" sz="2100" spc="-1080">
                <a:latin typeface="Microsoft YaHei"/>
                <a:cs typeface="Microsoft YaHei"/>
              </a:rPr>
              <a:t>选</a:t>
            </a:r>
            <a:r>
              <a:rPr dirty="0" sz="1400" spc="-890">
                <a:latin typeface="Microsoft YaHei"/>
                <a:cs typeface="Microsoft YaHei"/>
              </a:rPr>
              <a:t>地</a:t>
            </a:r>
            <a:r>
              <a:rPr dirty="0" baseline="-6944" sz="2400" spc="-2317">
                <a:latin typeface="Microsoft YaHei"/>
                <a:cs typeface="Microsoft YaHei"/>
              </a:rPr>
              <a:t>称</a:t>
            </a:r>
            <a:r>
              <a:rPr dirty="0" baseline="15873" sz="2100" spc="-1957">
                <a:latin typeface="Microsoft YaHei"/>
                <a:cs typeface="Microsoft YaHei"/>
              </a:rPr>
              <a:t>配</a:t>
            </a:r>
            <a:r>
              <a:rPr dirty="0" baseline="11904" sz="2100" spc="-1080">
                <a:latin typeface="Microsoft YaHei"/>
                <a:cs typeface="Microsoft YaHei"/>
              </a:rPr>
              <a:t>择</a:t>
            </a:r>
            <a:r>
              <a:rPr dirty="0" sz="1400" spc="-830">
                <a:latin typeface="Microsoft YaHei"/>
                <a:cs typeface="Microsoft YaHei"/>
              </a:rPr>
              <a:t>小</a:t>
            </a:r>
            <a:r>
              <a:rPr dirty="0" baseline="15873" sz="2100" spc="-1957">
                <a:latin typeface="Microsoft YaHei"/>
                <a:cs typeface="Microsoft YaHei"/>
              </a:rPr>
              <a:t>置</a:t>
            </a:r>
            <a:r>
              <a:rPr dirty="0" baseline="11904" sz="2100" spc="-1080">
                <a:latin typeface="Microsoft YaHei"/>
                <a:cs typeface="Microsoft YaHei"/>
              </a:rPr>
              <a:t>“</a:t>
            </a:r>
            <a:r>
              <a:rPr dirty="0" sz="1400" spc="-819">
                <a:latin typeface="Microsoft YaHei"/>
                <a:cs typeface="Microsoft YaHei"/>
              </a:rPr>
              <a:t>区</a:t>
            </a:r>
            <a:r>
              <a:rPr dirty="0" baseline="15873" sz="2100" spc="-1957">
                <a:latin typeface="Microsoft YaHei"/>
                <a:cs typeface="Microsoft YaHei"/>
              </a:rPr>
              <a:t>”</a:t>
            </a:r>
            <a:r>
              <a:rPr dirty="0" baseline="11904" sz="2100" spc="-1087">
                <a:latin typeface="Microsoft YaHei"/>
                <a:cs typeface="Microsoft YaHei"/>
              </a:rPr>
              <a:t>修</a:t>
            </a:r>
            <a:r>
              <a:rPr dirty="0" sz="1400" spc="-710">
                <a:latin typeface="Microsoft YaHei"/>
                <a:cs typeface="Microsoft YaHei"/>
              </a:rPr>
              <a:t>属</a:t>
            </a:r>
            <a:r>
              <a:rPr dirty="0" baseline="11904" sz="2100" spc="-1087">
                <a:latin typeface="Microsoft YaHei"/>
                <a:cs typeface="Microsoft YaHei"/>
              </a:rPr>
              <a:t>改</a:t>
            </a:r>
            <a:r>
              <a:rPr dirty="0" sz="1400" spc="-710">
                <a:latin typeface="Microsoft YaHei"/>
                <a:cs typeface="Microsoft YaHei"/>
              </a:rPr>
              <a:t>性</a:t>
            </a:r>
            <a:r>
              <a:rPr dirty="0" baseline="11904" sz="2100" spc="-690">
                <a:latin typeface="Microsoft YaHei"/>
                <a:cs typeface="Microsoft YaHei"/>
              </a:rPr>
              <a:t>N</a:t>
            </a:r>
            <a:r>
              <a:rPr dirty="0" sz="1400" spc="-965">
                <a:latin typeface="Microsoft YaHei"/>
                <a:cs typeface="Microsoft YaHei"/>
              </a:rPr>
              <a:t>配</a:t>
            </a:r>
            <a:r>
              <a:rPr dirty="0" baseline="11904" sz="2100" spc="-15">
                <a:latin typeface="Microsoft YaHei"/>
                <a:cs typeface="Microsoft YaHei"/>
              </a:rPr>
              <a:t>R</a:t>
            </a:r>
            <a:r>
              <a:rPr dirty="0" baseline="11904" sz="2100" spc="-2062">
                <a:latin typeface="Microsoft YaHei"/>
                <a:cs typeface="Microsoft YaHei"/>
              </a:rPr>
              <a:t>小</a:t>
            </a:r>
            <a:r>
              <a:rPr dirty="0" sz="1400" spc="-60">
                <a:latin typeface="Microsoft YaHei"/>
                <a:cs typeface="Microsoft YaHei"/>
              </a:rPr>
              <a:t>置</a:t>
            </a:r>
            <a:r>
              <a:rPr dirty="0" baseline="11904" sz="2100" spc="-2062">
                <a:latin typeface="Microsoft YaHei"/>
                <a:cs typeface="Microsoft YaHei"/>
              </a:rPr>
              <a:t>区</a:t>
            </a:r>
            <a:r>
              <a:rPr dirty="0" sz="1400" spc="-55">
                <a:latin typeface="Microsoft YaHei"/>
                <a:cs typeface="Microsoft YaHei"/>
              </a:rPr>
              <a:t>→</a:t>
            </a:r>
            <a:r>
              <a:rPr dirty="0" baseline="11904" sz="2100" spc="-2070">
                <a:latin typeface="Microsoft YaHei"/>
                <a:cs typeface="Microsoft YaHei"/>
              </a:rPr>
              <a:t>网</a:t>
            </a:r>
            <a:r>
              <a:rPr dirty="0" sz="1400" spc="-60">
                <a:latin typeface="Microsoft YaHei"/>
                <a:cs typeface="Microsoft YaHei"/>
              </a:rPr>
              <a:t>设</a:t>
            </a:r>
            <a:r>
              <a:rPr dirty="0" baseline="11904" sz="2100" spc="-2070">
                <a:latin typeface="Microsoft YaHei"/>
                <a:cs typeface="Microsoft YaHei"/>
              </a:rPr>
              <a:t>络</a:t>
            </a:r>
            <a:r>
              <a:rPr dirty="0" sz="1400" spc="-60">
                <a:latin typeface="Microsoft YaHei"/>
                <a:cs typeface="Microsoft YaHei"/>
              </a:rPr>
              <a:t>备</a:t>
            </a:r>
            <a:r>
              <a:rPr dirty="0" baseline="11904" sz="2100" spc="-22">
                <a:latin typeface="Microsoft YaHei"/>
                <a:cs typeface="Microsoft YaHei"/>
              </a:rPr>
              <a:t>规划</a:t>
            </a:r>
            <a:r>
              <a:rPr dirty="0" baseline="11904" sz="2100" spc="-2070">
                <a:latin typeface="Microsoft YaHei"/>
                <a:cs typeface="Microsoft YaHei"/>
              </a:rPr>
              <a:t>”</a:t>
            </a:r>
            <a:r>
              <a:rPr dirty="0" sz="1400" spc="-355">
                <a:latin typeface="Microsoft YaHei"/>
                <a:cs typeface="Microsoft YaHei"/>
              </a:rPr>
              <a:t>命令</a:t>
            </a:r>
            <a:r>
              <a:rPr dirty="0" baseline="-6944" sz="2400" spc="-1402">
                <a:latin typeface="Microsoft YaHei"/>
                <a:cs typeface="Microsoft YaHei"/>
              </a:rPr>
              <a:t>备</a:t>
            </a:r>
            <a:r>
              <a:rPr dirty="0" sz="1400" spc="-484">
                <a:latin typeface="Microsoft YaHei"/>
                <a:cs typeface="Microsoft YaHei"/>
              </a:rPr>
              <a:t>下</a:t>
            </a:r>
            <a:r>
              <a:rPr dirty="0" baseline="-6944" sz="2400" spc="-1702">
                <a:latin typeface="Microsoft YaHei"/>
                <a:cs typeface="Microsoft YaHei"/>
              </a:rPr>
              <a:t>注</a:t>
            </a:r>
            <a:r>
              <a:rPr dirty="0" sz="1400" spc="-25">
                <a:latin typeface="Microsoft YaHei"/>
                <a:cs typeface="Microsoft YaHei"/>
              </a:rPr>
              <a:t>发→点中规划的小区</a:t>
            </a:r>
            <a:endParaRPr sz="1400">
              <a:latin typeface="Microsoft YaHei"/>
              <a:cs typeface="Microsoft YaHei"/>
            </a:endParaRPr>
          </a:p>
        </p:txBody>
      </p:sp>
      <p:pic>
        <p:nvPicPr>
          <p:cNvPr id="249" name="object 249"/>
          <p:cNvPicPr/>
          <p:nvPr/>
        </p:nvPicPr>
        <p:blipFill>
          <a:blip r:embed="rId35" cstate="print"/>
          <a:stretch>
            <a:fillRect/>
          </a:stretch>
        </p:blipFill>
        <p:spPr>
          <a:xfrm>
            <a:off x="228600" y="1962162"/>
            <a:ext cx="2947416" cy="2947403"/>
          </a:xfrm>
          <a:prstGeom prst="rect">
            <a:avLst/>
          </a:prstGeom>
        </p:spPr>
      </p:pic>
      <p:pic>
        <p:nvPicPr>
          <p:cNvPr id="250" name="object 250"/>
          <p:cNvPicPr/>
          <p:nvPr/>
        </p:nvPicPr>
        <p:blipFill>
          <a:blip r:embed="rId36" cstate="print"/>
          <a:stretch>
            <a:fillRect/>
          </a:stretch>
        </p:blipFill>
        <p:spPr>
          <a:xfrm>
            <a:off x="4765104" y="2754237"/>
            <a:ext cx="4063415" cy="1152127"/>
          </a:xfrm>
          <a:prstGeom prst="rect">
            <a:avLst/>
          </a:prstGeom>
        </p:spPr>
      </p:pic>
      <p:grpSp>
        <p:nvGrpSpPr>
          <p:cNvPr id="251" name="object 251" descr=""/>
          <p:cNvGrpSpPr/>
          <p:nvPr/>
        </p:nvGrpSpPr>
        <p:grpSpPr>
          <a:xfrm>
            <a:off x="3647318" y="3028090"/>
            <a:ext cx="770890" cy="466090"/>
            <a:chOff x="3647318" y="3028090"/>
            <a:chExt cx="770890" cy="466090"/>
          </a:xfrm>
        </p:grpSpPr>
        <p:sp>
          <p:nvSpPr>
            <p:cNvPr id="252" name="object 252" descr=""/>
            <p:cNvSpPr/>
            <p:nvPr/>
          </p:nvSpPr>
          <p:spPr>
            <a:xfrm>
              <a:off x="3660018" y="3040790"/>
              <a:ext cx="745490" cy="440690"/>
            </a:xfrm>
            <a:custGeom>
              <a:avLst/>
              <a:gdLst/>
              <a:ahLst/>
              <a:cxnLst/>
              <a:rect l="l" t="t" r="r" b="b"/>
              <a:pathLst>
                <a:path w="745489" h="440689">
                  <a:moveTo>
                    <a:pt x="524916" y="0"/>
                  </a:moveTo>
                  <a:lnTo>
                    <a:pt x="524916" y="110058"/>
                  </a:lnTo>
                  <a:lnTo>
                    <a:pt x="0" y="110058"/>
                  </a:lnTo>
                  <a:lnTo>
                    <a:pt x="0" y="330187"/>
                  </a:lnTo>
                  <a:lnTo>
                    <a:pt x="524916" y="330187"/>
                  </a:lnTo>
                  <a:lnTo>
                    <a:pt x="524916" y="440245"/>
                  </a:lnTo>
                  <a:lnTo>
                    <a:pt x="745045" y="220116"/>
                  </a:lnTo>
                  <a:lnTo>
                    <a:pt x="524916" y="0"/>
                  </a:lnTo>
                  <a:close/>
                </a:path>
              </a:pathLst>
            </a:custGeom>
            <a:solidFill>
              <a:srgbClr val="BBE0E3"/>
            </a:solidFill>
          </p:spPr>
          <p:txBody>
            <a:bodyPr wrap="square" lIns="0" tIns="0" rIns="0" bIns="0" rtlCol="0"/>
            <a:lstStyle/>
            <a:p/>
          </p:txBody>
        </p:sp>
        <p:sp>
          <p:nvSpPr>
            <p:cNvPr id="253" name="object 253" descr=""/>
            <p:cNvSpPr/>
            <p:nvPr/>
          </p:nvSpPr>
          <p:spPr>
            <a:xfrm>
              <a:off x="3660018" y="3040790"/>
              <a:ext cx="745490" cy="440690"/>
            </a:xfrm>
            <a:custGeom>
              <a:avLst/>
              <a:gdLst/>
              <a:ahLst/>
              <a:cxnLst/>
              <a:rect l="l" t="t" r="r" b="b"/>
              <a:pathLst>
                <a:path w="745489" h="440689">
                  <a:moveTo>
                    <a:pt x="0" y="110058"/>
                  </a:moveTo>
                  <a:lnTo>
                    <a:pt x="524916" y="110058"/>
                  </a:lnTo>
                  <a:lnTo>
                    <a:pt x="524916" y="0"/>
                  </a:lnTo>
                  <a:lnTo>
                    <a:pt x="745045" y="220116"/>
                  </a:lnTo>
                  <a:lnTo>
                    <a:pt x="524916" y="440245"/>
                  </a:lnTo>
                  <a:lnTo>
                    <a:pt x="524916" y="330187"/>
                  </a:lnTo>
                  <a:lnTo>
                    <a:pt x="0" y="330187"/>
                  </a:lnTo>
                  <a:lnTo>
                    <a:pt x="0" y="110058"/>
                  </a:lnTo>
                  <a:close/>
                </a:path>
              </a:pathLst>
            </a:custGeom>
            <a:ln w="25400">
              <a:solidFill>
                <a:srgbClr val="FFFFFF"/>
              </a:solidFill>
            </a:ln>
          </p:spPr>
          <p:txBody>
            <a:bodyPr wrap="square" lIns="0" tIns="0" rIns="0" bIns="0" rtlCol="0"/>
            <a:lstStyle/>
            <a:p/>
          </p:txBody>
        </p:sp>
      </p:gr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58567" y="113125"/>
            <a:ext cx="4092575" cy="513080"/>
          </a:xfrm>
          <a:prstGeom prst="rect"/>
        </p:spPr>
        <p:txBody>
          <a:bodyPr wrap="square" lIns="0" tIns="12065" rIns="0" bIns="0" rtlCol="0" vert="horz">
            <a:spAutoFit/>
          </a:bodyPr>
          <a:lstStyle/>
          <a:p>
            <a:pPr marL="12700">
              <a:lnSpc>
                <a:spcPct val="100000"/>
              </a:lnSpc>
              <a:spcBef>
                <a:spcPts val="95"/>
              </a:spcBef>
            </a:pPr>
            <a:r>
              <a:rPr dirty="0" spc="-45"/>
              <a:t>开通准备及本机</a:t>
            </a:r>
            <a:r>
              <a:rPr dirty="0" spc="-25">
                <a:latin typeface="Times New Roman"/>
                <a:cs typeface="Times New Roman"/>
              </a:rPr>
              <a:t>IP</a:t>
            </a:r>
            <a:r>
              <a:rPr dirty="0" spc="-45"/>
              <a:t>配置</a:t>
            </a:r>
          </a:p>
        </p:txBody>
      </p:sp>
      <p:grpSp>
        <p:nvGrpSpPr>
          <p:cNvPr id="3" name="object 3" descr=""/>
          <p:cNvGrpSpPr/>
          <p:nvPr/>
        </p:nvGrpSpPr>
        <p:grpSpPr>
          <a:xfrm>
            <a:off x="238819" y="1190899"/>
            <a:ext cx="8666480" cy="3625850"/>
            <a:chOff x="238819" y="1190899"/>
            <a:chExt cx="8666480" cy="3625850"/>
          </a:xfrm>
        </p:grpSpPr>
        <p:sp>
          <p:nvSpPr>
            <p:cNvPr id="4" name="object 4" descr=""/>
            <p:cNvSpPr/>
            <p:nvPr/>
          </p:nvSpPr>
          <p:spPr>
            <a:xfrm>
              <a:off x="251523" y="1203604"/>
              <a:ext cx="8641080" cy="3600450"/>
            </a:xfrm>
            <a:custGeom>
              <a:avLst/>
              <a:gdLst/>
              <a:ahLst/>
              <a:cxnLst/>
              <a:rect l="l" t="t" r="r" b="b"/>
              <a:pathLst>
                <a:path w="8641080" h="3600450">
                  <a:moveTo>
                    <a:pt x="1246276" y="0"/>
                  </a:moveTo>
                  <a:lnTo>
                    <a:pt x="0" y="0"/>
                  </a:lnTo>
                  <a:lnTo>
                    <a:pt x="0" y="327304"/>
                  </a:lnTo>
                  <a:lnTo>
                    <a:pt x="1246276" y="327304"/>
                  </a:lnTo>
                  <a:lnTo>
                    <a:pt x="1246276" y="0"/>
                  </a:lnTo>
                  <a:close/>
                </a:path>
                <a:path w="8641080" h="3600450">
                  <a:moveTo>
                    <a:pt x="5732932" y="3273082"/>
                  </a:moveTo>
                  <a:lnTo>
                    <a:pt x="1246289" y="3273082"/>
                  </a:lnTo>
                  <a:lnTo>
                    <a:pt x="1246289" y="3600386"/>
                  </a:lnTo>
                  <a:lnTo>
                    <a:pt x="5732932" y="3600386"/>
                  </a:lnTo>
                  <a:lnTo>
                    <a:pt x="5732932" y="3273082"/>
                  </a:lnTo>
                  <a:close/>
                </a:path>
                <a:path w="8641080" h="3600450">
                  <a:moveTo>
                    <a:pt x="5732932" y="2618460"/>
                  </a:moveTo>
                  <a:lnTo>
                    <a:pt x="1246289" y="2618460"/>
                  </a:lnTo>
                  <a:lnTo>
                    <a:pt x="1246289" y="2945777"/>
                  </a:lnTo>
                  <a:lnTo>
                    <a:pt x="5732932" y="2945777"/>
                  </a:lnTo>
                  <a:lnTo>
                    <a:pt x="5732932" y="2618460"/>
                  </a:lnTo>
                  <a:close/>
                </a:path>
                <a:path w="8641080" h="3600450">
                  <a:moveTo>
                    <a:pt x="5732932" y="1963851"/>
                  </a:moveTo>
                  <a:lnTo>
                    <a:pt x="1246289" y="1963851"/>
                  </a:lnTo>
                  <a:lnTo>
                    <a:pt x="1246289" y="2291156"/>
                  </a:lnTo>
                  <a:lnTo>
                    <a:pt x="5732932" y="2291156"/>
                  </a:lnTo>
                  <a:lnTo>
                    <a:pt x="5732932" y="1963851"/>
                  </a:lnTo>
                  <a:close/>
                </a:path>
                <a:path w="8641080" h="3600450">
                  <a:moveTo>
                    <a:pt x="5732932" y="1309230"/>
                  </a:moveTo>
                  <a:lnTo>
                    <a:pt x="1246289" y="1309230"/>
                  </a:lnTo>
                  <a:lnTo>
                    <a:pt x="1246289" y="1636534"/>
                  </a:lnTo>
                  <a:lnTo>
                    <a:pt x="5732932" y="1636534"/>
                  </a:lnTo>
                  <a:lnTo>
                    <a:pt x="5732932" y="1309230"/>
                  </a:lnTo>
                  <a:close/>
                </a:path>
                <a:path w="8641080" h="3600450">
                  <a:moveTo>
                    <a:pt x="5732932" y="654608"/>
                  </a:moveTo>
                  <a:lnTo>
                    <a:pt x="1246289" y="654608"/>
                  </a:lnTo>
                  <a:lnTo>
                    <a:pt x="1246289" y="981913"/>
                  </a:lnTo>
                  <a:lnTo>
                    <a:pt x="5732932" y="981913"/>
                  </a:lnTo>
                  <a:lnTo>
                    <a:pt x="5732932" y="654608"/>
                  </a:lnTo>
                  <a:close/>
                </a:path>
                <a:path w="8641080" h="3600450">
                  <a:moveTo>
                    <a:pt x="5732932" y="0"/>
                  </a:moveTo>
                  <a:lnTo>
                    <a:pt x="1246289" y="0"/>
                  </a:lnTo>
                  <a:lnTo>
                    <a:pt x="1246289" y="327304"/>
                  </a:lnTo>
                  <a:lnTo>
                    <a:pt x="5732932" y="327304"/>
                  </a:lnTo>
                  <a:lnTo>
                    <a:pt x="5732932" y="0"/>
                  </a:lnTo>
                  <a:close/>
                </a:path>
                <a:path w="8641080" h="3600450">
                  <a:moveTo>
                    <a:pt x="8640966" y="3273082"/>
                  </a:moveTo>
                  <a:lnTo>
                    <a:pt x="5732945" y="3273082"/>
                  </a:lnTo>
                  <a:lnTo>
                    <a:pt x="5732945" y="3600386"/>
                  </a:lnTo>
                  <a:lnTo>
                    <a:pt x="8640966" y="3600386"/>
                  </a:lnTo>
                  <a:lnTo>
                    <a:pt x="8640966" y="3273082"/>
                  </a:lnTo>
                  <a:close/>
                </a:path>
                <a:path w="8641080" h="3600450">
                  <a:moveTo>
                    <a:pt x="8640966" y="2618460"/>
                  </a:moveTo>
                  <a:lnTo>
                    <a:pt x="5732945" y="2618460"/>
                  </a:lnTo>
                  <a:lnTo>
                    <a:pt x="5732945" y="2945777"/>
                  </a:lnTo>
                  <a:lnTo>
                    <a:pt x="8640966" y="2945777"/>
                  </a:lnTo>
                  <a:lnTo>
                    <a:pt x="8640966" y="2618460"/>
                  </a:lnTo>
                  <a:close/>
                </a:path>
                <a:path w="8641080" h="3600450">
                  <a:moveTo>
                    <a:pt x="8640966" y="1963851"/>
                  </a:moveTo>
                  <a:lnTo>
                    <a:pt x="5732945" y="1963851"/>
                  </a:lnTo>
                  <a:lnTo>
                    <a:pt x="5732945" y="2291156"/>
                  </a:lnTo>
                  <a:lnTo>
                    <a:pt x="8640966" y="2291156"/>
                  </a:lnTo>
                  <a:lnTo>
                    <a:pt x="8640966" y="1963851"/>
                  </a:lnTo>
                  <a:close/>
                </a:path>
                <a:path w="8641080" h="3600450">
                  <a:moveTo>
                    <a:pt x="8640966" y="1309230"/>
                  </a:moveTo>
                  <a:lnTo>
                    <a:pt x="5732945" y="1309230"/>
                  </a:lnTo>
                  <a:lnTo>
                    <a:pt x="5732945" y="1636534"/>
                  </a:lnTo>
                  <a:lnTo>
                    <a:pt x="8640966" y="1636534"/>
                  </a:lnTo>
                  <a:lnTo>
                    <a:pt x="8640966" y="1309230"/>
                  </a:lnTo>
                  <a:close/>
                </a:path>
                <a:path w="8641080" h="3600450">
                  <a:moveTo>
                    <a:pt x="8640966" y="654608"/>
                  </a:moveTo>
                  <a:lnTo>
                    <a:pt x="5732945" y="654608"/>
                  </a:lnTo>
                  <a:lnTo>
                    <a:pt x="5732945" y="981913"/>
                  </a:lnTo>
                  <a:lnTo>
                    <a:pt x="8640966" y="981913"/>
                  </a:lnTo>
                  <a:lnTo>
                    <a:pt x="8640966" y="654608"/>
                  </a:lnTo>
                  <a:close/>
                </a:path>
                <a:path w="8641080" h="3600450">
                  <a:moveTo>
                    <a:pt x="8640966" y="0"/>
                  </a:moveTo>
                  <a:lnTo>
                    <a:pt x="5732945" y="0"/>
                  </a:lnTo>
                  <a:lnTo>
                    <a:pt x="5732945" y="327304"/>
                  </a:lnTo>
                  <a:lnTo>
                    <a:pt x="8640966" y="327304"/>
                  </a:lnTo>
                  <a:lnTo>
                    <a:pt x="8640966" y="0"/>
                  </a:lnTo>
                  <a:close/>
                </a:path>
              </a:pathLst>
            </a:custGeom>
            <a:solidFill>
              <a:srgbClr val="BBE0E3">
                <a:alpha val="19999"/>
              </a:srgbClr>
            </a:solidFill>
          </p:spPr>
          <p:txBody>
            <a:bodyPr wrap="square" lIns="0" tIns="0" rIns="0" bIns="0" rtlCol="0"/>
            <a:lstStyle/>
            <a:p/>
          </p:txBody>
        </p:sp>
        <p:sp>
          <p:nvSpPr>
            <p:cNvPr id="5" name="object 5" descr=""/>
            <p:cNvSpPr/>
            <p:nvPr/>
          </p:nvSpPr>
          <p:spPr>
            <a:xfrm>
              <a:off x="1497812" y="1197249"/>
              <a:ext cx="0" cy="3613150"/>
            </a:xfrm>
            <a:custGeom>
              <a:avLst/>
              <a:gdLst/>
              <a:ahLst/>
              <a:cxnLst/>
              <a:rect l="l" t="t" r="r" b="b"/>
              <a:pathLst>
                <a:path w="0" h="3613150">
                  <a:moveTo>
                    <a:pt x="0" y="0"/>
                  </a:moveTo>
                  <a:lnTo>
                    <a:pt x="0" y="3613099"/>
                  </a:lnTo>
                </a:path>
              </a:pathLst>
            </a:custGeom>
            <a:ln w="12700">
              <a:solidFill>
                <a:srgbClr val="BBE0E3"/>
              </a:solidFill>
            </a:ln>
          </p:spPr>
          <p:txBody>
            <a:bodyPr wrap="square" lIns="0" tIns="0" rIns="0" bIns="0" rtlCol="0"/>
            <a:lstStyle/>
            <a:p/>
          </p:txBody>
        </p:sp>
        <p:sp>
          <p:nvSpPr>
            <p:cNvPr id="6" name="object 6" descr=""/>
            <p:cNvSpPr/>
            <p:nvPr/>
          </p:nvSpPr>
          <p:spPr>
            <a:xfrm>
              <a:off x="5984464" y="1197249"/>
              <a:ext cx="0" cy="3613150"/>
            </a:xfrm>
            <a:custGeom>
              <a:avLst/>
              <a:gdLst/>
              <a:ahLst/>
              <a:cxnLst/>
              <a:rect l="l" t="t" r="r" b="b"/>
              <a:pathLst>
                <a:path w="0" h="3613150">
                  <a:moveTo>
                    <a:pt x="0" y="0"/>
                  </a:moveTo>
                  <a:lnTo>
                    <a:pt x="0" y="3613099"/>
                  </a:lnTo>
                </a:path>
              </a:pathLst>
            </a:custGeom>
            <a:ln w="12700">
              <a:solidFill>
                <a:srgbClr val="BBE0E3"/>
              </a:solidFill>
            </a:ln>
          </p:spPr>
          <p:txBody>
            <a:bodyPr wrap="square" lIns="0" tIns="0" rIns="0" bIns="0" rtlCol="0"/>
            <a:lstStyle/>
            <a:p/>
          </p:txBody>
        </p:sp>
        <p:sp>
          <p:nvSpPr>
            <p:cNvPr id="7" name="object 7" descr=""/>
            <p:cNvSpPr/>
            <p:nvPr/>
          </p:nvSpPr>
          <p:spPr>
            <a:xfrm>
              <a:off x="245169" y="1530907"/>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8" name="object 8" descr=""/>
            <p:cNvSpPr/>
            <p:nvPr/>
          </p:nvSpPr>
          <p:spPr>
            <a:xfrm>
              <a:off x="1491462" y="1858217"/>
              <a:ext cx="7407909" cy="0"/>
            </a:xfrm>
            <a:custGeom>
              <a:avLst/>
              <a:gdLst/>
              <a:ahLst/>
              <a:cxnLst/>
              <a:rect l="l" t="t" r="r" b="b"/>
              <a:pathLst>
                <a:path w="7407909" h="0">
                  <a:moveTo>
                    <a:pt x="0" y="0"/>
                  </a:moveTo>
                  <a:lnTo>
                    <a:pt x="7407363" y="0"/>
                  </a:lnTo>
                </a:path>
              </a:pathLst>
            </a:custGeom>
            <a:ln w="12700">
              <a:solidFill>
                <a:srgbClr val="BBE0E3"/>
              </a:solidFill>
            </a:ln>
          </p:spPr>
          <p:txBody>
            <a:bodyPr wrap="square" lIns="0" tIns="0" rIns="0" bIns="0" rtlCol="0"/>
            <a:lstStyle/>
            <a:p/>
          </p:txBody>
        </p:sp>
        <p:sp>
          <p:nvSpPr>
            <p:cNvPr id="9" name="object 9" descr=""/>
            <p:cNvSpPr/>
            <p:nvPr/>
          </p:nvSpPr>
          <p:spPr>
            <a:xfrm>
              <a:off x="1491462" y="2185526"/>
              <a:ext cx="7407909" cy="0"/>
            </a:xfrm>
            <a:custGeom>
              <a:avLst/>
              <a:gdLst/>
              <a:ahLst/>
              <a:cxnLst/>
              <a:rect l="l" t="t" r="r" b="b"/>
              <a:pathLst>
                <a:path w="7407909" h="0">
                  <a:moveTo>
                    <a:pt x="0" y="0"/>
                  </a:moveTo>
                  <a:lnTo>
                    <a:pt x="7407363" y="0"/>
                  </a:lnTo>
                </a:path>
              </a:pathLst>
            </a:custGeom>
            <a:ln w="12700">
              <a:solidFill>
                <a:srgbClr val="BBE0E3"/>
              </a:solidFill>
            </a:ln>
          </p:spPr>
          <p:txBody>
            <a:bodyPr wrap="square" lIns="0" tIns="0" rIns="0" bIns="0" rtlCol="0"/>
            <a:lstStyle/>
            <a:p/>
          </p:txBody>
        </p:sp>
        <p:sp>
          <p:nvSpPr>
            <p:cNvPr id="10" name="object 10" descr=""/>
            <p:cNvSpPr/>
            <p:nvPr/>
          </p:nvSpPr>
          <p:spPr>
            <a:xfrm>
              <a:off x="1491462" y="2512834"/>
              <a:ext cx="7407909" cy="0"/>
            </a:xfrm>
            <a:custGeom>
              <a:avLst/>
              <a:gdLst/>
              <a:ahLst/>
              <a:cxnLst/>
              <a:rect l="l" t="t" r="r" b="b"/>
              <a:pathLst>
                <a:path w="7407909" h="0">
                  <a:moveTo>
                    <a:pt x="0" y="0"/>
                  </a:moveTo>
                  <a:lnTo>
                    <a:pt x="7407363" y="0"/>
                  </a:lnTo>
                </a:path>
              </a:pathLst>
            </a:custGeom>
            <a:ln w="12700">
              <a:solidFill>
                <a:srgbClr val="BBE0E3"/>
              </a:solidFill>
            </a:ln>
          </p:spPr>
          <p:txBody>
            <a:bodyPr wrap="square" lIns="0" tIns="0" rIns="0" bIns="0" rtlCol="0"/>
            <a:lstStyle/>
            <a:p/>
          </p:txBody>
        </p:sp>
        <p:sp>
          <p:nvSpPr>
            <p:cNvPr id="11" name="object 11" descr=""/>
            <p:cNvSpPr/>
            <p:nvPr/>
          </p:nvSpPr>
          <p:spPr>
            <a:xfrm>
              <a:off x="1491462" y="2840144"/>
              <a:ext cx="7407909" cy="0"/>
            </a:xfrm>
            <a:custGeom>
              <a:avLst/>
              <a:gdLst/>
              <a:ahLst/>
              <a:cxnLst/>
              <a:rect l="l" t="t" r="r" b="b"/>
              <a:pathLst>
                <a:path w="7407909" h="0">
                  <a:moveTo>
                    <a:pt x="0" y="0"/>
                  </a:moveTo>
                  <a:lnTo>
                    <a:pt x="7407363" y="0"/>
                  </a:lnTo>
                </a:path>
              </a:pathLst>
            </a:custGeom>
            <a:ln w="12700">
              <a:solidFill>
                <a:srgbClr val="BBE0E3"/>
              </a:solidFill>
            </a:ln>
          </p:spPr>
          <p:txBody>
            <a:bodyPr wrap="square" lIns="0" tIns="0" rIns="0" bIns="0" rtlCol="0"/>
            <a:lstStyle/>
            <a:p/>
          </p:txBody>
        </p:sp>
        <p:sp>
          <p:nvSpPr>
            <p:cNvPr id="12" name="object 12" descr=""/>
            <p:cNvSpPr/>
            <p:nvPr/>
          </p:nvSpPr>
          <p:spPr>
            <a:xfrm>
              <a:off x="1491462" y="3167452"/>
              <a:ext cx="7407909" cy="0"/>
            </a:xfrm>
            <a:custGeom>
              <a:avLst/>
              <a:gdLst/>
              <a:ahLst/>
              <a:cxnLst/>
              <a:rect l="l" t="t" r="r" b="b"/>
              <a:pathLst>
                <a:path w="7407909" h="0">
                  <a:moveTo>
                    <a:pt x="0" y="0"/>
                  </a:moveTo>
                  <a:lnTo>
                    <a:pt x="7407363" y="0"/>
                  </a:lnTo>
                </a:path>
              </a:pathLst>
            </a:custGeom>
            <a:ln w="12700">
              <a:solidFill>
                <a:srgbClr val="BBE0E3"/>
              </a:solidFill>
            </a:ln>
          </p:spPr>
          <p:txBody>
            <a:bodyPr wrap="square" lIns="0" tIns="0" rIns="0" bIns="0" rtlCol="0"/>
            <a:lstStyle/>
            <a:p/>
          </p:txBody>
        </p:sp>
        <p:sp>
          <p:nvSpPr>
            <p:cNvPr id="13" name="object 13" descr=""/>
            <p:cNvSpPr/>
            <p:nvPr/>
          </p:nvSpPr>
          <p:spPr>
            <a:xfrm>
              <a:off x="245169" y="3494761"/>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14" name="object 14" descr=""/>
            <p:cNvSpPr/>
            <p:nvPr/>
          </p:nvSpPr>
          <p:spPr>
            <a:xfrm>
              <a:off x="1491462" y="3822071"/>
              <a:ext cx="7407909" cy="0"/>
            </a:xfrm>
            <a:custGeom>
              <a:avLst/>
              <a:gdLst/>
              <a:ahLst/>
              <a:cxnLst/>
              <a:rect l="l" t="t" r="r" b="b"/>
              <a:pathLst>
                <a:path w="7407909" h="0">
                  <a:moveTo>
                    <a:pt x="0" y="0"/>
                  </a:moveTo>
                  <a:lnTo>
                    <a:pt x="7407363" y="0"/>
                  </a:lnTo>
                </a:path>
              </a:pathLst>
            </a:custGeom>
            <a:ln w="12700">
              <a:solidFill>
                <a:srgbClr val="BBE0E3"/>
              </a:solidFill>
            </a:ln>
          </p:spPr>
          <p:txBody>
            <a:bodyPr wrap="square" lIns="0" tIns="0" rIns="0" bIns="0" rtlCol="0"/>
            <a:lstStyle/>
            <a:p/>
          </p:txBody>
        </p:sp>
        <p:sp>
          <p:nvSpPr>
            <p:cNvPr id="15" name="object 15" descr=""/>
            <p:cNvSpPr/>
            <p:nvPr/>
          </p:nvSpPr>
          <p:spPr>
            <a:xfrm>
              <a:off x="1491462" y="4149379"/>
              <a:ext cx="7407909" cy="0"/>
            </a:xfrm>
            <a:custGeom>
              <a:avLst/>
              <a:gdLst/>
              <a:ahLst/>
              <a:cxnLst/>
              <a:rect l="l" t="t" r="r" b="b"/>
              <a:pathLst>
                <a:path w="7407909" h="0">
                  <a:moveTo>
                    <a:pt x="0" y="0"/>
                  </a:moveTo>
                  <a:lnTo>
                    <a:pt x="7407363" y="0"/>
                  </a:lnTo>
                </a:path>
              </a:pathLst>
            </a:custGeom>
            <a:ln w="12700">
              <a:solidFill>
                <a:srgbClr val="BBE0E3"/>
              </a:solidFill>
            </a:ln>
          </p:spPr>
          <p:txBody>
            <a:bodyPr wrap="square" lIns="0" tIns="0" rIns="0" bIns="0" rtlCol="0"/>
            <a:lstStyle/>
            <a:p/>
          </p:txBody>
        </p:sp>
        <p:sp>
          <p:nvSpPr>
            <p:cNvPr id="16" name="object 16" descr=""/>
            <p:cNvSpPr/>
            <p:nvPr/>
          </p:nvSpPr>
          <p:spPr>
            <a:xfrm>
              <a:off x="1491462" y="4476689"/>
              <a:ext cx="7407909" cy="0"/>
            </a:xfrm>
            <a:custGeom>
              <a:avLst/>
              <a:gdLst/>
              <a:ahLst/>
              <a:cxnLst/>
              <a:rect l="l" t="t" r="r" b="b"/>
              <a:pathLst>
                <a:path w="7407909" h="0">
                  <a:moveTo>
                    <a:pt x="0" y="0"/>
                  </a:moveTo>
                  <a:lnTo>
                    <a:pt x="7407363" y="0"/>
                  </a:lnTo>
                </a:path>
              </a:pathLst>
            </a:custGeom>
            <a:ln w="12700">
              <a:solidFill>
                <a:srgbClr val="BBE0E3"/>
              </a:solidFill>
            </a:ln>
          </p:spPr>
          <p:txBody>
            <a:bodyPr wrap="square" lIns="0" tIns="0" rIns="0" bIns="0" rtlCol="0"/>
            <a:lstStyle/>
            <a:p/>
          </p:txBody>
        </p:sp>
        <p:sp>
          <p:nvSpPr>
            <p:cNvPr id="17" name="object 17" descr=""/>
            <p:cNvSpPr/>
            <p:nvPr/>
          </p:nvSpPr>
          <p:spPr>
            <a:xfrm>
              <a:off x="251519" y="1197249"/>
              <a:ext cx="0" cy="3613150"/>
            </a:xfrm>
            <a:custGeom>
              <a:avLst/>
              <a:gdLst/>
              <a:ahLst/>
              <a:cxnLst/>
              <a:rect l="l" t="t" r="r" b="b"/>
              <a:pathLst>
                <a:path w="0" h="3613150">
                  <a:moveTo>
                    <a:pt x="0" y="0"/>
                  </a:moveTo>
                  <a:lnTo>
                    <a:pt x="0" y="3613099"/>
                  </a:lnTo>
                </a:path>
              </a:pathLst>
            </a:custGeom>
            <a:ln w="12700">
              <a:solidFill>
                <a:srgbClr val="BBE0E3"/>
              </a:solidFill>
            </a:ln>
          </p:spPr>
          <p:txBody>
            <a:bodyPr wrap="square" lIns="0" tIns="0" rIns="0" bIns="0" rtlCol="0"/>
            <a:lstStyle/>
            <a:p/>
          </p:txBody>
        </p:sp>
        <p:sp>
          <p:nvSpPr>
            <p:cNvPr id="18" name="object 18" descr=""/>
            <p:cNvSpPr/>
            <p:nvPr/>
          </p:nvSpPr>
          <p:spPr>
            <a:xfrm>
              <a:off x="8892480" y="1197249"/>
              <a:ext cx="0" cy="3613150"/>
            </a:xfrm>
            <a:custGeom>
              <a:avLst/>
              <a:gdLst/>
              <a:ahLst/>
              <a:cxnLst/>
              <a:rect l="l" t="t" r="r" b="b"/>
              <a:pathLst>
                <a:path w="0" h="3613150">
                  <a:moveTo>
                    <a:pt x="0" y="0"/>
                  </a:moveTo>
                  <a:lnTo>
                    <a:pt x="0" y="3613099"/>
                  </a:lnTo>
                </a:path>
              </a:pathLst>
            </a:custGeom>
            <a:ln w="12700">
              <a:solidFill>
                <a:srgbClr val="BBE0E3"/>
              </a:solidFill>
            </a:ln>
          </p:spPr>
          <p:txBody>
            <a:bodyPr wrap="square" lIns="0" tIns="0" rIns="0" bIns="0" rtlCol="0"/>
            <a:lstStyle/>
            <a:p/>
          </p:txBody>
        </p:sp>
        <p:sp>
          <p:nvSpPr>
            <p:cNvPr id="19" name="object 19" descr=""/>
            <p:cNvSpPr/>
            <p:nvPr/>
          </p:nvSpPr>
          <p:spPr>
            <a:xfrm>
              <a:off x="245169" y="1203599"/>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20" name="object 20" descr=""/>
            <p:cNvSpPr/>
            <p:nvPr/>
          </p:nvSpPr>
          <p:spPr>
            <a:xfrm>
              <a:off x="245169" y="4803998"/>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grpSp>
      <p:sp>
        <p:nvSpPr>
          <p:cNvPr id="21" name="object 21" descr=""/>
          <p:cNvSpPr txBox="1"/>
          <p:nvPr/>
        </p:nvSpPr>
        <p:spPr>
          <a:xfrm>
            <a:off x="3373290" y="1241778"/>
            <a:ext cx="735965" cy="238760"/>
          </a:xfrm>
          <a:prstGeom prst="rect">
            <a:avLst/>
          </a:prstGeom>
        </p:spPr>
        <p:txBody>
          <a:bodyPr wrap="square" lIns="0" tIns="12065" rIns="0" bIns="0" rtlCol="0" vert="horz">
            <a:spAutoFit/>
          </a:bodyPr>
          <a:lstStyle/>
          <a:p>
            <a:pPr marL="12700">
              <a:lnSpc>
                <a:spcPct val="100000"/>
              </a:lnSpc>
              <a:spcBef>
                <a:spcPts val="95"/>
              </a:spcBef>
            </a:pPr>
            <a:r>
              <a:rPr dirty="0" sz="1400" spc="-30">
                <a:latin typeface="Microsoft YaHei"/>
                <a:cs typeface="Microsoft YaHei"/>
              </a:rPr>
              <a:t>资源名称</a:t>
            </a:r>
            <a:endParaRPr sz="1400">
              <a:latin typeface="Microsoft YaHei"/>
              <a:cs typeface="Microsoft YaHei"/>
            </a:endParaRPr>
          </a:p>
        </p:txBody>
      </p:sp>
      <p:sp>
        <p:nvSpPr>
          <p:cNvPr id="22" name="object 22" descr=""/>
          <p:cNvSpPr txBox="1"/>
          <p:nvPr/>
        </p:nvSpPr>
        <p:spPr>
          <a:xfrm>
            <a:off x="7247876" y="1241778"/>
            <a:ext cx="381000" cy="238760"/>
          </a:xfrm>
          <a:prstGeom prst="rect">
            <a:avLst/>
          </a:prstGeom>
        </p:spPr>
        <p:txBody>
          <a:bodyPr wrap="square" lIns="0" tIns="12065" rIns="0" bIns="0" rtlCol="0" vert="horz">
            <a:spAutoFit/>
          </a:bodyPr>
          <a:lstStyle/>
          <a:p>
            <a:pPr marL="12700">
              <a:lnSpc>
                <a:spcPct val="100000"/>
              </a:lnSpc>
              <a:spcBef>
                <a:spcPts val="95"/>
              </a:spcBef>
            </a:pPr>
            <a:r>
              <a:rPr dirty="0" sz="1400" spc="-35">
                <a:latin typeface="Microsoft YaHei"/>
                <a:cs typeface="Microsoft YaHei"/>
              </a:rPr>
              <a:t>备注</a:t>
            </a:r>
            <a:endParaRPr sz="1400">
              <a:latin typeface="Microsoft YaHei"/>
              <a:cs typeface="Microsoft YaHei"/>
            </a:endParaRPr>
          </a:p>
        </p:txBody>
      </p:sp>
      <p:sp>
        <p:nvSpPr>
          <p:cNvPr id="23" name="object 23" descr=""/>
          <p:cNvSpPr txBox="1"/>
          <p:nvPr/>
        </p:nvSpPr>
        <p:spPr>
          <a:xfrm>
            <a:off x="1576524" y="1568995"/>
            <a:ext cx="6287770" cy="238760"/>
          </a:xfrm>
          <a:prstGeom prst="rect">
            <a:avLst/>
          </a:prstGeom>
        </p:spPr>
        <p:txBody>
          <a:bodyPr wrap="square" lIns="0" tIns="12065" rIns="0" bIns="0" rtlCol="0" vert="horz">
            <a:spAutoFit/>
          </a:bodyPr>
          <a:lstStyle/>
          <a:p>
            <a:pPr marL="12700">
              <a:lnSpc>
                <a:spcPct val="100000"/>
              </a:lnSpc>
              <a:spcBef>
                <a:spcPts val="95"/>
              </a:spcBef>
              <a:tabLst>
                <a:tab pos="4498975" algn="l"/>
              </a:tabLst>
            </a:pPr>
            <a:r>
              <a:rPr dirty="0" sz="1400" spc="-20">
                <a:latin typeface="Microsoft YaHei"/>
                <a:cs typeface="Microsoft YaHei"/>
              </a:rPr>
              <a:t>万用表</a:t>
            </a:r>
            <a:r>
              <a:rPr dirty="0" sz="1400" spc="-10">
                <a:latin typeface="Microsoft YaHei"/>
                <a:cs typeface="Microsoft YaHei"/>
              </a:rPr>
              <a:t>1</a:t>
            </a:r>
            <a:r>
              <a:rPr dirty="0" sz="1400" spc="-50">
                <a:latin typeface="Microsoft YaHei"/>
                <a:cs typeface="Microsoft YaHei"/>
              </a:rPr>
              <a:t>个</a:t>
            </a:r>
            <a:r>
              <a:rPr dirty="0" sz="1400">
                <a:latin typeface="Microsoft YaHei"/>
                <a:cs typeface="Microsoft YaHei"/>
              </a:rPr>
              <a:t>	</a:t>
            </a:r>
            <a:r>
              <a:rPr dirty="0" sz="1400" spc="-20">
                <a:latin typeface="Microsoft YaHei"/>
                <a:cs typeface="Microsoft YaHei"/>
              </a:rPr>
              <a:t>检查设备电源是否正</a:t>
            </a:r>
            <a:r>
              <a:rPr dirty="0" sz="1400" spc="-50">
                <a:latin typeface="Microsoft YaHei"/>
                <a:cs typeface="Microsoft YaHei"/>
              </a:rPr>
              <a:t>常</a:t>
            </a:r>
            <a:endParaRPr sz="1400">
              <a:latin typeface="Microsoft YaHei"/>
              <a:cs typeface="Microsoft YaHei"/>
            </a:endParaRPr>
          </a:p>
        </p:txBody>
      </p:sp>
      <p:sp>
        <p:nvSpPr>
          <p:cNvPr id="24" name="object 24" descr=""/>
          <p:cNvSpPr txBox="1"/>
          <p:nvPr/>
        </p:nvSpPr>
        <p:spPr>
          <a:xfrm>
            <a:off x="1576524" y="2223784"/>
            <a:ext cx="6287770" cy="238760"/>
          </a:xfrm>
          <a:prstGeom prst="rect">
            <a:avLst/>
          </a:prstGeom>
        </p:spPr>
        <p:txBody>
          <a:bodyPr wrap="square" lIns="0" tIns="12065" rIns="0" bIns="0" rtlCol="0" vert="horz">
            <a:spAutoFit/>
          </a:bodyPr>
          <a:lstStyle/>
          <a:p>
            <a:pPr marL="12700">
              <a:lnSpc>
                <a:spcPct val="100000"/>
              </a:lnSpc>
              <a:spcBef>
                <a:spcPts val="95"/>
              </a:spcBef>
              <a:tabLst>
                <a:tab pos="4498975" algn="l"/>
              </a:tabLst>
            </a:pPr>
            <a:r>
              <a:rPr dirty="0" sz="1400" spc="-20">
                <a:latin typeface="Microsoft YaHei"/>
                <a:cs typeface="Microsoft YaHei"/>
              </a:rPr>
              <a:t>千兆网线</a:t>
            </a:r>
            <a:r>
              <a:rPr dirty="0" sz="1400" spc="-10">
                <a:latin typeface="Microsoft YaHei"/>
                <a:cs typeface="Microsoft YaHei"/>
              </a:rPr>
              <a:t>1</a:t>
            </a:r>
            <a:r>
              <a:rPr dirty="0" sz="1400" spc="-20">
                <a:latin typeface="Microsoft YaHei"/>
                <a:cs typeface="Microsoft YaHei"/>
              </a:rPr>
              <a:t>根（长度建议5m</a:t>
            </a:r>
            <a:r>
              <a:rPr dirty="0" sz="1400" spc="-10">
                <a:latin typeface="Microsoft YaHei"/>
                <a:cs typeface="Microsoft YaHei"/>
              </a:rPr>
              <a:t>左</a:t>
            </a:r>
            <a:r>
              <a:rPr dirty="0" sz="1400" spc="-20">
                <a:latin typeface="Microsoft YaHei"/>
                <a:cs typeface="Microsoft YaHei"/>
              </a:rPr>
              <a:t>右</a:t>
            </a:r>
            <a:r>
              <a:rPr dirty="0" sz="1400" spc="-50">
                <a:latin typeface="Microsoft YaHei"/>
                <a:cs typeface="Microsoft YaHei"/>
              </a:rPr>
              <a:t>）</a:t>
            </a:r>
            <a:r>
              <a:rPr dirty="0" sz="1400">
                <a:latin typeface="Microsoft YaHei"/>
                <a:cs typeface="Microsoft YaHei"/>
              </a:rPr>
              <a:t>	</a:t>
            </a:r>
            <a:r>
              <a:rPr dirty="0" sz="1400" spc="-20">
                <a:latin typeface="Microsoft YaHei"/>
                <a:cs typeface="Microsoft YaHei"/>
              </a:rPr>
              <a:t>电脑直连基站本地调</a:t>
            </a:r>
            <a:r>
              <a:rPr dirty="0" sz="1400" spc="-50">
                <a:latin typeface="Microsoft YaHei"/>
                <a:cs typeface="Microsoft YaHei"/>
              </a:rPr>
              <a:t>测</a:t>
            </a:r>
            <a:endParaRPr sz="1400">
              <a:latin typeface="Microsoft YaHei"/>
              <a:cs typeface="Microsoft YaHei"/>
            </a:endParaRPr>
          </a:p>
        </p:txBody>
      </p:sp>
      <p:sp>
        <p:nvSpPr>
          <p:cNvPr id="25" name="object 25" descr=""/>
          <p:cNvSpPr txBox="1"/>
          <p:nvPr/>
        </p:nvSpPr>
        <p:spPr>
          <a:xfrm>
            <a:off x="1576702" y="2551179"/>
            <a:ext cx="381000" cy="238760"/>
          </a:xfrm>
          <a:prstGeom prst="rect">
            <a:avLst/>
          </a:prstGeom>
        </p:spPr>
        <p:txBody>
          <a:bodyPr wrap="square" lIns="0" tIns="12065" rIns="0" bIns="0" rtlCol="0" vert="horz">
            <a:spAutoFit/>
          </a:bodyPr>
          <a:lstStyle/>
          <a:p>
            <a:pPr marL="12700">
              <a:lnSpc>
                <a:spcPct val="100000"/>
              </a:lnSpc>
              <a:spcBef>
                <a:spcPts val="95"/>
              </a:spcBef>
            </a:pPr>
            <a:r>
              <a:rPr dirty="0" sz="1400" spc="-35">
                <a:latin typeface="Microsoft YaHei"/>
                <a:cs typeface="Microsoft YaHei"/>
              </a:rPr>
              <a:t>斜口</a:t>
            </a:r>
            <a:endParaRPr sz="1400">
              <a:latin typeface="Microsoft YaHei"/>
              <a:cs typeface="Microsoft YaHei"/>
            </a:endParaRPr>
          </a:p>
        </p:txBody>
      </p:sp>
      <p:sp>
        <p:nvSpPr>
          <p:cNvPr id="26" name="object 26" descr=""/>
          <p:cNvSpPr txBox="1"/>
          <p:nvPr/>
        </p:nvSpPr>
        <p:spPr>
          <a:xfrm>
            <a:off x="1576879" y="3533364"/>
            <a:ext cx="381000" cy="238760"/>
          </a:xfrm>
          <a:prstGeom prst="rect">
            <a:avLst/>
          </a:prstGeom>
        </p:spPr>
        <p:txBody>
          <a:bodyPr wrap="square" lIns="0" tIns="12065" rIns="0" bIns="0" rtlCol="0" vert="horz">
            <a:spAutoFit/>
          </a:bodyPr>
          <a:lstStyle/>
          <a:p>
            <a:pPr marL="12700">
              <a:lnSpc>
                <a:spcPct val="100000"/>
              </a:lnSpc>
              <a:spcBef>
                <a:spcPts val="95"/>
              </a:spcBef>
            </a:pPr>
            <a:r>
              <a:rPr dirty="0" sz="1400" spc="-35">
                <a:latin typeface="Microsoft YaHei"/>
                <a:cs typeface="Microsoft YaHei"/>
              </a:rPr>
              <a:t>本地</a:t>
            </a:r>
            <a:endParaRPr sz="1400">
              <a:latin typeface="Microsoft YaHei"/>
              <a:cs typeface="Microsoft YaHei"/>
            </a:endParaRPr>
          </a:p>
        </p:txBody>
      </p:sp>
      <p:sp>
        <p:nvSpPr>
          <p:cNvPr id="27" name="object 27" descr=""/>
          <p:cNvSpPr txBox="1"/>
          <p:nvPr/>
        </p:nvSpPr>
        <p:spPr>
          <a:xfrm>
            <a:off x="7677510" y="4188154"/>
            <a:ext cx="139700" cy="238760"/>
          </a:xfrm>
          <a:prstGeom prst="rect">
            <a:avLst/>
          </a:prstGeom>
        </p:spPr>
        <p:txBody>
          <a:bodyPr wrap="square" lIns="0" tIns="12065" rIns="0" bIns="0" rtlCol="0" vert="horz">
            <a:spAutoFit/>
          </a:bodyPr>
          <a:lstStyle/>
          <a:p>
            <a:pPr marL="12700">
              <a:lnSpc>
                <a:spcPct val="100000"/>
              </a:lnSpc>
              <a:spcBef>
                <a:spcPts val="95"/>
              </a:spcBef>
            </a:pPr>
            <a:r>
              <a:rPr dirty="0" sz="1400" spc="-50">
                <a:latin typeface="Microsoft YaHei"/>
                <a:cs typeface="Microsoft YaHei"/>
              </a:rPr>
              <a:t>g</a:t>
            </a:r>
            <a:endParaRPr sz="1400">
              <a:latin typeface="Microsoft YaHei"/>
              <a:cs typeface="Microsoft YaHei"/>
            </a:endParaRPr>
          </a:p>
        </p:txBody>
      </p:sp>
      <p:sp>
        <p:nvSpPr>
          <p:cNvPr id="28" name="object 28" descr=""/>
          <p:cNvSpPr txBox="1"/>
          <p:nvPr/>
        </p:nvSpPr>
        <p:spPr>
          <a:xfrm>
            <a:off x="330258" y="842073"/>
            <a:ext cx="839469" cy="269875"/>
          </a:xfrm>
          <a:prstGeom prst="rect">
            <a:avLst/>
          </a:prstGeom>
        </p:spPr>
        <p:txBody>
          <a:bodyPr wrap="square" lIns="0" tIns="12700" rIns="0" bIns="0" rtlCol="0" vert="horz">
            <a:spAutoFit/>
          </a:bodyPr>
          <a:lstStyle/>
          <a:p>
            <a:pPr marL="12700">
              <a:lnSpc>
                <a:spcPct val="100000"/>
              </a:lnSpc>
              <a:spcBef>
                <a:spcPts val="100"/>
              </a:spcBef>
            </a:pPr>
            <a:r>
              <a:rPr dirty="0" sz="1600" spc="-15" b="1">
                <a:latin typeface="Microsoft YaHei"/>
                <a:cs typeface="Microsoft YaHei"/>
              </a:rPr>
              <a:t>开通准备</a:t>
            </a:r>
            <a:endParaRPr sz="1600">
              <a:latin typeface="Microsoft YaHei"/>
              <a:cs typeface="Microsoft YaHei"/>
            </a:endParaRPr>
          </a:p>
        </p:txBody>
      </p:sp>
      <p:grpSp>
        <p:nvGrpSpPr>
          <p:cNvPr id="29" name="object 29" descr=""/>
          <p:cNvGrpSpPr/>
          <p:nvPr/>
        </p:nvGrpSpPr>
        <p:grpSpPr>
          <a:xfrm>
            <a:off x="391219" y="1343299"/>
            <a:ext cx="8666480" cy="3554095"/>
            <a:chOff x="391219" y="1343299"/>
            <a:chExt cx="8666480" cy="3554095"/>
          </a:xfrm>
        </p:grpSpPr>
        <p:sp>
          <p:nvSpPr>
            <p:cNvPr id="30" name="object 30" descr=""/>
            <p:cNvSpPr/>
            <p:nvPr/>
          </p:nvSpPr>
          <p:spPr>
            <a:xfrm>
              <a:off x="403923" y="1356004"/>
              <a:ext cx="8641080" cy="3091180"/>
            </a:xfrm>
            <a:custGeom>
              <a:avLst/>
              <a:gdLst/>
              <a:ahLst/>
              <a:cxnLst/>
              <a:rect l="l" t="t" r="r" b="b"/>
              <a:pathLst>
                <a:path w="8641080" h="3091179">
                  <a:moveTo>
                    <a:pt x="8640953" y="2653715"/>
                  </a:moveTo>
                  <a:lnTo>
                    <a:pt x="1165072" y="2653715"/>
                  </a:lnTo>
                  <a:lnTo>
                    <a:pt x="0" y="2653715"/>
                  </a:lnTo>
                  <a:lnTo>
                    <a:pt x="0" y="3091053"/>
                  </a:lnTo>
                  <a:lnTo>
                    <a:pt x="1165072" y="3091053"/>
                  </a:lnTo>
                  <a:lnTo>
                    <a:pt x="8640953" y="3091053"/>
                  </a:lnTo>
                  <a:lnTo>
                    <a:pt x="8640953" y="2653715"/>
                  </a:lnTo>
                  <a:close/>
                </a:path>
                <a:path w="8641080" h="3091179">
                  <a:moveTo>
                    <a:pt x="8640953" y="1779041"/>
                  </a:moveTo>
                  <a:lnTo>
                    <a:pt x="1165072" y="1779041"/>
                  </a:lnTo>
                  <a:lnTo>
                    <a:pt x="0" y="1779041"/>
                  </a:lnTo>
                  <a:lnTo>
                    <a:pt x="0" y="2216391"/>
                  </a:lnTo>
                  <a:lnTo>
                    <a:pt x="1165072" y="2216391"/>
                  </a:lnTo>
                  <a:lnTo>
                    <a:pt x="8640953" y="2216391"/>
                  </a:lnTo>
                  <a:lnTo>
                    <a:pt x="8640953" y="1779041"/>
                  </a:lnTo>
                  <a:close/>
                </a:path>
                <a:path w="8641080" h="3091179">
                  <a:moveTo>
                    <a:pt x="8640953" y="904379"/>
                  </a:moveTo>
                  <a:lnTo>
                    <a:pt x="1165072" y="904379"/>
                  </a:lnTo>
                  <a:lnTo>
                    <a:pt x="0" y="904379"/>
                  </a:lnTo>
                  <a:lnTo>
                    <a:pt x="0" y="1341716"/>
                  </a:lnTo>
                  <a:lnTo>
                    <a:pt x="1165072" y="1341716"/>
                  </a:lnTo>
                  <a:lnTo>
                    <a:pt x="8640953" y="1341716"/>
                  </a:lnTo>
                  <a:lnTo>
                    <a:pt x="8640953" y="904379"/>
                  </a:lnTo>
                  <a:close/>
                </a:path>
                <a:path w="8641080" h="3091179">
                  <a:moveTo>
                    <a:pt x="8640953" y="0"/>
                  </a:moveTo>
                  <a:lnTo>
                    <a:pt x="1165072" y="0"/>
                  </a:lnTo>
                  <a:lnTo>
                    <a:pt x="0" y="0"/>
                  </a:lnTo>
                  <a:lnTo>
                    <a:pt x="0" y="437337"/>
                  </a:lnTo>
                  <a:lnTo>
                    <a:pt x="1165072" y="437337"/>
                  </a:lnTo>
                  <a:lnTo>
                    <a:pt x="8640953" y="437337"/>
                  </a:lnTo>
                  <a:lnTo>
                    <a:pt x="8640953" y="0"/>
                  </a:lnTo>
                  <a:close/>
                </a:path>
              </a:pathLst>
            </a:custGeom>
            <a:solidFill>
              <a:srgbClr val="BBE0E3">
                <a:alpha val="19999"/>
              </a:srgbClr>
            </a:solidFill>
          </p:spPr>
          <p:txBody>
            <a:bodyPr wrap="square" lIns="0" tIns="0" rIns="0" bIns="0" rtlCol="0"/>
            <a:lstStyle/>
            <a:p/>
          </p:txBody>
        </p:sp>
        <p:sp>
          <p:nvSpPr>
            <p:cNvPr id="31" name="object 31" descr=""/>
            <p:cNvSpPr/>
            <p:nvPr/>
          </p:nvSpPr>
          <p:spPr>
            <a:xfrm>
              <a:off x="1568993" y="1349649"/>
              <a:ext cx="0" cy="3541395"/>
            </a:xfrm>
            <a:custGeom>
              <a:avLst/>
              <a:gdLst/>
              <a:ahLst/>
              <a:cxnLst/>
              <a:rect l="l" t="t" r="r" b="b"/>
              <a:pathLst>
                <a:path w="0" h="3541395">
                  <a:moveTo>
                    <a:pt x="0" y="0"/>
                  </a:moveTo>
                  <a:lnTo>
                    <a:pt x="0" y="3541090"/>
                  </a:lnTo>
                </a:path>
              </a:pathLst>
            </a:custGeom>
            <a:ln w="12700">
              <a:solidFill>
                <a:srgbClr val="BBE0E3"/>
              </a:solidFill>
            </a:ln>
          </p:spPr>
          <p:txBody>
            <a:bodyPr wrap="square" lIns="0" tIns="0" rIns="0" bIns="0" rtlCol="0"/>
            <a:lstStyle/>
            <a:p/>
          </p:txBody>
        </p:sp>
        <p:sp>
          <p:nvSpPr>
            <p:cNvPr id="32" name="object 32" descr=""/>
            <p:cNvSpPr/>
            <p:nvPr/>
          </p:nvSpPr>
          <p:spPr>
            <a:xfrm>
              <a:off x="397569" y="1793335"/>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33" name="object 33" descr=""/>
            <p:cNvSpPr/>
            <p:nvPr/>
          </p:nvSpPr>
          <p:spPr>
            <a:xfrm>
              <a:off x="397569" y="2260378"/>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34" name="object 34" descr=""/>
            <p:cNvSpPr/>
            <p:nvPr/>
          </p:nvSpPr>
          <p:spPr>
            <a:xfrm>
              <a:off x="397569" y="2697714"/>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35" name="object 35" descr=""/>
            <p:cNvSpPr/>
            <p:nvPr/>
          </p:nvSpPr>
          <p:spPr>
            <a:xfrm>
              <a:off x="397569" y="3135050"/>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36" name="object 36" descr=""/>
            <p:cNvSpPr/>
            <p:nvPr/>
          </p:nvSpPr>
          <p:spPr>
            <a:xfrm>
              <a:off x="397569" y="3572386"/>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37" name="object 37" descr=""/>
            <p:cNvSpPr/>
            <p:nvPr/>
          </p:nvSpPr>
          <p:spPr>
            <a:xfrm>
              <a:off x="397569" y="4009722"/>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38" name="object 38" descr=""/>
            <p:cNvSpPr/>
            <p:nvPr/>
          </p:nvSpPr>
          <p:spPr>
            <a:xfrm>
              <a:off x="397569" y="4447058"/>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39" name="object 39" descr=""/>
            <p:cNvSpPr/>
            <p:nvPr/>
          </p:nvSpPr>
          <p:spPr>
            <a:xfrm>
              <a:off x="403919" y="1349649"/>
              <a:ext cx="0" cy="3541395"/>
            </a:xfrm>
            <a:custGeom>
              <a:avLst/>
              <a:gdLst/>
              <a:ahLst/>
              <a:cxnLst/>
              <a:rect l="l" t="t" r="r" b="b"/>
              <a:pathLst>
                <a:path w="0" h="3541395">
                  <a:moveTo>
                    <a:pt x="0" y="0"/>
                  </a:moveTo>
                  <a:lnTo>
                    <a:pt x="0" y="3541090"/>
                  </a:lnTo>
                </a:path>
              </a:pathLst>
            </a:custGeom>
            <a:ln w="12699">
              <a:solidFill>
                <a:srgbClr val="BBE0E3"/>
              </a:solidFill>
            </a:ln>
          </p:spPr>
          <p:txBody>
            <a:bodyPr wrap="square" lIns="0" tIns="0" rIns="0" bIns="0" rtlCol="0"/>
            <a:lstStyle/>
            <a:p/>
          </p:txBody>
        </p:sp>
        <p:sp>
          <p:nvSpPr>
            <p:cNvPr id="40" name="object 40" descr=""/>
            <p:cNvSpPr/>
            <p:nvPr/>
          </p:nvSpPr>
          <p:spPr>
            <a:xfrm>
              <a:off x="9044880" y="1349649"/>
              <a:ext cx="0" cy="3541395"/>
            </a:xfrm>
            <a:custGeom>
              <a:avLst/>
              <a:gdLst/>
              <a:ahLst/>
              <a:cxnLst/>
              <a:rect l="l" t="t" r="r" b="b"/>
              <a:pathLst>
                <a:path w="0" h="3541395">
                  <a:moveTo>
                    <a:pt x="0" y="0"/>
                  </a:moveTo>
                  <a:lnTo>
                    <a:pt x="0" y="3541090"/>
                  </a:lnTo>
                </a:path>
              </a:pathLst>
            </a:custGeom>
            <a:ln w="12700">
              <a:solidFill>
                <a:srgbClr val="BBE0E3"/>
              </a:solidFill>
            </a:ln>
          </p:spPr>
          <p:txBody>
            <a:bodyPr wrap="square" lIns="0" tIns="0" rIns="0" bIns="0" rtlCol="0"/>
            <a:lstStyle/>
            <a:p/>
          </p:txBody>
        </p:sp>
        <p:sp>
          <p:nvSpPr>
            <p:cNvPr id="41" name="object 41" descr=""/>
            <p:cNvSpPr/>
            <p:nvPr/>
          </p:nvSpPr>
          <p:spPr>
            <a:xfrm>
              <a:off x="397569" y="1355999"/>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42" name="object 42" descr=""/>
            <p:cNvSpPr/>
            <p:nvPr/>
          </p:nvSpPr>
          <p:spPr>
            <a:xfrm>
              <a:off x="397569" y="4884394"/>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grpSp>
      <p:sp>
        <p:nvSpPr>
          <p:cNvPr id="43" name="object 43" descr=""/>
          <p:cNvSpPr txBox="1"/>
          <p:nvPr/>
        </p:nvSpPr>
        <p:spPr>
          <a:xfrm>
            <a:off x="796400" y="1449190"/>
            <a:ext cx="4878705" cy="238760"/>
          </a:xfrm>
          <a:prstGeom prst="rect">
            <a:avLst/>
          </a:prstGeom>
        </p:spPr>
        <p:txBody>
          <a:bodyPr wrap="square" lIns="0" tIns="12065" rIns="0" bIns="0" rtlCol="0" vert="horz">
            <a:spAutoFit/>
          </a:bodyPr>
          <a:lstStyle/>
          <a:p>
            <a:pPr marL="12700">
              <a:lnSpc>
                <a:spcPct val="100000"/>
              </a:lnSpc>
              <a:spcBef>
                <a:spcPts val="95"/>
              </a:spcBef>
              <a:tabLst>
                <a:tab pos="4154804" algn="l"/>
              </a:tabLst>
            </a:pPr>
            <a:r>
              <a:rPr dirty="0" sz="1400" spc="-20">
                <a:latin typeface="Microsoft YaHei"/>
                <a:cs typeface="Microsoft YaHei"/>
              </a:rPr>
              <a:t>编</a:t>
            </a:r>
            <a:r>
              <a:rPr dirty="0" sz="1400" spc="-50">
                <a:latin typeface="Microsoft YaHei"/>
                <a:cs typeface="Microsoft YaHei"/>
              </a:rPr>
              <a:t>号</a:t>
            </a:r>
            <a:r>
              <a:rPr dirty="0" sz="1400">
                <a:latin typeface="Microsoft YaHei"/>
                <a:cs typeface="Microsoft YaHei"/>
              </a:rPr>
              <a:t>	</a:t>
            </a:r>
            <a:r>
              <a:rPr dirty="0" sz="1400" spc="-20">
                <a:latin typeface="Microsoft YaHei"/>
                <a:cs typeface="Microsoft YaHei"/>
              </a:rPr>
              <a:t>检查项</a:t>
            </a:r>
            <a:r>
              <a:rPr dirty="0" sz="1400" spc="-50">
                <a:latin typeface="Microsoft YaHei"/>
                <a:cs typeface="Microsoft YaHei"/>
              </a:rPr>
              <a:t>目</a:t>
            </a:r>
            <a:endParaRPr sz="1400">
              <a:latin typeface="Microsoft YaHei"/>
              <a:cs typeface="Microsoft YaHei"/>
            </a:endParaRPr>
          </a:p>
        </p:txBody>
      </p:sp>
      <p:sp>
        <p:nvSpPr>
          <p:cNvPr id="44" name="object 44" descr=""/>
          <p:cNvSpPr txBox="1"/>
          <p:nvPr/>
        </p:nvSpPr>
        <p:spPr>
          <a:xfrm>
            <a:off x="481410" y="2387304"/>
            <a:ext cx="786765" cy="238760"/>
          </a:xfrm>
          <a:prstGeom prst="rect">
            <a:avLst/>
          </a:prstGeom>
        </p:spPr>
        <p:txBody>
          <a:bodyPr wrap="square" lIns="0" tIns="12065" rIns="0" bIns="0" rtlCol="0" vert="horz">
            <a:spAutoFit/>
          </a:bodyPr>
          <a:lstStyle/>
          <a:p>
            <a:pPr marL="38100">
              <a:lnSpc>
                <a:spcPct val="100000"/>
              </a:lnSpc>
              <a:spcBef>
                <a:spcPts val="95"/>
              </a:spcBef>
            </a:pPr>
            <a:r>
              <a:rPr dirty="0" sz="1400" spc="-330" b="1">
                <a:latin typeface="Microsoft YaHei"/>
                <a:cs typeface="Microsoft YaHei"/>
              </a:rPr>
              <a:t>硬件准</a:t>
            </a:r>
            <a:r>
              <a:rPr dirty="0" baseline="9920" sz="2100" spc="-15">
                <a:latin typeface="Microsoft YaHei"/>
                <a:cs typeface="Microsoft YaHei"/>
              </a:rPr>
              <a:t>2</a:t>
            </a:r>
            <a:r>
              <a:rPr dirty="0" baseline="9920" sz="2100" spc="-442">
                <a:latin typeface="Microsoft YaHei"/>
                <a:cs typeface="Microsoft YaHei"/>
              </a:rPr>
              <a:t> </a:t>
            </a:r>
            <a:r>
              <a:rPr dirty="0" sz="1400" spc="-50" b="1">
                <a:latin typeface="Microsoft YaHei"/>
                <a:cs typeface="Microsoft YaHei"/>
              </a:rPr>
              <a:t>备</a:t>
            </a:r>
            <a:endParaRPr sz="1400">
              <a:latin typeface="Microsoft YaHei"/>
              <a:cs typeface="Microsoft YaHei"/>
            </a:endParaRPr>
          </a:p>
        </p:txBody>
      </p:sp>
      <p:sp>
        <p:nvSpPr>
          <p:cNvPr id="45" name="object 45" descr=""/>
          <p:cNvSpPr txBox="1"/>
          <p:nvPr/>
        </p:nvSpPr>
        <p:spPr>
          <a:xfrm>
            <a:off x="1647733" y="2353610"/>
            <a:ext cx="203200" cy="238760"/>
          </a:xfrm>
          <a:prstGeom prst="rect">
            <a:avLst/>
          </a:prstGeom>
        </p:spPr>
        <p:txBody>
          <a:bodyPr wrap="square" lIns="0" tIns="12065" rIns="0" bIns="0" rtlCol="0" vert="horz">
            <a:spAutoFit/>
          </a:bodyPr>
          <a:lstStyle/>
          <a:p>
            <a:pPr marL="12700">
              <a:lnSpc>
                <a:spcPct val="100000"/>
              </a:lnSpc>
              <a:spcBef>
                <a:spcPts val="95"/>
              </a:spcBef>
            </a:pPr>
            <a:r>
              <a:rPr dirty="0" sz="1400" spc="-50">
                <a:latin typeface="Microsoft YaHei"/>
                <a:cs typeface="Microsoft YaHei"/>
              </a:rPr>
              <a:t>电</a:t>
            </a:r>
            <a:endParaRPr sz="1400">
              <a:latin typeface="Microsoft YaHei"/>
              <a:cs typeface="Microsoft YaHei"/>
            </a:endParaRPr>
          </a:p>
        </p:txBody>
      </p:sp>
      <p:sp>
        <p:nvSpPr>
          <p:cNvPr id="46" name="object 46" descr=""/>
          <p:cNvSpPr txBox="1"/>
          <p:nvPr/>
        </p:nvSpPr>
        <p:spPr>
          <a:xfrm>
            <a:off x="921392" y="2790905"/>
            <a:ext cx="129539" cy="238760"/>
          </a:xfrm>
          <a:prstGeom prst="rect">
            <a:avLst/>
          </a:prstGeom>
        </p:spPr>
        <p:txBody>
          <a:bodyPr wrap="square" lIns="0" tIns="12065" rIns="0" bIns="0" rtlCol="0" vert="horz">
            <a:spAutoFit/>
          </a:bodyPr>
          <a:lstStyle/>
          <a:p>
            <a:pPr marL="12700">
              <a:lnSpc>
                <a:spcPct val="100000"/>
              </a:lnSpc>
              <a:spcBef>
                <a:spcPts val="95"/>
              </a:spcBef>
            </a:pPr>
            <a:r>
              <a:rPr dirty="0" sz="1400" spc="-50">
                <a:latin typeface="Microsoft YaHei"/>
                <a:cs typeface="Microsoft YaHei"/>
              </a:rPr>
              <a:t>3</a:t>
            </a:r>
            <a:endParaRPr sz="1400">
              <a:latin typeface="Microsoft YaHei"/>
              <a:cs typeface="Microsoft YaHei"/>
            </a:endParaRPr>
          </a:p>
        </p:txBody>
      </p:sp>
      <p:sp>
        <p:nvSpPr>
          <p:cNvPr id="47" name="object 47" descr=""/>
          <p:cNvSpPr txBox="1"/>
          <p:nvPr/>
        </p:nvSpPr>
        <p:spPr>
          <a:xfrm>
            <a:off x="1551302" y="2878574"/>
            <a:ext cx="532130" cy="238760"/>
          </a:xfrm>
          <a:prstGeom prst="rect">
            <a:avLst/>
          </a:prstGeom>
        </p:spPr>
        <p:txBody>
          <a:bodyPr wrap="square" lIns="0" tIns="12065" rIns="0" bIns="0" rtlCol="0" vert="horz">
            <a:spAutoFit/>
          </a:bodyPr>
          <a:lstStyle/>
          <a:p>
            <a:pPr marL="38100">
              <a:lnSpc>
                <a:spcPct val="100000"/>
              </a:lnSpc>
              <a:spcBef>
                <a:spcPts val="95"/>
              </a:spcBef>
            </a:pPr>
            <a:r>
              <a:rPr dirty="0" sz="1400" spc="-810">
                <a:latin typeface="Microsoft YaHei"/>
                <a:cs typeface="Microsoft YaHei"/>
              </a:rPr>
              <a:t>M</a:t>
            </a:r>
            <a:r>
              <a:rPr dirty="0" baseline="27777" sz="2100" spc="-907">
                <a:latin typeface="Microsoft YaHei"/>
                <a:cs typeface="Microsoft YaHei"/>
              </a:rPr>
              <a:t>电</a:t>
            </a:r>
            <a:r>
              <a:rPr dirty="0" sz="1400" spc="-10">
                <a:latin typeface="Microsoft YaHei"/>
                <a:cs typeface="Microsoft YaHei"/>
              </a:rPr>
              <a:t>3</a:t>
            </a:r>
            <a:r>
              <a:rPr dirty="0" sz="1400" spc="-50">
                <a:latin typeface="Microsoft YaHei"/>
                <a:cs typeface="Microsoft YaHei"/>
              </a:rPr>
              <a:t>十</a:t>
            </a:r>
            <a:endParaRPr sz="1400">
              <a:latin typeface="Microsoft YaHei"/>
              <a:cs typeface="Microsoft YaHei"/>
            </a:endParaRPr>
          </a:p>
        </p:txBody>
      </p:sp>
      <p:sp>
        <p:nvSpPr>
          <p:cNvPr id="48" name="object 48" descr=""/>
          <p:cNvSpPr txBox="1"/>
          <p:nvPr/>
        </p:nvSpPr>
        <p:spPr>
          <a:xfrm>
            <a:off x="921392" y="3228201"/>
            <a:ext cx="129539" cy="238760"/>
          </a:xfrm>
          <a:prstGeom prst="rect">
            <a:avLst/>
          </a:prstGeom>
        </p:spPr>
        <p:txBody>
          <a:bodyPr wrap="square" lIns="0" tIns="12065" rIns="0" bIns="0" rtlCol="0" vert="horz">
            <a:spAutoFit/>
          </a:bodyPr>
          <a:lstStyle/>
          <a:p>
            <a:pPr marL="12700">
              <a:lnSpc>
                <a:spcPct val="100000"/>
              </a:lnSpc>
              <a:spcBef>
                <a:spcPts val="95"/>
              </a:spcBef>
            </a:pPr>
            <a:r>
              <a:rPr dirty="0" sz="1400" spc="-50">
                <a:latin typeface="Microsoft YaHei"/>
                <a:cs typeface="Microsoft YaHei"/>
              </a:rPr>
              <a:t>4</a:t>
            </a:r>
            <a:endParaRPr sz="1400">
              <a:latin typeface="Microsoft YaHei"/>
              <a:cs typeface="Microsoft YaHei"/>
            </a:endParaRPr>
          </a:p>
        </p:txBody>
      </p:sp>
      <p:sp>
        <p:nvSpPr>
          <p:cNvPr id="49" name="object 49" descr=""/>
          <p:cNvSpPr txBox="1"/>
          <p:nvPr/>
        </p:nvSpPr>
        <p:spPr>
          <a:xfrm>
            <a:off x="1551479" y="3205969"/>
            <a:ext cx="431800" cy="238760"/>
          </a:xfrm>
          <a:prstGeom prst="rect">
            <a:avLst/>
          </a:prstGeom>
        </p:spPr>
        <p:txBody>
          <a:bodyPr wrap="square" lIns="0" tIns="12065" rIns="0" bIns="0" rtlCol="0" vert="horz">
            <a:spAutoFit/>
          </a:bodyPr>
          <a:lstStyle/>
          <a:p>
            <a:pPr marL="38100">
              <a:lnSpc>
                <a:spcPct val="100000"/>
              </a:lnSpc>
              <a:spcBef>
                <a:spcPts val="95"/>
              </a:spcBef>
            </a:pPr>
            <a:r>
              <a:rPr dirty="0" sz="1400" spc="-860">
                <a:latin typeface="Microsoft YaHei"/>
                <a:cs typeface="Microsoft YaHei"/>
              </a:rPr>
              <a:t>电</a:t>
            </a:r>
            <a:r>
              <a:rPr dirty="0" baseline="-7936" sz="2100" spc="-862">
                <a:latin typeface="Microsoft YaHei"/>
                <a:cs typeface="Microsoft YaHei"/>
              </a:rPr>
              <a:t>电</a:t>
            </a:r>
            <a:r>
              <a:rPr dirty="0" sz="1400" spc="-50">
                <a:latin typeface="Microsoft YaHei"/>
                <a:cs typeface="Microsoft YaHei"/>
              </a:rPr>
              <a:t>源</a:t>
            </a:r>
            <a:endParaRPr sz="1400">
              <a:latin typeface="Microsoft YaHei"/>
              <a:cs typeface="Microsoft YaHei"/>
            </a:endParaRPr>
          </a:p>
        </p:txBody>
      </p:sp>
      <p:sp>
        <p:nvSpPr>
          <p:cNvPr id="50" name="object 50" descr=""/>
          <p:cNvSpPr txBox="1"/>
          <p:nvPr/>
        </p:nvSpPr>
        <p:spPr>
          <a:xfrm>
            <a:off x="921215" y="3665497"/>
            <a:ext cx="129539" cy="238760"/>
          </a:xfrm>
          <a:prstGeom prst="rect">
            <a:avLst/>
          </a:prstGeom>
        </p:spPr>
        <p:txBody>
          <a:bodyPr wrap="square" lIns="0" tIns="12065" rIns="0" bIns="0" rtlCol="0" vert="horz">
            <a:spAutoFit/>
          </a:bodyPr>
          <a:lstStyle/>
          <a:p>
            <a:pPr marL="12700">
              <a:lnSpc>
                <a:spcPct val="100000"/>
              </a:lnSpc>
              <a:spcBef>
                <a:spcPts val="95"/>
              </a:spcBef>
            </a:pPr>
            <a:r>
              <a:rPr dirty="0" sz="1400" spc="-50">
                <a:latin typeface="Microsoft YaHei"/>
                <a:cs typeface="Microsoft YaHei"/>
              </a:rPr>
              <a:t>5</a:t>
            </a:r>
            <a:endParaRPr sz="1400">
              <a:latin typeface="Microsoft YaHei"/>
              <a:cs typeface="Microsoft YaHei"/>
            </a:endParaRPr>
          </a:p>
        </p:txBody>
      </p:sp>
      <p:sp>
        <p:nvSpPr>
          <p:cNvPr id="51" name="object 51" descr=""/>
          <p:cNvSpPr txBox="1"/>
          <p:nvPr/>
        </p:nvSpPr>
        <p:spPr>
          <a:xfrm>
            <a:off x="1647556" y="3665497"/>
            <a:ext cx="203200" cy="238760"/>
          </a:xfrm>
          <a:prstGeom prst="rect">
            <a:avLst/>
          </a:prstGeom>
        </p:spPr>
        <p:txBody>
          <a:bodyPr wrap="square" lIns="0" tIns="12065" rIns="0" bIns="0" rtlCol="0" vert="horz">
            <a:spAutoFit/>
          </a:bodyPr>
          <a:lstStyle/>
          <a:p>
            <a:pPr marL="12700">
              <a:lnSpc>
                <a:spcPct val="100000"/>
              </a:lnSpc>
              <a:spcBef>
                <a:spcPts val="95"/>
              </a:spcBef>
            </a:pPr>
            <a:r>
              <a:rPr dirty="0" sz="1400" spc="-50">
                <a:latin typeface="Microsoft YaHei"/>
                <a:cs typeface="Microsoft YaHei"/>
              </a:rPr>
              <a:t>光</a:t>
            </a:r>
            <a:endParaRPr sz="1400">
              <a:latin typeface="Microsoft YaHei"/>
              <a:cs typeface="Microsoft YaHei"/>
            </a:endParaRPr>
          </a:p>
        </p:txBody>
      </p:sp>
      <p:sp>
        <p:nvSpPr>
          <p:cNvPr id="52" name="object 52" descr=""/>
          <p:cNvSpPr txBox="1"/>
          <p:nvPr/>
        </p:nvSpPr>
        <p:spPr>
          <a:xfrm>
            <a:off x="469065" y="3860759"/>
            <a:ext cx="1501140" cy="402590"/>
          </a:xfrm>
          <a:prstGeom prst="rect">
            <a:avLst/>
          </a:prstGeom>
        </p:spPr>
        <p:txBody>
          <a:bodyPr wrap="square" lIns="0" tIns="12065" rIns="0" bIns="0" rtlCol="0" vert="horz">
            <a:spAutoFit/>
          </a:bodyPr>
          <a:lstStyle/>
          <a:p>
            <a:pPr algn="r" marR="17780">
              <a:lnSpc>
                <a:spcPts val="1485"/>
              </a:lnSpc>
              <a:spcBef>
                <a:spcPts val="95"/>
              </a:spcBef>
            </a:pPr>
            <a:r>
              <a:rPr dirty="0" sz="1400" spc="-35">
                <a:latin typeface="Microsoft YaHei"/>
                <a:cs typeface="Microsoft YaHei"/>
              </a:rPr>
              <a:t>基站</a:t>
            </a:r>
            <a:endParaRPr sz="1400">
              <a:latin typeface="Microsoft YaHei"/>
              <a:cs typeface="Microsoft YaHei"/>
            </a:endParaRPr>
          </a:p>
          <a:p>
            <a:pPr marL="50800">
              <a:lnSpc>
                <a:spcPts val="1485"/>
              </a:lnSpc>
            </a:pPr>
            <a:r>
              <a:rPr dirty="0" sz="1400" spc="-335" b="1">
                <a:latin typeface="Microsoft YaHei"/>
                <a:cs typeface="Microsoft YaHei"/>
              </a:rPr>
              <a:t>软件准</a:t>
            </a:r>
            <a:r>
              <a:rPr dirty="0" baseline="-23809" sz="2100" spc="-15">
                <a:latin typeface="Microsoft YaHei"/>
                <a:cs typeface="Microsoft YaHei"/>
              </a:rPr>
              <a:t>6</a:t>
            </a:r>
            <a:r>
              <a:rPr dirty="0" baseline="-23809" sz="2100" spc="-442">
                <a:latin typeface="Microsoft YaHei"/>
                <a:cs typeface="Microsoft YaHei"/>
              </a:rPr>
              <a:t> </a:t>
            </a:r>
            <a:r>
              <a:rPr dirty="0" sz="1400" spc="-50" b="1">
                <a:latin typeface="Microsoft YaHei"/>
                <a:cs typeface="Microsoft YaHei"/>
              </a:rPr>
              <a:t>备</a:t>
            </a:r>
            <a:endParaRPr sz="1400">
              <a:latin typeface="Microsoft YaHei"/>
              <a:cs typeface="Microsoft YaHei"/>
            </a:endParaRPr>
          </a:p>
        </p:txBody>
      </p:sp>
      <p:sp>
        <p:nvSpPr>
          <p:cNvPr id="53" name="object 53" descr=""/>
          <p:cNvSpPr txBox="1"/>
          <p:nvPr/>
        </p:nvSpPr>
        <p:spPr>
          <a:xfrm>
            <a:off x="1551479" y="4188154"/>
            <a:ext cx="431800" cy="238760"/>
          </a:xfrm>
          <a:prstGeom prst="rect">
            <a:avLst/>
          </a:prstGeom>
        </p:spPr>
        <p:txBody>
          <a:bodyPr wrap="square" lIns="0" tIns="12065" rIns="0" bIns="0" rtlCol="0" vert="horz">
            <a:spAutoFit/>
          </a:bodyPr>
          <a:lstStyle/>
          <a:p>
            <a:pPr marL="38100">
              <a:lnSpc>
                <a:spcPct val="100000"/>
              </a:lnSpc>
              <a:spcBef>
                <a:spcPts val="95"/>
              </a:spcBef>
            </a:pPr>
            <a:r>
              <a:rPr dirty="0" sz="1400" spc="-860">
                <a:latin typeface="Microsoft YaHei"/>
                <a:cs typeface="Microsoft YaHei"/>
              </a:rPr>
              <a:t>基</a:t>
            </a:r>
            <a:r>
              <a:rPr dirty="0" baseline="25793" sz="2100" spc="-862">
                <a:latin typeface="Microsoft YaHei"/>
                <a:cs typeface="Microsoft YaHei"/>
              </a:rPr>
              <a:t>所</a:t>
            </a:r>
            <a:r>
              <a:rPr dirty="0" sz="1400" spc="-50">
                <a:latin typeface="Microsoft YaHei"/>
                <a:cs typeface="Microsoft YaHei"/>
              </a:rPr>
              <a:t>站</a:t>
            </a:r>
            <a:endParaRPr sz="1400">
              <a:latin typeface="Microsoft YaHei"/>
              <a:cs typeface="Microsoft YaHei"/>
            </a:endParaRPr>
          </a:p>
        </p:txBody>
      </p:sp>
      <p:sp>
        <p:nvSpPr>
          <p:cNvPr id="54" name="object 54" descr=""/>
          <p:cNvSpPr txBox="1"/>
          <p:nvPr/>
        </p:nvSpPr>
        <p:spPr>
          <a:xfrm>
            <a:off x="921215" y="4540088"/>
            <a:ext cx="129539" cy="238760"/>
          </a:xfrm>
          <a:prstGeom prst="rect">
            <a:avLst/>
          </a:prstGeom>
        </p:spPr>
        <p:txBody>
          <a:bodyPr wrap="square" lIns="0" tIns="12065" rIns="0" bIns="0" rtlCol="0" vert="horz">
            <a:spAutoFit/>
          </a:bodyPr>
          <a:lstStyle/>
          <a:p>
            <a:pPr marL="12700">
              <a:lnSpc>
                <a:spcPct val="100000"/>
              </a:lnSpc>
              <a:spcBef>
                <a:spcPts val="95"/>
              </a:spcBef>
            </a:pPr>
            <a:r>
              <a:rPr dirty="0" sz="1400" spc="-50">
                <a:latin typeface="Microsoft YaHei"/>
                <a:cs typeface="Microsoft YaHei"/>
              </a:rPr>
              <a:t>7</a:t>
            </a:r>
            <a:endParaRPr sz="1400">
              <a:latin typeface="Microsoft YaHei"/>
              <a:cs typeface="Microsoft YaHei"/>
            </a:endParaRPr>
          </a:p>
        </p:txBody>
      </p:sp>
      <p:sp>
        <p:nvSpPr>
          <p:cNvPr id="55" name="object 55" descr=""/>
          <p:cNvSpPr txBox="1"/>
          <p:nvPr/>
        </p:nvSpPr>
        <p:spPr>
          <a:xfrm>
            <a:off x="1551302" y="4515548"/>
            <a:ext cx="431800" cy="238760"/>
          </a:xfrm>
          <a:prstGeom prst="rect">
            <a:avLst/>
          </a:prstGeom>
        </p:spPr>
        <p:txBody>
          <a:bodyPr wrap="square" lIns="0" tIns="12065" rIns="0" bIns="0" rtlCol="0" vert="horz">
            <a:spAutoFit/>
          </a:bodyPr>
          <a:lstStyle/>
          <a:p>
            <a:pPr marL="38100">
              <a:lnSpc>
                <a:spcPct val="100000"/>
              </a:lnSpc>
              <a:spcBef>
                <a:spcPts val="95"/>
              </a:spcBef>
            </a:pPr>
            <a:r>
              <a:rPr dirty="0" sz="1400" spc="-860">
                <a:latin typeface="Microsoft YaHei"/>
                <a:cs typeface="Microsoft YaHei"/>
              </a:rPr>
              <a:t>基</a:t>
            </a:r>
            <a:r>
              <a:rPr dirty="0" baseline="-7936" sz="2100" spc="-862">
                <a:latin typeface="Microsoft YaHei"/>
                <a:cs typeface="Microsoft YaHei"/>
              </a:rPr>
              <a:t>接</a:t>
            </a:r>
            <a:r>
              <a:rPr dirty="0" sz="1400" spc="-50">
                <a:latin typeface="Microsoft YaHei"/>
                <a:cs typeface="Microsoft YaHei"/>
              </a:rPr>
              <a:t>站</a:t>
            </a:r>
            <a:endParaRPr sz="1400">
              <a:latin typeface="Microsoft YaHei"/>
              <a:cs typeface="Microsoft YaHei"/>
            </a:endParaRPr>
          </a:p>
        </p:txBody>
      </p:sp>
      <p:sp>
        <p:nvSpPr>
          <p:cNvPr id="56" name="object 56" descr=""/>
          <p:cNvSpPr txBox="1"/>
          <p:nvPr/>
        </p:nvSpPr>
        <p:spPr>
          <a:xfrm>
            <a:off x="1837801" y="2355993"/>
            <a:ext cx="5852795" cy="2421255"/>
          </a:xfrm>
          <a:prstGeom prst="rect">
            <a:avLst/>
          </a:prstGeom>
        </p:spPr>
        <p:txBody>
          <a:bodyPr wrap="square" lIns="0" tIns="10160" rIns="0" bIns="0" rtlCol="0" vert="horz">
            <a:spAutoFit/>
          </a:bodyPr>
          <a:lstStyle/>
          <a:p>
            <a:pPr>
              <a:lnSpc>
                <a:spcPts val="1620"/>
              </a:lnSpc>
              <a:spcBef>
                <a:spcPts val="80"/>
              </a:spcBef>
            </a:pPr>
            <a:r>
              <a:rPr dirty="0" sz="1400" spc="-25">
                <a:latin typeface="Microsoft YaHei"/>
                <a:cs typeface="Microsoft YaHei"/>
              </a:rPr>
              <a:t>源线用线颜色应当规范，安全标识应当齐全</a:t>
            </a:r>
            <a:endParaRPr sz="1400">
              <a:latin typeface="Microsoft YaHei"/>
              <a:cs typeface="Microsoft YaHei"/>
            </a:endParaRPr>
          </a:p>
          <a:p>
            <a:pPr marL="106680">
              <a:lnSpc>
                <a:spcPts val="1620"/>
              </a:lnSpc>
              <a:tabLst>
                <a:tab pos="4237990" algn="l"/>
              </a:tabLst>
            </a:pPr>
            <a:r>
              <a:rPr dirty="0" sz="1400" spc="-20">
                <a:latin typeface="Microsoft YaHei"/>
                <a:cs typeface="Microsoft YaHei"/>
              </a:rPr>
              <a:t>钳</a:t>
            </a:r>
            <a:r>
              <a:rPr dirty="0" sz="1400" spc="-10">
                <a:latin typeface="Microsoft YaHei"/>
                <a:cs typeface="Microsoft YaHei"/>
              </a:rPr>
              <a:t>1</a:t>
            </a:r>
            <a:r>
              <a:rPr dirty="0" sz="1400" spc="-50">
                <a:latin typeface="Microsoft YaHei"/>
                <a:cs typeface="Microsoft YaHei"/>
              </a:rPr>
              <a:t>把</a:t>
            </a:r>
            <a:r>
              <a:rPr dirty="0" sz="1400">
                <a:latin typeface="Microsoft YaHei"/>
                <a:cs typeface="Microsoft YaHei"/>
              </a:rPr>
              <a:t>	</a:t>
            </a:r>
            <a:r>
              <a:rPr dirty="0" sz="1400" spc="-20">
                <a:latin typeface="Microsoft YaHei"/>
                <a:cs typeface="Microsoft YaHei"/>
              </a:rPr>
              <a:t>绑扎线缆时</a:t>
            </a:r>
            <a:r>
              <a:rPr dirty="0" sz="1400" spc="-50">
                <a:latin typeface="Microsoft YaHei"/>
                <a:cs typeface="Microsoft YaHei"/>
              </a:rPr>
              <a:t>用</a:t>
            </a:r>
            <a:endParaRPr sz="1400">
              <a:latin typeface="Microsoft YaHei"/>
              <a:cs typeface="Microsoft YaHei"/>
            </a:endParaRPr>
          </a:p>
          <a:p>
            <a:pPr>
              <a:lnSpc>
                <a:spcPct val="100000"/>
              </a:lnSpc>
              <a:spcBef>
                <a:spcPts val="204"/>
              </a:spcBef>
              <a:tabLst>
                <a:tab pos="4237990" algn="l"/>
              </a:tabLst>
            </a:pPr>
            <a:r>
              <a:rPr dirty="0" sz="1400" spc="-20">
                <a:latin typeface="Microsoft YaHei"/>
                <a:cs typeface="Microsoft YaHei"/>
              </a:rPr>
              <a:t>源</a:t>
            </a:r>
            <a:r>
              <a:rPr dirty="0" sz="1400" spc="-1185">
                <a:latin typeface="Microsoft YaHei"/>
                <a:cs typeface="Microsoft YaHei"/>
              </a:rPr>
              <a:t>线</a:t>
            </a:r>
            <a:r>
              <a:rPr dirty="0" baseline="-27777" sz="2100" spc="-382">
                <a:latin typeface="Microsoft YaHei"/>
                <a:cs typeface="Microsoft YaHei"/>
              </a:rPr>
              <a:t>字</a:t>
            </a:r>
            <a:r>
              <a:rPr dirty="0" sz="1400" spc="-1185">
                <a:latin typeface="Microsoft YaHei"/>
                <a:cs typeface="Microsoft YaHei"/>
              </a:rPr>
              <a:t>各</a:t>
            </a:r>
            <a:r>
              <a:rPr dirty="0" baseline="-27777" sz="2100" spc="-382">
                <a:latin typeface="Microsoft YaHei"/>
                <a:cs typeface="Microsoft YaHei"/>
              </a:rPr>
              <a:t>口</a:t>
            </a:r>
            <a:r>
              <a:rPr dirty="0" sz="1400" spc="-1185">
                <a:latin typeface="Microsoft YaHei"/>
                <a:cs typeface="Microsoft YaHei"/>
              </a:rPr>
              <a:t>连</a:t>
            </a:r>
            <a:r>
              <a:rPr dirty="0" baseline="-27777" sz="2100" spc="-382">
                <a:latin typeface="Microsoft YaHei"/>
                <a:cs typeface="Microsoft YaHei"/>
              </a:rPr>
              <a:t>螺</a:t>
            </a:r>
            <a:r>
              <a:rPr dirty="0" sz="1400" spc="-1185">
                <a:latin typeface="Microsoft YaHei"/>
                <a:cs typeface="Microsoft YaHei"/>
              </a:rPr>
              <a:t>接</a:t>
            </a:r>
            <a:r>
              <a:rPr dirty="0" baseline="-27777" sz="2100" spc="-382">
                <a:latin typeface="Microsoft YaHei"/>
                <a:cs typeface="Microsoft YaHei"/>
              </a:rPr>
              <a:t>丝</a:t>
            </a:r>
            <a:r>
              <a:rPr dirty="0" sz="1400" spc="-1185">
                <a:latin typeface="Microsoft YaHei"/>
                <a:cs typeface="Microsoft YaHei"/>
              </a:rPr>
              <a:t>点</a:t>
            </a:r>
            <a:r>
              <a:rPr dirty="0" baseline="-27777" sz="2100" spc="-382">
                <a:latin typeface="Microsoft YaHei"/>
                <a:cs typeface="Microsoft YaHei"/>
              </a:rPr>
              <a:t>刀</a:t>
            </a:r>
            <a:r>
              <a:rPr dirty="0" sz="1400" spc="-1185">
                <a:latin typeface="Microsoft YaHei"/>
                <a:cs typeface="Microsoft YaHei"/>
              </a:rPr>
              <a:t>应</a:t>
            </a:r>
            <a:r>
              <a:rPr dirty="0" baseline="-27777" sz="2100" spc="-15">
                <a:latin typeface="Microsoft YaHei"/>
                <a:cs typeface="Microsoft YaHei"/>
              </a:rPr>
              <a:t>1</a:t>
            </a:r>
            <a:r>
              <a:rPr dirty="0" baseline="-27777" sz="2100" spc="-1612">
                <a:latin typeface="Microsoft YaHei"/>
                <a:cs typeface="Microsoft YaHei"/>
              </a:rPr>
              <a:t>把</a:t>
            </a:r>
            <a:r>
              <a:rPr dirty="0" sz="1400" spc="-20">
                <a:latin typeface="Microsoft YaHei"/>
                <a:cs typeface="Microsoft YaHei"/>
              </a:rPr>
              <a:t>当稳固，线序、</a:t>
            </a:r>
            <a:r>
              <a:rPr dirty="0" sz="1400" spc="-10">
                <a:latin typeface="Microsoft YaHei"/>
                <a:cs typeface="Microsoft YaHei"/>
              </a:rPr>
              <a:t>极</a:t>
            </a:r>
            <a:r>
              <a:rPr dirty="0" sz="1400" spc="-20">
                <a:latin typeface="Microsoft YaHei"/>
                <a:cs typeface="Microsoft YaHei"/>
              </a:rPr>
              <a:t>性应</a:t>
            </a:r>
            <a:r>
              <a:rPr dirty="0" sz="1400" spc="-10">
                <a:latin typeface="Microsoft YaHei"/>
                <a:cs typeface="Microsoft YaHei"/>
              </a:rPr>
              <a:t>当</a:t>
            </a:r>
            <a:r>
              <a:rPr dirty="0" sz="1400" spc="-20">
                <a:latin typeface="Microsoft YaHei"/>
                <a:cs typeface="Microsoft YaHei"/>
              </a:rPr>
              <a:t>正</a:t>
            </a:r>
            <a:r>
              <a:rPr dirty="0" sz="1400" spc="-50">
                <a:latin typeface="Microsoft YaHei"/>
                <a:cs typeface="Microsoft YaHei"/>
              </a:rPr>
              <a:t>确</a:t>
            </a:r>
            <a:r>
              <a:rPr dirty="0" sz="1400">
                <a:latin typeface="Microsoft YaHei"/>
                <a:cs typeface="Microsoft YaHei"/>
              </a:rPr>
              <a:t>	</a:t>
            </a:r>
            <a:r>
              <a:rPr dirty="0" baseline="-27777" sz="2100" spc="-30">
                <a:latin typeface="Microsoft YaHei"/>
                <a:cs typeface="Microsoft YaHei"/>
              </a:rPr>
              <a:t>拆装板卡</a:t>
            </a:r>
            <a:r>
              <a:rPr dirty="0" baseline="-27777" sz="2100" spc="-75">
                <a:latin typeface="Microsoft YaHei"/>
                <a:cs typeface="Microsoft YaHei"/>
              </a:rPr>
              <a:t>用</a:t>
            </a:r>
            <a:endParaRPr baseline="-27777" sz="2100">
              <a:latin typeface="Microsoft YaHei"/>
              <a:cs typeface="Microsoft YaHei"/>
            </a:endParaRPr>
          </a:p>
          <a:p>
            <a:pPr>
              <a:lnSpc>
                <a:spcPct val="100000"/>
              </a:lnSpc>
              <a:spcBef>
                <a:spcPts val="1764"/>
              </a:spcBef>
            </a:pPr>
            <a:r>
              <a:rPr dirty="0" sz="1400" spc="-575">
                <a:latin typeface="Microsoft YaHei"/>
                <a:cs typeface="Microsoft YaHei"/>
              </a:rPr>
              <a:t>气</a:t>
            </a:r>
            <a:r>
              <a:rPr dirty="0" baseline="7936" sz="2100" spc="-1289">
                <a:latin typeface="Microsoft YaHei"/>
                <a:cs typeface="Microsoft YaHei"/>
              </a:rPr>
              <a:t>接</a:t>
            </a:r>
            <a:r>
              <a:rPr dirty="0" sz="1400" spc="-575">
                <a:latin typeface="Microsoft YaHei"/>
                <a:cs typeface="Microsoft YaHei"/>
              </a:rPr>
              <a:t>部</a:t>
            </a:r>
            <a:r>
              <a:rPr dirty="0" baseline="7936" sz="2100" spc="-1289">
                <a:latin typeface="Microsoft YaHei"/>
                <a:cs typeface="Microsoft YaHei"/>
              </a:rPr>
              <a:t>线</a:t>
            </a:r>
            <a:r>
              <a:rPr dirty="0" sz="1400" spc="-575">
                <a:latin typeface="Microsoft YaHei"/>
                <a:cs typeface="Microsoft YaHei"/>
              </a:rPr>
              <a:t>件</a:t>
            </a:r>
            <a:r>
              <a:rPr dirty="0" baseline="7936" sz="2100" spc="-1289">
                <a:latin typeface="Microsoft YaHei"/>
                <a:cs typeface="Microsoft YaHei"/>
              </a:rPr>
              <a:t>板</a:t>
            </a:r>
            <a:r>
              <a:rPr dirty="0" sz="1400" spc="-575">
                <a:latin typeface="Microsoft YaHei"/>
                <a:cs typeface="Microsoft YaHei"/>
              </a:rPr>
              <a:t>连</a:t>
            </a:r>
            <a:r>
              <a:rPr dirty="0" baseline="7936" sz="2100" spc="-412">
                <a:latin typeface="Microsoft YaHei"/>
                <a:cs typeface="Microsoft YaHei"/>
              </a:rPr>
              <a:t>1</a:t>
            </a:r>
            <a:r>
              <a:rPr dirty="0" sz="1400" spc="-1150">
                <a:latin typeface="Microsoft YaHei"/>
                <a:cs typeface="Microsoft YaHei"/>
              </a:rPr>
              <a:t>接</a:t>
            </a:r>
            <a:r>
              <a:rPr dirty="0" baseline="7936" sz="2100" spc="-419">
                <a:latin typeface="Microsoft YaHei"/>
                <a:cs typeface="Microsoft YaHei"/>
              </a:rPr>
              <a:t>个</a:t>
            </a:r>
            <a:r>
              <a:rPr dirty="0" sz="1400" spc="-20">
                <a:latin typeface="Microsoft YaHei"/>
                <a:cs typeface="Microsoft YaHei"/>
              </a:rPr>
              <a:t>应当牢靠，重点检查传输线、</a:t>
            </a:r>
            <a:r>
              <a:rPr dirty="0" sz="1400" spc="-10">
                <a:latin typeface="Microsoft YaHei"/>
                <a:cs typeface="Microsoft YaHei"/>
              </a:rPr>
              <a:t>GPS</a:t>
            </a:r>
            <a:r>
              <a:rPr dirty="0" sz="1400" spc="-25">
                <a:latin typeface="Microsoft YaHei"/>
                <a:cs typeface="Microsoft YaHei"/>
              </a:rPr>
              <a:t>馈线接头等处</a:t>
            </a:r>
            <a:endParaRPr sz="1400">
              <a:latin typeface="Microsoft YaHei"/>
              <a:cs typeface="Microsoft YaHei"/>
            </a:endParaRPr>
          </a:p>
          <a:p>
            <a:pPr marR="8255" indent="106680">
              <a:lnSpc>
                <a:spcPct val="61900"/>
              </a:lnSpc>
              <a:spcBef>
                <a:spcPts val="1360"/>
              </a:spcBef>
              <a:tabLst>
                <a:tab pos="4237990" algn="l"/>
              </a:tabLst>
            </a:pPr>
            <a:r>
              <a:rPr dirty="0" sz="1400" spc="-20">
                <a:latin typeface="Microsoft YaHei"/>
                <a:cs typeface="Microsoft YaHei"/>
              </a:rPr>
              <a:t>维护软</a:t>
            </a:r>
            <a:r>
              <a:rPr dirty="0" sz="1400">
                <a:latin typeface="Microsoft YaHei"/>
                <a:cs typeface="Microsoft YaHei"/>
              </a:rPr>
              <a:t>件</a:t>
            </a:r>
            <a:r>
              <a:rPr dirty="0" sz="1400" spc="5">
                <a:latin typeface="Microsoft YaHei"/>
                <a:cs typeface="Microsoft YaHei"/>
              </a:rPr>
              <a:t> </a:t>
            </a:r>
            <a:r>
              <a:rPr dirty="0" sz="1400" spc="-10">
                <a:latin typeface="Microsoft YaHei"/>
                <a:cs typeface="Microsoft YaHei"/>
              </a:rPr>
              <a:t>LMT_LTE</a:t>
            </a:r>
            <a:r>
              <a:rPr dirty="0" sz="1400">
                <a:latin typeface="Microsoft YaHei"/>
                <a:cs typeface="Microsoft YaHei"/>
              </a:rPr>
              <a:t>	</a:t>
            </a:r>
            <a:r>
              <a:rPr dirty="0" sz="1400" spc="-20">
                <a:latin typeface="Microsoft YaHei"/>
                <a:cs typeface="Microsoft YaHei"/>
              </a:rPr>
              <a:t>必需，开通调测使</a:t>
            </a:r>
            <a:r>
              <a:rPr dirty="0" sz="1400" spc="-50">
                <a:latin typeface="Microsoft YaHei"/>
                <a:cs typeface="Microsoft YaHei"/>
              </a:rPr>
              <a:t>用</a:t>
            </a:r>
            <a:r>
              <a:rPr dirty="0" sz="1400" spc="-20">
                <a:latin typeface="Microsoft YaHei"/>
                <a:cs typeface="Microsoft YaHei"/>
              </a:rPr>
              <a:t>缆接口与扇区应当一一对应，光</a:t>
            </a:r>
            <a:r>
              <a:rPr dirty="0" sz="1400" spc="-10">
                <a:latin typeface="Microsoft YaHei"/>
                <a:cs typeface="Microsoft YaHei"/>
              </a:rPr>
              <a:t>纤</a:t>
            </a:r>
            <a:r>
              <a:rPr dirty="0" sz="1400" spc="-20">
                <a:latin typeface="Microsoft YaHei"/>
                <a:cs typeface="Microsoft YaHei"/>
              </a:rPr>
              <a:t>连接</a:t>
            </a:r>
            <a:r>
              <a:rPr dirty="0" sz="1400" spc="-10">
                <a:latin typeface="Microsoft YaHei"/>
                <a:cs typeface="Microsoft YaHei"/>
              </a:rPr>
              <a:t>应</a:t>
            </a:r>
            <a:r>
              <a:rPr dirty="0" sz="1400" spc="-20">
                <a:latin typeface="Microsoft YaHei"/>
                <a:cs typeface="Microsoft YaHei"/>
              </a:rPr>
              <a:t>当正</a:t>
            </a:r>
            <a:r>
              <a:rPr dirty="0" sz="1400" spc="-50">
                <a:latin typeface="Microsoft YaHei"/>
                <a:cs typeface="Microsoft YaHei"/>
              </a:rPr>
              <a:t>常</a:t>
            </a:r>
            <a:endParaRPr sz="1400">
              <a:latin typeface="Microsoft YaHei"/>
              <a:cs typeface="Microsoft YaHei"/>
            </a:endParaRPr>
          </a:p>
          <a:p>
            <a:pPr marL="106680">
              <a:lnSpc>
                <a:spcPts val="1535"/>
              </a:lnSpc>
              <a:tabLst>
                <a:tab pos="4237990" algn="l"/>
              </a:tabLst>
            </a:pPr>
            <a:r>
              <a:rPr dirty="0" sz="1400" spc="-20">
                <a:latin typeface="Microsoft YaHei"/>
                <a:cs typeface="Microsoft YaHei"/>
              </a:rPr>
              <a:t>软件</a:t>
            </a:r>
            <a:r>
              <a:rPr dirty="0" sz="1400" spc="-50">
                <a:latin typeface="Microsoft YaHei"/>
                <a:cs typeface="Microsoft YaHei"/>
              </a:rPr>
              <a:t>包</a:t>
            </a:r>
            <a:r>
              <a:rPr dirty="0" sz="1400">
                <a:latin typeface="Microsoft YaHei"/>
                <a:cs typeface="Microsoft YaHei"/>
              </a:rPr>
              <a:t>	</a:t>
            </a:r>
            <a:r>
              <a:rPr dirty="0" sz="1400" spc="-20">
                <a:latin typeface="Microsoft YaHei"/>
                <a:cs typeface="Microsoft YaHei"/>
              </a:rPr>
              <a:t>匹配版本的升级</a:t>
            </a:r>
            <a:r>
              <a:rPr dirty="0" sz="1400" spc="-50">
                <a:latin typeface="Microsoft YaHei"/>
                <a:cs typeface="Microsoft YaHei"/>
              </a:rPr>
              <a:t>包</a:t>
            </a:r>
            <a:endParaRPr sz="1400">
              <a:latin typeface="Microsoft YaHei"/>
              <a:cs typeface="Microsoft YaHei"/>
            </a:endParaRPr>
          </a:p>
          <a:p>
            <a:pPr>
              <a:lnSpc>
                <a:spcPts val="2770"/>
              </a:lnSpc>
              <a:tabLst>
                <a:tab pos="4237990" algn="l"/>
              </a:tabLst>
            </a:pPr>
            <a:r>
              <a:rPr dirty="0" baseline="25793" sz="2100" spc="-862">
                <a:latin typeface="Microsoft YaHei"/>
                <a:cs typeface="Microsoft YaHei"/>
              </a:rPr>
              <a:t>有</a:t>
            </a:r>
            <a:r>
              <a:rPr dirty="0" sz="1400" spc="-860">
                <a:latin typeface="Microsoft YaHei"/>
                <a:cs typeface="Microsoft YaHei"/>
              </a:rPr>
              <a:t>配</a:t>
            </a:r>
            <a:r>
              <a:rPr dirty="0" baseline="25793" sz="2100" spc="-862">
                <a:latin typeface="Microsoft YaHei"/>
                <a:cs typeface="Microsoft YaHei"/>
              </a:rPr>
              <a:t>空</a:t>
            </a:r>
            <a:r>
              <a:rPr dirty="0" sz="1400" spc="-860">
                <a:latin typeface="Microsoft YaHei"/>
                <a:cs typeface="Microsoft YaHei"/>
              </a:rPr>
              <a:t>置</a:t>
            </a:r>
            <a:r>
              <a:rPr dirty="0" baseline="25793" sz="2100" spc="-862">
                <a:latin typeface="Microsoft YaHei"/>
                <a:cs typeface="Microsoft YaHei"/>
              </a:rPr>
              <a:t>开</a:t>
            </a:r>
            <a:r>
              <a:rPr dirty="0" sz="1400" spc="-860">
                <a:latin typeface="Microsoft YaHei"/>
                <a:cs typeface="Microsoft YaHei"/>
              </a:rPr>
              <a:t>文</a:t>
            </a:r>
            <a:r>
              <a:rPr dirty="0" baseline="25793" sz="2100" spc="-862">
                <a:latin typeface="Microsoft YaHei"/>
                <a:cs typeface="Microsoft YaHei"/>
              </a:rPr>
              <a:t>应</a:t>
            </a:r>
            <a:r>
              <a:rPr dirty="0" sz="1400" spc="-860">
                <a:latin typeface="Microsoft YaHei"/>
                <a:cs typeface="Microsoft YaHei"/>
              </a:rPr>
              <a:t>件</a:t>
            </a:r>
            <a:r>
              <a:rPr dirty="0" baseline="25793" sz="2100" spc="-862">
                <a:latin typeface="Microsoft YaHei"/>
                <a:cs typeface="Microsoft YaHei"/>
              </a:rPr>
              <a:t>当</a:t>
            </a:r>
            <a:r>
              <a:rPr dirty="0" sz="1400" spc="-860">
                <a:latin typeface="Microsoft YaHei"/>
                <a:cs typeface="Microsoft YaHei"/>
              </a:rPr>
              <a:t>模</a:t>
            </a:r>
            <a:r>
              <a:rPr dirty="0" baseline="25793" sz="2100" spc="-862">
                <a:latin typeface="Microsoft YaHei"/>
                <a:cs typeface="Microsoft YaHei"/>
              </a:rPr>
              <a:t>处</a:t>
            </a:r>
            <a:r>
              <a:rPr dirty="0" sz="1400" spc="-860">
                <a:latin typeface="Microsoft YaHei"/>
                <a:cs typeface="Microsoft YaHei"/>
              </a:rPr>
              <a:t>板</a:t>
            </a:r>
            <a:r>
              <a:rPr dirty="0" baseline="25793" sz="2100" spc="-30">
                <a:latin typeface="Microsoft YaHei"/>
                <a:cs typeface="Microsoft YaHei"/>
              </a:rPr>
              <a:t>于闭合状</a:t>
            </a:r>
            <a:r>
              <a:rPr dirty="0" baseline="25793" sz="2100" spc="-75">
                <a:latin typeface="Microsoft YaHei"/>
                <a:cs typeface="Microsoft YaHei"/>
              </a:rPr>
              <a:t>态</a:t>
            </a:r>
            <a:r>
              <a:rPr dirty="0" baseline="25793" sz="2100">
                <a:latin typeface="Microsoft YaHei"/>
                <a:cs typeface="Microsoft YaHei"/>
              </a:rPr>
              <a:t>	</a:t>
            </a:r>
            <a:r>
              <a:rPr dirty="0" sz="1400" spc="-20">
                <a:latin typeface="Microsoft YaHei"/>
                <a:cs typeface="Microsoft YaHei"/>
              </a:rPr>
              <a:t>版本匹配，格式为</a:t>
            </a:r>
            <a:r>
              <a:rPr dirty="0" sz="1400" spc="-25">
                <a:latin typeface="Microsoft YaHei"/>
                <a:cs typeface="Microsoft YaHei"/>
              </a:rPr>
              <a:t>.cf</a:t>
            </a:r>
            <a:r>
              <a:rPr dirty="0" sz="1400" spc="-575">
                <a:latin typeface="Microsoft YaHei"/>
                <a:cs typeface="Microsoft YaHei"/>
              </a:rPr>
              <a:t>地</a:t>
            </a:r>
            <a:r>
              <a:rPr dirty="0" baseline="7936" sz="2100" spc="-1289">
                <a:latin typeface="Microsoft YaHei"/>
                <a:cs typeface="Microsoft YaHei"/>
              </a:rPr>
              <a:t>传</a:t>
            </a:r>
            <a:r>
              <a:rPr dirty="0" sz="1400" spc="-575">
                <a:latin typeface="Microsoft YaHei"/>
                <a:cs typeface="Microsoft YaHei"/>
              </a:rPr>
              <a:t>线</a:t>
            </a:r>
            <a:r>
              <a:rPr dirty="0" baseline="7936" sz="2100" spc="-1289">
                <a:latin typeface="Microsoft YaHei"/>
                <a:cs typeface="Microsoft YaHei"/>
              </a:rPr>
              <a:t>输</a:t>
            </a:r>
            <a:r>
              <a:rPr dirty="0" sz="1400" spc="-575">
                <a:latin typeface="Microsoft YaHei"/>
                <a:cs typeface="Microsoft YaHei"/>
              </a:rPr>
              <a:t>连</a:t>
            </a:r>
            <a:r>
              <a:rPr dirty="0" baseline="7936" sz="2100" spc="-1289">
                <a:latin typeface="Microsoft YaHei"/>
                <a:cs typeface="Microsoft YaHei"/>
              </a:rPr>
              <a:t>及</a:t>
            </a:r>
            <a:r>
              <a:rPr dirty="0" sz="1400" spc="-575">
                <a:latin typeface="Microsoft YaHei"/>
                <a:cs typeface="Microsoft YaHei"/>
              </a:rPr>
              <a:t>接</a:t>
            </a:r>
            <a:r>
              <a:rPr dirty="0" baseline="7936" sz="2100" spc="-1289">
                <a:latin typeface="Microsoft YaHei"/>
                <a:cs typeface="Microsoft YaHei"/>
              </a:rPr>
              <a:t>小</a:t>
            </a:r>
            <a:r>
              <a:rPr dirty="0" sz="1400" spc="-575">
                <a:latin typeface="Microsoft YaHei"/>
                <a:cs typeface="Microsoft YaHei"/>
              </a:rPr>
              <a:t>应</a:t>
            </a:r>
            <a:r>
              <a:rPr dirty="0" baseline="7936" sz="2100" spc="-1289">
                <a:latin typeface="Microsoft YaHei"/>
                <a:cs typeface="Microsoft YaHei"/>
              </a:rPr>
              <a:t>区</a:t>
            </a:r>
            <a:r>
              <a:rPr dirty="0" sz="1400" spc="-575">
                <a:latin typeface="Microsoft YaHei"/>
                <a:cs typeface="Microsoft YaHei"/>
              </a:rPr>
              <a:t>当</a:t>
            </a:r>
            <a:r>
              <a:rPr dirty="0" baseline="7936" sz="2100" spc="-1289">
                <a:latin typeface="Microsoft YaHei"/>
                <a:cs typeface="Microsoft YaHei"/>
              </a:rPr>
              <a:t>规</a:t>
            </a:r>
            <a:r>
              <a:rPr dirty="0" sz="1400" spc="-575">
                <a:latin typeface="Microsoft YaHei"/>
                <a:cs typeface="Microsoft YaHei"/>
              </a:rPr>
              <a:t>正</a:t>
            </a:r>
            <a:r>
              <a:rPr dirty="0" baseline="7936" sz="2100" spc="-1289">
                <a:latin typeface="Microsoft YaHei"/>
                <a:cs typeface="Microsoft YaHei"/>
              </a:rPr>
              <a:t>划</a:t>
            </a:r>
            <a:r>
              <a:rPr dirty="0" sz="1400" spc="-575">
                <a:latin typeface="Microsoft YaHei"/>
                <a:cs typeface="Microsoft YaHei"/>
              </a:rPr>
              <a:t>确</a:t>
            </a:r>
            <a:r>
              <a:rPr dirty="0" baseline="7936" sz="2100" spc="-1289">
                <a:latin typeface="Microsoft YaHei"/>
                <a:cs typeface="Microsoft YaHei"/>
              </a:rPr>
              <a:t>数</a:t>
            </a:r>
            <a:r>
              <a:rPr dirty="0" sz="1400" spc="-575">
                <a:latin typeface="Microsoft YaHei"/>
                <a:cs typeface="Microsoft YaHei"/>
              </a:rPr>
              <a:t>，</a:t>
            </a:r>
            <a:r>
              <a:rPr dirty="0" baseline="7936" sz="2100" spc="-1289">
                <a:latin typeface="Microsoft YaHei"/>
                <a:cs typeface="Microsoft YaHei"/>
              </a:rPr>
              <a:t>据</a:t>
            </a:r>
            <a:r>
              <a:rPr dirty="0" sz="1400" spc="-20">
                <a:latin typeface="Microsoft YaHei"/>
                <a:cs typeface="Microsoft YaHei"/>
              </a:rPr>
              <a:t>接触应当牢</a:t>
            </a:r>
            <a:r>
              <a:rPr dirty="0" sz="1400" spc="-50">
                <a:latin typeface="Microsoft YaHei"/>
                <a:cs typeface="Microsoft YaHei"/>
              </a:rPr>
              <a:t>靠</a:t>
            </a:r>
            <a:endParaRPr sz="1400">
              <a:latin typeface="Microsoft YaHei"/>
              <a:cs typeface="Microsoft YaHei"/>
            </a:endParaRPr>
          </a:p>
        </p:txBody>
      </p:sp>
      <p:sp>
        <p:nvSpPr>
          <p:cNvPr id="57" name="object 57" descr=""/>
          <p:cNvSpPr txBox="1"/>
          <p:nvPr/>
        </p:nvSpPr>
        <p:spPr>
          <a:xfrm>
            <a:off x="482658" y="994473"/>
            <a:ext cx="1042669" cy="269875"/>
          </a:xfrm>
          <a:prstGeom prst="rect">
            <a:avLst/>
          </a:prstGeom>
        </p:spPr>
        <p:txBody>
          <a:bodyPr wrap="square" lIns="0" tIns="12700" rIns="0" bIns="0" rtlCol="0" vert="horz">
            <a:spAutoFit/>
          </a:bodyPr>
          <a:lstStyle/>
          <a:p>
            <a:pPr marL="12700">
              <a:lnSpc>
                <a:spcPct val="100000"/>
              </a:lnSpc>
              <a:spcBef>
                <a:spcPts val="100"/>
              </a:spcBef>
            </a:pPr>
            <a:r>
              <a:rPr dirty="0" sz="1600" spc="-10" b="1">
                <a:latin typeface="Microsoft YaHei"/>
                <a:cs typeface="Microsoft YaHei"/>
              </a:rPr>
              <a:t>上电前检查</a:t>
            </a:r>
            <a:endParaRPr sz="1600">
              <a:latin typeface="Microsoft YaHei"/>
              <a:cs typeface="Microsoft YaHei"/>
            </a:endParaRPr>
          </a:p>
        </p:txBody>
      </p:sp>
      <p:grpSp>
        <p:nvGrpSpPr>
          <p:cNvPr id="58" name="object 58" descr=""/>
          <p:cNvGrpSpPr/>
          <p:nvPr/>
        </p:nvGrpSpPr>
        <p:grpSpPr>
          <a:xfrm>
            <a:off x="549968" y="1574055"/>
            <a:ext cx="8594090" cy="3463290"/>
            <a:chOff x="549968" y="1574055"/>
            <a:chExt cx="8594090" cy="3463290"/>
          </a:xfrm>
        </p:grpSpPr>
        <p:sp>
          <p:nvSpPr>
            <p:cNvPr id="59" name="object 59" descr=""/>
            <p:cNvSpPr/>
            <p:nvPr/>
          </p:nvSpPr>
          <p:spPr>
            <a:xfrm>
              <a:off x="556318" y="1574055"/>
              <a:ext cx="0" cy="744220"/>
            </a:xfrm>
            <a:custGeom>
              <a:avLst/>
              <a:gdLst/>
              <a:ahLst/>
              <a:cxnLst/>
              <a:rect l="l" t="t" r="r" b="b"/>
              <a:pathLst>
                <a:path w="0" h="744219">
                  <a:moveTo>
                    <a:pt x="0" y="0"/>
                  </a:moveTo>
                  <a:lnTo>
                    <a:pt x="0" y="744220"/>
                  </a:lnTo>
                </a:path>
              </a:pathLst>
            </a:custGeom>
            <a:ln w="12700">
              <a:solidFill>
                <a:srgbClr val="000000"/>
              </a:solidFill>
            </a:ln>
          </p:spPr>
          <p:txBody>
            <a:bodyPr wrap="square" lIns="0" tIns="0" rIns="0" bIns="0" rtlCol="0"/>
            <a:lstStyle/>
            <a:p/>
          </p:txBody>
        </p:sp>
        <p:sp>
          <p:nvSpPr>
            <p:cNvPr id="60" name="object 60" descr=""/>
            <p:cNvSpPr/>
            <p:nvPr/>
          </p:nvSpPr>
          <p:spPr>
            <a:xfrm>
              <a:off x="549960" y="1574063"/>
              <a:ext cx="8594090" cy="744220"/>
            </a:xfrm>
            <a:custGeom>
              <a:avLst/>
              <a:gdLst/>
              <a:ahLst/>
              <a:cxnLst/>
              <a:rect l="l" t="t" r="r" b="b"/>
              <a:pathLst>
                <a:path w="8594090" h="744219">
                  <a:moveTo>
                    <a:pt x="8594039" y="731520"/>
                  </a:moveTo>
                  <a:lnTo>
                    <a:pt x="0" y="731520"/>
                  </a:lnTo>
                  <a:lnTo>
                    <a:pt x="0" y="744220"/>
                  </a:lnTo>
                  <a:lnTo>
                    <a:pt x="8594039" y="744220"/>
                  </a:lnTo>
                  <a:lnTo>
                    <a:pt x="8594039" y="731520"/>
                  </a:lnTo>
                  <a:close/>
                </a:path>
                <a:path w="8594090" h="744219">
                  <a:moveTo>
                    <a:pt x="8594039" y="0"/>
                  </a:moveTo>
                  <a:lnTo>
                    <a:pt x="0" y="0"/>
                  </a:lnTo>
                  <a:lnTo>
                    <a:pt x="0" y="12700"/>
                  </a:lnTo>
                  <a:lnTo>
                    <a:pt x="8594039" y="12700"/>
                  </a:lnTo>
                  <a:lnTo>
                    <a:pt x="8594039" y="0"/>
                  </a:lnTo>
                  <a:close/>
                </a:path>
              </a:pathLst>
            </a:custGeom>
            <a:solidFill>
              <a:srgbClr val="000000"/>
            </a:solidFill>
          </p:spPr>
          <p:txBody>
            <a:bodyPr wrap="square" lIns="0" tIns="0" rIns="0" bIns="0" rtlCol="0"/>
            <a:lstStyle/>
            <a:p/>
          </p:txBody>
        </p:sp>
        <p:pic>
          <p:nvPicPr>
            <p:cNvPr id="61" name="object 61"/>
            <p:cNvPicPr/>
            <p:nvPr/>
          </p:nvPicPr>
          <p:blipFill>
            <a:blip r:embed="rId2" cstate="print"/>
            <a:stretch>
              <a:fillRect/>
            </a:stretch>
          </p:blipFill>
          <p:spPr>
            <a:xfrm>
              <a:off x="1996480" y="2372499"/>
              <a:ext cx="5688631" cy="2664290"/>
            </a:xfrm>
            <a:prstGeom prst="rect">
              <a:avLst/>
            </a:prstGeom>
          </p:spPr>
        </p:pic>
      </p:grpSp>
      <p:sp>
        <p:nvSpPr>
          <p:cNvPr id="62" name="object 62" descr=""/>
          <p:cNvSpPr txBox="1"/>
          <p:nvPr/>
        </p:nvSpPr>
        <p:spPr>
          <a:xfrm>
            <a:off x="635058" y="1675909"/>
            <a:ext cx="6216650" cy="238760"/>
          </a:xfrm>
          <a:prstGeom prst="rect">
            <a:avLst/>
          </a:prstGeom>
        </p:spPr>
        <p:txBody>
          <a:bodyPr wrap="square" lIns="0" tIns="12065" rIns="0" bIns="0" rtlCol="0" vert="horz">
            <a:spAutoFit/>
          </a:bodyPr>
          <a:lstStyle/>
          <a:p>
            <a:pPr marL="12700">
              <a:lnSpc>
                <a:spcPct val="100000"/>
              </a:lnSpc>
              <a:spcBef>
                <a:spcPts val="95"/>
              </a:spcBef>
            </a:pPr>
            <a:r>
              <a:rPr dirty="0" sz="1400" spc="-20">
                <a:latin typeface="Microsoft YaHei"/>
                <a:cs typeface="Microsoft YaHei"/>
              </a:rPr>
              <a:t>将</a:t>
            </a:r>
            <a:r>
              <a:rPr dirty="0" sz="1400" spc="-10">
                <a:latin typeface="Microsoft YaHei"/>
                <a:cs typeface="Microsoft YaHei"/>
              </a:rPr>
              <a:t>PC</a:t>
            </a:r>
            <a:r>
              <a:rPr dirty="0" sz="1400" spc="-20">
                <a:latin typeface="Microsoft YaHei"/>
                <a:cs typeface="Microsoft YaHei"/>
              </a:rPr>
              <a:t>机本地</a:t>
            </a:r>
            <a:r>
              <a:rPr dirty="0" sz="1400" spc="-10">
                <a:latin typeface="Microsoft YaHei"/>
                <a:cs typeface="Microsoft YaHei"/>
              </a:rPr>
              <a:t>IP</a:t>
            </a:r>
            <a:r>
              <a:rPr dirty="0" sz="1400" spc="-20">
                <a:latin typeface="Microsoft YaHei"/>
                <a:cs typeface="Microsoft YaHei"/>
              </a:rPr>
              <a:t>地址配置为：</a:t>
            </a:r>
            <a:r>
              <a:rPr dirty="0" sz="1400" spc="-10">
                <a:latin typeface="Microsoft YaHei"/>
                <a:cs typeface="Microsoft YaHei"/>
              </a:rPr>
              <a:t>172.27.245.100</a:t>
            </a:r>
            <a:r>
              <a:rPr dirty="0" sz="1400" spc="-20">
                <a:latin typeface="Microsoft YaHei"/>
                <a:cs typeface="Microsoft YaHei"/>
              </a:rPr>
              <a:t>，子网掩码配置为：</a:t>
            </a:r>
            <a:r>
              <a:rPr dirty="0" sz="1400" spc="-10">
                <a:latin typeface="Microsoft YaHei"/>
                <a:cs typeface="Microsoft YaHei"/>
              </a:rPr>
              <a:t>255.255.0.0</a:t>
            </a:r>
            <a:r>
              <a:rPr dirty="0" sz="1400" spc="-50">
                <a:latin typeface="Microsoft YaHei"/>
                <a:cs typeface="Microsoft YaHei"/>
              </a:rPr>
              <a:t>。</a:t>
            </a:r>
            <a:endParaRPr sz="1400">
              <a:latin typeface="Microsoft YaHei"/>
              <a:cs typeface="Microsoft YaHei"/>
            </a:endParaRPr>
          </a:p>
        </p:txBody>
      </p:sp>
      <p:sp>
        <p:nvSpPr>
          <p:cNvPr id="63" name="object 63" descr=""/>
          <p:cNvSpPr txBox="1"/>
          <p:nvPr/>
        </p:nvSpPr>
        <p:spPr>
          <a:xfrm>
            <a:off x="609658" y="1996025"/>
            <a:ext cx="7080884" cy="238760"/>
          </a:xfrm>
          <a:prstGeom prst="rect">
            <a:avLst/>
          </a:prstGeom>
        </p:spPr>
        <p:txBody>
          <a:bodyPr wrap="square" lIns="0" tIns="12065" rIns="0" bIns="0" rtlCol="0" vert="horz">
            <a:spAutoFit/>
          </a:bodyPr>
          <a:lstStyle/>
          <a:p>
            <a:pPr marL="38100">
              <a:lnSpc>
                <a:spcPct val="100000"/>
              </a:lnSpc>
              <a:spcBef>
                <a:spcPts val="95"/>
              </a:spcBef>
            </a:pPr>
            <a:r>
              <a:rPr dirty="0" sz="1400" spc="-290">
                <a:latin typeface="Microsoft YaHei"/>
                <a:cs typeface="Microsoft YaHei"/>
              </a:rPr>
              <a:t>路径</a:t>
            </a:r>
            <a:r>
              <a:rPr dirty="0" baseline="29761" sz="2100" spc="-434">
                <a:latin typeface="Microsoft YaHei"/>
                <a:cs typeface="Microsoft YaHei"/>
              </a:rPr>
              <a:t>1</a:t>
            </a:r>
            <a:r>
              <a:rPr dirty="0" sz="1400" spc="-20">
                <a:latin typeface="Microsoft YaHei"/>
                <a:cs typeface="Microsoft YaHei"/>
              </a:rPr>
              <a:t>为：控</a:t>
            </a:r>
            <a:r>
              <a:rPr dirty="0" sz="1400" spc="-990">
                <a:latin typeface="Microsoft YaHei"/>
                <a:cs typeface="Microsoft YaHei"/>
              </a:rPr>
              <a:t>制</a:t>
            </a:r>
            <a:r>
              <a:rPr dirty="0" baseline="31746" sz="2100" spc="-1282">
                <a:latin typeface="Microsoft YaHei"/>
                <a:cs typeface="Microsoft YaHei"/>
              </a:rPr>
              <a:t>笔</a:t>
            </a:r>
            <a:r>
              <a:rPr dirty="0" baseline="29761" sz="2100" spc="-1500">
                <a:latin typeface="Microsoft YaHei"/>
                <a:cs typeface="Microsoft YaHei"/>
              </a:rPr>
              <a:t>测</a:t>
            </a:r>
            <a:r>
              <a:rPr dirty="0" sz="1400" spc="-990">
                <a:latin typeface="Microsoft YaHei"/>
                <a:cs typeface="Microsoft YaHei"/>
              </a:rPr>
              <a:t>面</a:t>
            </a:r>
            <a:r>
              <a:rPr dirty="0" baseline="31746" sz="2100" spc="-1282">
                <a:latin typeface="Microsoft YaHei"/>
                <a:cs typeface="Microsoft YaHei"/>
              </a:rPr>
              <a:t>记</a:t>
            </a:r>
            <a:r>
              <a:rPr dirty="0" baseline="29761" sz="2100" spc="-1500">
                <a:latin typeface="Microsoft YaHei"/>
                <a:cs typeface="Microsoft YaHei"/>
              </a:rPr>
              <a:t>量</a:t>
            </a:r>
            <a:r>
              <a:rPr dirty="0" sz="1400" spc="-990">
                <a:latin typeface="Microsoft YaHei"/>
                <a:cs typeface="Microsoft YaHei"/>
              </a:rPr>
              <a:t>板</a:t>
            </a:r>
            <a:r>
              <a:rPr dirty="0" baseline="31746" sz="2100" spc="-1282">
                <a:latin typeface="Microsoft YaHei"/>
                <a:cs typeface="Microsoft YaHei"/>
              </a:rPr>
              <a:t>本</a:t>
            </a:r>
            <a:r>
              <a:rPr dirty="0" baseline="29761" sz="2100" spc="-1500">
                <a:latin typeface="Microsoft YaHei"/>
                <a:cs typeface="Microsoft YaHei"/>
              </a:rPr>
              <a:t>直</a:t>
            </a:r>
            <a:r>
              <a:rPr dirty="0" sz="1400" spc="-180">
                <a:latin typeface="Microsoft YaHei"/>
                <a:cs typeface="Microsoft YaHei"/>
              </a:rPr>
              <a:t>\</a:t>
            </a:r>
            <a:r>
              <a:rPr dirty="0" baseline="31746" sz="2100" spc="-1882">
                <a:latin typeface="Microsoft YaHei"/>
                <a:cs typeface="Microsoft YaHei"/>
              </a:rPr>
              <a:t>电</a:t>
            </a:r>
            <a:r>
              <a:rPr dirty="0" sz="1400" spc="-1015">
                <a:latin typeface="Microsoft YaHei"/>
                <a:cs typeface="Microsoft YaHei"/>
              </a:rPr>
              <a:t>网</a:t>
            </a:r>
            <a:r>
              <a:rPr dirty="0" baseline="29761" sz="2100" spc="-869">
                <a:latin typeface="Microsoft YaHei"/>
                <a:cs typeface="Microsoft YaHei"/>
              </a:rPr>
              <a:t>流</a:t>
            </a:r>
            <a:r>
              <a:rPr dirty="0" baseline="31746" sz="2100" spc="-1882">
                <a:latin typeface="Microsoft YaHei"/>
                <a:cs typeface="Microsoft YaHei"/>
              </a:rPr>
              <a:t>脑</a:t>
            </a:r>
            <a:r>
              <a:rPr dirty="0" sz="1400" spc="-1015">
                <a:latin typeface="Microsoft YaHei"/>
                <a:cs typeface="Microsoft YaHei"/>
              </a:rPr>
              <a:t>络</a:t>
            </a:r>
            <a:r>
              <a:rPr dirty="0" baseline="29761" sz="2100" spc="-869">
                <a:latin typeface="Microsoft YaHei"/>
                <a:cs typeface="Microsoft YaHei"/>
              </a:rPr>
              <a:t>回</a:t>
            </a:r>
            <a:r>
              <a:rPr dirty="0" baseline="31746" sz="2100" spc="-1012">
                <a:latin typeface="Microsoft YaHei"/>
                <a:cs typeface="Microsoft YaHei"/>
              </a:rPr>
              <a:t>1</a:t>
            </a:r>
            <a:r>
              <a:rPr dirty="0" sz="1400" spc="-1015">
                <a:latin typeface="Microsoft YaHei"/>
                <a:cs typeface="Microsoft YaHei"/>
              </a:rPr>
              <a:t>和</a:t>
            </a:r>
            <a:r>
              <a:rPr dirty="0" baseline="29761" sz="2100" spc="-1732">
                <a:latin typeface="Microsoft YaHei"/>
                <a:cs typeface="Microsoft YaHei"/>
              </a:rPr>
              <a:t>路</a:t>
            </a:r>
            <a:r>
              <a:rPr dirty="0" baseline="31746" sz="2100" spc="-419">
                <a:latin typeface="Microsoft YaHei"/>
                <a:cs typeface="Microsoft YaHei"/>
              </a:rPr>
              <a:t>台</a:t>
            </a:r>
            <a:r>
              <a:rPr dirty="0" baseline="29761" sz="2100" spc="-2077">
                <a:latin typeface="Microsoft YaHei"/>
                <a:cs typeface="Microsoft YaHei"/>
              </a:rPr>
              <a:t>极</a:t>
            </a:r>
            <a:r>
              <a:rPr dirty="0" sz="1400" spc="-190">
                <a:latin typeface="Microsoft YaHei"/>
                <a:cs typeface="Microsoft YaHei"/>
              </a:rPr>
              <a:t>I</a:t>
            </a:r>
            <a:r>
              <a:rPr dirty="0" baseline="31746" sz="2100" spc="-1867">
                <a:latin typeface="Microsoft YaHei"/>
                <a:cs typeface="Microsoft YaHei"/>
              </a:rPr>
              <a:t>（</a:t>
            </a:r>
            <a:r>
              <a:rPr dirty="0" sz="1400" spc="-5">
                <a:latin typeface="Microsoft YaHei"/>
                <a:cs typeface="Microsoft YaHei"/>
              </a:rPr>
              <a:t>n</a:t>
            </a:r>
            <a:r>
              <a:rPr dirty="0" sz="1400" spc="-440">
                <a:latin typeface="Microsoft YaHei"/>
                <a:cs typeface="Microsoft YaHei"/>
              </a:rPr>
              <a:t>t</a:t>
            </a:r>
            <a:r>
              <a:rPr dirty="0" baseline="29761" sz="2100" spc="-1732">
                <a:latin typeface="Microsoft YaHei"/>
                <a:cs typeface="Microsoft YaHei"/>
              </a:rPr>
              <a:t>间</a:t>
            </a:r>
            <a:r>
              <a:rPr dirty="0" baseline="31746" sz="2100" spc="-1942">
                <a:latin typeface="Microsoft YaHei"/>
                <a:cs typeface="Microsoft YaHei"/>
              </a:rPr>
              <a:t>W</a:t>
            </a:r>
            <a:r>
              <a:rPr dirty="0" sz="1400" spc="-20">
                <a:latin typeface="Microsoft YaHei"/>
                <a:cs typeface="Microsoft YaHei"/>
              </a:rPr>
              <a:t>e</a:t>
            </a:r>
            <a:r>
              <a:rPr dirty="0" sz="1400" spc="-360">
                <a:latin typeface="Microsoft YaHei"/>
                <a:cs typeface="Microsoft YaHei"/>
              </a:rPr>
              <a:t>r</a:t>
            </a:r>
            <a:r>
              <a:rPr dirty="0" baseline="29761" sz="2100" spc="-1695">
                <a:latin typeface="Microsoft YaHei"/>
                <a:cs typeface="Microsoft YaHei"/>
              </a:rPr>
              <a:t>及</a:t>
            </a:r>
            <a:r>
              <a:rPr dirty="0" baseline="31746" sz="2100" spc="-719">
                <a:latin typeface="Microsoft YaHei"/>
                <a:cs typeface="Microsoft YaHei"/>
              </a:rPr>
              <a:t>i</a:t>
            </a:r>
            <a:r>
              <a:rPr dirty="0" sz="1400" spc="-480">
                <a:latin typeface="Microsoft YaHei"/>
                <a:cs typeface="Microsoft YaHei"/>
              </a:rPr>
              <a:t>n</a:t>
            </a:r>
            <a:r>
              <a:rPr dirty="0" baseline="31746" sz="2100" spc="-719">
                <a:latin typeface="Microsoft YaHei"/>
                <a:cs typeface="Microsoft YaHei"/>
              </a:rPr>
              <a:t>n</a:t>
            </a:r>
            <a:r>
              <a:rPr dirty="0" sz="1400" spc="-480">
                <a:latin typeface="Microsoft YaHei"/>
                <a:cs typeface="Microsoft YaHei"/>
              </a:rPr>
              <a:t>e</a:t>
            </a:r>
            <a:r>
              <a:rPr dirty="0" baseline="29761" sz="2100" spc="-1935">
                <a:latin typeface="Microsoft YaHei"/>
                <a:cs typeface="Microsoft YaHei"/>
              </a:rPr>
              <a:t>交</a:t>
            </a:r>
            <a:r>
              <a:rPr dirty="0" baseline="31746" sz="2100" spc="-637">
                <a:latin typeface="Microsoft YaHei"/>
                <a:cs typeface="Microsoft YaHei"/>
              </a:rPr>
              <a:t>d</a:t>
            </a:r>
            <a:r>
              <a:rPr dirty="0" sz="1400" spc="-125">
                <a:latin typeface="Microsoft YaHei"/>
                <a:cs typeface="Microsoft YaHei"/>
              </a:rPr>
              <a:t>t</a:t>
            </a:r>
            <a:r>
              <a:rPr dirty="0" baseline="31746" sz="2100" spc="-1177">
                <a:latin typeface="Microsoft YaHei"/>
                <a:cs typeface="Microsoft YaHei"/>
              </a:rPr>
              <a:t>o</a:t>
            </a:r>
            <a:r>
              <a:rPr dirty="0" sz="1400" spc="-330">
                <a:latin typeface="Microsoft YaHei"/>
                <a:cs typeface="Microsoft YaHei"/>
              </a:rPr>
              <a:t>\</a:t>
            </a:r>
            <a:r>
              <a:rPr dirty="0" baseline="29761" sz="2100" spc="-1650">
                <a:latin typeface="Microsoft YaHei"/>
                <a:cs typeface="Microsoft YaHei"/>
              </a:rPr>
              <a:t>流</a:t>
            </a:r>
            <a:r>
              <a:rPr dirty="0" sz="1400" spc="-1225">
                <a:latin typeface="Microsoft YaHei"/>
                <a:cs typeface="Microsoft YaHei"/>
              </a:rPr>
              <a:t>网</a:t>
            </a:r>
            <a:r>
              <a:rPr dirty="0" baseline="31746" sz="2100" spc="-322">
                <a:latin typeface="Microsoft YaHei"/>
                <a:cs typeface="Microsoft YaHei"/>
              </a:rPr>
              <a:t>w</a:t>
            </a:r>
            <a:r>
              <a:rPr dirty="0" baseline="29761" sz="2100" spc="-1807">
                <a:latin typeface="Microsoft YaHei"/>
                <a:cs typeface="Microsoft YaHei"/>
              </a:rPr>
              <a:t>回</a:t>
            </a:r>
            <a:r>
              <a:rPr dirty="0" baseline="31746" sz="2100" spc="-1087">
                <a:latin typeface="Microsoft YaHei"/>
                <a:cs typeface="Microsoft YaHei"/>
              </a:rPr>
              <a:t>7</a:t>
            </a:r>
            <a:r>
              <a:rPr dirty="0" sz="1400" spc="-695">
                <a:latin typeface="Microsoft YaHei"/>
                <a:cs typeface="Microsoft YaHei"/>
              </a:rPr>
              <a:t>络</a:t>
            </a:r>
            <a:r>
              <a:rPr dirty="0" baseline="31746" sz="2100" spc="-1582">
                <a:latin typeface="Microsoft YaHei"/>
                <a:cs typeface="Microsoft YaHei"/>
              </a:rPr>
              <a:t>操</a:t>
            </a:r>
            <a:r>
              <a:rPr dirty="0" baseline="29761" sz="2100" spc="-1650">
                <a:latin typeface="Microsoft YaHei"/>
                <a:cs typeface="Microsoft YaHei"/>
              </a:rPr>
              <a:t>路</a:t>
            </a:r>
            <a:r>
              <a:rPr dirty="0" sz="1400" spc="-695">
                <a:latin typeface="Microsoft YaHei"/>
                <a:cs typeface="Microsoft YaHei"/>
              </a:rPr>
              <a:t>连</a:t>
            </a:r>
            <a:r>
              <a:rPr dirty="0" baseline="31746" sz="2100" spc="-1582">
                <a:latin typeface="Microsoft YaHei"/>
                <a:cs typeface="Microsoft YaHei"/>
              </a:rPr>
              <a:t>作</a:t>
            </a:r>
            <a:r>
              <a:rPr dirty="0" baseline="29761" sz="2100" spc="-1635">
                <a:latin typeface="Microsoft YaHei"/>
                <a:cs typeface="Microsoft YaHei"/>
              </a:rPr>
              <a:t>相</a:t>
            </a:r>
            <a:r>
              <a:rPr dirty="0" sz="1400" spc="-705">
                <a:latin typeface="Microsoft YaHei"/>
                <a:cs typeface="Microsoft YaHei"/>
              </a:rPr>
              <a:t>接</a:t>
            </a:r>
            <a:r>
              <a:rPr dirty="0" baseline="31746" sz="2100" spc="-1582">
                <a:latin typeface="Microsoft YaHei"/>
                <a:cs typeface="Microsoft YaHei"/>
              </a:rPr>
              <a:t>系</a:t>
            </a:r>
            <a:r>
              <a:rPr dirty="0" baseline="29761" sz="2100" spc="-1627">
                <a:latin typeface="Microsoft YaHei"/>
                <a:cs typeface="Microsoft YaHei"/>
              </a:rPr>
              <a:t>间</a:t>
            </a:r>
            <a:r>
              <a:rPr dirty="0" sz="1400" spc="-655">
                <a:latin typeface="Microsoft YaHei"/>
                <a:cs typeface="Microsoft YaHei"/>
              </a:rPr>
              <a:t>\本</a:t>
            </a:r>
            <a:r>
              <a:rPr dirty="0" baseline="31746" sz="2100" spc="-1589">
                <a:latin typeface="Microsoft YaHei"/>
                <a:cs typeface="Microsoft YaHei"/>
              </a:rPr>
              <a:t>统</a:t>
            </a:r>
            <a:r>
              <a:rPr dirty="0" baseline="29761" sz="2100" spc="-757">
                <a:latin typeface="Microsoft YaHei"/>
                <a:cs typeface="Microsoft YaHei"/>
              </a:rPr>
              <a:t>的</a:t>
            </a:r>
            <a:r>
              <a:rPr dirty="0" sz="1400" spc="-1285">
                <a:latin typeface="Microsoft YaHei"/>
                <a:cs typeface="Microsoft YaHei"/>
              </a:rPr>
              <a:t>地</a:t>
            </a:r>
            <a:r>
              <a:rPr dirty="0" baseline="31746" sz="2100" spc="-1582">
                <a:latin typeface="Microsoft YaHei"/>
                <a:cs typeface="Microsoft YaHei"/>
              </a:rPr>
              <a:t>）</a:t>
            </a:r>
            <a:r>
              <a:rPr dirty="0" baseline="29761" sz="2100" spc="-757">
                <a:latin typeface="Microsoft YaHei"/>
                <a:cs typeface="Microsoft YaHei"/>
              </a:rPr>
              <a:t>电</a:t>
            </a:r>
            <a:r>
              <a:rPr dirty="0" sz="1400" spc="-930">
                <a:latin typeface="Microsoft YaHei"/>
                <a:cs typeface="Microsoft YaHei"/>
              </a:rPr>
              <a:t>连</a:t>
            </a:r>
            <a:r>
              <a:rPr dirty="0" baseline="29761" sz="2100" spc="-757">
                <a:latin typeface="Microsoft YaHei"/>
                <a:cs typeface="Microsoft YaHei"/>
              </a:rPr>
              <a:t>阻</a:t>
            </a:r>
            <a:r>
              <a:rPr dirty="0" sz="1400" spc="-930">
                <a:latin typeface="Microsoft YaHei"/>
                <a:cs typeface="Microsoft YaHei"/>
              </a:rPr>
              <a:t>接</a:t>
            </a:r>
            <a:r>
              <a:rPr dirty="0" baseline="29761" sz="2100" spc="-742">
                <a:latin typeface="Microsoft YaHei"/>
                <a:cs typeface="Microsoft YaHei"/>
              </a:rPr>
              <a:t>值</a:t>
            </a:r>
            <a:r>
              <a:rPr dirty="0" sz="1400" spc="-114">
                <a:latin typeface="Microsoft YaHei"/>
                <a:cs typeface="Microsoft YaHei"/>
              </a:rPr>
              <a:t>\</a:t>
            </a:r>
            <a:r>
              <a:rPr dirty="0" baseline="29761" sz="2100" spc="-1979">
                <a:latin typeface="Microsoft YaHei"/>
                <a:cs typeface="Microsoft YaHei"/>
              </a:rPr>
              <a:t>，</a:t>
            </a:r>
            <a:r>
              <a:rPr dirty="0" sz="1400" spc="-20">
                <a:latin typeface="Microsoft YaHei"/>
                <a:cs typeface="Microsoft YaHei"/>
              </a:rPr>
              <a:t>I</a:t>
            </a:r>
            <a:r>
              <a:rPr dirty="0" sz="1400" spc="-10">
                <a:latin typeface="Microsoft YaHei"/>
                <a:cs typeface="Microsoft YaHei"/>
              </a:rPr>
              <a:t>n</a:t>
            </a:r>
            <a:r>
              <a:rPr dirty="0" sz="1400" spc="-520">
                <a:latin typeface="Microsoft YaHei"/>
                <a:cs typeface="Microsoft YaHei"/>
              </a:rPr>
              <a:t>t</a:t>
            </a:r>
            <a:r>
              <a:rPr dirty="0" baseline="29761" sz="2100" spc="-1380">
                <a:latin typeface="Microsoft YaHei"/>
                <a:cs typeface="Microsoft YaHei"/>
              </a:rPr>
              <a:t>确</a:t>
            </a:r>
            <a:r>
              <a:rPr dirty="0" sz="1400" spc="-229">
                <a:latin typeface="Microsoft YaHei"/>
                <a:cs typeface="Microsoft YaHei"/>
              </a:rPr>
              <a:t>er</a:t>
            </a:r>
            <a:r>
              <a:rPr dirty="0" baseline="29761" sz="2100" spc="-1485">
                <a:latin typeface="Microsoft YaHei"/>
                <a:cs typeface="Microsoft YaHei"/>
              </a:rPr>
              <a:t>认</a:t>
            </a:r>
            <a:r>
              <a:rPr dirty="0" sz="1400">
                <a:latin typeface="Microsoft YaHei"/>
                <a:cs typeface="Microsoft YaHei"/>
              </a:rPr>
              <a:t>n</a:t>
            </a:r>
            <a:r>
              <a:rPr dirty="0" sz="1400" spc="-705">
                <a:latin typeface="Microsoft YaHei"/>
                <a:cs typeface="Microsoft YaHei"/>
              </a:rPr>
              <a:t>e</a:t>
            </a:r>
            <a:r>
              <a:rPr dirty="0" baseline="29761" sz="2100" spc="-1095">
                <a:latin typeface="Microsoft YaHei"/>
                <a:cs typeface="Microsoft YaHei"/>
              </a:rPr>
              <a:t>没</a:t>
            </a:r>
            <a:r>
              <a:rPr dirty="0" sz="1400" spc="-10">
                <a:latin typeface="Microsoft YaHei"/>
                <a:cs typeface="Microsoft YaHei"/>
              </a:rPr>
              <a:t>t</a:t>
            </a:r>
            <a:r>
              <a:rPr dirty="0" sz="1400" spc="-1225">
                <a:latin typeface="Microsoft YaHei"/>
                <a:cs typeface="Microsoft YaHei"/>
              </a:rPr>
              <a:t>协</a:t>
            </a:r>
            <a:r>
              <a:rPr dirty="0" baseline="29761" sz="2100" spc="-307">
                <a:latin typeface="Microsoft YaHei"/>
                <a:cs typeface="Microsoft YaHei"/>
              </a:rPr>
              <a:t>有</a:t>
            </a:r>
            <a:r>
              <a:rPr dirty="0" sz="1400" spc="-1230">
                <a:latin typeface="Microsoft YaHei"/>
                <a:cs typeface="Microsoft YaHei"/>
              </a:rPr>
              <a:t>议</a:t>
            </a:r>
            <a:r>
              <a:rPr dirty="0" baseline="29761" sz="2100" spc="-307">
                <a:latin typeface="Microsoft YaHei"/>
                <a:cs typeface="Microsoft YaHei"/>
              </a:rPr>
              <a:t>短</a:t>
            </a:r>
            <a:r>
              <a:rPr dirty="0" sz="1400" spc="-1225">
                <a:latin typeface="Microsoft YaHei"/>
                <a:cs typeface="Microsoft YaHei"/>
              </a:rPr>
              <a:t>版</a:t>
            </a:r>
            <a:r>
              <a:rPr dirty="0" baseline="29761" sz="2100" spc="-322">
                <a:latin typeface="Microsoft YaHei"/>
                <a:cs typeface="Microsoft YaHei"/>
              </a:rPr>
              <a:t>路</a:t>
            </a:r>
            <a:r>
              <a:rPr dirty="0" sz="1400" spc="-1225">
                <a:latin typeface="Microsoft YaHei"/>
                <a:cs typeface="Microsoft YaHei"/>
              </a:rPr>
              <a:t>本</a:t>
            </a:r>
            <a:r>
              <a:rPr dirty="0" baseline="29761" sz="2100" spc="-307">
                <a:latin typeface="Microsoft YaHei"/>
                <a:cs typeface="Microsoft YaHei"/>
              </a:rPr>
              <a:t>或</a:t>
            </a:r>
            <a:r>
              <a:rPr dirty="0" sz="1400" spc="-650">
                <a:latin typeface="Microsoft YaHei"/>
                <a:cs typeface="Microsoft YaHei"/>
              </a:rPr>
              <a:t>4</a:t>
            </a:r>
            <a:r>
              <a:rPr dirty="0" baseline="29761" sz="2100" spc="-1170">
                <a:latin typeface="Microsoft YaHei"/>
                <a:cs typeface="Microsoft YaHei"/>
              </a:rPr>
              <a:t>断</a:t>
            </a:r>
            <a:r>
              <a:rPr dirty="0" sz="1400" spc="-650">
                <a:latin typeface="Microsoft YaHei"/>
                <a:cs typeface="Microsoft YaHei"/>
              </a:rPr>
              <a:t>（</a:t>
            </a:r>
            <a:r>
              <a:rPr dirty="0" baseline="29761" sz="2100" spc="-1177">
                <a:latin typeface="Microsoft YaHei"/>
                <a:cs typeface="Microsoft YaHei"/>
              </a:rPr>
              <a:t>路</a:t>
            </a:r>
            <a:r>
              <a:rPr dirty="0" sz="1400" spc="-10">
                <a:latin typeface="Microsoft YaHei"/>
                <a:cs typeface="Microsoft YaHei"/>
              </a:rPr>
              <a:t>TCP/IPv4）</a:t>
            </a:r>
            <a:endParaRPr sz="1400">
              <a:latin typeface="Microsoft YaHei"/>
              <a:cs typeface="Microsoft YaHei"/>
            </a:endParaRPr>
          </a:p>
        </p:txBody>
      </p:sp>
      <p:sp>
        <p:nvSpPr>
          <p:cNvPr id="64" name="object 64" descr=""/>
          <p:cNvSpPr txBox="1"/>
          <p:nvPr/>
        </p:nvSpPr>
        <p:spPr>
          <a:xfrm>
            <a:off x="481410" y="1146873"/>
            <a:ext cx="1220470" cy="269875"/>
          </a:xfrm>
          <a:prstGeom prst="rect">
            <a:avLst/>
          </a:prstGeom>
        </p:spPr>
        <p:txBody>
          <a:bodyPr wrap="square" lIns="0" tIns="12700" rIns="0" bIns="0" rtlCol="0" vert="horz">
            <a:spAutoFit/>
          </a:bodyPr>
          <a:lstStyle/>
          <a:p>
            <a:pPr marL="38100">
              <a:lnSpc>
                <a:spcPct val="100000"/>
              </a:lnSpc>
              <a:spcBef>
                <a:spcPts val="100"/>
              </a:spcBef>
            </a:pPr>
            <a:r>
              <a:rPr dirty="0" baseline="-21825" sz="2100" spc="-607">
                <a:latin typeface="Microsoft YaHei"/>
                <a:cs typeface="Microsoft YaHei"/>
              </a:rPr>
              <a:t>资</a:t>
            </a:r>
            <a:r>
              <a:rPr dirty="0" sz="1600" spc="-1215" b="1">
                <a:latin typeface="Microsoft YaHei"/>
                <a:cs typeface="Microsoft YaHei"/>
              </a:rPr>
              <a:t>本</a:t>
            </a:r>
            <a:r>
              <a:rPr dirty="0" baseline="-21825" sz="2100" spc="-307">
                <a:latin typeface="Microsoft YaHei"/>
                <a:cs typeface="Microsoft YaHei"/>
              </a:rPr>
              <a:t>源</a:t>
            </a:r>
            <a:r>
              <a:rPr dirty="0" sz="1600" spc="-1420" b="1">
                <a:latin typeface="Microsoft YaHei"/>
                <a:cs typeface="Microsoft YaHei"/>
              </a:rPr>
              <a:t>机</a:t>
            </a:r>
            <a:r>
              <a:rPr dirty="0" baseline="-21825" sz="2100" spc="-30">
                <a:latin typeface="Microsoft YaHei"/>
                <a:cs typeface="Microsoft YaHei"/>
              </a:rPr>
              <a:t>类</a:t>
            </a:r>
            <a:r>
              <a:rPr dirty="0" sz="1600" spc="-530" b="1">
                <a:latin typeface="Microsoft YaHei"/>
                <a:cs typeface="Microsoft YaHei"/>
              </a:rPr>
              <a:t>I</a:t>
            </a:r>
            <a:r>
              <a:rPr dirty="0" baseline="-21825" sz="2100" spc="-1312">
                <a:latin typeface="Microsoft YaHei"/>
                <a:cs typeface="Microsoft YaHei"/>
              </a:rPr>
              <a:t>型</a:t>
            </a:r>
            <a:r>
              <a:rPr dirty="0" sz="1600" spc="-10" b="1">
                <a:latin typeface="Microsoft YaHei"/>
                <a:cs typeface="Microsoft YaHei"/>
              </a:rPr>
              <a:t>P</a:t>
            </a:r>
            <a:r>
              <a:rPr dirty="0" sz="1600" spc="-25" b="1">
                <a:latin typeface="Microsoft YaHei"/>
                <a:cs typeface="Microsoft YaHei"/>
              </a:rPr>
              <a:t>配置</a:t>
            </a:r>
            <a:endParaRPr sz="1600">
              <a:latin typeface="Microsoft YaHei"/>
              <a:cs typeface="Microsoft YaHei"/>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71619" y="113125"/>
            <a:ext cx="2467610" cy="513080"/>
          </a:xfrm>
          <a:prstGeom prst="rect"/>
        </p:spPr>
        <p:txBody>
          <a:bodyPr wrap="square" lIns="0" tIns="12065" rIns="0" bIns="0" rtlCol="0" vert="horz">
            <a:spAutoFit/>
          </a:bodyPr>
          <a:lstStyle/>
          <a:p>
            <a:pPr marL="12700">
              <a:lnSpc>
                <a:spcPct val="100000"/>
              </a:lnSpc>
              <a:spcBef>
                <a:spcPts val="95"/>
              </a:spcBef>
            </a:pPr>
            <a:r>
              <a:rPr dirty="0" spc="-40"/>
              <a:t>配置文件导入</a:t>
            </a:r>
          </a:p>
        </p:txBody>
      </p:sp>
      <p:grpSp>
        <p:nvGrpSpPr>
          <p:cNvPr id="3" name="object 3" descr=""/>
          <p:cNvGrpSpPr/>
          <p:nvPr/>
        </p:nvGrpSpPr>
        <p:grpSpPr>
          <a:xfrm>
            <a:off x="184994" y="845060"/>
            <a:ext cx="8759190" cy="4128135"/>
            <a:chOff x="184994" y="845060"/>
            <a:chExt cx="8759190" cy="4128135"/>
          </a:xfrm>
        </p:grpSpPr>
        <p:sp>
          <p:nvSpPr>
            <p:cNvPr id="4" name="object 4" descr=""/>
            <p:cNvSpPr/>
            <p:nvPr/>
          </p:nvSpPr>
          <p:spPr>
            <a:xfrm>
              <a:off x="296306" y="934308"/>
              <a:ext cx="0" cy="1384300"/>
            </a:xfrm>
            <a:custGeom>
              <a:avLst/>
              <a:gdLst/>
              <a:ahLst/>
              <a:cxnLst/>
              <a:rect l="l" t="t" r="r" b="b"/>
              <a:pathLst>
                <a:path w="0" h="1384300">
                  <a:moveTo>
                    <a:pt x="0" y="0"/>
                  </a:moveTo>
                  <a:lnTo>
                    <a:pt x="0" y="1384300"/>
                  </a:lnTo>
                </a:path>
              </a:pathLst>
            </a:custGeom>
            <a:ln w="12700">
              <a:solidFill>
                <a:srgbClr val="000000"/>
              </a:solidFill>
            </a:ln>
          </p:spPr>
          <p:txBody>
            <a:bodyPr wrap="square" lIns="0" tIns="0" rIns="0" bIns="0" rtlCol="0"/>
            <a:lstStyle/>
            <a:p/>
          </p:txBody>
        </p:sp>
        <p:sp>
          <p:nvSpPr>
            <p:cNvPr id="5" name="object 5" descr=""/>
            <p:cNvSpPr/>
            <p:nvPr/>
          </p:nvSpPr>
          <p:spPr>
            <a:xfrm>
              <a:off x="8937266" y="934308"/>
              <a:ext cx="0" cy="1384300"/>
            </a:xfrm>
            <a:custGeom>
              <a:avLst/>
              <a:gdLst/>
              <a:ahLst/>
              <a:cxnLst/>
              <a:rect l="l" t="t" r="r" b="b"/>
              <a:pathLst>
                <a:path w="0" h="1384300">
                  <a:moveTo>
                    <a:pt x="0" y="0"/>
                  </a:moveTo>
                  <a:lnTo>
                    <a:pt x="0" y="1384300"/>
                  </a:lnTo>
                </a:path>
              </a:pathLst>
            </a:custGeom>
            <a:ln w="12700">
              <a:solidFill>
                <a:srgbClr val="000000"/>
              </a:solidFill>
            </a:ln>
          </p:spPr>
          <p:txBody>
            <a:bodyPr wrap="square" lIns="0" tIns="0" rIns="0" bIns="0" rtlCol="0"/>
            <a:lstStyle/>
            <a:p/>
          </p:txBody>
        </p:sp>
        <p:sp>
          <p:nvSpPr>
            <p:cNvPr id="6" name="object 6" descr=""/>
            <p:cNvSpPr/>
            <p:nvPr/>
          </p:nvSpPr>
          <p:spPr>
            <a:xfrm>
              <a:off x="289956" y="940658"/>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sp>
          <p:nvSpPr>
            <p:cNvPr id="7" name="object 7" descr=""/>
            <p:cNvSpPr/>
            <p:nvPr/>
          </p:nvSpPr>
          <p:spPr>
            <a:xfrm>
              <a:off x="289956" y="2312258"/>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pic>
          <p:nvPicPr>
            <p:cNvPr id="8" name="object 8"/>
            <p:cNvPicPr/>
            <p:nvPr/>
          </p:nvPicPr>
          <p:blipFill>
            <a:blip r:embed="rId2" cstate="print"/>
            <a:stretch>
              <a:fillRect/>
            </a:stretch>
          </p:blipFill>
          <p:spPr>
            <a:xfrm>
              <a:off x="296306" y="2893720"/>
              <a:ext cx="3013706" cy="1352375"/>
            </a:xfrm>
            <a:prstGeom prst="rect">
              <a:avLst/>
            </a:prstGeom>
          </p:spPr>
        </p:pic>
        <p:pic>
          <p:nvPicPr>
            <p:cNvPr id="9" name="object 9"/>
            <p:cNvPicPr/>
            <p:nvPr/>
          </p:nvPicPr>
          <p:blipFill>
            <a:blip r:embed="rId3" cstate="print"/>
            <a:stretch>
              <a:fillRect/>
            </a:stretch>
          </p:blipFill>
          <p:spPr>
            <a:xfrm>
              <a:off x="4267200" y="2419350"/>
              <a:ext cx="4670066" cy="2553754"/>
            </a:xfrm>
            <a:prstGeom prst="rect">
              <a:avLst/>
            </a:prstGeom>
          </p:spPr>
        </p:pic>
        <p:sp>
          <p:nvSpPr>
            <p:cNvPr id="10" name="object 10" descr=""/>
            <p:cNvSpPr/>
            <p:nvPr/>
          </p:nvSpPr>
          <p:spPr>
            <a:xfrm>
              <a:off x="3639453" y="3460937"/>
              <a:ext cx="473709" cy="410845"/>
            </a:xfrm>
            <a:custGeom>
              <a:avLst/>
              <a:gdLst/>
              <a:ahLst/>
              <a:cxnLst/>
              <a:rect l="l" t="t" r="r" b="b"/>
              <a:pathLst>
                <a:path w="473710" h="410845">
                  <a:moveTo>
                    <a:pt x="268046" y="0"/>
                  </a:moveTo>
                  <a:lnTo>
                    <a:pt x="268046" y="102615"/>
                  </a:lnTo>
                  <a:lnTo>
                    <a:pt x="0" y="102615"/>
                  </a:lnTo>
                  <a:lnTo>
                    <a:pt x="0" y="307847"/>
                  </a:lnTo>
                  <a:lnTo>
                    <a:pt x="268046" y="307847"/>
                  </a:lnTo>
                  <a:lnTo>
                    <a:pt x="268046" y="410463"/>
                  </a:lnTo>
                  <a:lnTo>
                    <a:pt x="473278" y="205231"/>
                  </a:lnTo>
                  <a:lnTo>
                    <a:pt x="268046" y="0"/>
                  </a:lnTo>
                  <a:close/>
                </a:path>
              </a:pathLst>
            </a:custGeom>
            <a:solidFill>
              <a:srgbClr val="BBE0E3"/>
            </a:solidFill>
          </p:spPr>
          <p:txBody>
            <a:bodyPr wrap="square" lIns="0" tIns="0" rIns="0" bIns="0" rtlCol="0"/>
            <a:lstStyle/>
            <a:p/>
          </p:txBody>
        </p:sp>
        <p:sp>
          <p:nvSpPr>
            <p:cNvPr id="11" name="object 11" descr=""/>
            <p:cNvSpPr/>
            <p:nvPr/>
          </p:nvSpPr>
          <p:spPr>
            <a:xfrm>
              <a:off x="228599" y="888999"/>
              <a:ext cx="0" cy="1165225"/>
            </a:xfrm>
            <a:custGeom>
              <a:avLst/>
              <a:gdLst/>
              <a:ahLst/>
              <a:cxnLst/>
              <a:rect l="l" t="t" r="r" b="b"/>
              <a:pathLst>
                <a:path w="0" h="1165225">
                  <a:moveTo>
                    <a:pt x="0" y="0"/>
                  </a:moveTo>
                  <a:lnTo>
                    <a:pt x="0" y="1164831"/>
                  </a:lnTo>
                </a:path>
              </a:pathLst>
            </a:custGeom>
            <a:ln w="12700">
              <a:solidFill>
                <a:srgbClr val="000000"/>
              </a:solidFill>
            </a:ln>
          </p:spPr>
          <p:txBody>
            <a:bodyPr wrap="square" lIns="0" tIns="0" rIns="0" bIns="0" rtlCol="0"/>
            <a:lstStyle/>
            <a:p/>
          </p:txBody>
        </p:sp>
        <p:sp>
          <p:nvSpPr>
            <p:cNvPr id="12" name="object 12" descr=""/>
            <p:cNvSpPr/>
            <p:nvPr/>
          </p:nvSpPr>
          <p:spPr>
            <a:xfrm>
              <a:off x="8869560" y="888999"/>
              <a:ext cx="0" cy="1165225"/>
            </a:xfrm>
            <a:custGeom>
              <a:avLst/>
              <a:gdLst/>
              <a:ahLst/>
              <a:cxnLst/>
              <a:rect l="l" t="t" r="r" b="b"/>
              <a:pathLst>
                <a:path w="0" h="1165225">
                  <a:moveTo>
                    <a:pt x="0" y="0"/>
                  </a:moveTo>
                  <a:lnTo>
                    <a:pt x="0" y="1164831"/>
                  </a:lnTo>
                </a:path>
              </a:pathLst>
            </a:custGeom>
            <a:ln w="12700">
              <a:solidFill>
                <a:srgbClr val="000000"/>
              </a:solidFill>
            </a:ln>
          </p:spPr>
          <p:txBody>
            <a:bodyPr wrap="square" lIns="0" tIns="0" rIns="0" bIns="0" rtlCol="0"/>
            <a:lstStyle/>
            <a:p/>
          </p:txBody>
        </p:sp>
        <p:sp>
          <p:nvSpPr>
            <p:cNvPr id="13" name="object 13" descr=""/>
            <p:cNvSpPr/>
            <p:nvPr/>
          </p:nvSpPr>
          <p:spPr>
            <a:xfrm>
              <a:off x="222249" y="895349"/>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sp>
          <p:nvSpPr>
            <p:cNvPr id="14" name="object 14" descr=""/>
            <p:cNvSpPr/>
            <p:nvPr/>
          </p:nvSpPr>
          <p:spPr>
            <a:xfrm>
              <a:off x="222249" y="2047478"/>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pic>
          <p:nvPicPr>
            <p:cNvPr id="15" name="object 15"/>
            <p:cNvPicPr/>
            <p:nvPr/>
          </p:nvPicPr>
          <p:blipFill>
            <a:blip r:embed="rId4" cstate="print"/>
            <a:stretch>
              <a:fillRect/>
            </a:stretch>
          </p:blipFill>
          <p:spPr>
            <a:xfrm>
              <a:off x="300609" y="2263501"/>
              <a:ext cx="4248467" cy="2664288"/>
            </a:xfrm>
            <a:prstGeom prst="rect">
              <a:avLst/>
            </a:prstGeom>
          </p:spPr>
        </p:pic>
        <p:pic>
          <p:nvPicPr>
            <p:cNvPr id="16" name="object 16"/>
            <p:cNvPicPr/>
            <p:nvPr/>
          </p:nvPicPr>
          <p:blipFill>
            <a:blip r:embed="rId5" cstate="print"/>
            <a:stretch>
              <a:fillRect/>
            </a:stretch>
          </p:blipFill>
          <p:spPr>
            <a:xfrm>
              <a:off x="5701208" y="2695550"/>
              <a:ext cx="3090493" cy="1764472"/>
            </a:xfrm>
            <a:prstGeom prst="rect">
              <a:avLst/>
            </a:prstGeom>
          </p:spPr>
        </p:pic>
        <p:sp>
          <p:nvSpPr>
            <p:cNvPr id="17" name="object 17" descr=""/>
            <p:cNvSpPr/>
            <p:nvPr/>
          </p:nvSpPr>
          <p:spPr>
            <a:xfrm>
              <a:off x="4909121" y="3390418"/>
              <a:ext cx="473709" cy="410845"/>
            </a:xfrm>
            <a:custGeom>
              <a:avLst/>
              <a:gdLst/>
              <a:ahLst/>
              <a:cxnLst/>
              <a:rect l="l" t="t" r="r" b="b"/>
              <a:pathLst>
                <a:path w="473710" h="410845">
                  <a:moveTo>
                    <a:pt x="268046" y="0"/>
                  </a:moveTo>
                  <a:lnTo>
                    <a:pt x="268046" y="102616"/>
                  </a:lnTo>
                  <a:lnTo>
                    <a:pt x="0" y="102616"/>
                  </a:lnTo>
                  <a:lnTo>
                    <a:pt x="0" y="307848"/>
                  </a:lnTo>
                  <a:lnTo>
                    <a:pt x="268046" y="307848"/>
                  </a:lnTo>
                  <a:lnTo>
                    <a:pt x="268046" y="410464"/>
                  </a:lnTo>
                  <a:lnTo>
                    <a:pt x="473278" y="205232"/>
                  </a:lnTo>
                  <a:lnTo>
                    <a:pt x="268046" y="0"/>
                  </a:lnTo>
                  <a:close/>
                </a:path>
              </a:pathLst>
            </a:custGeom>
            <a:solidFill>
              <a:srgbClr val="BBE0E3"/>
            </a:solidFill>
          </p:spPr>
          <p:txBody>
            <a:bodyPr wrap="square" lIns="0" tIns="0" rIns="0" bIns="0" rtlCol="0"/>
            <a:lstStyle/>
            <a:p/>
          </p:txBody>
        </p:sp>
        <p:sp>
          <p:nvSpPr>
            <p:cNvPr id="18" name="object 18" descr=""/>
            <p:cNvSpPr/>
            <p:nvPr/>
          </p:nvSpPr>
          <p:spPr>
            <a:xfrm>
              <a:off x="4909121" y="3390418"/>
              <a:ext cx="473709" cy="410845"/>
            </a:xfrm>
            <a:custGeom>
              <a:avLst/>
              <a:gdLst/>
              <a:ahLst/>
              <a:cxnLst/>
              <a:rect l="l" t="t" r="r" b="b"/>
              <a:pathLst>
                <a:path w="473710" h="410845">
                  <a:moveTo>
                    <a:pt x="0" y="102616"/>
                  </a:moveTo>
                  <a:lnTo>
                    <a:pt x="268046" y="102616"/>
                  </a:lnTo>
                  <a:lnTo>
                    <a:pt x="268046" y="0"/>
                  </a:lnTo>
                  <a:lnTo>
                    <a:pt x="473278" y="205232"/>
                  </a:lnTo>
                  <a:lnTo>
                    <a:pt x="268046" y="410464"/>
                  </a:lnTo>
                  <a:lnTo>
                    <a:pt x="268046" y="307848"/>
                  </a:lnTo>
                  <a:lnTo>
                    <a:pt x="0" y="307848"/>
                  </a:lnTo>
                  <a:lnTo>
                    <a:pt x="0" y="102616"/>
                  </a:lnTo>
                  <a:close/>
                </a:path>
              </a:pathLst>
            </a:custGeom>
            <a:ln w="25400">
              <a:solidFill>
                <a:srgbClr val="FFFFFF"/>
              </a:solidFill>
            </a:ln>
          </p:spPr>
          <p:txBody>
            <a:bodyPr wrap="square" lIns="0" tIns="0" rIns="0" bIns="0" rtlCol="0"/>
            <a:lstStyle/>
            <a:p/>
          </p:txBody>
        </p:sp>
        <p:sp>
          <p:nvSpPr>
            <p:cNvPr id="19" name="object 19" descr=""/>
            <p:cNvSpPr/>
            <p:nvPr/>
          </p:nvSpPr>
          <p:spPr>
            <a:xfrm>
              <a:off x="191344" y="845060"/>
              <a:ext cx="0" cy="1201420"/>
            </a:xfrm>
            <a:custGeom>
              <a:avLst/>
              <a:gdLst/>
              <a:ahLst/>
              <a:cxnLst/>
              <a:rect l="l" t="t" r="r" b="b"/>
              <a:pathLst>
                <a:path w="0" h="1201420">
                  <a:moveTo>
                    <a:pt x="0" y="0"/>
                  </a:moveTo>
                  <a:lnTo>
                    <a:pt x="0" y="1201420"/>
                  </a:lnTo>
                </a:path>
              </a:pathLst>
            </a:custGeom>
            <a:ln w="12699">
              <a:solidFill>
                <a:srgbClr val="000000"/>
              </a:solidFill>
            </a:ln>
          </p:spPr>
          <p:txBody>
            <a:bodyPr wrap="square" lIns="0" tIns="0" rIns="0" bIns="0" rtlCol="0"/>
            <a:lstStyle/>
            <a:p/>
          </p:txBody>
        </p:sp>
        <p:sp>
          <p:nvSpPr>
            <p:cNvPr id="20" name="object 20" descr=""/>
            <p:cNvSpPr/>
            <p:nvPr/>
          </p:nvSpPr>
          <p:spPr>
            <a:xfrm>
              <a:off x="8832303" y="845060"/>
              <a:ext cx="0" cy="1201420"/>
            </a:xfrm>
            <a:custGeom>
              <a:avLst/>
              <a:gdLst/>
              <a:ahLst/>
              <a:cxnLst/>
              <a:rect l="l" t="t" r="r" b="b"/>
              <a:pathLst>
                <a:path w="0" h="1201420">
                  <a:moveTo>
                    <a:pt x="0" y="0"/>
                  </a:moveTo>
                  <a:lnTo>
                    <a:pt x="0" y="1201420"/>
                  </a:lnTo>
                </a:path>
              </a:pathLst>
            </a:custGeom>
            <a:ln w="12700">
              <a:solidFill>
                <a:srgbClr val="000000"/>
              </a:solidFill>
            </a:ln>
          </p:spPr>
          <p:txBody>
            <a:bodyPr wrap="square" lIns="0" tIns="0" rIns="0" bIns="0" rtlCol="0"/>
            <a:lstStyle/>
            <a:p/>
          </p:txBody>
        </p:sp>
        <p:sp>
          <p:nvSpPr>
            <p:cNvPr id="21" name="object 21" descr=""/>
            <p:cNvSpPr/>
            <p:nvPr/>
          </p:nvSpPr>
          <p:spPr>
            <a:xfrm>
              <a:off x="184994" y="851410"/>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sp>
          <p:nvSpPr>
            <p:cNvPr id="22" name="object 22" descr=""/>
            <p:cNvSpPr/>
            <p:nvPr/>
          </p:nvSpPr>
          <p:spPr>
            <a:xfrm>
              <a:off x="184994" y="2040130"/>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sp>
          <p:nvSpPr>
            <p:cNvPr id="23" name="object 23" descr=""/>
            <p:cNvSpPr/>
            <p:nvPr/>
          </p:nvSpPr>
          <p:spPr>
            <a:xfrm>
              <a:off x="3241810" y="3037349"/>
              <a:ext cx="262255" cy="440055"/>
            </a:xfrm>
            <a:custGeom>
              <a:avLst/>
              <a:gdLst/>
              <a:ahLst/>
              <a:cxnLst/>
              <a:rect l="l" t="t" r="r" b="b"/>
              <a:pathLst>
                <a:path w="262254" h="440054">
                  <a:moveTo>
                    <a:pt x="130949" y="0"/>
                  </a:moveTo>
                  <a:lnTo>
                    <a:pt x="130949" y="109931"/>
                  </a:lnTo>
                  <a:lnTo>
                    <a:pt x="0" y="109931"/>
                  </a:lnTo>
                  <a:lnTo>
                    <a:pt x="0" y="329793"/>
                  </a:lnTo>
                  <a:lnTo>
                    <a:pt x="130949" y="329793"/>
                  </a:lnTo>
                  <a:lnTo>
                    <a:pt x="130949" y="439712"/>
                  </a:lnTo>
                  <a:lnTo>
                    <a:pt x="261899" y="219862"/>
                  </a:lnTo>
                  <a:lnTo>
                    <a:pt x="130949" y="0"/>
                  </a:lnTo>
                  <a:close/>
                </a:path>
              </a:pathLst>
            </a:custGeom>
            <a:solidFill>
              <a:srgbClr val="BBE0E3"/>
            </a:solidFill>
          </p:spPr>
          <p:txBody>
            <a:bodyPr wrap="square" lIns="0" tIns="0" rIns="0" bIns="0" rtlCol="0"/>
            <a:lstStyle/>
            <a:p/>
          </p:txBody>
        </p:sp>
        <p:sp>
          <p:nvSpPr>
            <p:cNvPr id="24" name="object 24" descr=""/>
            <p:cNvSpPr/>
            <p:nvPr/>
          </p:nvSpPr>
          <p:spPr>
            <a:xfrm>
              <a:off x="3241810" y="3037349"/>
              <a:ext cx="262255" cy="440055"/>
            </a:xfrm>
            <a:custGeom>
              <a:avLst/>
              <a:gdLst/>
              <a:ahLst/>
              <a:cxnLst/>
              <a:rect l="l" t="t" r="r" b="b"/>
              <a:pathLst>
                <a:path w="262254" h="440054">
                  <a:moveTo>
                    <a:pt x="0" y="109931"/>
                  </a:moveTo>
                  <a:lnTo>
                    <a:pt x="130949" y="109931"/>
                  </a:lnTo>
                  <a:lnTo>
                    <a:pt x="130949" y="0"/>
                  </a:lnTo>
                  <a:lnTo>
                    <a:pt x="261899" y="219862"/>
                  </a:lnTo>
                  <a:lnTo>
                    <a:pt x="130949" y="439712"/>
                  </a:lnTo>
                  <a:lnTo>
                    <a:pt x="130949" y="329793"/>
                  </a:lnTo>
                  <a:lnTo>
                    <a:pt x="0" y="329793"/>
                  </a:lnTo>
                  <a:lnTo>
                    <a:pt x="0" y="109931"/>
                  </a:lnTo>
                  <a:close/>
                </a:path>
              </a:pathLst>
            </a:custGeom>
            <a:ln w="25400">
              <a:solidFill>
                <a:srgbClr val="FFFFFF"/>
              </a:solidFill>
            </a:ln>
          </p:spPr>
          <p:txBody>
            <a:bodyPr wrap="square" lIns="0" tIns="0" rIns="0" bIns="0" rtlCol="0"/>
            <a:lstStyle/>
            <a:p/>
          </p:txBody>
        </p:sp>
        <p:pic>
          <p:nvPicPr>
            <p:cNvPr id="25" name="object 25"/>
            <p:cNvPicPr/>
            <p:nvPr/>
          </p:nvPicPr>
          <p:blipFill>
            <a:blip r:embed="rId4" cstate="print"/>
            <a:stretch>
              <a:fillRect/>
            </a:stretch>
          </p:blipFill>
          <p:spPr>
            <a:xfrm>
              <a:off x="191350" y="2190750"/>
              <a:ext cx="2834434" cy="2693108"/>
            </a:xfrm>
            <a:prstGeom prst="rect">
              <a:avLst/>
            </a:prstGeom>
          </p:spPr>
        </p:pic>
        <p:pic>
          <p:nvPicPr>
            <p:cNvPr id="26" name="object 26"/>
            <p:cNvPicPr/>
            <p:nvPr/>
          </p:nvPicPr>
          <p:blipFill>
            <a:blip r:embed="rId6" cstate="print"/>
            <a:stretch>
              <a:fillRect/>
            </a:stretch>
          </p:blipFill>
          <p:spPr>
            <a:xfrm>
              <a:off x="3754432" y="2744762"/>
              <a:ext cx="1765495" cy="1214418"/>
            </a:xfrm>
            <a:prstGeom prst="rect">
              <a:avLst/>
            </a:prstGeom>
          </p:spPr>
        </p:pic>
        <p:sp>
          <p:nvSpPr>
            <p:cNvPr id="27" name="object 27" descr=""/>
            <p:cNvSpPr/>
            <p:nvPr/>
          </p:nvSpPr>
          <p:spPr>
            <a:xfrm>
              <a:off x="5595354" y="3011859"/>
              <a:ext cx="262255" cy="440055"/>
            </a:xfrm>
            <a:custGeom>
              <a:avLst/>
              <a:gdLst/>
              <a:ahLst/>
              <a:cxnLst/>
              <a:rect l="l" t="t" r="r" b="b"/>
              <a:pathLst>
                <a:path w="262254" h="440054">
                  <a:moveTo>
                    <a:pt x="130949" y="0"/>
                  </a:moveTo>
                  <a:lnTo>
                    <a:pt x="130949" y="109931"/>
                  </a:lnTo>
                  <a:lnTo>
                    <a:pt x="0" y="109931"/>
                  </a:lnTo>
                  <a:lnTo>
                    <a:pt x="0" y="329793"/>
                  </a:lnTo>
                  <a:lnTo>
                    <a:pt x="130949" y="329793"/>
                  </a:lnTo>
                  <a:lnTo>
                    <a:pt x="130949" y="439712"/>
                  </a:lnTo>
                  <a:lnTo>
                    <a:pt x="261899" y="219862"/>
                  </a:lnTo>
                  <a:lnTo>
                    <a:pt x="130949" y="0"/>
                  </a:lnTo>
                  <a:close/>
                </a:path>
              </a:pathLst>
            </a:custGeom>
            <a:solidFill>
              <a:srgbClr val="BBE0E3"/>
            </a:solidFill>
          </p:spPr>
          <p:txBody>
            <a:bodyPr wrap="square" lIns="0" tIns="0" rIns="0" bIns="0" rtlCol="0"/>
            <a:lstStyle/>
            <a:p/>
          </p:txBody>
        </p:sp>
        <p:sp>
          <p:nvSpPr>
            <p:cNvPr id="28" name="object 28" descr=""/>
            <p:cNvSpPr/>
            <p:nvPr/>
          </p:nvSpPr>
          <p:spPr>
            <a:xfrm>
              <a:off x="5595354" y="3011859"/>
              <a:ext cx="262255" cy="440055"/>
            </a:xfrm>
            <a:custGeom>
              <a:avLst/>
              <a:gdLst/>
              <a:ahLst/>
              <a:cxnLst/>
              <a:rect l="l" t="t" r="r" b="b"/>
              <a:pathLst>
                <a:path w="262254" h="440054">
                  <a:moveTo>
                    <a:pt x="0" y="109931"/>
                  </a:moveTo>
                  <a:lnTo>
                    <a:pt x="130949" y="109931"/>
                  </a:lnTo>
                  <a:lnTo>
                    <a:pt x="130949" y="0"/>
                  </a:lnTo>
                  <a:lnTo>
                    <a:pt x="261899" y="219862"/>
                  </a:lnTo>
                  <a:lnTo>
                    <a:pt x="130949" y="439712"/>
                  </a:lnTo>
                  <a:lnTo>
                    <a:pt x="130949" y="329793"/>
                  </a:lnTo>
                  <a:lnTo>
                    <a:pt x="0" y="329793"/>
                  </a:lnTo>
                  <a:lnTo>
                    <a:pt x="0" y="109931"/>
                  </a:lnTo>
                  <a:close/>
                </a:path>
              </a:pathLst>
            </a:custGeom>
            <a:ln w="25400">
              <a:solidFill>
                <a:srgbClr val="FFFFFF"/>
              </a:solidFill>
            </a:ln>
          </p:spPr>
          <p:txBody>
            <a:bodyPr wrap="square" lIns="0" tIns="0" rIns="0" bIns="0" rtlCol="0"/>
            <a:lstStyle/>
            <a:p/>
          </p:txBody>
        </p:sp>
        <p:pic>
          <p:nvPicPr>
            <p:cNvPr id="29" name="object 29"/>
            <p:cNvPicPr/>
            <p:nvPr/>
          </p:nvPicPr>
          <p:blipFill>
            <a:blip r:embed="rId7" cstate="print"/>
            <a:stretch>
              <a:fillRect/>
            </a:stretch>
          </p:blipFill>
          <p:spPr>
            <a:xfrm>
              <a:off x="6096000" y="2190750"/>
              <a:ext cx="2756089" cy="2693108"/>
            </a:xfrm>
            <a:prstGeom prst="rect">
              <a:avLst/>
            </a:prstGeom>
          </p:spPr>
        </p:pic>
        <p:sp>
          <p:nvSpPr>
            <p:cNvPr id="30" name="object 30" descr=""/>
            <p:cNvSpPr/>
            <p:nvPr/>
          </p:nvSpPr>
          <p:spPr>
            <a:xfrm>
              <a:off x="228598" y="871095"/>
              <a:ext cx="0" cy="744220"/>
            </a:xfrm>
            <a:custGeom>
              <a:avLst/>
              <a:gdLst/>
              <a:ahLst/>
              <a:cxnLst/>
              <a:rect l="l" t="t" r="r" b="b"/>
              <a:pathLst>
                <a:path w="0" h="744219">
                  <a:moveTo>
                    <a:pt x="0" y="0"/>
                  </a:moveTo>
                  <a:lnTo>
                    <a:pt x="0" y="744220"/>
                  </a:lnTo>
                </a:path>
              </a:pathLst>
            </a:custGeom>
            <a:ln w="12700">
              <a:solidFill>
                <a:srgbClr val="000000"/>
              </a:solidFill>
            </a:ln>
          </p:spPr>
          <p:txBody>
            <a:bodyPr wrap="square" lIns="0" tIns="0" rIns="0" bIns="0" rtlCol="0"/>
            <a:lstStyle/>
            <a:p/>
          </p:txBody>
        </p:sp>
        <p:sp>
          <p:nvSpPr>
            <p:cNvPr id="31" name="object 31" descr=""/>
            <p:cNvSpPr/>
            <p:nvPr/>
          </p:nvSpPr>
          <p:spPr>
            <a:xfrm>
              <a:off x="8869560" y="871095"/>
              <a:ext cx="0" cy="744220"/>
            </a:xfrm>
            <a:custGeom>
              <a:avLst/>
              <a:gdLst/>
              <a:ahLst/>
              <a:cxnLst/>
              <a:rect l="l" t="t" r="r" b="b"/>
              <a:pathLst>
                <a:path w="0" h="744219">
                  <a:moveTo>
                    <a:pt x="0" y="0"/>
                  </a:moveTo>
                  <a:lnTo>
                    <a:pt x="0" y="744220"/>
                  </a:lnTo>
                </a:path>
              </a:pathLst>
            </a:custGeom>
            <a:ln w="12700">
              <a:solidFill>
                <a:srgbClr val="000000"/>
              </a:solidFill>
            </a:ln>
          </p:spPr>
          <p:txBody>
            <a:bodyPr wrap="square" lIns="0" tIns="0" rIns="0" bIns="0" rtlCol="0"/>
            <a:lstStyle/>
            <a:p/>
          </p:txBody>
        </p:sp>
        <p:sp>
          <p:nvSpPr>
            <p:cNvPr id="32" name="object 32" descr=""/>
            <p:cNvSpPr/>
            <p:nvPr/>
          </p:nvSpPr>
          <p:spPr>
            <a:xfrm>
              <a:off x="222248" y="877445"/>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sp>
          <p:nvSpPr>
            <p:cNvPr id="33" name="object 33" descr=""/>
            <p:cNvSpPr/>
            <p:nvPr/>
          </p:nvSpPr>
          <p:spPr>
            <a:xfrm>
              <a:off x="222248" y="1608965"/>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grpSp>
      <p:sp>
        <p:nvSpPr>
          <p:cNvPr id="34" name="object 34" descr=""/>
          <p:cNvSpPr txBox="1"/>
          <p:nvPr/>
        </p:nvSpPr>
        <p:spPr>
          <a:xfrm>
            <a:off x="231984" y="843668"/>
            <a:ext cx="8712200" cy="1391920"/>
          </a:xfrm>
          <a:prstGeom prst="rect">
            <a:avLst/>
          </a:prstGeom>
        </p:spPr>
        <p:txBody>
          <a:bodyPr wrap="square" lIns="0" tIns="133985" rIns="0" bIns="0" rtlCol="0" vert="horz">
            <a:spAutoFit/>
          </a:bodyPr>
          <a:lstStyle/>
          <a:p>
            <a:pPr marL="50800">
              <a:lnSpc>
                <a:spcPct val="100000"/>
              </a:lnSpc>
              <a:spcBef>
                <a:spcPts val="1055"/>
              </a:spcBef>
            </a:pPr>
            <a:r>
              <a:rPr dirty="0" baseline="3472" sz="2400" spc="-1964">
                <a:latin typeface="Microsoft YaHei"/>
                <a:cs typeface="Microsoft YaHei"/>
              </a:rPr>
              <a:t>当</a:t>
            </a:r>
            <a:r>
              <a:rPr dirty="0" baseline="5952" sz="2100" spc="-2100">
                <a:latin typeface="Microsoft YaHei"/>
                <a:cs typeface="Microsoft YaHei"/>
              </a:rPr>
              <a:t>配</a:t>
            </a:r>
            <a:r>
              <a:rPr dirty="0" sz="1400" spc="-300">
                <a:latin typeface="Microsoft YaHei"/>
                <a:cs typeface="Microsoft YaHei"/>
              </a:rPr>
              <a:t>1</a:t>
            </a:r>
            <a:r>
              <a:rPr dirty="0" baseline="-13888" sz="2100" spc="-1687">
                <a:latin typeface="Microsoft YaHei"/>
                <a:cs typeface="Microsoft YaHei"/>
              </a:rPr>
              <a:t>左</a:t>
            </a:r>
            <a:r>
              <a:rPr dirty="0" sz="1400" spc="-930">
                <a:latin typeface="Microsoft YaHei"/>
                <a:cs typeface="Microsoft YaHei"/>
              </a:rPr>
              <a:t>、</a:t>
            </a:r>
            <a:r>
              <a:rPr dirty="0" baseline="3472" sz="2400" spc="-2272">
                <a:latin typeface="Microsoft YaHei"/>
                <a:cs typeface="Microsoft YaHei"/>
              </a:rPr>
              <a:t>选</a:t>
            </a:r>
            <a:r>
              <a:rPr dirty="0" baseline="5952" sz="2100" spc="-1320">
                <a:latin typeface="Microsoft YaHei"/>
                <a:cs typeface="Microsoft YaHei"/>
              </a:rPr>
              <a:t>置</a:t>
            </a:r>
            <a:r>
              <a:rPr dirty="0" baseline="-13888" sz="2100" spc="-1687">
                <a:latin typeface="Microsoft YaHei"/>
                <a:cs typeface="Microsoft YaHei"/>
              </a:rPr>
              <a:t>击</a:t>
            </a:r>
            <a:r>
              <a:rPr dirty="0" sz="1400" spc="-840">
                <a:latin typeface="Microsoft YaHei"/>
                <a:cs typeface="Microsoft YaHei"/>
              </a:rPr>
              <a:t>在</a:t>
            </a:r>
            <a:r>
              <a:rPr dirty="0" baseline="5952" sz="2100" spc="-1950">
                <a:latin typeface="Microsoft YaHei"/>
                <a:cs typeface="Microsoft YaHei"/>
              </a:rPr>
              <a:t>文</a:t>
            </a:r>
            <a:r>
              <a:rPr dirty="0" baseline="3472" sz="2400" spc="-1777">
                <a:latin typeface="Microsoft YaHei"/>
                <a:cs typeface="Microsoft YaHei"/>
              </a:rPr>
              <a:t>择</a:t>
            </a:r>
            <a:r>
              <a:rPr dirty="0" baseline="-13888" sz="2100" spc="-644">
                <a:latin typeface="Microsoft YaHei"/>
                <a:cs typeface="Microsoft YaHei"/>
              </a:rPr>
              <a:t>L</a:t>
            </a:r>
            <a:r>
              <a:rPr dirty="0" sz="1400" spc="-985">
                <a:latin typeface="Microsoft YaHei"/>
                <a:cs typeface="Microsoft YaHei"/>
              </a:rPr>
              <a:t>本</a:t>
            </a:r>
            <a:r>
              <a:rPr dirty="0" baseline="-13888" sz="2100" spc="-1837">
                <a:latin typeface="Microsoft YaHei"/>
                <a:cs typeface="Microsoft YaHei"/>
              </a:rPr>
              <a:t>M</a:t>
            </a:r>
            <a:r>
              <a:rPr dirty="0" baseline="5952" sz="2100" spc="-1642">
                <a:latin typeface="Microsoft YaHei"/>
                <a:cs typeface="Microsoft YaHei"/>
              </a:rPr>
              <a:t>件</a:t>
            </a:r>
            <a:r>
              <a:rPr dirty="0" baseline="3472" sz="2400" spc="-1650">
                <a:latin typeface="Microsoft YaHei"/>
                <a:cs typeface="Microsoft YaHei"/>
              </a:rPr>
              <a:t>“</a:t>
            </a:r>
            <a:r>
              <a:rPr dirty="0" sz="1400" spc="-1015">
                <a:latin typeface="Microsoft YaHei"/>
                <a:cs typeface="Microsoft YaHei"/>
              </a:rPr>
              <a:t>地</a:t>
            </a:r>
            <a:r>
              <a:rPr dirty="0" baseline="-13888" sz="2100" spc="-944">
                <a:latin typeface="Microsoft YaHei"/>
                <a:cs typeface="Microsoft YaHei"/>
              </a:rPr>
              <a:t>T</a:t>
            </a:r>
            <a:r>
              <a:rPr dirty="0" baseline="5952" sz="2100" spc="-1342">
                <a:latin typeface="Microsoft YaHei"/>
                <a:cs typeface="Microsoft YaHei"/>
              </a:rPr>
              <a:t>下</a:t>
            </a:r>
            <a:r>
              <a:rPr dirty="0" baseline="3472" sz="2400" spc="-2250">
                <a:latin typeface="Microsoft YaHei"/>
                <a:cs typeface="Microsoft YaHei"/>
              </a:rPr>
              <a:t>下</a:t>
            </a:r>
            <a:r>
              <a:rPr dirty="0" baseline="-13888" sz="2100" spc="-1837">
                <a:latin typeface="Microsoft YaHei"/>
                <a:cs typeface="Microsoft YaHei"/>
              </a:rPr>
              <a:t>软</a:t>
            </a:r>
            <a:r>
              <a:rPr dirty="0" sz="1400" spc="-840">
                <a:latin typeface="Microsoft YaHei"/>
                <a:cs typeface="Microsoft YaHei"/>
              </a:rPr>
              <a:t>文</a:t>
            </a:r>
            <a:r>
              <a:rPr dirty="0" baseline="5952" sz="2100" spc="-1177">
                <a:latin typeface="Microsoft YaHei"/>
                <a:cs typeface="Microsoft YaHei"/>
              </a:rPr>
              <a:t>载</a:t>
            </a:r>
            <a:r>
              <a:rPr dirty="0" baseline="-13888" sz="2100" spc="-1979">
                <a:latin typeface="Microsoft YaHei"/>
                <a:cs typeface="Microsoft YaHei"/>
              </a:rPr>
              <a:t>件</a:t>
            </a:r>
            <a:r>
              <a:rPr dirty="0" baseline="3472" sz="2400" spc="-2265">
                <a:latin typeface="Microsoft YaHei"/>
                <a:cs typeface="Microsoft YaHei"/>
              </a:rPr>
              <a:t>载</a:t>
            </a:r>
            <a:r>
              <a:rPr dirty="0" sz="1400" spc="-840">
                <a:latin typeface="Microsoft YaHei"/>
                <a:cs typeface="Microsoft YaHei"/>
              </a:rPr>
              <a:t>件</a:t>
            </a:r>
            <a:r>
              <a:rPr dirty="0" baseline="5952" sz="2100" spc="-1177">
                <a:latin typeface="Microsoft YaHei"/>
                <a:cs typeface="Microsoft YaHei"/>
              </a:rPr>
              <a:t>成</a:t>
            </a:r>
            <a:r>
              <a:rPr dirty="0" baseline="-13888" sz="2100" spc="-1837">
                <a:latin typeface="Microsoft YaHei"/>
                <a:cs typeface="Microsoft YaHei"/>
              </a:rPr>
              <a:t>左</a:t>
            </a:r>
            <a:r>
              <a:rPr dirty="0" sz="1400" spc="-1305">
                <a:latin typeface="Microsoft YaHei"/>
                <a:cs typeface="Microsoft YaHei"/>
              </a:rPr>
              <a:t>下</a:t>
            </a:r>
            <a:r>
              <a:rPr dirty="0" baseline="3472" sz="2400" spc="-1702">
                <a:latin typeface="Microsoft YaHei"/>
                <a:cs typeface="Microsoft YaHei"/>
              </a:rPr>
              <a:t>至</a:t>
            </a:r>
            <a:r>
              <a:rPr dirty="0" baseline="5952" sz="2100" spc="-1177">
                <a:latin typeface="Microsoft YaHei"/>
                <a:cs typeface="Microsoft YaHei"/>
              </a:rPr>
              <a:t>功</a:t>
            </a:r>
            <a:r>
              <a:rPr dirty="0" baseline="-13888" sz="2100" spc="-1837">
                <a:latin typeface="Microsoft YaHei"/>
                <a:cs typeface="Microsoft YaHei"/>
              </a:rPr>
              <a:t>上</a:t>
            </a:r>
            <a:r>
              <a:rPr dirty="0" sz="1400" spc="-1105">
                <a:latin typeface="Microsoft YaHei"/>
                <a:cs typeface="Microsoft YaHei"/>
              </a:rPr>
              <a:t>找</a:t>
            </a:r>
            <a:r>
              <a:rPr dirty="0" baseline="3472" sz="2400" spc="-2010">
                <a:latin typeface="Microsoft YaHei"/>
                <a:cs typeface="Microsoft YaHei"/>
              </a:rPr>
              <a:t>基</a:t>
            </a:r>
            <a:r>
              <a:rPr dirty="0" baseline="5952" sz="2100" spc="-1177">
                <a:latin typeface="Microsoft YaHei"/>
                <a:cs typeface="Microsoft YaHei"/>
              </a:rPr>
              <a:t>后</a:t>
            </a:r>
            <a:r>
              <a:rPr dirty="0" baseline="-13888" sz="2100" spc="-1837">
                <a:latin typeface="Microsoft YaHei"/>
                <a:cs typeface="Microsoft YaHei"/>
              </a:rPr>
              <a:t>角</a:t>
            </a:r>
            <a:r>
              <a:rPr dirty="0" sz="1400" spc="-900">
                <a:latin typeface="Microsoft YaHei"/>
                <a:cs typeface="Microsoft YaHei"/>
              </a:rPr>
              <a:t>到</a:t>
            </a:r>
            <a:r>
              <a:rPr dirty="0" baseline="3472" sz="2400" spc="-2317">
                <a:latin typeface="Microsoft YaHei"/>
                <a:cs typeface="Microsoft YaHei"/>
              </a:rPr>
              <a:t>站</a:t>
            </a:r>
            <a:r>
              <a:rPr dirty="0" baseline="5952" sz="2100" spc="-1177">
                <a:latin typeface="Microsoft YaHei"/>
                <a:cs typeface="Microsoft YaHei"/>
              </a:rPr>
              <a:t>，</a:t>
            </a:r>
            <a:r>
              <a:rPr dirty="0" baseline="-13888" sz="2100" spc="-1837">
                <a:latin typeface="Microsoft YaHei"/>
                <a:cs typeface="Microsoft YaHei"/>
              </a:rPr>
              <a:t>的</a:t>
            </a:r>
            <a:r>
              <a:rPr dirty="0" sz="1400" spc="-840">
                <a:latin typeface="Microsoft YaHei"/>
                <a:cs typeface="Microsoft YaHei"/>
              </a:rPr>
              <a:t>基</a:t>
            </a:r>
            <a:r>
              <a:rPr dirty="0" baseline="5952" sz="2100" spc="-1904">
                <a:latin typeface="Microsoft YaHei"/>
                <a:cs typeface="Microsoft YaHei"/>
              </a:rPr>
              <a:t>为</a:t>
            </a:r>
            <a:r>
              <a:rPr dirty="0" baseline="3472" sz="2400" spc="-1762">
                <a:latin typeface="Microsoft YaHei"/>
                <a:cs typeface="Microsoft YaHei"/>
              </a:rPr>
              <a:t>”</a:t>
            </a:r>
            <a:r>
              <a:rPr dirty="0" baseline="-13888" sz="2100" spc="-1762">
                <a:latin typeface="Microsoft YaHei"/>
                <a:cs typeface="Microsoft YaHei"/>
              </a:rPr>
              <a:t>“</a:t>
            </a:r>
            <a:r>
              <a:rPr dirty="0" sz="1400" spc="-840">
                <a:latin typeface="Microsoft YaHei"/>
                <a:cs typeface="Microsoft YaHei"/>
              </a:rPr>
              <a:t>站</a:t>
            </a:r>
            <a:r>
              <a:rPr dirty="0" baseline="5952" sz="2100" spc="-1597">
                <a:latin typeface="Microsoft YaHei"/>
                <a:cs typeface="Microsoft YaHei"/>
              </a:rPr>
              <a:t>了</a:t>
            </a:r>
            <a:r>
              <a:rPr dirty="0" baseline="3472" sz="2400" spc="-1987">
                <a:latin typeface="Microsoft YaHei"/>
                <a:cs typeface="Microsoft YaHei"/>
              </a:rPr>
              <a:t>后</a:t>
            </a:r>
            <a:r>
              <a:rPr dirty="0" baseline="-13888" sz="2100" spc="-1837">
                <a:latin typeface="Microsoft YaHei"/>
                <a:cs typeface="Microsoft YaHei"/>
              </a:rPr>
              <a:t>文</a:t>
            </a:r>
            <a:r>
              <a:rPr dirty="0" sz="1400" spc="-840">
                <a:latin typeface="Microsoft YaHei"/>
                <a:cs typeface="Microsoft YaHei"/>
              </a:rPr>
              <a:t>的</a:t>
            </a:r>
            <a:r>
              <a:rPr dirty="0" baseline="5952" sz="2100" spc="-1305">
                <a:latin typeface="Microsoft YaHei"/>
                <a:cs typeface="Microsoft YaHei"/>
              </a:rPr>
              <a:t>使</a:t>
            </a:r>
            <a:r>
              <a:rPr dirty="0" baseline="3472" sz="2400" spc="-2279">
                <a:latin typeface="Microsoft YaHei"/>
                <a:cs typeface="Microsoft YaHei"/>
              </a:rPr>
              <a:t>，</a:t>
            </a:r>
            <a:r>
              <a:rPr dirty="0" baseline="-13888" sz="2100" spc="-1837">
                <a:latin typeface="Microsoft YaHei"/>
                <a:cs typeface="Microsoft YaHei"/>
              </a:rPr>
              <a:t>件</a:t>
            </a:r>
            <a:r>
              <a:rPr dirty="0" sz="1400" spc="-840">
                <a:latin typeface="Microsoft YaHei"/>
                <a:cs typeface="Microsoft YaHei"/>
              </a:rPr>
              <a:t>配</a:t>
            </a:r>
            <a:r>
              <a:rPr dirty="0" baseline="5952" sz="2100" spc="-1177">
                <a:latin typeface="Microsoft YaHei"/>
                <a:cs typeface="Microsoft YaHei"/>
              </a:rPr>
              <a:t>配</a:t>
            </a:r>
            <a:r>
              <a:rPr dirty="0" baseline="-13888" sz="2100" spc="-1942">
                <a:latin typeface="Microsoft YaHei"/>
                <a:cs typeface="Microsoft YaHei"/>
              </a:rPr>
              <a:t>管</a:t>
            </a:r>
            <a:r>
              <a:rPr dirty="0" baseline="3472" sz="2400" spc="-2302">
                <a:latin typeface="Microsoft YaHei"/>
                <a:cs typeface="Microsoft YaHei"/>
              </a:rPr>
              <a:t>会</a:t>
            </a:r>
            <a:r>
              <a:rPr dirty="0" sz="1400" spc="-840">
                <a:latin typeface="Microsoft YaHei"/>
                <a:cs typeface="Microsoft YaHei"/>
              </a:rPr>
              <a:t>置</a:t>
            </a:r>
            <a:r>
              <a:rPr dirty="0" baseline="5952" sz="2100" spc="-1177">
                <a:latin typeface="Microsoft YaHei"/>
                <a:cs typeface="Microsoft YaHei"/>
              </a:rPr>
              <a:t>置</a:t>
            </a:r>
            <a:r>
              <a:rPr dirty="0" baseline="-13888" sz="2100" spc="-1822">
                <a:latin typeface="Microsoft YaHei"/>
                <a:cs typeface="Microsoft YaHei"/>
              </a:rPr>
              <a:t>理</a:t>
            </a:r>
            <a:r>
              <a:rPr dirty="0" sz="1400" spc="-1290">
                <a:latin typeface="Microsoft YaHei"/>
                <a:cs typeface="Microsoft YaHei"/>
              </a:rPr>
              <a:t>文</a:t>
            </a:r>
            <a:r>
              <a:rPr dirty="0" baseline="3472" sz="2400" spc="-1739">
                <a:latin typeface="Microsoft YaHei"/>
                <a:cs typeface="Microsoft YaHei"/>
              </a:rPr>
              <a:t>弹</a:t>
            </a:r>
            <a:r>
              <a:rPr dirty="0" baseline="5952" sz="2100" spc="-1177">
                <a:latin typeface="Microsoft YaHei"/>
                <a:cs typeface="Microsoft YaHei"/>
              </a:rPr>
              <a:t>文</a:t>
            </a:r>
            <a:r>
              <a:rPr dirty="0" baseline="-13888" sz="2100" spc="-1822">
                <a:latin typeface="Microsoft YaHei"/>
                <a:cs typeface="Microsoft YaHei"/>
              </a:rPr>
              <a:t>”</a:t>
            </a:r>
            <a:r>
              <a:rPr dirty="0" sz="1400" spc="-1090">
                <a:latin typeface="Microsoft YaHei"/>
                <a:cs typeface="Microsoft YaHei"/>
              </a:rPr>
              <a:t>件</a:t>
            </a:r>
            <a:r>
              <a:rPr dirty="0" baseline="3472" sz="2400" spc="-2032">
                <a:latin typeface="Microsoft YaHei"/>
                <a:cs typeface="Microsoft YaHei"/>
              </a:rPr>
              <a:t>出</a:t>
            </a:r>
            <a:r>
              <a:rPr dirty="0" baseline="5952" sz="2100" spc="-1185">
                <a:latin typeface="Microsoft YaHei"/>
                <a:cs typeface="Microsoft YaHei"/>
              </a:rPr>
              <a:t>件</a:t>
            </a:r>
            <a:r>
              <a:rPr dirty="0" baseline="-13888" sz="2100" spc="-1822">
                <a:latin typeface="Microsoft YaHei"/>
                <a:cs typeface="Microsoft YaHei"/>
              </a:rPr>
              <a:t>节</a:t>
            </a:r>
            <a:r>
              <a:rPr dirty="0" sz="1400" spc="-885">
                <a:latin typeface="Microsoft YaHei"/>
                <a:cs typeface="Microsoft YaHei"/>
              </a:rPr>
              <a:t>，</a:t>
            </a:r>
            <a:r>
              <a:rPr dirty="0" baseline="3472" sz="2400" spc="-2332">
                <a:latin typeface="Microsoft YaHei"/>
                <a:cs typeface="Microsoft YaHei"/>
              </a:rPr>
              <a:t>提</a:t>
            </a:r>
            <a:r>
              <a:rPr dirty="0" baseline="5952" sz="2100" spc="-1185">
                <a:latin typeface="Microsoft YaHei"/>
                <a:cs typeface="Microsoft YaHei"/>
              </a:rPr>
              <a:t>生</a:t>
            </a:r>
            <a:r>
              <a:rPr dirty="0" baseline="-13888" sz="2100" spc="-1814">
                <a:latin typeface="Microsoft YaHei"/>
                <a:cs typeface="Microsoft YaHei"/>
              </a:rPr>
              <a:t>点</a:t>
            </a:r>
            <a:r>
              <a:rPr dirty="0" sz="1400" spc="-844">
                <a:latin typeface="Microsoft YaHei"/>
                <a:cs typeface="Microsoft YaHei"/>
              </a:rPr>
              <a:t>示</a:t>
            </a:r>
            <a:r>
              <a:rPr dirty="0" baseline="5952" sz="2100" spc="-1889">
                <a:latin typeface="Microsoft YaHei"/>
                <a:cs typeface="Microsoft YaHei"/>
              </a:rPr>
              <a:t>效</a:t>
            </a:r>
            <a:r>
              <a:rPr dirty="0" baseline="3472" sz="2400" spc="-1710">
                <a:latin typeface="Microsoft YaHei"/>
                <a:cs typeface="Microsoft YaHei"/>
              </a:rPr>
              <a:t>醒</a:t>
            </a:r>
            <a:r>
              <a:rPr dirty="0" baseline="-13888" sz="2100" spc="-1814">
                <a:latin typeface="Microsoft YaHei"/>
                <a:cs typeface="Microsoft YaHei"/>
              </a:rPr>
              <a:t>，</a:t>
            </a:r>
            <a:r>
              <a:rPr dirty="0" sz="1400" spc="-840">
                <a:latin typeface="Microsoft YaHei"/>
                <a:cs typeface="Microsoft YaHei"/>
              </a:rPr>
              <a:t>例</a:t>
            </a:r>
            <a:r>
              <a:rPr dirty="0" baseline="5952" sz="2100" spc="-1597">
                <a:latin typeface="Microsoft YaHei"/>
                <a:cs typeface="Microsoft YaHei"/>
              </a:rPr>
              <a:t>，</a:t>
            </a:r>
            <a:r>
              <a:rPr dirty="0" baseline="3472" sz="2400" spc="-2002">
                <a:latin typeface="Microsoft YaHei"/>
                <a:cs typeface="Microsoft YaHei"/>
              </a:rPr>
              <a:t>消</a:t>
            </a:r>
            <a:r>
              <a:rPr dirty="0" baseline="-13888" sz="2100" spc="-1814">
                <a:latin typeface="Microsoft YaHei"/>
                <a:cs typeface="Microsoft YaHei"/>
              </a:rPr>
              <a:t>登</a:t>
            </a:r>
            <a:r>
              <a:rPr dirty="0" sz="1400" spc="-840">
                <a:latin typeface="Microsoft YaHei"/>
                <a:cs typeface="Microsoft YaHei"/>
              </a:rPr>
              <a:t>中</a:t>
            </a:r>
            <a:r>
              <a:rPr dirty="0" baseline="5952" sz="2100" spc="-1297">
                <a:latin typeface="Microsoft YaHei"/>
                <a:cs typeface="Microsoft YaHei"/>
              </a:rPr>
              <a:t>需</a:t>
            </a:r>
            <a:r>
              <a:rPr dirty="0" baseline="3472" sz="2400" spc="-2310">
                <a:latin typeface="Microsoft YaHei"/>
                <a:cs typeface="Microsoft YaHei"/>
              </a:rPr>
              <a:t>息</a:t>
            </a:r>
            <a:r>
              <a:rPr dirty="0" baseline="-13888" sz="2100" spc="-1807">
                <a:latin typeface="Microsoft YaHei"/>
                <a:cs typeface="Microsoft YaHei"/>
              </a:rPr>
              <a:t>陆</a:t>
            </a:r>
            <a:r>
              <a:rPr dirty="0" sz="1400" spc="-844">
                <a:latin typeface="Microsoft YaHei"/>
                <a:cs typeface="Microsoft YaHei"/>
              </a:rPr>
              <a:t>文</a:t>
            </a:r>
            <a:r>
              <a:rPr dirty="0" baseline="5952" sz="2100" spc="-1200">
                <a:latin typeface="Microsoft YaHei"/>
                <a:cs typeface="Microsoft YaHei"/>
              </a:rPr>
              <a:t>要</a:t>
            </a:r>
            <a:r>
              <a:rPr dirty="0" baseline="-13888" sz="2100" spc="-2122">
                <a:latin typeface="Microsoft YaHei"/>
                <a:cs typeface="Microsoft YaHei"/>
              </a:rPr>
              <a:t>“</a:t>
            </a:r>
            <a:r>
              <a:rPr dirty="0" baseline="3472" sz="2400" spc="-2122">
                <a:latin typeface="Microsoft YaHei"/>
                <a:cs typeface="Microsoft YaHei"/>
              </a:rPr>
              <a:t>，</a:t>
            </a:r>
            <a:r>
              <a:rPr dirty="0" sz="1400" spc="-840">
                <a:latin typeface="Microsoft YaHei"/>
                <a:cs typeface="Microsoft YaHei"/>
              </a:rPr>
              <a:t>件</a:t>
            </a:r>
            <a:r>
              <a:rPr dirty="0" baseline="5952" sz="2100" spc="-1207">
                <a:latin typeface="Microsoft YaHei"/>
                <a:cs typeface="Microsoft YaHei"/>
              </a:rPr>
              <a:t>复</a:t>
            </a:r>
            <a:r>
              <a:rPr dirty="0" baseline="-13888" sz="2100" spc="-1807">
                <a:latin typeface="Microsoft YaHei"/>
                <a:cs typeface="Microsoft YaHei"/>
              </a:rPr>
              <a:t>文</a:t>
            </a:r>
            <a:r>
              <a:rPr dirty="0" sz="1400" spc="-1290">
                <a:latin typeface="Microsoft YaHei"/>
                <a:cs typeface="Microsoft YaHei"/>
              </a:rPr>
              <a:t>名</a:t>
            </a:r>
            <a:r>
              <a:rPr dirty="0" baseline="3472" sz="2400" spc="-1732">
                <a:latin typeface="Microsoft YaHei"/>
                <a:cs typeface="Microsoft YaHei"/>
              </a:rPr>
              <a:t>参</a:t>
            </a:r>
            <a:r>
              <a:rPr dirty="0" baseline="5952" sz="2100" spc="-1207">
                <a:latin typeface="Microsoft YaHei"/>
                <a:cs typeface="Microsoft YaHei"/>
              </a:rPr>
              <a:t>位</a:t>
            </a:r>
            <a:r>
              <a:rPr dirty="0" baseline="-13888" sz="2100" spc="-1800">
                <a:latin typeface="Microsoft YaHei"/>
                <a:cs typeface="Microsoft YaHei"/>
              </a:rPr>
              <a:t>件</a:t>
            </a:r>
            <a:r>
              <a:rPr dirty="0" sz="1400" spc="-1090">
                <a:latin typeface="Microsoft YaHei"/>
                <a:cs typeface="Microsoft YaHei"/>
              </a:rPr>
              <a:t>为</a:t>
            </a:r>
            <a:r>
              <a:rPr dirty="0" baseline="3472" sz="2400" spc="-2039">
                <a:latin typeface="Microsoft YaHei"/>
                <a:cs typeface="Microsoft YaHei"/>
              </a:rPr>
              <a:t>数</a:t>
            </a:r>
            <a:r>
              <a:rPr dirty="0" baseline="5952" sz="2100" spc="-1207">
                <a:latin typeface="Microsoft YaHei"/>
                <a:cs typeface="Microsoft YaHei"/>
              </a:rPr>
              <a:t>基</a:t>
            </a:r>
            <a:r>
              <a:rPr dirty="0" baseline="-13888" sz="2100" spc="-1800">
                <a:latin typeface="Microsoft YaHei"/>
                <a:cs typeface="Microsoft YaHei"/>
              </a:rPr>
              <a:t>管</a:t>
            </a:r>
            <a:r>
              <a:rPr dirty="0" sz="1400" spc="-885">
                <a:latin typeface="Microsoft YaHei"/>
                <a:cs typeface="Microsoft YaHei"/>
              </a:rPr>
              <a:t>：</a:t>
            </a:r>
            <a:r>
              <a:rPr dirty="0" baseline="3472" sz="2400" spc="-2332">
                <a:latin typeface="Microsoft YaHei"/>
                <a:cs typeface="Microsoft YaHei"/>
              </a:rPr>
              <a:t>默</a:t>
            </a:r>
            <a:r>
              <a:rPr dirty="0" baseline="5952" sz="2100" spc="-1214">
                <a:latin typeface="Microsoft YaHei"/>
                <a:cs typeface="Microsoft YaHei"/>
              </a:rPr>
              <a:t>站</a:t>
            </a:r>
            <a:r>
              <a:rPr dirty="0" baseline="-13888" sz="2100" spc="-1800">
                <a:latin typeface="Microsoft YaHei"/>
                <a:cs typeface="Microsoft YaHei"/>
              </a:rPr>
              <a:t>理</a:t>
            </a:r>
            <a:r>
              <a:rPr dirty="0" sz="1400" spc="-580">
                <a:latin typeface="Microsoft YaHei"/>
                <a:cs typeface="Microsoft YaHei"/>
              </a:rPr>
              <a:t>N</a:t>
            </a:r>
            <a:r>
              <a:rPr dirty="0" baseline="5952" sz="2100" spc="-1897">
                <a:latin typeface="Microsoft YaHei"/>
                <a:cs typeface="Microsoft YaHei"/>
              </a:rPr>
              <a:t>。</a:t>
            </a:r>
            <a:r>
              <a:rPr dirty="0" baseline="3472" sz="2400" spc="-1785">
                <a:latin typeface="Microsoft YaHei"/>
                <a:cs typeface="Microsoft YaHei"/>
              </a:rPr>
              <a:t>认</a:t>
            </a:r>
            <a:r>
              <a:rPr dirty="0" sz="1400" spc="-780">
                <a:latin typeface="Microsoft YaHei"/>
                <a:cs typeface="Microsoft YaHei"/>
              </a:rPr>
              <a:t>S</a:t>
            </a:r>
            <a:r>
              <a:rPr dirty="0" baseline="-13888" sz="2100" spc="-989">
                <a:latin typeface="Microsoft YaHei"/>
                <a:cs typeface="Microsoft YaHei"/>
              </a:rPr>
              <a:t>”</a:t>
            </a:r>
            <a:r>
              <a:rPr dirty="0" sz="1400" spc="-630">
                <a:latin typeface="Microsoft YaHei"/>
                <a:cs typeface="Microsoft YaHei"/>
              </a:rPr>
              <a:t>A</a:t>
            </a:r>
            <a:r>
              <a:rPr dirty="0" baseline="3472" sz="2400" spc="-2039">
                <a:latin typeface="Microsoft YaHei"/>
                <a:cs typeface="Microsoft YaHei"/>
              </a:rPr>
              <a:t>，</a:t>
            </a:r>
            <a:r>
              <a:rPr dirty="0" baseline="-13888" sz="2100" spc="-952">
                <a:latin typeface="Microsoft YaHei"/>
                <a:cs typeface="Microsoft YaHei"/>
              </a:rPr>
              <a:t>，</a:t>
            </a:r>
            <a:r>
              <a:rPr dirty="0" sz="1400" spc="-265">
                <a:latin typeface="Microsoft YaHei"/>
                <a:cs typeface="Microsoft YaHei"/>
              </a:rPr>
              <a:t>S</a:t>
            </a:r>
            <a:r>
              <a:rPr dirty="0" baseline="3472" sz="2400" spc="-2325">
                <a:latin typeface="Microsoft YaHei"/>
                <a:cs typeface="Microsoft YaHei"/>
              </a:rPr>
              <a:t>选</a:t>
            </a:r>
            <a:r>
              <a:rPr dirty="0" baseline="-13888" sz="2100" spc="-1837">
                <a:latin typeface="Microsoft YaHei"/>
                <a:cs typeface="Microsoft YaHei"/>
              </a:rPr>
              <a:t>出</a:t>
            </a:r>
            <a:r>
              <a:rPr dirty="0" sz="1400" spc="-235">
                <a:latin typeface="Microsoft YaHei"/>
                <a:cs typeface="Microsoft YaHei"/>
              </a:rPr>
              <a:t>11</a:t>
            </a:r>
            <a:r>
              <a:rPr dirty="0" baseline="-13888" sz="2100" spc="-1912">
                <a:latin typeface="Microsoft YaHei"/>
                <a:cs typeface="Microsoft YaHei"/>
              </a:rPr>
              <a:t>现</a:t>
            </a:r>
            <a:r>
              <a:rPr dirty="0" baseline="3472" sz="2400" spc="-1964">
                <a:latin typeface="Microsoft YaHei"/>
                <a:cs typeface="Microsoft YaHei"/>
              </a:rPr>
              <a:t>择</a:t>
            </a:r>
            <a:r>
              <a:rPr dirty="0" sz="1400" spc="-10">
                <a:latin typeface="Microsoft YaHei"/>
                <a:cs typeface="Microsoft YaHei"/>
              </a:rPr>
              <a:t>1</a:t>
            </a:r>
            <a:r>
              <a:rPr dirty="0" sz="1400" spc="-1270">
                <a:latin typeface="Microsoft YaHei"/>
                <a:cs typeface="Microsoft YaHei"/>
              </a:rPr>
              <a:t>开</a:t>
            </a:r>
            <a:r>
              <a:rPr dirty="0" baseline="-13888" sz="2100" spc="-1604">
                <a:latin typeface="Microsoft YaHei"/>
                <a:cs typeface="Microsoft YaHei"/>
              </a:rPr>
              <a:t>本</a:t>
            </a:r>
            <a:r>
              <a:rPr dirty="0" baseline="3472" sz="2400" spc="-1042">
                <a:latin typeface="Microsoft YaHei"/>
                <a:cs typeface="Microsoft YaHei"/>
              </a:rPr>
              <a:t>“</a:t>
            </a:r>
            <a:r>
              <a:rPr dirty="0" sz="1400" spc="-1270">
                <a:latin typeface="Microsoft YaHei"/>
                <a:cs typeface="Microsoft YaHei"/>
              </a:rPr>
              <a:t>站</a:t>
            </a:r>
            <a:r>
              <a:rPr dirty="0" baseline="-13888" sz="2100" spc="-1305">
                <a:latin typeface="Microsoft YaHei"/>
                <a:cs typeface="Microsoft YaHei"/>
              </a:rPr>
              <a:t>地</a:t>
            </a:r>
            <a:r>
              <a:rPr dirty="0" baseline="3472" sz="2400" spc="-1342">
                <a:latin typeface="Microsoft YaHei"/>
                <a:cs typeface="Microsoft YaHei"/>
              </a:rPr>
              <a:t>确</a:t>
            </a:r>
            <a:r>
              <a:rPr dirty="0" sz="1400" spc="-1265">
                <a:latin typeface="Microsoft YaHei"/>
                <a:cs typeface="Microsoft YaHei"/>
              </a:rPr>
              <a:t>模</a:t>
            </a:r>
            <a:r>
              <a:rPr dirty="0" baseline="-13888" sz="2100" spc="-1012">
                <a:latin typeface="Microsoft YaHei"/>
                <a:cs typeface="Microsoft YaHei"/>
              </a:rPr>
              <a:t>文</a:t>
            </a:r>
            <a:r>
              <a:rPr dirty="0" baseline="3472" sz="2400" spc="-1642">
                <a:latin typeface="Microsoft YaHei"/>
                <a:cs typeface="Microsoft YaHei"/>
              </a:rPr>
              <a:t>定</a:t>
            </a:r>
            <a:r>
              <a:rPr dirty="0" sz="1400" spc="-1265">
                <a:latin typeface="Microsoft YaHei"/>
                <a:cs typeface="Microsoft YaHei"/>
              </a:rPr>
              <a:t>板</a:t>
            </a:r>
            <a:r>
              <a:rPr dirty="0" baseline="-13888" sz="2100" spc="-705">
                <a:latin typeface="Microsoft YaHei"/>
                <a:cs typeface="Microsoft YaHei"/>
              </a:rPr>
              <a:t>件</a:t>
            </a:r>
            <a:r>
              <a:rPr dirty="0" baseline="3472" sz="2400" spc="-1935">
                <a:latin typeface="Microsoft YaHei"/>
                <a:cs typeface="Microsoft YaHei"/>
              </a:rPr>
              <a:t>”</a:t>
            </a:r>
            <a:r>
              <a:rPr dirty="0" sz="1400" spc="-200">
                <a:latin typeface="Microsoft YaHei"/>
                <a:cs typeface="Microsoft YaHei"/>
              </a:rPr>
              <a:t>.</a:t>
            </a:r>
            <a:r>
              <a:rPr dirty="0" baseline="-13888" sz="2100" spc="-1829">
                <a:latin typeface="Microsoft YaHei"/>
                <a:cs typeface="Microsoft YaHei"/>
              </a:rPr>
              <a:t>和</a:t>
            </a:r>
            <a:r>
              <a:rPr dirty="0" sz="1400" spc="-125">
                <a:latin typeface="Microsoft YaHei"/>
                <a:cs typeface="Microsoft YaHei"/>
              </a:rPr>
              <a:t>cf</a:t>
            </a:r>
            <a:r>
              <a:rPr dirty="0" baseline="3472" sz="2400" spc="-2047">
                <a:latin typeface="Microsoft YaHei"/>
                <a:cs typeface="Microsoft YaHei"/>
              </a:rPr>
              <a:t>。</a:t>
            </a:r>
            <a:r>
              <a:rPr dirty="0" sz="1400" spc="-890">
                <a:latin typeface="Microsoft YaHei"/>
                <a:cs typeface="Microsoft YaHei"/>
              </a:rPr>
              <a:t>g</a:t>
            </a:r>
            <a:r>
              <a:rPr dirty="0" baseline="-13888" sz="2100" spc="-37">
                <a:latin typeface="Microsoft YaHei"/>
                <a:cs typeface="Microsoft YaHei"/>
              </a:rPr>
              <a:t>远程文件显示窗口，如下所</a:t>
            </a:r>
            <a:endParaRPr baseline="-13888" sz="2100">
              <a:latin typeface="Microsoft YaHei"/>
              <a:cs typeface="Microsoft YaHei"/>
            </a:endParaRPr>
          </a:p>
          <a:p>
            <a:pPr marL="50800" marR="318770">
              <a:lnSpc>
                <a:spcPct val="112700"/>
              </a:lnSpc>
              <a:spcBef>
                <a:spcPts val="715"/>
              </a:spcBef>
            </a:pPr>
            <a:r>
              <a:rPr dirty="0" baseline="1736" sz="2400" spc="-1964">
                <a:latin typeface="Microsoft YaHei"/>
                <a:cs typeface="Microsoft YaHei"/>
              </a:rPr>
              <a:t>配</a:t>
            </a:r>
            <a:r>
              <a:rPr dirty="0" baseline="19841" sz="2100" spc="-2100">
                <a:latin typeface="Microsoft YaHei"/>
                <a:cs typeface="Microsoft YaHei"/>
              </a:rPr>
              <a:t>操</a:t>
            </a:r>
            <a:r>
              <a:rPr dirty="0" baseline="13888" sz="2100" spc="-450">
                <a:latin typeface="Microsoft YaHei"/>
                <a:cs typeface="Microsoft YaHei"/>
              </a:rPr>
              <a:t>2</a:t>
            </a:r>
            <a:r>
              <a:rPr dirty="0" sz="1400" spc="-1125">
                <a:latin typeface="Microsoft YaHei"/>
                <a:cs typeface="Microsoft YaHei"/>
              </a:rPr>
              <a:t>示</a:t>
            </a:r>
            <a:r>
              <a:rPr dirty="0" baseline="13888" sz="2100" spc="-1395">
                <a:latin typeface="Microsoft YaHei"/>
                <a:cs typeface="Microsoft YaHei"/>
              </a:rPr>
              <a:t>、</a:t>
            </a:r>
            <a:r>
              <a:rPr dirty="0" baseline="1736" sz="2400" spc="-2272">
                <a:latin typeface="Microsoft YaHei"/>
                <a:cs typeface="Microsoft YaHei"/>
              </a:rPr>
              <a:t>置</a:t>
            </a:r>
            <a:r>
              <a:rPr dirty="0" baseline="19841" sz="2100" spc="-1320">
                <a:latin typeface="Microsoft YaHei"/>
                <a:cs typeface="Microsoft YaHei"/>
              </a:rPr>
              <a:t>作</a:t>
            </a:r>
            <a:r>
              <a:rPr dirty="0" sz="1400" spc="-55">
                <a:latin typeface="Microsoft YaHei"/>
                <a:cs typeface="Microsoft YaHei"/>
              </a:rPr>
              <a:t>:</a:t>
            </a:r>
            <a:r>
              <a:rPr dirty="0" baseline="13888" sz="2100" spc="-1260">
                <a:latin typeface="Microsoft YaHei"/>
                <a:cs typeface="Microsoft YaHei"/>
              </a:rPr>
              <a:t>远</a:t>
            </a:r>
            <a:r>
              <a:rPr dirty="0" baseline="19841" sz="2100" spc="-1950">
                <a:latin typeface="Microsoft YaHei"/>
                <a:cs typeface="Microsoft YaHei"/>
              </a:rPr>
              <a:t>步</a:t>
            </a:r>
            <a:r>
              <a:rPr dirty="0" baseline="1736" sz="2400" spc="-1342">
                <a:latin typeface="Microsoft YaHei"/>
                <a:cs typeface="Microsoft YaHei"/>
              </a:rPr>
              <a:t>文</a:t>
            </a:r>
            <a:r>
              <a:rPr dirty="0" baseline="13888" sz="2100" spc="-1260">
                <a:latin typeface="Microsoft YaHei"/>
                <a:cs typeface="Microsoft YaHei"/>
              </a:rPr>
              <a:t>程</a:t>
            </a:r>
            <a:r>
              <a:rPr dirty="0" baseline="19841" sz="2100" spc="-1642">
                <a:latin typeface="Microsoft YaHei"/>
                <a:cs typeface="Microsoft YaHei"/>
              </a:rPr>
              <a:t>骤</a:t>
            </a:r>
            <a:r>
              <a:rPr dirty="0" baseline="1736" sz="2400" spc="-1650">
                <a:latin typeface="Microsoft YaHei"/>
                <a:cs typeface="Microsoft YaHei"/>
              </a:rPr>
              <a:t>件</a:t>
            </a:r>
            <a:r>
              <a:rPr dirty="0" baseline="13888" sz="2100" spc="-1260">
                <a:latin typeface="Microsoft YaHei"/>
                <a:cs typeface="Microsoft YaHei"/>
              </a:rPr>
              <a:t>文</a:t>
            </a:r>
            <a:r>
              <a:rPr dirty="0" baseline="19841" sz="2100" spc="-1342">
                <a:latin typeface="Microsoft YaHei"/>
                <a:cs typeface="Microsoft YaHei"/>
              </a:rPr>
              <a:t>：</a:t>
            </a:r>
            <a:r>
              <a:rPr dirty="0" baseline="1736" sz="2400" spc="-1957">
                <a:latin typeface="Microsoft YaHei"/>
                <a:cs typeface="Microsoft YaHei"/>
              </a:rPr>
              <a:t>下</a:t>
            </a:r>
            <a:r>
              <a:rPr dirty="0" baseline="13888" sz="2100" spc="-1260">
                <a:latin typeface="Microsoft YaHei"/>
                <a:cs typeface="Microsoft YaHei"/>
              </a:rPr>
              <a:t>件</a:t>
            </a:r>
            <a:r>
              <a:rPr dirty="0" baseline="19841" sz="2100" spc="-1035">
                <a:latin typeface="Microsoft YaHei"/>
                <a:cs typeface="Microsoft YaHei"/>
              </a:rPr>
              <a:t>按</a:t>
            </a:r>
            <a:r>
              <a:rPr dirty="0" baseline="1736" sz="2400" spc="-2265">
                <a:latin typeface="Microsoft YaHei"/>
                <a:cs typeface="Microsoft YaHei"/>
              </a:rPr>
              <a:t>载</a:t>
            </a:r>
            <a:r>
              <a:rPr dirty="0" baseline="13888" sz="2100" spc="-1260">
                <a:latin typeface="Microsoft YaHei"/>
                <a:cs typeface="Microsoft YaHei"/>
              </a:rPr>
              <a:t>中</a:t>
            </a:r>
            <a:r>
              <a:rPr dirty="0" baseline="19841" sz="2100" spc="-885">
                <a:latin typeface="Microsoft YaHei"/>
                <a:cs typeface="Microsoft YaHei"/>
              </a:rPr>
              <a:t>如</a:t>
            </a:r>
            <a:r>
              <a:rPr dirty="0" baseline="13888" sz="2100" spc="-1964">
                <a:latin typeface="Microsoft YaHei"/>
                <a:cs typeface="Microsoft YaHei"/>
              </a:rPr>
              <a:t>把</a:t>
            </a:r>
            <a:r>
              <a:rPr dirty="0" baseline="1736" sz="2400" spc="-1702">
                <a:latin typeface="Microsoft YaHei"/>
                <a:cs typeface="Microsoft YaHei"/>
              </a:rPr>
              <a:t>时</a:t>
            </a:r>
            <a:r>
              <a:rPr dirty="0" baseline="19841" sz="2100" spc="-885">
                <a:latin typeface="Microsoft YaHei"/>
                <a:cs typeface="Microsoft YaHei"/>
              </a:rPr>
              <a:t>下</a:t>
            </a:r>
            <a:r>
              <a:rPr dirty="0" baseline="13888" sz="2100" spc="-1657">
                <a:latin typeface="Microsoft YaHei"/>
                <a:cs typeface="Microsoft YaHei"/>
              </a:rPr>
              <a:t>路</a:t>
            </a:r>
            <a:r>
              <a:rPr dirty="0" baseline="1736" sz="2400" spc="-2010">
                <a:latin typeface="Microsoft YaHei"/>
                <a:cs typeface="Microsoft YaHei"/>
              </a:rPr>
              <a:t>，</a:t>
            </a:r>
            <a:r>
              <a:rPr dirty="0" baseline="19841" sz="2100" spc="-885">
                <a:latin typeface="Microsoft YaHei"/>
                <a:cs typeface="Microsoft YaHei"/>
              </a:rPr>
              <a:t>步</a:t>
            </a:r>
            <a:r>
              <a:rPr dirty="0" baseline="13888" sz="2100" spc="-1350">
                <a:latin typeface="Microsoft YaHei"/>
                <a:cs typeface="Microsoft YaHei"/>
              </a:rPr>
              <a:t>径</a:t>
            </a:r>
            <a:r>
              <a:rPr dirty="0" baseline="1736" sz="2400" spc="-2317">
                <a:latin typeface="Microsoft YaHei"/>
                <a:cs typeface="Microsoft YaHei"/>
              </a:rPr>
              <a:t>关</a:t>
            </a:r>
            <a:r>
              <a:rPr dirty="0" baseline="19841" sz="2100" spc="-885">
                <a:latin typeface="Microsoft YaHei"/>
                <a:cs typeface="Microsoft YaHei"/>
              </a:rPr>
              <a:t>骤</a:t>
            </a:r>
            <a:r>
              <a:rPr dirty="0" baseline="13888" sz="2100" spc="-1260">
                <a:latin typeface="Microsoft YaHei"/>
                <a:cs typeface="Microsoft YaHei"/>
              </a:rPr>
              <a:t>选</a:t>
            </a:r>
            <a:r>
              <a:rPr dirty="0" baseline="19841" sz="2100" spc="-1904">
                <a:latin typeface="Microsoft YaHei"/>
                <a:cs typeface="Microsoft YaHei"/>
              </a:rPr>
              <a:t>进</a:t>
            </a:r>
            <a:r>
              <a:rPr dirty="0" baseline="1736" sz="2400" spc="-1387">
                <a:latin typeface="Microsoft YaHei"/>
                <a:cs typeface="Microsoft YaHei"/>
              </a:rPr>
              <a:t>注</a:t>
            </a:r>
            <a:r>
              <a:rPr dirty="0" baseline="13888" sz="2100" spc="-1260">
                <a:latin typeface="Microsoft YaHei"/>
                <a:cs typeface="Microsoft YaHei"/>
              </a:rPr>
              <a:t>择</a:t>
            </a:r>
            <a:r>
              <a:rPr dirty="0" baseline="19841" sz="2100" spc="-1597">
                <a:latin typeface="Microsoft YaHei"/>
                <a:cs typeface="Microsoft YaHei"/>
              </a:rPr>
              <a:t>行</a:t>
            </a:r>
            <a:r>
              <a:rPr dirty="0" baseline="1736" sz="2400" spc="-1695">
                <a:latin typeface="Microsoft YaHei"/>
                <a:cs typeface="Microsoft YaHei"/>
              </a:rPr>
              <a:t>下</a:t>
            </a:r>
            <a:r>
              <a:rPr dirty="0" baseline="13888" sz="2100" spc="-1260">
                <a:latin typeface="Microsoft YaHei"/>
                <a:cs typeface="Microsoft YaHei"/>
              </a:rPr>
              <a:t>为</a:t>
            </a:r>
            <a:r>
              <a:rPr dirty="0" baseline="19841" sz="2100" spc="-1305">
                <a:latin typeface="Microsoft YaHei"/>
                <a:cs typeface="Microsoft YaHei"/>
              </a:rPr>
              <a:t>：</a:t>
            </a:r>
            <a:r>
              <a:rPr dirty="0" baseline="1736" sz="2400" spc="-1995">
                <a:latin typeface="Microsoft YaHei"/>
                <a:cs typeface="Microsoft YaHei"/>
              </a:rPr>
              <a:t>载</a:t>
            </a:r>
            <a:r>
              <a:rPr dirty="0" baseline="13888" sz="2100" spc="-52">
                <a:latin typeface="Microsoft YaHei"/>
                <a:cs typeface="Microsoft YaHei"/>
              </a:rPr>
              <a:t>/</a:t>
            </a:r>
            <a:r>
              <a:rPr dirty="0" baseline="19841" sz="2100" spc="-2085">
                <a:latin typeface="Microsoft YaHei"/>
                <a:cs typeface="Microsoft YaHei"/>
              </a:rPr>
              <a:t>第</a:t>
            </a:r>
            <a:r>
              <a:rPr dirty="0" baseline="13888" sz="2100" spc="-89">
                <a:latin typeface="Microsoft YaHei"/>
                <a:cs typeface="Microsoft YaHei"/>
              </a:rPr>
              <a:t>a</a:t>
            </a:r>
            <a:r>
              <a:rPr dirty="0" baseline="1736" sz="2400" spc="-2332">
                <a:latin typeface="Microsoft YaHei"/>
                <a:cs typeface="Microsoft YaHei"/>
              </a:rPr>
              <a:t>进</a:t>
            </a:r>
            <a:r>
              <a:rPr dirty="0" baseline="13888" sz="2100" spc="-7">
                <a:latin typeface="Microsoft YaHei"/>
                <a:cs typeface="Microsoft YaHei"/>
              </a:rPr>
              <a:t>t</a:t>
            </a:r>
            <a:r>
              <a:rPr dirty="0" baseline="13888" sz="2100" spc="-1072">
                <a:latin typeface="Microsoft YaHei"/>
                <a:cs typeface="Microsoft YaHei"/>
              </a:rPr>
              <a:t>a</a:t>
            </a:r>
            <a:r>
              <a:rPr dirty="0" baseline="19841" sz="2100" spc="-1064">
                <a:latin typeface="Microsoft YaHei"/>
                <a:cs typeface="Microsoft YaHei"/>
              </a:rPr>
              <a:t>一</a:t>
            </a:r>
            <a:r>
              <a:rPr dirty="0" baseline="13888" sz="2100" spc="-869">
                <a:latin typeface="Microsoft YaHei"/>
                <a:cs typeface="Microsoft YaHei"/>
              </a:rPr>
              <a:t>2</a:t>
            </a:r>
            <a:r>
              <a:rPr dirty="0" baseline="1736" sz="2400" spc="-1739">
                <a:latin typeface="Microsoft YaHei"/>
                <a:cs typeface="Microsoft YaHei"/>
              </a:rPr>
              <a:t>度</a:t>
            </a:r>
            <a:r>
              <a:rPr dirty="0" baseline="19841" sz="2100" spc="-1935">
                <a:latin typeface="Microsoft YaHei"/>
                <a:cs typeface="Microsoft YaHei"/>
              </a:rPr>
              <a:t>步</a:t>
            </a:r>
            <a:r>
              <a:rPr dirty="0" baseline="13888" sz="2100" spc="-585">
                <a:latin typeface="Microsoft YaHei"/>
                <a:cs typeface="Microsoft YaHei"/>
              </a:rPr>
              <a:t>。</a:t>
            </a:r>
            <a:r>
              <a:rPr dirty="0" baseline="1736" sz="2400" spc="-2032">
                <a:latin typeface="Microsoft YaHei"/>
                <a:cs typeface="Microsoft YaHei"/>
              </a:rPr>
              <a:t>条</a:t>
            </a:r>
            <a:r>
              <a:rPr dirty="0" baseline="19841" sz="2100" spc="-97">
                <a:latin typeface="Microsoft YaHei"/>
                <a:cs typeface="Microsoft YaHei"/>
              </a:rPr>
              <a:t>、</a:t>
            </a:r>
            <a:r>
              <a:rPr dirty="0" baseline="1736" sz="2400" spc="-2332">
                <a:latin typeface="Microsoft YaHei"/>
                <a:cs typeface="Microsoft YaHei"/>
              </a:rPr>
              <a:t>，</a:t>
            </a:r>
            <a:r>
              <a:rPr dirty="0" baseline="19841" sz="2100" spc="-960">
                <a:latin typeface="Microsoft YaHei"/>
                <a:cs typeface="Microsoft YaHei"/>
              </a:rPr>
              <a:t>第二</a:t>
            </a:r>
            <a:r>
              <a:rPr dirty="0" baseline="1736" sz="2400" spc="-532">
                <a:latin typeface="Microsoft YaHei"/>
                <a:cs typeface="Microsoft YaHei"/>
              </a:rPr>
              <a:t>显</a:t>
            </a:r>
            <a:r>
              <a:rPr dirty="0" baseline="19841" sz="2100" spc="-1597">
                <a:latin typeface="Microsoft YaHei"/>
                <a:cs typeface="Microsoft YaHei"/>
              </a:rPr>
              <a:t>步</a:t>
            </a:r>
            <a:r>
              <a:rPr dirty="0" baseline="1736" sz="2400" spc="-832">
                <a:latin typeface="Microsoft YaHei"/>
                <a:cs typeface="Microsoft YaHei"/>
              </a:rPr>
              <a:t>示</a:t>
            </a:r>
            <a:r>
              <a:rPr dirty="0" baseline="19841" sz="2100" spc="-1297">
                <a:latin typeface="Microsoft YaHei"/>
                <a:cs typeface="Microsoft YaHei"/>
              </a:rPr>
              <a:t>、</a:t>
            </a:r>
            <a:r>
              <a:rPr dirty="0" baseline="1736" sz="2400" spc="-1139">
                <a:latin typeface="Microsoft YaHei"/>
                <a:cs typeface="Microsoft YaHei"/>
              </a:rPr>
              <a:t>下</a:t>
            </a:r>
            <a:r>
              <a:rPr dirty="0" baseline="19841" sz="2100" spc="-989">
                <a:latin typeface="Microsoft YaHei"/>
                <a:cs typeface="Microsoft YaHei"/>
              </a:rPr>
              <a:t>第</a:t>
            </a:r>
            <a:r>
              <a:rPr dirty="0" baseline="1736" sz="2400" spc="-1432">
                <a:latin typeface="Microsoft YaHei"/>
                <a:cs typeface="Microsoft YaHei"/>
              </a:rPr>
              <a:t>载</a:t>
            </a:r>
            <a:r>
              <a:rPr dirty="0" baseline="19841" sz="2100" spc="-697">
                <a:latin typeface="Microsoft YaHei"/>
                <a:cs typeface="Microsoft YaHei"/>
              </a:rPr>
              <a:t>三</a:t>
            </a:r>
            <a:r>
              <a:rPr dirty="0" baseline="1736" sz="2400" spc="-1732">
                <a:latin typeface="Microsoft YaHei"/>
                <a:cs typeface="Microsoft YaHei"/>
              </a:rPr>
              <a:t>完</a:t>
            </a:r>
            <a:r>
              <a:rPr dirty="0" baseline="19841" sz="2100" spc="-397">
                <a:latin typeface="Microsoft YaHei"/>
                <a:cs typeface="Microsoft YaHei"/>
              </a:rPr>
              <a:t>步</a:t>
            </a:r>
            <a:r>
              <a:rPr dirty="0" baseline="1736" sz="2400" spc="-2039">
                <a:latin typeface="Microsoft YaHei"/>
                <a:cs typeface="Microsoft YaHei"/>
              </a:rPr>
              <a:t>成</a:t>
            </a:r>
            <a:r>
              <a:rPr dirty="0" baseline="19841" sz="2100" spc="-89">
                <a:latin typeface="Microsoft YaHei"/>
                <a:cs typeface="Microsoft YaHei"/>
              </a:rPr>
              <a:t>。</a:t>
            </a:r>
            <a:r>
              <a:rPr dirty="0" baseline="1736" sz="2400" spc="-15">
                <a:latin typeface="Microsoft YaHei"/>
                <a:cs typeface="Microsoft YaHei"/>
              </a:rPr>
              <a:t>或在打印消息中看到文件下载成功，表示配</a:t>
            </a:r>
            <a:r>
              <a:rPr dirty="0" baseline="-22569" sz="2400" spc="-1964">
                <a:latin typeface="Microsoft YaHei"/>
                <a:cs typeface="Microsoft YaHei"/>
              </a:rPr>
              <a:t>置</a:t>
            </a:r>
            <a:r>
              <a:rPr dirty="0" sz="1400" spc="-300">
                <a:latin typeface="Microsoft YaHei"/>
                <a:cs typeface="Microsoft YaHei"/>
              </a:rPr>
              <a:t>3</a:t>
            </a:r>
            <a:r>
              <a:rPr dirty="0" baseline="-13888" sz="2100" spc="-1687">
                <a:latin typeface="Microsoft YaHei"/>
                <a:cs typeface="Microsoft YaHei"/>
              </a:rPr>
              <a:t>本</a:t>
            </a:r>
            <a:r>
              <a:rPr dirty="0" sz="1400" spc="-930">
                <a:latin typeface="Microsoft YaHei"/>
                <a:cs typeface="Microsoft YaHei"/>
              </a:rPr>
              <a:t>、</a:t>
            </a:r>
            <a:r>
              <a:rPr dirty="0" baseline="-22569" sz="2400" spc="-1470">
                <a:latin typeface="Microsoft YaHei"/>
                <a:cs typeface="Microsoft YaHei"/>
              </a:rPr>
              <a:t>文</a:t>
            </a:r>
            <a:r>
              <a:rPr dirty="0" baseline="-13888" sz="2100" spc="-1687">
                <a:latin typeface="Microsoft YaHei"/>
                <a:cs typeface="Microsoft YaHei"/>
              </a:rPr>
              <a:t>地</a:t>
            </a:r>
            <a:r>
              <a:rPr dirty="0" sz="1400" spc="-725">
                <a:latin typeface="Microsoft YaHei"/>
                <a:cs typeface="Microsoft YaHei"/>
              </a:rPr>
              <a:t>右</a:t>
            </a:r>
            <a:r>
              <a:rPr dirty="0" baseline="-22569" sz="2400" spc="-1777">
                <a:latin typeface="Microsoft YaHei"/>
                <a:cs typeface="Microsoft YaHei"/>
              </a:rPr>
              <a:t>件</a:t>
            </a:r>
            <a:r>
              <a:rPr dirty="0" baseline="-13888" sz="2100" spc="-1687">
                <a:latin typeface="Microsoft YaHei"/>
                <a:cs typeface="Microsoft YaHei"/>
              </a:rPr>
              <a:t>文</a:t>
            </a:r>
            <a:r>
              <a:rPr dirty="0" sz="1400" spc="-520">
                <a:latin typeface="Microsoft YaHei"/>
                <a:cs typeface="Microsoft YaHei"/>
              </a:rPr>
              <a:t>击</a:t>
            </a:r>
            <a:r>
              <a:rPr dirty="0" baseline="-22569" sz="2400" spc="-2085">
                <a:latin typeface="Microsoft YaHei"/>
                <a:cs typeface="Microsoft YaHei"/>
              </a:rPr>
              <a:t>下</a:t>
            </a:r>
            <a:r>
              <a:rPr dirty="0" baseline="-13888" sz="2100" spc="-1687">
                <a:latin typeface="Microsoft YaHei"/>
                <a:cs typeface="Microsoft YaHei"/>
              </a:rPr>
              <a:t>件</a:t>
            </a:r>
            <a:r>
              <a:rPr dirty="0" sz="1400" spc="-5">
                <a:latin typeface="Microsoft YaHei"/>
                <a:cs typeface="Microsoft YaHei"/>
              </a:rPr>
              <a:t>C</a:t>
            </a:r>
            <a:r>
              <a:rPr dirty="0" sz="1400" spc="-600">
                <a:latin typeface="Microsoft YaHei"/>
                <a:cs typeface="Microsoft YaHei"/>
              </a:rPr>
              <a:t>F</a:t>
            </a:r>
            <a:r>
              <a:rPr dirty="0" baseline="-22569" sz="2400" spc="-2392">
                <a:latin typeface="Microsoft YaHei"/>
                <a:cs typeface="Microsoft YaHei"/>
              </a:rPr>
              <a:t>载</a:t>
            </a:r>
            <a:r>
              <a:rPr dirty="0" baseline="-13888" sz="2100" spc="-1260">
                <a:latin typeface="Microsoft YaHei"/>
                <a:cs typeface="Microsoft YaHei"/>
              </a:rPr>
              <a:t>：</a:t>
            </a:r>
            <a:r>
              <a:rPr dirty="0" sz="1400" spc="-215">
                <a:latin typeface="Microsoft YaHei"/>
                <a:cs typeface="Microsoft YaHei"/>
              </a:rPr>
              <a:t>G</a:t>
            </a:r>
            <a:r>
              <a:rPr dirty="0" baseline="-13888" sz="2100" spc="-1829">
                <a:latin typeface="Microsoft YaHei"/>
                <a:cs typeface="Microsoft YaHei"/>
              </a:rPr>
              <a:t>显</a:t>
            </a:r>
            <a:r>
              <a:rPr dirty="0" baseline="-22569" sz="2400" spc="-2377">
                <a:latin typeface="Microsoft YaHei"/>
                <a:cs typeface="Microsoft YaHei"/>
              </a:rPr>
              <a:t>成</a:t>
            </a:r>
            <a:r>
              <a:rPr dirty="0" sz="1400" spc="-229">
                <a:latin typeface="Microsoft YaHei"/>
                <a:cs typeface="Microsoft YaHei"/>
              </a:rPr>
              <a:t>文</a:t>
            </a:r>
            <a:r>
              <a:rPr dirty="0" baseline="-13888" sz="2100" spc="-1807">
                <a:latin typeface="Microsoft YaHei"/>
                <a:cs typeface="Microsoft YaHei"/>
              </a:rPr>
              <a:t>示</a:t>
            </a:r>
            <a:r>
              <a:rPr dirty="0" sz="1400" spc="-1230">
                <a:latin typeface="Microsoft YaHei"/>
                <a:cs typeface="Microsoft YaHei"/>
              </a:rPr>
              <a:t>件</a:t>
            </a:r>
            <a:r>
              <a:rPr dirty="0" baseline="-22569" sz="2400" spc="-907">
                <a:latin typeface="Microsoft YaHei"/>
                <a:cs typeface="Microsoft YaHei"/>
              </a:rPr>
              <a:t>功</a:t>
            </a:r>
            <a:r>
              <a:rPr dirty="0" baseline="-13888" sz="2100" spc="-1807">
                <a:latin typeface="Microsoft YaHei"/>
                <a:cs typeface="Microsoft YaHei"/>
              </a:rPr>
              <a:t>的</a:t>
            </a:r>
            <a:r>
              <a:rPr dirty="0" sz="1400" spc="-1025">
                <a:latin typeface="Microsoft YaHei"/>
                <a:cs typeface="Microsoft YaHei"/>
              </a:rPr>
              <a:t>（</a:t>
            </a:r>
            <a:r>
              <a:rPr dirty="0" baseline="-22569" sz="2400" spc="-1214">
                <a:latin typeface="Microsoft YaHei"/>
                <a:cs typeface="Microsoft YaHei"/>
              </a:rPr>
              <a:t>。</a:t>
            </a:r>
            <a:r>
              <a:rPr dirty="0" baseline="-13888" sz="2100" spc="-1807">
                <a:latin typeface="Microsoft YaHei"/>
                <a:cs typeface="Microsoft YaHei"/>
              </a:rPr>
              <a:t>是</a:t>
            </a:r>
            <a:r>
              <a:rPr dirty="0" sz="1400" spc="-229">
                <a:latin typeface="Microsoft YaHei"/>
                <a:cs typeface="Microsoft YaHei"/>
              </a:rPr>
              <a:t>本</a:t>
            </a:r>
            <a:r>
              <a:rPr dirty="0" baseline="-13888" sz="2100" spc="-1807">
                <a:latin typeface="Microsoft YaHei"/>
                <a:cs typeface="Microsoft YaHei"/>
              </a:rPr>
              <a:t>笔</a:t>
            </a:r>
            <a:r>
              <a:rPr dirty="0" sz="1400" spc="-229">
                <a:latin typeface="Microsoft YaHei"/>
                <a:cs typeface="Microsoft YaHei"/>
              </a:rPr>
              <a:t>例</a:t>
            </a:r>
            <a:r>
              <a:rPr dirty="0" baseline="-13888" sz="2100" spc="-1807">
                <a:latin typeface="Microsoft YaHei"/>
                <a:cs typeface="Microsoft YaHei"/>
              </a:rPr>
              <a:t>记</a:t>
            </a:r>
            <a:r>
              <a:rPr dirty="0" sz="1400" spc="-5">
                <a:latin typeface="Microsoft YaHei"/>
                <a:cs typeface="Microsoft YaHei"/>
              </a:rPr>
              <a:t>N</a:t>
            </a:r>
            <a:r>
              <a:rPr dirty="0" sz="1400" spc="-780">
                <a:latin typeface="Microsoft YaHei"/>
                <a:cs typeface="Microsoft YaHei"/>
              </a:rPr>
              <a:t>S</a:t>
            </a:r>
            <a:r>
              <a:rPr dirty="0" baseline="-13888" sz="2100" spc="-975">
                <a:latin typeface="Microsoft YaHei"/>
                <a:cs typeface="Microsoft YaHei"/>
              </a:rPr>
              <a:t>本</a:t>
            </a:r>
            <a:r>
              <a:rPr dirty="0" sz="1400" spc="-360">
                <a:latin typeface="Microsoft YaHei"/>
                <a:cs typeface="Microsoft YaHei"/>
              </a:rPr>
              <a:t>A</a:t>
            </a:r>
            <a:r>
              <a:rPr dirty="0" baseline="-13888" sz="2100" spc="-944">
                <a:latin typeface="Microsoft YaHei"/>
                <a:cs typeface="Microsoft YaHei"/>
              </a:rPr>
              <a:t>电</a:t>
            </a:r>
            <a:r>
              <a:rPr dirty="0" sz="1400" spc="-210">
                <a:latin typeface="Microsoft YaHei"/>
                <a:cs typeface="Microsoft YaHei"/>
              </a:rPr>
              <a:t>S</a:t>
            </a:r>
            <a:r>
              <a:rPr dirty="0" baseline="-13888" sz="2100" spc="-1829">
                <a:latin typeface="Microsoft YaHei"/>
                <a:cs typeface="Microsoft YaHei"/>
              </a:rPr>
              <a:t>脑</a:t>
            </a:r>
            <a:r>
              <a:rPr dirty="0" sz="1400" spc="-229">
                <a:latin typeface="Microsoft YaHei"/>
                <a:cs typeface="Microsoft YaHei"/>
              </a:rPr>
              <a:t>11</a:t>
            </a:r>
            <a:r>
              <a:rPr dirty="0" baseline="-13888" sz="2100" spc="-1462">
                <a:latin typeface="Microsoft YaHei"/>
                <a:cs typeface="Microsoft YaHei"/>
              </a:rPr>
              <a:t>本</a:t>
            </a:r>
            <a:r>
              <a:rPr dirty="0" sz="1400" spc="-10">
                <a:latin typeface="Microsoft YaHei"/>
                <a:cs typeface="Microsoft YaHei"/>
              </a:rPr>
              <a:t>1</a:t>
            </a:r>
            <a:r>
              <a:rPr dirty="0" sz="1400" spc="-1280">
                <a:latin typeface="Microsoft YaHei"/>
                <a:cs typeface="Microsoft YaHei"/>
              </a:rPr>
              <a:t>开</a:t>
            </a:r>
            <a:r>
              <a:rPr dirty="0" baseline="-13888" sz="2100" spc="-232">
                <a:latin typeface="Microsoft YaHei"/>
                <a:cs typeface="Microsoft YaHei"/>
              </a:rPr>
              <a:t>地</a:t>
            </a:r>
            <a:r>
              <a:rPr dirty="0" sz="1400" spc="-1275">
                <a:latin typeface="Microsoft YaHei"/>
                <a:cs typeface="Microsoft YaHei"/>
              </a:rPr>
              <a:t>站</a:t>
            </a:r>
            <a:r>
              <a:rPr dirty="0" baseline="-13888" sz="2100" spc="-240">
                <a:latin typeface="Microsoft YaHei"/>
                <a:cs typeface="Microsoft YaHei"/>
              </a:rPr>
              <a:t>文</a:t>
            </a:r>
            <a:r>
              <a:rPr dirty="0" sz="1400" spc="-1275">
                <a:latin typeface="Microsoft YaHei"/>
                <a:cs typeface="Microsoft YaHei"/>
              </a:rPr>
              <a:t>模</a:t>
            </a:r>
            <a:r>
              <a:rPr dirty="0" baseline="-13888" sz="2100" spc="-240">
                <a:latin typeface="Microsoft YaHei"/>
                <a:cs typeface="Microsoft YaHei"/>
              </a:rPr>
              <a:t>件</a:t>
            </a:r>
            <a:r>
              <a:rPr dirty="0" sz="1400" spc="-1275">
                <a:latin typeface="Microsoft YaHei"/>
                <a:cs typeface="Microsoft YaHei"/>
              </a:rPr>
              <a:t>板</a:t>
            </a:r>
            <a:r>
              <a:rPr dirty="0" baseline="-13888" sz="2100" spc="-52">
                <a:latin typeface="Microsoft YaHei"/>
                <a:cs typeface="Microsoft YaHei"/>
              </a:rPr>
              <a:t>；</a:t>
            </a:r>
            <a:r>
              <a:rPr dirty="0" sz="1400" spc="-35">
                <a:latin typeface="Microsoft YaHei"/>
                <a:cs typeface="Microsoft YaHei"/>
              </a:rPr>
              <a:t>.cfg）</a:t>
            </a:r>
            <a:r>
              <a:rPr dirty="0" sz="1400" spc="-20">
                <a:latin typeface="Microsoft YaHei"/>
                <a:cs typeface="Microsoft YaHei"/>
              </a:rPr>
              <a:t>，选择“下载至基站”</a:t>
            </a:r>
            <a:endParaRPr sz="1400">
              <a:latin typeface="Microsoft YaHei"/>
              <a:cs typeface="Microsoft YaHei"/>
            </a:endParaRPr>
          </a:p>
          <a:p>
            <a:pPr marL="155575">
              <a:lnSpc>
                <a:spcPct val="100000"/>
              </a:lnSpc>
              <a:spcBef>
                <a:spcPts val="1155"/>
              </a:spcBef>
            </a:pPr>
            <a:r>
              <a:rPr dirty="0" sz="1400" spc="-20">
                <a:latin typeface="Microsoft YaHei"/>
                <a:cs typeface="Microsoft YaHei"/>
              </a:rPr>
              <a:t>远程文件：显示的是基站</a:t>
            </a:r>
            <a:r>
              <a:rPr dirty="0" sz="1400" spc="-10">
                <a:latin typeface="Microsoft YaHei"/>
                <a:cs typeface="Microsoft YaHei"/>
              </a:rPr>
              <a:t>ata</a:t>
            </a:r>
            <a:r>
              <a:rPr dirty="0" sz="1400" spc="-30">
                <a:latin typeface="Microsoft YaHei"/>
                <a:cs typeface="Microsoft YaHei"/>
              </a:rPr>
              <a:t>存储结构。</a:t>
            </a:r>
            <a:endParaRPr sz="1400">
              <a:latin typeface="Microsoft YaHei"/>
              <a:cs typeface="Microsoft YaHei"/>
            </a:endParaRPr>
          </a:p>
        </p:txBody>
      </p:sp>
      <p:pic>
        <p:nvPicPr>
          <p:cNvPr id="35" name="object 35"/>
          <p:cNvPicPr/>
          <p:nvPr/>
        </p:nvPicPr>
        <p:blipFill>
          <a:blip r:embed="rId8" cstate="print"/>
          <a:stretch>
            <a:fillRect/>
          </a:stretch>
        </p:blipFill>
        <p:spPr>
          <a:xfrm>
            <a:off x="228600" y="1733550"/>
            <a:ext cx="8640952" cy="3024327"/>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152400" y="133350"/>
            <a:ext cx="8911590" cy="4836160"/>
            <a:chOff x="152400" y="133350"/>
            <a:chExt cx="8911590" cy="4836160"/>
          </a:xfrm>
        </p:grpSpPr>
        <p:sp>
          <p:nvSpPr>
            <p:cNvPr id="3" name="object 3" descr=""/>
            <p:cNvSpPr/>
            <p:nvPr/>
          </p:nvSpPr>
          <p:spPr>
            <a:xfrm>
              <a:off x="251523" y="1785556"/>
              <a:ext cx="8641080" cy="3018790"/>
            </a:xfrm>
            <a:custGeom>
              <a:avLst/>
              <a:gdLst/>
              <a:ahLst/>
              <a:cxnLst/>
              <a:rect l="l" t="t" r="r" b="b"/>
              <a:pathLst>
                <a:path w="8641080" h="3018790">
                  <a:moveTo>
                    <a:pt x="8640940" y="2260485"/>
                  </a:moveTo>
                  <a:lnTo>
                    <a:pt x="4137253" y="2260485"/>
                  </a:lnTo>
                  <a:lnTo>
                    <a:pt x="1429232" y="2260485"/>
                  </a:lnTo>
                  <a:lnTo>
                    <a:pt x="0" y="2260485"/>
                  </a:lnTo>
                  <a:lnTo>
                    <a:pt x="0" y="3018434"/>
                  </a:lnTo>
                  <a:lnTo>
                    <a:pt x="1429232" y="3018434"/>
                  </a:lnTo>
                  <a:lnTo>
                    <a:pt x="4137241" y="3018434"/>
                  </a:lnTo>
                  <a:lnTo>
                    <a:pt x="8640940" y="3018434"/>
                  </a:lnTo>
                  <a:lnTo>
                    <a:pt x="8640940" y="2260485"/>
                  </a:lnTo>
                  <a:close/>
                </a:path>
                <a:path w="8641080" h="3018790">
                  <a:moveTo>
                    <a:pt x="8640940" y="1252270"/>
                  </a:moveTo>
                  <a:lnTo>
                    <a:pt x="4137253" y="1252270"/>
                  </a:lnTo>
                  <a:lnTo>
                    <a:pt x="1429232" y="1252270"/>
                  </a:lnTo>
                  <a:lnTo>
                    <a:pt x="0" y="1252270"/>
                  </a:lnTo>
                  <a:lnTo>
                    <a:pt x="0" y="1775066"/>
                  </a:lnTo>
                  <a:lnTo>
                    <a:pt x="1429232" y="1775066"/>
                  </a:lnTo>
                  <a:lnTo>
                    <a:pt x="4137241" y="1775066"/>
                  </a:lnTo>
                  <a:lnTo>
                    <a:pt x="8640940" y="1775066"/>
                  </a:lnTo>
                  <a:lnTo>
                    <a:pt x="8640940" y="1252270"/>
                  </a:lnTo>
                  <a:close/>
                </a:path>
                <a:path w="8641080" h="3018790">
                  <a:moveTo>
                    <a:pt x="8640940" y="0"/>
                  </a:moveTo>
                  <a:lnTo>
                    <a:pt x="4137253" y="0"/>
                  </a:lnTo>
                  <a:lnTo>
                    <a:pt x="1429232" y="0"/>
                  </a:lnTo>
                  <a:lnTo>
                    <a:pt x="0" y="0"/>
                  </a:lnTo>
                  <a:lnTo>
                    <a:pt x="0" y="395465"/>
                  </a:lnTo>
                  <a:lnTo>
                    <a:pt x="1429232" y="395465"/>
                  </a:lnTo>
                  <a:lnTo>
                    <a:pt x="4137241" y="395465"/>
                  </a:lnTo>
                  <a:lnTo>
                    <a:pt x="8640940" y="395465"/>
                  </a:lnTo>
                  <a:lnTo>
                    <a:pt x="8640940" y="0"/>
                  </a:lnTo>
                  <a:close/>
                </a:path>
              </a:pathLst>
            </a:custGeom>
            <a:solidFill>
              <a:srgbClr val="BBE0E3">
                <a:alpha val="19999"/>
              </a:srgbClr>
            </a:solidFill>
          </p:spPr>
          <p:txBody>
            <a:bodyPr wrap="square" lIns="0" tIns="0" rIns="0" bIns="0" rtlCol="0"/>
            <a:lstStyle/>
            <a:p/>
          </p:txBody>
        </p:sp>
        <p:sp>
          <p:nvSpPr>
            <p:cNvPr id="4" name="object 4" descr=""/>
            <p:cNvSpPr/>
            <p:nvPr/>
          </p:nvSpPr>
          <p:spPr>
            <a:xfrm>
              <a:off x="1680749" y="1125239"/>
              <a:ext cx="0" cy="3685540"/>
            </a:xfrm>
            <a:custGeom>
              <a:avLst/>
              <a:gdLst/>
              <a:ahLst/>
              <a:cxnLst/>
              <a:rect l="l" t="t" r="r" b="b"/>
              <a:pathLst>
                <a:path w="0" h="3685540">
                  <a:moveTo>
                    <a:pt x="0" y="0"/>
                  </a:moveTo>
                  <a:lnTo>
                    <a:pt x="0" y="3685108"/>
                  </a:lnTo>
                </a:path>
              </a:pathLst>
            </a:custGeom>
            <a:ln w="12700">
              <a:solidFill>
                <a:srgbClr val="BBE0E3"/>
              </a:solidFill>
            </a:ln>
          </p:spPr>
          <p:txBody>
            <a:bodyPr wrap="square" lIns="0" tIns="0" rIns="0" bIns="0" rtlCol="0"/>
            <a:lstStyle/>
            <a:p/>
          </p:txBody>
        </p:sp>
        <p:sp>
          <p:nvSpPr>
            <p:cNvPr id="5" name="object 5" descr=""/>
            <p:cNvSpPr/>
            <p:nvPr/>
          </p:nvSpPr>
          <p:spPr>
            <a:xfrm>
              <a:off x="4388765" y="1125239"/>
              <a:ext cx="0" cy="3685540"/>
            </a:xfrm>
            <a:custGeom>
              <a:avLst/>
              <a:gdLst/>
              <a:ahLst/>
              <a:cxnLst/>
              <a:rect l="l" t="t" r="r" b="b"/>
              <a:pathLst>
                <a:path w="0" h="3685540">
                  <a:moveTo>
                    <a:pt x="0" y="0"/>
                  </a:moveTo>
                  <a:lnTo>
                    <a:pt x="0" y="3685108"/>
                  </a:lnTo>
                </a:path>
              </a:pathLst>
            </a:custGeom>
            <a:ln w="12700">
              <a:solidFill>
                <a:srgbClr val="BBE0E3"/>
              </a:solidFill>
            </a:ln>
          </p:spPr>
          <p:txBody>
            <a:bodyPr wrap="square" lIns="0" tIns="0" rIns="0" bIns="0" rtlCol="0"/>
            <a:lstStyle/>
            <a:p/>
          </p:txBody>
        </p:sp>
        <p:sp>
          <p:nvSpPr>
            <p:cNvPr id="6" name="object 6" descr=""/>
            <p:cNvSpPr/>
            <p:nvPr/>
          </p:nvSpPr>
          <p:spPr>
            <a:xfrm>
              <a:off x="245169" y="1785559"/>
              <a:ext cx="8653780" cy="0"/>
            </a:xfrm>
            <a:custGeom>
              <a:avLst/>
              <a:gdLst/>
              <a:ahLst/>
              <a:cxnLst/>
              <a:rect l="l" t="t" r="r" b="b"/>
              <a:pathLst>
                <a:path w="8653780" h="0">
                  <a:moveTo>
                    <a:pt x="0" y="0"/>
                  </a:moveTo>
                  <a:lnTo>
                    <a:pt x="8653665" y="0"/>
                  </a:lnTo>
                </a:path>
              </a:pathLst>
            </a:custGeom>
            <a:ln w="25400">
              <a:solidFill>
                <a:srgbClr val="BBE0E3"/>
              </a:solidFill>
            </a:ln>
          </p:spPr>
          <p:txBody>
            <a:bodyPr wrap="square" lIns="0" tIns="0" rIns="0" bIns="0" rtlCol="0"/>
            <a:lstStyle/>
            <a:p/>
          </p:txBody>
        </p:sp>
        <p:sp>
          <p:nvSpPr>
            <p:cNvPr id="7" name="object 7" descr=""/>
            <p:cNvSpPr/>
            <p:nvPr/>
          </p:nvSpPr>
          <p:spPr>
            <a:xfrm>
              <a:off x="245169" y="2181011"/>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8" name="object 8" descr=""/>
            <p:cNvSpPr/>
            <p:nvPr/>
          </p:nvSpPr>
          <p:spPr>
            <a:xfrm>
              <a:off x="245169" y="3037824"/>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9" name="object 9" descr=""/>
            <p:cNvSpPr/>
            <p:nvPr/>
          </p:nvSpPr>
          <p:spPr>
            <a:xfrm>
              <a:off x="245169" y="3560621"/>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10" name="object 10" descr=""/>
            <p:cNvSpPr/>
            <p:nvPr/>
          </p:nvSpPr>
          <p:spPr>
            <a:xfrm>
              <a:off x="245169" y="4046047"/>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11" name="object 11" descr=""/>
            <p:cNvSpPr/>
            <p:nvPr/>
          </p:nvSpPr>
          <p:spPr>
            <a:xfrm>
              <a:off x="251519" y="1125239"/>
              <a:ext cx="0" cy="3685540"/>
            </a:xfrm>
            <a:custGeom>
              <a:avLst/>
              <a:gdLst/>
              <a:ahLst/>
              <a:cxnLst/>
              <a:rect l="l" t="t" r="r" b="b"/>
              <a:pathLst>
                <a:path w="0" h="3685540">
                  <a:moveTo>
                    <a:pt x="0" y="0"/>
                  </a:moveTo>
                  <a:lnTo>
                    <a:pt x="0" y="3685108"/>
                  </a:lnTo>
                </a:path>
              </a:pathLst>
            </a:custGeom>
            <a:ln w="12700">
              <a:solidFill>
                <a:srgbClr val="BBE0E3"/>
              </a:solidFill>
            </a:ln>
          </p:spPr>
          <p:txBody>
            <a:bodyPr wrap="square" lIns="0" tIns="0" rIns="0" bIns="0" rtlCol="0"/>
            <a:lstStyle/>
            <a:p/>
          </p:txBody>
        </p:sp>
        <p:sp>
          <p:nvSpPr>
            <p:cNvPr id="12" name="object 12" descr=""/>
            <p:cNvSpPr/>
            <p:nvPr/>
          </p:nvSpPr>
          <p:spPr>
            <a:xfrm>
              <a:off x="8892480" y="1125239"/>
              <a:ext cx="0" cy="3685540"/>
            </a:xfrm>
            <a:custGeom>
              <a:avLst/>
              <a:gdLst/>
              <a:ahLst/>
              <a:cxnLst/>
              <a:rect l="l" t="t" r="r" b="b"/>
              <a:pathLst>
                <a:path w="0" h="3685540">
                  <a:moveTo>
                    <a:pt x="0" y="0"/>
                  </a:moveTo>
                  <a:lnTo>
                    <a:pt x="0" y="3685108"/>
                  </a:lnTo>
                </a:path>
              </a:pathLst>
            </a:custGeom>
            <a:ln w="12700">
              <a:solidFill>
                <a:srgbClr val="BBE0E3"/>
              </a:solidFill>
            </a:ln>
          </p:spPr>
          <p:txBody>
            <a:bodyPr wrap="square" lIns="0" tIns="0" rIns="0" bIns="0" rtlCol="0"/>
            <a:lstStyle/>
            <a:p/>
          </p:txBody>
        </p:sp>
        <p:sp>
          <p:nvSpPr>
            <p:cNvPr id="13" name="object 13" descr=""/>
            <p:cNvSpPr/>
            <p:nvPr/>
          </p:nvSpPr>
          <p:spPr>
            <a:xfrm>
              <a:off x="245169" y="1131589"/>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14" name="object 14" descr=""/>
            <p:cNvSpPr/>
            <p:nvPr/>
          </p:nvSpPr>
          <p:spPr>
            <a:xfrm>
              <a:off x="245169" y="4803997"/>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15" name="object 15" descr=""/>
            <p:cNvSpPr/>
            <p:nvPr/>
          </p:nvSpPr>
          <p:spPr>
            <a:xfrm>
              <a:off x="403923" y="1796389"/>
              <a:ext cx="8641080" cy="3160395"/>
            </a:xfrm>
            <a:custGeom>
              <a:avLst/>
              <a:gdLst/>
              <a:ahLst/>
              <a:cxnLst/>
              <a:rect l="l" t="t" r="r" b="b"/>
              <a:pathLst>
                <a:path w="8641080" h="3160395">
                  <a:moveTo>
                    <a:pt x="8640940" y="2571445"/>
                  </a:moveTo>
                  <a:lnTo>
                    <a:pt x="4508322" y="2571445"/>
                  </a:lnTo>
                  <a:lnTo>
                    <a:pt x="1803336" y="2571445"/>
                  </a:lnTo>
                  <a:lnTo>
                    <a:pt x="0" y="2571445"/>
                  </a:lnTo>
                  <a:lnTo>
                    <a:pt x="0" y="3160014"/>
                  </a:lnTo>
                  <a:lnTo>
                    <a:pt x="1803323" y="3160014"/>
                  </a:lnTo>
                  <a:lnTo>
                    <a:pt x="4508322" y="3160014"/>
                  </a:lnTo>
                  <a:lnTo>
                    <a:pt x="8640940" y="3160014"/>
                  </a:lnTo>
                  <a:lnTo>
                    <a:pt x="8640940" y="2571445"/>
                  </a:lnTo>
                  <a:close/>
                </a:path>
                <a:path w="8641080" h="3160395">
                  <a:moveTo>
                    <a:pt x="8640940" y="1528013"/>
                  </a:moveTo>
                  <a:lnTo>
                    <a:pt x="4508322" y="1528013"/>
                  </a:lnTo>
                  <a:lnTo>
                    <a:pt x="1803336" y="1528013"/>
                  </a:lnTo>
                  <a:lnTo>
                    <a:pt x="0" y="1528013"/>
                  </a:lnTo>
                  <a:lnTo>
                    <a:pt x="0" y="2116582"/>
                  </a:lnTo>
                  <a:lnTo>
                    <a:pt x="1803323" y="2116582"/>
                  </a:lnTo>
                  <a:lnTo>
                    <a:pt x="4508322" y="2116582"/>
                  </a:lnTo>
                  <a:lnTo>
                    <a:pt x="8640940" y="2116582"/>
                  </a:lnTo>
                  <a:lnTo>
                    <a:pt x="8640940" y="1528013"/>
                  </a:lnTo>
                  <a:close/>
                </a:path>
                <a:path w="8641080" h="3160395">
                  <a:moveTo>
                    <a:pt x="8640940" y="0"/>
                  </a:moveTo>
                  <a:lnTo>
                    <a:pt x="4508322" y="0"/>
                  </a:lnTo>
                  <a:lnTo>
                    <a:pt x="1803336" y="0"/>
                  </a:lnTo>
                  <a:lnTo>
                    <a:pt x="0" y="0"/>
                  </a:lnTo>
                  <a:lnTo>
                    <a:pt x="0" y="605637"/>
                  </a:lnTo>
                  <a:lnTo>
                    <a:pt x="1803323" y="605637"/>
                  </a:lnTo>
                  <a:lnTo>
                    <a:pt x="4508322" y="605637"/>
                  </a:lnTo>
                  <a:lnTo>
                    <a:pt x="8640940" y="605637"/>
                  </a:lnTo>
                  <a:lnTo>
                    <a:pt x="8640940" y="0"/>
                  </a:lnTo>
                  <a:close/>
                </a:path>
              </a:pathLst>
            </a:custGeom>
            <a:solidFill>
              <a:srgbClr val="BBE0E3">
                <a:alpha val="19999"/>
              </a:srgbClr>
            </a:solidFill>
          </p:spPr>
          <p:txBody>
            <a:bodyPr wrap="square" lIns="0" tIns="0" rIns="0" bIns="0" rtlCol="0"/>
            <a:lstStyle/>
            <a:p/>
          </p:txBody>
        </p:sp>
        <p:sp>
          <p:nvSpPr>
            <p:cNvPr id="16" name="object 16" descr=""/>
            <p:cNvSpPr/>
            <p:nvPr/>
          </p:nvSpPr>
          <p:spPr>
            <a:xfrm>
              <a:off x="2207248" y="1277640"/>
              <a:ext cx="0" cy="3685540"/>
            </a:xfrm>
            <a:custGeom>
              <a:avLst/>
              <a:gdLst/>
              <a:ahLst/>
              <a:cxnLst/>
              <a:rect l="l" t="t" r="r" b="b"/>
              <a:pathLst>
                <a:path w="0" h="3685540">
                  <a:moveTo>
                    <a:pt x="0" y="0"/>
                  </a:moveTo>
                  <a:lnTo>
                    <a:pt x="0" y="3685108"/>
                  </a:lnTo>
                </a:path>
              </a:pathLst>
            </a:custGeom>
            <a:ln w="12700">
              <a:solidFill>
                <a:srgbClr val="BBE0E3"/>
              </a:solidFill>
            </a:ln>
          </p:spPr>
          <p:txBody>
            <a:bodyPr wrap="square" lIns="0" tIns="0" rIns="0" bIns="0" rtlCol="0"/>
            <a:lstStyle/>
            <a:p/>
          </p:txBody>
        </p:sp>
        <p:sp>
          <p:nvSpPr>
            <p:cNvPr id="17" name="object 17" descr=""/>
            <p:cNvSpPr/>
            <p:nvPr/>
          </p:nvSpPr>
          <p:spPr>
            <a:xfrm>
              <a:off x="4912245" y="1277640"/>
              <a:ext cx="0" cy="3685540"/>
            </a:xfrm>
            <a:custGeom>
              <a:avLst/>
              <a:gdLst/>
              <a:ahLst/>
              <a:cxnLst/>
              <a:rect l="l" t="t" r="r" b="b"/>
              <a:pathLst>
                <a:path w="0" h="3685540">
                  <a:moveTo>
                    <a:pt x="0" y="2179909"/>
                  </a:moveTo>
                  <a:lnTo>
                    <a:pt x="0" y="3685108"/>
                  </a:lnTo>
                </a:path>
                <a:path w="0" h="3685540">
                  <a:moveTo>
                    <a:pt x="0" y="0"/>
                  </a:moveTo>
                  <a:lnTo>
                    <a:pt x="0" y="1963882"/>
                  </a:lnTo>
                </a:path>
              </a:pathLst>
            </a:custGeom>
            <a:ln w="12700">
              <a:solidFill>
                <a:srgbClr val="BBE0E3"/>
              </a:solidFill>
            </a:ln>
          </p:spPr>
          <p:txBody>
            <a:bodyPr wrap="square" lIns="0" tIns="0" rIns="0" bIns="0" rtlCol="0"/>
            <a:lstStyle/>
            <a:p/>
          </p:txBody>
        </p:sp>
        <p:sp>
          <p:nvSpPr>
            <p:cNvPr id="18" name="object 18" descr=""/>
            <p:cNvSpPr/>
            <p:nvPr/>
          </p:nvSpPr>
          <p:spPr>
            <a:xfrm>
              <a:off x="397568" y="1796390"/>
              <a:ext cx="8653780" cy="0"/>
            </a:xfrm>
            <a:custGeom>
              <a:avLst/>
              <a:gdLst/>
              <a:ahLst/>
              <a:cxnLst/>
              <a:rect l="l" t="t" r="r" b="b"/>
              <a:pathLst>
                <a:path w="8653780" h="0">
                  <a:moveTo>
                    <a:pt x="0" y="0"/>
                  </a:moveTo>
                  <a:lnTo>
                    <a:pt x="8653665" y="0"/>
                  </a:lnTo>
                </a:path>
              </a:pathLst>
            </a:custGeom>
            <a:ln w="25400">
              <a:solidFill>
                <a:srgbClr val="BBE0E3"/>
              </a:solidFill>
            </a:ln>
          </p:spPr>
          <p:txBody>
            <a:bodyPr wrap="square" lIns="0" tIns="0" rIns="0" bIns="0" rtlCol="0"/>
            <a:lstStyle/>
            <a:p/>
          </p:txBody>
        </p:sp>
        <p:sp>
          <p:nvSpPr>
            <p:cNvPr id="19" name="object 19" descr=""/>
            <p:cNvSpPr/>
            <p:nvPr/>
          </p:nvSpPr>
          <p:spPr>
            <a:xfrm>
              <a:off x="397568" y="2402033"/>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20" name="object 20" descr=""/>
            <p:cNvSpPr/>
            <p:nvPr/>
          </p:nvSpPr>
          <p:spPr>
            <a:xfrm>
              <a:off x="397568" y="3324396"/>
              <a:ext cx="8653780" cy="0"/>
            </a:xfrm>
            <a:custGeom>
              <a:avLst/>
              <a:gdLst/>
              <a:ahLst/>
              <a:cxnLst/>
              <a:rect l="l" t="t" r="r" b="b"/>
              <a:pathLst>
                <a:path w="8653780" h="0">
                  <a:moveTo>
                    <a:pt x="0" y="0"/>
                  </a:moveTo>
                  <a:lnTo>
                    <a:pt x="4405266" y="0"/>
                  </a:lnTo>
                </a:path>
                <a:path w="8653780" h="0">
                  <a:moveTo>
                    <a:pt x="5773425" y="0"/>
                  </a:moveTo>
                  <a:lnTo>
                    <a:pt x="8653665" y="0"/>
                  </a:lnTo>
                </a:path>
              </a:pathLst>
            </a:custGeom>
            <a:ln w="12700">
              <a:solidFill>
                <a:srgbClr val="BBE0E3"/>
              </a:solidFill>
            </a:ln>
          </p:spPr>
          <p:txBody>
            <a:bodyPr wrap="square" lIns="0" tIns="0" rIns="0" bIns="0" rtlCol="0"/>
            <a:lstStyle/>
            <a:p/>
          </p:txBody>
        </p:sp>
        <p:sp>
          <p:nvSpPr>
            <p:cNvPr id="21" name="object 21" descr=""/>
            <p:cNvSpPr/>
            <p:nvPr/>
          </p:nvSpPr>
          <p:spPr>
            <a:xfrm>
              <a:off x="397568" y="3912957"/>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22" name="object 22" descr=""/>
            <p:cNvSpPr/>
            <p:nvPr/>
          </p:nvSpPr>
          <p:spPr>
            <a:xfrm>
              <a:off x="397568" y="4367836"/>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23" name="object 23" descr=""/>
            <p:cNvSpPr/>
            <p:nvPr/>
          </p:nvSpPr>
          <p:spPr>
            <a:xfrm>
              <a:off x="403918" y="1277640"/>
              <a:ext cx="0" cy="3685540"/>
            </a:xfrm>
            <a:custGeom>
              <a:avLst/>
              <a:gdLst/>
              <a:ahLst/>
              <a:cxnLst/>
              <a:rect l="l" t="t" r="r" b="b"/>
              <a:pathLst>
                <a:path w="0" h="3685540">
                  <a:moveTo>
                    <a:pt x="0" y="0"/>
                  </a:moveTo>
                  <a:lnTo>
                    <a:pt x="0" y="3685108"/>
                  </a:lnTo>
                </a:path>
              </a:pathLst>
            </a:custGeom>
            <a:ln w="12700">
              <a:solidFill>
                <a:srgbClr val="BBE0E3"/>
              </a:solidFill>
            </a:ln>
          </p:spPr>
          <p:txBody>
            <a:bodyPr wrap="square" lIns="0" tIns="0" rIns="0" bIns="0" rtlCol="0"/>
            <a:lstStyle/>
            <a:p/>
          </p:txBody>
        </p:sp>
        <p:sp>
          <p:nvSpPr>
            <p:cNvPr id="24" name="object 24" descr=""/>
            <p:cNvSpPr/>
            <p:nvPr/>
          </p:nvSpPr>
          <p:spPr>
            <a:xfrm>
              <a:off x="9044878" y="1277640"/>
              <a:ext cx="0" cy="3685540"/>
            </a:xfrm>
            <a:custGeom>
              <a:avLst/>
              <a:gdLst/>
              <a:ahLst/>
              <a:cxnLst/>
              <a:rect l="l" t="t" r="r" b="b"/>
              <a:pathLst>
                <a:path w="0" h="3685540">
                  <a:moveTo>
                    <a:pt x="0" y="0"/>
                  </a:moveTo>
                  <a:lnTo>
                    <a:pt x="0" y="3685108"/>
                  </a:lnTo>
                </a:path>
              </a:pathLst>
            </a:custGeom>
            <a:ln w="12700">
              <a:solidFill>
                <a:srgbClr val="BBE0E3"/>
              </a:solidFill>
            </a:ln>
          </p:spPr>
          <p:txBody>
            <a:bodyPr wrap="square" lIns="0" tIns="0" rIns="0" bIns="0" rtlCol="0"/>
            <a:lstStyle/>
            <a:p/>
          </p:txBody>
        </p:sp>
        <p:sp>
          <p:nvSpPr>
            <p:cNvPr id="25" name="object 25" descr=""/>
            <p:cNvSpPr/>
            <p:nvPr/>
          </p:nvSpPr>
          <p:spPr>
            <a:xfrm>
              <a:off x="397568" y="1283990"/>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sp>
          <p:nvSpPr>
            <p:cNvPr id="26" name="object 26" descr=""/>
            <p:cNvSpPr/>
            <p:nvPr/>
          </p:nvSpPr>
          <p:spPr>
            <a:xfrm>
              <a:off x="397568" y="4956397"/>
              <a:ext cx="8653780" cy="0"/>
            </a:xfrm>
            <a:custGeom>
              <a:avLst/>
              <a:gdLst/>
              <a:ahLst/>
              <a:cxnLst/>
              <a:rect l="l" t="t" r="r" b="b"/>
              <a:pathLst>
                <a:path w="8653780" h="0">
                  <a:moveTo>
                    <a:pt x="0" y="0"/>
                  </a:moveTo>
                  <a:lnTo>
                    <a:pt x="8653665" y="0"/>
                  </a:lnTo>
                </a:path>
              </a:pathLst>
            </a:custGeom>
            <a:ln w="12700">
              <a:solidFill>
                <a:srgbClr val="BBE0E3"/>
              </a:solidFill>
            </a:ln>
          </p:spPr>
          <p:txBody>
            <a:bodyPr wrap="square" lIns="0" tIns="0" rIns="0" bIns="0" rtlCol="0"/>
            <a:lstStyle/>
            <a:p/>
          </p:txBody>
        </p:sp>
      </p:grpSp>
      <p:sp>
        <p:nvSpPr>
          <p:cNvPr id="27" name="object 27"/>
          <p:cNvSpPr txBox="1">
            <a:spLocks noGrp="1"/>
          </p:cNvSpPr>
          <p:nvPr>
            <p:ph type="title"/>
          </p:nvPr>
        </p:nvSpPr>
        <p:spPr>
          <a:xfrm>
            <a:off x="3571619" y="113125"/>
            <a:ext cx="2467610" cy="513080"/>
          </a:xfrm>
          <a:prstGeom prst="rect"/>
        </p:spPr>
        <p:txBody>
          <a:bodyPr wrap="square" lIns="0" tIns="12065" rIns="0" bIns="0" rtlCol="0" vert="horz">
            <a:spAutoFit/>
          </a:bodyPr>
          <a:lstStyle/>
          <a:p>
            <a:pPr marL="12700">
              <a:lnSpc>
                <a:spcPct val="100000"/>
              </a:lnSpc>
              <a:spcBef>
                <a:spcPts val="95"/>
              </a:spcBef>
            </a:pPr>
            <a:r>
              <a:rPr dirty="0" spc="-40"/>
              <a:t>基站状态查询</a:t>
            </a:r>
          </a:p>
        </p:txBody>
      </p:sp>
      <p:sp>
        <p:nvSpPr>
          <p:cNvPr id="28" name="object 28" descr=""/>
          <p:cNvSpPr txBox="1"/>
          <p:nvPr/>
        </p:nvSpPr>
        <p:spPr>
          <a:xfrm>
            <a:off x="6193645" y="1318620"/>
            <a:ext cx="1179830" cy="269875"/>
          </a:xfrm>
          <a:prstGeom prst="rect">
            <a:avLst/>
          </a:prstGeom>
        </p:spPr>
        <p:txBody>
          <a:bodyPr wrap="square" lIns="0" tIns="12700" rIns="0" bIns="0" rtlCol="0" vert="horz">
            <a:spAutoFit/>
          </a:bodyPr>
          <a:lstStyle/>
          <a:p>
            <a:pPr marL="38100">
              <a:lnSpc>
                <a:spcPct val="100000"/>
              </a:lnSpc>
              <a:spcBef>
                <a:spcPts val="100"/>
              </a:spcBef>
            </a:pPr>
            <a:r>
              <a:rPr dirty="0" sz="1600" spc="-70">
                <a:latin typeface="SimSun"/>
                <a:cs typeface="SimSun"/>
              </a:rPr>
              <a:t>正常</a:t>
            </a:r>
            <a:r>
              <a:rPr dirty="0" baseline="-21825" sz="2100" spc="-1904">
                <a:latin typeface="SimSun"/>
                <a:cs typeface="SimSun"/>
              </a:rPr>
              <a:t>正</a:t>
            </a:r>
            <a:r>
              <a:rPr dirty="0" sz="1600" spc="-345">
                <a:latin typeface="SimSun"/>
                <a:cs typeface="SimSun"/>
              </a:rPr>
              <a:t>状</a:t>
            </a:r>
            <a:r>
              <a:rPr dirty="0" baseline="-21825" sz="2100" spc="-1597">
                <a:latin typeface="SimSun"/>
                <a:cs typeface="SimSun"/>
              </a:rPr>
              <a:t>常</a:t>
            </a:r>
            <a:r>
              <a:rPr dirty="0" sz="1600" spc="-550">
                <a:latin typeface="SimSun"/>
                <a:cs typeface="SimSun"/>
              </a:rPr>
              <a:t>态</a:t>
            </a:r>
            <a:r>
              <a:rPr dirty="0" baseline="-21825" sz="2100" spc="-44">
                <a:latin typeface="SimSun"/>
                <a:cs typeface="SimSun"/>
              </a:rPr>
              <a:t>状态</a:t>
            </a:r>
            <a:endParaRPr baseline="-21825" sz="2100">
              <a:latin typeface="SimSun"/>
              <a:cs typeface="SimSun"/>
            </a:endParaRPr>
          </a:p>
        </p:txBody>
      </p:sp>
      <p:sp>
        <p:nvSpPr>
          <p:cNvPr id="29" name="object 29" descr=""/>
          <p:cNvSpPr txBox="1"/>
          <p:nvPr/>
        </p:nvSpPr>
        <p:spPr>
          <a:xfrm>
            <a:off x="4723347" y="3178449"/>
            <a:ext cx="1427480" cy="395605"/>
          </a:xfrm>
          <a:prstGeom prst="rect">
            <a:avLst/>
          </a:prstGeom>
        </p:spPr>
        <p:txBody>
          <a:bodyPr wrap="square" lIns="0" tIns="62865" rIns="0" bIns="0" rtlCol="0" vert="horz">
            <a:spAutoFit/>
          </a:bodyPr>
          <a:lstStyle/>
          <a:p>
            <a:pPr marL="257175" indent="-257810">
              <a:lnSpc>
                <a:spcPct val="75300"/>
              </a:lnSpc>
              <a:spcBef>
                <a:spcPts val="495"/>
              </a:spcBef>
            </a:pPr>
            <a:r>
              <a:rPr dirty="0" sz="1400">
                <a:latin typeface="Microsoft YaHei"/>
                <a:cs typeface="Microsoft YaHei"/>
              </a:rPr>
              <a:t>g</a:t>
            </a:r>
            <a:r>
              <a:rPr dirty="0" sz="1400" spc="-10">
                <a:latin typeface="Microsoft YaHei"/>
                <a:cs typeface="Microsoft YaHei"/>
              </a:rPr>
              <a:t> </a:t>
            </a:r>
            <a:r>
              <a:rPr dirty="0" sz="1400">
                <a:latin typeface="Microsoft YaHei"/>
                <a:cs typeface="Microsoft YaHei"/>
              </a:rPr>
              <a:t>AMF</a:t>
            </a:r>
            <a:r>
              <a:rPr dirty="0" sz="1400" spc="-20">
                <a:latin typeface="Microsoft YaHei"/>
                <a:cs typeface="Microsoft YaHei"/>
              </a:rPr>
              <a:t> 地址、</a:t>
            </a:r>
            <a:r>
              <a:rPr dirty="0" sz="1400" spc="-25">
                <a:latin typeface="Microsoft YaHei"/>
                <a:cs typeface="Microsoft YaHei"/>
              </a:rPr>
              <a:t>NE </a:t>
            </a:r>
            <a:r>
              <a:rPr dirty="0" sz="1400" spc="-20">
                <a:latin typeface="Microsoft YaHei"/>
                <a:cs typeface="Microsoft YaHei"/>
              </a:rPr>
              <a:t>FPGA</a:t>
            </a:r>
            <a:r>
              <a:rPr dirty="0" sz="1400" spc="-30">
                <a:latin typeface="Microsoft YaHei"/>
                <a:cs typeface="Microsoft YaHei"/>
              </a:rPr>
              <a:t>状态：同</a:t>
            </a:r>
            <a:endParaRPr sz="1400">
              <a:latin typeface="Microsoft YaHei"/>
              <a:cs typeface="Microsoft YaHei"/>
            </a:endParaRPr>
          </a:p>
        </p:txBody>
      </p:sp>
      <p:sp>
        <p:nvSpPr>
          <p:cNvPr id="30" name="object 30" descr=""/>
          <p:cNvSpPr txBox="1"/>
          <p:nvPr/>
        </p:nvSpPr>
        <p:spPr>
          <a:xfrm>
            <a:off x="319744" y="1862478"/>
            <a:ext cx="610235" cy="2913380"/>
          </a:xfrm>
          <a:prstGeom prst="rect">
            <a:avLst/>
          </a:prstGeom>
        </p:spPr>
        <p:txBody>
          <a:bodyPr wrap="square" lIns="0" tIns="10160" rIns="0" bIns="0" rtlCol="0" vert="horz">
            <a:spAutoFit/>
          </a:bodyPr>
          <a:lstStyle/>
          <a:p>
            <a:pPr>
              <a:lnSpc>
                <a:spcPct val="100000"/>
              </a:lnSpc>
              <a:spcBef>
                <a:spcPts val="80"/>
              </a:spcBef>
            </a:pPr>
            <a:r>
              <a:rPr dirty="0" sz="1400" spc="-220">
                <a:latin typeface="Microsoft YaHei"/>
                <a:cs typeface="Microsoft YaHei"/>
              </a:rPr>
              <a:t>链</a:t>
            </a:r>
            <a:r>
              <a:rPr dirty="0" baseline="-35714" sz="2100" spc="-1822">
                <a:latin typeface="Microsoft YaHei"/>
                <a:cs typeface="Microsoft YaHei"/>
              </a:rPr>
              <a:t>板</a:t>
            </a:r>
            <a:r>
              <a:rPr dirty="0" sz="1400" spc="-220">
                <a:latin typeface="Microsoft YaHei"/>
                <a:cs typeface="Microsoft YaHei"/>
              </a:rPr>
              <a:t>路</a:t>
            </a:r>
            <a:r>
              <a:rPr dirty="0" baseline="-35714" sz="2100" spc="-1822">
                <a:latin typeface="Microsoft YaHei"/>
                <a:cs typeface="Microsoft YaHei"/>
              </a:rPr>
              <a:t>卡</a:t>
            </a:r>
            <a:r>
              <a:rPr dirty="0" sz="1400" spc="-50">
                <a:latin typeface="Microsoft YaHei"/>
                <a:cs typeface="Microsoft YaHei"/>
              </a:rPr>
              <a:t>公</a:t>
            </a:r>
            <a:endParaRPr sz="1400">
              <a:latin typeface="Microsoft YaHei"/>
              <a:cs typeface="Microsoft YaHei"/>
            </a:endParaRPr>
          </a:p>
          <a:p>
            <a:pPr>
              <a:lnSpc>
                <a:spcPct val="100000"/>
              </a:lnSpc>
              <a:spcBef>
                <a:spcPts val="350"/>
              </a:spcBef>
            </a:pPr>
            <a:endParaRPr sz="1400">
              <a:latin typeface="Microsoft YaHei"/>
              <a:cs typeface="Microsoft YaHei"/>
            </a:endParaRPr>
          </a:p>
          <a:p>
            <a:pPr marL="152400" marR="69215" indent="-152400">
              <a:lnSpc>
                <a:spcPct val="118900"/>
              </a:lnSpc>
            </a:pPr>
            <a:r>
              <a:rPr dirty="0" sz="1400" spc="-35">
                <a:latin typeface="Microsoft YaHei"/>
                <a:cs typeface="Microsoft YaHei"/>
              </a:rPr>
              <a:t>管理站射频</a:t>
            </a:r>
            <a:endParaRPr sz="1400">
              <a:latin typeface="Microsoft YaHei"/>
              <a:cs typeface="Microsoft YaHei"/>
            </a:endParaRPr>
          </a:p>
          <a:p>
            <a:pPr marL="152400" marR="44450" indent="-152400">
              <a:lnSpc>
                <a:spcPct val="149700"/>
              </a:lnSpc>
              <a:spcBef>
                <a:spcPts val="919"/>
              </a:spcBef>
            </a:pPr>
            <a:r>
              <a:rPr dirty="0" sz="1400" spc="-10">
                <a:latin typeface="Microsoft YaHei"/>
                <a:cs typeface="Microsoft YaHei"/>
              </a:rPr>
              <a:t>Ping</a:t>
            </a:r>
            <a:r>
              <a:rPr dirty="0" sz="1400" spc="-50">
                <a:latin typeface="Microsoft YaHei"/>
                <a:cs typeface="Microsoft YaHei"/>
              </a:rPr>
              <a:t>状</a:t>
            </a:r>
            <a:r>
              <a:rPr dirty="0" sz="1400" spc="-35">
                <a:latin typeface="Microsoft YaHei"/>
                <a:cs typeface="Microsoft YaHei"/>
              </a:rPr>
              <a:t>收发</a:t>
            </a:r>
            <a:endParaRPr sz="1400">
              <a:latin typeface="Microsoft YaHei"/>
              <a:cs typeface="Microsoft YaHei"/>
            </a:endParaRPr>
          </a:p>
          <a:p>
            <a:pPr>
              <a:lnSpc>
                <a:spcPts val="1455"/>
              </a:lnSpc>
            </a:pPr>
            <a:r>
              <a:rPr dirty="0" sz="1400" spc="-10">
                <a:latin typeface="Microsoft YaHei"/>
                <a:cs typeface="Microsoft YaHei"/>
              </a:rPr>
              <a:t>SCTP</a:t>
            </a:r>
            <a:r>
              <a:rPr dirty="0" sz="1400" spc="-50">
                <a:latin typeface="Microsoft YaHei"/>
                <a:cs typeface="Microsoft YaHei"/>
              </a:rPr>
              <a:t>链</a:t>
            </a:r>
            <a:endParaRPr sz="1400">
              <a:latin typeface="Microsoft YaHei"/>
              <a:cs typeface="Microsoft YaHei"/>
            </a:endParaRPr>
          </a:p>
          <a:p>
            <a:pPr marL="152400">
              <a:lnSpc>
                <a:spcPct val="100000"/>
              </a:lnSpc>
              <a:spcBef>
                <a:spcPts val="969"/>
              </a:spcBef>
            </a:pPr>
            <a:r>
              <a:rPr dirty="0" sz="1400" spc="-35">
                <a:latin typeface="Microsoft YaHei"/>
                <a:cs typeface="Microsoft YaHei"/>
              </a:rPr>
              <a:t>小区</a:t>
            </a:r>
            <a:endParaRPr sz="1400">
              <a:latin typeface="Microsoft YaHei"/>
              <a:cs typeface="Microsoft YaHei"/>
            </a:endParaRPr>
          </a:p>
          <a:p>
            <a:pPr>
              <a:lnSpc>
                <a:spcPct val="100000"/>
              </a:lnSpc>
              <a:spcBef>
                <a:spcPts val="565"/>
              </a:spcBef>
            </a:pPr>
            <a:r>
              <a:rPr dirty="0" sz="1400" spc="-10">
                <a:latin typeface="Microsoft YaHei"/>
                <a:cs typeface="Microsoft YaHei"/>
              </a:rPr>
              <a:t>GPS</a:t>
            </a:r>
            <a:r>
              <a:rPr dirty="0" sz="1400" spc="-50">
                <a:latin typeface="Microsoft YaHei"/>
                <a:cs typeface="Microsoft YaHei"/>
              </a:rPr>
              <a:t>时</a:t>
            </a:r>
            <a:endParaRPr sz="1400">
              <a:latin typeface="Microsoft YaHei"/>
              <a:cs typeface="Microsoft YaHei"/>
            </a:endParaRPr>
          </a:p>
          <a:p>
            <a:pPr marL="152400">
              <a:lnSpc>
                <a:spcPct val="100000"/>
              </a:lnSpc>
              <a:spcBef>
                <a:spcPts val="185"/>
              </a:spcBef>
            </a:pPr>
            <a:r>
              <a:rPr dirty="0" sz="1400" spc="-35">
                <a:latin typeface="Microsoft YaHei"/>
                <a:cs typeface="Microsoft YaHei"/>
              </a:rPr>
              <a:t>射频</a:t>
            </a:r>
            <a:endParaRPr sz="1400">
              <a:latin typeface="Microsoft YaHei"/>
              <a:cs typeface="Microsoft YaHei"/>
            </a:endParaRPr>
          </a:p>
        </p:txBody>
      </p:sp>
      <p:sp>
        <p:nvSpPr>
          <p:cNvPr id="31" name="object 31" descr=""/>
          <p:cNvSpPr txBox="1"/>
          <p:nvPr/>
        </p:nvSpPr>
        <p:spPr>
          <a:xfrm>
            <a:off x="827412" y="1819679"/>
            <a:ext cx="7350125" cy="2956560"/>
          </a:xfrm>
          <a:prstGeom prst="rect">
            <a:avLst/>
          </a:prstGeom>
        </p:spPr>
        <p:txBody>
          <a:bodyPr wrap="square" lIns="0" tIns="52705" rIns="0" bIns="0" rtlCol="0" vert="horz">
            <a:spAutoFit/>
          </a:bodyPr>
          <a:lstStyle/>
          <a:p>
            <a:pPr>
              <a:lnSpc>
                <a:spcPct val="100000"/>
              </a:lnSpc>
              <a:spcBef>
                <a:spcPts val="415"/>
              </a:spcBef>
              <a:tabLst>
                <a:tab pos="921385" algn="l"/>
              </a:tabLst>
            </a:pPr>
            <a:r>
              <a:rPr dirty="0" baseline="-35714" sz="2100" spc="-1822">
                <a:latin typeface="Microsoft YaHei"/>
                <a:cs typeface="Microsoft YaHei"/>
              </a:rPr>
              <a:t>状</a:t>
            </a:r>
            <a:r>
              <a:rPr dirty="0" sz="1400" spc="-220">
                <a:latin typeface="Microsoft YaHei"/>
                <a:cs typeface="Microsoft YaHei"/>
              </a:rPr>
              <a:t>共</a:t>
            </a:r>
            <a:r>
              <a:rPr dirty="0" baseline="-35714" sz="2100" spc="-1822">
                <a:latin typeface="Microsoft YaHei"/>
                <a:cs typeface="Microsoft YaHei"/>
              </a:rPr>
              <a:t>态</a:t>
            </a:r>
            <a:r>
              <a:rPr dirty="0" sz="1400" spc="-20">
                <a:latin typeface="Microsoft YaHei"/>
                <a:cs typeface="Microsoft YaHei"/>
              </a:rPr>
              <a:t>信</a:t>
            </a:r>
            <a:r>
              <a:rPr dirty="0" sz="1400" spc="-50">
                <a:latin typeface="Microsoft YaHei"/>
                <a:cs typeface="Microsoft YaHei"/>
              </a:rPr>
              <a:t>息</a:t>
            </a:r>
            <a:r>
              <a:rPr dirty="0" sz="1400">
                <a:latin typeface="Microsoft YaHei"/>
                <a:cs typeface="Microsoft YaHei"/>
              </a:rPr>
              <a:t>	</a:t>
            </a:r>
            <a:r>
              <a:rPr dirty="0" sz="1400" spc="-20">
                <a:latin typeface="Microsoft YaHei"/>
                <a:cs typeface="Microsoft YaHei"/>
              </a:rPr>
              <a:t>链路</a:t>
            </a:r>
            <a:r>
              <a:rPr dirty="0" sz="1400" spc="-70">
                <a:latin typeface="Microsoft YaHei"/>
                <a:cs typeface="Microsoft YaHei"/>
              </a:rPr>
              <a:t>公</a:t>
            </a:r>
            <a:r>
              <a:rPr dirty="0" baseline="5952" sz="2100" spc="-2047">
                <a:latin typeface="Microsoft YaHei"/>
                <a:cs typeface="Microsoft YaHei"/>
              </a:rPr>
              <a:t>工</a:t>
            </a:r>
            <a:r>
              <a:rPr dirty="0" sz="1400" spc="-70">
                <a:latin typeface="Microsoft YaHei"/>
                <a:cs typeface="Microsoft YaHei"/>
              </a:rPr>
              <a:t>共</a:t>
            </a:r>
            <a:r>
              <a:rPr dirty="0" baseline="5952" sz="2100" spc="-2047">
                <a:latin typeface="Microsoft YaHei"/>
                <a:cs typeface="Microsoft YaHei"/>
              </a:rPr>
              <a:t>具</a:t>
            </a:r>
            <a:r>
              <a:rPr dirty="0" sz="1400" spc="-70">
                <a:latin typeface="Microsoft YaHei"/>
                <a:cs typeface="Microsoft YaHei"/>
              </a:rPr>
              <a:t>信</a:t>
            </a:r>
            <a:r>
              <a:rPr dirty="0" baseline="5952" sz="2100" spc="-2047">
                <a:latin typeface="Microsoft YaHei"/>
                <a:cs typeface="Microsoft YaHei"/>
              </a:rPr>
              <a:t>→</a:t>
            </a:r>
            <a:r>
              <a:rPr dirty="0" sz="1400" spc="-70">
                <a:latin typeface="Microsoft YaHei"/>
                <a:cs typeface="Microsoft YaHei"/>
              </a:rPr>
              <a:t>息</a:t>
            </a:r>
            <a:r>
              <a:rPr dirty="0" baseline="5952" sz="2100" spc="-30">
                <a:latin typeface="Microsoft YaHei"/>
                <a:cs typeface="Microsoft YaHei"/>
              </a:rPr>
              <a:t>一单开站→板卡资源</a:t>
            </a:r>
            <a:r>
              <a:rPr dirty="0" baseline="5952" sz="2100" spc="-1530">
                <a:latin typeface="Microsoft YaHei"/>
                <a:cs typeface="Microsoft YaHei"/>
              </a:rPr>
              <a:t>→</a:t>
            </a:r>
            <a:r>
              <a:rPr dirty="0" sz="1400" spc="-15">
                <a:latin typeface="Microsoft YaHei"/>
                <a:cs typeface="Microsoft YaHei"/>
              </a:rPr>
              <a:t>S</a:t>
            </a:r>
            <a:r>
              <a:rPr dirty="0" sz="1400" spc="-645">
                <a:latin typeface="Microsoft YaHei"/>
                <a:cs typeface="Microsoft YaHei"/>
              </a:rPr>
              <a:t>1</a:t>
            </a:r>
            <a:r>
              <a:rPr dirty="0" baseline="5952" sz="2100" spc="-1177">
                <a:latin typeface="Microsoft YaHei"/>
                <a:cs typeface="Microsoft YaHei"/>
              </a:rPr>
              <a:t>板</a:t>
            </a:r>
            <a:r>
              <a:rPr dirty="0" sz="1400" spc="-20">
                <a:latin typeface="Microsoft YaHei"/>
                <a:cs typeface="Microsoft YaHei"/>
              </a:rPr>
              <a:t>链</a:t>
            </a:r>
            <a:r>
              <a:rPr dirty="0" sz="1400" spc="-320">
                <a:latin typeface="Microsoft YaHei"/>
                <a:cs typeface="Microsoft YaHei"/>
              </a:rPr>
              <a:t>路</a:t>
            </a:r>
            <a:r>
              <a:rPr dirty="0" baseline="13888" sz="2100" spc="-1672">
                <a:latin typeface="Microsoft YaHei"/>
                <a:cs typeface="Microsoft YaHei"/>
              </a:rPr>
              <a:t>板</a:t>
            </a:r>
            <a:r>
              <a:rPr dirty="0" sz="1400" spc="-320">
                <a:latin typeface="Microsoft YaHei"/>
                <a:cs typeface="Microsoft YaHei"/>
              </a:rPr>
              <a:t>运</a:t>
            </a:r>
            <a:r>
              <a:rPr dirty="0" baseline="13888" sz="2100" spc="-1672">
                <a:latin typeface="Microsoft YaHei"/>
                <a:cs typeface="Microsoft YaHei"/>
              </a:rPr>
              <a:t>卡</a:t>
            </a:r>
            <a:r>
              <a:rPr dirty="0" sz="1400" spc="-320">
                <a:latin typeface="Microsoft YaHei"/>
                <a:cs typeface="Microsoft YaHei"/>
              </a:rPr>
              <a:t>行</a:t>
            </a:r>
            <a:r>
              <a:rPr dirty="0" baseline="13888" sz="2100" spc="-1672">
                <a:latin typeface="Microsoft YaHei"/>
                <a:cs typeface="Microsoft YaHei"/>
              </a:rPr>
              <a:t>过</a:t>
            </a:r>
            <a:r>
              <a:rPr dirty="0" sz="1400" spc="-320">
                <a:latin typeface="Microsoft YaHei"/>
                <a:cs typeface="Microsoft YaHei"/>
              </a:rPr>
              <a:t>状</a:t>
            </a:r>
            <a:r>
              <a:rPr dirty="0" baseline="13888" sz="2100" spc="-1672">
                <a:latin typeface="Microsoft YaHei"/>
                <a:cs typeface="Microsoft YaHei"/>
              </a:rPr>
              <a:t>程</a:t>
            </a:r>
            <a:r>
              <a:rPr dirty="0" sz="1400" spc="-320">
                <a:latin typeface="Microsoft YaHei"/>
                <a:cs typeface="Microsoft YaHei"/>
              </a:rPr>
              <a:t>态</a:t>
            </a:r>
            <a:r>
              <a:rPr dirty="0" baseline="13888" sz="2100" spc="-1672">
                <a:latin typeface="Microsoft YaHei"/>
                <a:cs typeface="Microsoft YaHei"/>
              </a:rPr>
              <a:t>状</a:t>
            </a:r>
            <a:r>
              <a:rPr dirty="0" sz="1400" spc="-320">
                <a:latin typeface="Microsoft YaHei"/>
                <a:cs typeface="Microsoft YaHei"/>
              </a:rPr>
              <a:t>：</a:t>
            </a:r>
            <a:r>
              <a:rPr dirty="0" baseline="13888" sz="2100" spc="-1672">
                <a:latin typeface="Microsoft YaHei"/>
                <a:cs typeface="Microsoft YaHei"/>
              </a:rPr>
              <a:t>态</a:t>
            </a:r>
            <a:r>
              <a:rPr dirty="0" sz="1400" spc="-320">
                <a:latin typeface="Microsoft YaHei"/>
                <a:cs typeface="Microsoft YaHei"/>
              </a:rPr>
              <a:t>正</a:t>
            </a:r>
            <a:r>
              <a:rPr dirty="0" baseline="13888" sz="2100" spc="-1672">
                <a:latin typeface="Microsoft YaHei"/>
                <a:cs typeface="Microsoft YaHei"/>
              </a:rPr>
              <a:t>：</a:t>
            </a:r>
            <a:r>
              <a:rPr dirty="0" sz="1400" spc="-320">
                <a:latin typeface="Microsoft YaHei"/>
                <a:cs typeface="Microsoft YaHei"/>
              </a:rPr>
              <a:t>常</a:t>
            </a:r>
            <a:r>
              <a:rPr dirty="0" baseline="13888" sz="2100" spc="-30">
                <a:latin typeface="Microsoft YaHei"/>
                <a:cs typeface="Microsoft YaHei"/>
              </a:rPr>
              <a:t>初始化结束状</a:t>
            </a:r>
            <a:r>
              <a:rPr dirty="0" baseline="13888" sz="2100" spc="-75">
                <a:latin typeface="Microsoft YaHei"/>
                <a:cs typeface="Microsoft YaHei"/>
              </a:rPr>
              <a:t>态</a:t>
            </a:r>
            <a:endParaRPr baseline="13888" sz="2100">
              <a:latin typeface="Microsoft YaHei"/>
              <a:cs typeface="Microsoft YaHei"/>
            </a:endParaRPr>
          </a:p>
          <a:p>
            <a:pPr marL="3629660" indent="-2181860">
              <a:lnSpc>
                <a:spcPts val="1520"/>
              </a:lnSpc>
              <a:spcBef>
                <a:spcPts val="660"/>
              </a:spcBef>
              <a:tabLst>
                <a:tab pos="4152900" algn="l"/>
              </a:tabLst>
            </a:pPr>
            <a:r>
              <a:rPr dirty="0" baseline="7936" sz="2100" spc="-30">
                <a:latin typeface="Microsoft YaHei"/>
                <a:cs typeface="Microsoft YaHei"/>
              </a:rPr>
              <a:t>卡状态查</a:t>
            </a:r>
            <a:r>
              <a:rPr dirty="0" baseline="7936" sz="2100" spc="-75">
                <a:latin typeface="Microsoft YaHei"/>
                <a:cs typeface="Microsoft YaHei"/>
              </a:rPr>
              <a:t>询</a:t>
            </a:r>
            <a:r>
              <a:rPr dirty="0" baseline="7936" sz="2100">
                <a:latin typeface="Microsoft YaHei"/>
                <a:cs typeface="Microsoft YaHei"/>
              </a:rPr>
              <a:t>		</a:t>
            </a:r>
            <a:r>
              <a:rPr dirty="0" sz="1400" spc="-20">
                <a:latin typeface="Microsoft YaHei"/>
                <a:cs typeface="Microsoft YaHei"/>
              </a:rPr>
              <a:t>运行状态：正常；管理状态：解锁</a:t>
            </a:r>
            <a:r>
              <a:rPr dirty="0" sz="1400" spc="-10">
                <a:latin typeface="Microsoft YaHei"/>
                <a:cs typeface="Microsoft YaHei"/>
              </a:rPr>
              <a:t>定</a:t>
            </a:r>
            <a:r>
              <a:rPr dirty="0" sz="1400" spc="-20">
                <a:latin typeface="Microsoft YaHei"/>
                <a:cs typeface="Microsoft YaHei"/>
              </a:rPr>
              <a:t>状</a:t>
            </a:r>
            <a:r>
              <a:rPr dirty="0" sz="1400" spc="-50">
                <a:latin typeface="Microsoft YaHei"/>
                <a:cs typeface="Microsoft YaHei"/>
              </a:rPr>
              <a:t>态</a:t>
            </a:r>
            <a:r>
              <a:rPr dirty="0" sz="1400" spc="-20">
                <a:latin typeface="Microsoft YaHei"/>
                <a:cs typeface="Microsoft YaHei"/>
              </a:rPr>
              <a:t>管理站类型；OMC</a:t>
            </a:r>
            <a:endParaRPr sz="1400">
              <a:latin typeface="Microsoft YaHei"/>
              <a:cs typeface="Microsoft YaHei"/>
            </a:endParaRPr>
          </a:p>
          <a:p>
            <a:pPr marL="24765">
              <a:lnSpc>
                <a:spcPts val="725"/>
              </a:lnSpc>
              <a:tabLst>
                <a:tab pos="921385" algn="l"/>
                <a:tab pos="4152900" algn="l"/>
              </a:tabLst>
            </a:pPr>
            <a:r>
              <a:rPr dirty="0" baseline="-19841" sz="2100" spc="-30">
                <a:latin typeface="Microsoft YaHei"/>
                <a:cs typeface="Microsoft YaHei"/>
              </a:rPr>
              <a:t>信</a:t>
            </a:r>
            <a:r>
              <a:rPr dirty="0" baseline="-19841" sz="2100" spc="-75">
                <a:latin typeface="Microsoft YaHei"/>
                <a:cs typeface="Microsoft YaHei"/>
              </a:rPr>
              <a:t>息</a:t>
            </a:r>
            <a:r>
              <a:rPr dirty="0" baseline="-19841" sz="2100">
                <a:latin typeface="Microsoft YaHei"/>
                <a:cs typeface="Microsoft YaHei"/>
              </a:rPr>
              <a:t>	</a:t>
            </a:r>
            <a:r>
              <a:rPr dirty="0" baseline="-19841" sz="2100" spc="-30">
                <a:latin typeface="Microsoft YaHei"/>
                <a:cs typeface="Microsoft YaHei"/>
              </a:rPr>
              <a:t>局向→管理站→管理站信</a:t>
            </a:r>
            <a:r>
              <a:rPr dirty="0" baseline="-19841" sz="2100" spc="-75">
                <a:latin typeface="Microsoft YaHei"/>
                <a:cs typeface="Microsoft YaHei"/>
              </a:rPr>
              <a:t>息</a:t>
            </a:r>
            <a:r>
              <a:rPr dirty="0" baseline="-19841" sz="2100">
                <a:latin typeface="Microsoft YaHei"/>
                <a:cs typeface="Microsoft YaHei"/>
              </a:rPr>
              <a:t>	</a:t>
            </a:r>
            <a:r>
              <a:rPr dirty="0" sz="1400" spc="-20">
                <a:latin typeface="Microsoft YaHei"/>
                <a:cs typeface="Microsoft YaHei"/>
              </a:rPr>
              <a:t>射频单元是否匹配网规：匹配网</a:t>
            </a:r>
            <a:r>
              <a:rPr dirty="0" sz="1400" spc="-50">
                <a:latin typeface="Microsoft YaHei"/>
                <a:cs typeface="Microsoft YaHei"/>
              </a:rPr>
              <a:t>规</a:t>
            </a:r>
            <a:endParaRPr sz="1400">
              <a:latin typeface="Microsoft YaHei"/>
              <a:cs typeface="Microsoft YaHei"/>
            </a:endParaRPr>
          </a:p>
          <a:p>
            <a:pPr>
              <a:lnSpc>
                <a:spcPct val="100000"/>
              </a:lnSpc>
              <a:spcBef>
                <a:spcPts val="819"/>
              </a:spcBef>
              <a:tabLst>
                <a:tab pos="1447800" algn="l"/>
              </a:tabLst>
            </a:pPr>
            <a:r>
              <a:rPr dirty="0" sz="1400" spc="-20">
                <a:latin typeface="Microsoft YaHei"/>
                <a:cs typeface="Microsoft YaHei"/>
              </a:rPr>
              <a:t>单元状</a:t>
            </a:r>
            <a:r>
              <a:rPr dirty="0" sz="1400" spc="-50">
                <a:latin typeface="Microsoft YaHei"/>
                <a:cs typeface="Microsoft YaHei"/>
              </a:rPr>
              <a:t>态</a:t>
            </a:r>
            <a:r>
              <a:rPr dirty="0" sz="1400">
                <a:latin typeface="Microsoft YaHei"/>
                <a:cs typeface="Microsoft YaHei"/>
              </a:rPr>
              <a:t>	</a:t>
            </a:r>
            <a:r>
              <a:rPr dirty="0" sz="1400" spc="-20">
                <a:latin typeface="Microsoft YaHei"/>
                <a:cs typeface="Microsoft YaHei"/>
              </a:rPr>
              <a:t>工具→一单开站→射频资</a:t>
            </a:r>
            <a:r>
              <a:rPr dirty="0" sz="1400">
                <a:latin typeface="Microsoft YaHei"/>
                <a:cs typeface="Microsoft YaHei"/>
              </a:rPr>
              <a:t>源</a:t>
            </a:r>
            <a:r>
              <a:rPr dirty="0" sz="1400" spc="140">
                <a:latin typeface="Microsoft YaHei"/>
                <a:cs typeface="Microsoft YaHei"/>
              </a:rPr>
              <a:t> </a:t>
            </a:r>
            <a:r>
              <a:rPr dirty="0" baseline="29761" sz="2100" spc="-30">
                <a:latin typeface="Microsoft YaHei"/>
                <a:cs typeface="Microsoft YaHei"/>
              </a:rPr>
              <a:t>管理</a:t>
            </a:r>
            <a:r>
              <a:rPr dirty="0" baseline="29761" sz="2100" spc="-142">
                <a:latin typeface="Microsoft YaHei"/>
                <a:cs typeface="Microsoft YaHei"/>
              </a:rPr>
              <a:t>站</a:t>
            </a:r>
            <a:r>
              <a:rPr dirty="0" sz="1400" spc="-1345">
                <a:latin typeface="Microsoft YaHei"/>
                <a:cs typeface="Microsoft YaHei"/>
              </a:rPr>
              <a:t>射</a:t>
            </a:r>
            <a:r>
              <a:rPr dirty="0" baseline="29761" sz="2100" spc="-142">
                <a:latin typeface="Microsoft YaHei"/>
                <a:cs typeface="Microsoft YaHei"/>
              </a:rPr>
              <a:t>在</a:t>
            </a:r>
            <a:r>
              <a:rPr dirty="0" sz="1400" spc="-1345">
                <a:latin typeface="Microsoft YaHei"/>
                <a:cs typeface="Microsoft YaHei"/>
              </a:rPr>
              <a:t>频</a:t>
            </a:r>
            <a:r>
              <a:rPr dirty="0" baseline="29761" sz="2100" spc="-142">
                <a:latin typeface="Microsoft YaHei"/>
                <a:cs typeface="Microsoft YaHei"/>
              </a:rPr>
              <a:t>线</a:t>
            </a:r>
            <a:r>
              <a:rPr dirty="0" sz="1400" spc="-1345">
                <a:latin typeface="Microsoft YaHei"/>
                <a:cs typeface="Microsoft YaHei"/>
              </a:rPr>
              <a:t>单</a:t>
            </a:r>
            <a:r>
              <a:rPr dirty="0" baseline="29761" sz="2100" spc="-142">
                <a:latin typeface="Microsoft YaHei"/>
                <a:cs typeface="Microsoft YaHei"/>
              </a:rPr>
              <a:t>状</a:t>
            </a:r>
            <a:r>
              <a:rPr dirty="0" sz="1400" spc="-1345">
                <a:latin typeface="Microsoft YaHei"/>
                <a:cs typeface="Microsoft YaHei"/>
              </a:rPr>
              <a:t>元</a:t>
            </a:r>
            <a:r>
              <a:rPr dirty="0" baseline="29761" sz="2100" spc="-142">
                <a:latin typeface="Microsoft YaHei"/>
                <a:cs typeface="Microsoft YaHei"/>
              </a:rPr>
              <a:t>态</a:t>
            </a:r>
            <a:r>
              <a:rPr dirty="0" sz="1400" spc="-1345">
                <a:latin typeface="Microsoft YaHei"/>
                <a:cs typeface="Microsoft YaHei"/>
              </a:rPr>
              <a:t>接</a:t>
            </a:r>
            <a:r>
              <a:rPr dirty="0" baseline="29761" sz="2100" spc="-142">
                <a:latin typeface="Microsoft YaHei"/>
                <a:cs typeface="Microsoft YaHei"/>
              </a:rPr>
              <a:t>：</a:t>
            </a:r>
            <a:r>
              <a:rPr dirty="0" sz="1400" spc="-1345">
                <a:latin typeface="Microsoft YaHei"/>
                <a:cs typeface="Microsoft YaHei"/>
              </a:rPr>
              <a:t>入</a:t>
            </a:r>
            <a:r>
              <a:rPr dirty="0" baseline="29761" sz="2100" spc="-142">
                <a:latin typeface="Microsoft YaHei"/>
                <a:cs typeface="Microsoft YaHei"/>
              </a:rPr>
              <a:t>在</a:t>
            </a:r>
            <a:r>
              <a:rPr dirty="0" sz="1400" spc="-1345">
                <a:latin typeface="Microsoft YaHei"/>
                <a:cs typeface="Microsoft YaHei"/>
              </a:rPr>
              <a:t>阶</a:t>
            </a:r>
            <a:r>
              <a:rPr dirty="0" baseline="29761" sz="2100" spc="-142">
                <a:latin typeface="Microsoft YaHei"/>
                <a:cs typeface="Microsoft YaHei"/>
              </a:rPr>
              <a:t>线</a:t>
            </a:r>
            <a:r>
              <a:rPr dirty="0" sz="1400" spc="-20">
                <a:latin typeface="Microsoft YaHei"/>
                <a:cs typeface="Microsoft YaHei"/>
              </a:rPr>
              <a:t>段标志</a:t>
            </a:r>
            <a:r>
              <a:rPr dirty="0" sz="1400" spc="-10">
                <a:latin typeface="Microsoft YaHei"/>
                <a:cs typeface="Microsoft YaHei"/>
              </a:rPr>
              <a:t>：RRU接</a:t>
            </a:r>
            <a:r>
              <a:rPr dirty="0" sz="1400" spc="-20">
                <a:latin typeface="Microsoft YaHei"/>
                <a:cs typeface="Microsoft YaHei"/>
              </a:rPr>
              <a:t>入完</a:t>
            </a:r>
            <a:r>
              <a:rPr dirty="0" sz="1400" spc="-50">
                <a:latin typeface="Microsoft YaHei"/>
                <a:cs typeface="Microsoft YaHei"/>
              </a:rPr>
              <a:t>成</a:t>
            </a:r>
            <a:endParaRPr sz="1400">
              <a:latin typeface="Microsoft YaHei"/>
              <a:cs typeface="Microsoft YaHei"/>
            </a:endParaRPr>
          </a:p>
          <a:p>
            <a:pPr marL="4863465">
              <a:lnSpc>
                <a:spcPts val="1310"/>
              </a:lnSpc>
              <a:spcBef>
                <a:spcPts val="819"/>
              </a:spcBef>
            </a:pPr>
            <a:r>
              <a:rPr dirty="0" sz="1400" spc="-25">
                <a:latin typeface="Microsoft YaHei"/>
                <a:cs typeface="Microsoft YaHei"/>
              </a:rPr>
              <a:t>操作状态：可用</a:t>
            </a:r>
            <a:endParaRPr sz="1400">
              <a:latin typeface="Microsoft YaHei"/>
              <a:cs typeface="Microsoft YaHei"/>
            </a:endParaRPr>
          </a:p>
          <a:p>
            <a:pPr marL="49530">
              <a:lnSpc>
                <a:spcPts val="1100"/>
              </a:lnSpc>
              <a:tabLst>
                <a:tab pos="922019" algn="l"/>
                <a:tab pos="3629660" algn="l"/>
                <a:tab pos="4152900" algn="l"/>
                <a:tab pos="5283200" algn="l"/>
              </a:tabLst>
            </a:pPr>
            <a:r>
              <a:rPr dirty="0" sz="1400" spc="-50">
                <a:latin typeface="Microsoft YaHei"/>
                <a:cs typeface="Microsoft YaHei"/>
              </a:rPr>
              <a:t>态</a:t>
            </a:r>
            <a:r>
              <a:rPr dirty="0" sz="1400">
                <a:latin typeface="Microsoft YaHei"/>
                <a:cs typeface="Microsoft YaHei"/>
              </a:rPr>
              <a:t>	</a:t>
            </a:r>
            <a:r>
              <a:rPr dirty="0" sz="1400" spc="-20">
                <a:latin typeface="Microsoft YaHei"/>
                <a:cs typeface="Microsoft YaHei"/>
              </a:rPr>
              <a:t>跟踪测试→诊断测试→eNB</a:t>
            </a:r>
            <a:r>
              <a:rPr dirty="0" sz="1400">
                <a:latin typeface="Microsoft YaHei"/>
                <a:cs typeface="Microsoft YaHei"/>
              </a:rPr>
              <a:t>	</a:t>
            </a:r>
            <a:r>
              <a:rPr dirty="0" sz="1400" spc="-25">
                <a:latin typeface="Microsoft YaHei"/>
                <a:cs typeface="Microsoft YaHei"/>
              </a:rPr>
              <a:t>Pin</a:t>
            </a:r>
            <a:r>
              <a:rPr dirty="0" sz="1400">
                <a:latin typeface="Microsoft YaHei"/>
                <a:cs typeface="Microsoft YaHei"/>
              </a:rPr>
              <a:t>	</a:t>
            </a:r>
            <a:r>
              <a:rPr dirty="0" baseline="37698" sz="2100" spc="-30">
                <a:latin typeface="Microsoft YaHei"/>
                <a:cs typeface="Microsoft YaHei"/>
              </a:rPr>
              <a:t>射频单</a:t>
            </a:r>
            <a:r>
              <a:rPr dirty="0" baseline="37698" sz="2100" spc="-75">
                <a:latin typeface="Microsoft YaHei"/>
                <a:cs typeface="Microsoft YaHei"/>
              </a:rPr>
              <a:t>元</a:t>
            </a:r>
            <a:r>
              <a:rPr dirty="0" baseline="37698" sz="2100">
                <a:latin typeface="Microsoft YaHei"/>
                <a:cs typeface="Microsoft YaHei"/>
              </a:rPr>
              <a:t>	</a:t>
            </a:r>
            <a:r>
              <a:rPr dirty="0" sz="1400" spc="-10">
                <a:latin typeface="Microsoft YaHei"/>
                <a:cs typeface="Microsoft YaHei"/>
              </a:rPr>
              <a:t>A</a:t>
            </a:r>
            <a:r>
              <a:rPr dirty="0" sz="1400" spc="-20">
                <a:latin typeface="Microsoft YaHei"/>
                <a:cs typeface="Microsoft YaHei"/>
              </a:rPr>
              <a:t>地</a:t>
            </a:r>
            <a:r>
              <a:rPr dirty="0" sz="1400" spc="-10">
                <a:latin typeface="Microsoft YaHei"/>
                <a:cs typeface="Microsoft YaHei"/>
              </a:rPr>
              <a:t>址</a:t>
            </a:r>
            <a:r>
              <a:rPr dirty="0" sz="1400" spc="-20">
                <a:latin typeface="Microsoft YaHei"/>
                <a:cs typeface="Microsoft YaHei"/>
              </a:rPr>
              <a:t>等都</a:t>
            </a:r>
            <a:r>
              <a:rPr dirty="0" sz="1400" spc="-10">
                <a:latin typeface="Microsoft YaHei"/>
                <a:cs typeface="Microsoft YaHei"/>
              </a:rPr>
              <a:t>能ping</a:t>
            </a:r>
            <a:r>
              <a:rPr dirty="0" sz="1400" spc="-50">
                <a:latin typeface="Microsoft YaHei"/>
                <a:cs typeface="Microsoft YaHei"/>
              </a:rPr>
              <a:t>通</a:t>
            </a:r>
            <a:endParaRPr sz="1400">
              <a:latin typeface="Microsoft YaHei"/>
              <a:cs typeface="Microsoft YaHei"/>
            </a:endParaRPr>
          </a:p>
          <a:p>
            <a:pPr marL="5322570">
              <a:lnSpc>
                <a:spcPts val="1255"/>
              </a:lnSpc>
            </a:pPr>
            <a:r>
              <a:rPr dirty="0" sz="1400" spc="-25">
                <a:latin typeface="Microsoft YaHei"/>
                <a:cs typeface="Microsoft YaHei"/>
              </a:rPr>
              <a:t>步；在位状态：在位；</a:t>
            </a:r>
            <a:endParaRPr sz="1400">
              <a:latin typeface="Microsoft YaHei"/>
              <a:cs typeface="Microsoft YaHei"/>
            </a:endParaRPr>
          </a:p>
          <a:p>
            <a:pPr>
              <a:lnSpc>
                <a:spcPts val="1350"/>
              </a:lnSpc>
              <a:tabLst>
                <a:tab pos="1447800" algn="l"/>
              </a:tabLst>
            </a:pPr>
            <a:r>
              <a:rPr dirty="0" sz="1400" spc="-20">
                <a:latin typeface="Microsoft YaHei"/>
                <a:cs typeface="Microsoft YaHei"/>
              </a:rPr>
              <a:t>光信</a:t>
            </a:r>
            <a:r>
              <a:rPr dirty="0" sz="1400" spc="-50">
                <a:latin typeface="Microsoft YaHei"/>
                <a:cs typeface="Microsoft YaHei"/>
              </a:rPr>
              <a:t>息</a:t>
            </a:r>
            <a:r>
              <a:rPr dirty="0" sz="1400">
                <a:latin typeface="Microsoft YaHei"/>
                <a:cs typeface="Microsoft YaHei"/>
              </a:rPr>
              <a:t>	</a:t>
            </a:r>
            <a:r>
              <a:rPr dirty="0" sz="1400" spc="-20">
                <a:latin typeface="Microsoft YaHei"/>
                <a:cs typeface="Microsoft YaHei"/>
              </a:rPr>
              <a:t>工具→一单开站→光模</a:t>
            </a:r>
            <a:r>
              <a:rPr dirty="0" sz="1400" spc="-50">
                <a:latin typeface="Microsoft YaHei"/>
                <a:cs typeface="Microsoft YaHei"/>
              </a:rPr>
              <a:t>块</a:t>
            </a:r>
            <a:endParaRPr sz="1400">
              <a:latin typeface="Microsoft YaHei"/>
              <a:cs typeface="Microsoft YaHei"/>
            </a:endParaRPr>
          </a:p>
          <a:p>
            <a:pPr marL="101600">
              <a:lnSpc>
                <a:spcPts val="1565"/>
              </a:lnSpc>
              <a:tabLst>
                <a:tab pos="921385" algn="l"/>
                <a:tab pos="3629025" algn="l"/>
              </a:tabLst>
            </a:pPr>
            <a:r>
              <a:rPr dirty="0" sz="1400" spc="-50">
                <a:latin typeface="Microsoft YaHei"/>
                <a:cs typeface="Microsoft YaHei"/>
              </a:rPr>
              <a:t>路</a:t>
            </a:r>
            <a:r>
              <a:rPr dirty="0" sz="1400">
                <a:latin typeface="Microsoft YaHei"/>
                <a:cs typeface="Microsoft YaHei"/>
              </a:rPr>
              <a:t>	</a:t>
            </a:r>
            <a:r>
              <a:rPr dirty="0" sz="1400" spc="-20">
                <a:latin typeface="Microsoft YaHei"/>
                <a:cs typeface="Microsoft YaHei"/>
              </a:rPr>
              <a:t>工具→一单开站→传输资</a:t>
            </a:r>
            <a:r>
              <a:rPr dirty="0" sz="1400" spc="-50">
                <a:latin typeface="Microsoft YaHei"/>
                <a:cs typeface="Microsoft YaHei"/>
              </a:rPr>
              <a:t>源</a:t>
            </a:r>
            <a:r>
              <a:rPr dirty="0" sz="1400">
                <a:latin typeface="Microsoft YaHei"/>
                <a:cs typeface="Microsoft YaHei"/>
              </a:rPr>
              <a:t>	</a:t>
            </a:r>
            <a:r>
              <a:rPr dirty="0" sz="1400" spc="-10">
                <a:latin typeface="Microsoft YaHei"/>
                <a:cs typeface="Microsoft YaHei"/>
              </a:rPr>
              <a:t>SCTP</a:t>
            </a:r>
            <a:r>
              <a:rPr dirty="0" sz="1400" spc="-695">
                <a:latin typeface="Microsoft YaHei"/>
                <a:cs typeface="Microsoft YaHei"/>
              </a:rPr>
              <a:t>链</a:t>
            </a:r>
            <a:r>
              <a:rPr dirty="0" baseline="7936" sz="2100" spc="-1110">
                <a:latin typeface="Microsoft YaHei"/>
                <a:cs typeface="Microsoft YaHei"/>
              </a:rPr>
              <a:t>发</a:t>
            </a:r>
            <a:r>
              <a:rPr dirty="0" sz="1400" spc="-695">
                <a:latin typeface="Microsoft YaHei"/>
                <a:cs typeface="Microsoft YaHei"/>
              </a:rPr>
              <a:t>路</a:t>
            </a:r>
            <a:r>
              <a:rPr dirty="0" baseline="7936" sz="2100" spc="-1110">
                <a:latin typeface="Microsoft YaHei"/>
                <a:cs typeface="Microsoft YaHei"/>
              </a:rPr>
              <a:t>送</a:t>
            </a:r>
            <a:r>
              <a:rPr dirty="0" sz="1400" spc="-695">
                <a:latin typeface="Microsoft YaHei"/>
                <a:cs typeface="Microsoft YaHei"/>
              </a:rPr>
              <a:t>建</a:t>
            </a:r>
            <a:r>
              <a:rPr dirty="0" baseline="7936" sz="2100" spc="-15">
                <a:latin typeface="Microsoft YaHei"/>
                <a:cs typeface="Microsoft YaHei"/>
              </a:rPr>
              <a:t>/</a:t>
            </a:r>
            <a:r>
              <a:rPr dirty="0" baseline="7936" sz="2100" spc="-2010">
                <a:latin typeface="Microsoft YaHei"/>
                <a:cs typeface="Microsoft YaHei"/>
              </a:rPr>
              <a:t>接</a:t>
            </a:r>
            <a:r>
              <a:rPr dirty="0" sz="1400" spc="-100">
                <a:latin typeface="Microsoft YaHei"/>
                <a:cs typeface="Microsoft YaHei"/>
              </a:rPr>
              <a:t>立</a:t>
            </a:r>
            <a:r>
              <a:rPr dirty="0" baseline="7936" sz="2100" spc="-2010">
                <a:latin typeface="Microsoft YaHei"/>
                <a:cs typeface="Microsoft YaHei"/>
              </a:rPr>
              <a:t>收</a:t>
            </a:r>
            <a:r>
              <a:rPr dirty="0" sz="1400" spc="-100">
                <a:latin typeface="Microsoft YaHei"/>
                <a:cs typeface="Microsoft YaHei"/>
              </a:rPr>
              <a:t>状</a:t>
            </a:r>
            <a:r>
              <a:rPr dirty="0" baseline="7936" sz="2100" spc="-2010">
                <a:latin typeface="Microsoft YaHei"/>
                <a:cs typeface="Microsoft YaHei"/>
              </a:rPr>
              <a:t>功</a:t>
            </a:r>
            <a:r>
              <a:rPr dirty="0" sz="1400" spc="-100">
                <a:latin typeface="Microsoft YaHei"/>
                <a:cs typeface="Microsoft YaHei"/>
              </a:rPr>
              <a:t>态</a:t>
            </a:r>
            <a:r>
              <a:rPr dirty="0" baseline="7936" sz="2100" spc="-2010">
                <a:latin typeface="Microsoft YaHei"/>
                <a:cs typeface="Microsoft YaHei"/>
              </a:rPr>
              <a:t>率</a:t>
            </a:r>
            <a:r>
              <a:rPr dirty="0" sz="1400" spc="-90">
                <a:latin typeface="Microsoft YaHei"/>
                <a:cs typeface="Microsoft YaHei"/>
              </a:rPr>
              <a:t>：</a:t>
            </a:r>
            <a:r>
              <a:rPr dirty="0" baseline="7936" sz="2100" spc="-2017">
                <a:latin typeface="Microsoft YaHei"/>
                <a:cs typeface="Microsoft YaHei"/>
              </a:rPr>
              <a:t>；</a:t>
            </a:r>
            <a:r>
              <a:rPr dirty="0" sz="1400" spc="-100">
                <a:latin typeface="Microsoft YaHei"/>
                <a:cs typeface="Microsoft YaHei"/>
              </a:rPr>
              <a:t>与</a:t>
            </a:r>
            <a:r>
              <a:rPr dirty="0" baseline="7936" sz="2100" spc="-794">
                <a:latin typeface="Microsoft YaHei"/>
                <a:cs typeface="Microsoft YaHei"/>
              </a:rPr>
              <a:t>-</a:t>
            </a:r>
            <a:r>
              <a:rPr dirty="0" sz="1400" spc="-885">
                <a:latin typeface="Microsoft YaHei"/>
                <a:cs typeface="Microsoft YaHei"/>
              </a:rPr>
              <a:t>对</a:t>
            </a:r>
            <a:r>
              <a:rPr dirty="0" baseline="7936" sz="2100" spc="-7">
                <a:latin typeface="Microsoft YaHei"/>
                <a:cs typeface="Microsoft YaHei"/>
              </a:rPr>
              <a:t>1</a:t>
            </a:r>
            <a:r>
              <a:rPr dirty="0" baseline="7936" sz="2100" spc="-1185">
                <a:latin typeface="Microsoft YaHei"/>
                <a:cs typeface="Microsoft YaHei"/>
              </a:rPr>
              <a:t>0</a:t>
            </a:r>
            <a:r>
              <a:rPr dirty="0" sz="1400" spc="-640">
                <a:latin typeface="Microsoft YaHei"/>
                <a:cs typeface="Microsoft YaHei"/>
              </a:rPr>
              <a:t>端</a:t>
            </a:r>
            <a:r>
              <a:rPr dirty="0" baseline="7936" sz="2100" spc="-1185">
                <a:latin typeface="Microsoft YaHei"/>
                <a:cs typeface="Microsoft YaHei"/>
              </a:rPr>
              <a:t>（</a:t>
            </a:r>
            <a:r>
              <a:rPr dirty="0" sz="1400" spc="-640">
                <a:latin typeface="Microsoft YaHei"/>
                <a:cs typeface="Microsoft YaHei"/>
              </a:rPr>
              <a:t>连</a:t>
            </a:r>
            <a:r>
              <a:rPr dirty="0" baseline="7936" sz="2100" spc="-315">
                <a:latin typeface="Microsoft YaHei"/>
                <a:cs typeface="Microsoft YaHei"/>
              </a:rPr>
              <a:t>0</a:t>
            </a:r>
            <a:r>
              <a:rPr dirty="0" sz="1400" spc="-1220">
                <a:latin typeface="Microsoft YaHei"/>
                <a:cs typeface="Microsoft YaHei"/>
              </a:rPr>
              <a:t>接</a:t>
            </a:r>
            <a:r>
              <a:rPr dirty="0" baseline="7936" sz="2100" spc="-22">
                <a:latin typeface="Microsoft YaHei"/>
                <a:cs typeface="Microsoft YaHei"/>
              </a:rPr>
              <a:t>.</a:t>
            </a:r>
            <a:r>
              <a:rPr dirty="0" baseline="7936" sz="2100" spc="-7">
                <a:latin typeface="Microsoft YaHei"/>
                <a:cs typeface="Microsoft YaHei"/>
              </a:rPr>
              <a:t>1</a:t>
            </a:r>
            <a:r>
              <a:rPr dirty="0" baseline="7936" sz="2100" spc="-1297">
                <a:latin typeface="Microsoft YaHei"/>
                <a:cs typeface="Microsoft YaHei"/>
              </a:rPr>
              <a:t>d</a:t>
            </a:r>
            <a:r>
              <a:rPr dirty="0" sz="1400" spc="-560">
                <a:latin typeface="Microsoft YaHei"/>
                <a:cs typeface="Microsoft YaHei"/>
              </a:rPr>
              <a:t>成</a:t>
            </a:r>
            <a:r>
              <a:rPr dirty="0" baseline="7936" sz="2100" spc="-540">
                <a:latin typeface="Microsoft YaHei"/>
                <a:cs typeface="Microsoft YaHei"/>
              </a:rPr>
              <a:t>b</a:t>
            </a:r>
            <a:r>
              <a:rPr dirty="0" sz="1400" spc="-1060">
                <a:latin typeface="Microsoft YaHei"/>
                <a:cs typeface="Microsoft YaHei"/>
              </a:rPr>
              <a:t>功</a:t>
            </a:r>
            <a:r>
              <a:rPr dirty="0" baseline="7936" sz="2100" spc="-37">
                <a:latin typeface="Microsoft YaHei"/>
                <a:cs typeface="Microsoft YaHei"/>
              </a:rPr>
              <a:t>m）</a:t>
            </a:r>
            <a:r>
              <a:rPr dirty="0" baseline="7936" sz="2100" spc="-15">
                <a:latin typeface="Microsoft YaHei"/>
                <a:cs typeface="Microsoft YaHei"/>
              </a:rPr>
              <a:t>左</a:t>
            </a:r>
            <a:r>
              <a:rPr dirty="0" baseline="7936" sz="2100" spc="-75">
                <a:latin typeface="Microsoft YaHei"/>
                <a:cs typeface="Microsoft YaHei"/>
              </a:rPr>
              <a:t>右</a:t>
            </a:r>
            <a:endParaRPr baseline="7936" sz="2100">
              <a:latin typeface="Microsoft YaHei"/>
              <a:cs typeface="Microsoft YaHei"/>
            </a:endParaRPr>
          </a:p>
          <a:p>
            <a:pPr marL="3128010">
              <a:lnSpc>
                <a:spcPts val="840"/>
              </a:lnSpc>
              <a:spcBef>
                <a:spcPts val="975"/>
              </a:spcBef>
              <a:tabLst>
                <a:tab pos="4152900" algn="l"/>
              </a:tabLst>
            </a:pPr>
            <a:r>
              <a:rPr dirty="0" sz="1400" spc="-20">
                <a:latin typeface="Microsoft YaHei"/>
                <a:cs typeface="Microsoft YaHei"/>
              </a:rPr>
              <a:t>小区信</a:t>
            </a:r>
            <a:r>
              <a:rPr dirty="0" sz="1400" spc="-50">
                <a:latin typeface="Microsoft YaHei"/>
                <a:cs typeface="Microsoft YaHei"/>
              </a:rPr>
              <a:t>息</a:t>
            </a:r>
            <a:r>
              <a:rPr dirty="0" sz="1400">
                <a:latin typeface="Microsoft YaHei"/>
                <a:cs typeface="Microsoft YaHei"/>
              </a:rPr>
              <a:t>	</a:t>
            </a:r>
            <a:r>
              <a:rPr dirty="0" sz="1400" spc="-20">
                <a:latin typeface="Microsoft YaHei"/>
                <a:cs typeface="Microsoft YaHei"/>
              </a:rPr>
              <a:t>运行状态：正常；降质状态：未降</a:t>
            </a:r>
            <a:r>
              <a:rPr dirty="0" sz="1400" spc="-50">
                <a:latin typeface="Microsoft YaHei"/>
                <a:cs typeface="Microsoft YaHei"/>
              </a:rPr>
              <a:t>质</a:t>
            </a:r>
            <a:endParaRPr sz="1400">
              <a:latin typeface="Microsoft YaHei"/>
              <a:cs typeface="Microsoft YaHei"/>
            </a:endParaRPr>
          </a:p>
          <a:p>
            <a:pPr>
              <a:lnSpc>
                <a:spcPts val="840"/>
              </a:lnSpc>
              <a:tabLst>
                <a:tab pos="1447800" algn="l"/>
                <a:tab pos="3629025" algn="l"/>
              </a:tabLst>
            </a:pPr>
            <a:r>
              <a:rPr dirty="0" sz="1400" spc="-20">
                <a:latin typeface="Microsoft YaHei"/>
                <a:cs typeface="Microsoft YaHei"/>
              </a:rPr>
              <a:t>状</a:t>
            </a:r>
            <a:r>
              <a:rPr dirty="0" sz="1400" spc="-50">
                <a:latin typeface="Microsoft YaHei"/>
                <a:cs typeface="Microsoft YaHei"/>
              </a:rPr>
              <a:t>态</a:t>
            </a:r>
            <a:r>
              <a:rPr dirty="0" sz="1400">
                <a:latin typeface="Microsoft YaHei"/>
                <a:cs typeface="Microsoft YaHei"/>
              </a:rPr>
              <a:t>	</a:t>
            </a:r>
            <a:r>
              <a:rPr dirty="0" sz="1400" spc="-20">
                <a:latin typeface="Microsoft YaHei"/>
                <a:cs typeface="Microsoft YaHei"/>
              </a:rPr>
              <a:t>工具→一单开站</a:t>
            </a:r>
            <a:r>
              <a:rPr dirty="0" sz="1400" spc="-25">
                <a:latin typeface="Microsoft YaHei"/>
                <a:cs typeface="Microsoft YaHei"/>
              </a:rPr>
              <a:t>→NR</a:t>
            </a:r>
            <a:r>
              <a:rPr dirty="0" sz="1400">
                <a:latin typeface="Microsoft YaHei"/>
                <a:cs typeface="Microsoft YaHei"/>
              </a:rPr>
              <a:t>	</a:t>
            </a:r>
            <a:r>
              <a:rPr dirty="0" baseline="-39682" sz="2100" spc="-30">
                <a:latin typeface="Microsoft YaHei"/>
                <a:cs typeface="Microsoft YaHei"/>
              </a:rPr>
              <a:t>时钟可用状态：可</a:t>
            </a:r>
            <a:r>
              <a:rPr dirty="0" baseline="-39682" sz="2100" spc="-75">
                <a:latin typeface="Microsoft YaHei"/>
                <a:cs typeface="Microsoft YaHei"/>
              </a:rPr>
              <a:t>用</a:t>
            </a:r>
            <a:endParaRPr baseline="-39682" sz="2100">
              <a:latin typeface="Microsoft YaHei"/>
              <a:cs typeface="Microsoft YaHei"/>
            </a:endParaRPr>
          </a:p>
          <a:p>
            <a:pPr marL="12700">
              <a:lnSpc>
                <a:spcPts val="1250"/>
              </a:lnSpc>
              <a:spcBef>
                <a:spcPts val="560"/>
              </a:spcBef>
              <a:tabLst>
                <a:tab pos="921385" algn="l"/>
              </a:tabLst>
            </a:pPr>
            <a:r>
              <a:rPr dirty="0" sz="1400" spc="-50">
                <a:latin typeface="Microsoft YaHei"/>
                <a:cs typeface="Microsoft YaHei"/>
              </a:rPr>
              <a:t>钟</a:t>
            </a:r>
            <a:r>
              <a:rPr dirty="0" sz="1400">
                <a:latin typeface="Microsoft YaHei"/>
                <a:cs typeface="Microsoft YaHei"/>
              </a:rPr>
              <a:t>	</a:t>
            </a:r>
            <a:r>
              <a:rPr dirty="0" sz="1400" spc="-20">
                <a:latin typeface="Microsoft YaHei"/>
                <a:cs typeface="Microsoft YaHei"/>
              </a:rPr>
              <a:t>工具→一单开站→时钟资</a:t>
            </a:r>
            <a:r>
              <a:rPr dirty="0" sz="1400" spc="-50">
                <a:latin typeface="Microsoft YaHei"/>
                <a:cs typeface="Microsoft YaHei"/>
              </a:rPr>
              <a:t>源</a:t>
            </a:r>
            <a:endParaRPr sz="1400">
              <a:latin typeface="Microsoft YaHei"/>
              <a:cs typeface="Microsoft YaHei"/>
            </a:endParaRPr>
          </a:p>
          <a:p>
            <a:pPr>
              <a:lnSpc>
                <a:spcPts val="1250"/>
              </a:lnSpc>
              <a:tabLst>
                <a:tab pos="1447800" algn="l"/>
              </a:tabLst>
            </a:pPr>
            <a:r>
              <a:rPr dirty="0" baseline="-41666" sz="2100" spc="-30">
                <a:latin typeface="Microsoft YaHei"/>
                <a:cs typeface="Microsoft YaHei"/>
              </a:rPr>
              <a:t>通道信</a:t>
            </a:r>
            <a:r>
              <a:rPr dirty="0" baseline="-41666" sz="2100" spc="-75">
                <a:latin typeface="Microsoft YaHei"/>
                <a:cs typeface="Microsoft YaHei"/>
              </a:rPr>
              <a:t>息</a:t>
            </a:r>
            <a:r>
              <a:rPr dirty="0" baseline="-41666" sz="2100">
                <a:latin typeface="Microsoft YaHei"/>
                <a:cs typeface="Microsoft YaHei"/>
              </a:rPr>
              <a:t>	</a:t>
            </a:r>
            <a:r>
              <a:rPr dirty="0" sz="1400" spc="-20">
                <a:latin typeface="Microsoft YaHei"/>
                <a:cs typeface="Microsoft YaHei"/>
              </a:rPr>
              <a:t>工具→一单开站→NR射频</a:t>
            </a:r>
            <a:r>
              <a:rPr dirty="0" sz="1400" spc="-270">
                <a:latin typeface="Microsoft YaHei"/>
                <a:cs typeface="Microsoft YaHei"/>
              </a:rPr>
              <a:t>通</a:t>
            </a:r>
            <a:r>
              <a:rPr dirty="0" baseline="-17857" sz="2100" spc="-1747">
                <a:latin typeface="Microsoft YaHei"/>
                <a:cs typeface="Microsoft YaHei"/>
              </a:rPr>
              <a:t>时</a:t>
            </a:r>
            <a:r>
              <a:rPr dirty="0" sz="1400" spc="-270">
                <a:latin typeface="Microsoft YaHei"/>
                <a:cs typeface="Microsoft YaHei"/>
              </a:rPr>
              <a:t>道</a:t>
            </a:r>
            <a:r>
              <a:rPr dirty="0" baseline="-17857" sz="2100" spc="-30">
                <a:latin typeface="Microsoft YaHei"/>
                <a:cs typeface="Microsoft YaHei"/>
              </a:rPr>
              <a:t>钟</a:t>
            </a:r>
            <a:r>
              <a:rPr dirty="0" baseline="-17857" sz="2100" spc="-135">
                <a:latin typeface="Microsoft YaHei"/>
                <a:cs typeface="Microsoft YaHei"/>
              </a:rPr>
              <a:t>运</a:t>
            </a:r>
            <a:r>
              <a:rPr dirty="0" baseline="7936" sz="2100" spc="-2017">
                <a:latin typeface="Microsoft YaHei"/>
                <a:cs typeface="Microsoft YaHei"/>
              </a:rPr>
              <a:t>通</a:t>
            </a:r>
            <a:r>
              <a:rPr dirty="0" baseline="-17857" sz="2100" spc="-135">
                <a:latin typeface="Microsoft YaHei"/>
                <a:cs typeface="Microsoft YaHei"/>
              </a:rPr>
              <a:t>行</a:t>
            </a:r>
            <a:r>
              <a:rPr dirty="0" baseline="7936" sz="2100" spc="-2017">
                <a:latin typeface="Microsoft YaHei"/>
                <a:cs typeface="Microsoft YaHei"/>
              </a:rPr>
              <a:t>道</a:t>
            </a:r>
            <a:r>
              <a:rPr dirty="0" baseline="-17857" sz="2100" spc="-135">
                <a:latin typeface="Microsoft YaHei"/>
                <a:cs typeface="Microsoft YaHei"/>
              </a:rPr>
              <a:t>状</a:t>
            </a:r>
            <a:r>
              <a:rPr dirty="0" baseline="7936" sz="2100" spc="-2017">
                <a:latin typeface="Microsoft YaHei"/>
                <a:cs typeface="Microsoft YaHei"/>
              </a:rPr>
              <a:t>打</a:t>
            </a:r>
            <a:r>
              <a:rPr dirty="0" baseline="-17857" sz="2100" spc="-135">
                <a:latin typeface="Microsoft YaHei"/>
                <a:cs typeface="Microsoft YaHei"/>
              </a:rPr>
              <a:t>态</a:t>
            </a:r>
            <a:r>
              <a:rPr dirty="0" baseline="7936" sz="2100" spc="-2017">
                <a:latin typeface="Microsoft YaHei"/>
                <a:cs typeface="Microsoft YaHei"/>
              </a:rPr>
              <a:t>开</a:t>
            </a:r>
            <a:r>
              <a:rPr dirty="0" baseline="-17857" sz="2100" spc="-135">
                <a:latin typeface="Microsoft YaHei"/>
                <a:cs typeface="Microsoft YaHei"/>
              </a:rPr>
              <a:t>：</a:t>
            </a:r>
            <a:r>
              <a:rPr dirty="0" baseline="7936" sz="2100" spc="-2017">
                <a:latin typeface="Microsoft YaHei"/>
                <a:cs typeface="Microsoft YaHei"/>
              </a:rPr>
              <a:t>状</a:t>
            </a:r>
            <a:r>
              <a:rPr dirty="0" baseline="-17857" sz="2100" spc="-135">
                <a:latin typeface="Microsoft YaHei"/>
                <a:cs typeface="Microsoft YaHei"/>
              </a:rPr>
              <a:t>锁</a:t>
            </a:r>
            <a:r>
              <a:rPr dirty="0" baseline="7936" sz="2100" spc="-2017">
                <a:latin typeface="Microsoft YaHei"/>
                <a:cs typeface="Microsoft YaHei"/>
              </a:rPr>
              <a:t>态</a:t>
            </a:r>
            <a:r>
              <a:rPr dirty="0" baseline="-17857" sz="2100" spc="-135">
                <a:latin typeface="Microsoft YaHei"/>
                <a:cs typeface="Microsoft YaHei"/>
              </a:rPr>
              <a:t>定</a:t>
            </a:r>
            <a:r>
              <a:rPr dirty="0" baseline="7936" sz="2100" spc="-2017">
                <a:latin typeface="Microsoft YaHei"/>
                <a:cs typeface="Microsoft YaHei"/>
              </a:rPr>
              <a:t>：</a:t>
            </a:r>
            <a:r>
              <a:rPr dirty="0" baseline="-17857" sz="2100" spc="-135">
                <a:latin typeface="Microsoft YaHei"/>
                <a:cs typeface="Microsoft YaHei"/>
              </a:rPr>
              <a:t>状</a:t>
            </a:r>
            <a:r>
              <a:rPr dirty="0" baseline="7936" sz="2100" spc="-2017">
                <a:latin typeface="Microsoft YaHei"/>
                <a:cs typeface="Microsoft YaHei"/>
              </a:rPr>
              <a:t>打</a:t>
            </a:r>
            <a:r>
              <a:rPr dirty="0" baseline="-17857" sz="2100" spc="-135">
                <a:latin typeface="Microsoft YaHei"/>
                <a:cs typeface="Microsoft YaHei"/>
              </a:rPr>
              <a:t>态</a:t>
            </a:r>
            <a:r>
              <a:rPr dirty="0" baseline="7936" sz="2100" spc="-30">
                <a:latin typeface="Microsoft YaHei"/>
                <a:cs typeface="Microsoft YaHei"/>
              </a:rPr>
              <a:t>开</a:t>
            </a:r>
            <a:r>
              <a:rPr dirty="0" baseline="7936" sz="2100" spc="-75">
                <a:latin typeface="Microsoft YaHei"/>
                <a:cs typeface="Microsoft YaHei"/>
              </a:rPr>
              <a:t>；</a:t>
            </a:r>
            <a:endParaRPr baseline="7936" sz="2100">
              <a:latin typeface="Microsoft YaHei"/>
              <a:cs typeface="Microsoft YaHei"/>
            </a:endParaRPr>
          </a:p>
        </p:txBody>
      </p:sp>
      <p:sp>
        <p:nvSpPr>
          <p:cNvPr id="32" name="object 32" descr=""/>
          <p:cNvSpPr txBox="1"/>
          <p:nvPr/>
        </p:nvSpPr>
        <p:spPr>
          <a:xfrm>
            <a:off x="2275833" y="4674619"/>
            <a:ext cx="4465955" cy="259715"/>
          </a:xfrm>
          <a:prstGeom prst="rect">
            <a:avLst/>
          </a:prstGeom>
        </p:spPr>
        <p:txBody>
          <a:bodyPr wrap="square" lIns="0" tIns="34925" rIns="0" bIns="0" rtlCol="0" vert="horz">
            <a:spAutoFit/>
          </a:bodyPr>
          <a:lstStyle/>
          <a:p>
            <a:pPr>
              <a:lnSpc>
                <a:spcPct val="100000"/>
              </a:lnSpc>
              <a:spcBef>
                <a:spcPts val="275"/>
              </a:spcBef>
              <a:tabLst>
                <a:tab pos="2704465" algn="l"/>
              </a:tabLst>
            </a:pPr>
            <a:r>
              <a:rPr dirty="0" baseline="7936" sz="2100" spc="-30">
                <a:latin typeface="Microsoft YaHei"/>
                <a:cs typeface="Microsoft YaHei"/>
              </a:rPr>
              <a:t>信息查</a:t>
            </a:r>
            <a:r>
              <a:rPr dirty="0" baseline="7936" sz="2100" spc="-75">
                <a:latin typeface="Microsoft YaHei"/>
                <a:cs typeface="Microsoft YaHei"/>
              </a:rPr>
              <a:t>询</a:t>
            </a:r>
            <a:r>
              <a:rPr dirty="0" baseline="7936" sz="2100">
                <a:latin typeface="Microsoft YaHei"/>
                <a:cs typeface="Microsoft YaHei"/>
              </a:rPr>
              <a:t>	</a:t>
            </a:r>
            <a:r>
              <a:rPr dirty="0" sz="1400" spc="-20">
                <a:latin typeface="Microsoft YaHei"/>
                <a:cs typeface="Microsoft YaHei"/>
              </a:rPr>
              <a:t>天线电压驻波比：&lt;15</a:t>
            </a:r>
            <a:endParaRPr sz="1400">
              <a:latin typeface="Microsoft YaHei"/>
              <a:cs typeface="Microsoft YaHei"/>
            </a:endParaRPr>
          </a:p>
        </p:txBody>
      </p:sp>
      <p:grpSp>
        <p:nvGrpSpPr>
          <p:cNvPr id="33" name="object 33" descr=""/>
          <p:cNvGrpSpPr/>
          <p:nvPr/>
        </p:nvGrpSpPr>
        <p:grpSpPr>
          <a:xfrm>
            <a:off x="215900" y="819199"/>
            <a:ext cx="8704580" cy="4083050"/>
            <a:chOff x="215900" y="819199"/>
            <a:chExt cx="8704580" cy="4083050"/>
          </a:xfrm>
        </p:grpSpPr>
        <p:sp>
          <p:nvSpPr>
            <p:cNvPr id="34" name="object 34" descr=""/>
            <p:cNvSpPr/>
            <p:nvPr/>
          </p:nvSpPr>
          <p:spPr>
            <a:xfrm>
              <a:off x="266326" y="825549"/>
              <a:ext cx="0" cy="744220"/>
            </a:xfrm>
            <a:custGeom>
              <a:avLst/>
              <a:gdLst/>
              <a:ahLst/>
              <a:cxnLst/>
              <a:rect l="l" t="t" r="r" b="b"/>
              <a:pathLst>
                <a:path w="0" h="744219">
                  <a:moveTo>
                    <a:pt x="0" y="0"/>
                  </a:moveTo>
                  <a:lnTo>
                    <a:pt x="0" y="744220"/>
                  </a:lnTo>
                </a:path>
              </a:pathLst>
            </a:custGeom>
            <a:ln w="12700">
              <a:solidFill>
                <a:srgbClr val="000000"/>
              </a:solidFill>
            </a:ln>
          </p:spPr>
          <p:txBody>
            <a:bodyPr wrap="square" lIns="0" tIns="0" rIns="0" bIns="0" rtlCol="0"/>
            <a:lstStyle/>
            <a:p/>
          </p:txBody>
        </p:sp>
        <p:sp>
          <p:nvSpPr>
            <p:cNvPr id="35" name="object 35" descr=""/>
            <p:cNvSpPr/>
            <p:nvPr/>
          </p:nvSpPr>
          <p:spPr>
            <a:xfrm>
              <a:off x="8907288" y="825549"/>
              <a:ext cx="0" cy="744220"/>
            </a:xfrm>
            <a:custGeom>
              <a:avLst/>
              <a:gdLst/>
              <a:ahLst/>
              <a:cxnLst/>
              <a:rect l="l" t="t" r="r" b="b"/>
              <a:pathLst>
                <a:path w="0" h="744219">
                  <a:moveTo>
                    <a:pt x="0" y="0"/>
                  </a:moveTo>
                  <a:lnTo>
                    <a:pt x="0" y="744220"/>
                  </a:lnTo>
                </a:path>
              </a:pathLst>
            </a:custGeom>
            <a:ln w="12700">
              <a:solidFill>
                <a:srgbClr val="000000"/>
              </a:solidFill>
            </a:ln>
          </p:spPr>
          <p:txBody>
            <a:bodyPr wrap="square" lIns="0" tIns="0" rIns="0" bIns="0" rtlCol="0"/>
            <a:lstStyle/>
            <a:p/>
          </p:txBody>
        </p:sp>
        <p:sp>
          <p:nvSpPr>
            <p:cNvPr id="36" name="object 36" descr=""/>
            <p:cNvSpPr/>
            <p:nvPr/>
          </p:nvSpPr>
          <p:spPr>
            <a:xfrm>
              <a:off x="259976" y="831899"/>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sp>
          <p:nvSpPr>
            <p:cNvPr id="37" name="object 37" descr=""/>
            <p:cNvSpPr/>
            <p:nvPr/>
          </p:nvSpPr>
          <p:spPr>
            <a:xfrm>
              <a:off x="259976" y="1563419"/>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sp>
          <p:nvSpPr>
            <p:cNvPr id="38" name="object 38" descr=""/>
            <p:cNvSpPr/>
            <p:nvPr/>
          </p:nvSpPr>
          <p:spPr>
            <a:xfrm>
              <a:off x="4802835" y="3241522"/>
              <a:ext cx="1368425" cy="216535"/>
            </a:xfrm>
            <a:custGeom>
              <a:avLst/>
              <a:gdLst/>
              <a:ahLst/>
              <a:cxnLst/>
              <a:rect l="l" t="t" r="r" b="b"/>
              <a:pathLst>
                <a:path w="1368425" h="216535">
                  <a:moveTo>
                    <a:pt x="1368158" y="0"/>
                  </a:moveTo>
                  <a:lnTo>
                    <a:pt x="0" y="0"/>
                  </a:lnTo>
                  <a:lnTo>
                    <a:pt x="0" y="216026"/>
                  </a:lnTo>
                  <a:lnTo>
                    <a:pt x="1368158" y="216026"/>
                  </a:lnTo>
                  <a:lnTo>
                    <a:pt x="1368158" y="0"/>
                  </a:lnTo>
                  <a:close/>
                </a:path>
              </a:pathLst>
            </a:custGeom>
            <a:solidFill>
              <a:srgbClr val="FFFFFF"/>
            </a:solidFill>
          </p:spPr>
          <p:txBody>
            <a:bodyPr wrap="square" lIns="0" tIns="0" rIns="0" bIns="0" rtlCol="0"/>
            <a:lstStyle/>
            <a:p/>
          </p:txBody>
        </p:sp>
        <p:sp>
          <p:nvSpPr>
            <p:cNvPr id="39" name="object 39" descr=""/>
            <p:cNvSpPr/>
            <p:nvPr/>
          </p:nvSpPr>
          <p:spPr>
            <a:xfrm>
              <a:off x="4802835" y="3241522"/>
              <a:ext cx="1368425" cy="216535"/>
            </a:xfrm>
            <a:custGeom>
              <a:avLst/>
              <a:gdLst/>
              <a:ahLst/>
              <a:cxnLst/>
              <a:rect l="l" t="t" r="r" b="b"/>
              <a:pathLst>
                <a:path w="1368425" h="216535">
                  <a:moveTo>
                    <a:pt x="0" y="0"/>
                  </a:moveTo>
                  <a:lnTo>
                    <a:pt x="1368158" y="0"/>
                  </a:lnTo>
                  <a:lnTo>
                    <a:pt x="1368158" y="216026"/>
                  </a:lnTo>
                  <a:lnTo>
                    <a:pt x="0" y="216026"/>
                  </a:lnTo>
                  <a:lnTo>
                    <a:pt x="0" y="0"/>
                  </a:lnTo>
                  <a:close/>
                </a:path>
              </a:pathLst>
            </a:custGeom>
            <a:ln w="25400">
              <a:solidFill>
                <a:srgbClr val="FF0000"/>
              </a:solidFill>
            </a:ln>
          </p:spPr>
          <p:txBody>
            <a:bodyPr wrap="square" lIns="0" tIns="0" rIns="0" bIns="0" rtlCol="0"/>
            <a:lstStyle/>
            <a:p/>
          </p:txBody>
        </p:sp>
        <p:pic>
          <p:nvPicPr>
            <p:cNvPr id="40" name="object 40"/>
            <p:cNvPicPr/>
            <p:nvPr/>
          </p:nvPicPr>
          <p:blipFill>
            <a:blip r:embed="rId2" cstate="print"/>
            <a:stretch>
              <a:fillRect/>
            </a:stretch>
          </p:blipFill>
          <p:spPr>
            <a:xfrm>
              <a:off x="914400" y="1657350"/>
              <a:ext cx="7416823" cy="3096343"/>
            </a:xfrm>
            <a:prstGeom prst="rect">
              <a:avLst/>
            </a:prstGeom>
          </p:spPr>
        </p:pic>
        <p:sp>
          <p:nvSpPr>
            <p:cNvPr id="41" name="object 41" descr=""/>
            <p:cNvSpPr/>
            <p:nvPr/>
          </p:nvSpPr>
          <p:spPr>
            <a:xfrm>
              <a:off x="266326" y="901749"/>
              <a:ext cx="0" cy="744220"/>
            </a:xfrm>
            <a:custGeom>
              <a:avLst/>
              <a:gdLst/>
              <a:ahLst/>
              <a:cxnLst/>
              <a:rect l="l" t="t" r="r" b="b"/>
              <a:pathLst>
                <a:path w="0" h="744219">
                  <a:moveTo>
                    <a:pt x="0" y="0"/>
                  </a:moveTo>
                  <a:lnTo>
                    <a:pt x="0" y="744220"/>
                  </a:lnTo>
                </a:path>
              </a:pathLst>
            </a:custGeom>
            <a:ln w="12700">
              <a:solidFill>
                <a:srgbClr val="000000"/>
              </a:solidFill>
            </a:ln>
          </p:spPr>
          <p:txBody>
            <a:bodyPr wrap="square" lIns="0" tIns="0" rIns="0" bIns="0" rtlCol="0"/>
            <a:lstStyle/>
            <a:p/>
          </p:txBody>
        </p:sp>
        <p:sp>
          <p:nvSpPr>
            <p:cNvPr id="42" name="object 42" descr=""/>
            <p:cNvSpPr/>
            <p:nvPr/>
          </p:nvSpPr>
          <p:spPr>
            <a:xfrm>
              <a:off x="8907288" y="901749"/>
              <a:ext cx="0" cy="744220"/>
            </a:xfrm>
            <a:custGeom>
              <a:avLst/>
              <a:gdLst/>
              <a:ahLst/>
              <a:cxnLst/>
              <a:rect l="l" t="t" r="r" b="b"/>
              <a:pathLst>
                <a:path w="0" h="744219">
                  <a:moveTo>
                    <a:pt x="0" y="0"/>
                  </a:moveTo>
                  <a:lnTo>
                    <a:pt x="0" y="744220"/>
                  </a:lnTo>
                </a:path>
              </a:pathLst>
            </a:custGeom>
            <a:ln w="12700">
              <a:solidFill>
                <a:srgbClr val="000000"/>
              </a:solidFill>
            </a:ln>
          </p:spPr>
          <p:txBody>
            <a:bodyPr wrap="square" lIns="0" tIns="0" rIns="0" bIns="0" rtlCol="0"/>
            <a:lstStyle/>
            <a:p/>
          </p:txBody>
        </p:sp>
        <p:sp>
          <p:nvSpPr>
            <p:cNvPr id="43" name="object 43" descr=""/>
            <p:cNvSpPr/>
            <p:nvPr/>
          </p:nvSpPr>
          <p:spPr>
            <a:xfrm>
              <a:off x="259976" y="908099"/>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sp>
          <p:nvSpPr>
            <p:cNvPr id="44" name="object 44" descr=""/>
            <p:cNvSpPr/>
            <p:nvPr/>
          </p:nvSpPr>
          <p:spPr>
            <a:xfrm>
              <a:off x="259976" y="1639619"/>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pic>
          <p:nvPicPr>
            <p:cNvPr id="45" name="object 45"/>
            <p:cNvPicPr/>
            <p:nvPr/>
          </p:nvPicPr>
          <p:blipFill>
            <a:blip r:embed="rId3" cstate="print"/>
            <a:stretch>
              <a:fillRect/>
            </a:stretch>
          </p:blipFill>
          <p:spPr>
            <a:xfrm>
              <a:off x="914400" y="1733550"/>
              <a:ext cx="7344815" cy="3168351"/>
            </a:xfrm>
            <a:prstGeom prst="rect">
              <a:avLst/>
            </a:prstGeom>
          </p:spPr>
        </p:pic>
        <p:sp>
          <p:nvSpPr>
            <p:cNvPr id="46" name="object 46" descr=""/>
            <p:cNvSpPr/>
            <p:nvPr/>
          </p:nvSpPr>
          <p:spPr>
            <a:xfrm>
              <a:off x="228600" y="888999"/>
              <a:ext cx="0" cy="744220"/>
            </a:xfrm>
            <a:custGeom>
              <a:avLst/>
              <a:gdLst/>
              <a:ahLst/>
              <a:cxnLst/>
              <a:rect l="l" t="t" r="r" b="b"/>
              <a:pathLst>
                <a:path w="0" h="744219">
                  <a:moveTo>
                    <a:pt x="0" y="0"/>
                  </a:moveTo>
                  <a:lnTo>
                    <a:pt x="0" y="744220"/>
                  </a:lnTo>
                </a:path>
              </a:pathLst>
            </a:custGeom>
            <a:ln w="12700">
              <a:solidFill>
                <a:srgbClr val="000000"/>
              </a:solidFill>
            </a:ln>
          </p:spPr>
          <p:txBody>
            <a:bodyPr wrap="square" lIns="0" tIns="0" rIns="0" bIns="0" rtlCol="0"/>
            <a:lstStyle/>
            <a:p/>
          </p:txBody>
        </p:sp>
        <p:sp>
          <p:nvSpPr>
            <p:cNvPr id="47" name="object 47" descr=""/>
            <p:cNvSpPr/>
            <p:nvPr/>
          </p:nvSpPr>
          <p:spPr>
            <a:xfrm>
              <a:off x="8869560" y="888999"/>
              <a:ext cx="0" cy="744220"/>
            </a:xfrm>
            <a:custGeom>
              <a:avLst/>
              <a:gdLst/>
              <a:ahLst/>
              <a:cxnLst/>
              <a:rect l="l" t="t" r="r" b="b"/>
              <a:pathLst>
                <a:path w="0" h="744219">
                  <a:moveTo>
                    <a:pt x="0" y="0"/>
                  </a:moveTo>
                  <a:lnTo>
                    <a:pt x="0" y="744220"/>
                  </a:lnTo>
                </a:path>
              </a:pathLst>
            </a:custGeom>
            <a:ln w="12700">
              <a:solidFill>
                <a:srgbClr val="000000"/>
              </a:solidFill>
            </a:ln>
          </p:spPr>
          <p:txBody>
            <a:bodyPr wrap="square" lIns="0" tIns="0" rIns="0" bIns="0" rtlCol="0"/>
            <a:lstStyle/>
            <a:p/>
          </p:txBody>
        </p:sp>
        <p:sp>
          <p:nvSpPr>
            <p:cNvPr id="48" name="object 48" descr=""/>
            <p:cNvSpPr/>
            <p:nvPr/>
          </p:nvSpPr>
          <p:spPr>
            <a:xfrm>
              <a:off x="222250" y="895349"/>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sp>
          <p:nvSpPr>
            <p:cNvPr id="49" name="object 49" descr=""/>
            <p:cNvSpPr/>
            <p:nvPr/>
          </p:nvSpPr>
          <p:spPr>
            <a:xfrm>
              <a:off x="222250" y="1626869"/>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pic>
          <p:nvPicPr>
            <p:cNvPr id="50" name="object 50"/>
            <p:cNvPicPr/>
            <p:nvPr/>
          </p:nvPicPr>
          <p:blipFill>
            <a:blip r:embed="rId4" cstate="print"/>
            <a:stretch>
              <a:fillRect/>
            </a:stretch>
          </p:blipFill>
          <p:spPr>
            <a:xfrm>
              <a:off x="228600" y="1864817"/>
              <a:ext cx="5616623" cy="2952327"/>
            </a:xfrm>
            <a:prstGeom prst="rect">
              <a:avLst/>
            </a:prstGeom>
          </p:spPr>
        </p:pic>
        <p:pic>
          <p:nvPicPr>
            <p:cNvPr id="51" name="object 51" descr=""/>
            <p:cNvPicPr/>
            <p:nvPr/>
          </p:nvPicPr>
          <p:blipFill>
            <a:blip r:embed="rId5" cstate="print"/>
            <a:stretch>
              <a:fillRect/>
            </a:stretch>
          </p:blipFill>
          <p:spPr>
            <a:xfrm>
              <a:off x="5943600" y="2561843"/>
              <a:ext cx="2971799" cy="1157477"/>
            </a:xfrm>
            <a:prstGeom prst="rect">
              <a:avLst/>
            </a:prstGeom>
          </p:spPr>
        </p:pic>
        <p:pic>
          <p:nvPicPr>
            <p:cNvPr id="52" name="object 52" descr=""/>
            <p:cNvPicPr/>
            <p:nvPr/>
          </p:nvPicPr>
          <p:blipFill>
            <a:blip r:embed="rId6" cstate="print"/>
            <a:stretch>
              <a:fillRect/>
            </a:stretch>
          </p:blipFill>
          <p:spPr>
            <a:xfrm>
              <a:off x="5989243" y="2584894"/>
              <a:ext cx="2880321" cy="1051560"/>
            </a:xfrm>
            <a:prstGeom prst="rect">
              <a:avLst/>
            </a:prstGeom>
          </p:spPr>
        </p:pic>
        <p:sp>
          <p:nvSpPr>
            <p:cNvPr id="53" name="object 53" descr=""/>
            <p:cNvSpPr/>
            <p:nvPr/>
          </p:nvSpPr>
          <p:spPr>
            <a:xfrm>
              <a:off x="5989241" y="2580134"/>
              <a:ext cx="0" cy="1075690"/>
            </a:xfrm>
            <a:custGeom>
              <a:avLst/>
              <a:gdLst/>
              <a:ahLst/>
              <a:cxnLst/>
              <a:rect l="l" t="t" r="r" b="b"/>
              <a:pathLst>
                <a:path w="0" h="1075689">
                  <a:moveTo>
                    <a:pt x="0" y="0"/>
                  </a:moveTo>
                  <a:lnTo>
                    <a:pt x="0" y="1075372"/>
                  </a:lnTo>
                </a:path>
              </a:pathLst>
            </a:custGeom>
            <a:ln w="9525">
              <a:solidFill>
                <a:srgbClr val="E8F1F2"/>
              </a:solidFill>
            </a:ln>
          </p:spPr>
          <p:txBody>
            <a:bodyPr wrap="square" lIns="0" tIns="0" rIns="0" bIns="0" rtlCol="0"/>
            <a:lstStyle/>
            <a:p/>
          </p:txBody>
        </p:sp>
        <p:sp>
          <p:nvSpPr>
            <p:cNvPr id="54" name="object 54" descr=""/>
            <p:cNvSpPr/>
            <p:nvPr/>
          </p:nvSpPr>
          <p:spPr>
            <a:xfrm>
              <a:off x="8869560" y="2580134"/>
              <a:ext cx="0" cy="1075690"/>
            </a:xfrm>
            <a:custGeom>
              <a:avLst/>
              <a:gdLst/>
              <a:ahLst/>
              <a:cxnLst/>
              <a:rect l="l" t="t" r="r" b="b"/>
              <a:pathLst>
                <a:path w="0" h="1075689">
                  <a:moveTo>
                    <a:pt x="0" y="0"/>
                  </a:moveTo>
                  <a:lnTo>
                    <a:pt x="0" y="1075372"/>
                  </a:lnTo>
                </a:path>
              </a:pathLst>
            </a:custGeom>
            <a:ln w="9525">
              <a:solidFill>
                <a:srgbClr val="E8F1F2"/>
              </a:solidFill>
            </a:ln>
          </p:spPr>
          <p:txBody>
            <a:bodyPr wrap="square" lIns="0" tIns="0" rIns="0" bIns="0" rtlCol="0"/>
            <a:lstStyle/>
            <a:p/>
          </p:txBody>
        </p:sp>
        <p:sp>
          <p:nvSpPr>
            <p:cNvPr id="55" name="object 55" descr=""/>
            <p:cNvSpPr/>
            <p:nvPr/>
          </p:nvSpPr>
          <p:spPr>
            <a:xfrm>
              <a:off x="5984478" y="2584895"/>
              <a:ext cx="2889885" cy="0"/>
            </a:xfrm>
            <a:custGeom>
              <a:avLst/>
              <a:gdLst/>
              <a:ahLst/>
              <a:cxnLst/>
              <a:rect l="l" t="t" r="r" b="b"/>
              <a:pathLst>
                <a:path w="2889884" h="0">
                  <a:moveTo>
                    <a:pt x="0" y="0"/>
                  </a:moveTo>
                  <a:lnTo>
                    <a:pt x="2889846" y="0"/>
                  </a:lnTo>
                </a:path>
              </a:pathLst>
            </a:custGeom>
            <a:ln w="9525">
              <a:solidFill>
                <a:srgbClr val="E8F1F2"/>
              </a:solidFill>
            </a:ln>
          </p:spPr>
          <p:txBody>
            <a:bodyPr wrap="square" lIns="0" tIns="0" rIns="0" bIns="0" rtlCol="0"/>
            <a:lstStyle/>
            <a:p/>
          </p:txBody>
        </p:sp>
        <p:sp>
          <p:nvSpPr>
            <p:cNvPr id="56" name="object 56" descr=""/>
            <p:cNvSpPr/>
            <p:nvPr/>
          </p:nvSpPr>
          <p:spPr>
            <a:xfrm>
              <a:off x="5984478" y="3617405"/>
              <a:ext cx="2889885" cy="38100"/>
            </a:xfrm>
            <a:custGeom>
              <a:avLst/>
              <a:gdLst/>
              <a:ahLst/>
              <a:cxnLst/>
              <a:rect l="l" t="t" r="r" b="b"/>
              <a:pathLst>
                <a:path w="2889884" h="38100">
                  <a:moveTo>
                    <a:pt x="0" y="38099"/>
                  </a:moveTo>
                  <a:lnTo>
                    <a:pt x="2889846" y="38099"/>
                  </a:lnTo>
                  <a:lnTo>
                    <a:pt x="2889846" y="0"/>
                  </a:lnTo>
                  <a:lnTo>
                    <a:pt x="0" y="0"/>
                  </a:lnTo>
                  <a:lnTo>
                    <a:pt x="0" y="38099"/>
                  </a:lnTo>
                  <a:close/>
                </a:path>
              </a:pathLst>
            </a:custGeom>
            <a:solidFill>
              <a:srgbClr val="FFFFFF"/>
            </a:solidFill>
          </p:spPr>
          <p:txBody>
            <a:bodyPr wrap="square" lIns="0" tIns="0" rIns="0" bIns="0" rtlCol="0"/>
            <a:lstStyle/>
            <a:p/>
          </p:txBody>
        </p:sp>
      </p:grpSp>
      <p:sp>
        <p:nvSpPr>
          <p:cNvPr id="57" name="object 57" descr=""/>
          <p:cNvSpPr txBox="1"/>
          <p:nvPr/>
        </p:nvSpPr>
        <p:spPr>
          <a:xfrm>
            <a:off x="6080681" y="2718067"/>
            <a:ext cx="2103120" cy="830580"/>
          </a:xfrm>
          <a:prstGeom prst="rect">
            <a:avLst/>
          </a:prstGeom>
        </p:spPr>
        <p:txBody>
          <a:bodyPr wrap="square" lIns="0" tIns="0" rIns="0" bIns="0" rtlCol="0" vert="horz">
            <a:spAutoFit/>
          </a:bodyPr>
          <a:lstStyle/>
          <a:p>
            <a:pPr>
              <a:lnSpc>
                <a:spcPts val="1480"/>
              </a:lnSpc>
            </a:pPr>
            <a:r>
              <a:rPr dirty="0" sz="1400" spc="-20">
                <a:solidFill>
                  <a:srgbClr val="FFFFFF"/>
                </a:solidFill>
                <a:latin typeface="SimSun"/>
                <a:cs typeface="SimSun"/>
              </a:rPr>
              <a:t>右图中：</a:t>
            </a:r>
            <a:endParaRPr sz="1400">
              <a:latin typeface="SimSun"/>
              <a:cs typeface="SimSun"/>
            </a:endParaRPr>
          </a:p>
          <a:p>
            <a:pPr>
              <a:lnSpc>
                <a:spcPct val="100000"/>
              </a:lnSpc>
              <a:spcBef>
                <a:spcPts val="840"/>
              </a:spcBef>
            </a:pPr>
            <a:r>
              <a:rPr dirty="0" sz="1400" b="1">
                <a:solidFill>
                  <a:srgbClr val="FFFFFF"/>
                </a:solidFill>
                <a:latin typeface="Arial"/>
                <a:cs typeface="Arial"/>
              </a:rPr>
              <a:t>1</a:t>
            </a:r>
            <a:r>
              <a:rPr dirty="0" sz="1400" spc="-10">
                <a:solidFill>
                  <a:srgbClr val="FFFFFF"/>
                </a:solidFill>
                <a:latin typeface="SimSun"/>
                <a:cs typeface="SimSun"/>
              </a:rPr>
              <a:t>、</a:t>
            </a:r>
            <a:r>
              <a:rPr dirty="0" sz="1400" b="1">
                <a:solidFill>
                  <a:srgbClr val="FFFFFF"/>
                </a:solidFill>
                <a:latin typeface="Arial"/>
                <a:cs typeface="Arial"/>
              </a:rPr>
              <a:t>AMF</a:t>
            </a:r>
            <a:r>
              <a:rPr dirty="0" sz="1400" spc="-50" b="1">
                <a:solidFill>
                  <a:srgbClr val="FFFFFF"/>
                </a:solidFill>
                <a:latin typeface="Arial"/>
                <a:cs typeface="Arial"/>
              </a:rPr>
              <a:t> </a:t>
            </a:r>
            <a:r>
              <a:rPr dirty="0" sz="1400" spc="-10" b="1">
                <a:solidFill>
                  <a:srgbClr val="FFFFFF"/>
                </a:solidFill>
                <a:latin typeface="Arial"/>
                <a:cs typeface="Arial"/>
              </a:rPr>
              <a:t>IP</a:t>
            </a:r>
            <a:r>
              <a:rPr dirty="0" sz="1400" spc="-10">
                <a:solidFill>
                  <a:srgbClr val="FFFFFF"/>
                </a:solidFill>
                <a:latin typeface="SimSun"/>
                <a:cs typeface="SimSun"/>
              </a:rPr>
              <a:t>地址：</a:t>
            </a:r>
            <a:r>
              <a:rPr dirty="0" sz="1400" spc="-10" b="1">
                <a:solidFill>
                  <a:srgbClr val="FFFFFF"/>
                </a:solidFill>
                <a:latin typeface="Arial"/>
                <a:cs typeface="Arial"/>
              </a:rPr>
              <a:t>172.18.3</a:t>
            </a:r>
            <a:endParaRPr sz="1400">
              <a:latin typeface="Arial"/>
              <a:cs typeface="Arial"/>
            </a:endParaRPr>
          </a:p>
          <a:p>
            <a:pPr>
              <a:lnSpc>
                <a:spcPct val="100000"/>
              </a:lnSpc>
              <a:spcBef>
                <a:spcPts val="840"/>
              </a:spcBef>
            </a:pPr>
            <a:r>
              <a:rPr dirty="0" sz="1400" b="1">
                <a:solidFill>
                  <a:srgbClr val="FFFFFF"/>
                </a:solidFill>
                <a:latin typeface="Arial"/>
                <a:cs typeface="Arial"/>
              </a:rPr>
              <a:t>2</a:t>
            </a:r>
            <a:r>
              <a:rPr dirty="0" sz="1400" spc="-10">
                <a:solidFill>
                  <a:srgbClr val="FFFFFF"/>
                </a:solidFill>
                <a:latin typeface="SimSun"/>
                <a:cs typeface="SimSun"/>
              </a:rPr>
              <a:t>、</a:t>
            </a:r>
            <a:r>
              <a:rPr dirty="0" sz="1400" b="1">
                <a:solidFill>
                  <a:srgbClr val="FFFFFF"/>
                </a:solidFill>
                <a:latin typeface="Arial"/>
                <a:cs typeface="Arial"/>
              </a:rPr>
              <a:t>NEA</a:t>
            </a:r>
            <a:r>
              <a:rPr dirty="0" sz="1400" spc="-90" b="1">
                <a:solidFill>
                  <a:srgbClr val="FFFFFF"/>
                </a:solidFill>
                <a:latin typeface="Arial"/>
                <a:cs typeface="Arial"/>
              </a:rPr>
              <a:t> </a:t>
            </a:r>
            <a:r>
              <a:rPr dirty="0" sz="1400" spc="-10" b="1">
                <a:solidFill>
                  <a:srgbClr val="FFFFFF"/>
                </a:solidFill>
                <a:latin typeface="Arial"/>
                <a:cs typeface="Arial"/>
              </a:rPr>
              <a:t>IP</a:t>
            </a:r>
            <a:r>
              <a:rPr dirty="0" sz="1400" spc="-90">
                <a:solidFill>
                  <a:srgbClr val="FFFFFF"/>
                </a:solidFill>
                <a:latin typeface="SimSun"/>
                <a:cs typeface="SimSun"/>
              </a:rPr>
              <a:t>地址： </a:t>
            </a:r>
            <a:r>
              <a:rPr dirty="0" sz="1400" spc="-10" b="1">
                <a:solidFill>
                  <a:srgbClr val="FFFFFF"/>
                </a:solidFill>
                <a:latin typeface="Arial"/>
                <a:cs typeface="Arial"/>
              </a:rPr>
              <a:t>172.19.</a:t>
            </a:r>
            <a:endParaRPr sz="1400">
              <a:latin typeface="Arial"/>
              <a:cs typeface="Arial"/>
            </a:endParaRPr>
          </a:p>
        </p:txBody>
      </p:sp>
      <p:sp>
        <p:nvSpPr>
          <p:cNvPr id="58" name="object 58" descr=""/>
          <p:cNvSpPr txBox="1"/>
          <p:nvPr/>
        </p:nvSpPr>
        <p:spPr>
          <a:xfrm>
            <a:off x="8107195" y="2893455"/>
            <a:ext cx="532130" cy="665480"/>
          </a:xfrm>
          <a:prstGeom prst="rect">
            <a:avLst/>
          </a:prstGeom>
        </p:spPr>
        <p:txBody>
          <a:bodyPr wrap="square" lIns="0" tIns="119380" rIns="0" bIns="0" rtlCol="0" vert="horz">
            <a:spAutoFit/>
          </a:bodyPr>
          <a:lstStyle/>
          <a:p>
            <a:pPr marL="75565">
              <a:lnSpc>
                <a:spcPct val="100000"/>
              </a:lnSpc>
              <a:spcBef>
                <a:spcPts val="940"/>
              </a:spcBef>
            </a:pPr>
            <a:r>
              <a:rPr dirty="0" sz="1400" spc="-10" b="1">
                <a:solidFill>
                  <a:srgbClr val="FFFFFF"/>
                </a:solidFill>
                <a:latin typeface="Arial"/>
                <a:cs typeface="Arial"/>
              </a:rPr>
              <a:t>2.121</a:t>
            </a:r>
            <a:endParaRPr sz="1400">
              <a:latin typeface="Arial"/>
              <a:cs typeface="Arial"/>
            </a:endParaRPr>
          </a:p>
          <a:p>
            <a:pPr marL="12700">
              <a:lnSpc>
                <a:spcPct val="100000"/>
              </a:lnSpc>
              <a:spcBef>
                <a:spcPts val="840"/>
              </a:spcBef>
            </a:pPr>
            <a:r>
              <a:rPr dirty="0" sz="1400" spc="-25" b="1">
                <a:solidFill>
                  <a:srgbClr val="FFFFFF"/>
                </a:solidFill>
                <a:latin typeface="Arial"/>
                <a:cs typeface="Arial"/>
              </a:rPr>
              <a:t>1.9</a:t>
            </a:r>
            <a:endParaRPr sz="1400">
              <a:latin typeface="Arial"/>
              <a:cs typeface="Arial"/>
            </a:endParaRPr>
          </a:p>
        </p:txBody>
      </p:sp>
      <p:grpSp>
        <p:nvGrpSpPr>
          <p:cNvPr id="59" name="object 59" descr=""/>
          <p:cNvGrpSpPr/>
          <p:nvPr/>
        </p:nvGrpSpPr>
        <p:grpSpPr>
          <a:xfrm>
            <a:off x="177426" y="903784"/>
            <a:ext cx="8666480" cy="756920"/>
            <a:chOff x="177426" y="903784"/>
            <a:chExt cx="8666480" cy="756920"/>
          </a:xfrm>
        </p:grpSpPr>
        <p:sp>
          <p:nvSpPr>
            <p:cNvPr id="60" name="object 60" descr=""/>
            <p:cNvSpPr/>
            <p:nvPr/>
          </p:nvSpPr>
          <p:spPr>
            <a:xfrm>
              <a:off x="190126" y="910134"/>
              <a:ext cx="0" cy="744220"/>
            </a:xfrm>
            <a:custGeom>
              <a:avLst/>
              <a:gdLst/>
              <a:ahLst/>
              <a:cxnLst/>
              <a:rect l="l" t="t" r="r" b="b"/>
              <a:pathLst>
                <a:path w="0" h="744219">
                  <a:moveTo>
                    <a:pt x="0" y="0"/>
                  </a:moveTo>
                  <a:lnTo>
                    <a:pt x="0" y="744220"/>
                  </a:lnTo>
                </a:path>
              </a:pathLst>
            </a:custGeom>
            <a:ln w="12700">
              <a:solidFill>
                <a:srgbClr val="000000"/>
              </a:solidFill>
            </a:ln>
          </p:spPr>
          <p:txBody>
            <a:bodyPr wrap="square" lIns="0" tIns="0" rIns="0" bIns="0" rtlCol="0"/>
            <a:lstStyle/>
            <a:p/>
          </p:txBody>
        </p:sp>
        <p:sp>
          <p:nvSpPr>
            <p:cNvPr id="61" name="object 61" descr=""/>
            <p:cNvSpPr/>
            <p:nvPr/>
          </p:nvSpPr>
          <p:spPr>
            <a:xfrm>
              <a:off x="8831088" y="910134"/>
              <a:ext cx="0" cy="744220"/>
            </a:xfrm>
            <a:custGeom>
              <a:avLst/>
              <a:gdLst/>
              <a:ahLst/>
              <a:cxnLst/>
              <a:rect l="l" t="t" r="r" b="b"/>
              <a:pathLst>
                <a:path w="0" h="744219">
                  <a:moveTo>
                    <a:pt x="0" y="0"/>
                  </a:moveTo>
                  <a:lnTo>
                    <a:pt x="0" y="744220"/>
                  </a:lnTo>
                </a:path>
              </a:pathLst>
            </a:custGeom>
            <a:ln w="12700">
              <a:solidFill>
                <a:srgbClr val="000000"/>
              </a:solidFill>
            </a:ln>
          </p:spPr>
          <p:txBody>
            <a:bodyPr wrap="square" lIns="0" tIns="0" rIns="0" bIns="0" rtlCol="0"/>
            <a:lstStyle/>
            <a:p/>
          </p:txBody>
        </p:sp>
        <p:sp>
          <p:nvSpPr>
            <p:cNvPr id="62" name="object 62" descr=""/>
            <p:cNvSpPr/>
            <p:nvPr/>
          </p:nvSpPr>
          <p:spPr>
            <a:xfrm>
              <a:off x="183776" y="916484"/>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sp>
          <p:nvSpPr>
            <p:cNvPr id="63" name="object 63" descr=""/>
            <p:cNvSpPr/>
            <p:nvPr/>
          </p:nvSpPr>
          <p:spPr>
            <a:xfrm>
              <a:off x="183776" y="1648004"/>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grpSp>
      <p:sp>
        <p:nvSpPr>
          <p:cNvPr id="64" name="object 64" descr=""/>
          <p:cNvSpPr txBox="1"/>
          <p:nvPr/>
        </p:nvSpPr>
        <p:spPr>
          <a:xfrm>
            <a:off x="243466" y="994473"/>
            <a:ext cx="3325495" cy="269875"/>
          </a:xfrm>
          <a:prstGeom prst="rect">
            <a:avLst/>
          </a:prstGeom>
        </p:spPr>
        <p:txBody>
          <a:bodyPr wrap="square" lIns="0" tIns="12700" rIns="0" bIns="0" rtlCol="0" vert="horz">
            <a:spAutoFit/>
          </a:bodyPr>
          <a:lstStyle/>
          <a:p>
            <a:pPr marL="38100">
              <a:lnSpc>
                <a:spcPct val="100000"/>
              </a:lnSpc>
              <a:spcBef>
                <a:spcPts val="100"/>
              </a:spcBef>
            </a:pPr>
            <a:r>
              <a:rPr dirty="0" baseline="1984" sz="2100" spc="-1672">
                <a:latin typeface="Microsoft YaHei"/>
                <a:cs typeface="Microsoft YaHei"/>
              </a:rPr>
              <a:t>进</a:t>
            </a:r>
            <a:r>
              <a:rPr dirty="0" baseline="9920" sz="2100" spc="-855">
                <a:latin typeface="Microsoft YaHei"/>
                <a:cs typeface="Microsoft YaHei"/>
              </a:rPr>
              <a:t>P</a:t>
            </a:r>
            <a:r>
              <a:rPr dirty="0" baseline="5952" sz="2100" spc="-1282" b="1">
                <a:latin typeface="Microsoft YaHei"/>
                <a:cs typeface="Microsoft YaHei"/>
              </a:rPr>
              <a:t>管</a:t>
            </a:r>
            <a:r>
              <a:rPr dirty="0" baseline="9920" sz="2100" spc="-217">
                <a:latin typeface="Microsoft YaHei"/>
                <a:cs typeface="Microsoft YaHei"/>
              </a:rPr>
              <a:t>i</a:t>
            </a:r>
            <a:r>
              <a:rPr dirty="0" baseline="1984" sz="2100" spc="-1920">
                <a:latin typeface="Microsoft YaHei"/>
                <a:cs typeface="Microsoft YaHei"/>
              </a:rPr>
              <a:t>入</a:t>
            </a:r>
            <a:r>
              <a:rPr dirty="0" baseline="9920" sz="2100" spc="-1087">
                <a:latin typeface="Microsoft YaHei"/>
                <a:cs typeface="Microsoft YaHei"/>
              </a:rPr>
              <a:t>n</a:t>
            </a:r>
            <a:r>
              <a:rPr dirty="0" sz="1600" spc="-1290" b="1">
                <a:latin typeface="Microsoft YaHei"/>
                <a:cs typeface="Microsoft YaHei"/>
              </a:rPr>
              <a:t>状</a:t>
            </a:r>
            <a:r>
              <a:rPr dirty="0" baseline="5952" sz="2100" spc="-1522" b="1">
                <a:latin typeface="Microsoft YaHei"/>
                <a:cs typeface="Microsoft YaHei"/>
              </a:rPr>
              <a:t>理</a:t>
            </a:r>
            <a:r>
              <a:rPr dirty="0" baseline="9920" sz="2100" spc="-1080">
                <a:latin typeface="Microsoft YaHei"/>
                <a:cs typeface="Microsoft YaHei"/>
              </a:rPr>
              <a:t>g</a:t>
            </a:r>
            <a:r>
              <a:rPr dirty="0" baseline="1984" sz="2100" spc="-1080">
                <a:latin typeface="Microsoft YaHei"/>
                <a:cs typeface="Microsoft YaHei"/>
              </a:rPr>
              <a:t>“</a:t>
            </a:r>
            <a:r>
              <a:rPr dirty="0" sz="1600" spc="-1600" b="1">
                <a:latin typeface="Microsoft YaHei"/>
                <a:cs typeface="Microsoft YaHei"/>
              </a:rPr>
              <a:t>态</a:t>
            </a:r>
            <a:r>
              <a:rPr dirty="0" baseline="9920" sz="2100" spc="-1964">
                <a:latin typeface="Microsoft YaHei"/>
                <a:cs typeface="Microsoft YaHei"/>
              </a:rPr>
              <a:t>状</a:t>
            </a:r>
            <a:r>
              <a:rPr dirty="0" baseline="5952" sz="2100" spc="-922" b="1">
                <a:latin typeface="Microsoft YaHei"/>
                <a:cs typeface="Microsoft YaHei"/>
              </a:rPr>
              <a:t>站</a:t>
            </a:r>
            <a:r>
              <a:rPr dirty="0" baseline="1984" sz="2100" spc="-1380">
                <a:latin typeface="Microsoft YaHei"/>
                <a:cs typeface="Microsoft YaHei"/>
              </a:rPr>
              <a:t>一</a:t>
            </a:r>
            <a:r>
              <a:rPr dirty="0" baseline="9920" sz="2100" spc="-1964">
                <a:latin typeface="Microsoft YaHei"/>
                <a:cs typeface="Microsoft YaHei"/>
              </a:rPr>
              <a:t>态</a:t>
            </a:r>
            <a:r>
              <a:rPr dirty="0" baseline="5952" sz="2100" spc="-1979" b="1">
                <a:latin typeface="Microsoft YaHei"/>
                <a:cs typeface="Microsoft YaHei"/>
              </a:rPr>
              <a:t>信</a:t>
            </a:r>
            <a:r>
              <a:rPr dirty="0" sz="1600" spc="-900" b="1">
                <a:latin typeface="Microsoft YaHei"/>
                <a:cs typeface="Microsoft YaHei"/>
              </a:rPr>
              <a:t>查</a:t>
            </a:r>
            <a:r>
              <a:rPr dirty="0" baseline="1984" sz="2100" spc="-1222">
                <a:latin typeface="Microsoft YaHei"/>
                <a:cs typeface="Microsoft YaHei"/>
              </a:rPr>
              <a:t>单</a:t>
            </a:r>
            <a:r>
              <a:rPr dirty="0" baseline="5952" sz="2100" spc="-1679" b="1">
                <a:latin typeface="Microsoft YaHei"/>
                <a:cs typeface="Microsoft YaHei"/>
              </a:rPr>
              <a:t>息</a:t>
            </a:r>
            <a:r>
              <a:rPr dirty="0" sz="1600" spc="-1105" b="1">
                <a:latin typeface="Microsoft YaHei"/>
                <a:cs typeface="Microsoft YaHei"/>
              </a:rPr>
              <a:t>询</a:t>
            </a:r>
            <a:r>
              <a:rPr dirty="0" baseline="1984" sz="2100" spc="-1222">
                <a:latin typeface="Microsoft YaHei"/>
                <a:cs typeface="Microsoft YaHei"/>
              </a:rPr>
              <a:t>开</a:t>
            </a:r>
            <a:r>
              <a:rPr dirty="0" baseline="5952" sz="2100" spc="-1372" b="1">
                <a:latin typeface="Microsoft YaHei"/>
                <a:cs typeface="Microsoft YaHei"/>
              </a:rPr>
              <a:t>：</a:t>
            </a:r>
            <a:r>
              <a:rPr dirty="0" sz="1600" spc="-1310" b="1">
                <a:latin typeface="Microsoft YaHei"/>
                <a:cs typeface="Microsoft YaHei"/>
              </a:rPr>
              <a:t>及</a:t>
            </a:r>
            <a:r>
              <a:rPr dirty="0" baseline="1984" sz="2100" spc="-172">
                <a:latin typeface="Microsoft YaHei"/>
                <a:cs typeface="Microsoft YaHei"/>
              </a:rPr>
              <a:t>站</a:t>
            </a:r>
            <a:r>
              <a:rPr dirty="0" sz="1600" spc="-1510" b="1">
                <a:latin typeface="Microsoft YaHei"/>
                <a:cs typeface="Microsoft YaHei"/>
              </a:rPr>
              <a:t>分</a:t>
            </a:r>
            <a:r>
              <a:rPr dirty="0" baseline="1984" sz="2100" spc="-179">
                <a:latin typeface="Microsoft YaHei"/>
                <a:cs typeface="Microsoft YaHei"/>
              </a:rPr>
              <a:t>” </a:t>
            </a:r>
            <a:r>
              <a:rPr dirty="0" sz="1600" spc="-1295" b="1">
                <a:latin typeface="Microsoft YaHei"/>
                <a:cs typeface="Microsoft YaHei"/>
              </a:rPr>
              <a:t>析</a:t>
            </a:r>
            <a:r>
              <a:rPr dirty="0" baseline="1984" sz="2100" spc="-37">
                <a:latin typeface="Microsoft YaHei"/>
                <a:cs typeface="Microsoft YaHei"/>
              </a:rPr>
              <a:t>，进行基站信息查询。</a:t>
            </a:r>
            <a:endParaRPr baseline="1984" sz="2100">
              <a:latin typeface="Microsoft YaHei"/>
              <a:cs typeface="Microsoft YaHei"/>
            </a:endParaRPr>
          </a:p>
        </p:txBody>
      </p:sp>
      <p:sp>
        <p:nvSpPr>
          <p:cNvPr id="65" name="object 65" descr=""/>
          <p:cNvSpPr txBox="1"/>
          <p:nvPr/>
        </p:nvSpPr>
        <p:spPr>
          <a:xfrm>
            <a:off x="243466" y="1297810"/>
            <a:ext cx="4803140" cy="269875"/>
          </a:xfrm>
          <a:prstGeom prst="rect">
            <a:avLst/>
          </a:prstGeom>
        </p:spPr>
        <p:txBody>
          <a:bodyPr wrap="square" lIns="0" tIns="12700" rIns="0" bIns="0" rtlCol="0" vert="horz">
            <a:spAutoFit/>
          </a:bodyPr>
          <a:lstStyle/>
          <a:p>
            <a:pPr marL="38100">
              <a:lnSpc>
                <a:spcPct val="100000"/>
              </a:lnSpc>
              <a:spcBef>
                <a:spcPts val="100"/>
              </a:spcBef>
            </a:pPr>
            <a:r>
              <a:rPr dirty="0" baseline="-1984" sz="2100" spc="-1672">
                <a:latin typeface="Microsoft YaHei"/>
                <a:cs typeface="Microsoft YaHei"/>
              </a:rPr>
              <a:t>操</a:t>
            </a:r>
            <a:r>
              <a:rPr dirty="0" baseline="3968" sz="2100" spc="-1679">
                <a:latin typeface="Microsoft YaHei"/>
                <a:cs typeface="Microsoft YaHei"/>
              </a:rPr>
              <a:t>操</a:t>
            </a:r>
            <a:r>
              <a:rPr dirty="0" sz="1400" spc="-615">
                <a:latin typeface="Microsoft YaHei"/>
                <a:cs typeface="Microsoft YaHei"/>
              </a:rPr>
              <a:t>操</a:t>
            </a:r>
            <a:r>
              <a:rPr dirty="0" baseline="-1984" sz="2100" spc="-1672">
                <a:latin typeface="Microsoft YaHei"/>
                <a:cs typeface="Microsoft YaHei"/>
              </a:rPr>
              <a:t>作</a:t>
            </a:r>
            <a:r>
              <a:rPr dirty="0" baseline="3968" sz="2100" spc="-1679">
                <a:latin typeface="Microsoft YaHei"/>
                <a:cs typeface="Microsoft YaHei"/>
              </a:rPr>
              <a:t>作</a:t>
            </a:r>
            <a:r>
              <a:rPr dirty="0" sz="1400" spc="-1240">
                <a:latin typeface="Microsoft YaHei"/>
                <a:cs typeface="Microsoft YaHei"/>
              </a:rPr>
              <a:t>作</a:t>
            </a:r>
            <a:r>
              <a:rPr dirty="0" baseline="-5208" sz="2400" spc="-1470">
                <a:latin typeface="SimSun"/>
                <a:cs typeface="SimSun"/>
              </a:rPr>
              <a:t>查</a:t>
            </a:r>
            <a:r>
              <a:rPr dirty="0" baseline="-1984" sz="2100" spc="-1672">
                <a:latin typeface="Microsoft YaHei"/>
                <a:cs typeface="Microsoft YaHei"/>
              </a:rPr>
              <a:t>节</a:t>
            </a:r>
            <a:r>
              <a:rPr dirty="0" baseline="3968" sz="2100" spc="-1679">
                <a:latin typeface="Microsoft YaHei"/>
                <a:cs typeface="Microsoft YaHei"/>
              </a:rPr>
              <a:t>节</a:t>
            </a:r>
            <a:r>
              <a:rPr dirty="0" sz="1400" spc="-1030">
                <a:latin typeface="Microsoft YaHei"/>
                <a:cs typeface="Microsoft YaHei"/>
              </a:rPr>
              <a:t>节</a:t>
            </a:r>
            <a:r>
              <a:rPr dirty="0" baseline="-5208" sz="2400" spc="-1792">
                <a:latin typeface="SimSun"/>
                <a:cs typeface="SimSun"/>
              </a:rPr>
              <a:t>询</a:t>
            </a:r>
            <a:r>
              <a:rPr dirty="0" baseline="-1984" sz="2100" spc="-1672">
                <a:latin typeface="Microsoft YaHei"/>
                <a:cs typeface="Microsoft YaHei"/>
              </a:rPr>
              <a:t>点</a:t>
            </a:r>
            <a:r>
              <a:rPr dirty="0" baseline="3968" sz="2100" spc="-1679">
                <a:latin typeface="Microsoft YaHei"/>
                <a:cs typeface="Microsoft YaHei"/>
              </a:rPr>
              <a:t>点</a:t>
            </a:r>
            <a:r>
              <a:rPr dirty="0" sz="1400" spc="-955">
                <a:latin typeface="Microsoft YaHei"/>
                <a:cs typeface="Microsoft YaHei"/>
              </a:rPr>
              <a:t>点</a:t>
            </a:r>
            <a:r>
              <a:rPr dirty="0" baseline="-29761" sz="2100" spc="-1920">
                <a:latin typeface="SimSun"/>
                <a:cs typeface="SimSun"/>
              </a:rPr>
              <a:t>检</a:t>
            </a:r>
            <a:r>
              <a:rPr dirty="0" baseline="-5208" sz="2400" spc="-2107">
                <a:latin typeface="SimSun"/>
                <a:cs typeface="SimSun"/>
              </a:rPr>
              <a:t>内</a:t>
            </a:r>
            <a:r>
              <a:rPr dirty="0" baseline="-1984" sz="2100" spc="-1597">
                <a:latin typeface="Microsoft YaHei"/>
                <a:cs typeface="Microsoft YaHei"/>
              </a:rPr>
              <a:t>：</a:t>
            </a:r>
            <a:r>
              <a:rPr dirty="0" baseline="3968" sz="2100" spc="-1597">
                <a:latin typeface="Microsoft YaHei"/>
                <a:cs typeface="Microsoft YaHei"/>
              </a:rPr>
              <a:t>：</a:t>
            </a:r>
            <a:r>
              <a:rPr dirty="0" sz="1400" spc="-1065">
                <a:latin typeface="Microsoft YaHei"/>
                <a:cs typeface="Microsoft YaHei"/>
              </a:rPr>
              <a:t>：</a:t>
            </a:r>
            <a:r>
              <a:rPr dirty="0" baseline="-29761" sz="2100" spc="-1627">
                <a:latin typeface="SimSun"/>
                <a:cs typeface="SimSun"/>
              </a:rPr>
              <a:t>查</a:t>
            </a:r>
            <a:r>
              <a:rPr dirty="0" baseline="-1984" sz="2100" spc="-2100">
                <a:latin typeface="Microsoft YaHei"/>
                <a:cs typeface="Microsoft YaHei"/>
              </a:rPr>
              <a:t>工</a:t>
            </a:r>
            <a:r>
              <a:rPr dirty="0" baseline="-5208" sz="2400" spc="-1964">
                <a:latin typeface="SimSun"/>
                <a:cs typeface="SimSun"/>
              </a:rPr>
              <a:t>容</a:t>
            </a:r>
            <a:r>
              <a:rPr dirty="0" baseline="3968" sz="2100" spc="-1679">
                <a:latin typeface="Microsoft YaHei"/>
                <a:cs typeface="Microsoft YaHei"/>
              </a:rPr>
              <a:t>跟</a:t>
            </a:r>
            <a:r>
              <a:rPr dirty="0" sz="1400" spc="-360">
                <a:latin typeface="Microsoft YaHei"/>
                <a:cs typeface="Microsoft YaHei"/>
              </a:rPr>
              <a:t>9</a:t>
            </a:r>
            <a:r>
              <a:rPr dirty="0" baseline="-29761" sz="2100" spc="-1635">
                <a:latin typeface="SimSun"/>
                <a:cs typeface="SimSun"/>
              </a:rPr>
              <a:t>项</a:t>
            </a:r>
            <a:r>
              <a:rPr dirty="0" baseline="-1984" sz="2100" spc="-2085">
                <a:latin typeface="Microsoft YaHei"/>
                <a:cs typeface="Microsoft YaHei"/>
              </a:rPr>
              <a:t>具</a:t>
            </a:r>
            <a:r>
              <a:rPr dirty="0" sz="1400" spc="-555">
                <a:latin typeface="Microsoft YaHei"/>
                <a:cs typeface="Microsoft YaHei"/>
              </a:rPr>
              <a:t>2</a:t>
            </a:r>
            <a:r>
              <a:rPr dirty="0" baseline="3968" sz="2100" spc="-1305">
                <a:latin typeface="Microsoft YaHei"/>
                <a:cs typeface="Microsoft YaHei"/>
              </a:rPr>
              <a:t>踪</a:t>
            </a:r>
            <a:r>
              <a:rPr dirty="0" sz="1400" spc="-1185">
                <a:latin typeface="Microsoft YaHei"/>
                <a:cs typeface="Microsoft YaHei"/>
              </a:rPr>
              <a:t>（</a:t>
            </a:r>
            <a:r>
              <a:rPr dirty="0" baseline="-29761" sz="2100" spc="-1642">
                <a:latin typeface="SimSun"/>
                <a:cs typeface="SimSun"/>
              </a:rPr>
              <a:t>目</a:t>
            </a:r>
            <a:r>
              <a:rPr dirty="0" baseline="-1984" sz="2100" spc="-1672">
                <a:latin typeface="Microsoft YaHei"/>
                <a:cs typeface="Microsoft YaHei"/>
              </a:rPr>
              <a:t>→</a:t>
            </a:r>
            <a:r>
              <a:rPr dirty="0" baseline="3968" sz="2100" spc="-1305">
                <a:latin typeface="Microsoft YaHei"/>
                <a:cs typeface="Microsoft YaHei"/>
              </a:rPr>
              <a:t>测</a:t>
            </a:r>
            <a:r>
              <a:rPr dirty="0" sz="1400" spc="-865">
                <a:latin typeface="Microsoft YaHei"/>
                <a:cs typeface="Microsoft YaHei"/>
              </a:rPr>
              <a:t>网</a:t>
            </a:r>
            <a:r>
              <a:rPr dirty="0" baseline="-1984" sz="2100" spc="-1672">
                <a:latin typeface="Microsoft YaHei"/>
                <a:cs typeface="Microsoft YaHei"/>
              </a:rPr>
              <a:t>一</a:t>
            </a:r>
            <a:r>
              <a:rPr dirty="0" baseline="3968" sz="2100" spc="-1305">
                <a:latin typeface="Microsoft YaHei"/>
                <a:cs typeface="Microsoft YaHei"/>
              </a:rPr>
              <a:t>试</a:t>
            </a:r>
            <a:r>
              <a:rPr dirty="0" sz="1400" spc="-865">
                <a:latin typeface="Microsoft YaHei"/>
                <a:cs typeface="Microsoft YaHei"/>
              </a:rPr>
              <a:t>元</a:t>
            </a:r>
            <a:r>
              <a:rPr dirty="0" baseline="-1984" sz="2100" spc="-1672">
                <a:latin typeface="Microsoft YaHei"/>
                <a:cs typeface="Microsoft YaHei"/>
              </a:rPr>
              <a:t>单</a:t>
            </a:r>
            <a:r>
              <a:rPr dirty="0" baseline="3968" sz="2100" spc="-1305">
                <a:latin typeface="Microsoft YaHei"/>
                <a:cs typeface="Microsoft YaHei"/>
              </a:rPr>
              <a:t>→</a:t>
            </a:r>
            <a:r>
              <a:rPr dirty="0" sz="1400" spc="-865">
                <a:latin typeface="Microsoft YaHei"/>
                <a:cs typeface="Microsoft YaHei"/>
              </a:rPr>
              <a:t>友</a:t>
            </a:r>
            <a:r>
              <a:rPr dirty="0" baseline="-1984" sz="2100" spc="-1672">
                <a:latin typeface="Microsoft YaHei"/>
                <a:cs typeface="Microsoft YaHei"/>
              </a:rPr>
              <a:t>开</a:t>
            </a:r>
            <a:r>
              <a:rPr dirty="0" baseline="3968" sz="2100" spc="-1305">
                <a:latin typeface="Microsoft YaHei"/>
                <a:cs typeface="Microsoft YaHei"/>
              </a:rPr>
              <a:t>诊</a:t>
            </a:r>
            <a:r>
              <a:rPr dirty="0" sz="1400" spc="-865">
                <a:latin typeface="Microsoft YaHei"/>
                <a:cs typeface="Microsoft YaHei"/>
              </a:rPr>
              <a:t>好</a:t>
            </a:r>
            <a:r>
              <a:rPr dirty="0" baseline="-1984" sz="2100" spc="-1672">
                <a:latin typeface="Microsoft YaHei"/>
                <a:cs typeface="Microsoft YaHei"/>
              </a:rPr>
              <a:t>站</a:t>
            </a:r>
            <a:r>
              <a:rPr dirty="0" baseline="3968" sz="2100" spc="-1305">
                <a:latin typeface="Microsoft YaHei"/>
                <a:cs typeface="Microsoft YaHei"/>
              </a:rPr>
              <a:t>断</a:t>
            </a:r>
            <a:r>
              <a:rPr dirty="0" sz="1400" spc="-560">
                <a:latin typeface="Microsoft YaHei"/>
                <a:cs typeface="Microsoft YaHei"/>
              </a:rPr>
              <a:t>名</a:t>
            </a:r>
            <a:r>
              <a:rPr dirty="0" baseline="3968" sz="2100" spc="-1305">
                <a:latin typeface="Microsoft YaHei"/>
                <a:cs typeface="Microsoft YaHei"/>
              </a:rPr>
              <a:t>测</a:t>
            </a:r>
            <a:r>
              <a:rPr dirty="0" sz="1400" spc="-580">
                <a:latin typeface="Microsoft YaHei"/>
                <a:cs typeface="Microsoft YaHei"/>
              </a:rPr>
              <a:t>）</a:t>
            </a:r>
            <a:r>
              <a:rPr dirty="0" baseline="-5208" sz="2400" spc="-2377">
                <a:latin typeface="SimSun"/>
                <a:cs typeface="SimSun"/>
              </a:rPr>
              <a:t>查</a:t>
            </a:r>
            <a:r>
              <a:rPr dirty="0" baseline="3968" sz="2100" spc="-1305">
                <a:latin typeface="Microsoft YaHei"/>
                <a:cs typeface="Microsoft YaHei"/>
              </a:rPr>
              <a:t>试</a:t>
            </a:r>
            <a:r>
              <a:rPr dirty="0" sz="1400" spc="-560">
                <a:latin typeface="Microsoft YaHei"/>
                <a:cs typeface="Microsoft YaHei"/>
              </a:rPr>
              <a:t>→</a:t>
            </a:r>
            <a:r>
              <a:rPr dirty="0" baseline="3968" sz="2100" spc="-1845">
                <a:latin typeface="Microsoft YaHei"/>
                <a:cs typeface="Microsoft YaHei"/>
              </a:rPr>
              <a:t>→</a:t>
            </a:r>
            <a:r>
              <a:rPr dirty="0" baseline="-5208" sz="2400" spc="-1875">
                <a:latin typeface="SimSun"/>
                <a:cs typeface="SimSun"/>
              </a:rPr>
              <a:t>询</a:t>
            </a:r>
            <a:r>
              <a:rPr dirty="0" sz="1400" spc="-560">
                <a:latin typeface="Microsoft YaHei"/>
                <a:cs typeface="Microsoft YaHei"/>
              </a:rPr>
              <a:t>局</a:t>
            </a:r>
            <a:r>
              <a:rPr dirty="0" baseline="3968" sz="2100" spc="-765">
                <a:latin typeface="Microsoft YaHei"/>
                <a:cs typeface="Microsoft YaHei"/>
              </a:rPr>
              <a:t>g</a:t>
            </a:r>
            <a:r>
              <a:rPr dirty="0" baseline="-5208" sz="2400" spc="-2190">
                <a:latin typeface="SimSun"/>
                <a:cs typeface="SimSun"/>
              </a:rPr>
              <a:t>路</a:t>
            </a:r>
            <a:r>
              <a:rPr dirty="0" sz="1400" spc="-1060">
                <a:latin typeface="Microsoft YaHei"/>
                <a:cs typeface="Microsoft YaHei"/>
              </a:rPr>
              <a:t>向</a:t>
            </a:r>
            <a:r>
              <a:rPr dirty="0" baseline="3968" sz="2100" spc="-165">
                <a:latin typeface="Microsoft YaHei"/>
                <a:cs typeface="Microsoft YaHei"/>
              </a:rPr>
              <a:t>N</a:t>
            </a:r>
            <a:r>
              <a:rPr dirty="0" sz="1400" spc="-1355">
                <a:latin typeface="Microsoft YaHei"/>
                <a:cs typeface="Microsoft YaHei"/>
              </a:rPr>
              <a:t>→</a:t>
            </a:r>
            <a:r>
              <a:rPr dirty="0" baseline="-5208" sz="2400" spc="-2362">
                <a:latin typeface="SimSun"/>
                <a:cs typeface="SimSun"/>
              </a:rPr>
              <a:t>径</a:t>
            </a:r>
            <a:r>
              <a:rPr dirty="0" baseline="3968" sz="2100">
                <a:latin typeface="Microsoft YaHei"/>
                <a:cs typeface="Microsoft YaHei"/>
              </a:rPr>
              <a:t>B</a:t>
            </a:r>
            <a:r>
              <a:rPr dirty="0" baseline="3968" sz="2100" spc="-142">
                <a:latin typeface="Microsoft YaHei"/>
                <a:cs typeface="Microsoft YaHei"/>
              </a:rPr>
              <a:t> </a:t>
            </a:r>
            <a:r>
              <a:rPr dirty="0" baseline="-29761" sz="2100" spc="-1792">
                <a:latin typeface="SimSun"/>
                <a:cs typeface="SimSun"/>
              </a:rPr>
              <a:t>路</a:t>
            </a:r>
            <a:r>
              <a:rPr dirty="0" sz="1400" spc="-235">
                <a:latin typeface="Microsoft YaHei"/>
                <a:cs typeface="Microsoft YaHei"/>
              </a:rPr>
              <a:t>管</a:t>
            </a:r>
            <a:r>
              <a:rPr dirty="0" baseline="-29761" sz="2100" spc="-1807">
                <a:latin typeface="SimSun"/>
                <a:cs typeface="SimSun"/>
              </a:rPr>
              <a:t>径</a:t>
            </a:r>
            <a:r>
              <a:rPr dirty="0" sz="1400" spc="-25">
                <a:latin typeface="Microsoft YaHei"/>
                <a:cs typeface="Microsoft YaHei"/>
              </a:rPr>
              <a:t>理站→管理站信息</a:t>
            </a:r>
            <a:endParaRPr sz="1400">
              <a:latin typeface="Microsoft YaHei"/>
              <a:cs typeface="Microsoft YaHei"/>
            </a:endParaRPr>
          </a:p>
        </p:txBody>
      </p:sp>
      <p:grpSp>
        <p:nvGrpSpPr>
          <p:cNvPr id="66" name="object 66" descr=""/>
          <p:cNvGrpSpPr/>
          <p:nvPr/>
        </p:nvGrpSpPr>
        <p:grpSpPr>
          <a:xfrm>
            <a:off x="245168" y="753758"/>
            <a:ext cx="8653780" cy="4119879"/>
            <a:chOff x="245168" y="753758"/>
            <a:chExt cx="8653780" cy="4119879"/>
          </a:xfrm>
        </p:grpSpPr>
        <p:pic>
          <p:nvPicPr>
            <p:cNvPr id="67" name="object 67"/>
            <p:cNvPicPr/>
            <p:nvPr/>
          </p:nvPicPr>
          <p:blipFill>
            <a:blip r:embed="rId7" cstate="print"/>
            <a:stretch>
              <a:fillRect/>
            </a:stretch>
          </p:blipFill>
          <p:spPr>
            <a:xfrm>
              <a:off x="838200" y="1885950"/>
              <a:ext cx="7272807" cy="2987598"/>
            </a:xfrm>
            <a:prstGeom prst="rect">
              <a:avLst/>
            </a:prstGeom>
          </p:spPr>
        </p:pic>
        <p:sp>
          <p:nvSpPr>
            <p:cNvPr id="68" name="object 68" descr=""/>
            <p:cNvSpPr/>
            <p:nvPr/>
          </p:nvSpPr>
          <p:spPr>
            <a:xfrm>
              <a:off x="251518" y="753760"/>
              <a:ext cx="0" cy="744220"/>
            </a:xfrm>
            <a:custGeom>
              <a:avLst/>
              <a:gdLst/>
              <a:ahLst/>
              <a:cxnLst/>
              <a:rect l="l" t="t" r="r" b="b"/>
              <a:pathLst>
                <a:path w="0" h="744219">
                  <a:moveTo>
                    <a:pt x="0" y="0"/>
                  </a:moveTo>
                  <a:lnTo>
                    <a:pt x="0" y="744220"/>
                  </a:lnTo>
                </a:path>
              </a:pathLst>
            </a:custGeom>
            <a:ln w="12700">
              <a:solidFill>
                <a:srgbClr val="000000"/>
              </a:solidFill>
            </a:ln>
          </p:spPr>
          <p:txBody>
            <a:bodyPr wrap="square" lIns="0" tIns="0" rIns="0" bIns="0" rtlCol="0"/>
            <a:lstStyle/>
            <a:p/>
          </p:txBody>
        </p:sp>
        <p:sp>
          <p:nvSpPr>
            <p:cNvPr id="69" name="object 69" descr=""/>
            <p:cNvSpPr/>
            <p:nvPr/>
          </p:nvSpPr>
          <p:spPr>
            <a:xfrm>
              <a:off x="8892480" y="753760"/>
              <a:ext cx="0" cy="744220"/>
            </a:xfrm>
            <a:custGeom>
              <a:avLst/>
              <a:gdLst/>
              <a:ahLst/>
              <a:cxnLst/>
              <a:rect l="l" t="t" r="r" b="b"/>
              <a:pathLst>
                <a:path w="0" h="744219">
                  <a:moveTo>
                    <a:pt x="0" y="0"/>
                  </a:moveTo>
                  <a:lnTo>
                    <a:pt x="0" y="744220"/>
                  </a:lnTo>
                </a:path>
              </a:pathLst>
            </a:custGeom>
            <a:ln w="12700">
              <a:solidFill>
                <a:srgbClr val="000000"/>
              </a:solidFill>
            </a:ln>
          </p:spPr>
          <p:txBody>
            <a:bodyPr wrap="square" lIns="0" tIns="0" rIns="0" bIns="0" rtlCol="0"/>
            <a:lstStyle/>
            <a:p/>
          </p:txBody>
        </p:sp>
        <p:sp>
          <p:nvSpPr>
            <p:cNvPr id="70" name="object 70" descr=""/>
            <p:cNvSpPr/>
            <p:nvPr/>
          </p:nvSpPr>
          <p:spPr>
            <a:xfrm>
              <a:off x="245168" y="760108"/>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sp>
          <p:nvSpPr>
            <p:cNvPr id="71" name="object 71" descr=""/>
            <p:cNvSpPr/>
            <p:nvPr/>
          </p:nvSpPr>
          <p:spPr>
            <a:xfrm>
              <a:off x="245168" y="1491628"/>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grpSp>
      <p:sp>
        <p:nvSpPr>
          <p:cNvPr id="72" name="object 72" descr=""/>
          <p:cNvSpPr txBox="1"/>
          <p:nvPr/>
        </p:nvSpPr>
        <p:spPr>
          <a:xfrm>
            <a:off x="304858" y="842073"/>
            <a:ext cx="1511935" cy="269875"/>
          </a:xfrm>
          <a:prstGeom prst="rect">
            <a:avLst/>
          </a:prstGeom>
        </p:spPr>
        <p:txBody>
          <a:bodyPr wrap="square" lIns="0" tIns="12700" rIns="0" bIns="0" rtlCol="0" vert="horz">
            <a:spAutoFit/>
          </a:bodyPr>
          <a:lstStyle/>
          <a:p>
            <a:pPr marL="38100">
              <a:lnSpc>
                <a:spcPct val="100000"/>
              </a:lnSpc>
              <a:spcBef>
                <a:spcPts val="100"/>
              </a:spcBef>
            </a:pPr>
            <a:r>
              <a:rPr dirty="0" baseline="3968" sz="2100" spc="-1222">
                <a:latin typeface="Microsoft YaHei"/>
                <a:cs typeface="Microsoft YaHei"/>
              </a:rPr>
              <a:t>S</a:t>
            </a:r>
            <a:r>
              <a:rPr dirty="0" sz="1600" spc="-1490" b="1">
                <a:latin typeface="Microsoft YaHei"/>
                <a:cs typeface="Microsoft YaHei"/>
              </a:rPr>
              <a:t>状</a:t>
            </a:r>
            <a:r>
              <a:rPr dirty="0" baseline="-17857" sz="2100" spc="-1095" b="1">
                <a:latin typeface="Microsoft YaHei"/>
                <a:cs typeface="Microsoft YaHei"/>
              </a:rPr>
              <a:t>查</a:t>
            </a:r>
            <a:r>
              <a:rPr dirty="0" baseline="3968" sz="2100" spc="-359">
                <a:latin typeface="Microsoft YaHei"/>
                <a:cs typeface="Microsoft YaHei"/>
              </a:rPr>
              <a:t>C</a:t>
            </a:r>
            <a:r>
              <a:rPr dirty="0" baseline="-17857" sz="2100" spc="-1995" b="1">
                <a:latin typeface="Microsoft YaHei"/>
                <a:cs typeface="Microsoft YaHei"/>
              </a:rPr>
              <a:t>询</a:t>
            </a:r>
            <a:r>
              <a:rPr dirty="0" sz="1600" spc="-1465" b="1">
                <a:latin typeface="Microsoft YaHei"/>
                <a:cs typeface="Microsoft YaHei"/>
              </a:rPr>
              <a:t>态</a:t>
            </a:r>
            <a:r>
              <a:rPr dirty="0" baseline="3968" sz="2100" spc="-382">
                <a:latin typeface="Microsoft YaHei"/>
                <a:cs typeface="Microsoft YaHei"/>
              </a:rPr>
              <a:t>TP</a:t>
            </a:r>
            <a:r>
              <a:rPr dirty="0" baseline="-17857" sz="2100" spc="-1687" b="1">
                <a:latin typeface="Microsoft YaHei"/>
                <a:cs typeface="Microsoft YaHei"/>
              </a:rPr>
              <a:t>链</a:t>
            </a:r>
            <a:r>
              <a:rPr dirty="0" sz="1600" spc="-1405" b="1">
                <a:latin typeface="Microsoft YaHei"/>
                <a:cs typeface="Microsoft YaHei"/>
              </a:rPr>
              <a:t>查</a:t>
            </a:r>
            <a:r>
              <a:rPr dirty="0" baseline="3968" sz="2100" spc="-757">
                <a:latin typeface="Microsoft YaHei"/>
                <a:cs typeface="Microsoft YaHei"/>
              </a:rPr>
              <a:t>链</a:t>
            </a:r>
            <a:r>
              <a:rPr dirty="0" baseline="-17857" sz="2100" spc="-1387" b="1">
                <a:latin typeface="Microsoft YaHei"/>
                <a:cs typeface="Microsoft YaHei"/>
              </a:rPr>
              <a:t>路</a:t>
            </a:r>
            <a:r>
              <a:rPr dirty="0" baseline="3968" sz="2100" spc="-2100">
                <a:latin typeface="Microsoft YaHei"/>
                <a:cs typeface="Microsoft YaHei"/>
              </a:rPr>
              <a:t>路</a:t>
            </a:r>
            <a:r>
              <a:rPr dirty="0" sz="1600" spc="-700" b="1">
                <a:latin typeface="Microsoft YaHei"/>
                <a:cs typeface="Microsoft YaHei"/>
              </a:rPr>
              <a:t>询</a:t>
            </a:r>
            <a:r>
              <a:rPr dirty="0" baseline="-17857" sz="2100" spc="-1072" b="1">
                <a:latin typeface="Microsoft YaHei"/>
                <a:cs typeface="Microsoft YaHei"/>
              </a:rPr>
              <a:t>公</a:t>
            </a:r>
            <a:r>
              <a:rPr dirty="0" sz="1600" spc="-905" b="1">
                <a:latin typeface="Microsoft YaHei"/>
                <a:cs typeface="Microsoft YaHei"/>
              </a:rPr>
              <a:t>及</a:t>
            </a:r>
            <a:r>
              <a:rPr dirty="0" baseline="-17857" sz="2100" spc="-765" b="1">
                <a:latin typeface="Microsoft YaHei"/>
                <a:cs typeface="Microsoft YaHei"/>
              </a:rPr>
              <a:t>共</a:t>
            </a:r>
            <a:r>
              <a:rPr dirty="0" sz="1600" spc="-1110" b="1">
                <a:latin typeface="Microsoft YaHei"/>
                <a:cs typeface="Microsoft YaHei"/>
              </a:rPr>
              <a:t>分</a:t>
            </a:r>
            <a:r>
              <a:rPr dirty="0" baseline="-17857" sz="2100" spc="-465" b="1">
                <a:latin typeface="Microsoft YaHei"/>
                <a:cs typeface="Microsoft YaHei"/>
              </a:rPr>
              <a:t>信</a:t>
            </a:r>
            <a:r>
              <a:rPr dirty="0" sz="1600" spc="-1315" b="1">
                <a:latin typeface="Microsoft YaHei"/>
                <a:cs typeface="Microsoft YaHei"/>
              </a:rPr>
              <a:t>析</a:t>
            </a:r>
            <a:r>
              <a:rPr dirty="0" baseline="-17857" sz="2100" spc="-75" b="1">
                <a:latin typeface="Microsoft YaHei"/>
                <a:cs typeface="Microsoft YaHei"/>
              </a:rPr>
              <a:t>息</a:t>
            </a:r>
            <a:endParaRPr baseline="-17857" sz="2100">
              <a:latin typeface="Microsoft YaHei"/>
              <a:cs typeface="Microsoft YaHei"/>
            </a:endParaRPr>
          </a:p>
        </p:txBody>
      </p:sp>
      <p:sp>
        <p:nvSpPr>
          <p:cNvPr id="73" name="object 73" descr=""/>
          <p:cNvSpPr txBox="1"/>
          <p:nvPr/>
        </p:nvSpPr>
        <p:spPr>
          <a:xfrm>
            <a:off x="304858" y="1175729"/>
            <a:ext cx="3674745" cy="238760"/>
          </a:xfrm>
          <a:prstGeom prst="rect">
            <a:avLst/>
          </a:prstGeom>
        </p:spPr>
        <p:txBody>
          <a:bodyPr wrap="square" lIns="0" tIns="12065" rIns="0" bIns="0" rtlCol="0" vert="horz">
            <a:spAutoFit/>
          </a:bodyPr>
          <a:lstStyle/>
          <a:p>
            <a:pPr marL="38100">
              <a:lnSpc>
                <a:spcPct val="100000"/>
              </a:lnSpc>
              <a:spcBef>
                <a:spcPts val="95"/>
              </a:spcBef>
            </a:pPr>
            <a:r>
              <a:rPr dirty="0" sz="1400" spc="-20">
                <a:latin typeface="Microsoft YaHei"/>
                <a:cs typeface="Microsoft YaHei"/>
              </a:rPr>
              <a:t>操作节点：</a:t>
            </a:r>
            <a:r>
              <a:rPr dirty="0" sz="1400" spc="-1300">
                <a:latin typeface="Microsoft YaHei"/>
                <a:cs typeface="Microsoft YaHei"/>
              </a:rPr>
              <a:t>工</a:t>
            </a:r>
            <a:r>
              <a:rPr dirty="0" baseline="-21825" sz="2100" spc="-300">
                <a:latin typeface="Microsoft YaHei"/>
                <a:cs typeface="Microsoft YaHei"/>
              </a:rPr>
              <a:t>92</a:t>
            </a:r>
            <a:r>
              <a:rPr dirty="0" sz="1400" spc="-1055">
                <a:latin typeface="Microsoft YaHei"/>
                <a:cs typeface="Microsoft YaHei"/>
              </a:rPr>
              <a:t>具</a:t>
            </a:r>
            <a:r>
              <a:rPr dirty="0" baseline="-21825" sz="2100" spc="-562">
                <a:latin typeface="Microsoft YaHei"/>
                <a:cs typeface="Microsoft YaHei"/>
              </a:rPr>
              <a:t>（</a:t>
            </a:r>
            <a:r>
              <a:rPr dirty="0" sz="1400" spc="-1060">
                <a:latin typeface="Microsoft YaHei"/>
                <a:cs typeface="Microsoft YaHei"/>
              </a:rPr>
              <a:t>→</a:t>
            </a:r>
            <a:r>
              <a:rPr dirty="0" baseline="-21825" sz="2100" spc="-569">
                <a:latin typeface="Microsoft YaHei"/>
                <a:cs typeface="Microsoft YaHei"/>
              </a:rPr>
              <a:t>网</a:t>
            </a:r>
            <a:r>
              <a:rPr dirty="0" sz="1400" spc="-1055">
                <a:latin typeface="Microsoft YaHei"/>
                <a:cs typeface="Microsoft YaHei"/>
              </a:rPr>
              <a:t>一</a:t>
            </a:r>
            <a:r>
              <a:rPr dirty="0" baseline="-21825" sz="2100" spc="-569">
                <a:latin typeface="Microsoft YaHei"/>
                <a:cs typeface="Microsoft YaHei"/>
              </a:rPr>
              <a:t>元</a:t>
            </a:r>
            <a:r>
              <a:rPr dirty="0" sz="1400" spc="-1055">
                <a:latin typeface="Microsoft YaHei"/>
                <a:cs typeface="Microsoft YaHei"/>
              </a:rPr>
              <a:t>单</a:t>
            </a:r>
            <a:r>
              <a:rPr dirty="0" baseline="-21825" sz="2100" spc="-569">
                <a:latin typeface="Microsoft YaHei"/>
                <a:cs typeface="Microsoft YaHei"/>
              </a:rPr>
              <a:t>友</a:t>
            </a:r>
            <a:r>
              <a:rPr dirty="0" sz="1400" spc="-1055">
                <a:latin typeface="Microsoft YaHei"/>
                <a:cs typeface="Microsoft YaHei"/>
              </a:rPr>
              <a:t>开</a:t>
            </a:r>
            <a:r>
              <a:rPr dirty="0" baseline="-21825" sz="2100" spc="-569">
                <a:latin typeface="Microsoft YaHei"/>
                <a:cs typeface="Microsoft YaHei"/>
              </a:rPr>
              <a:t>好</a:t>
            </a:r>
            <a:r>
              <a:rPr dirty="0" sz="1400" spc="-1055">
                <a:latin typeface="Microsoft YaHei"/>
                <a:cs typeface="Microsoft YaHei"/>
              </a:rPr>
              <a:t>站</a:t>
            </a:r>
            <a:r>
              <a:rPr dirty="0" baseline="-21825" sz="2100" spc="-569">
                <a:latin typeface="Microsoft YaHei"/>
                <a:cs typeface="Microsoft YaHei"/>
              </a:rPr>
              <a:t>名</a:t>
            </a:r>
            <a:r>
              <a:rPr dirty="0" sz="1400" spc="-1060">
                <a:latin typeface="Microsoft YaHei"/>
                <a:cs typeface="Microsoft YaHei"/>
              </a:rPr>
              <a:t>→</a:t>
            </a:r>
            <a:r>
              <a:rPr dirty="0" baseline="-21825" sz="2100" spc="-562">
                <a:latin typeface="Microsoft YaHei"/>
                <a:cs typeface="Microsoft YaHei"/>
              </a:rPr>
              <a:t>）</a:t>
            </a:r>
            <a:r>
              <a:rPr dirty="0" sz="1400" spc="-1055">
                <a:latin typeface="Microsoft YaHei"/>
                <a:cs typeface="Microsoft YaHei"/>
              </a:rPr>
              <a:t>传</a:t>
            </a:r>
            <a:r>
              <a:rPr dirty="0" baseline="-21825" sz="2100" spc="-569">
                <a:latin typeface="Microsoft YaHei"/>
                <a:cs typeface="Microsoft YaHei"/>
              </a:rPr>
              <a:t>→</a:t>
            </a:r>
            <a:r>
              <a:rPr dirty="0" sz="1400" spc="-1045">
                <a:latin typeface="Microsoft YaHei"/>
                <a:cs typeface="Microsoft YaHei"/>
              </a:rPr>
              <a:t>输</a:t>
            </a:r>
            <a:r>
              <a:rPr dirty="0" baseline="-21825" sz="2100" spc="-577">
                <a:latin typeface="Microsoft YaHei"/>
                <a:cs typeface="Microsoft YaHei"/>
              </a:rPr>
              <a:t>链</a:t>
            </a:r>
            <a:r>
              <a:rPr dirty="0" sz="1400" spc="-1045">
                <a:latin typeface="Microsoft YaHei"/>
                <a:cs typeface="Microsoft YaHei"/>
              </a:rPr>
              <a:t>资</a:t>
            </a:r>
            <a:r>
              <a:rPr dirty="0" baseline="-21825" sz="2100" spc="-569">
                <a:latin typeface="Microsoft YaHei"/>
                <a:cs typeface="Microsoft YaHei"/>
              </a:rPr>
              <a:t>路</a:t>
            </a:r>
            <a:r>
              <a:rPr dirty="0" sz="1400" spc="-1055">
                <a:latin typeface="Microsoft YaHei"/>
                <a:cs typeface="Microsoft YaHei"/>
              </a:rPr>
              <a:t>源</a:t>
            </a:r>
            <a:r>
              <a:rPr dirty="0" baseline="-21825" sz="2100" spc="-44">
                <a:latin typeface="Microsoft YaHei"/>
                <a:cs typeface="Microsoft YaHei"/>
              </a:rPr>
              <a:t>公共信息</a:t>
            </a:r>
            <a:endParaRPr baseline="-21825" sz="2100">
              <a:latin typeface="Microsoft YaHei"/>
              <a:cs typeface="Microsoft YaHei"/>
            </a:endParaRPr>
          </a:p>
        </p:txBody>
      </p:sp>
      <p:pic>
        <p:nvPicPr>
          <p:cNvPr id="74" name="object 74"/>
          <p:cNvPicPr/>
          <p:nvPr/>
        </p:nvPicPr>
        <p:blipFill>
          <a:blip r:embed="rId8" cstate="print"/>
          <a:stretch>
            <a:fillRect/>
          </a:stretch>
        </p:blipFill>
        <p:spPr>
          <a:xfrm>
            <a:off x="683577" y="1779661"/>
            <a:ext cx="7776853" cy="2664295"/>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64713" y="113125"/>
            <a:ext cx="3279140" cy="513080"/>
          </a:xfrm>
          <a:prstGeom prst="rect"/>
        </p:spPr>
        <p:txBody>
          <a:bodyPr wrap="square" lIns="0" tIns="12065" rIns="0" bIns="0" rtlCol="0" vert="horz">
            <a:spAutoFit/>
          </a:bodyPr>
          <a:lstStyle/>
          <a:p>
            <a:pPr marL="12700">
              <a:lnSpc>
                <a:spcPct val="100000"/>
              </a:lnSpc>
              <a:spcBef>
                <a:spcPts val="95"/>
              </a:spcBef>
            </a:pPr>
            <a:r>
              <a:rPr dirty="0" spc="-45"/>
              <a:t>基站开通调试过程</a:t>
            </a:r>
          </a:p>
        </p:txBody>
      </p:sp>
      <p:grpSp>
        <p:nvGrpSpPr>
          <p:cNvPr id="3" name="object 3" descr=""/>
          <p:cNvGrpSpPr/>
          <p:nvPr/>
        </p:nvGrpSpPr>
        <p:grpSpPr>
          <a:xfrm>
            <a:off x="185811" y="906848"/>
            <a:ext cx="8666480" cy="2487930"/>
            <a:chOff x="185811" y="906848"/>
            <a:chExt cx="8666480" cy="2487930"/>
          </a:xfrm>
        </p:grpSpPr>
        <p:sp>
          <p:nvSpPr>
            <p:cNvPr id="4" name="object 4" descr=""/>
            <p:cNvSpPr/>
            <p:nvPr/>
          </p:nvSpPr>
          <p:spPr>
            <a:xfrm>
              <a:off x="198511" y="913198"/>
              <a:ext cx="0" cy="530860"/>
            </a:xfrm>
            <a:custGeom>
              <a:avLst/>
              <a:gdLst/>
              <a:ahLst/>
              <a:cxnLst/>
              <a:rect l="l" t="t" r="r" b="b"/>
              <a:pathLst>
                <a:path w="0" h="530860">
                  <a:moveTo>
                    <a:pt x="0" y="0"/>
                  </a:moveTo>
                  <a:lnTo>
                    <a:pt x="0" y="530860"/>
                  </a:lnTo>
                </a:path>
              </a:pathLst>
            </a:custGeom>
            <a:ln w="12700">
              <a:solidFill>
                <a:srgbClr val="000000"/>
              </a:solidFill>
            </a:ln>
          </p:spPr>
          <p:txBody>
            <a:bodyPr wrap="square" lIns="0" tIns="0" rIns="0" bIns="0" rtlCol="0"/>
            <a:lstStyle/>
            <a:p/>
          </p:txBody>
        </p:sp>
        <p:sp>
          <p:nvSpPr>
            <p:cNvPr id="5" name="object 5" descr=""/>
            <p:cNvSpPr/>
            <p:nvPr/>
          </p:nvSpPr>
          <p:spPr>
            <a:xfrm>
              <a:off x="8839472" y="913198"/>
              <a:ext cx="0" cy="530860"/>
            </a:xfrm>
            <a:custGeom>
              <a:avLst/>
              <a:gdLst/>
              <a:ahLst/>
              <a:cxnLst/>
              <a:rect l="l" t="t" r="r" b="b"/>
              <a:pathLst>
                <a:path w="0" h="530860">
                  <a:moveTo>
                    <a:pt x="0" y="0"/>
                  </a:moveTo>
                  <a:lnTo>
                    <a:pt x="0" y="530860"/>
                  </a:lnTo>
                </a:path>
              </a:pathLst>
            </a:custGeom>
            <a:ln w="12700">
              <a:solidFill>
                <a:srgbClr val="000000"/>
              </a:solidFill>
            </a:ln>
          </p:spPr>
          <p:txBody>
            <a:bodyPr wrap="square" lIns="0" tIns="0" rIns="0" bIns="0" rtlCol="0"/>
            <a:lstStyle/>
            <a:p/>
          </p:txBody>
        </p:sp>
        <p:sp>
          <p:nvSpPr>
            <p:cNvPr id="6" name="object 6" descr=""/>
            <p:cNvSpPr/>
            <p:nvPr/>
          </p:nvSpPr>
          <p:spPr>
            <a:xfrm>
              <a:off x="192161" y="919548"/>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sp>
          <p:nvSpPr>
            <p:cNvPr id="7" name="object 7" descr=""/>
            <p:cNvSpPr/>
            <p:nvPr/>
          </p:nvSpPr>
          <p:spPr>
            <a:xfrm>
              <a:off x="192161" y="1437708"/>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pic>
          <p:nvPicPr>
            <p:cNvPr id="8" name="object 8"/>
            <p:cNvPicPr/>
            <p:nvPr/>
          </p:nvPicPr>
          <p:blipFill>
            <a:blip r:embed="rId2" cstate="print"/>
            <a:stretch>
              <a:fillRect/>
            </a:stretch>
          </p:blipFill>
          <p:spPr>
            <a:xfrm>
              <a:off x="918592" y="1509716"/>
              <a:ext cx="7344815" cy="1224135"/>
            </a:xfrm>
            <a:prstGeom prst="rect">
              <a:avLst/>
            </a:prstGeom>
          </p:spPr>
        </p:pic>
        <p:sp>
          <p:nvSpPr>
            <p:cNvPr id="9" name="object 9" descr=""/>
            <p:cNvSpPr/>
            <p:nvPr/>
          </p:nvSpPr>
          <p:spPr>
            <a:xfrm>
              <a:off x="198511" y="2753274"/>
              <a:ext cx="0" cy="635000"/>
            </a:xfrm>
            <a:custGeom>
              <a:avLst/>
              <a:gdLst/>
              <a:ahLst/>
              <a:cxnLst/>
              <a:rect l="l" t="t" r="r" b="b"/>
              <a:pathLst>
                <a:path w="0" h="635000">
                  <a:moveTo>
                    <a:pt x="0" y="0"/>
                  </a:moveTo>
                  <a:lnTo>
                    <a:pt x="0" y="635000"/>
                  </a:lnTo>
                </a:path>
              </a:pathLst>
            </a:custGeom>
            <a:ln w="12700">
              <a:solidFill>
                <a:srgbClr val="000000"/>
              </a:solidFill>
            </a:ln>
          </p:spPr>
          <p:txBody>
            <a:bodyPr wrap="square" lIns="0" tIns="0" rIns="0" bIns="0" rtlCol="0"/>
            <a:lstStyle/>
            <a:p/>
          </p:txBody>
        </p:sp>
        <p:sp>
          <p:nvSpPr>
            <p:cNvPr id="10" name="object 10" descr=""/>
            <p:cNvSpPr/>
            <p:nvPr/>
          </p:nvSpPr>
          <p:spPr>
            <a:xfrm>
              <a:off x="8839472" y="2753274"/>
              <a:ext cx="0" cy="635000"/>
            </a:xfrm>
            <a:custGeom>
              <a:avLst/>
              <a:gdLst/>
              <a:ahLst/>
              <a:cxnLst/>
              <a:rect l="l" t="t" r="r" b="b"/>
              <a:pathLst>
                <a:path w="0" h="635000">
                  <a:moveTo>
                    <a:pt x="0" y="0"/>
                  </a:moveTo>
                  <a:lnTo>
                    <a:pt x="0" y="635000"/>
                  </a:lnTo>
                </a:path>
              </a:pathLst>
            </a:custGeom>
            <a:ln w="12700">
              <a:solidFill>
                <a:srgbClr val="000000"/>
              </a:solidFill>
            </a:ln>
          </p:spPr>
          <p:txBody>
            <a:bodyPr wrap="square" lIns="0" tIns="0" rIns="0" bIns="0" rtlCol="0"/>
            <a:lstStyle/>
            <a:p/>
          </p:txBody>
        </p:sp>
      </p:grpSp>
      <p:sp>
        <p:nvSpPr>
          <p:cNvPr id="11" name="object 11" descr=""/>
          <p:cNvSpPr txBox="1"/>
          <p:nvPr/>
        </p:nvSpPr>
        <p:spPr>
          <a:xfrm>
            <a:off x="289951" y="2788932"/>
            <a:ext cx="3020060" cy="527050"/>
          </a:xfrm>
          <a:prstGeom prst="rect">
            <a:avLst/>
          </a:prstGeom>
        </p:spPr>
        <p:txBody>
          <a:bodyPr wrap="square" lIns="0" tIns="10160" rIns="0" bIns="0" rtlCol="0" vert="horz">
            <a:spAutoFit/>
          </a:bodyPr>
          <a:lstStyle/>
          <a:p>
            <a:pPr>
              <a:lnSpc>
                <a:spcPct val="100000"/>
              </a:lnSpc>
              <a:spcBef>
                <a:spcPts val="80"/>
              </a:spcBef>
            </a:pPr>
            <a:r>
              <a:rPr dirty="0" sz="1400" spc="-25">
                <a:latin typeface="Microsoft YaHei"/>
                <a:cs typeface="Microsoft YaHei"/>
              </a:rPr>
              <a:t>板卡信息查询</a:t>
            </a:r>
            <a:endParaRPr sz="1400">
              <a:latin typeface="Microsoft YaHei"/>
              <a:cs typeface="Microsoft YaHei"/>
            </a:endParaRPr>
          </a:p>
          <a:p>
            <a:pPr>
              <a:lnSpc>
                <a:spcPct val="100000"/>
              </a:lnSpc>
              <a:spcBef>
                <a:spcPts val="620"/>
              </a:spcBef>
            </a:pPr>
            <a:r>
              <a:rPr dirty="0" sz="1400" spc="-25">
                <a:latin typeface="Microsoft YaHei"/>
                <a:cs typeface="Microsoft YaHei"/>
              </a:rPr>
              <a:t>操作节点：工具→一单开站→射频资源</a:t>
            </a:r>
            <a:endParaRPr sz="1400">
              <a:latin typeface="Microsoft YaHei"/>
              <a:cs typeface="Microsoft YaHei"/>
            </a:endParaRPr>
          </a:p>
        </p:txBody>
      </p:sp>
      <p:pic>
        <p:nvPicPr>
          <p:cNvPr id="12" name="object 12"/>
          <p:cNvPicPr/>
          <p:nvPr/>
        </p:nvPicPr>
        <p:blipFill>
          <a:blip r:embed="rId3" cstate="print"/>
          <a:stretch>
            <a:fillRect/>
          </a:stretch>
        </p:blipFill>
        <p:spPr>
          <a:xfrm>
            <a:off x="990600" y="3486150"/>
            <a:ext cx="7272807" cy="1407942"/>
          </a:xfrm>
          <a:prstGeom prst="rect">
            <a:avLst/>
          </a:prstGeom>
        </p:spPr>
      </p:pic>
      <p:grpSp>
        <p:nvGrpSpPr>
          <p:cNvPr id="13" name="object 13" descr=""/>
          <p:cNvGrpSpPr/>
          <p:nvPr/>
        </p:nvGrpSpPr>
        <p:grpSpPr>
          <a:xfrm>
            <a:off x="192161" y="880753"/>
            <a:ext cx="8684260" cy="2507615"/>
            <a:chOff x="192161" y="880753"/>
            <a:chExt cx="8684260" cy="2507615"/>
          </a:xfrm>
        </p:grpSpPr>
        <p:sp>
          <p:nvSpPr>
            <p:cNvPr id="14" name="object 14" descr=""/>
            <p:cNvSpPr/>
            <p:nvPr/>
          </p:nvSpPr>
          <p:spPr>
            <a:xfrm>
              <a:off x="228598" y="880753"/>
              <a:ext cx="0" cy="635000"/>
            </a:xfrm>
            <a:custGeom>
              <a:avLst/>
              <a:gdLst/>
              <a:ahLst/>
              <a:cxnLst/>
              <a:rect l="l" t="t" r="r" b="b"/>
              <a:pathLst>
                <a:path w="0" h="635000">
                  <a:moveTo>
                    <a:pt x="0" y="0"/>
                  </a:moveTo>
                  <a:lnTo>
                    <a:pt x="0" y="635000"/>
                  </a:lnTo>
                </a:path>
              </a:pathLst>
            </a:custGeom>
            <a:ln w="12700">
              <a:solidFill>
                <a:srgbClr val="000000"/>
              </a:solidFill>
            </a:ln>
          </p:spPr>
          <p:txBody>
            <a:bodyPr wrap="square" lIns="0" tIns="0" rIns="0" bIns="0" rtlCol="0"/>
            <a:lstStyle/>
            <a:p/>
          </p:txBody>
        </p:sp>
        <p:sp>
          <p:nvSpPr>
            <p:cNvPr id="15" name="object 15" descr=""/>
            <p:cNvSpPr/>
            <p:nvPr/>
          </p:nvSpPr>
          <p:spPr>
            <a:xfrm>
              <a:off x="8869560" y="880753"/>
              <a:ext cx="0" cy="635000"/>
            </a:xfrm>
            <a:custGeom>
              <a:avLst/>
              <a:gdLst/>
              <a:ahLst/>
              <a:cxnLst/>
              <a:rect l="l" t="t" r="r" b="b"/>
              <a:pathLst>
                <a:path w="0" h="635000">
                  <a:moveTo>
                    <a:pt x="0" y="0"/>
                  </a:moveTo>
                  <a:lnTo>
                    <a:pt x="0" y="635000"/>
                  </a:lnTo>
                </a:path>
              </a:pathLst>
            </a:custGeom>
            <a:ln w="12700">
              <a:solidFill>
                <a:srgbClr val="000000"/>
              </a:solidFill>
            </a:ln>
          </p:spPr>
          <p:txBody>
            <a:bodyPr wrap="square" lIns="0" tIns="0" rIns="0" bIns="0" rtlCol="0"/>
            <a:lstStyle/>
            <a:p/>
          </p:txBody>
        </p:sp>
        <p:sp>
          <p:nvSpPr>
            <p:cNvPr id="16" name="object 16" descr=""/>
            <p:cNvSpPr/>
            <p:nvPr/>
          </p:nvSpPr>
          <p:spPr>
            <a:xfrm>
              <a:off x="222248" y="880753"/>
              <a:ext cx="8653780" cy="12700"/>
            </a:xfrm>
            <a:custGeom>
              <a:avLst/>
              <a:gdLst/>
              <a:ahLst/>
              <a:cxnLst/>
              <a:rect l="l" t="t" r="r" b="b"/>
              <a:pathLst>
                <a:path w="8653780" h="12700">
                  <a:moveTo>
                    <a:pt x="0" y="12700"/>
                  </a:moveTo>
                  <a:lnTo>
                    <a:pt x="8653665" y="12700"/>
                  </a:lnTo>
                  <a:lnTo>
                    <a:pt x="8653665" y="0"/>
                  </a:lnTo>
                  <a:lnTo>
                    <a:pt x="0" y="0"/>
                  </a:lnTo>
                  <a:lnTo>
                    <a:pt x="0" y="12700"/>
                  </a:lnTo>
                  <a:close/>
                </a:path>
              </a:pathLst>
            </a:custGeom>
            <a:solidFill>
              <a:srgbClr val="000000"/>
            </a:solidFill>
          </p:spPr>
          <p:txBody>
            <a:bodyPr wrap="square" lIns="0" tIns="0" rIns="0" bIns="0" rtlCol="0"/>
            <a:lstStyle/>
            <a:p/>
          </p:txBody>
        </p:sp>
        <p:sp>
          <p:nvSpPr>
            <p:cNvPr id="17" name="object 17" descr=""/>
            <p:cNvSpPr/>
            <p:nvPr/>
          </p:nvSpPr>
          <p:spPr>
            <a:xfrm>
              <a:off x="222248" y="1509403"/>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pic>
          <p:nvPicPr>
            <p:cNvPr id="18" name="object 18" descr=""/>
            <p:cNvPicPr/>
            <p:nvPr/>
          </p:nvPicPr>
          <p:blipFill>
            <a:blip r:embed="rId4" cstate="print"/>
            <a:stretch>
              <a:fillRect/>
            </a:stretch>
          </p:blipFill>
          <p:spPr>
            <a:xfrm>
              <a:off x="192161" y="1733550"/>
              <a:ext cx="8677398" cy="1654724"/>
            </a:xfrm>
            <a:prstGeom prst="rect">
              <a:avLst/>
            </a:prstGeom>
          </p:spPr>
        </p:pic>
        <p:sp>
          <p:nvSpPr>
            <p:cNvPr id="19" name="object 19" descr=""/>
            <p:cNvSpPr/>
            <p:nvPr/>
          </p:nvSpPr>
          <p:spPr>
            <a:xfrm>
              <a:off x="228600" y="897558"/>
              <a:ext cx="0" cy="635000"/>
            </a:xfrm>
            <a:custGeom>
              <a:avLst/>
              <a:gdLst/>
              <a:ahLst/>
              <a:cxnLst/>
              <a:rect l="l" t="t" r="r" b="b"/>
              <a:pathLst>
                <a:path w="0" h="635000">
                  <a:moveTo>
                    <a:pt x="0" y="0"/>
                  </a:moveTo>
                  <a:lnTo>
                    <a:pt x="0" y="635000"/>
                  </a:lnTo>
                </a:path>
              </a:pathLst>
            </a:custGeom>
            <a:ln w="12700">
              <a:solidFill>
                <a:srgbClr val="000000"/>
              </a:solidFill>
            </a:ln>
          </p:spPr>
          <p:txBody>
            <a:bodyPr wrap="square" lIns="0" tIns="0" rIns="0" bIns="0" rtlCol="0"/>
            <a:lstStyle/>
            <a:p/>
          </p:txBody>
        </p:sp>
        <p:sp>
          <p:nvSpPr>
            <p:cNvPr id="20" name="object 20" descr=""/>
            <p:cNvSpPr/>
            <p:nvPr/>
          </p:nvSpPr>
          <p:spPr>
            <a:xfrm>
              <a:off x="8869560" y="897558"/>
              <a:ext cx="0" cy="635000"/>
            </a:xfrm>
            <a:custGeom>
              <a:avLst/>
              <a:gdLst/>
              <a:ahLst/>
              <a:cxnLst/>
              <a:rect l="l" t="t" r="r" b="b"/>
              <a:pathLst>
                <a:path w="0" h="635000">
                  <a:moveTo>
                    <a:pt x="0" y="0"/>
                  </a:moveTo>
                  <a:lnTo>
                    <a:pt x="0" y="635000"/>
                  </a:lnTo>
                </a:path>
              </a:pathLst>
            </a:custGeom>
            <a:ln w="12700">
              <a:solidFill>
                <a:srgbClr val="000000"/>
              </a:solidFill>
            </a:ln>
          </p:spPr>
          <p:txBody>
            <a:bodyPr wrap="square" lIns="0" tIns="0" rIns="0" bIns="0" rtlCol="0"/>
            <a:lstStyle/>
            <a:p/>
          </p:txBody>
        </p:sp>
        <p:sp>
          <p:nvSpPr>
            <p:cNvPr id="21" name="object 21" descr=""/>
            <p:cNvSpPr/>
            <p:nvPr/>
          </p:nvSpPr>
          <p:spPr>
            <a:xfrm>
              <a:off x="222250" y="897558"/>
              <a:ext cx="8653780" cy="12700"/>
            </a:xfrm>
            <a:custGeom>
              <a:avLst/>
              <a:gdLst/>
              <a:ahLst/>
              <a:cxnLst/>
              <a:rect l="l" t="t" r="r" b="b"/>
              <a:pathLst>
                <a:path w="8653780" h="12700">
                  <a:moveTo>
                    <a:pt x="0" y="12700"/>
                  </a:moveTo>
                  <a:lnTo>
                    <a:pt x="8653665" y="12700"/>
                  </a:lnTo>
                  <a:lnTo>
                    <a:pt x="8653665" y="0"/>
                  </a:lnTo>
                  <a:lnTo>
                    <a:pt x="0" y="0"/>
                  </a:lnTo>
                  <a:lnTo>
                    <a:pt x="0" y="12700"/>
                  </a:lnTo>
                  <a:close/>
                </a:path>
              </a:pathLst>
            </a:custGeom>
            <a:solidFill>
              <a:srgbClr val="000000"/>
            </a:solidFill>
          </p:spPr>
          <p:txBody>
            <a:bodyPr wrap="square" lIns="0" tIns="0" rIns="0" bIns="0" rtlCol="0"/>
            <a:lstStyle/>
            <a:p/>
          </p:txBody>
        </p:sp>
        <p:sp>
          <p:nvSpPr>
            <p:cNvPr id="22" name="object 22" descr=""/>
            <p:cNvSpPr/>
            <p:nvPr/>
          </p:nvSpPr>
          <p:spPr>
            <a:xfrm>
              <a:off x="222250" y="1526208"/>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grpSp>
      <p:sp>
        <p:nvSpPr>
          <p:cNvPr id="23" name="object 23" descr=""/>
          <p:cNvSpPr txBox="1"/>
          <p:nvPr/>
        </p:nvSpPr>
        <p:spPr>
          <a:xfrm>
            <a:off x="194506" y="851291"/>
            <a:ext cx="8679180" cy="610870"/>
          </a:xfrm>
          <a:prstGeom prst="rect">
            <a:avLst/>
          </a:prstGeom>
        </p:spPr>
        <p:txBody>
          <a:bodyPr wrap="square" lIns="0" tIns="92075" rIns="0" bIns="0" rtlCol="0" vert="horz">
            <a:spAutoFit/>
          </a:bodyPr>
          <a:lstStyle/>
          <a:p>
            <a:pPr marL="95250">
              <a:lnSpc>
                <a:spcPct val="100000"/>
              </a:lnSpc>
              <a:spcBef>
                <a:spcPts val="725"/>
              </a:spcBef>
            </a:pPr>
            <a:r>
              <a:rPr dirty="0" baseline="-3968" sz="2100" spc="-1207">
                <a:latin typeface="Microsoft YaHei"/>
                <a:cs typeface="Microsoft YaHei"/>
              </a:rPr>
              <a:t>G</a:t>
            </a:r>
            <a:r>
              <a:rPr dirty="0" baseline="5952" sz="2100" spc="-2100">
                <a:latin typeface="Microsoft YaHei"/>
                <a:cs typeface="Microsoft YaHei"/>
              </a:rPr>
              <a:t>小</a:t>
            </a:r>
            <a:r>
              <a:rPr dirty="0" sz="1400" spc="-515">
                <a:latin typeface="Microsoft YaHei"/>
                <a:cs typeface="Microsoft YaHei"/>
              </a:rPr>
              <a:t>N</a:t>
            </a:r>
            <a:r>
              <a:rPr dirty="0" baseline="-3968" sz="2100" spc="-772">
                <a:latin typeface="Microsoft YaHei"/>
                <a:cs typeface="Microsoft YaHei"/>
              </a:rPr>
              <a:t>P</a:t>
            </a:r>
            <a:r>
              <a:rPr dirty="0" sz="1400" spc="-515">
                <a:latin typeface="Microsoft YaHei"/>
                <a:cs typeface="Microsoft YaHei"/>
              </a:rPr>
              <a:t>R</a:t>
            </a:r>
            <a:r>
              <a:rPr dirty="0" baseline="5952" sz="2100" spc="-1732">
                <a:latin typeface="Microsoft YaHei"/>
                <a:cs typeface="Microsoft YaHei"/>
              </a:rPr>
              <a:t>区</a:t>
            </a:r>
            <a:r>
              <a:rPr dirty="0" baseline="-3968" sz="2100" spc="-644">
                <a:latin typeface="Microsoft YaHei"/>
                <a:cs typeface="Microsoft YaHei"/>
              </a:rPr>
              <a:t>S</a:t>
            </a:r>
            <a:r>
              <a:rPr dirty="0" sz="1400" spc="-1000">
                <a:latin typeface="Microsoft YaHei"/>
                <a:cs typeface="Microsoft YaHei"/>
              </a:rPr>
              <a:t>射</a:t>
            </a:r>
            <a:r>
              <a:rPr dirty="0" baseline="-3968" sz="2100" spc="-1620">
                <a:latin typeface="Microsoft YaHei"/>
                <a:cs typeface="Microsoft YaHei"/>
              </a:rPr>
              <a:t>时</a:t>
            </a:r>
            <a:r>
              <a:rPr dirty="0" baseline="5952" sz="2100" spc="-1147">
                <a:latin typeface="Microsoft YaHei"/>
                <a:cs typeface="Microsoft YaHei"/>
              </a:rPr>
              <a:t>状</a:t>
            </a:r>
            <a:r>
              <a:rPr dirty="0" sz="1400" spc="-1000">
                <a:latin typeface="Microsoft YaHei"/>
                <a:cs typeface="Microsoft YaHei"/>
              </a:rPr>
              <a:t>频</a:t>
            </a:r>
            <a:r>
              <a:rPr dirty="0" baseline="-3968" sz="2100" spc="-1620">
                <a:latin typeface="Microsoft YaHei"/>
                <a:cs typeface="Microsoft YaHei"/>
              </a:rPr>
              <a:t>钟</a:t>
            </a:r>
            <a:r>
              <a:rPr dirty="0" baseline="5952" sz="2100" spc="-1147">
                <a:latin typeface="Microsoft YaHei"/>
                <a:cs typeface="Microsoft YaHei"/>
              </a:rPr>
              <a:t>态</a:t>
            </a:r>
            <a:r>
              <a:rPr dirty="0" sz="1400" spc="-665">
                <a:latin typeface="Microsoft YaHei"/>
                <a:cs typeface="Microsoft YaHei"/>
              </a:rPr>
              <a:t>通</a:t>
            </a:r>
            <a:r>
              <a:rPr dirty="0" baseline="5952" sz="2100" spc="-1147">
                <a:latin typeface="Microsoft YaHei"/>
                <a:cs typeface="Microsoft YaHei"/>
              </a:rPr>
              <a:t>信</a:t>
            </a:r>
            <a:r>
              <a:rPr dirty="0" sz="1400" spc="-665">
                <a:latin typeface="Microsoft YaHei"/>
                <a:cs typeface="Microsoft YaHei"/>
              </a:rPr>
              <a:t>道</a:t>
            </a:r>
            <a:r>
              <a:rPr dirty="0" baseline="5952" sz="2100" spc="-1147">
                <a:latin typeface="Microsoft YaHei"/>
                <a:cs typeface="Microsoft YaHei"/>
              </a:rPr>
              <a:t>息</a:t>
            </a:r>
            <a:r>
              <a:rPr dirty="0" sz="1400" spc="-665">
                <a:latin typeface="Microsoft YaHei"/>
                <a:cs typeface="Microsoft YaHei"/>
              </a:rPr>
              <a:t>信</a:t>
            </a:r>
            <a:r>
              <a:rPr dirty="0" baseline="5952" sz="2100" spc="-1147">
                <a:latin typeface="Microsoft YaHei"/>
                <a:cs typeface="Microsoft YaHei"/>
              </a:rPr>
              <a:t>：</a:t>
            </a:r>
            <a:r>
              <a:rPr dirty="0" sz="1400" spc="-30">
                <a:latin typeface="Microsoft YaHei"/>
                <a:cs typeface="Microsoft YaHei"/>
              </a:rPr>
              <a:t>息查询：</a:t>
            </a:r>
            <a:endParaRPr sz="1400">
              <a:latin typeface="Microsoft YaHei"/>
              <a:cs typeface="Microsoft YaHei"/>
            </a:endParaRPr>
          </a:p>
          <a:p>
            <a:pPr marL="125095">
              <a:lnSpc>
                <a:spcPct val="100000"/>
              </a:lnSpc>
              <a:spcBef>
                <a:spcPts val="620"/>
              </a:spcBef>
            </a:pPr>
            <a:r>
              <a:rPr dirty="0" sz="1400" spc="-40">
                <a:latin typeface="Microsoft YaHei"/>
                <a:cs typeface="Microsoft YaHei"/>
              </a:rPr>
              <a:t>操作节点：工具→一单开站→</a:t>
            </a:r>
            <a:r>
              <a:rPr dirty="0" baseline="19841" sz="2100" spc="-1770">
                <a:latin typeface="Microsoft YaHei"/>
                <a:cs typeface="Microsoft YaHei"/>
              </a:rPr>
              <a:t>时</a:t>
            </a:r>
            <a:r>
              <a:rPr dirty="0" sz="1400" spc="-50" b="1">
                <a:latin typeface="Microsoft YaHei"/>
                <a:cs typeface="Microsoft YaHei"/>
              </a:rPr>
              <a:t>N</a:t>
            </a:r>
            <a:r>
              <a:rPr dirty="0" sz="1400" spc="-1000" b="1">
                <a:latin typeface="Microsoft YaHei"/>
                <a:cs typeface="Microsoft YaHei"/>
              </a:rPr>
              <a:t>R</a:t>
            </a:r>
            <a:r>
              <a:rPr dirty="0" baseline="19841" sz="2100" spc="-794">
                <a:latin typeface="Microsoft YaHei"/>
                <a:cs typeface="Microsoft YaHei"/>
              </a:rPr>
              <a:t>钟</a:t>
            </a:r>
            <a:r>
              <a:rPr dirty="0" baseline="5952" sz="2100" spc="-2100">
                <a:latin typeface="Microsoft YaHei"/>
                <a:cs typeface="Microsoft YaHei"/>
              </a:rPr>
              <a:t>小</a:t>
            </a:r>
            <a:r>
              <a:rPr dirty="0" sz="1400" spc="-905">
                <a:latin typeface="Microsoft YaHei"/>
                <a:cs typeface="Microsoft YaHei"/>
              </a:rPr>
              <a:t>射</a:t>
            </a:r>
            <a:r>
              <a:rPr dirty="0" baseline="19841" sz="2100" spc="-787">
                <a:latin typeface="Microsoft YaHei"/>
                <a:cs typeface="Microsoft YaHei"/>
              </a:rPr>
              <a:t>资</a:t>
            </a:r>
            <a:r>
              <a:rPr dirty="0" baseline="5952" sz="2100" spc="-2100">
                <a:latin typeface="Microsoft YaHei"/>
                <a:cs typeface="Microsoft YaHei"/>
              </a:rPr>
              <a:t>区</a:t>
            </a:r>
            <a:r>
              <a:rPr dirty="0" sz="1400" spc="-905">
                <a:latin typeface="Microsoft YaHei"/>
                <a:cs typeface="Microsoft YaHei"/>
              </a:rPr>
              <a:t>频</a:t>
            </a:r>
            <a:r>
              <a:rPr dirty="0" baseline="19841" sz="2100" spc="-794">
                <a:latin typeface="Microsoft YaHei"/>
                <a:cs typeface="Microsoft YaHei"/>
              </a:rPr>
              <a:t>源</a:t>
            </a:r>
            <a:r>
              <a:rPr dirty="0" baseline="5952" sz="2100" spc="-2100">
                <a:latin typeface="Microsoft YaHei"/>
                <a:cs typeface="Microsoft YaHei"/>
              </a:rPr>
              <a:t>状</a:t>
            </a:r>
            <a:r>
              <a:rPr dirty="0" sz="1400" spc="-20">
                <a:latin typeface="Microsoft YaHei"/>
                <a:cs typeface="Microsoft YaHei"/>
              </a:rPr>
              <a:t>通</a:t>
            </a:r>
            <a:r>
              <a:rPr dirty="0" baseline="5952" sz="2100" spc="-2100">
                <a:latin typeface="Microsoft YaHei"/>
                <a:cs typeface="Microsoft YaHei"/>
              </a:rPr>
              <a:t>态</a:t>
            </a:r>
            <a:r>
              <a:rPr dirty="0" sz="1400" spc="-10">
                <a:latin typeface="Microsoft YaHei"/>
                <a:cs typeface="Microsoft YaHei"/>
              </a:rPr>
              <a:t>道</a:t>
            </a:r>
            <a:r>
              <a:rPr dirty="0" sz="1400" spc="-20" b="1">
                <a:latin typeface="Microsoft YaHei"/>
                <a:cs typeface="Microsoft YaHei"/>
              </a:rPr>
              <a:t>信息</a:t>
            </a:r>
            <a:r>
              <a:rPr dirty="0" sz="1400" spc="-30">
                <a:latin typeface="Microsoft YaHei"/>
                <a:cs typeface="Microsoft YaHei"/>
              </a:rPr>
              <a:t>查询</a:t>
            </a:r>
            <a:endParaRPr sz="1400">
              <a:latin typeface="Microsoft YaHei"/>
              <a:cs typeface="Microsoft YaHei"/>
            </a:endParaRPr>
          </a:p>
        </p:txBody>
      </p:sp>
      <p:pic>
        <p:nvPicPr>
          <p:cNvPr id="24" name="object 24"/>
          <p:cNvPicPr/>
          <p:nvPr/>
        </p:nvPicPr>
        <p:blipFill>
          <a:blip r:embed="rId5" cstate="print"/>
          <a:stretch>
            <a:fillRect/>
          </a:stretch>
        </p:blipFill>
        <p:spPr>
          <a:xfrm>
            <a:off x="228600" y="1657350"/>
            <a:ext cx="8640953" cy="3168350"/>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92661" y="113125"/>
            <a:ext cx="6379845" cy="513080"/>
          </a:xfrm>
          <a:prstGeom prst="rect"/>
        </p:spPr>
        <p:txBody>
          <a:bodyPr wrap="square" lIns="0" tIns="12065" rIns="0" bIns="0" rtlCol="0" vert="horz">
            <a:spAutoFit/>
          </a:bodyPr>
          <a:lstStyle/>
          <a:p>
            <a:pPr marL="38100">
              <a:lnSpc>
                <a:spcPct val="100000"/>
              </a:lnSpc>
              <a:spcBef>
                <a:spcPts val="95"/>
              </a:spcBef>
            </a:pPr>
            <a:r>
              <a:rPr dirty="0" spc="-1630"/>
              <a:t>开</a:t>
            </a:r>
            <a:r>
              <a:rPr dirty="0" baseline="-20833" sz="4800" spc="-2460"/>
              <a:t>开</a:t>
            </a:r>
            <a:r>
              <a:rPr dirty="0" sz="3200" spc="-2430"/>
              <a:t>通开</a:t>
            </a:r>
            <a:r>
              <a:rPr dirty="0" baseline="-20833" sz="4800" spc="-2460"/>
              <a:t>通</a:t>
            </a:r>
            <a:r>
              <a:rPr dirty="0" sz="3200" spc="-2430"/>
              <a:t>调通</a:t>
            </a:r>
            <a:r>
              <a:rPr dirty="0" baseline="-20833" sz="4800" spc="-2460"/>
              <a:t>调</a:t>
            </a:r>
            <a:r>
              <a:rPr dirty="0" sz="3200" spc="-2430"/>
              <a:t>测调</a:t>
            </a:r>
            <a:r>
              <a:rPr dirty="0" baseline="-20833" sz="4800" spc="-2460"/>
              <a:t>测</a:t>
            </a:r>
            <a:r>
              <a:rPr dirty="0" sz="3200" spc="-2430"/>
              <a:t>常测</a:t>
            </a:r>
            <a:r>
              <a:rPr dirty="0" baseline="-20833" sz="4800" spc="-2460"/>
              <a:t>常</a:t>
            </a:r>
            <a:r>
              <a:rPr dirty="0" sz="3200" spc="-2430"/>
              <a:t>见常</a:t>
            </a:r>
            <a:r>
              <a:rPr dirty="0" baseline="-20833" sz="4800" spc="-2467"/>
              <a:t>见</a:t>
            </a:r>
            <a:r>
              <a:rPr dirty="0" sz="3200" spc="-2435"/>
              <a:t>问见</a:t>
            </a:r>
            <a:r>
              <a:rPr dirty="0" baseline="-20833" sz="4800" spc="-2467"/>
              <a:t>问</a:t>
            </a:r>
            <a:r>
              <a:rPr dirty="0" sz="3200" spc="-2435"/>
              <a:t>题问</a:t>
            </a:r>
            <a:r>
              <a:rPr dirty="0" baseline="-20833" sz="4800" spc="-2460"/>
              <a:t>题</a:t>
            </a:r>
            <a:r>
              <a:rPr dirty="0" sz="3200" spc="-2430"/>
              <a:t>：题</a:t>
            </a:r>
            <a:r>
              <a:rPr dirty="0" baseline="-20833" sz="4800" spc="-2804"/>
              <a:t>：</a:t>
            </a:r>
            <a:r>
              <a:rPr dirty="0" sz="3200" spc="-1870">
                <a:latin typeface="Times New Roman"/>
                <a:cs typeface="Times New Roman"/>
              </a:rPr>
              <a:t>A</a:t>
            </a:r>
            <a:r>
              <a:rPr dirty="0" sz="3200" spc="-1870"/>
              <a:t>：</a:t>
            </a:r>
            <a:r>
              <a:rPr dirty="0" baseline="-20833" sz="4800" spc="-3802"/>
              <a:t>小</a:t>
            </a:r>
            <a:r>
              <a:rPr dirty="0" sz="3200" spc="-1175">
                <a:latin typeface="Times New Roman"/>
                <a:cs typeface="Times New Roman"/>
              </a:rPr>
              <a:t>A</a:t>
            </a:r>
            <a:r>
              <a:rPr dirty="0" sz="3200" spc="-2085"/>
              <a:t>传</a:t>
            </a:r>
            <a:r>
              <a:rPr dirty="0" sz="3200" spc="-2150">
                <a:latin typeface="Times New Roman"/>
                <a:cs typeface="Times New Roman"/>
              </a:rPr>
              <a:t>U</a:t>
            </a:r>
            <a:r>
              <a:rPr dirty="0" baseline="-20833" sz="4800" spc="-2062"/>
              <a:t>区</a:t>
            </a:r>
            <a:r>
              <a:rPr dirty="0" sz="3200" spc="-2565"/>
              <a:t>输无</a:t>
            </a:r>
            <a:r>
              <a:rPr dirty="0" baseline="-20833" sz="4800" spc="-2062"/>
              <a:t>无</a:t>
            </a:r>
            <a:r>
              <a:rPr dirty="0" sz="3200" spc="-2570"/>
              <a:t>不法</a:t>
            </a:r>
            <a:r>
              <a:rPr dirty="0" baseline="-20833" sz="4800" spc="-2062"/>
              <a:t>法</a:t>
            </a:r>
            <a:r>
              <a:rPr dirty="0" sz="3200" spc="-2565"/>
              <a:t>通接</a:t>
            </a:r>
            <a:r>
              <a:rPr dirty="0" baseline="-20833" sz="4800" spc="-1657"/>
              <a:t>激</a:t>
            </a:r>
            <a:r>
              <a:rPr dirty="0" sz="3200" spc="-2160"/>
              <a:t>入</a:t>
            </a:r>
            <a:r>
              <a:rPr dirty="0" baseline="-20833" sz="4800" spc="-75"/>
              <a:t>活</a:t>
            </a:r>
            <a:endParaRPr baseline="-20833" sz="4800">
              <a:latin typeface="Times New Roman"/>
              <a:cs typeface="Times New Roman"/>
            </a:endParaRPr>
          </a:p>
        </p:txBody>
      </p:sp>
      <p:grpSp>
        <p:nvGrpSpPr>
          <p:cNvPr id="3" name="object 3" descr=""/>
          <p:cNvGrpSpPr/>
          <p:nvPr/>
        </p:nvGrpSpPr>
        <p:grpSpPr>
          <a:xfrm>
            <a:off x="238818" y="1217137"/>
            <a:ext cx="8668385" cy="3637279"/>
            <a:chOff x="238818" y="1217137"/>
            <a:chExt cx="8668385" cy="3637279"/>
          </a:xfrm>
        </p:grpSpPr>
        <p:sp>
          <p:nvSpPr>
            <p:cNvPr id="4" name="object 4" descr=""/>
            <p:cNvSpPr/>
            <p:nvPr/>
          </p:nvSpPr>
          <p:spPr>
            <a:xfrm>
              <a:off x="304800" y="1498600"/>
              <a:ext cx="0" cy="2422525"/>
            </a:xfrm>
            <a:custGeom>
              <a:avLst/>
              <a:gdLst/>
              <a:ahLst/>
              <a:cxnLst/>
              <a:rect l="l" t="t" r="r" b="b"/>
              <a:pathLst>
                <a:path w="0" h="2422525">
                  <a:moveTo>
                    <a:pt x="0" y="0"/>
                  </a:moveTo>
                  <a:lnTo>
                    <a:pt x="0" y="2422321"/>
                  </a:lnTo>
                </a:path>
              </a:pathLst>
            </a:custGeom>
            <a:ln w="12700">
              <a:solidFill>
                <a:srgbClr val="000000"/>
              </a:solidFill>
            </a:ln>
          </p:spPr>
          <p:txBody>
            <a:bodyPr wrap="square" lIns="0" tIns="0" rIns="0" bIns="0" rtlCol="0"/>
            <a:lstStyle/>
            <a:p/>
          </p:txBody>
        </p:sp>
        <p:sp>
          <p:nvSpPr>
            <p:cNvPr id="5" name="object 5" descr=""/>
            <p:cNvSpPr/>
            <p:nvPr/>
          </p:nvSpPr>
          <p:spPr>
            <a:xfrm>
              <a:off x="8894367" y="1498600"/>
              <a:ext cx="0" cy="2422525"/>
            </a:xfrm>
            <a:custGeom>
              <a:avLst/>
              <a:gdLst/>
              <a:ahLst/>
              <a:cxnLst/>
              <a:rect l="l" t="t" r="r" b="b"/>
              <a:pathLst>
                <a:path w="0" h="2422525">
                  <a:moveTo>
                    <a:pt x="0" y="0"/>
                  </a:moveTo>
                  <a:lnTo>
                    <a:pt x="0" y="2422321"/>
                  </a:lnTo>
                </a:path>
              </a:pathLst>
            </a:custGeom>
            <a:ln w="12700">
              <a:solidFill>
                <a:srgbClr val="000000"/>
              </a:solidFill>
            </a:ln>
          </p:spPr>
          <p:txBody>
            <a:bodyPr wrap="square" lIns="0" tIns="0" rIns="0" bIns="0" rtlCol="0"/>
            <a:lstStyle/>
            <a:p/>
          </p:txBody>
        </p:sp>
        <p:sp>
          <p:nvSpPr>
            <p:cNvPr id="6" name="object 6" descr=""/>
            <p:cNvSpPr/>
            <p:nvPr/>
          </p:nvSpPr>
          <p:spPr>
            <a:xfrm>
              <a:off x="298450" y="1504950"/>
              <a:ext cx="8602345" cy="0"/>
            </a:xfrm>
            <a:custGeom>
              <a:avLst/>
              <a:gdLst/>
              <a:ahLst/>
              <a:cxnLst/>
              <a:rect l="l" t="t" r="r" b="b"/>
              <a:pathLst>
                <a:path w="8602345" h="0">
                  <a:moveTo>
                    <a:pt x="0" y="0"/>
                  </a:moveTo>
                  <a:lnTo>
                    <a:pt x="8602268" y="0"/>
                  </a:lnTo>
                </a:path>
              </a:pathLst>
            </a:custGeom>
            <a:ln w="12700">
              <a:solidFill>
                <a:srgbClr val="000000"/>
              </a:solidFill>
            </a:ln>
          </p:spPr>
          <p:txBody>
            <a:bodyPr wrap="square" lIns="0" tIns="0" rIns="0" bIns="0" rtlCol="0"/>
            <a:lstStyle/>
            <a:p/>
          </p:txBody>
        </p:sp>
        <p:sp>
          <p:nvSpPr>
            <p:cNvPr id="7" name="object 7" descr=""/>
            <p:cNvSpPr/>
            <p:nvPr/>
          </p:nvSpPr>
          <p:spPr>
            <a:xfrm>
              <a:off x="298450" y="3914575"/>
              <a:ext cx="8602345" cy="0"/>
            </a:xfrm>
            <a:custGeom>
              <a:avLst/>
              <a:gdLst/>
              <a:ahLst/>
              <a:cxnLst/>
              <a:rect l="l" t="t" r="r" b="b"/>
              <a:pathLst>
                <a:path w="8602345" h="0">
                  <a:moveTo>
                    <a:pt x="0" y="0"/>
                  </a:moveTo>
                  <a:lnTo>
                    <a:pt x="8602268" y="0"/>
                  </a:lnTo>
                </a:path>
              </a:pathLst>
            </a:custGeom>
            <a:ln w="12700">
              <a:solidFill>
                <a:srgbClr val="000000"/>
              </a:solidFill>
            </a:ln>
          </p:spPr>
          <p:txBody>
            <a:bodyPr wrap="square" lIns="0" tIns="0" rIns="0" bIns="0" rtlCol="0"/>
            <a:lstStyle/>
            <a:p/>
          </p:txBody>
        </p:sp>
        <p:sp>
          <p:nvSpPr>
            <p:cNvPr id="8" name="object 8" descr=""/>
            <p:cNvSpPr/>
            <p:nvPr/>
          </p:nvSpPr>
          <p:spPr>
            <a:xfrm>
              <a:off x="251518" y="1223487"/>
              <a:ext cx="0" cy="3624579"/>
            </a:xfrm>
            <a:custGeom>
              <a:avLst/>
              <a:gdLst/>
              <a:ahLst/>
              <a:cxnLst/>
              <a:rect l="l" t="t" r="r" b="b"/>
              <a:pathLst>
                <a:path w="0" h="3624579">
                  <a:moveTo>
                    <a:pt x="0" y="0"/>
                  </a:moveTo>
                  <a:lnTo>
                    <a:pt x="0" y="3624579"/>
                  </a:lnTo>
                </a:path>
              </a:pathLst>
            </a:custGeom>
            <a:ln w="12700">
              <a:solidFill>
                <a:srgbClr val="000000"/>
              </a:solidFill>
            </a:ln>
          </p:spPr>
          <p:txBody>
            <a:bodyPr wrap="square" lIns="0" tIns="0" rIns="0" bIns="0" rtlCol="0"/>
            <a:lstStyle/>
            <a:p/>
          </p:txBody>
        </p:sp>
        <p:sp>
          <p:nvSpPr>
            <p:cNvPr id="9" name="object 9" descr=""/>
            <p:cNvSpPr/>
            <p:nvPr/>
          </p:nvSpPr>
          <p:spPr>
            <a:xfrm>
              <a:off x="8892480" y="1223487"/>
              <a:ext cx="0" cy="3624579"/>
            </a:xfrm>
            <a:custGeom>
              <a:avLst/>
              <a:gdLst/>
              <a:ahLst/>
              <a:cxnLst/>
              <a:rect l="l" t="t" r="r" b="b"/>
              <a:pathLst>
                <a:path w="0" h="3624579">
                  <a:moveTo>
                    <a:pt x="0" y="0"/>
                  </a:moveTo>
                  <a:lnTo>
                    <a:pt x="0" y="3624579"/>
                  </a:lnTo>
                </a:path>
              </a:pathLst>
            </a:custGeom>
            <a:ln w="12700">
              <a:solidFill>
                <a:srgbClr val="000000"/>
              </a:solidFill>
            </a:ln>
          </p:spPr>
          <p:txBody>
            <a:bodyPr wrap="square" lIns="0" tIns="0" rIns="0" bIns="0" rtlCol="0"/>
            <a:lstStyle/>
            <a:p/>
          </p:txBody>
        </p:sp>
        <p:sp>
          <p:nvSpPr>
            <p:cNvPr id="10" name="object 10" descr=""/>
            <p:cNvSpPr/>
            <p:nvPr/>
          </p:nvSpPr>
          <p:spPr>
            <a:xfrm>
              <a:off x="245168" y="1229837"/>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sp>
          <p:nvSpPr>
            <p:cNvPr id="11" name="object 11" descr=""/>
            <p:cNvSpPr/>
            <p:nvPr/>
          </p:nvSpPr>
          <p:spPr>
            <a:xfrm>
              <a:off x="245168" y="4841716"/>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grpSp>
      <p:sp>
        <p:nvSpPr>
          <p:cNvPr id="12" name="object 12" descr=""/>
          <p:cNvSpPr txBox="1"/>
          <p:nvPr/>
        </p:nvSpPr>
        <p:spPr>
          <a:xfrm>
            <a:off x="330258" y="1325341"/>
            <a:ext cx="3755390" cy="238760"/>
          </a:xfrm>
          <a:prstGeom prst="rect">
            <a:avLst/>
          </a:prstGeom>
        </p:spPr>
        <p:txBody>
          <a:bodyPr wrap="square" lIns="0" tIns="12065" rIns="0" bIns="0" rtlCol="0" vert="horz">
            <a:spAutoFit/>
          </a:bodyPr>
          <a:lstStyle/>
          <a:p>
            <a:pPr marL="12700">
              <a:lnSpc>
                <a:spcPct val="100000"/>
              </a:lnSpc>
              <a:spcBef>
                <a:spcPts val="95"/>
              </a:spcBef>
            </a:pPr>
            <a:r>
              <a:rPr dirty="0" sz="1400" spc="-25">
                <a:latin typeface="Microsoft YaHei"/>
                <a:cs typeface="Microsoft YaHei"/>
              </a:rPr>
              <a:t>当出现传输不通时，可以从以下几个方面排查：</a:t>
            </a:r>
            <a:endParaRPr sz="1400">
              <a:latin typeface="Microsoft YaHei"/>
              <a:cs typeface="Microsoft YaHei"/>
            </a:endParaRPr>
          </a:p>
        </p:txBody>
      </p:sp>
      <p:sp>
        <p:nvSpPr>
          <p:cNvPr id="13" name="object 13" descr=""/>
          <p:cNvSpPr txBox="1"/>
          <p:nvPr/>
        </p:nvSpPr>
        <p:spPr>
          <a:xfrm>
            <a:off x="304858" y="1645457"/>
            <a:ext cx="4445000" cy="238760"/>
          </a:xfrm>
          <a:prstGeom prst="rect">
            <a:avLst/>
          </a:prstGeom>
        </p:spPr>
        <p:txBody>
          <a:bodyPr wrap="square" lIns="0" tIns="12065" rIns="0" bIns="0" rtlCol="0" vert="horz">
            <a:spAutoFit/>
          </a:bodyPr>
          <a:lstStyle/>
          <a:p>
            <a:pPr marL="38100">
              <a:lnSpc>
                <a:spcPct val="100000"/>
              </a:lnSpc>
              <a:spcBef>
                <a:spcPts val="95"/>
              </a:spcBef>
            </a:pPr>
            <a:r>
              <a:rPr dirty="0" sz="1400" spc="-415">
                <a:latin typeface="Microsoft YaHei"/>
                <a:cs typeface="Microsoft YaHei"/>
              </a:rPr>
              <a:t>1</a:t>
            </a:r>
            <a:r>
              <a:rPr dirty="0" baseline="13888" sz="2100" spc="-1522">
                <a:latin typeface="Microsoft YaHei"/>
                <a:cs typeface="Microsoft YaHei"/>
              </a:rPr>
              <a:t>当</a:t>
            </a:r>
            <a:r>
              <a:rPr dirty="0" sz="1400" spc="-420">
                <a:latin typeface="Microsoft YaHei"/>
                <a:cs typeface="Microsoft YaHei"/>
              </a:rPr>
              <a:t>、</a:t>
            </a:r>
            <a:r>
              <a:rPr dirty="0" baseline="13888" sz="2100" spc="-1522">
                <a:latin typeface="Microsoft YaHei"/>
                <a:cs typeface="Microsoft YaHei"/>
              </a:rPr>
              <a:t>出</a:t>
            </a:r>
            <a:r>
              <a:rPr dirty="0" sz="1400" spc="-420">
                <a:latin typeface="Microsoft YaHei"/>
                <a:cs typeface="Microsoft YaHei"/>
              </a:rPr>
              <a:t>检</a:t>
            </a:r>
            <a:r>
              <a:rPr dirty="0" baseline="13888" sz="2100" spc="-1522">
                <a:latin typeface="Microsoft YaHei"/>
                <a:cs typeface="Microsoft YaHei"/>
              </a:rPr>
              <a:t>现</a:t>
            </a:r>
            <a:r>
              <a:rPr dirty="0" sz="1400" spc="-420">
                <a:latin typeface="Microsoft YaHei"/>
                <a:cs typeface="Microsoft YaHei"/>
              </a:rPr>
              <a:t>查</a:t>
            </a:r>
            <a:r>
              <a:rPr dirty="0" baseline="13888" sz="2100" spc="-892">
                <a:latin typeface="Microsoft YaHei"/>
                <a:cs typeface="Microsoft YaHei"/>
              </a:rPr>
              <a:t>A</a:t>
            </a:r>
            <a:r>
              <a:rPr dirty="0" sz="1400" spc="-835">
                <a:latin typeface="Microsoft YaHei"/>
                <a:cs typeface="Microsoft YaHei"/>
              </a:rPr>
              <a:t>物</a:t>
            </a:r>
            <a:r>
              <a:rPr dirty="0" baseline="13888" sz="2100" spc="-277">
                <a:latin typeface="Microsoft YaHei"/>
                <a:cs typeface="Microsoft YaHei"/>
              </a:rPr>
              <a:t>A</a:t>
            </a:r>
            <a:r>
              <a:rPr dirty="0" sz="1400" spc="-1265">
                <a:latin typeface="Microsoft YaHei"/>
                <a:cs typeface="Microsoft YaHei"/>
              </a:rPr>
              <a:t>理</a:t>
            </a:r>
            <a:r>
              <a:rPr dirty="0" baseline="13888" sz="2100" spc="-30">
                <a:latin typeface="Microsoft YaHei"/>
                <a:cs typeface="Microsoft YaHei"/>
              </a:rPr>
              <a:t>U</a:t>
            </a:r>
            <a:r>
              <a:rPr dirty="0" baseline="13888" sz="2100" spc="-1814">
                <a:latin typeface="Microsoft YaHei"/>
                <a:cs typeface="Microsoft YaHei"/>
              </a:rPr>
              <a:t>未</a:t>
            </a:r>
            <a:r>
              <a:rPr dirty="0" sz="1400" spc="-225">
                <a:latin typeface="Microsoft YaHei"/>
                <a:cs typeface="Microsoft YaHei"/>
              </a:rPr>
              <a:t>链</a:t>
            </a:r>
            <a:r>
              <a:rPr dirty="0" baseline="13888" sz="2100" spc="-1814">
                <a:latin typeface="Microsoft YaHei"/>
                <a:cs typeface="Microsoft YaHei"/>
              </a:rPr>
              <a:t>接</a:t>
            </a:r>
            <a:r>
              <a:rPr dirty="0" sz="1400" spc="-225">
                <a:latin typeface="Microsoft YaHei"/>
                <a:cs typeface="Microsoft YaHei"/>
              </a:rPr>
              <a:t>路</a:t>
            </a:r>
            <a:r>
              <a:rPr dirty="0" baseline="13888" sz="2100" spc="-1814">
                <a:latin typeface="Microsoft YaHei"/>
                <a:cs typeface="Microsoft YaHei"/>
              </a:rPr>
              <a:t>入</a:t>
            </a:r>
            <a:r>
              <a:rPr dirty="0" sz="1400" spc="-225">
                <a:latin typeface="Microsoft YaHei"/>
                <a:cs typeface="Microsoft YaHei"/>
              </a:rPr>
              <a:t>，</a:t>
            </a:r>
            <a:r>
              <a:rPr dirty="0" baseline="13888" sz="2100" spc="-1814">
                <a:latin typeface="Microsoft YaHei"/>
                <a:cs typeface="Microsoft YaHei"/>
              </a:rPr>
              <a:t>时</a:t>
            </a:r>
            <a:r>
              <a:rPr dirty="0" sz="1400" spc="-225">
                <a:latin typeface="Microsoft YaHei"/>
                <a:cs typeface="Microsoft YaHei"/>
              </a:rPr>
              <a:t>检</a:t>
            </a:r>
            <a:r>
              <a:rPr dirty="0" baseline="13888" sz="2100" spc="-1814">
                <a:latin typeface="Microsoft YaHei"/>
                <a:cs typeface="Microsoft YaHei"/>
              </a:rPr>
              <a:t>，</a:t>
            </a:r>
            <a:r>
              <a:rPr dirty="0" sz="1400" spc="-225">
                <a:latin typeface="Microsoft YaHei"/>
                <a:cs typeface="Microsoft YaHei"/>
              </a:rPr>
              <a:t>查</a:t>
            </a:r>
            <a:r>
              <a:rPr dirty="0" baseline="13888" sz="2100" spc="-1814">
                <a:latin typeface="Microsoft YaHei"/>
                <a:cs typeface="Microsoft YaHei"/>
              </a:rPr>
              <a:t>需</a:t>
            </a:r>
            <a:r>
              <a:rPr dirty="0" sz="1400" spc="-225">
                <a:latin typeface="Microsoft YaHei"/>
                <a:cs typeface="Microsoft YaHei"/>
              </a:rPr>
              <a:t>基</a:t>
            </a:r>
            <a:r>
              <a:rPr dirty="0" baseline="13888" sz="2100" spc="-1814">
                <a:latin typeface="Microsoft YaHei"/>
                <a:cs typeface="Microsoft YaHei"/>
              </a:rPr>
              <a:t>检</a:t>
            </a:r>
            <a:r>
              <a:rPr dirty="0" sz="1400" spc="-220">
                <a:latin typeface="Microsoft YaHei"/>
                <a:cs typeface="Microsoft YaHei"/>
              </a:rPr>
              <a:t>站</a:t>
            </a:r>
            <a:r>
              <a:rPr dirty="0" baseline="13888" sz="2100" spc="-1822">
                <a:latin typeface="Microsoft YaHei"/>
                <a:cs typeface="Microsoft YaHei"/>
              </a:rPr>
              <a:t>查</a:t>
            </a:r>
            <a:r>
              <a:rPr dirty="0" sz="1400" spc="-220">
                <a:latin typeface="Microsoft YaHei"/>
                <a:cs typeface="Microsoft YaHei"/>
              </a:rPr>
              <a:t>侧</a:t>
            </a:r>
            <a:r>
              <a:rPr dirty="0" baseline="13888" sz="2100" spc="-1822">
                <a:latin typeface="Microsoft YaHei"/>
                <a:cs typeface="Microsoft YaHei"/>
              </a:rPr>
              <a:t>或</a:t>
            </a:r>
            <a:r>
              <a:rPr dirty="0" sz="1400" spc="-220">
                <a:latin typeface="Microsoft YaHei"/>
                <a:cs typeface="Microsoft YaHei"/>
              </a:rPr>
              <a:t>光</a:t>
            </a:r>
            <a:r>
              <a:rPr dirty="0" baseline="13888" sz="2100" spc="-1814">
                <a:latin typeface="Microsoft YaHei"/>
                <a:cs typeface="Microsoft YaHei"/>
              </a:rPr>
              <a:t>关</a:t>
            </a:r>
            <a:r>
              <a:rPr dirty="0" sz="1400" spc="-220">
                <a:latin typeface="Microsoft YaHei"/>
                <a:cs typeface="Microsoft YaHei"/>
              </a:rPr>
              <a:t>纤</a:t>
            </a:r>
            <a:r>
              <a:rPr dirty="0" baseline="13888" sz="2100" spc="-1822">
                <a:latin typeface="Microsoft YaHei"/>
                <a:cs typeface="Microsoft YaHei"/>
              </a:rPr>
              <a:t>注</a:t>
            </a:r>
            <a:r>
              <a:rPr dirty="0" sz="1400" spc="-220">
                <a:latin typeface="Microsoft YaHei"/>
                <a:cs typeface="Microsoft YaHei"/>
              </a:rPr>
              <a:t>、</a:t>
            </a:r>
            <a:r>
              <a:rPr dirty="0" baseline="13888" sz="2100" spc="-1822">
                <a:latin typeface="Microsoft YaHei"/>
                <a:cs typeface="Microsoft YaHei"/>
              </a:rPr>
              <a:t>一</a:t>
            </a:r>
            <a:r>
              <a:rPr dirty="0" sz="1400" spc="-220">
                <a:latin typeface="Microsoft YaHei"/>
                <a:cs typeface="Microsoft YaHei"/>
              </a:rPr>
              <a:t>光</a:t>
            </a:r>
            <a:r>
              <a:rPr dirty="0" baseline="13888" sz="2100" spc="-1814">
                <a:latin typeface="Microsoft YaHei"/>
                <a:cs typeface="Microsoft YaHei"/>
              </a:rPr>
              <a:t>下</a:t>
            </a:r>
            <a:r>
              <a:rPr dirty="0" sz="1400" spc="-220">
                <a:latin typeface="Microsoft YaHei"/>
                <a:cs typeface="Microsoft YaHei"/>
              </a:rPr>
              <a:t>模</a:t>
            </a:r>
            <a:r>
              <a:rPr dirty="0" baseline="13888" sz="2100" spc="-1822">
                <a:latin typeface="Microsoft YaHei"/>
                <a:cs typeface="Microsoft YaHei"/>
              </a:rPr>
              <a:t>几</a:t>
            </a:r>
            <a:r>
              <a:rPr dirty="0" sz="1400" spc="-220">
                <a:latin typeface="Microsoft YaHei"/>
                <a:cs typeface="Microsoft YaHei"/>
              </a:rPr>
              <a:t>块</a:t>
            </a:r>
            <a:r>
              <a:rPr dirty="0" baseline="13888" sz="2100" spc="-1822">
                <a:latin typeface="Microsoft YaHei"/>
                <a:cs typeface="Microsoft YaHei"/>
              </a:rPr>
              <a:t>点</a:t>
            </a:r>
            <a:r>
              <a:rPr dirty="0" sz="1400" spc="-220">
                <a:latin typeface="Microsoft YaHei"/>
                <a:cs typeface="Microsoft YaHei"/>
              </a:rPr>
              <a:t>是</a:t>
            </a:r>
            <a:r>
              <a:rPr dirty="0" baseline="13888" sz="2100" spc="-1814">
                <a:latin typeface="Microsoft YaHei"/>
                <a:cs typeface="Microsoft YaHei"/>
              </a:rPr>
              <a:t>：</a:t>
            </a:r>
            <a:r>
              <a:rPr dirty="0" sz="1400" spc="-30">
                <a:latin typeface="Microsoft YaHei"/>
                <a:cs typeface="Microsoft YaHei"/>
              </a:rPr>
              <a:t>否插好；</a:t>
            </a:r>
            <a:endParaRPr sz="1400">
              <a:latin typeface="Microsoft YaHei"/>
              <a:cs typeface="Microsoft YaHei"/>
            </a:endParaRPr>
          </a:p>
        </p:txBody>
      </p:sp>
      <p:sp>
        <p:nvSpPr>
          <p:cNvPr id="14" name="object 14" descr=""/>
          <p:cNvSpPr txBox="1"/>
          <p:nvPr/>
        </p:nvSpPr>
        <p:spPr>
          <a:xfrm>
            <a:off x="304858" y="1920569"/>
            <a:ext cx="5581650" cy="238760"/>
          </a:xfrm>
          <a:prstGeom prst="rect">
            <a:avLst/>
          </a:prstGeom>
        </p:spPr>
        <p:txBody>
          <a:bodyPr wrap="square" lIns="0" tIns="12065" rIns="0" bIns="0" rtlCol="0" vert="horz">
            <a:spAutoFit/>
          </a:bodyPr>
          <a:lstStyle/>
          <a:p>
            <a:pPr marL="38100">
              <a:lnSpc>
                <a:spcPct val="100000"/>
              </a:lnSpc>
              <a:spcBef>
                <a:spcPts val="95"/>
              </a:spcBef>
            </a:pPr>
            <a:r>
              <a:rPr dirty="0" baseline="-13888" sz="2100" spc="-637">
                <a:latin typeface="Microsoft YaHei"/>
                <a:cs typeface="Microsoft YaHei"/>
              </a:rPr>
              <a:t>2</a:t>
            </a:r>
            <a:r>
              <a:rPr dirty="0" sz="1400" spc="-425">
                <a:latin typeface="Microsoft YaHei"/>
                <a:cs typeface="Microsoft YaHei"/>
              </a:rPr>
              <a:t>1</a:t>
            </a:r>
            <a:r>
              <a:rPr dirty="0" baseline="-13888" sz="2100" spc="-1492">
                <a:latin typeface="Microsoft YaHei"/>
                <a:cs typeface="Microsoft YaHei"/>
              </a:rPr>
              <a:t>、</a:t>
            </a:r>
            <a:r>
              <a:rPr dirty="0" sz="1400" spc="-434">
                <a:latin typeface="Microsoft YaHei"/>
                <a:cs typeface="Microsoft YaHei"/>
              </a:rPr>
              <a:t>、</a:t>
            </a:r>
            <a:r>
              <a:rPr dirty="0" baseline="-13888" sz="2100" spc="-1492">
                <a:latin typeface="Microsoft YaHei"/>
                <a:cs typeface="Microsoft YaHei"/>
              </a:rPr>
              <a:t>检</a:t>
            </a:r>
            <a:r>
              <a:rPr dirty="0" sz="1400" spc="-434">
                <a:latin typeface="Microsoft YaHei"/>
                <a:cs typeface="Microsoft YaHei"/>
              </a:rPr>
              <a:t>检</a:t>
            </a:r>
            <a:r>
              <a:rPr dirty="0" baseline="-13888" sz="2100" spc="-1492">
                <a:latin typeface="Microsoft YaHei"/>
                <a:cs typeface="Microsoft YaHei"/>
              </a:rPr>
              <a:t>查</a:t>
            </a:r>
            <a:r>
              <a:rPr dirty="0" sz="1400" spc="-434">
                <a:latin typeface="Microsoft YaHei"/>
                <a:cs typeface="Microsoft YaHei"/>
              </a:rPr>
              <a:t>查</a:t>
            </a:r>
            <a:r>
              <a:rPr dirty="0" baseline="-13888" sz="2100" spc="-772">
                <a:latin typeface="Microsoft YaHei"/>
                <a:cs typeface="Microsoft YaHei"/>
              </a:rPr>
              <a:t>P</a:t>
            </a:r>
            <a:r>
              <a:rPr dirty="0" sz="1400" spc="-515">
                <a:latin typeface="Microsoft YaHei"/>
                <a:cs typeface="Microsoft YaHei"/>
              </a:rPr>
              <a:t>A</a:t>
            </a:r>
            <a:r>
              <a:rPr dirty="0" baseline="-13888" sz="2100" spc="-772">
                <a:latin typeface="Microsoft YaHei"/>
                <a:cs typeface="Microsoft YaHei"/>
              </a:rPr>
              <a:t>T</a:t>
            </a:r>
            <a:r>
              <a:rPr dirty="0" sz="1400" spc="-515">
                <a:latin typeface="Microsoft YaHei"/>
                <a:cs typeface="Microsoft YaHei"/>
              </a:rPr>
              <a:t>A</a:t>
            </a:r>
            <a:r>
              <a:rPr dirty="0" baseline="-13888" sz="2100" spc="-772">
                <a:latin typeface="Microsoft YaHei"/>
                <a:cs typeface="Microsoft YaHei"/>
              </a:rPr>
              <a:t>N</a:t>
            </a:r>
            <a:r>
              <a:rPr dirty="0" sz="1400" spc="-515">
                <a:latin typeface="Microsoft YaHei"/>
                <a:cs typeface="Microsoft YaHei"/>
              </a:rPr>
              <a:t>U</a:t>
            </a:r>
            <a:r>
              <a:rPr dirty="0" baseline="-13888" sz="2100" spc="-1192">
                <a:latin typeface="Microsoft YaHei"/>
                <a:cs typeface="Microsoft YaHei"/>
              </a:rPr>
              <a:t>侧</a:t>
            </a:r>
            <a:r>
              <a:rPr dirty="0" sz="1400" spc="-635">
                <a:latin typeface="Microsoft YaHei"/>
                <a:cs typeface="Microsoft YaHei"/>
              </a:rPr>
              <a:t>是</a:t>
            </a:r>
            <a:r>
              <a:rPr dirty="0" baseline="-13888" sz="2100" spc="-1192">
                <a:latin typeface="Microsoft YaHei"/>
                <a:cs typeface="Microsoft YaHei"/>
              </a:rPr>
              <a:t>的</a:t>
            </a:r>
            <a:r>
              <a:rPr dirty="0" sz="1400" spc="-635">
                <a:latin typeface="Microsoft YaHei"/>
                <a:cs typeface="Microsoft YaHei"/>
              </a:rPr>
              <a:t>否</a:t>
            </a:r>
            <a:r>
              <a:rPr dirty="0" baseline="-13888" sz="2100" spc="-1192">
                <a:latin typeface="Microsoft YaHei"/>
                <a:cs typeface="Microsoft YaHei"/>
              </a:rPr>
              <a:t>光</a:t>
            </a:r>
            <a:r>
              <a:rPr dirty="0" sz="1400" spc="-635">
                <a:latin typeface="Microsoft YaHei"/>
                <a:cs typeface="Microsoft YaHei"/>
              </a:rPr>
              <a:t>上</a:t>
            </a:r>
            <a:r>
              <a:rPr dirty="0" baseline="-13888" sz="2100" spc="-1192">
                <a:latin typeface="Microsoft YaHei"/>
                <a:cs typeface="Microsoft YaHei"/>
              </a:rPr>
              <a:t>口</a:t>
            </a:r>
            <a:r>
              <a:rPr dirty="0" sz="1400" spc="-635">
                <a:latin typeface="Microsoft YaHei"/>
                <a:cs typeface="Microsoft YaHei"/>
              </a:rPr>
              <a:t>电</a:t>
            </a:r>
            <a:r>
              <a:rPr dirty="0" baseline="-13888" sz="2100" spc="-1192">
                <a:latin typeface="Microsoft YaHei"/>
                <a:cs typeface="Microsoft YaHei"/>
              </a:rPr>
              <a:t>槽</a:t>
            </a:r>
            <a:r>
              <a:rPr dirty="0" sz="1400" spc="-635">
                <a:latin typeface="Microsoft YaHei"/>
                <a:cs typeface="Microsoft YaHei"/>
              </a:rPr>
              <a:t>，</a:t>
            </a:r>
            <a:r>
              <a:rPr dirty="0" baseline="-13888" sz="2100" spc="-1192">
                <a:latin typeface="Microsoft YaHei"/>
                <a:cs typeface="Microsoft YaHei"/>
              </a:rPr>
              <a:t>位</a:t>
            </a:r>
            <a:r>
              <a:rPr dirty="0" sz="1400" spc="-635">
                <a:latin typeface="Microsoft YaHei"/>
                <a:cs typeface="Microsoft YaHei"/>
              </a:rPr>
              <a:t>主</a:t>
            </a:r>
            <a:r>
              <a:rPr dirty="0" baseline="-13888" sz="2100" spc="-1185">
                <a:latin typeface="Microsoft YaHei"/>
                <a:cs typeface="Microsoft YaHei"/>
              </a:rPr>
              <a:t>、</a:t>
            </a:r>
            <a:r>
              <a:rPr dirty="0" sz="1400" spc="-640">
                <a:latin typeface="Microsoft YaHei"/>
                <a:cs typeface="Microsoft YaHei"/>
              </a:rPr>
              <a:t>要</a:t>
            </a:r>
            <a:r>
              <a:rPr dirty="0" baseline="-13888" sz="2100" spc="-1185">
                <a:latin typeface="Microsoft YaHei"/>
                <a:cs typeface="Microsoft YaHei"/>
              </a:rPr>
              <a:t>光</a:t>
            </a:r>
            <a:r>
              <a:rPr dirty="0" sz="1400" spc="-640">
                <a:latin typeface="Microsoft YaHei"/>
                <a:cs typeface="Microsoft YaHei"/>
              </a:rPr>
              <a:t>观</a:t>
            </a:r>
            <a:r>
              <a:rPr dirty="0" baseline="-13888" sz="2100" spc="-1185">
                <a:latin typeface="Microsoft YaHei"/>
                <a:cs typeface="Microsoft YaHei"/>
              </a:rPr>
              <a:t>模</a:t>
            </a:r>
            <a:r>
              <a:rPr dirty="0" sz="1400" spc="-635">
                <a:latin typeface="Microsoft YaHei"/>
                <a:cs typeface="Microsoft YaHei"/>
              </a:rPr>
              <a:t>察</a:t>
            </a:r>
            <a:r>
              <a:rPr dirty="0" baseline="-13888" sz="2100" spc="-1192">
                <a:latin typeface="Microsoft YaHei"/>
                <a:cs typeface="Microsoft YaHei"/>
              </a:rPr>
              <a:t>块</a:t>
            </a:r>
            <a:r>
              <a:rPr dirty="0" sz="1400" spc="-285">
                <a:latin typeface="Microsoft YaHei"/>
                <a:cs typeface="Microsoft YaHei"/>
              </a:rPr>
              <a:t>D</a:t>
            </a:r>
            <a:r>
              <a:rPr dirty="0" baseline="-13888" sz="2100" spc="-1687">
                <a:latin typeface="Microsoft YaHei"/>
                <a:cs typeface="Microsoft YaHei"/>
              </a:rPr>
              <a:t>、</a:t>
            </a:r>
            <a:r>
              <a:rPr dirty="0" sz="1400" spc="-5">
                <a:latin typeface="Microsoft YaHei"/>
                <a:cs typeface="Microsoft YaHei"/>
              </a:rPr>
              <a:t>C</a:t>
            </a:r>
            <a:r>
              <a:rPr dirty="0" sz="1400" spc="-700">
                <a:latin typeface="Microsoft YaHei"/>
                <a:cs typeface="Microsoft YaHei"/>
              </a:rPr>
              <a:t>P</a:t>
            </a:r>
            <a:r>
              <a:rPr dirty="0" baseline="-13888" sz="2100" spc="-1087">
                <a:latin typeface="Microsoft YaHei"/>
                <a:cs typeface="Microsoft YaHei"/>
              </a:rPr>
              <a:t>光</a:t>
            </a:r>
            <a:r>
              <a:rPr dirty="0" sz="1400" spc="-355">
                <a:latin typeface="Microsoft YaHei"/>
                <a:cs typeface="Microsoft YaHei"/>
              </a:rPr>
              <a:t>D</a:t>
            </a:r>
            <a:r>
              <a:rPr dirty="0" baseline="-13888" sz="2100" spc="-1604">
                <a:latin typeface="Microsoft YaHei"/>
                <a:cs typeface="Microsoft YaHei"/>
              </a:rPr>
              <a:t>纤</a:t>
            </a:r>
            <a:r>
              <a:rPr dirty="0" sz="1400" spc="-365">
                <a:latin typeface="Microsoft YaHei"/>
                <a:cs typeface="Microsoft YaHei"/>
              </a:rPr>
              <a:t>给</a:t>
            </a:r>
            <a:r>
              <a:rPr dirty="0" baseline="-13888" sz="2100" spc="-1604">
                <a:latin typeface="Microsoft YaHei"/>
                <a:cs typeface="Microsoft YaHei"/>
              </a:rPr>
              <a:t>是</a:t>
            </a:r>
            <a:r>
              <a:rPr dirty="0" sz="1400">
                <a:latin typeface="Microsoft YaHei"/>
                <a:cs typeface="Microsoft YaHei"/>
              </a:rPr>
              <a:t>A</a:t>
            </a:r>
            <a:r>
              <a:rPr dirty="0" sz="1400" spc="-940">
                <a:latin typeface="Microsoft YaHei"/>
                <a:cs typeface="Microsoft YaHei"/>
              </a:rPr>
              <a:t>A</a:t>
            </a:r>
            <a:r>
              <a:rPr dirty="0" baseline="-13888" sz="2100" spc="-757">
                <a:latin typeface="Microsoft YaHei"/>
                <a:cs typeface="Microsoft YaHei"/>
              </a:rPr>
              <a:t>否</a:t>
            </a:r>
            <a:r>
              <a:rPr dirty="0" sz="1400" spc="-570">
                <a:latin typeface="Microsoft YaHei"/>
                <a:cs typeface="Microsoft YaHei"/>
              </a:rPr>
              <a:t>U</a:t>
            </a:r>
            <a:r>
              <a:rPr dirty="0" baseline="-13888" sz="2100" spc="-1297">
                <a:latin typeface="Microsoft YaHei"/>
                <a:cs typeface="Microsoft YaHei"/>
              </a:rPr>
              <a:t>插</a:t>
            </a:r>
            <a:r>
              <a:rPr dirty="0" sz="1400" spc="-570">
                <a:latin typeface="Microsoft YaHei"/>
                <a:cs typeface="Microsoft YaHei"/>
              </a:rPr>
              <a:t>供</a:t>
            </a:r>
            <a:r>
              <a:rPr dirty="0" baseline="-13888" sz="2100" spc="-1297">
                <a:latin typeface="Microsoft YaHei"/>
                <a:cs typeface="Microsoft YaHei"/>
              </a:rPr>
              <a:t>好</a:t>
            </a:r>
            <a:r>
              <a:rPr dirty="0" sz="1400" spc="-570">
                <a:latin typeface="Microsoft YaHei"/>
                <a:cs typeface="Microsoft YaHei"/>
              </a:rPr>
              <a:t>电</a:t>
            </a:r>
            <a:r>
              <a:rPr dirty="0" baseline="-13888" sz="2100" spc="-1289">
                <a:latin typeface="Microsoft YaHei"/>
                <a:cs typeface="Microsoft YaHei"/>
              </a:rPr>
              <a:t>；</a:t>
            </a:r>
            <a:r>
              <a:rPr dirty="0" sz="1400" spc="-25">
                <a:latin typeface="Microsoft YaHei"/>
                <a:cs typeface="Microsoft YaHei"/>
              </a:rPr>
              <a:t>的开关是否闭合；</a:t>
            </a:r>
            <a:endParaRPr sz="1400">
              <a:latin typeface="Microsoft YaHei"/>
              <a:cs typeface="Microsoft YaHei"/>
            </a:endParaRPr>
          </a:p>
        </p:txBody>
      </p:sp>
      <p:sp>
        <p:nvSpPr>
          <p:cNvPr id="15" name="object 15" descr=""/>
          <p:cNvSpPr txBox="1"/>
          <p:nvPr/>
        </p:nvSpPr>
        <p:spPr>
          <a:xfrm>
            <a:off x="304858" y="2285687"/>
            <a:ext cx="8356600" cy="238760"/>
          </a:xfrm>
          <a:prstGeom prst="rect">
            <a:avLst/>
          </a:prstGeom>
        </p:spPr>
        <p:txBody>
          <a:bodyPr wrap="square" lIns="0" tIns="12065" rIns="0" bIns="0" rtlCol="0" vert="horz">
            <a:spAutoFit/>
          </a:bodyPr>
          <a:lstStyle/>
          <a:p>
            <a:pPr marL="38100">
              <a:lnSpc>
                <a:spcPct val="100000"/>
              </a:lnSpc>
              <a:spcBef>
                <a:spcPts val="95"/>
              </a:spcBef>
            </a:pPr>
            <a:r>
              <a:rPr dirty="0" sz="1400" spc="-425">
                <a:latin typeface="Microsoft YaHei"/>
                <a:cs typeface="Microsoft YaHei"/>
              </a:rPr>
              <a:t>3</a:t>
            </a:r>
            <a:r>
              <a:rPr dirty="0" baseline="13888" sz="2100" spc="-637">
                <a:latin typeface="Microsoft YaHei"/>
                <a:cs typeface="Microsoft YaHei"/>
              </a:rPr>
              <a:t>2</a:t>
            </a:r>
            <a:r>
              <a:rPr dirty="0" sz="1400" spc="-994">
                <a:latin typeface="Microsoft YaHei"/>
                <a:cs typeface="Microsoft YaHei"/>
              </a:rPr>
              <a:t>、</a:t>
            </a:r>
            <a:r>
              <a:rPr dirty="0" baseline="13888" sz="2100" spc="-652">
                <a:latin typeface="Microsoft YaHei"/>
                <a:cs typeface="Microsoft YaHei"/>
              </a:rPr>
              <a:t>、</a:t>
            </a:r>
            <a:r>
              <a:rPr dirty="0" sz="1400" spc="-994">
                <a:latin typeface="Microsoft YaHei"/>
                <a:cs typeface="Microsoft YaHei"/>
              </a:rPr>
              <a:t>检</a:t>
            </a:r>
            <a:r>
              <a:rPr dirty="0" baseline="13888" sz="2100" spc="-652">
                <a:latin typeface="Microsoft YaHei"/>
                <a:cs typeface="Microsoft YaHei"/>
              </a:rPr>
              <a:t>检</a:t>
            </a:r>
            <a:r>
              <a:rPr dirty="0" sz="1400" spc="-994">
                <a:latin typeface="Microsoft YaHei"/>
                <a:cs typeface="Microsoft YaHei"/>
              </a:rPr>
              <a:t>查</a:t>
            </a:r>
            <a:r>
              <a:rPr dirty="0" baseline="13888" sz="2100" spc="-652">
                <a:latin typeface="Microsoft YaHei"/>
                <a:cs typeface="Microsoft YaHei"/>
              </a:rPr>
              <a:t>查</a:t>
            </a:r>
            <a:r>
              <a:rPr dirty="0" sz="1400" spc="-994">
                <a:latin typeface="Microsoft YaHei"/>
                <a:cs typeface="Microsoft YaHei"/>
              </a:rPr>
              <a:t>基</a:t>
            </a:r>
            <a:r>
              <a:rPr dirty="0" baseline="13888" sz="2100" spc="-7">
                <a:latin typeface="Microsoft YaHei"/>
                <a:cs typeface="Microsoft YaHei"/>
              </a:rPr>
              <a:t>1</a:t>
            </a:r>
            <a:r>
              <a:rPr dirty="0" baseline="13888" sz="2100" spc="-1019">
                <a:latin typeface="Microsoft YaHei"/>
                <a:cs typeface="Microsoft YaHei"/>
              </a:rPr>
              <a:t>0</a:t>
            </a:r>
            <a:r>
              <a:rPr dirty="0" sz="1400" spc="-750">
                <a:latin typeface="Microsoft YaHei"/>
                <a:cs typeface="Microsoft YaHei"/>
              </a:rPr>
              <a:t>站</a:t>
            </a:r>
            <a:r>
              <a:rPr dirty="0" baseline="13888" sz="2100" spc="-157">
                <a:latin typeface="Microsoft YaHei"/>
                <a:cs typeface="Microsoft YaHei"/>
              </a:rPr>
              <a:t>0</a:t>
            </a:r>
            <a:r>
              <a:rPr dirty="0" sz="1400" spc="-1325">
                <a:latin typeface="Microsoft YaHei"/>
                <a:cs typeface="Microsoft YaHei"/>
              </a:rPr>
              <a:t>侧</a:t>
            </a:r>
            <a:r>
              <a:rPr dirty="0" baseline="13888" sz="2100" spc="-7">
                <a:latin typeface="Microsoft YaHei"/>
                <a:cs typeface="Microsoft YaHei"/>
              </a:rPr>
              <a:t>G</a:t>
            </a:r>
            <a:r>
              <a:rPr dirty="0" baseline="13888" sz="2100" spc="-960">
                <a:latin typeface="Microsoft YaHei"/>
                <a:cs typeface="Microsoft YaHei"/>
              </a:rPr>
              <a:t>b</a:t>
            </a:r>
            <a:r>
              <a:rPr dirty="0" sz="1400" spc="-790">
                <a:latin typeface="Microsoft YaHei"/>
                <a:cs typeface="Microsoft YaHei"/>
              </a:rPr>
              <a:t>传</a:t>
            </a:r>
            <a:r>
              <a:rPr dirty="0" baseline="13888" sz="2100" spc="-209">
                <a:latin typeface="Microsoft YaHei"/>
                <a:cs typeface="Microsoft YaHei"/>
              </a:rPr>
              <a:t>p</a:t>
            </a:r>
            <a:r>
              <a:rPr dirty="0" sz="1400" spc="-1295">
                <a:latin typeface="Microsoft YaHei"/>
                <a:cs typeface="Microsoft YaHei"/>
              </a:rPr>
              <a:t>输</a:t>
            </a:r>
            <a:r>
              <a:rPr dirty="0" baseline="13888" sz="2100" spc="-15">
                <a:latin typeface="Microsoft YaHei"/>
                <a:cs typeface="Microsoft YaHei"/>
              </a:rPr>
              <a:t>s</a:t>
            </a:r>
            <a:r>
              <a:rPr dirty="0" baseline="13888" sz="2100" spc="-1185">
                <a:latin typeface="Microsoft YaHei"/>
                <a:cs typeface="Microsoft YaHei"/>
              </a:rPr>
              <a:t>光</a:t>
            </a:r>
            <a:r>
              <a:rPr dirty="0" sz="1400" spc="-640">
                <a:latin typeface="Microsoft YaHei"/>
                <a:cs typeface="Microsoft YaHei"/>
              </a:rPr>
              <a:t>光</a:t>
            </a:r>
            <a:r>
              <a:rPr dirty="0" baseline="13888" sz="2100" spc="-1185">
                <a:latin typeface="Microsoft YaHei"/>
                <a:cs typeface="Microsoft YaHei"/>
              </a:rPr>
              <a:t>模</a:t>
            </a:r>
            <a:r>
              <a:rPr dirty="0" sz="1400" spc="-640">
                <a:latin typeface="Microsoft YaHei"/>
                <a:cs typeface="Microsoft YaHei"/>
              </a:rPr>
              <a:t>口</a:t>
            </a:r>
            <a:r>
              <a:rPr dirty="0" baseline="13888" sz="2100" spc="-1185">
                <a:latin typeface="Microsoft YaHei"/>
                <a:cs typeface="Microsoft YaHei"/>
              </a:rPr>
              <a:t>块</a:t>
            </a:r>
            <a:r>
              <a:rPr dirty="0" sz="1400" spc="-635">
                <a:latin typeface="Microsoft YaHei"/>
                <a:cs typeface="Microsoft YaHei"/>
              </a:rPr>
              <a:t>下</a:t>
            </a:r>
            <a:r>
              <a:rPr dirty="0" baseline="13888" sz="2100" spc="-1192">
                <a:latin typeface="Microsoft YaHei"/>
                <a:cs typeface="Microsoft YaHei"/>
              </a:rPr>
              <a:t>否</a:t>
            </a:r>
            <a:r>
              <a:rPr dirty="0" sz="1400" spc="-635">
                <a:latin typeface="Microsoft YaHei"/>
                <a:cs typeface="Microsoft YaHei"/>
              </a:rPr>
              <a:t>的</a:t>
            </a:r>
            <a:r>
              <a:rPr dirty="0" baseline="13888" sz="2100" spc="-1192">
                <a:latin typeface="Microsoft YaHei"/>
                <a:cs typeface="Microsoft YaHei"/>
              </a:rPr>
              <a:t>插</a:t>
            </a:r>
            <a:r>
              <a:rPr dirty="0" sz="1400" spc="-635">
                <a:latin typeface="Microsoft YaHei"/>
                <a:cs typeface="Microsoft YaHei"/>
              </a:rPr>
              <a:t>指</a:t>
            </a:r>
            <a:r>
              <a:rPr dirty="0" baseline="13888" sz="2100" spc="-1192">
                <a:latin typeface="Microsoft YaHei"/>
                <a:cs typeface="Microsoft YaHei"/>
              </a:rPr>
              <a:t>好</a:t>
            </a:r>
            <a:r>
              <a:rPr dirty="0" sz="1400" spc="-630">
                <a:latin typeface="Microsoft YaHei"/>
                <a:cs typeface="Microsoft YaHei"/>
              </a:rPr>
              <a:t>示</a:t>
            </a:r>
            <a:r>
              <a:rPr dirty="0" baseline="13888" sz="2100" spc="-1192">
                <a:latin typeface="Microsoft YaHei"/>
                <a:cs typeface="Microsoft YaHei"/>
              </a:rPr>
              <a:t>；</a:t>
            </a:r>
            <a:r>
              <a:rPr dirty="0" sz="1400" spc="-25">
                <a:latin typeface="Microsoft YaHei"/>
                <a:cs typeface="Microsoft YaHei"/>
              </a:rPr>
              <a:t>灯状态，出现慢闪说明正常，出现闪烁和常亮交替，说明传输侧数据未配</a:t>
            </a:r>
            <a:endParaRPr sz="1400">
              <a:latin typeface="Microsoft YaHei"/>
              <a:cs typeface="Microsoft YaHei"/>
            </a:endParaRPr>
          </a:p>
        </p:txBody>
      </p:sp>
      <p:sp>
        <p:nvSpPr>
          <p:cNvPr id="16" name="object 16" descr=""/>
          <p:cNvSpPr txBox="1"/>
          <p:nvPr/>
        </p:nvSpPr>
        <p:spPr>
          <a:xfrm>
            <a:off x="304858" y="2560800"/>
            <a:ext cx="4602480" cy="238760"/>
          </a:xfrm>
          <a:prstGeom prst="rect">
            <a:avLst/>
          </a:prstGeom>
        </p:spPr>
        <p:txBody>
          <a:bodyPr wrap="square" lIns="0" tIns="12065" rIns="0" bIns="0" rtlCol="0" vert="horz">
            <a:spAutoFit/>
          </a:bodyPr>
          <a:lstStyle/>
          <a:p>
            <a:pPr marL="38100">
              <a:lnSpc>
                <a:spcPct val="100000"/>
              </a:lnSpc>
              <a:spcBef>
                <a:spcPts val="95"/>
              </a:spcBef>
            </a:pPr>
            <a:r>
              <a:rPr dirty="0" baseline="-13888" sz="2100" spc="-1492">
                <a:latin typeface="Microsoft YaHei"/>
                <a:cs typeface="Microsoft YaHei"/>
              </a:rPr>
              <a:t>置</a:t>
            </a:r>
            <a:r>
              <a:rPr dirty="0" sz="1400" spc="-10">
                <a:latin typeface="Microsoft YaHei"/>
                <a:cs typeface="Microsoft YaHei"/>
              </a:rPr>
              <a:t>3</a:t>
            </a:r>
            <a:r>
              <a:rPr dirty="0" sz="1400" spc="-1260">
                <a:latin typeface="Microsoft YaHei"/>
                <a:cs typeface="Microsoft YaHei"/>
              </a:rPr>
              <a:t>、</a:t>
            </a:r>
            <a:r>
              <a:rPr dirty="0" baseline="-13888" sz="2100" spc="-270">
                <a:latin typeface="Microsoft YaHei"/>
                <a:cs typeface="Microsoft YaHei"/>
              </a:rPr>
              <a:t>完</a:t>
            </a:r>
            <a:r>
              <a:rPr dirty="0" sz="1400" spc="-1260">
                <a:latin typeface="Microsoft YaHei"/>
                <a:cs typeface="Microsoft YaHei"/>
              </a:rPr>
              <a:t>检</a:t>
            </a:r>
            <a:r>
              <a:rPr dirty="0" baseline="-13888" sz="2100" spc="-270">
                <a:latin typeface="Microsoft YaHei"/>
                <a:cs typeface="Microsoft YaHei"/>
              </a:rPr>
              <a:t>成</a:t>
            </a:r>
            <a:r>
              <a:rPr dirty="0" sz="1400" spc="-1260">
                <a:latin typeface="Microsoft YaHei"/>
                <a:cs typeface="Microsoft YaHei"/>
              </a:rPr>
              <a:t>查</a:t>
            </a:r>
            <a:r>
              <a:rPr dirty="0" baseline="-13888" sz="2100" spc="-270">
                <a:latin typeface="Microsoft YaHei"/>
                <a:cs typeface="Microsoft YaHei"/>
              </a:rPr>
              <a:t>。</a:t>
            </a:r>
            <a:r>
              <a:rPr dirty="0" sz="1400" spc="-10">
                <a:latin typeface="Microsoft YaHei"/>
                <a:cs typeface="Microsoft YaHei"/>
              </a:rPr>
              <a:t>HBPOD</a:t>
            </a:r>
            <a:r>
              <a:rPr dirty="0" sz="1400" spc="-25">
                <a:latin typeface="Microsoft YaHei"/>
                <a:cs typeface="Microsoft YaHei"/>
              </a:rPr>
              <a:t>对应光口是否有收发光，光功率是否达标</a:t>
            </a:r>
            <a:endParaRPr sz="1400">
              <a:latin typeface="Microsoft YaHei"/>
              <a:cs typeface="Microsoft YaHei"/>
            </a:endParaRPr>
          </a:p>
        </p:txBody>
      </p:sp>
      <p:sp>
        <p:nvSpPr>
          <p:cNvPr id="17" name="object 17" descr=""/>
          <p:cNvSpPr txBox="1"/>
          <p:nvPr/>
        </p:nvSpPr>
        <p:spPr>
          <a:xfrm>
            <a:off x="304858" y="2880915"/>
            <a:ext cx="4330700" cy="238760"/>
          </a:xfrm>
          <a:prstGeom prst="rect">
            <a:avLst/>
          </a:prstGeom>
        </p:spPr>
        <p:txBody>
          <a:bodyPr wrap="square" lIns="0" tIns="12065" rIns="0" bIns="0" rtlCol="0" vert="horz">
            <a:spAutoFit/>
          </a:bodyPr>
          <a:lstStyle/>
          <a:p>
            <a:pPr marL="38100">
              <a:lnSpc>
                <a:spcPct val="100000"/>
              </a:lnSpc>
              <a:spcBef>
                <a:spcPts val="95"/>
              </a:spcBef>
            </a:pPr>
            <a:r>
              <a:rPr dirty="0" baseline="-13888" sz="2100" spc="-637">
                <a:latin typeface="Microsoft YaHei"/>
                <a:cs typeface="Microsoft YaHei"/>
              </a:rPr>
              <a:t>4</a:t>
            </a:r>
            <a:r>
              <a:rPr dirty="0" sz="1400" spc="-425">
                <a:latin typeface="Microsoft YaHei"/>
                <a:cs typeface="Microsoft YaHei"/>
              </a:rPr>
              <a:t>4</a:t>
            </a:r>
            <a:r>
              <a:rPr dirty="0" baseline="-13888" sz="2100" spc="-1492">
                <a:latin typeface="Microsoft YaHei"/>
                <a:cs typeface="Microsoft YaHei"/>
              </a:rPr>
              <a:t>、</a:t>
            </a:r>
            <a:r>
              <a:rPr dirty="0" sz="1400" spc="-434">
                <a:latin typeface="Microsoft YaHei"/>
                <a:cs typeface="Microsoft YaHei"/>
              </a:rPr>
              <a:t>、</a:t>
            </a:r>
            <a:r>
              <a:rPr dirty="0" baseline="-13888" sz="2100" spc="-1492">
                <a:latin typeface="Microsoft YaHei"/>
                <a:cs typeface="Microsoft YaHei"/>
              </a:rPr>
              <a:t>检</a:t>
            </a:r>
            <a:r>
              <a:rPr dirty="0" sz="1400" spc="-434">
                <a:latin typeface="Microsoft YaHei"/>
                <a:cs typeface="Microsoft YaHei"/>
              </a:rPr>
              <a:t>拔</a:t>
            </a:r>
            <a:r>
              <a:rPr dirty="0" baseline="-13888" sz="2100" spc="-1492">
                <a:latin typeface="Microsoft YaHei"/>
                <a:cs typeface="Microsoft YaHei"/>
              </a:rPr>
              <a:t>查</a:t>
            </a:r>
            <a:r>
              <a:rPr dirty="0" sz="1400" spc="-434">
                <a:latin typeface="Microsoft YaHei"/>
                <a:cs typeface="Microsoft YaHei"/>
              </a:rPr>
              <a:t>出</a:t>
            </a:r>
            <a:r>
              <a:rPr dirty="0" baseline="-13888" sz="2100" spc="-765">
                <a:latin typeface="Microsoft YaHei"/>
                <a:cs typeface="Microsoft YaHei"/>
              </a:rPr>
              <a:t>H</a:t>
            </a:r>
            <a:r>
              <a:rPr dirty="0" sz="1400" spc="-509">
                <a:latin typeface="Microsoft YaHei"/>
                <a:cs typeface="Microsoft YaHei"/>
              </a:rPr>
              <a:t>H</a:t>
            </a:r>
            <a:r>
              <a:rPr dirty="0" baseline="-13888" sz="2100" spc="-765">
                <a:latin typeface="Microsoft YaHei"/>
                <a:cs typeface="Microsoft YaHei"/>
              </a:rPr>
              <a:t>S</a:t>
            </a:r>
            <a:r>
              <a:rPr dirty="0" sz="1400" spc="-509">
                <a:latin typeface="Microsoft YaHei"/>
                <a:cs typeface="Microsoft YaHei"/>
              </a:rPr>
              <a:t>B</a:t>
            </a:r>
            <a:r>
              <a:rPr dirty="0" baseline="-13888" sz="2100" spc="-765">
                <a:latin typeface="Microsoft YaHei"/>
                <a:cs typeface="Microsoft YaHei"/>
              </a:rPr>
              <a:t>C</a:t>
            </a:r>
            <a:r>
              <a:rPr dirty="0" sz="1400" spc="-509">
                <a:latin typeface="Microsoft YaHei"/>
                <a:cs typeface="Microsoft YaHei"/>
              </a:rPr>
              <a:t>P</a:t>
            </a:r>
            <a:r>
              <a:rPr dirty="0" baseline="-13888" sz="2100" spc="-765">
                <a:latin typeface="Microsoft YaHei"/>
                <a:cs typeface="Microsoft YaHei"/>
              </a:rPr>
              <a:t>T</a:t>
            </a:r>
            <a:r>
              <a:rPr dirty="0" sz="1400" spc="-509">
                <a:latin typeface="Microsoft YaHei"/>
                <a:cs typeface="Microsoft YaHei"/>
              </a:rPr>
              <a:t>O</a:t>
            </a:r>
            <a:r>
              <a:rPr dirty="0" baseline="-13888" sz="2100" spc="-765">
                <a:latin typeface="Microsoft YaHei"/>
                <a:cs typeface="Microsoft YaHei"/>
              </a:rPr>
              <a:t>D</a:t>
            </a:r>
            <a:r>
              <a:rPr dirty="0" sz="1400" spc="-509">
                <a:latin typeface="Microsoft YaHei"/>
                <a:cs typeface="Microsoft YaHei"/>
              </a:rPr>
              <a:t>D</a:t>
            </a:r>
            <a:r>
              <a:rPr dirty="0" baseline="-13888" sz="2100" spc="-997">
                <a:latin typeface="Microsoft YaHei"/>
                <a:cs typeface="Microsoft YaHei"/>
              </a:rPr>
              <a:t>板</a:t>
            </a:r>
            <a:r>
              <a:rPr dirty="0" sz="1400" spc="-765">
                <a:latin typeface="Microsoft YaHei"/>
                <a:cs typeface="Microsoft YaHei"/>
              </a:rPr>
              <a:t>侧</a:t>
            </a:r>
            <a:r>
              <a:rPr dirty="0" baseline="-13888" sz="2100" spc="-997">
                <a:latin typeface="Microsoft YaHei"/>
                <a:cs typeface="Microsoft YaHei"/>
              </a:rPr>
              <a:t>卡</a:t>
            </a:r>
            <a:r>
              <a:rPr dirty="0" sz="1400" spc="-765">
                <a:latin typeface="Microsoft YaHei"/>
                <a:cs typeface="Microsoft YaHei"/>
              </a:rPr>
              <a:t>光</a:t>
            </a:r>
            <a:r>
              <a:rPr dirty="0" baseline="-13888" sz="2100" spc="-997">
                <a:latin typeface="Microsoft YaHei"/>
                <a:cs typeface="Microsoft YaHei"/>
              </a:rPr>
              <a:t>对</a:t>
            </a:r>
            <a:r>
              <a:rPr dirty="0" sz="1400" spc="-765">
                <a:latin typeface="Microsoft YaHei"/>
                <a:cs typeface="Microsoft YaHei"/>
              </a:rPr>
              <a:t>纤</a:t>
            </a:r>
            <a:r>
              <a:rPr dirty="0" baseline="-13888" sz="2100" spc="-997">
                <a:latin typeface="Microsoft YaHei"/>
                <a:cs typeface="Microsoft YaHei"/>
              </a:rPr>
              <a:t>应</a:t>
            </a:r>
            <a:r>
              <a:rPr dirty="0" sz="1400" spc="-760">
                <a:latin typeface="Microsoft YaHei"/>
                <a:cs typeface="Microsoft YaHei"/>
              </a:rPr>
              <a:t>，</a:t>
            </a:r>
            <a:r>
              <a:rPr dirty="0" baseline="-13888" sz="2100" spc="-1012">
                <a:latin typeface="Microsoft YaHei"/>
                <a:cs typeface="Microsoft YaHei"/>
              </a:rPr>
              <a:t>光</a:t>
            </a:r>
            <a:r>
              <a:rPr dirty="0" sz="1400" spc="-760">
                <a:latin typeface="Microsoft YaHei"/>
                <a:cs typeface="Microsoft YaHei"/>
              </a:rPr>
              <a:t>看</a:t>
            </a:r>
            <a:r>
              <a:rPr dirty="0" baseline="-13888" sz="2100" spc="-1012">
                <a:latin typeface="Microsoft YaHei"/>
                <a:cs typeface="Microsoft YaHei"/>
              </a:rPr>
              <a:t>口</a:t>
            </a:r>
            <a:r>
              <a:rPr dirty="0" sz="1400" spc="-760">
                <a:latin typeface="Microsoft YaHei"/>
                <a:cs typeface="Microsoft YaHei"/>
              </a:rPr>
              <a:t>是</a:t>
            </a:r>
            <a:r>
              <a:rPr dirty="0" baseline="-13888" sz="2100" spc="-1012">
                <a:latin typeface="Microsoft YaHei"/>
                <a:cs typeface="Microsoft YaHei"/>
              </a:rPr>
              <a:t>的</a:t>
            </a:r>
            <a:r>
              <a:rPr dirty="0" sz="1400" spc="-755">
                <a:latin typeface="Microsoft YaHei"/>
                <a:cs typeface="Microsoft YaHei"/>
              </a:rPr>
              <a:t>否</a:t>
            </a:r>
            <a:r>
              <a:rPr dirty="0" baseline="-13888" sz="2100" spc="-1012">
                <a:latin typeface="Microsoft YaHei"/>
                <a:cs typeface="Microsoft YaHei"/>
              </a:rPr>
              <a:t>收</a:t>
            </a:r>
            <a:r>
              <a:rPr dirty="0" sz="1400" spc="-760">
                <a:latin typeface="Microsoft YaHei"/>
                <a:cs typeface="Microsoft YaHei"/>
              </a:rPr>
              <a:t>有</a:t>
            </a:r>
            <a:r>
              <a:rPr dirty="0" baseline="-13888" sz="2100" spc="-1012">
                <a:latin typeface="Microsoft YaHei"/>
                <a:cs typeface="Microsoft YaHei"/>
              </a:rPr>
              <a:t>发</a:t>
            </a:r>
            <a:r>
              <a:rPr dirty="0" sz="1400" spc="-340">
                <a:latin typeface="Microsoft YaHei"/>
                <a:cs typeface="Microsoft YaHei"/>
              </a:rPr>
              <a:t>A</a:t>
            </a:r>
            <a:r>
              <a:rPr dirty="0" baseline="-13888" sz="2100" spc="-1620">
                <a:latin typeface="Microsoft YaHei"/>
                <a:cs typeface="Microsoft YaHei"/>
              </a:rPr>
              <a:t>光</a:t>
            </a:r>
            <a:r>
              <a:rPr dirty="0" sz="1400" spc="-25">
                <a:latin typeface="Microsoft YaHei"/>
                <a:cs typeface="Microsoft YaHei"/>
              </a:rPr>
              <a:t>A</a:t>
            </a:r>
            <a:r>
              <a:rPr dirty="0" sz="1400" spc="-965">
                <a:latin typeface="Microsoft YaHei"/>
                <a:cs typeface="Microsoft YaHei"/>
              </a:rPr>
              <a:t>U</a:t>
            </a:r>
            <a:r>
              <a:rPr dirty="0" baseline="-13888" sz="2100" spc="-705">
                <a:latin typeface="Microsoft YaHei"/>
                <a:cs typeface="Microsoft YaHei"/>
              </a:rPr>
              <a:t>功</a:t>
            </a:r>
            <a:r>
              <a:rPr dirty="0" sz="1400" spc="-965">
                <a:latin typeface="Microsoft YaHei"/>
                <a:cs typeface="Microsoft YaHei"/>
              </a:rPr>
              <a:t>发</a:t>
            </a:r>
            <a:r>
              <a:rPr dirty="0" baseline="-13888" sz="2100" spc="-705">
                <a:latin typeface="Microsoft YaHei"/>
                <a:cs typeface="Microsoft YaHei"/>
              </a:rPr>
              <a:t>率</a:t>
            </a:r>
            <a:r>
              <a:rPr dirty="0" sz="1400" spc="-965">
                <a:latin typeface="Microsoft YaHei"/>
                <a:cs typeface="Microsoft YaHei"/>
              </a:rPr>
              <a:t>出</a:t>
            </a:r>
            <a:r>
              <a:rPr dirty="0" baseline="-13888" sz="2100" spc="-690">
                <a:latin typeface="Microsoft YaHei"/>
                <a:cs typeface="Microsoft YaHei"/>
              </a:rPr>
              <a:t>是</a:t>
            </a:r>
            <a:r>
              <a:rPr dirty="0" sz="1400" spc="-965">
                <a:latin typeface="Microsoft YaHei"/>
                <a:cs typeface="Microsoft YaHei"/>
              </a:rPr>
              <a:t>的</a:t>
            </a:r>
            <a:r>
              <a:rPr dirty="0" baseline="-13888" sz="2100" spc="-705">
                <a:latin typeface="Microsoft YaHei"/>
                <a:cs typeface="Microsoft YaHei"/>
              </a:rPr>
              <a:t>否</a:t>
            </a:r>
            <a:r>
              <a:rPr dirty="0" sz="1400" spc="-965">
                <a:latin typeface="Microsoft YaHei"/>
                <a:cs typeface="Microsoft YaHei"/>
              </a:rPr>
              <a:t>红</a:t>
            </a:r>
            <a:r>
              <a:rPr dirty="0" baseline="-13888" sz="2100" spc="-705">
                <a:latin typeface="Microsoft YaHei"/>
                <a:cs typeface="Microsoft YaHei"/>
              </a:rPr>
              <a:t>达</a:t>
            </a:r>
            <a:r>
              <a:rPr dirty="0" sz="1400" spc="-965">
                <a:latin typeface="Microsoft YaHei"/>
                <a:cs typeface="Microsoft YaHei"/>
              </a:rPr>
              <a:t>光</a:t>
            </a:r>
            <a:r>
              <a:rPr dirty="0" baseline="-13888" sz="2100" spc="-690">
                <a:latin typeface="Microsoft YaHei"/>
                <a:cs typeface="Microsoft YaHei"/>
              </a:rPr>
              <a:t>标</a:t>
            </a:r>
            <a:r>
              <a:rPr dirty="0" sz="1400" spc="-965">
                <a:latin typeface="Microsoft YaHei"/>
                <a:cs typeface="Microsoft YaHei"/>
              </a:rPr>
              <a:t>。</a:t>
            </a:r>
            <a:r>
              <a:rPr dirty="0" baseline="-13888" sz="2100" spc="-75">
                <a:latin typeface="Microsoft YaHei"/>
                <a:cs typeface="Microsoft YaHei"/>
              </a:rPr>
              <a:t>。</a:t>
            </a:r>
            <a:endParaRPr baseline="-13888" sz="2100">
              <a:latin typeface="Microsoft YaHei"/>
              <a:cs typeface="Microsoft YaHei"/>
            </a:endParaRPr>
          </a:p>
        </p:txBody>
      </p:sp>
      <p:sp>
        <p:nvSpPr>
          <p:cNvPr id="18" name="object 18" descr=""/>
          <p:cNvSpPr txBox="1"/>
          <p:nvPr/>
        </p:nvSpPr>
        <p:spPr>
          <a:xfrm>
            <a:off x="304858" y="3246034"/>
            <a:ext cx="4398010" cy="238760"/>
          </a:xfrm>
          <a:prstGeom prst="rect">
            <a:avLst/>
          </a:prstGeom>
        </p:spPr>
        <p:txBody>
          <a:bodyPr wrap="square" lIns="0" tIns="12065" rIns="0" bIns="0" rtlCol="0" vert="horz">
            <a:spAutoFit/>
          </a:bodyPr>
          <a:lstStyle/>
          <a:p>
            <a:pPr marL="38100">
              <a:lnSpc>
                <a:spcPct val="100000"/>
              </a:lnSpc>
              <a:spcBef>
                <a:spcPts val="95"/>
              </a:spcBef>
            </a:pPr>
            <a:r>
              <a:rPr dirty="0" sz="1400" spc="-420">
                <a:latin typeface="Microsoft YaHei"/>
                <a:cs typeface="Microsoft YaHei"/>
              </a:rPr>
              <a:t>5</a:t>
            </a:r>
            <a:r>
              <a:rPr dirty="0" baseline="13888" sz="2100" spc="-630">
                <a:latin typeface="Microsoft YaHei"/>
                <a:cs typeface="Microsoft YaHei"/>
              </a:rPr>
              <a:t>5</a:t>
            </a:r>
            <a:r>
              <a:rPr dirty="0" sz="1400" spc="-994">
                <a:latin typeface="Microsoft YaHei"/>
                <a:cs typeface="Microsoft YaHei"/>
              </a:rPr>
              <a:t>、</a:t>
            </a:r>
            <a:r>
              <a:rPr dirty="0" baseline="13888" sz="2100" spc="-660">
                <a:latin typeface="Microsoft YaHei"/>
                <a:cs typeface="Microsoft YaHei"/>
              </a:rPr>
              <a:t>、</a:t>
            </a:r>
            <a:r>
              <a:rPr dirty="0" sz="1400" spc="-400">
                <a:latin typeface="Microsoft YaHei"/>
                <a:cs typeface="Microsoft YaHei"/>
              </a:rPr>
              <a:t>S</a:t>
            </a:r>
            <a:r>
              <a:rPr dirty="0" baseline="13888" sz="2100" spc="-1545">
                <a:latin typeface="Microsoft YaHei"/>
                <a:cs typeface="Microsoft YaHei"/>
              </a:rPr>
              <a:t>复</a:t>
            </a:r>
            <a:r>
              <a:rPr dirty="0" sz="1400" spc="-5">
                <a:latin typeface="Microsoft YaHei"/>
                <a:cs typeface="Microsoft YaHei"/>
              </a:rPr>
              <a:t>C</a:t>
            </a:r>
            <a:r>
              <a:rPr dirty="0" sz="1400" spc="-730">
                <a:latin typeface="Microsoft YaHei"/>
                <a:cs typeface="Microsoft YaHei"/>
              </a:rPr>
              <a:t>T</a:t>
            </a:r>
            <a:r>
              <a:rPr dirty="0" baseline="13888" sz="2100" spc="-1035">
                <a:latin typeface="Microsoft YaHei"/>
                <a:cs typeface="Microsoft YaHei"/>
              </a:rPr>
              <a:t>位</a:t>
            </a:r>
            <a:r>
              <a:rPr dirty="0" sz="1400" spc="-195">
                <a:latin typeface="Microsoft YaHei"/>
                <a:cs typeface="Microsoft YaHei"/>
              </a:rPr>
              <a:t>P</a:t>
            </a:r>
            <a:r>
              <a:rPr dirty="0" baseline="13888" sz="2100" spc="-1372">
                <a:latin typeface="Microsoft YaHei"/>
                <a:cs typeface="Microsoft YaHei"/>
              </a:rPr>
              <a:t>H</a:t>
            </a:r>
            <a:r>
              <a:rPr dirty="0" sz="1400" spc="-520">
                <a:latin typeface="Microsoft YaHei"/>
                <a:cs typeface="Microsoft YaHei"/>
              </a:rPr>
              <a:t>链</a:t>
            </a:r>
            <a:r>
              <a:rPr dirty="0" baseline="13888" sz="2100" spc="-562">
                <a:latin typeface="Microsoft YaHei"/>
                <a:cs typeface="Microsoft YaHei"/>
              </a:rPr>
              <a:t>B</a:t>
            </a:r>
            <a:r>
              <a:rPr dirty="0" sz="1400" spc="-1040">
                <a:latin typeface="Microsoft YaHei"/>
                <a:cs typeface="Microsoft YaHei"/>
              </a:rPr>
              <a:t>路</a:t>
            </a:r>
            <a:r>
              <a:rPr dirty="0" baseline="13888" sz="2100" spc="-7">
                <a:latin typeface="Microsoft YaHei"/>
                <a:cs typeface="Microsoft YaHei"/>
              </a:rPr>
              <a:t>P</a:t>
            </a:r>
            <a:r>
              <a:rPr dirty="0" baseline="13888" sz="2100" spc="-1470">
                <a:latin typeface="Microsoft YaHei"/>
                <a:cs typeface="Microsoft YaHei"/>
              </a:rPr>
              <a:t>O</a:t>
            </a:r>
            <a:r>
              <a:rPr dirty="0" sz="1400" spc="-440">
                <a:latin typeface="Microsoft YaHei"/>
                <a:cs typeface="Microsoft YaHei"/>
              </a:rPr>
              <a:t>状</a:t>
            </a:r>
            <a:r>
              <a:rPr dirty="0" baseline="13888" sz="2100" spc="-960">
                <a:latin typeface="Microsoft YaHei"/>
                <a:cs typeface="Microsoft YaHei"/>
              </a:rPr>
              <a:t>D</a:t>
            </a:r>
            <a:r>
              <a:rPr dirty="0" sz="1400" spc="-780">
                <a:latin typeface="Microsoft YaHei"/>
                <a:cs typeface="Microsoft YaHei"/>
              </a:rPr>
              <a:t>态</a:t>
            </a:r>
            <a:r>
              <a:rPr dirty="0" baseline="13888" sz="2100" spc="-982">
                <a:latin typeface="Microsoft YaHei"/>
                <a:cs typeface="Microsoft YaHei"/>
              </a:rPr>
              <a:t>板</a:t>
            </a:r>
            <a:r>
              <a:rPr dirty="0" sz="1400" spc="-780">
                <a:latin typeface="Microsoft YaHei"/>
                <a:cs typeface="Microsoft YaHei"/>
              </a:rPr>
              <a:t>显</a:t>
            </a:r>
            <a:r>
              <a:rPr dirty="0" baseline="13888" sz="2100" spc="-982">
                <a:latin typeface="Microsoft YaHei"/>
                <a:cs typeface="Microsoft YaHei"/>
              </a:rPr>
              <a:t>卡</a:t>
            </a:r>
            <a:r>
              <a:rPr dirty="0" sz="1400" spc="-25">
                <a:latin typeface="Microsoft YaHei"/>
                <a:cs typeface="Microsoft YaHei"/>
              </a:rPr>
              <a:t>示“未建” ，说明物理光路不通。</a:t>
            </a:r>
            <a:endParaRPr sz="1400">
              <a:latin typeface="Microsoft YaHei"/>
              <a:cs typeface="Microsoft YaHei"/>
            </a:endParaRPr>
          </a:p>
        </p:txBody>
      </p:sp>
      <p:sp>
        <p:nvSpPr>
          <p:cNvPr id="19" name="object 19" descr=""/>
          <p:cNvSpPr txBox="1"/>
          <p:nvPr/>
        </p:nvSpPr>
        <p:spPr>
          <a:xfrm>
            <a:off x="304858" y="3566149"/>
            <a:ext cx="8356600" cy="238760"/>
          </a:xfrm>
          <a:prstGeom prst="rect">
            <a:avLst/>
          </a:prstGeom>
        </p:spPr>
        <p:txBody>
          <a:bodyPr wrap="square" lIns="0" tIns="12065" rIns="0" bIns="0" rtlCol="0" vert="horz">
            <a:spAutoFit/>
          </a:bodyPr>
          <a:lstStyle/>
          <a:p>
            <a:pPr marL="38100">
              <a:lnSpc>
                <a:spcPct val="100000"/>
              </a:lnSpc>
              <a:spcBef>
                <a:spcPts val="95"/>
              </a:spcBef>
            </a:pPr>
            <a:r>
              <a:rPr dirty="0" sz="1400" spc="-420">
                <a:latin typeface="Microsoft YaHei"/>
                <a:cs typeface="Microsoft YaHei"/>
              </a:rPr>
              <a:t>6</a:t>
            </a:r>
            <a:r>
              <a:rPr dirty="0" baseline="13888" sz="2100" spc="-630">
                <a:latin typeface="Microsoft YaHei"/>
                <a:cs typeface="Microsoft YaHei"/>
              </a:rPr>
              <a:t>6</a:t>
            </a:r>
            <a:r>
              <a:rPr dirty="0" sz="1400" spc="-994">
                <a:latin typeface="Microsoft YaHei"/>
                <a:cs typeface="Microsoft YaHei"/>
              </a:rPr>
              <a:t>、</a:t>
            </a:r>
            <a:r>
              <a:rPr dirty="0" baseline="13888" sz="2100" spc="-660">
                <a:latin typeface="Microsoft YaHei"/>
                <a:cs typeface="Microsoft YaHei"/>
              </a:rPr>
              <a:t>、</a:t>
            </a:r>
            <a:r>
              <a:rPr dirty="0" sz="1400" spc="-400">
                <a:latin typeface="Microsoft YaHei"/>
                <a:cs typeface="Microsoft YaHei"/>
              </a:rPr>
              <a:t>S</a:t>
            </a:r>
            <a:r>
              <a:rPr dirty="0" baseline="13888" sz="2100" spc="-1545">
                <a:latin typeface="Microsoft YaHei"/>
                <a:cs typeface="Microsoft YaHei"/>
              </a:rPr>
              <a:t>复</a:t>
            </a:r>
            <a:r>
              <a:rPr dirty="0" sz="1400" spc="-5">
                <a:latin typeface="Microsoft YaHei"/>
                <a:cs typeface="Microsoft YaHei"/>
              </a:rPr>
              <a:t>C</a:t>
            </a:r>
            <a:r>
              <a:rPr dirty="0" sz="1400" spc="-730">
                <a:latin typeface="Microsoft YaHei"/>
                <a:cs typeface="Microsoft YaHei"/>
              </a:rPr>
              <a:t>T</a:t>
            </a:r>
            <a:r>
              <a:rPr dirty="0" baseline="13888" sz="2100" spc="-1035">
                <a:latin typeface="Microsoft YaHei"/>
                <a:cs typeface="Microsoft YaHei"/>
              </a:rPr>
              <a:t>位</a:t>
            </a:r>
            <a:r>
              <a:rPr dirty="0" sz="1400" spc="-195">
                <a:latin typeface="Microsoft YaHei"/>
                <a:cs typeface="Microsoft YaHei"/>
              </a:rPr>
              <a:t>P</a:t>
            </a:r>
            <a:r>
              <a:rPr dirty="0" baseline="13888" sz="2100" spc="-1087">
                <a:latin typeface="Microsoft YaHei"/>
                <a:cs typeface="Microsoft YaHei"/>
              </a:rPr>
              <a:t>g</a:t>
            </a:r>
            <a:r>
              <a:rPr dirty="0" sz="1400" spc="-705">
                <a:latin typeface="Microsoft YaHei"/>
                <a:cs typeface="Microsoft YaHei"/>
              </a:rPr>
              <a:t>链</a:t>
            </a:r>
            <a:r>
              <a:rPr dirty="0" baseline="13888" sz="2100" spc="-697">
                <a:latin typeface="Microsoft YaHei"/>
                <a:cs typeface="Microsoft YaHei"/>
              </a:rPr>
              <a:t>N</a:t>
            </a:r>
            <a:r>
              <a:rPr dirty="0" sz="1400" spc="-969">
                <a:latin typeface="Microsoft YaHei"/>
                <a:cs typeface="Microsoft YaHei"/>
              </a:rPr>
              <a:t>路</a:t>
            </a:r>
            <a:r>
              <a:rPr dirty="0" baseline="13888" sz="2100" spc="-15">
                <a:latin typeface="Microsoft YaHei"/>
                <a:cs typeface="Microsoft YaHei"/>
              </a:rPr>
              <a:t>B</a:t>
            </a:r>
            <a:r>
              <a:rPr dirty="0" baseline="13888" sz="2100" spc="-2010">
                <a:latin typeface="Microsoft YaHei"/>
                <a:cs typeface="Microsoft YaHei"/>
              </a:rPr>
              <a:t>。</a:t>
            </a:r>
            <a:r>
              <a:rPr dirty="0" sz="1400" spc="-20">
                <a:latin typeface="Microsoft YaHei"/>
                <a:cs typeface="Microsoft YaHei"/>
              </a:rPr>
              <a:t>状态显示“驱动和高层配置成功” 或ARP</a:t>
            </a:r>
            <a:r>
              <a:rPr dirty="0" sz="1400" spc="-25">
                <a:latin typeface="Microsoft YaHei"/>
                <a:cs typeface="Microsoft YaHei"/>
              </a:rPr>
              <a:t>状态为 “学习中、无效、老化”说明数据链路层不</a:t>
            </a:r>
            <a:endParaRPr sz="1400">
              <a:latin typeface="Microsoft YaHei"/>
              <a:cs typeface="Microsoft YaHei"/>
            </a:endParaRPr>
          </a:p>
        </p:txBody>
      </p:sp>
      <p:sp>
        <p:nvSpPr>
          <p:cNvPr id="20" name="object 20" descr=""/>
          <p:cNvSpPr txBox="1"/>
          <p:nvPr/>
        </p:nvSpPr>
        <p:spPr>
          <a:xfrm>
            <a:off x="330080" y="3886265"/>
            <a:ext cx="1754505" cy="238760"/>
          </a:xfrm>
          <a:prstGeom prst="rect">
            <a:avLst/>
          </a:prstGeom>
        </p:spPr>
        <p:txBody>
          <a:bodyPr wrap="square" lIns="0" tIns="12065" rIns="0" bIns="0" rtlCol="0" vert="horz">
            <a:spAutoFit/>
          </a:bodyPr>
          <a:lstStyle/>
          <a:p>
            <a:pPr marL="12700">
              <a:lnSpc>
                <a:spcPct val="100000"/>
              </a:lnSpc>
              <a:spcBef>
                <a:spcPts val="95"/>
              </a:spcBef>
            </a:pPr>
            <a:r>
              <a:rPr dirty="0" sz="1400" spc="-20">
                <a:latin typeface="Microsoft YaHei"/>
                <a:cs typeface="Microsoft YaHei"/>
              </a:rPr>
              <a:t>通，注意检查</a:t>
            </a:r>
            <a:r>
              <a:rPr dirty="0" sz="1400">
                <a:latin typeface="Microsoft YaHei"/>
                <a:cs typeface="Microsoft YaHei"/>
              </a:rPr>
              <a:t>VLAN</a:t>
            </a:r>
            <a:r>
              <a:rPr dirty="0" sz="1400" spc="-50">
                <a:latin typeface="Microsoft YaHei"/>
                <a:cs typeface="Microsoft YaHei"/>
              </a:rPr>
              <a:t>。</a:t>
            </a:r>
            <a:endParaRPr sz="1400">
              <a:latin typeface="Microsoft YaHei"/>
              <a:cs typeface="Microsoft YaHei"/>
            </a:endParaRPr>
          </a:p>
        </p:txBody>
      </p:sp>
      <p:sp>
        <p:nvSpPr>
          <p:cNvPr id="21" name="object 21" descr=""/>
          <p:cNvSpPr txBox="1"/>
          <p:nvPr/>
        </p:nvSpPr>
        <p:spPr>
          <a:xfrm>
            <a:off x="329903" y="4099320"/>
            <a:ext cx="8367395" cy="666115"/>
          </a:xfrm>
          <a:prstGeom prst="rect">
            <a:avLst/>
          </a:prstGeom>
        </p:spPr>
        <p:txBody>
          <a:bodyPr wrap="square" lIns="0" tIns="12700" rIns="0" bIns="0" rtlCol="0" vert="horz">
            <a:spAutoFit/>
          </a:bodyPr>
          <a:lstStyle/>
          <a:p>
            <a:pPr marL="12700" marR="5080">
              <a:lnSpc>
                <a:spcPct val="150000"/>
              </a:lnSpc>
              <a:spcBef>
                <a:spcPts val="100"/>
              </a:spcBef>
            </a:pPr>
            <a:r>
              <a:rPr dirty="0" sz="1400" spc="-10">
                <a:latin typeface="Microsoft YaHei"/>
                <a:cs typeface="Microsoft YaHei"/>
              </a:rPr>
              <a:t>7</a:t>
            </a:r>
            <a:r>
              <a:rPr dirty="0" sz="1400" spc="-20">
                <a:latin typeface="Microsoft YaHei"/>
                <a:cs typeface="Microsoft YaHei"/>
              </a:rPr>
              <a:t>、</a:t>
            </a:r>
            <a:r>
              <a:rPr dirty="0" sz="1400" spc="-10">
                <a:latin typeface="Microsoft YaHei"/>
                <a:cs typeface="Microsoft YaHei"/>
              </a:rPr>
              <a:t>SCTP</a:t>
            </a:r>
            <a:r>
              <a:rPr dirty="0" sz="1400" spc="-20">
                <a:latin typeface="Microsoft YaHei"/>
                <a:cs typeface="Microsoft YaHei"/>
              </a:rPr>
              <a:t>链路状态显示“驱动和高层建立成功”，说明</a:t>
            </a:r>
            <a:r>
              <a:rPr dirty="0" sz="1400" spc="-10">
                <a:latin typeface="Microsoft YaHei"/>
                <a:cs typeface="Microsoft YaHei"/>
              </a:rPr>
              <a:t>IP</a:t>
            </a:r>
            <a:r>
              <a:rPr dirty="0" sz="1400" spc="-25">
                <a:latin typeface="Microsoft YaHei"/>
                <a:cs typeface="Microsoft YaHei"/>
              </a:rPr>
              <a:t>路由层已通，注意检查基站和核心网的高层对接参</a:t>
            </a:r>
            <a:r>
              <a:rPr dirty="0" sz="1400" spc="-20">
                <a:latin typeface="Microsoft YaHei"/>
                <a:cs typeface="Microsoft YaHei"/>
              </a:rPr>
              <a:t>数，如</a:t>
            </a:r>
            <a:r>
              <a:rPr dirty="0" sz="1400">
                <a:latin typeface="Microsoft YaHei"/>
                <a:cs typeface="Microsoft YaHei"/>
              </a:rPr>
              <a:t>gNB</a:t>
            </a:r>
            <a:r>
              <a:rPr dirty="0" sz="1400" spc="150">
                <a:latin typeface="Microsoft YaHei"/>
                <a:cs typeface="Microsoft YaHei"/>
              </a:rPr>
              <a:t> </a:t>
            </a:r>
            <a:r>
              <a:rPr dirty="0" sz="1400" spc="-30">
                <a:latin typeface="Microsoft YaHei"/>
                <a:cs typeface="Microsoft YaHei"/>
              </a:rPr>
              <a:t>ID/MCC/MNC/TAC等参数。</a:t>
            </a:r>
            <a:endParaRPr sz="1400">
              <a:latin typeface="Microsoft YaHei"/>
              <a:cs typeface="Microsoft YaHei"/>
            </a:endParaRPr>
          </a:p>
        </p:txBody>
      </p:sp>
      <p:grpSp>
        <p:nvGrpSpPr>
          <p:cNvPr id="22" name="object 22" descr=""/>
          <p:cNvGrpSpPr/>
          <p:nvPr/>
        </p:nvGrpSpPr>
        <p:grpSpPr>
          <a:xfrm>
            <a:off x="397568" y="1349648"/>
            <a:ext cx="8653780" cy="2984500"/>
            <a:chOff x="397568" y="1349648"/>
            <a:chExt cx="8653780" cy="2984500"/>
          </a:xfrm>
        </p:grpSpPr>
        <p:sp>
          <p:nvSpPr>
            <p:cNvPr id="23" name="object 23" descr=""/>
            <p:cNvSpPr/>
            <p:nvPr/>
          </p:nvSpPr>
          <p:spPr>
            <a:xfrm>
              <a:off x="403918" y="1349648"/>
              <a:ext cx="0" cy="2984500"/>
            </a:xfrm>
            <a:custGeom>
              <a:avLst/>
              <a:gdLst/>
              <a:ahLst/>
              <a:cxnLst/>
              <a:rect l="l" t="t" r="r" b="b"/>
              <a:pathLst>
                <a:path w="0" h="2984500">
                  <a:moveTo>
                    <a:pt x="0" y="0"/>
                  </a:moveTo>
                  <a:lnTo>
                    <a:pt x="0" y="2984500"/>
                  </a:lnTo>
                </a:path>
              </a:pathLst>
            </a:custGeom>
            <a:ln w="12700">
              <a:solidFill>
                <a:srgbClr val="000000"/>
              </a:solidFill>
            </a:ln>
          </p:spPr>
          <p:txBody>
            <a:bodyPr wrap="square" lIns="0" tIns="0" rIns="0" bIns="0" rtlCol="0"/>
            <a:lstStyle/>
            <a:p/>
          </p:txBody>
        </p:sp>
        <p:sp>
          <p:nvSpPr>
            <p:cNvPr id="24" name="object 24" descr=""/>
            <p:cNvSpPr/>
            <p:nvPr/>
          </p:nvSpPr>
          <p:spPr>
            <a:xfrm>
              <a:off x="9044880" y="1349648"/>
              <a:ext cx="0" cy="2984500"/>
            </a:xfrm>
            <a:custGeom>
              <a:avLst/>
              <a:gdLst/>
              <a:ahLst/>
              <a:cxnLst/>
              <a:rect l="l" t="t" r="r" b="b"/>
              <a:pathLst>
                <a:path w="0" h="2984500">
                  <a:moveTo>
                    <a:pt x="0" y="0"/>
                  </a:moveTo>
                  <a:lnTo>
                    <a:pt x="0" y="2984500"/>
                  </a:lnTo>
                </a:path>
              </a:pathLst>
            </a:custGeom>
            <a:ln w="12700">
              <a:solidFill>
                <a:srgbClr val="000000"/>
              </a:solidFill>
            </a:ln>
          </p:spPr>
          <p:txBody>
            <a:bodyPr wrap="square" lIns="0" tIns="0" rIns="0" bIns="0" rtlCol="0"/>
            <a:lstStyle/>
            <a:p/>
          </p:txBody>
        </p:sp>
        <p:sp>
          <p:nvSpPr>
            <p:cNvPr id="25" name="object 25" descr=""/>
            <p:cNvSpPr/>
            <p:nvPr/>
          </p:nvSpPr>
          <p:spPr>
            <a:xfrm>
              <a:off x="397568" y="1355998"/>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sp>
          <p:nvSpPr>
            <p:cNvPr id="26" name="object 26" descr=""/>
            <p:cNvSpPr/>
            <p:nvPr/>
          </p:nvSpPr>
          <p:spPr>
            <a:xfrm>
              <a:off x="397568" y="4327798"/>
              <a:ext cx="8653780" cy="0"/>
            </a:xfrm>
            <a:custGeom>
              <a:avLst/>
              <a:gdLst/>
              <a:ahLst/>
              <a:cxnLst/>
              <a:rect l="l" t="t" r="r" b="b"/>
              <a:pathLst>
                <a:path w="8653780" h="0">
                  <a:moveTo>
                    <a:pt x="0" y="0"/>
                  </a:moveTo>
                  <a:lnTo>
                    <a:pt x="8653665" y="0"/>
                  </a:lnTo>
                </a:path>
              </a:pathLst>
            </a:custGeom>
            <a:ln w="12700">
              <a:solidFill>
                <a:srgbClr val="000000"/>
              </a:solidFill>
            </a:ln>
          </p:spPr>
          <p:txBody>
            <a:bodyPr wrap="square" lIns="0" tIns="0" rIns="0" bIns="0" rtlCol="0"/>
            <a:lstStyle/>
            <a:p/>
          </p:txBody>
        </p:sp>
      </p:grpSp>
      <p:sp>
        <p:nvSpPr>
          <p:cNvPr id="27" name="object 27" descr=""/>
          <p:cNvSpPr txBox="1"/>
          <p:nvPr/>
        </p:nvSpPr>
        <p:spPr>
          <a:xfrm>
            <a:off x="482658" y="1451502"/>
            <a:ext cx="8440420" cy="238760"/>
          </a:xfrm>
          <a:prstGeom prst="rect">
            <a:avLst/>
          </a:prstGeom>
        </p:spPr>
        <p:txBody>
          <a:bodyPr wrap="square" lIns="0" tIns="12065" rIns="0" bIns="0" rtlCol="0" vert="horz">
            <a:spAutoFit/>
          </a:bodyPr>
          <a:lstStyle/>
          <a:p>
            <a:pPr marL="12700">
              <a:lnSpc>
                <a:spcPct val="100000"/>
              </a:lnSpc>
              <a:spcBef>
                <a:spcPts val="95"/>
              </a:spcBef>
            </a:pPr>
            <a:r>
              <a:rPr dirty="0" sz="1400" spc="-20">
                <a:latin typeface="Microsoft YaHei"/>
                <a:cs typeface="Microsoft YaHei"/>
              </a:rPr>
              <a:t>目前试验网开站使用固有模板开站，小区参数只修改 “小区友好名”和“小区物理</a:t>
            </a:r>
            <a:r>
              <a:rPr dirty="0" sz="1400" spc="-10">
                <a:latin typeface="Microsoft YaHei"/>
                <a:cs typeface="Microsoft YaHei"/>
              </a:rPr>
              <a:t>ID</a:t>
            </a:r>
            <a:r>
              <a:rPr dirty="0" sz="1400" spc="-25">
                <a:latin typeface="Microsoft YaHei"/>
                <a:cs typeface="Microsoft YaHei"/>
              </a:rPr>
              <a:t>”，正常情况下，基站</a:t>
            </a:r>
            <a:endParaRPr sz="1400">
              <a:latin typeface="Microsoft YaHei"/>
              <a:cs typeface="Microsoft YaHei"/>
            </a:endParaRPr>
          </a:p>
        </p:txBody>
      </p:sp>
      <p:sp>
        <p:nvSpPr>
          <p:cNvPr id="28" name="object 28" descr=""/>
          <p:cNvSpPr txBox="1"/>
          <p:nvPr/>
        </p:nvSpPr>
        <p:spPr>
          <a:xfrm>
            <a:off x="482835" y="1771617"/>
            <a:ext cx="8549640" cy="238760"/>
          </a:xfrm>
          <a:prstGeom prst="rect">
            <a:avLst/>
          </a:prstGeom>
        </p:spPr>
        <p:txBody>
          <a:bodyPr wrap="square" lIns="0" tIns="12065" rIns="0" bIns="0" rtlCol="0" vert="horz">
            <a:spAutoFit/>
          </a:bodyPr>
          <a:lstStyle/>
          <a:p>
            <a:pPr marL="12700">
              <a:lnSpc>
                <a:spcPct val="100000"/>
              </a:lnSpc>
              <a:spcBef>
                <a:spcPts val="95"/>
              </a:spcBef>
            </a:pPr>
            <a:r>
              <a:rPr dirty="0" sz="1400" spc="-20">
                <a:latin typeface="Microsoft YaHei"/>
                <a:cs typeface="Microsoft YaHei"/>
              </a:rPr>
              <a:t>是可以被激活。如果小区为现场手动添加，激活小区时可能出现</a:t>
            </a:r>
            <a:r>
              <a:rPr dirty="0" sz="1400" spc="-25">
                <a:latin typeface="Microsoft YaHei"/>
                <a:cs typeface="Microsoft YaHei"/>
              </a:rPr>
              <a:t>RRC参数配置缺失，此时需要补齐以下参数，</a:t>
            </a:r>
            <a:endParaRPr sz="1400">
              <a:latin typeface="Microsoft YaHei"/>
              <a:cs typeface="Microsoft YaHei"/>
            </a:endParaRPr>
          </a:p>
        </p:txBody>
      </p:sp>
      <p:sp>
        <p:nvSpPr>
          <p:cNvPr id="29" name="object 29" descr=""/>
          <p:cNvSpPr txBox="1"/>
          <p:nvPr/>
        </p:nvSpPr>
        <p:spPr>
          <a:xfrm>
            <a:off x="482835" y="2091732"/>
            <a:ext cx="1623695" cy="238760"/>
          </a:xfrm>
          <a:prstGeom prst="rect">
            <a:avLst/>
          </a:prstGeom>
        </p:spPr>
        <p:txBody>
          <a:bodyPr wrap="square" lIns="0" tIns="12065" rIns="0" bIns="0" rtlCol="0" vert="horz">
            <a:spAutoFit/>
          </a:bodyPr>
          <a:lstStyle/>
          <a:p>
            <a:pPr marL="12700">
              <a:lnSpc>
                <a:spcPct val="100000"/>
              </a:lnSpc>
              <a:spcBef>
                <a:spcPts val="95"/>
              </a:spcBef>
            </a:pPr>
            <a:r>
              <a:rPr dirty="0" sz="1400" spc="-25">
                <a:latin typeface="Microsoft YaHei"/>
                <a:cs typeface="Microsoft YaHei"/>
              </a:rPr>
              <a:t>否则无法激活小区。</a:t>
            </a:r>
            <a:endParaRPr sz="1400">
              <a:latin typeface="Microsoft YaHei"/>
              <a:cs typeface="Microsoft YaHei"/>
            </a:endParaRPr>
          </a:p>
        </p:txBody>
      </p:sp>
      <p:sp>
        <p:nvSpPr>
          <p:cNvPr id="30" name="object 30" descr=""/>
          <p:cNvSpPr txBox="1"/>
          <p:nvPr/>
        </p:nvSpPr>
        <p:spPr>
          <a:xfrm>
            <a:off x="482835" y="2411848"/>
            <a:ext cx="6409690" cy="238760"/>
          </a:xfrm>
          <a:prstGeom prst="rect">
            <a:avLst/>
          </a:prstGeom>
        </p:spPr>
        <p:txBody>
          <a:bodyPr wrap="square" lIns="0" tIns="12065" rIns="0" bIns="0" rtlCol="0" vert="horz">
            <a:spAutoFit/>
          </a:bodyPr>
          <a:lstStyle/>
          <a:p>
            <a:pPr marL="12700">
              <a:lnSpc>
                <a:spcPct val="100000"/>
              </a:lnSpc>
              <a:spcBef>
                <a:spcPts val="95"/>
              </a:spcBef>
            </a:pPr>
            <a:r>
              <a:rPr dirty="0" sz="1400" spc="-10">
                <a:latin typeface="Microsoft YaHei"/>
                <a:cs typeface="Microsoft YaHei"/>
              </a:rPr>
              <a:t>1</a:t>
            </a:r>
            <a:r>
              <a:rPr dirty="0" sz="1400" spc="-20">
                <a:latin typeface="Microsoft YaHei"/>
                <a:cs typeface="Microsoft YaHei"/>
              </a:rPr>
              <a:t>、保证“NR小区</a:t>
            </a:r>
            <a:r>
              <a:rPr dirty="0" sz="1400">
                <a:latin typeface="Microsoft YaHei"/>
                <a:cs typeface="Microsoft YaHei"/>
              </a:rPr>
              <a:t>SEARCH</a:t>
            </a:r>
            <a:r>
              <a:rPr dirty="0" sz="1400" spc="120">
                <a:latin typeface="Microsoft YaHei"/>
                <a:cs typeface="Microsoft YaHei"/>
              </a:rPr>
              <a:t> </a:t>
            </a:r>
            <a:r>
              <a:rPr dirty="0" sz="1400" spc="-40">
                <a:latin typeface="Microsoft YaHei"/>
                <a:cs typeface="Microsoft YaHei"/>
              </a:rPr>
              <a:t>SPACE</a:t>
            </a:r>
            <a:r>
              <a:rPr dirty="0" sz="1400" spc="-25">
                <a:latin typeface="Microsoft YaHei"/>
                <a:cs typeface="Microsoft YaHei"/>
              </a:rPr>
              <a:t>”有三个索引为</a:t>
            </a:r>
            <a:r>
              <a:rPr dirty="0" sz="1400" spc="-10">
                <a:latin typeface="Microsoft YaHei"/>
                <a:cs typeface="Microsoft YaHei"/>
              </a:rPr>
              <a:t>0/1/2</a:t>
            </a:r>
            <a:r>
              <a:rPr dirty="0" sz="1400" spc="-25">
                <a:latin typeface="Microsoft YaHei"/>
                <a:cs typeface="Microsoft YaHei"/>
              </a:rPr>
              <a:t>的本地小区，参数默认。</a:t>
            </a:r>
            <a:endParaRPr sz="1400">
              <a:latin typeface="Microsoft YaHei"/>
              <a:cs typeface="Microsoft YaHei"/>
            </a:endParaRPr>
          </a:p>
        </p:txBody>
      </p:sp>
      <p:sp>
        <p:nvSpPr>
          <p:cNvPr id="31" name="object 31" descr=""/>
          <p:cNvSpPr txBox="1"/>
          <p:nvPr/>
        </p:nvSpPr>
        <p:spPr>
          <a:xfrm>
            <a:off x="482835" y="2731963"/>
            <a:ext cx="6123940" cy="238760"/>
          </a:xfrm>
          <a:prstGeom prst="rect">
            <a:avLst/>
          </a:prstGeom>
        </p:spPr>
        <p:txBody>
          <a:bodyPr wrap="square" lIns="0" tIns="12065" rIns="0" bIns="0" rtlCol="0" vert="horz">
            <a:spAutoFit/>
          </a:bodyPr>
          <a:lstStyle/>
          <a:p>
            <a:pPr marL="12700">
              <a:lnSpc>
                <a:spcPct val="100000"/>
              </a:lnSpc>
              <a:spcBef>
                <a:spcPts val="95"/>
              </a:spcBef>
            </a:pPr>
            <a:r>
              <a:rPr dirty="0" sz="1400" spc="-20">
                <a:latin typeface="Microsoft YaHei"/>
                <a:cs typeface="Microsoft YaHei"/>
              </a:rPr>
              <a:t>节点如下：NR业务→NR小区→NR小区信道及过程配置→NR</a:t>
            </a:r>
            <a:r>
              <a:rPr dirty="0" sz="1400" spc="-15">
                <a:latin typeface="Microsoft YaHei"/>
                <a:cs typeface="Microsoft YaHei"/>
              </a:rPr>
              <a:t>小区</a:t>
            </a:r>
            <a:r>
              <a:rPr dirty="0" sz="1400" spc="-25">
                <a:latin typeface="Microsoft YaHei"/>
                <a:cs typeface="Microsoft YaHei"/>
              </a:rPr>
              <a:t>PDCCH</a:t>
            </a:r>
            <a:r>
              <a:rPr dirty="0" sz="1400" spc="-35">
                <a:latin typeface="Microsoft YaHei"/>
                <a:cs typeface="Microsoft YaHei"/>
              </a:rPr>
              <a:t>信道</a:t>
            </a:r>
            <a:endParaRPr sz="1400">
              <a:latin typeface="Microsoft YaHei"/>
              <a:cs typeface="Microsoft YaHei"/>
            </a:endParaRPr>
          </a:p>
        </p:txBody>
      </p:sp>
      <p:sp>
        <p:nvSpPr>
          <p:cNvPr id="32" name="object 32" descr=""/>
          <p:cNvSpPr txBox="1"/>
          <p:nvPr/>
        </p:nvSpPr>
        <p:spPr>
          <a:xfrm>
            <a:off x="483013" y="3052079"/>
            <a:ext cx="8464550" cy="238760"/>
          </a:xfrm>
          <a:prstGeom prst="rect">
            <a:avLst/>
          </a:prstGeom>
        </p:spPr>
        <p:txBody>
          <a:bodyPr wrap="square" lIns="0" tIns="12065" rIns="0" bIns="0" rtlCol="0" vert="horz">
            <a:spAutoFit/>
          </a:bodyPr>
          <a:lstStyle/>
          <a:p>
            <a:pPr marL="12700">
              <a:lnSpc>
                <a:spcPct val="100000"/>
              </a:lnSpc>
              <a:spcBef>
                <a:spcPts val="95"/>
              </a:spcBef>
            </a:pPr>
            <a:r>
              <a:rPr dirty="0" sz="1400" spc="-10">
                <a:latin typeface="Microsoft YaHei"/>
                <a:cs typeface="Microsoft YaHei"/>
              </a:rPr>
              <a:t>2</a:t>
            </a:r>
            <a:r>
              <a:rPr dirty="0" sz="1400" spc="-20">
                <a:latin typeface="Microsoft YaHei"/>
                <a:cs typeface="Microsoft YaHei"/>
              </a:rPr>
              <a:t>、保证“NR初始上行BWP参数”、“NR初始下行</a:t>
            </a:r>
            <a:r>
              <a:rPr dirty="0" sz="1400" spc="-10">
                <a:latin typeface="Microsoft YaHei"/>
                <a:cs typeface="Microsoft YaHei"/>
              </a:rPr>
              <a:t>BWP</a:t>
            </a:r>
            <a:r>
              <a:rPr dirty="0" sz="1400" spc="-20">
                <a:latin typeface="Microsoft YaHei"/>
                <a:cs typeface="Microsoft YaHei"/>
              </a:rPr>
              <a:t>参数”、“NR</a:t>
            </a:r>
            <a:r>
              <a:rPr dirty="0" sz="1400" spc="-15">
                <a:latin typeface="Microsoft YaHei"/>
                <a:cs typeface="Microsoft YaHei"/>
              </a:rPr>
              <a:t>上行</a:t>
            </a:r>
            <a:r>
              <a:rPr dirty="0" sz="1400" spc="-10">
                <a:latin typeface="Microsoft YaHei"/>
                <a:cs typeface="Microsoft YaHei"/>
              </a:rPr>
              <a:t>BWP</a:t>
            </a:r>
            <a:r>
              <a:rPr dirty="0" sz="1400" spc="-20">
                <a:latin typeface="Microsoft YaHei"/>
                <a:cs typeface="Microsoft YaHei"/>
              </a:rPr>
              <a:t>参数”、“NR</a:t>
            </a:r>
            <a:r>
              <a:rPr dirty="0" sz="1400" spc="-15">
                <a:latin typeface="Microsoft YaHei"/>
                <a:cs typeface="Microsoft YaHei"/>
              </a:rPr>
              <a:t>下行</a:t>
            </a:r>
            <a:r>
              <a:rPr dirty="0" sz="1400" spc="-10">
                <a:latin typeface="Microsoft YaHei"/>
                <a:cs typeface="Microsoft YaHei"/>
              </a:rPr>
              <a:t>BWP</a:t>
            </a:r>
            <a:r>
              <a:rPr dirty="0" sz="1400" spc="-50">
                <a:latin typeface="Microsoft YaHei"/>
                <a:cs typeface="Microsoft YaHei"/>
              </a:rPr>
              <a:t>参</a:t>
            </a:r>
            <a:endParaRPr sz="1400">
              <a:latin typeface="Microsoft YaHei"/>
              <a:cs typeface="Microsoft YaHei"/>
            </a:endParaRPr>
          </a:p>
        </p:txBody>
      </p:sp>
      <p:sp>
        <p:nvSpPr>
          <p:cNvPr id="33" name="object 33" descr=""/>
          <p:cNvSpPr txBox="1"/>
          <p:nvPr/>
        </p:nvSpPr>
        <p:spPr>
          <a:xfrm>
            <a:off x="483368" y="3372194"/>
            <a:ext cx="4044315" cy="238760"/>
          </a:xfrm>
          <a:prstGeom prst="rect">
            <a:avLst/>
          </a:prstGeom>
        </p:spPr>
        <p:txBody>
          <a:bodyPr wrap="square" lIns="0" tIns="12065" rIns="0" bIns="0" rtlCol="0" vert="horz">
            <a:spAutoFit/>
          </a:bodyPr>
          <a:lstStyle/>
          <a:p>
            <a:pPr marL="12700">
              <a:lnSpc>
                <a:spcPct val="100000"/>
              </a:lnSpc>
              <a:spcBef>
                <a:spcPts val="95"/>
              </a:spcBef>
            </a:pPr>
            <a:r>
              <a:rPr dirty="0" sz="1400" spc="-20">
                <a:latin typeface="Microsoft YaHei"/>
                <a:cs typeface="Microsoft YaHei"/>
              </a:rPr>
              <a:t>数”，有三个索引为</a:t>
            </a:r>
            <a:r>
              <a:rPr dirty="0" sz="1400" spc="-10">
                <a:latin typeface="Microsoft YaHei"/>
                <a:cs typeface="Microsoft YaHei"/>
              </a:rPr>
              <a:t>0/1/2</a:t>
            </a:r>
            <a:r>
              <a:rPr dirty="0" sz="1400" spc="-25">
                <a:latin typeface="Microsoft YaHei"/>
                <a:cs typeface="Microsoft YaHei"/>
              </a:rPr>
              <a:t>的本地小区，参数默认。</a:t>
            </a:r>
            <a:endParaRPr sz="1400">
              <a:latin typeface="Microsoft YaHei"/>
              <a:cs typeface="Microsoft YaHei"/>
            </a:endParaRPr>
          </a:p>
        </p:txBody>
      </p:sp>
      <p:sp>
        <p:nvSpPr>
          <p:cNvPr id="34" name="object 34" descr=""/>
          <p:cNvSpPr txBox="1"/>
          <p:nvPr/>
        </p:nvSpPr>
        <p:spPr>
          <a:xfrm>
            <a:off x="483368" y="3692310"/>
            <a:ext cx="6123940" cy="238760"/>
          </a:xfrm>
          <a:prstGeom prst="rect">
            <a:avLst/>
          </a:prstGeom>
        </p:spPr>
        <p:txBody>
          <a:bodyPr wrap="square" lIns="0" tIns="12065" rIns="0" bIns="0" rtlCol="0" vert="horz">
            <a:spAutoFit/>
          </a:bodyPr>
          <a:lstStyle/>
          <a:p>
            <a:pPr marL="12700">
              <a:lnSpc>
                <a:spcPct val="100000"/>
              </a:lnSpc>
              <a:spcBef>
                <a:spcPts val="95"/>
              </a:spcBef>
            </a:pPr>
            <a:r>
              <a:rPr dirty="0" sz="1400" spc="-20">
                <a:latin typeface="Microsoft YaHei"/>
                <a:cs typeface="Microsoft YaHei"/>
              </a:rPr>
              <a:t>节点如下：NR业务→NR小区→NR小区信道及过程配置→NR</a:t>
            </a:r>
            <a:r>
              <a:rPr dirty="0" sz="1400" spc="-15">
                <a:latin typeface="Microsoft YaHei"/>
                <a:cs typeface="Microsoft YaHei"/>
              </a:rPr>
              <a:t>小区</a:t>
            </a:r>
            <a:r>
              <a:rPr dirty="0" sz="1400" spc="-25">
                <a:latin typeface="Microsoft YaHei"/>
                <a:cs typeface="Microsoft YaHei"/>
              </a:rPr>
              <a:t>PDCCH</a:t>
            </a:r>
            <a:r>
              <a:rPr dirty="0" sz="1400" spc="-35">
                <a:latin typeface="Microsoft YaHei"/>
                <a:cs typeface="Microsoft YaHei"/>
              </a:rPr>
              <a:t>信道</a:t>
            </a:r>
            <a:endParaRPr sz="1400">
              <a:latin typeface="Microsoft YaHei"/>
              <a:cs typeface="Microsoft YaHei"/>
            </a:endParaRPr>
          </a:p>
        </p:txBody>
      </p:sp>
      <p:sp>
        <p:nvSpPr>
          <p:cNvPr id="35" name="object 35" descr=""/>
          <p:cNvSpPr txBox="1"/>
          <p:nvPr/>
        </p:nvSpPr>
        <p:spPr>
          <a:xfrm>
            <a:off x="483546" y="4012425"/>
            <a:ext cx="6066790" cy="238760"/>
          </a:xfrm>
          <a:prstGeom prst="rect">
            <a:avLst/>
          </a:prstGeom>
        </p:spPr>
        <p:txBody>
          <a:bodyPr wrap="square" lIns="0" tIns="12065" rIns="0" bIns="0" rtlCol="0" vert="horz">
            <a:spAutoFit/>
          </a:bodyPr>
          <a:lstStyle/>
          <a:p>
            <a:pPr marL="12700">
              <a:lnSpc>
                <a:spcPct val="100000"/>
              </a:lnSpc>
              <a:spcBef>
                <a:spcPts val="95"/>
              </a:spcBef>
            </a:pPr>
            <a:r>
              <a:rPr dirty="0" sz="1400" spc="-25">
                <a:latin typeface="Microsoft YaHei"/>
                <a:cs typeface="Microsoft YaHei"/>
              </a:rPr>
              <a:t>参数补齐之后，小区可能被激活；如果依旧不能激活小区，请联系后台支持。</a:t>
            </a:r>
            <a:endParaRPr sz="1400">
              <a:latin typeface="Microsoft YaHei"/>
              <a:cs typeface="Microsoft YaHei"/>
            </a:endParaRPr>
          </a:p>
        </p:txBody>
      </p:sp>
      <p:sp>
        <p:nvSpPr>
          <p:cNvPr id="36" name="object 36" descr=""/>
          <p:cNvSpPr txBox="1"/>
          <p:nvPr/>
        </p:nvSpPr>
        <p:spPr>
          <a:xfrm>
            <a:off x="317558" y="842073"/>
            <a:ext cx="3638550" cy="499109"/>
          </a:xfrm>
          <a:prstGeom prst="rect">
            <a:avLst/>
          </a:prstGeom>
        </p:spPr>
        <p:txBody>
          <a:bodyPr wrap="square" lIns="0" tIns="12700" rIns="0" bIns="0" rtlCol="0" vert="horz">
            <a:spAutoFit/>
          </a:bodyPr>
          <a:lstStyle/>
          <a:p>
            <a:pPr marL="25400">
              <a:lnSpc>
                <a:spcPts val="1864"/>
              </a:lnSpc>
              <a:spcBef>
                <a:spcPts val="100"/>
              </a:spcBef>
            </a:pPr>
            <a:r>
              <a:rPr dirty="0" sz="1600" spc="-10" b="1">
                <a:latin typeface="Microsoft YaHei"/>
                <a:cs typeface="Microsoft YaHei"/>
              </a:rPr>
              <a:t>传输不通，问题排查与处理办法</a:t>
            </a:r>
            <a:endParaRPr sz="1600">
              <a:latin typeface="Microsoft YaHei"/>
              <a:cs typeface="Microsoft YaHei"/>
            </a:endParaRPr>
          </a:p>
          <a:p>
            <a:pPr marL="78105">
              <a:lnSpc>
                <a:spcPts val="1864"/>
              </a:lnSpc>
            </a:pPr>
            <a:r>
              <a:rPr dirty="0" sz="1600" spc="-425" b="1">
                <a:latin typeface="Microsoft YaHei"/>
                <a:cs typeface="Microsoft YaHei"/>
              </a:rPr>
              <a:t>A</a:t>
            </a:r>
            <a:r>
              <a:rPr dirty="0" baseline="20833" sz="2400" spc="-1770" b="1">
                <a:latin typeface="Microsoft YaHei"/>
                <a:cs typeface="Microsoft YaHei"/>
              </a:rPr>
              <a:t>小</a:t>
            </a:r>
            <a:r>
              <a:rPr dirty="0" sz="1600" spc="-30" b="1">
                <a:latin typeface="Microsoft YaHei"/>
                <a:cs typeface="Microsoft YaHei"/>
              </a:rPr>
              <a:t>A</a:t>
            </a:r>
            <a:r>
              <a:rPr dirty="0" sz="1600" spc="-1245" b="1">
                <a:latin typeface="Microsoft YaHei"/>
                <a:cs typeface="Microsoft YaHei"/>
              </a:rPr>
              <a:t>U</a:t>
            </a:r>
            <a:r>
              <a:rPr dirty="0" baseline="20833" sz="2400" spc="-547" b="1">
                <a:latin typeface="Microsoft YaHei"/>
                <a:cs typeface="Microsoft YaHei"/>
              </a:rPr>
              <a:t>区</a:t>
            </a:r>
            <a:r>
              <a:rPr dirty="0" sz="1600" spc="-1245" b="1">
                <a:latin typeface="Microsoft YaHei"/>
                <a:cs typeface="Microsoft YaHei"/>
              </a:rPr>
              <a:t>无</a:t>
            </a:r>
            <a:r>
              <a:rPr dirty="0" baseline="20833" sz="2400" spc="-547" b="1">
                <a:latin typeface="Microsoft YaHei"/>
                <a:cs typeface="Microsoft YaHei"/>
              </a:rPr>
              <a:t>无</a:t>
            </a:r>
            <a:r>
              <a:rPr dirty="0" sz="1600" spc="-1245" b="1">
                <a:latin typeface="Microsoft YaHei"/>
                <a:cs typeface="Microsoft YaHei"/>
              </a:rPr>
              <a:t>法</a:t>
            </a:r>
            <a:r>
              <a:rPr dirty="0" baseline="20833" sz="2400" spc="-547" b="1">
                <a:latin typeface="Microsoft YaHei"/>
                <a:cs typeface="Microsoft YaHei"/>
              </a:rPr>
              <a:t>法</a:t>
            </a:r>
            <a:r>
              <a:rPr dirty="0" sz="1600" spc="-1245" b="1">
                <a:latin typeface="Microsoft YaHei"/>
                <a:cs typeface="Microsoft YaHei"/>
              </a:rPr>
              <a:t>接</a:t>
            </a:r>
            <a:r>
              <a:rPr dirty="0" baseline="20833" sz="2400" spc="-555" b="1">
                <a:latin typeface="Microsoft YaHei"/>
                <a:cs typeface="Microsoft YaHei"/>
              </a:rPr>
              <a:t>激</a:t>
            </a:r>
            <a:r>
              <a:rPr dirty="0" sz="1600" spc="-1240" b="1">
                <a:latin typeface="Microsoft YaHei"/>
                <a:cs typeface="Microsoft YaHei"/>
              </a:rPr>
              <a:t>入</a:t>
            </a:r>
            <a:r>
              <a:rPr dirty="0" baseline="20833" sz="2400" spc="-555" b="1">
                <a:latin typeface="Microsoft YaHei"/>
                <a:cs typeface="Microsoft YaHei"/>
              </a:rPr>
              <a:t>活</a:t>
            </a:r>
            <a:r>
              <a:rPr dirty="0" sz="1600" spc="-1240" b="1">
                <a:latin typeface="Microsoft YaHei"/>
                <a:cs typeface="Microsoft YaHei"/>
              </a:rPr>
              <a:t>时</a:t>
            </a:r>
            <a:r>
              <a:rPr dirty="0" baseline="20833" sz="2400" spc="-555" b="1">
                <a:latin typeface="Microsoft YaHei"/>
                <a:cs typeface="Microsoft YaHei"/>
              </a:rPr>
              <a:t>，</a:t>
            </a:r>
            <a:r>
              <a:rPr dirty="0" sz="1600" spc="-1240" b="1">
                <a:latin typeface="Microsoft YaHei"/>
                <a:cs typeface="Microsoft YaHei"/>
              </a:rPr>
              <a:t>，</a:t>
            </a:r>
            <a:r>
              <a:rPr dirty="0" baseline="20833" sz="2400" spc="-562" b="1">
                <a:latin typeface="Microsoft YaHei"/>
                <a:cs typeface="Microsoft YaHei"/>
              </a:rPr>
              <a:t>问</a:t>
            </a:r>
            <a:r>
              <a:rPr dirty="0" sz="1600" spc="-1230" b="1">
                <a:latin typeface="Microsoft YaHei"/>
                <a:cs typeface="Microsoft YaHei"/>
              </a:rPr>
              <a:t>问</a:t>
            </a:r>
            <a:r>
              <a:rPr dirty="0" baseline="20833" sz="2400" spc="-562" b="1">
                <a:latin typeface="Microsoft YaHei"/>
                <a:cs typeface="Microsoft YaHei"/>
              </a:rPr>
              <a:t>题</a:t>
            </a:r>
            <a:r>
              <a:rPr dirty="0" sz="1600" spc="-1230" b="1">
                <a:latin typeface="Microsoft YaHei"/>
                <a:cs typeface="Microsoft YaHei"/>
              </a:rPr>
              <a:t>题</a:t>
            </a:r>
            <a:r>
              <a:rPr dirty="0" baseline="20833" sz="2400" spc="-562" b="1">
                <a:latin typeface="Microsoft YaHei"/>
                <a:cs typeface="Microsoft YaHei"/>
              </a:rPr>
              <a:t>排</a:t>
            </a:r>
            <a:r>
              <a:rPr dirty="0" sz="1600" spc="-1230" b="1">
                <a:latin typeface="Microsoft YaHei"/>
                <a:cs typeface="Microsoft YaHei"/>
              </a:rPr>
              <a:t>排</a:t>
            </a:r>
            <a:r>
              <a:rPr dirty="0" baseline="20833" sz="2400" spc="-569" b="1">
                <a:latin typeface="Microsoft YaHei"/>
                <a:cs typeface="Microsoft YaHei"/>
              </a:rPr>
              <a:t>查</a:t>
            </a:r>
            <a:r>
              <a:rPr dirty="0" sz="1600" spc="-1230" b="1">
                <a:latin typeface="Microsoft YaHei"/>
                <a:cs typeface="Microsoft YaHei"/>
              </a:rPr>
              <a:t>查</a:t>
            </a:r>
            <a:r>
              <a:rPr dirty="0" baseline="20833" sz="2400" spc="-562" b="1">
                <a:latin typeface="Microsoft YaHei"/>
                <a:cs typeface="Microsoft YaHei"/>
              </a:rPr>
              <a:t>与</a:t>
            </a:r>
            <a:r>
              <a:rPr dirty="0" sz="1600" spc="-1230" b="1">
                <a:latin typeface="Microsoft YaHei"/>
                <a:cs typeface="Microsoft YaHei"/>
              </a:rPr>
              <a:t>与</a:t>
            </a:r>
            <a:r>
              <a:rPr dirty="0" baseline="20833" sz="2400" spc="-562" b="1">
                <a:latin typeface="Microsoft YaHei"/>
                <a:cs typeface="Microsoft YaHei"/>
              </a:rPr>
              <a:t>处</a:t>
            </a:r>
            <a:r>
              <a:rPr dirty="0" sz="1600" spc="-1230" b="1">
                <a:latin typeface="Microsoft YaHei"/>
                <a:cs typeface="Microsoft YaHei"/>
              </a:rPr>
              <a:t>处</a:t>
            </a:r>
            <a:r>
              <a:rPr dirty="0" baseline="20833" sz="2400" spc="-569" b="1">
                <a:latin typeface="Microsoft YaHei"/>
                <a:cs typeface="Microsoft YaHei"/>
              </a:rPr>
              <a:t>理</a:t>
            </a:r>
            <a:r>
              <a:rPr dirty="0" sz="1600" spc="-1230" b="1">
                <a:latin typeface="Microsoft YaHei"/>
                <a:cs typeface="Microsoft YaHei"/>
              </a:rPr>
              <a:t>理</a:t>
            </a:r>
            <a:r>
              <a:rPr dirty="0" baseline="20833" sz="2400" spc="-562" b="1">
                <a:latin typeface="Microsoft YaHei"/>
                <a:cs typeface="Microsoft YaHei"/>
              </a:rPr>
              <a:t>办</a:t>
            </a:r>
            <a:r>
              <a:rPr dirty="0" sz="1600" spc="-1230" b="1">
                <a:latin typeface="Microsoft YaHei"/>
                <a:cs typeface="Microsoft YaHei"/>
              </a:rPr>
              <a:t>办</a:t>
            </a:r>
            <a:r>
              <a:rPr dirty="0" baseline="20833" sz="2400" spc="-562" b="1">
                <a:latin typeface="Microsoft YaHei"/>
                <a:cs typeface="Microsoft YaHei"/>
              </a:rPr>
              <a:t>法</a:t>
            </a:r>
            <a:r>
              <a:rPr dirty="0" sz="1600" spc="-50" b="1">
                <a:latin typeface="Microsoft YaHei"/>
                <a:cs typeface="Microsoft YaHei"/>
              </a:rPr>
              <a:t>法</a:t>
            </a:r>
            <a:endParaRPr sz="1600">
              <a:latin typeface="Microsoft YaHei"/>
              <a:cs typeface="Microsoft YaHei"/>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00247" y="96730"/>
            <a:ext cx="4142740" cy="574040"/>
          </a:xfrm>
          <a:prstGeom prst="rect"/>
        </p:spPr>
        <p:txBody>
          <a:bodyPr wrap="square" lIns="0" tIns="12700" rIns="0" bIns="0" rtlCol="0" vert="horz">
            <a:spAutoFit/>
          </a:bodyPr>
          <a:lstStyle/>
          <a:p>
            <a:pPr marL="12700">
              <a:lnSpc>
                <a:spcPct val="100000"/>
              </a:lnSpc>
              <a:spcBef>
                <a:spcPts val="100"/>
              </a:spcBef>
            </a:pPr>
            <a:r>
              <a:rPr dirty="0" sz="3600" spc="-10"/>
              <a:t>内容回顾与问题研讨</a:t>
            </a:r>
            <a:endParaRPr sz="3600"/>
          </a:p>
        </p:txBody>
      </p:sp>
      <p:sp>
        <p:nvSpPr>
          <p:cNvPr id="3" name="object 3" descr=""/>
          <p:cNvSpPr/>
          <p:nvPr/>
        </p:nvSpPr>
        <p:spPr>
          <a:xfrm>
            <a:off x="3276600" y="971553"/>
            <a:ext cx="2557780" cy="432434"/>
          </a:xfrm>
          <a:custGeom>
            <a:avLst/>
            <a:gdLst/>
            <a:ahLst/>
            <a:cxnLst/>
            <a:rect l="l" t="t" r="r" b="b"/>
            <a:pathLst>
              <a:path w="2557779" h="432434">
                <a:moveTo>
                  <a:pt x="2485148" y="0"/>
                </a:moveTo>
                <a:lnTo>
                  <a:pt x="71996" y="0"/>
                </a:lnTo>
                <a:lnTo>
                  <a:pt x="43971" y="5657"/>
                </a:lnTo>
                <a:lnTo>
                  <a:pt x="21086" y="21086"/>
                </a:lnTo>
                <a:lnTo>
                  <a:pt x="5657" y="43971"/>
                </a:lnTo>
                <a:lnTo>
                  <a:pt x="0" y="71996"/>
                </a:lnTo>
                <a:lnTo>
                  <a:pt x="0" y="359994"/>
                </a:lnTo>
                <a:lnTo>
                  <a:pt x="5657" y="388018"/>
                </a:lnTo>
                <a:lnTo>
                  <a:pt x="21086" y="410903"/>
                </a:lnTo>
                <a:lnTo>
                  <a:pt x="43971" y="426332"/>
                </a:lnTo>
                <a:lnTo>
                  <a:pt x="71996" y="431990"/>
                </a:lnTo>
                <a:lnTo>
                  <a:pt x="2485148" y="431990"/>
                </a:lnTo>
                <a:lnTo>
                  <a:pt x="2513175" y="426332"/>
                </a:lnTo>
                <a:lnTo>
                  <a:pt x="2536064" y="410903"/>
                </a:lnTo>
                <a:lnTo>
                  <a:pt x="2551498" y="388018"/>
                </a:lnTo>
                <a:lnTo>
                  <a:pt x="2557157" y="359994"/>
                </a:lnTo>
                <a:lnTo>
                  <a:pt x="2557157" y="71996"/>
                </a:lnTo>
                <a:lnTo>
                  <a:pt x="2551498" y="43971"/>
                </a:lnTo>
                <a:lnTo>
                  <a:pt x="2536064" y="21086"/>
                </a:lnTo>
                <a:lnTo>
                  <a:pt x="2513175" y="5657"/>
                </a:lnTo>
                <a:lnTo>
                  <a:pt x="2485148" y="0"/>
                </a:lnTo>
                <a:close/>
              </a:path>
            </a:pathLst>
          </a:custGeom>
          <a:solidFill>
            <a:srgbClr val="00B0F0"/>
          </a:solidFill>
        </p:spPr>
        <p:txBody>
          <a:bodyPr wrap="square" lIns="0" tIns="0" rIns="0" bIns="0" rtlCol="0"/>
          <a:lstStyle/>
          <a:p/>
        </p:txBody>
      </p:sp>
      <p:sp>
        <p:nvSpPr>
          <p:cNvPr id="4" name="object 4" descr=""/>
          <p:cNvSpPr txBox="1"/>
          <p:nvPr/>
        </p:nvSpPr>
        <p:spPr>
          <a:xfrm>
            <a:off x="3379345" y="1045310"/>
            <a:ext cx="2352040" cy="269875"/>
          </a:xfrm>
          <a:prstGeom prst="rect">
            <a:avLst/>
          </a:prstGeom>
        </p:spPr>
        <p:txBody>
          <a:bodyPr wrap="square" lIns="0" tIns="12700" rIns="0" bIns="0" rtlCol="0" vert="horz">
            <a:spAutoFit/>
          </a:bodyPr>
          <a:lstStyle/>
          <a:p>
            <a:pPr marL="12700">
              <a:lnSpc>
                <a:spcPct val="100000"/>
              </a:lnSpc>
              <a:spcBef>
                <a:spcPts val="100"/>
              </a:spcBef>
            </a:pPr>
            <a:r>
              <a:rPr dirty="0" sz="1600" b="1">
                <a:latin typeface="Microsoft YaHei"/>
                <a:cs typeface="Microsoft YaHei"/>
              </a:rPr>
              <a:t>二、</a:t>
            </a:r>
            <a:r>
              <a:rPr dirty="0" sz="1600" spc="-20" b="1">
                <a:latin typeface="Times New Roman"/>
                <a:cs typeface="Times New Roman"/>
              </a:rPr>
              <a:t>5G</a:t>
            </a:r>
            <a:r>
              <a:rPr dirty="0" sz="1600" b="1">
                <a:latin typeface="Microsoft YaHei"/>
                <a:cs typeface="Microsoft YaHei"/>
              </a:rPr>
              <a:t>基站</a:t>
            </a:r>
            <a:r>
              <a:rPr dirty="0" sz="1600" spc="-10" b="1">
                <a:latin typeface="Times New Roman"/>
                <a:cs typeface="Times New Roman"/>
              </a:rPr>
              <a:t>AAU</a:t>
            </a:r>
            <a:r>
              <a:rPr dirty="0" sz="1600" spc="-20" b="1">
                <a:latin typeface="Microsoft YaHei"/>
                <a:cs typeface="Microsoft YaHei"/>
              </a:rPr>
              <a:t>安装工程</a:t>
            </a:r>
            <a:endParaRPr sz="1600">
              <a:latin typeface="Microsoft YaHei"/>
              <a:cs typeface="Microsoft YaHei"/>
            </a:endParaRPr>
          </a:p>
        </p:txBody>
      </p:sp>
      <p:sp>
        <p:nvSpPr>
          <p:cNvPr id="5" name="object 5" descr=""/>
          <p:cNvSpPr/>
          <p:nvPr/>
        </p:nvSpPr>
        <p:spPr>
          <a:xfrm>
            <a:off x="263658" y="971553"/>
            <a:ext cx="2557780" cy="432434"/>
          </a:xfrm>
          <a:custGeom>
            <a:avLst/>
            <a:gdLst/>
            <a:ahLst/>
            <a:cxnLst/>
            <a:rect l="l" t="t" r="r" b="b"/>
            <a:pathLst>
              <a:path w="2557780" h="432434">
                <a:moveTo>
                  <a:pt x="2485148" y="0"/>
                </a:moveTo>
                <a:lnTo>
                  <a:pt x="71996" y="0"/>
                </a:lnTo>
                <a:lnTo>
                  <a:pt x="43971" y="5657"/>
                </a:lnTo>
                <a:lnTo>
                  <a:pt x="21086" y="21086"/>
                </a:lnTo>
                <a:lnTo>
                  <a:pt x="5657" y="43971"/>
                </a:lnTo>
                <a:lnTo>
                  <a:pt x="0" y="71996"/>
                </a:lnTo>
                <a:lnTo>
                  <a:pt x="0" y="359994"/>
                </a:lnTo>
                <a:lnTo>
                  <a:pt x="5657" y="388018"/>
                </a:lnTo>
                <a:lnTo>
                  <a:pt x="21086" y="410903"/>
                </a:lnTo>
                <a:lnTo>
                  <a:pt x="43971" y="426332"/>
                </a:lnTo>
                <a:lnTo>
                  <a:pt x="71996" y="431990"/>
                </a:lnTo>
                <a:lnTo>
                  <a:pt x="2485148" y="431990"/>
                </a:lnTo>
                <a:lnTo>
                  <a:pt x="2513175" y="426332"/>
                </a:lnTo>
                <a:lnTo>
                  <a:pt x="2536064" y="410903"/>
                </a:lnTo>
                <a:lnTo>
                  <a:pt x="2551498" y="388018"/>
                </a:lnTo>
                <a:lnTo>
                  <a:pt x="2557157" y="359994"/>
                </a:lnTo>
                <a:lnTo>
                  <a:pt x="2557157" y="71996"/>
                </a:lnTo>
                <a:lnTo>
                  <a:pt x="2551498" y="43971"/>
                </a:lnTo>
                <a:lnTo>
                  <a:pt x="2536064" y="21086"/>
                </a:lnTo>
                <a:lnTo>
                  <a:pt x="2513175" y="5657"/>
                </a:lnTo>
                <a:lnTo>
                  <a:pt x="2485148" y="0"/>
                </a:lnTo>
                <a:close/>
              </a:path>
            </a:pathLst>
          </a:custGeom>
          <a:solidFill>
            <a:srgbClr val="FFC000"/>
          </a:solidFill>
        </p:spPr>
        <p:txBody>
          <a:bodyPr wrap="square" lIns="0" tIns="0" rIns="0" bIns="0" rtlCol="0"/>
          <a:lstStyle/>
          <a:p/>
        </p:txBody>
      </p:sp>
      <p:sp>
        <p:nvSpPr>
          <p:cNvPr id="6" name="object 6" descr=""/>
          <p:cNvSpPr txBox="1"/>
          <p:nvPr/>
        </p:nvSpPr>
        <p:spPr>
          <a:xfrm>
            <a:off x="351925" y="1045310"/>
            <a:ext cx="2381250" cy="269875"/>
          </a:xfrm>
          <a:prstGeom prst="rect">
            <a:avLst/>
          </a:prstGeom>
        </p:spPr>
        <p:txBody>
          <a:bodyPr wrap="square" lIns="0" tIns="12700" rIns="0" bIns="0" rtlCol="0" vert="horz">
            <a:spAutoFit/>
          </a:bodyPr>
          <a:lstStyle/>
          <a:p>
            <a:pPr marL="12700">
              <a:lnSpc>
                <a:spcPct val="100000"/>
              </a:lnSpc>
              <a:spcBef>
                <a:spcPts val="100"/>
              </a:spcBef>
            </a:pPr>
            <a:r>
              <a:rPr dirty="0" sz="1600" spc="-20" b="1">
                <a:latin typeface="Microsoft YaHei"/>
                <a:cs typeface="Microsoft YaHei"/>
              </a:rPr>
              <a:t>一、 </a:t>
            </a:r>
            <a:r>
              <a:rPr dirty="0" sz="1600" spc="-20" b="1">
                <a:latin typeface="Times New Roman"/>
                <a:cs typeface="Times New Roman"/>
              </a:rPr>
              <a:t>5G</a:t>
            </a:r>
            <a:r>
              <a:rPr dirty="0" sz="1600" b="1">
                <a:latin typeface="Microsoft YaHei"/>
                <a:cs typeface="Microsoft YaHei"/>
              </a:rPr>
              <a:t>基站</a:t>
            </a:r>
            <a:r>
              <a:rPr dirty="0" sz="1600" spc="-10" b="1">
                <a:latin typeface="Times New Roman"/>
                <a:cs typeface="Times New Roman"/>
              </a:rPr>
              <a:t>BBU</a:t>
            </a:r>
            <a:r>
              <a:rPr dirty="0" sz="1600" spc="-20" b="1">
                <a:latin typeface="Microsoft YaHei"/>
                <a:cs typeface="Microsoft YaHei"/>
              </a:rPr>
              <a:t>安装工程</a:t>
            </a:r>
            <a:endParaRPr sz="1600">
              <a:latin typeface="Microsoft YaHei"/>
              <a:cs typeface="Microsoft YaHei"/>
            </a:endParaRPr>
          </a:p>
        </p:txBody>
      </p:sp>
      <p:sp>
        <p:nvSpPr>
          <p:cNvPr id="7" name="object 7" descr=""/>
          <p:cNvSpPr/>
          <p:nvPr/>
        </p:nvSpPr>
        <p:spPr>
          <a:xfrm>
            <a:off x="6289541" y="971553"/>
            <a:ext cx="2557780" cy="432434"/>
          </a:xfrm>
          <a:custGeom>
            <a:avLst/>
            <a:gdLst/>
            <a:ahLst/>
            <a:cxnLst/>
            <a:rect l="l" t="t" r="r" b="b"/>
            <a:pathLst>
              <a:path w="2557779" h="432434">
                <a:moveTo>
                  <a:pt x="2485148" y="0"/>
                </a:moveTo>
                <a:lnTo>
                  <a:pt x="71996" y="0"/>
                </a:lnTo>
                <a:lnTo>
                  <a:pt x="43971" y="5657"/>
                </a:lnTo>
                <a:lnTo>
                  <a:pt x="21086" y="21086"/>
                </a:lnTo>
                <a:lnTo>
                  <a:pt x="5657" y="43971"/>
                </a:lnTo>
                <a:lnTo>
                  <a:pt x="0" y="71996"/>
                </a:lnTo>
                <a:lnTo>
                  <a:pt x="0" y="359994"/>
                </a:lnTo>
                <a:lnTo>
                  <a:pt x="5657" y="388018"/>
                </a:lnTo>
                <a:lnTo>
                  <a:pt x="21086" y="410903"/>
                </a:lnTo>
                <a:lnTo>
                  <a:pt x="43971" y="426332"/>
                </a:lnTo>
                <a:lnTo>
                  <a:pt x="71996" y="431990"/>
                </a:lnTo>
                <a:lnTo>
                  <a:pt x="2485148" y="431990"/>
                </a:lnTo>
                <a:lnTo>
                  <a:pt x="2513175" y="426332"/>
                </a:lnTo>
                <a:lnTo>
                  <a:pt x="2536064" y="410903"/>
                </a:lnTo>
                <a:lnTo>
                  <a:pt x="2551498" y="388018"/>
                </a:lnTo>
                <a:lnTo>
                  <a:pt x="2557157" y="359994"/>
                </a:lnTo>
                <a:lnTo>
                  <a:pt x="2557157" y="71996"/>
                </a:lnTo>
                <a:lnTo>
                  <a:pt x="2551498" y="43971"/>
                </a:lnTo>
                <a:lnTo>
                  <a:pt x="2536064" y="21086"/>
                </a:lnTo>
                <a:lnTo>
                  <a:pt x="2513175" y="5657"/>
                </a:lnTo>
                <a:lnTo>
                  <a:pt x="2485148" y="0"/>
                </a:lnTo>
                <a:close/>
              </a:path>
            </a:pathLst>
          </a:custGeom>
          <a:solidFill>
            <a:srgbClr val="92D050"/>
          </a:solidFill>
        </p:spPr>
        <p:txBody>
          <a:bodyPr wrap="square" lIns="0" tIns="0" rIns="0" bIns="0" rtlCol="0"/>
          <a:lstStyle/>
          <a:p/>
        </p:txBody>
      </p:sp>
      <p:sp>
        <p:nvSpPr>
          <p:cNvPr id="8" name="object 8" descr=""/>
          <p:cNvSpPr txBox="1"/>
          <p:nvPr/>
        </p:nvSpPr>
        <p:spPr>
          <a:xfrm>
            <a:off x="6383144" y="1045310"/>
            <a:ext cx="2370455" cy="269875"/>
          </a:xfrm>
          <a:prstGeom prst="rect">
            <a:avLst/>
          </a:prstGeom>
        </p:spPr>
        <p:txBody>
          <a:bodyPr wrap="square" lIns="0" tIns="12700" rIns="0" bIns="0" rtlCol="0" vert="horz">
            <a:spAutoFit/>
          </a:bodyPr>
          <a:lstStyle/>
          <a:p>
            <a:pPr marL="12700">
              <a:lnSpc>
                <a:spcPct val="100000"/>
              </a:lnSpc>
              <a:spcBef>
                <a:spcPts val="100"/>
              </a:spcBef>
            </a:pPr>
            <a:r>
              <a:rPr dirty="0" sz="1600" spc="-25" b="1">
                <a:latin typeface="Microsoft YaHei"/>
                <a:cs typeface="Microsoft YaHei"/>
              </a:rPr>
              <a:t>三、 </a:t>
            </a:r>
            <a:r>
              <a:rPr dirty="0" sz="1600" spc="-20" b="1">
                <a:latin typeface="Times New Roman"/>
                <a:cs typeface="Times New Roman"/>
              </a:rPr>
              <a:t>5G</a:t>
            </a:r>
            <a:r>
              <a:rPr dirty="0" sz="1600" spc="-10" b="1">
                <a:latin typeface="Microsoft YaHei"/>
                <a:cs typeface="Microsoft YaHei"/>
              </a:rPr>
              <a:t>基站安装配套工程</a:t>
            </a:r>
            <a:endParaRPr sz="1600">
              <a:latin typeface="Microsoft YaHei"/>
              <a:cs typeface="Microsoft YaHei"/>
            </a:endParaRPr>
          </a:p>
        </p:txBody>
      </p:sp>
      <p:pic>
        <p:nvPicPr>
          <p:cNvPr id="9" name="object 9"/>
          <p:cNvPicPr/>
          <p:nvPr/>
        </p:nvPicPr>
        <p:blipFill>
          <a:blip r:embed="rId2" cstate="print"/>
          <a:stretch>
            <a:fillRect/>
          </a:stretch>
        </p:blipFill>
        <p:spPr>
          <a:xfrm>
            <a:off x="4357687" y="2606484"/>
            <a:ext cx="4553710" cy="1703067"/>
          </a:xfrm>
          <a:prstGeom prst="rect">
            <a:avLst/>
          </a:prstGeom>
        </p:spPr>
      </p:pic>
      <p:sp>
        <p:nvSpPr>
          <p:cNvPr id="10" name="object 10" descr=""/>
          <p:cNvSpPr/>
          <p:nvPr/>
        </p:nvSpPr>
        <p:spPr>
          <a:xfrm>
            <a:off x="3241541" y="1657353"/>
            <a:ext cx="2557780" cy="432434"/>
          </a:xfrm>
          <a:custGeom>
            <a:avLst/>
            <a:gdLst/>
            <a:ahLst/>
            <a:cxnLst/>
            <a:rect l="l" t="t" r="r" b="b"/>
            <a:pathLst>
              <a:path w="2557779" h="432435">
                <a:moveTo>
                  <a:pt x="2485148" y="0"/>
                </a:moveTo>
                <a:lnTo>
                  <a:pt x="71996" y="0"/>
                </a:lnTo>
                <a:lnTo>
                  <a:pt x="43971" y="5657"/>
                </a:lnTo>
                <a:lnTo>
                  <a:pt x="21086" y="21086"/>
                </a:lnTo>
                <a:lnTo>
                  <a:pt x="5657" y="43971"/>
                </a:lnTo>
                <a:lnTo>
                  <a:pt x="0" y="71996"/>
                </a:lnTo>
                <a:lnTo>
                  <a:pt x="0" y="359994"/>
                </a:lnTo>
                <a:lnTo>
                  <a:pt x="5657" y="388018"/>
                </a:lnTo>
                <a:lnTo>
                  <a:pt x="21086" y="410903"/>
                </a:lnTo>
                <a:lnTo>
                  <a:pt x="43971" y="426332"/>
                </a:lnTo>
                <a:lnTo>
                  <a:pt x="71996" y="431990"/>
                </a:lnTo>
                <a:lnTo>
                  <a:pt x="2485148" y="431990"/>
                </a:lnTo>
                <a:lnTo>
                  <a:pt x="2513175" y="426332"/>
                </a:lnTo>
                <a:lnTo>
                  <a:pt x="2536064" y="410903"/>
                </a:lnTo>
                <a:lnTo>
                  <a:pt x="2551498" y="388018"/>
                </a:lnTo>
                <a:lnTo>
                  <a:pt x="2557157" y="359994"/>
                </a:lnTo>
                <a:lnTo>
                  <a:pt x="2557157" y="71996"/>
                </a:lnTo>
                <a:lnTo>
                  <a:pt x="2551498" y="43971"/>
                </a:lnTo>
                <a:lnTo>
                  <a:pt x="2536064" y="21086"/>
                </a:lnTo>
                <a:lnTo>
                  <a:pt x="2513175" y="5657"/>
                </a:lnTo>
                <a:lnTo>
                  <a:pt x="2485148" y="0"/>
                </a:lnTo>
                <a:close/>
              </a:path>
            </a:pathLst>
          </a:custGeom>
          <a:solidFill>
            <a:srgbClr val="00B0F0"/>
          </a:solidFill>
        </p:spPr>
        <p:txBody>
          <a:bodyPr wrap="square" lIns="0" tIns="0" rIns="0" bIns="0" rtlCol="0"/>
          <a:lstStyle/>
          <a:p/>
        </p:txBody>
      </p:sp>
      <p:sp>
        <p:nvSpPr>
          <p:cNvPr id="11" name="object 11" descr=""/>
          <p:cNvSpPr/>
          <p:nvPr/>
        </p:nvSpPr>
        <p:spPr>
          <a:xfrm>
            <a:off x="228600" y="1657353"/>
            <a:ext cx="2557780" cy="432434"/>
          </a:xfrm>
          <a:custGeom>
            <a:avLst/>
            <a:gdLst/>
            <a:ahLst/>
            <a:cxnLst/>
            <a:rect l="l" t="t" r="r" b="b"/>
            <a:pathLst>
              <a:path w="2557780" h="432435">
                <a:moveTo>
                  <a:pt x="2485148" y="0"/>
                </a:moveTo>
                <a:lnTo>
                  <a:pt x="71996" y="0"/>
                </a:lnTo>
                <a:lnTo>
                  <a:pt x="43971" y="5657"/>
                </a:lnTo>
                <a:lnTo>
                  <a:pt x="21086" y="21086"/>
                </a:lnTo>
                <a:lnTo>
                  <a:pt x="5657" y="43971"/>
                </a:lnTo>
                <a:lnTo>
                  <a:pt x="0" y="71996"/>
                </a:lnTo>
                <a:lnTo>
                  <a:pt x="0" y="359994"/>
                </a:lnTo>
                <a:lnTo>
                  <a:pt x="5657" y="388018"/>
                </a:lnTo>
                <a:lnTo>
                  <a:pt x="21086" y="410903"/>
                </a:lnTo>
                <a:lnTo>
                  <a:pt x="43971" y="426332"/>
                </a:lnTo>
                <a:lnTo>
                  <a:pt x="71996" y="431990"/>
                </a:lnTo>
                <a:lnTo>
                  <a:pt x="2485148" y="431990"/>
                </a:lnTo>
                <a:lnTo>
                  <a:pt x="2513175" y="426332"/>
                </a:lnTo>
                <a:lnTo>
                  <a:pt x="2536064" y="410903"/>
                </a:lnTo>
                <a:lnTo>
                  <a:pt x="2551498" y="388018"/>
                </a:lnTo>
                <a:lnTo>
                  <a:pt x="2557157" y="359994"/>
                </a:lnTo>
                <a:lnTo>
                  <a:pt x="2557157" y="71996"/>
                </a:lnTo>
                <a:lnTo>
                  <a:pt x="2551498" y="43971"/>
                </a:lnTo>
                <a:lnTo>
                  <a:pt x="2536064" y="21086"/>
                </a:lnTo>
                <a:lnTo>
                  <a:pt x="2513175" y="5657"/>
                </a:lnTo>
                <a:lnTo>
                  <a:pt x="2485148" y="0"/>
                </a:lnTo>
                <a:close/>
              </a:path>
            </a:pathLst>
          </a:custGeom>
          <a:solidFill>
            <a:srgbClr val="FFC000"/>
          </a:solidFill>
        </p:spPr>
        <p:txBody>
          <a:bodyPr wrap="square" lIns="0" tIns="0" rIns="0" bIns="0" rtlCol="0"/>
          <a:lstStyle/>
          <a:p/>
        </p:txBody>
      </p:sp>
      <p:sp>
        <p:nvSpPr>
          <p:cNvPr id="12" name="object 12" descr=""/>
          <p:cNvSpPr txBox="1">
            <a:spLocks noGrp="1"/>
          </p:cNvSpPr>
          <p:nvPr>
            <p:ph type="body" idx="1"/>
          </p:nvPr>
        </p:nvSpPr>
        <p:spPr>
          <a:prstGeom prst="rect"/>
        </p:spPr>
        <p:txBody>
          <a:bodyPr wrap="square" lIns="0" tIns="138430" rIns="0" bIns="0" rtlCol="0" vert="horz">
            <a:spAutoFit/>
          </a:bodyPr>
          <a:lstStyle/>
          <a:p>
            <a:pPr marL="27305">
              <a:lnSpc>
                <a:spcPct val="100000"/>
              </a:lnSpc>
              <a:spcBef>
                <a:spcPts val="1090"/>
              </a:spcBef>
              <a:tabLst>
                <a:tab pos="3040380" algn="l"/>
              </a:tabLst>
            </a:pPr>
            <a:r>
              <a:rPr dirty="0"/>
              <a:t>四、</a:t>
            </a:r>
            <a:r>
              <a:rPr dirty="0" spc="-75"/>
              <a:t> </a:t>
            </a:r>
            <a:r>
              <a:rPr dirty="0" spc="-20">
                <a:latin typeface="Times New Roman"/>
                <a:cs typeface="Times New Roman"/>
              </a:rPr>
              <a:t>5G</a:t>
            </a:r>
            <a:r>
              <a:rPr dirty="0"/>
              <a:t>基站线缆安装工</a:t>
            </a:r>
            <a:r>
              <a:rPr dirty="0" spc="-50"/>
              <a:t>程</a:t>
            </a:r>
            <a:r>
              <a:rPr dirty="0"/>
              <a:t>	五、</a:t>
            </a:r>
            <a:r>
              <a:rPr dirty="0" spc="-75"/>
              <a:t> </a:t>
            </a:r>
            <a:r>
              <a:rPr dirty="0" spc="-20">
                <a:latin typeface="Times New Roman"/>
                <a:cs typeface="Times New Roman"/>
              </a:rPr>
              <a:t>5G</a:t>
            </a:r>
            <a:r>
              <a:rPr dirty="0"/>
              <a:t>基站安装常见问</a:t>
            </a:r>
            <a:r>
              <a:rPr dirty="0" spc="-50"/>
              <a:t>题</a:t>
            </a:r>
          </a:p>
          <a:p>
            <a:pPr marL="12700">
              <a:lnSpc>
                <a:spcPct val="100000"/>
              </a:lnSpc>
              <a:spcBef>
                <a:spcPts val="1739"/>
              </a:spcBef>
            </a:pPr>
            <a:r>
              <a:rPr dirty="0" sz="2800" spc="-20" b="0">
                <a:latin typeface="SimSun"/>
                <a:cs typeface="SimSun"/>
              </a:rPr>
              <a:t>思考题：</a:t>
            </a:r>
            <a:endParaRPr sz="2800">
              <a:latin typeface="SimSun"/>
              <a:cs typeface="SimSun"/>
            </a:endParaRPr>
          </a:p>
          <a:p>
            <a:pPr marL="367030" indent="-354330">
              <a:lnSpc>
                <a:spcPct val="100000"/>
              </a:lnSpc>
              <a:spcBef>
                <a:spcPts val="1680"/>
              </a:spcBef>
              <a:buAutoNum type="arabicPeriod"/>
              <a:tabLst>
                <a:tab pos="367030" algn="l"/>
              </a:tabLst>
            </a:pPr>
            <a:r>
              <a:rPr dirty="0" sz="2800" spc="-25" b="0">
                <a:latin typeface="Times New Roman"/>
                <a:cs typeface="Times New Roman"/>
              </a:rPr>
              <a:t>5G</a:t>
            </a:r>
            <a:r>
              <a:rPr dirty="0" sz="2800" b="0">
                <a:latin typeface="SimSun"/>
                <a:cs typeface="SimSun"/>
              </a:rPr>
              <a:t>基站</a:t>
            </a:r>
            <a:r>
              <a:rPr dirty="0" sz="2800" spc="-10" b="0">
                <a:latin typeface="Times New Roman"/>
                <a:cs typeface="Times New Roman"/>
              </a:rPr>
              <a:t>BBU</a:t>
            </a:r>
            <a:r>
              <a:rPr dirty="0" sz="2800" spc="-15" b="0">
                <a:latin typeface="SimSun"/>
                <a:cs typeface="SimSun"/>
              </a:rPr>
              <a:t>安装流程？</a:t>
            </a:r>
            <a:endParaRPr sz="2800">
              <a:latin typeface="SimSun"/>
              <a:cs typeface="SimSun"/>
            </a:endParaRPr>
          </a:p>
          <a:p>
            <a:pPr marL="367030" indent="-354330">
              <a:lnSpc>
                <a:spcPct val="100000"/>
              </a:lnSpc>
              <a:spcBef>
                <a:spcPts val="1680"/>
              </a:spcBef>
              <a:buAutoNum type="arabicPeriod"/>
              <a:tabLst>
                <a:tab pos="367030" algn="l"/>
              </a:tabLst>
            </a:pPr>
            <a:r>
              <a:rPr dirty="0" sz="2800" spc="-25" b="0">
                <a:latin typeface="Times New Roman"/>
                <a:cs typeface="Times New Roman"/>
              </a:rPr>
              <a:t>5G</a:t>
            </a:r>
            <a:r>
              <a:rPr dirty="0" sz="2800" b="0">
                <a:latin typeface="SimSun"/>
                <a:cs typeface="SimSun"/>
              </a:rPr>
              <a:t>基站</a:t>
            </a:r>
            <a:r>
              <a:rPr dirty="0" sz="2800" spc="-30" b="0">
                <a:latin typeface="Times New Roman"/>
                <a:cs typeface="Times New Roman"/>
              </a:rPr>
              <a:t>AAU</a:t>
            </a:r>
            <a:r>
              <a:rPr dirty="0" sz="2800" spc="-10" b="0">
                <a:latin typeface="SimSun"/>
                <a:cs typeface="SimSun"/>
              </a:rPr>
              <a:t>安装流程？</a:t>
            </a:r>
            <a:endParaRPr sz="2800">
              <a:latin typeface="SimSun"/>
              <a:cs typeface="SimSun"/>
            </a:endParaRPr>
          </a:p>
          <a:p>
            <a:pPr marL="367030" indent="-354330">
              <a:lnSpc>
                <a:spcPct val="100000"/>
              </a:lnSpc>
              <a:spcBef>
                <a:spcPts val="1680"/>
              </a:spcBef>
              <a:buAutoNum type="arabicPeriod"/>
              <a:tabLst>
                <a:tab pos="367030" algn="l"/>
              </a:tabLst>
            </a:pPr>
            <a:r>
              <a:rPr dirty="0" sz="2800" spc="-25" b="0">
                <a:latin typeface="Times New Roman"/>
                <a:cs typeface="Times New Roman"/>
              </a:rPr>
              <a:t>5G</a:t>
            </a:r>
            <a:r>
              <a:rPr dirty="0" sz="2800" spc="-10" b="0">
                <a:latin typeface="SimSun"/>
                <a:cs typeface="SimSun"/>
              </a:rPr>
              <a:t>无线网络测试流程？</a:t>
            </a:r>
            <a:endParaRPr sz="2800">
              <a:latin typeface="SimSun"/>
              <a:cs typeface="SimSun"/>
            </a:endParaRPr>
          </a:p>
        </p:txBody>
      </p:sp>
      <p:sp>
        <p:nvSpPr>
          <p:cNvPr id="13" name="object 13" descr=""/>
          <p:cNvSpPr/>
          <p:nvPr/>
        </p:nvSpPr>
        <p:spPr>
          <a:xfrm>
            <a:off x="6254484" y="1657353"/>
            <a:ext cx="2557780" cy="432434"/>
          </a:xfrm>
          <a:custGeom>
            <a:avLst/>
            <a:gdLst/>
            <a:ahLst/>
            <a:cxnLst/>
            <a:rect l="l" t="t" r="r" b="b"/>
            <a:pathLst>
              <a:path w="2557779" h="432435">
                <a:moveTo>
                  <a:pt x="2485148" y="0"/>
                </a:moveTo>
                <a:lnTo>
                  <a:pt x="71996" y="0"/>
                </a:lnTo>
                <a:lnTo>
                  <a:pt x="43971" y="5657"/>
                </a:lnTo>
                <a:lnTo>
                  <a:pt x="21086" y="21086"/>
                </a:lnTo>
                <a:lnTo>
                  <a:pt x="5657" y="43971"/>
                </a:lnTo>
                <a:lnTo>
                  <a:pt x="0" y="71996"/>
                </a:lnTo>
                <a:lnTo>
                  <a:pt x="0" y="359994"/>
                </a:lnTo>
                <a:lnTo>
                  <a:pt x="5657" y="388018"/>
                </a:lnTo>
                <a:lnTo>
                  <a:pt x="21086" y="410903"/>
                </a:lnTo>
                <a:lnTo>
                  <a:pt x="43971" y="426332"/>
                </a:lnTo>
                <a:lnTo>
                  <a:pt x="71996" y="431990"/>
                </a:lnTo>
                <a:lnTo>
                  <a:pt x="2485148" y="431990"/>
                </a:lnTo>
                <a:lnTo>
                  <a:pt x="2513175" y="426332"/>
                </a:lnTo>
                <a:lnTo>
                  <a:pt x="2536064" y="410903"/>
                </a:lnTo>
                <a:lnTo>
                  <a:pt x="2551498" y="388018"/>
                </a:lnTo>
                <a:lnTo>
                  <a:pt x="2557157" y="359994"/>
                </a:lnTo>
                <a:lnTo>
                  <a:pt x="2557157" y="71996"/>
                </a:lnTo>
                <a:lnTo>
                  <a:pt x="2551498" y="43971"/>
                </a:lnTo>
                <a:lnTo>
                  <a:pt x="2536064" y="21086"/>
                </a:lnTo>
                <a:lnTo>
                  <a:pt x="2513175" y="5657"/>
                </a:lnTo>
                <a:lnTo>
                  <a:pt x="2485148" y="0"/>
                </a:lnTo>
                <a:close/>
              </a:path>
            </a:pathLst>
          </a:custGeom>
          <a:solidFill>
            <a:srgbClr val="92D050"/>
          </a:solidFill>
        </p:spPr>
        <p:txBody>
          <a:bodyPr wrap="square" lIns="0" tIns="0" rIns="0" bIns="0" rtlCol="0"/>
          <a:lstStyle/>
          <a:p/>
        </p:txBody>
      </p:sp>
      <p:sp>
        <p:nvSpPr>
          <p:cNvPr id="14" name="object 14" descr=""/>
          <p:cNvSpPr txBox="1"/>
          <p:nvPr/>
        </p:nvSpPr>
        <p:spPr>
          <a:xfrm>
            <a:off x="6348086" y="1731110"/>
            <a:ext cx="2370455" cy="269875"/>
          </a:xfrm>
          <a:prstGeom prst="rect">
            <a:avLst/>
          </a:prstGeom>
        </p:spPr>
        <p:txBody>
          <a:bodyPr wrap="square" lIns="0" tIns="12700" rIns="0" bIns="0" rtlCol="0" vert="horz">
            <a:spAutoFit/>
          </a:bodyPr>
          <a:lstStyle/>
          <a:p>
            <a:pPr marL="12700">
              <a:lnSpc>
                <a:spcPct val="100000"/>
              </a:lnSpc>
              <a:spcBef>
                <a:spcPts val="100"/>
              </a:spcBef>
            </a:pPr>
            <a:r>
              <a:rPr dirty="0" sz="1600" spc="-25" b="1">
                <a:latin typeface="Microsoft YaHei"/>
                <a:cs typeface="Microsoft YaHei"/>
              </a:rPr>
              <a:t>六、 </a:t>
            </a:r>
            <a:r>
              <a:rPr dirty="0" sz="1600" spc="-20" b="1">
                <a:latin typeface="Times New Roman"/>
                <a:cs typeface="Times New Roman"/>
              </a:rPr>
              <a:t>5G</a:t>
            </a:r>
            <a:r>
              <a:rPr dirty="0" sz="1600" spc="-10" b="1">
                <a:latin typeface="Microsoft YaHei"/>
                <a:cs typeface="Microsoft YaHei"/>
              </a:rPr>
              <a:t>基站开通调测测试</a:t>
            </a:r>
            <a:endParaRPr sz="1600">
              <a:latin typeface="Microsoft YaHei"/>
              <a:cs typeface="Microsoft YaHei"/>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787679"/>
            <a:ext cx="9144000" cy="422432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林子雨ziyulin@xmu.edu.cn</dc:creator>
  <dc:subject>厦门大学计算机科学系</dc:subject>
  <dc:title>云计算与大数据</dc:title>
  <dcterms:created xsi:type="dcterms:W3CDTF">2025-11-14T05:08:31Z</dcterms:created>
  <dcterms:modified xsi:type="dcterms:W3CDTF">2025-11-14T05:08:31Z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2019-06-07T00:00:00Z</vt:filetime>
  </property>
  <property fmtid="{D5CDD505-2E9C-101B-9397-08002B2CF9AE}" pid="3" name="Creator">
    <vt:lpwstr>Acrobat PDFMaker 15 PowerPoint 版</vt:lpwstr>
  </property>
  <property fmtid="{D5CDD505-2E9C-101B-9397-08002B2CF9AE}" pid="4" name="LastSaved">
    <vt:filetime>2025-11-14T00:00:00Z</vt:filetime>
  </property>
  <property fmtid="{D5CDD505-2E9C-101B-9397-08002B2CF9AE}" pid="5" name="Producer">
    <vt:lpwstr>Adobe PDF Library 15.0</vt:lpwstr>
  </property>
  <property fmtid="{D5CDD505-2E9C-101B-9397-08002B2CF9AE}" pid="6" name="Version">
    <vt:lpwstr>1</vt:lpwstr>
  </property>
</Properties>
</file>