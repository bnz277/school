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jpg" ContentType="image/jpg"/>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x="9144000" cy="5143500"/>
  <p:notesSz cx="9144000" cy="51435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94002" y="135544"/>
            <a:ext cx="6936105" cy="520496"/>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200" b="1" i="0">
                <a:solidFill>
                  <a:srgbClr val="FF0000"/>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p:txBody>
          <a:bodyPr lIns="0" tIns="0" rIns="0" bIns="0"/>
          <a:lstStyle>
            <a:lvl1pPr>
              <a:defRPr sz="1200" b="1" i="0">
                <a:solidFill>
                  <a:srgbClr val="FF0000"/>
                </a:solidFill>
                <a:latin typeface="Microsoft YaHei"/>
                <a:cs typeface="Microsoft YaHe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idx="2" sz="half"/>
          </p:nvPr>
        </p:nvSpPr>
        <p:spPr>
          <a:xfrm>
            <a:off x="457200" y="1183005"/>
            <a:ext cx="3977640" cy="339471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183005"/>
            <a:ext cx="3977640" cy="339471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Microsoft JhengHei"/>
                <a:cs typeface="Microsoft JhengHei"/>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17" name="bg object 17"/>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pic>
        <p:nvPicPr>
          <p:cNvPr id="18" name="bg object 18"/>
          <p:cNvPicPr/>
          <p:nvPr/>
        </p:nvPicPr>
        <p:blipFill>
          <a:blip r:embed="rId7" cstate="print"/>
          <a:stretch>
            <a:fillRect/>
          </a:stretch>
        </p:blipFill>
        <p:spPr>
          <a:xfrm>
            <a:off x="0" y="4972050"/>
            <a:ext cx="9144000" cy="171450"/>
          </a:xfrm>
          <a:prstGeom prst="rect">
            <a:avLst/>
          </a:prstGeom>
        </p:spPr>
      </p:pic>
      <p:sp>
        <p:nvSpPr>
          <p:cNvPr id="19" name="bg object 19"/>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20" name="bg object 20"/>
          <p:cNvPicPr/>
          <p:nvPr/>
        </p:nvPicPr>
        <p:blipFill>
          <a:blip r:embed="rId8" cstate="print"/>
          <a:stretch>
            <a:fillRect/>
          </a:stretch>
        </p:blipFill>
        <p:spPr>
          <a:xfrm>
            <a:off x="152400" y="133350"/>
            <a:ext cx="804532" cy="576579"/>
          </a:xfrm>
          <a:prstGeom prst="rect">
            <a:avLst/>
          </a:prstGeom>
        </p:spPr>
      </p:pic>
      <p:sp>
        <p:nvSpPr>
          <p:cNvPr id="2" name="Holder 2"/>
          <p:cNvSpPr>
            <a:spLocks noGrp="1"/>
          </p:cNvSpPr>
          <p:nvPr>
            <p:ph type="title"/>
          </p:nvPr>
        </p:nvSpPr>
        <p:spPr>
          <a:xfrm>
            <a:off x="911478" y="15495"/>
            <a:ext cx="7929245" cy="719693"/>
          </a:xfrm>
          <a:prstGeom prst="rect">
            <a:avLst/>
          </a:prstGeom>
        </p:spPr>
        <p:txBody>
          <a:bodyPr wrap="square" lIns="0" tIns="0" rIns="0" bIns="0">
            <a:spAutoFit/>
          </a:bodyPr>
          <a:lstStyle>
            <a:lvl1pPr>
              <a:defRPr sz="3200" b="1" i="0">
                <a:solidFill>
                  <a:schemeClr val="bg1"/>
                </a:solidFill>
                <a:latin typeface="Microsoft JhengHei"/>
                <a:cs typeface="Microsoft JhengHei"/>
              </a:defRPr>
            </a:lvl1pPr>
          </a:lstStyle>
          <a:p/>
        </p:txBody>
      </p:sp>
      <p:sp>
        <p:nvSpPr>
          <p:cNvPr id="3" name="Holder 3"/>
          <p:cNvSpPr>
            <a:spLocks noGrp="1"/>
          </p:cNvSpPr>
          <p:nvPr>
            <p:ph type="body" idx="1"/>
          </p:nvPr>
        </p:nvSpPr>
        <p:spPr>
          <a:xfrm>
            <a:off x="550136" y="2567920"/>
            <a:ext cx="8098790" cy="1062989"/>
          </a:xfrm>
          <a:prstGeom prst="rect">
            <a:avLst/>
          </a:prstGeom>
        </p:spPr>
        <p:txBody>
          <a:bodyPr wrap="square" lIns="0" tIns="0" rIns="0" bIns="0">
            <a:spAutoFit/>
          </a:bodyPr>
          <a:lstStyle>
            <a:lvl1pPr>
              <a:defRPr sz="1200" b="1" i="0">
                <a:solidFill>
                  <a:srgbClr val="FF0000"/>
                </a:solidFill>
                <a:latin typeface="Microsoft YaHei"/>
                <a:cs typeface="Microsoft YaHei"/>
              </a:defRPr>
            </a:lvl1pPr>
          </a:lstStyle>
          <a:p/>
        </p:txBody>
      </p:sp>
      <p:sp>
        <p:nvSpPr>
          <p:cNvPr id="4" name="Holder 4"/>
          <p:cNvSpPr>
            <a:spLocks noGrp="1"/>
          </p:cNvSpPr>
          <p:nvPr>
            <p:ph type="ftr" idx="5" sz="quarter"/>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jp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34.jpg"/><Relationship Id="rId8" Type="http://schemas.openxmlformats.org/officeDocument/2006/relationships/image" Target="../media/image35.jpg"/><Relationship Id="rId9" Type="http://schemas.openxmlformats.org/officeDocument/2006/relationships/image" Target="../media/image36.jpg"/><Relationship Id="rId10"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jp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hyperlink" Target="http://images.google.cn/imgres?imgurl=http%3A//jdhb.xjetc.gov.cn/UploadFiles/20060122080706747.jpg&amp;imgrefurl=http%3A//jdhb.xjetc.gov.cn/ShowArticle.asp%3FArticleID%3D671&amp;h=674&amp;w=567&amp;sz=135&amp;hl=zh-CN&amp;start=7&amp;tbnid=n3zK6CIkxemzWM%3A&amp;tbnh=138&amp;tbnw=116&amp;prev=/images%3Fq%3D%E7%8E%AF%E5%A2%83%E7%9B%91%E6%B5%8B&amp;gbv=2&amp;ndsp=20&amp;complete=1&amp;hl=zh-CN&amp;newwindow=1&amp;sa=N" TargetMode="External"/><Relationship Id="rId15" Type="http://schemas.openxmlformats.org/officeDocument/2006/relationships/image" Target="../media/image50.jpg"/><Relationship Id="rId16" Type="http://schemas.openxmlformats.org/officeDocument/2006/relationships/image" Target="../media/image51.png"/><Relationship Id="rId17" Type="http://schemas.openxmlformats.org/officeDocument/2006/relationships/image" Target="../media/image52.jpg"/><Relationship Id="rId18" Type="http://schemas.openxmlformats.org/officeDocument/2006/relationships/image" Target="../media/image53.png"/><Relationship Id="rId19" Type="http://schemas.openxmlformats.org/officeDocument/2006/relationships/image" Target="../media/image5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jpg"/><Relationship Id="rId14" Type="http://schemas.openxmlformats.org/officeDocument/2006/relationships/image" Target="../media/image68.jpg"/><Relationship Id="rId15" Type="http://schemas.openxmlformats.org/officeDocument/2006/relationships/image" Target="../media/image69.jpg"/><Relationship Id="rId16" Type="http://schemas.openxmlformats.org/officeDocument/2006/relationships/image" Target="../media/image7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80.png"/><Relationship Id="rId11" Type="http://schemas.openxmlformats.org/officeDocument/2006/relationships/image" Target="../media/image81.png"/><Relationship Id="rId12" Type="http://schemas.openxmlformats.org/officeDocument/2006/relationships/image" Target="../media/image82.png"/><Relationship Id="rId13" Type="http://schemas.openxmlformats.org/officeDocument/2006/relationships/image" Target="../media/image83.png"/><Relationship Id="rId14" Type="http://schemas.openxmlformats.org/officeDocument/2006/relationships/image" Target="../media/image84.jpg"/><Relationship Id="rId15" Type="http://schemas.openxmlformats.org/officeDocument/2006/relationships/image" Target="../media/image85.png"/><Relationship Id="rId16" Type="http://schemas.openxmlformats.org/officeDocument/2006/relationships/image" Target="../media/image86.png"/><Relationship Id="rId17" Type="http://schemas.openxmlformats.org/officeDocument/2006/relationships/image" Target="../media/image87.png"/><Relationship Id="rId18" Type="http://schemas.openxmlformats.org/officeDocument/2006/relationships/image" Target="../media/image88.png"/><Relationship Id="rId19" Type="http://schemas.openxmlformats.org/officeDocument/2006/relationships/image" Target="../media/image8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103.png"/><Relationship Id="rId8" Type="http://schemas.openxmlformats.org/officeDocument/2006/relationships/image" Target="../media/image104.png"/><Relationship Id="rId9" Type="http://schemas.openxmlformats.org/officeDocument/2006/relationships/image" Target="../media/image105.png"/><Relationship Id="rId10" Type="http://schemas.openxmlformats.org/officeDocument/2006/relationships/image" Target="../media/image106.png"/><Relationship Id="rId11" Type="http://schemas.openxmlformats.org/officeDocument/2006/relationships/image" Target="../media/image107.png"/><Relationship Id="rId12" Type="http://schemas.openxmlformats.org/officeDocument/2006/relationships/image" Target="../media/image108.png"/><Relationship Id="rId13" Type="http://schemas.openxmlformats.org/officeDocument/2006/relationships/image" Target="../media/image109.png"/><Relationship Id="rId14" Type="http://schemas.openxmlformats.org/officeDocument/2006/relationships/image" Target="../media/image110.png"/><Relationship Id="rId15" Type="http://schemas.openxmlformats.org/officeDocument/2006/relationships/image" Target="../media/image111.png"/><Relationship Id="rId16" Type="http://schemas.openxmlformats.org/officeDocument/2006/relationships/image" Target="../media/image112.png"/><Relationship Id="rId17" Type="http://schemas.openxmlformats.org/officeDocument/2006/relationships/image" Target="../media/image113.png"/><Relationship Id="rId18" Type="http://schemas.openxmlformats.org/officeDocument/2006/relationships/image" Target="../media/image114.png"/><Relationship Id="rId19" Type="http://schemas.openxmlformats.org/officeDocument/2006/relationships/image" Target="../media/image115.png"/><Relationship Id="rId20" Type="http://schemas.openxmlformats.org/officeDocument/2006/relationships/image" Target="../media/image116.png"/><Relationship Id="rId21" Type="http://schemas.openxmlformats.org/officeDocument/2006/relationships/image" Target="../media/image117.png"/><Relationship Id="rId22" Type="http://schemas.openxmlformats.org/officeDocument/2006/relationships/image" Target="../media/image118.png"/><Relationship Id="rId23" Type="http://schemas.openxmlformats.org/officeDocument/2006/relationships/image" Target="../media/image119.png"/><Relationship Id="rId24" Type="http://schemas.openxmlformats.org/officeDocument/2006/relationships/image" Target="../media/image120.png"/><Relationship Id="rId25" Type="http://schemas.openxmlformats.org/officeDocument/2006/relationships/image" Target="../media/image121.png"/><Relationship Id="rId26" Type="http://schemas.openxmlformats.org/officeDocument/2006/relationships/image" Target="../media/image122.png"/><Relationship Id="rId27" Type="http://schemas.openxmlformats.org/officeDocument/2006/relationships/image" Target="../media/image123.png"/><Relationship Id="rId28" Type="http://schemas.openxmlformats.org/officeDocument/2006/relationships/image" Target="../media/image124.png"/><Relationship Id="rId29" Type="http://schemas.openxmlformats.org/officeDocument/2006/relationships/image" Target="../media/image125.png"/><Relationship Id="rId30" Type="http://schemas.openxmlformats.org/officeDocument/2006/relationships/image" Target="../media/image126.png"/><Relationship Id="rId31" Type="http://schemas.openxmlformats.org/officeDocument/2006/relationships/image" Target="../media/image127.png"/><Relationship Id="rId32" Type="http://schemas.openxmlformats.org/officeDocument/2006/relationships/image" Target="../media/image128.png"/><Relationship Id="rId33" Type="http://schemas.openxmlformats.org/officeDocument/2006/relationships/image" Target="../media/image129.png"/><Relationship Id="rId34" Type="http://schemas.openxmlformats.org/officeDocument/2006/relationships/image" Target="../media/image130.png"/><Relationship Id="rId35" Type="http://schemas.openxmlformats.org/officeDocument/2006/relationships/image" Target="../media/image131.png"/><Relationship Id="rId36" Type="http://schemas.openxmlformats.org/officeDocument/2006/relationships/image" Target="../media/image132.png"/><Relationship Id="rId37" Type="http://schemas.openxmlformats.org/officeDocument/2006/relationships/image" Target="../media/image133.png"/><Relationship Id="rId38" Type="http://schemas.openxmlformats.org/officeDocument/2006/relationships/image" Target="../media/image134.png"/><Relationship Id="rId39" Type="http://schemas.openxmlformats.org/officeDocument/2006/relationships/image" Target="../media/image135.png"/><Relationship Id="rId40" Type="http://schemas.openxmlformats.org/officeDocument/2006/relationships/image" Target="../media/image136.png"/><Relationship Id="rId41" Type="http://schemas.openxmlformats.org/officeDocument/2006/relationships/image" Target="../media/image137.png"/><Relationship Id="rId42" Type="http://schemas.openxmlformats.org/officeDocument/2006/relationships/image" Target="../media/image138.png"/><Relationship Id="rId43" Type="http://schemas.openxmlformats.org/officeDocument/2006/relationships/image" Target="../media/image139.png"/><Relationship Id="rId44" Type="http://schemas.openxmlformats.org/officeDocument/2006/relationships/image" Target="../media/image140.png"/><Relationship Id="rId45" Type="http://schemas.openxmlformats.org/officeDocument/2006/relationships/image" Target="../media/image141.png"/><Relationship Id="rId46" Type="http://schemas.openxmlformats.org/officeDocument/2006/relationships/image" Target="../media/image142.png"/><Relationship Id="rId47" Type="http://schemas.openxmlformats.org/officeDocument/2006/relationships/image" Target="../media/image143.png"/><Relationship Id="rId48" Type="http://schemas.openxmlformats.org/officeDocument/2006/relationships/image" Target="../media/image144.png"/><Relationship Id="rId49" Type="http://schemas.openxmlformats.org/officeDocument/2006/relationships/image" Target="../media/image145.png"/><Relationship Id="rId50" Type="http://schemas.openxmlformats.org/officeDocument/2006/relationships/image" Target="../media/image146.png"/><Relationship Id="rId51" Type="http://schemas.openxmlformats.org/officeDocument/2006/relationships/image" Target="../media/image147.png"/><Relationship Id="rId52" Type="http://schemas.openxmlformats.org/officeDocument/2006/relationships/image" Target="../media/image148.png"/><Relationship Id="rId53" Type="http://schemas.openxmlformats.org/officeDocument/2006/relationships/image" Target="../media/image149.png"/><Relationship Id="rId54" Type="http://schemas.openxmlformats.org/officeDocument/2006/relationships/image" Target="../media/image150.png"/><Relationship Id="rId55" Type="http://schemas.openxmlformats.org/officeDocument/2006/relationships/image" Target="../media/image151.png"/><Relationship Id="rId56" Type="http://schemas.openxmlformats.org/officeDocument/2006/relationships/image" Target="../media/image152.png"/><Relationship Id="rId57" Type="http://schemas.openxmlformats.org/officeDocument/2006/relationships/image" Target="../media/image153.png"/><Relationship Id="rId58" Type="http://schemas.openxmlformats.org/officeDocument/2006/relationships/image" Target="../media/image154.png"/><Relationship Id="rId59" Type="http://schemas.openxmlformats.org/officeDocument/2006/relationships/image" Target="../media/image155.png"/><Relationship Id="rId60" Type="http://schemas.openxmlformats.org/officeDocument/2006/relationships/image" Target="../media/image156.png"/><Relationship Id="rId61" Type="http://schemas.openxmlformats.org/officeDocument/2006/relationships/image" Target="../media/image157.png"/><Relationship Id="rId62" Type="http://schemas.openxmlformats.org/officeDocument/2006/relationships/image" Target="../media/image158.png"/><Relationship Id="rId63" Type="http://schemas.openxmlformats.org/officeDocument/2006/relationships/image" Target="../media/image159.png"/><Relationship Id="rId64" Type="http://schemas.openxmlformats.org/officeDocument/2006/relationships/image" Target="../media/image160.png"/><Relationship Id="rId65" Type="http://schemas.openxmlformats.org/officeDocument/2006/relationships/image" Target="../media/image161.png"/><Relationship Id="rId66" Type="http://schemas.openxmlformats.org/officeDocument/2006/relationships/image" Target="../media/image162.png"/><Relationship Id="rId67" Type="http://schemas.openxmlformats.org/officeDocument/2006/relationships/image" Target="../media/image163.png"/><Relationship Id="rId68" Type="http://schemas.openxmlformats.org/officeDocument/2006/relationships/image" Target="../media/image164.png"/><Relationship Id="rId69" Type="http://schemas.openxmlformats.org/officeDocument/2006/relationships/image" Target="../media/image165.png"/><Relationship Id="rId70" Type="http://schemas.openxmlformats.org/officeDocument/2006/relationships/image" Target="../media/image166.png"/><Relationship Id="rId71" Type="http://schemas.openxmlformats.org/officeDocument/2006/relationships/image" Target="../media/image167.png"/><Relationship Id="rId72" Type="http://schemas.openxmlformats.org/officeDocument/2006/relationships/image" Target="../media/image1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9.jpg"/><Relationship Id="rId3" Type="http://schemas.openxmlformats.org/officeDocument/2006/relationships/image" Target="../media/image170.jp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jpg"/><Relationship Id="rId7" Type="http://schemas.openxmlformats.org/officeDocument/2006/relationships/image" Target="../media/image17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5.png"/><Relationship Id="rId3" Type="http://schemas.openxmlformats.org/officeDocument/2006/relationships/image" Target="../media/image176.png"/><Relationship Id="rId4" Type="http://schemas.openxmlformats.org/officeDocument/2006/relationships/image" Target="../media/image17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8.jpg"/><Relationship Id="rId3" Type="http://schemas.openxmlformats.org/officeDocument/2006/relationships/image" Target="../media/image179.jp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184.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89.png"/><Relationship Id="rId14" Type="http://schemas.openxmlformats.org/officeDocument/2006/relationships/image" Target="../media/image190.png"/><Relationship Id="rId15" Type="http://schemas.openxmlformats.org/officeDocument/2006/relationships/image" Target="../media/image19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2.png"/><Relationship Id="rId3" Type="http://schemas.openxmlformats.org/officeDocument/2006/relationships/image" Target="../media/image193.jp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0.png"/><Relationship Id="rId3" Type="http://schemas.openxmlformats.org/officeDocument/2006/relationships/image" Target="../media/image201.png"/><Relationship Id="rId4" Type="http://schemas.openxmlformats.org/officeDocument/2006/relationships/image" Target="../media/image202.jpg"/><Relationship Id="rId5" Type="http://schemas.openxmlformats.org/officeDocument/2006/relationships/image" Target="../media/image203.jpg"/><Relationship Id="rId6" Type="http://schemas.openxmlformats.org/officeDocument/2006/relationships/image" Target="../media/image204.jpg"/><Relationship Id="rId7" Type="http://schemas.openxmlformats.org/officeDocument/2006/relationships/image" Target="../media/image205.png"/><Relationship Id="rId8" Type="http://schemas.openxmlformats.org/officeDocument/2006/relationships/image" Target="../media/image206.png"/><Relationship Id="rId9" Type="http://schemas.openxmlformats.org/officeDocument/2006/relationships/image" Target="../media/image207.png"/><Relationship Id="rId10" Type="http://schemas.openxmlformats.org/officeDocument/2006/relationships/image" Target="../media/image208.png"/><Relationship Id="rId11" Type="http://schemas.openxmlformats.org/officeDocument/2006/relationships/image" Target="../media/image209.png"/><Relationship Id="rId12" Type="http://schemas.openxmlformats.org/officeDocument/2006/relationships/image" Target="../media/image210.png"/><Relationship Id="rId13" Type="http://schemas.openxmlformats.org/officeDocument/2006/relationships/image" Target="../media/image211.png"/><Relationship Id="rId14" Type="http://schemas.openxmlformats.org/officeDocument/2006/relationships/image" Target="../media/image212.png"/><Relationship Id="rId15" Type="http://schemas.openxmlformats.org/officeDocument/2006/relationships/image" Target="../media/image213.png"/><Relationship Id="rId16" Type="http://schemas.openxmlformats.org/officeDocument/2006/relationships/image" Target="../media/image214.png"/><Relationship Id="rId17" Type="http://schemas.openxmlformats.org/officeDocument/2006/relationships/image" Target="../media/image215.png"/><Relationship Id="rId18" Type="http://schemas.openxmlformats.org/officeDocument/2006/relationships/image" Target="../media/image216.png"/><Relationship Id="rId19" Type="http://schemas.openxmlformats.org/officeDocument/2006/relationships/image" Target="../media/image217.png"/><Relationship Id="rId20" Type="http://schemas.openxmlformats.org/officeDocument/2006/relationships/image" Target="../media/image218.png"/><Relationship Id="rId21" Type="http://schemas.openxmlformats.org/officeDocument/2006/relationships/image" Target="../media/image2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0.jp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image" Target="../media/image228.png"/><Relationship Id="rId11" Type="http://schemas.openxmlformats.org/officeDocument/2006/relationships/image" Target="../media/image229.png"/><Relationship Id="rId12" Type="http://schemas.openxmlformats.org/officeDocument/2006/relationships/image" Target="../media/image230.png"/><Relationship Id="rId13" Type="http://schemas.openxmlformats.org/officeDocument/2006/relationships/image" Target="../media/image231.png"/><Relationship Id="rId14" Type="http://schemas.openxmlformats.org/officeDocument/2006/relationships/image" Target="../media/image232.png"/><Relationship Id="rId15" Type="http://schemas.openxmlformats.org/officeDocument/2006/relationships/image" Target="../media/image233.png"/><Relationship Id="rId16" Type="http://schemas.openxmlformats.org/officeDocument/2006/relationships/image" Target="../media/image234.png"/><Relationship Id="rId17" Type="http://schemas.openxmlformats.org/officeDocument/2006/relationships/image" Target="../media/image235.png"/><Relationship Id="rId18" Type="http://schemas.openxmlformats.org/officeDocument/2006/relationships/image" Target="../media/image236.png"/><Relationship Id="rId19" Type="http://schemas.openxmlformats.org/officeDocument/2006/relationships/image" Target="../media/image237.png"/><Relationship Id="rId20" Type="http://schemas.openxmlformats.org/officeDocument/2006/relationships/image" Target="../media/image238.png"/><Relationship Id="rId21" Type="http://schemas.openxmlformats.org/officeDocument/2006/relationships/image" Target="../media/image239.jpg"/><Relationship Id="rId22" Type="http://schemas.openxmlformats.org/officeDocument/2006/relationships/image" Target="../media/image240.png"/><Relationship Id="rId23" Type="http://schemas.openxmlformats.org/officeDocument/2006/relationships/image" Target="../media/image241.png"/><Relationship Id="rId24" Type="http://schemas.openxmlformats.org/officeDocument/2006/relationships/image" Target="../media/image242.png"/><Relationship Id="rId25" Type="http://schemas.openxmlformats.org/officeDocument/2006/relationships/image" Target="../media/image243.png"/><Relationship Id="rId26" Type="http://schemas.openxmlformats.org/officeDocument/2006/relationships/image" Target="../media/image244.png"/><Relationship Id="rId27" Type="http://schemas.openxmlformats.org/officeDocument/2006/relationships/image" Target="../media/image245.png"/><Relationship Id="rId28" Type="http://schemas.openxmlformats.org/officeDocument/2006/relationships/image" Target="../media/image246.png"/><Relationship Id="rId29" Type="http://schemas.openxmlformats.org/officeDocument/2006/relationships/image" Target="../media/image247.png"/><Relationship Id="rId30" Type="http://schemas.openxmlformats.org/officeDocument/2006/relationships/image" Target="../media/image248.png"/><Relationship Id="rId31" Type="http://schemas.openxmlformats.org/officeDocument/2006/relationships/image" Target="../media/image249.png"/><Relationship Id="rId32" Type="http://schemas.openxmlformats.org/officeDocument/2006/relationships/image" Target="../media/image2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1.jpg"/><Relationship Id="rId3" Type="http://schemas.openxmlformats.org/officeDocument/2006/relationships/image" Target="../media/image2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3.png"/><Relationship Id="rId3" Type="http://schemas.openxmlformats.org/officeDocument/2006/relationships/image" Target="../media/image254.png"/><Relationship Id="rId4" Type="http://schemas.openxmlformats.org/officeDocument/2006/relationships/image" Target="../media/image255.png"/><Relationship Id="rId5" Type="http://schemas.openxmlformats.org/officeDocument/2006/relationships/image" Target="../media/image256.png"/><Relationship Id="rId6" Type="http://schemas.openxmlformats.org/officeDocument/2006/relationships/image" Target="../media/image257.png"/><Relationship Id="rId7" Type="http://schemas.openxmlformats.org/officeDocument/2006/relationships/image" Target="../media/image258.png"/><Relationship Id="rId8" Type="http://schemas.openxmlformats.org/officeDocument/2006/relationships/image" Target="../media/image259.png"/><Relationship Id="rId9" Type="http://schemas.openxmlformats.org/officeDocument/2006/relationships/image" Target="../media/image260.png"/><Relationship Id="rId10" Type="http://schemas.openxmlformats.org/officeDocument/2006/relationships/image" Target="../media/image261.png"/><Relationship Id="rId11" Type="http://schemas.openxmlformats.org/officeDocument/2006/relationships/image" Target="../media/image262.png"/><Relationship Id="rId12" Type="http://schemas.openxmlformats.org/officeDocument/2006/relationships/image" Target="../media/image263.png"/><Relationship Id="rId13" Type="http://schemas.openxmlformats.org/officeDocument/2006/relationships/image" Target="../media/image26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5.jpg"/><Relationship Id="rId3" Type="http://schemas.openxmlformats.org/officeDocument/2006/relationships/image" Target="../media/image26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7.jpg"/><Relationship Id="rId3" Type="http://schemas.openxmlformats.org/officeDocument/2006/relationships/image" Target="../media/image268.jpg"/><Relationship Id="rId4" Type="http://schemas.openxmlformats.org/officeDocument/2006/relationships/image" Target="../media/image269.jpg"/><Relationship Id="rId5" Type="http://schemas.openxmlformats.org/officeDocument/2006/relationships/image" Target="../media/image270.jpg"/><Relationship Id="rId6" Type="http://schemas.openxmlformats.org/officeDocument/2006/relationships/image" Target="../media/image271.jpg"/><Relationship Id="rId7" Type="http://schemas.openxmlformats.org/officeDocument/2006/relationships/image" Target="../media/image272.jpg"/><Relationship Id="rId8" Type="http://schemas.openxmlformats.org/officeDocument/2006/relationships/image" Target="../media/image273.jpg"/><Relationship Id="rId9" Type="http://schemas.openxmlformats.org/officeDocument/2006/relationships/image" Target="../media/image27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5.png"/><Relationship Id="rId3" Type="http://schemas.openxmlformats.org/officeDocument/2006/relationships/image" Target="../media/image276.png"/><Relationship Id="rId4" Type="http://schemas.openxmlformats.org/officeDocument/2006/relationships/image" Target="../media/image277.png"/><Relationship Id="rId5" Type="http://schemas.openxmlformats.org/officeDocument/2006/relationships/image" Target="../media/image278.png"/><Relationship Id="rId6" Type="http://schemas.openxmlformats.org/officeDocument/2006/relationships/image" Target="../media/image279.png"/><Relationship Id="rId7" Type="http://schemas.openxmlformats.org/officeDocument/2006/relationships/image" Target="../media/image280.png"/><Relationship Id="rId8" Type="http://schemas.openxmlformats.org/officeDocument/2006/relationships/image" Target="../media/image281.jpg"/><Relationship Id="rId9" Type="http://schemas.openxmlformats.org/officeDocument/2006/relationships/image" Target="../media/image2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3.jpg"/><Relationship Id="rId3" Type="http://schemas.openxmlformats.org/officeDocument/2006/relationships/image" Target="../media/image284.png"/><Relationship Id="rId4" Type="http://schemas.openxmlformats.org/officeDocument/2006/relationships/image" Target="../media/image285.png"/><Relationship Id="rId5" Type="http://schemas.openxmlformats.org/officeDocument/2006/relationships/image" Target="../media/image286.png"/><Relationship Id="rId6" Type="http://schemas.openxmlformats.org/officeDocument/2006/relationships/image" Target="../media/image287.png"/><Relationship Id="rId7" Type="http://schemas.openxmlformats.org/officeDocument/2006/relationships/image" Target="../media/image288.png"/><Relationship Id="rId8" Type="http://schemas.openxmlformats.org/officeDocument/2006/relationships/image" Target="../media/image289.png"/><Relationship Id="rId9" Type="http://schemas.openxmlformats.org/officeDocument/2006/relationships/image" Target="../media/image290.png"/><Relationship Id="rId10" Type="http://schemas.openxmlformats.org/officeDocument/2006/relationships/image" Target="../media/image291.png"/><Relationship Id="rId11" Type="http://schemas.openxmlformats.org/officeDocument/2006/relationships/image" Target="../media/image292.png"/><Relationship Id="rId12" Type="http://schemas.openxmlformats.org/officeDocument/2006/relationships/image" Target="../media/image293.png"/><Relationship Id="rId13" Type="http://schemas.openxmlformats.org/officeDocument/2006/relationships/image" Target="../media/image294.jpg"/><Relationship Id="rId14" Type="http://schemas.openxmlformats.org/officeDocument/2006/relationships/image" Target="../media/image29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6.png"/><Relationship Id="rId3" Type="http://schemas.openxmlformats.org/officeDocument/2006/relationships/image" Target="../media/image297.png"/><Relationship Id="rId4" Type="http://schemas.openxmlformats.org/officeDocument/2006/relationships/image" Target="../media/image298.png"/><Relationship Id="rId5" Type="http://schemas.openxmlformats.org/officeDocument/2006/relationships/image" Target="../media/image299.png"/><Relationship Id="rId6" Type="http://schemas.openxmlformats.org/officeDocument/2006/relationships/image" Target="../media/image300.png"/><Relationship Id="rId7" Type="http://schemas.openxmlformats.org/officeDocument/2006/relationships/image" Target="../media/image301.png"/><Relationship Id="rId8" Type="http://schemas.openxmlformats.org/officeDocument/2006/relationships/image" Target="../media/image302.png"/><Relationship Id="rId9" Type="http://schemas.openxmlformats.org/officeDocument/2006/relationships/image" Target="../media/image303.png"/><Relationship Id="rId10" Type="http://schemas.openxmlformats.org/officeDocument/2006/relationships/image" Target="../media/image304.png"/><Relationship Id="rId11" Type="http://schemas.openxmlformats.org/officeDocument/2006/relationships/image" Target="../media/image305.jpg"/><Relationship Id="rId12" Type="http://schemas.openxmlformats.org/officeDocument/2006/relationships/image" Target="../media/image306.jpg"/><Relationship Id="rId13" Type="http://schemas.openxmlformats.org/officeDocument/2006/relationships/image" Target="../media/image307.png"/><Relationship Id="rId14" Type="http://schemas.openxmlformats.org/officeDocument/2006/relationships/image" Target="../media/image308.jpg"/><Relationship Id="rId15" Type="http://schemas.openxmlformats.org/officeDocument/2006/relationships/image" Target="../media/image309.jpg"/><Relationship Id="rId16" Type="http://schemas.openxmlformats.org/officeDocument/2006/relationships/image" Target="../media/image310.jpg"/><Relationship Id="rId17" Type="http://schemas.openxmlformats.org/officeDocument/2006/relationships/image" Target="../media/image311.jpg"/><Relationship Id="rId18" Type="http://schemas.openxmlformats.org/officeDocument/2006/relationships/image" Target="../media/image312.jpg"/><Relationship Id="rId19" Type="http://schemas.openxmlformats.org/officeDocument/2006/relationships/image" Target="../media/image313.jpg"/><Relationship Id="rId20" Type="http://schemas.openxmlformats.org/officeDocument/2006/relationships/image" Target="../media/image314.png"/><Relationship Id="rId21" Type="http://schemas.openxmlformats.org/officeDocument/2006/relationships/image" Target="../media/image315.jpg"/><Relationship Id="rId22" Type="http://schemas.openxmlformats.org/officeDocument/2006/relationships/image" Target="../media/image3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7.png"/><Relationship Id="rId3" Type="http://schemas.openxmlformats.org/officeDocument/2006/relationships/image" Target="../media/image318.png"/><Relationship Id="rId4" Type="http://schemas.openxmlformats.org/officeDocument/2006/relationships/image" Target="../media/image319.png"/><Relationship Id="rId5" Type="http://schemas.openxmlformats.org/officeDocument/2006/relationships/image" Target="../media/image320.png"/><Relationship Id="rId6" Type="http://schemas.openxmlformats.org/officeDocument/2006/relationships/image" Target="../media/image321.png"/><Relationship Id="rId7" Type="http://schemas.openxmlformats.org/officeDocument/2006/relationships/image" Target="../media/image322.png"/><Relationship Id="rId8" Type="http://schemas.openxmlformats.org/officeDocument/2006/relationships/image" Target="../media/image323.png"/><Relationship Id="rId9" Type="http://schemas.openxmlformats.org/officeDocument/2006/relationships/image" Target="../media/image324.png"/><Relationship Id="rId10" Type="http://schemas.openxmlformats.org/officeDocument/2006/relationships/image" Target="../media/image325.png"/><Relationship Id="rId11" Type="http://schemas.openxmlformats.org/officeDocument/2006/relationships/image" Target="../media/image326.png"/><Relationship Id="rId12" Type="http://schemas.openxmlformats.org/officeDocument/2006/relationships/image" Target="../media/image327.png"/><Relationship Id="rId13" Type="http://schemas.openxmlformats.org/officeDocument/2006/relationships/image" Target="../media/image328.png"/><Relationship Id="rId14" Type="http://schemas.openxmlformats.org/officeDocument/2006/relationships/image" Target="../media/image329.png"/><Relationship Id="rId15" Type="http://schemas.openxmlformats.org/officeDocument/2006/relationships/image" Target="../media/image330.png"/><Relationship Id="rId16" Type="http://schemas.openxmlformats.org/officeDocument/2006/relationships/image" Target="../media/image331.png"/><Relationship Id="rId17" Type="http://schemas.openxmlformats.org/officeDocument/2006/relationships/image" Target="../media/image3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3.jpg"/><Relationship Id="rId3" Type="http://schemas.openxmlformats.org/officeDocument/2006/relationships/image" Target="../media/image334.jpg"/><Relationship Id="rId4" Type="http://schemas.openxmlformats.org/officeDocument/2006/relationships/image" Target="../media/image33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6.jpg"/><Relationship Id="rId3" Type="http://schemas.openxmlformats.org/officeDocument/2006/relationships/image" Target="../media/image337.jpg"/><Relationship Id="rId4" Type="http://schemas.openxmlformats.org/officeDocument/2006/relationships/image" Target="../media/image338.png"/><Relationship Id="rId5" Type="http://schemas.openxmlformats.org/officeDocument/2006/relationships/image" Target="../media/image339.jpg"/><Relationship Id="rId6" Type="http://schemas.openxmlformats.org/officeDocument/2006/relationships/image" Target="../media/image34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1.jpg"/><Relationship Id="rId3" Type="http://schemas.openxmlformats.org/officeDocument/2006/relationships/image" Target="../media/image342.jpg"/><Relationship Id="rId4"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image" Target="../media/image345.png"/><Relationship Id="rId7" Type="http://schemas.openxmlformats.org/officeDocument/2006/relationships/image" Target="../media/image346.png"/><Relationship Id="rId8" Type="http://schemas.openxmlformats.org/officeDocument/2006/relationships/image" Target="../media/image347.png"/><Relationship Id="rId9" Type="http://schemas.openxmlformats.org/officeDocument/2006/relationships/image" Target="../media/image348.png"/><Relationship Id="rId10" Type="http://schemas.openxmlformats.org/officeDocument/2006/relationships/image" Target="../media/image349.png"/><Relationship Id="rId11" Type="http://schemas.openxmlformats.org/officeDocument/2006/relationships/image" Target="../media/image350.jpg"/><Relationship Id="rId12" Type="http://schemas.openxmlformats.org/officeDocument/2006/relationships/image" Target="../media/image351.jpg"/><Relationship Id="rId13" Type="http://schemas.openxmlformats.org/officeDocument/2006/relationships/image" Target="../media/image352.jpg"/><Relationship Id="rId14" Type="http://schemas.openxmlformats.org/officeDocument/2006/relationships/image" Target="../media/image353.jpg"/><Relationship Id="rId15" Type="http://schemas.openxmlformats.org/officeDocument/2006/relationships/image" Target="../media/image354.png"/><Relationship Id="rId16" Type="http://schemas.openxmlformats.org/officeDocument/2006/relationships/image" Target="../media/image355.jpg"/><Relationship Id="rId17" Type="http://schemas.openxmlformats.org/officeDocument/2006/relationships/image" Target="../media/image356.jpg"/><Relationship Id="rId18" Type="http://schemas.openxmlformats.org/officeDocument/2006/relationships/image" Target="../media/image35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8.jpg"/><Relationship Id="rId3" Type="http://schemas.openxmlformats.org/officeDocument/2006/relationships/image" Target="../media/image359.png"/><Relationship Id="rId4" Type="http://schemas.openxmlformats.org/officeDocument/2006/relationships/image" Target="../media/image360.png"/><Relationship Id="rId5" Type="http://schemas.openxmlformats.org/officeDocument/2006/relationships/image" Target="../media/image361.png"/><Relationship Id="rId6" Type="http://schemas.openxmlformats.org/officeDocument/2006/relationships/image" Target="../media/image362.png"/><Relationship Id="rId7" Type="http://schemas.openxmlformats.org/officeDocument/2006/relationships/image" Target="../media/image363.png"/><Relationship Id="rId8" Type="http://schemas.openxmlformats.org/officeDocument/2006/relationships/image" Target="../media/image364.png"/><Relationship Id="rId9" Type="http://schemas.openxmlformats.org/officeDocument/2006/relationships/image" Target="../media/image365.png"/><Relationship Id="rId10" Type="http://schemas.openxmlformats.org/officeDocument/2006/relationships/image" Target="../media/image366.png"/><Relationship Id="rId11" Type="http://schemas.openxmlformats.org/officeDocument/2006/relationships/image" Target="../media/image367.png"/><Relationship Id="rId12" Type="http://schemas.openxmlformats.org/officeDocument/2006/relationships/image" Target="../media/image368.png"/><Relationship Id="rId13" Type="http://schemas.openxmlformats.org/officeDocument/2006/relationships/image" Target="../media/image369.png"/><Relationship Id="rId14" Type="http://schemas.openxmlformats.org/officeDocument/2006/relationships/image" Target="../media/image37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1.jpg"/><Relationship Id="rId3" Type="http://schemas.openxmlformats.org/officeDocument/2006/relationships/image" Target="../media/image372.jpg"/><Relationship Id="rId4" Type="http://schemas.openxmlformats.org/officeDocument/2006/relationships/image" Target="../media/image373.jpg"/><Relationship Id="rId5" Type="http://schemas.openxmlformats.org/officeDocument/2006/relationships/image" Target="../media/image37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7.jpg"/><Relationship Id="rId3" Type="http://schemas.openxmlformats.org/officeDocument/2006/relationships/image" Target="../media/image268.jpg"/><Relationship Id="rId4" Type="http://schemas.openxmlformats.org/officeDocument/2006/relationships/image" Target="../media/image269.jpg"/><Relationship Id="rId5" Type="http://schemas.openxmlformats.org/officeDocument/2006/relationships/image" Target="../media/image270.jpg"/><Relationship Id="rId6" Type="http://schemas.openxmlformats.org/officeDocument/2006/relationships/image" Target="../media/image271.jpg"/><Relationship Id="rId7" Type="http://schemas.openxmlformats.org/officeDocument/2006/relationships/image" Target="../media/image272.jpg"/><Relationship Id="rId8" Type="http://schemas.openxmlformats.org/officeDocument/2006/relationships/image" Target="../media/image273.jpg"/><Relationship Id="rId9" Type="http://schemas.openxmlformats.org/officeDocument/2006/relationships/image" Target="../media/image27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6.png"/><Relationship Id="rId3" Type="http://schemas.openxmlformats.org/officeDocument/2006/relationships/image" Target="../media/image377.png"/><Relationship Id="rId4" Type="http://schemas.openxmlformats.org/officeDocument/2006/relationships/image" Target="../media/image378.png"/><Relationship Id="rId5" Type="http://schemas.openxmlformats.org/officeDocument/2006/relationships/image" Target="../media/image379.png"/><Relationship Id="rId6" Type="http://schemas.openxmlformats.org/officeDocument/2006/relationships/image" Target="../media/image380.png"/><Relationship Id="rId7" Type="http://schemas.openxmlformats.org/officeDocument/2006/relationships/image" Target="../media/image381.png"/><Relationship Id="rId8" Type="http://schemas.openxmlformats.org/officeDocument/2006/relationships/image" Target="../media/image382.png"/><Relationship Id="rId9" Type="http://schemas.openxmlformats.org/officeDocument/2006/relationships/image" Target="../media/image383.png"/><Relationship Id="rId10" Type="http://schemas.openxmlformats.org/officeDocument/2006/relationships/image" Target="../media/image384.png"/><Relationship Id="rId11" Type="http://schemas.openxmlformats.org/officeDocument/2006/relationships/image" Target="../media/image385.png"/><Relationship Id="rId12" Type="http://schemas.openxmlformats.org/officeDocument/2006/relationships/image" Target="../media/image386.png"/><Relationship Id="rId13" Type="http://schemas.openxmlformats.org/officeDocument/2006/relationships/image" Target="../media/image387.png"/><Relationship Id="rId14" Type="http://schemas.openxmlformats.org/officeDocument/2006/relationships/image" Target="../media/image388.png"/><Relationship Id="rId15" Type="http://schemas.openxmlformats.org/officeDocument/2006/relationships/image" Target="../media/image389.png"/><Relationship Id="rId16" Type="http://schemas.openxmlformats.org/officeDocument/2006/relationships/image" Target="../media/image390.png"/><Relationship Id="rId17" Type="http://schemas.openxmlformats.org/officeDocument/2006/relationships/image" Target="../media/image391.png"/><Relationship Id="rId18" Type="http://schemas.openxmlformats.org/officeDocument/2006/relationships/image" Target="../media/image392.png"/><Relationship Id="rId19" Type="http://schemas.openxmlformats.org/officeDocument/2006/relationships/image" Target="../media/image393.png"/><Relationship Id="rId20" Type="http://schemas.openxmlformats.org/officeDocument/2006/relationships/image" Target="../media/image394.png"/><Relationship Id="rId21" Type="http://schemas.openxmlformats.org/officeDocument/2006/relationships/image" Target="../media/image395.png"/><Relationship Id="rId22" Type="http://schemas.openxmlformats.org/officeDocument/2006/relationships/image" Target="../media/image396.png"/><Relationship Id="rId23" Type="http://schemas.openxmlformats.org/officeDocument/2006/relationships/image" Target="../media/image397.png"/><Relationship Id="rId24" Type="http://schemas.openxmlformats.org/officeDocument/2006/relationships/image" Target="../media/image398.jpg"/><Relationship Id="rId25" Type="http://schemas.openxmlformats.org/officeDocument/2006/relationships/image" Target="../media/image399.jpg"/><Relationship Id="rId26" Type="http://schemas.openxmlformats.org/officeDocument/2006/relationships/image" Target="../media/image400.jpg"/><Relationship Id="rId27" Type="http://schemas.openxmlformats.org/officeDocument/2006/relationships/image" Target="../media/image401.jpg"/><Relationship Id="rId28" Type="http://schemas.openxmlformats.org/officeDocument/2006/relationships/image" Target="../media/image402.png"/><Relationship Id="rId29" Type="http://schemas.openxmlformats.org/officeDocument/2006/relationships/image" Target="../media/image403.png"/><Relationship Id="rId30" Type="http://schemas.openxmlformats.org/officeDocument/2006/relationships/image" Target="../media/image40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5.jpg"/><Relationship Id="rId3" Type="http://schemas.openxmlformats.org/officeDocument/2006/relationships/image" Target="../media/image406.png"/><Relationship Id="rId4" Type="http://schemas.openxmlformats.org/officeDocument/2006/relationships/image" Target="../media/image407.jpg"/><Relationship Id="rId5" Type="http://schemas.openxmlformats.org/officeDocument/2006/relationships/image" Target="../media/image408.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0.png"/><Relationship Id="rId3" Type="http://schemas.openxmlformats.org/officeDocument/2006/relationships/image" Target="../media/image4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20.png"/><Relationship Id="rId11" Type="http://schemas.openxmlformats.org/officeDocument/2006/relationships/image" Target="../media/image421.png"/><Relationship Id="rId12" Type="http://schemas.openxmlformats.org/officeDocument/2006/relationships/image" Target="../media/image422.png"/><Relationship Id="rId13" Type="http://schemas.openxmlformats.org/officeDocument/2006/relationships/image" Target="../media/image423.png"/><Relationship Id="rId14" Type="http://schemas.openxmlformats.org/officeDocument/2006/relationships/image" Target="../media/image424.png"/><Relationship Id="rId15" Type="http://schemas.openxmlformats.org/officeDocument/2006/relationships/image" Target="../media/image425.png"/><Relationship Id="rId16" Type="http://schemas.openxmlformats.org/officeDocument/2006/relationships/image" Target="../media/image426.png"/><Relationship Id="rId17" Type="http://schemas.openxmlformats.org/officeDocument/2006/relationships/image" Target="../media/image427.png"/><Relationship Id="rId18" Type="http://schemas.openxmlformats.org/officeDocument/2006/relationships/image" Target="../media/image428.png"/><Relationship Id="rId19" Type="http://schemas.openxmlformats.org/officeDocument/2006/relationships/image" Target="../media/image4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0.jpg"/><Relationship Id="rId3" Type="http://schemas.openxmlformats.org/officeDocument/2006/relationships/image" Target="../media/image43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2.jpg"/><Relationship Id="rId3" Type="http://schemas.openxmlformats.org/officeDocument/2006/relationships/image" Target="../media/image433.jpg"/><Relationship Id="rId4" Type="http://schemas.openxmlformats.org/officeDocument/2006/relationships/image" Target="../media/image434.jpg"/><Relationship Id="rId5" Type="http://schemas.openxmlformats.org/officeDocument/2006/relationships/image" Target="../media/image435.png"/><Relationship Id="rId6" Type="http://schemas.openxmlformats.org/officeDocument/2006/relationships/image" Target="../media/image436.jpg"/><Relationship Id="rId7" Type="http://schemas.openxmlformats.org/officeDocument/2006/relationships/image" Target="../media/image437.jpg"/><Relationship Id="rId8" Type="http://schemas.openxmlformats.org/officeDocument/2006/relationships/image" Target="../media/image438.jpg"/><Relationship Id="rId9" Type="http://schemas.openxmlformats.org/officeDocument/2006/relationships/image" Target="../media/image439.jpg"/><Relationship Id="rId10" Type="http://schemas.openxmlformats.org/officeDocument/2006/relationships/image" Target="../media/image440.jpg"/><Relationship Id="rId11" Type="http://schemas.openxmlformats.org/officeDocument/2006/relationships/image" Target="../media/image441.png"/><Relationship Id="rId12" Type="http://schemas.openxmlformats.org/officeDocument/2006/relationships/image" Target="../media/image442.png"/><Relationship Id="rId13" Type="http://schemas.openxmlformats.org/officeDocument/2006/relationships/image" Target="../media/image443.png"/><Relationship Id="rId14" Type="http://schemas.openxmlformats.org/officeDocument/2006/relationships/image" Target="../media/image444.png"/><Relationship Id="rId15" Type="http://schemas.openxmlformats.org/officeDocument/2006/relationships/image" Target="../media/image445.png"/><Relationship Id="rId16" Type="http://schemas.openxmlformats.org/officeDocument/2006/relationships/image" Target="../media/image446.png"/><Relationship Id="rId17" Type="http://schemas.openxmlformats.org/officeDocument/2006/relationships/image" Target="../media/image4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8.jpg"/><Relationship Id="rId3" Type="http://schemas.openxmlformats.org/officeDocument/2006/relationships/image" Target="../media/image449.jpg"/><Relationship Id="rId4" Type="http://schemas.openxmlformats.org/officeDocument/2006/relationships/image" Target="../media/image450.jpg"/><Relationship Id="rId5" Type="http://schemas.openxmlformats.org/officeDocument/2006/relationships/image" Target="../media/image451.jpg"/><Relationship Id="rId6" Type="http://schemas.openxmlformats.org/officeDocument/2006/relationships/image" Target="../media/image452.jpg"/><Relationship Id="rId7" Type="http://schemas.openxmlformats.org/officeDocument/2006/relationships/image" Target="../media/image453.jpg"/><Relationship Id="rId8" Type="http://schemas.openxmlformats.org/officeDocument/2006/relationships/image" Target="../media/image454.png"/><Relationship Id="rId9" Type="http://schemas.openxmlformats.org/officeDocument/2006/relationships/image" Target="../media/image444.png"/><Relationship Id="rId10" Type="http://schemas.openxmlformats.org/officeDocument/2006/relationships/image" Target="../media/image4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56.png"/><Relationship Id="rId3" Type="http://schemas.openxmlformats.org/officeDocument/2006/relationships/image" Target="../media/image457.png"/><Relationship Id="rId4" Type="http://schemas.openxmlformats.org/officeDocument/2006/relationships/image" Target="../media/image458.png"/><Relationship Id="rId5" Type="http://schemas.openxmlformats.org/officeDocument/2006/relationships/image" Target="../media/image459.png"/><Relationship Id="rId6" Type="http://schemas.openxmlformats.org/officeDocument/2006/relationships/image" Target="../media/image460.png"/><Relationship Id="rId7" Type="http://schemas.openxmlformats.org/officeDocument/2006/relationships/image" Target="../media/image461.png"/><Relationship Id="rId8" Type="http://schemas.openxmlformats.org/officeDocument/2006/relationships/image" Target="../media/image462.png"/><Relationship Id="rId9" Type="http://schemas.openxmlformats.org/officeDocument/2006/relationships/image" Target="../media/image463.png"/><Relationship Id="rId10" Type="http://schemas.openxmlformats.org/officeDocument/2006/relationships/image" Target="../media/image464.png"/><Relationship Id="rId11" Type="http://schemas.openxmlformats.org/officeDocument/2006/relationships/image" Target="../media/image465.png"/><Relationship Id="rId12" Type="http://schemas.openxmlformats.org/officeDocument/2006/relationships/image" Target="../media/image466.png"/><Relationship Id="rId13" Type="http://schemas.openxmlformats.org/officeDocument/2006/relationships/image" Target="../media/image467.png"/><Relationship Id="rId14" Type="http://schemas.openxmlformats.org/officeDocument/2006/relationships/image" Target="../media/image468.png"/><Relationship Id="rId15" Type="http://schemas.openxmlformats.org/officeDocument/2006/relationships/image" Target="../media/image469.png"/><Relationship Id="rId16" Type="http://schemas.openxmlformats.org/officeDocument/2006/relationships/image" Target="../media/image470.png"/><Relationship Id="rId17" Type="http://schemas.openxmlformats.org/officeDocument/2006/relationships/image" Target="../media/image471.png"/><Relationship Id="rId18" Type="http://schemas.openxmlformats.org/officeDocument/2006/relationships/image" Target="../media/image472.png"/><Relationship Id="rId19" Type="http://schemas.openxmlformats.org/officeDocument/2006/relationships/image" Target="../media/image473.png"/><Relationship Id="rId20" Type="http://schemas.openxmlformats.org/officeDocument/2006/relationships/image" Target="../media/image474.png"/><Relationship Id="rId21" Type="http://schemas.openxmlformats.org/officeDocument/2006/relationships/image" Target="../media/image475.png"/><Relationship Id="rId22" Type="http://schemas.openxmlformats.org/officeDocument/2006/relationships/image" Target="../media/image476.png"/><Relationship Id="rId23" Type="http://schemas.openxmlformats.org/officeDocument/2006/relationships/image" Target="../media/image477.png"/><Relationship Id="rId24" Type="http://schemas.openxmlformats.org/officeDocument/2006/relationships/image" Target="../media/image478.png"/><Relationship Id="rId25" Type="http://schemas.openxmlformats.org/officeDocument/2006/relationships/image" Target="../media/image47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0.png"/><Relationship Id="rId3" Type="http://schemas.openxmlformats.org/officeDocument/2006/relationships/image" Target="../media/image481.png"/><Relationship Id="rId4" Type="http://schemas.openxmlformats.org/officeDocument/2006/relationships/image" Target="../media/image482.png"/><Relationship Id="rId5" Type="http://schemas.openxmlformats.org/officeDocument/2006/relationships/image" Target="../media/image483.png"/><Relationship Id="rId6" Type="http://schemas.openxmlformats.org/officeDocument/2006/relationships/image" Target="../media/image484.png"/><Relationship Id="rId7" Type="http://schemas.openxmlformats.org/officeDocument/2006/relationships/image" Target="../media/image485.png"/><Relationship Id="rId8" Type="http://schemas.openxmlformats.org/officeDocument/2006/relationships/image" Target="../media/image486.png"/><Relationship Id="rId9" Type="http://schemas.openxmlformats.org/officeDocument/2006/relationships/image" Target="../media/image487.png"/><Relationship Id="rId10" Type="http://schemas.openxmlformats.org/officeDocument/2006/relationships/image" Target="../media/image488.png"/><Relationship Id="rId11" Type="http://schemas.openxmlformats.org/officeDocument/2006/relationships/image" Target="../media/image489.png"/><Relationship Id="rId12" Type="http://schemas.openxmlformats.org/officeDocument/2006/relationships/image" Target="../media/image490.png"/><Relationship Id="rId13" Type="http://schemas.openxmlformats.org/officeDocument/2006/relationships/image" Target="../media/image491.png"/><Relationship Id="rId14" Type="http://schemas.openxmlformats.org/officeDocument/2006/relationships/image" Target="../media/image492.png"/><Relationship Id="rId15" Type="http://schemas.openxmlformats.org/officeDocument/2006/relationships/image" Target="../media/image493.png"/><Relationship Id="rId16" Type="http://schemas.openxmlformats.org/officeDocument/2006/relationships/image" Target="../media/image494.png"/><Relationship Id="rId17" Type="http://schemas.openxmlformats.org/officeDocument/2006/relationships/image" Target="../media/image495.png"/><Relationship Id="rId18" Type="http://schemas.openxmlformats.org/officeDocument/2006/relationships/image" Target="../media/image496.png"/><Relationship Id="rId19" Type="http://schemas.openxmlformats.org/officeDocument/2006/relationships/image" Target="../media/image497.png"/><Relationship Id="rId20" Type="http://schemas.openxmlformats.org/officeDocument/2006/relationships/image" Target="../media/image498.png"/><Relationship Id="rId21" Type="http://schemas.openxmlformats.org/officeDocument/2006/relationships/image" Target="../media/image499.png"/><Relationship Id="rId22" Type="http://schemas.openxmlformats.org/officeDocument/2006/relationships/image" Target="../media/image500.png"/><Relationship Id="rId23" Type="http://schemas.openxmlformats.org/officeDocument/2006/relationships/image" Target="../media/image501.png"/><Relationship Id="rId24" Type="http://schemas.openxmlformats.org/officeDocument/2006/relationships/image" Target="../media/image502.png"/><Relationship Id="rId25" Type="http://schemas.openxmlformats.org/officeDocument/2006/relationships/image" Target="../media/image503.png"/><Relationship Id="rId26" Type="http://schemas.openxmlformats.org/officeDocument/2006/relationships/image" Target="../media/image50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05.png"/><Relationship Id="rId4" Type="http://schemas.openxmlformats.org/officeDocument/2006/relationships/image" Target="../media/image506.png"/><Relationship Id="rId5" Type="http://schemas.openxmlformats.org/officeDocument/2006/relationships/image" Target="../media/image507.png"/><Relationship Id="rId6" Type="http://schemas.openxmlformats.org/officeDocument/2006/relationships/image" Target="../media/image508.png"/><Relationship Id="rId7" Type="http://schemas.openxmlformats.org/officeDocument/2006/relationships/image" Target="../media/image509.png"/><Relationship Id="rId8" Type="http://schemas.openxmlformats.org/officeDocument/2006/relationships/image" Target="../media/image510.png"/><Relationship Id="rId9" Type="http://schemas.openxmlformats.org/officeDocument/2006/relationships/image" Target="../media/image511.png"/><Relationship Id="rId10" Type="http://schemas.openxmlformats.org/officeDocument/2006/relationships/image" Target="../media/image512.png"/><Relationship Id="rId11" Type="http://schemas.openxmlformats.org/officeDocument/2006/relationships/image" Target="../media/image513.png"/><Relationship Id="rId12" Type="http://schemas.openxmlformats.org/officeDocument/2006/relationships/image" Target="../media/image514.png"/><Relationship Id="rId13" Type="http://schemas.openxmlformats.org/officeDocument/2006/relationships/image" Target="../media/image515.png"/><Relationship Id="rId14" Type="http://schemas.openxmlformats.org/officeDocument/2006/relationships/image" Target="../media/image516.png"/><Relationship Id="rId15" Type="http://schemas.openxmlformats.org/officeDocument/2006/relationships/image" Target="../media/image517.png"/><Relationship Id="rId16" Type="http://schemas.openxmlformats.org/officeDocument/2006/relationships/image" Target="../media/image518.png"/><Relationship Id="rId17" Type="http://schemas.openxmlformats.org/officeDocument/2006/relationships/image" Target="../media/image519.png"/><Relationship Id="rId18" Type="http://schemas.openxmlformats.org/officeDocument/2006/relationships/image" Target="../media/image520.png"/><Relationship Id="rId19" Type="http://schemas.openxmlformats.org/officeDocument/2006/relationships/image" Target="../media/image521.png"/><Relationship Id="rId20" Type="http://schemas.openxmlformats.org/officeDocument/2006/relationships/image" Target="../media/image522.png"/><Relationship Id="rId21" Type="http://schemas.openxmlformats.org/officeDocument/2006/relationships/image" Target="../media/image523.png"/><Relationship Id="rId22" Type="http://schemas.openxmlformats.org/officeDocument/2006/relationships/image" Target="../media/image524.png"/><Relationship Id="rId23" Type="http://schemas.openxmlformats.org/officeDocument/2006/relationships/image" Target="../media/image525.png"/><Relationship Id="rId24" Type="http://schemas.openxmlformats.org/officeDocument/2006/relationships/image" Target="../media/image526.png"/><Relationship Id="rId25" Type="http://schemas.openxmlformats.org/officeDocument/2006/relationships/image" Target="../media/image527.png"/><Relationship Id="rId26" Type="http://schemas.openxmlformats.org/officeDocument/2006/relationships/image" Target="../media/image528.png"/><Relationship Id="rId27" Type="http://schemas.openxmlformats.org/officeDocument/2006/relationships/image" Target="../media/image529.png"/><Relationship Id="rId28" Type="http://schemas.openxmlformats.org/officeDocument/2006/relationships/image" Target="../media/image530.png"/><Relationship Id="rId29" Type="http://schemas.openxmlformats.org/officeDocument/2006/relationships/image" Target="../media/image531.png"/><Relationship Id="rId30" Type="http://schemas.openxmlformats.org/officeDocument/2006/relationships/image" Target="../media/image532.png"/><Relationship Id="rId31" Type="http://schemas.openxmlformats.org/officeDocument/2006/relationships/image" Target="../media/image533.png"/><Relationship Id="rId32" Type="http://schemas.openxmlformats.org/officeDocument/2006/relationships/image" Target="../media/image534.png"/><Relationship Id="rId33" Type="http://schemas.openxmlformats.org/officeDocument/2006/relationships/image" Target="../media/image535.png"/><Relationship Id="rId34" Type="http://schemas.openxmlformats.org/officeDocument/2006/relationships/image" Target="../media/image536.png"/><Relationship Id="rId35" Type="http://schemas.openxmlformats.org/officeDocument/2006/relationships/image" Target="../media/image537.png"/><Relationship Id="rId36" Type="http://schemas.openxmlformats.org/officeDocument/2006/relationships/image" Target="../media/image538.png"/><Relationship Id="rId37" Type="http://schemas.openxmlformats.org/officeDocument/2006/relationships/image" Target="../media/image539.png"/><Relationship Id="rId38" Type="http://schemas.openxmlformats.org/officeDocument/2006/relationships/image" Target="../media/image540.png"/><Relationship Id="rId39" Type="http://schemas.openxmlformats.org/officeDocument/2006/relationships/image" Target="../media/image541.png"/><Relationship Id="rId40" Type="http://schemas.openxmlformats.org/officeDocument/2006/relationships/image" Target="../media/image542.png"/><Relationship Id="rId41" Type="http://schemas.openxmlformats.org/officeDocument/2006/relationships/image" Target="../media/image543.png"/><Relationship Id="rId42" Type="http://schemas.openxmlformats.org/officeDocument/2006/relationships/image" Target="../media/image544.png"/><Relationship Id="rId43" Type="http://schemas.openxmlformats.org/officeDocument/2006/relationships/image" Target="../media/image545.png"/><Relationship Id="rId44" Type="http://schemas.openxmlformats.org/officeDocument/2006/relationships/image" Target="../media/image546.png"/><Relationship Id="rId45" Type="http://schemas.openxmlformats.org/officeDocument/2006/relationships/image" Target="../media/image547.png"/><Relationship Id="rId46" Type="http://schemas.openxmlformats.org/officeDocument/2006/relationships/image" Target="../media/image548.png"/><Relationship Id="rId47" Type="http://schemas.openxmlformats.org/officeDocument/2006/relationships/image" Target="../media/image549.png"/><Relationship Id="rId48" Type="http://schemas.openxmlformats.org/officeDocument/2006/relationships/image" Target="../media/image550.png"/><Relationship Id="rId49" Type="http://schemas.openxmlformats.org/officeDocument/2006/relationships/image" Target="../media/image551.png"/><Relationship Id="rId50" Type="http://schemas.openxmlformats.org/officeDocument/2006/relationships/image" Target="../media/image552.png"/><Relationship Id="rId51" Type="http://schemas.openxmlformats.org/officeDocument/2006/relationships/image" Target="../media/image553.png"/><Relationship Id="rId52" Type="http://schemas.openxmlformats.org/officeDocument/2006/relationships/image" Target="../media/image554.png"/><Relationship Id="rId53" Type="http://schemas.openxmlformats.org/officeDocument/2006/relationships/image" Target="../media/image555.png"/><Relationship Id="rId54" Type="http://schemas.openxmlformats.org/officeDocument/2006/relationships/image" Target="../media/image556.png"/><Relationship Id="rId55" Type="http://schemas.openxmlformats.org/officeDocument/2006/relationships/image" Target="../media/image557.png"/><Relationship Id="rId56" Type="http://schemas.openxmlformats.org/officeDocument/2006/relationships/image" Target="../media/image558.png"/><Relationship Id="rId57" Type="http://schemas.openxmlformats.org/officeDocument/2006/relationships/image" Target="../media/image559.png"/><Relationship Id="rId58" Type="http://schemas.openxmlformats.org/officeDocument/2006/relationships/image" Target="../media/image560.png"/><Relationship Id="rId59" Type="http://schemas.openxmlformats.org/officeDocument/2006/relationships/image" Target="../media/image561.png"/><Relationship Id="rId60" Type="http://schemas.openxmlformats.org/officeDocument/2006/relationships/image" Target="../media/image562.png"/><Relationship Id="rId61" Type="http://schemas.openxmlformats.org/officeDocument/2006/relationships/image" Target="../media/image563.png"/><Relationship Id="rId62" Type="http://schemas.openxmlformats.org/officeDocument/2006/relationships/image" Target="../media/image564.png"/><Relationship Id="rId63" Type="http://schemas.openxmlformats.org/officeDocument/2006/relationships/image" Target="../media/image565.png"/><Relationship Id="rId64" Type="http://schemas.openxmlformats.org/officeDocument/2006/relationships/image" Target="../media/image566.png"/><Relationship Id="rId65" Type="http://schemas.openxmlformats.org/officeDocument/2006/relationships/image" Target="../media/image567.png"/><Relationship Id="rId66" Type="http://schemas.openxmlformats.org/officeDocument/2006/relationships/image" Target="../media/image568.png"/><Relationship Id="rId67" Type="http://schemas.openxmlformats.org/officeDocument/2006/relationships/image" Target="../media/image569.png"/><Relationship Id="rId68" Type="http://schemas.openxmlformats.org/officeDocument/2006/relationships/image" Target="../media/image570.png"/><Relationship Id="rId69" Type="http://schemas.openxmlformats.org/officeDocument/2006/relationships/image" Target="../media/image571.png"/><Relationship Id="rId70" Type="http://schemas.openxmlformats.org/officeDocument/2006/relationships/image" Target="../media/image572.png"/><Relationship Id="rId71" Type="http://schemas.openxmlformats.org/officeDocument/2006/relationships/image" Target="../media/image573.png"/><Relationship Id="rId72" Type="http://schemas.openxmlformats.org/officeDocument/2006/relationships/image" Target="../media/image574.png"/><Relationship Id="rId73" Type="http://schemas.openxmlformats.org/officeDocument/2006/relationships/image" Target="../media/image575.png"/><Relationship Id="rId74" Type="http://schemas.openxmlformats.org/officeDocument/2006/relationships/image" Target="../media/image576.png"/><Relationship Id="rId75" Type="http://schemas.openxmlformats.org/officeDocument/2006/relationships/image" Target="../media/image577.png"/><Relationship Id="rId76" Type="http://schemas.openxmlformats.org/officeDocument/2006/relationships/image" Target="../media/image578.png"/><Relationship Id="rId77" Type="http://schemas.openxmlformats.org/officeDocument/2006/relationships/image" Target="../media/image579.png"/><Relationship Id="rId78" Type="http://schemas.openxmlformats.org/officeDocument/2006/relationships/image" Target="../media/image580.png"/><Relationship Id="rId79" Type="http://schemas.openxmlformats.org/officeDocument/2006/relationships/image" Target="../media/image581.png"/><Relationship Id="rId80" Type="http://schemas.openxmlformats.org/officeDocument/2006/relationships/image" Target="../media/image582.png"/><Relationship Id="rId81" Type="http://schemas.openxmlformats.org/officeDocument/2006/relationships/image" Target="../media/image583.png"/><Relationship Id="rId82" Type="http://schemas.openxmlformats.org/officeDocument/2006/relationships/image" Target="../media/image584.png"/><Relationship Id="rId83" Type="http://schemas.openxmlformats.org/officeDocument/2006/relationships/image" Target="../media/image585.png"/><Relationship Id="rId84" Type="http://schemas.openxmlformats.org/officeDocument/2006/relationships/image" Target="../media/image586.png"/><Relationship Id="rId85" Type="http://schemas.openxmlformats.org/officeDocument/2006/relationships/image" Target="../media/image587.png"/><Relationship Id="rId86" Type="http://schemas.openxmlformats.org/officeDocument/2006/relationships/image" Target="../media/image588.png"/><Relationship Id="rId87" Type="http://schemas.openxmlformats.org/officeDocument/2006/relationships/image" Target="../media/image589.png"/><Relationship Id="rId88" Type="http://schemas.openxmlformats.org/officeDocument/2006/relationships/image" Target="../media/image590.png"/><Relationship Id="rId89" Type="http://schemas.openxmlformats.org/officeDocument/2006/relationships/image" Target="../media/image59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2.jpg"/><Relationship Id="rId3" Type="http://schemas.openxmlformats.org/officeDocument/2006/relationships/image" Target="../media/image593.jp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jpg"/><Relationship Id="rId7" Type="http://schemas.openxmlformats.org/officeDocument/2006/relationships/image" Target="../media/image597.jpg"/><Relationship Id="rId8" Type="http://schemas.openxmlformats.org/officeDocument/2006/relationships/image" Target="../media/image598.jpg"/><Relationship Id="rId9" Type="http://schemas.openxmlformats.org/officeDocument/2006/relationships/image" Target="../media/image599.jpg"/><Relationship Id="rId10" Type="http://schemas.openxmlformats.org/officeDocument/2006/relationships/image" Target="../media/image600.png"/><Relationship Id="rId11" Type="http://schemas.openxmlformats.org/officeDocument/2006/relationships/image" Target="../media/image60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jp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jpg"/><Relationship Id="rId8" Type="http://schemas.openxmlformats.org/officeDocument/2006/relationships/image" Target="../media/image608.jpg"/><Relationship Id="rId9" Type="http://schemas.openxmlformats.org/officeDocument/2006/relationships/image" Target="../media/image609.png"/><Relationship Id="rId10" Type="http://schemas.openxmlformats.org/officeDocument/2006/relationships/image" Target="../media/image610.jpg"/><Relationship Id="rId11" Type="http://schemas.openxmlformats.org/officeDocument/2006/relationships/image" Target="../media/image611.jp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7.png"/><Relationship Id="rId3" Type="http://schemas.openxmlformats.org/officeDocument/2006/relationships/image" Target="../media/image618.png"/><Relationship Id="rId4" Type="http://schemas.openxmlformats.org/officeDocument/2006/relationships/image" Target="../media/image619.png"/><Relationship Id="rId5" Type="http://schemas.openxmlformats.org/officeDocument/2006/relationships/image" Target="../media/image620.png"/><Relationship Id="rId6" Type="http://schemas.openxmlformats.org/officeDocument/2006/relationships/image" Target="../media/image621.jpg"/><Relationship Id="rId7" Type="http://schemas.openxmlformats.org/officeDocument/2006/relationships/image" Target="../media/image62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3.png"/><Relationship Id="rId3" Type="http://schemas.openxmlformats.org/officeDocument/2006/relationships/image" Target="../media/image624.png"/><Relationship Id="rId4" Type="http://schemas.openxmlformats.org/officeDocument/2006/relationships/image" Target="../media/image625.png"/><Relationship Id="rId5" Type="http://schemas.openxmlformats.org/officeDocument/2006/relationships/image" Target="../media/image626.png"/><Relationship Id="rId6" Type="http://schemas.openxmlformats.org/officeDocument/2006/relationships/image" Target="../media/image627.png"/><Relationship Id="rId7" Type="http://schemas.openxmlformats.org/officeDocument/2006/relationships/image" Target="../media/image628.png"/><Relationship Id="rId8" Type="http://schemas.openxmlformats.org/officeDocument/2006/relationships/image" Target="../media/image629.png"/><Relationship Id="rId9" Type="http://schemas.openxmlformats.org/officeDocument/2006/relationships/image" Target="../media/image630.png"/><Relationship Id="rId10" Type="http://schemas.openxmlformats.org/officeDocument/2006/relationships/image" Target="../media/image631.png"/><Relationship Id="rId11" Type="http://schemas.openxmlformats.org/officeDocument/2006/relationships/image" Target="../media/image632.png"/><Relationship Id="rId12" Type="http://schemas.openxmlformats.org/officeDocument/2006/relationships/image" Target="../media/image633.jpg"/><Relationship Id="rId13" Type="http://schemas.openxmlformats.org/officeDocument/2006/relationships/image" Target="../media/image63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5.png"/><Relationship Id="rId3" Type="http://schemas.openxmlformats.org/officeDocument/2006/relationships/image" Target="../media/image636.jpg"/><Relationship Id="rId4" Type="http://schemas.openxmlformats.org/officeDocument/2006/relationships/image" Target="../media/image637.jpg"/><Relationship Id="rId5" Type="http://schemas.openxmlformats.org/officeDocument/2006/relationships/image" Target="../media/image610.jpg"/><Relationship Id="rId6" Type="http://schemas.openxmlformats.org/officeDocument/2006/relationships/image" Target="../media/image638.jpg"/><Relationship Id="rId7" Type="http://schemas.openxmlformats.org/officeDocument/2006/relationships/image" Target="../media/image639.png"/><Relationship Id="rId8" Type="http://schemas.openxmlformats.org/officeDocument/2006/relationships/image" Target="../media/image640.jpg"/><Relationship Id="rId9" Type="http://schemas.openxmlformats.org/officeDocument/2006/relationships/image" Target="../media/image641.png"/><Relationship Id="rId10" Type="http://schemas.openxmlformats.org/officeDocument/2006/relationships/image" Target="../media/image642.png"/><Relationship Id="rId11" Type="http://schemas.openxmlformats.org/officeDocument/2006/relationships/image" Target="../media/image643.png"/><Relationship Id="rId12" Type="http://schemas.openxmlformats.org/officeDocument/2006/relationships/image" Target="../media/image644.png"/><Relationship Id="rId13" Type="http://schemas.openxmlformats.org/officeDocument/2006/relationships/image" Target="../media/image645.png"/><Relationship Id="rId14" Type="http://schemas.openxmlformats.org/officeDocument/2006/relationships/image" Target="../media/image646.png"/><Relationship Id="rId15" Type="http://schemas.openxmlformats.org/officeDocument/2006/relationships/image" Target="../media/image647.jpg"/><Relationship Id="rId16" Type="http://schemas.openxmlformats.org/officeDocument/2006/relationships/image" Target="../media/image648.jpg"/><Relationship Id="rId17" Type="http://schemas.openxmlformats.org/officeDocument/2006/relationships/image" Target="../media/image649.png"/><Relationship Id="rId18" Type="http://schemas.openxmlformats.org/officeDocument/2006/relationships/image" Target="../media/image650.png"/><Relationship Id="rId19" Type="http://schemas.openxmlformats.org/officeDocument/2006/relationships/image" Target="../media/image651.png"/><Relationship Id="rId20" Type="http://schemas.openxmlformats.org/officeDocument/2006/relationships/image" Target="../media/image652.png"/><Relationship Id="rId21" Type="http://schemas.openxmlformats.org/officeDocument/2006/relationships/image" Target="../media/image653.png"/><Relationship Id="rId22" Type="http://schemas.openxmlformats.org/officeDocument/2006/relationships/image" Target="../media/image654.png"/><Relationship Id="rId23" Type="http://schemas.openxmlformats.org/officeDocument/2006/relationships/image" Target="../media/image655.png"/><Relationship Id="rId24" Type="http://schemas.openxmlformats.org/officeDocument/2006/relationships/image" Target="../media/image656.png"/><Relationship Id="rId25" Type="http://schemas.openxmlformats.org/officeDocument/2006/relationships/image" Target="../media/image657.png"/><Relationship Id="rId26" Type="http://schemas.openxmlformats.org/officeDocument/2006/relationships/image" Target="../media/image658.png"/><Relationship Id="rId27" Type="http://schemas.openxmlformats.org/officeDocument/2006/relationships/image" Target="../media/image659.png"/><Relationship Id="rId28" Type="http://schemas.openxmlformats.org/officeDocument/2006/relationships/image" Target="../media/image660.png"/><Relationship Id="rId29" Type="http://schemas.openxmlformats.org/officeDocument/2006/relationships/image" Target="../media/image661.png"/><Relationship Id="rId30" Type="http://schemas.openxmlformats.org/officeDocument/2006/relationships/image" Target="../media/image662.png"/><Relationship Id="rId31" Type="http://schemas.openxmlformats.org/officeDocument/2006/relationships/image" Target="../media/image66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4.jpg"/><Relationship Id="rId3" Type="http://schemas.openxmlformats.org/officeDocument/2006/relationships/image" Target="../media/image665.jpg"/><Relationship Id="rId4" Type="http://schemas.openxmlformats.org/officeDocument/2006/relationships/image" Target="../media/image666.jpg"/><Relationship Id="rId5" Type="http://schemas.openxmlformats.org/officeDocument/2006/relationships/image" Target="../media/image667.jpg"/><Relationship Id="rId6" Type="http://schemas.openxmlformats.org/officeDocument/2006/relationships/image" Target="../media/image668.jpg"/><Relationship Id="rId7" Type="http://schemas.openxmlformats.org/officeDocument/2006/relationships/image" Target="../media/image66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71.jpg"/><Relationship Id="rId3" Type="http://schemas.openxmlformats.org/officeDocument/2006/relationships/image" Target="../media/image67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3.jpg"/><Relationship Id="rId3" Type="http://schemas.openxmlformats.org/officeDocument/2006/relationships/image" Target="../media/image674.jpg"/><Relationship Id="rId4" Type="http://schemas.openxmlformats.org/officeDocument/2006/relationships/image" Target="../media/image675.png"/><Relationship Id="rId5" Type="http://schemas.openxmlformats.org/officeDocument/2006/relationships/image" Target="../media/image676.png"/><Relationship Id="rId6" Type="http://schemas.openxmlformats.org/officeDocument/2006/relationships/image" Target="../media/image67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8.png"/><Relationship Id="rId3" Type="http://schemas.openxmlformats.org/officeDocument/2006/relationships/image" Target="../media/image679.jpg"/><Relationship Id="rId4" Type="http://schemas.openxmlformats.org/officeDocument/2006/relationships/image" Target="../media/image68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1.png"/><Relationship Id="rId3" Type="http://schemas.openxmlformats.org/officeDocument/2006/relationships/image" Target="../media/image682.png"/><Relationship Id="rId4" Type="http://schemas.openxmlformats.org/officeDocument/2006/relationships/image" Target="../media/image683.png"/><Relationship Id="rId5" Type="http://schemas.openxmlformats.org/officeDocument/2006/relationships/image" Target="../media/image684.jpg"/><Relationship Id="rId6" Type="http://schemas.openxmlformats.org/officeDocument/2006/relationships/image" Target="../media/image685.jpg"/><Relationship Id="rId7" Type="http://schemas.openxmlformats.org/officeDocument/2006/relationships/image" Target="../media/image686.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7.png"/><Relationship Id="rId3" Type="http://schemas.openxmlformats.org/officeDocument/2006/relationships/image" Target="../media/image688.jpg"/><Relationship Id="rId4" Type="http://schemas.openxmlformats.org/officeDocument/2006/relationships/image" Target="../media/image689.png"/><Relationship Id="rId5" Type="http://schemas.openxmlformats.org/officeDocument/2006/relationships/image" Target="../media/image690.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1.jpg"/><Relationship Id="rId3" Type="http://schemas.openxmlformats.org/officeDocument/2006/relationships/image" Target="../media/image692.jpg"/><Relationship Id="rId4" Type="http://schemas.openxmlformats.org/officeDocument/2006/relationships/image" Target="../media/image69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94.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7.jpg"/><Relationship Id="rId3" Type="http://schemas.openxmlformats.org/officeDocument/2006/relationships/image" Target="../media/image268.jpg"/><Relationship Id="rId4" Type="http://schemas.openxmlformats.org/officeDocument/2006/relationships/image" Target="../media/image269.jpg"/><Relationship Id="rId5" Type="http://schemas.openxmlformats.org/officeDocument/2006/relationships/image" Target="../media/image270.jpg"/><Relationship Id="rId6" Type="http://schemas.openxmlformats.org/officeDocument/2006/relationships/image" Target="../media/image271.jpg"/><Relationship Id="rId7" Type="http://schemas.openxmlformats.org/officeDocument/2006/relationships/image" Target="../media/image272.jpg"/><Relationship Id="rId8" Type="http://schemas.openxmlformats.org/officeDocument/2006/relationships/image" Target="../media/image273.jpg"/><Relationship Id="rId9" Type="http://schemas.openxmlformats.org/officeDocument/2006/relationships/image" Target="../media/image274.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5.png"/><Relationship Id="rId3" Type="http://schemas.openxmlformats.org/officeDocument/2006/relationships/image" Target="../media/image696.png"/><Relationship Id="rId4" Type="http://schemas.openxmlformats.org/officeDocument/2006/relationships/image" Target="../media/image697.png"/><Relationship Id="rId5" Type="http://schemas.openxmlformats.org/officeDocument/2006/relationships/image" Target="../media/image698.png"/><Relationship Id="rId6" Type="http://schemas.openxmlformats.org/officeDocument/2006/relationships/image" Target="../media/image699.png"/><Relationship Id="rId7" Type="http://schemas.openxmlformats.org/officeDocument/2006/relationships/image" Target="../media/image700.png"/><Relationship Id="rId8" Type="http://schemas.openxmlformats.org/officeDocument/2006/relationships/image" Target="../media/image701.png"/><Relationship Id="rId9" Type="http://schemas.openxmlformats.org/officeDocument/2006/relationships/image" Target="../media/image702.png"/><Relationship Id="rId10" Type="http://schemas.openxmlformats.org/officeDocument/2006/relationships/image" Target="../media/image703.png"/><Relationship Id="rId11" Type="http://schemas.openxmlformats.org/officeDocument/2006/relationships/image" Target="../media/image704.png"/><Relationship Id="rId12" Type="http://schemas.openxmlformats.org/officeDocument/2006/relationships/image" Target="../media/image705.png"/><Relationship Id="rId13" Type="http://schemas.openxmlformats.org/officeDocument/2006/relationships/image" Target="../media/image706.png"/><Relationship Id="rId14" Type="http://schemas.openxmlformats.org/officeDocument/2006/relationships/image" Target="../media/image707.png"/><Relationship Id="rId15" Type="http://schemas.openxmlformats.org/officeDocument/2006/relationships/image" Target="../media/image708.png"/><Relationship Id="rId16" Type="http://schemas.openxmlformats.org/officeDocument/2006/relationships/image" Target="../media/image709.png"/><Relationship Id="rId17" Type="http://schemas.openxmlformats.org/officeDocument/2006/relationships/image" Target="../media/image710.png"/><Relationship Id="rId18" Type="http://schemas.openxmlformats.org/officeDocument/2006/relationships/image" Target="../media/image711.png"/><Relationship Id="rId19" Type="http://schemas.openxmlformats.org/officeDocument/2006/relationships/image" Target="../media/image712.png"/><Relationship Id="rId20" Type="http://schemas.openxmlformats.org/officeDocument/2006/relationships/image" Target="../media/image713.png"/><Relationship Id="rId21" Type="http://schemas.openxmlformats.org/officeDocument/2006/relationships/image" Target="../media/image714.png"/><Relationship Id="rId22" Type="http://schemas.openxmlformats.org/officeDocument/2006/relationships/image" Target="../media/image715.png"/><Relationship Id="rId23" Type="http://schemas.openxmlformats.org/officeDocument/2006/relationships/image" Target="../media/image71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7.png"/><Relationship Id="rId3" Type="http://schemas.openxmlformats.org/officeDocument/2006/relationships/image" Target="../media/image718.png"/><Relationship Id="rId4" Type="http://schemas.openxmlformats.org/officeDocument/2006/relationships/image" Target="../media/image719.png"/><Relationship Id="rId5" Type="http://schemas.openxmlformats.org/officeDocument/2006/relationships/image" Target="../media/image720.png"/><Relationship Id="rId6" Type="http://schemas.openxmlformats.org/officeDocument/2006/relationships/image" Target="../media/image721.png"/><Relationship Id="rId7" Type="http://schemas.openxmlformats.org/officeDocument/2006/relationships/image" Target="../media/image722.png"/><Relationship Id="rId8" Type="http://schemas.openxmlformats.org/officeDocument/2006/relationships/image" Target="../media/image723.png"/><Relationship Id="rId9" Type="http://schemas.openxmlformats.org/officeDocument/2006/relationships/image" Target="../media/image724.png"/><Relationship Id="rId10" Type="http://schemas.openxmlformats.org/officeDocument/2006/relationships/image" Target="../media/image725.png"/><Relationship Id="rId11" Type="http://schemas.openxmlformats.org/officeDocument/2006/relationships/image" Target="../media/image726.png"/><Relationship Id="rId12" Type="http://schemas.openxmlformats.org/officeDocument/2006/relationships/image" Target="../media/image727.png"/><Relationship Id="rId13" Type="http://schemas.openxmlformats.org/officeDocument/2006/relationships/image" Target="../media/image728.png"/><Relationship Id="rId14" Type="http://schemas.openxmlformats.org/officeDocument/2006/relationships/image" Target="../media/image729.png"/><Relationship Id="rId15" Type="http://schemas.openxmlformats.org/officeDocument/2006/relationships/image" Target="../media/image730.png"/><Relationship Id="rId16" Type="http://schemas.openxmlformats.org/officeDocument/2006/relationships/image" Target="../media/image731.png"/><Relationship Id="rId17" Type="http://schemas.openxmlformats.org/officeDocument/2006/relationships/image" Target="../media/image732.png"/><Relationship Id="rId18" Type="http://schemas.openxmlformats.org/officeDocument/2006/relationships/image" Target="../media/image733.png"/><Relationship Id="rId19" Type="http://schemas.openxmlformats.org/officeDocument/2006/relationships/image" Target="../media/image734.png"/><Relationship Id="rId20" Type="http://schemas.openxmlformats.org/officeDocument/2006/relationships/image" Target="../media/image735.png"/><Relationship Id="rId21" Type="http://schemas.openxmlformats.org/officeDocument/2006/relationships/image" Target="../media/image736.png"/><Relationship Id="rId22" Type="http://schemas.openxmlformats.org/officeDocument/2006/relationships/image" Target="../media/image737.png"/><Relationship Id="rId23" Type="http://schemas.openxmlformats.org/officeDocument/2006/relationships/image" Target="../media/image738.png"/><Relationship Id="rId24" Type="http://schemas.openxmlformats.org/officeDocument/2006/relationships/image" Target="../media/image739.png"/><Relationship Id="rId25" Type="http://schemas.openxmlformats.org/officeDocument/2006/relationships/image" Target="../media/image740.png"/><Relationship Id="rId26" Type="http://schemas.openxmlformats.org/officeDocument/2006/relationships/image" Target="../media/image741.png"/><Relationship Id="rId27" Type="http://schemas.openxmlformats.org/officeDocument/2006/relationships/image" Target="../media/image742.png"/><Relationship Id="rId28" Type="http://schemas.openxmlformats.org/officeDocument/2006/relationships/image" Target="../media/image743.png"/><Relationship Id="rId29" Type="http://schemas.openxmlformats.org/officeDocument/2006/relationships/image" Target="../media/image744.png"/><Relationship Id="rId30" Type="http://schemas.openxmlformats.org/officeDocument/2006/relationships/image" Target="../media/image745.png"/><Relationship Id="rId31" Type="http://schemas.openxmlformats.org/officeDocument/2006/relationships/image" Target="../media/image746.png"/><Relationship Id="rId32" Type="http://schemas.openxmlformats.org/officeDocument/2006/relationships/image" Target="../media/image747.png"/><Relationship Id="rId33" Type="http://schemas.openxmlformats.org/officeDocument/2006/relationships/image" Target="../media/image748.png"/><Relationship Id="rId34" Type="http://schemas.openxmlformats.org/officeDocument/2006/relationships/image" Target="../media/image749.png"/><Relationship Id="rId35" Type="http://schemas.openxmlformats.org/officeDocument/2006/relationships/image" Target="../media/image75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1.png"/><Relationship Id="rId3" Type="http://schemas.openxmlformats.org/officeDocument/2006/relationships/image" Target="../media/image752.png"/><Relationship Id="rId4" Type="http://schemas.openxmlformats.org/officeDocument/2006/relationships/image" Target="../media/image753.png"/><Relationship Id="rId5" Type="http://schemas.openxmlformats.org/officeDocument/2006/relationships/image" Target="../media/image754.png"/><Relationship Id="rId6" Type="http://schemas.openxmlformats.org/officeDocument/2006/relationships/image" Target="../media/image755.png"/><Relationship Id="rId7" Type="http://schemas.openxmlformats.org/officeDocument/2006/relationships/image" Target="../media/image756.png"/><Relationship Id="rId8" Type="http://schemas.openxmlformats.org/officeDocument/2006/relationships/image" Target="../media/image757.png"/><Relationship Id="rId9" Type="http://schemas.openxmlformats.org/officeDocument/2006/relationships/image" Target="../media/image758.jpg"/><Relationship Id="rId10" Type="http://schemas.openxmlformats.org/officeDocument/2006/relationships/image" Target="../media/image759.jpg"/><Relationship Id="rId11" Type="http://schemas.openxmlformats.org/officeDocument/2006/relationships/image" Target="../media/image760.jpg"/><Relationship Id="rId12" Type="http://schemas.openxmlformats.org/officeDocument/2006/relationships/image" Target="../media/image761.png"/><Relationship Id="rId13" Type="http://schemas.openxmlformats.org/officeDocument/2006/relationships/image" Target="../media/image762.png"/><Relationship Id="rId14" Type="http://schemas.openxmlformats.org/officeDocument/2006/relationships/image" Target="../media/image763.png"/><Relationship Id="rId15" Type="http://schemas.openxmlformats.org/officeDocument/2006/relationships/image" Target="../media/image764.png"/><Relationship Id="rId16" Type="http://schemas.openxmlformats.org/officeDocument/2006/relationships/image" Target="../media/image765.png"/><Relationship Id="rId17" Type="http://schemas.openxmlformats.org/officeDocument/2006/relationships/image" Target="../media/image766.jpg"/><Relationship Id="rId18" Type="http://schemas.openxmlformats.org/officeDocument/2006/relationships/image" Target="../media/image767.png"/><Relationship Id="rId19" Type="http://schemas.openxmlformats.org/officeDocument/2006/relationships/image" Target="../media/image768.png"/><Relationship Id="rId20" Type="http://schemas.openxmlformats.org/officeDocument/2006/relationships/image" Target="../media/image769.png"/><Relationship Id="rId21" Type="http://schemas.openxmlformats.org/officeDocument/2006/relationships/image" Target="../media/image770.png"/><Relationship Id="rId22" Type="http://schemas.openxmlformats.org/officeDocument/2006/relationships/image" Target="../media/image77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2.jpg"/><Relationship Id="rId3" Type="http://schemas.openxmlformats.org/officeDocument/2006/relationships/image" Target="../media/image773.jpg"/><Relationship Id="rId4" Type="http://schemas.openxmlformats.org/officeDocument/2006/relationships/image" Target="../media/image774.jpg"/><Relationship Id="rId5" Type="http://schemas.openxmlformats.org/officeDocument/2006/relationships/image" Target="../media/image775.jpg"/><Relationship Id="rId6" Type="http://schemas.openxmlformats.org/officeDocument/2006/relationships/image" Target="../media/image776.png"/><Relationship Id="rId7" Type="http://schemas.openxmlformats.org/officeDocument/2006/relationships/image" Target="../media/image777.png"/><Relationship Id="rId8" Type="http://schemas.openxmlformats.org/officeDocument/2006/relationships/image" Target="../media/image778.png"/><Relationship Id="rId9" Type="http://schemas.openxmlformats.org/officeDocument/2006/relationships/image" Target="../media/image779.png"/><Relationship Id="rId10" Type="http://schemas.openxmlformats.org/officeDocument/2006/relationships/image" Target="../media/image780.png"/><Relationship Id="rId11" Type="http://schemas.openxmlformats.org/officeDocument/2006/relationships/image" Target="../media/image781.png"/><Relationship Id="rId12" Type="http://schemas.openxmlformats.org/officeDocument/2006/relationships/image" Target="../media/image782.png"/><Relationship Id="rId13" Type="http://schemas.openxmlformats.org/officeDocument/2006/relationships/image" Target="../media/image783.png"/><Relationship Id="rId14" Type="http://schemas.openxmlformats.org/officeDocument/2006/relationships/image" Target="../media/image784.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5.jpg"/><Relationship Id="rId3" Type="http://schemas.openxmlformats.org/officeDocument/2006/relationships/image" Target="../media/image786.png"/><Relationship Id="rId4" Type="http://schemas.openxmlformats.org/officeDocument/2006/relationships/image" Target="../media/image787.png"/><Relationship Id="rId5" Type="http://schemas.openxmlformats.org/officeDocument/2006/relationships/image" Target="../media/image788.jpg"/><Relationship Id="rId6" Type="http://schemas.openxmlformats.org/officeDocument/2006/relationships/image" Target="../media/image789.jpg"/><Relationship Id="rId7" Type="http://schemas.openxmlformats.org/officeDocument/2006/relationships/image" Target="../media/image790.jpg"/><Relationship Id="rId8" Type="http://schemas.openxmlformats.org/officeDocument/2006/relationships/image" Target="../media/image791.jpg"/><Relationship Id="rId9" Type="http://schemas.openxmlformats.org/officeDocument/2006/relationships/image" Target="../media/image792.png"/><Relationship Id="rId10" Type="http://schemas.openxmlformats.org/officeDocument/2006/relationships/image" Target="../media/image79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4.jpg"/><Relationship Id="rId3" Type="http://schemas.openxmlformats.org/officeDocument/2006/relationships/image" Target="../media/image795.jpg"/><Relationship Id="rId4" Type="http://schemas.openxmlformats.org/officeDocument/2006/relationships/image" Target="../media/image796.png"/><Relationship Id="rId5" Type="http://schemas.openxmlformats.org/officeDocument/2006/relationships/image" Target="../media/image797.png"/><Relationship Id="rId6" Type="http://schemas.openxmlformats.org/officeDocument/2006/relationships/image" Target="../media/image798.png"/><Relationship Id="rId7" Type="http://schemas.openxmlformats.org/officeDocument/2006/relationships/image" Target="../media/image799.png"/><Relationship Id="rId8" Type="http://schemas.openxmlformats.org/officeDocument/2006/relationships/image" Target="../media/image800.png"/><Relationship Id="rId9" Type="http://schemas.openxmlformats.org/officeDocument/2006/relationships/image" Target="../media/image801.png"/><Relationship Id="rId10" Type="http://schemas.openxmlformats.org/officeDocument/2006/relationships/image" Target="../media/image80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3.jpg"/><Relationship Id="rId3" Type="http://schemas.openxmlformats.org/officeDocument/2006/relationships/image" Target="../media/image804.jpg"/><Relationship Id="rId4" Type="http://schemas.openxmlformats.org/officeDocument/2006/relationships/image" Target="../media/image805.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6.png"/><Relationship Id="rId3" Type="http://schemas.openxmlformats.org/officeDocument/2006/relationships/image" Target="../media/image807.png"/><Relationship Id="rId4" Type="http://schemas.openxmlformats.org/officeDocument/2006/relationships/image" Target="../media/image808.png"/><Relationship Id="rId5" Type="http://schemas.openxmlformats.org/officeDocument/2006/relationships/image" Target="../media/image809.png"/><Relationship Id="rId6" Type="http://schemas.openxmlformats.org/officeDocument/2006/relationships/image" Target="../media/image810.png"/><Relationship Id="rId7" Type="http://schemas.openxmlformats.org/officeDocument/2006/relationships/image" Target="../media/image811.png"/><Relationship Id="rId8" Type="http://schemas.openxmlformats.org/officeDocument/2006/relationships/image" Target="../media/image812.png"/><Relationship Id="rId9" Type="http://schemas.openxmlformats.org/officeDocument/2006/relationships/image" Target="../media/image81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4.jpg"/><Relationship Id="rId3" Type="http://schemas.openxmlformats.org/officeDocument/2006/relationships/image" Target="../media/image815.jpg"/><Relationship Id="rId4" Type="http://schemas.openxmlformats.org/officeDocument/2006/relationships/image" Target="../media/image816.png"/><Relationship Id="rId5" Type="http://schemas.openxmlformats.org/officeDocument/2006/relationships/image" Target="../media/image817.jpg"/><Relationship Id="rId6" Type="http://schemas.openxmlformats.org/officeDocument/2006/relationships/image" Target="../media/image818.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9.png"/><Relationship Id="rId3" Type="http://schemas.openxmlformats.org/officeDocument/2006/relationships/image" Target="../media/image820.png"/><Relationship Id="rId4" Type="http://schemas.openxmlformats.org/officeDocument/2006/relationships/image" Target="../media/image821.png"/><Relationship Id="rId5" Type="http://schemas.openxmlformats.org/officeDocument/2006/relationships/image" Target="../media/image822.jpg"/><Relationship Id="rId6" Type="http://schemas.openxmlformats.org/officeDocument/2006/relationships/image" Target="../media/image823.jpg"/><Relationship Id="rId7" Type="http://schemas.openxmlformats.org/officeDocument/2006/relationships/image" Target="../media/image824.png"/><Relationship Id="rId8" Type="http://schemas.openxmlformats.org/officeDocument/2006/relationships/image" Target="../media/image82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6.jpg"/><Relationship Id="rId3" Type="http://schemas.openxmlformats.org/officeDocument/2006/relationships/image" Target="../media/image827.jpg"/><Relationship Id="rId4" Type="http://schemas.openxmlformats.org/officeDocument/2006/relationships/image" Target="../media/image828.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0.jpg"/><Relationship Id="rId3" Type="http://schemas.openxmlformats.org/officeDocument/2006/relationships/image" Target="../media/image831.jpg"/><Relationship Id="rId4" Type="http://schemas.openxmlformats.org/officeDocument/2006/relationships/image" Target="../media/image832.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3.jpg"/><Relationship Id="rId3" Type="http://schemas.openxmlformats.org/officeDocument/2006/relationships/image" Target="../media/image834.jpg"/><Relationship Id="rId4" Type="http://schemas.openxmlformats.org/officeDocument/2006/relationships/image" Target="../media/image835.png"/><Relationship Id="rId5" Type="http://schemas.openxmlformats.org/officeDocument/2006/relationships/image" Target="../media/image836.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7.png"/><Relationship Id="rId3" Type="http://schemas.openxmlformats.org/officeDocument/2006/relationships/image" Target="../media/image838.png"/><Relationship Id="rId4" Type="http://schemas.openxmlformats.org/officeDocument/2006/relationships/image" Target="../media/image839.png"/><Relationship Id="rId5" Type="http://schemas.openxmlformats.org/officeDocument/2006/relationships/image" Target="../media/image840.png"/><Relationship Id="rId6" Type="http://schemas.openxmlformats.org/officeDocument/2006/relationships/image" Target="../media/image841.png"/><Relationship Id="rId7" Type="http://schemas.openxmlformats.org/officeDocument/2006/relationships/image" Target="../media/image842.png"/><Relationship Id="rId8" Type="http://schemas.openxmlformats.org/officeDocument/2006/relationships/image" Target="../media/image843.png"/><Relationship Id="rId9" Type="http://schemas.openxmlformats.org/officeDocument/2006/relationships/image" Target="../media/image844.png"/><Relationship Id="rId10" Type="http://schemas.openxmlformats.org/officeDocument/2006/relationships/image" Target="../media/image845.png"/><Relationship Id="rId11" Type="http://schemas.openxmlformats.org/officeDocument/2006/relationships/image" Target="../media/image846.png"/><Relationship Id="rId12" Type="http://schemas.openxmlformats.org/officeDocument/2006/relationships/image" Target="../media/image847.png"/><Relationship Id="rId13" Type="http://schemas.openxmlformats.org/officeDocument/2006/relationships/image" Target="../media/image848.png"/><Relationship Id="rId14" Type="http://schemas.openxmlformats.org/officeDocument/2006/relationships/image" Target="../media/image849.png"/><Relationship Id="rId15" Type="http://schemas.openxmlformats.org/officeDocument/2006/relationships/image" Target="../media/image850.png"/><Relationship Id="rId16" Type="http://schemas.openxmlformats.org/officeDocument/2006/relationships/image" Target="../media/image851.png"/><Relationship Id="rId17" Type="http://schemas.openxmlformats.org/officeDocument/2006/relationships/image" Target="../media/image852.png"/><Relationship Id="rId18" Type="http://schemas.openxmlformats.org/officeDocument/2006/relationships/image" Target="../media/image853.png"/><Relationship Id="rId19" Type="http://schemas.openxmlformats.org/officeDocument/2006/relationships/image" Target="../media/image854.png"/><Relationship Id="rId20" Type="http://schemas.openxmlformats.org/officeDocument/2006/relationships/image" Target="../media/image855.png"/><Relationship Id="rId21" Type="http://schemas.openxmlformats.org/officeDocument/2006/relationships/image" Target="../media/image856.png"/><Relationship Id="rId22" Type="http://schemas.openxmlformats.org/officeDocument/2006/relationships/image" Target="../media/image857.png"/><Relationship Id="rId23" Type="http://schemas.openxmlformats.org/officeDocument/2006/relationships/image" Target="../media/image85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9.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0.png"/><Relationship Id="rId3" Type="http://schemas.openxmlformats.org/officeDocument/2006/relationships/image" Target="../media/image861.png"/><Relationship Id="rId4" Type="http://schemas.openxmlformats.org/officeDocument/2006/relationships/image" Target="../media/image862.jpg"/><Relationship Id="rId5" Type="http://schemas.openxmlformats.org/officeDocument/2006/relationships/image" Target="../media/image863.jpg"/><Relationship Id="rId6" Type="http://schemas.openxmlformats.org/officeDocument/2006/relationships/image" Target="../media/image86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5.jpg"/><Relationship Id="rId3" Type="http://schemas.openxmlformats.org/officeDocument/2006/relationships/image" Target="../media/image866.jpg"/><Relationship Id="rId4" Type="http://schemas.openxmlformats.org/officeDocument/2006/relationships/image" Target="../media/image867.jpg"/><Relationship Id="rId5" Type="http://schemas.openxmlformats.org/officeDocument/2006/relationships/image" Target="../media/image868.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9.jpg"/><Relationship Id="rId3" Type="http://schemas.openxmlformats.org/officeDocument/2006/relationships/image" Target="../media/image870.png"/><Relationship Id="rId4" Type="http://schemas.openxmlformats.org/officeDocument/2006/relationships/image" Target="../media/image871.jpg"/><Relationship Id="rId5" Type="http://schemas.openxmlformats.org/officeDocument/2006/relationships/image" Target="../media/image87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3.jpg"/><Relationship Id="rId3" Type="http://schemas.openxmlformats.org/officeDocument/2006/relationships/image" Target="../media/image874.jpg"/><Relationship Id="rId4" Type="http://schemas.openxmlformats.org/officeDocument/2006/relationships/image" Target="../media/image875.jpg"/><Relationship Id="rId5" Type="http://schemas.openxmlformats.org/officeDocument/2006/relationships/image" Target="../media/image876.jpg"/><Relationship Id="rId6" Type="http://schemas.openxmlformats.org/officeDocument/2006/relationships/image" Target="../media/image877.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8.jpg"/><Relationship Id="rId3" Type="http://schemas.openxmlformats.org/officeDocument/2006/relationships/image" Target="../media/image879.jpg"/><Relationship Id="rId4" Type="http://schemas.openxmlformats.org/officeDocument/2006/relationships/image" Target="../media/image880.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8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895350"/>
            <a:ext cx="9144000" cy="3962400"/>
          </a:xfrm>
          <a:custGeom>
            <a:avLst/>
            <a:gdLst/>
            <a:ahLst/>
            <a:cxnLst/>
            <a:rect l="l" t="t" r="r" b="b"/>
            <a:pathLst>
              <a:path w="9144000" h="3962400">
                <a:moveTo>
                  <a:pt x="9144000" y="0"/>
                </a:moveTo>
                <a:lnTo>
                  <a:pt x="0" y="0"/>
                </a:lnTo>
                <a:lnTo>
                  <a:pt x="0" y="3962400"/>
                </a:lnTo>
                <a:lnTo>
                  <a:pt x="9144000" y="3962400"/>
                </a:lnTo>
                <a:lnTo>
                  <a:pt x="9144000" y="0"/>
                </a:lnTo>
                <a:close/>
              </a:path>
            </a:pathLst>
          </a:custGeom>
          <a:solidFill>
            <a:srgbClr val="2544A7">
              <a:alpha val="85098"/>
            </a:srgbClr>
          </a:solidFill>
        </p:spPr>
        <p:txBody>
          <a:bodyPr wrap="square" lIns="0" tIns="0" rIns="0" bIns="0" rtlCol="0"/>
          <a:lstStyle/>
          <a:p/>
        </p:txBody>
      </p:sp>
      <p:sp>
        <p:nvSpPr>
          <p:cNvPr id="3" name="object 3"/>
          <p:cNvSpPr txBox="1">
            <a:spLocks noGrp="1"/>
          </p:cNvSpPr>
          <p:nvPr>
            <p:ph type="title"/>
          </p:nvPr>
        </p:nvSpPr>
        <p:spPr>
          <a:xfrm>
            <a:off x="801020" y="2133854"/>
            <a:ext cx="7539990" cy="756920"/>
          </a:xfrm>
          <a:prstGeom prst="rect"/>
        </p:spPr>
        <p:txBody>
          <a:bodyPr wrap="square" lIns="0" tIns="12700" rIns="0" bIns="0" rtlCol="0" vert="horz">
            <a:spAutoFit/>
          </a:bodyPr>
          <a:lstStyle/>
          <a:p>
            <a:pPr marL="12700">
              <a:lnSpc>
                <a:spcPct val="100000"/>
              </a:lnSpc>
              <a:spcBef>
                <a:spcPts val="100"/>
              </a:spcBef>
            </a:pPr>
            <a:r>
              <a:rPr dirty="0" sz="4800" spc="-40">
                <a:latin typeface="Times New Roman"/>
                <a:cs typeface="Times New Roman"/>
              </a:rPr>
              <a:t>5G</a:t>
            </a:r>
            <a:r>
              <a:rPr dirty="0" sz="4800" spc="-5"/>
              <a:t>网络特色业务与应用案例</a:t>
            </a:r>
            <a:endParaRPr sz="4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2219" y="15495"/>
            <a:ext cx="3098800" cy="695960"/>
          </a:xfrm>
          <a:prstGeom prst="rect"/>
        </p:spPr>
        <p:txBody>
          <a:bodyPr wrap="square" lIns="0" tIns="12065" rIns="0" bIns="0" rtlCol="0" vert="horz">
            <a:spAutoFit/>
          </a:bodyPr>
          <a:lstStyle/>
          <a:p>
            <a:pPr marL="12700">
              <a:lnSpc>
                <a:spcPct val="100000"/>
              </a:lnSpc>
              <a:spcBef>
                <a:spcPts val="95"/>
              </a:spcBef>
              <a:tabLst>
                <a:tab pos="850265" algn="l"/>
                <a:tab pos="1688464" algn="l"/>
                <a:tab pos="2526665" algn="l"/>
              </a:tabLst>
            </a:pPr>
            <a:r>
              <a:rPr dirty="0" sz="4400" spc="-50"/>
              <a:t>课</a:t>
            </a:r>
            <a:r>
              <a:rPr dirty="0" sz="4400"/>
              <a:t>	</a:t>
            </a:r>
            <a:r>
              <a:rPr dirty="0" sz="4400" spc="-50"/>
              <a:t>程</a:t>
            </a:r>
            <a:r>
              <a:rPr dirty="0" sz="4400"/>
              <a:t>	</a:t>
            </a:r>
            <a:r>
              <a:rPr dirty="0" sz="4400" spc="-50"/>
              <a:t>目</a:t>
            </a:r>
            <a:r>
              <a:rPr dirty="0" sz="4400"/>
              <a:t>	</a:t>
            </a:r>
            <a:r>
              <a:rPr dirty="0" sz="4400" spc="-50"/>
              <a:t>的</a:t>
            </a:r>
            <a:endParaRPr sz="4400"/>
          </a:p>
        </p:txBody>
      </p:sp>
      <p:sp>
        <p:nvSpPr>
          <p:cNvPr id="3" name="object 3" descr=""/>
          <p:cNvSpPr txBox="1"/>
          <p:nvPr/>
        </p:nvSpPr>
        <p:spPr>
          <a:xfrm>
            <a:off x="1027865" y="800083"/>
            <a:ext cx="3246120" cy="4141470"/>
          </a:xfrm>
          <a:prstGeom prst="rect">
            <a:avLst/>
          </a:prstGeom>
        </p:spPr>
        <p:txBody>
          <a:bodyPr wrap="square" lIns="0" tIns="165100" rIns="0" bIns="0" rtlCol="0" vert="horz">
            <a:spAutoFit/>
          </a:bodyPr>
          <a:lstStyle/>
          <a:p>
            <a:pPr marL="354965" indent="-342265">
              <a:lnSpc>
                <a:spcPct val="100000"/>
              </a:lnSpc>
              <a:spcBef>
                <a:spcPts val="1300"/>
              </a:spcBef>
              <a:buFont typeface="Wingdings"/>
              <a:buChar char=""/>
              <a:tabLst>
                <a:tab pos="354965" algn="l"/>
              </a:tabLst>
            </a:pPr>
            <a:r>
              <a:rPr dirty="0" sz="2000" spc="-15">
                <a:latin typeface="SimSun"/>
                <a:cs typeface="SimSun"/>
              </a:rPr>
              <a:t>了解</a:t>
            </a:r>
            <a:r>
              <a:rPr dirty="0" sz="2000" spc="-10" b="1">
                <a:latin typeface="Times New Roman"/>
                <a:cs typeface="Times New Roman"/>
              </a:rPr>
              <a:t>5G</a:t>
            </a:r>
            <a:r>
              <a:rPr dirty="0" sz="2000" spc="-20">
                <a:latin typeface="SimSun"/>
                <a:cs typeface="SimSun"/>
              </a:rPr>
              <a:t>系统典型业务特征</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10" b="1">
                <a:latin typeface="Times New Roman"/>
                <a:cs typeface="Times New Roman"/>
              </a:rPr>
              <a:t>5G</a:t>
            </a:r>
            <a:r>
              <a:rPr dirty="0" sz="2000" spc="-20">
                <a:latin typeface="SimSun"/>
                <a:cs typeface="SimSun"/>
              </a:rPr>
              <a:t>系统典型业务场景</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了解</a:t>
            </a:r>
            <a:r>
              <a:rPr dirty="0" sz="2000" spc="-10" b="1">
                <a:latin typeface="Times New Roman"/>
                <a:cs typeface="Times New Roman"/>
              </a:rPr>
              <a:t>5G</a:t>
            </a:r>
            <a:r>
              <a:rPr dirty="0" sz="2000" spc="-20">
                <a:latin typeface="SimSun"/>
                <a:cs typeface="SimSun"/>
              </a:rPr>
              <a:t>系统典型业务分类</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掌握</a:t>
            </a:r>
            <a:r>
              <a:rPr dirty="0" sz="2000" spc="-10" b="1">
                <a:latin typeface="Times New Roman"/>
                <a:cs typeface="Times New Roman"/>
              </a:rPr>
              <a:t>5G</a:t>
            </a:r>
            <a:r>
              <a:rPr dirty="0" sz="2000" spc="-20">
                <a:latin typeface="SimSun"/>
                <a:cs typeface="SimSun"/>
              </a:rPr>
              <a:t>系统典型业务建模</a:t>
            </a:r>
            <a:endParaRPr sz="2000">
              <a:latin typeface="SimSun"/>
              <a:cs typeface="SimSun"/>
            </a:endParaRPr>
          </a:p>
          <a:p>
            <a:pPr marL="354965" indent="-342265">
              <a:lnSpc>
                <a:spcPct val="100000"/>
              </a:lnSpc>
              <a:spcBef>
                <a:spcPts val="1200"/>
              </a:spcBef>
              <a:buFont typeface="Wingdings"/>
              <a:buChar char=""/>
              <a:tabLst>
                <a:tab pos="354965" algn="l"/>
              </a:tabLst>
            </a:pPr>
            <a:r>
              <a:rPr dirty="0" sz="2000" spc="-15">
                <a:latin typeface="SimSun"/>
                <a:cs typeface="SimSun"/>
              </a:rPr>
              <a:t>掌握</a:t>
            </a:r>
            <a:r>
              <a:rPr dirty="0" sz="2000" spc="-10" b="1">
                <a:latin typeface="Times New Roman"/>
                <a:cs typeface="Times New Roman"/>
              </a:rPr>
              <a:t>5G</a:t>
            </a:r>
            <a:r>
              <a:rPr dirty="0" sz="2000" spc="-20">
                <a:latin typeface="SimSun"/>
                <a:cs typeface="SimSun"/>
              </a:rPr>
              <a:t>互联与物联网业务</a:t>
            </a:r>
            <a:endParaRPr sz="2000">
              <a:latin typeface="SimSun"/>
              <a:cs typeface="SimSun"/>
            </a:endParaRPr>
          </a:p>
          <a:p>
            <a:pPr marL="89535">
              <a:lnSpc>
                <a:spcPct val="100000"/>
              </a:lnSpc>
              <a:spcBef>
                <a:spcPts val="1445"/>
              </a:spcBef>
            </a:pPr>
            <a:r>
              <a:rPr dirty="0" sz="2400" spc="-15" b="1">
                <a:solidFill>
                  <a:srgbClr val="FF0000"/>
                </a:solidFill>
                <a:latin typeface="Microsoft YaHei"/>
                <a:cs typeface="Microsoft YaHei"/>
              </a:rPr>
              <a:t>先修课程</a:t>
            </a:r>
            <a:endParaRPr sz="2400">
              <a:latin typeface="Microsoft YaHei"/>
              <a:cs typeface="Microsoft YaHei"/>
            </a:endParaRPr>
          </a:p>
          <a:p>
            <a:pPr marL="354965" indent="-342265">
              <a:lnSpc>
                <a:spcPct val="100000"/>
              </a:lnSpc>
              <a:spcBef>
                <a:spcPts val="1280"/>
              </a:spcBef>
              <a:buFont typeface="Wingdings"/>
              <a:buChar char=""/>
              <a:tabLst>
                <a:tab pos="354965" algn="l"/>
              </a:tabLst>
            </a:pPr>
            <a:r>
              <a:rPr dirty="0" sz="2000" spc="-20">
                <a:latin typeface="SimSun"/>
                <a:cs typeface="SimSun"/>
              </a:rPr>
              <a:t>通信与网络业务</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0">
                <a:latin typeface="SimSun"/>
                <a:cs typeface="SimSun"/>
              </a:rPr>
              <a:t>互联网业务特点</a:t>
            </a:r>
            <a:endParaRPr sz="2000">
              <a:latin typeface="SimSun"/>
              <a:cs typeface="SimSun"/>
            </a:endParaRPr>
          </a:p>
          <a:p>
            <a:pPr marL="354965" indent="-342265">
              <a:lnSpc>
                <a:spcPct val="100000"/>
              </a:lnSpc>
              <a:spcBef>
                <a:spcPts val="800"/>
              </a:spcBef>
              <a:buFont typeface="Wingdings"/>
              <a:buChar char=""/>
              <a:tabLst>
                <a:tab pos="354965" algn="l"/>
              </a:tabLst>
            </a:pPr>
            <a:r>
              <a:rPr dirty="0" sz="2000" spc="-20">
                <a:latin typeface="SimSun"/>
                <a:cs typeface="SimSun"/>
              </a:rPr>
              <a:t>物联网业务特点</a:t>
            </a:r>
            <a:endParaRPr sz="2000">
              <a:latin typeface="SimSun"/>
              <a:cs typeface="SimSun"/>
            </a:endParaRPr>
          </a:p>
        </p:txBody>
      </p:sp>
      <p:pic>
        <p:nvPicPr>
          <p:cNvPr id="4" name="object 4"/>
          <p:cNvPicPr/>
          <p:nvPr/>
        </p:nvPicPr>
        <p:blipFill>
          <a:blip r:embed="rId2" cstate="print"/>
          <a:stretch>
            <a:fillRect/>
          </a:stretch>
        </p:blipFill>
        <p:spPr>
          <a:xfrm>
            <a:off x="5841263" y="1051560"/>
            <a:ext cx="2400629" cy="1846084"/>
          </a:xfrm>
          <a:prstGeom prst="rect">
            <a:avLst/>
          </a:prstGeom>
        </p:spPr>
      </p:pic>
      <p:pic>
        <p:nvPicPr>
          <p:cNvPr id="5" name="object 5" descr=""/>
          <p:cNvPicPr/>
          <p:nvPr/>
        </p:nvPicPr>
        <p:blipFill>
          <a:blip r:embed="rId3" cstate="print"/>
          <a:stretch>
            <a:fillRect/>
          </a:stretch>
        </p:blipFill>
        <p:spPr>
          <a:xfrm>
            <a:off x="5414588" y="3295318"/>
            <a:ext cx="3219111" cy="15407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b="1">
                <a:solidFill>
                  <a:srgbClr val="FF0000"/>
                </a:solidFill>
                <a:latin typeface="Microsoft YaHei"/>
                <a:cs typeface="Microsoft YaHei"/>
              </a:rPr>
              <a:t>一、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系统与网络典型业务概述</a:t>
            </a:r>
            <a:endParaRPr sz="2400">
              <a:latin typeface="Microsoft YaHei"/>
              <a:cs typeface="Microsoft YaHei"/>
            </a:endParaRPr>
          </a:p>
          <a:p>
            <a:pPr algn="just" marL="12700" marR="21590">
              <a:lnSpc>
                <a:spcPct val="177100"/>
              </a:lnSpc>
              <a:spcBef>
                <a:spcPts val="5"/>
              </a:spcBef>
            </a:pPr>
            <a:r>
              <a:rPr dirty="0" sz="2400" spc="-65">
                <a:latin typeface="Microsoft YaHei"/>
                <a:cs typeface="Microsoft YaHei"/>
              </a:rPr>
              <a:t>二、 </a:t>
            </a:r>
            <a:r>
              <a:rPr dirty="0" sz="2400" spc="-20">
                <a:latin typeface="Times New Roman"/>
                <a:cs typeface="Times New Roman"/>
              </a:rPr>
              <a:t>5G</a:t>
            </a:r>
            <a:r>
              <a:rPr dirty="0" sz="2400" spc="-5">
                <a:latin typeface="Microsoft YaHei"/>
                <a:cs typeface="Microsoft YaHei"/>
              </a:rPr>
              <a:t>系统与网络业务场景分类</a:t>
            </a:r>
            <a:r>
              <a:rPr dirty="0" sz="2400" spc="-65">
                <a:latin typeface="Microsoft YaHei"/>
                <a:cs typeface="Microsoft YaHei"/>
              </a:rPr>
              <a:t>三、 </a:t>
            </a:r>
            <a:r>
              <a:rPr dirty="0" sz="2400" spc="-20">
                <a:latin typeface="Times New Roman"/>
                <a:cs typeface="Times New Roman"/>
              </a:rPr>
              <a:t>5G</a:t>
            </a:r>
            <a:r>
              <a:rPr dirty="0" sz="2400" spc="-5">
                <a:latin typeface="Microsoft YaHei"/>
                <a:cs typeface="Microsoft YaHei"/>
              </a:rPr>
              <a:t>系统与网络典型业务模型</a:t>
            </a:r>
            <a:r>
              <a:rPr dirty="0" sz="2400" spc="-65">
                <a:latin typeface="Microsoft YaHei"/>
                <a:cs typeface="Microsoft YaHei"/>
              </a:rPr>
              <a:t>四、 </a:t>
            </a:r>
            <a:r>
              <a:rPr dirty="0" sz="2400" spc="-20">
                <a:latin typeface="Times New Roman"/>
                <a:cs typeface="Times New Roman"/>
              </a:rPr>
              <a:t>5G</a:t>
            </a:r>
            <a:r>
              <a:rPr dirty="0" sz="2400" spc="-5">
                <a:latin typeface="Microsoft YaHei"/>
                <a:cs typeface="Microsoft YaHei"/>
              </a:rPr>
              <a:t>系统与网络大带宽新业务</a:t>
            </a:r>
            <a:r>
              <a:rPr dirty="0" sz="2400" spc="-40">
                <a:latin typeface="Microsoft YaHei"/>
                <a:cs typeface="Microsoft YaHei"/>
              </a:rPr>
              <a:t>五、 </a:t>
            </a:r>
            <a:r>
              <a:rPr dirty="0" sz="2400" spc="-20">
                <a:latin typeface="Times New Roman"/>
                <a:cs typeface="Times New Roman"/>
              </a:rPr>
              <a:t>5G</a:t>
            </a:r>
            <a:r>
              <a:rPr dirty="0" sz="2400" spc="-5">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a:latin typeface="Microsoft YaHei"/>
                <a:cs typeface="Microsoft YaHei"/>
              </a:rPr>
              <a:t>六、 </a:t>
            </a:r>
            <a:r>
              <a:rPr dirty="0" sz="2400" spc="-20">
                <a:latin typeface="Times New Roman"/>
                <a:cs typeface="Times New Roman"/>
              </a:rPr>
              <a:t>5G</a:t>
            </a:r>
            <a:r>
              <a:rPr dirty="0" sz="2400" spc="-5">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5286" y="114934"/>
            <a:ext cx="623824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网络需满足三大新业务应用场景</a:t>
            </a:r>
          </a:p>
        </p:txBody>
      </p:sp>
      <p:pic>
        <p:nvPicPr>
          <p:cNvPr id="3" name="object 3"/>
          <p:cNvPicPr/>
          <p:nvPr/>
        </p:nvPicPr>
        <p:blipFill>
          <a:blip r:embed="rId2" cstate="print"/>
          <a:stretch>
            <a:fillRect/>
          </a:stretch>
        </p:blipFill>
        <p:spPr>
          <a:xfrm>
            <a:off x="546894" y="957396"/>
            <a:ext cx="8248660" cy="39907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9269" y="81577"/>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业务发展节奏</a:t>
            </a:r>
          </a:p>
        </p:txBody>
      </p:sp>
      <p:grpSp>
        <p:nvGrpSpPr>
          <p:cNvPr id="3" name="object 3" descr=""/>
          <p:cNvGrpSpPr/>
          <p:nvPr/>
        </p:nvGrpSpPr>
        <p:grpSpPr>
          <a:xfrm>
            <a:off x="4847332" y="1478930"/>
            <a:ext cx="4220210" cy="2832100"/>
            <a:chOff x="4847332" y="1478930"/>
            <a:chExt cx="4220210" cy="2832100"/>
          </a:xfrm>
        </p:grpSpPr>
        <p:sp>
          <p:nvSpPr>
            <p:cNvPr id="4" name="object 4" descr=""/>
            <p:cNvSpPr/>
            <p:nvPr/>
          </p:nvSpPr>
          <p:spPr>
            <a:xfrm>
              <a:off x="4860036" y="1491627"/>
              <a:ext cx="4194810" cy="2807335"/>
            </a:xfrm>
            <a:custGeom>
              <a:avLst/>
              <a:gdLst/>
              <a:ahLst/>
              <a:cxnLst/>
              <a:rect l="l" t="t" r="r" b="b"/>
              <a:pathLst>
                <a:path w="4194809" h="2807335">
                  <a:moveTo>
                    <a:pt x="4194467" y="0"/>
                  </a:moveTo>
                  <a:lnTo>
                    <a:pt x="4194467" y="0"/>
                  </a:lnTo>
                  <a:lnTo>
                    <a:pt x="0" y="0"/>
                  </a:lnTo>
                  <a:lnTo>
                    <a:pt x="0" y="2806712"/>
                  </a:lnTo>
                  <a:lnTo>
                    <a:pt x="4194467" y="2806712"/>
                  </a:lnTo>
                  <a:lnTo>
                    <a:pt x="4194467" y="0"/>
                  </a:lnTo>
                  <a:close/>
                </a:path>
              </a:pathLst>
            </a:custGeom>
            <a:solidFill>
              <a:srgbClr val="F3F9FA"/>
            </a:solidFill>
          </p:spPr>
          <p:txBody>
            <a:bodyPr wrap="square" lIns="0" tIns="0" rIns="0" bIns="0" rtlCol="0"/>
            <a:lstStyle/>
            <a:p/>
          </p:txBody>
        </p:sp>
        <p:sp>
          <p:nvSpPr>
            <p:cNvPr id="5" name="object 5" descr=""/>
            <p:cNvSpPr/>
            <p:nvPr/>
          </p:nvSpPr>
          <p:spPr>
            <a:xfrm>
              <a:off x="5541032"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6" name="object 6" descr=""/>
            <p:cNvSpPr/>
            <p:nvPr/>
          </p:nvSpPr>
          <p:spPr>
            <a:xfrm>
              <a:off x="6351869"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7" name="object 7" descr=""/>
            <p:cNvSpPr/>
            <p:nvPr/>
          </p:nvSpPr>
          <p:spPr>
            <a:xfrm>
              <a:off x="7124204"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8" name="object 8" descr=""/>
            <p:cNvSpPr/>
            <p:nvPr/>
          </p:nvSpPr>
          <p:spPr>
            <a:xfrm>
              <a:off x="7973337"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9" name="object 9" descr=""/>
            <p:cNvSpPr/>
            <p:nvPr/>
          </p:nvSpPr>
          <p:spPr>
            <a:xfrm>
              <a:off x="4860032"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10" name="object 10" descr=""/>
            <p:cNvSpPr/>
            <p:nvPr/>
          </p:nvSpPr>
          <p:spPr>
            <a:xfrm>
              <a:off x="9054497" y="1485280"/>
              <a:ext cx="0" cy="2819400"/>
            </a:xfrm>
            <a:custGeom>
              <a:avLst/>
              <a:gdLst/>
              <a:ahLst/>
              <a:cxnLst/>
              <a:rect l="l" t="t" r="r" b="b"/>
              <a:pathLst>
                <a:path w="0" h="2819400">
                  <a:moveTo>
                    <a:pt x="0" y="0"/>
                  </a:moveTo>
                  <a:lnTo>
                    <a:pt x="0" y="2819400"/>
                  </a:lnTo>
                </a:path>
              </a:pathLst>
            </a:custGeom>
            <a:ln w="12700">
              <a:solidFill>
                <a:srgbClr val="FFFFFF"/>
              </a:solidFill>
            </a:ln>
          </p:spPr>
          <p:txBody>
            <a:bodyPr wrap="square" lIns="0" tIns="0" rIns="0" bIns="0" rtlCol="0"/>
            <a:lstStyle/>
            <a:p/>
          </p:txBody>
        </p:sp>
        <p:sp>
          <p:nvSpPr>
            <p:cNvPr id="11" name="object 11" descr=""/>
            <p:cNvSpPr/>
            <p:nvPr/>
          </p:nvSpPr>
          <p:spPr>
            <a:xfrm>
              <a:off x="4853682" y="1491630"/>
              <a:ext cx="4207510" cy="0"/>
            </a:xfrm>
            <a:custGeom>
              <a:avLst/>
              <a:gdLst/>
              <a:ahLst/>
              <a:cxnLst/>
              <a:rect l="l" t="t" r="r" b="b"/>
              <a:pathLst>
                <a:path w="4207509" h="0">
                  <a:moveTo>
                    <a:pt x="0" y="0"/>
                  </a:moveTo>
                  <a:lnTo>
                    <a:pt x="4207167" y="0"/>
                  </a:lnTo>
                </a:path>
              </a:pathLst>
            </a:custGeom>
            <a:ln w="12700">
              <a:solidFill>
                <a:srgbClr val="FFFFFF"/>
              </a:solidFill>
            </a:ln>
          </p:spPr>
          <p:txBody>
            <a:bodyPr wrap="square" lIns="0" tIns="0" rIns="0" bIns="0" rtlCol="0"/>
            <a:lstStyle/>
            <a:p/>
          </p:txBody>
        </p:sp>
        <p:sp>
          <p:nvSpPr>
            <p:cNvPr id="12" name="object 12" descr=""/>
            <p:cNvSpPr/>
            <p:nvPr/>
          </p:nvSpPr>
          <p:spPr>
            <a:xfrm>
              <a:off x="4853682" y="4298330"/>
              <a:ext cx="4207510" cy="0"/>
            </a:xfrm>
            <a:custGeom>
              <a:avLst/>
              <a:gdLst/>
              <a:ahLst/>
              <a:cxnLst/>
              <a:rect l="l" t="t" r="r" b="b"/>
              <a:pathLst>
                <a:path w="4207509" h="0">
                  <a:moveTo>
                    <a:pt x="0" y="0"/>
                  </a:moveTo>
                  <a:lnTo>
                    <a:pt x="4207167" y="0"/>
                  </a:lnTo>
                </a:path>
              </a:pathLst>
            </a:custGeom>
            <a:ln w="12700">
              <a:solidFill>
                <a:srgbClr val="FFFFFF"/>
              </a:solidFill>
            </a:ln>
          </p:spPr>
          <p:txBody>
            <a:bodyPr wrap="square" lIns="0" tIns="0" rIns="0" bIns="0" rtlCol="0"/>
            <a:lstStyle/>
            <a:p/>
          </p:txBody>
        </p:sp>
      </p:grpSp>
      <p:sp>
        <p:nvSpPr>
          <p:cNvPr id="13" name="object 13" descr=""/>
          <p:cNvSpPr txBox="1"/>
          <p:nvPr/>
        </p:nvSpPr>
        <p:spPr>
          <a:xfrm>
            <a:off x="4866382" y="1497980"/>
            <a:ext cx="668655" cy="200025"/>
          </a:xfrm>
          <a:prstGeom prst="rect">
            <a:avLst/>
          </a:prstGeom>
          <a:solidFill>
            <a:srgbClr val="F3F9FA"/>
          </a:solidFill>
        </p:spPr>
        <p:txBody>
          <a:bodyPr wrap="square" lIns="0" tIns="10795" rIns="0" bIns="0" rtlCol="0" vert="horz">
            <a:spAutoFit/>
          </a:bodyPr>
          <a:lstStyle/>
          <a:p>
            <a:pPr marL="44450">
              <a:lnSpc>
                <a:spcPct val="100000"/>
              </a:lnSpc>
              <a:spcBef>
                <a:spcPts val="85"/>
              </a:spcBef>
            </a:pPr>
            <a:r>
              <a:rPr dirty="0" sz="1100" spc="-30">
                <a:latin typeface="SimSun"/>
                <a:cs typeface="SimSun"/>
              </a:rPr>
              <a:t>媒体娱乐</a:t>
            </a:r>
            <a:endParaRPr sz="1100">
              <a:latin typeface="SimSun"/>
              <a:cs typeface="SimSun"/>
            </a:endParaRPr>
          </a:p>
        </p:txBody>
      </p:sp>
      <p:sp>
        <p:nvSpPr>
          <p:cNvPr id="14" name="object 14" descr=""/>
          <p:cNvSpPr txBox="1"/>
          <p:nvPr/>
        </p:nvSpPr>
        <p:spPr>
          <a:xfrm>
            <a:off x="4898767" y="1808118"/>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SimSun"/>
                <a:cs typeface="SimSun"/>
              </a:rPr>
              <a:t>视频直播</a:t>
            </a:r>
            <a:endParaRPr sz="1100">
              <a:latin typeface="SimSun"/>
              <a:cs typeface="SimSun"/>
            </a:endParaRPr>
          </a:p>
        </p:txBody>
      </p:sp>
      <p:sp>
        <p:nvSpPr>
          <p:cNvPr id="15" name="object 15" descr=""/>
          <p:cNvSpPr txBox="1"/>
          <p:nvPr/>
        </p:nvSpPr>
        <p:spPr>
          <a:xfrm>
            <a:off x="4866382" y="2517541"/>
            <a:ext cx="668655" cy="1016635"/>
          </a:xfrm>
          <a:prstGeom prst="rect">
            <a:avLst/>
          </a:prstGeom>
          <a:solidFill>
            <a:srgbClr val="F3F9FA"/>
          </a:solidFill>
        </p:spPr>
        <p:txBody>
          <a:bodyPr wrap="square" lIns="0" tIns="92710" rIns="0" bIns="0" rtlCol="0" vert="horz">
            <a:spAutoFit/>
          </a:bodyPr>
          <a:lstStyle/>
          <a:p>
            <a:pPr marL="45085" marR="57150">
              <a:lnSpc>
                <a:spcPct val="185500"/>
              </a:lnSpc>
              <a:spcBef>
                <a:spcPts val="730"/>
              </a:spcBef>
            </a:pPr>
            <a:r>
              <a:rPr dirty="0" sz="1100" spc="-30">
                <a:latin typeface="SimSun"/>
                <a:cs typeface="SimSun"/>
              </a:rPr>
              <a:t>赛事直播全息影像</a:t>
            </a:r>
            <a:endParaRPr sz="1100">
              <a:latin typeface="SimSun"/>
              <a:cs typeface="SimSun"/>
            </a:endParaRPr>
          </a:p>
        </p:txBody>
      </p:sp>
      <p:sp>
        <p:nvSpPr>
          <p:cNvPr id="16" name="object 16" descr=""/>
          <p:cNvSpPr txBox="1"/>
          <p:nvPr/>
        </p:nvSpPr>
        <p:spPr>
          <a:xfrm>
            <a:off x="5547382" y="1497980"/>
            <a:ext cx="798195" cy="200025"/>
          </a:xfrm>
          <a:prstGeom prst="rect">
            <a:avLst/>
          </a:prstGeom>
          <a:solidFill>
            <a:srgbClr val="F3F9FA"/>
          </a:solidFill>
        </p:spPr>
        <p:txBody>
          <a:bodyPr wrap="square" lIns="0" tIns="10795" rIns="0" bIns="0" rtlCol="0" vert="horz">
            <a:spAutoFit/>
          </a:bodyPr>
          <a:lstStyle/>
          <a:p>
            <a:pPr marL="344170">
              <a:lnSpc>
                <a:spcPct val="100000"/>
              </a:lnSpc>
              <a:spcBef>
                <a:spcPts val="85"/>
              </a:spcBef>
            </a:pPr>
            <a:r>
              <a:rPr dirty="0" sz="1100" spc="-35">
                <a:latin typeface="SimSun"/>
                <a:cs typeface="SimSun"/>
              </a:rPr>
              <a:t>交通</a:t>
            </a:r>
            <a:endParaRPr sz="1100">
              <a:latin typeface="SimSun"/>
              <a:cs typeface="SimSun"/>
            </a:endParaRPr>
          </a:p>
        </p:txBody>
      </p:sp>
      <p:sp>
        <p:nvSpPr>
          <p:cNvPr id="17" name="object 17" descr=""/>
          <p:cNvSpPr txBox="1"/>
          <p:nvPr/>
        </p:nvSpPr>
        <p:spPr>
          <a:xfrm>
            <a:off x="5547382" y="1707451"/>
            <a:ext cx="798195" cy="800735"/>
          </a:xfrm>
          <a:prstGeom prst="rect">
            <a:avLst/>
          </a:prstGeom>
          <a:solidFill>
            <a:srgbClr val="F3F9FA"/>
          </a:solidFill>
        </p:spPr>
        <p:txBody>
          <a:bodyPr wrap="square" lIns="0" tIns="113030" rIns="0" bIns="0" rtlCol="0" vert="horz">
            <a:spAutoFit/>
          </a:bodyPr>
          <a:lstStyle/>
          <a:p>
            <a:pPr marL="45085">
              <a:lnSpc>
                <a:spcPct val="100000"/>
              </a:lnSpc>
              <a:spcBef>
                <a:spcPts val="890"/>
              </a:spcBef>
            </a:pPr>
            <a:r>
              <a:rPr dirty="0" sz="1100" spc="-30">
                <a:latin typeface="SimSun"/>
                <a:cs typeface="SimSun"/>
              </a:rPr>
              <a:t>车载娱乐</a:t>
            </a:r>
            <a:endParaRPr sz="1100">
              <a:latin typeface="SimSun"/>
              <a:cs typeface="SimSun"/>
            </a:endParaRPr>
          </a:p>
          <a:p>
            <a:pPr marL="45085" marR="47625">
              <a:lnSpc>
                <a:spcPct val="125000"/>
              </a:lnSpc>
              <a:spcBef>
                <a:spcPts val="790"/>
              </a:spcBef>
            </a:pPr>
            <a:r>
              <a:rPr dirty="0" sz="1100" spc="-30">
                <a:latin typeface="SimSun"/>
                <a:cs typeface="SimSun"/>
              </a:rPr>
              <a:t>实时信息交</a:t>
            </a:r>
            <a:r>
              <a:rPr dirty="0" sz="1100" spc="-50">
                <a:latin typeface="SimSun"/>
                <a:cs typeface="SimSun"/>
              </a:rPr>
              <a:t>互</a:t>
            </a:r>
            <a:endParaRPr sz="1100">
              <a:latin typeface="SimSun"/>
              <a:cs typeface="SimSun"/>
            </a:endParaRPr>
          </a:p>
        </p:txBody>
      </p:sp>
      <p:sp>
        <p:nvSpPr>
          <p:cNvPr id="18" name="object 18" descr=""/>
          <p:cNvSpPr txBox="1"/>
          <p:nvPr/>
        </p:nvSpPr>
        <p:spPr>
          <a:xfrm>
            <a:off x="5547382" y="2517541"/>
            <a:ext cx="798195" cy="1016635"/>
          </a:xfrm>
          <a:prstGeom prst="rect">
            <a:avLst/>
          </a:prstGeom>
          <a:solidFill>
            <a:srgbClr val="F3F9FA"/>
          </a:solidFill>
        </p:spPr>
        <p:txBody>
          <a:bodyPr wrap="square" lIns="0" tIns="142240" rIns="0" bIns="0" rtlCol="0" vert="horz">
            <a:spAutoFit/>
          </a:bodyPr>
          <a:lstStyle/>
          <a:p>
            <a:pPr>
              <a:lnSpc>
                <a:spcPct val="100000"/>
              </a:lnSpc>
              <a:spcBef>
                <a:spcPts val="1120"/>
              </a:spcBef>
            </a:pPr>
            <a:endParaRPr sz="1100">
              <a:latin typeface="Times New Roman"/>
              <a:cs typeface="Times New Roman"/>
            </a:endParaRPr>
          </a:p>
          <a:p>
            <a:pPr marL="45085" marR="187325">
              <a:lnSpc>
                <a:spcPct val="185400"/>
              </a:lnSpc>
            </a:pPr>
            <a:r>
              <a:rPr dirty="0" sz="1100" spc="-30">
                <a:latin typeface="SimSun"/>
                <a:cs typeface="SimSun"/>
              </a:rPr>
              <a:t>辅助驾驶远程驾驶</a:t>
            </a:r>
            <a:endParaRPr sz="1100">
              <a:latin typeface="SimSun"/>
              <a:cs typeface="SimSun"/>
            </a:endParaRPr>
          </a:p>
        </p:txBody>
      </p:sp>
      <p:sp>
        <p:nvSpPr>
          <p:cNvPr id="19" name="object 19" descr=""/>
          <p:cNvSpPr txBox="1"/>
          <p:nvPr/>
        </p:nvSpPr>
        <p:spPr>
          <a:xfrm>
            <a:off x="5547382" y="3543655"/>
            <a:ext cx="798195" cy="748665"/>
          </a:xfrm>
          <a:prstGeom prst="rect">
            <a:avLst/>
          </a:prstGeom>
          <a:solidFill>
            <a:srgbClr val="F3F9FA"/>
          </a:solidFill>
        </p:spPr>
        <p:txBody>
          <a:bodyPr wrap="square" lIns="0" tIns="0" rIns="0" bIns="0" rtlCol="0" vert="horz">
            <a:spAutoFit/>
          </a:bodyPr>
          <a:lstStyle/>
          <a:p>
            <a:pPr>
              <a:lnSpc>
                <a:spcPct val="100000"/>
              </a:lnSpc>
            </a:pPr>
            <a:endParaRPr sz="1100">
              <a:latin typeface="Times New Roman"/>
              <a:cs typeface="Times New Roman"/>
            </a:endParaRPr>
          </a:p>
          <a:p>
            <a:pPr>
              <a:lnSpc>
                <a:spcPct val="100000"/>
              </a:lnSpc>
              <a:spcBef>
                <a:spcPts val="250"/>
              </a:spcBef>
            </a:pPr>
            <a:endParaRPr sz="1100">
              <a:latin typeface="Times New Roman"/>
              <a:cs typeface="Times New Roman"/>
            </a:endParaRPr>
          </a:p>
          <a:p>
            <a:pPr marL="45085">
              <a:lnSpc>
                <a:spcPct val="100000"/>
              </a:lnSpc>
            </a:pPr>
            <a:r>
              <a:rPr dirty="0" sz="1100" spc="-30">
                <a:latin typeface="SimSun"/>
                <a:cs typeface="SimSun"/>
              </a:rPr>
              <a:t>自动驾驶</a:t>
            </a:r>
            <a:endParaRPr sz="1100">
              <a:latin typeface="SimSun"/>
              <a:cs typeface="SimSun"/>
            </a:endParaRPr>
          </a:p>
        </p:txBody>
      </p:sp>
      <p:sp>
        <p:nvSpPr>
          <p:cNvPr id="20" name="object 20" descr=""/>
          <p:cNvSpPr txBox="1"/>
          <p:nvPr/>
        </p:nvSpPr>
        <p:spPr>
          <a:xfrm>
            <a:off x="6358219" y="1497980"/>
            <a:ext cx="760095" cy="200025"/>
          </a:xfrm>
          <a:prstGeom prst="rect">
            <a:avLst/>
          </a:prstGeom>
          <a:solidFill>
            <a:srgbClr val="F3F9FA"/>
          </a:solidFill>
        </p:spPr>
        <p:txBody>
          <a:bodyPr wrap="square" lIns="0" tIns="10795" rIns="0" bIns="0" rtlCol="0" vert="horz">
            <a:spAutoFit/>
          </a:bodyPr>
          <a:lstStyle/>
          <a:p>
            <a:pPr marL="45085">
              <a:lnSpc>
                <a:spcPct val="100000"/>
              </a:lnSpc>
              <a:spcBef>
                <a:spcPts val="85"/>
              </a:spcBef>
            </a:pPr>
            <a:r>
              <a:rPr dirty="0" sz="1100" spc="-35">
                <a:latin typeface="SimSun"/>
                <a:cs typeface="SimSun"/>
              </a:rPr>
              <a:t>医疗</a:t>
            </a:r>
            <a:endParaRPr sz="1100">
              <a:latin typeface="SimSun"/>
              <a:cs typeface="SimSun"/>
            </a:endParaRPr>
          </a:p>
        </p:txBody>
      </p:sp>
      <p:sp>
        <p:nvSpPr>
          <p:cNvPr id="21" name="object 21" descr=""/>
          <p:cNvSpPr txBox="1"/>
          <p:nvPr/>
        </p:nvSpPr>
        <p:spPr>
          <a:xfrm>
            <a:off x="6358219" y="1707451"/>
            <a:ext cx="760095" cy="800735"/>
          </a:xfrm>
          <a:prstGeom prst="rect">
            <a:avLst/>
          </a:prstGeom>
          <a:solidFill>
            <a:srgbClr val="F3F9FA"/>
          </a:solidFill>
        </p:spPr>
        <p:txBody>
          <a:bodyPr wrap="square" lIns="0" tIns="3810" rIns="0" bIns="0" rtlCol="0" vert="horz">
            <a:spAutoFit/>
          </a:bodyPr>
          <a:lstStyle/>
          <a:p>
            <a:pPr marL="45085" marR="148590">
              <a:lnSpc>
                <a:spcPts val="2450"/>
              </a:lnSpc>
              <a:spcBef>
                <a:spcPts val="30"/>
              </a:spcBef>
            </a:pPr>
            <a:r>
              <a:rPr dirty="0" sz="1100" spc="-30">
                <a:latin typeface="SimSun"/>
                <a:cs typeface="SimSun"/>
              </a:rPr>
              <a:t>远程医疗无线查房</a:t>
            </a:r>
            <a:endParaRPr sz="1100">
              <a:latin typeface="SimSun"/>
              <a:cs typeface="SimSun"/>
            </a:endParaRPr>
          </a:p>
        </p:txBody>
      </p:sp>
      <p:sp>
        <p:nvSpPr>
          <p:cNvPr id="22" name="object 22" descr=""/>
          <p:cNvSpPr txBox="1"/>
          <p:nvPr/>
        </p:nvSpPr>
        <p:spPr>
          <a:xfrm>
            <a:off x="6358219" y="2517541"/>
            <a:ext cx="760095" cy="1016635"/>
          </a:xfrm>
          <a:prstGeom prst="rect">
            <a:avLst/>
          </a:prstGeom>
          <a:solidFill>
            <a:srgbClr val="F3F9FA"/>
          </a:solidFill>
        </p:spPr>
        <p:txBody>
          <a:bodyPr wrap="square" lIns="0" tIns="75565" rIns="0" bIns="0" rtlCol="0" vert="horz">
            <a:spAutoFit/>
          </a:bodyPr>
          <a:lstStyle/>
          <a:p>
            <a:pPr>
              <a:lnSpc>
                <a:spcPct val="100000"/>
              </a:lnSpc>
              <a:spcBef>
                <a:spcPts val="595"/>
              </a:spcBef>
            </a:pPr>
            <a:endParaRPr sz="1100">
              <a:latin typeface="Times New Roman"/>
              <a:cs typeface="Times New Roman"/>
            </a:endParaRPr>
          </a:p>
          <a:p>
            <a:pPr marL="45085">
              <a:lnSpc>
                <a:spcPct val="100000"/>
              </a:lnSpc>
              <a:spcBef>
                <a:spcPts val="5"/>
              </a:spcBef>
            </a:pPr>
            <a:r>
              <a:rPr dirty="0" sz="1100" spc="-10">
                <a:latin typeface="Arial MT"/>
                <a:cs typeface="Arial MT"/>
              </a:rPr>
              <a:t>5G</a:t>
            </a:r>
            <a:r>
              <a:rPr dirty="0" sz="1100" spc="-35">
                <a:latin typeface="SimSun"/>
                <a:cs typeface="SimSun"/>
              </a:rPr>
              <a:t>急救车</a:t>
            </a:r>
            <a:endParaRPr sz="1100">
              <a:latin typeface="SimSun"/>
              <a:cs typeface="SimSun"/>
            </a:endParaRPr>
          </a:p>
          <a:p>
            <a:pPr marL="45085" marR="148590">
              <a:lnSpc>
                <a:spcPct val="125000"/>
              </a:lnSpc>
              <a:spcBef>
                <a:spcPts val="795"/>
              </a:spcBef>
            </a:pPr>
            <a:r>
              <a:rPr dirty="0" sz="1100" spc="-30">
                <a:latin typeface="SimSun"/>
                <a:cs typeface="SimSun"/>
              </a:rPr>
              <a:t>可穿戴设</a:t>
            </a:r>
            <a:r>
              <a:rPr dirty="0" sz="1100" spc="-50">
                <a:latin typeface="SimSun"/>
                <a:cs typeface="SimSun"/>
              </a:rPr>
              <a:t>备</a:t>
            </a:r>
            <a:endParaRPr sz="1100">
              <a:latin typeface="SimSun"/>
              <a:cs typeface="SimSun"/>
            </a:endParaRPr>
          </a:p>
        </p:txBody>
      </p:sp>
      <p:sp>
        <p:nvSpPr>
          <p:cNvPr id="23" name="object 23" descr=""/>
          <p:cNvSpPr txBox="1"/>
          <p:nvPr/>
        </p:nvSpPr>
        <p:spPr>
          <a:xfrm>
            <a:off x="6358219" y="3543655"/>
            <a:ext cx="760095" cy="748665"/>
          </a:xfrm>
          <a:prstGeom prst="rect">
            <a:avLst/>
          </a:prstGeom>
          <a:solidFill>
            <a:srgbClr val="F3F9FA"/>
          </a:solidFill>
        </p:spPr>
        <p:txBody>
          <a:bodyPr wrap="square" lIns="0" tIns="0" rIns="0" bIns="0" rtlCol="0" vert="horz">
            <a:spAutoFit/>
          </a:bodyPr>
          <a:lstStyle/>
          <a:p>
            <a:pPr>
              <a:lnSpc>
                <a:spcPct val="100000"/>
              </a:lnSpc>
            </a:pPr>
            <a:endParaRPr sz="1100">
              <a:latin typeface="Times New Roman"/>
              <a:cs typeface="Times New Roman"/>
            </a:endParaRPr>
          </a:p>
          <a:p>
            <a:pPr>
              <a:lnSpc>
                <a:spcPct val="100000"/>
              </a:lnSpc>
              <a:spcBef>
                <a:spcPts val="254"/>
              </a:spcBef>
            </a:pPr>
            <a:endParaRPr sz="1100">
              <a:latin typeface="Times New Roman"/>
              <a:cs typeface="Times New Roman"/>
            </a:endParaRPr>
          </a:p>
          <a:p>
            <a:pPr marL="45085">
              <a:lnSpc>
                <a:spcPct val="100000"/>
              </a:lnSpc>
            </a:pPr>
            <a:r>
              <a:rPr dirty="0" sz="1100" spc="-30">
                <a:latin typeface="SimSun"/>
                <a:cs typeface="SimSun"/>
              </a:rPr>
              <a:t>远程手术</a:t>
            </a:r>
            <a:endParaRPr sz="1100">
              <a:latin typeface="SimSun"/>
              <a:cs typeface="SimSun"/>
            </a:endParaRPr>
          </a:p>
        </p:txBody>
      </p:sp>
      <p:sp>
        <p:nvSpPr>
          <p:cNvPr id="24" name="object 24" descr=""/>
          <p:cNvSpPr txBox="1"/>
          <p:nvPr/>
        </p:nvSpPr>
        <p:spPr>
          <a:xfrm>
            <a:off x="7130554" y="1497980"/>
            <a:ext cx="836930" cy="200025"/>
          </a:xfrm>
          <a:prstGeom prst="rect">
            <a:avLst/>
          </a:prstGeom>
          <a:solidFill>
            <a:srgbClr val="F3F9FA"/>
          </a:solidFill>
        </p:spPr>
        <p:txBody>
          <a:bodyPr wrap="square" lIns="0" tIns="11430" rIns="0" bIns="0" rtlCol="0" vert="horz">
            <a:spAutoFit/>
          </a:bodyPr>
          <a:lstStyle/>
          <a:p>
            <a:pPr marL="45085">
              <a:lnSpc>
                <a:spcPct val="100000"/>
              </a:lnSpc>
              <a:spcBef>
                <a:spcPts val="90"/>
              </a:spcBef>
            </a:pPr>
            <a:r>
              <a:rPr dirty="0" sz="1100" spc="-30">
                <a:latin typeface="SimSun"/>
                <a:cs typeface="SimSun"/>
              </a:rPr>
              <a:t>智能制造</a:t>
            </a:r>
            <a:endParaRPr sz="1100">
              <a:latin typeface="SimSun"/>
              <a:cs typeface="SimSun"/>
            </a:endParaRPr>
          </a:p>
        </p:txBody>
      </p:sp>
      <p:sp>
        <p:nvSpPr>
          <p:cNvPr id="25" name="object 25" descr=""/>
          <p:cNvSpPr txBox="1"/>
          <p:nvPr/>
        </p:nvSpPr>
        <p:spPr>
          <a:xfrm>
            <a:off x="7130554" y="1707451"/>
            <a:ext cx="836930" cy="800735"/>
          </a:xfrm>
          <a:prstGeom prst="rect">
            <a:avLst/>
          </a:prstGeom>
          <a:solidFill>
            <a:srgbClr val="F3F9FA"/>
          </a:solidFill>
        </p:spPr>
        <p:txBody>
          <a:bodyPr wrap="square" lIns="0" tIns="0" rIns="0" bIns="0" rtlCol="0" vert="horz">
            <a:spAutoFit/>
          </a:bodyPr>
          <a:lstStyle/>
          <a:p>
            <a:pPr>
              <a:lnSpc>
                <a:spcPct val="100000"/>
              </a:lnSpc>
            </a:pPr>
            <a:endParaRPr sz="1100">
              <a:latin typeface="Times New Roman"/>
              <a:cs typeface="Times New Roman"/>
            </a:endParaRPr>
          </a:p>
          <a:p>
            <a:pPr>
              <a:lnSpc>
                <a:spcPct val="100000"/>
              </a:lnSpc>
              <a:spcBef>
                <a:spcPts val="810"/>
              </a:spcBef>
            </a:pPr>
            <a:endParaRPr sz="1100">
              <a:latin typeface="Times New Roman"/>
              <a:cs typeface="Times New Roman"/>
            </a:endParaRPr>
          </a:p>
          <a:p>
            <a:pPr marL="45085">
              <a:lnSpc>
                <a:spcPct val="100000"/>
              </a:lnSpc>
            </a:pPr>
            <a:r>
              <a:rPr dirty="0" sz="1100" spc="-30">
                <a:latin typeface="SimSun"/>
                <a:cs typeface="SimSun"/>
              </a:rPr>
              <a:t>机械手臂</a:t>
            </a:r>
            <a:endParaRPr sz="1100">
              <a:latin typeface="SimSun"/>
              <a:cs typeface="SimSun"/>
            </a:endParaRPr>
          </a:p>
        </p:txBody>
      </p:sp>
      <p:sp>
        <p:nvSpPr>
          <p:cNvPr id="26" name="object 26" descr=""/>
          <p:cNvSpPr txBox="1"/>
          <p:nvPr/>
        </p:nvSpPr>
        <p:spPr>
          <a:xfrm>
            <a:off x="7130554" y="2517541"/>
            <a:ext cx="836930" cy="1016635"/>
          </a:xfrm>
          <a:prstGeom prst="rect">
            <a:avLst/>
          </a:prstGeom>
          <a:solidFill>
            <a:srgbClr val="F3F9FA"/>
          </a:solidFill>
        </p:spPr>
        <p:txBody>
          <a:bodyPr wrap="square" lIns="0" tIns="34290" rIns="0" bIns="0" rtlCol="0" vert="horz">
            <a:spAutoFit/>
          </a:bodyPr>
          <a:lstStyle/>
          <a:p>
            <a:pPr>
              <a:lnSpc>
                <a:spcPct val="100000"/>
              </a:lnSpc>
              <a:spcBef>
                <a:spcPts val="270"/>
              </a:spcBef>
            </a:pPr>
            <a:endParaRPr sz="1100">
              <a:latin typeface="Times New Roman"/>
              <a:cs typeface="Times New Roman"/>
            </a:endParaRPr>
          </a:p>
          <a:p>
            <a:pPr marL="45085" marR="93345">
              <a:lnSpc>
                <a:spcPct val="125000"/>
              </a:lnSpc>
            </a:pPr>
            <a:r>
              <a:rPr dirty="0" sz="1100" spc="-10">
                <a:latin typeface="Arial MT"/>
                <a:cs typeface="Arial MT"/>
              </a:rPr>
              <a:t>PLC</a:t>
            </a:r>
            <a:r>
              <a:rPr dirty="0" sz="1100" spc="-35">
                <a:latin typeface="SimSun"/>
                <a:cs typeface="SimSun"/>
              </a:rPr>
              <a:t>无线承</a:t>
            </a:r>
            <a:r>
              <a:rPr dirty="0" sz="1100" spc="-50">
                <a:latin typeface="SimSun"/>
                <a:cs typeface="SimSun"/>
              </a:rPr>
              <a:t>载</a:t>
            </a:r>
            <a:endParaRPr sz="1100">
              <a:latin typeface="SimSun"/>
              <a:cs typeface="SimSun"/>
            </a:endParaRPr>
          </a:p>
          <a:p>
            <a:pPr marL="45085">
              <a:lnSpc>
                <a:spcPct val="100000"/>
              </a:lnSpc>
              <a:spcBef>
                <a:spcPts val="1130"/>
              </a:spcBef>
            </a:pPr>
            <a:r>
              <a:rPr dirty="0" sz="1100" spc="-20">
                <a:latin typeface="Arial MT"/>
                <a:cs typeface="Arial MT"/>
              </a:rPr>
              <a:t>AR</a:t>
            </a:r>
            <a:r>
              <a:rPr dirty="0" sz="1100" spc="-35">
                <a:latin typeface="SimSun"/>
                <a:cs typeface="SimSun"/>
              </a:rPr>
              <a:t>辅助设</a:t>
            </a:r>
            <a:endParaRPr sz="1100">
              <a:latin typeface="SimSun"/>
              <a:cs typeface="SimSun"/>
            </a:endParaRPr>
          </a:p>
        </p:txBody>
      </p:sp>
      <p:sp>
        <p:nvSpPr>
          <p:cNvPr id="27" name="object 27" descr=""/>
          <p:cNvSpPr txBox="1"/>
          <p:nvPr/>
        </p:nvSpPr>
        <p:spPr>
          <a:xfrm>
            <a:off x="7176070" y="3472266"/>
            <a:ext cx="152400" cy="193040"/>
          </a:xfrm>
          <a:prstGeom prst="rect">
            <a:avLst/>
          </a:prstGeom>
        </p:spPr>
        <p:txBody>
          <a:bodyPr wrap="square" lIns="0" tIns="12065" rIns="0" bIns="0" rtlCol="0" vert="horz">
            <a:spAutoFit/>
          </a:bodyPr>
          <a:lstStyle/>
          <a:p>
            <a:pPr>
              <a:lnSpc>
                <a:spcPct val="100000"/>
              </a:lnSpc>
              <a:spcBef>
                <a:spcPts val="95"/>
              </a:spcBef>
            </a:pPr>
            <a:r>
              <a:rPr dirty="0" sz="1100" spc="-50">
                <a:latin typeface="SimSun"/>
                <a:cs typeface="SimSun"/>
              </a:rPr>
              <a:t>计</a:t>
            </a:r>
            <a:endParaRPr sz="1100">
              <a:latin typeface="SimSun"/>
              <a:cs typeface="SimSun"/>
            </a:endParaRPr>
          </a:p>
        </p:txBody>
      </p:sp>
      <p:sp>
        <p:nvSpPr>
          <p:cNvPr id="28" name="object 28" descr=""/>
          <p:cNvSpPr txBox="1"/>
          <p:nvPr/>
        </p:nvSpPr>
        <p:spPr>
          <a:xfrm>
            <a:off x="7176070" y="4094893"/>
            <a:ext cx="709930" cy="193040"/>
          </a:xfrm>
          <a:prstGeom prst="rect">
            <a:avLst/>
          </a:prstGeom>
        </p:spPr>
        <p:txBody>
          <a:bodyPr wrap="square" lIns="0" tIns="12065" rIns="0" bIns="0" rtlCol="0" vert="horz">
            <a:spAutoFit/>
          </a:bodyPr>
          <a:lstStyle/>
          <a:p>
            <a:pPr>
              <a:lnSpc>
                <a:spcPct val="100000"/>
              </a:lnSpc>
              <a:spcBef>
                <a:spcPts val="95"/>
              </a:spcBef>
            </a:pPr>
            <a:r>
              <a:rPr dirty="0" sz="1100" spc="-30">
                <a:latin typeface="SimSun"/>
                <a:cs typeface="SimSun"/>
              </a:rPr>
              <a:t>工业自动化</a:t>
            </a:r>
            <a:endParaRPr sz="1100">
              <a:latin typeface="SimSun"/>
              <a:cs typeface="SimSun"/>
            </a:endParaRPr>
          </a:p>
        </p:txBody>
      </p:sp>
      <p:sp>
        <p:nvSpPr>
          <p:cNvPr id="29" name="object 29" descr=""/>
          <p:cNvSpPr txBox="1"/>
          <p:nvPr/>
        </p:nvSpPr>
        <p:spPr>
          <a:xfrm>
            <a:off x="7979688" y="1497980"/>
            <a:ext cx="1068705" cy="200025"/>
          </a:xfrm>
          <a:prstGeom prst="rect">
            <a:avLst/>
          </a:prstGeom>
          <a:solidFill>
            <a:srgbClr val="F3F9FA"/>
          </a:solidFill>
        </p:spPr>
        <p:txBody>
          <a:bodyPr wrap="square" lIns="0" tIns="11430" rIns="0" bIns="0" rtlCol="0" vert="horz">
            <a:spAutoFit/>
          </a:bodyPr>
          <a:lstStyle/>
          <a:p>
            <a:pPr marL="45085">
              <a:lnSpc>
                <a:spcPct val="100000"/>
              </a:lnSpc>
              <a:spcBef>
                <a:spcPts val="90"/>
              </a:spcBef>
            </a:pPr>
            <a:r>
              <a:rPr dirty="0" sz="1100" spc="-30">
                <a:latin typeface="SimSun"/>
                <a:cs typeface="SimSun"/>
              </a:rPr>
              <a:t>智慧电力</a:t>
            </a:r>
            <a:endParaRPr sz="1100">
              <a:latin typeface="SimSun"/>
              <a:cs typeface="SimSun"/>
            </a:endParaRPr>
          </a:p>
        </p:txBody>
      </p:sp>
      <p:sp>
        <p:nvSpPr>
          <p:cNvPr id="30" name="object 30" descr=""/>
          <p:cNvSpPr txBox="1"/>
          <p:nvPr/>
        </p:nvSpPr>
        <p:spPr>
          <a:xfrm>
            <a:off x="7979688" y="1707451"/>
            <a:ext cx="1068705" cy="800735"/>
          </a:xfrm>
          <a:prstGeom prst="rect">
            <a:avLst/>
          </a:prstGeom>
          <a:solidFill>
            <a:srgbClr val="F3F9FA"/>
          </a:solidFill>
        </p:spPr>
        <p:txBody>
          <a:bodyPr wrap="square" lIns="0" tIns="71755" rIns="0" bIns="0" rtlCol="0" vert="horz">
            <a:spAutoFit/>
          </a:bodyPr>
          <a:lstStyle/>
          <a:p>
            <a:pPr marL="45085" marR="38735">
              <a:lnSpc>
                <a:spcPct val="125000"/>
              </a:lnSpc>
              <a:spcBef>
                <a:spcPts val="565"/>
              </a:spcBef>
            </a:pPr>
            <a:r>
              <a:rPr dirty="0" sz="1100" spc="-25">
                <a:latin typeface="SimSun"/>
                <a:cs typeface="SimSun"/>
              </a:rPr>
              <a:t>低压用电信息采</a:t>
            </a:r>
            <a:r>
              <a:rPr dirty="0" sz="1100" spc="-50">
                <a:latin typeface="SimSun"/>
                <a:cs typeface="SimSun"/>
              </a:rPr>
              <a:t>集</a:t>
            </a:r>
            <a:endParaRPr sz="1100">
              <a:latin typeface="SimSun"/>
              <a:cs typeface="SimSun"/>
            </a:endParaRPr>
          </a:p>
          <a:p>
            <a:pPr marL="45085">
              <a:lnSpc>
                <a:spcPts val="1310"/>
              </a:lnSpc>
              <a:spcBef>
                <a:spcPts val="1130"/>
              </a:spcBef>
            </a:pPr>
            <a:r>
              <a:rPr dirty="0" sz="1100" spc="-30">
                <a:latin typeface="SimSun"/>
                <a:cs typeface="SimSun"/>
              </a:rPr>
              <a:t>配电自动化</a:t>
            </a:r>
            <a:endParaRPr sz="1100">
              <a:latin typeface="SimSun"/>
              <a:cs typeface="SimSun"/>
            </a:endParaRPr>
          </a:p>
        </p:txBody>
      </p:sp>
      <p:sp>
        <p:nvSpPr>
          <p:cNvPr id="31" name="object 31" descr=""/>
          <p:cNvSpPr txBox="1"/>
          <p:nvPr/>
        </p:nvSpPr>
        <p:spPr>
          <a:xfrm>
            <a:off x="7979688" y="2517541"/>
            <a:ext cx="1068705" cy="1016635"/>
          </a:xfrm>
          <a:prstGeom prst="rect">
            <a:avLst/>
          </a:prstGeom>
          <a:solidFill>
            <a:srgbClr val="F3F9FA"/>
          </a:solidFill>
        </p:spPr>
        <p:txBody>
          <a:bodyPr wrap="square" lIns="0" tIns="142875" rIns="0" bIns="0" rtlCol="0" vert="horz">
            <a:spAutoFit/>
          </a:bodyPr>
          <a:lstStyle/>
          <a:p>
            <a:pPr>
              <a:lnSpc>
                <a:spcPct val="100000"/>
              </a:lnSpc>
              <a:spcBef>
                <a:spcPts val="1125"/>
              </a:spcBef>
            </a:pPr>
            <a:endParaRPr sz="1100">
              <a:latin typeface="Times New Roman"/>
              <a:cs typeface="Times New Roman"/>
            </a:endParaRPr>
          </a:p>
          <a:p>
            <a:pPr marL="45085" marR="38735">
              <a:lnSpc>
                <a:spcPct val="185500"/>
              </a:lnSpc>
            </a:pPr>
            <a:r>
              <a:rPr dirty="0" sz="1100" spc="-25">
                <a:latin typeface="SimSun"/>
                <a:cs typeface="SimSun"/>
              </a:rPr>
              <a:t>分布式电源管理</a:t>
            </a:r>
            <a:r>
              <a:rPr dirty="0" sz="1100" spc="-30">
                <a:latin typeface="SimSun"/>
                <a:cs typeface="SimSun"/>
              </a:rPr>
              <a:t>配电自动化</a:t>
            </a:r>
            <a:endParaRPr sz="1100">
              <a:latin typeface="SimSun"/>
              <a:cs typeface="SimSun"/>
            </a:endParaRPr>
          </a:p>
        </p:txBody>
      </p:sp>
      <p:sp>
        <p:nvSpPr>
          <p:cNvPr id="32" name="object 32" descr=""/>
          <p:cNvSpPr txBox="1"/>
          <p:nvPr/>
        </p:nvSpPr>
        <p:spPr>
          <a:xfrm>
            <a:off x="7979688" y="3543655"/>
            <a:ext cx="1068705" cy="748665"/>
          </a:xfrm>
          <a:prstGeom prst="rect">
            <a:avLst/>
          </a:prstGeom>
          <a:solidFill>
            <a:srgbClr val="F3F9FA"/>
          </a:solidFill>
        </p:spPr>
        <p:txBody>
          <a:bodyPr wrap="square" lIns="0" tIns="0" rIns="0" bIns="0" rtlCol="0" vert="horz">
            <a:spAutoFit/>
          </a:bodyPr>
          <a:lstStyle/>
          <a:p>
            <a:pPr>
              <a:lnSpc>
                <a:spcPct val="100000"/>
              </a:lnSpc>
            </a:pPr>
            <a:endParaRPr sz="1100">
              <a:latin typeface="Times New Roman"/>
              <a:cs typeface="Times New Roman"/>
            </a:endParaRPr>
          </a:p>
          <a:p>
            <a:pPr>
              <a:lnSpc>
                <a:spcPct val="100000"/>
              </a:lnSpc>
              <a:spcBef>
                <a:spcPts val="260"/>
              </a:spcBef>
            </a:pPr>
            <a:endParaRPr sz="1100">
              <a:latin typeface="Times New Roman"/>
              <a:cs typeface="Times New Roman"/>
            </a:endParaRPr>
          </a:p>
          <a:p>
            <a:pPr marL="45085">
              <a:lnSpc>
                <a:spcPct val="100000"/>
              </a:lnSpc>
            </a:pPr>
            <a:r>
              <a:rPr dirty="0" sz="1100" spc="-25">
                <a:latin typeface="SimSun"/>
                <a:cs typeface="SimSun"/>
              </a:rPr>
              <a:t>精准负荷控制</a:t>
            </a:r>
            <a:endParaRPr sz="1100">
              <a:latin typeface="SimSun"/>
              <a:cs typeface="SimSun"/>
            </a:endParaRPr>
          </a:p>
        </p:txBody>
      </p:sp>
      <p:pic>
        <p:nvPicPr>
          <p:cNvPr id="33" name="object 33"/>
          <p:cNvPicPr/>
          <p:nvPr/>
        </p:nvPicPr>
        <p:blipFill>
          <a:blip r:embed="rId2" cstate="print"/>
          <a:stretch>
            <a:fillRect/>
          </a:stretch>
        </p:blipFill>
        <p:spPr>
          <a:xfrm>
            <a:off x="214009" y="1479613"/>
            <a:ext cx="3780419" cy="2422029"/>
          </a:xfrm>
          <a:prstGeom prst="rect">
            <a:avLst/>
          </a:prstGeom>
        </p:spPr>
      </p:pic>
      <p:sp>
        <p:nvSpPr>
          <p:cNvPr id="34" name="object 34" descr=""/>
          <p:cNvSpPr txBox="1"/>
          <p:nvPr/>
        </p:nvSpPr>
        <p:spPr>
          <a:xfrm>
            <a:off x="379407" y="745292"/>
            <a:ext cx="7764780" cy="735330"/>
          </a:xfrm>
          <a:prstGeom prst="rect">
            <a:avLst/>
          </a:prstGeom>
        </p:spPr>
        <p:txBody>
          <a:bodyPr wrap="square" lIns="0" tIns="1905" rIns="0" bIns="0" rtlCol="0" vert="horz">
            <a:spAutoFit/>
          </a:bodyPr>
          <a:lstStyle/>
          <a:p>
            <a:pPr marL="12700" marR="5080" indent="-635">
              <a:lnSpc>
                <a:spcPct val="141500"/>
              </a:lnSpc>
              <a:spcBef>
                <a:spcPts val="15"/>
              </a:spcBef>
              <a:tabLst>
                <a:tab pos="5360670" algn="l"/>
              </a:tabLst>
            </a:pPr>
            <a:r>
              <a:rPr dirty="0" sz="1600" b="1">
                <a:solidFill>
                  <a:srgbClr val="0065B0"/>
                </a:solidFill>
                <a:latin typeface="Microsoft YaHei"/>
                <a:cs typeface="Microsoft YaHei"/>
              </a:rPr>
              <a:t>从节奏上看</a:t>
            </a:r>
            <a:r>
              <a:rPr dirty="0" sz="1600" spc="-20" b="1">
                <a:solidFill>
                  <a:srgbClr val="0065B0"/>
                </a:solidFill>
                <a:latin typeface="Microsoft YaHei"/>
                <a:cs typeface="Microsoft YaHei"/>
              </a:rPr>
              <a:t>，eMBB</a:t>
            </a:r>
            <a:r>
              <a:rPr dirty="0" sz="1600" b="1">
                <a:solidFill>
                  <a:srgbClr val="0065B0"/>
                </a:solidFill>
                <a:latin typeface="Microsoft YaHei"/>
                <a:cs typeface="Microsoft YaHei"/>
              </a:rPr>
              <a:t>演进率先商用，垂直行</a:t>
            </a:r>
            <a:r>
              <a:rPr dirty="0" sz="1600" spc="-10" b="1">
                <a:solidFill>
                  <a:srgbClr val="0065B0"/>
                </a:solidFill>
                <a:latin typeface="Microsoft YaHei"/>
                <a:cs typeface="Microsoft YaHei"/>
              </a:rPr>
              <a:t>业</a:t>
            </a:r>
            <a:r>
              <a:rPr dirty="0" sz="1600" b="1">
                <a:solidFill>
                  <a:srgbClr val="0065B0"/>
                </a:solidFill>
                <a:latin typeface="Microsoft YaHei"/>
                <a:cs typeface="Microsoft YaHei"/>
              </a:rPr>
              <a:t>开始</a:t>
            </a:r>
            <a:r>
              <a:rPr dirty="0" sz="1600" spc="-10" b="1">
                <a:solidFill>
                  <a:srgbClr val="0065B0"/>
                </a:solidFill>
                <a:latin typeface="Microsoft YaHei"/>
                <a:cs typeface="Microsoft YaHei"/>
              </a:rPr>
              <a:t>孵</a:t>
            </a:r>
            <a:r>
              <a:rPr dirty="0" sz="1600" b="1">
                <a:solidFill>
                  <a:srgbClr val="0065B0"/>
                </a:solidFill>
                <a:latin typeface="Microsoft YaHei"/>
                <a:cs typeface="Microsoft YaHei"/>
              </a:rPr>
              <a:t>化</a:t>
            </a:r>
            <a:r>
              <a:rPr dirty="0" sz="1600" spc="-20" b="1">
                <a:solidFill>
                  <a:srgbClr val="0065B0"/>
                </a:solidFill>
                <a:latin typeface="Microsoft YaHei"/>
                <a:cs typeface="Microsoft YaHei"/>
              </a:rPr>
              <a:t>，uRLLC</a:t>
            </a:r>
            <a:r>
              <a:rPr dirty="0" sz="1600" b="1">
                <a:solidFill>
                  <a:srgbClr val="0065B0"/>
                </a:solidFill>
                <a:latin typeface="Microsoft YaHei"/>
                <a:cs typeface="Microsoft YaHei"/>
              </a:rPr>
              <a:t>尚未</a:t>
            </a:r>
            <a:r>
              <a:rPr dirty="0" sz="1600" spc="-10" b="1">
                <a:solidFill>
                  <a:srgbClr val="0065B0"/>
                </a:solidFill>
                <a:latin typeface="Microsoft YaHei"/>
                <a:cs typeface="Microsoft YaHei"/>
              </a:rPr>
              <a:t>成</a:t>
            </a:r>
            <a:r>
              <a:rPr dirty="0" sz="1600" b="1">
                <a:solidFill>
                  <a:srgbClr val="0065B0"/>
                </a:solidFill>
                <a:latin typeface="Microsoft YaHei"/>
                <a:cs typeface="Microsoft YaHei"/>
              </a:rPr>
              <a:t>熟有</a:t>
            </a:r>
            <a:r>
              <a:rPr dirty="0" sz="1600" spc="-10" b="1">
                <a:solidFill>
                  <a:srgbClr val="0065B0"/>
                </a:solidFill>
                <a:latin typeface="Microsoft YaHei"/>
                <a:cs typeface="Microsoft YaHei"/>
              </a:rPr>
              <a:t>待</a:t>
            </a:r>
            <a:r>
              <a:rPr dirty="0" sz="1600" b="1">
                <a:solidFill>
                  <a:srgbClr val="0065B0"/>
                </a:solidFill>
                <a:latin typeface="Microsoft YaHei"/>
                <a:cs typeface="Microsoft YaHei"/>
              </a:rPr>
              <a:t>培育</a:t>
            </a:r>
            <a:r>
              <a:rPr dirty="0" sz="1600" spc="-10" b="1">
                <a:solidFill>
                  <a:srgbClr val="0065B0"/>
                </a:solidFill>
                <a:latin typeface="Microsoft YaHei"/>
                <a:cs typeface="Microsoft YaHei"/>
              </a:rPr>
              <a:t>，</a:t>
            </a:r>
            <a:r>
              <a:rPr dirty="0" sz="1600" spc="-50" b="1">
                <a:solidFill>
                  <a:srgbClr val="0065B0"/>
                </a:solidFill>
                <a:latin typeface="Microsoft YaHei"/>
                <a:cs typeface="Microsoft YaHei"/>
              </a:rPr>
              <a:t>需</a:t>
            </a:r>
            <a:r>
              <a:rPr dirty="0" baseline="1736" sz="2400" b="1">
                <a:solidFill>
                  <a:srgbClr val="0065B0"/>
                </a:solidFill>
                <a:latin typeface="Microsoft YaHei"/>
                <a:cs typeface="Microsoft YaHei"/>
              </a:rPr>
              <a:t>要结合中国制造</a:t>
            </a:r>
            <a:r>
              <a:rPr dirty="0" baseline="1736" sz="2400" spc="-15" b="1">
                <a:solidFill>
                  <a:srgbClr val="0065B0"/>
                </a:solidFill>
                <a:latin typeface="Microsoft YaHei"/>
                <a:cs typeface="Microsoft YaHei"/>
              </a:rPr>
              <a:t>2025</a:t>
            </a:r>
            <a:r>
              <a:rPr dirty="0" baseline="1736" sz="2400" b="1">
                <a:solidFill>
                  <a:srgbClr val="0065B0"/>
                </a:solidFill>
                <a:latin typeface="Microsoft YaHei"/>
                <a:cs typeface="Microsoft YaHei"/>
              </a:rPr>
              <a:t>驱</a:t>
            </a:r>
            <a:r>
              <a:rPr dirty="0" baseline="1736" sz="2400" spc="-15" b="1">
                <a:solidFill>
                  <a:srgbClr val="0065B0"/>
                </a:solidFill>
                <a:latin typeface="Microsoft YaHei"/>
                <a:cs typeface="Microsoft YaHei"/>
              </a:rPr>
              <a:t>动</a:t>
            </a:r>
            <a:r>
              <a:rPr dirty="0" baseline="1736" sz="2400" b="1">
                <a:solidFill>
                  <a:srgbClr val="0065B0"/>
                </a:solidFill>
                <a:latin typeface="Microsoft YaHei"/>
                <a:cs typeface="Microsoft YaHei"/>
              </a:rPr>
              <a:t>行业</a:t>
            </a:r>
            <a:r>
              <a:rPr dirty="0" baseline="1736" sz="2400" spc="-15" b="1">
                <a:solidFill>
                  <a:srgbClr val="0065B0"/>
                </a:solidFill>
                <a:latin typeface="Microsoft YaHei"/>
                <a:cs typeface="Microsoft YaHei"/>
              </a:rPr>
              <a:t>持</a:t>
            </a:r>
            <a:r>
              <a:rPr dirty="0" baseline="1736" sz="2400" b="1">
                <a:solidFill>
                  <a:srgbClr val="0065B0"/>
                </a:solidFill>
                <a:latin typeface="Microsoft YaHei"/>
                <a:cs typeface="Microsoft YaHei"/>
              </a:rPr>
              <a:t>续发</a:t>
            </a:r>
            <a:r>
              <a:rPr dirty="0" baseline="1736" sz="2400" spc="-15" b="1">
                <a:solidFill>
                  <a:srgbClr val="0065B0"/>
                </a:solidFill>
                <a:latin typeface="Microsoft YaHei"/>
                <a:cs typeface="Microsoft YaHei"/>
              </a:rPr>
              <a:t>展</a:t>
            </a:r>
            <a:r>
              <a:rPr dirty="0" baseline="1736" sz="2400" b="1">
                <a:solidFill>
                  <a:srgbClr val="0065B0"/>
                </a:solidFill>
                <a:latin typeface="Microsoft YaHei"/>
                <a:cs typeface="Microsoft YaHei"/>
              </a:rPr>
              <a:t>，产</a:t>
            </a:r>
            <a:r>
              <a:rPr dirty="0" baseline="1736" sz="2400" spc="-15" b="1">
                <a:solidFill>
                  <a:srgbClr val="0065B0"/>
                </a:solidFill>
                <a:latin typeface="Microsoft YaHei"/>
                <a:cs typeface="Microsoft YaHei"/>
              </a:rPr>
              <a:t>业</a:t>
            </a:r>
            <a:r>
              <a:rPr dirty="0" baseline="1736" sz="2400" b="1">
                <a:solidFill>
                  <a:srgbClr val="0065B0"/>
                </a:solidFill>
                <a:latin typeface="Microsoft YaHei"/>
                <a:cs typeface="Microsoft YaHei"/>
              </a:rPr>
              <a:t>升级</a:t>
            </a:r>
            <a:r>
              <a:rPr dirty="0" baseline="1736" sz="2400" spc="-15" b="1">
                <a:solidFill>
                  <a:srgbClr val="0065B0"/>
                </a:solidFill>
                <a:latin typeface="Microsoft YaHei"/>
                <a:cs typeface="Microsoft YaHei"/>
              </a:rPr>
              <a:t>来</a:t>
            </a:r>
            <a:r>
              <a:rPr dirty="0" baseline="1736" sz="2400" b="1">
                <a:solidFill>
                  <a:srgbClr val="0065B0"/>
                </a:solidFill>
                <a:latin typeface="Microsoft YaHei"/>
                <a:cs typeface="Microsoft YaHei"/>
              </a:rPr>
              <a:t>实</a:t>
            </a:r>
            <a:r>
              <a:rPr dirty="0" baseline="1736" sz="2400" spc="-75" b="1">
                <a:solidFill>
                  <a:srgbClr val="0065B0"/>
                </a:solidFill>
                <a:latin typeface="Microsoft YaHei"/>
                <a:cs typeface="Microsoft YaHei"/>
              </a:rPr>
              <a:t>现</a:t>
            </a:r>
            <a:r>
              <a:rPr dirty="0" baseline="1736" sz="2400" b="1">
                <a:solidFill>
                  <a:srgbClr val="0065B0"/>
                </a:solidFill>
                <a:latin typeface="Microsoft YaHei"/>
                <a:cs typeface="Microsoft YaHei"/>
              </a:rPr>
              <a:t>	</a:t>
            </a:r>
            <a:r>
              <a:rPr dirty="0" sz="1800" b="1">
                <a:solidFill>
                  <a:srgbClr val="CC0000"/>
                </a:solidFill>
                <a:latin typeface="Microsoft YaHei"/>
                <a:cs typeface="Microsoft YaHei"/>
              </a:rPr>
              <a:t>垂直行业典型应</a:t>
            </a:r>
            <a:r>
              <a:rPr dirty="0" sz="1800" spc="-50" b="1">
                <a:solidFill>
                  <a:srgbClr val="CC0000"/>
                </a:solidFill>
                <a:latin typeface="Microsoft YaHei"/>
                <a:cs typeface="Microsoft YaHei"/>
              </a:rPr>
              <a:t>用</a:t>
            </a:r>
            <a:endParaRPr sz="1800">
              <a:latin typeface="Microsoft YaHei"/>
              <a:cs typeface="Microsoft YaHei"/>
            </a:endParaRPr>
          </a:p>
        </p:txBody>
      </p:sp>
      <p:grpSp>
        <p:nvGrpSpPr>
          <p:cNvPr id="35" name="object 35" descr=""/>
          <p:cNvGrpSpPr/>
          <p:nvPr/>
        </p:nvGrpSpPr>
        <p:grpSpPr>
          <a:xfrm>
            <a:off x="4409983" y="1697926"/>
            <a:ext cx="4570095" cy="1845945"/>
            <a:chOff x="4409983" y="1697926"/>
            <a:chExt cx="4570095" cy="1845945"/>
          </a:xfrm>
        </p:grpSpPr>
        <p:sp>
          <p:nvSpPr>
            <p:cNvPr id="36" name="object 36" descr=""/>
            <p:cNvSpPr/>
            <p:nvPr/>
          </p:nvSpPr>
          <p:spPr>
            <a:xfrm>
              <a:off x="4409983" y="2512778"/>
              <a:ext cx="4570095" cy="0"/>
            </a:xfrm>
            <a:custGeom>
              <a:avLst/>
              <a:gdLst/>
              <a:ahLst/>
              <a:cxnLst/>
              <a:rect l="l" t="t" r="r" b="b"/>
              <a:pathLst>
                <a:path w="4570095" h="0">
                  <a:moveTo>
                    <a:pt x="0" y="0"/>
                  </a:moveTo>
                  <a:lnTo>
                    <a:pt x="4569726" y="0"/>
                  </a:lnTo>
                </a:path>
              </a:pathLst>
            </a:custGeom>
            <a:ln w="9525">
              <a:solidFill>
                <a:srgbClr val="B6DCDF"/>
              </a:solidFill>
            </a:ln>
          </p:spPr>
          <p:txBody>
            <a:bodyPr wrap="square" lIns="0" tIns="0" rIns="0" bIns="0" rtlCol="0"/>
            <a:lstStyle/>
            <a:p/>
          </p:txBody>
        </p:sp>
        <p:sp>
          <p:nvSpPr>
            <p:cNvPr id="37" name="object 37" descr=""/>
            <p:cNvSpPr/>
            <p:nvPr/>
          </p:nvSpPr>
          <p:spPr>
            <a:xfrm>
              <a:off x="5037272" y="1702689"/>
              <a:ext cx="3942715" cy="0"/>
            </a:xfrm>
            <a:custGeom>
              <a:avLst/>
              <a:gdLst/>
              <a:ahLst/>
              <a:cxnLst/>
              <a:rect l="l" t="t" r="r" b="b"/>
              <a:pathLst>
                <a:path w="3942715" h="0">
                  <a:moveTo>
                    <a:pt x="0" y="0"/>
                  </a:moveTo>
                  <a:lnTo>
                    <a:pt x="3942435" y="0"/>
                  </a:lnTo>
                </a:path>
              </a:pathLst>
            </a:custGeom>
            <a:ln w="9525">
              <a:solidFill>
                <a:srgbClr val="0065B0"/>
              </a:solidFill>
            </a:ln>
          </p:spPr>
          <p:txBody>
            <a:bodyPr wrap="square" lIns="0" tIns="0" rIns="0" bIns="0" rtlCol="0"/>
            <a:lstStyle/>
            <a:p/>
          </p:txBody>
        </p:sp>
        <p:sp>
          <p:nvSpPr>
            <p:cNvPr id="38" name="object 38" descr=""/>
            <p:cNvSpPr/>
            <p:nvPr/>
          </p:nvSpPr>
          <p:spPr>
            <a:xfrm>
              <a:off x="4409983" y="3538893"/>
              <a:ext cx="4570095" cy="0"/>
            </a:xfrm>
            <a:custGeom>
              <a:avLst/>
              <a:gdLst/>
              <a:ahLst/>
              <a:cxnLst/>
              <a:rect l="l" t="t" r="r" b="b"/>
              <a:pathLst>
                <a:path w="4570095" h="0">
                  <a:moveTo>
                    <a:pt x="0" y="0"/>
                  </a:moveTo>
                  <a:lnTo>
                    <a:pt x="4569726" y="0"/>
                  </a:lnTo>
                </a:path>
              </a:pathLst>
            </a:custGeom>
            <a:ln w="9525">
              <a:solidFill>
                <a:srgbClr val="B6DCDF"/>
              </a:solidFill>
            </a:ln>
          </p:spPr>
          <p:txBody>
            <a:bodyPr wrap="square" lIns="0" tIns="0" rIns="0" bIns="0" rtlCol="0"/>
            <a:lstStyle/>
            <a:p/>
          </p:txBody>
        </p:sp>
      </p:grpSp>
      <p:sp>
        <p:nvSpPr>
          <p:cNvPr id="39" name="object 39" descr=""/>
          <p:cNvSpPr txBox="1"/>
          <p:nvPr/>
        </p:nvSpPr>
        <p:spPr>
          <a:xfrm>
            <a:off x="4143340" y="1895834"/>
            <a:ext cx="862330" cy="193040"/>
          </a:xfrm>
          <a:prstGeom prst="rect">
            <a:avLst/>
          </a:prstGeom>
        </p:spPr>
        <p:txBody>
          <a:bodyPr wrap="square" lIns="0" tIns="12065" rIns="0" bIns="0" rtlCol="0" vert="horz">
            <a:spAutoFit/>
          </a:bodyPr>
          <a:lstStyle/>
          <a:p>
            <a:pPr marL="12700">
              <a:lnSpc>
                <a:spcPct val="100000"/>
              </a:lnSpc>
              <a:spcBef>
                <a:spcPts val="95"/>
              </a:spcBef>
            </a:pPr>
            <a:r>
              <a:rPr dirty="0" sz="1100" spc="-25">
                <a:solidFill>
                  <a:srgbClr val="CC0000"/>
                </a:solidFill>
                <a:latin typeface="SimSun"/>
                <a:cs typeface="SimSun"/>
              </a:rPr>
              <a:t>通用终端及部</a:t>
            </a:r>
            <a:endParaRPr sz="1100">
              <a:latin typeface="SimSun"/>
              <a:cs typeface="SimSun"/>
            </a:endParaRPr>
          </a:p>
        </p:txBody>
      </p:sp>
      <p:sp>
        <p:nvSpPr>
          <p:cNvPr id="40" name="object 40" descr=""/>
          <p:cNvSpPr txBox="1"/>
          <p:nvPr/>
        </p:nvSpPr>
        <p:spPr>
          <a:xfrm>
            <a:off x="4117940" y="2056615"/>
            <a:ext cx="1257935" cy="193040"/>
          </a:xfrm>
          <a:prstGeom prst="rect">
            <a:avLst/>
          </a:prstGeom>
        </p:spPr>
        <p:txBody>
          <a:bodyPr wrap="square" lIns="0" tIns="12065" rIns="0" bIns="0" rtlCol="0" vert="horz">
            <a:spAutoFit/>
          </a:bodyPr>
          <a:lstStyle/>
          <a:p>
            <a:pPr marL="38100">
              <a:lnSpc>
                <a:spcPct val="100000"/>
              </a:lnSpc>
              <a:spcBef>
                <a:spcPts val="95"/>
              </a:spcBef>
            </a:pPr>
            <a:r>
              <a:rPr dirty="0" sz="1100" spc="-30">
                <a:solidFill>
                  <a:srgbClr val="CC0000"/>
                </a:solidFill>
                <a:latin typeface="SimSun"/>
                <a:cs typeface="SimSun"/>
              </a:rPr>
              <a:t>分模组可用 </a:t>
            </a:r>
            <a:r>
              <a:rPr dirty="0" baseline="-25252" sz="1650" spc="-30">
                <a:latin typeface="Arial MT"/>
                <a:cs typeface="Arial MT"/>
              </a:rPr>
              <a:t>VR/AR</a:t>
            </a:r>
            <a:endParaRPr baseline="-25252" sz="1650">
              <a:latin typeface="Arial MT"/>
              <a:cs typeface="Arial MT"/>
            </a:endParaRPr>
          </a:p>
        </p:txBody>
      </p:sp>
      <p:sp>
        <p:nvSpPr>
          <p:cNvPr id="41" name="object 41" descr=""/>
          <p:cNvSpPr txBox="1"/>
          <p:nvPr/>
        </p:nvSpPr>
        <p:spPr>
          <a:xfrm>
            <a:off x="4163002" y="1532577"/>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solidFill>
                  <a:srgbClr val="CC0000"/>
                </a:solidFill>
                <a:latin typeface="SimSun"/>
                <a:cs typeface="SimSun"/>
              </a:rPr>
              <a:t>第一阶段</a:t>
            </a:r>
            <a:endParaRPr sz="1100">
              <a:latin typeface="SimSun"/>
              <a:cs typeface="SimSun"/>
            </a:endParaRPr>
          </a:p>
        </p:txBody>
      </p:sp>
      <p:sp>
        <p:nvSpPr>
          <p:cNvPr id="42" name="object 42" descr=""/>
          <p:cNvSpPr txBox="1"/>
          <p:nvPr/>
        </p:nvSpPr>
        <p:spPr>
          <a:xfrm>
            <a:off x="4163002" y="1691824"/>
            <a:ext cx="429259" cy="193040"/>
          </a:xfrm>
          <a:prstGeom prst="rect">
            <a:avLst/>
          </a:prstGeom>
        </p:spPr>
        <p:txBody>
          <a:bodyPr wrap="square" lIns="0" tIns="12065" rIns="0" bIns="0" rtlCol="0" vert="horz">
            <a:spAutoFit/>
          </a:bodyPr>
          <a:lstStyle/>
          <a:p>
            <a:pPr marL="12700">
              <a:lnSpc>
                <a:spcPct val="100000"/>
              </a:lnSpc>
              <a:spcBef>
                <a:spcPts val="95"/>
              </a:spcBef>
            </a:pPr>
            <a:r>
              <a:rPr dirty="0" sz="1100" spc="-10">
                <a:solidFill>
                  <a:srgbClr val="CC0000"/>
                </a:solidFill>
                <a:latin typeface="Arial MT"/>
                <a:cs typeface="Arial MT"/>
              </a:rPr>
              <a:t>Y2020</a:t>
            </a:r>
            <a:endParaRPr sz="1100">
              <a:latin typeface="Arial MT"/>
              <a:cs typeface="Arial MT"/>
            </a:endParaRPr>
          </a:p>
        </p:txBody>
      </p:sp>
      <p:sp>
        <p:nvSpPr>
          <p:cNvPr id="43" name="object 43" descr=""/>
          <p:cNvSpPr txBox="1"/>
          <p:nvPr/>
        </p:nvSpPr>
        <p:spPr>
          <a:xfrm>
            <a:off x="4192844" y="2669759"/>
            <a:ext cx="586740" cy="585470"/>
          </a:xfrm>
          <a:prstGeom prst="rect">
            <a:avLst/>
          </a:prstGeom>
        </p:spPr>
        <p:txBody>
          <a:bodyPr wrap="square" lIns="0" tIns="12065" rIns="0" bIns="0" rtlCol="0" vert="horz">
            <a:spAutoFit/>
          </a:bodyPr>
          <a:lstStyle/>
          <a:p>
            <a:pPr marL="12700">
              <a:lnSpc>
                <a:spcPts val="1315"/>
              </a:lnSpc>
              <a:spcBef>
                <a:spcPts val="95"/>
              </a:spcBef>
            </a:pPr>
            <a:r>
              <a:rPr dirty="0" sz="1100" spc="-30">
                <a:solidFill>
                  <a:srgbClr val="CC0000"/>
                </a:solidFill>
                <a:latin typeface="SimSun"/>
                <a:cs typeface="SimSun"/>
              </a:rPr>
              <a:t>第二阶段</a:t>
            </a:r>
            <a:endParaRPr sz="1100">
              <a:latin typeface="SimSun"/>
              <a:cs typeface="SimSun"/>
            </a:endParaRPr>
          </a:p>
          <a:p>
            <a:pPr marL="12700">
              <a:lnSpc>
                <a:spcPts val="1315"/>
              </a:lnSpc>
            </a:pPr>
            <a:r>
              <a:rPr dirty="0" sz="1100" spc="-10">
                <a:solidFill>
                  <a:srgbClr val="CC0000"/>
                </a:solidFill>
                <a:latin typeface="Arial MT"/>
                <a:cs typeface="Arial MT"/>
              </a:rPr>
              <a:t>Y2021</a:t>
            </a:r>
            <a:endParaRPr sz="1100">
              <a:latin typeface="Arial MT"/>
              <a:cs typeface="Arial MT"/>
            </a:endParaRPr>
          </a:p>
          <a:p>
            <a:pPr marL="15240">
              <a:lnSpc>
                <a:spcPct val="100000"/>
              </a:lnSpc>
              <a:spcBef>
                <a:spcPts val="465"/>
              </a:spcBef>
            </a:pPr>
            <a:r>
              <a:rPr dirty="0" sz="1100" spc="-30">
                <a:solidFill>
                  <a:srgbClr val="CC0000"/>
                </a:solidFill>
                <a:latin typeface="SimSun"/>
                <a:cs typeface="SimSun"/>
              </a:rPr>
              <a:t>模组量产</a:t>
            </a:r>
            <a:endParaRPr sz="1100">
              <a:latin typeface="SimSun"/>
              <a:cs typeface="SimSun"/>
            </a:endParaRPr>
          </a:p>
        </p:txBody>
      </p:sp>
      <p:sp>
        <p:nvSpPr>
          <p:cNvPr id="44" name="object 44" descr=""/>
          <p:cNvSpPr txBox="1"/>
          <p:nvPr/>
        </p:nvSpPr>
        <p:spPr>
          <a:xfrm>
            <a:off x="4143201" y="3563050"/>
            <a:ext cx="583565" cy="359410"/>
          </a:xfrm>
          <a:prstGeom prst="rect">
            <a:avLst/>
          </a:prstGeom>
        </p:spPr>
        <p:txBody>
          <a:bodyPr wrap="square" lIns="0" tIns="12065" rIns="0" bIns="0" rtlCol="0" vert="horz">
            <a:spAutoFit/>
          </a:bodyPr>
          <a:lstStyle/>
          <a:p>
            <a:pPr marL="12700">
              <a:lnSpc>
                <a:spcPts val="1315"/>
              </a:lnSpc>
              <a:spcBef>
                <a:spcPts val="95"/>
              </a:spcBef>
            </a:pPr>
            <a:r>
              <a:rPr dirty="0" sz="1100" spc="-30">
                <a:solidFill>
                  <a:srgbClr val="CC0000"/>
                </a:solidFill>
                <a:latin typeface="SimSun"/>
                <a:cs typeface="SimSun"/>
              </a:rPr>
              <a:t>第三阶段</a:t>
            </a:r>
            <a:endParaRPr sz="1100">
              <a:latin typeface="SimSun"/>
              <a:cs typeface="SimSun"/>
            </a:endParaRPr>
          </a:p>
          <a:p>
            <a:pPr marL="12700">
              <a:lnSpc>
                <a:spcPts val="1315"/>
              </a:lnSpc>
            </a:pPr>
            <a:r>
              <a:rPr dirty="0" sz="1100" spc="-10">
                <a:solidFill>
                  <a:srgbClr val="CC0000"/>
                </a:solidFill>
                <a:latin typeface="Arial MT"/>
                <a:cs typeface="Arial MT"/>
              </a:rPr>
              <a:t>Y2023</a:t>
            </a:r>
            <a:endParaRPr sz="1100">
              <a:latin typeface="Arial MT"/>
              <a:cs typeface="Arial MT"/>
            </a:endParaRPr>
          </a:p>
        </p:txBody>
      </p:sp>
      <p:sp>
        <p:nvSpPr>
          <p:cNvPr id="45" name="object 45" descr=""/>
          <p:cNvSpPr txBox="1"/>
          <p:nvPr/>
        </p:nvSpPr>
        <p:spPr>
          <a:xfrm>
            <a:off x="4143201" y="3898279"/>
            <a:ext cx="847090" cy="193040"/>
          </a:xfrm>
          <a:prstGeom prst="rect">
            <a:avLst/>
          </a:prstGeom>
        </p:spPr>
        <p:txBody>
          <a:bodyPr wrap="square" lIns="0" tIns="12065" rIns="0" bIns="0" rtlCol="0" vert="horz">
            <a:spAutoFit/>
          </a:bodyPr>
          <a:lstStyle/>
          <a:p>
            <a:pPr marL="12700">
              <a:lnSpc>
                <a:spcPct val="100000"/>
              </a:lnSpc>
              <a:spcBef>
                <a:spcPts val="95"/>
              </a:spcBef>
            </a:pPr>
            <a:r>
              <a:rPr dirty="0" sz="1100" spc="-10">
                <a:solidFill>
                  <a:srgbClr val="CC0000"/>
                </a:solidFill>
                <a:latin typeface="Arial MT"/>
                <a:cs typeface="Arial MT"/>
              </a:rPr>
              <a:t>E2E</a:t>
            </a:r>
            <a:r>
              <a:rPr dirty="0" sz="1100" spc="-30">
                <a:solidFill>
                  <a:srgbClr val="CC0000"/>
                </a:solidFill>
                <a:latin typeface="SimSun"/>
                <a:cs typeface="SimSun"/>
              </a:rPr>
              <a:t>产业成熟</a:t>
            </a:r>
            <a:endParaRPr sz="1100">
              <a:latin typeface="SimSun"/>
              <a:cs typeface="SimSun"/>
            </a:endParaRPr>
          </a:p>
        </p:txBody>
      </p:sp>
      <p:sp>
        <p:nvSpPr>
          <p:cNvPr id="46" name="object 46" descr=""/>
          <p:cNvSpPr txBox="1"/>
          <p:nvPr/>
        </p:nvSpPr>
        <p:spPr>
          <a:xfrm>
            <a:off x="235391" y="4266691"/>
            <a:ext cx="8995410" cy="665480"/>
          </a:xfrm>
          <a:prstGeom prst="rect">
            <a:avLst/>
          </a:prstGeom>
        </p:spPr>
        <p:txBody>
          <a:bodyPr wrap="square" lIns="0" tIns="12065" rIns="0" bIns="0" rtlCol="0" vert="horz">
            <a:spAutoFit/>
          </a:bodyPr>
          <a:lstStyle/>
          <a:p>
            <a:pPr marL="269875" indent="-257175">
              <a:lnSpc>
                <a:spcPct val="100000"/>
              </a:lnSpc>
              <a:spcBef>
                <a:spcPts val="95"/>
              </a:spcBef>
              <a:buFont typeface="Arial MT"/>
              <a:buChar char="•"/>
              <a:tabLst>
                <a:tab pos="269875" algn="l"/>
              </a:tabLst>
            </a:pPr>
            <a:r>
              <a:rPr dirty="0" sz="1400" spc="-20">
                <a:latin typeface="SimSun"/>
                <a:cs typeface="SimSun"/>
              </a:rPr>
              <a:t>阶段</a:t>
            </a:r>
            <a:r>
              <a:rPr dirty="0" sz="1400" spc="-10">
                <a:latin typeface="Arial MT"/>
                <a:cs typeface="Arial MT"/>
              </a:rPr>
              <a:t>1</a:t>
            </a:r>
            <a:r>
              <a:rPr dirty="0" sz="1400" spc="-10">
                <a:latin typeface="SimSun"/>
                <a:cs typeface="SimSun"/>
              </a:rPr>
              <a:t>，</a:t>
            </a:r>
            <a:r>
              <a:rPr dirty="0" sz="1400" spc="-10">
                <a:latin typeface="Arial MT"/>
                <a:cs typeface="Arial MT"/>
              </a:rPr>
              <a:t>5G</a:t>
            </a:r>
            <a:r>
              <a:rPr dirty="0" sz="1400" spc="-20">
                <a:latin typeface="SimSun"/>
                <a:cs typeface="SimSun"/>
              </a:rPr>
              <a:t>以</a:t>
            </a:r>
            <a:r>
              <a:rPr dirty="0" sz="1400" spc="-10">
                <a:latin typeface="Arial MT"/>
                <a:cs typeface="Arial MT"/>
              </a:rPr>
              <a:t>eMBB</a:t>
            </a:r>
            <a:r>
              <a:rPr dirty="0" sz="1400" spc="-20">
                <a:latin typeface="SimSun"/>
                <a:cs typeface="SimSun"/>
              </a:rPr>
              <a:t>业务为主，快速建设</a:t>
            </a:r>
            <a:r>
              <a:rPr dirty="0" sz="1400" spc="-10">
                <a:latin typeface="Arial MT"/>
                <a:cs typeface="Arial MT"/>
              </a:rPr>
              <a:t>NSA</a:t>
            </a:r>
            <a:r>
              <a:rPr dirty="0" sz="1400" spc="25">
                <a:latin typeface="SimSun"/>
                <a:cs typeface="SimSun"/>
              </a:rPr>
              <a:t>网络，降低建设运营成本。同时建设</a:t>
            </a:r>
            <a:r>
              <a:rPr dirty="0" sz="1400" spc="-10">
                <a:latin typeface="Arial MT"/>
                <a:cs typeface="Arial MT"/>
              </a:rPr>
              <a:t>SA</a:t>
            </a:r>
            <a:r>
              <a:rPr dirty="0" sz="1400" spc="-20">
                <a:latin typeface="SimSun"/>
                <a:cs typeface="SimSun"/>
              </a:rPr>
              <a:t>试点，逐步培育垂直行业</a:t>
            </a:r>
            <a:r>
              <a:rPr dirty="0" sz="1400" spc="-805">
                <a:latin typeface="SimSun"/>
                <a:cs typeface="SimSun"/>
              </a:rPr>
              <a:t>；</a:t>
            </a:r>
            <a:endParaRPr sz="1400">
              <a:latin typeface="SimSun"/>
              <a:cs typeface="SimSun"/>
            </a:endParaRPr>
          </a:p>
          <a:p>
            <a:pPr marL="269875" indent="-257175">
              <a:lnSpc>
                <a:spcPct val="100000"/>
              </a:lnSpc>
              <a:buFont typeface="Arial MT"/>
              <a:buChar char="•"/>
              <a:tabLst>
                <a:tab pos="269875" algn="l"/>
              </a:tabLst>
            </a:pPr>
            <a:r>
              <a:rPr dirty="0" sz="1400" spc="-20">
                <a:latin typeface="SimSun"/>
                <a:cs typeface="SimSun"/>
              </a:rPr>
              <a:t>阶段</a:t>
            </a:r>
            <a:r>
              <a:rPr dirty="0" sz="1400" spc="-10">
                <a:latin typeface="Arial MT"/>
                <a:cs typeface="Arial MT"/>
              </a:rPr>
              <a:t>2</a:t>
            </a:r>
            <a:r>
              <a:rPr dirty="0" sz="1400" spc="-20">
                <a:latin typeface="SimSun"/>
                <a:cs typeface="SimSun"/>
              </a:rPr>
              <a:t>，垂直行业培育成熟，规模建设</a:t>
            </a:r>
            <a:r>
              <a:rPr dirty="0" sz="1400" spc="-20">
                <a:latin typeface="Arial MT"/>
                <a:cs typeface="Arial MT"/>
              </a:rPr>
              <a:t>SA</a:t>
            </a:r>
            <a:r>
              <a:rPr dirty="0" sz="1400" spc="-15">
                <a:latin typeface="SimSun"/>
                <a:cs typeface="SimSun"/>
              </a:rPr>
              <a:t>网络，</a:t>
            </a:r>
            <a:r>
              <a:rPr dirty="0" sz="1400" spc="-10">
                <a:latin typeface="Arial MT"/>
                <a:cs typeface="Arial MT"/>
              </a:rPr>
              <a:t>NSA/SA</a:t>
            </a:r>
            <a:r>
              <a:rPr dirty="0" sz="1400" spc="-25">
                <a:latin typeface="SimSun"/>
                <a:cs typeface="SimSun"/>
              </a:rPr>
              <a:t>共存，满足多样化业务需求；</a:t>
            </a:r>
            <a:endParaRPr sz="1400">
              <a:latin typeface="SimSun"/>
              <a:cs typeface="SimSun"/>
            </a:endParaRPr>
          </a:p>
          <a:p>
            <a:pPr marL="269875" indent="-257175">
              <a:lnSpc>
                <a:spcPct val="100000"/>
              </a:lnSpc>
              <a:buFont typeface="Arial MT"/>
              <a:buChar char="•"/>
              <a:tabLst>
                <a:tab pos="269875" algn="l"/>
              </a:tabLst>
            </a:pPr>
            <a:r>
              <a:rPr dirty="0" sz="1400" spc="-20">
                <a:latin typeface="SimSun"/>
                <a:cs typeface="SimSun"/>
              </a:rPr>
              <a:t>阶段</a:t>
            </a:r>
            <a:r>
              <a:rPr dirty="0" sz="1400" spc="-20">
                <a:latin typeface="Arial MT"/>
                <a:cs typeface="Arial MT"/>
              </a:rPr>
              <a:t>3</a:t>
            </a:r>
            <a:r>
              <a:rPr dirty="0" sz="1400" spc="-20">
                <a:latin typeface="SimSun"/>
                <a:cs typeface="SimSun"/>
              </a:rPr>
              <a:t>，</a:t>
            </a:r>
            <a:r>
              <a:rPr dirty="0" sz="1400" spc="-20">
                <a:latin typeface="Arial MT"/>
                <a:cs typeface="Arial MT"/>
              </a:rPr>
              <a:t>SA</a:t>
            </a:r>
            <a:r>
              <a:rPr dirty="0" sz="1400" spc="-20">
                <a:latin typeface="SimSun"/>
                <a:cs typeface="SimSun"/>
              </a:rPr>
              <a:t>网络进入成熟期，</a:t>
            </a:r>
            <a:r>
              <a:rPr dirty="0" sz="1400" spc="-10">
                <a:latin typeface="Arial MT"/>
                <a:cs typeface="Arial MT"/>
              </a:rPr>
              <a:t>NSA</a:t>
            </a:r>
            <a:r>
              <a:rPr dirty="0" sz="1400" spc="-20">
                <a:latin typeface="SimSun"/>
                <a:cs typeface="SimSun"/>
              </a:rPr>
              <a:t>全部升级</a:t>
            </a:r>
            <a:r>
              <a:rPr dirty="0" sz="1400" spc="-20">
                <a:latin typeface="Arial MT"/>
                <a:cs typeface="Arial MT"/>
              </a:rPr>
              <a:t>SA</a:t>
            </a:r>
            <a:r>
              <a:rPr dirty="0" sz="1400" spc="-20">
                <a:latin typeface="SimSun"/>
                <a:cs typeface="SimSun"/>
              </a:rPr>
              <a:t>，满足</a:t>
            </a:r>
            <a:r>
              <a:rPr dirty="0" sz="1400" spc="-10">
                <a:latin typeface="Arial MT"/>
                <a:cs typeface="Arial MT"/>
              </a:rPr>
              <a:t>uRLLC</a:t>
            </a:r>
            <a:r>
              <a:rPr dirty="0" sz="1400" spc="-25">
                <a:latin typeface="SimSun"/>
                <a:cs typeface="SimSun"/>
              </a:rPr>
              <a:t>低时延等全行业应用。</a:t>
            </a:r>
            <a:endParaRPr sz="1400">
              <a:latin typeface="SimSun"/>
              <a:cs typeface="SimSu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334422" y="987675"/>
            <a:ext cx="1854200" cy="1238250"/>
          </a:xfrm>
          <a:prstGeom prst="rect">
            <a:avLst/>
          </a:prstGeom>
        </p:spPr>
        <p:txBody>
          <a:bodyPr wrap="square" lIns="0" tIns="151765" rIns="0" bIns="0" rtlCol="0" vert="horz">
            <a:spAutoFit/>
          </a:bodyPr>
          <a:lstStyle/>
          <a:p>
            <a:pPr marL="12700">
              <a:lnSpc>
                <a:spcPct val="100000"/>
              </a:lnSpc>
              <a:spcBef>
                <a:spcPts val="1195"/>
              </a:spcBef>
            </a:pPr>
            <a:r>
              <a:rPr dirty="0" sz="2400" spc="-10">
                <a:latin typeface="SimSun"/>
                <a:cs typeface="SimSun"/>
              </a:rPr>
              <a:t>增强移动宽带</a:t>
            </a:r>
            <a:endParaRPr sz="2400">
              <a:latin typeface="SimSun"/>
              <a:cs typeface="SimSun"/>
            </a:endParaRPr>
          </a:p>
          <a:p>
            <a:pPr marL="515620" indent="-285115">
              <a:lnSpc>
                <a:spcPct val="100000"/>
              </a:lnSpc>
              <a:spcBef>
                <a:spcPts val="819"/>
              </a:spcBef>
              <a:buFont typeface="Wingdings"/>
              <a:buChar char=""/>
              <a:tabLst>
                <a:tab pos="515620" algn="l"/>
              </a:tabLst>
            </a:pPr>
            <a:r>
              <a:rPr dirty="0" sz="1800" spc="-20">
                <a:latin typeface="SimSun"/>
                <a:cs typeface="SimSun"/>
              </a:rPr>
              <a:t>高速率</a:t>
            </a:r>
            <a:endParaRPr sz="1800">
              <a:latin typeface="SimSun"/>
              <a:cs typeface="SimSun"/>
            </a:endParaRPr>
          </a:p>
          <a:p>
            <a:pPr marL="515620" indent="-285115">
              <a:lnSpc>
                <a:spcPct val="100000"/>
              </a:lnSpc>
              <a:spcBef>
                <a:spcPts val="430"/>
              </a:spcBef>
              <a:buFont typeface="Wingdings"/>
              <a:buChar char=""/>
              <a:tabLst>
                <a:tab pos="515620" algn="l"/>
              </a:tabLst>
            </a:pPr>
            <a:r>
              <a:rPr dirty="0" sz="1800" spc="-20">
                <a:latin typeface="SimSun"/>
                <a:cs typeface="SimSun"/>
              </a:rPr>
              <a:t>高移动</a:t>
            </a:r>
            <a:endParaRPr sz="1800">
              <a:latin typeface="SimSun"/>
              <a:cs typeface="SimSun"/>
            </a:endParaRPr>
          </a:p>
        </p:txBody>
      </p:sp>
      <p:grpSp>
        <p:nvGrpSpPr>
          <p:cNvPr id="3" name="object 3" descr=""/>
          <p:cNvGrpSpPr/>
          <p:nvPr/>
        </p:nvGrpSpPr>
        <p:grpSpPr>
          <a:xfrm>
            <a:off x="532638" y="2951987"/>
            <a:ext cx="2353310" cy="1696720"/>
            <a:chOff x="532638" y="2951987"/>
            <a:chExt cx="2353310" cy="1696720"/>
          </a:xfrm>
        </p:grpSpPr>
        <p:pic>
          <p:nvPicPr>
            <p:cNvPr id="4" name="object 4"/>
            <p:cNvPicPr/>
            <p:nvPr/>
          </p:nvPicPr>
          <p:blipFill>
            <a:blip r:embed="rId2" cstate="print"/>
            <a:stretch>
              <a:fillRect/>
            </a:stretch>
          </p:blipFill>
          <p:spPr>
            <a:xfrm>
              <a:off x="1082039" y="2951987"/>
              <a:ext cx="1803653" cy="1203959"/>
            </a:xfrm>
            <a:prstGeom prst="rect">
              <a:avLst/>
            </a:prstGeom>
          </p:spPr>
        </p:pic>
        <p:pic>
          <p:nvPicPr>
            <p:cNvPr id="5" name="object 5"/>
            <p:cNvPicPr/>
            <p:nvPr/>
          </p:nvPicPr>
          <p:blipFill>
            <a:blip r:embed="rId3" cstate="print"/>
            <a:stretch>
              <a:fillRect/>
            </a:stretch>
          </p:blipFill>
          <p:spPr>
            <a:xfrm>
              <a:off x="532638" y="3493008"/>
              <a:ext cx="1806701" cy="1155191"/>
            </a:xfrm>
            <a:prstGeom prst="rect">
              <a:avLst/>
            </a:prstGeom>
          </p:spPr>
        </p:pic>
      </p:grpSp>
      <p:sp>
        <p:nvSpPr>
          <p:cNvPr id="6" name="object 6" descr=""/>
          <p:cNvSpPr txBox="1"/>
          <p:nvPr/>
        </p:nvSpPr>
        <p:spPr>
          <a:xfrm>
            <a:off x="1984481" y="4183320"/>
            <a:ext cx="760730" cy="208279"/>
          </a:xfrm>
          <a:prstGeom prst="rect">
            <a:avLst/>
          </a:prstGeom>
        </p:spPr>
        <p:txBody>
          <a:bodyPr wrap="square" lIns="0" tIns="12700" rIns="0" bIns="0" rtlCol="0" vert="horz">
            <a:spAutoFit/>
          </a:bodyPr>
          <a:lstStyle/>
          <a:p>
            <a:pPr marL="38100">
              <a:lnSpc>
                <a:spcPct val="100000"/>
              </a:lnSpc>
              <a:spcBef>
                <a:spcPts val="100"/>
              </a:spcBef>
            </a:pPr>
            <a:r>
              <a:rPr dirty="0" sz="1200" spc="-10">
                <a:latin typeface="Arial MT"/>
                <a:cs typeface="Arial MT"/>
              </a:rPr>
              <a:t>500</a:t>
            </a:r>
            <a:r>
              <a:rPr dirty="0" baseline="24305" sz="1200" spc="-15">
                <a:latin typeface="Arial MT"/>
                <a:cs typeface="Arial MT"/>
              </a:rPr>
              <a:t>+</a:t>
            </a:r>
            <a:r>
              <a:rPr dirty="0" sz="1200" spc="-10">
                <a:latin typeface="Arial MT"/>
                <a:cs typeface="Arial MT"/>
              </a:rPr>
              <a:t>kmph</a:t>
            </a:r>
            <a:endParaRPr sz="1200">
              <a:latin typeface="Arial MT"/>
              <a:cs typeface="Arial MT"/>
            </a:endParaRPr>
          </a:p>
        </p:txBody>
      </p:sp>
      <p:grpSp>
        <p:nvGrpSpPr>
          <p:cNvPr id="7" name="object 7" descr=""/>
          <p:cNvGrpSpPr/>
          <p:nvPr/>
        </p:nvGrpSpPr>
        <p:grpSpPr>
          <a:xfrm>
            <a:off x="3096005" y="2583105"/>
            <a:ext cx="2193925" cy="1572895"/>
            <a:chOff x="3096005" y="2583105"/>
            <a:chExt cx="2193925" cy="1572895"/>
          </a:xfrm>
        </p:grpSpPr>
        <p:pic>
          <p:nvPicPr>
            <p:cNvPr id="8" name="object 8"/>
            <p:cNvPicPr/>
            <p:nvPr/>
          </p:nvPicPr>
          <p:blipFill>
            <a:blip r:embed="rId4" cstate="print"/>
            <a:stretch>
              <a:fillRect/>
            </a:stretch>
          </p:blipFill>
          <p:spPr>
            <a:xfrm>
              <a:off x="3291839" y="2583105"/>
              <a:ext cx="1997963" cy="1224673"/>
            </a:xfrm>
            <a:prstGeom prst="rect">
              <a:avLst/>
            </a:prstGeom>
          </p:spPr>
        </p:pic>
        <p:pic>
          <p:nvPicPr>
            <p:cNvPr id="9" name="object 9"/>
            <p:cNvPicPr/>
            <p:nvPr/>
          </p:nvPicPr>
          <p:blipFill>
            <a:blip r:embed="rId5" cstate="print"/>
            <a:stretch>
              <a:fillRect/>
            </a:stretch>
          </p:blipFill>
          <p:spPr>
            <a:xfrm>
              <a:off x="3096005" y="3128772"/>
              <a:ext cx="1824977" cy="1027175"/>
            </a:xfrm>
            <a:prstGeom prst="rect">
              <a:avLst/>
            </a:prstGeom>
          </p:spPr>
        </p:pic>
      </p:grpSp>
      <p:sp>
        <p:nvSpPr>
          <p:cNvPr id="10" name="object 10" descr=""/>
          <p:cNvSpPr txBox="1"/>
          <p:nvPr/>
        </p:nvSpPr>
        <p:spPr>
          <a:xfrm>
            <a:off x="3812165" y="4099548"/>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超高清视频</a:t>
            </a:r>
            <a:endParaRPr sz="1800">
              <a:latin typeface="SimSun"/>
              <a:cs typeface="SimSun"/>
            </a:endParaRPr>
          </a:p>
        </p:txBody>
      </p:sp>
      <p:sp>
        <p:nvSpPr>
          <p:cNvPr id="11" name="object 11" descr=""/>
          <p:cNvSpPr txBox="1"/>
          <p:nvPr/>
        </p:nvSpPr>
        <p:spPr>
          <a:xfrm>
            <a:off x="630967" y="4645445"/>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高速动中通</a:t>
            </a:r>
            <a:endParaRPr sz="1800">
              <a:latin typeface="SimSun"/>
              <a:cs typeface="SimSun"/>
            </a:endParaRPr>
          </a:p>
        </p:txBody>
      </p:sp>
      <p:grpSp>
        <p:nvGrpSpPr>
          <p:cNvPr id="12" name="object 12" descr=""/>
          <p:cNvGrpSpPr/>
          <p:nvPr/>
        </p:nvGrpSpPr>
        <p:grpSpPr>
          <a:xfrm>
            <a:off x="5483352" y="736854"/>
            <a:ext cx="3465829" cy="2650490"/>
            <a:chOff x="5483352" y="736854"/>
            <a:chExt cx="3465829" cy="2650490"/>
          </a:xfrm>
        </p:grpSpPr>
        <p:pic>
          <p:nvPicPr>
            <p:cNvPr id="13" name="object 13"/>
            <p:cNvPicPr/>
            <p:nvPr/>
          </p:nvPicPr>
          <p:blipFill>
            <a:blip r:embed="rId6" cstate="print"/>
            <a:stretch>
              <a:fillRect/>
            </a:stretch>
          </p:blipFill>
          <p:spPr>
            <a:xfrm>
              <a:off x="6599680" y="736854"/>
              <a:ext cx="2349245" cy="1543049"/>
            </a:xfrm>
            <a:prstGeom prst="rect">
              <a:avLst/>
            </a:prstGeom>
          </p:spPr>
        </p:pic>
        <p:pic>
          <p:nvPicPr>
            <p:cNvPr id="14" name="object 14"/>
            <p:cNvPicPr/>
            <p:nvPr/>
          </p:nvPicPr>
          <p:blipFill>
            <a:blip r:embed="rId7" cstate="print"/>
            <a:stretch>
              <a:fillRect/>
            </a:stretch>
          </p:blipFill>
          <p:spPr>
            <a:xfrm>
              <a:off x="5483352" y="1829574"/>
              <a:ext cx="2337053" cy="1557515"/>
            </a:xfrm>
            <a:prstGeom prst="rect">
              <a:avLst/>
            </a:prstGeom>
          </p:spPr>
        </p:pic>
      </p:grpSp>
      <p:sp>
        <p:nvSpPr>
          <p:cNvPr id="15" name="object 15" descr=""/>
          <p:cNvSpPr txBox="1"/>
          <p:nvPr/>
        </p:nvSpPr>
        <p:spPr>
          <a:xfrm>
            <a:off x="6272069" y="3382966"/>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虚拟现实</a:t>
            </a:r>
            <a:endParaRPr sz="1800">
              <a:latin typeface="SimSun"/>
              <a:cs typeface="SimSun"/>
            </a:endParaRPr>
          </a:p>
        </p:txBody>
      </p:sp>
      <p:sp>
        <p:nvSpPr>
          <p:cNvPr id="16" name="object 16" descr=""/>
          <p:cNvSpPr txBox="1"/>
          <p:nvPr/>
        </p:nvSpPr>
        <p:spPr>
          <a:xfrm>
            <a:off x="7797288" y="2215277"/>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增强现实</a:t>
            </a:r>
            <a:endParaRPr sz="1800">
              <a:latin typeface="SimSun"/>
              <a:cs typeface="SimSun"/>
            </a:endParaRPr>
          </a:p>
        </p:txBody>
      </p:sp>
      <p:sp>
        <p:nvSpPr>
          <p:cNvPr id="17" name="object 17" descr=""/>
          <p:cNvSpPr txBox="1"/>
          <p:nvPr/>
        </p:nvSpPr>
        <p:spPr>
          <a:xfrm>
            <a:off x="1282175" y="2578075"/>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SimSun"/>
                <a:cs typeface="SimSun"/>
              </a:rPr>
              <a:t>更快</a:t>
            </a:r>
            <a:endParaRPr sz="2400">
              <a:latin typeface="SimSun"/>
              <a:cs typeface="SimSun"/>
            </a:endParaRPr>
          </a:p>
        </p:txBody>
      </p:sp>
      <p:sp>
        <p:nvSpPr>
          <p:cNvPr id="18" name="object 18" descr=""/>
          <p:cNvSpPr txBox="1"/>
          <p:nvPr/>
        </p:nvSpPr>
        <p:spPr>
          <a:xfrm>
            <a:off x="3936069" y="2125143"/>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SimSun"/>
                <a:cs typeface="SimSun"/>
              </a:rPr>
              <a:t>更高</a:t>
            </a:r>
            <a:endParaRPr sz="2400">
              <a:latin typeface="SimSun"/>
              <a:cs typeface="SimSun"/>
            </a:endParaRPr>
          </a:p>
        </p:txBody>
      </p:sp>
      <p:sp>
        <p:nvSpPr>
          <p:cNvPr id="19" name="object 19" descr=""/>
          <p:cNvSpPr txBox="1"/>
          <p:nvPr/>
        </p:nvSpPr>
        <p:spPr>
          <a:xfrm>
            <a:off x="5870330" y="1350951"/>
            <a:ext cx="63500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0000"/>
                </a:solidFill>
                <a:latin typeface="SimSun"/>
                <a:cs typeface="SimSun"/>
              </a:rPr>
              <a:t>更强</a:t>
            </a:r>
            <a:endParaRPr sz="2400">
              <a:latin typeface="SimSun"/>
              <a:cs typeface="SimSun"/>
            </a:endParaRPr>
          </a:p>
        </p:txBody>
      </p:sp>
      <p:sp>
        <p:nvSpPr>
          <p:cNvPr id="20" name="object 20"/>
          <p:cNvSpPr txBox="1">
            <a:spLocks noGrp="1"/>
          </p:cNvSpPr>
          <p:nvPr>
            <p:ph type="title"/>
          </p:nvPr>
        </p:nvSpPr>
        <p:spPr>
          <a:prstGeom prst="rect"/>
        </p:spPr>
        <p:txBody>
          <a:bodyPr wrap="square" lIns="0" tIns="101217" rIns="0" bIns="0" rtlCol="0" vert="horz">
            <a:spAutoFit/>
          </a:bodyPr>
          <a:lstStyle/>
          <a:p>
            <a:pPr marL="1769745">
              <a:lnSpc>
                <a:spcPct val="100000"/>
              </a:lnSpc>
              <a:spcBef>
                <a:spcPts val="95"/>
              </a:spcBef>
            </a:pPr>
            <a:r>
              <a:rPr dirty="0" spc="-30">
                <a:latin typeface="Times New Roman"/>
                <a:cs typeface="Times New Roman"/>
              </a:rPr>
              <a:t>5G</a:t>
            </a:r>
            <a:r>
              <a:rPr dirty="0" spc="-30"/>
              <a:t>应用需求： </a:t>
            </a:r>
            <a:r>
              <a:rPr dirty="0" spc="-20" b="0">
                <a:latin typeface="Arial MT"/>
                <a:cs typeface="Arial MT"/>
              </a:rPr>
              <a:t>e</a:t>
            </a:r>
            <a:r>
              <a:rPr dirty="0" spc="-20" b="0">
                <a:latin typeface="Times New Roman"/>
                <a:cs typeface="Times New Roman"/>
              </a:rPr>
              <a:t>MBB</a:t>
            </a:r>
          </a:p>
        </p:txBody>
      </p:sp>
    </p:spTree>
  </p:cSld>
  <p:clrMapOvr>
    <a:masterClrMapping/>
  </p:clrMapOvr>
  <p:transition spd="med">
    <p:fade thruBlk="0"/>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17085" y="906017"/>
            <a:ext cx="1961387" cy="1119377"/>
          </a:xfrm>
          <a:prstGeom prst="rect">
            <a:avLst/>
          </a:prstGeom>
        </p:spPr>
      </p:pic>
      <p:sp>
        <p:nvSpPr>
          <p:cNvPr id="3" name="object 3" descr=""/>
          <p:cNvSpPr txBox="1"/>
          <p:nvPr/>
        </p:nvSpPr>
        <p:spPr>
          <a:xfrm>
            <a:off x="535940" y="830580"/>
            <a:ext cx="2159000" cy="1379220"/>
          </a:xfrm>
          <a:prstGeom prst="rect">
            <a:avLst/>
          </a:prstGeom>
        </p:spPr>
        <p:txBody>
          <a:bodyPr wrap="square" lIns="0" tIns="43815" rIns="0" bIns="0" rtlCol="0" vert="horz">
            <a:spAutoFit/>
          </a:bodyPr>
          <a:lstStyle/>
          <a:p>
            <a:pPr marL="12700">
              <a:lnSpc>
                <a:spcPct val="100000"/>
              </a:lnSpc>
              <a:spcBef>
                <a:spcPts val="345"/>
              </a:spcBef>
            </a:pPr>
            <a:r>
              <a:rPr dirty="0" sz="2400" spc="-10">
                <a:latin typeface="SimSun"/>
                <a:cs typeface="SimSun"/>
              </a:rPr>
              <a:t>海量机器类通信</a:t>
            </a:r>
            <a:endParaRPr sz="2400">
              <a:latin typeface="SimSun"/>
              <a:cs typeface="SimSun"/>
            </a:endParaRPr>
          </a:p>
          <a:p>
            <a:pPr marL="450215" indent="-285115">
              <a:lnSpc>
                <a:spcPct val="100000"/>
              </a:lnSpc>
              <a:spcBef>
                <a:spcPts val="190"/>
              </a:spcBef>
              <a:buFont typeface="Wingdings"/>
              <a:buChar char=""/>
              <a:tabLst>
                <a:tab pos="450215" algn="l"/>
              </a:tabLst>
            </a:pPr>
            <a:r>
              <a:rPr dirty="0" sz="1800" spc="-15">
                <a:latin typeface="SimSun"/>
                <a:cs typeface="SimSun"/>
              </a:rPr>
              <a:t>数据采集</a:t>
            </a:r>
            <a:endParaRPr sz="1800">
              <a:latin typeface="SimSun"/>
              <a:cs typeface="SimSun"/>
            </a:endParaRPr>
          </a:p>
          <a:p>
            <a:pPr marL="450215" indent="-285115">
              <a:lnSpc>
                <a:spcPct val="100000"/>
              </a:lnSpc>
              <a:spcBef>
                <a:spcPts val="430"/>
              </a:spcBef>
              <a:buFont typeface="Wingdings"/>
              <a:buChar char=""/>
              <a:tabLst>
                <a:tab pos="450215" algn="l"/>
              </a:tabLst>
            </a:pPr>
            <a:r>
              <a:rPr dirty="0" sz="1800" spc="-15">
                <a:latin typeface="SimSun"/>
                <a:cs typeface="SimSun"/>
              </a:rPr>
              <a:t>远程遥控</a:t>
            </a:r>
            <a:endParaRPr sz="1800">
              <a:latin typeface="SimSun"/>
              <a:cs typeface="SimSun"/>
            </a:endParaRPr>
          </a:p>
          <a:p>
            <a:pPr marL="450215" indent="-285115">
              <a:lnSpc>
                <a:spcPct val="100000"/>
              </a:lnSpc>
              <a:spcBef>
                <a:spcPts val="430"/>
              </a:spcBef>
              <a:buFont typeface="Wingdings"/>
              <a:buChar char=""/>
              <a:tabLst>
                <a:tab pos="450215" algn="l"/>
              </a:tabLst>
            </a:pPr>
            <a:r>
              <a:rPr dirty="0" sz="1800" spc="-15">
                <a:latin typeface="SimSun"/>
                <a:cs typeface="SimSun"/>
              </a:rPr>
              <a:t>环境感知</a:t>
            </a:r>
            <a:endParaRPr sz="1800">
              <a:latin typeface="SimSun"/>
              <a:cs typeface="SimSun"/>
            </a:endParaRPr>
          </a:p>
        </p:txBody>
      </p:sp>
      <p:sp>
        <p:nvSpPr>
          <p:cNvPr id="4" name="object 4" descr=""/>
          <p:cNvSpPr txBox="1"/>
          <p:nvPr/>
        </p:nvSpPr>
        <p:spPr>
          <a:xfrm>
            <a:off x="688340" y="2239010"/>
            <a:ext cx="1225550" cy="299720"/>
          </a:xfrm>
          <a:prstGeom prst="rect">
            <a:avLst/>
          </a:prstGeom>
        </p:spPr>
        <p:txBody>
          <a:bodyPr wrap="square" lIns="0" tIns="12700" rIns="0" bIns="0" rtlCol="0" vert="horz">
            <a:spAutoFit/>
          </a:bodyPr>
          <a:lstStyle/>
          <a:p>
            <a:pPr marL="297815" indent="-285115">
              <a:lnSpc>
                <a:spcPct val="100000"/>
              </a:lnSpc>
              <a:spcBef>
                <a:spcPts val="100"/>
              </a:spcBef>
              <a:buFont typeface="Wingdings"/>
              <a:buChar char=""/>
              <a:tabLst>
                <a:tab pos="297815" algn="l"/>
              </a:tabLst>
            </a:pPr>
            <a:r>
              <a:rPr dirty="0" sz="1800" spc="-15">
                <a:latin typeface="SimSun"/>
                <a:cs typeface="SimSun"/>
              </a:rPr>
              <a:t>人机交互</a:t>
            </a:r>
            <a:endParaRPr sz="1800">
              <a:latin typeface="SimSun"/>
              <a:cs typeface="SimSun"/>
            </a:endParaRPr>
          </a:p>
        </p:txBody>
      </p:sp>
      <p:sp>
        <p:nvSpPr>
          <p:cNvPr id="5" name="object 5" descr=""/>
          <p:cNvSpPr txBox="1"/>
          <p:nvPr/>
        </p:nvSpPr>
        <p:spPr>
          <a:xfrm>
            <a:off x="3042334" y="4159341"/>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数据采集</a:t>
            </a:r>
            <a:endParaRPr sz="1800">
              <a:latin typeface="SimSun"/>
              <a:cs typeface="SimSun"/>
            </a:endParaRPr>
          </a:p>
        </p:txBody>
      </p:sp>
      <p:sp>
        <p:nvSpPr>
          <p:cNvPr id="6" name="object 6" descr=""/>
          <p:cNvSpPr txBox="1"/>
          <p:nvPr/>
        </p:nvSpPr>
        <p:spPr>
          <a:xfrm>
            <a:off x="960931" y="4574936"/>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远程监护</a:t>
            </a:r>
            <a:endParaRPr sz="1800">
              <a:latin typeface="SimSun"/>
              <a:cs typeface="SimSun"/>
            </a:endParaRPr>
          </a:p>
        </p:txBody>
      </p:sp>
      <p:sp>
        <p:nvSpPr>
          <p:cNvPr id="7" name="object 7" descr=""/>
          <p:cNvSpPr txBox="1"/>
          <p:nvPr/>
        </p:nvSpPr>
        <p:spPr>
          <a:xfrm>
            <a:off x="7385048" y="2178522"/>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智能家居</a:t>
            </a:r>
            <a:endParaRPr sz="1800">
              <a:latin typeface="SimSun"/>
              <a:cs typeface="SimSun"/>
            </a:endParaRPr>
          </a:p>
        </p:txBody>
      </p:sp>
      <p:sp>
        <p:nvSpPr>
          <p:cNvPr id="8" name="object 8" descr=""/>
          <p:cNvSpPr txBox="1"/>
          <p:nvPr/>
        </p:nvSpPr>
        <p:spPr>
          <a:xfrm>
            <a:off x="4875706" y="2412608"/>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环境感知</a:t>
            </a:r>
            <a:endParaRPr sz="1800">
              <a:latin typeface="SimSun"/>
              <a:cs typeface="SimSun"/>
            </a:endParaRPr>
          </a:p>
        </p:txBody>
      </p:sp>
      <p:pic>
        <p:nvPicPr>
          <p:cNvPr id="9" name="object 9"/>
          <p:cNvPicPr/>
          <p:nvPr/>
        </p:nvPicPr>
        <p:blipFill>
          <a:blip r:embed="rId3" cstate="print"/>
          <a:stretch>
            <a:fillRect/>
          </a:stretch>
        </p:blipFill>
        <p:spPr>
          <a:xfrm>
            <a:off x="740280" y="2915354"/>
            <a:ext cx="1495427" cy="1565824"/>
          </a:xfrm>
          <a:prstGeom prst="rect">
            <a:avLst/>
          </a:prstGeom>
        </p:spPr>
      </p:pic>
      <p:grpSp>
        <p:nvGrpSpPr>
          <p:cNvPr id="10" name="object 10" descr=""/>
          <p:cNvGrpSpPr/>
          <p:nvPr/>
        </p:nvGrpSpPr>
        <p:grpSpPr>
          <a:xfrm>
            <a:off x="2494025" y="1465326"/>
            <a:ext cx="2734945" cy="2665730"/>
            <a:chOff x="2494025" y="1465326"/>
            <a:chExt cx="2734945" cy="2665730"/>
          </a:xfrm>
        </p:grpSpPr>
        <p:pic>
          <p:nvPicPr>
            <p:cNvPr id="11" name="object 11"/>
            <p:cNvPicPr/>
            <p:nvPr/>
          </p:nvPicPr>
          <p:blipFill>
            <a:blip r:embed="rId4" cstate="print"/>
            <a:stretch>
              <a:fillRect/>
            </a:stretch>
          </p:blipFill>
          <p:spPr>
            <a:xfrm>
              <a:off x="2494025" y="2478785"/>
              <a:ext cx="2510027" cy="1652015"/>
            </a:xfrm>
            <a:prstGeom prst="rect">
              <a:avLst/>
            </a:prstGeom>
          </p:spPr>
        </p:pic>
        <p:pic>
          <p:nvPicPr>
            <p:cNvPr id="12" name="object 12"/>
            <p:cNvPicPr/>
            <p:nvPr/>
          </p:nvPicPr>
          <p:blipFill>
            <a:blip r:embed="rId5" cstate="print"/>
            <a:stretch>
              <a:fillRect/>
            </a:stretch>
          </p:blipFill>
          <p:spPr>
            <a:xfrm>
              <a:off x="4117085" y="1465326"/>
              <a:ext cx="1111757" cy="1008887"/>
            </a:xfrm>
            <a:prstGeom prst="rect">
              <a:avLst/>
            </a:prstGeom>
          </p:spPr>
        </p:pic>
      </p:grpSp>
      <p:pic>
        <p:nvPicPr>
          <p:cNvPr id="13" name="object 13"/>
          <p:cNvPicPr/>
          <p:nvPr/>
        </p:nvPicPr>
        <p:blipFill>
          <a:blip r:embed="rId6" cstate="print"/>
          <a:stretch>
            <a:fillRect/>
          </a:stretch>
        </p:blipFill>
        <p:spPr>
          <a:xfrm>
            <a:off x="6628637" y="818388"/>
            <a:ext cx="2242565" cy="1287779"/>
          </a:xfrm>
          <a:prstGeom prst="rect">
            <a:avLst/>
          </a:prstGeom>
        </p:spPr>
      </p:pic>
      <p:pic>
        <p:nvPicPr>
          <p:cNvPr id="14" name="object 14"/>
          <p:cNvPicPr/>
          <p:nvPr/>
        </p:nvPicPr>
        <p:blipFill>
          <a:blip r:embed="rId7" cstate="print"/>
          <a:stretch>
            <a:fillRect/>
          </a:stretch>
        </p:blipFill>
        <p:spPr>
          <a:xfrm>
            <a:off x="6256019" y="2835401"/>
            <a:ext cx="2267711" cy="1714499"/>
          </a:xfrm>
          <a:prstGeom prst="rect">
            <a:avLst/>
          </a:prstGeom>
        </p:spPr>
      </p:pic>
      <p:sp>
        <p:nvSpPr>
          <p:cNvPr id="15" name="object 15" descr=""/>
          <p:cNvSpPr txBox="1"/>
          <p:nvPr/>
        </p:nvSpPr>
        <p:spPr>
          <a:xfrm>
            <a:off x="6819488" y="4578580"/>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机器人通信</a:t>
            </a:r>
            <a:endParaRPr sz="1800">
              <a:latin typeface="SimSun"/>
              <a:cs typeface="SimSun"/>
            </a:endParaRPr>
          </a:p>
        </p:txBody>
      </p:sp>
      <p:sp>
        <p:nvSpPr>
          <p:cNvPr id="16" name="object 16"/>
          <p:cNvSpPr txBox="1">
            <a:spLocks noGrp="1"/>
          </p:cNvSpPr>
          <p:nvPr>
            <p:ph type="title"/>
          </p:nvPr>
        </p:nvSpPr>
        <p:spPr>
          <a:prstGeom prst="rect"/>
        </p:spPr>
        <p:txBody>
          <a:bodyPr wrap="square" lIns="0" tIns="195705" rIns="0" bIns="0" rtlCol="0" vert="horz">
            <a:spAutoFit/>
          </a:bodyPr>
          <a:lstStyle/>
          <a:p>
            <a:pPr marL="1724660">
              <a:lnSpc>
                <a:spcPct val="100000"/>
              </a:lnSpc>
              <a:spcBef>
                <a:spcPts val="95"/>
              </a:spcBef>
            </a:pPr>
            <a:r>
              <a:rPr dirty="0" spc="-30">
                <a:latin typeface="Times New Roman"/>
                <a:cs typeface="Times New Roman"/>
              </a:rPr>
              <a:t>5G</a:t>
            </a:r>
            <a:r>
              <a:rPr dirty="0" spc="-30"/>
              <a:t>应用需求： </a:t>
            </a:r>
            <a:r>
              <a:rPr dirty="0" spc="-20" b="0">
                <a:latin typeface="Arial MT"/>
                <a:cs typeface="Arial MT"/>
              </a:rPr>
              <a:t>m</a:t>
            </a:r>
            <a:r>
              <a:rPr dirty="0" spc="-20" b="0">
                <a:latin typeface="Times New Roman"/>
                <a:cs typeface="Times New Roman"/>
              </a:rPr>
              <a:t>MTC</a:t>
            </a:r>
          </a:p>
        </p:txBody>
      </p:sp>
    </p:spTree>
  </p:cSld>
  <p:clrMapOvr>
    <a:masterClrMapping/>
  </p:clrMapOvr>
  <p:transition spd="med">
    <p:fade thruBlk="0"/>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373024" y="1045753"/>
            <a:ext cx="2463800" cy="1238250"/>
          </a:xfrm>
          <a:prstGeom prst="rect">
            <a:avLst/>
          </a:prstGeom>
        </p:spPr>
        <p:txBody>
          <a:bodyPr wrap="square" lIns="0" tIns="151765" rIns="0" bIns="0" rtlCol="0" vert="horz">
            <a:spAutoFit/>
          </a:bodyPr>
          <a:lstStyle/>
          <a:p>
            <a:pPr marL="12700">
              <a:lnSpc>
                <a:spcPct val="100000"/>
              </a:lnSpc>
              <a:spcBef>
                <a:spcPts val="1195"/>
              </a:spcBef>
            </a:pPr>
            <a:r>
              <a:rPr dirty="0" sz="2400" spc="-10">
                <a:latin typeface="SimSun"/>
                <a:cs typeface="SimSun"/>
              </a:rPr>
              <a:t>高可靠低时延接入</a:t>
            </a:r>
            <a:endParaRPr sz="2400">
              <a:latin typeface="SimSun"/>
              <a:cs typeface="SimSun"/>
            </a:endParaRPr>
          </a:p>
          <a:p>
            <a:pPr marL="515620" indent="-285115">
              <a:lnSpc>
                <a:spcPct val="100000"/>
              </a:lnSpc>
              <a:spcBef>
                <a:spcPts val="819"/>
              </a:spcBef>
              <a:buFont typeface="Wingdings"/>
              <a:buChar char=""/>
              <a:tabLst>
                <a:tab pos="515620" algn="l"/>
              </a:tabLst>
            </a:pPr>
            <a:r>
              <a:rPr dirty="0" sz="1800" spc="-10">
                <a:latin typeface="SimSun"/>
                <a:cs typeface="SimSun"/>
              </a:rPr>
              <a:t>工业互联网</a:t>
            </a:r>
            <a:endParaRPr sz="1800">
              <a:latin typeface="SimSun"/>
              <a:cs typeface="SimSun"/>
            </a:endParaRPr>
          </a:p>
          <a:p>
            <a:pPr marL="515620" indent="-285115">
              <a:lnSpc>
                <a:spcPct val="100000"/>
              </a:lnSpc>
              <a:spcBef>
                <a:spcPts val="430"/>
              </a:spcBef>
              <a:buFont typeface="Wingdings"/>
              <a:buChar char=""/>
              <a:tabLst>
                <a:tab pos="515620" algn="l"/>
              </a:tabLst>
            </a:pPr>
            <a:r>
              <a:rPr dirty="0" sz="1800" spc="-15">
                <a:latin typeface="SimSun"/>
                <a:cs typeface="SimSun"/>
              </a:rPr>
              <a:t>自动驾驶</a:t>
            </a:r>
            <a:endParaRPr sz="1800">
              <a:latin typeface="SimSun"/>
              <a:cs typeface="SimSun"/>
            </a:endParaRPr>
          </a:p>
        </p:txBody>
      </p:sp>
      <p:sp>
        <p:nvSpPr>
          <p:cNvPr id="3" name="object 3" descr=""/>
          <p:cNvSpPr txBox="1"/>
          <p:nvPr/>
        </p:nvSpPr>
        <p:spPr>
          <a:xfrm>
            <a:off x="3870006" y="4442181"/>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智能交通</a:t>
            </a:r>
            <a:endParaRPr sz="1800">
              <a:latin typeface="SimSun"/>
              <a:cs typeface="SimSun"/>
            </a:endParaRPr>
          </a:p>
        </p:txBody>
      </p:sp>
      <p:sp>
        <p:nvSpPr>
          <p:cNvPr id="4" name="object 4" descr=""/>
          <p:cNvSpPr txBox="1"/>
          <p:nvPr/>
        </p:nvSpPr>
        <p:spPr>
          <a:xfrm>
            <a:off x="805623" y="4422064"/>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遥控作业</a:t>
            </a:r>
            <a:endParaRPr sz="1800">
              <a:latin typeface="SimSun"/>
              <a:cs typeface="SimSun"/>
            </a:endParaRPr>
          </a:p>
        </p:txBody>
      </p:sp>
      <p:sp>
        <p:nvSpPr>
          <p:cNvPr id="5" name="object 5" descr=""/>
          <p:cNvSpPr txBox="1"/>
          <p:nvPr/>
        </p:nvSpPr>
        <p:spPr>
          <a:xfrm>
            <a:off x="7018971" y="2306600"/>
            <a:ext cx="1168400"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无人机操控</a:t>
            </a:r>
            <a:endParaRPr sz="1800">
              <a:latin typeface="SimSun"/>
              <a:cs typeface="SimSun"/>
            </a:endParaRPr>
          </a:p>
        </p:txBody>
      </p:sp>
      <p:sp>
        <p:nvSpPr>
          <p:cNvPr id="6" name="object 6" descr=""/>
          <p:cNvSpPr txBox="1"/>
          <p:nvPr/>
        </p:nvSpPr>
        <p:spPr>
          <a:xfrm>
            <a:off x="4748744" y="2379752"/>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自动驾驶</a:t>
            </a:r>
            <a:endParaRPr sz="1800">
              <a:latin typeface="SimSun"/>
              <a:cs typeface="SimSun"/>
            </a:endParaRPr>
          </a:p>
        </p:txBody>
      </p:sp>
      <p:sp>
        <p:nvSpPr>
          <p:cNvPr id="7" name="object 7" descr=""/>
          <p:cNvSpPr txBox="1"/>
          <p:nvPr/>
        </p:nvSpPr>
        <p:spPr>
          <a:xfrm>
            <a:off x="7147901" y="4545966"/>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远程医疗</a:t>
            </a:r>
            <a:endParaRPr sz="1800">
              <a:latin typeface="SimSun"/>
              <a:cs typeface="SimSun"/>
            </a:endParaRPr>
          </a:p>
        </p:txBody>
      </p:sp>
      <p:pic>
        <p:nvPicPr>
          <p:cNvPr id="8" name="object 8"/>
          <p:cNvPicPr/>
          <p:nvPr/>
        </p:nvPicPr>
        <p:blipFill>
          <a:blip r:embed="rId2" cstate="print"/>
          <a:stretch>
            <a:fillRect/>
          </a:stretch>
        </p:blipFill>
        <p:spPr>
          <a:xfrm>
            <a:off x="3222497" y="2929889"/>
            <a:ext cx="2226563" cy="1439417"/>
          </a:xfrm>
          <a:prstGeom prst="rect">
            <a:avLst/>
          </a:prstGeom>
        </p:spPr>
      </p:pic>
      <p:pic>
        <p:nvPicPr>
          <p:cNvPr id="9" name="object 9"/>
          <p:cNvPicPr/>
          <p:nvPr/>
        </p:nvPicPr>
        <p:blipFill>
          <a:blip r:embed="rId3" cstate="print"/>
          <a:stretch>
            <a:fillRect/>
          </a:stretch>
        </p:blipFill>
        <p:spPr>
          <a:xfrm>
            <a:off x="4117085" y="816102"/>
            <a:ext cx="2208275" cy="1490471"/>
          </a:xfrm>
          <a:prstGeom prst="rect">
            <a:avLst/>
          </a:prstGeom>
        </p:spPr>
      </p:pic>
      <p:pic>
        <p:nvPicPr>
          <p:cNvPr id="10" name="object 10"/>
          <p:cNvPicPr/>
          <p:nvPr/>
        </p:nvPicPr>
        <p:blipFill>
          <a:blip r:embed="rId4" cstate="print"/>
          <a:stretch>
            <a:fillRect/>
          </a:stretch>
        </p:blipFill>
        <p:spPr>
          <a:xfrm>
            <a:off x="6434327" y="870965"/>
            <a:ext cx="2371343" cy="1406651"/>
          </a:xfrm>
          <a:prstGeom prst="rect">
            <a:avLst/>
          </a:prstGeom>
        </p:spPr>
      </p:pic>
      <p:pic>
        <p:nvPicPr>
          <p:cNvPr id="11" name="object 11"/>
          <p:cNvPicPr/>
          <p:nvPr/>
        </p:nvPicPr>
        <p:blipFill>
          <a:blip r:embed="rId5" cstate="print"/>
          <a:stretch>
            <a:fillRect/>
          </a:stretch>
        </p:blipFill>
        <p:spPr>
          <a:xfrm>
            <a:off x="6323838" y="2799588"/>
            <a:ext cx="2467343" cy="1717547"/>
          </a:xfrm>
          <a:prstGeom prst="rect">
            <a:avLst/>
          </a:prstGeom>
        </p:spPr>
      </p:pic>
      <p:pic>
        <p:nvPicPr>
          <p:cNvPr id="12" name="object 12"/>
          <p:cNvPicPr/>
          <p:nvPr/>
        </p:nvPicPr>
        <p:blipFill>
          <a:blip r:embed="rId6" cstate="print"/>
          <a:stretch>
            <a:fillRect/>
          </a:stretch>
        </p:blipFill>
        <p:spPr>
          <a:xfrm>
            <a:off x="257556" y="2919983"/>
            <a:ext cx="2155697" cy="1473707"/>
          </a:xfrm>
          <a:prstGeom prst="rect">
            <a:avLst/>
          </a:prstGeom>
        </p:spPr>
      </p:pic>
      <p:sp>
        <p:nvSpPr>
          <p:cNvPr id="13" name="object 13"/>
          <p:cNvSpPr txBox="1">
            <a:spLocks noGrp="1"/>
          </p:cNvSpPr>
          <p:nvPr>
            <p:ph type="title"/>
          </p:nvPr>
        </p:nvSpPr>
        <p:spPr>
          <a:prstGeom prst="rect"/>
        </p:spPr>
        <p:txBody>
          <a:bodyPr wrap="square" lIns="0" tIns="195705" rIns="0" bIns="0" rtlCol="0" vert="horz">
            <a:spAutoFit/>
          </a:bodyPr>
          <a:lstStyle/>
          <a:p>
            <a:pPr marL="1701800">
              <a:lnSpc>
                <a:spcPct val="100000"/>
              </a:lnSpc>
              <a:spcBef>
                <a:spcPts val="95"/>
              </a:spcBef>
            </a:pPr>
            <a:r>
              <a:rPr dirty="0" spc="-30">
                <a:latin typeface="Times New Roman"/>
                <a:cs typeface="Times New Roman"/>
              </a:rPr>
              <a:t>5G</a:t>
            </a:r>
            <a:r>
              <a:rPr dirty="0" spc="-30"/>
              <a:t>应用需求： </a:t>
            </a:r>
            <a:r>
              <a:rPr dirty="0" spc="-10" b="0">
                <a:latin typeface="Arial MT"/>
                <a:cs typeface="Arial MT"/>
              </a:rPr>
              <a:t>u</a:t>
            </a:r>
            <a:r>
              <a:rPr dirty="0" spc="-10" b="0">
                <a:latin typeface="Times New Roman"/>
                <a:cs typeface="Times New Roman"/>
              </a:rPr>
              <a:t>RLLC</a:t>
            </a:r>
          </a:p>
        </p:txBody>
      </p:sp>
    </p:spTree>
  </p:cSld>
  <p:clrMapOvr>
    <a:masterClrMapping/>
  </p:clrMapOvr>
  <p:transition spd="med">
    <p:fade thruBlk="0"/>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167799" y="987577"/>
            <a:ext cx="2249805" cy="3923665"/>
          </a:xfrm>
          <a:custGeom>
            <a:avLst/>
            <a:gdLst/>
            <a:ahLst/>
            <a:cxnLst/>
            <a:rect l="l" t="t" r="r" b="b"/>
            <a:pathLst>
              <a:path w="2249804" h="3923665">
                <a:moveTo>
                  <a:pt x="2249716" y="0"/>
                </a:moveTo>
                <a:lnTo>
                  <a:pt x="0" y="0"/>
                </a:lnTo>
                <a:lnTo>
                  <a:pt x="0" y="3923665"/>
                </a:lnTo>
                <a:lnTo>
                  <a:pt x="2249716" y="3923665"/>
                </a:lnTo>
                <a:lnTo>
                  <a:pt x="2249716" y="0"/>
                </a:lnTo>
                <a:close/>
              </a:path>
            </a:pathLst>
          </a:custGeom>
          <a:solidFill>
            <a:srgbClr val="F2F2F2"/>
          </a:solidFill>
        </p:spPr>
        <p:txBody>
          <a:bodyPr wrap="square" lIns="0" tIns="0" rIns="0" bIns="0" rtlCol="0"/>
          <a:lstStyle/>
          <a:p/>
        </p:txBody>
      </p:sp>
      <p:sp>
        <p:nvSpPr>
          <p:cNvPr id="3" name="object 3" descr=""/>
          <p:cNvSpPr/>
          <p:nvPr/>
        </p:nvSpPr>
        <p:spPr>
          <a:xfrm>
            <a:off x="5916688" y="987577"/>
            <a:ext cx="2249805" cy="3923665"/>
          </a:xfrm>
          <a:custGeom>
            <a:avLst/>
            <a:gdLst/>
            <a:ahLst/>
            <a:cxnLst/>
            <a:rect l="l" t="t" r="r" b="b"/>
            <a:pathLst>
              <a:path w="2249804" h="3923665">
                <a:moveTo>
                  <a:pt x="2249716" y="0"/>
                </a:moveTo>
                <a:lnTo>
                  <a:pt x="0" y="0"/>
                </a:lnTo>
                <a:lnTo>
                  <a:pt x="0" y="3923665"/>
                </a:lnTo>
                <a:lnTo>
                  <a:pt x="2249716" y="3923665"/>
                </a:lnTo>
                <a:lnTo>
                  <a:pt x="2249716" y="0"/>
                </a:lnTo>
                <a:close/>
              </a:path>
            </a:pathLst>
          </a:custGeom>
          <a:solidFill>
            <a:srgbClr val="F2F2F2"/>
          </a:solidFill>
        </p:spPr>
        <p:txBody>
          <a:bodyPr wrap="square" lIns="0" tIns="0" rIns="0" bIns="0" rtlCol="0"/>
          <a:lstStyle/>
          <a:p/>
        </p:txBody>
      </p:sp>
      <p:grpSp>
        <p:nvGrpSpPr>
          <p:cNvPr id="4" name="object 4" descr=""/>
          <p:cNvGrpSpPr/>
          <p:nvPr/>
        </p:nvGrpSpPr>
        <p:grpSpPr>
          <a:xfrm>
            <a:off x="433425" y="987577"/>
            <a:ext cx="2249805" cy="3923665"/>
            <a:chOff x="433425" y="987577"/>
            <a:chExt cx="2249805" cy="3923665"/>
          </a:xfrm>
        </p:grpSpPr>
        <p:sp>
          <p:nvSpPr>
            <p:cNvPr id="5" name="object 5" descr=""/>
            <p:cNvSpPr/>
            <p:nvPr/>
          </p:nvSpPr>
          <p:spPr>
            <a:xfrm>
              <a:off x="433425" y="987577"/>
              <a:ext cx="2249805" cy="3923665"/>
            </a:xfrm>
            <a:custGeom>
              <a:avLst/>
              <a:gdLst/>
              <a:ahLst/>
              <a:cxnLst/>
              <a:rect l="l" t="t" r="r" b="b"/>
              <a:pathLst>
                <a:path w="2249805" h="3923665">
                  <a:moveTo>
                    <a:pt x="2249716" y="0"/>
                  </a:moveTo>
                  <a:lnTo>
                    <a:pt x="0" y="0"/>
                  </a:lnTo>
                  <a:lnTo>
                    <a:pt x="0" y="3923665"/>
                  </a:lnTo>
                  <a:lnTo>
                    <a:pt x="2249716" y="3923665"/>
                  </a:lnTo>
                  <a:lnTo>
                    <a:pt x="2249716" y="0"/>
                  </a:lnTo>
                  <a:close/>
                </a:path>
              </a:pathLst>
            </a:custGeom>
            <a:solidFill>
              <a:srgbClr val="F2F2F2"/>
            </a:solidFill>
          </p:spPr>
          <p:txBody>
            <a:bodyPr wrap="square" lIns="0" tIns="0" rIns="0" bIns="0" rtlCol="0"/>
            <a:lstStyle/>
            <a:p/>
          </p:txBody>
        </p:sp>
        <p:pic>
          <p:nvPicPr>
            <p:cNvPr id="6" name="object 6"/>
            <p:cNvPicPr/>
            <p:nvPr/>
          </p:nvPicPr>
          <p:blipFill>
            <a:blip r:embed="rId2" cstate="print"/>
            <a:stretch>
              <a:fillRect/>
            </a:stretch>
          </p:blipFill>
          <p:spPr>
            <a:xfrm>
              <a:off x="569302" y="1667604"/>
              <a:ext cx="1886672" cy="811766"/>
            </a:xfrm>
            <a:prstGeom prst="rect">
              <a:avLst/>
            </a:prstGeom>
          </p:spPr>
        </p:pic>
        <p:pic>
          <p:nvPicPr>
            <p:cNvPr id="7" name="object 7"/>
            <p:cNvPicPr/>
            <p:nvPr/>
          </p:nvPicPr>
          <p:blipFill>
            <a:blip r:embed="rId3" cstate="print"/>
            <a:stretch>
              <a:fillRect/>
            </a:stretch>
          </p:blipFill>
          <p:spPr>
            <a:xfrm>
              <a:off x="569242" y="2826009"/>
              <a:ext cx="1887991" cy="810635"/>
            </a:xfrm>
            <a:prstGeom prst="rect">
              <a:avLst/>
            </a:prstGeom>
          </p:spPr>
        </p:pic>
        <p:pic>
          <p:nvPicPr>
            <p:cNvPr id="8" name="object 8"/>
            <p:cNvPicPr/>
            <p:nvPr/>
          </p:nvPicPr>
          <p:blipFill>
            <a:blip r:embed="rId4" cstate="print"/>
            <a:stretch>
              <a:fillRect/>
            </a:stretch>
          </p:blipFill>
          <p:spPr>
            <a:xfrm>
              <a:off x="581888" y="3943783"/>
              <a:ext cx="1861032" cy="804085"/>
            </a:xfrm>
            <a:prstGeom prst="rect">
              <a:avLst/>
            </a:prstGeom>
          </p:spPr>
        </p:pic>
      </p:grpSp>
      <p:sp>
        <p:nvSpPr>
          <p:cNvPr id="9" name="object 9" descr=""/>
          <p:cNvSpPr txBox="1"/>
          <p:nvPr/>
        </p:nvSpPr>
        <p:spPr>
          <a:xfrm>
            <a:off x="433425" y="1112534"/>
            <a:ext cx="2249805" cy="2863215"/>
          </a:xfrm>
          <a:prstGeom prst="rect">
            <a:avLst/>
          </a:prstGeom>
        </p:spPr>
        <p:txBody>
          <a:bodyPr wrap="square" lIns="0" tIns="67310" rIns="0" bIns="0" rtlCol="0" vert="horz">
            <a:spAutoFit/>
          </a:bodyPr>
          <a:lstStyle/>
          <a:p>
            <a:pPr marL="601345">
              <a:lnSpc>
                <a:spcPct val="100000"/>
              </a:lnSpc>
              <a:spcBef>
                <a:spcPts val="530"/>
              </a:spcBef>
            </a:pPr>
            <a:r>
              <a:rPr dirty="0" sz="1600" spc="-10" b="1">
                <a:solidFill>
                  <a:srgbClr val="0070C0"/>
                </a:solidFill>
                <a:latin typeface="Microsoft YaHei"/>
                <a:cs typeface="Microsoft YaHei"/>
              </a:rPr>
              <a:t>超高流量密度</a:t>
            </a:r>
            <a:endParaRPr sz="1600">
              <a:latin typeface="Microsoft YaHei"/>
              <a:cs typeface="Microsoft YaHei"/>
            </a:endParaRPr>
          </a:p>
          <a:p>
            <a:pPr algn="ctr" marR="85090">
              <a:lnSpc>
                <a:spcPct val="100000"/>
              </a:lnSpc>
              <a:spcBef>
                <a:spcPts val="325"/>
              </a:spcBef>
            </a:pPr>
            <a:r>
              <a:rPr dirty="0" sz="1200" spc="-20">
                <a:latin typeface="Microsoft YaHei"/>
                <a:cs typeface="Microsoft YaHei"/>
              </a:rPr>
              <a:t>办公室</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790"/>
              </a:spcBef>
            </a:pPr>
            <a:endParaRPr sz="1200">
              <a:latin typeface="Microsoft YaHei"/>
              <a:cs typeface="Microsoft YaHei"/>
            </a:endParaRPr>
          </a:p>
          <a:p>
            <a:pPr algn="ctr" marR="85090">
              <a:lnSpc>
                <a:spcPct val="100000"/>
              </a:lnSpc>
            </a:pPr>
            <a:r>
              <a:rPr dirty="0" sz="1200" spc="-10">
                <a:latin typeface="Microsoft YaHei"/>
                <a:cs typeface="Microsoft YaHei"/>
              </a:rPr>
              <a:t>密集住宅区</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1285"/>
              </a:spcBef>
            </a:pPr>
            <a:endParaRPr sz="1200">
              <a:latin typeface="Microsoft YaHei"/>
              <a:cs typeface="Microsoft YaHei"/>
            </a:endParaRPr>
          </a:p>
          <a:p>
            <a:pPr algn="ctr" marR="82550">
              <a:lnSpc>
                <a:spcPct val="100000"/>
              </a:lnSpc>
            </a:pPr>
            <a:r>
              <a:rPr dirty="0" sz="1200" spc="-20">
                <a:latin typeface="Microsoft YaHei"/>
                <a:cs typeface="Microsoft YaHei"/>
              </a:rPr>
              <a:t>车联网</a:t>
            </a:r>
            <a:endParaRPr sz="1200">
              <a:latin typeface="Microsoft YaHei"/>
              <a:cs typeface="Microsoft YaHei"/>
            </a:endParaRPr>
          </a:p>
        </p:txBody>
      </p:sp>
      <p:pic>
        <p:nvPicPr>
          <p:cNvPr id="10" name="object 10"/>
          <p:cNvPicPr/>
          <p:nvPr/>
        </p:nvPicPr>
        <p:blipFill>
          <a:blip r:embed="rId5" cstate="print"/>
          <a:stretch>
            <a:fillRect/>
          </a:stretch>
        </p:blipFill>
        <p:spPr>
          <a:xfrm>
            <a:off x="3325688" y="1667967"/>
            <a:ext cx="1886315" cy="809332"/>
          </a:xfrm>
          <a:prstGeom prst="rect">
            <a:avLst/>
          </a:prstGeom>
        </p:spPr>
      </p:pic>
      <p:pic>
        <p:nvPicPr>
          <p:cNvPr id="11" name="object 11"/>
          <p:cNvPicPr/>
          <p:nvPr/>
        </p:nvPicPr>
        <p:blipFill>
          <a:blip r:embed="rId6" cstate="print"/>
          <a:stretch>
            <a:fillRect/>
          </a:stretch>
        </p:blipFill>
        <p:spPr>
          <a:xfrm>
            <a:off x="3325748" y="2826373"/>
            <a:ext cx="1889613" cy="809750"/>
          </a:xfrm>
          <a:prstGeom prst="rect">
            <a:avLst/>
          </a:prstGeom>
        </p:spPr>
      </p:pic>
      <p:pic>
        <p:nvPicPr>
          <p:cNvPr id="12" name="object 12"/>
          <p:cNvPicPr/>
          <p:nvPr/>
        </p:nvPicPr>
        <p:blipFill>
          <a:blip r:embed="rId7" cstate="print"/>
          <a:stretch>
            <a:fillRect/>
          </a:stretch>
        </p:blipFill>
        <p:spPr>
          <a:xfrm>
            <a:off x="3325894" y="3944149"/>
            <a:ext cx="1889665" cy="809117"/>
          </a:xfrm>
          <a:prstGeom prst="rect">
            <a:avLst/>
          </a:prstGeom>
        </p:spPr>
      </p:pic>
      <p:sp>
        <p:nvSpPr>
          <p:cNvPr id="13" name="object 13" descr=""/>
          <p:cNvSpPr txBox="1"/>
          <p:nvPr/>
        </p:nvSpPr>
        <p:spPr>
          <a:xfrm>
            <a:off x="3167799" y="1095811"/>
            <a:ext cx="2249805" cy="2851150"/>
          </a:xfrm>
          <a:prstGeom prst="rect">
            <a:avLst/>
          </a:prstGeom>
        </p:spPr>
        <p:txBody>
          <a:bodyPr wrap="square" lIns="0" tIns="77470" rIns="0" bIns="0" rtlCol="0" vert="horz">
            <a:spAutoFit/>
          </a:bodyPr>
          <a:lstStyle/>
          <a:p>
            <a:pPr marL="724535">
              <a:lnSpc>
                <a:spcPct val="100000"/>
              </a:lnSpc>
              <a:spcBef>
                <a:spcPts val="610"/>
              </a:spcBef>
            </a:pPr>
            <a:r>
              <a:rPr dirty="0" sz="1600" spc="-10" b="1">
                <a:solidFill>
                  <a:srgbClr val="0070C0"/>
                </a:solidFill>
                <a:latin typeface="Microsoft YaHei"/>
                <a:cs typeface="Microsoft YaHei"/>
              </a:rPr>
              <a:t>超高移动性</a:t>
            </a:r>
            <a:endParaRPr sz="1600">
              <a:latin typeface="Microsoft YaHei"/>
              <a:cs typeface="Microsoft YaHei"/>
            </a:endParaRPr>
          </a:p>
          <a:p>
            <a:pPr algn="ctr" marR="40640">
              <a:lnSpc>
                <a:spcPct val="100000"/>
              </a:lnSpc>
              <a:spcBef>
                <a:spcPts val="380"/>
              </a:spcBef>
            </a:pPr>
            <a:r>
              <a:rPr dirty="0" sz="1200" spc="-20">
                <a:latin typeface="Microsoft YaHei"/>
                <a:cs typeface="Microsoft YaHei"/>
              </a:rPr>
              <a:t>快速路</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1035"/>
              </a:spcBef>
            </a:pPr>
            <a:endParaRPr sz="1200">
              <a:latin typeface="Microsoft YaHei"/>
              <a:cs typeface="Microsoft YaHei"/>
            </a:endParaRPr>
          </a:p>
          <a:p>
            <a:pPr algn="ctr" marR="40640">
              <a:lnSpc>
                <a:spcPct val="100000"/>
              </a:lnSpc>
            </a:pPr>
            <a:r>
              <a:rPr dirty="0" sz="1200" spc="-25">
                <a:latin typeface="Microsoft YaHei"/>
                <a:cs typeface="Microsoft YaHei"/>
              </a:rPr>
              <a:t>高铁</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810"/>
              </a:spcBef>
            </a:pPr>
            <a:endParaRPr sz="1200">
              <a:latin typeface="Microsoft YaHei"/>
              <a:cs typeface="Microsoft YaHei"/>
            </a:endParaRPr>
          </a:p>
          <a:p>
            <a:pPr algn="ctr" marR="40640">
              <a:lnSpc>
                <a:spcPct val="100000"/>
              </a:lnSpc>
            </a:pPr>
            <a:r>
              <a:rPr dirty="0" sz="1200" spc="-10">
                <a:latin typeface="Microsoft YaHei"/>
                <a:cs typeface="Microsoft YaHei"/>
              </a:rPr>
              <a:t>广域覆盖场景</a:t>
            </a:r>
            <a:endParaRPr sz="1200">
              <a:latin typeface="Microsoft YaHei"/>
              <a:cs typeface="Microsoft YaHei"/>
            </a:endParaRPr>
          </a:p>
        </p:txBody>
      </p:sp>
      <p:pic>
        <p:nvPicPr>
          <p:cNvPr id="14" name="object 14"/>
          <p:cNvPicPr/>
          <p:nvPr/>
        </p:nvPicPr>
        <p:blipFill>
          <a:blip r:embed="rId8" cstate="print"/>
          <a:stretch>
            <a:fillRect/>
          </a:stretch>
        </p:blipFill>
        <p:spPr>
          <a:xfrm>
            <a:off x="6082132" y="1668017"/>
            <a:ext cx="1886317" cy="811606"/>
          </a:xfrm>
          <a:prstGeom prst="rect">
            <a:avLst/>
          </a:prstGeom>
        </p:spPr>
      </p:pic>
      <p:pic>
        <p:nvPicPr>
          <p:cNvPr id="15" name="object 15"/>
          <p:cNvPicPr/>
          <p:nvPr/>
        </p:nvPicPr>
        <p:blipFill>
          <a:blip r:embed="rId9" cstate="print"/>
          <a:stretch>
            <a:fillRect/>
          </a:stretch>
        </p:blipFill>
        <p:spPr>
          <a:xfrm>
            <a:off x="6082132" y="2826423"/>
            <a:ext cx="1886317" cy="810488"/>
          </a:xfrm>
          <a:prstGeom prst="rect">
            <a:avLst/>
          </a:prstGeom>
        </p:spPr>
      </p:pic>
      <p:pic>
        <p:nvPicPr>
          <p:cNvPr id="16" name="object 16"/>
          <p:cNvPicPr/>
          <p:nvPr/>
        </p:nvPicPr>
        <p:blipFill>
          <a:blip r:embed="rId10" cstate="print"/>
          <a:stretch>
            <a:fillRect/>
          </a:stretch>
        </p:blipFill>
        <p:spPr>
          <a:xfrm>
            <a:off x="6082132" y="3944200"/>
            <a:ext cx="1886113" cy="809764"/>
          </a:xfrm>
          <a:prstGeom prst="rect">
            <a:avLst/>
          </a:prstGeom>
        </p:spPr>
      </p:pic>
      <p:sp>
        <p:nvSpPr>
          <p:cNvPr id="17" name="object 17" descr=""/>
          <p:cNvSpPr txBox="1"/>
          <p:nvPr/>
        </p:nvSpPr>
        <p:spPr>
          <a:xfrm>
            <a:off x="5916688" y="1011233"/>
            <a:ext cx="2249805" cy="2960370"/>
          </a:xfrm>
          <a:prstGeom prst="rect">
            <a:avLst/>
          </a:prstGeom>
        </p:spPr>
        <p:txBody>
          <a:bodyPr wrap="square" lIns="0" tIns="140970" rIns="0" bIns="0" rtlCol="0" vert="horz">
            <a:spAutoFit/>
          </a:bodyPr>
          <a:lstStyle/>
          <a:p>
            <a:pPr marL="528320">
              <a:lnSpc>
                <a:spcPct val="100000"/>
              </a:lnSpc>
              <a:spcBef>
                <a:spcPts val="1110"/>
              </a:spcBef>
            </a:pPr>
            <a:r>
              <a:rPr dirty="0" sz="1600" spc="-10" b="1">
                <a:solidFill>
                  <a:srgbClr val="0070C0"/>
                </a:solidFill>
                <a:latin typeface="Microsoft YaHei"/>
                <a:cs typeface="Microsoft YaHei"/>
              </a:rPr>
              <a:t>超高连接数密度</a:t>
            </a:r>
            <a:endParaRPr sz="1600">
              <a:latin typeface="Microsoft YaHei"/>
              <a:cs typeface="Microsoft YaHei"/>
            </a:endParaRPr>
          </a:p>
          <a:p>
            <a:pPr algn="ctr" marR="25400">
              <a:lnSpc>
                <a:spcPct val="100000"/>
              </a:lnSpc>
              <a:spcBef>
                <a:spcPts val="755"/>
              </a:spcBef>
            </a:pPr>
            <a:r>
              <a:rPr dirty="0" sz="1200" spc="-20">
                <a:latin typeface="Microsoft YaHei"/>
                <a:cs typeface="Microsoft YaHei"/>
              </a:rPr>
              <a:t>体育场</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650"/>
              </a:spcBef>
            </a:pPr>
            <a:endParaRPr sz="1200">
              <a:latin typeface="Microsoft YaHei"/>
              <a:cs typeface="Microsoft YaHei"/>
            </a:endParaRPr>
          </a:p>
          <a:p>
            <a:pPr algn="ctr" marR="25400">
              <a:lnSpc>
                <a:spcPct val="100000"/>
              </a:lnSpc>
            </a:pPr>
            <a:r>
              <a:rPr dirty="0" sz="1200" spc="-15">
                <a:latin typeface="Microsoft YaHei"/>
                <a:cs typeface="Microsoft YaHei"/>
              </a:rPr>
              <a:t>露天集会</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1180"/>
              </a:spcBef>
            </a:pPr>
            <a:endParaRPr sz="1200">
              <a:latin typeface="Microsoft YaHei"/>
              <a:cs typeface="Microsoft YaHei"/>
            </a:endParaRPr>
          </a:p>
          <a:p>
            <a:pPr algn="ctr" marR="25400">
              <a:lnSpc>
                <a:spcPct val="100000"/>
              </a:lnSpc>
            </a:pPr>
            <a:r>
              <a:rPr dirty="0" sz="1200" spc="-25">
                <a:latin typeface="Microsoft YaHei"/>
                <a:cs typeface="Microsoft YaHei"/>
              </a:rPr>
              <a:t>地铁</a:t>
            </a:r>
            <a:endParaRPr sz="1200">
              <a:latin typeface="Microsoft YaHei"/>
              <a:cs typeface="Microsoft YaHei"/>
            </a:endParaRPr>
          </a:p>
        </p:txBody>
      </p:sp>
      <p:sp>
        <p:nvSpPr>
          <p:cNvPr id="18" name="object 18"/>
          <p:cNvSpPr txBox="1">
            <a:spLocks noGrp="1"/>
          </p:cNvSpPr>
          <p:nvPr>
            <p:ph type="title"/>
          </p:nvPr>
        </p:nvSpPr>
        <p:spPr>
          <a:xfrm>
            <a:off x="2487485" y="201642"/>
            <a:ext cx="42043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面临挑战的九大场景</a:t>
            </a:r>
          </a:p>
        </p:txBody>
      </p:sp>
      <p:sp>
        <p:nvSpPr>
          <p:cNvPr id="19" name="object 19" descr=""/>
          <p:cNvSpPr txBox="1"/>
          <p:nvPr/>
        </p:nvSpPr>
        <p:spPr>
          <a:xfrm>
            <a:off x="78739" y="4667364"/>
            <a:ext cx="89535" cy="162560"/>
          </a:xfrm>
          <a:prstGeom prst="rect">
            <a:avLst/>
          </a:prstGeom>
        </p:spPr>
        <p:txBody>
          <a:bodyPr wrap="square" lIns="0" tIns="12700" rIns="0" bIns="0" rtlCol="0" vert="horz">
            <a:spAutoFit/>
          </a:bodyPr>
          <a:lstStyle/>
          <a:p>
            <a:pPr marL="12700">
              <a:lnSpc>
                <a:spcPct val="100000"/>
              </a:lnSpc>
              <a:spcBef>
                <a:spcPts val="100"/>
              </a:spcBef>
            </a:pPr>
            <a:r>
              <a:rPr dirty="0" sz="900" spc="-50">
                <a:solidFill>
                  <a:srgbClr val="808080"/>
                </a:solidFill>
                <a:latin typeface="Arial MT"/>
                <a:cs typeface="Arial MT"/>
              </a:rPr>
              <a:t>9</a:t>
            </a:r>
            <a:endParaRPr sz="9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7578" y="149237"/>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物联网业务与用户需求</a:t>
            </a:r>
          </a:p>
        </p:txBody>
      </p:sp>
      <p:sp>
        <p:nvSpPr>
          <p:cNvPr id="3" name="object 3" descr=""/>
          <p:cNvSpPr txBox="1"/>
          <p:nvPr/>
        </p:nvSpPr>
        <p:spPr>
          <a:xfrm>
            <a:off x="7304233" y="1040568"/>
            <a:ext cx="1724660" cy="1245235"/>
          </a:xfrm>
          <a:prstGeom prst="rect">
            <a:avLst/>
          </a:prstGeom>
        </p:spPr>
        <p:txBody>
          <a:bodyPr wrap="square" lIns="0" tIns="12700" rIns="0" bIns="0" rtlCol="0" vert="horz">
            <a:spAutoFit/>
          </a:bodyPr>
          <a:lstStyle/>
          <a:p>
            <a:pPr marL="83820" indent="-79375">
              <a:lnSpc>
                <a:spcPct val="100000"/>
              </a:lnSpc>
              <a:spcBef>
                <a:spcPts val="100"/>
              </a:spcBef>
              <a:buSzPct val="93750"/>
              <a:buFont typeface="Arial MT"/>
              <a:buChar char="•"/>
              <a:tabLst>
                <a:tab pos="83820" algn="l"/>
              </a:tabLst>
            </a:pPr>
            <a:r>
              <a:rPr dirty="0" sz="1600" spc="-10" b="1">
                <a:solidFill>
                  <a:srgbClr val="0070C0"/>
                </a:solidFill>
                <a:latin typeface="Microsoft YaHei"/>
                <a:cs typeface="Microsoft YaHei"/>
              </a:rPr>
              <a:t>海量设备连接</a:t>
            </a:r>
            <a:endParaRPr sz="1600">
              <a:latin typeface="Microsoft YaHei"/>
              <a:cs typeface="Microsoft YaHei"/>
            </a:endParaRPr>
          </a:p>
          <a:p>
            <a:pPr marL="83820" indent="-79375">
              <a:lnSpc>
                <a:spcPct val="100000"/>
              </a:lnSpc>
              <a:buSzPct val="93750"/>
              <a:buFont typeface="Arial MT"/>
              <a:buChar char="•"/>
              <a:tabLst>
                <a:tab pos="83820" algn="l"/>
              </a:tabLst>
            </a:pPr>
            <a:r>
              <a:rPr dirty="0" sz="1600" spc="-10" b="1">
                <a:solidFill>
                  <a:srgbClr val="0070C0"/>
                </a:solidFill>
                <a:latin typeface="Microsoft YaHei"/>
                <a:cs typeface="Microsoft YaHei"/>
              </a:rPr>
              <a:t>大量小数据包频发</a:t>
            </a:r>
            <a:endParaRPr sz="1600">
              <a:latin typeface="Microsoft YaHei"/>
              <a:cs typeface="Microsoft YaHei"/>
            </a:endParaRPr>
          </a:p>
          <a:p>
            <a:pPr marL="83820" indent="-79375">
              <a:lnSpc>
                <a:spcPct val="100000"/>
              </a:lnSpc>
              <a:buSzPct val="93750"/>
              <a:buFont typeface="Arial MT"/>
              <a:buChar char="•"/>
              <a:tabLst>
                <a:tab pos="83820" algn="l"/>
              </a:tabLst>
            </a:pPr>
            <a:r>
              <a:rPr dirty="0" sz="1600" spc="-25" b="1">
                <a:solidFill>
                  <a:srgbClr val="0070C0"/>
                </a:solidFill>
                <a:latin typeface="Microsoft YaHei"/>
                <a:cs typeface="Microsoft YaHei"/>
              </a:rPr>
              <a:t>覆盖</a:t>
            </a:r>
            <a:endParaRPr sz="1600">
              <a:latin typeface="Microsoft YaHei"/>
              <a:cs typeface="Microsoft YaHei"/>
            </a:endParaRPr>
          </a:p>
          <a:p>
            <a:pPr marL="83820" indent="-79375">
              <a:lnSpc>
                <a:spcPct val="100000"/>
              </a:lnSpc>
              <a:buSzPct val="93750"/>
              <a:buFont typeface="Arial MT"/>
              <a:buChar char="•"/>
              <a:tabLst>
                <a:tab pos="83820" algn="l"/>
              </a:tabLst>
            </a:pPr>
            <a:r>
              <a:rPr dirty="0" sz="1600" spc="-20" b="1">
                <a:solidFill>
                  <a:srgbClr val="0070C0"/>
                </a:solidFill>
                <a:latin typeface="Microsoft YaHei"/>
                <a:cs typeface="Microsoft YaHei"/>
              </a:rPr>
              <a:t>低成本</a:t>
            </a:r>
            <a:endParaRPr sz="1600">
              <a:latin typeface="Microsoft YaHei"/>
              <a:cs typeface="Microsoft YaHei"/>
            </a:endParaRPr>
          </a:p>
          <a:p>
            <a:pPr marL="83820" indent="-79375">
              <a:lnSpc>
                <a:spcPct val="100000"/>
              </a:lnSpc>
              <a:buSzPct val="93750"/>
              <a:buFont typeface="Arial MT"/>
              <a:buChar char="•"/>
              <a:tabLst>
                <a:tab pos="83820" algn="l"/>
              </a:tabLst>
            </a:pPr>
            <a:r>
              <a:rPr dirty="0" sz="1600" spc="-15" b="1">
                <a:solidFill>
                  <a:srgbClr val="0070C0"/>
                </a:solidFill>
                <a:latin typeface="Microsoft YaHei"/>
                <a:cs typeface="Microsoft YaHei"/>
              </a:rPr>
              <a:t>电池寿命</a:t>
            </a:r>
            <a:endParaRPr sz="1600">
              <a:latin typeface="Microsoft YaHei"/>
              <a:cs typeface="Microsoft YaHei"/>
            </a:endParaRPr>
          </a:p>
        </p:txBody>
      </p:sp>
      <p:sp>
        <p:nvSpPr>
          <p:cNvPr id="4" name="object 4" descr=""/>
          <p:cNvSpPr txBox="1"/>
          <p:nvPr/>
        </p:nvSpPr>
        <p:spPr>
          <a:xfrm>
            <a:off x="1538562" y="2265362"/>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智能交通</a:t>
            </a:r>
            <a:endParaRPr sz="1600">
              <a:latin typeface="Microsoft YaHei"/>
              <a:cs typeface="Microsoft YaHei"/>
            </a:endParaRPr>
          </a:p>
        </p:txBody>
      </p:sp>
      <p:pic>
        <p:nvPicPr>
          <p:cNvPr id="5" name="object 5" descr=""/>
          <p:cNvPicPr/>
          <p:nvPr/>
        </p:nvPicPr>
        <p:blipFill>
          <a:blip r:embed="rId2" cstate="print"/>
          <a:stretch>
            <a:fillRect/>
          </a:stretch>
        </p:blipFill>
        <p:spPr>
          <a:xfrm>
            <a:off x="6880010" y="1563672"/>
            <a:ext cx="219976" cy="129844"/>
          </a:xfrm>
          <a:prstGeom prst="rect">
            <a:avLst/>
          </a:prstGeom>
        </p:spPr>
      </p:pic>
      <p:grpSp>
        <p:nvGrpSpPr>
          <p:cNvPr id="6" name="object 6" descr=""/>
          <p:cNvGrpSpPr/>
          <p:nvPr/>
        </p:nvGrpSpPr>
        <p:grpSpPr>
          <a:xfrm>
            <a:off x="985837" y="1196352"/>
            <a:ext cx="7598409" cy="3678554"/>
            <a:chOff x="985837" y="1196352"/>
            <a:chExt cx="7598409" cy="3678554"/>
          </a:xfrm>
        </p:grpSpPr>
        <p:sp>
          <p:nvSpPr>
            <p:cNvPr id="7" name="object 7" descr=""/>
            <p:cNvSpPr/>
            <p:nvPr/>
          </p:nvSpPr>
          <p:spPr>
            <a:xfrm>
              <a:off x="1120316" y="2232115"/>
              <a:ext cx="7458709" cy="0"/>
            </a:xfrm>
            <a:custGeom>
              <a:avLst/>
              <a:gdLst/>
              <a:ahLst/>
              <a:cxnLst/>
              <a:rect l="l" t="t" r="r" b="b"/>
              <a:pathLst>
                <a:path w="7458709" h="0">
                  <a:moveTo>
                    <a:pt x="0" y="0"/>
                  </a:moveTo>
                  <a:lnTo>
                    <a:pt x="7458709" y="0"/>
                  </a:lnTo>
                </a:path>
              </a:pathLst>
            </a:custGeom>
            <a:ln w="9525">
              <a:solidFill>
                <a:srgbClr val="B6DCDF"/>
              </a:solidFill>
              <a:prstDash val="sysDash"/>
            </a:ln>
          </p:spPr>
          <p:txBody>
            <a:bodyPr wrap="square" lIns="0" tIns="0" rIns="0" bIns="0" rtlCol="0"/>
            <a:lstStyle/>
            <a:p/>
          </p:txBody>
        </p:sp>
        <p:sp>
          <p:nvSpPr>
            <p:cNvPr id="8" name="object 8" descr=""/>
            <p:cNvSpPr/>
            <p:nvPr/>
          </p:nvSpPr>
          <p:spPr>
            <a:xfrm>
              <a:off x="990600" y="3522220"/>
              <a:ext cx="7458709" cy="0"/>
            </a:xfrm>
            <a:custGeom>
              <a:avLst/>
              <a:gdLst/>
              <a:ahLst/>
              <a:cxnLst/>
              <a:rect l="l" t="t" r="r" b="b"/>
              <a:pathLst>
                <a:path w="7458709" h="0">
                  <a:moveTo>
                    <a:pt x="0" y="0"/>
                  </a:moveTo>
                  <a:lnTo>
                    <a:pt x="7458709" y="0"/>
                  </a:lnTo>
                </a:path>
              </a:pathLst>
            </a:custGeom>
            <a:ln w="9525">
              <a:solidFill>
                <a:srgbClr val="B6DCDF"/>
              </a:solidFill>
              <a:prstDash val="sysDash"/>
            </a:ln>
          </p:spPr>
          <p:txBody>
            <a:bodyPr wrap="square" lIns="0" tIns="0" rIns="0" bIns="0" rtlCol="0"/>
            <a:lstStyle/>
            <a:p/>
          </p:txBody>
        </p:sp>
        <p:pic>
          <p:nvPicPr>
            <p:cNvPr id="9" name="object 9"/>
            <p:cNvPicPr/>
            <p:nvPr/>
          </p:nvPicPr>
          <p:blipFill>
            <a:blip r:embed="rId3" cstate="print"/>
            <a:stretch>
              <a:fillRect/>
            </a:stretch>
          </p:blipFill>
          <p:spPr>
            <a:xfrm>
              <a:off x="1172718" y="1196352"/>
              <a:ext cx="1905761" cy="1031734"/>
            </a:xfrm>
            <a:prstGeom prst="rect">
              <a:avLst/>
            </a:prstGeom>
          </p:spPr>
        </p:pic>
        <p:pic>
          <p:nvPicPr>
            <p:cNvPr id="10" name="object 10" descr=""/>
            <p:cNvPicPr/>
            <p:nvPr/>
          </p:nvPicPr>
          <p:blipFill>
            <a:blip r:embed="rId4" cstate="print"/>
            <a:stretch>
              <a:fillRect/>
            </a:stretch>
          </p:blipFill>
          <p:spPr>
            <a:xfrm>
              <a:off x="1250035" y="1273441"/>
              <a:ext cx="1751177" cy="877366"/>
            </a:xfrm>
            <a:prstGeom prst="rect">
              <a:avLst/>
            </a:prstGeom>
          </p:spPr>
        </p:pic>
        <p:pic>
          <p:nvPicPr>
            <p:cNvPr id="11" name="object 11"/>
            <p:cNvPicPr/>
            <p:nvPr/>
          </p:nvPicPr>
          <p:blipFill>
            <a:blip r:embed="rId5" cstate="print"/>
            <a:stretch>
              <a:fillRect/>
            </a:stretch>
          </p:blipFill>
          <p:spPr>
            <a:xfrm>
              <a:off x="1120139" y="3760469"/>
              <a:ext cx="1969769" cy="1114043"/>
            </a:xfrm>
            <a:prstGeom prst="rect">
              <a:avLst/>
            </a:prstGeom>
          </p:spPr>
        </p:pic>
        <p:pic>
          <p:nvPicPr>
            <p:cNvPr id="12" name="object 12"/>
            <p:cNvPicPr/>
            <p:nvPr/>
          </p:nvPicPr>
          <p:blipFill>
            <a:blip r:embed="rId6" cstate="print"/>
            <a:stretch>
              <a:fillRect/>
            </a:stretch>
          </p:blipFill>
          <p:spPr>
            <a:xfrm>
              <a:off x="1197267" y="3837305"/>
              <a:ext cx="1816023" cy="960538"/>
            </a:xfrm>
            <a:prstGeom prst="rect">
              <a:avLst/>
            </a:prstGeom>
          </p:spPr>
        </p:pic>
        <p:pic>
          <p:nvPicPr>
            <p:cNvPr id="13" name="object 13"/>
            <p:cNvPicPr/>
            <p:nvPr/>
          </p:nvPicPr>
          <p:blipFill>
            <a:blip r:embed="rId7" cstate="print"/>
            <a:stretch>
              <a:fillRect/>
            </a:stretch>
          </p:blipFill>
          <p:spPr>
            <a:xfrm>
              <a:off x="3260641" y="1315266"/>
              <a:ext cx="1558284" cy="783316"/>
            </a:xfrm>
            <a:prstGeom prst="rect">
              <a:avLst/>
            </a:prstGeom>
          </p:spPr>
        </p:pic>
        <p:sp>
          <p:nvSpPr>
            <p:cNvPr id="14" name="object 14" descr=""/>
            <p:cNvSpPr/>
            <p:nvPr/>
          </p:nvSpPr>
          <p:spPr>
            <a:xfrm>
              <a:off x="3251111" y="1305737"/>
              <a:ext cx="1577975" cy="802640"/>
            </a:xfrm>
            <a:custGeom>
              <a:avLst/>
              <a:gdLst/>
              <a:ahLst/>
              <a:cxnLst/>
              <a:rect l="l" t="t" r="r" b="b"/>
              <a:pathLst>
                <a:path w="1577975" h="802639">
                  <a:moveTo>
                    <a:pt x="0" y="0"/>
                  </a:moveTo>
                  <a:lnTo>
                    <a:pt x="1577682" y="0"/>
                  </a:lnTo>
                  <a:lnTo>
                    <a:pt x="1577682" y="802373"/>
                  </a:lnTo>
                  <a:lnTo>
                    <a:pt x="0" y="802373"/>
                  </a:lnTo>
                  <a:lnTo>
                    <a:pt x="0" y="0"/>
                  </a:lnTo>
                  <a:close/>
                </a:path>
              </a:pathLst>
            </a:custGeom>
            <a:ln w="19050">
              <a:solidFill>
                <a:srgbClr val="000000"/>
              </a:solidFill>
            </a:ln>
          </p:spPr>
          <p:txBody>
            <a:bodyPr wrap="square" lIns="0" tIns="0" rIns="0" bIns="0" rtlCol="0"/>
            <a:lstStyle/>
            <a:p/>
          </p:txBody>
        </p:sp>
        <p:pic>
          <p:nvPicPr>
            <p:cNvPr id="15" name="object 15"/>
            <p:cNvPicPr/>
            <p:nvPr/>
          </p:nvPicPr>
          <p:blipFill>
            <a:blip r:embed="rId8" cstate="print"/>
            <a:stretch>
              <a:fillRect/>
            </a:stretch>
          </p:blipFill>
          <p:spPr>
            <a:xfrm>
              <a:off x="1107947" y="2473451"/>
              <a:ext cx="1900427" cy="1059941"/>
            </a:xfrm>
            <a:prstGeom prst="rect">
              <a:avLst/>
            </a:prstGeom>
          </p:spPr>
        </p:pic>
        <p:pic>
          <p:nvPicPr>
            <p:cNvPr id="16" name="object 16"/>
            <p:cNvPicPr/>
            <p:nvPr/>
          </p:nvPicPr>
          <p:blipFill>
            <a:blip r:embed="rId9" cstate="print"/>
            <a:stretch>
              <a:fillRect/>
            </a:stretch>
          </p:blipFill>
          <p:spPr>
            <a:xfrm>
              <a:off x="1185176" y="2550033"/>
              <a:ext cx="1746097" cy="906296"/>
            </a:xfrm>
            <a:prstGeom prst="rect">
              <a:avLst/>
            </a:prstGeom>
          </p:spPr>
        </p:pic>
        <p:pic>
          <p:nvPicPr>
            <p:cNvPr id="17" name="object 17"/>
            <p:cNvPicPr/>
            <p:nvPr/>
          </p:nvPicPr>
          <p:blipFill>
            <a:blip r:embed="rId10" cstate="print"/>
            <a:stretch>
              <a:fillRect/>
            </a:stretch>
          </p:blipFill>
          <p:spPr>
            <a:xfrm>
              <a:off x="5129783" y="2491739"/>
              <a:ext cx="1774697" cy="1046225"/>
            </a:xfrm>
            <a:prstGeom prst="rect">
              <a:avLst/>
            </a:prstGeom>
          </p:spPr>
        </p:pic>
        <p:pic>
          <p:nvPicPr>
            <p:cNvPr id="18" name="object 18"/>
            <p:cNvPicPr/>
            <p:nvPr/>
          </p:nvPicPr>
          <p:blipFill>
            <a:blip r:embed="rId11" cstate="print"/>
            <a:stretch>
              <a:fillRect/>
            </a:stretch>
          </p:blipFill>
          <p:spPr>
            <a:xfrm>
              <a:off x="5206394" y="2568575"/>
              <a:ext cx="1621455" cy="892352"/>
            </a:xfrm>
            <a:prstGeom prst="rect">
              <a:avLst/>
            </a:prstGeom>
          </p:spPr>
        </p:pic>
        <p:pic>
          <p:nvPicPr>
            <p:cNvPr id="19" name="object 19"/>
            <p:cNvPicPr/>
            <p:nvPr/>
          </p:nvPicPr>
          <p:blipFill>
            <a:blip r:embed="rId12" cstate="print"/>
            <a:stretch>
              <a:fillRect/>
            </a:stretch>
          </p:blipFill>
          <p:spPr>
            <a:xfrm>
              <a:off x="3118865" y="2460497"/>
              <a:ext cx="1899665" cy="1069847"/>
            </a:xfrm>
            <a:prstGeom prst="rect">
              <a:avLst/>
            </a:prstGeom>
          </p:spPr>
        </p:pic>
        <p:pic>
          <p:nvPicPr>
            <p:cNvPr id="20" name="object 20"/>
            <p:cNvPicPr/>
            <p:nvPr/>
          </p:nvPicPr>
          <p:blipFill>
            <a:blip r:embed="rId13" cstate="print"/>
            <a:stretch>
              <a:fillRect/>
            </a:stretch>
          </p:blipFill>
          <p:spPr>
            <a:xfrm>
              <a:off x="3195789" y="2537283"/>
              <a:ext cx="1746097" cy="915933"/>
            </a:xfrm>
            <a:prstGeom prst="rect">
              <a:avLst/>
            </a:prstGeom>
          </p:spPr>
        </p:pic>
      </p:grpSp>
      <p:sp>
        <p:nvSpPr>
          <p:cNvPr id="21" name="object 21" descr=""/>
          <p:cNvSpPr txBox="1"/>
          <p:nvPr/>
        </p:nvSpPr>
        <p:spPr>
          <a:xfrm>
            <a:off x="7258029" y="2629339"/>
            <a:ext cx="1837055" cy="513715"/>
          </a:xfrm>
          <a:prstGeom prst="rect">
            <a:avLst/>
          </a:prstGeom>
        </p:spPr>
        <p:txBody>
          <a:bodyPr wrap="square" lIns="0" tIns="12700" rIns="0" bIns="0" rtlCol="0" vert="horz">
            <a:spAutoFit/>
          </a:bodyPr>
          <a:lstStyle/>
          <a:p>
            <a:pPr marL="83820" indent="-79375">
              <a:lnSpc>
                <a:spcPct val="100000"/>
              </a:lnSpc>
              <a:spcBef>
                <a:spcPts val="100"/>
              </a:spcBef>
              <a:buSzPct val="93750"/>
              <a:buFont typeface="Arial MT"/>
              <a:buChar char="•"/>
              <a:tabLst>
                <a:tab pos="83820" algn="l"/>
              </a:tabLst>
            </a:pPr>
            <a:r>
              <a:rPr dirty="0" sz="1600" spc="-10" b="1">
                <a:solidFill>
                  <a:srgbClr val="0070C0"/>
                </a:solidFill>
                <a:latin typeface="Microsoft YaHei"/>
                <a:cs typeface="Microsoft YaHei"/>
              </a:rPr>
              <a:t>毫秒级的时延</a:t>
            </a:r>
            <a:endParaRPr sz="1600">
              <a:latin typeface="Microsoft YaHei"/>
              <a:cs typeface="Microsoft YaHei"/>
            </a:endParaRPr>
          </a:p>
          <a:p>
            <a:pPr marL="83820" indent="-79375">
              <a:lnSpc>
                <a:spcPct val="100000"/>
              </a:lnSpc>
              <a:buSzPct val="93750"/>
              <a:buFont typeface="Arial MT"/>
              <a:buChar char="•"/>
              <a:tabLst>
                <a:tab pos="83820" algn="l"/>
              </a:tabLst>
            </a:pPr>
            <a:r>
              <a:rPr dirty="0" sz="1600" b="1">
                <a:solidFill>
                  <a:srgbClr val="0070C0"/>
                </a:solidFill>
                <a:latin typeface="Microsoft YaHei"/>
                <a:cs typeface="Microsoft YaHei"/>
              </a:rPr>
              <a:t>接近</a:t>
            </a:r>
            <a:r>
              <a:rPr dirty="0" sz="1600" spc="-10" b="1">
                <a:solidFill>
                  <a:srgbClr val="0070C0"/>
                </a:solidFill>
                <a:latin typeface="Arial"/>
                <a:cs typeface="Arial"/>
              </a:rPr>
              <a:t>100%</a:t>
            </a:r>
            <a:r>
              <a:rPr dirty="0" sz="1600" spc="-15" b="1">
                <a:solidFill>
                  <a:srgbClr val="0070C0"/>
                </a:solidFill>
                <a:latin typeface="Microsoft YaHei"/>
                <a:cs typeface="Microsoft YaHei"/>
              </a:rPr>
              <a:t>的可靠性</a:t>
            </a:r>
            <a:endParaRPr sz="1600">
              <a:latin typeface="Microsoft YaHei"/>
              <a:cs typeface="Microsoft YaHei"/>
            </a:endParaRPr>
          </a:p>
        </p:txBody>
      </p:sp>
      <p:sp>
        <p:nvSpPr>
          <p:cNvPr id="22" name="object 22" descr=""/>
          <p:cNvSpPr txBox="1"/>
          <p:nvPr/>
        </p:nvSpPr>
        <p:spPr>
          <a:xfrm>
            <a:off x="3563397" y="2283955"/>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智能电网</a:t>
            </a:r>
            <a:endParaRPr sz="1600">
              <a:latin typeface="Microsoft YaHei"/>
              <a:cs typeface="Microsoft YaHei"/>
            </a:endParaRPr>
          </a:p>
        </p:txBody>
      </p:sp>
      <p:sp>
        <p:nvSpPr>
          <p:cNvPr id="23" name="object 23" descr=""/>
          <p:cNvSpPr txBox="1"/>
          <p:nvPr/>
        </p:nvSpPr>
        <p:spPr>
          <a:xfrm>
            <a:off x="5638832" y="2283955"/>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工业控制</a:t>
            </a:r>
            <a:endParaRPr sz="1600">
              <a:latin typeface="Microsoft YaHei"/>
              <a:cs typeface="Microsoft YaHei"/>
            </a:endParaRPr>
          </a:p>
        </p:txBody>
      </p:sp>
      <p:grpSp>
        <p:nvGrpSpPr>
          <p:cNvPr id="24" name="object 24" descr=""/>
          <p:cNvGrpSpPr/>
          <p:nvPr/>
        </p:nvGrpSpPr>
        <p:grpSpPr>
          <a:xfrm>
            <a:off x="3130313" y="1296212"/>
            <a:ext cx="4034790" cy="3044825"/>
            <a:chOff x="3130313" y="1296212"/>
            <a:chExt cx="4034790" cy="3044825"/>
          </a:xfrm>
        </p:grpSpPr>
        <p:pic>
          <p:nvPicPr>
            <p:cNvPr id="25" name="object 25" descr="">
              <a:hlinkClick r:id="rId14"/>
            </p:cNvPr>
            <p:cNvPicPr/>
            <p:nvPr/>
          </p:nvPicPr>
          <p:blipFill>
            <a:blip r:embed="rId15" cstate="print"/>
            <a:stretch>
              <a:fillRect/>
            </a:stretch>
          </p:blipFill>
          <p:spPr>
            <a:xfrm>
              <a:off x="5145992" y="1315266"/>
              <a:ext cx="1552139" cy="783306"/>
            </a:xfrm>
            <a:prstGeom prst="rect">
              <a:avLst/>
            </a:prstGeom>
          </p:spPr>
        </p:pic>
        <p:sp>
          <p:nvSpPr>
            <p:cNvPr id="26" name="object 26" descr="">
              <a:hlinkClick r:id="rId14"/>
            </p:cNvPr>
            <p:cNvSpPr/>
            <p:nvPr/>
          </p:nvSpPr>
          <p:spPr>
            <a:xfrm>
              <a:off x="5136464" y="1305737"/>
              <a:ext cx="1571625" cy="802640"/>
            </a:xfrm>
            <a:custGeom>
              <a:avLst/>
              <a:gdLst/>
              <a:ahLst/>
              <a:cxnLst/>
              <a:rect l="l" t="t" r="r" b="b"/>
              <a:pathLst>
                <a:path w="1571625" h="802639">
                  <a:moveTo>
                    <a:pt x="0" y="0"/>
                  </a:moveTo>
                  <a:lnTo>
                    <a:pt x="1571193" y="0"/>
                  </a:lnTo>
                  <a:lnTo>
                    <a:pt x="1571193" y="802373"/>
                  </a:lnTo>
                  <a:lnTo>
                    <a:pt x="0" y="802373"/>
                  </a:lnTo>
                  <a:lnTo>
                    <a:pt x="0" y="0"/>
                  </a:lnTo>
                  <a:close/>
                </a:path>
              </a:pathLst>
            </a:custGeom>
            <a:ln w="19050">
              <a:solidFill>
                <a:srgbClr val="000000"/>
              </a:solidFill>
            </a:ln>
          </p:spPr>
          <p:txBody>
            <a:bodyPr wrap="square" lIns="0" tIns="0" rIns="0" bIns="0" rtlCol="0"/>
            <a:lstStyle/>
            <a:p/>
          </p:txBody>
        </p:sp>
        <p:pic>
          <p:nvPicPr>
            <p:cNvPr id="27" name="object 27" descr=""/>
            <p:cNvPicPr/>
            <p:nvPr/>
          </p:nvPicPr>
          <p:blipFill>
            <a:blip r:embed="rId2" cstate="print"/>
            <a:stretch>
              <a:fillRect/>
            </a:stretch>
          </p:blipFill>
          <p:spPr>
            <a:xfrm>
              <a:off x="6944869" y="2869201"/>
              <a:ext cx="219976" cy="129844"/>
            </a:xfrm>
            <a:prstGeom prst="rect">
              <a:avLst/>
            </a:prstGeom>
          </p:spPr>
        </p:pic>
        <p:pic>
          <p:nvPicPr>
            <p:cNvPr id="28" name="object 28" descr=""/>
            <p:cNvPicPr/>
            <p:nvPr/>
          </p:nvPicPr>
          <p:blipFill>
            <a:blip r:embed="rId16" cstate="print"/>
            <a:stretch>
              <a:fillRect/>
            </a:stretch>
          </p:blipFill>
          <p:spPr>
            <a:xfrm>
              <a:off x="3130313" y="4210714"/>
              <a:ext cx="219976" cy="129844"/>
            </a:xfrm>
            <a:prstGeom prst="rect">
              <a:avLst/>
            </a:prstGeom>
          </p:spPr>
        </p:pic>
      </p:grpSp>
      <p:sp>
        <p:nvSpPr>
          <p:cNvPr id="29" name="object 29" descr=""/>
          <p:cNvSpPr txBox="1"/>
          <p:nvPr/>
        </p:nvSpPr>
        <p:spPr>
          <a:xfrm>
            <a:off x="3416330" y="4159954"/>
            <a:ext cx="911225" cy="269875"/>
          </a:xfrm>
          <a:prstGeom prst="rect">
            <a:avLst/>
          </a:prstGeom>
        </p:spPr>
        <p:txBody>
          <a:bodyPr wrap="square" lIns="0" tIns="12700" rIns="0" bIns="0" rtlCol="0" vert="horz">
            <a:spAutoFit/>
          </a:bodyPr>
          <a:lstStyle/>
          <a:p>
            <a:pPr marL="83820" indent="-79375">
              <a:lnSpc>
                <a:spcPct val="100000"/>
              </a:lnSpc>
              <a:spcBef>
                <a:spcPts val="100"/>
              </a:spcBef>
              <a:buSzPct val="93750"/>
              <a:buFont typeface="Arial MT"/>
              <a:buChar char="•"/>
              <a:tabLst>
                <a:tab pos="83820" algn="l"/>
              </a:tabLst>
            </a:pPr>
            <a:r>
              <a:rPr dirty="0" sz="1600" spc="-15" b="1">
                <a:solidFill>
                  <a:srgbClr val="0070C0"/>
                </a:solidFill>
                <a:latin typeface="Microsoft YaHei"/>
                <a:cs typeface="Microsoft YaHei"/>
              </a:rPr>
              <a:t>传输速率</a:t>
            </a:r>
            <a:endParaRPr sz="1600">
              <a:latin typeface="Microsoft YaHei"/>
              <a:cs typeface="Microsoft YaHei"/>
            </a:endParaRPr>
          </a:p>
        </p:txBody>
      </p:sp>
      <p:sp>
        <p:nvSpPr>
          <p:cNvPr id="30" name="object 30" descr=""/>
          <p:cNvSpPr txBox="1"/>
          <p:nvPr/>
        </p:nvSpPr>
        <p:spPr>
          <a:xfrm>
            <a:off x="1522592" y="883938"/>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智能家居</a:t>
            </a:r>
            <a:endParaRPr sz="1600">
              <a:latin typeface="Microsoft YaHei"/>
              <a:cs typeface="Microsoft YaHei"/>
            </a:endParaRPr>
          </a:p>
        </p:txBody>
      </p:sp>
      <p:sp>
        <p:nvSpPr>
          <p:cNvPr id="31" name="object 31" descr=""/>
          <p:cNvSpPr txBox="1"/>
          <p:nvPr/>
        </p:nvSpPr>
        <p:spPr>
          <a:xfrm>
            <a:off x="3547367" y="902452"/>
            <a:ext cx="2849880" cy="269875"/>
          </a:xfrm>
          <a:prstGeom prst="rect">
            <a:avLst/>
          </a:prstGeom>
        </p:spPr>
        <p:txBody>
          <a:bodyPr wrap="square" lIns="0" tIns="12700" rIns="0" bIns="0" rtlCol="0" vert="horz">
            <a:spAutoFit/>
          </a:bodyPr>
          <a:lstStyle/>
          <a:p>
            <a:pPr marL="12700">
              <a:lnSpc>
                <a:spcPct val="100000"/>
              </a:lnSpc>
              <a:spcBef>
                <a:spcPts val="100"/>
              </a:spcBef>
              <a:tabLst>
                <a:tab pos="2023110" algn="l"/>
              </a:tabLst>
            </a:pPr>
            <a:r>
              <a:rPr dirty="0" sz="1600">
                <a:latin typeface="Microsoft YaHei"/>
                <a:cs typeface="Microsoft YaHei"/>
              </a:rPr>
              <a:t>智能农</a:t>
            </a:r>
            <a:r>
              <a:rPr dirty="0" sz="1600" spc="-50">
                <a:latin typeface="Microsoft YaHei"/>
                <a:cs typeface="Microsoft YaHei"/>
              </a:rPr>
              <a:t>业</a:t>
            </a:r>
            <a:r>
              <a:rPr dirty="0" sz="1600">
                <a:latin typeface="Microsoft YaHei"/>
                <a:cs typeface="Microsoft YaHei"/>
              </a:rPr>
              <a:t>	环境监</a:t>
            </a:r>
            <a:r>
              <a:rPr dirty="0" sz="1600" spc="-50">
                <a:latin typeface="Microsoft YaHei"/>
                <a:cs typeface="Microsoft YaHei"/>
              </a:rPr>
              <a:t>测</a:t>
            </a:r>
            <a:endParaRPr sz="1600">
              <a:latin typeface="Microsoft YaHei"/>
              <a:cs typeface="Microsoft YaHei"/>
            </a:endParaRPr>
          </a:p>
        </p:txBody>
      </p:sp>
      <p:grpSp>
        <p:nvGrpSpPr>
          <p:cNvPr id="32" name="object 32"/>
          <p:cNvGrpSpPr/>
          <p:nvPr/>
        </p:nvGrpSpPr>
        <p:grpSpPr>
          <a:xfrm>
            <a:off x="5122481" y="3838816"/>
            <a:ext cx="1789430" cy="978535"/>
            <a:chOff x="5122481" y="3838816"/>
            <a:chExt cx="1789430" cy="978535"/>
          </a:xfrm>
        </p:grpSpPr>
        <p:pic>
          <p:nvPicPr>
            <p:cNvPr id="33" name="object 33"/>
            <p:cNvPicPr/>
            <p:nvPr/>
          </p:nvPicPr>
          <p:blipFill>
            <a:blip r:embed="rId17" cstate="print"/>
            <a:stretch>
              <a:fillRect/>
            </a:stretch>
          </p:blipFill>
          <p:spPr>
            <a:xfrm>
              <a:off x="5141534" y="3857867"/>
              <a:ext cx="1751161" cy="939977"/>
            </a:xfrm>
            <a:prstGeom prst="rect">
              <a:avLst/>
            </a:prstGeom>
          </p:spPr>
        </p:pic>
        <p:sp>
          <p:nvSpPr>
            <p:cNvPr id="34" name="object 34" descr=""/>
            <p:cNvSpPr/>
            <p:nvPr/>
          </p:nvSpPr>
          <p:spPr>
            <a:xfrm>
              <a:off x="5132006" y="3848341"/>
              <a:ext cx="1770380" cy="959485"/>
            </a:xfrm>
            <a:custGeom>
              <a:avLst/>
              <a:gdLst/>
              <a:ahLst/>
              <a:cxnLst/>
              <a:rect l="l" t="t" r="r" b="b"/>
              <a:pathLst>
                <a:path w="1770379" h="959485">
                  <a:moveTo>
                    <a:pt x="0" y="0"/>
                  </a:moveTo>
                  <a:lnTo>
                    <a:pt x="1770227" y="0"/>
                  </a:lnTo>
                  <a:lnTo>
                    <a:pt x="1770227" y="959027"/>
                  </a:lnTo>
                  <a:lnTo>
                    <a:pt x="0" y="959027"/>
                  </a:lnTo>
                  <a:lnTo>
                    <a:pt x="0" y="0"/>
                  </a:lnTo>
                  <a:close/>
                </a:path>
              </a:pathLst>
            </a:custGeom>
            <a:ln w="19050">
              <a:solidFill>
                <a:srgbClr val="000000"/>
              </a:solidFill>
            </a:ln>
          </p:spPr>
          <p:txBody>
            <a:bodyPr wrap="square" lIns="0" tIns="0" rIns="0" bIns="0" rtlCol="0"/>
            <a:lstStyle/>
            <a:p/>
          </p:txBody>
        </p:sp>
      </p:grpSp>
      <p:sp>
        <p:nvSpPr>
          <p:cNvPr id="35" name="object 35" descr=""/>
          <p:cNvSpPr txBox="1"/>
          <p:nvPr/>
        </p:nvSpPr>
        <p:spPr>
          <a:xfrm>
            <a:off x="1588207" y="3586176"/>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视频监控</a:t>
            </a:r>
            <a:endParaRPr sz="1600">
              <a:latin typeface="Microsoft YaHei"/>
              <a:cs typeface="Microsoft YaHei"/>
            </a:endParaRPr>
          </a:p>
        </p:txBody>
      </p:sp>
      <p:pic>
        <p:nvPicPr>
          <p:cNvPr id="36" name="object 36" descr=""/>
          <p:cNvPicPr/>
          <p:nvPr/>
        </p:nvPicPr>
        <p:blipFill>
          <a:blip r:embed="rId16" cstate="print"/>
          <a:stretch>
            <a:fillRect/>
          </a:stretch>
        </p:blipFill>
        <p:spPr>
          <a:xfrm>
            <a:off x="7009727" y="4195133"/>
            <a:ext cx="219976" cy="129844"/>
          </a:xfrm>
          <a:prstGeom prst="rect">
            <a:avLst/>
          </a:prstGeom>
        </p:spPr>
      </p:pic>
      <p:sp>
        <p:nvSpPr>
          <p:cNvPr id="37" name="object 37" descr=""/>
          <p:cNvSpPr txBox="1"/>
          <p:nvPr/>
        </p:nvSpPr>
        <p:spPr>
          <a:xfrm>
            <a:off x="7341089" y="4010881"/>
            <a:ext cx="1114425" cy="513715"/>
          </a:xfrm>
          <a:prstGeom prst="rect">
            <a:avLst/>
          </a:prstGeom>
        </p:spPr>
        <p:txBody>
          <a:bodyPr wrap="square" lIns="0" tIns="12700" rIns="0" bIns="0" rtlCol="0" vert="horz">
            <a:spAutoFit/>
          </a:bodyPr>
          <a:lstStyle/>
          <a:p>
            <a:pPr marL="12700" marR="5080" indent="-8890">
              <a:lnSpc>
                <a:spcPct val="100000"/>
              </a:lnSpc>
              <a:spcBef>
                <a:spcPts val="100"/>
              </a:spcBef>
              <a:buSzPct val="93750"/>
              <a:buFont typeface="Arial MT"/>
              <a:buChar char="•"/>
              <a:tabLst>
                <a:tab pos="12700" algn="l"/>
                <a:tab pos="83185" algn="l"/>
              </a:tabLst>
            </a:pPr>
            <a:r>
              <a:rPr dirty="0" sz="1600" spc="-10" b="1">
                <a:solidFill>
                  <a:srgbClr val="0070C0"/>
                </a:solidFill>
                <a:latin typeface="Microsoft YaHei"/>
                <a:cs typeface="Microsoft YaHei"/>
              </a:rPr>
              <a:t>	</a:t>
            </a:r>
            <a:r>
              <a:rPr dirty="0" sz="1600" spc="-10" b="1">
                <a:solidFill>
                  <a:srgbClr val="0070C0"/>
                </a:solidFill>
                <a:latin typeface="Microsoft YaHei"/>
                <a:cs typeface="Microsoft YaHei"/>
              </a:rPr>
              <a:t>更多层次的</a:t>
            </a:r>
            <a:r>
              <a:rPr dirty="0" sz="1600" spc="-15" b="1">
                <a:solidFill>
                  <a:srgbClr val="0070C0"/>
                </a:solidFill>
                <a:latin typeface="Microsoft YaHei"/>
                <a:cs typeface="Microsoft YaHei"/>
              </a:rPr>
              <a:t>安全机制</a:t>
            </a:r>
            <a:endParaRPr sz="1600">
              <a:latin typeface="Microsoft YaHei"/>
              <a:cs typeface="Microsoft YaHei"/>
            </a:endParaRPr>
          </a:p>
        </p:txBody>
      </p:sp>
      <p:sp>
        <p:nvSpPr>
          <p:cNvPr id="38" name="object 38" descr=""/>
          <p:cNvSpPr/>
          <p:nvPr/>
        </p:nvSpPr>
        <p:spPr>
          <a:xfrm>
            <a:off x="4752385" y="3680641"/>
            <a:ext cx="0" cy="1253490"/>
          </a:xfrm>
          <a:custGeom>
            <a:avLst/>
            <a:gdLst/>
            <a:ahLst/>
            <a:cxnLst/>
            <a:rect l="l" t="t" r="r" b="b"/>
            <a:pathLst>
              <a:path w="0" h="1253489">
                <a:moveTo>
                  <a:pt x="0" y="0"/>
                </a:moveTo>
                <a:lnTo>
                  <a:pt x="0" y="1253312"/>
                </a:lnTo>
              </a:path>
            </a:pathLst>
          </a:custGeom>
          <a:ln w="9525">
            <a:solidFill>
              <a:srgbClr val="B6DCDF"/>
            </a:solidFill>
            <a:prstDash val="sysDash"/>
          </a:ln>
        </p:spPr>
        <p:txBody>
          <a:bodyPr wrap="square" lIns="0" tIns="0" rIns="0" bIns="0" rtlCol="0"/>
          <a:lstStyle/>
          <a:p/>
        </p:txBody>
      </p:sp>
      <p:sp>
        <p:nvSpPr>
          <p:cNvPr id="39" name="object 39" descr=""/>
          <p:cNvSpPr txBox="1"/>
          <p:nvPr/>
        </p:nvSpPr>
        <p:spPr>
          <a:xfrm>
            <a:off x="5609426" y="3586176"/>
            <a:ext cx="839469" cy="269875"/>
          </a:xfrm>
          <a:prstGeom prst="rect">
            <a:avLst/>
          </a:prstGeom>
        </p:spPr>
        <p:txBody>
          <a:bodyPr wrap="square" lIns="0" tIns="12700" rIns="0" bIns="0" rtlCol="0" vert="horz">
            <a:spAutoFit/>
          </a:bodyPr>
          <a:lstStyle/>
          <a:p>
            <a:pPr marL="12700">
              <a:lnSpc>
                <a:spcPct val="100000"/>
              </a:lnSpc>
              <a:spcBef>
                <a:spcPts val="100"/>
              </a:spcBef>
            </a:pPr>
            <a:r>
              <a:rPr dirty="0" sz="1600" spc="-15">
                <a:latin typeface="Microsoft YaHei"/>
                <a:cs typeface="Microsoft YaHei"/>
              </a:rPr>
              <a:t>移动金融</a:t>
            </a:r>
            <a:endParaRPr sz="1600">
              <a:latin typeface="Microsoft YaHei"/>
              <a:cs typeface="Microsoft YaHei"/>
            </a:endParaRPr>
          </a:p>
        </p:txBody>
      </p:sp>
      <p:sp>
        <p:nvSpPr>
          <p:cNvPr id="40" name="object 40" descr=""/>
          <p:cNvSpPr txBox="1"/>
          <p:nvPr/>
        </p:nvSpPr>
        <p:spPr>
          <a:xfrm>
            <a:off x="109366" y="1076959"/>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SimSun"/>
                <a:cs typeface="SimSun"/>
              </a:rPr>
              <a:t>改善民生</a:t>
            </a:r>
            <a:endParaRPr sz="1800">
              <a:latin typeface="SimSun"/>
              <a:cs typeface="SimSun"/>
            </a:endParaRPr>
          </a:p>
        </p:txBody>
      </p:sp>
      <p:grpSp>
        <p:nvGrpSpPr>
          <p:cNvPr id="41" name="object 41" descr=""/>
          <p:cNvGrpSpPr/>
          <p:nvPr/>
        </p:nvGrpSpPr>
        <p:grpSpPr>
          <a:xfrm>
            <a:off x="-9525" y="1038222"/>
            <a:ext cx="1090930" cy="1412875"/>
            <a:chOff x="-9525" y="1038222"/>
            <a:chExt cx="1090930" cy="1412875"/>
          </a:xfrm>
        </p:grpSpPr>
        <p:pic>
          <p:nvPicPr>
            <p:cNvPr id="42" name="object 42"/>
            <p:cNvPicPr/>
            <p:nvPr/>
          </p:nvPicPr>
          <p:blipFill>
            <a:blip r:embed="rId18" cstate="print"/>
            <a:stretch>
              <a:fillRect/>
            </a:stretch>
          </p:blipFill>
          <p:spPr>
            <a:xfrm>
              <a:off x="29717" y="1604009"/>
              <a:ext cx="1051559" cy="838199"/>
            </a:xfrm>
            <a:prstGeom prst="rect">
              <a:avLst/>
            </a:prstGeom>
          </p:spPr>
        </p:pic>
        <p:sp>
          <p:nvSpPr>
            <p:cNvPr id="43" name="object 43" descr=""/>
            <p:cNvSpPr/>
            <p:nvPr/>
          </p:nvSpPr>
          <p:spPr>
            <a:xfrm>
              <a:off x="0" y="1047747"/>
              <a:ext cx="1038225" cy="1393825"/>
            </a:xfrm>
            <a:custGeom>
              <a:avLst/>
              <a:gdLst/>
              <a:ahLst/>
              <a:cxnLst/>
              <a:rect l="l" t="t" r="r" b="b"/>
              <a:pathLst>
                <a:path w="1038225" h="1393825">
                  <a:moveTo>
                    <a:pt x="0" y="130048"/>
                  </a:moveTo>
                  <a:lnTo>
                    <a:pt x="10220" y="79429"/>
                  </a:lnTo>
                  <a:lnTo>
                    <a:pt x="38092" y="38092"/>
                  </a:lnTo>
                  <a:lnTo>
                    <a:pt x="79429" y="10220"/>
                  </a:lnTo>
                  <a:lnTo>
                    <a:pt x="130048" y="0"/>
                  </a:lnTo>
                  <a:lnTo>
                    <a:pt x="908151" y="0"/>
                  </a:lnTo>
                  <a:lnTo>
                    <a:pt x="958775" y="10220"/>
                  </a:lnTo>
                  <a:lnTo>
                    <a:pt x="1000112" y="38092"/>
                  </a:lnTo>
                  <a:lnTo>
                    <a:pt x="1027980" y="79429"/>
                  </a:lnTo>
                  <a:lnTo>
                    <a:pt x="1038199" y="130048"/>
                  </a:lnTo>
                  <a:lnTo>
                    <a:pt x="1038199" y="1263751"/>
                  </a:lnTo>
                  <a:lnTo>
                    <a:pt x="1027980" y="1314375"/>
                  </a:lnTo>
                  <a:lnTo>
                    <a:pt x="1000112" y="1355712"/>
                  </a:lnTo>
                  <a:lnTo>
                    <a:pt x="958775" y="1383580"/>
                  </a:lnTo>
                  <a:lnTo>
                    <a:pt x="908151" y="1393799"/>
                  </a:lnTo>
                  <a:lnTo>
                    <a:pt x="130048" y="1393799"/>
                  </a:lnTo>
                  <a:lnTo>
                    <a:pt x="79429" y="1383580"/>
                  </a:lnTo>
                  <a:lnTo>
                    <a:pt x="38092" y="1355712"/>
                  </a:lnTo>
                  <a:lnTo>
                    <a:pt x="10220" y="1314375"/>
                  </a:lnTo>
                  <a:lnTo>
                    <a:pt x="0" y="1263751"/>
                  </a:lnTo>
                  <a:lnTo>
                    <a:pt x="0" y="130048"/>
                  </a:lnTo>
                  <a:close/>
                </a:path>
              </a:pathLst>
            </a:custGeom>
            <a:ln w="19050">
              <a:solidFill>
                <a:srgbClr val="539DCD"/>
              </a:solidFill>
            </a:ln>
          </p:spPr>
          <p:txBody>
            <a:bodyPr wrap="square" lIns="0" tIns="0" rIns="0" bIns="0" rtlCol="0"/>
            <a:lstStyle/>
            <a:p/>
          </p:txBody>
        </p:sp>
      </p:grpSp>
      <p:sp>
        <p:nvSpPr>
          <p:cNvPr id="44" name="object 44" descr=""/>
          <p:cNvSpPr txBox="1"/>
          <p:nvPr/>
        </p:nvSpPr>
        <p:spPr>
          <a:xfrm>
            <a:off x="132490" y="3398932"/>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solidFill>
                  <a:srgbClr val="FF0000"/>
                </a:solidFill>
                <a:latin typeface="SimSun"/>
                <a:cs typeface="SimSun"/>
              </a:rPr>
              <a:t>变革产业</a:t>
            </a:r>
            <a:endParaRPr sz="1800">
              <a:latin typeface="SimSun"/>
              <a:cs typeface="SimSun"/>
            </a:endParaRPr>
          </a:p>
        </p:txBody>
      </p:sp>
      <p:grpSp>
        <p:nvGrpSpPr>
          <p:cNvPr id="45" name="object 45" descr=""/>
          <p:cNvGrpSpPr/>
          <p:nvPr/>
        </p:nvGrpSpPr>
        <p:grpSpPr>
          <a:xfrm>
            <a:off x="0" y="3324219"/>
            <a:ext cx="1144270" cy="1390650"/>
            <a:chOff x="0" y="3324219"/>
            <a:chExt cx="1144270" cy="1390650"/>
          </a:xfrm>
        </p:grpSpPr>
        <p:pic>
          <p:nvPicPr>
            <p:cNvPr id="46" name="object 46"/>
            <p:cNvPicPr/>
            <p:nvPr/>
          </p:nvPicPr>
          <p:blipFill>
            <a:blip r:embed="rId19" cstate="print"/>
            <a:stretch>
              <a:fillRect/>
            </a:stretch>
          </p:blipFill>
          <p:spPr>
            <a:xfrm>
              <a:off x="0" y="3834396"/>
              <a:ext cx="1143761" cy="871715"/>
            </a:xfrm>
            <a:prstGeom prst="rect">
              <a:avLst/>
            </a:prstGeom>
          </p:spPr>
        </p:pic>
        <p:sp>
          <p:nvSpPr>
            <p:cNvPr id="47" name="object 47" descr=""/>
            <p:cNvSpPr/>
            <p:nvPr/>
          </p:nvSpPr>
          <p:spPr>
            <a:xfrm>
              <a:off x="46226" y="3333744"/>
              <a:ext cx="1050925" cy="1371600"/>
            </a:xfrm>
            <a:custGeom>
              <a:avLst/>
              <a:gdLst/>
              <a:ahLst/>
              <a:cxnLst/>
              <a:rect l="l" t="t" r="r" b="b"/>
              <a:pathLst>
                <a:path w="1050925" h="1371600">
                  <a:moveTo>
                    <a:pt x="0" y="131597"/>
                  </a:moveTo>
                  <a:lnTo>
                    <a:pt x="6708" y="90001"/>
                  </a:lnTo>
                  <a:lnTo>
                    <a:pt x="25389" y="53876"/>
                  </a:lnTo>
                  <a:lnTo>
                    <a:pt x="53876" y="25389"/>
                  </a:lnTo>
                  <a:lnTo>
                    <a:pt x="90001" y="6708"/>
                  </a:lnTo>
                  <a:lnTo>
                    <a:pt x="131597" y="0"/>
                  </a:lnTo>
                  <a:lnTo>
                    <a:pt x="918959" y="0"/>
                  </a:lnTo>
                  <a:lnTo>
                    <a:pt x="960549" y="6708"/>
                  </a:lnTo>
                  <a:lnTo>
                    <a:pt x="996670" y="25389"/>
                  </a:lnTo>
                  <a:lnTo>
                    <a:pt x="1025154" y="53876"/>
                  </a:lnTo>
                  <a:lnTo>
                    <a:pt x="1043835" y="90001"/>
                  </a:lnTo>
                  <a:lnTo>
                    <a:pt x="1050544" y="131597"/>
                  </a:lnTo>
                  <a:lnTo>
                    <a:pt x="1050544" y="1240015"/>
                  </a:lnTo>
                  <a:lnTo>
                    <a:pt x="1043835" y="1281605"/>
                  </a:lnTo>
                  <a:lnTo>
                    <a:pt x="1025154" y="1317726"/>
                  </a:lnTo>
                  <a:lnTo>
                    <a:pt x="996670" y="1346210"/>
                  </a:lnTo>
                  <a:lnTo>
                    <a:pt x="960549" y="1364891"/>
                  </a:lnTo>
                  <a:lnTo>
                    <a:pt x="918959" y="1371600"/>
                  </a:lnTo>
                  <a:lnTo>
                    <a:pt x="131597" y="1371600"/>
                  </a:lnTo>
                  <a:lnTo>
                    <a:pt x="90001" y="1364891"/>
                  </a:lnTo>
                  <a:lnTo>
                    <a:pt x="53876" y="1346210"/>
                  </a:lnTo>
                  <a:lnTo>
                    <a:pt x="25389" y="1317726"/>
                  </a:lnTo>
                  <a:lnTo>
                    <a:pt x="6708" y="1281605"/>
                  </a:lnTo>
                  <a:lnTo>
                    <a:pt x="0" y="1240015"/>
                  </a:lnTo>
                  <a:lnTo>
                    <a:pt x="0" y="131597"/>
                  </a:lnTo>
                  <a:close/>
                </a:path>
              </a:pathLst>
            </a:custGeom>
            <a:ln w="19050">
              <a:solidFill>
                <a:srgbClr val="539DCD"/>
              </a:solidFill>
            </a:ln>
          </p:spPr>
          <p:txBody>
            <a:bodyPr wrap="square" lIns="0" tIns="0" rIns="0" bIns="0" rtlCol="0"/>
            <a:lstStyle/>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8083" y="187706"/>
            <a:ext cx="4204335" cy="513080"/>
          </a:xfrm>
          <a:prstGeom prst="rect"/>
        </p:spPr>
        <p:txBody>
          <a:bodyPr wrap="square" lIns="0" tIns="12065" rIns="0" bIns="0" rtlCol="0" vert="horz">
            <a:spAutoFit/>
          </a:bodyPr>
          <a:lstStyle/>
          <a:p>
            <a:pPr marL="12700">
              <a:lnSpc>
                <a:spcPct val="100000"/>
              </a:lnSpc>
              <a:spcBef>
                <a:spcPts val="95"/>
              </a:spcBef>
            </a:pPr>
            <a:r>
              <a:rPr dirty="0" spc="-40"/>
              <a:t>应用场景</a:t>
            </a:r>
            <a:r>
              <a:rPr dirty="0" spc="-30">
                <a:latin typeface="Times New Roman"/>
                <a:cs typeface="Times New Roman"/>
              </a:rPr>
              <a:t>5G</a:t>
            </a:r>
            <a:r>
              <a:rPr dirty="0" spc="-45"/>
              <a:t>相关度排序</a:t>
            </a:r>
          </a:p>
        </p:txBody>
      </p:sp>
      <p:sp>
        <p:nvSpPr>
          <p:cNvPr id="3" name="object 3" descr=""/>
          <p:cNvSpPr txBox="1"/>
          <p:nvPr/>
        </p:nvSpPr>
        <p:spPr>
          <a:xfrm>
            <a:off x="743431" y="913891"/>
            <a:ext cx="3415665" cy="4048760"/>
          </a:xfrm>
          <a:prstGeom prst="rect">
            <a:avLst/>
          </a:prstGeom>
        </p:spPr>
        <p:txBody>
          <a:bodyPr wrap="square" lIns="0" tIns="12065" rIns="0" bIns="0" rtlCol="0" vert="horz">
            <a:spAutoFit/>
          </a:bodyPr>
          <a:lstStyle/>
          <a:p>
            <a:pPr marL="116839" indent="-107950">
              <a:lnSpc>
                <a:spcPct val="100000"/>
              </a:lnSpc>
              <a:spcBef>
                <a:spcPts val="95"/>
              </a:spcBef>
              <a:buSzPct val="90909"/>
              <a:buFont typeface="Times New Roman"/>
              <a:buAutoNum type="arabicPeriod"/>
              <a:tabLst>
                <a:tab pos="116839" algn="l"/>
              </a:tabLst>
            </a:pPr>
            <a:r>
              <a:rPr dirty="0" sz="1100" spc="-10" b="1">
                <a:solidFill>
                  <a:srgbClr val="C00000"/>
                </a:solidFill>
                <a:latin typeface="Microsoft JhengHei"/>
                <a:cs typeface="Microsoft JhengHei"/>
              </a:rPr>
              <a:t>云</a:t>
            </a:r>
            <a:r>
              <a:rPr dirty="0" sz="1100" spc="-20" b="1">
                <a:solidFill>
                  <a:srgbClr val="C00000"/>
                </a:solidFill>
                <a:latin typeface="Times New Roman"/>
                <a:cs typeface="Times New Roman"/>
              </a:rPr>
              <a:t>AR/VR</a:t>
            </a:r>
            <a:endParaRPr sz="1100">
              <a:latin typeface="Times New Roman"/>
              <a:cs typeface="Times New Roman"/>
            </a:endParaRPr>
          </a:p>
          <a:p>
            <a:pPr marL="116839" indent="-107950">
              <a:lnSpc>
                <a:spcPct val="100000"/>
              </a:lnSpc>
              <a:buSzPct val="90909"/>
              <a:buFont typeface="Times New Roman"/>
              <a:buAutoNum type="arabicPeriod"/>
              <a:tabLst>
                <a:tab pos="116839" algn="l"/>
              </a:tabLst>
            </a:pPr>
            <a:r>
              <a:rPr dirty="0" sz="1100" spc="-25" b="1">
                <a:solidFill>
                  <a:srgbClr val="C00000"/>
                </a:solidFill>
                <a:latin typeface="Microsoft JhengHei"/>
                <a:cs typeface="Microsoft JhengHei"/>
              </a:rPr>
              <a:t>车联网</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0" b="1">
                <a:solidFill>
                  <a:srgbClr val="C00000"/>
                </a:solidFill>
                <a:latin typeface="Microsoft JhengHei"/>
                <a:cs typeface="Microsoft JhengHei"/>
              </a:rPr>
              <a:t>智能制造</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0" b="1">
                <a:solidFill>
                  <a:srgbClr val="C00000"/>
                </a:solidFill>
                <a:latin typeface="Microsoft JhengHei"/>
                <a:cs typeface="Microsoft JhengHei"/>
              </a:rPr>
              <a:t>智慧能源</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0" b="1">
                <a:solidFill>
                  <a:srgbClr val="C00000"/>
                </a:solidFill>
                <a:latin typeface="Microsoft JhengHei"/>
                <a:cs typeface="Microsoft JhengHei"/>
              </a:rPr>
              <a:t>无线医疗</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5" b="1">
                <a:solidFill>
                  <a:srgbClr val="C00000"/>
                </a:solidFill>
                <a:latin typeface="Microsoft JhengHei"/>
                <a:cs typeface="Microsoft JhengHei"/>
              </a:rPr>
              <a:t>无线家庭娱乐</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5" b="1">
                <a:solidFill>
                  <a:srgbClr val="C00000"/>
                </a:solidFill>
                <a:latin typeface="Microsoft JhengHei"/>
                <a:cs typeface="Microsoft JhengHei"/>
              </a:rPr>
              <a:t>联网无人机</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20" b="1">
                <a:solidFill>
                  <a:srgbClr val="C00000"/>
                </a:solidFill>
                <a:latin typeface="Microsoft JhengHei"/>
                <a:cs typeface="Microsoft JhengHei"/>
              </a:rPr>
              <a:t>社交网络</a:t>
            </a:r>
            <a:endParaRPr sz="1100">
              <a:latin typeface="Microsoft JhengHei"/>
              <a:cs typeface="Microsoft JhengHei"/>
            </a:endParaRPr>
          </a:p>
          <a:p>
            <a:pPr marL="116839" indent="-107950">
              <a:lnSpc>
                <a:spcPct val="100000"/>
              </a:lnSpc>
              <a:buSzPct val="90909"/>
              <a:buFont typeface="Times New Roman"/>
              <a:buAutoNum type="arabicPeriod"/>
              <a:tabLst>
                <a:tab pos="116839" algn="l"/>
              </a:tabLst>
            </a:pPr>
            <a:r>
              <a:rPr dirty="0" sz="1100" spc="-10" b="1">
                <a:solidFill>
                  <a:srgbClr val="C00000"/>
                </a:solidFill>
                <a:latin typeface="Microsoft JhengHei"/>
                <a:cs typeface="Microsoft JhengHei"/>
              </a:rPr>
              <a:t>个人</a:t>
            </a:r>
            <a:r>
              <a:rPr dirty="0" sz="1100" spc="-20" b="1">
                <a:solidFill>
                  <a:srgbClr val="C00000"/>
                </a:solidFill>
                <a:latin typeface="Times New Roman"/>
                <a:cs typeface="Times New Roman"/>
              </a:rPr>
              <a:t>AI</a:t>
            </a:r>
            <a:r>
              <a:rPr dirty="0" sz="1100" spc="-30" b="1">
                <a:solidFill>
                  <a:srgbClr val="C00000"/>
                </a:solidFill>
                <a:latin typeface="Microsoft JhengHei"/>
                <a:cs typeface="Microsoft JhengHei"/>
              </a:rPr>
              <a:t>辅助</a:t>
            </a:r>
            <a:endParaRPr sz="1100">
              <a:latin typeface="Microsoft JhengHei"/>
              <a:cs typeface="Microsoft JhengHei"/>
            </a:endParaRPr>
          </a:p>
          <a:p>
            <a:pPr marL="219710" indent="-207010">
              <a:lnSpc>
                <a:spcPct val="100000"/>
              </a:lnSpc>
              <a:buSzPct val="90909"/>
              <a:buFont typeface="Times New Roman"/>
              <a:buAutoNum type="arabicPeriod"/>
              <a:tabLst>
                <a:tab pos="219710" algn="l"/>
              </a:tabLst>
            </a:pPr>
            <a:r>
              <a:rPr dirty="0" sz="1100" spc="-20" b="1">
                <a:solidFill>
                  <a:srgbClr val="C00000"/>
                </a:solidFill>
                <a:latin typeface="Microsoft JhengHei"/>
                <a:cs typeface="Microsoft JhengHei"/>
              </a:rPr>
              <a:t>智慧城市</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5" b="1">
                <a:solidFill>
                  <a:srgbClr val="C00000"/>
                </a:solidFill>
                <a:latin typeface="Microsoft JhengHei"/>
                <a:cs typeface="Microsoft JhengHei"/>
              </a:rPr>
              <a:t>全息投影</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0" b="1">
                <a:solidFill>
                  <a:srgbClr val="C00000"/>
                </a:solidFill>
                <a:latin typeface="Microsoft JhengHei"/>
                <a:cs typeface="Microsoft JhengHei"/>
              </a:rPr>
              <a:t>无线医疗联网</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远程手术</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0" b="1">
                <a:solidFill>
                  <a:srgbClr val="C00000"/>
                </a:solidFill>
                <a:latin typeface="Microsoft JhengHei"/>
                <a:cs typeface="Microsoft JhengHei"/>
              </a:rPr>
              <a:t>无线医疗联网</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救护车通信</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智能制造</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工业传感器</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0" b="1">
                <a:solidFill>
                  <a:srgbClr val="C00000"/>
                </a:solidFill>
                <a:latin typeface="Microsoft JhengHei"/>
                <a:cs typeface="Microsoft JhengHei"/>
              </a:rPr>
              <a:t>可穿戴设备</a:t>
            </a:r>
            <a:r>
              <a:rPr dirty="0" sz="1100" spc="-20" b="1">
                <a:solidFill>
                  <a:srgbClr val="C00000"/>
                </a:solidFill>
                <a:latin typeface="Times New Roman"/>
                <a:cs typeface="Times New Roman"/>
              </a:rPr>
              <a:t>——</a:t>
            </a:r>
            <a:r>
              <a:rPr dirty="0" sz="1100" spc="-25" b="1">
                <a:solidFill>
                  <a:srgbClr val="C00000"/>
                </a:solidFill>
                <a:latin typeface="Microsoft JhengHei"/>
                <a:cs typeface="Microsoft JhengHei"/>
              </a:rPr>
              <a:t>超高清穿戴摄像机</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5" b="1">
                <a:solidFill>
                  <a:srgbClr val="C00000"/>
                </a:solidFill>
                <a:latin typeface="Microsoft JhengHei"/>
                <a:cs typeface="Microsoft JhengHei"/>
              </a:rPr>
              <a:t>无人机</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智能制造</a:t>
            </a:r>
            <a:r>
              <a:rPr dirty="0" sz="1100" spc="-20" b="1">
                <a:solidFill>
                  <a:srgbClr val="C00000"/>
                </a:solidFill>
                <a:latin typeface="Times New Roman"/>
                <a:cs typeface="Times New Roman"/>
              </a:rPr>
              <a:t>——</a:t>
            </a:r>
            <a:r>
              <a:rPr dirty="0" sz="1100" spc="-20" b="1">
                <a:solidFill>
                  <a:srgbClr val="C00000"/>
                </a:solidFill>
                <a:latin typeface="Microsoft JhengHei"/>
                <a:cs typeface="Microsoft JhengHei"/>
              </a:rPr>
              <a:t>基于云的</a:t>
            </a:r>
            <a:r>
              <a:rPr dirty="0" sz="1100" spc="-25" b="1">
                <a:solidFill>
                  <a:srgbClr val="C00000"/>
                </a:solidFill>
                <a:latin typeface="Times New Roman"/>
                <a:cs typeface="Times New Roman"/>
              </a:rPr>
              <a:t>AGV</a:t>
            </a:r>
            <a:endParaRPr sz="1100">
              <a:latin typeface="Times New Roman"/>
              <a:cs typeface="Times New Roman"/>
            </a:endParaRPr>
          </a:p>
          <a:p>
            <a:pPr marL="186690" indent="-173990">
              <a:lnSpc>
                <a:spcPct val="100000"/>
              </a:lnSpc>
              <a:buSzPct val="90909"/>
              <a:buFont typeface="Times New Roman"/>
              <a:buAutoNum type="arabicPeriod"/>
              <a:tabLst>
                <a:tab pos="186690" algn="l"/>
              </a:tabLst>
            </a:pPr>
            <a:r>
              <a:rPr dirty="0" sz="1100" spc="-10" b="1">
                <a:solidFill>
                  <a:srgbClr val="C00000"/>
                </a:solidFill>
                <a:latin typeface="Microsoft JhengHei"/>
                <a:cs typeface="Microsoft JhengHei"/>
              </a:rPr>
              <a:t>家庭</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服务机器人</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无人机</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物流</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无人机</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飞行出租车</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20" b="1">
                <a:solidFill>
                  <a:srgbClr val="C00000"/>
                </a:solidFill>
                <a:latin typeface="Microsoft JhengHei"/>
                <a:cs typeface="Microsoft JhengHei"/>
              </a:rPr>
              <a:t>无线医疗联网</a:t>
            </a:r>
            <a:r>
              <a:rPr dirty="0" sz="1100" spc="-20" b="1">
                <a:solidFill>
                  <a:srgbClr val="C00000"/>
                </a:solidFill>
                <a:latin typeface="Times New Roman"/>
                <a:cs typeface="Times New Roman"/>
              </a:rPr>
              <a:t>——</a:t>
            </a:r>
            <a:r>
              <a:rPr dirty="0" sz="1100" spc="-25" b="1">
                <a:solidFill>
                  <a:srgbClr val="C00000"/>
                </a:solidFill>
                <a:latin typeface="Microsoft JhengHei"/>
                <a:cs typeface="Microsoft JhengHei"/>
              </a:rPr>
              <a:t>医院看护机器人</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0" b="1">
                <a:solidFill>
                  <a:srgbClr val="C00000"/>
                </a:solidFill>
                <a:latin typeface="Microsoft JhengHei"/>
                <a:cs typeface="Microsoft JhengHei"/>
              </a:rPr>
              <a:t>家庭</a:t>
            </a:r>
            <a:r>
              <a:rPr dirty="0" sz="1100" spc="-20" b="1">
                <a:solidFill>
                  <a:srgbClr val="C00000"/>
                </a:solidFill>
                <a:latin typeface="Times New Roman"/>
                <a:cs typeface="Times New Roman"/>
              </a:rPr>
              <a:t>——</a:t>
            </a:r>
            <a:r>
              <a:rPr dirty="0" sz="1100" spc="-30" b="1">
                <a:solidFill>
                  <a:srgbClr val="C00000"/>
                </a:solidFill>
                <a:latin typeface="Microsoft JhengHei"/>
                <a:cs typeface="Microsoft JhengHei"/>
              </a:rPr>
              <a:t>家庭监控</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智能制造</a:t>
            </a:r>
            <a:r>
              <a:rPr dirty="0" sz="1100" spc="-20" b="1">
                <a:solidFill>
                  <a:srgbClr val="C00000"/>
                </a:solidFill>
                <a:latin typeface="Times New Roman"/>
                <a:cs typeface="Times New Roman"/>
              </a:rPr>
              <a:t>——</a:t>
            </a:r>
            <a:r>
              <a:rPr dirty="0" sz="1100" spc="-25" b="1">
                <a:solidFill>
                  <a:srgbClr val="C00000"/>
                </a:solidFill>
                <a:latin typeface="Microsoft JhengHei"/>
                <a:cs typeface="Microsoft JhengHei"/>
              </a:rPr>
              <a:t>物流和库存监控</a:t>
            </a:r>
            <a:endParaRPr sz="1100">
              <a:latin typeface="Microsoft JhengHei"/>
              <a:cs typeface="Microsoft JhengHei"/>
            </a:endParaRPr>
          </a:p>
          <a:p>
            <a:pPr marL="186690" indent="-173990">
              <a:lnSpc>
                <a:spcPct val="100000"/>
              </a:lnSpc>
              <a:buSzPct val="90909"/>
              <a:buFont typeface="Times New Roman"/>
              <a:buAutoNum type="arabicPeriod"/>
              <a:tabLst>
                <a:tab pos="186690" algn="l"/>
              </a:tabLst>
            </a:pPr>
            <a:r>
              <a:rPr dirty="0" sz="1100" spc="-15" b="1">
                <a:solidFill>
                  <a:srgbClr val="C00000"/>
                </a:solidFill>
                <a:latin typeface="Microsoft JhengHei"/>
                <a:cs typeface="Microsoft JhengHei"/>
              </a:rPr>
              <a:t>智慧城市</a:t>
            </a:r>
            <a:r>
              <a:rPr dirty="0" sz="1100" spc="-20" b="1">
                <a:solidFill>
                  <a:srgbClr val="C00000"/>
                </a:solidFill>
                <a:latin typeface="Times New Roman"/>
                <a:cs typeface="Times New Roman"/>
              </a:rPr>
              <a:t>——</a:t>
            </a:r>
            <a:r>
              <a:rPr dirty="0" sz="1100" spc="-25" b="1">
                <a:solidFill>
                  <a:srgbClr val="C00000"/>
                </a:solidFill>
                <a:latin typeface="Microsoft JhengHei"/>
                <a:cs typeface="Microsoft JhengHei"/>
              </a:rPr>
              <a:t>垃圾桶、停车位、路灯、交通灯、仪表</a:t>
            </a:r>
            <a:endParaRPr sz="1100">
              <a:latin typeface="Microsoft JhengHei"/>
              <a:cs typeface="Microsoft JhengHei"/>
            </a:endParaRPr>
          </a:p>
        </p:txBody>
      </p:sp>
      <p:grpSp>
        <p:nvGrpSpPr>
          <p:cNvPr id="4" name="object 4" descr=""/>
          <p:cNvGrpSpPr/>
          <p:nvPr/>
        </p:nvGrpSpPr>
        <p:grpSpPr>
          <a:xfrm>
            <a:off x="4419600" y="232964"/>
            <a:ext cx="4724400" cy="4701540"/>
            <a:chOff x="4419600" y="232964"/>
            <a:chExt cx="4724400" cy="4701540"/>
          </a:xfrm>
        </p:grpSpPr>
        <p:sp>
          <p:nvSpPr>
            <p:cNvPr id="5" name="object 5" descr=""/>
            <p:cNvSpPr/>
            <p:nvPr/>
          </p:nvSpPr>
          <p:spPr>
            <a:xfrm>
              <a:off x="8415006" y="232964"/>
              <a:ext cx="729615" cy="726440"/>
            </a:xfrm>
            <a:custGeom>
              <a:avLst/>
              <a:gdLst/>
              <a:ahLst/>
              <a:cxnLst/>
              <a:rect l="l" t="t" r="r" b="b"/>
              <a:pathLst>
                <a:path w="729615" h="726440">
                  <a:moveTo>
                    <a:pt x="728992" y="0"/>
                  </a:moveTo>
                  <a:lnTo>
                    <a:pt x="0" y="725817"/>
                  </a:lnTo>
                  <a:lnTo>
                    <a:pt x="101828" y="725817"/>
                  </a:lnTo>
                  <a:lnTo>
                    <a:pt x="728992" y="101396"/>
                  </a:lnTo>
                  <a:lnTo>
                    <a:pt x="728992" y="0"/>
                  </a:lnTo>
                  <a:close/>
                </a:path>
              </a:pathLst>
            </a:custGeom>
            <a:solidFill>
              <a:srgbClr val="7575D1">
                <a:alpha val="10194"/>
              </a:srgbClr>
            </a:solidFill>
          </p:spPr>
          <p:txBody>
            <a:bodyPr wrap="square" lIns="0" tIns="0" rIns="0" bIns="0" rtlCol="0"/>
            <a:lstStyle/>
            <a:p/>
          </p:txBody>
        </p:sp>
        <p:pic>
          <p:nvPicPr>
            <p:cNvPr id="6" name="object 6"/>
            <p:cNvPicPr/>
            <p:nvPr/>
          </p:nvPicPr>
          <p:blipFill>
            <a:blip r:embed="rId2" cstate="print"/>
            <a:stretch>
              <a:fillRect/>
            </a:stretch>
          </p:blipFill>
          <p:spPr>
            <a:xfrm>
              <a:off x="4419600" y="800100"/>
              <a:ext cx="4343399" cy="4133849"/>
            </a:xfrm>
            <a:prstGeom prst="rect">
              <a:avLst/>
            </a:prstGeom>
          </p:spPr>
        </p:pic>
      </p:gr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349750"/>
            <a:chOff x="-12700" y="806450"/>
            <a:chExt cx="9169400" cy="4349750"/>
          </a:xfrm>
        </p:grpSpPr>
        <p:sp>
          <p:nvSpPr>
            <p:cNvPr id="3" name="object 3" descr=""/>
            <p:cNvSpPr/>
            <p:nvPr/>
          </p:nvSpPr>
          <p:spPr>
            <a:xfrm>
              <a:off x="0" y="819150"/>
              <a:ext cx="9144000" cy="4324350"/>
            </a:xfrm>
            <a:custGeom>
              <a:avLst/>
              <a:gdLst/>
              <a:ahLst/>
              <a:cxnLst/>
              <a:rect l="l" t="t" r="r" b="b"/>
              <a:pathLst>
                <a:path w="9144000" h="4324350">
                  <a:moveTo>
                    <a:pt x="9144000" y="0"/>
                  </a:moveTo>
                  <a:lnTo>
                    <a:pt x="0" y="0"/>
                  </a:lnTo>
                  <a:lnTo>
                    <a:pt x="0" y="4324350"/>
                  </a:lnTo>
                  <a:lnTo>
                    <a:pt x="9144000" y="4324350"/>
                  </a:lnTo>
                  <a:lnTo>
                    <a:pt x="9144000" y="0"/>
                  </a:lnTo>
                  <a:close/>
                </a:path>
              </a:pathLst>
            </a:custGeom>
            <a:solidFill>
              <a:srgbClr val="000000"/>
            </a:solidFill>
          </p:spPr>
          <p:txBody>
            <a:bodyPr wrap="square" lIns="0" tIns="0" rIns="0" bIns="0" rtlCol="0"/>
            <a:lstStyle/>
            <a:p/>
          </p:txBody>
        </p:sp>
        <p:sp>
          <p:nvSpPr>
            <p:cNvPr id="4" name="object 4" descr=""/>
            <p:cNvSpPr/>
            <p:nvPr/>
          </p:nvSpPr>
          <p:spPr>
            <a:xfrm>
              <a:off x="0" y="819150"/>
              <a:ext cx="9144000" cy="4324350"/>
            </a:xfrm>
            <a:custGeom>
              <a:avLst/>
              <a:gdLst/>
              <a:ahLst/>
              <a:cxnLst/>
              <a:rect l="l" t="t" r="r" b="b"/>
              <a:pathLst>
                <a:path w="9144000" h="4324350">
                  <a:moveTo>
                    <a:pt x="0" y="0"/>
                  </a:moveTo>
                  <a:lnTo>
                    <a:pt x="9144000" y="0"/>
                  </a:lnTo>
                  <a:lnTo>
                    <a:pt x="9144000" y="4324350"/>
                  </a:lnTo>
                  <a:lnTo>
                    <a:pt x="0" y="4324350"/>
                  </a:lnTo>
                  <a:lnTo>
                    <a:pt x="0" y="0"/>
                  </a:lnTo>
                  <a:close/>
                </a:path>
              </a:pathLst>
            </a:custGeom>
            <a:ln w="25400">
              <a:solidFill>
                <a:srgbClr val="89A4A7"/>
              </a:solidFill>
            </a:ln>
          </p:spPr>
          <p:txBody>
            <a:bodyPr wrap="square" lIns="0" tIns="0" rIns="0" bIns="0" rtlCol="0"/>
            <a:lstStyle/>
            <a:p/>
          </p:txBody>
        </p:sp>
        <p:pic>
          <p:nvPicPr>
            <p:cNvPr id="5" name="object 5"/>
            <p:cNvPicPr/>
            <p:nvPr/>
          </p:nvPicPr>
          <p:blipFill>
            <a:blip r:embed="rId2" cstate="print"/>
            <a:stretch>
              <a:fillRect/>
            </a:stretch>
          </p:blipFill>
          <p:spPr>
            <a:xfrm>
              <a:off x="7037832" y="899159"/>
              <a:ext cx="1627632" cy="3654552"/>
            </a:xfrm>
            <a:prstGeom prst="rect">
              <a:avLst/>
            </a:prstGeom>
          </p:spPr>
        </p:pic>
        <p:pic>
          <p:nvPicPr>
            <p:cNvPr id="6" name="object 6"/>
            <p:cNvPicPr/>
            <p:nvPr/>
          </p:nvPicPr>
          <p:blipFill>
            <a:blip r:embed="rId3" cstate="print"/>
            <a:stretch>
              <a:fillRect/>
            </a:stretch>
          </p:blipFill>
          <p:spPr>
            <a:xfrm>
              <a:off x="2420111" y="899172"/>
              <a:ext cx="1630680" cy="2499347"/>
            </a:xfrm>
            <a:prstGeom prst="rect">
              <a:avLst/>
            </a:prstGeom>
          </p:spPr>
        </p:pic>
        <p:pic>
          <p:nvPicPr>
            <p:cNvPr id="7" name="object 7"/>
            <p:cNvPicPr/>
            <p:nvPr/>
          </p:nvPicPr>
          <p:blipFill>
            <a:blip r:embed="rId4" cstate="print"/>
            <a:stretch>
              <a:fillRect/>
            </a:stretch>
          </p:blipFill>
          <p:spPr>
            <a:xfrm>
              <a:off x="3965447" y="899172"/>
              <a:ext cx="1630679" cy="2499347"/>
            </a:xfrm>
            <a:prstGeom prst="rect">
              <a:avLst/>
            </a:prstGeom>
          </p:spPr>
        </p:pic>
        <p:pic>
          <p:nvPicPr>
            <p:cNvPr id="8" name="object 8"/>
            <p:cNvPicPr/>
            <p:nvPr/>
          </p:nvPicPr>
          <p:blipFill>
            <a:blip r:embed="rId5" cstate="print"/>
            <a:stretch>
              <a:fillRect/>
            </a:stretch>
          </p:blipFill>
          <p:spPr>
            <a:xfrm>
              <a:off x="862583" y="899172"/>
              <a:ext cx="1630667" cy="2499347"/>
            </a:xfrm>
            <a:prstGeom prst="rect">
              <a:avLst/>
            </a:prstGeom>
          </p:spPr>
        </p:pic>
        <p:pic>
          <p:nvPicPr>
            <p:cNvPr id="9" name="object 9"/>
            <p:cNvPicPr/>
            <p:nvPr/>
          </p:nvPicPr>
          <p:blipFill>
            <a:blip r:embed="rId6" cstate="print"/>
            <a:stretch>
              <a:fillRect/>
            </a:stretch>
          </p:blipFill>
          <p:spPr>
            <a:xfrm>
              <a:off x="5504688" y="899172"/>
              <a:ext cx="1630679" cy="2499347"/>
            </a:xfrm>
            <a:prstGeom prst="rect">
              <a:avLst/>
            </a:prstGeom>
          </p:spPr>
        </p:pic>
      </p:grpSp>
      <p:sp>
        <p:nvSpPr>
          <p:cNvPr id="10" name="object 10"/>
          <p:cNvSpPr txBox="1">
            <a:spLocks noGrp="1"/>
          </p:cNvSpPr>
          <p:nvPr>
            <p:ph type="title"/>
          </p:nvPr>
        </p:nvSpPr>
        <p:spPr>
          <a:xfrm>
            <a:off x="1479200" y="199136"/>
            <a:ext cx="664273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业务未来将涵盖新兴垂直行业应用</a:t>
            </a:r>
          </a:p>
        </p:txBody>
      </p:sp>
      <p:sp>
        <p:nvSpPr>
          <p:cNvPr id="11" name="object 11" descr=""/>
          <p:cNvSpPr txBox="1"/>
          <p:nvPr/>
        </p:nvSpPr>
        <p:spPr>
          <a:xfrm>
            <a:off x="5957725" y="1082341"/>
            <a:ext cx="73850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C000"/>
                </a:solidFill>
                <a:latin typeface="SimSun"/>
                <a:cs typeface="SimSun"/>
              </a:rPr>
              <a:t>智能电网</a:t>
            </a:r>
            <a:endParaRPr sz="1400">
              <a:latin typeface="SimSun"/>
              <a:cs typeface="SimSun"/>
            </a:endParaRPr>
          </a:p>
        </p:txBody>
      </p:sp>
      <p:grpSp>
        <p:nvGrpSpPr>
          <p:cNvPr id="12" name="object 12" descr=""/>
          <p:cNvGrpSpPr/>
          <p:nvPr/>
        </p:nvGrpSpPr>
        <p:grpSpPr>
          <a:xfrm>
            <a:off x="576601" y="933705"/>
            <a:ext cx="6201410" cy="1492250"/>
            <a:chOff x="576601" y="933705"/>
            <a:chExt cx="6201410" cy="1492250"/>
          </a:xfrm>
        </p:grpSpPr>
        <p:pic>
          <p:nvPicPr>
            <p:cNvPr id="13" name="object 13"/>
            <p:cNvPicPr/>
            <p:nvPr/>
          </p:nvPicPr>
          <p:blipFill>
            <a:blip r:embed="rId7" cstate="print"/>
            <a:stretch>
              <a:fillRect/>
            </a:stretch>
          </p:blipFill>
          <p:spPr>
            <a:xfrm>
              <a:off x="5912529" y="1498855"/>
              <a:ext cx="865307" cy="67461"/>
            </a:xfrm>
            <a:prstGeom prst="rect">
              <a:avLst/>
            </a:prstGeom>
          </p:spPr>
        </p:pic>
        <p:sp>
          <p:nvSpPr>
            <p:cNvPr id="14" name="object 14" descr=""/>
            <p:cNvSpPr/>
            <p:nvPr/>
          </p:nvSpPr>
          <p:spPr>
            <a:xfrm>
              <a:off x="5966844" y="1584035"/>
              <a:ext cx="662940" cy="666115"/>
            </a:xfrm>
            <a:custGeom>
              <a:avLst/>
              <a:gdLst/>
              <a:ahLst/>
              <a:cxnLst/>
              <a:rect l="l" t="t" r="r" b="b"/>
              <a:pathLst>
                <a:path w="662940" h="666114">
                  <a:moveTo>
                    <a:pt x="102044" y="410552"/>
                  </a:moveTo>
                  <a:lnTo>
                    <a:pt x="90919" y="410552"/>
                  </a:lnTo>
                  <a:lnTo>
                    <a:pt x="85343" y="617740"/>
                  </a:lnTo>
                  <a:lnTo>
                    <a:pt x="107607" y="617740"/>
                  </a:lnTo>
                  <a:lnTo>
                    <a:pt x="102044" y="410552"/>
                  </a:lnTo>
                  <a:close/>
                </a:path>
                <a:path w="662940" h="666114">
                  <a:moveTo>
                    <a:pt x="74218" y="389445"/>
                  </a:moveTo>
                  <a:lnTo>
                    <a:pt x="5575" y="431647"/>
                  </a:lnTo>
                  <a:lnTo>
                    <a:pt x="1866" y="433565"/>
                  </a:lnTo>
                  <a:lnTo>
                    <a:pt x="0" y="437413"/>
                  </a:lnTo>
                  <a:lnTo>
                    <a:pt x="0" y="443166"/>
                  </a:lnTo>
                  <a:lnTo>
                    <a:pt x="1866" y="445084"/>
                  </a:lnTo>
                  <a:lnTo>
                    <a:pt x="5575" y="447001"/>
                  </a:lnTo>
                  <a:lnTo>
                    <a:pt x="9283" y="447001"/>
                  </a:lnTo>
                  <a:lnTo>
                    <a:pt x="12992" y="445084"/>
                  </a:lnTo>
                  <a:lnTo>
                    <a:pt x="81635" y="404787"/>
                  </a:lnTo>
                  <a:lnTo>
                    <a:pt x="74218" y="389445"/>
                  </a:lnTo>
                  <a:close/>
                </a:path>
                <a:path w="662940" h="666114">
                  <a:moveTo>
                    <a:pt x="118744" y="389445"/>
                  </a:moveTo>
                  <a:lnTo>
                    <a:pt x="116890" y="397116"/>
                  </a:lnTo>
                  <a:lnTo>
                    <a:pt x="113182" y="404787"/>
                  </a:lnTo>
                  <a:lnTo>
                    <a:pt x="181825" y="445084"/>
                  </a:lnTo>
                  <a:lnTo>
                    <a:pt x="185534" y="447001"/>
                  </a:lnTo>
                  <a:lnTo>
                    <a:pt x="189242" y="447001"/>
                  </a:lnTo>
                  <a:lnTo>
                    <a:pt x="191096" y="445084"/>
                  </a:lnTo>
                  <a:lnTo>
                    <a:pt x="194805" y="443166"/>
                  </a:lnTo>
                  <a:lnTo>
                    <a:pt x="194805" y="437413"/>
                  </a:lnTo>
                  <a:lnTo>
                    <a:pt x="192951" y="433565"/>
                  </a:lnTo>
                  <a:lnTo>
                    <a:pt x="189242" y="431647"/>
                  </a:lnTo>
                  <a:lnTo>
                    <a:pt x="118744" y="389445"/>
                  </a:lnTo>
                  <a:close/>
                </a:path>
                <a:path w="662940" h="666114">
                  <a:moveTo>
                    <a:pt x="96481" y="370255"/>
                  </a:moveTo>
                  <a:lnTo>
                    <a:pt x="90919" y="372173"/>
                  </a:lnTo>
                  <a:lnTo>
                    <a:pt x="85343" y="376021"/>
                  </a:lnTo>
                  <a:lnTo>
                    <a:pt x="81635" y="381774"/>
                  </a:lnTo>
                  <a:lnTo>
                    <a:pt x="79781" y="389445"/>
                  </a:lnTo>
                  <a:lnTo>
                    <a:pt x="81635" y="395198"/>
                  </a:lnTo>
                  <a:lnTo>
                    <a:pt x="85343" y="400951"/>
                  </a:lnTo>
                  <a:lnTo>
                    <a:pt x="90919" y="404787"/>
                  </a:lnTo>
                  <a:lnTo>
                    <a:pt x="96481" y="406666"/>
                  </a:lnTo>
                  <a:lnTo>
                    <a:pt x="103898" y="404787"/>
                  </a:lnTo>
                  <a:lnTo>
                    <a:pt x="109461" y="400951"/>
                  </a:lnTo>
                  <a:lnTo>
                    <a:pt x="113182" y="395198"/>
                  </a:lnTo>
                  <a:lnTo>
                    <a:pt x="113182" y="381774"/>
                  </a:lnTo>
                  <a:lnTo>
                    <a:pt x="109461" y="376021"/>
                  </a:lnTo>
                  <a:lnTo>
                    <a:pt x="103898" y="372173"/>
                  </a:lnTo>
                  <a:lnTo>
                    <a:pt x="96481" y="370255"/>
                  </a:lnTo>
                  <a:close/>
                </a:path>
                <a:path w="662940" h="666114">
                  <a:moveTo>
                    <a:pt x="100190" y="274332"/>
                  </a:moveTo>
                  <a:lnTo>
                    <a:pt x="94627" y="274332"/>
                  </a:lnTo>
                  <a:lnTo>
                    <a:pt x="90919" y="276250"/>
                  </a:lnTo>
                  <a:lnTo>
                    <a:pt x="89052" y="280047"/>
                  </a:lnTo>
                  <a:lnTo>
                    <a:pt x="89052" y="368338"/>
                  </a:lnTo>
                  <a:lnTo>
                    <a:pt x="96481" y="366420"/>
                  </a:lnTo>
                  <a:lnTo>
                    <a:pt x="103898" y="366420"/>
                  </a:lnTo>
                  <a:lnTo>
                    <a:pt x="103898" y="280047"/>
                  </a:lnTo>
                  <a:lnTo>
                    <a:pt x="102044" y="276250"/>
                  </a:lnTo>
                  <a:lnTo>
                    <a:pt x="100190" y="274332"/>
                  </a:lnTo>
                  <a:close/>
                </a:path>
                <a:path w="662940" h="666114">
                  <a:moveTo>
                    <a:pt x="103898" y="366420"/>
                  </a:moveTo>
                  <a:lnTo>
                    <a:pt x="96481" y="366420"/>
                  </a:lnTo>
                  <a:lnTo>
                    <a:pt x="103898" y="368338"/>
                  </a:lnTo>
                  <a:lnTo>
                    <a:pt x="103898" y="366420"/>
                  </a:lnTo>
                  <a:close/>
                </a:path>
                <a:path w="662940" h="666114">
                  <a:moveTo>
                    <a:pt x="330238" y="0"/>
                  </a:moveTo>
                  <a:lnTo>
                    <a:pt x="324675" y="1917"/>
                  </a:lnTo>
                  <a:lnTo>
                    <a:pt x="320928" y="5753"/>
                  </a:lnTo>
                  <a:lnTo>
                    <a:pt x="317258" y="13423"/>
                  </a:lnTo>
                  <a:lnTo>
                    <a:pt x="315404" y="21094"/>
                  </a:lnTo>
                  <a:lnTo>
                    <a:pt x="315404" y="182245"/>
                  </a:lnTo>
                  <a:lnTo>
                    <a:pt x="330238" y="178409"/>
                  </a:lnTo>
                  <a:lnTo>
                    <a:pt x="345084" y="178409"/>
                  </a:lnTo>
                  <a:lnTo>
                    <a:pt x="345084" y="13423"/>
                  </a:lnTo>
                  <a:lnTo>
                    <a:pt x="341414" y="5753"/>
                  </a:lnTo>
                  <a:lnTo>
                    <a:pt x="335813" y="1917"/>
                  </a:lnTo>
                  <a:lnTo>
                    <a:pt x="330238" y="0"/>
                  </a:lnTo>
                  <a:close/>
                </a:path>
                <a:path w="662940" h="666114">
                  <a:moveTo>
                    <a:pt x="345084" y="178409"/>
                  </a:moveTo>
                  <a:lnTo>
                    <a:pt x="330238" y="178409"/>
                  </a:lnTo>
                  <a:lnTo>
                    <a:pt x="345084" y="182245"/>
                  </a:lnTo>
                  <a:lnTo>
                    <a:pt x="345084" y="178409"/>
                  </a:lnTo>
                  <a:close/>
                </a:path>
                <a:path w="662940" h="666114">
                  <a:moveTo>
                    <a:pt x="341414" y="264744"/>
                  </a:moveTo>
                  <a:lnTo>
                    <a:pt x="330238" y="266661"/>
                  </a:lnTo>
                  <a:lnTo>
                    <a:pt x="320875" y="266661"/>
                  </a:lnTo>
                  <a:lnTo>
                    <a:pt x="309829" y="665708"/>
                  </a:lnTo>
                  <a:lnTo>
                    <a:pt x="350646" y="665708"/>
                  </a:lnTo>
                  <a:lnTo>
                    <a:pt x="341458" y="266661"/>
                  </a:lnTo>
                  <a:lnTo>
                    <a:pt x="330238" y="266661"/>
                  </a:lnTo>
                  <a:lnTo>
                    <a:pt x="320928" y="264744"/>
                  </a:lnTo>
                  <a:lnTo>
                    <a:pt x="341414" y="264744"/>
                  </a:lnTo>
                  <a:close/>
                </a:path>
                <a:path w="662940" h="666114">
                  <a:moveTo>
                    <a:pt x="569569" y="410552"/>
                  </a:moveTo>
                  <a:lnTo>
                    <a:pt x="558444" y="410552"/>
                  </a:lnTo>
                  <a:lnTo>
                    <a:pt x="552869" y="617740"/>
                  </a:lnTo>
                  <a:lnTo>
                    <a:pt x="575132" y="617740"/>
                  </a:lnTo>
                  <a:lnTo>
                    <a:pt x="569569" y="410552"/>
                  </a:lnTo>
                  <a:close/>
                </a:path>
                <a:path w="662940" h="666114">
                  <a:moveTo>
                    <a:pt x="541743" y="389445"/>
                  </a:moveTo>
                  <a:lnTo>
                    <a:pt x="473100" y="431647"/>
                  </a:lnTo>
                  <a:lnTo>
                    <a:pt x="469391" y="433565"/>
                  </a:lnTo>
                  <a:lnTo>
                    <a:pt x="465670" y="441248"/>
                  </a:lnTo>
                  <a:lnTo>
                    <a:pt x="469391" y="445084"/>
                  </a:lnTo>
                  <a:lnTo>
                    <a:pt x="473100" y="447001"/>
                  </a:lnTo>
                  <a:lnTo>
                    <a:pt x="476808" y="447001"/>
                  </a:lnTo>
                  <a:lnTo>
                    <a:pt x="480517" y="445084"/>
                  </a:lnTo>
                  <a:lnTo>
                    <a:pt x="549160" y="404787"/>
                  </a:lnTo>
                  <a:lnTo>
                    <a:pt x="543598" y="397116"/>
                  </a:lnTo>
                  <a:lnTo>
                    <a:pt x="541743" y="389445"/>
                  </a:lnTo>
                  <a:close/>
                </a:path>
                <a:path w="662940" h="666114">
                  <a:moveTo>
                    <a:pt x="586270" y="389445"/>
                  </a:moveTo>
                  <a:lnTo>
                    <a:pt x="584415" y="397116"/>
                  </a:lnTo>
                  <a:lnTo>
                    <a:pt x="580707" y="404787"/>
                  </a:lnTo>
                  <a:lnTo>
                    <a:pt x="649350" y="445084"/>
                  </a:lnTo>
                  <a:lnTo>
                    <a:pt x="653059" y="447001"/>
                  </a:lnTo>
                  <a:lnTo>
                    <a:pt x="656767" y="447001"/>
                  </a:lnTo>
                  <a:lnTo>
                    <a:pt x="662330" y="441248"/>
                  </a:lnTo>
                  <a:lnTo>
                    <a:pt x="662330" y="437413"/>
                  </a:lnTo>
                  <a:lnTo>
                    <a:pt x="656767" y="431647"/>
                  </a:lnTo>
                  <a:lnTo>
                    <a:pt x="586270" y="389445"/>
                  </a:lnTo>
                  <a:close/>
                </a:path>
                <a:path w="662940" h="666114">
                  <a:moveTo>
                    <a:pt x="564006" y="370255"/>
                  </a:moveTo>
                  <a:lnTo>
                    <a:pt x="558444" y="372173"/>
                  </a:lnTo>
                  <a:lnTo>
                    <a:pt x="552869" y="376021"/>
                  </a:lnTo>
                  <a:lnTo>
                    <a:pt x="549160" y="381774"/>
                  </a:lnTo>
                  <a:lnTo>
                    <a:pt x="547306" y="389445"/>
                  </a:lnTo>
                  <a:lnTo>
                    <a:pt x="549160" y="395198"/>
                  </a:lnTo>
                  <a:lnTo>
                    <a:pt x="552869" y="400951"/>
                  </a:lnTo>
                  <a:lnTo>
                    <a:pt x="558444" y="404787"/>
                  </a:lnTo>
                  <a:lnTo>
                    <a:pt x="564006" y="406666"/>
                  </a:lnTo>
                  <a:lnTo>
                    <a:pt x="571423" y="404787"/>
                  </a:lnTo>
                  <a:lnTo>
                    <a:pt x="576986" y="400951"/>
                  </a:lnTo>
                  <a:lnTo>
                    <a:pt x="580707" y="395198"/>
                  </a:lnTo>
                  <a:lnTo>
                    <a:pt x="580707" y="381774"/>
                  </a:lnTo>
                  <a:lnTo>
                    <a:pt x="576986" y="376021"/>
                  </a:lnTo>
                  <a:lnTo>
                    <a:pt x="571423" y="372173"/>
                  </a:lnTo>
                  <a:lnTo>
                    <a:pt x="564006" y="370255"/>
                  </a:lnTo>
                  <a:close/>
                </a:path>
                <a:path w="662940" h="666114">
                  <a:moveTo>
                    <a:pt x="567715" y="274332"/>
                  </a:moveTo>
                  <a:lnTo>
                    <a:pt x="562152" y="274332"/>
                  </a:lnTo>
                  <a:lnTo>
                    <a:pt x="558444" y="276250"/>
                  </a:lnTo>
                  <a:lnTo>
                    <a:pt x="556577" y="280047"/>
                  </a:lnTo>
                  <a:lnTo>
                    <a:pt x="556577" y="368338"/>
                  </a:lnTo>
                  <a:lnTo>
                    <a:pt x="564006" y="366420"/>
                  </a:lnTo>
                  <a:lnTo>
                    <a:pt x="571423" y="366420"/>
                  </a:lnTo>
                  <a:lnTo>
                    <a:pt x="571423" y="280047"/>
                  </a:lnTo>
                  <a:lnTo>
                    <a:pt x="569569" y="276250"/>
                  </a:lnTo>
                  <a:lnTo>
                    <a:pt x="567715" y="274332"/>
                  </a:lnTo>
                  <a:close/>
                </a:path>
                <a:path w="662940" h="666114">
                  <a:moveTo>
                    <a:pt x="571423" y="366420"/>
                  </a:moveTo>
                  <a:lnTo>
                    <a:pt x="564006" y="366420"/>
                  </a:lnTo>
                  <a:lnTo>
                    <a:pt x="571423" y="368338"/>
                  </a:lnTo>
                  <a:lnTo>
                    <a:pt x="571423" y="366420"/>
                  </a:lnTo>
                  <a:close/>
                </a:path>
                <a:path w="662940" h="666114">
                  <a:moveTo>
                    <a:pt x="289420" y="224459"/>
                  </a:moveTo>
                  <a:lnTo>
                    <a:pt x="287566" y="224459"/>
                  </a:lnTo>
                  <a:lnTo>
                    <a:pt x="152133" y="305028"/>
                  </a:lnTo>
                  <a:lnTo>
                    <a:pt x="146570" y="310794"/>
                  </a:lnTo>
                  <a:lnTo>
                    <a:pt x="142862" y="316547"/>
                  </a:lnTo>
                  <a:lnTo>
                    <a:pt x="141008" y="322338"/>
                  </a:lnTo>
                  <a:lnTo>
                    <a:pt x="142862" y="328053"/>
                  </a:lnTo>
                  <a:lnTo>
                    <a:pt x="146570" y="333806"/>
                  </a:lnTo>
                  <a:lnTo>
                    <a:pt x="153987" y="335724"/>
                  </a:lnTo>
                  <a:lnTo>
                    <a:pt x="161416" y="335724"/>
                  </a:lnTo>
                  <a:lnTo>
                    <a:pt x="168833" y="331889"/>
                  </a:lnTo>
                  <a:lnTo>
                    <a:pt x="300596" y="253238"/>
                  </a:lnTo>
                  <a:lnTo>
                    <a:pt x="294995" y="247484"/>
                  </a:lnTo>
                  <a:lnTo>
                    <a:pt x="291287" y="239801"/>
                  </a:lnTo>
                  <a:lnTo>
                    <a:pt x="289420" y="232130"/>
                  </a:lnTo>
                  <a:lnTo>
                    <a:pt x="289420" y="224459"/>
                  </a:lnTo>
                  <a:close/>
                </a:path>
                <a:path w="662940" h="666114">
                  <a:moveTo>
                    <a:pt x="372910" y="224459"/>
                  </a:moveTo>
                  <a:lnTo>
                    <a:pt x="369201" y="239801"/>
                  </a:lnTo>
                  <a:lnTo>
                    <a:pt x="365493" y="247484"/>
                  </a:lnTo>
                  <a:lnTo>
                    <a:pt x="359930" y="253238"/>
                  </a:lnTo>
                  <a:lnTo>
                    <a:pt x="493509" y="331889"/>
                  </a:lnTo>
                  <a:lnTo>
                    <a:pt x="500926" y="335724"/>
                  </a:lnTo>
                  <a:lnTo>
                    <a:pt x="508342" y="335724"/>
                  </a:lnTo>
                  <a:lnTo>
                    <a:pt x="513918" y="333806"/>
                  </a:lnTo>
                  <a:lnTo>
                    <a:pt x="517626" y="328053"/>
                  </a:lnTo>
                  <a:lnTo>
                    <a:pt x="519480" y="322338"/>
                  </a:lnTo>
                  <a:lnTo>
                    <a:pt x="517626" y="316547"/>
                  </a:lnTo>
                  <a:lnTo>
                    <a:pt x="513918" y="310794"/>
                  </a:lnTo>
                  <a:lnTo>
                    <a:pt x="508342" y="305028"/>
                  </a:lnTo>
                  <a:lnTo>
                    <a:pt x="372910" y="224459"/>
                  </a:lnTo>
                  <a:close/>
                </a:path>
                <a:path w="662940" h="666114">
                  <a:moveTo>
                    <a:pt x="330238" y="188010"/>
                  </a:moveTo>
                  <a:lnTo>
                    <a:pt x="324675" y="189928"/>
                  </a:lnTo>
                  <a:lnTo>
                    <a:pt x="317258" y="191846"/>
                  </a:lnTo>
                  <a:lnTo>
                    <a:pt x="311683" y="193763"/>
                  </a:lnTo>
                  <a:lnTo>
                    <a:pt x="302412" y="203352"/>
                  </a:lnTo>
                  <a:lnTo>
                    <a:pt x="300596" y="209105"/>
                  </a:lnTo>
                  <a:lnTo>
                    <a:pt x="298703" y="214858"/>
                  </a:lnTo>
                  <a:lnTo>
                    <a:pt x="296849" y="222542"/>
                  </a:lnTo>
                  <a:lnTo>
                    <a:pt x="298703" y="228295"/>
                  </a:lnTo>
                  <a:lnTo>
                    <a:pt x="300596" y="235966"/>
                  </a:lnTo>
                  <a:lnTo>
                    <a:pt x="302412" y="241719"/>
                  </a:lnTo>
                  <a:lnTo>
                    <a:pt x="307974" y="245554"/>
                  </a:lnTo>
                  <a:lnTo>
                    <a:pt x="311683" y="251320"/>
                  </a:lnTo>
                  <a:lnTo>
                    <a:pt x="317258" y="253238"/>
                  </a:lnTo>
                  <a:lnTo>
                    <a:pt x="324675" y="255155"/>
                  </a:lnTo>
                  <a:lnTo>
                    <a:pt x="330238" y="257073"/>
                  </a:lnTo>
                  <a:lnTo>
                    <a:pt x="363639" y="228295"/>
                  </a:lnTo>
                  <a:lnTo>
                    <a:pt x="363639" y="214858"/>
                  </a:lnTo>
                  <a:lnTo>
                    <a:pt x="337667" y="189928"/>
                  </a:lnTo>
                  <a:lnTo>
                    <a:pt x="330238" y="188010"/>
                  </a:lnTo>
                  <a:close/>
                </a:path>
              </a:pathLst>
            </a:custGeom>
            <a:solidFill>
              <a:srgbClr val="FFFFFF"/>
            </a:solidFill>
          </p:spPr>
          <p:txBody>
            <a:bodyPr wrap="square" lIns="0" tIns="0" rIns="0" bIns="0" rtlCol="0"/>
            <a:lstStyle/>
            <a:p/>
          </p:txBody>
        </p:sp>
        <p:sp>
          <p:nvSpPr>
            <p:cNvPr id="15" name="object 15" descr=""/>
            <p:cNvSpPr/>
            <p:nvPr/>
          </p:nvSpPr>
          <p:spPr>
            <a:xfrm>
              <a:off x="5966844" y="1584035"/>
              <a:ext cx="520065" cy="666115"/>
            </a:xfrm>
            <a:custGeom>
              <a:avLst/>
              <a:gdLst/>
              <a:ahLst/>
              <a:cxnLst/>
              <a:rect l="l" t="t" r="r" b="b"/>
              <a:pathLst>
                <a:path w="520064" h="666114">
                  <a:moveTo>
                    <a:pt x="79781" y="389445"/>
                  </a:moveTo>
                  <a:lnTo>
                    <a:pt x="81635" y="381774"/>
                  </a:lnTo>
                  <a:lnTo>
                    <a:pt x="85343" y="376021"/>
                  </a:lnTo>
                  <a:lnTo>
                    <a:pt x="90919" y="372173"/>
                  </a:lnTo>
                  <a:lnTo>
                    <a:pt x="96481" y="370255"/>
                  </a:lnTo>
                  <a:lnTo>
                    <a:pt x="103898" y="372173"/>
                  </a:lnTo>
                  <a:lnTo>
                    <a:pt x="109461" y="376021"/>
                  </a:lnTo>
                  <a:lnTo>
                    <a:pt x="113182" y="381774"/>
                  </a:lnTo>
                  <a:lnTo>
                    <a:pt x="113182" y="389445"/>
                  </a:lnTo>
                  <a:lnTo>
                    <a:pt x="113182" y="395198"/>
                  </a:lnTo>
                  <a:lnTo>
                    <a:pt x="109461" y="400951"/>
                  </a:lnTo>
                  <a:lnTo>
                    <a:pt x="103898" y="404787"/>
                  </a:lnTo>
                  <a:lnTo>
                    <a:pt x="96481" y="406666"/>
                  </a:lnTo>
                  <a:lnTo>
                    <a:pt x="90919" y="404787"/>
                  </a:lnTo>
                  <a:lnTo>
                    <a:pt x="85343" y="400951"/>
                  </a:lnTo>
                  <a:lnTo>
                    <a:pt x="81635" y="395198"/>
                  </a:lnTo>
                  <a:lnTo>
                    <a:pt x="79781" y="389445"/>
                  </a:lnTo>
                  <a:close/>
                </a:path>
                <a:path w="520064" h="666114">
                  <a:moveTo>
                    <a:pt x="102044" y="410552"/>
                  </a:moveTo>
                  <a:lnTo>
                    <a:pt x="107607" y="617740"/>
                  </a:lnTo>
                  <a:lnTo>
                    <a:pt x="85343" y="617740"/>
                  </a:lnTo>
                  <a:lnTo>
                    <a:pt x="90919" y="410552"/>
                  </a:lnTo>
                  <a:lnTo>
                    <a:pt x="96481" y="410552"/>
                  </a:lnTo>
                  <a:lnTo>
                    <a:pt x="102044" y="410552"/>
                  </a:lnTo>
                  <a:close/>
                </a:path>
                <a:path w="520064" h="666114">
                  <a:moveTo>
                    <a:pt x="12992" y="445084"/>
                  </a:moveTo>
                  <a:lnTo>
                    <a:pt x="9283" y="447001"/>
                  </a:lnTo>
                  <a:lnTo>
                    <a:pt x="5575" y="447001"/>
                  </a:lnTo>
                  <a:lnTo>
                    <a:pt x="1866" y="445084"/>
                  </a:lnTo>
                  <a:lnTo>
                    <a:pt x="0" y="443166"/>
                  </a:lnTo>
                  <a:lnTo>
                    <a:pt x="0" y="441248"/>
                  </a:lnTo>
                  <a:lnTo>
                    <a:pt x="0" y="437413"/>
                  </a:lnTo>
                  <a:lnTo>
                    <a:pt x="1866" y="433565"/>
                  </a:lnTo>
                  <a:lnTo>
                    <a:pt x="5575" y="431647"/>
                  </a:lnTo>
                  <a:lnTo>
                    <a:pt x="74218" y="389445"/>
                  </a:lnTo>
                  <a:lnTo>
                    <a:pt x="77927" y="397116"/>
                  </a:lnTo>
                  <a:lnTo>
                    <a:pt x="81635" y="404787"/>
                  </a:lnTo>
                  <a:lnTo>
                    <a:pt x="12992" y="445084"/>
                  </a:lnTo>
                  <a:close/>
                </a:path>
                <a:path w="520064" h="666114">
                  <a:moveTo>
                    <a:pt x="181825" y="445084"/>
                  </a:moveTo>
                  <a:lnTo>
                    <a:pt x="113182" y="404787"/>
                  </a:lnTo>
                  <a:lnTo>
                    <a:pt x="116890" y="397116"/>
                  </a:lnTo>
                  <a:lnTo>
                    <a:pt x="118744" y="389445"/>
                  </a:lnTo>
                  <a:lnTo>
                    <a:pt x="189242" y="431647"/>
                  </a:lnTo>
                  <a:lnTo>
                    <a:pt x="192951" y="433565"/>
                  </a:lnTo>
                  <a:lnTo>
                    <a:pt x="194805" y="437413"/>
                  </a:lnTo>
                  <a:lnTo>
                    <a:pt x="194805" y="441248"/>
                  </a:lnTo>
                  <a:lnTo>
                    <a:pt x="194805" y="443166"/>
                  </a:lnTo>
                  <a:lnTo>
                    <a:pt x="191096" y="445084"/>
                  </a:lnTo>
                  <a:lnTo>
                    <a:pt x="189242" y="447001"/>
                  </a:lnTo>
                  <a:lnTo>
                    <a:pt x="185534" y="447001"/>
                  </a:lnTo>
                  <a:lnTo>
                    <a:pt x="181825" y="445084"/>
                  </a:lnTo>
                  <a:close/>
                </a:path>
                <a:path w="520064" h="666114">
                  <a:moveTo>
                    <a:pt x="103898" y="283933"/>
                  </a:moveTo>
                  <a:lnTo>
                    <a:pt x="103898" y="368338"/>
                  </a:lnTo>
                  <a:lnTo>
                    <a:pt x="96481" y="366420"/>
                  </a:lnTo>
                  <a:lnTo>
                    <a:pt x="89052" y="368338"/>
                  </a:lnTo>
                  <a:lnTo>
                    <a:pt x="89052" y="283933"/>
                  </a:lnTo>
                  <a:lnTo>
                    <a:pt x="89052" y="280047"/>
                  </a:lnTo>
                  <a:lnTo>
                    <a:pt x="90919" y="276250"/>
                  </a:lnTo>
                  <a:lnTo>
                    <a:pt x="94627" y="274332"/>
                  </a:lnTo>
                  <a:lnTo>
                    <a:pt x="96481" y="274332"/>
                  </a:lnTo>
                  <a:lnTo>
                    <a:pt x="100190" y="274332"/>
                  </a:lnTo>
                  <a:lnTo>
                    <a:pt x="102044" y="276250"/>
                  </a:lnTo>
                  <a:lnTo>
                    <a:pt x="103898" y="280047"/>
                  </a:lnTo>
                  <a:lnTo>
                    <a:pt x="103898" y="283933"/>
                  </a:lnTo>
                  <a:close/>
                </a:path>
                <a:path w="520064" h="666114">
                  <a:moveTo>
                    <a:pt x="345084" y="21094"/>
                  </a:moveTo>
                  <a:lnTo>
                    <a:pt x="345084" y="182245"/>
                  </a:lnTo>
                  <a:lnTo>
                    <a:pt x="337667" y="180327"/>
                  </a:lnTo>
                  <a:lnTo>
                    <a:pt x="330238" y="178409"/>
                  </a:lnTo>
                  <a:lnTo>
                    <a:pt x="322821" y="180327"/>
                  </a:lnTo>
                  <a:lnTo>
                    <a:pt x="315404" y="182245"/>
                  </a:lnTo>
                  <a:lnTo>
                    <a:pt x="315404" y="21094"/>
                  </a:lnTo>
                  <a:lnTo>
                    <a:pt x="317258" y="13423"/>
                  </a:lnTo>
                  <a:lnTo>
                    <a:pt x="320928" y="5753"/>
                  </a:lnTo>
                  <a:lnTo>
                    <a:pt x="324675" y="1917"/>
                  </a:lnTo>
                  <a:lnTo>
                    <a:pt x="330238" y="0"/>
                  </a:lnTo>
                  <a:lnTo>
                    <a:pt x="335813" y="1917"/>
                  </a:lnTo>
                  <a:lnTo>
                    <a:pt x="341414" y="5753"/>
                  </a:lnTo>
                  <a:lnTo>
                    <a:pt x="345084" y="13423"/>
                  </a:lnTo>
                  <a:lnTo>
                    <a:pt x="345084" y="21094"/>
                  </a:lnTo>
                  <a:close/>
                </a:path>
                <a:path w="520064" h="666114">
                  <a:moveTo>
                    <a:pt x="493509" y="331889"/>
                  </a:moveTo>
                  <a:lnTo>
                    <a:pt x="359930" y="253238"/>
                  </a:lnTo>
                  <a:lnTo>
                    <a:pt x="365493" y="247484"/>
                  </a:lnTo>
                  <a:lnTo>
                    <a:pt x="369201" y="239801"/>
                  </a:lnTo>
                  <a:lnTo>
                    <a:pt x="371055" y="232130"/>
                  </a:lnTo>
                  <a:lnTo>
                    <a:pt x="372910" y="224459"/>
                  </a:lnTo>
                  <a:lnTo>
                    <a:pt x="508342" y="305028"/>
                  </a:lnTo>
                  <a:lnTo>
                    <a:pt x="513918" y="310794"/>
                  </a:lnTo>
                  <a:lnTo>
                    <a:pt x="517626" y="316547"/>
                  </a:lnTo>
                  <a:lnTo>
                    <a:pt x="519480" y="322338"/>
                  </a:lnTo>
                  <a:lnTo>
                    <a:pt x="517626" y="328053"/>
                  </a:lnTo>
                  <a:lnTo>
                    <a:pt x="513918" y="333806"/>
                  </a:lnTo>
                  <a:lnTo>
                    <a:pt x="508342" y="335724"/>
                  </a:lnTo>
                  <a:lnTo>
                    <a:pt x="500926" y="335724"/>
                  </a:lnTo>
                  <a:lnTo>
                    <a:pt x="493509" y="331889"/>
                  </a:lnTo>
                  <a:close/>
                </a:path>
                <a:path w="520064" h="666114">
                  <a:moveTo>
                    <a:pt x="168833" y="331889"/>
                  </a:moveTo>
                  <a:lnTo>
                    <a:pt x="161416" y="335724"/>
                  </a:lnTo>
                  <a:lnTo>
                    <a:pt x="153987" y="335724"/>
                  </a:lnTo>
                  <a:lnTo>
                    <a:pt x="146570" y="333806"/>
                  </a:lnTo>
                  <a:lnTo>
                    <a:pt x="142862" y="328053"/>
                  </a:lnTo>
                  <a:lnTo>
                    <a:pt x="141008" y="322338"/>
                  </a:lnTo>
                  <a:lnTo>
                    <a:pt x="142862" y="316547"/>
                  </a:lnTo>
                  <a:lnTo>
                    <a:pt x="146570" y="310794"/>
                  </a:lnTo>
                  <a:lnTo>
                    <a:pt x="152133" y="305028"/>
                  </a:lnTo>
                  <a:lnTo>
                    <a:pt x="287566" y="224459"/>
                  </a:lnTo>
                  <a:lnTo>
                    <a:pt x="289420" y="224459"/>
                  </a:lnTo>
                  <a:lnTo>
                    <a:pt x="289420" y="232130"/>
                  </a:lnTo>
                  <a:lnTo>
                    <a:pt x="291287" y="239801"/>
                  </a:lnTo>
                  <a:lnTo>
                    <a:pt x="294995" y="247484"/>
                  </a:lnTo>
                  <a:lnTo>
                    <a:pt x="300596" y="253238"/>
                  </a:lnTo>
                  <a:lnTo>
                    <a:pt x="168833" y="331889"/>
                  </a:lnTo>
                  <a:close/>
                </a:path>
                <a:path w="520064" h="666114">
                  <a:moveTo>
                    <a:pt x="341414" y="264744"/>
                  </a:moveTo>
                  <a:lnTo>
                    <a:pt x="350646" y="665708"/>
                  </a:lnTo>
                  <a:lnTo>
                    <a:pt x="309829" y="665708"/>
                  </a:lnTo>
                  <a:lnTo>
                    <a:pt x="320928" y="264744"/>
                  </a:lnTo>
                  <a:lnTo>
                    <a:pt x="330238" y="266661"/>
                  </a:lnTo>
                  <a:lnTo>
                    <a:pt x="341414" y="264744"/>
                  </a:lnTo>
                  <a:close/>
                </a:path>
              </a:pathLst>
            </a:custGeom>
            <a:ln w="25400">
              <a:solidFill>
                <a:srgbClr val="FFFFFF"/>
              </a:solidFill>
            </a:ln>
          </p:spPr>
          <p:txBody>
            <a:bodyPr wrap="square" lIns="0" tIns="0" rIns="0" bIns="0" rtlCol="0"/>
            <a:lstStyle/>
            <a:p/>
          </p:txBody>
        </p:sp>
        <p:pic>
          <p:nvPicPr>
            <p:cNvPr id="16" name="object 16" descr=""/>
            <p:cNvPicPr/>
            <p:nvPr/>
          </p:nvPicPr>
          <p:blipFill>
            <a:blip r:embed="rId8" cstate="print"/>
            <a:stretch>
              <a:fillRect/>
            </a:stretch>
          </p:blipFill>
          <p:spPr>
            <a:xfrm>
              <a:off x="6250994" y="1759346"/>
              <a:ext cx="92189" cy="94462"/>
            </a:xfrm>
            <a:prstGeom prst="rect">
              <a:avLst/>
            </a:prstGeom>
          </p:spPr>
        </p:pic>
        <p:pic>
          <p:nvPicPr>
            <p:cNvPr id="17" name="object 17" descr=""/>
            <p:cNvPicPr/>
            <p:nvPr/>
          </p:nvPicPr>
          <p:blipFill>
            <a:blip r:embed="rId9" cstate="print"/>
            <a:stretch>
              <a:fillRect/>
            </a:stretch>
          </p:blipFill>
          <p:spPr>
            <a:xfrm>
              <a:off x="6419815" y="1845668"/>
              <a:ext cx="222059" cy="368808"/>
            </a:xfrm>
            <a:prstGeom prst="rect">
              <a:avLst/>
            </a:prstGeom>
          </p:spPr>
        </p:pic>
        <p:pic>
          <p:nvPicPr>
            <p:cNvPr id="18" name="object 18"/>
            <p:cNvPicPr/>
            <p:nvPr/>
          </p:nvPicPr>
          <p:blipFill>
            <a:blip r:embed="rId7" cstate="print"/>
            <a:stretch>
              <a:fillRect/>
            </a:stretch>
          </p:blipFill>
          <p:spPr>
            <a:xfrm>
              <a:off x="1302423" y="1498855"/>
              <a:ext cx="865300" cy="67461"/>
            </a:xfrm>
            <a:prstGeom prst="rect">
              <a:avLst/>
            </a:prstGeom>
          </p:spPr>
        </p:pic>
        <p:pic>
          <p:nvPicPr>
            <p:cNvPr id="19" name="object 19"/>
            <p:cNvPicPr/>
            <p:nvPr/>
          </p:nvPicPr>
          <p:blipFill>
            <a:blip r:embed="rId7" cstate="print"/>
            <a:stretch>
              <a:fillRect/>
            </a:stretch>
          </p:blipFill>
          <p:spPr>
            <a:xfrm>
              <a:off x="2860259" y="1498855"/>
              <a:ext cx="865308" cy="67461"/>
            </a:xfrm>
            <a:prstGeom prst="rect">
              <a:avLst/>
            </a:prstGeom>
          </p:spPr>
        </p:pic>
        <p:pic>
          <p:nvPicPr>
            <p:cNvPr id="20" name="object 20"/>
            <p:cNvPicPr/>
            <p:nvPr/>
          </p:nvPicPr>
          <p:blipFill>
            <a:blip r:embed="rId7" cstate="print"/>
            <a:stretch>
              <a:fillRect/>
            </a:stretch>
          </p:blipFill>
          <p:spPr>
            <a:xfrm>
              <a:off x="4434192" y="1519444"/>
              <a:ext cx="865301" cy="67458"/>
            </a:xfrm>
            <a:prstGeom prst="rect">
              <a:avLst/>
            </a:prstGeom>
          </p:spPr>
        </p:pic>
        <p:pic>
          <p:nvPicPr>
            <p:cNvPr id="21" name="object 21"/>
            <p:cNvPicPr/>
            <p:nvPr/>
          </p:nvPicPr>
          <p:blipFill>
            <a:blip r:embed="rId10" cstate="print"/>
            <a:stretch>
              <a:fillRect/>
            </a:stretch>
          </p:blipFill>
          <p:spPr>
            <a:xfrm>
              <a:off x="1283222" y="1445145"/>
              <a:ext cx="893315" cy="980706"/>
            </a:xfrm>
            <a:prstGeom prst="rect">
              <a:avLst/>
            </a:prstGeom>
          </p:spPr>
        </p:pic>
        <p:sp>
          <p:nvSpPr>
            <p:cNvPr id="22" name="object 22" descr=""/>
            <p:cNvSpPr/>
            <p:nvPr/>
          </p:nvSpPr>
          <p:spPr>
            <a:xfrm>
              <a:off x="576601" y="933705"/>
              <a:ext cx="325120" cy="735330"/>
            </a:xfrm>
            <a:custGeom>
              <a:avLst/>
              <a:gdLst/>
              <a:ahLst/>
              <a:cxnLst/>
              <a:rect l="l" t="t" r="r" b="b"/>
              <a:pathLst>
                <a:path w="325119" h="735330">
                  <a:moveTo>
                    <a:pt x="324624" y="0"/>
                  </a:moveTo>
                  <a:lnTo>
                    <a:pt x="0" y="0"/>
                  </a:lnTo>
                  <a:lnTo>
                    <a:pt x="0" y="734898"/>
                  </a:lnTo>
                  <a:lnTo>
                    <a:pt x="145122" y="641451"/>
                  </a:lnTo>
                  <a:lnTo>
                    <a:pt x="324624" y="734898"/>
                  </a:lnTo>
                  <a:lnTo>
                    <a:pt x="324624" y="0"/>
                  </a:lnTo>
                  <a:close/>
                </a:path>
              </a:pathLst>
            </a:custGeom>
            <a:solidFill>
              <a:srgbClr val="159DCD"/>
            </a:solidFill>
          </p:spPr>
          <p:txBody>
            <a:bodyPr wrap="square" lIns="0" tIns="0" rIns="0" bIns="0" rtlCol="0"/>
            <a:lstStyle/>
            <a:p/>
          </p:txBody>
        </p:sp>
      </p:grpSp>
      <p:sp>
        <p:nvSpPr>
          <p:cNvPr id="23" name="object 23" descr=""/>
          <p:cNvSpPr txBox="1"/>
          <p:nvPr/>
        </p:nvSpPr>
        <p:spPr>
          <a:xfrm>
            <a:off x="1471891" y="1082341"/>
            <a:ext cx="560705" cy="238760"/>
          </a:xfrm>
          <a:prstGeom prst="rect">
            <a:avLst/>
          </a:prstGeom>
        </p:spPr>
        <p:txBody>
          <a:bodyPr wrap="square" lIns="0" tIns="12065" rIns="0" bIns="0" rtlCol="0" vert="horz">
            <a:spAutoFit/>
          </a:bodyPr>
          <a:lstStyle/>
          <a:p>
            <a:pPr marL="12700">
              <a:lnSpc>
                <a:spcPct val="100000"/>
              </a:lnSpc>
              <a:spcBef>
                <a:spcPts val="95"/>
              </a:spcBef>
            </a:pPr>
            <a:r>
              <a:rPr dirty="0" sz="1400" spc="-30">
                <a:solidFill>
                  <a:srgbClr val="FFC000"/>
                </a:solidFill>
                <a:latin typeface="SimSun"/>
                <a:cs typeface="SimSun"/>
              </a:rPr>
              <a:t>无人机</a:t>
            </a:r>
            <a:endParaRPr sz="1400">
              <a:latin typeface="SimSun"/>
              <a:cs typeface="SimSun"/>
            </a:endParaRPr>
          </a:p>
        </p:txBody>
      </p:sp>
      <p:sp>
        <p:nvSpPr>
          <p:cNvPr id="24" name="object 24" descr=""/>
          <p:cNvSpPr txBox="1"/>
          <p:nvPr/>
        </p:nvSpPr>
        <p:spPr>
          <a:xfrm>
            <a:off x="2905453" y="1082341"/>
            <a:ext cx="73850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C000"/>
                </a:solidFill>
                <a:latin typeface="SimSun"/>
                <a:cs typeface="SimSun"/>
              </a:rPr>
              <a:t>智能医疗</a:t>
            </a:r>
            <a:endParaRPr sz="1400">
              <a:latin typeface="SimSun"/>
              <a:cs typeface="SimSun"/>
            </a:endParaRPr>
          </a:p>
        </p:txBody>
      </p:sp>
      <p:sp>
        <p:nvSpPr>
          <p:cNvPr id="25" name="object 25" descr=""/>
          <p:cNvSpPr txBox="1"/>
          <p:nvPr/>
        </p:nvSpPr>
        <p:spPr>
          <a:xfrm>
            <a:off x="4479383" y="1082341"/>
            <a:ext cx="73850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C000"/>
                </a:solidFill>
                <a:latin typeface="SimSun"/>
                <a:cs typeface="SimSun"/>
              </a:rPr>
              <a:t>智能制造</a:t>
            </a:r>
            <a:endParaRPr sz="1400">
              <a:latin typeface="SimSun"/>
              <a:cs typeface="SimSun"/>
            </a:endParaRPr>
          </a:p>
        </p:txBody>
      </p:sp>
      <p:sp>
        <p:nvSpPr>
          <p:cNvPr id="26" name="object 26" descr=""/>
          <p:cNvSpPr txBox="1"/>
          <p:nvPr/>
        </p:nvSpPr>
        <p:spPr>
          <a:xfrm>
            <a:off x="7560707" y="2440432"/>
            <a:ext cx="738505" cy="449580"/>
          </a:xfrm>
          <a:prstGeom prst="rect">
            <a:avLst/>
          </a:prstGeom>
        </p:spPr>
        <p:txBody>
          <a:bodyPr wrap="square" lIns="0" tIns="12065" rIns="0" bIns="0" rtlCol="0" vert="horz">
            <a:spAutoFit/>
          </a:bodyPr>
          <a:lstStyle/>
          <a:p>
            <a:pPr algn="ctr">
              <a:lnSpc>
                <a:spcPts val="1670"/>
              </a:lnSpc>
              <a:spcBef>
                <a:spcPts val="95"/>
              </a:spcBef>
            </a:pPr>
            <a:r>
              <a:rPr dirty="0" sz="1400" spc="-20">
                <a:solidFill>
                  <a:srgbClr val="FFFFFF"/>
                </a:solidFill>
                <a:latin typeface="SimSun"/>
                <a:cs typeface="SimSun"/>
              </a:rPr>
              <a:t>以及更多</a:t>
            </a:r>
            <a:endParaRPr sz="1400">
              <a:latin typeface="SimSun"/>
              <a:cs typeface="SimSun"/>
            </a:endParaRPr>
          </a:p>
          <a:p>
            <a:pPr algn="ctr">
              <a:lnSpc>
                <a:spcPts val="1670"/>
              </a:lnSpc>
            </a:pPr>
            <a:r>
              <a:rPr dirty="0" sz="1400" spc="-25" b="1">
                <a:solidFill>
                  <a:srgbClr val="FFFFFF"/>
                </a:solidFill>
                <a:latin typeface="Microsoft YaHei"/>
                <a:cs typeface="Microsoft YaHei"/>
              </a:rPr>
              <a:t>……</a:t>
            </a:r>
            <a:endParaRPr sz="1400">
              <a:latin typeface="Microsoft YaHei"/>
              <a:cs typeface="Microsoft YaHei"/>
            </a:endParaRPr>
          </a:p>
        </p:txBody>
      </p:sp>
      <p:sp>
        <p:nvSpPr>
          <p:cNvPr id="27" name="object 27" descr=""/>
          <p:cNvSpPr txBox="1"/>
          <p:nvPr/>
        </p:nvSpPr>
        <p:spPr>
          <a:xfrm>
            <a:off x="5893719" y="2617655"/>
            <a:ext cx="781685" cy="330835"/>
          </a:xfrm>
          <a:prstGeom prst="rect">
            <a:avLst/>
          </a:prstGeom>
        </p:spPr>
        <p:txBody>
          <a:bodyPr wrap="square" lIns="0" tIns="12700" rIns="0" bIns="0" rtlCol="0" vert="horz">
            <a:spAutoFit/>
          </a:bodyPr>
          <a:lstStyle/>
          <a:p>
            <a:pPr marL="131445" indent="-118745">
              <a:lnSpc>
                <a:spcPct val="100000"/>
              </a:lnSpc>
              <a:spcBef>
                <a:spcPts val="100"/>
              </a:spcBef>
              <a:buFont typeface="Arial MT"/>
              <a:buChar char="•"/>
              <a:tabLst>
                <a:tab pos="131445" algn="l"/>
              </a:tabLst>
            </a:pPr>
            <a:r>
              <a:rPr dirty="0" sz="1000" spc="-10">
                <a:solidFill>
                  <a:srgbClr val="FFFFFF"/>
                </a:solidFill>
                <a:latin typeface="Microsoft YaHei"/>
                <a:cs typeface="Microsoft YaHei"/>
              </a:rPr>
              <a:t>监控和控制</a:t>
            </a:r>
            <a:endParaRPr sz="1000">
              <a:latin typeface="Microsoft YaHei"/>
              <a:cs typeface="Microsoft YaHei"/>
            </a:endParaRPr>
          </a:p>
          <a:p>
            <a:pPr marL="131445" indent="-118745">
              <a:lnSpc>
                <a:spcPct val="100000"/>
              </a:lnSpc>
              <a:buFont typeface="Arial MT"/>
              <a:buChar char="•"/>
              <a:tabLst>
                <a:tab pos="131445" algn="l"/>
              </a:tabLst>
            </a:pPr>
            <a:r>
              <a:rPr dirty="0" sz="1000" spc="-10">
                <a:solidFill>
                  <a:srgbClr val="FFFFFF"/>
                </a:solidFill>
                <a:latin typeface="Microsoft YaHei"/>
                <a:cs typeface="Microsoft YaHei"/>
              </a:rPr>
              <a:t>故障自恢复</a:t>
            </a:r>
            <a:endParaRPr sz="1000">
              <a:latin typeface="Microsoft YaHei"/>
              <a:cs typeface="Microsoft YaHei"/>
            </a:endParaRPr>
          </a:p>
        </p:txBody>
      </p:sp>
      <p:sp>
        <p:nvSpPr>
          <p:cNvPr id="28" name="object 28" descr=""/>
          <p:cNvSpPr txBox="1"/>
          <p:nvPr/>
        </p:nvSpPr>
        <p:spPr>
          <a:xfrm>
            <a:off x="1027144" y="2544141"/>
            <a:ext cx="654685" cy="635635"/>
          </a:xfrm>
          <a:prstGeom prst="rect">
            <a:avLst/>
          </a:prstGeom>
        </p:spPr>
        <p:txBody>
          <a:bodyPr wrap="square" lIns="0" tIns="12700" rIns="0" bIns="0" rtlCol="0" vert="horz">
            <a:spAutoFit/>
          </a:bodyPr>
          <a:lstStyle/>
          <a:p>
            <a:pPr marL="131445" indent="-118745">
              <a:lnSpc>
                <a:spcPct val="100000"/>
              </a:lnSpc>
              <a:spcBef>
                <a:spcPts val="100"/>
              </a:spcBef>
              <a:buFont typeface="Arial MT"/>
              <a:buChar char="•"/>
              <a:tabLst>
                <a:tab pos="131445" algn="l"/>
              </a:tabLst>
            </a:pPr>
            <a:r>
              <a:rPr dirty="0" sz="1000" spc="-15">
                <a:solidFill>
                  <a:srgbClr val="FFFFFF"/>
                </a:solidFill>
                <a:latin typeface="Microsoft YaHei"/>
                <a:cs typeface="Microsoft YaHei"/>
              </a:rPr>
              <a:t>公共安全</a:t>
            </a:r>
            <a:endParaRPr sz="1000">
              <a:latin typeface="Microsoft YaHei"/>
              <a:cs typeface="Microsoft YaHei"/>
            </a:endParaRPr>
          </a:p>
          <a:p>
            <a:pPr marL="131445" indent="-118745">
              <a:lnSpc>
                <a:spcPct val="100000"/>
              </a:lnSpc>
              <a:buFont typeface="Arial MT"/>
              <a:buChar char="•"/>
              <a:tabLst>
                <a:tab pos="131445" algn="l"/>
              </a:tabLst>
            </a:pPr>
            <a:r>
              <a:rPr dirty="0" sz="1000" spc="-25">
                <a:solidFill>
                  <a:srgbClr val="FFFFFF"/>
                </a:solidFill>
                <a:latin typeface="Microsoft YaHei"/>
                <a:cs typeface="Microsoft YaHei"/>
              </a:rPr>
              <a:t>农林</a:t>
            </a:r>
            <a:endParaRPr sz="1000">
              <a:latin typeface="Microsoft YaHei"/>
              <a:cs typeface="Microsoft YaHei"/>
            </a:endParaRPr>
          </a:p>
          <a:p>
            <a:pPr marL="131445" indent="-118745">
              <a:lnSpc>
                <a:spcPct val="100000"/>
              </a:lnSpc>
              <a:buFont typeface="Arial MT"/>
              <a:buChar char="•"/>
              <a:tabLst>
                <a:tab pos="131445" algn="l"/>
              </a:tabLst>
            </a:pPr>
            <a:r>
              <a:rPr dirty="0" sz="1000" spc="-15">
                <a:solidFill>
                  <a:srgbClr val="FFFFFF"/>
                </a:solidFill>
                <a:latin typeface="Microsoft YaHei"/>
                <a:cs typeface="Microsoft YaHei"/>
              </a:rPr>
              <a:t>物流运输</a:t>
            </a:r>
            <a:endParaRPr sz="1000">
              <a:latin typeface="Microsoft YaHei"/>
              <a:cs typeface="Microsoft YaHei"/>
            </a:endParaRPr>
          </a:p>
          <a:p>
            <a:pPr marL="131445" indent="-118745">
              <a:lnSpc>
                <a:spcPct val="100000"/>
              </a:lnSpc>
              <a:buFont typeface="Arial MT"/>
              <a:buChar char="•"/>
              <a:tabLst>
                <a:tab pos="131445" algn="l"/>
              </a:tabLst>
            </a:pPr>
            <a:r>
              <a:rPr dirty="0" sz="1000" spc="-25">
                <a:solidFill>
                  <a:srgbClr val="FFFFFF"/>
                </a:solidFill>
                <a:latin typeface="Microsoft YaHei"/>
                <a:cs typeface="Microsoft YaHei"/>
              </a:rPr>
              <a:t>巡检</a:t>
            </a:r>
            <a:endParaRPr sz="1000">
              <a:latin typeface="Microsoft YaHei"/>
              <a:cs typeface="Microsoft YaHei"/>
            </a:endParaRPr>
          </a:p>
        </p:txBody>
      </p:sp>
      <p:sp>
        <p:nvSpPr>
          <p:cNvPr id="29" name="object 29" descr=""/>
          <p:cNvSpPr txBox="1"/>
          <p:nvPr/>
        </p:nvSpPr>
        <p:spPr>
          <a:xfrm>
            <a:off x="2741475" y="2632109"/>
            <a:ext cx="908685" cy="483234"/>
          </a:xfrm>
          <a:prstGeom prst="rect">
            <a:avLst/>
          </a:prstGeom>
        </p:spPr>
        <p:txBody>
          <a:bodyPr wrap="square" lIns="0" tIns="12700" rIns="0" bIns="0" rtlCol="0" vert="horz">
            <a:spAutoFit/>
          </a:bodyPr>
          <a:lstStyle/>
          <a:p>
            <a:pPr marL="131445" indent="-118745">
              <a:lnSpc>
                <a:spcPct val="100000"/>
              </a:lnSpc>
              <a:spcBef>
                <a:spcPts val="100"/>
              </a:spcBef>
              <a:buFont typeface="Arial MT"/>
              <a:buChar char="•"/>
              <a:tabLst>
                <a:tab pos="131445" algn="l"/>
              </a:tabLst>
            </a:pPr>
            <a:r>
              <a:rPr dirty="0" sz="1000" spc="-15">
                <a:solidFill>
                  <a:srgbClr val="FFFFFF"/>
                </a:solidFill>
                <a:latin typeface="Microsoft YaHei"/>
                <a:cs typeface="Microsoft YaHei"/>
              </a:rPr>
              <a:t>远程诊断</a:t>
            </a:r>
            <a:endParaRPr sz="1000">
              <a:latin typeface="Microsoft YaHei"/>
              <a:cs typeface="Microsoft YaHei"/>
            </a:endParaRPr>
          </a:p>
          <a:p>
            <a:pPr marL="130810" indent="-118110">
              <a:lnSpc>
                <a:spcPct val="100000"/>
              </a:lnSpc>
              <a:buFont typeface="Arial MT"/>
              <a:buChar char="•"/>
              <a:tabLst>
                <a:tab pos="130810" algn="l"/>
              </a:tabLst>
            </a:pPr>
            <a:r>
              <a:rPr dirty="0" sz="1000" spc="-15">
                <a:solidFill>
                  <a:srgbClr val="FFFFFF"/>
                </a:solidFill>
                <a:latin typeface="Microsoft YaHei"/>
                <a:cs typeface="Microsoft YaHei"/>
              </a:rPr>
              <a:t>远程手术</a:t>
            </a:r>
            <a:endParaRPr sz="1000">
              <a:latin typeface="Microsoft YaHei"/>
              <a:cs typeface="Microsoft YaHei"/>
            </a:endParaRPr>
          </a:p>
          <a:p>
            <a:pPr marL="131445" indent="-118745">
              <a:lnSpc>
                <a:spcPct val="100000"/>
              </a:lnSpc>
              <a:buFont typeface="Arial MT"/>
              <a:buChar char="•"/>
              <a:tabLst>
                <a:tab pos="131445" algn="l"/>
              </a:tabLst>
            </a:pPr>
            <a:r>
              <a:rPr dirty="0" sz="1000" spc="-10">
                <a:solidFill>
                  <a:srgbClr val="FFFFFF"/>
                </a:solidFill>
                <a:latin typeface="Microsoft YaHei"/>
                <a:cs typeface="Microsoft YaHei"/>
              </a:rPr>
              <a:t>远程医疗监控</a:t>
            </a:r>
            <a:endParaRPr sz="1000">
              <a:latin typeface="Microsoft YaHei"/>
              <a:cs typeface="Microsoft YaHei"/>
            </a:endParaRPr>
          </a:p>
        </p:txBody>
      </p:sp>
      <p:sp>
        <p:nvSpPr>
          <p:cNvPr id="30" name="object 30" descr=""/>
          <p:cNvSpPr txBox="1"/>
          <p:nvPr/>
        </p:nvSpPr>
        <p:spPr>
          <a:xfrm>
            <a:off x="4251981" y="2632109"/>
            <a:ext cx="1125220" cy="483234"/>
          </a:xfrm>
          <a:prstGeom prst="rect">
            <a:avLst/>
          </a:prstGeom>
        </p:spPr>
        <p:txBody>
          <a:bodyPr wrap="square" lIns="0" tIns="12700" rIns="0" bIns="0" rtlCol="0" vert="horz">
            <a:spAutoFit/>
          </a:bodyPr>
          <a:lstStyle/>
          <a:p>
            <a:pPr marL="93345" indent="-80645">
              <a:lnSpc>
                <a:spcPct val="100000"/>
              </a:lnSpc>
              <a:spcBef>
                <a:spcPts val="100"/>
              </a:spcBef>
              <a:buFont typeface="Arial MT"/>
              <a:buChar char="•"/>
              <a:tabLst>
                <a:tab pos="93345" algn="l"/>
              </a:tabLst>
            </a:pPr>
            <a:r>
              <a:rPr dirty="0" sz="1000" spc="-15">
                <a:solidFill>
                  <a:srgbClr val="FFFFFF"/>
                </a:solidFill>
                <a:latin typeface="Microsoft YaHei"/>
                <a:cs typeface="Microsoft YaHei"/>
              </a:rPr>
              <a:t>状态监控</a:t>
            </a:r>
            <a:endParaRPr sz="1000">
              <a:latin typeface="Microsoft YaHei"/>
              <a:cs typeface="Microsoft YaHei"/>
            </a:endParaRPr>
          </a:p>
          <a:p>
            <a:pPr marL="93345" indent="-80645">
              <a:lnSpc>
                <a:spcPct val="100000"/>
              </a:lnSpc>
              <a:buFont typeface="Arial MT"/>
              <a:buChar char="•"/>
              <a:tabLst>
                <a:tab pos="93345" algn="l"/>
              </a:tabLst>
            </a:pPr>
            <a:r>
              <a:rPr dirty="0" sz="1000" spc="-15">
                <a:solidFill>
                  <a:srgbClr val="FFFFFF"/>
                </a:solidFill>
                <a:latin typeface="Microsoft YaHei"/>
                <a:cs typeface="Microsoft YaHei"/>
              </a:rPr>
              <a:t>资产跟踪</a:t>
            </a:r>
            <a:endParaRPr sz="1000">
              <a:latin typeface="Microsoft YaHei"/>
              <a:cs typeface="Microsoft YaHei"/>
            </a:endParaRPr>
          </a:p>
          <a:p>
            <a:pPr marL="93345" indent="-80645">
              <a:lnSpc>
                <a:spcPct val="100000"/>
              </a:lnSpc>
              <a:buFont typeface="Arial MT"/>
              <a:buChar char="•"/>
              <a:tabLst>
                <a:tab pos="93345" algn="l"/>
              </a:tabLst>
            </a:pPr>
            <a:r>
              <a:rPr dirty="0" sz="1000" spc="-10">
                <a:solidFill>
                  <a:srgbClr val="FFFFFF"/>
                </a:solidFill>
                <a:latin typeface="Microsoft YaHei"/>
                <a:cs typeface="Microsoft YaHei"/>
              </a:rPr>
              <a:t>机器人通信与控制</a:t>
            </a:r>
            <a:endParaRPr sz="1000">
              <a:latin typeface="Microsoft YaHei"/>
              <a:cs typeface="Microsoft YaHei"/>
            </a:endParaRPr>
          </a:p>
        </p:txBody>
      </p:sp>
      <p:sp>
        <p:nvSpPr>
          <p:cNvPr id="31" name="object 31" descr=""/>
          <p:cNvSpPr txBox="1"/>
          <p:nvPr/>
        </p:nvSpPr>
        <p:spPr>
          <a:xfrm>
            <a:off x="614976" y="983184"/>
            <a:ext cx="260350" cy="381000"/>
          </a:xfrm>
          <a:prstGeom prst="rect">
            <a:avLst/>
          </a:prstGeom>
        </p:spPr>
        <p:txBody>
          <a:bodyPr wrap="square" lIns="0" tIns="22860" rIns="0" bIns="0" rtlCol="0" vert="vert">
            <a:spAutoFit/>
          </a:bodyPr>
          <a:lstStyle/>
          <a:p>
            <a:pPr marL="12700">
              <a:lnSpc>
                <a:spcPct val="100000"/>
              </a:lnSpc>
              <a:spcBef>
                <a:spcPts val="180"/>
              </a:spcBef>
            </a:pPr>
            <a:r>
              <a:rPr dirty="0" sz="1400" spc="-35" b="1">
                <a:solidFill>
                  <a:srgbClr val="FFFF00"/>
                </a:solidFill>
                <a:latin typeface="Microsoft YaHei"/>
                <a:cs typeface="Microsoft YaHei"/>
              </a:rPr>
              <a:t>案例</a:t>
            </a:r>
            <a:endParaRPr sz="1400">
              <a:latin typeface="Microsoft YaHei"/>
              <a:cs typeface="Microsoft YaHei"/>
            </a:endParaRPr>
          </a:p>
        </p:txBody>
      </p:sp>
      <p:grpSp>
        <p:nvGrpSpPr>
          <p:cNvPr id="32" name="object 32" descr=""/>
          <p:cNvGrpSpPr/>
          <p:nvPr/>
        </p:nvGrpSpPr>
        <p:grpSpPr>
          <a:xfrm>
            <a:off x="998362" y="1505819"/>
            <a:ext cx="6118225" cy="2922270"/>
            <a:chOff x="998362" y="1505819"/>
            <a:chExt cx="6118225" cy="2922270"/>
          </a:xfrm>
        </p:grpSpPr>
        <p:pic>
          <p:nvPicPr>
            <p:cNvPr id="33" name="object 33"/>
            <p:cNvPicPr/>
            <p:nvPr/>
          </p:nvPicPr>
          <p:blipFill>
            <a:blip r:embed="rId11" cstate="print"/>
            <a:stretch>
              <a:fillRect/>
            </a:stretch>
          </p:blipFill>
          <p:spPr>
            <a:xfrm>
              <a:off x="4402353" y="1505819"/>
              <a:ext cx="835291" cy="835361"/>
            </a:xfrm>
            <a:prstGeom prst="rect">
              <a:avLst/>
            </a:prstGeom>
          </p:spPr>
        </p:pic>
        <p:sp>
          <p:nvSpPr>
            <p:cNvPr id="34" name="object 34" descr=""/>
            <p:cNvSpPr/>
            <p:nvPr/>
          </p:nvSpPr>
          <p:spPr>
            <a:xfrm>
              <a:off x="3021450" y="1638355"/>
              <a:ext cx="567055" cy="636270"/>
            </a:xfrm>
            <a:custGeom>
              <a:avLst/>
              <a:gdLst/>
              <a:ahLst/>
              <a:cxnLst/>
              <a:rect l="l" t="t" r="r" b="b"/>
              <a:pathLst>
                <a:path w="567054" h="636269">
                  <a:moveTo>
                    <a:pt x="349643" y="411149"/>
                  </a:moveTo>
                  <a:lnTo>
                    <a:pt x="205562" y="411149"/>
                  </a:lnTo>
                  <a:lnTo>
                    <a:pt x="242062" y="414997"/>
                  </a:lnTo>
                  <a:lnTo>
                    <a:pt x="278561" y="416915"/>
                  </a:lnTo>
                  <a:lnTo>
                    <a:pt x="313143" y="414997"/>
                  </a:lnTo>
                  <a:lnTo>
                    <a:pt x="349643" y="411149"/>
                  </a:lnTo>
                  <a:close/>
                </a:path>
                <a:path w="567054" h="636269">
                  <a:moveTo>
                    <a:pt x="80683" y="65366"/>
                  </a:moveTo>
                  <a:lnTo>
                    <a:pt x="107581" y="184442"/>
                  </a:lnTo>
                  <a:lnTo>
                    <a:pt x="111429" y="213258"/>
                  </a:lnTo>
                  <a:lnTo>
                    <a:pt x="115265" y="240157"/>
                  </a:lnTo>
                  <a:lnTo>
                    <a:pt x="122948" y="267055"/>
                  </a:lnTo>
                  <a:lnTo>
                    <a:pt x="128714" y="292036"/>
                  </a:lnTo>
                  <a:lnTo>
                    <a:pt x="142163" y="324700"/>
                  </a:lnTo>
                  <a:lnTo>
                    <a:pt x="157530" y="355434"/>
                  </a:lnTo>
                  <a:lnTo>
                    <a:pt x="174815" y="382333"/>
                  </a:lnTo>
                  <a:lnTo>
                    <a:pt x="194030" y="405384"/>
                  </a:lnTo>
                  <a:lnTo>
                    <a:pt x="199796" y="411149"/>
                  </a:lnTo>
                  <a:lnTo>
                    <a:pt x="357327" y="411149"/>
                  </a:lnTo>
                  <a:lnTo>
                    <a:pt x="361162" y="405384"/>
                  </a:lnTo>
                  <a:lnTo>
                    <a:pt x="372694" y="393865"/>
                  </a:lnTo>
                  <a:lnTo>
                    <a:pt x="382295" y="380415"/>
                  </a:lnTo>
                  <a:lnTo>
                    <a:pt x="384775" y="376567"/>
                  </a:lnTo>
                  <a:lnTo>
                    <a:pt x="278561" y="376567"/>
                  </a:lnTo>
                  <a:lnTo>
                    <a:pt x="219011" y="372732"/>
                  </a:lnTo>
                  <a:lnTo>
                    <a:pt x="176745" y="307403"/>
                  </a:lnTo>
                  <a:lnTo>
                    <a:pt x="159448" y="251688"/>
                  </a:lnTo>
                  <a:lnTo>
                    <a:pt x="147929" y="192125"/>
                  </a:lnTo>
                  <a:lnTo>
                    <a:pt x="145999" y="159461"/>
                  </a:lnTo>
                  <a:lnTo>
                    <a:pt x="445442" y="159461"/>
                  </a:lnTo>
                  <a:lnTo>
                    <a:pt x="454400" y="111429"/>
                  </a:lnTo>
                  <a:lnTo>
                    <a:pt x="151765" y="111429"/>
                  </a:lnTo>
                  <a:lnTo>
                    <a:pt x="119113" y="67246"/>
                  </a:lnTo>
                  <a:lnTo>
                    <a:pt x="99898" y="67246"/>
                  </a:lnTo>
                  <a:lnTo>
                    <a:pt x="80683" y="65366"/>
                  </a:lnTo>
                  <a:close/>
                </a:path>
                <a:path w="567054" h="636269">
                  <a:moveTo>
                    <a:pt x="442216" y="176758"/>
                  </a:moveTo>
                  <a:lnTo>
                    <a:pt x="401510" y="176758"/>
                  </a:lnTo>
                  <a:lnTo>
                    <a:pt x="395744" y="230555"/>
                  </a:lnTo>
                  <a:lnTo>
                    <a:pt x="391909" y="253606"/>
                  </a:lnTo>
                  <a:lnTo>
                    <a:pt x="376542" y="305485"/>
                  </a:lnTo>
                  <a:lnTo>
                    <a:pt x="351561" y="351586"/>
                  </a:lnTo>
                  <a:lnTo>
                    <a:pt x="278561" y="376567"/>
                  </a:lnTo>
                  <a:lnTo>
                    <a:pt x="384775" y="376567"/>
                  </a:lnTo>
                  <a:lnTo>
                    <a:pt x="413042" y="322770"/>
                  </a:lnTo>
                  <a:lnTo>
                    <a:pt x="430326" y="263220"/>
                  </a:lnTo>
                  <a:lnTo>
                    <a:pt x="438010" y="207492"/>
                  </a:lnTo>
                  <a:lnTo>
                    <a:pt x="441858" y="178676"/>
                  </a:lnTo>
                  <a:lnTo>
                    <a:pt x="442216" y="176758"/>
                  </a:lnTo>
                  <a:close/>
                </a:path>
                <a:path w="567054" h="636269">
                  <a:moveTo>
                    <a:pt x="376542" y="213258"/>
                  </a:moveTo>
                  <a:lnTo>
                    <a:pt x="176745" y="213258"/>
                  </a:lnTo>
                  <a:lnTo>
                    <a:pt x="176745" y="222872"/>
                  </a:lnTo>
                  <a:lnTo>
                    <a:pt x="180581" y="272821"/>
                  </a:lnTo>
                  <a:lnTo>
                    <a:pt x="182499" y="280504"/>
                  </a:lnTo>
                  <a:lnTo>
                    <a:pt x="267030" y="280504"/>
                  </a:lnTo>
                  <a:lnTo>
                    <a:pt x="268960" y="274739"/>
                  </a:lnTo>
                  <a:lnTo>
                    <a:pt x="272505" y="263220"/>
                  </a:lnTo>
                  <a:lnTo>
                    <a:pt x="197878" y="263220"/>
                  </a:lnTo>
                  <a:lnTo>
                    <a:pt x="194030" y="230555"/>
                  </a:lnTo>
                  <a:lnTo>
                    <a:pt x="375950" y="230555"/>
                  </a:lnTo>
                  <a:lnTo>
                    <a:pt x="376542" y="222872"/>
                  </a:lnTo>
                  <a:lnTo>
                    <a:pt x="376542" y="213258"/>
                  </a:lnTo>
                  <a:close/>
                </a:path>
                <a:path w="567054" h="636269">
                  <a:moveTo>
                    <a:pt x="294946" y="249770"/>
                  </a:moveTo>
                  <a:lnTo>
                    <a:pt x="276644" y="249770"/>
                  </a:lnTo>
                  <a:lnTo>
                    <a:pt x="284327" y="274739"/>
                  </a:lnTo>
                  <a:lnTo>
                    <a:pt x="286207" y="280504"/>
                  </a:lnTo>
                  <a:lnTo>
                    <a:pt x="372694" y="280504"/>
                  </a:lnTo>
                  <a:lnTo>
                    <a:pt x="372694" y="272821"/>
                  </a:lnTo>
                  <a:lnTo>
                    <a:pt x="373433" y="263220"/>
                  </a:lnTo>
                  <a:lnTo>
                    <a:pt x="299694" y="263220"/>
                  </a:lnTo>
                  <a:lnTo>
                    <a:pt x="294946" y="249770"/>
                  </a:lnTo>
                  <a:close/>
                </a:path>
                <a:path w="567054" h="636269">
                  <a:moveTo>
                    <a:pt x="288163" y="230555"/>
                  </a:moveTo>
                  <a:lnTo>
                    <a:pt x="265112" y="230555"/>
                  </a:lnTo>
                  <a:lnTo>
                    <a:pt x="255511" y="263220"/>
                  </a:lnTo>
                  <a:lnTo>
                    <a:pt x="272505" y="263220"/>
                  </a:lnTo>
                  <a:lnTo>
                    <a:pt x="276644" y="249770"/>
                  </a:lnTo>
                  <a:lnTo>
                    <a:pt x="294946" y="249770"/>
                  </a:lnTo>
                  <a:lnTo>
                    <a:pt x="288163" y="230555"/>
                  </a:lnTo>
                  <a:close/>
                </a:path>
                <a:path w="567054" h="636269">
                  <a:moveTo>
                    <a:pt x="375950" y="230555"/>
                  </a:moveTo>
                  <a:lnTo>
                    <a:pt x="359244" y="230555"/>
                  </a:lnTo>
                  <a:lnTo>
                    <a:pt x="357327" y="263220"/>
                  </a:lnTo>
                  <a:lnTo>
                    <a:pt x="373433" y="263220"/>
                  </a:lnTo>
                  <a:lnTo>
                    <a:pt x="375950" y="230555"/>
                  </a:lnTo>
                  <a:close/>
                </a:path>
                <a:path w="567054" h="636269">
                  <a:moveTo>
                    <a:pt x="445442" y="159461"/>
                  </a:moveTo>
                  <a:lnTo>
                    <a:pt x="145999" y="159461"/>
                  </a:lnTo>
                  <a:lnTo>
                    <a:pt x="163296" y="161391"/>
                  </a:lnTo>
                  <a:lnTo>
                    <a:pt x="182499" y="165227"/>
                  </a:lnTo>
                  <a:lnTo>
                    <a:pt x="219011" y="176758"/>
                  </a:lnTo>
                  <a:lnTo>
                    <a:pt x="265112" y="188290"/>
                  </a:lnTo>
                  <a:lnTo>
                    <a:pt x="286207" y="192125"/>
                  </a:lnTo>
                  <a:lnTo>
                    <a:pt x="309295" y="196011"/>
                  </a:lnTo>
                  <a:lnTo>
                    <a:pt x="332346" y="196011"/>
                  </a:lnTo>
                  <a:lnTo>
                    <a:pt x="355409" y="194043"/>
                  </a:lnTo>
                  <a:lnTo>
                    <a:pt x="378460" y="186359"/>
                  </a:lnTo>
                  <a:lnTo>
                    <a:pt x="401510" y="176758"/>
                  </a:lnTo>
                  <a:lnTo>
                    <a:pt x="442216" y="176758"/>
                  </a:lnTo>
                  <a:lnTo>
                    <a:pt x="445442" y="159461"/>
                  </a:lnTo>
                  <a:close/>
                </a:path>
                <a:path w="567054" h="636269">
                  <a:moveTo>
                    <a:pt x="345795" y="0"/>
                  </a:moveTo>
                  <a:lnTo>
                    <a:pt x="326593" y="1917"/>
                  </a:lnTo>
                  <a:lnTo>
                    <a:pt x="288163" y="9601"/>
                  </a:lnTo>
                  <a:lnTo>
                    <a:pt x="230530" y="32664"/>
                  </a:lnTo>
                  <a:lnTo>
                    <a:pt x="194030" y="48031"/>
                  </a:lnTo>
                  <a:lnTo>
                    <a:pt x="174815" y="55714"/>
                  </a:lnTo>
                  <a:lnTo>
                    <a:pt x="155613" y="61480"/>
                  </a:lnTo>
                  <a:lnTo>
                    <a:pt x="151765" y="111429"/>
                  </a:lnTo>
                  <a:lnTo>
                    <a:pt x="454400" y="111429"/>
                  </a:lnTo>
                  <a:lnTo>
                    <a:pt x="462991" y="65366"/>
                  </a:lnTo>
                  <a:lnTo>
                    <a:pt x="443776" y="44183"/>
                  </a:lnTo>
                  <a:lnTo>
                    <a:pt x="424561" y="26898"/>
                  </a:lnTo>
                  <a:lnTo>
                    <a:pt x="403428" y="15367"/>
                  </a:lnTo>
                  <a:lnTo>
                    <a:pt x="384225" y="7683"/>
                  </a:lnTo>
                  <a:lnTo>
                    <a:pt x="365010" y="1917"/>
                  </a:lnTo>
                  <a:lnTo>
                    <a:pt x="345795" y="0"/>
                  </a:lnTo>
                  <a:close/>
                </a:path>
                <a:path w="567054" h="636269">
                  <a:moveTo>
                    <a:pt x="211328" y="441896"/>
                  </a:moveTo>
                  <a:lnTo>
                    <a:pt x="57632" y="459181"/>
                  </a:lnTo>
                  <a:lnTo>
                    <a:pt x="28816" y="497611"/>
                  </a:lnTo>
                  <a:lnTo>
                    <a:pt x="9601" y="539877"/>
                  </a:lnTo>
                  <a:lnTo>
                    <a:pt x="1917" y="587908"/>
                  </a:lnTo>
                  <a:lnTo>
                    <a:pt x="0" y="610971"/>
                  </a:lnTo>
                  <a:lnTo>
                    <a:pt x="1917" y="635939"/>
                  </a:lnTo>
                  <a:lnTo>
                    <a:pt x="272796" y="635939"/>
                  </a:lnTo>
                  <a:lnTo>
                    <a:pt x="211328" y="441896"/>
                  </a:lnTo>
                  <a:close/>
                </a:path>
                <a:path w="567054" h="636269">
                  <a:moveTo>
                    <a:pt x="353479" y="441896"/>
                  </a:moveTo>
                  <a:lnTo>
                    <a:pt x="293928" y="635939"/>
                  </a:lnTo>
                  <a:lnTo>
                    <a:pt x="566724" y="635939"/>
                  </a:lnTo>
                  <a:lnTo>
                    <a:pt x="566724" y="610971"/>
                  </a:lnTo>
                  <a:lnTo>
                    <a:pt x="565765" y="599440"/>
                  </a:lnTo>
                  <a:lnTo>
                    <a:pt x="409194" y="599440"/>
                  </a:lnTo>
                  <a:lnTo>
                    <a:pt x="409194" y="566775"/>
                  </a:lnTo>
                  <a:lnTo>
                    <a:pt x="376542" y="566775"/>
                  </a:lnTo>
                  <a:lnTo>
                    <a:pt x="376542" y="532193"/>
                  </a:lnTo>
                  <a:lnTo>
                    <a:pt x="409194" y="532193"/>
                  </a:lnTo>
                  <a:lnTo>
                    <a:pt x="409194" y="499529"/>
                  </a:lnTo>
                  <a:lnTo>
                    <a:pt x="538954" y="499529"/>
                  </a:lnTo>
                  <a:lnTo>
                    <a:pt x="537908" y="497611"/>
                  </a:lnTo>
                  <a:lnTo>
                    <a:pt x="526389" y="478396"/>
                  </a:lnTo>
                  <a:lnTo>
                    <a:pt x="509092" y="459181"/>
                  </a:lnTo>
                  <a:lnTo>
                    <a:pt x="353479" y="441896"/>
                  </a:lnTo>
                  <a:close/>
                </a:path>
                <a:path w="567054" h="636269">
                  <a:moveTo>
                    <a:pt x="538954" y="499529"/>
                  </a:moveTo>
                  <a:lnTo>
                    <a:pt x="443776" y="499529"/>
                  </a:lnTo>
                  <a:lnTo>
                    <a:pt x="443776" y="532193"/>
                  </a:lnTo>
                  <a:lnTo>
                    <a:pt x="476440" y="532193"/>
                  </a:lnTo>
                  <a:lnTo>
                    <a:pt x="476440" y="566775"/>
                  </a:lnTo>
                  <a:lnTo>
                    <a:pt x="443776" y="566775"/>
                  </a:lnTo>
                  <a:lnTo>
                    <a:pt x="443776" y="599440"/>
                  </a:lnTo>
                  <a:lnTo>
                    <a:pt x="565765" y="599440"/>
                  </a:lnTo>
                  <a:lnTo>
                    <a:pt x="564807" y="587908"/>
                  </a:lnTo>
                  <a:lnTo>
                    <a:pt x="562889" y="562927"/>
                  </a:lnTo>
                  <a:lnTo>
                    <a:pt x="557123" y="539877"/>
                  </a:lnTo>
                  <a:lnTo>
                    <a:pt x="549440" y="518744"/>
                  </a:lnTo>
                  <a:lnTo>
                    <a:pt x="538954" y="499529"/>
                  </a:lnTo>
                  <a:close/>
                </a:path>
              </a:pathLst>
            </a:custGeom>
            <a:solidFill>
              <a:srgbClr val="FFFFFF"/>
            </a:solidFill>
          </p:spPr>
          <p:txBody>
            <a:bodyPr wrap="square" lIns="0" tIns="0" rIns="0" bIns="0" rtlCol="0"/>
            <a:lstStyle/>
            <a:p/>
          </p:txBody>
        </p:sp>
        <p:sp>
          <p:nvSpPr>
            <p:cNvPr id="35" name="object 35" descr=""/>
            <p:cNvSpPr/>
            <p:nvPr/>
          </p:nvSpPr>
          <p:spPr>
            <a:xfrm>
              <a:off x="3102133" y="1638355"/>
              <a:ext cx="382905" cy="417195"/>
            </a:xfrm>
            <a:custGeom>
              <a:avLst/>
              <a:gdLst/>
              <a:ahLst/>
              <a:cxnLst/>
              <a:rect l="l" t="t" r="r" b="b"/>
              <a:pathLst>
                <a:path w="382904" h="417194">
                  <a:moveTo>
                    <a:pt x="26898" y="184442"/>
                  </a:moveTo>
                  <a:lnTo>
                    <a:pt x="0" y="65366"/>
                  </a:lnTo>
                  <a:lnTo>
                    <a:pt x="19215" y="67246"/>
                  </a:lnTo>
                  <a:lnTo>
                    <a:pt x="38430" y="67246"/>
                  </a:lnTo>
                  <a:lnTo>
                    <a:pt x="71081" y="111429"/>
                  </a:lnTo>
                  <a:lnTo>
                    <a:pt x="74929" y="61480"/>
                  </a:lnTo>
                  <a:lnTo>
                    <a:pt x="94132" y="55714"/>
                  </a:lnTo>
                  <a:lnTo>
                    <a:pt x="113347" y="48031"/>
                  </a:lnTo>
                  <a:lnTo>
                    <a:pt x="149847" y="32664"/>
                  </a:lnTo>
                  <a:lnTo>
                    <a:pt x="188277" y="17284"/>
                  </a:lnTo>
                  <a:lnTo>
                    <a:pt x="207479" y="9601"/>
                  </a:lnTo>
                  <a:lnTo>
                    <a:pt x="226694" y="5765"/>
                  </a:lnTo>
                  <a:lnTo>
                    <a:pt x="245910" y="1917"/>
                  </a:lnTo>
                  <a:lnTo>
                    <a:pt x="265112" y="0"/>
                  </a:lnTo>
                  <a:lnTo>
                    <a:pt x="284327" y="1917"/>
                  </a:lnTo>
                  <a:lnTo>
                    <a:pt x="303542" y="7683"/>
                  </a:lnTo>
                  <a:lnTo>
                    <a:pt x="322745" y="15367"/>
                  </a:lnTo>
                  <a:lnTo>
                    <a:pt x="343877" y="26898"/>
                  </a:lnTo>
                  <a:lnTo>
                    <a:pt x="363092" y="44183"/>
                  </a:lnTo>
                  <a:lnTo>
                    <a:pt x="382308" y="65366"/>
                  </a:lnTo>
                  <a:lnTo>
                    <a:pt x="361175" y="178676"/>
                  </a:lnTo>
                  <a:lnTo>
                    <a:pt x="357327" y="207492"/>
                  </a:lnTo>
                  <a:lnTo>
                    <a:pt x="349643" y="263220"/>
                  </a:lnTo>
                  <a:lnTo>
                    <a:pt x="332358" y="322770"/>
                  </a:lnTo>
                  <a:lnTo>
                    <a:pt x="301612" y="380415"/>
                  </a:lnTo>
                  <a:lnTo>
                    <a:pt x="280479" y="405384"/>
                  </a:lnTo>
                  <a:lnTo>
                    <a:pt x="276644" y="411149"/>
                  </a:lnTo>
                  <a:lnTo>
                    <a:pt x="268960" y="411149"/>
                  </a:lnTo>
                  <a:lnTo>
                    <a:pt x="232460" y="414997"/>
                  </a:lnTo>
                  <a:lnTo>
                    <a:pt x="197878" y="416915"/>
                  </a:lnTo>
                  <a:lnTo>
                    <a:pt x="161378" y="414997"/>
                  </a:lnTo>
                  <a:lnTo>
                    <a:pt x="124879" y="411149"/>
                  </a:lnTo>
                  <a:lnTo>
                    <a:pt x="119113" y="411149"/>
                  </a:lnTo>
                  <a:lnTo>
                    <a:pt x="94132" y="382333"/>
                  </a:lnTo>
                  <a:lnTo>
                    <a:pt x="61480" y="324700"/>
                  </a:lnTo>
                  <a:lnTo>
                    <a:pt x="42265" y="267055"/>
                  </a:lnTo>
                  <a:lnTo>
                    <a:pt x="34582" y="240157"/>
                  </a:lnTo>
                  <a:lnTo>
                    <a:pt x="30746" y="213258"/>
                  </a:lnTo>
                  <a:lnTo>
                    <a:pt x="26898" y="184442"/>
                  </a:lnTo>
                  <a:close/>
                </a:path>
              </a:pathLst>
            </a:custGeom>
            <a:ln w="25400">
              <a:solidFill>
                <a:srgbClr val="000000"/>
              </a:solidFill>
            </a:ln>
          </p:spPr>
          <p:txBody>
            <a:bodyPr wrap="square" lIns="0" tIns="0" rIns="0" bIns="0" rtlCol="0"/>
            <a:lstStyle/>
            <a:p/>
          </p:txBody>
        </p:sp>
        <p:pic>
          <p:nvPicPr>
            <p:cNvPr id="36" name="object 36" descr=""/>
            <p:cNvPicPr/>
            <p:nvPr/>
          </p:nvPicPr>
          <p:blipFill>
            <a:blip r:embed="rId12" cstate="print"/>
            <a:stretch>
              <a:fillRect/>
            </a:stretch>
          </p:blipFill>
          <p:spPr>
            <a:xfrm>
              <a:off x="3185496" y="1838914"/>
              <a:ext cx="225196" cy="92646"/>
            </a:xfrm>
            <a:prstGeom prst="rect">
              <a:avLst/>
            </a:prstGeom>
          </p:spPr>
        </p:pic>
        <p:sp>
          <p:nvSpPr>
            <p:cNvPr id="37" name="object 37" descr=""/>
            <p:cNvSpPr/>
            <p:nvPr/>
          </p:nvSpPr>
          <p:spPr>
            <a:xfrm>
              <a:off x="3021450" y="1797817"/>
              <a:ext cx="567055" cy="476884"/>
            </a:xfrm>
            <a:custGeom>
              <a:avLst/>
              <a:gdLst/>
              <a:ahLst/>
              <a:cxnLst/>
              <a:rect l="l" t="t" r="r" b="b"/>
              <a:pathLst>
                <a:path w="567054" h="476885">
                  <a:moveTo>
                    <a:pt x="57632" y="299719"/>
                  </a:moveTo>
                  <a:lnTo>
                    <a:pt x="211328" y="282435"/>
                  </a:lnTo>
                  <a:lnTo>
                    <a:pt x="272796" y="476478"/>
                  </a:lnTo>
                  <a:lnTo>
                    <a:pt x="1917" y="476478"/>
                  </a:lnTo>
                  <a:lnTo>
                    <a:pt x="0" y="451510"/>
                  </a:lnTo>
                  <a:lnTo>
                    <a:pt x="1917" y="428447"/>
                  </a:lnTo>
                  <a:lnTo>
                    <a:pt x="5765" y="403466"/>
                  </a:lnTo>
                  <a:lnTo>
                    <a:pt x="9601" y="380415"/>
                  </a:lnTo>
                  <a:lnTo>
                    <a:pt x="19215" y="359282"/>
                  </a:lnTo>
                  <a:lnTo>
                    <a:pt x="28816" y="338150"/>
                  </a:lnTo>
                  <a:lnTo>
                    <a:pt x="42265" y="318935"/>
                  </a:lnTo>
                  <a:lnTo>
                    <a:pt x="57632" y="299719"/>
                  </a:lnTo>
                  <a:close/>
                </a:path>
                <a:path w="567054" h="476885">
                  <a:moveTo>
                    <a:pt x="409194" y="340067"/>
                  </a:moveTo>
                  <a:lnTo>
                    <a:pt x="443776" y="340067"/>
                  </a:lnTo>
                  <a:lnTo>
                    <a:pt x="443776" y="372732"/>
                  </a:lnTo>
                  <a:lnTo>
                    <a:pt x="476440" y="372732"/>
                  </a:lnTo>
                  <a:lnTo>
                    <a:pt x="476440" y="407314"/>
                  </a:lnTo>
                  <a:lnTo>
                    <a:pt x="443776" y="407314"/>
                  </a:lnTo>
                  <a:lnTo>
                    <a:pt x="443776" y="439978"/>
                  </a:lnTo>
                  <a:lnTo>
                    <a:pt x="409194" y="439978"/>
                  </a:lnTo>
                  <a:lnTo>
                    <a:pt x="409194" y="407314"/>
                  </a:lnTo>
                  <a:lnTo>
                    <a:pt x="376542" y="407314"/>
                  </a:lnTo>
                  <a:lnTo>
                    <a:pt x="376542" y="372732"/>
                  </a:lnTo>
                  <a:lnTo>
                    <a:pt x="409194" y="372732"/>
                  </a:lnTo>
                  <a:lnTo>
                    <a:pt x="409194" y="340067"/>
                  </a:lnTo>
                  <a:close/>
                </a:path>
                <a:path w="567054" h="476885">
                  <a:moveTo>
                    <a:pt x="353479" y="282435"/>
                  </a:moveTo>
                  <a:lnTo>
                    <a:pt x="293928" y="476478"/>
                  </a:lnTo>
                  <a:lnTo>
                    <a:pt x="566724" y="476478"/>
                  </a:lnTo>
                  <a:lnTo>
                    <a:pt x="566724" y="451510"/>
                  </a:lnTo>
                  <a:lnTo>
                    <a:pt x="564807" y="428447"/>
                  </a:lnTo>
                  <a:lnTo>
                    <a:pt x="562889" y="403466"/>
                  </a:lnTo>
                  <a:lnTo>
                    <a:pt x="549440" y="359282"/>
                  </a:lnTo>
                  <a:lnTo>
                    <a:pt x="526389" y="318935"/>
                  </a:lnTo>
                  <a:lnTo>
                    <a:pt x="509092" y="299719"/>
                  </a:lnTo>
                  <a:lnTo>
                    <a:pt x="353479" y="282435"/>
                  </a:lnTo>
                  <a:close/>
                </a:path>
                <a:path w="567054" h="476885">
                  <a:moveTo>
                    <a:pt x="219011" y="17297"/>
                  </a:moveTo>
                  <a:lnTo>
                    <a:pt x="182499" y="5765"/>
                  </a:lnTo>
                  <a:lnTo>
                    <a:pt x="163296" y="1930"/>
                  </a:lnTo>
                  <a:lnTo>
                    <a:pt x="145999" y="0"/>
                  </a:lnTo>
                  <a:lnTo>
                    <a:pt x="147929" y="32664"/>
                  </a:lnTo>
                  <a:lnTo>
                    <a:pt x="159448" y="92227"/>
                  </a:lnTo>
                  <a:lnTo>
                    <a:pt x="176745" y="147942"/>
                  </a:lnTo>
                  <a:lnTo>
                    <a:pt x="190195" y="170992"/>
                  </a:lnTo>
                  <a:lnTo>
                    <a:pt x="203631" y="194055"/>
                  </a:lnTo>
                  <a:lnTo>
                    <a:pt x="219011" y="213271"/>
                  </a:lnTo>
                  <a:lnTo>
                    <a:pt x="247827" y="215188"/>
                  </a:lnTo>
                  <a:lnTo>
                    <a:pt x="278561" y="217106"/>
                  </a:lnTo>
                  <a:lnTo>
                    <a:pt x="307378" y="215188"/>
                  </a:lnTo>
                  <a:lnTo>
                    <a:pt x="336194" y="213271"/>
                  </a:lnTo>
                  <a:lnTo>
                    <a:pt x="365010" y="170992"/>
                  </a:lnTo>
                  <a:lnTo>
                    <a:pt x="386143" y="119125"/>
                  </a:lnTo>
                  <a:lnTo>
                    <a:pt x="395744" y="71094"/>
                  </a:lnTo>
                  <a:lnTo>
                    <a:pt x="401510" y="17297"/>
                  </a:lnTo>
                  <a:lnTo>
                    <a:pt x="378460" y="26898"/>
                  </a:lnTo>
                  <a:lnTo>
                    <a:pt x="355409" y="34582"/>
                  </a:lnTo>
                  <a:lnTo>
                    <a:pt x="332346" y="36550"/>
                  </a:lnTo>
                  <a:lnTo>
                    <a:pt x="309295" y="36550"/>
                  </a:lnTo>
                  <a:lnTo>
                    <a:pt x="286207" y="32664"/>
                  </a:lnTo>
                  <a:lnTo>
                    <a:pt x="265112" y="28828"/>
                  </a:lnTo>
                  <a:lnTo>
                    <a:pt x="219011" y="17297"/>
                  </a:lnTo>
                  <a:close/>
                </a:path>
              </a:pathLst>
            </a:custGeom>
            <a:ln w="25400">
              <a:solidFill>
                <a:srgbClr val="000000"/>
              </a:solidFill>
            </a:ln>
          </p:spPr>
          <p:txBody>
            <a:bodyPr wrap="square" lIns="0" tIns="0" rIns="0" bIns="0" rtlCol="0"/>
            <a:lstStyle/>
            <a:p/>
          </p:txBody>
        </p:sp>
        <p:pic>
          <p:nvPicPr>
            <p:cNvPr id="38" name="object 38"/>
            <p:cNvPicPr/>
            <p:nvPr/>
          </p:nvPicPr>
          <p:blipFill>
            <a:blip r:embed="rId13" cstate="print"/>
            <a:stretch>
              <a:fillRect/>
            </a:stretch>
          </p:blipFill>
          <p:spPr>
            <a:xfrm>
              <a:off x="998362" y="3352310"/>
              <a:ext cx="1452649" cy="1070337"/>
            </a:xfrm>
            <a:prstGeom prst="rect">
              <a:avLst/>
            </a:prstGeom>
          </p:spPr>
        </p:pic>
        <p:pic>
          <p:nvPicPr>
            <p:cNvPr id="39" name="object 39"/>
            <p:cNvPicPr/>
            <p:nvPr/>
          </p:nvPicPr>
          <p:blipFill>
            <a:blip r:embed="rId14" cstate="print"/>
            <a:stretch>
              <a:fillRect/>
            </a:stretch>
          </p:blipFill>
          <p:spPr>
            <a:xfrm>
              <a:off x="2556195" y="3373754"/>
              <a:ext cx="1452648" cy="1054239"/>
            </a:xfrm>
            <a:prstGeom prst="rect">
              <a:avLst/>
            </a:prstGeom>
          </p:spPr>
        </p:pic>
        <p:pic>
          <p:nvPicPr>
            <p:cNvPr id="40" name="object 40"/>
            <p:cNvPicPr/>
            <p:nvPr/>
          </p:nvPicPr>
          <p:blipFill>
            <a:blip r:embed="rId15" cstate="print"/>
            <a:stretch>
              <a:fillRect/>
            </a:stretch>
          </p:blipFill>
          <p:spPr>
            <a:xfrm>
              <a:off x="4082199" y="3373425"/>
              <a:ext cx="1421825" cy="1049222"/>
            </a:xfrm>
            <a:prstGeom prst="rect">
              <a:avLst/>
            </a:prstGeom>
          </p:spPr>
        </p:pic>
        <p:pic>
          <p:nvPicPr>
            <p:cNvPr id="41" name="object 41"/>
            <p:cNvPicPr/>
            <p:nvPr/>
          </p:nvPicPr>
          <p:blipFill>
            <a:blip r:embed="rId16" cstate="print"/>
            <a:stretch>
              <a:fillRect/>
            </a:stretch>
          </p:blipFill>
          <p:spPr>
            <a:xfrm>
              <a:off x="5630296" y="3391726"/>
              <a:ext cx="1486275" cy="1036293"/>
            </a:xfrm>
            <a:prstGeom prst="rect">
              <a:avLst/>
            </a:prstGeom>
          </p:spPr>
        </p:pic>
      </p:grpSp>
      <p:sp>
        <p:nvSpPr>
          <p:cNvPr id="42" name="object 42" descr=""/>
          <p:cNvSpPr txBox="1"/>
          <p:nvPr/>
        </p:nvSpPr>
        <p:spPr>
          <a:xfrm>
            <a:off x="1912148" y="4699001"/>
            <a:ext cx="5361940" cy="238760"/>
          </a:xfrm>
          <a:prstGeom prst="rect">
            <a:avLst/>
          </a:prstGeom>
        </p:spPr>
        <p:txBody>
          <a:bodyPr wrap="square" lIns="0" tIns="12065" rIns="0" bIns="0" rtlCol="0" vert="horz">
            <a:spAutoFit/>
          </a:bodyPr>
          <a:lstStyle/>
          <a:p>
            <a:pPr marL="12700">
              <a:lnSpc>
                <a:spcPct val="100000"/>
              </a:lnSpc>
              <a:spcBef>
                <a:spcPts val="95"/>
              </a:spcBef>
            </a:pPr>
            <a:r>
              <a:rPr dirty="0" sz="1400" spc="-10">
                <a:solidFill>
                  <a:srgbClr val="FFFFFF"/>
                </a:solidFill>
                <a:latin typeface="SimSun"/>
                <a:cs typeface="SimSun"/>
              </a:rPr>
              <a:t>4G</a:t>
            </a:r>
            <a:r>
              <a:rPr dirty="0" sz="1400" spc="-20">
                <a:solidFill>
                  <a:srgbClr val="FFFFFF"/>
                </a:solidFill>
                <a:latin typeface="SimSun"/>
                <a:cs typeface="SimSun"/>
              </a:rPr>
              <a:t>有了移动支付，共享单车。</a:t>
            </a:r>
            <a:r>
              <a:rPr dirty="0" sz="1400" spc="-10">
                <a:solidFill>
                  <a:srgbClr val="FFFFFF"/>
                </a:solidFill>
                <a:latin typeface="SimSun"/>
                <a:cs typeface="SimSun"/>
              </a:rPr>
              <a:t>5G</a:t>
            </a:r>
            <a:r>
              <a:rPr dirty="0" sz="1400" spc="-25">
                <a:solidFill>
                  <a:srgbClr val="FFFFFF"/>
                </a:solidFill>
                <a:latin typeface="SimSun"/>
                <a:cs typeface="SimSun"/>
              </a:rPr>
              <a:t>会有什么新的应用，我们拭目以待。</a:t>
            </a:r>
            <a:endParaRPr sz="1400">
              <a:latin typeface="SimSun"/>
              <a:cs typeface="SimSu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524540" y="859028"/>
            <a:ext cx="2768600" cy="4049395"/>
          </a:xfrm>
          <a:prstGeom prst="rect">
            <a:avLst/>
          </a:prstGeom>
        </p:spPr>
        <p:txBody>
          <a:bodyPr wrap="square" lIns="0" tIns="12700" rIns="0" bIns="0" rtlCol="0" vert="horz">
            <a:spAutoFit/>
          </a:bodyPr>
          <a:lstStyle/>
          <a:p>
            <a:pPr marL="12700">
              <a:lnSpc>
                <a:spcPct val="100000"/>
              </a:lnSpc>
              <a:spcBef>
                <a:spcPts val="100"/>
              </a:spcBef>
            </a:pPr>
            <a:r>
              <a:rPr dirty="0" sz="1800" spc="-5">
                <a:solidFill>
                  <a:srgbClr val="FF0000"/>
                </a:solidFill>
                <a:latin typeface="SimSun"/>
                <a:cs typeface="SimSun"/>
              </a:rPr>
              <a:t>面向生活：医、食、住、行</a:t>
            </a:r>
            <a:endParaRPr sz="1800">
              <a:latin typeface="SimSun"/>
              <a:cs typeface="SimSun"/>
            </a:endParaRPr>
          </a:p>
          <a:p>
            <a:pPr marL="1054100" indent="-584200">
              <a:lnSpc>
                <a:spcPct val="100000"/>
              </a:lnSpc>
              <a:spcBef>
                <a:spcPts val="1355"/>
              </a:spcBef>
              <a:buSzPct val="94444"/>
              <a:buAutoNum type="arabicPlain"/>
              <a:tabLst>
                <a:tab pos="1054100" algn="l"/>
              </a:tabLst>
            </a:pPr>
            <a:r>
              <a:rPr dirty="0" sz="1800" spc="-15">
                <a:solidFill>
                  <a:srgbClr val="00B050"/>
                </a:solidFill>
                <a:latin typeface="SimSun"/>
                <a:cs typeface="SimSun"/>
              </a:rPr>
              <a:t>健康服务</a:t>
            </a:r>
            <a:endParaRPr sz="1800">
              <a:latin typeface="SimSun"/>
              <a:cs typeface="SimSun"/>
            </a:endParaRPr>
          </a:p>
          <a:p>
            <a:pPr marL="927100">
              <a:lnSpc>
                <a:spcPct val="100000"/>
              </a:lnSpc>
            </a:pPr>
            <a:r>
              <a:rPr dirty="0" sz="1800" spc="-10">
                <a:latin typeface="SimSun"/>
                <a:cs typeface="SimSun"/>
              </a:rPr>
              <a:t>①远程医疗</a:t>
            </a:r>
            <a:endParaRPr sz="1800">
              <a:latin typeface="SimSun"/>
              <a:cs typeface="SimSun"/>
            </a:endParaRPr>
          </a:p>
          <a:p>
            <a:pPr marL="927100">
              <a:lnSpc>
                <a:spcPct val="100000"/>
              </a:lnSpc>
              <a:spcBef>
                <a:spcPts val="85"/>
              </a:spcBef>
            </a:pPr>
            <a:r>
              <a:rPr dirty="0" sz="1800" spc="-10">
                <a:latin typeface="SimSun"/>
                <a:cs typeface="SimSun"/>
              </a:rPr>
              <a:t>②居家养老</a:t>
            </a:r>
            <a:endParaRPr sz="1800">
              <a:latin typeface="SimSun"/>
              <a:cs typeface="SimSun"/>
            </a:endParaRPr>
          </a:p>
          <a:p>
            <a:pPr marL="927100">
              <a:lnSpc>
                <a:spcPts val="2120"/>
              </a:lnSpc>
            </a:pPr>
            <a:r>
              <a:rPr dirty="0" sz="1800" spc="-10">
                <a:latin typeface="SimSun"/>
                <a:cs typeface="SimSun"/>
              </a:rPr>
              <a:t>③虚拟医生</a:t>
            </a:r>
            <a:endParaRPr sz="1800">
              <a:latin typeface="SimSun"/>
              <a:cs typeface="SimSun"/>
            </a:endParaRPr>
          </a:p>
          <a:p>
            <a:pPr marL="1054100" indent="-584200">
              <a:lnSpc>
                <a:spcPts val="2120"/>
              </a:lnSpc>
              <a:buSzPct val="94444"/>
              <a:buAutoNum type="arabicPlain" startAt="2"/>
              <a:tabLst>
                <a:tab pos="1054100" algn="l"/>
              </a:tabLst>
            </a:pPr>
            <a:r>
              <a:rPr dirty="0" sz="1800" spc="-15">
                <a:solidFill>
                  <a:srgbClr val="00B050"/>
                </a:solidFill>
                <a:latin typeface="SimSun"/>
                <a:cs typeface="SimSun"/>
              </a:rPr>
              <a:t>饮食服务</a:t>
            </a:r>
            <a:endParaRPr sz="1800">
              <a:latin typeface="SimSun"/>
              <a:cs typeface="SimSun"/>
            </a:endParaRPr>
          </a:p>
          <a:p>
            <a:pPr marL="927100">
              <a:lnSpc>
                <a:spcPct val="100000"/>
              </a:lnSpc>
            </a:pPr>
            <a:r>
              <a:rPr dirty="0" sz="1800" spc="-10">
                <a:latin typeface="SimSun"/>
                <a:cs typeface="SimSun"/>
              </a:rPr>
              <a:t>①食品安全</a:t>
            </a:r>
            <a:endParaRPr sz="1800">
              <a:latin typeface="SimSun"/>
              <a:cs typeface="SimSun"/>
            </a:endParaRPr>
          </a:p>
          <a:p>
            <a:pPr marL="927100">
              <a:lnSpc>
                <a:spcPts val="2120"/>
              </a:lnSpc>
              <a:spcBef>
                <a:spcPts val="85"/>
              </a:spcBef>
            </a:pPr>
            <a:r>
              <a:rPr dirty="0" sz="1800" spc="-10">
                <a:latin typeface="SimSun"/>
                <a:cs typeface="SimSun"/>
              </a:rPr>
              <a:t>②营养顾问</a:t>
            </a:r>
            <a:endParaRPr sz="1800">
              <a:latin typeface="SimSun"/>
              <a:cs typeface="SimSun"/>
            </a:endParaRPr>
          </a:p>
          <a:p>
            <a:pPr marL="1054100" indent="-584200">
              <a:lnSpc>
                <a:spcPts val="2120"/>
              </a:lnSpc>
              <a:buSzPct val="94444"/>
              <a:buAutoNum type="arabicPlain" startAt="3"/>
              <a:tabLst>
                <a:tab pos="1054100" algn="l"/>
              </a:tabLst>
            </a:pPr>
            <a:r>
              <a:rPr dirty="0" sz="1800" spc="-15">
                <a:solidFill>
                  <a:srgbClr val="00B050"/>
                </a:solidFill>
                <a:latin typeface="SimSun"/>
                <a:cs typeface="SimSun"/>
              </a:rPr>
              <a:t>家居服务</a:t>
            </a:r>
            <a:endParaRPr sz="1800">
              <a:latin typeface="SimSun"/>
              <a:cs typeface="SimSun"/>
            </a:endParaRPr>
          </a:p>
          <a:p>
            <a:pPr marL="927100">
              <a:lnSpc>
                <a:spcPct val="100000"/>
              </a:lnSpc>
            </a:pPr>
            <a:r>
              <a:rPr dirty="0" sz="1800" spc="-10">
                <a:latin typeface="SimSun"/>
                <a:cs typeface="SimSun"/>
              </a:rPr>
              <a:t>①环境监测</a:t>
            </a:r>
            <a:endParaRPr sz="1800">
              <a:latin typeface="SimSun"/>
              <a:cs typeface="SimSun"/>
            </a:endParaRPr>
          </a:p>
          <a:p>
            <a:pPr marL="927100">
              <a:lnSpc>
                <a:spcPts val="2120"/>
              </a:lnSpc>
              <a:spcBef>
                <a:spcPts val="85"/>
              </a:spcBef>
            </a:pPr>
            <a:r>
              <a:rPr dirty="0" sz="1800" spc="-10">
                <a:latin typeface="SimSun"/>
                <a:cs typeface="SimSun"/>
              </a:rPr>
              <a:t>②服务机器人</a:t>
            </a:r>
            <a:endParaRPr sz="1800">
              <a:latin typeface="SimSun"/>
              <a:cs typeface="SimSun"/>
            </a:endParaRPr>
          </a:p>
          <a:p>
            <a:pPr marL="1054100" indent="-584200">
              <a:lnSpc>
                <a:spcPts val="2120"/>
              </a:lnSpc>
              <a:buSzPct val="94444"/>
              <a:buAutoNum type="arabicPlain" startAt="4"/>
              <a:tabLst>
                <a:tab pos="1054100" algn="l"/>
              </a:tabLst>
            </a:pPr>
            <a:r>
              <a:rPr dirty="0" sz="1800" spc="-15">
                <a:solidFill>
                  <a:srgbClr val="00B050"/>
                </a:solidFill>
                <a:latin typeface="SimSun"/>
                <a:cs typeface="SimSun"/>
              </a:rPr>
              <a:t>出行服务</a:t>
            </a:r>
            <a:endParaRPr sz="1800">
              <a:latin typeface="SimSun"/>
              <a:cs typeface="SimSun"/>
            </a:endParaRPr>
          </a:p>
          <a:p>
            <a:pPr marL="927100">
              <a:lnSpc>
                <a:spcPct val="100000"/>
              </a:lnSpc>
            </a:pPr>
            <a:r>
              <a:rPr dirty="0" sz="1800" spc="-10">
                <a:latin typeface="SimSun"/>
                <a:cs typeface="SimSun"/>
              </a:rPr>
              <a:t>①旅行顾问</a:t>
            </a:r>
            <a:endParaRPr sz="1800">
              <a:latin typeface="SimSun"/>
              <a:cs typeface="SimSun"/>
            </a:endParaRPr>
          </a:p>
          <a:p>
            <a:pPr marL="927100">
              <a:lnSpc>
                <a:spcPct val="100000"/>
              </a:lnSpc>
              <a:spcBef>
                <a:spcPts val="85"/>
              </a:spcBef>
            </a:pPr>
            <a:r>
              <a:rPr dirty="0" sz="1800" spc="-10">
                <a:latin typeface="SimSun"/>
                <a:cs typeface="SimSun"/>
              </a:rPr>
              <a:t>②自动驾驶</a:t>
            </a:r>
            <a:endParaRPr sz="1800">
              <a:latin typeface="SimSun"/>
              <a:cs typeface="SimSun"/>
            </a:endParaRPr>
          </a:p>
        </p:txBody>
      </p:sp>
      <p:sp>
        <p:nvSpPr>
          <p:cNvPr id="3" name="object 3" descr=""/>
          <p:cNvSpPr/>
          <p:nvPr/>
        </p:nvSpPr>
        <p:spPr>
          <a:xfrm>
            <a:off x="553800" y="1237651"/>
            <a:ext cx="3175635" cy="3723004"/>
          </a:xfrm>
          <a:custGeom>
            <a:avLst/>
            <a:gdLst/>
            <a:ahLst/>
            <a:cxnLst/>
            <a:rect l="l" t="t" r="r" b="b"/>
            <a:pathLst>
              <a:path w="3175635" h="3723004">
                <a:moveTo>
                  <a:pt x="0" y="130314"/>
                </a:moveTo>
                <a:lnTo>
                  <a:pt x="10240" y="79590"/>
                </a:lnTo>
                <a:lnTo>
                  <a:pt x="38168" y="38168"/>
                </a:lnTo>
                <a:lnTo>
                  <a:pt x="79590" y="10240"/>
                </a:lnTo>
                <a:lnTo>
                  <a:pt x="130314" y="0"/>
                </a:lnTo>
                <a:lnTo>
                  <a:pt x="3044888" y="0"/>
                </a:lnTo>
                <a:lnTo>
                  <a:pt x="3095612" y="10240"/>
                </a:lnTo>
                <a:lnTo>
                  <a:pt x="3137034" y="38168"/>
                </a:lnTo>
                <a:lnTo>
                  <a:pt x="3164962" y="79590"/>
                </a:lnTo>
                <a:lnTo>
                  <a:pt x="3175203" y="130314"/>
                </a:lnTo>
                <a:lnTo>
                  <a:pt x="3175203" y="3592093"/>
                </a:lnTo>
                <a:lnTo>
                  <a:pt x="3164962" y="3642817"/>
                </a:lnTo>
                <a:lnTo>
                  <a:pt x="3137034" y="3684239"/>
                </a:lnTo>
                <a:lnTo>
                  <a:pt x="3095612" y="3712167"/>
                </a:lnTo>
                <a:lnTo>
                  <a:pt x="3044888" y="3722408"/>
                </a:lnTo>
                <a:lnTo>
                  <a:pt x="130314" y="3722408"/>
                </a:lnTo>
                <a:lnTo>
                  <a:pt x="79590" y="3712167"/>
                </a:lnTo>
                <a:lnTo>
                  <a:pt x="38168" y="3684239"/>
                </a:lnTo>
                <a:lnTo>
                  <a:pt x="10240" y="3642817"/>
                </a:lnTo>
                <a:lnTo>
                  <a:pt x="0" y="3592093"/>
                </a:lnTo>
                <a:lnTo>
                  <a:pt x="0" y="130314"/>
                </a:lnTo>
                <a:close/>
              </a:path>
            </a:pathLst>
          </a:custGeom>
          <a:ln w="28575">
            <a:solidFill>
              <a:srgbClr val="0C318F"/>
            </a:solidFill>
          </a:ln>
        </p:spPr>
        <p:txBody>
          <a:bodyPr wrap="square" lIns="0" tIns="0" rIns="0" bIns="0" rtlCol="0"/>
          <a:lstStyle/>
          <a:p/>
        </p:txBody>
      </p:sp>
      <p:sp>
        <p:nvSpPr>
          <p:cNvPr id="4" name="object 4" descr=""/>
          <p:cNvSpPr txBox="1"/>
          <p:nvPr/>
        </p:nvSpPr>
        <p:spPr>
          <a:xfrm>
            <a:off x="5226141" y="935228"/>
            <a:ext cx="2997200" cy="3775075"/>
          </a:xfrm>
          <a:prstGeom prst="rect">
            <a:avLst/>
          </a:prstGeom>
        </p:spPr>
        <p:txBody>
          <a:bodyPr wrap="square" lIns="0" tIns="12700" rIns="0" bIns="0" rtlCol="0" vert="horz">
            <a:spAutoFit/>
          </a:bodyPr>
          <a:lstStyle/>
          <a:p>
            <a:pPr marL="12700">
              <a:lnSpc>
                <a:spcPct val="100000"/>
              </a:lnSpc>
              <a:spcBef>
                <a:spcPts val="100"/>
              </a:spcBef>
            </a:pPr>
            <a:r>
              <a:rPr dirty="0" sz="1800" spc="-5">
                <a:solidFill>
                  <a:srgbClr val="FF0000"/>
                </a:solidFill>
                <a:latin typeface="SimSun"/>
                <a:cs typeface="SimSun"/>
              </a:rPr>
              <a:t>面向产业：工、农、服、防</a:t>
            </a:r>
            <a:endParaRPr sz="1800">
              <a:latin typeface="SimSun"/>
              <a:cs typeface="SimSun"/>
            </a:endParaRPr>
          </a:p>
          <a:p>
            <a:pPr marL="469900">
              <a:lnSpc>
                <a:spcPct val="100000"/>
              </a:lnSpc>
              <a:spcBef>
                <a:spcPts val="1355"/>
              </a:spcBef>
            </a:pPr>
            <a:r>
              <a:rPr dirty="0" sz="1800">
                <a:solidFill>
                  <a:srgbClr val="00B050"/>
                </a:solidFill>
                <a:latin typeface="SimSun"/>
                <a:cs typeface="SimSun"/>
              </a:rPr>
              <a:t>（</a:t>
            </a:r>
            <a:r>
              <a:rPr dirty="0" sz="1800">
                <a:solidFill>
                  <a:srgbClr val="00B050"/>
                </a:solidFill>
                <a:latin typeface="Arial MT"/>
                <a:cs typeface="Arial MT"/>
              </a:rPr>
              <a:t>1</a:t>
            </a:r>
            <a:r>
              <a:rPr dirty="0" sz="1800">
                <a:solidFill>
                  <a:srgbClr val="00B050"/>
                </a:solidFill>
                <a:latin typeface="SimSun"/>
                <a:cs typeface="SimSun"/>
              </a:rPr>
              <a:t>）工业</a:t>
            </a:r>
            <a:r>
              <a:rPr dirty="0" sz="1800" spc="-25">
                <a:solidFill>
                  <a:srgbClr val="00B050"/>
                </a:solidFill>
                <a:latin typeface="Arial MT"/>
                <a:cs typeface="Arial MT"/>
              </a:rPr>
              <a:t>4.0</a:t>
            </a:r>
            <a:endParaRPr sz="1800">
              <a:latin typeface="Arial MT"/>
              <a:cs typeface="Arial MT"/>
            </a:endParaRPr>
          </a:p>
          <a:p>
            <a:pPr marL="927100">
              <a:lnSpc>
                <a:spcPct val="100000"/>
              </a:lnSpc>
            </a:pPr>
            <a:r>
              <a:rPr dirty="0" sz="1800">
                <a:latin typeface="SimSun"/>
                <a:cs typeface="SimSun"/>
              </a:rPr>
              <a:t>①工业物（互）</a:t>
            </a:r>
            <a:r>
              <a:rPr dirty="0" sz="1800" spc="-25">
                <a:latin typeface="SimSun"/>
                <a:cs typeface="SimSun"/>
              </a:rPr>
              <a:t>联网</a:t>
            </a:r>
            <a:endParaRPr sz="1800">
              <a:latin typeface="SimSun"/>
              <a:cs typeface="SimSun"/>
            </a:endParaRPr>
          </a:p>
          <a:p>
            <a:pPr marL="927100">
              <a:lnSpc>
                <a:spcPts val="2120"/>
              </a:lnSpc>
              <a:spcBef>
                <a:spcPts val="85"/>
              </a:spcBef>
            </a:pPr>
            <a:r>
              <a:rPr dirty="0" sz="1800" spc="-10">
                <a:latin typeface="SimSun"/>
                <a:cs typeface="SimSun"/>
              </a:rPr>
              <a:t>②工厂智能化</a:t>
            </a:r>
            <a:endParaRPr sz="1800">
              <a:latin typeface="SimSun"/>
              <a:cs typeface="SimSun"/>
            </a:endParaRPr>
          </a:p>
          <a:p>
            <a:pPr marL="1054100" indent="-584200">
              <a:lnSpc>
                <a:spcPts val="2120"/>
              </a:lnSpc>
              <a:buSzPct val="94444"/>
              <a:buAutoNum type="arabicPlain" startAt="2"/>
              <a:tabLst>
                <a:tab pos="1054100" algn="l"/>
              </a:tabLst>
            </a:pPr>
            <a:r>
              <a:rPr dirty="0" sz="1800" spc="-15">
                <a:solidFill>
                  <a:srgbClr val="00B050"/>
                </a:solidFill>
                <a:latin typeface="SimSun"/>
                <a:cs typeface="SimSun"/>
              </a:rPr>
              <a:t>智慧农业</a:t>
            </a:r>
            <a:endParaRPr sz="1800">
              <a:latin typeface="SimSun"/>
              <a:cs typeface="SimSun"/>
            </a:endParaRPr>
          </a:p>
          <a:p>
            <a:pPr marL="927100">
              <a:lnSpc>
                <a:spcPct val="100000"/>
              </a:lnSpc>
            </a:pPr>
            <a:r>
              <a:rPr dirty="0" sz="1800" spc="-10">
                <a:latin typeface="SimSun"/>
                <a:cs typeface="SimSun"/>
              </a:rPr>
              <a:t>①农业智能化</a:t>
            </a:r>
            <a:endParaRPr sz="1800">
              <a:latin typeface="SimSun"/>
              <a:cs typeface="SimSun"/>
            </a:endParaRPr>
          </a:p>
          <a:p>
            <a:pPr marL="927100">
              <a:lnSpc>
                <a:spcPts val="2120"/>
              </a:lnSpc>
              <a:spcBef>
                <a:spcPts val="85"/>
              </a:spcBef>
            </a:pPr>
            <a:r>
              <a:rPr dirty="0" sz="1800" spc="-10">
                <a:latin typeface="SimSun"/>
                <a:cs typeface="SimSun"/>
              </a:rPr>
              <a:t>②新农村建设</a:t>
            </a:r>
            <a:endParaRPr sz="1800">
              <a:latin typeface="SimSun"/>
              <a:cs typeface="SimSun"/>
            </a:endParaRPr>
          </a:p>
          <a:p>
            <a:pPr marL="1054100" indent="-584200">
              <a:lnSpc>
                <a:spcPts val="2120"/>
              </a:lnSpc>
              <a:buSzPct val="94444"/>
              <a:buAutoNum type="arabicPlain" startAt="3"/>
              <a:tabLst>
                <a:tab pos="1054100" algn="l"/>
              </a:tabLst>
            </a:pPr>
            <a:r>
              <a:rPr dirty="0" sz="1800" spc="-15">
                <a:solidFill>
                  <a:srgbClr val="00B050"/>
                </a:solidFill>
                <a:latin typeface="SimSun"/>
                <a:cs typeface="SimSun"/>
              </a:rPr>
              <a:t>智慧服务</a:t>
            </a:r>
            <a:endParaRPr sz="1800">
              <a:latin typeface="SimSun"/>
              <a:cs typeface="SimSun"/>
            </a:endParaRPr>
          </a:p>
          <a:p>
            <a:pPr marL="927100">
              <a:lnSpc>
                <a:spcPct val="100000"/>
              </a:lnSpc>
            </a:pPr>
            <a:r>
              <a:rPr dirty="0" sz="1800" spc="-10">
                <a:latin typeface="SimSun"/>
                <a:cs typeface="SimSun"/>
              </a:rPr>
              <a:t>①创新金融服务</a:t>
            </a:r>
            <a:endParaRPr sz="1800">
              <a:latin typeface="SimSun"/>
              <a:cs typeface="SimSun"/>
            </a:endParaRPr>
          </a:p>
          <a:p>
            <a:pPr marL="927100">
              <a:lnSpc>
                <a:spcPts val="2120"/>
              </a:lnSpc>
              <a:spcBef>
                <a:spcPts val="85"/>
              </a:spcBef>
            </a:pPr>
            <a:r>
              <a:rPr dirty="0" sz="1800" spc="-10">
                <a:latin typeface="SimSun"/>
                <a:cs typeface="SimSun"/>
              </a:rPr>
              <a:t>②新型交易平台</a:t>
            </a:r>
            <a:endParaRPr sz="1800">
              <a:latin typeface="SimSun"/>
              <a:cs typeface="SimSun"/>
            </a:endParaRPr>
          </a:p>
          <a:p>
            <a:pPr marL="1054100" indent="-584200">
              <a:lnSpc>
                <a:spcPts val="2120"/>
              </a:lnSpc>
              <a:buSzPct val="94444"/>
              <a:buAutoNum type="arabicPlain" startAt="4"/>
              <a:tabLst>
                <a:tab pos="1054100" algn="l"/>
              </a:tabLst>
            </a:pPr>
            <a:r>
              <a:rPr dirty="0" sz="1800" spc="-15">
                <a:solidFill>
                  <a:srgbClr val="00B050"/>
                </a:solidFill>
                <a:latin typeface="SimSun"/>
                <a:cs typeface="SimSun"/>
              </a:rPr>
              <a:t>智慧安防</a:t>
            </a:r>
            <a:endParaRPr sz="1800">
              <a:latin typeface="SimSun"/>
              <a:cs typeface="SimSun"/>
            </a:endParaRPr>
          </a:p>
          <a:p>
            <a:pPr marL="927100">
              <a:lnSpc>
                <a:spcPct val="100000"/>
              </a:lnSpc>
              <a:spcBef>
                <a:spcPts val="85"/>
              </a:spcBef>
            </a:pPr>
            <a:r>
              <a:rPr dirty="0" sz="1800" spc="-10">
                <a:latin typeface="SimSun"/>
                <a:cs typeface="SimSun"/>
              </a:rPr>
              <a:t>①智慧公共安全</a:t>
            </a:r>
            <a:endParaRPr sz="1800">
              <a:latin typeface="SimSun"/>
              <a:cs typeface="SimSun"/>
            </a:endParaRPr>
          </a:p>
          <a:p>
            <a:pPr marL="927100">
              <a:lnSpc>
                <a:spcPct val="100000"/>
              </a:lnSpc>
            </a:pPr>
            <a:r>
              <a:rPr dirty="0" sz="1800" spc="-10">
                <a:latin typeface="SimSun"/>
                <a:cs typeface="SimSun"/>
              </a:rPr>
              <a:t>②全域国防安全</a:t>
            </a:r>
            <a:endParaRPr sz="1800">
              <a:latin typeface="SimSun"/>
              <a:cs typeface="SimSun"/>
            </a:endParaRPr>
          </a:p>
        </p:txBody>
      </p:sp>
      <p:grpSp>
        <p:nvGrpSpPr>
          <p:cNvPr id="5" name="object 5" descr=""/>
          <p:cNvGrpSpPr/>
          <p:nvPr/>
        </p:nvGrpSpPr>
        <p:grpSpPr>
          <a:xfrm>
            <a:off x="2832353" y="1262066"/>
            <a:ext cx="5662930" cy="3762375"/>
            <a:chOff x="2832353" y="1262066"/>
            <a:chExt cx="5662930" cy="3762375"/>
          </a:xfrm>
        </p:grpSpPr>
        <p:sp>
          <p:nvSpPr>
            <p:cNvPr id="6" name="object 6" descr=""/>
            <p:cNvSpPr/>
            <p:nvPr/>
          </p:nvSpPr>
          <p:spPr>
            <a:xfrm>
              <a:off x="5105400" y="1276353"/>
              <a:ext cx="3375660" cy="3733800"/>
            </a:xfrm>
            <a:custGeom>
              <a:avLst/>
              <a:gdLst/>
              <a:ahLst/>
              <a:cxnLst/>
              <a:rect l="l" t="t" r="r" b="b"/>
              <a:pathLst>
                <a:path w="3375659" h="3733800">
                  <a:moveTo>
                    <a:pt x="0" y="138531"/>
                  </a:moveTo>
                  <a:lnTo>
                    <a:pt x="7062" y="94746"/>
                  </a:lnTo>
                  <a:lnTo>
                    <a:pt x="26729" y="56718"/>
                  </a:lnTo>
                  <a:lnTo>
                    <a:pt x="56718" y="26729"/>
                  </a:lnTo>
                  <a:lnTo>
                    <a:pt x="94746" y="7062"/>
                  </a:lnTo>
                  <a:lnTo>
                    <a:pt x="138531" y="0"/>
                  </a:lnTo>
                  <a:lnTo>
                    <a:pt x="3237064" y="0"/>
                  </a:lnTo>
                  <a:lnTo>
                    <a:pt x="3280850" y="7062"/>
                  </a:lnTo>
                  <a:lnTo>
                    <a:pt x="3318878" y="26729"/>
                  </a:lnTo>
                  <a:lnTo>
                    <a:pt x="3348866" y="56718"/>
                  </a:lnTo>
                  <a:lnTo>
                    <a:pt x="3368533" y="94746"/>
                  </a:lnTo>
                  <a:lnTo>
                    <a:pt x="3375596" y="138531"/>
                  </a:lnTo>
                  <a:lnTo>
                    <a:pt x="3375596" y="3595255"/>
                  </a:lnTo>
                  <a:lnTo>
                    <a:pt x="3368533" y="3639047"/>
                  </a:lnTo>
                  <a:lnTo>
                    <a:pt x="3348866" y="3677078"/>
                  </a:lnTo>
                  <a:lnTo>
                    <a:pt x="3318878" y="3707069"/>
                  </a:lnTo>
                  <a:lnTo>
                    <a:pt x="3280850" y="3726737"/>
                  </a:lnTo>
                  <a:lnTo>
                    <a:pt x="3237064" y="3733800"/>
                  </a:lnTo>
                  <a:lnTo>
                    <a:pt x="138531" y="3733800"/>
                  </a:lnTo>
                  <a:lnTo>
                    <a:pt x="94746" y="3726737"/>
                  </a:lnTo>
                  <a:lnTo>
                    <a:pt x="56718" y="3707069"/>
                  </a:lnTo>
                  <a:lnTo>
                    <a:pt x="26729" y="3677078"/>
                  </a:lnTo>
                  <a:lnTo>
                    <a:pt x="7062" y="3639047"/>
                  </a:lnTo>
                  <a:lnTo>
                    <a:pt x="0" y="3595255"/>
                  </a:lnTo>
                  <a:lnTo>
                    <a:pt x="0" y="138531"/>
                  </a:lnTo>
                  <a:close/>
                </a:path>
              </a:pathLst>
            </a:custGeom>
            <a:ln w="28575">
              <a:solidFill>
                <a:srgbClr val="0C318F"/>
              </a:solidFill>
            </a:ln>
          </p:spPr>
          <p:txBody>
            <a:bodyPr wrap="square" lIns="0" tIns="0" rIns="0" bIns="0" rtlCol="0"/>
            <a:lstStyle/>
            <a:p/>
          </p:txBody>
        </p:sp>
        <p:pic>
          <p:nvPicPr>
            <p:cNvPr id="7" name="object 7"/>
            <p:cNvPicPr/>
            <p:nvPr/>
          </p:nvPicPr>
          <p:blipFill>
            <a:blip r:embed="rId2" cstate="print"/>
            <a:stretch>
              <a:fillRect/>
            </a:stretch>
          </p:blipFill>
          <p:spPr>
            <a:xfrm>
              <a:off x="2832353" y="1874519"/>
              <a:ext cx="2992373" cy="2120645"/>
            </a:xfrm>
            <a:prstGeom prst="rect">
              <a:avLst/>
            </a:prstGeom>
          </p:spPr>
        </p:pic>
      </p:grpSp>
      <p:sp>
        <p:nvSpPr>
          <p:cNvPr id="8" name="object 8"/>
          <p:cNvSpPr txBox="1">
            <a:spLocks noGrp="1"/>
          </p:cNvSpPr>
          <p:nvPr>
            <p:ph type="title"/>
          </p:nvPr>
        </p:nvSpPr>
        <p:spPr>
          <a:xfrm>
            <a:off x="2266346" y="199136"/>
            <a:ext cx="4610735" cy="513080"/>
          </a:xfrm>
          <a:prstGeom prst="rect"/>
        </p:spPr>
        <p:txBody>
          <a:bodyPr wrap="square" lIns="0" tIns="12065" rIns="0" bIns="0" rtlCol="0" vert="horz">
            <a:spAutoFit/>
          </a:bodyPr>
          <a:lstStyle/>
          <a:p>
            <a:pPr marL="12700">
              <a:lnSpc>
                <a:spcPct val="100000"/>
              </a:lnSpc>
              <a:spcBef>
                <a:spcPts val="95"/>
              </a:spcBef>
            </a:pPr>
            <a:r>
              <a:rPr dirty="0" spc="-35"/>
              <a:t>什么是</a:t>
            </a:r>
            <a:r>
              <a:rPr dirty="0" spc="-30">
                <a:latin typeface="Times New Roman"/>
                <a:cs typeface="Times New Roman"/>
              </a:rPr>
              <a:t>5G</a:t>
            </a:r>
            <a:r>
              <a:rPr dirty="0" spc="-45"/>
              <a:t>物联网杀手应用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8800" y="199136"/>
            <a:ext cx="54241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关键应用案例：全自动驾驶</a:t>
            </a:r>
          </a:p>
        </p:txBody>
      </p:sp>
      <p:grpSp>
        <p:nvGrpSpPr>
          <p:cNvPr id="3" name="object 3" descr=""/>
          <p:cNvGrpSpPr/>
          <p:nvPr/>
        </p:nvGrpSpPr>
        <p:grpSpPr>
          <a:xfrm>
            <a:off x="-12700" y="806450"/>
            <a:ext cx="9169400" cy="4349750"/>
            <a:chOff x="-12700" y="806450"/>
            <a:chExt cx="9169400" cy="4349750"/>
          </a:xfrm>
        </p:grpSpPr>
        <p:sp>
          <p:nvSpPr>
            <p:cNvPr id="4" name="object 4" descr=""/>
            <p:cNvSpPr/>
            <p:nvPr/>
          </p:nvSpPr>
          <p:spPr>
            <a:xfrm>
              <a:off x="0" y="819150"/>
              <a:ext cx="9144000" cy="4324350"/>
            </a:xfrm>
            <a:custGeom>
              <a:avLst/>
              <a:gdLst/>
              <a:ahLst/>
              <a:cxnLst/>
              <a:rect l="l" t="t" r="r" b="b"/>
              <a:pathLst>
                <a:path w="9144000" h="4324350">
                  <a:moveTo>
                    <a:pt x="9144000" y="0"/>
                  </a:moveTo>
                  <a:lnTo>
                    <a:pt x="0" y="0"/>
                  </a:lnTo>
                  <a:lnTo>
                    <a:pt x="0" y="4324350"/>
                  </a:lnTo>
                  <a:lnTo>
                    <a:pt x="9144000" y="4324350"/>
                  </a:lnTo>
                  <a:lnTo>
                    <a:pt x="9144000" y="0"/>
                  </a:lnTo>
                  <a:close/>
                </a:path>
              </a:pathLst>
            </a:custGeom>
            <a:solidFill>
              <a:srgbClr val="000000"/>
            </a:solidFill>
          </p:spPr>
          <p:txBody>
            <a:bodyPr wrap="square" lIns="0" tIns="0" rIns="0" bIns="0" rtlCol="0"/>
            <a:lstStyle/>
            <a:p/>
          </p:txBody>
        </p:sp>
        <p:sp>
          <p:nvSpPr>
            <p:cNvPr id="5" name="object 5" descr=""/>
            <p:cNvSpPr/>
            <p:nvPr/>
          </p:nvSpPr>
          <p:spPr>
            <a:xfrm>
              <a:off x="0" y="819150"/>
              <a:ext cx="9144000" cy="4324350"/>
            </a:xfrm>
            <a:custGeom>
              <a:avLst/>
              <a:gdLst/>
              <a:ahLst/>
              <a:cxnLst/>
              <a:rect l="l" t="t" r="r" b="b"/>
              <a:pathLst>
                <a:path w="9144000" h="4324350">
                  <a:moveTo>
                    <a:pt x="0" y="0"/>
                  </a:moveTo>
                  <a:lnTo>
                    <a:pt x="9144000" y="0"/>
                  </a:lnTo>
                  <a:lnTo>
                    <a:pt x="9144000" y="4324350"/>
                  </a:lnTo>
                  <a:lnTo>
                    <a:pt x="0" y="4324350"/>
                  </a:lnTo>
                  <a:lnTo>
                    <a:pt x="0" y="0"/>
                  </a:lnTo>
                  <a:close/>
                </a:path>
              </a:pathLst>
            </a:custGeom>
            <a:ln w="25400">
              <a:solidFill>
                <a:srgbClr val="89A4A7"/>
              </a:solidFill>
            </a:ln>
          </p:spPr>
          <p:txBody>
            <a:bodyPr wrap="square" lIns="0" tIns="0" rIns="0" bIns="0" rtlCol="0"/>
            <a:lstStyle/>
            <a:p/>
          </p:txBody>
        </p:sp>
      </p:grpSp>
      <p:sp>
        <p:nvSpPr>
          <p:cNvPr id="6" name="object 6" descr=""/>
          <p:cNvSpPr txBox="1"/>
          <p:nvPr/>
        </p:nvSpPr>
        <p:spPr>
          <a:xfrm>
            <a:off x="371201" y="2001287"/>
            <a:ext cx="568960" cy="269875"/>
          </a:xfrm>
          <a:prstGeom prst="rect">
            <a:avLst/>
          </a:prstGeom>
        </p:spPr>
        <p:txBody>
          <a:bodyPr wrap="square" lIns="0" tIns="12700" rIns="0" bIns="0" rtlCol="0" vert="horz">
            <a:spAutoFit/>
          </a:bodyPr>
          <a:lstStyle/>
          <a:p>
            <a:pPr marL="12700">
              <a:lnSpc>
                <a:spcPct val="100000"/>
              </a:lnSpc>
              <a:spcBef>
                <a:spcPts val="100"/>
              </a:spcBef>
            </a:pPr>
            <a:r>
              <a:rPr dirty="0" sz="1600" spc="-10">
                <a:solidFill>
                  <a:srgbClr val="FFFFFF"/>
                </a:solidFill>
                <a:latin typeface="Segoe UI Light"/>
                <a:cs typeface="Segoe UI Light"/>
              </a:rPr>
              <a:t>1990s’</a:t>
            </a:r>
            <a:endParaRPr sz="1600">
              <a:latin typeface="Segoe UI Light"/>
              <a:cs typeface="Segoe UI Light"/>
            </a:endParaRPr>
          </a:p>
        </p:txBody>
      </p:sp>
      <p:sp>
        <p:nvSpPr>
          <p:cNvPr id="7" name="object 7" descr=""/>
          <p:cNvSpPr txBox="1"/>
          <p:nvPr/>
        </p:nvSpPr>
        <p:spPr>
          <a:xfrm>
            <a:off x="1761810" y="1469052"/>
            <a:ext cx="568960" cy="269875"/>
          </a:xfrm>
          <a:prstGeom prst="rect">
            <a:avLst/>
          </a:prstGeom>
        </p:spPr>
        <p:txBody>
          <a:bodyPr wrap="square" lIns="0" tIns="12700" rIns="0" bIns="0" rtlCol="0" vert="horz">
            <a:spAutoFit/>
          </a:bodyPr>
          <a:lstStyle/>
          <a:p>
            <a:pPr marL="12700">
              <a:lnSpc>
                <a:spcPct val="100000"/>
              </a:lnSpc>
              <a:spcBef>
                <a:spcPts val="100"/>
              </a:spcBef>
            </a:pPr>
            <a:r>
              <a:rPr dirty="0" sz="1600" spc="-10">
                <a:solidFill>
                  <a:srgbClr val="FFFFFF"/>
                </a:solidFill>
                <a:latin typeface="Segoe UI Light"/>
                <a:cs typeface="Segoe UI Light"/>
              </a:rPr>
              <a:t>2000s’</a:t>
            </a:r>
            <a:endParaRPr sz="1600">
              <a:latin typeface="Segoe UI Light"/>
              <a:cs typeface="Segoe UI Light"/>
            </a:endParaRPr>
          </a:p>
        </p:txBody>
      </p:sp>
      <p:sp>
        <p:nvSpPr>
          <p:cNvPr id="8" name="object 8" descr=""/>
          <p:cNvSpPr txBox="1"/>
          <p:nvPr/>
        </p:nvSpPr>
        <p:spPr>
          <a:xfrm>
            <a:off x="3415280" y="1022470"/>
            <a:ext cx="446405" cy="269875"/>
          </a:xfrm>
          <a:prstGeom prst="rect">
            <a:avLst/>
          </a:prstGeom>
        </p:spPr>
        <p:txBody>
          <a:bodyPr wrap="square" lIns="0" tIns="12700" rIns="0" bIns="0" rtlCol="0" vert="horz">
            <a:spAutoFit/>
          </a:bodyPr>
          <a:lstStyle/>
          <a:p>
            <a:pPr marL="12700">
              <a:lnSpc>
                <a:spcPct val="100000"/>
              </a:lnSpc>
              <a:spcBef>
                <a:spcPts val="100"/>
              </a:spcBef>
            </a:pPr>
            <a:r>
              <a:rPr dirty="0" sz="1600" spc="40">
                <a:solidFill>
                  <a:srgbClr val="FFFFFF"/>
                </a:solidFill>
                <a:latin typeface="Segoe UI Light"/>
                <a:cs typeface="Segoe UI Light"/>
              </a:rPr>
              <a:t>2015</a:t>
            </a:r>
            <a:endParaRPr sz="1600">
              <a:latin typeface="Segoe UI Light"/>
              <a:cs typeface="Segoe UI Light"/>
            </a:endParaRPr>
          </a:p>
        </p:txBody>
      </p:sp>
      <p:sp>
        <p:nvSpPr>
          <p:cNvPr id="9" name="object 9" descr=""/>
          <p:cNvSpPr txBox="1"/>
          <p:nvPr/>
        </p:nvSpPr>
        <p:spPr>
          <a:xfrm>
            <a:off x="4813009" y="718306"/>
            <a:ext cx="568960" cy="269875"/>
          </a:xfrm>
          <a:prstGeom prst="rect">
            <a:avLst/>
          </a:prstGeom>
        </p:spPr>
        <p:txBody>
          <a:bodyPr wrap="square" lIns="0" tIns="12700" rIns="0" bIns="0" rtlCol="0" vert="horz">
            <a:spAutoFit/>
          </a:bodyPr>
          <a:lstStyle/>
          <a:p>
            <a:pPr marL="12700">
              <a:lnSpc>
                <a:spcPct val="100000"/>
              </a:lnSpc>
              <a:spcBef>
                <a:spcPts val="100"/>
              </a:spcBef>
            </a:pPr>
            <a:r>
              <a:rPr dirty="0" sz="1600" spc="-10">
                <a:solidFill>
                  <a:srgbClr val="FFFFFF"/>
                </a:solidFill>
                <a:latin typeface="Segoe UI Light"/>
                <a:cs typeface="Segoe UI Light"/>
              </a:rPr>
              <a:t>2020s’</a:t>
            </a:r>
            <a:endParaRPr sz="1600">
              <a:latin typeface="Segoe UI Light"/>
              <a:cs typeface="Segoe UI Light"/>
            </a:endParaRPr>
          </a:p>
        </p:txBody>
      </p:sp>
      <p:sp>
        <p:nvSpPr>
          <p:cNvPr id="10" name="object 10" descr=""/>
          <p:cNvSpPr txBox="1"/>
          <p:nvPr/>
        </p:nvSpPr>
        <p:spPr>
          <a:xfrm>
            <a:off x="6338507" y="698571"/>
            <a:ext cx="568960" cy="269875"/>
          </a:xfrm>
          <a:prstGeom prst="rect">
            <a:avLst/>
          </a:prstGeom>
        </p:spPr>
        <p:txBody>
          <a:bodyPr wrap="square" lIns="0" tIns="12700" rIns="0" bIns="0" rtlCol="0" vert="horz">
            <a:spAutoFit/>
          </a:bodyPr>
          <a:lstStyle/>
          <a:p>
            <a:pPr marL="12700">
              <a:lnSpc>
                <a:spcPct val="100000"/>
              </a:lnSpc>
              <a:spcBef>
                <a:spcPts val="100"/>
              </a:spcBef>
            </a:pPr>
            <a:r>
              <a:rPr dirty="0" sz="1600" spc="-10">
                <a:solidFill>
                  <a:srgbClr val="FFFFFF"/>
                </a:solidFill>
                <a:latin typeface="Segoe UI Light"/>
                <a:cs typeface="Segoe UI Light"/>
              </a:rPr>
              <a:t>2030s’</a:t>
            </a:r>
            <a:endParaRPr sz="1600">
              <a:latin typeface="Segoe UI Light"/>
              <a:cs typeface="Segoe UI Light"/>
            </a:endParaRPr>
          </a:p>
        </p:txBody>
      </p:sp>
      <p:sp>
        <p:nvSpPr>
          <p:cNvPr id="11" name="object 11" descr=""/>
          <p:cNvSpPr txBox="1"/>
          <p:nvPr/>
        </p:nvSpPr>
        <p:spPr>
          <a:xfrm>
            <a:off x="700504" y="2362795"/>
            <a:ext cx="1135380" cy="391160"/>
          </a:xfrm>
          <a:prstGeom prst="rect">
            <a:avLst/>
          </a:prstGeom>
        </p:spPr>
        <p:txBody>
          <a:bodyPr wrap="square" lIns="0" tIns="12700" rIns="0" bIns="0" rtlCol="0" vert="horz">
            <a:spAutoFit/>
          </a:bodyPr>
          <a:lstStyle/>
          <a:p>
            <a:pPr algn="ctr">
              <a:lnSpc>
                <a:spcPct val="100000"/>
              </a:lnSpc>
              <a:spcBef>
                <a:spcPts val="100"/>
              </a:spcBef>
            </a:pPr>
            <a:r>
              <a:rPr dirty="0" sz="1200">
                <a:solidFill>
                  <a:srgbClr val="92D050"/>
                </a:solidFill>
                <a:latin typeface="SimSun"/>
                <a:cs typeface="SimSun"/>
              </a:rPr>
              <a:t>基于无线</a:t>
            </a:r>
            <a:r>
              <a:rPr dirty="0" sz="1200" spc="-10">
                <a:solidFill>
                  <a:srgbClr val="92D050"/>
                </a:solidFill>
                <a:latin typeface="Arial MT"/>
                <a:cs typeface="Arial MT"/>
              </a:rPr>
              <a:t>/</a:t>
            </a:r>
            <a:r>
              <a:rPr dirty="0" sz="1200" spc="-20">
                <a:solidFill>
                  <a:srgbClr val="92D050"/>
                </a:solidFill>
                <a:latin typeface="SimSun"/>
                <a:cs typeface="SimSun"/>
              </a:rPr>
              <a:t>有线的</a:t>
            </a:r>
            <a:endParaRPr sz="1200">
              <a:latin typeface="SimSun"/>
              <a:cs typeface="SimSun"/>
            </a:endParaRPr>
          </a:p>
          <a:p>
            <a:pPr algn="ctr" marL="635">
              <a:lnSpc>
                <a:spcPct val="100000"/>
              </a:lnSpc>
            </a:pPr>
            <a:r>
              <a:rPr dirty="0" sz="1200" spc="-10" b="1">
                <a:solidFill>
                  <a:srgbClr val="92D050"/>
                </a:solidFill>
                <a:latin typeface="Arial"/>
                <a:cs typeface="Arial"/>
              </a:rPr>
              <a:t>RSU</a:t>
            </a:r>
            <a:r>
              <a:rPr dirty="0" sz="1200" spc="-25">
                <a:solidFill>
                  <a:srgbClr val="92D050"/>
                </a:solidFill>
                <a:latin typeface="SimSun"/>
                <a:cs typeface="SimSun"/>
              </a:rPr>
              <a:t>通信</a:t>
            </a:r>
            <a:endParaRPr sz="1200">
              <a:latin typeface="SimSun"/>
              <a:cs typeface="SimSun"/>
            </a:endParaRPr>
          </a:p>
        </p:txBody>
      </p:sp>
      <p:sp>
        <p:nvSpPr>
          <p:cNvPr id="12" name="object 12" descr=""/>
          <p:cNvSpPr txBox="1"/>
          <p:nvPr/>
        </p:nvSpPr>
        <p:spPr>
          <a:xfrm>
            <a:off x="2379041" y="1885170"/>
            <a:ext cx="681355" cy="393065"/>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92D050"/>
                </a:solidFill>
                <a:latin typeface="Segoe UI Light"/>
                <a:cs typeface="Segoe UI Light"/>
              </a:rPr>
              <a:t>2G/3G/4G</a:t>
            </a:r>
            <a:endParaRPr sz="1200">
              <a:latin typeface="Segoe UI Light"/>
              <a:cs typeface="Segoe UI Light"/>
            </a:endParaRPr>
          </a:p>
          <a:p>
            <a:pPr marL="34290">
              <a:lnSpc>
                <a:spcPct val="100000"/>
              </a:lnSpc>
              <a:spcBef>
                <a:spcPts val="10"/>
              </a:spcBef>
            </a:pPr>
            <a:r>
              <a:rPr dirty="0" sz="1200" spc="-15">
                <a:solidFill>
                  <a:srgbClr val="92D050"/>
                </a:solidFill>
                <a:latin typeface="SimSun"/>
                <a:cs typeface="SimSun"/>
              </a:rPr>
              <a:t>蜂窝网络</a:t>
            </a:r>
            <a:endParaRPr sz="1200">
              <a:latin typeface="SimSun"/>
              <a:cs typeface="SimSun"/>
            </a:endParaRPr>
          </a:p>
        </p:txBody>
      </p:sp>
      <p:sp>
        <p:nvSpPr>
          <p:cNvPr id="13" name="object 13" descr=""/>
          <p:cNvSpPr txBox="1"/>
          <p:nvPr/>
        </p:nvSpPr>
        <p:spPr>
          <a:xfrm>
            <a:off x="3772425" y="1394264"/>
            <a:ext cx="1156335" cy="269875"/>
          </a:xfrm>
          <a:prstGeom prst="rect">
            <a:avLst/>
          </a:prstGeom>
        </p:spPr>
        <p:txBody>
          <a:bodyPr wrap="square" lIns="0" tIns="12700" rIns="0" bIns="0" rtlCol="0" vert="horz">
            <a:spAutoFit/>
          </a:bodyPr>
          <a:lstStyle/>
          <a:p>
            <a:pPr marL="12700">
              <a:lnSpc>
                <a:spcPct val="100000"/>
              </a:lnSpc>
              <a:spcBef>
                <a:spcPts val="100"/>
              </a:spcBef>
            </a:pPr>
            <a:r>
              <a:rPr dirty="0" sz="1600" spc="-45">
                <a:solidFill>
                  <a:srgbClr val="FFC000"/>
                </a:solidFill>
                <a:latin typeface="Impact"/>
                <a:cs typeface="Impact"/>
              </a:rPr>
              <a:t>LTE-</a:t>
            </a:r>
            <a:r>
              <a:rPr dirty="0" sz="1600">
                <a:solidFill>
                  <a:srgbClr val="FFC000"/>
                </a:solidFill>
                <a:latin typeface="Impact"/>
                <a:cs typeface="Impact"/>
              </a:rPr>
              <a:t>V2X</a:t>
            </a:r>
            <a:r>
              <a:rPr dirty="0" sz="1600" spc="5">
                <a:solidFill>
                  <a:srgbClr val="FFC000"/>
                </a:solidFill>
                <a:latin typeface="Impact"/>
                <a:cs typeface="Impact"/>
              </a:rPr>
              <a:t> </a:t>
            </a:r>
            <a:r>
              <a:rPr dirty="0" sz="1600" spc="-10">
                <a:solidFill>
                  <a:srgbClr val="FFC000"/>
                </a:solidFill>
                <a:latin typeface="Impact"/>
                <a:cs typeface="Impact"/>
              </a:rPr>
              <a:t>(4.5G)</a:t>
            </a:r>
            <a:endParaRPr sz="1600">
              <a:latin typeface="Impact"/>
              <a:cs typeface="Impact"/>
            </a:endParaRPr>
          </a:p>
        </p:txBody>
      </p:sp>
      <p:sp>
        <p:nvSpPr>
          <p:cNvPr id="14" name="object 14" descr=""/>
          <p:cNvSpPr txBox="1"/>
          <p:nvPr/>
        </p:nvSpPr>
        <p:spPr>
          <a:xfrm>
            <a:off x="5920493" y="1055309"/>
            <a:ext cx="246379" cy="269875"/>
          </a:xfrm>
          <a:prstGeom prst="rect">
            <a:avLst/>
          </a:prstGeom>
        </p:spPr>
        <p:txBody>
          <a:bodyPr wrap="square" lIns="0" tIns="12700" rIns="0" bIns="0" rtlCol="0" vert="horz">
            <a:spAutoFit/>
          </a:bodyPr>
          <a:lstStyle/>
          <a:p>
            <a:pPr marL="12700">
              <a:lnSpc>
                <a:spcPct val="100000"/>
              </a:lnSpc>
              <a:spcBef>
                <a:spcPts val="100"/>
              </a:spcBef>
            </a:pPr>
            <a:r>
              <a:rPr dirty="0" sz="1600" spc="-25">
                <a:solidFill>
                  <a:srgbClr val="FFC000"/>
                </a:solidFill>
                <a:latin typeface="Impact"/>
                <a:cs typeface="Impact"/>
              </a:rPr>
              <a:t>5G</a:t>
            </a:r>
            <a:endParaRPr sz="1600">
              <a:latin typeface="Impact"/>
              <a:cs typeface="Impact"/>
            </a:endParaRPr>
          </a:p>
        </p:txBody>
      </p:sp>
      <p:grpSp>
        <p:nvGrpSpPr>
          <p:cNvPr id="15" name="object 15" descr=""/>
          <p:cNvGrpSpPr/>
          <p:nvPr/>
        </p:nvGrpSpPr>
        <p:grpSpPr>
          <a:xfrm>
            <a:off x="281137" y="950249"/>
            <a:ext cx="6329680" cy="1383665"/>
            <a:chOff x="281137" y="950249"/>
            <a:chExt cx="6329680" cy="1383665"/>
          </a:xfrm>
        </p:grpSpPr>
        <p:sp>
          <p:nvSpPr>
            <p:cNvPr id="16" name="object 16" descr=""/>
            <p:cNvSpPr/>
            <p:nvPr/>
          </p:nvSpPr>
          <p:spPr>
            <a:xfrm>
              <a:off x="300187" y="2267983"/>
              <a:ext cx="1475740" cy="8890"/>
            </a:xfrm>
            <a:custGeom>
              <a:avLst/>
              <a:gdLst/>
              <a:ahLst/>
              <a:cxnLst/>
              <a:rect l="l" t="t" r="r" b="b"/>
              <a:pathLst>
                <a:path w="1475739" h="8889">
                  <a:moveTo>
                    <a:pt x="0" y="0"/>
                  </a:moveTo>
                  <a:lnTo>
                    <a:pt x="1475600" y="8623"/>
                  </a:lnTo>
                </a:path>
              </a:pathLst>
            </a:custGeom>
            <a:ln w="38099">
              <a:solidFill>
                <a:srgbClr val="FFFFFF"/>
              </a:solidFill>
              <a:prstDash val="sysDash"/>
            </a:ln>
          </p:spPr>
          <p:txBody>
            <a:bodyPr wrap="square" lIns="0" tIns="0" rIns="0" bIns="0" rtlCol="0"/>
            <a:lstStyle/>
            <a:p/>
          </p:txBody>
        </p:sp>
        <p:sp>
          <p:nvSpPr>
            <p:cNvPr id="17" name="object 17" descr=""/>
            <p:cNvSpPr/>
            <p:nvPr/>
          </p:nvSpPr>
          <p:spPr>
            <a:xfrm>
              <a:off x="1756406" y="2219337"/>
              <a:ext cx="114935" cy="114300"/>
            </a:xfrm>
            <a:custGeom>
              <a:avLst/>
              <a:gdLst/>
              <a:ahLst/>
              <a:cxnLst/>
              <a:rect l="l" t="t" r="r" b="b"/>
              <a:pathLst>
                <a:path w="114935" h="114300">
                  <a:moveTo>
                    <a:pt x="673" y="0"/>
                  </a:moveTo>
                  <a:lnTo>
                    <a:pt x="0" y="114300"/>
                  </a:lnTo>
                  <a:lnTo>
                    <a:pt x="114630" y="57823"/>
                  </a:lnTo>
                  <a:lnTo>
                    <a:pt x="673" y="0"/>
                  </a:lnTo>
                  <a:close/>
                </a:path>
              </a:pathLst>
            </a:custGeom>
            <a:solidFill>
              <a:srgbClr val="FFFFFF"/>
            </a:solidFill>
          </p:spPr>
          <p:txBody>
            <a:bodyPr wrap="square" lIns="0" tIns="0" rIns="0" bIns="0" rtlCol="0"/>
            <a:lstStyle/>
            <a:p/>
          </p:txBody>
        </p:sp>
        <p:sp>
          <p:nvSpPr>
            <p:cNvPr id="18" name="object 18" descr=""/>
            <p:cNvSpPr/>
            <p:nvPr/>
          </p:nvSpPr>
          <p:spPr>
            <a:xfrm>
              <a:off x="2133153" y="1791205"/>
              <a:ext cx="1215390" cy="0"/>
            </a:xfrm>
            <a:custGeom>
              <a:avLst/>
              <a:gdLst/>
              <a:ahLst/>
              <a:cxnLst/>
              <a:rect l="l" t="t" r="r" b="b"/>
              <a:pathLst>
                <a:path w="1215389" h="0">
                  <a:moveTo>
                    <a:pt x="0" y="0"/>
                  </a:moveTo>
                  <a:lnTo>
                    <a:pt x="1214920" y="0"/>
                  </a:lnTo>
                </a:path>
              </a:pathLst>
            </a:custGeom>
            <a:ln w="38100">
              <a:solidFill>
                <a:srgbClr val="FFFFFF"/>
              </a:solidFill>
              <a:prstDash val="sysDash"/>
            </a:ln>
          </p:spPr>
          <p:txBody>
            <a:bodyPr wrap="square" lIns="0" tIns="0" rIns="0" bIns="0" rtlCol="0"/>
            <a:lstStyle/>
            <a:p/>
          </p:txBody>
        </p:sp>
        <p:sp>
          <p:nvSpPr>
            <p:cNvPr id="19" name="object 19" descr=""/>
            <p:cNvSpPr/>
            <p:nvPr/>
          </p:nvSpPr>
          <p:spPr>
            <a:xfrm>
              <a:off x="3329024" y="1734050"/>
              <a:ext cx="114300" cy="114300"/>
            </a:xfrm>
            <a:custGeom>
              <a:avLst/>
              <a:gdLst/>
              <a:ahLst/>
              <a:cxnLst/>
              <a:rect l="l" t="t" r="r" b="b"/>
              <a:pathLst>
                <a:path w="114300" h="114300">
                  <a:moveTo>
                    <a:pt x="0" y="0"/>
                  </a:moveTo>
                  <a:lnTo>
                    <a:pt x="0" y="114300"/>
                  </a:lnTo>
                  <a:lnTo>
                    <a:pt x="114300" y="57150"/>
                  </a:lnTo>
                  <a:lnTo>
                    <a:pt x="0" y="0"/>
                  </a:lnTo>
                  <a:close/>
                </a:path>
              </a:pathLst>
            </a:custGeom>
            <a:solidFill>
              <a:srgbClr val="FFFFFF"/>
            </a:solidFill>
          </p:spPr>
          <p:txBody>
            <a:bodyPr wrap="square" lIns="0" tIns="0" rIns="0" bIns="0" rtlCol="0"/>
            <a:lstStyle/>
            <a:p/>
          </p:txBody>
        </p:sp>
        <p:sp>
          <p:nvSpPr>
            <p:cNvPr id="20" name="object 20" descr=""/>
            <p:cNvSpPr/>
            <p:nvPr/>
          </p:nvSpPr>
          <p:spPr>
            <a:xfrm>
              <a:off x="3734249" y="1305252"/>
              <a:ext cx="1215390" cy="0"/>
            </a:xfrm>
            <a:custGeom>
              <a:avLst/>
              <a:gdLst/>
              <a:ahLst/>
              <a:cxnLst/>
              <a:rect l="l" t="t" r="r" b="b"/>
              <a:pathLst>
                <a:path w="1215389" h="0">
                  <a:moveTo>
                    <a:pt x="0" y="0"/>
                  </a:moveTo>
                  <a:lnTo>
                    <a:pt x="1214920" y="0"/>
                  </a:lnTo>
                </a:path>
              </a:pathLst>
            </a:custGeom>
            <a:ln w="38100">
              <a:solidFill>
                <a:srgbClr val="FFFFFF"/>
              </a:solidFill>
              <a:prstDash val="sysDash"/>
            </a:ln>
          </p:spPr>
          <p:txBody>
            <a:bodyPr wrap="square" lIns="0" tIns="0" rIns="0" bIns="0" rtlCol="0"/>
            <a:lstStyle/>
            <a:p/>
          </p:txBody>
        </p:sp>
        <p:sp>
          <p:nvSpPr>
            <p:cNvPr id="21" name="object 21" descr=""/>
            <p:cNvSpPr/>
            <p:nvPr/>
          </p:nvSpPr>
          <p:spPr>
            <a:xfrm>
              <a:off x="4930121" y="1248096"/>
              <a:ext cx="114300" cy="114300"/>
            </a:xfrm>
            <a:custGeom>
              <a:avLst/>
              <a:gdLst/>
              <a:ahLst/>
              <a:cxnLst/>
              <a:rect l="l" t="t" r="r" b="b"/>
              <a:pathLst>
                <a:path w="114300" h="114300">
                  <a:moveTo>
                    <a:pt x="0" y="0"/>
                  </a:moveTo>
                  <a:lnTo>
                    <a:pt x="0" y="114300"/>
                  </a:lnTo>
                  <a:lnTo>
                    <a:pt x="114300" y="57150"/>
                  </a:lnTo>
                  <a:lnTo>
                    <a:pt x="0" y="0"/>
                  </a:lnTo>
                  <a:close/>
                </a:path>
              </a:pathLst>
            </a:custGeom>
            <a:solidFill>
              <a:srgbClr val="FFFFFF"/>
            </a:solidFill>
          </p:spPr>
          <p:txBody>
            <a:bodyPr wrap="square" lIns="0" tIns="0" rIns="0" bIns="0" rtlCol="0"/>
            <a:lstStyle/>
            <a:p/>
          </p:txBody>
        </p:sp>
        <p:sp>
          <p:nvSpPr>
            <p:cNvPr id="22" name="object 22" descr=""/>
            <p:cNvSpPr/>
            <p:nvPr/>
          </p:nvSpPr>
          <p:spPr>
            <a:xfrm>
              <a:off x="5300122" y="1007404"/>
              <a:ext cx="1215390" cy="0"/>
            </a:xfrm>
            <a:custGeom>
              <a:avLst/>
              <a:gdLst/>
              <a:ahLst/>
              <a:cxnLst/>
              <a:rect l="l" t="t" r="r" b="b"/>
              <a:pathLst>
                <a:path w="1215390" h="0">
                  <a:moveTo>
                    <a:pt x="0" y="0"/>
                  </a:moveTo>
                  <a:lnTo>
                    <a:pt x="1214920" y="0"/>
                  </a:lnTo>
                </a:path>
              </a:pathLst>
            </a:custGeom>
            <a:ln w="38100">
              <a:solidFill>
                <a:srgbClr val="FFFFFF"/>
              </a:solidFill>
              <a:prstDash val="sysDash"/>
            </a:ln>
          </p:spPr>
          <p:txBody>
            <a:bodyPr wrap="square" lIns="0" tIns="0" rIns="0" bIns="0" rtlCol="0"/>
            <a:lstStyle/>
            <a:p/>
          </p:txBody>
        </p:sp>
        <p:sp>
          <p:nvSpPr>
            <p:cNvPr id="23" name="object 23" descr=""/>
            <p:cNvSpPr/>
            <p:nvPr/>
          </p:nvSpPr>
          <p:spPr>
            <a:xfrm>
              <a:off x="6495992" y="950249"/>
              <a:ext cx="114300" cy="114300"/>
            </a:xfrm>
            <a:custGeom>
              <a:avLst/>
              <a:gdLst/>
              <a:ahLst/>
              <a:cxnLst/>
              <a:rect l="l" t="t" r="r" b="b"/>
              <a:pathLst>
                <a:path w="114300" h="114300">
                  <a:moveTo>
                    <a:pt x="0" y="0"/>
                  </a:moveTo>
                  <a:lnTo>
                    <a:pt x="0" y="114300"/>
                  </a:lnTo>
                  <a:lnTo>
                    <a:pt x="114300" y="57150"/>
                  </a:lnTo>
                  <a:lnTo>
                    <a:pt x="0" y="0"/>
                  </a:lnTo>
                  <a:close/>
                </a:path>
              </a:pathLst>
            </a:custGeom>
            <a:solidFill>
              <a:srgbClr val="FFFFFF"/>
            </a:solidFill>
          </p:spPr>
          <p:txBody>
            <a:bodyPr wrap="square" lIns="0" tIns="0" rIns="0" bIns="0" rtlCol="0"/>
            <a:lstStyle/>
            <a:p/>
          </p:txBody>
        </p:sp>
        <p:sp>
          <p:nvSpPr>
            <p:cNvPr id="24" name="object 24" descr=""/>
            <p:cNvSpPr/>
            <p:nvPr/>
          </p:nvSpPr>
          <p:spPr>
            <a:xfrm>
              <a:off x="1871041" y="1875038"/>
              <a:ext cx="217170" cy="402590"/>
            </a:xfrm>
            <a:custGeom>
              <a:avLst/>
              <a:gdLst/>
              <a:ahLst/>
              <a:cxnLst/>
              <a:rect l="l" t="t" r="r" b="b"/>
              <a:pathLst>
                <a:path w="217169" h="402589">
                  <a:moveTo>
                    <a:pt x="0" y="402120"/>
                  </a:moveTo>
                  <a:lnTo>
                    <a:pt x="216890" y="0"/>
                  </a:lnTo>
                </a:path>
              </a:pathLst>
            </a:custGeom>
            <a:ln w="38099">
              <a:solidFill>
                <a:srgbClr val="FFFFFF"/>
              </a:solidFill>
              <a:prstDash val="sysDash"/>
            </a:ln>
          </p:spPr>
          <p:txBody>
            <a:bodyPr wrap="square" lIns="0" tIns="0" rIns="0" bIns="0" rtlCol="0"/>
            <a:lstStyle/>
            <a:p/>
          </p:txBody>
        </p:sp>
        <p:sp>
          <p:nvSpPr>
            <p:cNvPr id="25" name="object 25" descr=""/>
            <p:cNvSpPr/>
            <p:nvPr/>
          </p:nvSpPr>
          <p:spPr>
            <a:xfrm>
              <a:off x="2028588" y="1791199"/>
              <a:ext cx="104775" cy="128270"/>
            </a:xfrm>
            <a:custGeom>
              <a:avLst/>
              <a:gdLst/>
              <a:ahLst/>
              <a:cxnLst/>
              <a:rect l="l" t="t" r="r" b="b"/>
              <a:pathLst>
                <a:path w="104775" h="128269">
                  <a:moveTo>
                    <a:pt x="104559" y="0"/>
                  </a:moveTo>
                  <a:lnTo>
                    <a:pt x="0" y="73469"/>
                  </a:lnTo>
                  <a:lnTo>
                    <a:pt x="100596" y="127736"/>
                  </a:lnTo>
                  <a:lnTo>
                    <a:pt x="104559" y="0"/>
                  </a:lnTo>
                  <a:close/>
                </a:path>
              </a:pathLst>
            </a:custGeom>
            <a:solidFill>
              <a:srgbClr val="FFFFFF"/>
            </a:solidFill>
          </p:spPr>
          <p:txBody>
            <a:bodyPr wrap="square" lIns="0" tIns="0" rIns="0" bIns="0" rtlCol="0"/>
            <a:lstStyle/>
            <a:p/>
          </p:txBody>
        </p:sp>
        <p:sp>
          <p:nvSpPr>
            <p:cNvPr id="26" name="object 26" descr=""/>
            <p:cNvSpPr/>
            <p:nvPr/>
          </p:nvSpPr>
          <p:spPr>
            <a:xfrm>
              <a:off x="3448856" y="1389085"/>
              <a:ext cx="217170" cy="402590"/>
            </a:xfrm>
            <a:custGeom>
              <a:avLst/>
              <a:gdLst/>
              <a:ahLst/>
              <a:cxnLst/>
              <a:rect l="l" t="t" r="r" b="b"/>
              <a:pathLst>
                <a:path w="217170" h="402589">
                  <a:moveTo>
                    <a:pt x="0" y="402120"/>
                  </a:moveTo>
                  <a:lnTo>
                    <a:pt x="216890" y="0"/>
                  </a:lnTo>
                </a:path>
              </a:pathLst>
            </a:custGeom>
            <a:ln w="38099">
              <a:solidFill>
                <a:srgbClr val="FFFFFF"/>
              </a:solidFill>
              <a:prstDash val="sysDash"/>
            </a:ln>
          </p:spPr>
          <p:txBody>
            <a:bodyPr wrap="square" lIns="0" tIns="0" rIns="0" bIns="0" rtlCol="0"/>
            <a:lstStyle/>
            <a:p/>
          </p:txBody>
        </p:sp>
        <p:sp>
          <p:nvSpPr>
            <p:cNvPr id="27" name="object 27" descr=""/>
            <p:cNvSpPr/>
            <p:nvPr/>
          </p:nvSpPr>
          <p:spPr>
            <a:xfrm>
              <a:off x="3606402" y="1305246"/>
              <a:ext cx="104775" cy="128270"/>
            </a:xfrm>
            <a:custGeom>
              <a:avLst/>
              <a:gdLst/>
              <a:ahLst/>
              <a:cxnLst/>
              <a:rect l="l" t="t" r="r" b="b"/>
              <a:pathLst>
                <a:path w="104775" h="128269">
                  <a:moveTo>
                    <a:pt x="104559" y="0"/>
                  </a:moveTo>
                  <a:lnTo>
                    <a:pt x="0" y="73469"/>
                  </a:lnTo>
                  <a:lnTo>
                    <a:pt x="100596" y="127736"/>
                  </a:lnTo>
                  <a:lnTo>
                    <a:pt x="104559" y="0"/>
                  </a:lnTo>
                  <a:close/>
                </a:path>
              </a:pathLst>
            </a:custGeom>
            <a:solidFill>
              <a:srgbClr val="FFFFFF"/>
            </a:solidFill>
          </p:spPr>
          <p:txBody>
            <a:bodyPr wrap="square" lIns="0" tIns="0" rIns="0" bIns="0" rtlCol="0"/>
            <a:lstStyle/>
            <a:p/>
          </p:txBody>
        </p:sp>
        <p:sp>
          <p:nvSpPr>
            <p:cNvPr id="28" name="object 28" descr=""/>
            <p:cNvSpPr/>
            <p:nvPr/>
          </p:nvSpPr>
          <p:spPr>
            <a:xfrm>
              <a:off x="5058417" y="1075650"/>
              <a:ext cx="138430" cy="236854"/>
            </a:xfrm>
            <a:custGeom>
              <a:avLst/>
              <a:gdLst/>
              <a:ahLst/>
              <a:cxnLst/>
              <a:rect l="l" t="t" r="r" b="b"/>
              <a:pathLst>
                <a:path w="138429" h="236855">
                  <a:moveTo>
                    <a:pt x="0" y="236499"/>
                  </a:moveTo>
                  <a:lnTo>
                    <a:pt x="138315" y="0"/>
                  </a:lnTo>
                </a:path>
              </a:pathLst>
            </a:custGeom>
            <a:ln w="38100">
              <a:solidFill>
                <a:srgbClr val="FFFFFF"/>
              </a:solidFill>
              <a:prstDash val="sysDash"/>
            </a:ln>
          </p:spPr>
          <p:txBody>
            <a:bodyPr wrap="square" lIns="0" tIns="0" rIns="0" bIns="0" rtlCol="0"/>
            <a:lstStyle/>
            <a:p/>
          </p:txBody>
        </p:sp>
        <p:sp>
          <p:nvSpPr>
            <p:cNvPr id="29" name="object 29" descr=""/>
            <p:cNvSpPr/>
            <p:nvPr/>
          </p:nvSpPr>
          <p:spPr>
            <a:xfrm>
              <a:off x="5137778" y="993428"/>
              <a:ext cx="107314" cy="127635"/>
            </a:xfrm>
            <a:custGeom>
              <a:avLst/>
              <a:gdLst/>
              <a:ahLst/>
              <a:cxnLst/>
              <a:rect l="l" t="t" r="r" b="b"/>
              <a:pathLst>
                <a:path w="107314" h="127634">
                  <a:moveTo>
                    <a:pt x="107035" y="0"/>
                  </a:moveTo>
                  <a:lnTo>
                    <a:pt x="0" y="69811"/>
                  </a:lnTo>
                  <a:lnTo>
                    <a:pt x="98666" y="127520"/>
                  </a:lnTo>
                  <a:lnTo>
                    <a:pt x="107035" y="0"/>
                  </a:lnTo>
                  <a:close/>
                </a:path>
              </a:pathLst>
            </a:custGeom>
            <a:solidFill>
              <a:srgbClr val="FFFFFF"/>
            </a:solidFill>
          </p:spPr>
          <p:txBody>
            <a:bodyPr wrap="square" lIns="0" tIns="0" rIns="0" bIns="0" rtlCol="0"/>
            <a:lstStyle/>
            <a:p/>
          </p:txBody>
        </p:sp>
      </p:grpSp>
      <p:sp>
        <p:nvSpPr>
          <p:cNvPr id="30" name="object 30" descr=""/>
          <p:cNvSpPr txBox="1"/>
          <p:nvPr/>
        </p:nvSpPr>
        <p:spPr>
          <a:xfrm>
            <a:off x="927835" y="3423047"/>
            <a:ext cx="638175"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FFC000"/>
                </a:solidFill>
                <a:latin typeface="SimSun"/>
                <a:cs typeface="SimSun"/>
              </a:rPr>
              <a:t>路边通信</a:t>
            </a:r>
            <a:endParaRPr sz="1200">
              <a:latin typeface="SimSun"/>
              <a:cs typeface="SimSun"/>
            </a:endParaRPr>
          </a:p>
        </p:txBody>
      </p:sp>
      <p:sp>
        <p:nvSpPr>
          <p:cNvPr id="31" name="object 31" descr=""/>
          <p:cNvSpPr txBox="1"/>
          <p:nvPr/>
        </p:nvSpPr>
        <p:spPr>
          <a:xfrm>
            <a:off x="2095400" y="2963301"/>
            <a:ext cx="1425575" cy="513715"/>
          </a:xfrm>
          <a:prstGeom prst="rect">
            <a:avLst/>
          </a:prstGeom>
        </p:spPr>
        <p:txBody>
          <a:bodyPr wrap="square" lIns="0" tIns="12700" rIns="0" bIns="0" rtlCol="0" vert="horz">
            <a:spAutoFit/>
          </a:bodyPr>
          <a:lstStyle/>
          <a:p>
            <a:pPr algn="ctr">
              <a:lnSpc>
                <a:spcPct val="100000"/>
              </a:lnSpc>
              <a:spcBef>
                <a:spcPts val="100"/>
              </a:spcBef>
            </a:pPr>
            <a:r>
              <a:rPr dirty="0" sz="1200" spc="-20">
                <a:solidFill>
                  <a:srgbClr val="FFC000"/>
                </a:solidFill>
                <a:latin typeface="SimSun"/>
                <a:cs typeface="SimSun"/>
              </a:rPr>
              <a:t>车联网</a:t>
            </a:r>
            <a:endParaRPr sz="1200">
              <a:latin typeface="SimSun"/>
              <a:cs typeface="SimSun"/>
            </a:endParaRPr>
          </a:p>
          <a:p>
            <a:pPr algn="ctr" marL="12700" marR="5080">
              <a:lnSpc>
                <a:spcPts val="1150"/>
              </a:lnSpc>
              <a:spcBef>
                <a:spcPts val="130"/>
              </a:spcBef>
            </a:pPr>
            <a:r>
              <a:rPr dirty="0" sz="1000" spc="-5">
                <a:solidFill>
                  <a:srgbClr val="FFFFFF"/>
                </a:solidFill>
                <a:latin typeface="SimSun"/>
                <a:cs typeface="SimSun"/>
              </a:rPr>
              <a:t>信息化、在线导航、远程</a:t>
            </a:r>
            <a:r>
              <a:rPr dirty="0" sz="1000" spc="-20">
                <a:solidFill>
                  <a:srgbClr val="FFFFFF"/>
                </a:solidFill>
                <a:latin typeface="SimSun"/>
                <a:cs typeface="SimSun"/>
              </a:rPr>
              <a:t>诊断等</a:t>
            </a:r>
            <a:endParaRPr sz="1000">
              <a:latin typeface="SimSun"/>
              <a:cs typeface="SimSun"/>
            </a:endParaRPr>
          </a:p>
        </p:txBody>
      </p:sp>
      <p:sp>
        <p:nvSpPr>
          <p:cNvPr id="32" name="object 32" descr=""/>
          <p:cNvSpPr txBox="1"/>
          <p:nvPr/>
        </p:nvSpPr>
        <p:spPr>
          <a:xfrm>
            <a:off x="3875280" y="2559428"/>
            <a:ext cx="1140460" cy="437515"/>
          </a:xfrm>
          <a:prstGeom prst="rect">
            <a:avLst/>
          </a:prstGeom>
        </p:spPr>
        <p:txBody>
          <a:bodyPr wrap="square" lIns="0" tIns="12065" rIns="0" bIns="0" rtlCol="0" vert="horz">
            <a:spAutoFit/>
          </a:bodyPr>
          <a:lstStyle/>
          <a:p>
            <a:pPr algn="ctr">
              <a:lnSpc>
                <a:spcPct val="100000"/>
              </a:lnSpc>
              <a:spcBef>
                <a:spcPts val="95"/>
              </a:spcBef>
            </a:pPr>
            <a:r>
              <a:rPr dirty="0" sz="1100" spc="-20">
                <a:solidFill>
                  <a:srgbClr val="92D050"/>
                </a:solidFill>
                <a:latin typeface="SimSun"/>
                <a:cs typeface="SimSun"/>
              </a:rPr>
              <a:t>安全驾驶</a:t>
            </a:r>
            <a:endParaRPr sz="1100">
              <a:latin typeface="SimSun"/>
              <a:cs typeface="SimSun"/>
            </a:endParaRPr>
          </a:p>
          <a:p>
            <a:pPr algn="ctr">
              <a:lnSpc>
                <a:spcPct val="100000"/>
              </a:lnSpc>
            </a:pPr>
            <a:r>
              <a:rPr dirty="0" sz="800">
                <a:solidFill>
                  <a:srgbClr val="FFFFFF"/>
                </a:solidFill>
                <a:latin typeface="Arial MT"/>
                <a:cs typeface="Arial MT"/>
              </a:rPr>
              <a:t>V2V,V2I,</a:t>
            </a:r>
            <a:r>
              <a:rPr dirty="0" sz="800" spc="-20">
                <a:solidFill>
                  <a:srgbClr val="FFFFFF"/>
                </a:solidFill>
                <a:latin typeface="Arial MT"/>
                <a:cs typeface="Arial MT"/>
              </a:rPr>
              <a:t> </a:t>
            </a:r>
            <a:r>
              <a:rPr dirty="0" sz="800">
                <a:solidFill>
                  <a:srgbClr val="FFFFFF"/>
                </a:solidFill>
                <a:latin typeface="Arial MT"/>
                <a:cs typeface="Arial MT"/>
              </a:rPr>
              <a:t>V2P</a:t>
            </a:r>
            <a:r>
              <a:rPr dirty="0" sz="800" spc="-30">
                <a:solidFill>
                  <a:srgbClr val="FFFFFF"/>
                </a:solidFill>
                <a:latin typeface="Arial MT"/>
                <a:cs typeface="Arial MT"/>
              </a:rPr>
              <a:t> </a:t>
            </a:r>
            <a:r>
              <a:rPr dirty="0" sz="800" spc="-10">
                <a:solidFill>
                  <a:srgbClr val="FFFFFF"/>
                </a:solidFill>
                <a:latin typeface="Arial MT"/>
                <a:cs typeface="Arial MT"/>
              </a:rPr>
              <a:t>(V2X)</a:t>
            </a:r>
            <a:endParaRPr sz="800">
              <a:latin typeface="Arial MT"/>
              <a:cs typeface="Arial MT"/>
            </a:endParaRPr>
          </a:p>
          <a:p>
            <a:pPr algn="ctr">
              <a:lnSpc>
                <a:spcPct val="100000"/>
              </a:lnSpc>
              <a:spcBef>
                <a:spcPts val="10"/>
              </a:spcBef>
            </a:pPr>
            <a:r>
              <a:rPr dirty="0" sz="800" spc="-15">
                <a:solidFill>
                  <a:srgbClr val="FFFFFF"/>
                </a:solidFill>
                <a:latin typeface="SimSun"/>
                <a:cs typeface="SimSun"/>
              </a:rPr>
              <a:t>驾驶员辅助及部分自动化</a:t>
            </a:r>
            <a:endParaRPr sz="800">
              <a:latin typeface="SimSun"/>
              <a:cs typeface="SimSun"/>
            </a:endParaRPr>
          </a:p>
        </p:txBody>
      </p:sp>
      <p:sp>
        <p:nvSpPr>
          <p:cNvPr id="33" name="object 33" descr=""/>
          <p:cNvSpPr txBox="1"/>
          <p:nvPr/>
        </p:nvSpPr>
        <p:spPr>
          <a:xfrm>
            <a:off x="5467332" y="2333222"/>
            <a:ext cx="1242060" cy="315595"/>
          </a:xfrm>
          <a:prstGeom prst="rect">
            <a:avLst/>
          </a:prstGeom>
        </p:spPr>
        <p:txBody>
          <a:bodyPr wrap="square" lIns="0" tIns="12065" rIns="0" bIns="0" rtlCol="0" vert="horz">
            <a:spAutoFit/>
          </a:bodyPr>
          <a:lstStyle/>
          <a:p>
            <a:pPr algn="ctr">
              <a:lnSpc>
                <a:spcPct val="100000"/>
              </a:lnSpc>
              <a:spcBef>
                <a:spcPts val="95"/>
              </a:spcBef>
            </a:pPr>
            <a:r>
              <a:rPr dirty="0" sz="1100" spc="-20">
                <a:solidFill>
                  <a:srgbClr val="FFC000"/>
                </a:solidFill>
                <a:latin typeface="SimSun"/>
                <a:cs typeface="SimSun"/>
              </a:rPr>
              <a:t>智能驾驶</a:t>
            </a:r>
            <a:endParaRPr sz="1100">
              <a:latin typeface="SimSun"/>
              <a:cs typeface="SimSun"/>
            </a:endParaRPr>
          </a:p>
          <a:p>
            <a:pPr algn="ctr">
              <a:lnSpc>
                <a:spcPct val="100000"/>
              </a:lnSpc>
              <a:spcBef>
                <a:spcPts val="5"/>
              </a:spcBef>
            </a:pPr>
            <a:r>
              <a:rPr dirty="0" sz="800" spc="-15">
                <a:solidFill>
                  <a:srgbClr val="FFFFFF"/>
                </a:solidFill>
                <a:latin typeface="SimSun"/>
                <a:cs typeface="SimSun"/>
              </a:rPr>
              <a:t>高度自动化及全自动化驾驶</a:t>
            </a:r>
            <a:endParaRPr sz="800">
              <a:latin typeface="SimSun"/>
              <a:cs typeface="SimSun"/>
            </a:endParaRPr>
          </a:p>
        </p:txBody>
      </p:sp>
      <p:grpSp>
        <p:nvGrpSpPr>
          <p:cNvPr id="34" name="object 34" descr=""/>
          <p:cNvGrpSpPr/>
          <p:nvPr/>
        </p:nvGrpSpPr>
        <p:grpSpPr>
          <a:xfrm>
            <a:off x="183267" y="1423307"/>
            <a:ext cx="8759825" cy="3578860"/>
            <a:chOff x="183267" y="1423307"/>
            <a:chExt cx="8759825" cy="3578860"/>
          </a:xfrm>
        </p:grpSpPr>
        <p:pic>
          <p:nvPicPr>
            <p:cNvPr id="35" name="object 35"/>
            <p:cNvPicPr/>
            <p:nvPr/>
          </p:nvPicPr>
          <p:blipFill>
            <a:blip r:embed="rId2" cstate="print"/>
            <a:stretch>
              <a:fillRect/>
            </a:stretch>
          </p:blipFill>
          <p:spPr>
            <a:xfrm>
              <a:off x="3770426" y="1757988"/>
              <a:ext cx="1260728" cy="762072"/>
            </a:xfrm>
            <a:prstGeom prst="rect">
              <a:avLst/>
            </a:prstGeom>
          </p:spPr>
        </p:pic>
        <p:pic>
          <p:nvPicPr>
            <p:cNvPr id="36" name="object 36"/>
            <p:cNvPicPr/>
            <p:nvPr/>
          </p:nvPicPr>
          <p:blipFill>
            <a:blip r:embed="rId3" cstate="print"/>
            <a:stretch>
              <a:fillRect/>
            </a:stretch>
          </p:blipFill>
          <p:spPr>
            <a:xfrm>
              <a:off x="2242540" y="2307539"/>
              <a:ext cx="1081876" cy="606538"/>
            </a:xfrm>
            <a:prstGeom prst="rect">
              <a:avLst/>
            </a:prstGeom>
          </p:spPr>
        </p:pic>
        <p:pic>
          <p:nvPicPr>
            <p:cNvPr id="37" name="object 37"/>
            <p:cNvPicPr/>
            <p:nvPr/>
          </p:nvPicPr>
          <p:blipFill>
            <a:blip r:embed="rId4" cstate="print"/>
            <a:stretch>
              <a:fillRect/>
            </a:stretch>
          </p:blipFill>
          <p:spPr>
            <a:xfrm>
              <a:off x="5477675" y="1423307"/>
              <a:ext cx="1132615" cy="762451"/>
            </a:xfrm>
            <a:prstGeom prst="rect">
              <a:avLst/>
            </a:prstGeom>
          </p:spPr>
        </p:pic>
        <p:pic>
          <p:nvPicPr>
            <p:cNvPr id="38" name="object 38"/>
            <p:cNvPicPr/>
            <p:nvPr/>
          </p:nvPicPr>
          <p:blipFill>
            <a:blip r:embed="rId5" cstate="print"/>
            <a:stretch>
              <a:fillRect/>
            </a:stretch>
          </p:blipFill>
          <p:spPr>
            <a:xfrm>
              <a:off x="621004" y="2832163"/>
              <a:ext cx="1213560" cy="577297"/>
            </a:xfrm>
            <a:prstGeom prst="rect">
              <a:avLst/>
            </a:prstGeom>
          </p:spPr>
        </p:pic>
        <p:sp>
          <p:nvSpPr>
            <p:cNvPr id="39" name="object 39" descr=""/>
            <p:cNvSpPr/>
            <p:nvPr/>
          </p:nvSpPr>
          <p:spPr>
            <a:xfrm>
              <a:off x="3870110" y="3747687"/>
              <a:ext cx="1082040" cy="517525"/>
            </a:xfrm>
            <a:custGeom>
              <a:avLst/>
              <a:gdLst/>
              <a:ahLst/>
              <a:cxnLst/>
              <a:rect l="l" t="t" r="r" b="b"/>
              <a:pathLst>
                <a:path w="1082039" h="517525">
                  <a:moveTo>
                    <a:pt x="1013206" y="0"/>
                  </a:moveTo>
                  <a:lnTo>
                    <a:pt x="68643" y="0"/>
                  </a:lnTo>
                  <a:lnTo>
                    <a:pt x="41924" y="5526"/>
                  </a:lnTo>
                  <a:lnTo>
                    <a:pt x="20105" y="20597"/>
                  </a:lnTo>
                  <a:lnTo>
                    <a:pt x="5394" y="42953"/>
                  </a:lnTo>
                  <a:lnTo>
                    <a:pt x="0" y="70332"/>
                  </a:lnTo>
                  <a:lnTo>
                    <a:pt x="0" y="446938"/>
                  </a:lnTo>
                  <a:lnTo>
                    <a:pt x="5394" y="474317"/>
                  </a:lnTo>
                  <a:lnTo>
                    <a:pt x="20105" y="496673"/>
                  </a:lnTo>
                  <a:lnTo>
                    <a:pt x="41924" y="511744"/>
                  </a:lnTo>
                  <a:lnTo>
                    <a:pt x="68643" y="517270"/>
                  </a:lnTo>
                  <a:lnTo>
                    <a:pt x="1013206" y="517270"/>
                  </a:lnTo>
                  <a:lnTo>
                    <a:pt x="1039931" y="511744"/>
                  </a:lnTo>
                  <a:lnTo>
                    <a:pt x="1061754" y="496673"/>
                  </a:lnTo>
                  <a:lnTo>
                    <a:pt x="1076467" y="474317"/>
                  </a:lnTo>
                  <a:lnTo>
                    <a:pt x="1081862" y="446938"/>
                  </a:lnTo>
                  <a:lnTo>
                    <a:pt x="1081862" y="431330"/>
                  </a:lnTo>
                  <a:lnTo>
                    <a:pt x="425411" y="431330"/>
                  </a:lnTo>
                  <a:lnTo>
                    <a:pt x="418093" y="430867"/>
                  </a:lnTo>
                  <a:lnTo>
                    <a:pt x="231079" y="430867"/>
                  </a:lnTo>
                  <a:lnTo>
                    <a:pt x="213832" y="430072"/>
                  </a:lnTo>
                  <a:lnTo>
                    <a:pt x="175374" y="419963"/>
                  </a:lnTo>
                  <a:lnTo>
                    <a:pt x="142773" y="387845"/>
                  </a:lnTo>
                  <a:lnTo>
                    <a:pt x="133835" y="343784"/>
                  </a:lnTo>
                  <a:lnTo>
                    <a:pt x="133121" y="304418"/>
                  </a:lnTo>
                  <a:lnTo>
                    <a:pt x="241744" y="304418"/>
                  </a:lnTo>
                  <a:lnTo>
                    <a:pt x="241744" y="265874"/>
                  </a:lnTo>
                  <a:lnTo>
                    <a:pt x="133896" y="265874"/>
                  </a:lnTo>
                  <a:lnTo>
                    <a:pt x="135622" y="180875"/>
                  </a:lnTo>
                  <a:lnTo>
                    <a:pt x="135723" y="175933"/>
                  </a:lnTo>
                  <a:lnTo>
                    <a:pt x="135823" y="170991"/>
                  </a:lnTo>
                  <a:lnTo>
                    <a:pt x="135942" y="165149"/>
                  </a:lnTo>
                  <a:lnTo>
                    <a:pt x="136068" y="158927"/>
                  </a:lnTo>
                  <a:lnTo>
                    <a:pt x="136184" y="153200"/>
                  </a:lnTo>
                  <a:lnTo>
                    <a:pt x="136279" y="148551"/>
                  </a:lnTo>
                  <a:lnTo>
                    <a:pt x="136391" y="143036"/>
                  </a:lnTo>
                  <a:lnTo>
                    <a:pt x="136481" y="138577"/>
                  </a:lnTo>
                  <a:lnTo>
                    <a:pt x="136588" y="133308"/>
                  </a:lnTo>
                  <a:lnTo>
                    <a:pt x="136670" y="129305"/>
                  </a:lnTo>
                  <a:lnTo>
                    <a:pt x="136777" y="124014"/>
                  </a:lnTo>
                  <a:lnTo>
                    <a:pt x="136844" y="120737"/>
                  </a:lnTo>
                  <a:lnTo>
                    <a:pt x="136957" y="115150"/>
                  </a:lnTo>
                  <a:lnTo>
                    <a:pt x="137003" y="112877"/>
                  </a:lnTo>
                  <a:lnTo>
                    <a:pt x="137111" y="107583"/>
                  </a:lnTo>
                  <a:lnTo>
                    <a:pt x="137172" y="104571"/>
                  </a:lnTo>
                  <a:lnTo>
                    <a:pt x="398611" y="104571"/>
                  </a:lnTo>
                  <a:lnTo>
                    <a:pt x="404787" y="102177"/>
                  </a:lnTo>
                  <a:lnTo>
                    <a:pt x="420408" y="98934"/>
                  </a:lnTo>
                  <a:lnTo>
                    <a:pt x="437705" y="97853"/>
                  </a:lnTo>
                  <a:lnTo>
                    <a:pt x="1081862" y="97853"/>
                  </a:lnTo>
                  <a:lnTo>
                    <a:pt x="1081862" y="70332"/>
                  </a:lnTo>
                  <a:lnTo>
                    <a:pt x="1076467" y="42953"/>
                  </a:lnTo>
                  <a:lnTo>
                    <a:pt x="1061754" y="20597"/>
                  </a:lnTo>
                  <a:lnTo>
                    <a:pt x="1039931" y="5526"/>
                  </a:lnTo>
                  <a:lnTo>
                    <a:pt x="1013206" y="0"/>
                  </a:lnTo>
                  <a:close/>
                </a:path>
                <a:path w="1082039" h="517525">
                  <a:moveTo>
                    <a:pt x="476199" y="401688"/>
                  </a:moveTo>
                  <a:lnTo>
                    <a:pt x="441461" y="429480"/>
                  </a:lnTo>
                  <a:lnTo>
                    <a:pt x="425411" y="431330"/>
                  </a:lnTo>
                  <a:lnTo>
                    <a:pt x="1081862" y="431330"/>
                  </a:lnTo>
                  <a:lnTo>
                    <a:pt x="1081862" y="424680"/>
                  </a:lnTo>
                  <a:lnTo>
                    <a:pt x="483727" y="424680"/>
                  </a:lnTo>
                  <a:lnTo>
                    <a:pt x="476199" y="401688"/>
                  </a:lnTo>
                  <a:close/>
                </a:path>
                <a:path w="1082039" h="517525">
                  <a:moveTo>
                    <a:pt x="346870" y="188188"/>
                  </a:moveTo>
                  <a:lnTo>
                    <a:pt x="254482" y="188188"/>
                  </a:lnTo>
                  <a:lnTo>
                    <a:pt x="269613" y="189343"/>
                  </a:lnTo>
                  <a:lnTo>
                    <a:pt x="282775" y="192808"/>
                  </a:lnTo>
                  <a:lnTo>
                    <a:pt x="315572" y="233681"/>
                  </a:lnTo>
                  <a:lnTo>
                    <a:pt x="318549" y="252831"/>
                  </a:lnTo>
                  <a:lnTo>
                    <a:pt x="318666" y="253578"/>
                  </a:lnTo>
                  <a:lnTo>
                    <a:pt x="319697" y="277736"/>
                  </a:lnTo>
                  <a:lnTo>
                    <a:pt x="319610" y="330372"/>
                  </a:lnTo>
                  <a:lnTo>
                    <a:pt x="319505" y="338783"/>
                  </a:lnTo>
                  <a:lnTo>
                    <a:pt x="319169" y="346791"/>
                  </a:lnTo>
                  <a:lnTo>
                    <a:pt x="319044" y="349665"/>
                  </a:lnTo>
                  <a:lnTo>
                    <a:pt x="318988" y="350931"/>
                  </a:lnTo>
                  <a:lnTo>
                    <a:pt x="318903" y="352880"/>
                  </a:lnTo>
                  <a:lnTo>
                    <a:pt x="307596" y="395947"/>
                  </a:lnTo>
                  <a:lnTo>
                    <a:pt x="273875" y="423519"/>
                  </a:lnTo>
                  <a:lnTo>
                    <a:pt x="224954" y="430867"/>
                  </a:lnTo>
                  <a:lnTo>
                    <a:pt x="416230" y="430867"/>
                  </a:lnTo>
                  <a:lnTo>
                    <a:pt x="378694" y="415761"/>
                  </a:lnTo>
                  <a:lnTo>
                    <a:pt x="352431" y="380552"/>
                  </a:lnTo>
                  <a:lnTo>
                    <a:pt x="346254" y="331901"/>
                  </a:lnTo>
                  <a:lnTo>
                    <a:pt x="346362" y="198453"/>
                  </a:lnTo>
                  <a:lnTo>
                    <a:pt x="346778" y="190046"/>
                  </a:lnTo>
                  <a:lnTo>
                    <a:pt x="346870" y="188188"/>
                  </a:lnTo>
                  <a:close/>
                </a:path>
                <a:path w="1082039" h="517525">
                  <a:moveTo>
                    <a:pt x="569123" y="252831"/>
                  </a:moveTo>
                  <a:lnTo>
                    <a:pt x="534746" y="252831"/>
                  </a:lnTo>
                  <a:lnTo>
                    <a:pt x="534746" y="424680"/>
                  </a:lnTo>
                  <a:lnTo>
                    <a:pt x="546878" y="424680"/>
                  </a:lnTo>
                  <a:lnTo>
                    <a:pt x="569026" y="253578"/>
                  </a:lnTo>
                  <a:lnTo>
                    <a:pt x="569123" y="252831"/>
                  </a:lnTo>
                  <a:close/>
                </a:path>
                <a:path w="1082039" h="517525">
                  <a:moveTo>
                    <a:pt x="664806" y="367093"/>
                  </a:moveTo>
                  <a:lnTo>
                    <a:pt x="635749" y="367093"/>
                  </a:lnTo>
                  <a:lnTo>
                    <a:pt x="630952" y="423519"/>
                  </a:lnTo>
                  <a:lnTo>
                    <a:pt x="630853" y="424680"/>
                  </a:lnTo>
                  <a:lnTo>
                    <a:pt x="669168" y="424680"/>
                  </a:lnTo>
                  <a:lnTo>
                    <a:pt x="665053" y="370344"/>
                  </a:lnTo>
                  <a:lnTo>
                    <a:pt x="664985" y="369455"/>
                  </a:lnTo>
                  <a:lnTo>
                    <a:pt x="664911" y="368477"/>
                  </a:lnTo>
                  <a:lnTo>
                    <a:pt x="664806" y="367093"/>
                  </a:lnTo>
                  <a:close/>
                </a:path>
                <a:path w="1082039" h="517525">
                  <a:moveTo>
                    <a:pt x="800099" y="104571"/>
                  </a:moveTo>
                  <a:lnTo>
                    <a:pt x="705726" y="104571"/>
                  </a:lnTo>
                  <a:lnTo>
                    <a:pt x="752011" y="423519"/>
                  </a:lnTo>
                  <a:lnTo>
                    <a:pt x="752070" y="423925"/>
                  </a:lnTo>
                  <a:lnTo>
                    <a:pt x="752180" y="424680"/>
                  </a:lnTo>
                  <a:lnTo>
                    <a:pt x="758650" y="424680"/>
                  </a:lnTo>
                  <a:lnTo>
                    <a:pt x="800099" y="104571"/>
                  </a:lnTo>
                  <a:close/>
                </a:path>
                <a:path w="1082039" h="517525">
                  <a:moveTo>
                    <a:pt x="876579" y="367093"/>
                  </a:moveTo>
                  <a:lnTo>
                    <a:pt x="847521" y="367093"/>
                  </a:lnTo>
                  <a:lnTo>
                    <a:pt x="842725" y="423519"/>
                  </a:lnTo>
                  <a:lnTo>
                    <a:pt x="842626" y="424680"/>
                  </a:lnTo>
                  <a:lnTo>
                    <a:pt x="880940" y="424680"/>
                  </a:lnTo>
                  <a:lnTo>
                    <a:pt x="876825" y="370344"/>
                  </a:lnTo>
                  <a:lnTo>
                    <a:pt x="876758" y="369455"/>
                  </a:lnTo>
                  <a:lnTo>
                    <a:pt x="876684" y="368477"/>
                  </a:lnTo>
                  <a:lnTo>
                    <a:pt x="876579" y="367093"/>
                  </a:lnTo>
                  <a:close/>
                </a:path>
                <a:path w="1082039" h="517525">
                  <a:moveTo>
                    <a:pt x="1081862" y="104571"/>
                  </a:moveTo>
                  <a:lnTo>
                    <a:pt x="917498" y="104571"/>
                  </a:lnTo>
                  <a:lnTo>
                    <a:pt x="963784" y="423519"/>
                  </a:lnTo>
                  <a:lnTo>
                    <a:pt x="963843" y="423925"/>
                  </a:lnTo>
                  <a:lnTo>
                    <a:pt x="963952" y="424680"/>
                  </a:lnTo>
                  <a:lnTo>
                    <a:pt x="1081862" y="424680"/>
                  </a:lnTo>
                  <a:lnTo>
                    <a:pt x="1081862" y="104571"/>
                  </a:lnTo>
                  <a:close/>
                </a:path>
                <a:path w="1082039" h="517525">
                  <a:moveTo>
                    <a:pt x="241744" y="304418"/>
                  </a:moveTo>
                  <a:lnTo>
                    <a:pt x="211073" y="304418"/>
                  </a:lnTo>
                  <a:lnTo>
                    <a:pt x="211129" y="330372"/>
                  </a:lnTo>
                  <a:lnTo>
                    <a:pt x="211207" y="338783"/>
                  </a:lnTo>
                  <a:lnTo>
                    <a:pt x="211312" y="341985"/>
                  </a:lnTo>
                  <a:lnTo>
                    <a:pt x="211371" y="343784"/>
                  </a:lnTo>
                  <a:lnTo>
                    <a:pt x="211469" y="346791"/>
                  </a:lnTo>
                  <a:lnTo>
                    <a:pt x="211564" y="349665"/>
                  </a:lnTo>
                  <a:lnTo>
                    <a:pt x="211666" y="351837"/>
                  </a:lnTo>
                  <a:lnTo>
                    <a:pt x="212085" y="358093"/>
                  </a:lnTo>
                  <a:lnTo>
                    <a:pt x="212202" y="359846"/>
                  </a:lnTo>
                  <a:lnTo>
                    <a:pt x="212268" y="360829"/>
                  </a:lnTo>
                  <a:lnTo>
                    <a:pt x="213194" y="368477"/>
                  </a:lnTo>
                  <a:lnTo>
                    <a:pt x="214604" y="377164"/>
                  </a:lnTo>
                  <a:lnTo>
                    <a:pt x="219494" y="381520"/>
                  </a:lnTo>
                  <a:lnTo>
                    <a:pt x="231724" y="381520"/>
                  </a:lnTo>
                  <a:lnTo>
                    <a:pt x="241659" y="338783"/>
                  </a:lnTo>
                  <a:lnTo>
                    <a:pt x="241744" y="304418"/>
                  </a:lnTo>
                  <a:close/>
                </a:path>
                <a:path w="1082039" h="517525">
                  <a:moveTo>
                    <a:pt x="445998" y="152018"/>
                  </a:moveTo>
                  <a:lnTo>
                    <a:pt x="435190" y="152018"/>
                  </a:lnTo>
                  <a:lnTo>
                    <a:pt x="431787" y="153987"/>
                  </a:lnTo>
                  <a:lnTo>
                    <a:pt x="427524" y="352880"/>
                  </a:lnTo>
                  <a:lnTo>
                    <a:pt x="427851" y="358093"/>
                  </a:lnTo>
                  <a:lnTo>
                    <a:pt x="427961" y="359846"/>
                  </a:lnTo>
                  <a:lnTo>
                    <a:pt x="428755" y="365670"/>
                  </a:lnTo>
                  <a:lnTo>
                    <a:pt x="428802" y="366015"/>
                  </a:lnTo>
                  <a:lnTo>
                    <a:pt x="429983" y="370344"/>
                  </a:lnTo>
                  <a:lnTo>
                    <a:pt x="431671" y="374599"/>
                  </a:lnTo>
                  <a:lnTo>
                    <a:pt x="431787" y="374891"/>
                  </a:lnTo>
                  <a:lnTo>
                    <a:pt x="435394" y="377164"/>
                  </a:lnTo>
                  <a:lnTo>
                    <a:pt x="446709" y="377164"/>
                  </a:lnTo>
                  <a:lnTo>
                    <a:pt x="450722" y="374599"/>
                  </a:lnTo>
                  <a:lnTo>
                    <a:pt x="452760" y="369658"/>
                  </a:lnTo>
                  <a:lnTo>
                    <a:pt x="452843" y="369455"/>
                  </a:lnTo>
                  <a:lnTo>
                    <a:pt x="454242" y="364691"/>
                  </a:lnTo>
                  <a:lnTo>
                    <a:pt x="455237" y="358093"/>
                  </a:lnTo>
                  <a:lnTo>
                    <a:pt x="455606" y="352880"/>
                  </a:lnTo>
                  <a:lnTo>
                    <a:pt x="455680" y="351837"/>
                  </a:lnTo>
                  <a:lnTo>
                    <a:pt x="455744" y="350931"/>
                  </a:lnTo>
                  <a:lnTo>
                    <a:pt x="455833" y="349665"/>
                  </a:lnTo>
                  <a:lnTo>
                    <a:pt x="455947" y="343784"/>
                  </a:lnTo>
                  <a:lnTo>
                    <a:pt x="456031" y="301459"/>
                  </a:lnTo>
                  <a:lnTo>
                    <a:pt x="439635" y="301459"/>
                  </a:lnTo>
                  <a:lnTo>
                    <a:pt x="439635" y="252831"/>
                  </a:lnTo>
                  <a:lnTo>
                    <a:pt x="569123" y="252831"/>
                  </a:lnTo>
                  <a:lnTo>
                    <a:pt x="573063" y="222389"/>
                  </a:lnTo>
                  <a:lnTo>
                    <a:pt x="453529" y="222389"/>
                  </a:lnTo>
                  <a:lnTo>
                    <a:pt x="453469" y="188188"/>
                  </a:lnTo>
                  <a:lnTo>
                    <a:pt x="449668" y="154317"/>
                  </a:lnTo>
                  <a:lnTo>
                    <a:pt x="445998" y="152018"/>
                  </a:lnTo>
                  <a:close/>
                </a:path>
                <a:path w="1082039" h="517525">
                  <a:moveTo>
                    <a:pt x="650303" y="175933"/>
                  </a:moveTo>
                  <a:lnTo>
                    <a:pt x="644771" y="218044"/>
                  </a:lnTo>
                  <a:lnTo>
                    <a:pt x="640195" y="255495"/>
                  </a:lnTo>
                  <a:lnTo>
                    <a:pt x="636875" y="286011"/>
                  </a:lnTo>
                  <a:lnTo>
                    <a:pt x="634707" y="310349"/>
                  </a:lnTo>
                  <a:lnTo>
                    <a:pt x="662673" y="310349"/>
                  </a:lnTo>
                  <a:lnTo>
                    <a:pt x="659586" y="281560"/>
                  </a:lnTo>
                  <a:lnTo>
                    <a:pt x="656594" y="250558"/>
                  </a:lnTo>
                  <a:lnTo>
                    <a:pt x="653404" y="214352"/>
                  </a:lnTo>
                  <a:lnTo>
                    <a:pt x="650413" y="177295"/>
                  </a:lnTo>
                  <a:lnTo>
                    <a:pt x="650303" y="175933"/>
                  </a:lnTo>
                  <a:close/>
                </a:path>
                <a:path w="1082039" h="517525">
                  <a:moveTo>
                    <a:pt x="862076" y="175933"/>
                  </a:moveTo>
                  <a:lnTo>
                    <a:pt x="856543" y="218044"/>
                  </a:lnTo>
                  <a:lnTo>
                    <a:pt x="851969" y="255495"/>
                  </a:lnTo>
                  <a:lnTo>
                    <a:pt x="848652" y="286011"/>
                  </a:lnTo>
                  <a:lnTo>
                    <a:pt x="846493" y="310349"/>
                  </a:lnTo>
                  <a:lnTo>
                    <a:pt x="874445" y="310349"/>
                  </a:lnTo>
                  <a:lnTo>
                    <a:pt x="871364" y="281560"/>
                  </a:lnTo>
                  <a:lnTo>
                    <a:pt x="868371" y="250558"/>
                  </a:lnTo>
                  <a:lnTo>
                    <a:pt x="865178" y="214352"/>
                  </a:lnTo>
                  <a:lnTo>
                    <a:pt x="862185" y="177295"/>
                  </a:lnTo>
                  <a:lnTo>
                    <a:pt x="862076" y="175933"/>
                  </a:lnTo>
                  <a:close/>
                </a:path>
                <a:path w="1082039" h="517525">
                  <a:moveTo>
                    <a:pt x="231584" y="237413"/>
                  </a:moveTo>
                  <a:lnTo>
                    <a:pt x="222326" y="237413"/>
                  </a:lnTo>
                  <a:lnTo>
                    <a:pt x="219303" y="238531"/>
                  </a:lnTo>
                  <a:lnTo>
                    <a:pt x="214414" y="243014"/>
                  </a:lnTo>
                  <a:lnTo>
                    <a:pt x="212839" y="245414"/>
                  </a:lnTo>
                  <a:lnTo>
                    <a:pt x="211429" y="250558"/>
                  </a:lnTo>
                  <a:lnTo>
                    <a:pt x="211293" y="252831"/>
                  </a:lnTo>
                  <a:lnTo>
                    <a:pt x="211249" y="253578"/>
                  </a:lnTo>
                  <a:lnTo>
                    <a:pt x="211134" y="255495"/>
                  </a:lnTo>
                  <a:lnTo>
                    <a:pt x="211073" y="265874"/>
                  </a:lnTo>
                  <a:lnTo>
                    <a:pt x="241744" y="265874"/>
                  </a:lnTo>
                  <a:lnTo>
                    <a:pt x="241744" y="256514"/>
                  </a:lnTo>
                  <a:lnTo>
                    <a:pt x="240525" y="248284"/>
                  </a:lnTo>
                  <a:lnTo>
                    <a:pt x="235635" y="239585"/>
                  </a:lnTo>
                  <a:lnTo>
                    <a:pt x="231584" y="237413"/>
                  </a:lnTo>
                  <a:close/>
                </a:path>
                <a:path w="1082039" h="517525">
                  <a:moveTo>
                    <a:pt x="1081862" y="97853"/>
                  </a:moveTo>
                  <a:lnTo>
                    <a:pt x="437705" y="97853"/>
                  </a:lnTo>
                  <a:lnTo>
                    <a:pt x="454793" y="98791"/>
                  </a:lnTo>
                  <a:lnTo>
                    <a:pt x="470360" y="101607"/>
                  </a:lnTo>
                  <a:lnTo>
                    <a:pt x="507679" y="120737"/>
                  </a:lnTo>
                  <a:lnTo>
                    <a:pt x="530733" y="160051"/>
                  </a:lnTo>
                  <a:lnTo>
                    <a:pt x="534700" y="206667"/>
                  </a:lnTo>
                  <a:lnTo>
                    <a:pt x="534746" y="222389"/>
                  </a:lnTo>
                  <a:lnTo>
                    <a:pt x="573063" y="222389"/>
                  </a:lnTo>
                  <a:lnTo>
                    <a:pt x="588314" y="104571"/>
                  </a:lnTo>
                  <a:lnTo>
                    <a:pt x="1081862" y="104571"/>
                  </a:lnTo>
                  <a:lnTo>
                    <a:pt x="1081862" y="97853"/>
                  </a:lnTo>
                  <a:close/>
                </a:path>
                <a:path w="1082039" h="517525">
                  <a:moveTo>
                    <a:pt x="398611" y="104571"/>
                  </a:moveTo>
                  <a:lnTo>
                    <a:pt x="304457" y="104571"/>
                  </a:lnTo>
                  <a:lnTo>
                    <a:pt x="304457" y="155765"/>
                  </a:lnTo>
                  <a:lnTo>
                    <a:pt x="207797" y="155765"/>
                  </a:lnTo>
                  <a:lnTo>
                    <a:pt x="207797" y="210134"/>
                  </a:lnTo>
                  <a:lnTo>
                    <a:pt x="217515" y="200532"/>
                  </a:lnTo>
                  <a:lnTo>
                    <a:pt x="228534" y="193674"/>
                  </a:lnTo>
                  <a:lnTo>
                    <a:pt x="240856" y="189560"/>
                  </a:lnTo>
                  <a:lnTo>
                    <a:pt x="254482" y="188188"/>
                  </a:lnTo>
                  <a:lnTo>
                    <a:pt x="346870" y="188188"/>
                  </a:lnTo>
                  <a:lnTo>
                    <a:pt x="347232" y="180875"/>
                  </a:lnTo>
                  <a:lnTo>
                    <a:pt x="354419" y="143036"/>
                  </a:lnTo>
                  <a:lnTo>
                    <a:pt x="390842" y="107583"/>
                  </a:lnTo>
                  <a:lnTo>
                    <a:pt x="398611" y="104571"/>
                  </a:lnTo>
                  <a:close/>
                </a:path>
              </a:pathLst>
            </a:custGeom>
            <a:solidFill>
              <a:srgbClr val="A7A8A7"/>
            </a:solidFill>
          </p:spPr>
          <p:txBody>
            <a:bodyPr wrap="square" lIns="0" tIns="0" rIns="0" bIns="0" rtlCol="0"/>
            <a:lstStyle/>
            <a:p/>
          </p:txBody>
        </p:sp>
        <p:pic>
          <p:nvPicPr>
            <p:cNvPr id="40" name="object 40" descr=""/>
            <p:cNvPicPr/>
            <p:nvPr/>
          </p:nvPicPr>
          <p:blipFill>
            <a:blip r:embed="rId6" cstate="print"/>
            <a:stretch>
              <a:fillRect/>
            </a:stretch>
          </p:blipFill>
          <p:spPr>
            <a:xfrm>
              <a:off x="4330604" y="3313649"/>
              <a:ext cx="230295" cy="255113"/>
            </a:xfrm>
            <a:prstGeom prst="rect">
              <a:avLst/>
            </a:prstGeom>
          </p:spPr>
        </p:pic>
        <p:pic>
          <p:nvPicPr>
            <p:cNvPr id="41" name="object 41"/>
            <p:cNvPicPr/>
            <p:nvPr/>
          </p:nvPicPr>
          <p:blipFill>
            <a:blip r:embed="rId7" cstate="print"/>
            <a:stretch>
              <a:fillRect/>
            </a:stretch>
          </p:blipFill>
          <p:spPr>
            <a:xfrm>
              <a:off x="883200" y="4472701"/>
              <a:ext cx="553309" cy="483485"/>
            </a:xfrm>
            <a:prstGeom prst="rect">
              <a:avLst/>
            </a:prstGeom>
          </p:spPr>
        </p:pic>
        <p:pic>
          <p:nvPicPr>
            <p:cNvPr id="42" name="object 42"/>
            <p:cNvPicPr/>
            <p:nvPr/>
          </p:nvPicPr>
          <p:blipFill>
            <a:blip r:embed="rId8" cstate="print"/>
            <a:stretch>
              <a:fillRect/>
            </a:stretch>
          </p:blipFill>
          <p:spPr>
            <a:xfrm>
              <a:off x="4869528" y="4458525"/>
              <a:ext cx="507906" cy="511857"/>
            </a:xfrm>
            <a:prstGeom prst="rect">
              <a:avLst/>
            </a:prstGeom>
          </p:spPr>
        </p:pic>
        <p:pic>
          <p:nvPicPr>
            <p:cNvPr id="43" name="object 43"/>
            <p:cNvPicPr/>
            <p:nvPr/>
          </p:nvPicPr>
          <p:blipFill>
            <a:blip r:embed="rId9" cstate="print"/>
            <a:stretch>
              <a:fillRect/>
            </a:stretch>
          </p:blipFill>
          <p:spPr>
            <a:xfrm>
              <a:off x="183267" y="4560646"/>
              <a:ext cx="558983" cy="307604"/>
            </a:xfrm>
            <a:prstGeom prst="rect">
              <a:avLst/>
            </a:prstGeom>
          </p:spPr>
        </p:pic>
        <p:pic>
          <p:nvPicPr>
            <p:cNvPr id="44" name="object 44"/>
            <p:cNvPicPr/>
            <p:nvPr/>
          </p:nvPicPr>
          <p:blipFill>
            <a:blip r:embed="rId10" cstate="print"/>
            <a:stretch>
              <a:fillRect/>
            </a:stretch>
          </p:blipFill>
          <p:spPr>
            <a:xfrm>
              <a:off x="7767460" y="4512741"/>
              <a:ext cx="1175269" cy="403423"/>
            </a:xfrm>
            <a:prstGeom prst="rect">
              <a:avLst/>
            </a:prstGeom>
          </p:spPr>
        </p:pic>
        <p:pic>
          <p:nvPicPr>
            <p:cNvPr id="45" name="object 45"/>
            <p:cNvPicPr/>
            <p:nvPr/>
          </p:nvPicPr>
          <p:blipFill>
            <a:blip r:embed="rId11" cstate="print"/>
            <a:stretch>
              <a:fillRect/>
            </a:stretch>
          </p:blipFill>
          <p:spPr>
            <a:xfrm>
              <a:off x="3007415" y="4536694"/>
              <a:ext cx="1721162" cy="355511"/>
            </a:xfrm>
            <a:prstGeom prst="rect">
              <a:avLst/>
            </a:prstGeom>
          </p:spPr>
        </p:pic>
        <p:pic>
          <p:nvPicPr>
            <p:cNvPr id="46" name="object 46"/>
            <p:cNvPicPr/>
            <p:nvPr/>
          </p:nvPicPr>
          <p:blipFill>
            <a:blip r:embed="rId12" cstate="print"/>
            <a:stretch>
              <a:fillRect/>
            </a:stretch>
          </p:blipFill>
          <p:spPr>
            <a:xfrm>
              <a:off x="5518391" y="4426915"/>
              <a:ext cx="836293" cy="575072"/>
            </a:xfrm>
            <a:prstGeom prst="rect">
              <a:avLst/>
            </a:prstGeom>
          </p:spPr>
        </p:pic>
        <p:pic>
          <p:nvPicPr>
            <p:cNvPr id="47" name="object 47"/>
            <p:cNvPicPr/>
            <p:nvPr/>
          </p:nvPicPr>
          <p:blipFill>
            <a:blip r:embed="rId13" cstate="print"/>
            <a:stretch>
              <a:fillRect/>
            </a:stretch>
          </p:blipFill>
          <p:spPr>
            <a:xfrm>
              <a:off x="6495630" y="4618939"/>
              <a:ext cx="1130891" cy="191019"/>
            </a:xfrm>
            <a:prstGeom prst="rect">
              <a:avLst/>
            </a:prstGeom>
          </p:spPr>
        </p:pic>
        <p:pic>
          <p:nvPicPr>
            <p:cNvPr id="48" name="object 48"/>
            <p:cNvPicPr/>
            <p:nvPr/>
          </p:nvPicPr>
          <p:blipFill>
            <a:blip r:embed="rId14" cstate="print"/>
            <a:stretch>
              <a:fillRect/>
            </a:stretch>
          </p:blipFill>
          <p:spPr>
            <a:xfrm>
              <a:off x="1623047" y="4622469"/>
              <a:ext cx="1221210" cy="216535"/>
            </a:xfrm>
            <a:prstGeom prst="rect">
              <a:avLst/>
            </a:prstGeom>
          </p:spPr>
        </p:pic>
        <p:pic>
          <p:nvPicPr>
            <p:cNvPr id="49" name="object 49" descr=""/>
            <p:cNvPicPr/>
            <p:nvPr/>
          </p:nvPicPr>
          <p:blipFill>
            <a:blip r:embed="rId15" cstate="print"/>
            <a:stretch>
              <a:fillRect/>
            </a:stretch>
          </p:blipFill>
          <p:spPr>
            <a:xfrm>
              <a:off x="5203697" y="2887217"/>
              <a:ext cx="1255763" cy="339851"/>
            </a:xfrm>
            <a:prstGeom prst="rect">
              <a:avLst/>
            </a:prstGeom>
          </p:spPr>
        </p:pic>
        <p:pic>
          <p:nvPicPr>
            <p:cNvPr id="50" name="object 50" descr=""/>
            <p:cNvPicPr/>
            <p:nvPr/>
          </p:nvPicPr>
          <p:blipFill>
            <a:blip r:embed="rId16" cstate="print"/>
            <a:stretch>
              <a:fillRect/>
            </a:stretch>
          </p:blipFill>
          <p:spPr>
            <a:xfrm>
              <a:off x="6219444" y="2960369"/>
              <a:ext cx="618743" cy="261365"/>
            </a:xfrm>
            <a:prstGeom prst="rect">
              <a:avLst/>
            </a:prstGeom>
          </p:spPr>
        </p:pic>
      </p:grpSp>
      <p:sp>
        <p:nvSpPr>
          <p:cNvPr id="51" name="object 51" descr=""/>
          <p:cNvSpPr txBox="1"/>
          <p:nvPr/>
        </p:nvSpPr>
        <p:spPr>
          <a:xfrm>
            <a:off x="5044493" y="3874428"/>
            <a:ext cx="2323465" cy="363855"/>
          </a:xfrm>
          <a:prstGeom prst="rect">
            <a:avLst/>
          </a:prstGeom>
        </p:spPr>
        <p:txBody>
          <a:bodyPr wrap="square" lIns="0" tIns="10160" rIns="0" bIns="0" rtlCol="0" vert="horz">
            <a:spAutoFit/>
          </a:bodyPr>
          <a:lstStyle/>
          <a:p>
            <a:pPr marL="12700" marR="5080" indent="221615">
              <a:lnSpc>
                <a:spcPct val="101800"/>
              </a:lnSpc>
              <a:spcBef>
                <a:spcPts val="80"/>
              </a:spcBef>
            </a:pPr>
            <a:r>
              <a:rPr dirty="0" sz="1000">
                <a:solidFill>
                  <a:srgbClr val="FFFFFF"/>
                </a:solidFill>
                <a:latin typeface="Segoe UI Light"/>
                <a:cs typeface="Segoe UI Light"/>
              </a:rPr>
              <a:t>5G</a:t>
            </a:r>
            <a:r>
              <a:rPr dirty="0" sz="1000" spc="-40">
                <a:solidFill>
                  <a:srgbClr val="FFFFFF"/>
                </a:solidFill>
                <a:latin typeface="Segoe UI Light"/>
                <a:cs typeface="Segoe UI Light"/>
              </a:rPr>
              <a:t> </a:t>
            </a:r>
            <a:r>
              <a:rPr dirty="0" sz="1000">
                <a:solidFill>
                  <a:srgbClr val="FFFFFF"/>
                </a:solidFill>
                <a:latin typeface="Segoe UI Light"/>
                <a:cs typeface="Segoe UI Light"/>
              </a:rPr>
              <a:t>Automotive</a:t>
            </a:r>
            <a:r>
              <a:rPr dirty="0" sz="1000" spc="-40">
                <a:solidFill>
                  <a:srgbClr val="FFFFFF"/>
                </a:solidFill>
                <a:latin typeface="Segoe UI Light"/>
                <a:cs typeface="Segoe UI Light"/>
              </a:rPr>
              <a:t> </a:t>
            </a:r>
            <a:r>
              <a:rPr dirty="0" sz="1000">
                <a:solidFill>
                  <a:srgbClr val="FFFFFF"/>
                </a:solidFill>
                <a:latin typeface="Segoe UI Light"/>
                <a:cs typeface="Segoe UI Light"/>
              </a:rPr>
              <a:t>Association</a:t>
            </a:r>
            <a:r>
              <a:rPr dirty="0" sz="1000" spc="-40">
                <a:solidFill>
                  <a:srgbClr val="FFFFFF"/>
                </a:solidFill>
                <a:latin typeface="Segoe UI Light"/>
                <a:cs typeface="Segoe UI Light"/>
              </a:rPr>
              <a:t> </a:t>
            </a:r>
            <a:r>
              <a:rPr dirty="0" sz="1000" spc="-10">
                <a:solidFill>
                  <a:srgbClr val="FFFFFF"/>
                </a:solidFill>
                <a:latin typeface="Segoe UI Light"/>
                <a:cs typeface="Segoe UI Light"/>
              </a:rPr>
              <a:t>(5GAA)</a:t>
            </a:r>
            <a:r>
              <a:rPr dirty="0" sz="1000" spc="500">
                <a:solidFill>
                  <a:srgbClr val="FFFFFF"/>
                </a:solidFill>
                <a:latin typeface="Segoe UI Light"/>
                <a:cs typeface="Segoe UI Light"/>
              </a:rPr>
              <a:t> </a:t>
            </a:r>
            <a:r>
              <a:rPr dirty="0" sz="1000">
                <a:solidFill>
                  <a:srgbClr val="FFFFFF"/>
                </a:solidFill>
                <a:latin typeface="Segoe UI Light"/>
                <a:cs typeface="Segoe UI Light"/>
              </a:rPr>
              <a:t>Was</a:t>
            </a:r>
            <a:r>
              <a:rPr dirty="0" sz="1000" spc="-30">
                <a:solidFill>
                  <a:srgbClr val="FFFFFF"/>
                </a:solidFill>
                <a:latin typeface="Segoe UI Light"/>
                <a:cs typeface="Segoe UI Light"/>
              </a:rPr>
              <a:t> </a:t>
            </a:r>
            <a:r>
              <a:rPr dirty="0" sz="1000">
                <a:solidFill>
                  <a:srgbClr val="FFFFFF"/>
                </a:solidFill>
                <a:latin typeface="Segoe UI Light"/>
                <a:cs typeface="Segoe UI Light"/>
              </a:rPr>
              <a:t>Founded</a:t>
            </a:r>
            <a:r>
              <a:rPr dirty="0" sz="1000" spc="-45">
                <a:solidFill>
                  <a:srgbClr val="FFFFFF"/>
                </a:solidFill>
                <a:latin typeface="Segoe UI Light"/>
                <a:cs typeface="Segoe UI Light"/>
              </a:rPr>
              <a:t> </a:t>
            </a:r>
            <a:r>
              <a:rPr dirty="0" sz="1000">
                <a:solidFill>
                  <a:srgbClr val="FFFFFF"/>
                </a:solidFill>
                <a:latin typeface="Segoe UI Light"/>
                <a:cs typeface="Segoe UI Light"/>
              </a:rPr>
              <a:t>in</a:t>
            </a:r>
            <a:r>
              <a:rPr dirty="0" sz="1000" spc="-25">
                <a:solidFill>
                  <a:srgbClr val="FFFFFF"/>
                </a:solidFill>
                <a:latin typeface="Segoe UI Light"/>
                <a:cs typeface="Segoe UI Light"/>
              </a:rPr>
              <a:t> </a:t>
            </a:r>
            <a:r>
              <a:rPr dirty="0" sz="1000">
                <a:solidFill>
                  <a:srgbClr val="FFFFFF"/>
                </a:solidFill>
                <a:latin typeface="Segoe UI Light"/>
                <a:cs typeface="Segoe UI Light"/>
              </a:rPr>
              <a:t>Munich,</a:t>
            </a:r>
            <a:r>
              <a:rPr dirty="0" sz="1000" spc="-35">
                <a:solidFill>
                  <a:srgbClr val="FFFFFF"/>
                </a:solidFill>
                <a:latin typeface="Segoe UI Light"/>
                <a:cs typeface="Segoe UI Light"/>
              </a:rPr>
              <a:t> </a:t>
            </a:r>
            <a:r>
              <a:rPr dirty="0" sz="1000">
                <a:solidFill>
                  <a:srgbClr val="FFFFFF"/>
                </a:solidFill>
                <a:latin typeface="Segoe UI Light"/>
                <a:cs typeface="Segoe UI Light"/>
              </a:rPr>
              <a:t>September,</a:t>
            </a:r>
            <a:r>
              <a:rPr dirty="0" sz="1000" spc="-40">
                <a:solidFill>
                  <a:srgbClr val="FFFFFF"/>
                </a:solidFill>
                <a:latin typeface="Segoe UI Light"/>
                <a:cs typeface="Segoe UI Light"/>
              </a:rPr>
              <a:t> </a:t>
            </a:r>
            <a:r>
              <a:rPr dirty="0" sz="1200" spc="-20">
                <a:solidFill>
                  <a:srgbClr val="FFC000"/>
                </a:solidFill>
                <a:latin typeface="Impact"/>
                <a:cs typeface="Impact"/>
              </a:rPr>
              <a:t>2016</a:t>
            </a:r>
            <a:endParaRPr sz="1200">
              <a:latin typeface="Impact"/>
              <a:cs typeface="Impact"/>
            </a:endParaRPr>
          </a:p>
        </p:txBody>
      </p:sp>
      <p:sp>
        <p:nvSpPr>
          <p:cNvPr id="52" name="object 52" descr=""/>
          <p:cNvSpPr txBox="1"/>
          <p:nvPr/>
        </p:nvSpPr>
        <p:spPr>
          <a:xfrm>
            <a:off x="7226363" y="906632"/>
            <a:ext cx="1170940"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FFC000"/>
                </a:solidFill>
                <a:latin typeface="SimSun"/>
                <a:cs typeface="SimSun"/>
              </a:rPr>
              <a:t>智能驾驶KPI</a:t>
            </a:r>
            <a:r>
              <a:rPr dirty="0" sz="1200" spc="-25">
                <a:solidFill>
                  <a:srgbClr val="FFC000"/>
                </a:solidFill>
                <a:latin typeface="SimSun"/>
                <a:cs typeface="SimSun"/>
              </a:rPr>
              <a:t>需求</a:t>
            </a:r>
            <a:endParaRPr sz="1200">
              <a:latin typeface="SimSun"/>
              <a:cs typeface="SimSun"/>
            </a:endParaRPr>
          </a:p>
        </p:txBody>
      </p:sp>
      <p:sp>
        <p:nvSpPr>
          <p:cNvPr id="53" name="object 53" descr=""/>
          <p:cNvSpPr txBox="1"/>
          <p:nvPr/>
        </p:nvSpPr>
        <p:spPr>
          <a:xfrm>
            <a:off x="7105126" y="3180167"/>
            <a:ext cx="1686560" cy="147320"/>
          </a:xfrm>
          <a:prstGeom prst="rect">
            <a:avLst/>
          </a:prstGeom>
        </p:spPr>
        <p:txBody>
          <a:bodyPr wrap="square" lIns="0" tIns="12065" rIns="0" bIns="0" rtlCol="0" vert="horz">
            <a:spAutoFit/>
          </a:bodyPr>
          <a:lstStyle/>
          <a:p>
            <a:pPr marL="12700">
              <a:lnSpc>
                <a:spcPct val="100000"/>
              </a:lnSpc>
              <a:spcBef>
                <a:spcPts val="95"/>
              </a:spcBef>
            </a:pPr>
            <a:r>
              <a:rPr dirty="0" sz="800" spc="-10">
                <a:solidFill>
                  <a:srgbClr val="FFFFFF"/>
                </a:solidFill>
                <a:latin typeface="Arial MT"/>
                <a:cs typeface="Arial MT"/>
              </a:rPr>
              <a:t>*</a:t>
            </a:r>
            <a:r>
              <a:rPr dirty="0" sz="800" spc="-15">
                <a:solidFill>
                  <a:srgbClr val="FFFFFF"/>
                </a:solidFill>
                <a:latin typeface="SimSun"/>
                <a:cs typeface="SimSun"/>
              </a:rPr>
              <a:t>由美国汽车工程师学会和德国汽车工</a:t>
            </a:r>
            <a:endParaRPr sz="800">
              <a:latin typeface="SimSun"/>
              <a:cs typeface="SimSun"/>
            </a:endParaRPr>
          </a:p>
        </p:txBody>
      </p:sp>
      <p:sp>
        <p:nvSpPr>
          <p:cNvPr id="54" name="object 54" descr=""/>
          <p:cNvSpPr txBox="1"/>
          <p:nvPr/>
        </p:nvSpPr>
        <p:spPr>
          <a:xfrm>
            <a:off x="5318301" y="2935206"/>
            <a:ext cx="1425575" cy="269875"/>
          </a:xfrm>
          <a:prstGeom prst="rect">
            <a:avLst/>
          </a:prstGeom>
        </p:spPr>
        <p:txBody>
          <a:bodyPr wrap="square" lIns="0" tIns="12700" rIns="0" bIns="0" rtlCol="0" vert="horz">
            <a:spAutoFit/>
          </a:bodyPr>
          <a:lstStyle/>
          <a:p>
            <a:pPr marL="12700">
              <a:lnSpc>
                <a:spcPct val="100000"/>
              </a:lnSpc>
              <a:spcBef>
                <a:spcPts val="100"/>
              </a:spcBef>
            </a:pPr>
            <a:r>
              <a:rPr dirty="0" sz="1600" b="1">
                <a:solidFill>
                  <a:srgbClr val="FFC000"/>
                </a:solidFill>
                <a:latin typeface="Arial"/>
                <a:cs typeface="Arial"/>
              </a:rPr>
              <a:t>&gt;99.999</a:t>
            </a:r>
            <a:r>
              <a:rPr dirty="0" sz="1600" spc="-10" b="1">
                <a:solidFill>
                  <a:srgbClr val="FFC000"/>
                </a:solidFill>
                <a:latin typeface="Arial"/>
                <a:cs typeface="Arial"/>
              </a:rPr>
              <a:t>% </a:t>
            </a:r>
            <a:r>
              <a:rPr dirty="0" sz="1100" spc="-25" b="1">
                <a:solidFill>
                  <a:srgbClr val="FFC000"/>
                </a:solidFill>
                <a:latin typeface="Microsoft JhengHei"/>
                <a:cs typeface="Microsoft JhengHei"/>
              </a:rPr>
              <a:t>可靠性</a:t>
            </a:r>
            <a:endParaRPr sz="1100">
              <a:latin typeface="Microsoft JhengHei"/>
              <a:cs typeface="Microsoft JhengHei"/>
            </a:endParaRPr>
          </a:p>
        </p:txBody>
      </p:sp>
      <p:grpSp>
        <p:nvGrpSpPr>
          <p:cNvPr id="55" name="object 55" descr=""/>
          <p:cNvGrpSpPr/>
          <p:nvPr/>
        </p:nvGrpSpPr>
        <p:grpSpPr>
          <a:xfrm>
            <a:off x="5205983" y="3348227"/>
            <a:ext cx="2208530" cy="340360"/>
            <a:chOff x="5205983" y="3348227"/>
            <a:chExt cx="2208530" cy="340360"/>
          </a:xfrm>
        </p:grpSpPr>
        <p:pic>
          <p:nvPicPr>
            <p:cNvPr id="56" name="object 56" descr=""/>
            <p:cNvPicPr/>
            <p:nvPr/>
          </p:nvPicPr>
          <p:blipFill>
            <a:blip r:embed="rId17" cstate="print"/>
            <a:stretch>
              <a:fillRect/>
            </a:stretch>
          </p:blipFill>
          <p:spPr>
            <a:xfrm>
              <a:off x="5205983" y="3348227"/>
              <a:ext cx="911351" cy="339851"/>
            </a:xfrm>
            <a:prstGeom prst="rect">
              <a:avLst/>
            </a:prstGeom>
          </p:spPr>
        </p:pic>
        <p:pic>
          <p:nvPicPr>
            <p:cNvPr id="57" name="object 57" descr=""/>
            <p:cNvPicPr/>
            <p:nvPr/>
          </p:nvPicPr>
          <p:blipFill>
            <a:blip r:embed="rId18" cstate="print"/>
            <a:stretch>
              <a:fillRect/>
            </a:stretch>
          </p:blipFill>
          <p:spPr>
            <a:xfrm>
              <a:off x="5868923" y="3412997"/>
              <a:ext cx="475487" cy="271271"/>
            </a:xfrm>
            <a:prstGeom prst="rect">
              <a:avLst/>
            </a:prstGeom>
          </p:spPr>
        </p:pic>
        <p:pic>
          <p:nvPicPr>
            <p:cNvPr id="58" name="object 58" descr=""/>
            <p:cNvPicPr/>
            <p:nvPr/>
          </p:nvPicPr>
          <p:blipFill>
            <a:blip r:embed="rId19" cstate="print"/>
            <a:stretch>
              <a:fillRect/>
            </a:stretch>
          </p:blipFill>
          <p:spPr>
            <a:xfrm>
              <a:off x="6131052" y="3404628"/>
              <a:ext cx="1283207" cy="279640"/>
            </a:xfrm>
            <a:prstGeom prst="rect">
              <a:avLst/>
            </a:prstGeom>
          </p:spPr>
        </p:pic>
      </p:grpSp>
      <p:sp>
        <p:nvSpPr>
          <p:cNvPr id="59" name="object 59" descr=""/>
          <p:cNvSpPr txBox="1"/>
          <p:nvPr/>
        </p:nvSpPr>
        <p:spPr>
          <a:xfrm>
            <a:off x="5320563" y="3302086"/>
            <a:ext cx="2519680" cy="363855"/>
          </a:xfrm>
          <a:prstGeom prst="rect">
            <a:avLst/>
          </a:prstGeom>
        </p:spPr>
        <p:txBody>
          <a:bodyPr wrap="square" lIns="0" tIns="12065" rIns="0" bIns="0" rtlCol="0" vert="horz">
            <a:spAutoFit/>
          </a:bodyPr>
          <a:lstStyle/>
          <a:p>
            <a:pPr algn="r" marR="5080">
              <a:lnSpc>
                <a:spcPts val="850"/>
              </a:lnSpc>
              <a:spcBef>
                <a:spcPts val="95"/>
              </a:spcBef>
            </a:pPr>
            <a:r>
              <a:rPr dirty="0" sz="800" spc="-20">
                <a:solidFill>
                  <a:srgbClr val="FFFFFF"/>
                </a:solidFill>
                <a:latin typeface="SimSun"/>
                <a:cs typeface="SimSun"/>
              </a:rPr>
              <a:t>业学会联合定义</a:t>
            </a:r>
            <a:endParaRPr sz="800">
              <a:latin typeface="SimSun"/>
              <a:cs typeface="SimSun"/>
            </a:endParaRPr>
          </a:p>
          <a:p>
            <a:pPr marL="12700">
              <a:lnSpc>
                <a:spcPts val="1810"/>
              </a:lnSpc>
            </a:pPr>
            <a:r>
              <a:rPr dirty="0" sz="1600" spc="-5" b="1">
                <a:solidFill>
                  <a:srgbClr val="FFC000"/>
                </a:solidFill>
                <a:latin typeface="Arial"/>
                <a:cs typeface="Arial"/>
              </a:rPr>
              <a:t>&lt; </a:t>
            </a:r>
            <a:r>
              <a:rPr dirty="0" sz="1600" b="1">
                <a:solidFill>
                  <a:srgbClr val="FFC000"/>
                </a:solidFill>
                <a:latin typeface="Arial"/>
                <a:cs typeface="Arial"/>
              </a:rPr>
              <a:t>5~10</a:t>
            </a:r>
            <a:r>
              <a:rPr dirty="0" sz="1200" b="1">
                <a:solidFill>
                  <a:srgbClr val="FFC000"/>
                </a:solidFill>
                <a:latin typeface="Arial"/>
                <a:cs typeface="Arial"/>
              </a:rPr>
              <a:t>ms</a:t>
            </a:r>
            <a:r>
              <a:rPr dirty="0" sz="1200" spc="-5" b="1">
                <a:solidFill>
                  <a:srgbClr val="FFC000"/>
                </a:solidFill>
                <a:latin typeface="Arial"/>
                <a:cs typeface="Arial"/>
              </a:rPr>
              <a:t> </a:t>
            </a:r>
            <a:r>
              <a:rPr dirty="0" sz="1200" spc="-10" b="1">
                <a:solidFill>
                  <a:srgbClr val="FFC000"/>
                </a:solidFill>
                <a:latin typeface="Microsoft JhengHei"/>
                <a:cs typeface="Microsoft JhengHei"/>
              </a:rPr>
              <a:t>端到端时延保证</a:t>
            </a:r>
            <a:endParaRPr sz="1200">
              <a:latin typeface="Microsoft JhengHei"/>
              <a:cs typeface="Microsoft JhengHei"/>
            </a:endParaRPr>
          </a:p>
        </p:txBody>
      </p:sp>
      <p:graphicFrame>
        <p:nvGraphicFramePr>
          <p:cNvPr id="60" name="object 60" descr=""/>
          <p:cNvGraphicFramePr>
            <a:graphicFrameLocks noGrp="1"/>
          </p:cNvGraphicFramePr>
          <p:nvPr/>
        </p:nvGraphicFramePr>
        <p:xfrm>
          <a:off x="6876487" y="1299016"/>
          <a:ext cx="2272665" cy="1792605"/>
        </p:xfrm>
        <a:graphic>
          <a:graphicData uri="http://schemas.openxmlformats.org/drawingml/2006/table">
            <a:tbl>
              <a:tblPr firstRow="1" bandRow="1">
                <a:tableStyleId>{2D5ABB26-0587-4C30-8999-92F81FD0307C}</a:tableStyleId>
              </a:tblPr>
              <a:tblGrid>
                <a:gridCol w="466725"/>
                <a:gridCol w="473075"/>
                <a:gridCol w="466725"/>
                <a:gridCol w="777875"/>
              </a:tblGrid>
              <a:tr h="518159">
                <a:tc>
                  <a:txBody>
                    <a:bodyPr/>
                    <a:lstStyle/>
                    <a:p>
                      <a:pPr>
                        <a:lnSpc>
                          <a:spcPct val="100000"/>
                        </a:lnSpc>
                        <a:spcBef>
                          <a:spcPts val="465"/>
                        </a:spcBef>
                      </a:pPr>
                      <a:endParaRPr sz="700">
                        <a:latin typeface="Times New Roman"/>
                        <a:cs typeface="Times New Roman"/>
                      </a:endParaRPr>
                    </a:p>
                    <a:p>
                      <a:pPr marL="61594" marR="127635">
                        <a:lnSpc>
                          <a:spcPts val="810"/>
                        </a:lnSpc>
                      </a:pPr>
                      <a:r>
                        <a:rPr dirty="0" sz="700" spc="-20">
                          <a:solidFill>
                            <a:srgbClr val="FFFFFF"/>
                          </a:solidFill>
                          <a:latin typeface="SimSun"/>
                          <a:cs typeface="SimSun"/>
                        </a:rPr>
                        <a:t>自动化</a:t>
                      </a:r>
                      <a:r>
                        <a:rPr dirty="0" sz="700" spc="-25">
                          <a:solidFill>
                            <a:srgbClr val="FFFFFF"/>
                          </a:solidFill>
                          <a:latin typeface="SimSun"/>
                          <a:cs typeface="SimSun"/>
                        </a:rPr>
                        <a:t>程度</a:t>
                      </a:r>
                      <a:endParaRPr sz="700">
                        <a:latin typeface="SimSun"/>
                        <a:cs typeface="SimSun"/>
                      </a:endParaRPr>
                    </a:p>
                  </a:txBody>
                  <a:tcPr marL="0" marR="0" marB="0" marT="5905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nSpc>
                          <a:spcPct val="100000"/>
                        </a:lnSpc>
                        <a:spcBef>
                          <a:spcPts val="465"/>
                        </a:spcBef>
                      </a:pPr>
                      <a:endParaRPr sz="700">
                        <a:latin typeface="Times New Roman"/>
                        <a:cs typeface="Times New Roman"/>
                      </a:endParaRPr>
                    </a:p>
                    <a:p>
                      <a:pPr marL="61594" marR="124460">
                        <a:lnSpc>
                          <a:spcPts val="810"/>
                        </a:lnSpc>
                      </a:pPr>
                      <a:r>
                        <a:rPr dirty="0" sz="700" spc="-20">
                          <a:solidFill>
                            <a:srgbClr val="FFFFFF"/>
                          </a:solidFill>
                          <a:latin typeface="SimSun"/>
                          <a:cs typeface="SimSun"/>
                        </a:rPr>
                        <a:t>传输时</a:t>
                      </a:r>
                      <a:r>
                        <a:rPr dirty="0" sz="700">
                          <a:solidFill>
                            <a:srgbClr val="FFFFFF"/>
                          </a:solidFill>
                          <a:latin typeface="SimSun"/>
                          <a:cs typeface="SimSun"/>
                        </a:rPr>
                        <a:t>延</a:t>
                      </a:r>
                      <a:r>
                        <a:rPr dirty="0" sz="700" spc="-20" b="1">
                          <a:solidFill>
                            <a:srgbClr val="FFFFFF"/>
                          </a:solidFill>
                          <a:latin typeface="Arial"/>
                          <a:cs typeface="Arial"/>
                        </a:rPr>
                        <a:t>(ms)</a:t>
                      </a:r>
                      <a:endParaRPr sz="700">
                        <a:latin typeface="Arial"/>
                        <a:cs typeface="Arial"/>
                      </a:endParaRPr>
                    </a:p>
                  </a:txBody>
                  <a:tcPr marL="0" marR="0" marB="0" marT="5905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nSpc>
                          <a:spcPct val="100000"/>
                        </a:lnSpc>
                        <a:spcBef>
                          <a:spcPts val="10"/>
                        </a:spcBef>
                      </a:pPr>
                      <a:endParaRPr sz="700">
                        <a:latin typeface="Times New Roman"/>
                        <a:cs typeface="Times New Roman"/>
                      </a:endParaRPr>
                    </a:p>
                    <a:p>
                      <a:pPr algn="just" marL="61594" marR="74295">
                        <a:lnSpc>
                          <a:spcPct val="98200"/>
                        </a:lnSpc>
                      </a:pPr>
                      <a:r>
                        <a:rPr dirty="0" sz="700" spc="-20">
                          <a:solidFill>
                            <a:srgbClr val="FFFFFF"/>
                          </a:solidFill>
                          <a:latin typeface="SimSun"/>
                          <a:cs typeface="SimSun"/>
                        </a:rPr>
                        <a:t>传输速</a:t>
                      </a:r>
                      <a:r>
                        <a:rPr dirty="0" sz="700">
                          <a:solidFill>
                            <a:srgbClr val="FFFFFF"/>
                          </a:solidFill>
                          <a:latin typeface="SimSun"/>
                          <a:cs typeface="SimSun"/>
                        </a:rPr>
                        <a:t>率</a:t>
                      </a:r>
                      <a:r>
                        <a:rPr dirty="0" sz="700" spc="-10" b="1">
                          <a:solidFill>
                            <a:srgbClr val="FFFFFF"/>
                          </a:solidFill>
                          <a:latin typeface="Arial"/>
                          <a:cs typeface="Arial"/>
                        </a:rPr>
                        <a:t>/</a:t>
                      </a:r>
                      <a:r>
                        <a:rPr dirty="0" sz="700">
                          <a:solidFill>
                            <a:srgbClr val="FFFFFF"/>
                          </a:solidFill>
                          <a:latin typeface="SimSun"/>
                          <a:cs typeface="SimSun"/>
                        </a:rPr>
                        <a:t>车</a:t>
                      </a:r>
                      <a:r>
                        <a:rPr dirty="0" sz="700" spc="-50">
                          <a:solidFill>
                            <a:srgbClr val="FFFFFF"/>
                          </a:solidFill>
                          <a:latin typeface="SimSun"/>
                          <a:cs typeface="SimSun"/>
                        </a:rPr>
                        <a:t>（ </a:t>
                      </a:r>
                      <a:r>
                        <a:rPr dirty="0" sz="700" spc="-10" b="1">
                          <a:solidFill>
                            <a:srgbClr val="FFFFFF"/>
                          </a:solidFill>
                          <a:latin typeface="Arial"/>
                          <a:cs typeface="Arial"/>
                        </a:rPr>
                        <a:t>Mbps</a:t>
                      </a:r>
                      <a:r>
                        <a:rPr dirty="0" sz="700" spc="-10">
                          <a:solidFill>
                            <a:srgbClr val="FFFFFF"/>
                          </a:solidFill>
                          <a:latin typeface="SimSun"/>
                          <a:cs typeface="SimSun"/>
                        </a:rPr>
                        <a:t>）</a:t>
                      </a:r>
                      <a:endParaRPr sz="700">
                        <a:latin typeface="SimSun"/>
                        <a:cs typeface="SimSun"/>
                      </a:endParaRPr>
                    </a:p>
                  </a:txBody>
                  <a:tcPr marL="0" marR="0" marB="0" marT="127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a:lnSpc>
                          <a:spcPct val="100000"/>
                        </a:lnSpc>
                      </a:pPr>
                      <a:endParaRPr sz="700">
                        <a:latin typeface="Times New Roman"/>
                        <a:cs typeface="Times New Roman"/>
                      </a:endParaRPr>
                    </a:p>
                    <a:p>
                      <a:pPr>
                        <a:lnSpc>
                          <a:spcPct val="100000"/>
                        </a:lnSpc>
                      </a:pPr>
                      <a:endParaRPr sz="700">
                        <a:latin typeface="Times New Roman"/>
                        <a:cs typeface="Times New Roman"/>
                      </a:endParaRPr>
                    </a:p>
                    <a:p>
                      <a:pPr marL="61594">
                        <a:lnSpc>
                          <a:spcPct val="100000"/>
                        </a:lnSpc>
                      </a:pPr>
                      <a:r>
                        <a:rPr dirty="0" sz="700" spc="-15">
                          <a:solidFill>
                            <a:srgbClr val="FFFFFF"/>
                          </a:solidFill>
                          <a:latin typeface="SimSun"/>
                          <a:cs typeface="SimSun"/>
                        </a:rPr>
                        <a:t>典型系统</a:t>
                      </a:r>
                      <a:endParaRPr sz="700">
                        <a:latin typeface="SimSun"/>
                        <a:cs typeface="SimSun"/>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r>
              <a:tr h="290195">
                <a:tc>
                  <a:txBody>
                    <a:bodyPr/>
                    <a:lstStyle/>
                    <a:p>
                      <a:pPr marL="61594" marR="128905">
                        <a:lnSpc>
                          <a:spcPts val="810"/>
                        </a:lnSpc>
                        <a:spcBef>
                          <a:spcPts val="375"/>
                        </a:spcBef>
                      </a:pPr>
                      <a:r>
                        <a:rPr dirty="0" sz="700" spc="-20">
                          <a:solidFill>
                            <a:srgbClr val="FFFFFF"/>
                          </a:solidFill>
                          <a:latin typeface="SimSun"/>
                          <a:cs typeface="SimSun"/>
                        </a:rPr>
                        <a:t>驾驶辅</a:t>
                      </a:r>
                      <a:r>
                        <a:rPr dirty="0" sz="700" spc="-50">
                          <a:solidFill>
                            <a:srgbClr val="FFFFFF"/>
                          </a:solidFill>
                          <a:latin typeface="SimSun"/>
                          <a:cs typeface="SimSun"/>
                        </a:rPr>
                        <a:t>助</a:t>
                      </a:r>
                      <a:endParaRPr sz="700">
                        <a:latin typeface="SimSun"/>
                        <a:cs typeface="SimSun"/>
                      </a:endParaRPr>
                    </a:p>
                  </a:txBody>
                  <a:tcPr marL="0" marR="0" marB="0" marT="4762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280"/>
                        </a:spcBef>
                      </a:pPr>
                      <a:r>
                        <a:rPr dirty="0" sz="700" spc="-20">
                          <a:solidFill>
                            <a:srgbClr val="FFFFFF"/>
                          </a:solidFill>
                          <a:latin typeface="Arial MT"/>
                          <a:cs typeface="Arial MT"/>
                        </a:rPr>
                        <a:t>100-</a:t>
                      </a:r>
                      <a:endParaRPr sz="700">
                        <a:latin typeface="Arial MT"/>
                        <a:cs typeface="Arial MT"/>
                      </a:endParaRPr>
                    </a:p>
                    <a:p>
                      <a:pPr marL="61594">
                        <a:lnSpc>
                          <a:spcPct val="100000"/>
                        </a:lnSpc>
                      </a:pPr>
                      <a:r>
                        <a:rPr dirty="0" sz="700" spc="-20">
                          <a:solidFill>
                            <a:srgbClr val="FFFFFF"/>
                          </a:solidFill>
                          <a:latin typeface="Arial MT"/>
                          <a:cs typeface="Arial MT"/>
                        </a:rPr>
                        <a:t>1000</a:t>
                      </a:r>
                      <a:endParaRPr sz="700">
                        <a:latin typeface="Arial MT"/>
                        <a:cs typeface="Arial MT"/>
                      </a:endParaRPr>
                    </a:p>
                  </a:txBody>
                  <a:tcPr marL="0" marR="0" marB="0" marT="3556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00"/>
                        </a:spcBef>
                      </a:pPr>
                      <a:r>
                        <a:rPr dirty="0" sz="700" spc="-25">
                          <a:solidFill>
                            <a:srgbClr val="FFFFFF"/>
                          </a:solidFill>
                          <a:latin typeface="Arial MT"/>
                          <a:cs typeface="Arial MT"/>
                        </a:rPr>
                        <a:t>0.2</a:t>
                      </a:r>
                      <a:endParaRPr sz="700">
                        <a:latin typeface="Arial MT"/>
                        <a:cs typeface="Arial MT"/>
                      </a:endParaRPr>
                    </a:p>
                  </a:txBody>
                  <a:tcPr marL="0" marR="0" marB="0" marT="8890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10"/>
                        </a:spcBef>
                      </a:pPr>
                      <a:r>
                        <a:rPr dirty="0" sz="700" spc="-10">
                          <a:solidFill>
                            <a:srgbClr val="FFFFFF"/>
                          </a:solidFill>
                          <a:latin typeface="SimSun"/>
                          <a:cs typeface="SimSun"/>
                        </a:rPr>
                        <a:t>导航、车道偏离</a:t>
                      </a:r>
                      <a:endParaRPr sz="700">
                        <a:latin typeface="SimSun"/>
                        <a:cs typeface="SimSun"/>
                      </a:endParaRPr>
                    </a:p>
                  </a:txBody>
                  <a:tcPr marL="0" marR="0" marB="0" marT="9017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0000"/>
                    </a:solidFill>
                  </a:tcPr>
                </a:tc>
              </a:tr>
              <a:tr h="290195">
                <a:tc>
                  <a:txBody>
                    <a:bodyPr/>
                    <a:lstStyle/>
                    <a:p>
                      <a:pPr marL="61594" marR="128905">
                        <a:lnSpc>
                          <a:spcPts val="810"/>
                        </a:lnSpc>
                        <a:spcBef>
                          <a:spcPts val="375"/>
                        </a:spcBef>
                      </a:pPr>
                      <a:r>
                        <a:rPr dirty="0" sz="700" spc="-20">
                          <a:solidFill>
                            <a:srgbClr val="FFFFFF"/>
                          </a:solidFill>
                          <a:latin typeface="SimSun"/>
                          <a:cs typeface="SimSun"/>
                        </a:rPr>
                        <a:t>部分自</a:t>
                      </a:r>
                      <a:r>
                        <a:rPr dirty="0" sz="700" spc="-25">
                          <a:solidFill>
                            <a:srgbClr val="FFFFFF"/>
                          </a:solidFill>
                          <a:latin typeface="SimSun"/>
                          <a:cs typeface="SimSun"/>
                        </a:rPr>
                        <a:t>动化</a:t>
                      </a:r>
                      <a:endParaRPr sz="700">
                        <a:latin typeface="SimSun"/>
                        <a:cs typeface="SimSun"/>
                      </a:endParaRPr>
                    </a:p>
                  </a:txBody>
                  <a:tcPr marL="0" marR="0" marB="0" marT="476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00"/>
                        </a:spcBef>
                      </a:pPr>
                      <a:r>
                        <a:rPr dirty="0" sz="700" spc="-10">
                          <a:solidFill>
                            <a:srgbClr val="FFFFFF"/>
                          </a:solidFill>
                          <a:latin typeface="Arial MT"/>
                          <a:cs typeface="Arial MT"/>
                        </a:rPr>
                        <a:t>20-</a:t>
                      </a:r>
                      <a:r>
                        <a:rPr dirty="0" sz="700" spc="-25">
                          <a:solidFill>
                            <a:srgbClr val="FFFFFF"/>
                          </a:solidFill>
                          <a:latin typeface="Arial MT"/>
                          <a:cs typeface="Arial MT"/>
                        </a:rPr>
                        <a:t>100</a:t>
                      </a:r>
                      <a:endParaRPr sz="700">
                        <a:latin typeface="Arial MT"/>
                        <a:cs typeface="Arial MT"/>
                      </a:endParaRPr>
                    </a:p>
                  </a:txBody>
                  <a:tcPr marL="0" marR="0" marB="0" marT="889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00"/>
                        </a:spcBef>
                      </a:pPr>
                      <a:r>
                        <a:rPr dirty="0" sz="700" spc="-25">
                          <a:solidFill>
                            <a:srgbClr val="FFFFFF"/>
                          </a:solidFill>
                          <a:latin typeface="Arial MT"/>
                          <a:cs typeface="Arial MT"/>
                        </a:rPr>
                        <a:t>0.5</a:t>
                      </a:r>
                      <a:endParaRPr sz="700">
                        <a:latin typeface="Arial MT"/>
                        <a:cs typeface="Arial MT"/>
                      </a:endParaRPr>
                    </a:p>
                  </a:txBody>
                  <a:tcPr marL="0" marR="0" marB="0" marT="889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marR="83185">
                        <a:lnSpc>
                          <a:spcPts val="810"/>
                        </a:lnSpc>
                        <a:spcBef>
                          <a:spcPts val="375"/>
                        </a:spcBef>
                      </a:pPr>
                      <a:r>
                        <a:rPr dirty="0" sz="700" spc="-10">
                          <a:solidFill>
                            <a:srgbClr val="FFFFFF"/>
                          </a:solidFill>
                          <a:latin typeface="SimSun"/>
                          <a:cs typeface="SimSun"/>
                        </a:rPr>
                        <a:t>自动制动、紧急</a:t>
                      </a:r>
                      <a:r>
                        <a:rPr dirty="0" sz="700" spc="-25">
                          <a:solidFill>
                            <a:srgbClr val="FFFFFF"/>
                          </a:solidFill>
                          <a:latin typeface="SimSun"/>
                          <a:cs typeface="SimSun"/>
                        </a:rPr>
                        <a:t>避险</a:t>
                      </a:r>
                      <a:endParaRPr sz="700">
                        <a:latin typeface="SimSun"/>
                        <a:cs typeface="SimSun"/>
                      </a:endParaRPr>
                    </a:p>
                  </a:txBody>
                  <a:tcPr marL="0" marR="0" marB="0" marT="476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r>
              <a:tr h="290195">
                <a:tc>
                  <a:txBody>
                    <a:bodyPr/>
                    <a:lstStyle/>
                    <a:p>
                      <a:pPr marL="61594" marR="128905">
                        <a:lnSpc>
                          <a:spcPts val="810"/>
                        </a:lnSpc>
                        <a:spcBef>
                          <a:spcPts val="375"/>
                        </a:spcBef>
                      </a:pPr>
                      <a:r>
                        <a:rPr dirty="0" sz="700" spc="-20">
                          <a:solidFill>
                            <a:srgbClr val="FFFFFF"/>
                          </a:solidFill>
                          <a:latin typeface="SimSun"/>
                          <a:cs typeface="SimSun"/>
                        </a:rPr>
                        <a:t>条件自</a:t>
                      </a:r>
                      <a:r>
                        <a:rPr dirty="0" sz="700" spc="-25">
                          <a:solidFill>
                            <a:srgbClr val="FFFFFF"/>
                          </a:solidFill>
                          <a:latin typeface="SimSun"/>
                          <a:cs typeface="SimSun"/>
                        </a:rPr>
                        <a:t>动化</a:t>
                      </a:r>
                      <a:endParaRPr sz="700">
                        <a:latin typeface="SimSun"/>
                        <a:cs typeface="SimSun"/>
                      </a:endParaRPr>
                    </a:p>
                  </a:txBody>
                  <a:tcPr marL="0" marR="0" marB="0" marT="476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00"/>
                        </a:spcBef>
                      </a:pPr>
                      <a:r>
                        <a:rPr dirty="0" sz="700" spc="-10">
                          <a:solidFill>
                            <a:srgbClr val="FFFFFF"/>
                          </a:solidFill>
                          <a:latin typeface="Arial MT"/>
                          <a:cs typeface="Arial MT"/>
                        </a:rPr>
                        <a:t>10-</a:t>
                      </a:r>
                      <a:r>
                        <a:rPr dirty="0" sz="700" spc="-25">
                          <a:solidFill>
                            <a:srgbClr val="FFFFFF"/>
                          </a:solidFill>
                          <a:latin typeface="Arial MT"/>
                          <a:cs typeface="Arial MT"/>
                        </a:rPr>
                        <a:t>20</a:t>
                      </a:r>
                      <a:endParaRPr sz="700">
                        <a:latin typeface="Arial MT"/>
                        <a:cs typeface="Arial MT"/>
                      </a:endParaRPr>
                    </a:p>
                  </a:txBody>
                  <a:tcPr marL="0" marR="0" marB="0" marT="889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00"/>
                        </a:spcBef>
                      </a:pPr>
                      <a:r>
                        <a:rPr dirty="0" sz="700" spc="-25">
                          <a:solidFill>
                            <a:srgbClr val="FFFFFF"/>
                          </a:solidFill>
                          <a:latin typeface="Arial MT"/>
                          <a:cs typeface="Arial MT"/>
                        </a:rPr>
                        <a:t>16</a:t>
                      </a:r>
                      <a:endParaRPr sz="700">
                        <a:latin typeface="Arial MT"/>
                        <a:cs typeface="Arial MT"/>
                      </a:endParaRPr>
                    </a:p>
                  </a:txBody>
                  <a:tcPr marL="0" marR="0" marB="0" marT="889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marL="61594">
                        <a:lnSpc>
                          <a:spcPct val="100000"/>
                        </a:lnSpc>
                        <a:spcBef>
                          <a:spcPts val="715"/>
                        </a:spcBef>
                      </a:pPr>
                      <a:r>
                        <a:rPr dirty="0" sz="700" spc="-10">
                          <a:solidFill>
                            <a:srgbClr val="FFFFFF"/>
                          </a:solidFill>
                          <a:latin typeface="SimSun"/>
                          <a:cs typeface="SimSun"/>
                        </a:rPr>
                        <a:t>驾驶员监控</a:t>
                      </a:r>
                      <a:endParaRPr sz="700">
                        <a:latin typeface="SimSun"/>
                        <a:cs typeface="SimSun"/>
                      </a:endParaRPr>
                    </a:p>
                  </a:txBody>
                  <a:tcPr marL="0" marR="0" marB="0" marT="908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r>
              <a:tr h="403860">
                <a:tc>
                  <a:txBody>
                    <a:bodyPr/>
                    <a:lstStyle/>
                    <a:p>
                      <a:pPr algn="just" marL="61594" marR="104139">
                        <a:lnSpc>
                          <a:spcPct val="98200"/>
                        </a:lnSpc>
                        <a:spcBef>
                          <a:spcPts val="365"/>
                        </a:spcBef>
                      </a:pPr>
                      <a:r>
                        <a:rPr dirty="0" sz="700" spc="-20">
                          <a:solidFill>
                            <a:srgbClr val="FFFFFF"/>
                          </a:solidFill>
                          <a:latin typeface="SimSun"/>
                          <a:cs typeface="SimSun"/>
                        </a:rPr>
                        <a:t>高级自</a:t>
                      </a:r>
                      <a:r>
                        <a:rPr dirty="0" sz="700">
                          <a:solidFill>
                            <a:srgbClr val="FFFFFF"/>
                          </a:solidFill>
                          <a:latin typeface="SimSun"/>
                          <a:cs typeface="SimSun"/>
                        </a:rPr>
                        <a:t>动化</a:t>
                      </a:r>
                      <a:r>
                        <a:rPr dirty="0" sz="700" spc="-10">
                          <a:solidFill>
                            <a:srgbClr val="FFFFFF"/>
                          </a:solidFill>
                          <a:latin typeface="Arial MT"/>
                          <a:cs typeface="Arial MT"/>
                        </a:rPr>
                        <a:t>/</a:t>
                      </a:r>
                      <a:r>
                        <a:rPr dirty="0" sz="700" spc="-50">
                          <a:solidFill>
                            <a:srgbClr val="FFFFFF"/>
                          </a:solidFill>
                          <a:latin typeface="SimSun"/>
                          <a:cs typeface="SimSun"/>
                        </a:rPr>
                        <a:t>全</a:t>
                      </a:r>
                      <a:r>
                        <a:rPr dirty="0" sz="700" spc="-20">
                          <a:solidFill>
                            <a:srgbClr val="FFFFFF"/>
                          </a:solidFill>
                          <a:latin typeface="SimSun"/>
                          <a:cs typeface="SimSun"/>
                        </a:rPr>
                        <a:t>自动化</a:t>
                      </a:r>
                      <a:endParaRPr sz="700">
                        <a:latin typeface="SimSun"/>
                        <a:cs typeface="SimSun"/>
                      </a:endParaRPr>
                    </a:p>
                  </a:txBody>
                  <a:tcPr marL="0" marR="0" marB="0" marT="463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a:lnSpc>
                          <a:spcPct val="100000"/>
                        </a:lnSpc>
                        <a:spcBef>
                          <a:spcPts val="345"/>
                        </a:spcBef>
                      </a:pPr>
                      <a:endParaRPr sz="700">
                        <a:latin typeface="Times New Roman"/>
                        <a:cs typeface="Times New Roman"/>
                      </a:endParaRPr>
                    </a:p>
                    <a:p>
                      <a:pPr marL="61594">
                        <a:lnSpc>
                          <a:spcPct val="100000"/>
                        </a:lnSpc>
                      </a:pPr>
                      <a:r>
                        <a:rPr dirty="0" sz="700" spc="-10">
                          <a:solidFill>
                            <a:srgbClr val="FFFFFF"/>
                          </a:solidFill>
                          <a:latin typeface="Arial MT"/>
                          <a:cs typeface="Arial MT"/>
                        </a:rPr>
                        <a:t>1-</a:t>
                      </a:r>
                      <a:r>
                        <a:rPr dirty="0" sz="700" spc="-25">
                          <a:solidFill>
                            <a:srgbClr val="FFFFFF"/>
                          </a:solidFill>
                          <a:latin typeface="Arial MT"/>
                          <a:cs typeface="Arial MT"/>
                        </a:rPr>
                        <a:t>10</a:t>
                      </a:r>
                      <a:endParaRPr sz="700">
                        <a:latin typeface="Arial MT"/>
                        <a:cs typeface="Arial MT"/>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a:lnSpc>
                          <a:spcPct val="100000"/>
                        </a:lnSpc>
                        <a:spcBef>
                          <a:spcPts val="345"/>
                        </a:spcBef>
                      </a:pPr>
                      <a:endParaRPr sz="700">
                        <a:latin typeface="Times New Roman"/>
                        <a:cs typeface="Times New Roman"/>
                      </a:endParaRPr>
                    </a:p>
                    <a:p>
                      <a:pPr marL="61594">
                        <a:lnSpc>
                          <a:spcPct val="100000"/>
                        </a:lnSpc>
                      </a:pPr>
                      <a:r>
                        <a:rPr dirty="0" sz="700" spc="-25">
                          <a:solidFill>
                            <a:srgbClr val="FFFFFF"/>
                          </a:solidFill>
                          <a:latin typeface="Arial MT"/>
                          <a:cs typeface="Arial MT"/>
                        </a:rPr>
                        <a:t>100</a:t>
                      </a:r>
                      <a:endParaRPr sz="700">
                        <a:latin typeface="Arial MT"/>
                        <a:cs typeface="Arial MT"/>
                      </a:endParaRPr>
                    </a:p>
                  </a:txBody>
                  <a:tcPr marL="0" marR="0" marB="0" marT="438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c>
                  <a:txBody>
                    <a:bodyPr/>
                    <a:lstStyle/>
                    <a:p>
                      <a:pPr>
                        <a:lnSpc>
                          <a:spcPct val="100000"/>
                        </a:lnSpc>
                        <a:spcBef>
                          <a:spcPts val="355"/>
                        </a:spcBef>
                      </a:pPr>
                      <a:endParaRPr sz="700">
                        <a:latin typeface="Times New Roman"/>
                        <a:cs typeface="Times New Roman"/>
                      </a:endParaRPr>
                    </a:p>
                    <a:p>
                      <a:pPr marL="61594">
                        <a:lnSpc>
                          <a:spcPct val="100000"/>
                        </a:lnSpc>
                      </a:pPr>
                      <a:r>
                        <a:rPr dirty="0" sz="700" spc="-15">
                          <a:solidFill>
                            <a:srgbClr val="FFFFFF"/>
                          </a:solidFill>
                          <a:latin typeface="SimSun"/>
                          <a:cs typeface="SimSun"/>
                        </a:rPr>
                        <a:t>无人驾驶</a:t>
                      </a:r>
                      <a:endParaRPr sz="700">
                        <a:latin typeface="SimSun"/>
                        <a:cs typeface="SimSun"/>
                      </a:endParaRPr>
                    </a:p>
                  </a:txBody>
                  <a:tcPr marL="0" marR="0" marB="0" marT="4508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0000"/>
                    </a:solidFill>
                  </a:tcPr>
                </a:tc>
              </a:tr>
            </a:tbl>
          </a:graphicData>
        </a:graphic>
      </p:graphicFrame>
      <p:sp>
        <p:nvSpPr>
          <p:cNvPr id="61" name="object 61" descr=""/>
          <p:cNvSpPr txBox="1"/>
          <p:nvPr/>
        </p:nvSpPr>
        <p:spPr>
          <a:xfrm>
            <a:off x="453218" y="907020"/>
            <a:ext cx="1704339" cy="391160"/>
          </a:xfrm>
          <a:prstGeom prst="rect">
            <a:avLst/>
          </a:prstGeom>
        </p:spPr>
        <p:txBody>
          <a:bodyPr wrap="square" lIns="0" tIns="12700" rIns="0" bIns="0" rtlCol="0" vert="horz">
            <a:spAutoFit/>
          </a:bodyPr>
          <a:lstStyle/>
          <a:p>
            <a:pPr marL="12700" marR="5080">
              <a:lnSpc>
                <a:spcPct val="100000"/>
              </a:lnSpc>
              <a:spcBef>
                <a:spcPts val="100"/>
              </a:spcBef>
            </a:pPr>
            <a:r>
              <a:rPr dirty="0" sz="1200" spc="-5">
                <a:solidFill>
                  <a:srgbClr val="FFC000"/>
                </a:solidFill>
                <a:latin typeface="SimSun"/>
                <a:cs typeface="SimSun"/>
              </a:rPr>
              <a:t>谷歌定义自动驾驶三要素</a:t>
            </a:r>
            <a:r>
              <a:rPr dirty="0" sz="1200" spc="-5">
                <a:solidFill>
                  <a:srgbClr val="FFFFFF"/>
                </a:solidFill>
                <a:latin typeface="SimSun"/>
                <a:cs typeface="SimSun"/>
              </a:rPr>
              <a:t>前导--云端--全联感汽车</a:t>
            </a:r>
            <a:endParaRPr sz="1200">
              <a:latin typeface="SimSun"/>
              <a:cs typeface="SimSu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349750"/>
            <a:chOff x="-12700" y="806450"/>
            <a:chExt cx="9169400" cy="4349750"/>
          </a:xfrm>
        </p:grpSpPr>
        <p:sp>
          <p:nvSpPr>
            <p:cNvPr id="3" name="object 3" descr=""/>
            <p:cNvSpPr/>
            <p:nvPr/>
          </p:nvSpPr>
          <p:spPr>
            <a:xfrm>
              <a:off x="0" y="819150"/>
              <a:ext cx="9144000" cy="4324350"/>
            </a:xfrm>
            <a:custGeom>
              <a:avLst/>
              <a:gdLst/>
              <a:ahLst/>
              <a:cxnLst/>
              <a:rect l="l" t="t" r="r" b="b"/>
              <a:pathLst>
                <a:path w="9144000" h="4324350">
                  <a:moveTo>
                    <a:pt x="9144000" y="0"/>
                  </a:moveTo>
                  <a:lnTo>
                    <a:pt x="0" y="0"/>
                  </a:lnTo>
                  <a:lnTo>
                    <a:pt x="0" y="4324350"/>
                  </a:lnTo>
                  <a:lnTo>
                    <a:pt x="9144000" y="4324350"/>
                  </a:lnTo>
                  <a:lnTo>
                    <a:pt x="9144000" y="0"/>
                  </a:lnTo>
                  <a:close/>
                </a:path>
              </a:pathLst>
            </a:custGeom>
            <a:solidFill>
              <a:srgbClr val="666633"/>
            </a:solidFill>
          </p:spPr>
          <p:txBody>
            <a:bodyPr wrap="square" lIns="0" tIns="0" rIns="0" bIns="0" rtlCol="0"/>
            <a:lstStyle/>
            <a:p/>
          </p:txBody>
        </p:sp>
        <p:sp>
          <p:nvSpPr>
            <p:cNvPr id="4" name="object 4" descr=""/>
            <p:cNvSpPr/>
            <p:nvPr/>
          </p:nvSpPr>
          <p:spPr>
            <a:xfrm>
              <a:off x="0" y="819150"/>
              <a:ext cx="9144000" cy="4324350"/>
            </a:xfrm>
            <a:custGeom>
              <a:avLst/>
              <a:gdLst/>
              <a:ahLst/>
              <a:cxnLst/>
              <a:rect l="l" t="t" r="r" b="b"/>
              <a:pathLst>
                <a:path w="9144000" h="4324350">
                  <a:moveTo>
                    <a:pt x="0" y="0"/>
                  </a:moveTo>
                  <a:lnTo>
                    <a:pt x="9144000" y="0"/>
                  </a:lnTo>
                  <a:lnTo>
                    <a:pt x="9144000" y="4324350"/>
                  </a:lnTo>
                  <a:lnTo>
                    <a:pt x="0" y="4324350"/>
                  </a:lnTo>
                  <a:lnTo>
                    <a:pt x="0" y="0"/>
                  </a:lnTo>
                  <a:close/>
                </a:path>
              </a:pathLst>
            </a:custGeom>
            <a:ln w="25400">
              <a:solidFill>
                <a:srgbClr val="89A4A7"/>
              </a:solidFill>
            </a:ln>
          </p:spPr>
          <p:txBody>
            <a:bodyPr wrap="square" lIns="0" tIns="0" rIns="0" bIns="0" rtlCol="0"/>
            <a:lstStyle/>
            <a:p/>
          </p:txBody>
        </p:sp>
        <p:pic>
          <p:nvPicPr>
            <p:cNvPr id="5" name="object 5" descr=""/>
            <p:cNvPicPr/>
            <p:nvPr/>
          </p:nvPicPr>
          <p:blipFill>
            <a:blip r:embed="rId2" cstate="print"/>
            <a:stretch>
              <a:fillRect/>
            </a:stretch>
          </p:blipFill>
          <p:spPr>
            <a:xfrm>
              <a:off x="4191000" y="833615"/>
              <a:ext cx="4754270" cy="2343188"/>
            </a:xfrm>
            <a:prstGeom prst="rect">
              <a:avLst/>
            </a:prstGeom>
          </p:spPr>
        </p:pic>
        <p:pic>
          <p:nvPicPr>
            <p:cNvPr id="6" name="object 6"/>
            <p:cNvPicPr/>
            <p:nvPr/>
          </p:nvPicPr>
          <p:blipFill>
            <a:blip r:embed="rId3" cstate="print"/>
            <a:stretch>
              <a:fillRect/>
            </a:stretch>
          </p:blipFill>
          <p:spPr>
            <a:xfrm>
              <a:off x="8449805" y="1392008"/>
              <a:ext cx="694194" cy="349223"/>
            </a:xfrm>
            <a:prstGeom prst="rect">
              <a:avLst/>
            </a:prstGeom>
          </p:spPr>
        </p:pic>
        <p:pic>
          <p:nvPicPr>
            <p:cNvPr id="7" name="object 7"/>
            <p:cNvPicPr/>
            <p:nvPr/>
          </p:nvPicPr>
          <p:blipFill>
            <a:blip r:embed="rId4" cstate="print"/>
            <a:stretch>
              <a:fillRect/>
            </a:stretch>
          </p:blipFill>
          <p:spPr>
            <a:xfrm>
              <a:off x="4655134" y="1494396"/>
              <a:ext cx="698944" cy="459524"/>
            </a:xfrm>
            <a:prstGeom prst="rect">
              <a:avLst/>
            </a:prstGeom>
          </p:spPr>
        </p:pic>
        <p:pic>
          <p:nvPicPr>
            <p:cNvPr id="8" name="object 8"/>
            <p:cNvPicPr/>
            <p:nvPr/>
          </p:nvPicPr>
          <p:blipFill>
            <a:blip r:embed="rId5" cstate="print"/>
            <a:stretch>
              <a:fillRect/>
            </a:stretch>
          </p:blipFill>
          <p:spPr>
            <a:xfrm>
              <a:off x="4873739" y="2153297"/>
              <a:ext cx="732301" cy="664495"/>
            </a:xfrm>
            <a:prstGeom prst="rect">
              <a:avLst/>
            </a:prstGeom>
          </p:spPr>
        </p:pic>
        <p:pic>
          <p:nvPicPr>
            <p:cNvPr id="9" name="object 9"/>
            <p:cNvPicPr/>
            <p:nvPr/>
          </p:nvPicPr>
          <p:blipFill>
            <a:blip r:embed="rId6" cstate="print"/>
            <a:stretch>
              <a:fillRect/>
            </a:stretch>
          </p:blipFill>
          <p:spPr>
            <a:xfrm>
              <a:off x="6618046" y="1492024"/>
              <a:ext cx="678457" cy="669946"/>
            </a:xfrm>
            <a:prstGeom prst="rect">
              <a:avLst/>
            </a:prstGeom>
          </p:spPr>
        </p:pic>
        <p:pic>
          <p:nvPicPr>
            <p:cNvPr id="10" name="object 10"/>
            <p:cNvPicPr/>
            <p:nvPr/>
          </p:nvPicPr>
          <p:blipFill>
            <a:blip r:embed="rId7" cstate="print"/>
            <a:stretch>
              <a:fillRect/>
            </a:stretch>
          </p:blipFill>
          <p:spPr>
            <a:xfrm>
              <a:off x="7397994" y="1188036"/>
              <a:ext cx="798458" cy="423542"/>
            </a:xfrm>
            <a:prstGeom prst="rect">
              <a:avLst/>
            </a:prstGeom>
          </p:spPr>
        </p:pic>
        <p:pic>
          <p:nvPicPr>
            <p:cNvPr id="11" name="object 11"/>
            <p:cNvPicPr/>
            <p:nvPr/>
          </p:nvPicPr>
          <p:blipFill>
            <a:blip r:embed="rId8" cstate="print"/>
            <a:stretch>
              <a:fillRect/>
            </a:stretch>
          </p:blipFill>
          <p:spPr>
            <a:xfrm>
              <a:off x="7584009" y="2377554"/>
              <a:ext cx="1224900" cy="547546"/>
            </a:xfrm>
            <a:prstGeom prst="rect">
              <a:avLst/>
            </a:prstGeom>
          </p:spPr>
        </p:pic>
        <p:sp>
          <p:nvSpPr>
            <p:cNvPr id="12" name="object 12" descr=""/>
            <p:cNvSpPr/>
            <p:nvPr/>
          </p:nvSpPr>
          <p:spPr>
            <a:xfrm>
              <a:off x="5354085" y="1354575"/>
              <a:ext cx="991869" cy="370205"/>
            </a:xfrm>
            <a:custGeom>
              <a:avLst/>
              <a:gdLst/>
              <a:ahLst/>
              <a:cxnLst/>
              <a:rect l="l" t="t" r="r" b="b"/>
              <a:pathLst>
                <a:path w="991870" h="370205">
                  <a:moveTo>
                    <a:pt x="991577" y="0"/>
                  </a:moveTo>
                  <a:lnTo>
                    <a:pt x="0" y="369582"/>
                  </a:lnTo>
                </a:path>
              </a:pathLst>
            </a:custGeom>
            <a:ln w="19050">
              <a:solidFill>
                <a:srgbClr val="92D050"/>
              </a:solidFill>
              <a:prstDash val="sysDash"/>
            </a:ln>
          </p:spPr>
          <p:txBody>
            <a:bodyPr wrap="square" lIns="0" tIns="0" rIns="0" bIns="0" rtlCol="0"/>
            <a:lstStyle/>
            <a:p/>
          </p:txBody>
        </p:sp>
        <p:sp>
          <p:nvSpPr>
            <p:cNvPr id="13" name="object 13" descr=""/>
            <p:cNvSpPr/>
            <p:nvPr/>
          </p:nvSpPr>
          <p:spPr>
            <a:xfrm>
              <a:off x="6472442" y="1392008"/>
              <a:ext cx="443865" cy="316230"/>
            </a:xfrm>
            <a:custGeom>
              <a:avLst/>
              <a:gdLst/>
              <a:ahLst/>
              <a:cxnLst/>
              <a:rect l="l" t="t" r="r" b="b"/>
              <a:pathLst>
                <a:path w="443865" h="316230">
                  <a:moveTo>
                    <a:pt x="0" y="0"/>
                  </a:moveTo>
                  <a:lnTo>
                    <a:pt x="443725" y="316179"/>
                  </a:lnTo>
                </a:path>
              </a:pathLst>
            </a:custGeom>
            <a:ln w="19049">
              <a:solidFill>
                <a:srgbClr val="92D050"/>
              </a:solidFill>
              <a:prstDash val="sysDash"/>
            </a:ln>
          </p:spPr>
          <p:txBody>
            <a:bodyPr wrap="square" lIns="0" tIns="0" rIns="0" bIns="0" rtlCol="0"/>
            <a:lstStyle/>
            <a:p/>
          </p:txBody>
        </p:sp>
        <p:sp>
          <p:nvSpPr>
            <p:cNvPr id="14" name="object 14" descr=""/>
            <p:cNvSpPr/>
            <p:nvPr/>
          </p:nvSpPr>
          <p:spPr>
            <a:xfrm>
              <a:off x="6568133" y="1332616"/>
              <a:ext cx="918844" cy="0"/>
            </a:xfrm>
            <a:custGeom>
              <a:avLst/>
              <a:gdLst/>
              <a:ahLst/>
              <a:cxnLst/>
              <a:rect l="l" t="t" r="r" b="b"/>
              <a:pathLst>
                <a:path w="918845" h="0">
                  <a:moveTo>
                    <a:pt x="0" y="0"/>
                  </a:moveTo>
                  <a:lnTo>
                    <a:pt x="918540" y="0"/>
                  </a:lnTo>
                </a:path>
              </a:pathLst>
            </a:custGeom>
            <a:ln w="19050">
              <a:solidFill>
                <a:srgbClr val="92D050"/>
              </a:solidFill>
              <a:prstDash val="sysDash"/>
            </a:ln>
          </p:spPr>
          <p:txBody>
            <a:bodyPr wrap="square" lIns="0" tIns="0" rIns="0" bIns="0" rtlCol="0"/>
            <a:lstStyle/>
            <a:p/>
          </p:txBody>
        </p:sp>
        <p:sp>
          <p:nvSpPr>
            <p:cNvPr id="15" name="object 15" descr=""/>
            <p:cNvSpPr/>
            <p:nvPr/>
          </p:nvSpPr>
          <p:spPr>
            <a:xfrm>
              <a:off x="5458212" y="1401859"/>
              <a:ext cx="887730" cy="751840"/>
            </a:xfrm>
            <a:custGeom>
              <a:avLst/>
              <a:gdLst/>
              <a:ahLst/>
              <a:cxnLst/>
              <a:rect l="l" t="t" r="r" b="b"/>
              <a:pathLst>
                <a:path w="887729" h="751839">
                  <a:moveTo>
                    <a:pt x="887450" y="0"/>
                  </a:moveTo>
                  <a:lnTo>
                    <a:pt x="0" y="751433"/>
                  </a:lnTo>
                </a:path>
              </a:pathLst>
            </a:custGeom>
            <a:ln w="19050">
              <a:solidFill>
                <a:srgbClr val="92D050"/>
              </a:solidFill>
              <a:prstDash val="sysDash"/>
            </a:ln>
          </p:spPr>
          <p:txBody>
            <a:bodyPr wrap="square" lIns="0" tIns="0" rIns="0" bIns="0" rtlCol="0"/>
            <a:lstStyle/>
            <a:p/>
          </p:txBody>
        </p:sp>
        <p:sp>
          <p:nvSpPr>
            <p:cNvPr id="16" name="object 16" descr=""/>
            <p:cNvSpPr/>
            <p:nvPr/>
          </p:nvSpPr>
          <p:spPr>
            <a:xfrm>
              <a:off x="6472442" y="1354575"/>
              <a:ext cx="1977389" cy="1297305"/>
            </a:xfrm>
            <a:custGeom>
              <a:avLst/>
              <a:gdLst/>
              <a:ahLst/>
              <a:cxnLst/>
              <a:rect l="l" t="t" r="r" b="b"/>
              <a:pathLst>
                <a:path w="1977390" h="1297305">
                  <a:moveTo>
                    <a:pt x="0" y="0"/>
                  </a:moveTo>
                  <a:lnTo>
                    <a:pt x="1204391" y="1296746"/>
                  </a:lnTo>
                </a:path>
                <a:path w="1977390" h="1297305">
                  <a:moveTo>
                    <a:pt x="0" y="0"/>
                  </a:moveTo>
                  <a:lnTo>
                    <a:pt x="1977364" y="261111"/>
                  </a:lnTo>
                </a:path>
              </a:pathLst>
            </a:custGeom>
            <a:ln w="19050">
              <a:solidFill>
                <a:srgbClr val="92D050"/>
              </a:solidFill>
              <a:prstDash val="sysDash"/>
            </a:ln>
          </p:spPr>
          <p:txBody>
            <a:bodyPr wrap="square" lIns="0" tIns="0" rIns="0" bIns="0" rtlCol="0"/>
            <a:lstStyle/>
            <a:p/>
          </p:txBody>
        </p:sp>
        <p:sp>
          <p:nvSpPr>
            <p:cNvPr id="17" name="object 17" descr=""/>
            <p:cNvSpPr/>
            <p:nvPr/>
          </p:nvSpPr>
          <p:spPr>
            <a:xfrm>
              <a:off x="5458212" y="1953928"/>
              <a:ext cx="1250315" cy="424180"/>
            </a:xfrm>
            <a:custGeom>
              <a:avLst/>
              <a:gdLst/>
              <a:ahLst/>
              <a:cxnLst/>
              <a:rect l="l" t="t" r="r" b="b"/>
              <a:pathLst>
                <a:path w="1250315" h="424180">
                  <a:moveTo>
                    <a:pt x="0" y="423621"/>
                  </a:moveTo>
                  <a:lnTo>
                    <a:pt x="1250302" y="0"/>
                  </a:lnTo>
                </a:path>
              </a:pathLst>
            </a:custGeom>
            <a:ln w="19050">
              <a:solidFill>
                <a:srgbClr val="0070C0"/>
              </a:solidFill>
              <a:prstDash val="sysDash"/>
            </a:ln>
          </p:spPr>
          <p:txBody>
            <a:bodyPr wrap="square" lIns="0" tIns="0" rIns="0" bIns="0" rtlCol="0"/>
            <a:lstStyle/>
            <a:p/>
          </p:txBody>
        </p:sp>
        <p:sp>
          <p:nvSpPr>
            <p:cNvPr id="18" name="object 18" descr=""/>
            <p:cNvSpPr/>
            <p:nvPr/>
          </p:nvSpPr>
          <p:spPr>
            <a:xfrm>
              <a:off x="7184404" y="1403873"/>
              <a:ext cx="492759" cy="212090"/>
            </a:xfrm>
            <a:custGeom>
              <a:avLst/>
              <a:gdLst/>
              <a:ahLst/>
              <a:cxnLst/>
              <a:rect l="l" t="t" r="r" b="b"/>
              <a:pathLst>
                <a:path w="492759" h="212090">
                  <a:moveTo>
                    <a:pt x="0" y="211810"/>
                  </a:moveTo>
                  <a:lnTo>
                    <a:pt x="492429" y="0"/>
                  </a:lnTo>
                </a:path>
              </a:pathLst>
            </a:custGeom>
            <a:ln w="19049">
              <a:solidFill>
                <a:srgbClr val="0070C0"/>
              </a:solidFill>
              <a:prstDash val="sysDash"/>
            </a:ln>
          </p:spPr>
          <p:txBody>
            <a:bodyPr wrap="square" lIns="0" tIns="0" rIns="0" bIns="0" rtlCol="0"/>
            <a:lstStyle/>
            <a:p/>
          </p:txBody>
        </p:sp>
        <p:sp>
          <p:nvSpPr>
            <p:cNvPr id="19" name="object 19" descr=""/>
            <p:cNvSpPr/>
            <p:nvPr/>
          </p:nvSpPr>
          <p:spPr>
            <a:xfrm>
              <a:off x="7296504" y="1550102"/>
              <a:ext cx="1331595" cy="277495"/>
            </a:xfrm>
            <a:custGeom>
              <a:avLst/>
              <a:gdLst/>
              <a:ahLst/>
              <a:cxnLst/>
              <a:rect l="l" t="t" r="r" b="b"/>
              <a:pathLst>
                <a:path w="1331595" h="277494">
                  <a:moveTo>
                    <a:pt x="0" y="276898"/>
                  </a:moveTo>
                  <a:lnTo>
                    <a:pt x="1331175" y="0"/>
                  </a:lnTo>
                </a:path>
              </a:pathLst>
            </a:custGeom>
            <a:ln w="19050">
              <a:solidFill>
                <a:srgbClr val="0070C0"/>
              </a:solidFill>
              <a:prstDash val="sysDash"/>
            </a:ln>
          </p:spPr>
          <p:txBody>
            <a:bodyPr wrap="square" lIns="0" tIns="0" rIns="0" bIns="0" rtlCol="0"/>
            <a:lstStyle/>
            <a:p/>
          </p:txBody>
        </p:sp>
        <p:sp>
          <p:nvSpPr>
            <p:cNvPr id="20" name="object 20" descr=""/>
            <p:cNvSpPr/>
            <p:nvPr/>
          </p:nvSpPr>
          <p:spPr>
            <a:xfrm>
              <a:off x="7184404" y="1953924"/>
              <a:ext cx="613410" cy="534670"/>
            </a:xfrm>
            <a:custGeom>
              <a:avLst/>
              <a:gdLst/>
              <a:ahLst/>
              <a:cxnLst/>
              <a:rect l="l" t="t" r="r" b="b"/>
              <a:pathLst>
                <a:path w="613409" h="534669">
                  <a:moveTo>
                    <a:pt x="0" y="0"/>
                  </a:moveTo>
                  <a:lnTo>
                    <a:pt x="612825" y="534352"/>
                  </a:lnTo>
                </a:path>
              </a:pathLst>
            </a:custGeom>
            <a:ln w="19049">
              <a:solidFill>
                <a:srgbClr val="0070C0"/>
              </a:solidFill>
              <a:prstDash val="sysDash"/>
            </a:ln>
          </p:spPr>
          <p:txBody>
            <a:bodyPr wrap="square" lIns="0" tIns="0" rIns="0" bIns="0" rtlCol="0"/>
            <a:lstStyle/>
            <a:p/>
          </p:txBody>
        </p:sp>
        <p:sp>
          <p:nvSpPr>
            <p:cNvPr id="21" name="object 21" descr=""/>
            <p:cNvSpPr/>
            <p:nvPr/>
          </p:nvSpPr>
          <p:spPr>
            <a:xfrm>
              <a:off x="8196465" y="1724158"/>
              <a:ext cx="431800" cy="764540"/>
            </a:xfrm>
            <a:custGeom>
              <a:avLst/>
              <a:gdLst/>
              <a:ahLst/>
              <a:cxnLst/>
              <a:rect l="l" t="t" r="r" b="b"/>
              <a:pathLst>
                <a:path w="431800" h="764539">
                  <a:moveTo>
                    <a:pt x="431215" y="0"/>
                  </a:moveTo>
                  <a:lnTo>
                    <a:pt x="0" y="764108"/>
                  </a:lnTo>
                </a:path>
              </a:pathLst>
            </a:custGeom>
            <a:ln w="19049">
              <a:solidFill>
                <a:srgbClr val="0070C0"/>
              </a:solidFill>
              <a:prstDash val="sysDash"/>
            </a:ln>
          </p:spPr>
          <p:txBody>
            <a:bodyPr wrap="square" lIns="0" tIns="0" rIns="0" bIns="0" rtlCol="0"/>
            <a:lstStyle/>
            <a:p/>
          </p:txBody>
        </p:sp>
        <p:sp>
          <p:nvSpPr>
            <p:cNvPr id="22" name="object 22" descr=""/>
            <p:cNvSpPr/>
            <p:nvPr/>
          </p:nvSpPr>
          <p:spPr>
            <a:xfrm>
              <a:off x="7962092" y="1485129"/>
              <a:ext cx="666115" cy="9525"/>
            </a:xfrm>
            <a:custGeom>
              <a:avLst/>
              <a:gdLst/>
              <a:ahLst/>
              <a:cxnLst/>
              <a:rect l="l" t="t" r="r" b="b"/>
              <a:pathLst>
                <a:path w="666115" h="9525">
                  <a:moveTo>
                    <a:pt x="0" y="0"/>
                  </a:moveTo>
                  <a:lnTo>
                    <a:pt x="665594" y="9258"/>
                  </a:lnTo>
                </a:path>
              </a:pathLst>
            </a:custGeom>
            <a:ln w="19050">
              <a:solidFill>
                <a:srgbClr val="0070C0"/>
              </a:solidFill>
              <a:prstDash val="sysDash"/>
            </a:ln>
          </p:spPr>
          <p:txBody>
            <a:bodyPr wrap="square" lIns="0" tIns="0" rIns="0" bIns="0" rtlCol="0"/>
            <a:lstStyle/>
            <a:p/>
          </p:txBody>
        </p:sp>
        <p:sp>
          <p:nvSpPr>
            <p:cNvPr id="23" name="object 23" descr=""/>
            <p:cNvSpPr/>
            <p:nvPr/>
          </p:nvSpPr>
          <p:spPr>
            <a:xfrm>
              <a:off x="5458212" y="2515999"/>
              <a:ext cx="2125980" cy="135890"/>
            </a:xfrm>
            <a:custGeom>
              <a:avLst/>
              <a:gdLst/>
              <a:ahLst/>
              <a:cxnLst/>
              <a:rect l="l" t="t" r="r" b="b"/>
              <a:pathLst>
                <a:path w="2125979" h="135889">
                  <a:moveTo>
                    <a:pt x="0" y="0"/>
                  </a:moveTo>
                  <a:lnTo>
                    <a:pt x="2125802" y="135331"/>
                  </a:lnTo>
                </a:path>
              </a:pathLst>
            </a:custGeom>
            <a:ln w="19050">
              <a:solidFill>
                <a:srgbClr val="0070C0"/>
              </a:solidFill>
              <a:prstDash val="sysDash"/>
            </a:ln>
          </p:spPr>
          <p:txBody>
            <a:bodyPr wrap="square" lIns="0" tIns="0" rIns="0" bIns="0" rtlCol="0"/>
            <a:lstStyle/>
            <a:p/>
          </p:txBody>
        </p:sp>
        <p:sp>
          <p:nvSpPr>
            <p:cNvPr id="24" name="object 24" descr=""/>
            <p:cNvSpPr/>
            <p:nvPr/>
          </p:nvSpPr>
          <p:spPr>
            <a:xfrm>
              <a:off x="5141264" y="1827000"/>
              <a:ext cx="0" cy="414655"/>
            </a:xfrm>
            <a:custGeom>
              <a:avLst/>
              <a:gdLst/>
              <a:ahLst/>
              <a:cxnLst/>
              <a:rect l="l" t="t" r="r" b="b"/>
              <a:pathLst>
                <a:path w="0" h="414655">
                  <a:moveTo>
                    <a:pt x="0" y="0"/>
                  </a:moveTo>
                  <a:lnTo>
                    <a:pt x="0" y="414540"/>
                  </a:lnTo>
                </a:path>
              </a:pathLst>
            </a:custGeom>
            <a:ln w="19050">
              <a:solidFill>
                <a:srgbClr val="0070C0"/>
              </a:solidFill>
              <a:prstDash val="sysDash"/>
            </a:ln>
          </p:spPr>
          <p:txBody>
            <a:bodyPr wrap="square" lIns="0" tIns="0" rIns="0" bIns="0" rtlCol="0"/>
            <a:lstStyle/>
            <a:p/>
          </p:txBody>
        </p:sp>
        <p:sp>
          <p:nvSpPr>
            <p:cNvPr id="25" name="object 25" descr=""/>
            <p:cNvSpPr/>
            <p:nvPr/>
          </p:nvSpPr>
          <p:spPr>
            <a:xfrm>
              <a:off x="5275423" y="1827000"/>
              <a:ext cx="1343025" cy="0"/>
            </a:xfrm>
            <a:custGeom>
              <a:avLst/>
              <a:gdLst/>
              <a:ahLst/>
              <a:cxnLst/>
              <a:rect l="l" t="t" r="r" b="b"/>
              <a:pathLst>
                <a:path w="1343025" h="0">
                  <a:moveTo>
                    <a:pt x="0" y="0"/>
                  </a:moveTo>
                  <a:lnTo>
                    <a:pt x="1342618" y="0"/>
                  </a:lnTo>
                </a:path>
              </a:pathLst>
            </a:custGeom>
            <a:ln w="19050">
              <a:solidFill>
                <a:srgbClr val="0070C0"/>
              </a:solidFill>
              <a:prstDash val="sysDash"/>
            </a:ln>
          </p:spPr>
          <p:txBody>
            <a:bodyPr wrap="square" lIns="0" tIns="0" rIns="0" bIns="0" rtlCol="0"/>
            <a:lstStyle/>
            <a:p/>
          </p:txBody>
        </p:sp>
        <p:pic>
          <p:nvPicPr>
            <p:cNvPr id="26" name="object 26"/>
            <p:cNvPicPr/>
            <p:nvPr/>
          </p:nvPicPr>
          <p:blipFill>
            <a:blip r:embed="rId9" cstate="print"/>
            <a:stretch>
              <a:fillRect/>
            </a:stretch>
          </p:blipFill>
          <p:spPr>
            <a:xfrm>
              <a:off x="4345144" y="931608"/>
              <a:ext cx="514891" cy="1445933"/>
            </a:xfrm>
            <a:prstGeom prst="rect">
              <a:avLst/>
            </a:prstGeom>
          </p:spPr>
        </p:pic>
        <p:sp>
          <p:nvSpPr>
            <p:cNvPr id="27" name="object 27" descr=""/>
            <p:cNvSpPr/>
            <p:nvPr/>
          </p:nvSpPr>
          <p:spPr>
            <a:xfrm>
              <a:off x="4606927" y="1188036"/>
              <a:ext cx="2495550" cy="965835"/>
            </a:xfrm>
            <a:custGeom>
              <a:avLst/>
              <a:gdLst/>
              <a:ahLst/>
              <a:cxnLst/>
              <a:rect l="l" t="t" r="r" b="b"/>
              <a:pathLst>
                <a:path w="2495550" h="965835">
                  <a:moveTo>
                    <a:pt x="0" y="0"/>
                  </a:moveTo>
                  <a:lnTo>
                    <a:pt x="552424" y="427647"/>
                  </a:lnTo>
                </a:path>
                <a:path w="2495550" h="965835">
                  <a:moveTo>
                    <a:pt x="0" y="0"/>
                  </a:moveTo>
                  <a:lnTo>
                    <a:pt x="632955" y="965263"/>
                  </a:lnTo>
                </a:path>
                <a:path w="2495550" h="965835">
                  <a:moveTo>
                    <a:pt x="0" y="0"/>
                  </a:moveTo>
                  <a:lnTo>
                    <a:pt x="2495054" y="427647"/>
                  </a:lnTo>
                </a:path>
              </a:pathLst>
            </a:custGeom>
            <a:ln w="19050">
              <a:solidFill>
                <a:srgbClr val="FF0000"/>
              </a:solidFill>
              <a:prstDash val="sysDash"/>
            </a:ln>
          </p:spPr>
          <p:txBody>
            <a:bodyPr wrap="square" lIns="0" tIns="0" rIns="0" bIns="0" rtlCol="0"/>
            <a:lstStyle/>
            <a:p/>
          </p:txBody>
        </p:sp>
        <p:sp>
          <p:nvSpPr>
            <p:cNvPr id="28" name="object 28" descr=""/>
            <p:cNvSpPr/>
            <p:nvPr/>
          </p:nvSpPr>
          <p:spPr>
            <a:xfrm>
              <a:off x="1247712" y="1069602"/>
              <a:ext cx="1320165" cy="1308100"/>
            </a:xfrm>
            <a:custGeom>
              <a:avLst/>
              <a:gdLst/>
              <a:ahLst/>
              <a:cxnLst/>
              <a:rect l="l" t="t" r="r" b="b"/>
              <a:pathLst>
                <a:path w="1320164" h="1308100">
                  <a:moveTo>
                    <a:pt x="659993" y="0"/>
                  </a:moveTo>
                  <a:lnTo>
                    <a:pt x="610737" y="1793"/>
                  </a:lnTo>
                  <a:lnTo>
                    <a:pt x="562464" y="7090"/>
                  </a:lnTo>
                  <a:lnTo>
                    <a:pt x="515302" y="15764"/>
                  </a:lnTo>
                  <a:lnTo>
                    <a:pt x="469379" y="27688"/>
                  </a:lnTo>
                  <a:lnTo>
                    <a:pt x="424821" y="42737"/>
                  </a:lnTo>
                  <a:lnTo>
                    <a:pt x="381757" y="60782"/>
                  </a:lnTo>
                  <a:lnTo>
                    <a:pt x="340314" y="81699"/>
                  </a:lnTo>
                  <a:lnTo>
                    <a:pt x="300620" y="105360"/>
                  </a:lnTo>
                  <a:lnTo>
                    <a:pt x="262803" y="131639"/>
                  </a:lnTo>
                  <a:lnTo>
                    <a:pt x="226990" y="160410"/>
                  </a:lnTo>
                  <a:lnTo>
                    <a:pt x="193308" y="191546"/>
                  </a:lnTo>
                  <a:lnTo>
                    <a:pt x="161885" y="224920"/>
                  </a:lnTo>
                  <a:lnTo>
                    <a:pt x="132850" y="260407"/>
                  </a:lnTo>
                  <a:lnTo>
                    <a:pt x="106329" y="297880"/>
                  </a:lnTo>
                  <a:lnTo>
                    <a:pt x="82450" y="337212"/>
                  </a:lnTo>
                  <a:lnTo>
                    <a:pt x="61341" y="378276"/>
                  </a:lnTo>
                  <a:lnTo>
                    <a:pt x="43130" y="420948"/>
                  </a:lnTo>
                  <a:lnTo>
                    <a:pt x="27943" y="465099"/>
                  </a:lnTo>
                  <a:lnTo>
                    <a:pt x="15909" y="510603"/>
                  </a:lnTo>
                  <a:lnTo>
                    <a:pt x="7156" y="557335"/>
                  </a:lnTo>
                  <a:lnTo>
                    <a:pt x="1810" y="605167"/>
                  </a:lnTo>
                  <a:lnTo>
                    <a:pt x="0" y="653973"/>
                  </a:lnTo>
                  <a:lnTo>
                    <a:pt x="1810" y="702780"/>
                  </a:lnTo>
                  <a:lnTo>
                    <a:pt x="7156" y="750612"/>
                  </a:lnTo>
                  <a:lnTo>
                    <a:pt x="15909" y="797343"/>
                  </a:lnTo>
                  <a:lnTo>
                    <a:pt x="27943" y="842848"/>
                  </a:lnTo>
                  <a:lnTo>
                    <a:pt x="43130" y="886999"/>
                  </a:lnTo>
                  <a:lnTo>
                    <a:pt x="61341" y="929670"/>
                  </a:lnTo>
                  <a:lnTo>
                    <a:pt x="82450" y="970735"/>
                  </a:lnTo>
                  <a:lnTo>
                    <a:pt x="106329" y="1010067"/>
                  </a:lnTo>
                  <a:lnTo>
                    <a:pt x="132850" y="1047540"/>
                  </a:lnTo>
                  <a:lnTo>
                    <a:pt x="161885" y="1083026"/>
                  </a:lnTo>
                  <a:lnTo>
                    <a:pt x="193308" y="1116401"/>
                  </a:lnTo>
                  <a:lnTo>
                    <a:pt x="226990" y="1147537"/>
                  </a:lnTo>
                  <a:lnTo>
                    <a:pt x="262803" y="1176308"/>
                  </a:lnTo>
                  <a:lnTo>
                    <a:pt x="300620" y="1202587"/>
                  </a:lnTo>
                  <a:lnTo>
                    <a:pt x="340314" y="1226248"/>
                  </a:lnTo>
                  <a:lnTo>
                    <a:pt x="381757" y="1247164"/>
                  </a:lnTo>
                  <a:lnTo>
                    <a:pt x="424821" y="1265210"/>
                  </a:lnTo>
                  <a:lnTo>
                    <a:pt x="469379" y="1280258"/>
                  </a:lnTo>
                  <a:lnTo>
                    <a:pt x="515302" y="1292182"/>
                  </a:lnTo>
                  <a:lnTo>
                    <a:pt x="562464" y="1300856"/>
                  </a:lnTo>
                  <a:lnTo>
                    <a:pt x="610737" y="1306153"/>
                  </a:lnTo>
                  <a:lnTo>
                    <a:pt x="659993" y="1307947"/>
                  </a:lnTo>
                  <a:lnTo>
                    <a:pt x="709249" y="1306153"/>
                  </a:lnTo>
                  <a:lnTo>
                    <a:pt x="757522" y="1300856"/>
                  </a:lnTo>
                  <a:lnTo>
                    <a:pt x="804684" y="1292182"/>
                  </a:lnTo>
                  <a:lnTo>
                    <a:pt x="850607" y="1280258"/>
                  </a:lnTo>
                  <a:lnTo>
                    <a:pt x="895165" y="1265210"/>
                  </a:lnTo>
                  <a:lnTo>
                    <a:pt x="938229" y="1247164"/>
                  </a:lnTo>
                  <a:lnTo>
                    <a:pt x="979672" y="1226248"/>
                  </a:lnTo>
                  <a:lnTo>
                    <a:pt x="1019366" y="1202587"/>
                  </a:lnTo>
                  <a:lnTo>
                    <a:pt x="1057183" y="1176308"/>
                  </a:lnTo>
                  <a:lnTo>
                    <a:pt x="1092997" y="1147537"/>
                  </a:lnTo>
                  <a:lnTo>
                    <a:pt x="1126678" y="1116401"/>
                  </a:lnTo>
                  <a:lnTo>
                    <a:pt x="1158101" y="1083026"/>
                  </a:lnTo>
                  <a:lnTo>
                    <a:pt x="1187136" y="1047540"/>
                  </a:lnTo>
                  <a:lnTo>
                    <a:pt x="1213657" y="1010067"/>
                  </a:lnTo>
                  <a:lnTo>
                    <a:pt x="1237536" y="970735"/>
                  </a:lnTo>
                  <a:lnTo>
                    <a:pt x="1258645" y="929670"/>
                  </a:lnTo>
                  <a:lnTo>
                    <a:pt x="1276857" y="886999"/>
                  </a:lnTo>
                  <a:lnTo>
                    <a:pt x="1292043" y="842848"/>
                  </a:lnTo>
                  <a:lnTo>
                    <a:pt x="1304077" y="797343"/>
                  </a:lnTo>
                  <a:lnTo>
                    <a:pt x="1312831" y="750612"/>
                  </a:lnTo>
                  <a:lnTo>
                    <a:pt x="1318176" y="702780"/>
                  </a:lnTo>
                  <a:lnTo>
                    <a:pt x="1319987" y="653973"/>
                  </a:lnTo>
                  <a:lnTo>
                    <a:pt x="1318176" y="605167"/>
                  </a:lnTo>
                  <a:lnTo>
                    <a:pt x="1312831" y="557335"/>
                  </a:lnTo>
                  <a:lnTo>
                    <a:pt x="1304077" y="510603"/>
                  </a:lnTo>
                  <a:lnTo>
                    <a:pt x="1292043" y="465099"/>
                  </a:lnTo>
                  <a:lnTo>
                    <a:pt x="1276857" y="420948"/>
                  </a:lnTo>
                  <a:lnTo>
                    <a:pt x="1258645" y="378276"/>
                  </a:lnTo>
                  <a:lnTo>
                    <a:pt x="1237536" y="337212"/>
                  </a:lnTo>
                  <a:lnTo>
                    <a:pt x="1213657" y="297880"/>
                  </a:lnTo>
                  <a:lnTo>
                    <a:pt x="1187136" y="260407"/>
                  </a:lnTo>
                  <a:lnTo>
                    <a:pt x="1158101" y="224920"/>
                  </a:lnTo>
                  <a:lnTo>
                    <a:pt x="1126678" y="191546"/>
                  </a:lnTo>
                  <a:lnTo>
                    <a:pt x="1092997" y="160410"/>
                  </a:lnTo>
                  <a:lnTo>
                    <a:pt x="1057183" y="131639"/>
                  </a:lnTo>
                  <a:lnTo>
                    <a:pt x="1019366" y="105360"/>
                  </a:lnTo>
                  <a:lnTo>
                    <a:pt x="979672" y="81699"/>
                  </a:lnTo>
                  <a:lnTo>
                    <a:pt x="938229" y="60782"/>
                  </a:lnTo>
                  <a:lnTo>
                    <a:pt x="895165" y="42737"/>
                  </a:lnTo>
                  <a:lnTo>
                    <a:pt x="850607" y="27688"/>
                  </a:lnTo>
                  <a:lnTo>
                    <a:pt x="804684" y="15764"/>
                  </a:lnTo>
                  <a:lnTo>
                    <a:pt x="757522" y="7090"/>
                  </a:lnTo>
                  <a:lnTo>
                    <a:pt x="709249" y="1793"/>
                  </a:lnTo>
                  <a:lnTo>
                    <a:pt x="659993" y="0"/>
                  </a:lnTo>
                  <a:close/>
                </a:path>
              </a:pathLst>
            </a:custGeom>
            <a:solidFill>
              <a:srgbClr val="92D050"/>
            </a:solidFill>
          </p:spPr>
          <p:txBody>
            <a:bodyPr wrap="square" lIns="0" tIns="0" rIns="0" bIns="0" rtlCol="0"/>
            <a:lstStyle/>
            <a:p/>
          </p:txBody>
        </p:sp>
      </p:grpSp>
      <p:sp>
        <p:nvSpPr>
          <p:cNvPr id="29" name="object 29"/>
          <p:cNvSpPr txBox="1">
            <a:spLocks noGrp="1"/>
          </p:cNvSpPr>
          <p:nvPr>
            <p:ph type="title"/>
          </p:nvPr>
        </p:nvSpPr>
        <p:spPr>
          <a:xfrm>
            <a:off x="2164999" y="135544"/>
            <a:ext cx="54241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关键应用案例：智能车联网</a:t>
            </a:r>
          </a:p>
        </p:txBody>
      </p:sp>
      <p:sp>
        <p:nvSpPr>
          <p:cNvPr id="30" name="object 30" descr=""/>
          <p:cNvSpPr txBox="1"/>
          <p:nvPr/>
        </p:nvSpPr>
        <p:spPr>
          <a:xfrm>
            <a:off x="1435773" y="1306253"/>
            <a:ext cx="942975" cy="838200"/>
          </a:xfrm>
          <a:prstGeom prst="rect">
            <a:avLst/>
          </a:prstGeom>
        </p:spPr>
        <p:txBody>
          <a:bodyPr wrap="square" lIns="0" tIns="17780" rIns="0" bIns="0" rtlCol="0" vert="horz">
            <a:spAutoFit/>
          </a:bodyPr>
          <a:lstStyle/>
          <a:p>
            <a:pPr algn="ctr" marL="12700" marR="5080">
              <a:lnSpc>
                <a:spcPct val="98100"/>
              </a:lnSpc>
              <a:spcBef>
                <a:spcPts val="140"/>
              </a:spcBef>
            </a:pPr>
            <a:r>
              <a:rPr dirty="0" sz="1800" spc="-15">
                <a:solidFill>
                  <a:srgbClr val="FFFFFF"/>
                </a:solidFill>
                <a:latin typeface="SimSun"/>
                <a:cs typeface="SimSun"/>
              </a:rPr>
              <a:t>汽车智能化的通信</a:t>
            </a:r>
            <a:r>
              <a:rPr dirty="0" sz="1800" spc="-25">
                <a:solidFill>
                  <a:srgbClr val="FFFFFF"/>
                </a:solidFill>
                <a:latin typeface="SimSun"/>
                <a:cs typeface="SimSun"/>
              </a:rPr>
              <a:t>需求</a:t>
            </a:r>
            <a:endParaRPr sz="1800">
              <a:latin typeface="SimSun"/>
              <a:cs typeface="SimSun"/>
            </a:endParaRPr>
          </a:p>
        </p:txBody>
      </p:sp>
      <p:sp>
        <p:nvSpPr>
          <p:cNvPr id="31" name="object 31" descr=""/>
          <p:cNvSpPr txBox="1"/>
          <p:nvPr/>
        </p:nvSpPr>
        <p:spPr>
          <a:xfrm>
            <a:off x="539546" y="2931795"/>
            <a:ext cx="1065530" cy="369570"/>
          </a:xfrm>
          <a:prstGeom prst="rect">
            <a:avLst/>
          </a:prstGeom>
          <a:solidFill>
            <a:srgbClr val="666633"/>
          </a:solidFill>
          <a:ln w="9525">
            <a:solidFill>
              <a:srgbClr val="C0C0C0"/>
            </a:solidFill>
          </a:ln>
        </p:spPr>
        <p:txBody>
          <a:bodyPr wrap="square" lIns="0" tIns="39370" rIns="0" bIns="0" rtlCol="0" vert="horz">
            <a:spAutoFit/>
          </a:bodyPr>
          <a:lstStyle/>
          <a:p>
            <a:pPr marL="91440">
              <a:lnSpc>
                <a:spcPct val="100000"/>
              </a:lnSpc>
              <a:spcBef>
                <a:spcPts val="310"/>
              </a:spcBef>
            </a:pPr>
            <a:r>
              <a:rPr dirty="0" sz="1800" spc="-50" b="1">
                <a:solidFill>
                  <a:srgbClr val="C0C0C0"/>
                </a:solidFill>
                <a:latin typeface="Arial"/>
                <a:cs typeface="Arial"/>
              </a:rPr>
              <a:t>LTE-</a:t>
            </a:r>
            <a:r>
              <a:rPr dirty="0" sz="1800" spc="-65" b="1">
                <a:solidFill>
                  <a:srgbClr val="C0C0C0"/>
                </a:solidFill>
                <a:latin typeface="Arial"/>
                <a:cs typeface="Arial"/>
              </a:rPr>
              <a:t>V-</a:t>
            </a:r>
            <a:r>
              <a:rPr dirty="0" sz="1800" spc="-50" b="1">
                <a:solidFill>
                  <a:srgbClr val="C0C0C0"/>
                </a:solidFill>
                <a:latin typeface="Arial"/>
                <a:cs typeface="Arial"/>
              </a:rPr>
              <a:t>C</a:t>
            </a:r>
            <a:endParaRPr sz="1800">
              <a:latin typeface="Arial"/>
              <a:cs typeface="Arial"/>
            </a:endParaRPr>
          </a:p>
        </p:txBody>
      </p:sp>
      <p:sp>
        <p:nvSpPr>
          <p:cNvPr id="32" name="object 32" descr=""/>
          <p:cNvSpPr txBox="1"/>
          <p:nvPr/>
        </p:nvSpPr>
        <p:spPr>
          <a:xfrm>
            <a:off x="1763687" y="2931795"/>
            <a:ext cx="1065530" cy="369570"/>
          </a:xfrm>
          <a:prstGeom prst="rect">
            <a:avLst/>
          </a:prstGeom>
          <a:solidFill>
            <a:srgbClr val="666633"/>
          </a:solidFill>
          <a:ln w="9525">
            <a:solidFill>
              <a:srgbClr val="222268"/>
            </a:solidFill>
          </a:ln>
        </p:spPr>
        <p:txBody>
          <a:bodyPr wrap="square" lIns="0" tIns="39370" rIns="0" bIns="0" rtlCol="0" vert="horz">
            <a:spAutoFit/>
          </a:bodyPr>
          <a:lstStyle/>
          <a:p>
            <a:pPr marL="91440">
              <a:lnSpc>
                <a:spcPct val="100000"/>
              </a:lnSpc>
              <a:spcBef>
                <a:spcPts val="310"/>
              </a:spcBef>
            </a:pPr>
            <a:r>
              <a:rPr dirty="0" sz="1800" spc="-50" b="1">
                <a:solidFill>
                  <a:srgbClr val="FF0000"/>
                </a:solidFill>
                <a:latin typeface="Arial"/>
                <a:cs typeface="Arial"/>
              </a:rPr>
              <a:t>LTE-</a:t>
            </a:r>
            <a:r>
              <a:rPr dirty="0" sz="1800" spc="-65" b="1">
                <a:solidFill>
                  <a:srgbClr val="FF0000"/>
                </a:solidFill>
                <a:latin typeface="Arial"/>
                <a:cs typeface="Arial"/>
              </a:rPr>
              <a:t>V-</a:t>
            </a:r>
            <a:r>
              <a:rPr dirty="0" sz="1800" spc="-50" b="1">
                <a:solidFill>
                  <a:srgbClr val="FF0000"/>
                </a:solidFill>
                <a:latin typeface="Arial"/>
                <a:cs typeface="Arial"/>
              </a:rPr>
              <a:t>D</a:t>
            </a:r>
            <a:endParaRPr sz="1800">
              <a:latin typeface="Arial"/>
              <a:cs typeface="Arial"/>
            </a:endParaRPr>
          </a:p>
        </p:txBody>
      </p:sp>
      <p:grpSp>
        <p:nvGrpSpPr>
          <p:cNvPr id="33" name="object 33" descr=""/>
          <p:cNvGrpSpPr/>
          <p:nvPr/>
        </p:nvGrpSpPr>
        <p:grpSpPr>
          <a:xfrm>
            <a:off x="1081478" y="1494392"/>
            <a:ext cx="2520315" cy="1436370"/>
            <a:chOff x="1081478" y="1494392"/>
            <a:chExt cx="2520315" cy="1436370"/>
          </a:xfrm>
        </p:grpSpPr>
        <p:sp>
          <p:nvSpPr>
            <p:cNvPr id="34" name="object 34" descr=""/>
            <p:cNvSpPr/>
            <p:nvPr/>
          </p:nvSpPr>
          <p:spPr>
            <a:xfrm>
              <a:off x="3117052" y="1494392"/>
              <a:ext cx="485140" cy="485140"/>
            </a:xfrm>
            <a:custGeom>
              <a:avLst/>
              <a:gdLst/>
              <a:ahLst/>
              <a:cxnLst/>
              <a:rect l="l" t="t" r="r" b="b"/>
              <a:pathLst>
                <a:path w="485139" h="485139">
                  <a:moveTo>
                    <a:pt x="242315" y="0"/>
                  </a:moveTo>
                  <a:lnTo>
                    <a:pt x="0" y="0"/>
                  </a:lnTo>
                  <a:lnTo>
                    <a:pt x="242315" y="242315"/>
                  </a:lnTo>
                  <a:lnTo>
                    <a:pt x="0" y="484631"/>
                  </a:lnTo>
                  <a:lnTo>
                    <a:pt x="242315" y="484631"/>
                  </a:lnTo>
                  <a:lnTo>
                    <a:pt x="484631" y="242315"/>
                  </a:lnTo>
                  <a:lnTo>
                    <a:pt x="242315" y="0"/>
                  </a:lnTo>
                  <a:close/>
                </a:path>
              </a:pathLst>
            </a:custGeom>
            <a:solidFill>
              <a:srgbClr val="FFFFFF"/>
            </a:solidFill>
          </p:spPr>
          <p:txBody>
            <a:bodyPr wrap="square" lIns="0" tIns="0" rIns="0" bIns="0" rtlCol="0"/>
            <a:lstStyle/>
            <a:p/>
          </p:txBody>
        </p:sp>
        <p:sp>
          <p:nvSpPr>
            <p:cNvPr id="35" name="object 35" descr=""/>
            <p:cNvSpPr/>
            <p:nvPr/>
          </p:nvSpPr>
          <p:spPr>
            <a:xfrm>
              <a:off x="1095769" y="2377550"/>
              <a:ext cx="812165" cy="539115"/>
            </a:xfrm>
            <a:custGeom>
              <a:avLst/>
              <a:gdLst/>
              <a:ahLst/>
              <a:cxnLst/>
              <a:rect l="l" t="t" r="r" b="b"/>
              <a:pathLst>
                <a:path w="812164" h="539114">
                  <a:moveTo>
                    <a:pt x="811936" y="0"/>
                  </a:moveTo>
                  <a:lnTo>
                    <a:pt x="0" y="538607"/>
                  </a:lnTo>
                </a:path>
              </a:pathLst>
            </a:custGeom>
            <a:ln w="28575">
              <a:solidFill>
                <a:srgbClr val="B6DCDF"/>
              </a:solidFill>
            </a:ln>
          </p:spPr>
          <p:txBody>
            <a:bodyPr wrap="square" lIns="0" tIns="0" rIns="0" bIns="0" rtlCol="0"/>
            <a:lstStyle/>
            <a:p/>
          </p:txBody>
        </p:sp>
        <p:sp>
          <p:nvSpPr>
            <p:cNvPr id="36" name="object 36" descr=""/>
            <p:cNvSpPr/>
            <p:nvPr/>
          </p:nvSpPr>
          <p:spPr>
            <a:xfrm>
              <a:off x="1095766" y="2827092"/>
              <a:ext cx="99695" cy="89535"/>
            </a:xfrm>
            <a:custGeom>
              <a:avLst/>
              <a:gdLst/>
              <a:ahLst/>
              <a:cxnLst/>
              <a:rect l="l" t="t" r="r" b="b"/>
              <a:pathLst>
                <a:path w="99694" h="89535">
                  <a:moveTo>
                    <a:pt x="99085" y="83337"/>
                  </a:moveTo>
                  <a:lnTo>
                    <a:pt x="0" y="89065"/>
                  </a:lnTo>
                  <a:lnTo>
                    <a:pt x="43789" y="0"/>
                  </a:lnTo>
                </a:path>
              </a:pathLst>
            </a:custGeom>
            <a:ln w="28575">
              <a:solidFill>
                <a:srgbClr val="B6DCDF"/>
              </a:solidFill>
            </a:ln>
          </p:spPr>
          <p:txBody>
            <a:bodyPr wrap="square" lIns="0" tIns="0" rIns="0" bIns="0" rtlCol="0"/>
            <a:lstStyle/>
            <a:p/>
          </p:txBody>
        </p:sp>
        <p:sp>
          <p:nvSpPr>
            <p:cNvPr id="37" name="object 37" descr=""/>
            <p:cNvSpPr/>
            <p:nvPr/>
          </p:nvSpPr>
          <p:spPr>
            <a:xfrm>
              <a:off x="1907706" y="2377550"/>
              <a:ext cx="372745" cy="531495"/>
            </a:xfrm>
            <a:custGeom>
              <a:avLst/>
              <a:gdLst/>
              <a:ahLst/>
              <a:cxnLst/>
              <a:rect l="l" t="t" r="r" b="b"/>
              <a:pathLst>
                <a:path w="372744" h="531494">
                  <a:moveTo>
                    <a:pt x="0" y="0"/>
                  </a:moveTo>
                  <a:lnTo>
                    <a:pt x="372389" y="531075"/>
                  </a:lnTo>
                </a:path>
              </a:pathLst>
            </a:custGeom>
            <a:ln w="28575">
              <a:solidFill>
                <a:srgbClr val="B6DCDF"/>
              </a:solidFill>
            </a:ln>
          </p:spPr>
          <p:txBody>
            <a:bodyPr wrap="square" lIns="0" tIns="0" rIns="0" bIns="0" rtlCol="0"/>
            <a:lstStyle/>
            <a:p/>
          </p:txBody>
        </p:sp>
        <p:sp>
          <p:nvSpPr>
            <p:cNvPr id="38" name="object 38" descr=""/>
            <p:cNvSpPr/>
            <p:nvPr/>
          </p:nvSpPr>
          <p:spPr>
            <a:xfrm>
              <a:off x="2189937" y="2809727"/>
              <a:ext cx="90170" cy="99060"/>
            </a:xfrm>
            <a:custGeom>
              <a:avLst/>
              <a:gdLst/>
              <a:ahLst/>
              <a:cxnLst/>
              <a:rect l="l" t="t" r="r" b="b"/>
              <a:pathLst>
                <a:path w="90169" h="99060">
                  <a:moveTo>
                    <a:pt x="81889" y="0"/>
                  </a:moveTo>
                  <a:lnTo>
                    <a:pt x="90157" y="98894"/>
                  </a:lnTo>
                  <a:lnTo>
                    <a:pt x="0" y="57416"/>
                  </a:lnTo>
                </a:path>
              </a:pathLst>
            </a:custGeom>
            <a:ln w="28575">
              <a:solidFill>
                <a:srgbClr val="B6DCDF"/>
              </a:solidFill>
            </a:ln>
          </p:spPr>
          <p:txBody>
            <a:bodyPr wrap="square" lIns="0" tIns="0" rIns="0" bIns="0" rtlCol="0"/>
            <a:lstStyle/>
            <a:p/>
          </p:txBody>
        </p:sp>
      </p:grpSp>
      <p:sp>
        <p:nvSpPr>
          <p:cNvPr id="39" name="object 39" descr=""/>
          <p:cNvSpPr txBox="1"/>
          <p:nvPr/>
        </p:nvSpPr>
        <p:spPr>
          <a:xfrm>
            <a:off x="4337417" y="2754881"/>
            <a:ext cx="2059939" cy="269875"/>
          </a:xfrm>
          <a:prstGeom prst="rect">
            <a:avLst/>
          </a:prstGeom>
        </p:spPr>
        <p:txBody>
          <a:bodyPr wrap="square" lIns="0" tIns="12700" rIns="0" bIns="0" rtlCol="0" vert="horz">
            <a:spAutoFit/>
          </a:bodyPr>
          <a:lstStyle/>
          <a:p>
            <a:pPr marL="12700">
              <a:lnSpc>
                <a:spcPct val="100000"/>
              </a:lnSpc>
              <a:spcBef>
                <a:spcPts val="100"/>
              </a:spcBef>
            </a:pPr>
            <a:r>
              <a:rPr dirty="0" sz="1600">
                <a:solidFill>
                  <a:srgbClr val="262673"/>
                </a:solidFill>
                <a:latin typeface="SimSun"/>
                <a:cs typeface="SimSun"/>
              </a:rPr>
              <a:t>Intelligent</a:t>
            </a:r>
            <a:r>
              <a:rPr dirty="0" sz="1600" spc="-45">
                <a:solidFill>
                  <a:srgbClr val="262673"/>
                </a:solidFill>
                <a:latin typeface="SimSun"/>
                <a:cs typeface="SimSun"/>
              </a:rPr>
              <a:t> </a:t>
            </a:r>
            <a:r>
              <a:rPr dirty="0" sz="1600" spc="-10">
                <a:solidFill>
                  <a:srgbClr val="262673"/>
                </a:solidFill>
                <a:latin typeface="SimSun"/>
                <a:cs typeface="SimSun"/>
              </a:rPr>
              <a:t>Vehicles</a:t>
            </a:r>
            <a:endParaRPr sz="1600">
              <a:latin typeface="SimSun"/>
              <a:cs typeface="SimSun"/>
            </a:endParaRPr>
          </a:p>
        </p:txBody>
      </p:sp>
      <p:sp>
        <p:nvSpPr>
          <p:cNvPr id="40" name="object 40" descr=""/>
          <p:cNvSpPr txBox="1"/>
          <p:nvPr/>
        </p:nvSpPr>
        <p:spPr>
          <a:xfrm>
            <a:off x="2987827" y="2931795"/>
            <a:ext cx="697865" cy="369570"/>
          </a:xfrm>
          <a:prstGeom prst="rect">
            <a:avLst/>
          </a:prstGeom>
          <a:solidFill>
            <a:srgbClr val="666633"/>
          </a:solidFill>
          <a:ln w="9525">
            <a:solidFill>
              <a:srgbClr val="222268"/>
            </a:solidFill>
          </a:ln>
        </p:spPr>
        <p:txBody>
          <a:bodyPr wrap="square" lIns="0" tIns="39370" rIns="0" bIns="0" rtlCol="0" vert="horz">
            <a:spAutoFit/>
          </a:bodyPr>
          <a:lstStyle/>
          <a:p>
            <a:pPr marL="90805">
              <a:lnSpc>
                <a:spcPct val="100000"/>
              </a:lnSpc>
              <a:spcBef>
                <a:spcPts val="310"/>
              </a:spcBef>
            </a:pPr>
            <a:r>
              <a:rPr dirty="0" sz="1800" spc="-25" b="1">
                <a:latin typeface="Arial"/>
                <a:cs typeface="Arial"/>
              </a:rPr>
              <a:t>MEC</a:t>
            </a:r>
            <a:endParaRPr sz="1800">
              <a:latin typeface="Arial"/>
              <a:cs typeface="Arial"/>
            </a:endParaRPr>
          </a:p>
        </p:txBody>
      </p:sp>
      <p:graphicFrame>
        <p:nvGraphicFramePr>
          <p:cNvPr id="41" name="object 41" descr=""/>
          <p:cNvGraphicFramePr>
            <a:graphicFrameLocks noGrp="1"/>
          </p:cNvGraphicFramePr>
          <p:nvPr/>
        </p:nvGraphicFramePr>
        <p:xfrm>
          <a:off x="527989" y="3394646"/>
          <a:ext cx="3245485" cy="1462405"/>
        </p:xfrm>
        <a:graphic>
          <a:graphicData uri="http://schemas.openxmlformats.org/drawingml/2006/table">
            <a:tbl>
              <a:tblPr firstRow="1" bandRow="1">
                <a:tableStyleId>{2D5ABB26-0587-4C30-8999-92F81FD0307C}</a:tableStyleId>
              </a:tblPr>
              <a:tblGrid>
                <a:gridCol w="2027555"/>
                <a:gridCol w="1140459"/>
              </a:tblGrid>
              <a:tr h="570865">
                <a:tc>
                  <a:txBody>
                    <a:bodyPr/>
                    <a:lstStyle/>
                    <a:p>
                      <a:pPr algn="ctr" marL="22225">
                        <a:lnSpc>
                          <a:spcPct val="100000"/>
                        </a:lnSpc>
                        <a:spcBef>
                          <a:spcPts val="1000"/>
                        </a:spcBef>
                      </a:pPr>
                      <a:r>
                        <a:rPr dirty="0" sz="1800" spc="-10">
                          <a:solidFill>
                            <a:srgbClr val="C00000"/>
                          </a:solidFill>
                          <a:latin typeface="SimSun"/>
                          <a:cs typeface="SimSun"/>
                        </a:rPr>
                        <a:t>数据连接需求</a:t>
                      </a:r>
                      <a:endParaRPr sz="1800">
                        <a:latin typeface="SimSun"/>
                        <a:cs typeface="SimSun"/>
                      </a:endParaRPr>
                    </a:p>
                  </a:txBody>
                  <a:tcPr marL="0" marR="0" marB="0" marT="127000">
                    <a:lnB w="76200">
                      <a:solidFill>
                        <a:srgbClr val="FFFFFF"/>
                      </a:solidFill>
                      <a:prstDash val="solid"/>
                    </a:lnB>
                    <a:solidFill>
                      <a:srgbClr val="00CC00"/>
                    </a:solidFill>
                  </a:tcPr>
                </a:tc>
                <a:tc>
                  <a:txBody>
                    <a:bodyPr/>
                    <a:lstStyle/>
                    <a:p>
                      <a:pPr algn="ctr" marL="10160">
                        <a:lnSpc>
                          <a:spcPct val="100000"/>
                        </a:lnSpc>
                        <a:spcBef>
                          <a:spcPts val="1000"/>
                        </a:spcBef>
                      </a:pPr>
                      <a:r>
                        <a:rPr dirty="0" sz="1800" spc="-15">
                          <a:solidFill>
                            <a:srgbClr val="050505"/>
                          </a:solidFill>
                          <a:latin typeface="SimSun"/>
                          <a:cs typeface="SimSun"/>
                        </a:rPr>
                        <a:t>车网通信</a:t>
                      </a:r>
                      <a:endParaRPr sz="1800">
                        <a:latin typeface="SimSun"/>
                        <a:cs typeface="SimSun"/>
                      </a:endParaRPr>
                    </a:p>
                  </a:txBody>
                  <a:tcPr marL="0" marR="0" marB="0" marT="127000">
                    <a:lnB w="76200">
                      <a:solidFill>
                        <a:srgbClr val="FFFFFF"/>
                      </a:solidFill>
                      <a:prstDash val="solid"/>
                    </a:lnB>
                    <a:solidFill>
                      <a:srgbClr val="FFFFFF">
                        <a:alpha val="23919"/>
                      </a:srgbClr>
                    </a:solidFill>
                  </a:tcPr>
                </a:tc>
              </a:tr>
              <a:tr h="462915">
                <a:tc>
                  <a:txBody>
                    <a:bodyPr/>
                    <a:lstStyle/>
                    <a:p>
                      <a:pPr algn="ctr" marL="22225">
                        <a:lnSpc>
                          <a:spcPct val="100000"/>
                        </a:lnSpc>
                        <a:spcBef>
                          <a:spcPts val="710"/>
                        </a:spcBef>
                      </a:pPr>
                      <a:r>
                        <a:rPr dirty="0" sz="1800" spc="-10">
                          <a:solidFill>
                            <a:srgbClr val="FFFFFF"/>
                          </a:solidFill>
                          <a:latin typeface="SimSun"/>
                          <a:cs typeface="SimSun"/>
                        </a:rPr>
                        <a:t>车辆间数据链</a:t>
                      </a:r>
                      <a:endParaRPr sz="1800">
                        <a:latin typeface="SimSun"/>
                        <a:cs typeface="SimSun"/>
                      </a:endParaRPr>
                    </a:p>
                  </a:txBody>
                  <a:tcPr marL="0" marR="0" marB="0" marT="90170">
                    <a:lnT w="76200">
                      <a:solidFill>
                        <a:srgbClr val="FFFFFF"/>
                      </a:solidFill>
                      <a:prstDash val="solid"/>
                    </a:lnT>
                    <a:lnB w="76200">
                      <a:solidFill>
                        <a:srgbClr val="FFFFFF"/>
                      </a:solidFill>
                      <a:prstDash val="solid"/>
                    </a:lnB>
                    <a:solidFill>
                      <a:srgbClr val="222268"/>
                    </a:solidFill>
                  </a:tcPr>
                </a:tc>
                <a:tc>
                  <a:txBody>
                    <a:bodyPr/>
                    <a:lstStyle/>
                    <a:p>
                      <a:pPr algn="ctr" marL="10160">
                        <a:lnSpc>
                          <a:spcPct val="100000"/>
                        </a:lnSpc>
                        <a:spcBef>
                          <a:spcPts val="710"/>
                        </a:spcBef>
                      </a:pPr>
                      <a:r>
                        <a:rPr dirty="0" sz="1800" spc="-15">
                          <a:solidFill>
                            <a:srgbClr val="050505"/>
                          </a:solidFill>
                          <a:latin typeface="SimSun"/>
                          <a:cs typeface="SimSun"/>
                        </a:rPr>
                        <a:t>车车通信</a:t>
                      </a:r>
                      <a:endParaRPr sz="1800">
                        <a:latin typeface="SimSun"/>
                        <a:cs typeface="SimSun"/>
                      </a:endParaRPr>
                    </a:p>
                  </a:txBody>
                  <a:tcPr marL="0" marR="0" marB="0" marT="90170">
                    <a:lnT w="76200">
                      <a:solidFill>
                        <a:srgbClr val="FFFFFF"/>
                      </a:solidFill>
                      <a:prstDash val="solid"/>
                    </a:lnT>
                    <a:lnB w="76200">
                      <a:solidFill>
                        <a:srgbClr val="FFFFFF"/>
                      </a:solidFill>
                      <a:prstDash val="solid"/>
                    </a:lnB>
                    <a:solidFill>
                      <a:srgbClr val="222268">
                        <a:alpha val="23919"/>
                      </a:srgbClr>
                    </a:solidFill>
                  </a:tcPr>
                </a:tc>
              </a:tr>
              <a:tr h="428625">
                <a:tc>
                  <a:txBody>
                    <a:bodyPr/>
                    <a:lstStyle/>
                    <a:p>
                      <a:pPr algn="ctr">
                        <a:lnSpc>
                          <a:spcPct val="100000"/>
                        </a:lnSpc>
                        <a:spcBef>
                          <a:spcPts val="720"/>
                        </a:spcBef>
                      </a:pPr>
                      <a:r>
                        <a:rPr dirty="0" sz="1800" spc="-10">
                          <a:solidFill>
                            <a:srgbClr val="FFFFFF"/>
                          </a:solidFill>
                          <a:latin typeface="SimSun"/>
                          <a:cs typeface="SimSun"/>
                        </a:rPr>
                        <a:t>网络车联讯速</a:t>
                      </a:r>
                      <a:endParaRPr sz="1800">
                        <a:latin typeface="SimSun"/>
                        <a:cs typeface="SimSun"/>
                      </a:endParaRPr>
                    </a:p>
                  </a:txBody>
                  <a:tcPr marL="0" marR="0" marB="0" marT="91440">
                    <a:lnT w="76200">
                      <a:solidFill>
                        <a:srgbClr val="FFFFFF"/>
                      </a:solidFill>
                      <a:prstDash val="solid"/>
                    </a:lnT>
                    <a:solidFill>
                      <a:srgbClr val="262673"/>
                    </a:solidFill>
                  </a:tcPr>
                </a:tc>
                <a:tc>
                  <a:txBody>
                    <a:bodyPr/>
                    <a:lstStyle/>
                    <a:p>
                      <a:pPr algn="ctr" marR="3810">
                        <a:lnSpc>
                          <a:spcPct val="100000"/>
                        </a:lnSpc>
                        <a:spcBef>
                          <a:spcPts val="720"/>
                        </a:spcBef>
                      </a:pPr>
                      <a:r>
                        <a:rPr dirty="0" sz="1800" spc="-20">
                          <a:solidFill>
                            <a:srgbClr val="050505"/>
                          </a:solidFill>
                          <a:latin typeface="SimSun"/>
                          <a:cs typeface="SimSun"/>
                        </a:rPr>
                        <a:t>低时延</a:t>
                      </a:r>
                      <a:endParaRPr sz="1800">
                        <a:latin typeface="SimSun"/>
                        <a:cs typeface="SimSun"/>
                      </a:endParaRPr>
                    </a:p>
                  </a:txBody>
                  <a:tcPr marL="0" marR="0" marB="0" marT="91440">
                    <a:lnT w="76200">
                      <a:solidFill>
                        <a:srgbClr val="FFFFFF"/>
                      </a:solidFill>
                      <a:prstDash val="solid"/>
                    </a:lnT>
                    <a:solidFill>
                      <a:srgbClr val="262673">
                        <a:alpha val="36077"/>
                      </a:srgbClr>
                    </a:solidFill>
                  </a:tcPr>
                </a:tc>
              </a:tr>
            </a:tbl>
          </a:graphicData>
        </a:graphic>
      </p:graphicFrame>
      <p:sp>
        <p:nvSpPr>
          <p:cNvPr id="42" name="object 42" descr=""/>
          <p:cNvSpPr txBox="1"/>
          <p:nvPr/>
        </p:nvSpPr>
        <p:spPr>
          <a:xfrm>
            <a:off x="3786643" y="3360064"/>
            <a:ext cx="5058410" cy="1424940"/>
          </a:xfrm>
          <a:prstGeom prst="rect">
            <a:avLst/>
          </a:prstGeom>
        </p:spPr>
        <p:txBody>
          <a:bodyPr wrap="square" lIns="0" tIns="67310" rIns="0" bIns="0" rtlCol="0" vert="horz">
            <a:spAutoFit/>
          </a:bodyPr>
          <a:lstStyle/>
          <a:p>
            <a:pPr marL="297815" indent="-285115">
              <a:lnSpc>
                <a:spcPct val="100000"/>
              </a:lnSpc>
              <a:spcBef>
                <a:spcPts val="530"/>
              </a:spcBef>
              <a:buFont typeface="Wingdings"/>
              <a:buChar char=""/>
              <a:tabLst>
                <a:tab pos="297815" algn="l"/>
              </a:tabLst>
            </a:pPr>
            <a:r>
              <a:rPr dirty="0" sz="1400" spc="-20">
                <a:latin typeface="SimSun"/>
                <a:cs typeface="SimSun"/>
              </a:rPr>
              <a:t>移动互联：媒体娱乐，远程控制，</a:t>
            </a:r>
            <a:r>
              <a:rPr dirty="0" sz="1400" spc="-10">
                <a:latin typeface="Arial MT"/>
                <a:cs typeface="Arial MT"/>
              </a:rPr>
              <a:t>GIS</a:t>
            </a:r>
            <a:r>
              <a:rPr dirty="0" sz="1400" spc="-20">
                <a:latin typeface="SimSun"/>
                <a:cs typeface="SimSun"/>
              </a:rPr>
              <a:t>服务，交通大数据</a:t>
            </a:r>
            <a:r>
              <a:rPr dirty="0" sz="1400" spc="-25">
                <a:latin typeface="Arial MT"/>
                <a:cs typeface="Arial MT"/>
              </a:rPr>
              <a:t>……</a:t>
            </a:r>
            <a:endParaRPr sz="1400">
              <a:latin typeface="Arial MT"/>
              <a:cs typeface="Arial MT"/>
            </a:endParaRPr>
          </a:p>
          <a:p>
            <a:pPr marL="297815" indent="-285115">
              <a:lnSpc>
                <a:spcPct val="100000"/>
              </a:lnSpc>
              <a:spcBef>
                <a:spcPts val="434"/>
              </a:spcBef>
              <a:buFont typeface="Wingdings"/>
              <a:buChar char=""/>
              <a:tabLst>
                <a:tab pos="297815" algn="l"/>
              </a:tabLst>
            </a:pPr>
            <a:r>
              <a:rPr dirty="0" sz="1400" spc="-20">
                <a:latin typeface="SimSun"/>
                <a:cs typeface="SimSun"/>
              </a:rPr>
              <a:t>车物互联：交通标识</a:t>
            </a:r>
            <a:r>
              <a:rPr dirty="0" sz="1400" spc="-10">
                <a:latin typeface="Arial MT"/>
                <a:cs typeface="Arial MT"/>
              </a:rPr>
              <a:t>RF</a:t>
            </a:r>
            <a:r>
              <a:rPr dirty="0" sz="1400" spc="-20">
                <a:latin typeface="SimSun"/>
                <a:cs typeface="SimSun"/>
              </a:rPr>
              <a:t>识别，管控信息，标识引导</a:t>
            </a:r>
            <a:r>
              <a:rPr dirty="0" sz="1400" spc="-25">
                <a:latin typeface="Arial MT"/>
                <a:cs typeface="Arial MT"/>
              </a:rPr>
              <a:t>……</a:t>
            </a:r>
            <a:endParaRPr sz="1400">
              <a:latin typeface="Arial MT"/>
              <a:cs typeface="Arial MT"/>
            </a:endParaRPr>
          </a:p>
          <a:p>
            <a:pPr>
              <a:lnSpc>
                <a:spcPct val="100000"/>
              </a:lnSpc>
              <a:spcBef>
                <a:spcPts val="110"/>
              </a:spcBef>
              <a:buFont typeface="Wingdings"/>
              <a:buChar char=""/>
            </a:pPr>
            <a:endParaRPr sz="1400">
              <a:latin typeface="Arial MT"/>
              <a:cs typeface="Arial MT"/>
            </a:endParaRPr>
          </a:p>
          <a:p>
            <a:pPr marL="297815" indent="-285115">
              <a:lnSpc>
                <a:spcPct val="100000"/>
              </a:lnSpc>
              <a:buFont typeface="Wingdings"/>
              <a:buChar char=""/>
              <a:tabLst>
                <a:tab pos="297815" algn="l"/>
              </a:tabLst>
            </a:pPr>
            <a:r>
              <a:rPr dirty="0" sz="1400" spc="-25">
                <a:latin typeface="SimSun"/>
                <a:cs typeface="SimSun"/>
              </a:rPr>
              <a:t>直通信息：车速交互，测距相对位置交互，安全预警</a:t>
            </a:r>
            <a:endParaRPr sz="1400">
              <a:latin typeface="SimSun"/>
              <a:cs typeface="SimSun"/>
            </a:endParaRPr>
          </a:p>
          <a:p>
            <a:pPr marL="331470" indent="-285750">
              <a:lnSpc>
                <a:spcPct val="100000"/>
              </a:lnSpc>
              <a:spcBef>
                <a:spcPts val="1710"/>
              </a:spcBef>
              <a:buFont typeface="Wingdings"/>
              <a:buChar char=""/>
              <a:tabLst>
                <a:tab pos="331470" algn="l"/>
              </a:tabLst>
            </a:pPr>
            <a:r>
              <a:rPr dirty="0" sz="1400" spc="-25">
                <a:latin typeface="SimSun"/>
                <a:cs typeface="SimSun"/>
              </a:rPr>
              <a:t>边界计算，增强基站，车联业务直通</a:t>
            </a:r>
            <a:endParaRPr sz="1400">
              <a:latin typeface="SimSun"/>
              <a:cs typeface="SimSun"/>
            </a:endParaRPr>
          </a:p>
        </p:txBody>
      </p:sp>
      <p:grpSp>
        <p:nvGrpSpPr>
          <p:cNvPr id="43" name="object 43" descr=""/>
          <p:cNvGrpSpPr/>
          <p:nvPr/>
        </p:nvGrpSpPr>
        <p:grpSpPr>
          <a:xfrm>
            <a:off x="1893418" y="2363262"/>
            <a:ext cx="1431290" cy="588645"/>
            <a:chOff x="1893418" y="2363262"/>
            <a:chExt cx="1431290" cy="588645"/>
          </a:xfrm>
        </p:grpSpPr>
        <p:sp>
          <p:nvSpPr>
            <p:cNvPr id="44" name="object 44" descr=""/>
            <p:cNvSpPr/>
            <p:nvPr/>
          </p:nvSpPr>
          <p:spPr>
            <a:xfrm>
              <a:off x="1907706" y="2377550"/>
              <a:ext cx="1402715" cy="544195"/>
            </a:xfrm>
            <a:custGeom>
              <a:avLst/>
              <a:gdLst/>
              <a:ahLst/>
              <a:cxnLst/>
              <a:rect l="l" t="t" r="r" b="b"/>
              <a:pathLst>
                <a:path w="1402714" h="544194">
                  <a:moveTo>
                    <a:pt x="0" y="0"/>
                  </a:moveTo>
                  <a:lnTo>
                    <a:pt x="1402562" y="544004"/>
                  </a:lnTo>
                </a:path>
              </a:pathLst>
            </a:custGeom>
            <a:ln w="28575">
              <a:solidFill>
                <a:srgbClr val="B6DCDF"/>
              </a:solidFill>
            </a:ln>
          </p:spPr>
          <p:txBody>
            <a:bodyPr wrap="square" lIns="0" tIns="0" rIns="0" bIns="0" rtlCol="0"/>
            <a:lstStyle/>
            <a:p/>
          </p:txBody>
        </p:sp>
        <p:sp>
          <p:nvSpPr>
            <p:cNvPr id="45" name="object 45" descr=""/>
            <p:cNvSpPr/>
            <p:nvPr/>
          </p:nvSpPr>
          <p:spPr>
            <a:xfrm>
              <a:off x="3212257" y="2843933"/>
              <a:ext cx="98425" cy="93345"/>
            </a:xfrm>
            <a:custGeom>
              <a:avLst/>
              <a:gdLst/>
              <a:ahLst/>
              <a:cxnLst/>
              <a:rect l="l" t="t" r="r" b="b"/>
              <a:pathLst>
                <a:path w="98425" h="93344">
                  <a:moveTo>
                    <a:pt x="36169" y="0"/>
                  </a:moveTo>
                  <a:lnTo>
                    <a:pt x="98005" y="77622"/>
                  </a:lnTo>
                  <a:lnTo>
                    <a:pt x="0" y="93243"/>
                  </a:lnTo>
                </a:path>
              </a:pathLst>
            </a:custGeom>
            <a:ln w="28575">
              <a:solidFill>
                <a:srgbClr val="B6DCDF"/>
              </a:solidFill>
            </a:ln>
          </p:spPr>
          <p:txBody>
            <a:bodyPr wrap="square" lIns="0" tIns="0" rIns="0" bIns="0" rtlCol="0"/>
            <a:lstStyle/>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a:latin typeface="Microsoft YaHei"/>
                <a:cs typeface="Microsoft YaHei"/>
              </a:rPr>
              <a:t>一、 </a:t>
            </a:r>
            <a:r>
              <a:rPr dirty="0" sz="2400" spc="-20">
                <a:latin typeface="Times New Roman"/>
                <a:cs typeface="Times New Roman"/>
              </a:rPr>
              <a:t>5G</a:t>
            </a:r>
            <a:r>
              <a:rPr dirty="0" sz="2400" spc="-5">
                <a:latin typeface="Microsoft YaHei"/>
                <a:cs typeface="Microsoft YaHei"/>
              </a:rPr>
              <a:t>系统与网络典型业务概述</a:t>
            </a:r>
            <a:endParaRPr sz="2400">
              <a:latin typeface="Microsoft YaHei"/>
              <a:cs typeface="Microsoft YaHei"/>
            </a:endParaRPr>
          </a:p>
          <a:p>
            <a:pPr algn="just" marL="12700" marR="5080">
              <a:lnSpc>
                <a:spcPct val="177100"/>
              </a:lnSpc>
              <a:spcBef>
                <a:spcPts val="5"/>
              </a:spcBef>
            </a:pPr>
            <a:r>
              <a:rPr dirty="0" sz="2400" spc="-65" b="1">
                <a:solidFill>
                  <a:srgbClr val="FF0000"/>
                </a:solidFill>
                <a:latin typeface="Microsoft YaHei"/>
                <a:cs typeface="Microsoft YaHei"/>
              </a:rPr>
              <a:t>二、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系统与网络业务场景分类</a:t>
            </a:r>
            <a:r>
              <a:rPr dirty="0" sz="2400" spc="-40">
                <a:latin typeface="Microsoft YaHei"/>
                <a:cs typeface="Microsoft YaHei"/>
              </a:rPr>
              <a:t>三、 </a:t>
            </a:r>
            <a:r>
              <a:rPr dirty="0" sz="2400" spc="-20">
                <a:latin typeface="Times New Roman"/>
                <a:cs typeface="Times New Roman"/>
              </a:rPr>
              <a:t>5G</a:t>
            </a:r>
            <a:r>
              <a:rPr dirty="0" sz="2400" spc="-5">
                <a:latin typeface="Microsoft YaHei"/>
                <a:cs typeface="Microsoft YaHei"/>
              </a:rPr>
              <a:t>系统与网络典型业务模型</a:t>
            </a:r>
            <a:r>
              <a:rPr dirty="0" sz="2400" spc="-40">
                <a:latin typeface="Microsoft YaHei"/>
                <a:cs typeface="Microsoft YaHei"/>
              </a:rPr>
              <a:t>四、 </a:t>
            </a:r>
            <a:r>
              <a:rPr dirty="0" sz="2400" spc="-20">
                <a:latin typeface="Times New Roman"/>
                <a:cs typeface="Times New Roman"/>
              </a:rPr>
              <a:t>5G</a:t>
            </a:r>
            <a:r>
              <a:rPr dirty="0" sz="2400" spc="-5">
                <a:latin typeface="Microsoft YaHei"/>
                <a:cs typeface="Microsoft YaHei"/>
              </a:rPr>
              <a:t>系统与网络大带宽新业务</a:t>
            </a:r>
            <a:r>
              <a:rPr dirty="0" sz="2400" spc="-40">
                <a:latin typeface="Microsoft YaHei"/>
                <a:cs typeface="Microsoft YaHei"/>
              </a:rPr>
              <a:t>五、 </a:t>
            </a:r>
            <a:r>
              <a:rPr dirty="0" sz="2400" spc="-20">
                <a:latin typeface="Times New Roman"/>
                <a:cs typeface="Times New Roman"/>
              </a:rPr>
              <a:t>5G</a:t>
            </a:r>
            <a:r>
              <a:rPr dirty="0" sz="2400" spc="-5">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a:latin typeface="Microsoft YaHei"/>
                <a:cs typeface="Microsoft YaHei"/>
              </a:rPr>
              <a:t>六、 </a:t>
            </a:r>
            <a:r>
              <a:rPr dirty="0" sz="2400" spc="-20">
                <a:latin typeface="Times New Roman"/>
                <a:cs typeface="Times New Roman"/>
              </a:rPr>
              <a:t>5G</a:t>
            </a:r>
            <a:r>
              <a:rPr dirty="0" sz="2400" spc="-5">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8692" y="156076"/>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网络主要业务类型</a:t>
            </a:r>
          </a:p>
        </p:txBody>
      </p:sp>
      <p:grpSp>
        <p:nvGrpSpPr>
          <p:cNvPr id="3" name="object 3" descr=""/>
          <p:cNvGrpSpPr/>
          <p:nvPr/>
        </p:nvGrpSpPr>
        <p:grpSpPr>
          <a:xfrm>
            <a:off x="4134611" y="770382"/>
            <a:ext cx="1772920" cy="619760"/>
            <a:chOff x="4134611" y="770382"/>
            <a:chExt cx="1772920" cy="619760"/>
          </a:xfrm>
        </p:grpSpPr>
        <p:pic>
          <p:nvPicPr>
            <p:cNvPr id="4" name="object 4" descr=""/>
            <p:cNvPicPr/>
            <p:nvPr/>
          </p:nvPicPr>
          <p:blipFill>
            <a:blip r:embed="rId2" cstate="print"/>
            <a:stretch>
              <a:fillRect/>
            </a:stretch>
          </p:blipFill>
          <p:spPr>
            <a:xfrm>
              <a:off x="4224527" y="838961"/>
              <a:ext cx="1525523" cy="550925"/>
            </a:xfrm>
            <a:prstGeom prst="rect">
              <a:avLst/>
            </a:prstGeom>
          </p:spPr>
        </p:pic>
        <p:pic>
          <p:nvPicPr>
            <p:cNvPr id="5" name="object 5" descr=""/>
            <p:cNvPicPr/>
            <p:nvPr/>
          </p:nvPicPr>
          <p:blipFill>
            <a:blip r:embed="rId3" cstate="print"/>
            <a:stretch>
              <a:fillRect/>
            </a:stretch>
          </p:blipFill>
          <p:spPr>
            <a:xfrm>
              <a:off x="4134611" y="770382"/>
              <a:ext cx="1772411" cy="561593"/>
            </a:xfrm>
            <a:prstGeom prst="rect">
              <a:avLst/>
            </a:prstGeom>
          </p:spPr>
        </p:pic>
        <p:sp>
          <p:nvSpPr>
            <p:cNvPr id="6" name="object 6" descr=""/>
            <p:cNvSpPr/>
            <p:nvPr/>
          </p:nvSpPr>
          <p:spPr>
            <a:xfrm>
              <a:off x="4265880" y="857238"/>
              <a:ext cx="1443355" cy="468630"/>
            </a:xfrm>
            <a:custGeom>
              <a:avLst/>
              <a:gdLst/>
              <a:ahLst/>
              <a:cxnLst/>
              <a:rect l="l" t="t" r="r" b="b"/>
              <a:pathLst>
                <a:path w="1443354" h="468630">
                  <a:moveTo>
                    <a:pt x="139633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1396339" y="468617"/>
                  </a:lnTo>
                  <a:lnTo>
                    <a:pt x="1414581" y="464934"/>
                  </a:lnTo>
                  <a:lnTo>
                    <a:pt x="1429477" y="454891"/>
                  </a:lnTo>
                  <a:lnTo>
                    <a:pt x="1439519" y="439995"/>
                  </a:lnTo>
                  <a:lnTo>
                    <a:pt x="1443202" y="421754"/>
                  </a:lnTo>
                  <a:lnTo>
                    <a:pt x="1443202" y="46862"/>
                  </a:lnTo>
                  <a:lnTo>
                    <a:pt x="1439519" y="28621"/>
                  </a:lnTo>
                  <a:lnTo>
                    <a:pt x="1429477" y="13725"/>
                  </a:lnTo>
                  <a:lnTo>
                    <a:pt x="1414581" y="3682"/>
                  </a:lnTo>
                  <a:lnTo>
                    <a:pt x="1396339" y="0"/>
                  </a:lnTo>
                  <a:close/>
                </a:path>
              </a:pathLst>
            </a:custGeom>
            <a:solidFill>
              <a:srgbClr val="00B050"/>
            </a:solidFill>
          </p:spPr>
          <p:txBody>
            <a:bodyPr wrap="square" lIns="0" tIns="0" rIns="0" bIns="0" rtlCol="0"/>
            <a:lstStyle/>
            <a:p/>
          </p:txBody>
        </p:sp>
      </p:grpSp>
      <p:sp>
        <p:nvSpPr>
          <p:cNvPr id="7" name="object 7" descr=""/>
          <p:cNvSpPr txBox="1"/>
          <p:nvPr/>
        </p:nvSpPr>
        <p:spPr>
          <a:xfrm>
            <a:off x="4358957" y="931307"/>
            <a:ext cx="1256030" cy="299720"/>
          </a:xfrm>
          <a:prstGeom prst="rect">
            <a:avLst/>
          </a:prstGeom>
        </p:spPr>
        <p:txBody>
          <a:bodyPr wrap="square" lIns="0" tIns="12700" rIns="0" bIns="0" rtlCol="0" vert="horz">
            <a:spAutoFit/>
          </a:bodyPr>
          <a:lstStyle/>
          <a:p>
            <a:pPr marL="12700">
              <a:lnSpc>
                <a:spcPct val="100000"/>
              </a:lnSpc>
              <a:spcBef>
                <a:spcPts val="100"/>
              </a:spcBef>
            </a:pPr>
            <a:r>
              <a:rPr dirty="0" sz="1800" spc="-20" b="1">
                <a:solidFill>
                  <a:srgbClr val="FFFFFF"/>
                </a:solidFill>
                <a:latin typeface="Microsoft YaHei"/>
                <a:cs typeface="Microsoft YaHei"/>
              </a:rPr>
              <a:t>5G</a:t>
            </a:r>
            <a:r>
              <a:rPr dirty="0" sz="1800" spc="-35" b="1">
                <a:solidFill>
                  <a:srgbClr val="FFFFFF"/>
                </a:solidFill>
                <a:latin typeface="Microsoft YaHei"/>
                <a:cs typeface="Microsoft YaHei"/>
              </a:rPr>
              <a:t>主要业务</a:t>
            </a:r>
            <a:endParaRPr sz="1800">
              <a:latin typeface="Microsoft YaHei"/>
              <a:cs typeface="Microsoft YaHei"/>
            </a:endParaRPr>
          </a:p>
        </p:txBody>
      </p:sp>
      <p:grpSp>
        <p:nvGrpSpPr>
          <p:cNvPr id="8" name="object 8" descr=""/>
          <p:cNvGrpSpPr/>
          <p:nvPr/>
        </p:nvGrpSpPr>
        <p:grpSpPr>
          <a:xfrm>
            <a:off x="3022092" y="1321097"/>
            <a:ext cx="1970405" cy="725805"/>
            <a:chOff x="3022092" y="1321097"/>
            <a:chExt cx="1970405" cy="725805"/>
          </a:xfrm>
        </p:grpSpPr>
        <p:sp>
          <p:nvSpPr>
            <p:cNvPr id="9" name="object 9" descr=""/>
            <p:cNvSpPr/>
            <p:nvPr/>
          </p:nvSpPr>
          <p:spPr>
            <a:xfrm>
              <a:off x="3660014" y="1325859"/>
              <a:ext cx="1327785" cy="188595"/>
            </a:xfrm>
            <a:custGeom>
              <a:avLst/>
              <a:gdLst/>
              <a:ahLst/>
              <a:cxnLst/>
              <a:rect l="l" t="t" r="r" b="b"/>
              <a:pathLst>
                <a:path w="1327785" h="188594">
                  <a:moveTo>
                    <a:pt x="1327467" y="0"/>
                  </a:moveTo>
                  <a:lnTo>
                    <a:pt x="1327467" y="94081"/>
                  </a:lnTo>
                  <a:lnTo>
                    <a:pt x="0" y="94081"/>
                  </a:lnTo>
                  <a:lnTo>
                    <a:pt x="0" y="188163"/>
                  </a:lnTo>
                </a:path>
              </a:pathLst>
            </a:custGeom>
            <a:ln w="9525">
              <a:solidFill>
                <a:srgbClr val="333399"/>
              </a:solidFill>
            </a:ln>
          </p:spPr>
          <p:txBody>
            <a:bodyPr wrap="square" lIns="0" tIns="0" rIns="0" bIns="0" rtlCol="0"/>
            <a:lstStyle/>
            <a:p/>
          </p:txBody>
        </p:sp>
        <p:pic>
          <p:nvPicPr>
            <p:cNvPr id="10" name="object 10" descr=""/>
            <p:cNvPicPr/>
            <p:nvPr/>
          </p:nvPicPr>
          <p:blipFill>
            <a:blip r:embed="rId4" cstate="print"/>
            <a:stretch>
              <a:fillRect/>
            </a:stretch>
          </p:blipFill>
          <p:spPr>
            <a:xfrm>
              <a:off x="3050286" y="1495805"/>
              <a:ext cx="1219187" cy="550925"/>
            </a:xfrm>
            <a:prstGeom prst="rect">
              <a:avLst/>
            </a:prstGeom>
          </p:spPr>
        </p:pic>
        <p:pic>
          <p:nvPicPr>
            <p:cNvPr id="11" name="object 11" descr=""/>
            <p:cNvPicPr/>
            <p:nvPr/>
          </p:nvPicPr>
          <p:blipFill>
            <a:blip r:embed="rId5" cstate="print"/>
            <a:stretch>
              <a:fillRect/>
            </a:stretch>
          </p:blipFill>
          <p:spPr>
            <a:xfrm>
              <a:off x="3022092" y="1493532"/>
              <a:ext cx="1327403" cy="455662"/>
            </a:xfrm>
            <a:prstGeom prst="rect">
              <a:avLst/>
            </a:prstGeom>
          </p:spPr>
        </p:pic>
        <p:pic>
          <p:nvPicPr>
            <p:cNvPr id="12" name="object 12" descr=""/>
            <p:cNvPicPr/>
            <p:nvPr/>
          </p:nvPicPr>
          <p:blipFill>
            <a:blip r:embed="rId6" cstate="print"/>
            <a:stretch>
              <a:fillRect/>
            </a:stretch>
          </p:blipFill>
          <p:spPr>
            <a:xfrm>
              <a:off x="3091738" y="1514030"/>
              <a:ext cx="1136548" cy="468617"/>
            </a:xfrm>
            <a:prstGeom prst="rect">
              <a:avLst/>
            </a:prstGeom>
          </p:spPr>
        </p:pic>
      </p:grpSp>
      <p:sp>
        <p:nvSpPr>
          <p:cNvPr id="13" name="object 13" descr=""/>
          <p:cNvSpPr txBox="1"/>
          <p:nvPr/>
        </p:nvSpPr>
        <p:spPr>
          <a:xfrm>
            <a:off x="3203129" y="1621209"/>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b="1">
                <a:solidFill>
                  <a:srgbClr val="FFFFFF"/>
                </a:solidFill>
                <a:latin typeface="Microsoft YaHei"/>
                <a:cs typeface="Microsoft YaHei"/>
              </a:rPr>
              <a:t>移动互联网</a:t>
            </a:r>
            <a:endParaRPr sz="1400">
              <a:latin typeface="Microsoft YaHei"/>
              <a:cs typeface="Microsoft YaHei"/>
            </a:endParaRPr>
          </a:p>
        </p:txBody>
      </p:sp>
      <p:grpSp>
        <p:nvGrpSpPr>
          <p:cNvPr id="14" name="object 14" descr=""/>
          <p:cNvGrpSpPr/>
          <p:nvPr/>
        </p:nvGrpSpPr>
        <p:grpSpPr>
          <a:xfrm>
            <a:off x="1439417" y="1977884"/>
            <a:ext cx="2225675" cy="725170"/>
            <a:chOff x="1439417" y="1977884"/>
            <a:chExt cx="2225675" cy="725170"/>
          </a:xfrm>
        </p:grpSpPr>
        <p:sp>
          <p:nvSpPr>
            <p:cNvPr id="15" name="object 15" descr=""/>
            <p:cNvSpPr/>
            <p:nvPr/>
          </p:nvSpPr>
          <p:spPr>
            <a:xfrm>
              <a:off x="1832392" y="1982646"/>
              <a:ext cx="1828164" cy="187960"/>
            </a:xfrm>
            <a:custGeom>
              <a:avLst/>
              <a:gdLst/>
              <a:ahLst/>
              <a:cxnLst/>
              <a:rect l="l" t="t" r="r" b="b"/>
              <a:pathLst>
                <a:path w="1828164" h="187960">
                  <a:moveTo>
                    <a:pt x="1827618" y="0"/>
                  </a:moveTo>
                  <a:lnTo>
                    <a:pt x="1827618" y="93726"/>
                  </a:lnTo>
                  <a:lnTo>
                    <a:pt x="0" y="93726"/>
                  </a:lnTo>
                  <a:lnTo>
                    <a:pt x="0" y="187452"/>
                  </a:lnTo>
                </a:path>
              </a:pathLst>
            </a:custGeom>
            <a:ln w="9525">
              <a:solidFill>
                <a:srgbClr val="FFFFFF"/>
              </a:solidFill>
            </a:ln>
          </p:spPr>
          <p:txBody>
            <a:bodyPr wrap="square" lIns="0" tIns="0" rIns="0" bIns="0" rtlCol="0"/>
            <a:lstStyle/>
            <a:p/>
          </p:txBody>
        </p:sp>
        <p:pic>
          <p:nvPicPr>
            <p:cNvPr id="16" name="object 16" descr=""/>
            <p:cNvPicPr/>
            <p:nvPr/>
          </p:nvPicPr>
          <p:blipFill>
            <a:blip r:embed="rId7" cstate="print"/>
            <a:stretch>
              <a:fillRect/>
            </a:stretch>
          </p:blipFill>
          <p:spPr>
            <a:xfrm>
              <a:off x="1439417" y="2151887"/>
              <a:ext cx="785621" cy="550925"/>
            </a:xfrm>
            <a:prstGeom prst="rect">
              <a:avLst/>
            </a:prstGeom>
          </p:spPr>
        </p:pic>
        <p:pic>
          <p:nvPicPr>
            <p:cNvPr id="17" name="object 17" descr=""/>
            <p:cNvPicPr/>
            <p:nvPr/>
          </p:nvPicPr>
          <p:blipFill>
            <a:blip r:embed="rId8" cstate="print"/>
            <a:stretch>
              <a:fillRect/>
            </a:stretch>
          </p:blipFill>
          <p:spPr>
            <a:xfrm>
              <a:off x="1460753" y="2149614"/>
              <a:ext cx="794765" cy="455662"/>
            </a:xfrm>
            <a:prstGeom prst="rect">
              <a:avLst/>
            </a:prstGeom>
          </p:spPr>
        </p:pic>
        <p:sp>
          <p:nvSpPr>
            <p:cNvPr id="18" name="object 18" descr=""/>
            <p:cNvSpPr/>
            <p:nvPr/>
          </p:nvSpPr>
          <p:spPr>
            <a:xfrm>
              <a:off x="1480922" y="2170094"/>
              <a:ext cx="702945" cy="468630"/>
            </a:xfrm>
            <a:custGeom>
              <a:avLst/>
              <a:gdLst/>
              <a:ahLst/>
              <a:cxnLst/>
              <a:rect l="l" t="t" r="r" b="b"/>
              <a:pathLst>
                <a:path w="702944"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C00000"/>
            </a:solidFill>
          </p:spPr>
          <p:txBody>
            <a:bodyPr wrap="square" lIns="0" tIns="0" rIns="0" bIns="0" rtlCol="0"/>
            <a:lstStyle/>
            <a:p/>
          </p:txBody>
        </p:sp>
      </p:grpSp>
      <p:sp>
        <p:nvSpPr>
          <p:cNvPr id="19" name="object 19" descr=""/>
          <p:cNvSpPr txBox="1"/>
          <p:nvPr/>
        </p:nvSpPr>
        <p:spPr>
          <a:xfrm>
            <a:off x="1641888" y="2277279"/>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a:solidFill>
                  <a:srgbClr val="FFFFFF"/>
                </a:solidFill>
                <a:latin typeface="Microsoft YaHei"/>
                <a:cs typeface="Microsoft YaHei"/>
              </a:rPr>
              <a:t>流类</a:t>
            </a:r>
            <a:endParaRPr sz="1400">
              <a:latin typeface="Microsoft YaHei"/>
              <a:cs typeface="Microsoft YaHei"/>
            </a:endParaRPr>
          </a:p>
        </p:txBody>
      </p:sp>
      <p:grpSp>
        <p:nvGrpSpPr>
          <p:cNvPr id="20" name="object 20" descr=""/>
          <p:cNvGrpSpPr/>
          <p:nvPr/>
        </p:nvGrpSpPr>
        <p:grpSpPr>
          <a:xfrm>
            <a:off x="2286761" y="1321097"/>
            <a:ext cx="5261610" cy="1381760"/>
            <a:chOff x="2286761" y="1321097"/>
            <a:chExt cx="5261610" cy="1381760"/>
          </a:xfrm>
        </p:grpSpPr>
        <p:sp>
          <p:nvSpPr>
            <p:cNvPr id="21" name="object 21" descr=""/>
            <p:cNvSpPr/>
            <p:nvPr/>
          </p:nvSpPr>
          <p:spPr>
            <a:xfrm>
              <a:off x="2746195" y="1982646"/>
              <a:ext cx="914400" cy="187960"/>
            </a:xfrm>
            <a:custGeom>
              <a:avLst/>
              <a:gdLst/>
              <a:ahLst/>
              <a:cxnLst/>
              <a:rect l="l" t="t" r="r" b="b"/>
              <a:pathLst>
                <a:path w="914400" h="187960">
                  <a:moveTo>
                    <a:pt x="913815" y="0"/>
                  </a:moveTo>
                  <a:lnTo>
                    <a:pt x="913815" y="93726"/>
                  </a:lnTo>
                  <a:lnTo>
                    <a:pt x="0" y="93726"/>
                  </a:lnTo>
                  <a:lnTo>
                    <a:pt x="0" y="187452"/>
                  </a:lnTo>
                </a:path>
              </a:pathLst>
            </a:custGeom>
            <a:ln w="9525">
              <a:solidFill>
                <a:srgbClr val="FFFFFF"/>
              </a:solidFill>
            </a:ln>
          </p:spPr>
          <p:txBody>
            <a:bodyPr wrap="square" lIns="0" tIns="0" rIns="0" bIns="0" rtlCol="0"/>
            <a:lstStyle/>
            <a:p/>
          </p:txBody>
        </p:sp>
        <p:pic>
          <p:nvPicPr>
            <p:cNvPr id="22" name="object 22" descr=""/>
            <p:cNvPicPr/>
            <p:nvPr/>
          </p:nvPicPr>
          <p:blipFill>
            <a:blip r:embed="rId9" cstate="print"/>
            <a:stretch>
              <a:fillRect/>
            </a:stretch>
          </p:blipFill>
          <p:spPr>
            <a:xfrm>
              <a:off x="2353817" y="2151887"/>
              <a:ext cx="784859" cy="550925"/>
            </a:xfrm>
            <a:prstGeom prst="rect">
              <a:avLst/>
            </a:prstGeom>
          </p:spPr>
        </p:pic>
        <p:pic>
          <p:nvPicPr>
            <p:cNvPr id="23" name="object 23" descr=""/>
            <p:cNvPicPr/>
            <p:nvPr/>
          </p:nvPicPr>
          <p:blipFill>
            <a:blip r:embed="rId10" cstate="print"/>
            <a:stretch>
              <a:fillRect/>
            </a:stretch>
          </p:blipFill>
          <p:spPr>
            <a:xfrm>
              <a:off x="2286761" y="2149614"/>
              <a:ext cx="972299" cy="455662"/>
            </a:xfrm>
            <a:prstGeom prst="rect">
              <a:avLst/>
            </a:prstGeom>
          </p:spPr>
        </p:pic>
        <p:sp>
          <p:nvSpPr>
            <p:cNvPr id="24" name="object 24" descr=""/>
            <p:cNvSpPr/>
            <p:nvPr/>
          </p:nvSpPr>
          <p:spPr>
            <a:xfrm>
              <a:off x="2394734" y="2170094"/>
              <a:ext cx="702945" cy="468630"/>
            </a:xfrm>
            <a:custGeom>
              <a:avLst/>
              <a:gdLst/>
              <a:ahLst/>
              <a:cxnLst/>
              <a:rect l="l" t="t" r="r" b="b"/>
              <a:pathLst>
                <a:path w="702944"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C00000"/>
            </a:solidFill>
          </p:spPr>
          <p:txBody>
            <a:bodyPr wrap="square" lIns="0" tIns="0" rIns="0" bIns="0" rtlCol="0"/>
            <a:lstStyle/>
            <a:p/>
          </p:txBody>
        </p:sp>
        <p:sp>
          <p:nvSpPr>
            <p:cNvPr id="25" name="object 25" descr=""/>
            <p:cNvSpPr/>
            <p:nvPr/>
          </p:nvSpPr>
          <p:spPr>
            <a:xfrm>
              <a:off x="3660012" y="1982646"/>
              <a:ext cx="0" cy="187960"/>
            </a:xfrm>
            <a:custGeom>
              <a:avLst/>
              <a:gdLst/>
              <a:ahLst/>
              <a:cxnLst/>
              <a:rect l="l" t="t" r="r" b="b"/>
              <a:pathLst>
                <a:path w="0" h="187960">
                  <a:moveTo>
                    <a:pt x="0" y="0"/>
                  </a:moveTo>
                  <a:lnTo>
                    <a:pt x="0" y="187452"/>
                  </a:lnTo>
                </a:path>
              </a:pathLst>
            </a:custGeom>
            <a:ln w="9525">
              <a:solidFill>
                <a:srgbClr val="FFFFFF"/>
              </a:solidFill>
            </a:ln>
          </p:spPr>
          <p:txBody>
            <a:bodyPr wrap="square" lIns="0" tIns="0" rIns="0" bIns="0" rtlCol="0"/>
            <a:lstStyle/>
            <a:p/>
          </p:txBody>
        </p:sp>
        <p:pic>
          <p:nvPicPr>
            <p:cNvPr id="26" name="object 26" descr=""/>
            <p:cNvPicPr/>
            <p:nvPr/>
          </p:nvPicPr>
          <p:blipFill>
            <a:blip r:embed="rId11" cstate="print"/>
            <a:stretch>
              <a:fillRect/>
            </a:stretch>
          </p:blipFill>
          <p:spPr>
            <a:xfrm>
              <a:off x="3267455" y="2151888"/>
              <a:ext cx="784847" cy="550925"/>
            </a:xfrm>
            <a:prstGeom prst="rect">
              <a:avLst/>
            </a:prstGeom>
          </p:spPr>
        </p:pic>
        <p:pic>
          <p:nvPicPr>
            <p:cNvPr id="27" name="object 27" descr=""/>
            <p:cNvPicPr/>
            <p:nvPr/>
          </p:nvPicPr>
          <p:blipFill>
            <a:blip r:embed="rId12" cstate="print"/>
            <a:stretch>
              <a:fillRect/>
            </a:stretch>
          </p:blipFill>
          <p:spPr>
            <a:xfrm>
              <a:off x="3200400" y="2149614"/>
              <a:ext cx="972311" cy="455662"/>
            </a:xfrm>
            <a:prstGeom prst="rect">
              <a:avLst/>
            </a:prstGeom>
          </p:spPr>
        </p:pic>
        <p:sp>
          <p:nvSpPr>
            <p:cNvPr id="28" name="object 28" descr=""/>
            <p:cNvSpPr/>
            <p:nvPr/>
          </p:nvSpPr>
          <p:spPr>
            <a:xfrm>
              <a:off x="3308546" y="2170094"/>
              <a:ext cx="702945" cy="468630"/>
            </a:xfrm>
            <a:custGeom>
              <a:avLst/>
              <a:gdLst/>
              <a:ahLst/>
              <a:cxnLst/>
              <a:rect l="l" t="t" r="r" b="b"/>
              <a:pathLst>
                <a:path w="702945"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C00000"/>
            </a:solidFill>
          </p:spPr>
          <p:txBody>
            <a:bodyPr wrap="square" lIns="0" tIns="0" rIns="0" bIns="0" rtlCol="0"/>
            <a:lstStyle/>
            <a:p/>
          </p:txBody>
        </p:sp>
        <p:sp>
          <p:nvSpPr>
            <p:cNvPr id="29" name="object 29" descr=""/>
            <p:cNvSpPr/>
            <p:nvPr/>
          </p:nvSpPr>
          <p:spPr>
            <a:xfrm>
              <a:off x="3660012" y="1982646"/>
              <a:ext cx="914400" cy="187960"/>
            </a:xfrm>
            <a:custGeom>
              <a:avLst/>
              <a:gdLst/>
              <a:ahLst/>
              <a:cxnLst/>
              <a:rect l="l" t="t" r="r" b="b"/>
              <a:pathLst>
                <a:path w="914400" h="187960">
                  <a:moveTo>
                    <a:pt x="0" y="0"/>
                  </a:moveTo>
                  <a:lnTo>
                    <a:pt x="0" y="93726"/>
                  </a:lnTo>
                  <a:lnTo>
                    <a:pt x="913815" y="93726"/>
                  </a:lnTo>
                  <a:lnTo>
                    <a:pt x="913815" y="187452"/>
                  </a:lnTo>
                </a:path>
              </a:pathLst>
            </a:custGeom>
            <a:ln w="9525">
              <a:solidFill>
                <a:srgbClr val="FFFFFF"/>
              </a:solidFill>
            </a:ln>
          </p:spPr>
          <p:txBody>
            <a:bodyPr wrap="square" lIns="0" tIns="0" rIns="0" bIns="0" rtlCol="0"/>
            <a:lstStyle/>
            <a:p/>
          </p:txBody>
        </p:sp>
        <p:pic>
          <p:nvPicPr>
            <p:cNvPr id="30" name="object 30" descr=""/>
            <p:cNvPicPr/>
            <p:nvPr/>
          </p:nvPicPr>
          <p:blipFill>
            <a:blip r:embed="rId13" cstate="print"/>
            <a:stretch>
              <a:fillRect/>
            </a:stretch>
          </p:blipFill>
          <p:spPr>
            <a:xfrm>
              <a:off x="4181093" y="2151887"/>
              <a:ext cx="785621" cy="550925"/>
            </a:xfrm>
            <a:prstGeom prst="rect">
              <a:avLst/>
            </a:prstGeom>
          </p:spPr>
        </p:pic>
        <p:pic>
          <p:nvPicPr>
            <p:cNvPr id="31" name="object 31" descr=""/>
            <p:cNvPicPr/>
            <p:nvPr/>
          </p:nvPicPr>
          <p:blipFill>
            <a:blip r:embed="rId14" cstate="print"/>
            <a:stretch>
              <a:fillRect/>
            </a:stretch>
          </p:blipFill>
          <p:spPr>
            <a:xfrm>
              <a:off x="4114038" y="2149614"/>
              <a:ext cx="972311" cy="455662"/>
            </a:xfrm>
            <a:prstGeom prst="rect">
              <a:avLst/>
            </a:prstGeom>
          </p:spPr>
        </p:pic>
        <p:sp>
          <p:nvSpPr>
            <p:cNvPr id="32" name="object 32" descr=""/>
            <p:cNvSpPr/>
            <p:nvPr/>
          </p:nvSpPr>
          <p:spPr>
            <a:xfrm>
              <a:off x="4222357" y="2170094"/>
              <a:ext cx="702945" cy="468630"/>
            </a:xfrm>
            <a:custGeom>
              <a:avLst/>
              <a:gdLst/>
              <a:ahLst/>
              <a:cxnLst/>
              <a:rect l="l" t="t" r="r" b="b"/>
              <a:pathLst>
                <a:path w="702945"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C00000"/>
            </a:solidFill>
          </p:spPr>
          <p:txBody>
            <a:bodyPr wrap="square" lIns="0" tIns="0" rIns="0" bIns="0" rtlCol="0"/>
            <a:lstStyle/>
            <a:p/>
          </p:txBody>
        </p:sp>
        <p:sp>
          <p:nvSpPr>
            <p:cNvPr id="33" name="object 33" descr=""/>
            <p:cNvSpPr/>
            <p:nvPr/>
          </p:nvSpPr>
          <p:spPr>
            <a:xfrm>
              <a:off x="3660012" y="1982646"/>
              <a:ext cx="1828164" cy="187960"/>
            </a:xfrm>
            <a:custGeom>
              <a:avLst/>
              <a:gdLst/>
              <a:ahLst/>
              <a:cxnLst/>
              <a:rect l="l" t="t" r="r" b="b"/>
              <a:pathLst>
                <a:path w="1828164" h="187960">
                  <a:moveTo>
                    <a:pt x="0" y="0"/>
                  </a:moveTo>
                  <a:lnTo>
                    <a:pt x="0" y="93726"/>
                  </a:lnTo>
                  <a:lnTo>
                    <a:pt x="1827618" y="93726"/>
                  </a:lnTo>
                  <a:lnTo>
                    <a:pt x="1827618" y="187452"/>
                  </a:lnTo>
                </a:path>
              </a:pathLst>
            </a:custGeom>
            <a:ln w="9525">
              <a:solidFill>
                <a:srgbClr val="FFFFFF"/>
              </a:solidFill>
            </a:ln>
          </p:spPr>
          <p:txBody>
            <a:bodyPr wrap="square" lIns="0" tIns="0" rIns="0" bIns="0" rtlCol="0"/>
            <a:lstStyle/>
            <a:p/>
          </p:txBody>
        </p:sp>
        <p:pic>
          <p:nvPicPr>
            <p:cNvPr id="34" name="object 34" descr=""/>
            <p:cNvPicPr/>
            <p:nvPr/>
          </p:nvPicPr>
          <p:blipFill>
            <a:blip r:embed="rId15" cstate="print"/>
            <a:stretch>
              <a:fillRect/>
            </a:stretch>
          </p:blipFill>
          <p:spPr>
            <a:xfrm>
              <a:off x="5094731" y="2151887"/>
              <a:ext cx="785621" cy="550925"/>
            </a:xfrm>
            <a:prstGeom prst="rect">
              <a:avLst/>
            </a:prstGeom>
          </p:spPr>
        </p:pic>
        <p:pic>
          <p:nvPicPr>
            <p:cNvPr id="35" name="object 35" descr=""/>
            <p:cNvPicPr/>
            <p:nvPr/>
          </p:nvPicPr>
          <p:blipFill>
            <a:blip r:embed="rId16" cstate="print"/>
            <a:stretch>
              <a:fillRect/>
            </a:stretch>
          </p:blipFill>
          <p:spPr>
            <a:xfrm>
              <a:off x="5027676" y="2149614"/>
              <a:ext cx="972299" cy="455662"/>
            </a:xfrm>
            <a:prstGeom prst="rect">
              <a:avLst/>
            </a:prstGeom>
          </p:spPr>
        </p:pic>
        <p:sp>
          <p:nvSpPr>
            <p:cNvPr id="36" name="object 36" descr=""/>
            <p:cNvSpPr/>
            <p:nvPr/>
          </p:nvSpPr>
          <p:spPr>
            <a:xfrm>
              <a:off x="5136170" y="2170094"/>
              <a:ext cx="702945" cy="468630"/>
            </a:xfrm>
            <a:custGeom>
              <a:avLst/>
              <a:gdLst/>
              <a:ahLst/>
              <a:cxnLst/>
              <a:rect l="l" t="t" r="r" b="b"/>
              <a:pathLst>
                <a:path w="702945"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C00000"/>
            </a:solidFill>
          </p:spPr>
          <p:txBody>
            <a:bodyPr wrap="square" lIns="0" tIns="0" rIns="0" bIns="0" rtlCol="0"/>
            <a:lstStyle/>
            <a:p/>
          </p:txBody>
        </p:sp>
        <p:sp>
          <p:nvSpPr>
            <p:cNvPr id="37" name="object 37" descr=""/>
            <p:cNvSpPr/>
            <p:nvPr/>
          </p:nvSpPr>
          <p:spPr>
            <a:xfrm>
              <a:off x="4987482" y="1325859"/>
              <a:ext cx="1871345" cy="188595"/>
            </a:xfrm>
            <a:custGeom>
              <a:avLst/>
              <a:gdLst/>
              <a:ahLst/>
              <a:cxnLst/>
              <a:rect l="l" t="t" r="r" b="b"/>
              <a:pathLst>
                <a:path w="1871345" h="188594">
                  <a:moveTo>
                    <a:pt x="0" y="0"/>
                  </a:moveTo>
                  <a:lnTo>
                    <a:pt x="0" y="94081"/>
                  </a:lnTo>
                  <a:lnTo>
                    <a:pt x="1870875" y="94081"/>
                  </a:lnTo>
                  <a:lnTo>
                    <a:pt x="1870875" y="188163"/>
                  </a:lnTo>
                </a:path>
              </a:pathLst>
            </a:custGeom>
            <a:ln w="9525">
              <a:solidFill>
                <a:srgbClr val="333399"/>
              </a:solidFill>
            </a:ln>
          </p:spPr>
          <p:txBody>
            <a:bodyPr wrap="square" lIns="0" tIns="0" rIns="0" bIns="0" rtlCol="0"/>
            <a:lstStyle/>
            <a:p/>
          </p:txBody>
        </p:sp>
        <p:pic>
          <p:nvPicPr>
            <p:cNvPr id="38" name="object 38" descr=""/>
            <p:cNvPicPr/>
            <p:nvPr/>
          </p:nvPicPr>
          <p:blipFill>
            <a:blip r:embed="rId17" cstate="print"/>
            <a:stretch>
              <a:fillRect/>
            </a:stretch>
          </p:blipFill>
          <p:spPr>
            <a:xfrm>
              <a:off x="6246112" y="1495805"/>
              <a:ext cx="1224533" cy="550925"/>
            </a:xfrm>
            <a:prstGeom prst="rect">
              <a:avLst/>
            </a:prstGeom>
          </p:spPr>
        </p:pic>
        <p:pic>
          <p:nvPicPr>
            <p:cNvPr id="39" name="object 39" descr=""/>
            <p:cNvPicPr/>
            <p:nvPr/>
          </p:nvPicPr>
          <p:blipFill>
            <a:blip r:embed="rId18" cstate="print"/>
            <a:stretch>
              <a:fillRect/>
            </a:stretch>
          </p:blipFill>
          <p:spPr>
            <a:xfrm>
              <a:off x="6220967" y="1493532"/>
              <a:ext cx="1327403" cy="455662"/>
            </a:xfrm>
            <a:prstGeom prst="rect">
              <a:avLst/>
            </a:prstGeom>
          </p:spPr>
        </p:pic>
        <p:pic>
          <p:nvPicPr>
            <p:cNvPr id="40" name="object 40" descr=""/>
            <p:cNvPicPr/>
            <p:nvPr/>
          </p:nvPicPr>
          <p:blipFill>
            <a:blip r:embed="rId19" cstate="print"/>
            <a:stretch>
              <a:fillRect/>
            </a:stretch>
          </p:blipFill>
          <p:spPr>
            <a:xfrm>
              <a:off x="6287185" y="1514030"/>
              <a:ext cx="1142339" cy="468617"/>
            </a:xfrm>
            <a:prstGeom prst="rect">
              <a:avLst/>
            </a:prstGeom>
          </p:spPr>
        </p:pic>
      </p:grpSp>
      <p:sp>
        <p:nvSpPr>
          <p:cNvPr id="41" name="object 41" descr=""/>
          <p:cNvSpPr txBox="1"/>
          <p:nvPr/>
        </p:nvSpPr>
        <p:spPr>
          <a:xfrm>
            <a:off x="6401662" y="1621209"/>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b="1">
                <a:solidFill>
                  <a:srgbClr val="FFFFFF"/>
                </a:solidFill>
                <a:latin typeface="Microsoft YaHei"/>
                <a:cs typeface="Microsoft YaHei"/>
              </a:rPr>
              <a:t>移动物联网</a:t>
            </a:r>
            <a:endParaRPr sz="1400">
              <a:latin typeface="Microsoft YaHei"/>
              <a:cs typeface="Microsoft YaHei"/>
            </a:endParaRPr>
          </a:p>
        </p:txBody>
      </p:sp>
      <p:grpSp>
        <p:nvGrpSpPr>
          <p:cNvPr id="42" name="object 42" descr=""/>
          <p:cNvGrpSpPr/>
          <p:nvPr/>
        </p:nvGrpSpPr>
        <p:grpSpPr>
          <a:xfrm>
            <a:off x="5942076" y="1977884"/>
            <a:ext cx="1885950" cy="725170"/>
            <a:chOff x="5942076" y="1977884"/>
            <a:chExt cx="1885950" cy="725170"/>
          </a:xfrm>
        </p:grpSpPr>
        <p:sp>
          <p:nvSpPr>
            <p:cNvPr id="43" name="object 43" descr=""/>
            <p:cNvSpPr/>
            <p:nvPr/>
          </p:nvSpPr>
          <p:spPr>
            <a:xfrm>
              <a:off x="6401445" y="1982646"/>
              <a:ext cx="457200" cy="187960"/>
            </a:xfrm>
            <a:custGeom>
              <a:avLst/>
              <a:gdLst/>
              <a:ahLst/>
              <a:cxnLst/>
              <a:rect l="l" t="t" r="r" b="b"/>
              <a:pathLst>
                <a:path w="457200" h="187960">
                  <a:moveTo>
                    <a:pt x="456907" y="0"/>
                  </a:moveTo>
                  <a:lnTo>
                    <a:pt x="456907" y="93726"/>
                  </a:lnTo>
                  <a:lnTo>
                    <a:pt x="0" y="93726"/>
                  </a:lnTo>
                  <a:lnTo>
                    <a:pt x="0" y="187452"/>
                  </a:lnTo>
                </a:path>
              </a:pathLst>
            </a:custGeom>
            <a:ln w="9525">
              <a:solidFill>
                <a:srgbClr val="FFFFFF"/>
              </a:solidFill>
            </a:ln>
          </p:spPr>
          <p:txBody>
            <a:bodyPr wrap="square" lIns="0" tIns="0" rIns="0" bIns="0" rtlCol="0"/>
            <a:lstStyle/>
            <a:p/>
          </p:txBody>
        </p:sp>
        <p:pic>
          <p:nvPicPr>
            <p:cNvPr id="44" name="object 44" descr=""/>
            <p:cNvPicPr/>
            <p:nvPr/>
          </p:nvPicPr>
          <p:blipFill>
            <a:blip r:embed="rId20" cstate="print"/>
            <a:stretch>
              <a:fillRect/>
            </a:stretch>
          </p:blipFill>
          <p:spPr>
            <a:xfrm>
              <a:off x="6009131" y="2151887"/>
              <a:ext cx="784859" cy="550925"/>
            </a:xfrm>
            <a:prstGeom prst="rect">
              <a:avLst/>
            </a:prstGeom>
          </p:spPr>
        </p:pic>
        <p:pic>
          <p:nvPicPr>
            <p:cNvPr id="45" name="object 45" descr=""/>
            <p:cNvPicPr/>
            <p:nvPr/>
          </p:nvPicPr>
          <p:blipFill>
            <a:blip r:embed="rId21" cstate="print"/>
            <a:stretch>
              <a:fillRect/>
            </a:stretch>
          </p:blipFill>
          <p:spPr>
            <a:xfrm>
              <a:off x="5942076" y="2149614"/>
              <a:ext cx="972299" cy="455662"/>
            </a:xfrm>
            <a:prstGeom prst="rect">
              <a:avLst/>
            </a:prstGeom>
          </p:spPr>
        </p:pic>
        <p:sp>
          <p:nvSpPr>
            <p:cNvPr id="46" name="object 46" descr=""/>
            <p:cNvSpPr/>
            <p:nvPr/>
          </p:nvSpPr>
          <p:spPr>
            <a:xfrm>
              <a:off x="6049982" y="2170094"/>
              <a:ext cx="702945" cy="468630"/>
            </a:xfrm>
            <a:custGeom>
              <a:avLst/>
              <a:gdLst/>
              <a:ahLst/>
              <a:cxnLst/>
              <a:rect l="l" t="t" r="r" b="b"/>
              <a:pathLst>
                <a:path w="702945"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FF3300"/>
            </a:solidFill>
          </p:spPr>
          <p:txBody>
            <a:bodyPr wrap="square" lIns="0" tIns="0" rIns="0" bIns="0" rtlCol="0"/>
            <a:lstStyle/>
            <a:p/>
          </p:txBody>
        </p:sp>
        <p:sp>
          <p:nvSpPr>
            <p:cNvPr id="47" name="object 47" descr=""/>
            <p:cNvSpPr/>
            <p:nvPr/>
          </p:nvSpPr>
          <p:spPr>
            <a:xfrm>
              <a:off x="6858354" y="1982646"/>
              <a:ext cx="457200" cy="187960"/>
            </a:xfrm>
            <a:custGeom>
              <a:avLst/>
              <a:gdLst/>
              <a:ahLst/>
              <a:cxnLst/>
              <a:rect l="l" t="t" r="r" b="b"/>
              <a:pathLst>
                <a:path w="457200" h="187960">
                  <a:moveTo>
                    <a:pt x="0" y="0"/>
                  </a:moveTo>
                  <a:lnTo>
                    <a:pt x="0" y="93726"/>
                  </a:lnTo>
                  <a:lnTo>
                    <a:pt x="456907" y="93726"/>
                  </a:lnTo>
                  <a:lnTo>
                    <a:pt x="456907" y="187452"/>
                  </a:lnTo>
                </a:path>
              </a:pathLst>
            </a:custGeom>
            <a:ln w="9525">
              <a:solidFill>
                <a:srgbClr val="FFFFFF"/>
              </a:solidFill>
            </a:ln>
          </p:spPr>
          <p:txBody>
            <a:bodyPr wrap="square" lIns="0" tIns="0" rIns="0" bIns="0" rtlCol="0"/>
            <a:lstStyle/>
            <a:p/>
          </p:txBody>
        </p:sp>
        <p:pic>
          <p:nvPicPr>
            <p:cNvPr id="48" name="object 48" descr=""/>
            <p:cNvPicPr/>
            <p:nvPr/>
          </p:nvPicPr>
          <p:blipFill>
            <a:blip r:embed="rId22" cstate="print"/>
            <a:stretch>
              <a:fillRect/>
            </a:stretch>
          </p:blipFill>
          <p:spPr>
            <a:xfrm>
              <a:off x="6922770" y="2151888"/>
              <a:ext cx="784847" cy="550925"/>
            </a:xfrm>
            <a:prstGeom prst="rect">
              <a:avLst/>
            </a:prstGeom>
          </p:spPr>
        </p:pic>
        <p:pic>
          <p:nvPicPr>
            <p:cNvPr id="49" name="object 49" descr=""/>
            <p:cNvPicPr/>
            <p:nvPr/>
          </p:nvPicPr>
          <p:blipFill>
            <a:blip r:embed="rId23" cstate="print"/>
            <a:stretch>
              <a:fillRect/>
            </a:stretch>
          </p:blipFill>
          <p:spPr>
            <a:xfrm>
              <a:off x="6855714" y="2149614"/>
              <a:ext cx="972311" cy="455662"/>
            </a:xfrm>
            <a:prstGeom prst="rect">
              <a:avLst/>
            </a:prstGeom>
          </p:spPr>
        </p:pic>
        <p:sp>
          <p:nvSpPr>
            <p:cNvPr id="50" name="object 50" descr=""/>
            <p:cNvSpPr/>
            <p:nvPr/>
          </p:nvSpPr>
          <p:spPr>
            <a:xfrm>
              <a:off x="6963794" y="2170094"/>
              <a:ext cx="702945" cy="468630"/>
            </a:xfrm>
            <a:custGeom>
              <a:avLst/>
              <a:gdLst/>
              <a:ahLst/>
              <a:cxnLst/>
              <a:rect l="l" t="t" r="r" b="b"/>
              <a:pathLst>
                <a:path w="702945" h="468630">
                  <a:moveTo>
                    <a:pt x="656069" y="0"/>
                  </a:moveTo>
                  <a:lnTo>
                    <a:pt x="46863" y="0"/>
                  </a:lnTo>
                  <a:lnTo>
                    <a:pt x="28621" y="3682"/>
                  </a:lnTo>
                  <a:lnTo>
                    <a:pt x="13725" y="13725"/>
                  </a:lnTo>
                  <a:lnTo>
                    <a:pt x="3682" y="28621"/>
                  </a:lnTo>
                  <a:lnTo>
                    <a:pt x="0" y="46862"/>
                  </a:lnTo>
                  <a:lnTo>
                    <a:pt x="0" y="421754"/>
                  </a:lnTo>
                  <a:lnTo>
                    <a:pt x="3682" y="439995"/>
                  </a:lnTo>
                  <a:lnTo>
                    <a:pt x="13725" y="454891"/>
                  </a:lnTo>
                  <a:lnTo>
                    <a:pt x="28621" y="464934"/>
                  </a:lnTo>
                  <a:lnTo>
                    <a:pt x="46863" y="468617"/>
                  </a:lnTo>
                  <a:lnTo>
                    <a:pt x="656069" y="468617"/>
                  </a:lnTo>
                  <a:lnTo>
                    <a:pt x="674310" y="464934"/>
                  </a:lnTo>
                  <a:lnTo>
                    <a:pt x="689206" y="454891"/>
                  </a:lnTo>
                  <a:lnTo>
                    <a:pt x="699249" y="439995"/>
                  </a:lnTo>
                  <a:lnTo>
                    <a:pt x="702932" y="421754"/>
                  </a:lnTo>
                  <a:lnTo>
                    <a:pt x="702932" y="46862"/>
                  </a:lnTo>
                  <a:lnTo>
                    <a:pt x="699249" y="28621"/>
                  </a:lnTo>
                  <a:lnTo>
                    <a:pt x="689206" y="13725"/>
                  </a:lnTo>
                  <a:lnTo>
                    <a:pt x="674310" y="3682"/>
                  </a:lnTo>
                  <a:lnTo>
                    <a:pt x="656069" y="0"/>
                  </a:lnTo>
                  <a:close/>
                </a:path>
              </a:pathLst>
            </a:custGeom>
            <a:solidFill>
              <a:srgbClr val="FF3300"/>
            </a:solidFill>
          </p:spPr>
          <p:txBody>
            <a:bodyPr wrap="square" lIns="0" tIns="0" rIns="0" bIns="0" rtlCol="0"/>
            <a:lstStyle/>
            <a:p/>
          </p:txBody>
        </p:sp>
      </p:grpSp>
      <p:sp>
        <p:nvSpPr>
          <p:cNvPr id="51" name="object 51" descr=""/>
          <p:cNvSpPr txBox="1"/>
          <p:nvPr/>
        </p:nvSpPr>
        <p:spPr>
          <a:xfrm>
            <a:off x="2467309" y="2277279"/>
            <a:ext cx="5127625" cy="238760"/>
          </a:xfrm>
          <a:prstGeom prst="rect">
            <a:avLst/>
          </a:prstGeom>
        </p:spPr>
        <p:txBody>
          <a:bodyPr wrap="square" lIns="0" tIns="12065" rIns="0" bIns="0" rtlCol="0" vert="horz">
            <a:spAutoFit/>
          </a:bodyPr>
          <a:lstStyle/>
          <a:p>
            <a:pPr marL="12700">
              <a:lnSpc>
                <a:spcPct val="100000"/>
              </a:lnSpc>
              <a:spcBef>
                <a:spcPts val="95"/>
              </a:spcBef>
              <a:tabLst>
                <a:tab pos="925830" algn="l"/>
                <a:tab pos="1840230" algn="l"/>
                <a:tab pos="2753995" algn="l"/>
                <a:tab pos="3667760" algn="l"/>
                <a:tab pos="4581525" algn="l"/>
              </a:tabLst>
            </a:pPr>
            <a:r>
              <a:rPr dirty="0" sz="1400" spc="-20">
                <a:solidFill>
                  <a:srgbClr val="FFFFFF"/>
                </a:solidFill>
                <a:latin typeface="Microsoft YaHei"/>
                <a:cs typeface="Microsoft YaHei"/>
              </a:rPr>
              <a:t>会话</a:t>
            </a:r>
            <a:r>
              <a:rPr dirty="0" sz="1400" spc="-50">
                <a:solidFill>
                  <a:srgbClr val="FFFFFF"/>
                </a:solidFill>
                <a:latin typeface="Microsoft YaHei"/>
                <a:cs typeface="Microsoft YaHei"/>
              </a:rPr>
              <a:t>类</a:t>
            </a:r>
            <a:r>
              <a:rPr dirty="0" sz="1400">
                <a:solidFill>
                  <a:srgbClr val="FFFFFF"/>
                </a:solidFill>
                <a:latin typeface="Microsoft YaHei"/>
                <a:cs typeface="Microsoft YaHei"/>
              </a:rPr>
              <a:t>	</a:t>
            </a:r>
            <a:r>
              <a:rPr dirty="0" sz="1400" spc="-20">
                <a:solidFill>
                  <a:srgbClr val="FFFFFF"/>
                </a:solidFill>
                <a:latin typeface="Microsoft YaHei"/>
                <a:cs typeface="Microsoft YaHei"/>
              </a:rPr>
              <a:t>交互</a:t>
            </a:r>
            <a:r>
              <a:rPr dirty="0" sz="1400" spc="-50">
                <a:solidFill>
                  <a:srgbClr val="FFFFFF"/>
                </a:solidFill>
                <a:latin typeface="Microsoft YaHei"/>
                <a:cs typeface="Microsoft YaHei"/>
              </a:rPr>
              <a:t>类</a:t>
            </a:r>
            <a:r>
              <a:rPr dirty="0" sz="1400">
                <a:solidFill>
                  <a:srgbClr val="FFFFFF"/>
                </a:solidFill>
                <a:latin typeface="Microsoft YaHei"/>
                <a:cs typeface="Microsoft YaHei"/>
              </a:rPr>
              <a:t>	</a:t>
            </a:r>
            <a:r>
              <a:rPr dirty="0" sz="1400" spc="-20">
                <a:solidFill>
                  <a:srgbClr val="FFFFFF"/>
                </a:solidFill>
                <a:latin typeface="Microsoft YaHei"/>
                <a:cs typeface="Microsoft YaHei"/>
              </a:rPr>
              <a:t>传输</a:t>
            </a:r>
            <a:r>
              <a:rPr dirty="0" sz="1400" spc="-50">
                <a:solidFill>
                  <a:srgbClr val="FFFFFF"/>
                </a:solidFill>
                <a:latin typeface="Microsoft YaHei"/>
                <a:cs typeface="Microsoft YaHei"/>
              </a:rPr>
              <a:t>类</a:t>
            </a:r>
            <a:r>
              <a:rPr dirty="0" sz="1400">
                <a:solidFill>
                  <a:srgbClr val="FFFFFF"/>
                </a:solidFill>
                <a:latin typeface="Microsoft YaHei"/>
                <a:cs typeface="Microsoft YaHei"/>
              </a:rPr>
              <a:t>	</a:t>
            </a:r>
            <a:r>
              <a:rPr dirty="0" sz="1400" spc="-20">
                <a:solidFill>
                  <a:srgbClr val="FFFFFF"/>
                </a:solidFill>
                <a:latin typeface="Microsoft YaHei"/>
                <a:cs typeface="Microsoft YaHei"/>
              </a:rPr>
              <a:t>消息</a:t>
            </a:r>
            <a:r>
              <a:rPr dirty="0" sz="1400" spc="-50">
                <a:solidFill>
                  <a:srgbClr val="FFFFFF"/>
                </a:solidFill>
                <a:latin typeface="Microsoft YaHei"/>
                <a:cs typeface="Microsoft YaHei"/>
              </a:rPr>
              <a:t>类</a:t>
            </a:r>
            <a:r>
              <a:rPr dirty="0" sz="1400">
                <a:solidFill>
                  <a:srgbClr val="FFFFFF"/>
                </a:solidFill>
                <a:latin typeface="Microsoft YaHei"/>
                <a:cs typeface="Microsoft YaHei"/>
              </a:rPr>
              <a:t>	</a:t>
            </a:r>
            <a:r>
              <a:rPr dirty="0" sz="1400" spc="-20">
                <a:solidFill>
                  <a:srgbClr val="FFFFFF"/>
                </a:solidFill>
                <a:latin typeface="Microsoft YaHei"/>
                <a:cs typeface="Microsoft YaHei"/>
              </a:rPr>
              <a:t>采集</a:t>
            </a:r>
            <a:r>
              <a:rPr dirty="0" sz="1400" spc="-50">
                <a:solidFill>
                  <a:srgbClr val="FFFFFF"/>
                </a:solidFill>
                <a:latin typeface="Microsoft YaHei"/>
                <a:cs typeface="Microsoft YaHei"/>
              </a:rPr>
              <a:t>类</a:t>
            </a:r>
            <a:r>
              <a:rPr dirty="0" sz="1400">
                <a:solidFill>
                  <a:srgbClr val="FFFFFF"/>
                </a:solidFill>
                <a:latin typeface="Microsoft YaHei"/>
                <a:cs typeface="Microsoft YaHei"/>
              </a:rPr>
              <a:t>	</a:t>
            </a:r>
            <a:r>
              <a:rPr dirty="0" sz="1400" spc="-20">
                <a:solidFill>
                  <a:srgbClr val="FFFFFF"/>
                </a:solidFill>
                <a:latin typeface="Microsoft YaHei"/>
                <a:cs typeface="Microsoft YaHei"/>
              </a:rPr>
              <a:t>控制</a:t>
            </a:r>
            <a:r>
              <a:rPr dirty="0" sz="1400" spc="-50">
                <a:solidFill>
                  <a:srgbClr val="FFFFFF"/>
                </a:solidFill>
                <a:latin typeface="Microsoft YaHei"/>
                <a:cs typeface="Microsoft YaHei"/>
              </a:rPr>
              <a:t>类</a:t>
            </a:r>
            <a:endParaRPr sz="1400">
              <a:latin typeface="Microsoft YaHei"/>
              <a:cs typeface="Microsoft YaHei"/>
            </a:endParaRPr>
          </a:p>
        </p:txBody>
      </p:sp>
      <p:grpSp>
        <p:nvGrpSpPr>
          <p:cNvPr id="52" name="object 52" descr=""/>
          <p:cNvGrpSpPr/>
          <p:nvPr/>
        </p:nvGrpSpPr>
        <p:grpSpPr>
          <a:xfrm>
            <a:off x="399186" y="2695867"/>
            <a:ext cx="1046480" cy="657860"/>
            <a:chOff x="399186" y="2695867"/>
            <a:chExt cx="1046480" cy="657860"/>
          </a:xfrm>
        </p:grpSpPr>
        <p:pic>
          <p:nvPicPr>
            <p:cNvPr id="53" name="object 53" descr=""/>
            <p:cNvPicPr/>
            <p:nvPr/>
          </p:nvPicPr>
          <p:blipFill>
            <a:blip r:embed="rId24" cstate="print"/>
            <a:stretch>
              <a:fillRect/>
            </a:stretch>
          </p:blipFill>
          <p:spPr>
            <a:xfrm>
              <a:off x="423671" y="2720339"/>
              <a:ext cx="1008875" cy="311657"/>
            </a:xfrm>
            <a:prstGeom prst="rect">
              <a:avLst/>
            </a:prstGeom>
          </p:spPr>
        </p:pic>
        <p:pic>
          <p:nvPicPr>
            <p:cNvPr id="54" name="object 54" descr=""/>
            <p:cNvPicPr/>
            <p:nvPr/>
          </p:nvPicPr>
          <p:blipFill>
            <a:blip r:embed="rId25" cstate="print"/>
            <a:stretch>
              <a:fillRect/>
            </a:stretch>
          </p:blipFill>
          <p:spPr>
            <a:xfrm>
              <a:off x="465581" y="2712719"/>
              <a:ext cx="974597" cy="269747"/>
            </a:xfrm>
            <a:prstGeom prst="rect">
              <a:avLst/>
            </a:prstGeom>
          </p:spPr>
        </p:pic>
        <p:pic>
          <p:nvPicPr>
            <p:cNvPr id="55" name="object 55" descr=""/>
            <p:cNvPicPr/>
            <p:nvPr/>
          </p:nvPicPr>
          <p:blipFill>
            <a:blip r:embed="rId26" cstate="print"/>
            <a:stretch>
              <a:fillRect/>
            </a:stretch>
          </p:blipFill>
          <p:spPr>
            <a:xfrm>
              <a:off x="399186" y="2695867"/>
              <a:ext cx="1007567" cy="309956"/>
            </a:xfrm>
            <a:prstGeom prst="rect">
              <a:avLst/>
            </a:prstGeom>
          </p:spPr>
        </p:pic>
        <p:pic>
          <p:nvPicPr>
            <p:cNvPr id="56" name="object 56" descr=""/>
            <p:cNvPicPr/>
            <p:nvPr/>
          </p:nvPicPr>
          <p:blipFill>
            <a:blip r:embed="rId27" cstate="print"/>
            <a:stretch>
              <a:fillRect/>
            </a:stretch>
          </p:blipFill>
          <p:spPr>
            <a:xfrm>
              <a:off x="429005" y="3041903"/>
              <a:ext cx="1008887" cy="311657"/>
            </a:xfrm>
            <a:prstGeom prst="rect">
              <a:avLst/>
            </a:prstGeom>
          </p:spPr>
        </p:pic>
        <p:pic>
          <p:nvPicPr>
            <p:cNvPr id="57" name="object 57" descr=""/>
            <p:cNvPicPr/>
            <p:nvPr/>
          </p:nvPicPr>
          <p:blipFill>
            <a:blip r:embed="rId28" cstate="print"/>
            <a:stretch>
              <a:fillRect/>
            </a:stretch>
          </p:blipFill>
          <p:spPr>
            <a:xfrm>
              <a:off x="470915" y="3034283"/>
              <a:ext cx="974597" cy="269747"/>
            </a:xfrm>
            <a:prstGeom prst="rect">
              <a:avLst/>
            </a:prstGeom>
          </p:spPr>
        </p:pic>
        <p:pic>
          <p:nvPicPr>
            <p:cNvPr id="58" name="object 58" descr=""/>
            <p:cNvPicPr/>
            <p:nvPr/>
          </p:nvPicPr>
          <p:blipFill>
            <a:blip r:embed="rId29" cstate="print"/>
            <a:stretch>
              <a:fillRect/>
            </a:stretch>
          </p:blipFill>
          <p:spPr>
            <a:xfrm>
              <a:off x="404253" y="3017481"/>
              <a:ext cx="1007567" cy="309956"/>
            </a:xfrm>
            <a:prstGeom prst="rect">
              <a:avLst/>
            </a:prstGeom>
          </p:spPr>
        </p:pic>
      </p:grpSp>
      <p:sp>
        <p:nvSpPr>
          <p:cNvPr id="59" name="object 59" descr=""/>
          <p:cNvSpPr txBox="1"/>
          <p:nvPr/>
        </p:nvSpPr>
        <p:spPr>
          <a:xfrm>
            <a:off x="535305" y="2615321"/>
            <a:ext cx="741045" cy="668655"/>
          </a:xfrm>
          <a:prstGeom prst="rect">
            <a:avLst/>
          </a:prstGeom>
        </p:spPr>
        <p:txBody>
          <a:bodyPr wrap="square" lIns="0" tIns="12700" rIns="0" bIns="0" rtlCol="0" vert="horz">
            <a:spAutoFit/>
          </a:bodyPr>
          <a:lstStyle/>
          <a:p>
            <a:pPr marL="17145" marR="5080" indent="-5080">
              <a:lnSpc>
                <a:spcPct val="150700"/>
              </a:lnSpc>
              <a:spcBef>
                <a:spcPts val="100"/>
              </a:spcBef>
            </a:pPr>
            <a:r>
              <a:rPr dirty="0" sz="1400" spc="-30">
                <a:latin typeface="Microsoft YaHei"/>
                <a:cs typeface="Microsoft YaHei"/>
              </a:rPr>
              <a:t>音频播放视频播放</a:t>
            </a:r>
            <a:endParaRPr sz="1400">
              <a:latin typeface="Microsoft YaHei"/>
              <a:cs typeface="Microsoft YaHei"/>
            </a:endParaRPr>
          </a:p>
        </p:txBody>
      </p:sp>
      <p:grpSp>
        <p:nvGrpSpPr>
          <p:cNvPr id="60" name="object 60" descr=""/>
          <p:cNvGrpSpPr/>
          <p:nvPr/>
        </p:nvGrpSpPr>
        <p:grpSpPr>
          <a:xfrm>
            <a:off x="1623326" y="2693441"/>
            <a:ext cx="3545840" cy="1971039"/>
            <a:chOff x="1623326" y="2693441"/>
            <a:chExt cx="3545840" cy="1971039"/>
          </a:xfrm>
        </p:grpSpPr>
        <p:pic>
          <p:nvPicPr>
            <p:cNvPr id="61" name="object 61" descr=""/>
            <p:cNvPicPr/>
            <p:nvPr/>
          </p:nvPicPr>
          <p:blipFill>
            <a:blip r:embed="rId30" cstate="print"/>
            <a:stretch>
              <a:fillRect/>
            </a:stretch>
          </p:blipFill>
          <p:spPr>
            <a:xfrm>
              <a:off x="2871977" y="4352544"/>
              <a:ext cx="1008875" cy="311657"/>
            </a:xfrm>
            <a:prstGeom prst="rect">
              <a:avLst/>
            </a:prstGeom>
          </p:spPr>
        </p:pic>
        <p:pic>
          <p:nvPicPr>
            <p:cNvPr id="62" name="object 62" descr=""/>
            <p:cNvPicPr/>
            <p:nvPr/>
          </p:nvPicPr>
          <p:blipFill>
            <a:blip r:embed="rId31" cstate="print"/>
            <a:stretch>
              <a:fillRect/>
            </a:stretch>
          </p:blipFill>
          <p:spPr>
            <a:xfrm>
              <a:off x="2913887" y="4344923"/>
              <a:ext cx="974597" cy="269747"/>
            </a:xfrm>
            <a:prstGeom prst="rect">
              <a:avLst/>
            </a:prstGeom>
          </p:spPr>
        </p:pic>
        <p:pic>
          <p:nvPicPr>
            <p:cNvPr id="63" name="object 63" descr=""/>
            <p:cNvPicPr/>
            <p:nvPr/>
          </p:nvPicPr>
          <p:blipFill>
            <a:blip r:embed="rId32" cstate="print"/>
            <a:stretch>
              <a:fillRect/>
            </a:stretch>
          </p:blipFill>
          <p:spPr>
            <a:xfrm>
              <a:off x="2847454" y="4328096"/>
              <a:ext cx="1007567" cy="309956"/>
            </a:xfrm>
            <a:prstGeom prst="rect">
              <a:avLst/>
            </a:prstGeom>
          </p:spPr>
        </p:pic>
        <p:pic>
          <p:nvPicPr>
            <p:cNvPr id="64" name="object 64" descr=""/>
            <p:cNvPicPr/>
            <p:nvPr/>
          </p:nvPicPr>
          <p:blipFill>
            <a:blip r:embed="rId33" cstate="print"/>
            <a:stretch>
              <a:fillRect/>
            </a:stretch>
          </p:blipFill>
          <p:spPr>
            <a:xfrm>
              <a:off x="2871977" y="3380994"/>
              <a:ext cx="1008875" cy="310895"/>
            </a:xfrm>
            <a:prstGeom prst="rect">
              <a:avLst/>
            </a:prstGeom>
          </p:spPr>
        </p:pic>
        <p:pic>
          <p:nvPicPr>
            <p:cNvPr id="65" name="object 65" descr=""/>
            <p:cNvPicPr/>
            <p:nvPr/>
          </p:nvPicPr>
          <p:blipFill>
            <a:blip r:embed="rId34" cstate="print"/>
            <a:stretch>
              <a:fillRect/>
            </a:stretch>
          </p:blipFill>
          <p:spPr>
            <a:xfrm>
              <a:off x="3002279" y="3372611"/>
              <a:ext cx="797051" cy="269747"/>
            </a:xfrm>
            <a:prstGeom prst="rect">
              <a:avLst/>
            </a:prstGeom>
          </p:spPr>
        </p:pic>
        <p:pic>
          <p:nvPicPr>
            <p:cNvPr id="66" name="object 66" descr=""/>
            <p:cNvPicPr/>
            <p:nvPr/>
          </p:nvPicPr>
          <p:blipFill>
            <a:blip r:embed="rId35" cstate="print"/>
            <a:stretch>
              <a:fillRect/>
            </a:stretch>
          </p:blipFill>
          <p:spPr>
            <a:xfrm>
              <a:off x="2847454" y="3355987"/>
              <a:ext cx="1007567" cy="309956"/>
            </a:xfrm>
            <a:prstGeom prst="rect">
              <a:avLst/>
            </a:prstGeom>
          </p:spPr>
        </p:pic>
        <p:pic>
          <p:nvPicPr>
            <p:cNvPr id="67" name="object 67" descr=""/>
            <p:cNvPicPr/>
            <p:nvPr/>
          </p:nvPicPr>
          <p:blipFill>
            <a:blip r:embed="rId36" cstate="print"/>
            <a:stretch>
              <a:fillRect/>
            </a:stretch>
          </p:blipFill>
          <p:spPr>
            <a:xfrm>
              <a:off x="2871977" y="2737866"/>
              <a:ext cx="1008875" cy="311657"/>
            </a:xfrm>
            <a:prstGeom prst="rect">
              <a:avLst/>
            </a:prstGeom>
          </p:spPr>
        </p:pic>
        <p:pic>
          <p:nvPicPr>
            <p:cNvPr id="68" name="object 68" descr=""/>
            <p:cNvPicPr/>
            <p:nvPr/>
          </p:nvPicPr>
          <p:blipFill>
            <a:blip r:embed="rId37" cstate="print"/>
            <a:stretch>
              <a:fillRect/>
            </a:stretch>
          </p:blipFill>
          <p:spPr>
            <a:xfrm>
              <a:off x="3002279" y="2729483"/>
              <a:ext cx="797051" cy="269747"/>
            </a:xfrm>
            <a:prstGeom prst="rect">
              <a:avLst/>
            </a:prstGeom>
          </p:spPr>
        </p:pic>
        <p:pic>
          <p:nvPicPr>
            <p:cNvPr id="69" name="object 69" descr=""/>
            <p:cNvPicPr/>
            <p:nvPr/>
          </p:nvPicPr>
          <p:blipFill>
            <a:blip r:embed="rId38" cstate="print"/>
            <a:stretch>
              <a:fillRect/>
            </a:stretch>
          </p:blipFill>
          <p:spPr>
            <a:xfrm>
              <a:off x="2847454" y="2713050"/>
              <a:ext cx="1007567" cy="309956"/>
            </a:xfrm>
            <a:prstGeom prst="rect">
              <a:avLst/>
            </a:prstGeom>
          </p:spPr>
        </p:pic>
        <p:pic>
          <p:nvPicPr>
            <p:cNvPr id="70" name="object 70" descr=""/>
            <p:cNvPicPr/>
            <p:nvPr/>
          </p:nvPicPr>
          <p:blipFill>
            <a:blip r:embed="rId33" cstate="print"/>
            <a:stretch>
              <a:fillRect/>
            </a:stretch>
          </p:blipFill>
          <p:spPr>
            <a:xfrm>
              <a:off x="2871977" y="3710177"/>
              <a:ext cx="1008875" cy="310895"/>
            </a:xfrm>
            <a:prstGeom prst="rect">
              <a:avLst/>
            </a:prstGeom>
          </p:spPr>
        </p:pic>
        <p:pic>
          <p:nvPicPr>
            <p:cNvPr id="71" name="object 71" descr=""/>
            <p:cNvPicPr/>
            <p:nvPr/>
          </p:nvPicPr>
          <p:blipFill>
            <a:blip r:embed="rId39" cstate="print"/>
            <a:stretch>
              <a:fillRect/>
            </a:stretch>
          </p:blipFill>
          <p:spPr>
            <a:xfrm>
              <a:off x="3002279" y="3701795"/>
              <a:ext cx="797051" cy="269747"/>
            </a:xfrm>
            <a:prstGeom prst="rect">
              <a:avLst/>
            </a:prstGeom>
          </p:spPr>
        </p:pic>
        <p:pic>
          <p:nvPicPr>
            <p:cNvPr id="72" name="object 72" descr=""/>
            <p:cNvPicPr/>
            <p:nvPr/>
          </p:nvPicPr>
          <p:blipFill>
            <a:blip r:embed="rId38" cstate="print"/>
            <a:stretch>
              <a:fillRect/>
            </a:stretch>
          </p:blipFill>
          <p:spPr>
            <a:xfrm>
              <a:off x="2847454" y="3685158"/>
              <a:ext cx="1007567" cy="309956"/>
            </a:xfrm>
            <a:prstGeom prst="rect">
              <a:avLst/>
            </a:prstGeom>
          </p:spPr>
        </p:pic>
        <p:pic>
          <p:nvPicPr>
            <p:cNvPr id="73" name="object 73" descr=""/>
            <p:cNvPicPr/>
            <p:nvPr/>
          </p:nvPicPr>
          <p:blipFill>
            <a:blip r:embed="rId40" cstate="print"/>
            <a:stretch>
              <a:fillRect/>
            </a:stretch>
          </p:blipFill>
          <p:spPr>
            <a:xfrm>
              <a:off x="2871977" y="3056381"/>
              <a:ext cx="1008875" cy="311657"/>
            </a:xfrm>
            <a:prstGeom prst="rect">
              <a:avLst/>
            </a:prstGeom>
          </p:spPr>
        </p:pic>
        <p:pic>
          <p:nvPicPr>
            <p:cNvPr id="74" name="object 74" descr=""/>
            <p:cNvPicPr/>
            <p:nvPr/>
          </p:nvPicPr>
          <p:blipFill>
            <a:blip r:embed="rId41" cstate="print"/>
            <a:stretch>
              <a:fillRect/>
            </a:stretch>
          </p:blipFill>
          <p:spPr>
            <a:xfrm>
              <a:off x="3002279" y="3048761"/>
              <a:ext cx="797051" cy="269747"/>
            </a:xfrm>
            <a:prstGeom prst="rect">
              <a:avLst/>
            </a:prstGeom>
          </p:spPr>
        </p:pic>
        <p:pic>
          <p:nvPicPr>
            <p:cNvPr id="75" name="object 75" descr=""/>
            <p:cNvPicPr/>
            <p:nvPr/>
          </p:nvPicPr>
          <p:blipFill>
            <a:blip r:embed="rId38" cstate="print"/>
            <a:stretch>
              <a:fillRect/>
            </a:stretch>
          </p:blipFill>
          <p:spPr>
            <a:xfrm>
              <a:off x="2847454" y="3031959"/>
              <a:ext cx="1007567" cy="309956"/>
            </a:xfrm>
            <a:prstGeom prst="rect">
              <a:avLst/>
            </a:prstGeom>
          </p:spPr>
        </p:pic>
        <p:pic>
          <p:nvPicPr>
            <p:cNvPr id="76" name="object 76" descr=""/>
            <p:cNvPicPr/>
            <p:nvPr/>
          </p:nvPicPr>
          <p:blipFill>
            <a:blip r:embed="rId42" cstate="print"/>
            <a:stretch>
              <a:fillRect/>
            </a:stretch>
          </p:blipFill>
          <p:spPr>
            <a:xfrm>
              <a:off x="2871977" y="4018788"/>
              <a:ext cx="1008875" cy="311657"/>
            </a:xfrm>
            <a:prstGeom prst="rect">
              <a:avLst/>
            </a:prstGeom>
          </p:spPr>
        </p:pic>
        <p:pic>
          <p:nvPicPr>
            <p:cNvPr id="77" name="object 77" descr=""/>
            <p:cNvPicPr/>
            <p:nvPr/>
          </p:nvPicPr>
          <p:blipFill>
            <a:blip r:embed="rId43" cstate="print"/>
            <a:stretch>
              <a:fillRect/>
            </a:stretch>
          </p:blipFill>
          <p:spPr>
            <a:xfrm>
              <a:off x="3002279" y="4011167"/>
              <a:ext cx="797051" cy="269747"/>
            </a:xfrm>
            <a:prstGeom prst="rect">
              <a:avLst/>
            </a:prstGeom>
          </p:spPr>
        </p:pic>
        <p:pic>
          <p:nvPicPr>
            <p:cNvPr id="78" name="object 78" descr=""/>
            <p:cNvPicPr/>
            <p:nvPr/>
          </p:nvPicPr>
          <p:blipFill>
            <a:blip r:embed="rId38" cstate="print"/>
            <a:stretch>
              <a:fillRect/>
            </a:stretch>
          </p:blipFill>
          <p:spPr>
            <a:xfrm>
              <a:off x="2847454" y="3994289"/>
              <a:ext cx="1007567" cy="309956"/>
            </a:xfrm>
            <a:prstGeom prst="rect">
              <a:avLst/>
            </a:prstGeom>
          </p:spPr>
        </p:pic>
        <p:pic>
          <p:nvPicPr>
            <p:cNvPr id="79" name="object 79" descr=""/>
            <p:cNvPicPr/>
            <p:nvPr/>
          </p:nvPicPr>
          <p:blipFill>
            <a:blip r:embed="rId44" cstate="print"/>
            <a:stretch>
              <a:fillRect/>
            </a:stretch>
          </p:blipFill>
          <p:spPr>
            <a:xfrm>
              <a:off x="1648205" y="2718053"/>
              <a:ext cx="1008887" cy="311657"/>
            </a:xfrm>
            <a:prstGeom prst="rect">
              <a:avLst/>
            </a:prstGeom>
          </p:spPr>
        </p:pic>
        <p:pic>
          <p:nvPicPr>
            <p:cNvPr id="80" name="object 80" descr=""/>
            <p:cNvPicPr/>
            <p:nvPr/>
          </p:nvPicPr>
          <p:blipFill>
            <a:blip r:embed="rId45" cstate="print"/>
            <a:stretch>
              <a:fillRect/>
            </a:stretch>
          </p:blipFill>
          <p:spPr>
            <a:xfrm>
              <a:off x="1778507" y="2709671"/>
              <a:ext cx="797051" cy="269747"/>
            </a:xfrm>
            <a:prstGeom prst="rect">
              <a:avLst/>
            </a:prstGeom>
          </p:spPr>
        </p:pic>
        <p:pic>
          <p:nvPicPr>
            <p:cNvPr id="81" name="object 81" descr=""/>
            <p:cNvPicPr/>
            <p:nvPr/>
          </p:nvPicPr>
          <p:blipFill>
            <a:blip r:embed="rId38" cstate="print"/>
            <a:stretch>
              <a:fillRect/>
            </a:stretch>
          </p:blipFill>
          <p:spPr>
            <a:xfrm>
              <a:off x="1623326" y="2693441"/>
              <a:ext cx="1007567" cy="309956"/>
            </a:xfrm>
            <a:prstGeom prst="rect">
              <a:avLst/>
            </a:prstGeom>
          </p:spPr>
        </p:pic>
        <p:pic>
          <p:nvPicPr>
            <p:cNvPr id="82" name="object 82" descr=""/>
            <p:cNvPicPr/>
            <p:nvPr/>
          </p:nvPicPr>
          <p:blipFill>
            <a:blip r:embed="rId46" cstate="print"/>
            <a:stretch>
              <a:fillRect/>
            </a:stretch>
          </p:blipFill>
          <p:spPr>
            <a:xfrm>
              <a:off x="1648205" y="3041903"/>
              <a:ext cx="1008887" cy="311657"/>
            </a:xfrm>
            <a:prstGeom prst="rect">
              <a:avLst/>
            </a:prstGeom>
          </p:spPr>
        </p:pic>
        <p:pic>
          <p:nvPicPr>
            <p:cNvPr id="83" name="object 83" descr=""/>
            <p:cNvPicPr/>
            <p:nvPr/>
          </p:nvPicPr>
          <p:blipFill>
            <a:blip r:embed="rId47" cstate="print"/>
            <a:stretch>
              <a:fillRect/>
            </a:stretch>
          </p:blipFill>
          <p:spPr>
            <a:xfrm>
              <a:off x="1690115" y="3034284"/>
              <a:ext cx="974585" cy="269747"/>
            </a:xfrm>
            <a:prstGeom prst="rect">
              <a:avLst/>
            </a:prstGeom>
          </p:spPr>
        </p:pic>
        <p:pic>
          <p:nvPicPr>
            <p:cNvPr id="84" name="object 84" descr=""/>
            <p:cNvPicPr/>
            <p:nvPr/>
          </p:nvPicPr>
          <p:blipFill>
            <a:blip r:embed="rId48" cstate="print"/>
            <a:stretch>
              <a:fillRect/>
            </a:stretch>
          </p:blipFill>
          <p:spPr>
            <a:xfrm>
              <a:off x="1623326" y="3017481"/>
              <a:ext cx="1007567" cy="309956"/>
            </a:xfrm>
            <a:prstGeom prst="rect">
              <a:avLst/>
            </a:prstGeom>
          </p:spPr>
        </p:pic>
        <p:pic>
          <p:nvPicPr>
            <p:cNvPr id="85" name="object 85" descr=""/>
            <p:cNvPicPr/>
            <p:nvPr/>
          </p:nvPicPr>
          <p:blipFill>
            <a:blip r:embed="rId49" cstate="print"/>
            <a:stretch>
              <a:fillRect/>
            </a:stretch>
          </p:blipFill>
          <p:spPr>
            <a:xfrm>
              <a:off x="4137660" y="2732544"/>
              <a:ext cx="1008887" cy="311644"/>
            </a:xfrm>
            <a:prstGeom prst="rect">
              <a:avLst/>
            </a:prstGeom>
          </p:spPr>
        </p:pic>
        <p:pic>
          <p:nvPicPr>
            <p:cNvPr id="86" name="object 86" descr=""/>
            <p:cNvPicPr/>
            <p:nvPr/>
          </p:nvPicPr>
          <p:blipFill>
            <a:blip r:embed="rId50" cstate="print"/>
            <a:stretch>
              <a:fillRect/>
            </a:stretch>
          </p:blipFill>
          <p:spPr>
            <a:xfrm>
              <a:off x="4267961" y="2724149"/>
              <a:ext cx="797051" cy="269747"/>
            </a:xfrm>
            <a:prstGeom prst="rect">
              <a:avLst/>
            </a:prstGeom>
          </p:spPr>
        </p:pic>
        <p:pic>
          <p:nvPicPr>
            <p:cNvPr id="87" name="object 87" descr=""/>
            <p:cNvPicPr/>
            <p:nvPr/>
          </p:nvPicPr>
          <p:blipFill>
            <a:blip r:embed="rId48" cstate="print"/>
            <a:stretch>
              <a:fillRect/>
            </a:stretch>
          </p:blipFill>
          <p:spPr>
            <a:xfrm>
              <a:off x="4113110" y="2707919"/>
              <a:ext cx="1007567" cy="309956"/>
            </a:xfrm>
            <a:prstGeom prst="rect">
              <a:avLst/>
            </a:prstGeom>
          </p:spPr>
        </p:pic>
        <p:pic>
          <p:nvPicPr>
            <p:cNvPr id="88" name="object 88" descr=""/>
            <p:cNvPicPr/>
            <p:nvPr/>
          </p:nvPicPr>
          <p:blipFill>
            <a:blip r:embed="rId51" cstate="print"/>
            <a:stretch>
              <a:fillRect/>
            </a:stretch>
          </p:blipFill>
          <p:spPr>
            <a:xfrm>
              <a:off x="4159757" y="3366515"/>
              <a:ext cx="1008887" cy="310895"/>
            </a:xfrm>
            <a:prstGeom prst="rect">
              <a:avLst/>
            </a:prstGeom>
          </p:spPr>
        </p:pic>
        <p:pic>
          <p:nvPicPr>
            <p:cNvPr id="89" name="object 89" descr=""/>
            <p:cNvPicPr/>
            <p:nvPr/>
          </p:nvPicPr>
          <p:blipFill>
            <a:blip r:embed="rId52" cstate="print"/>
            <a:stretch>
              <a:fillRect/>
            </a:stretch>
          </p:blipFill>
          <p:spPr>
            <a:xfrm>
              <a:off x="4290059" y="3358133"/>
              <a:ext cx="797051" cy="269747"/>
            </a:xfrm>
            <a:prstGeom prst="rect">
              <a:avLst/>
            </a:prstGeom>
          </p:spPr>
        </p:pic>
        <p:pic>
          <p:nvPicPr>
            <p:cNvPr id="90" name="object 90" descr=""/>
            <p:cNvPicPr/>
            <p:nvPr/>
          </p:nvPicPr>
          <p:blipFill>
            <a:blip r:embed="rId53" cstate="print"/>
            <a:stretch>
              <a:fillRect/>
            </a:stretch>
          </p:blipFill>
          <p:spPr>
            <a:xfrm>
              <a:off x="4134815" y="3341535"/>
              <a:ext cx="1007567" cy="309956"/>
            </a:xfrm>
            <a:prstGeom prst="rect">
              <a:avLst/>
            </a:prstGeom>
          </p:spPr>
        </p:pic>
        <p:pic>
          <p:nvPicPr>
            <p:cNvPr id="91" name="object 91" descr=""/>
            <p:cNvPicPr/>
            <p:nvPr/>
          </p:nvPicPr>
          <p:blipFill>
            <a:blip r:embed="rId54" cstate="print"/>
            <a:stretch>
              <a:fillRect/>
            </a:stretch>
          </p:blipFill>
          <p:spPr>
            <a:xfrm>
              <a:off x="4137659" y="3041903"/>
              <a:ext cx="1008887" cy="311657"/>
            </a:xfrm>
            <a:prstGeom prst="rect">
              <a:avLst/>
            </a:prstGeom>
          </p:spPr>
        </p:pic>
        <p:pic>
          <p:nvPicPr>
            <p:cNvPr id="92" name="object 92" descr=""/>
            <p:cNvPicPr/>
            <p:nvPr/>
          </p:nvPicPr>
          <p:blipFill>
            <a:blip r:embed="rId55" cstate="print"/>
            <a:stretch>
              <a:fillRect/>
            </a:stretch>
          </p:blipFill>
          <p:spPr>
            <a:xfrm>
              <a:off x="4267961" y="3034283"/>
              <a:ext cx="797051" cy="269747"/>
            </a:xfrm>
            <a:prstGeom prst="rect">
              <a:avLst/>
            </a:prstGeom>
          </p:spPr>
        </p:pic>
        <p:pic>
          <p:nvPicPr>
            <p:cNvPr id="93" name="object 93" descr=""/>
            <p:cNvPicPr/>
            <p:nvPr/>
          </p:nvPicPr>
          <p:blipFill>
            <a:blip r:embed="rId48" cstate="print"/>
            <a:stretch>
              <a:fillRect/>
            </a:stretch>
          </p:blipFill>
          <p:spPr>
            <a:xfrm>
              <a:off x="4113110" y="3017481"/>
              <a:ext cx="1007567" cy="309956"/>
            </a:xfrm>
            <a:prstGeom prst="rect">
              <a:avLst/>
            </a:prstGeom>
          </p:spPr>
        </p:pic>
      </p:grpSp>
      <p:sp>
        <p:nvSpPr>
          <p:cNvPr id="94" name="object 94" descr=""/>
          <p:cNvSpPr txBox="1"/>
          <p:nvPr/>
        </p:nvSpPr>
        <p:spPr>
          <a:xfrm>
            <a:off x="4337622" y="2639424"/>
            <a:ext cx="579755" cy="969010"/>
          </a:xfrm>
          <a:prstGeom prst="rect">
            <a:avLst/>
          </a:prstGeom>
        </p:spPr>
        <p:txBody>
          <a:bodyPr wrap="square" lIns="0" tIns="5080" rIns="0" bIns="0" rtlCol="0" vert="horz">
            <a:spAutoFit/>
          </a:bodyPr>
          <a:lstStyle/>
          <a:p>
            <a:pPr algn="just" marL="12700" marR="5080">
              <a:lnSpc>
                <a:spcPct val="148500"/>
              </a:lnSpc>
              <a:spcBef>
                <a:spcPts val="40"/>
              </a:spcBef>
            </a:pPr>
            <a:r>
              <a:rPr dirty="0" sz="1400" spc="-35">
                <a:latin typeface="Microsoft YaHei"/>
                <a:cs typeface="Microsoft YaHei"/>
              </a:rPr>
              <a:t>邮件类下载类上传类</a:t>
            </a:r>
            <a:endParaRPr sz="1400">
              <a:latin typeface="Microsoft YaHei"/>
              <a:cs typeface="Microsoft YaHei"/>
            </a:endParaRPr>
          </a:p>
        </p:txBody>
      </p:sp>
      <p:grpSp>
        <p:nvGrpSpPr>
          <p:cNvPr id="95" name="object 95" descr=""/>
          <p:cNvGrpSpPr/>
          <p:nvPr/>
        </p:nvGrpSpPr>
        <p:grpSpPr>
          <a:xfrm>
            <a:off x="5295734" y="2702140"/>
            <a:ext cx="1041400" cy="975360"/>
            <a:chOff x="5295734" y="2702140"/>
            <a:chExt cx="1041400" cy="975360"/>
          </a:xfrm>
        </p:grpSpPr>
        <p:pic>
          <p:nvPicPr>
            <p:cNvPr id="96" name="object 96" descr=""/>
            <p:cNvPicPr/>
            <p:nvPr/>
          </p:nvPicPr>
          <p:blipFill>
            <a:blip r:embed="rId56" cstate="print"/>
            <a:stretch>
              <a:fillRect/>
            </a:stretch>
          </p:blipFill>
          <p:spPr>
            <a:xfrm>
              <a:off x="5320283" y="2726435"/>
              <a:ext cx="988301" cy="311657"/>
            </a:xfrm>
            <a:prstGeom prst="rect">
              <a:avLst/>
            </a:prstGeom>
          </p:spPr>
        </p:pic>
        <p:pic>
          <p:nvPicPr>
            <p:cNvPr id="97" name="object 97" descr=""/>
            <p:cNvPicPr/>
            <p:nvPr/>
          </p:nvPicPr>
          <p:blipFill>
            <a:blip r:embed="rId57" cstate="print"/>
            <a:stretch>
              <a:fillRect/>
            </a:stretch>
          </p:blipFill>
          <p:spPr>
            <a:xfrm>
              <a:off x="5426201" y="2718815"/>
              <a:ext cx="826007" cy="269747"/>
            </a:xfrm>
            <a:prstGeom prst="rect">
              <a:avLst/>
            </a:prstGeom>
          </p:spPr>
        </p:pic>
        <p:pic>
          <p:nvPicPr>
            <p:cNvPr id="98" name="object 98" descr=""/>
            <p:cNvPicPr/>
            <p:nvPr/>
          </p:nvPicPr>
          <p:blipFill>
            <a:blip r:embed="rId58" cstate="print"/>
            <a:stretch>
              <a:fillRect/>
            </a:stretch>
          </p:blipFill>
          <p:spPr>
            <a:xfrm>
              <a:off x="5295734" y="2702140"/>
              <a:ext cx="987018" cy="309956"/>
            </a:xfrm>
            <a:prstGeom prst="rect">
              <a:avLst/>
            </a:prstGeom>
          </p:spPr>
        </p:pic>
        <p:pic>
          <p:nvPicPr>
            <p:cNvPr id="99" name="object 99" descr=""/>
            <p:cNvPicPr/>
            <p:nvPr/>
          </p:nvPicPr>
          <p:blipFill>
            <a:blip r:embed="rId54" cstate="print"/>
            <a:stretch>
              <a:fillRect/>
            </a:stretch>
          </p:blipFill>
          <p:spPr>
            <a:xfrm>
              <a:off x="5320283" y="3056381"/>
              <a:ext cx="1009649" cy="311657"/>
            </a:xfrm>
            <a:prstGeom prst="rect">
              <a:avLst/>
            </a:prstGeom>
          </p:spPr>
        </p:pic>
        <p:pic>
          <p:nvPicPr>
            <p:cNvPr id="100" name="object 100" descr=""/>
            <p:cNvPicPr/>
            <p:nvPr/>
          </p:nvPicPr>
          <p:blipFill>
            <a:blip r:embed="rId59" cstate="print"/>
            <a:stretch>
              <a:fillRect/>
            </a:stretch>
          </p:blipFill>
          <p:spPr>
            <a:xfrm>
              <a:off x="5422391" y="3048761"/>
              <a:ext cx="855725" cy="269747"/>
            </a:xfrm>
            <a:prstGeom prst="rect">
              <a:avLst/>
            </a:prstGeom>
          </p:spPr>
        </p:pic>
        <p:pic>
          <p:nvPicPr>
            <p:cNvPr id="101" name="object 101" descr=""/>
            <p:cNvPicPr/>
            <p:nvPr/>
          </p:nvPicPr>
          <p:blipFill>
            <a:blip r:embed="rId53" cstate="print"/>
            <a:stretch>
              <a:fillRect/>
            </a:stretch>
          </p:blipFill>
          <p:spPr>
            <a:xfrm>
              <a:off x="5295734" y="3031959"/>
              <a:ext cx="1008113" cy="309956"/>
            </a:xfrm>
            <a:prstGeom prst="rect">
              <a:avLst/>
            </a:prstGeom>
          </p:spPr>
        </p:pic>
        <p:pic>
          <p:nvPicPr>
            <p:cNvPr id="102" name="object 102" descr=""/>
            <p:cNvPicPr/>
            <p:nvPr/>
          </p:nvPicPr>
          <p:blipFill>
            <a:blip r:embed="rId60" cstate="print"/>
            <a:stretch>
              <a:fillRect/>
            </a:stretch>
          </p:blipFill>
          <p:spPr>
            <a:xfrm>
              <a:off x="5320283" y="3366515"/>
              <a:ext cx="1009649" cy="310895"/>
            </a:xfrm>
            <a:prstGeom prst="rect">
              <a:avLst/>
            </a:prstGeom>
          </p:spPr>
        </p:pic>
        <p:pic>
          <p:nvPicPr>
            <p:cNvPr id="103" name="object 103" descr=""/>
            <p:cNvPicPr/>
            <p:nvPr/>
          </p:nvPicPr>
          <p:blipFill>
            <a:blip r:embed="rId61" cstate="print"/>
            <a:stretch>
              <a:fillRect/>
            </a:stretch>
          </p:blipFill>
          <p:spPr>
            <a:xfrm>
              <a:off x="5362955" y="3358133"/>
              <a:ext cx="973835" cy="269747"/>
            </a:xfrm>
            <a:prstGeom prst="rect">
              <a:avLst/>
            </a:prstGeom>
          </p:spPr>
        </p:pic>
        <p:pic>
          <p:nvPicPr>
            <p:cNvPr id="104" name="object 104" descr=""/>
            <p:cNvPicPr/>
            <p:nvPr/>
          </p:nvPicPr>
          <p:blipFill>
            <a:blip r:embed="rId53" cstate="print"/>
            <a:stretch>
              <a:fillRect/>
            </a:stretch>
          </p:blipFill>
          <p:spPr>
            <a:xfrm>
              <a:off x="5295734" y="3341509"/>
              <a:ext cx="1008113" cy="309956"/>
            </a:xfrm>
            <a:prstGeom prst="rect">
              <a:avLst/>
            </a:prstGeom>
          </p:spPr>
        </p:pic>
      </p:grpSp>
      <p:sp>
        <p:nvSpPr>
          <p:cNvPr id="105" name="object 105" descr=""/>
          <p:cNvSpPr txBox="1"/>
          <p:nvPr/>
        </p:nvSpPr>
        <p:spPr>
          <a:xfrm>
            <a:off x="5432151" y="2613383"/>
            <a:ext cx="735330" cy="995044"/>
          </a:xfrm>
          <a:prstGeom prst="rect">
            <a:avLst/>
          </a:prstGeom>
        </p:spPr>
        <p:txBody>
          <a:bodyPr wrap="square" lIns="0" tIns="12700" rIns="0" bIns="0" rtlCol="0" vert="horz">
            <a:spAutoFit/>
          </a:bodyPr>
          <a:lstStyle/>
          <a:p>
            <a:pPr marL="71755" marR="63500" indent="3175">
              <a:lnSpc>
                <a:spcPct val="154600"/>
              </a:lnSpc>
              <a:spcBef>
                <a:spcPts val="100"/>
              </a:spcBef>
            </a:pPr>
            <a:r>
              <a:rPr dirty="0" sz="1400" spc="-25">
                <a:latin typeface="Arial MT"/>
                <a:cs typeface="Arial MT"/>
              </a:rPr>
              <a:t>SMS</a:t>
            </a:r>
            <a:r>
              <a:rPr dirty="0" sz="1400" spc="-50">
                <a:latin typeface="Microsoft YaHei"/>
                <a:cs typeface="Microsoft YaHei"/>
              </a:rPr>
              <a:t>类 </a:t>
            </a:r>
            <a:r>
              <a:rPr dirty="0" sz="1400" spc="-20">
                <a:latin typeface="Arial MT"/>
                <a:cs typeface="Arial MT"/>
              </a:rPr>
              <a:t>MMS</a:t>
            </a:r>
            <a:r>
              <a:rPr dirty="0" sz="1400" spc="-50">
                <a:latin typeface="Microsoft YaHei"/>
                <a:cs typeface="Microsoft YaHei"/>
              </a:rPr>
              <a:t>类</a:t>
            </a:r>
            <a:endParaRPr sz="1400">
              <a:latin typeface="Microsoft YaHei"/>
              <a:cs typeface="Microsoft YaHei"/>
            </a:endParaRPr>
          </a:p>
          <a:p>
            <a:pPr marL="12700">
              <a:lnSpc>
                <a:spcPct val="100000"/>
              </a:lnSpc>
              <a:spcBef>
                <a:spcPts val="755"/>
              </a:spcBef>
            </a:pPr>
            <a:r>
              <a:rPr dirty="0" sz="1400" spc="-10">
                <a:latin typeface="Arial MT"/>
                <a:cs typeface="Arial MT"/>
              </a:rPr>
              <a:t>OTT</a:t>
            </a:r>
            <a:r>
              <a:rPr dirty="0" sz="1400" spc="-35">
                <a:latin typeface="Microsoft YaHei"/>
                <a:cs typeface="Microsoft YaHei"/>
              </a:rPr>
              <a:t>消息</a:t>
            </a:r>
            <a:endParaRPr sz="1400">
              <a:latin typeface="Microsoft YaHei"/>
              <a:cs typeface="Microsoft YaHei"/>
            </a:endParaRPr>
          </a:p>
        </p:txBody>
      </p:sp>
      <p:grpSp>
        <p:nvGrpSpPr>
          <p:cNvPr id="106" name="object 106" descr=""/>
          <p:cNvGrpSpPr/>
          <p:nvPr/>
        </p:nvGrpSpPr>
        <p:grpSpPr>
          <a:xfrm>
            <a:off x="6530416" y="2707919"/>
            <a:ext cx="1041400" cy="675005"/>
            <a:chOff x="6530416" y="2707919"/>
            <a:chExt cx="1041400" cy="675005"/>
          </a:xfrm>
        </p:grpSpPr>
        <p:pic>
          <p:nvPicPr>
            <p:cNvPr id="107" name="object 107" descr=""/>
            <p:cNvPicPr/>
            <p:nvPr/>
          </p:nvPicPr>
          <p:blipFill>
            <a:blip r:embed="rId62" cstate="print"/>
            <a:stretch>
              <a:fillRect/>
            </a:stretch>
          </p:blipFill>
          <p:spPr>
            <a:xfrm>
              <a:off x="6554723" y="2732544"/>
              <a:ext cx="989075" cy="311644"/>
            </a:xfrm>
            <a:prstGeom prst="rect">
              <a:avLst/>
            </a:prstGeom>
          </p:spPr>
        </p:pic>
        <p:pic>
          <p:nvPicPr>
            <p:cNvPr id="108" name="object 108" descr=""/>
            <p:cNvPicPr/>
            <p:nvPr/>
          </p:nvPicPr>
          <p:blipFill>
            <a:blip r:embed="rId63" cstate="print"/>
            <a:stretch>
              <a:fillRect/>
            </a:stretch>
          </p:blipFill>
          <p:spPr>
            <a:xfrm>
              <a:off x="6586727" y="2724150"/>
              <a:ext cx="974585" cy="269747"/>
            </a:xfrm>
            <a:prstGeom prst="rect">
              <a:avLst/>
            </a:prstGeom>
          </p:spPr>
        </p:pic>
        <p:pic>
          <p:nvPicPr>
            <p:cNvPr id="109" name="object 109" descr=""/>
            <p:cNvPicPr/>
            <p:nvPr/>
          </p:nvPicPr>
          <p:blipFill>
            <a:blip r:embed="rId64" cstate="print"/>
            <a:stretch>
              <a:fillRect/>
            </a:stretch>
          </p:blipFill>
          <p:spPr>
            <a:xfrm>
              <a:off x="6530416" y="2707919"/>
              <a:ext cx="987018" cy="309956"/>
            </a:xfrm>
            <a:prstGeom prst="rect">
              <a:avLst/>
            </a:prstGeom>
          </p:spPr>
        </p:pic>
        <p:pic>
          <p:nvPicPr>
            <p:cNvPr id="110" name="object 110" descr=""/>
            <p:cNvPicPr/>
            <p:nvPr/>
          </p:nvPicPr>
          <p:blipFill>
            <a:blip r:embed="rId65" cstate="print"/>
            <a:stretch>
              <a:fillRect/>
            </a:stretch>
          </p:blipFill>
          <p:spPr>
            <a:xfrm>
              <a:off x="6554723" y="3070872"/>
              <a:ext cx="1009649" cy="311644"/>
            </a:xfrm>
            <a:prstGeom prst="rect">
              <a:avLst/>
            </a:prstGeom>
          </p:spPr>
        </p:pic>
        <p:pic>
          <p:nvPicPr>
            <p:cNvPr id="111" name="object 111" descr=""/>
            <p:cNvPicPr/>
            <p:nvPr/>
          </p:nvPicPr>
          <p:blipFill>
            <a:blip r:embed="rId66" cstate="print"/>
            <a:stretch>
              <a:fillRect/>
            </a:stretch>
          </p:blipFill>
          <p:spPr>
            <a:xfrm>
              <a:off x="6596632" y="3062477"/>
              <a:ext cx="974597" cy="269747"/>
            </a:xfrm>
            <a:prstGeom prst="rect">
              <a:avLst/>
            </a:prstGeom>
          </p:spPr>
        </p:pic>
        <p:pic>
          <p:nvPicPr>
            <p:cNvPr id="112" name="object 112" descr=""/>
            <p:cNvPicPr/>
            <p:nvPr/>
          </p:nvPicPr>
          <p:blipFill>
            <a:blip r:embed="rId53" cstate="print"/>
            <a:stretch>
              <a:fillRect/>
            </a:stretch>
          </p:blipFill>
          <p:spPr>
            <a:xfrm>
              <a:off x="6530416" y="3046107"/>
              <a:ext cx="1008113" cy="309956"/>
            </a:xfrm>
            <a:prstGeom prst="rect">
              <a:avLst/>
            </a:prstGeom>
          </p:spPr>
        </p:pic>
      </p:grpSp>
      <p:sp>
        <p:nvSpPr>
          <p:cNvPr id="113" name="object 113" descr=""/>
          <p:cNvSpPr txBox="1"/>
          <p:nvPr/>
        </p:nvSpPr>
        <p:spPr>
          <a:xfrm>
            <a:off x="6656065" y="2610796"/>
            <a:ext cx="746125" cy="702310"/>
          </a:xfrm>
          <a:prstGeom prst="rect">
            <a:avLst/>
          </a:prstGeom>
        </p:spPr>
        <p:txBody>
          <a:bodyPr wrap="square" lIns="0" tIns="12700" rIns="0" bIns="0" rtlCol="0" vert="horz">
            <a:spAutoFit/>
          </a:bodyPr>
          <a:lstStyle/>
          <a:p>
            <a:pPr marL="22225" marR="5080" indent="-10160">
              <a:lnSpc>
                <a:spcPct val="158500"/>
              </a:lnSpc>
              <a:spcBef>
                <a:spcPts val="100"/>
              </a:spcBef>
            </a:pPr>
            <a:r>
              <a:rPr dirty="0" sz="1400" spc="-30">
                <a:latin typeface="Microsoft YaHei"/>
                <a:cs typeface="Microsoft YaHei"/>
              </a:rPr>
              <a:t>低速采集高速采集</a:t>
            </a:r>
            <a:endParaRPr sz="1400">
              <a:latin typeface="Microsoft YaHei"/>
              <a:cs typeface="Microsoft YaHei"/>
            </a:endParaRPr>
          </a:p>
        </p:txBody>
      </p:sp>
      <p:grpSp>
        <p:nvGrpSpPr>
          <p:cNvPr id="114" name="object 114" descr=""/>
          <p:cNvGrpSpPr/>
          <p:nvPr/>
        </p:nvGrpSpPr>
        <p:grpSpPr>
          <a:xfrm>
            <a:off x="7732014" y="2707919"/>
            <a:ext cx="1152525" cy="691515"/>
            <a:chOff x="7732014" y="2707919"/>
            <a:chExt cx="1152525" cy="691515"/>
          </a:xfrm>
        </p:grpSpPr>
        <p:pic>
          <p:nvPicPr>
            <p:cNvPr id="115" name="object 115" descr=""/>
            <p:cNvPicPr/>
            <p:nvPr/>
          </p:nvPicPr>
          <p:blipFill>
            <a:blip r:embed="rId62" cstate="print"/>
            <a:stretch>
              <a:fillRect/>
            </a:stretch>
          </p:blipFill>
          <p:spPr>
            <a:xfrm>
              <a:off x="7778496" y="2732544"/>
              <a:ext cx="989074" cy="311644"/>
            </a:xfrm>
            <a:prstGeom prst="rect">
              <a:avLst/>
            </a:prstGeom>
          </p:spPr>
        </p:pic>
        <p:pic>
          <p:nvPicPr>
            <p:cNvPr id="116" name="object 116" descr=""/>
            <p:cNvPicPr/>
            <p:nvPr/>
          </p:nvPicPr>
          <p:blipFill>
            <a:blip r:embed="rId67" cstate="print"/>
            <a:stretch>
              <a:fillRect/>
            </a:stretch>
          </p:blipFill>
          <p:spPr>
            <a:xfrm>
              <a:off x="7810499" y="2724149"/>
              <a:ext cx="974597" cy="269747"/>
            </a:xfrm>
            <a:prstGeom prst="rect">
              <a:avLst/>
            </a:prstGeom>
          </p:spPr>
        </p:pic>
        <p:pic>
          <p:nvPicPr>
            <p:cNvPr id="117" name="object 117" descr=""/>
            <p:cNvPicPr/>
            <p:nvPr/>
          </p:nvPicPr>
          <p:blipFill>
            <a:blip r:embed="rId64" cstate="print"/>
            <a:stretch>
              <a:fillRect/>
            </a:stretch>
          </p:blipFill>
          <p:spPr>
            <a:xfrm>
              <a:off x="7754112" y="2707919"/>
              <a:ext cx="987018" cy="309956"/>
            </a:xfrm>
            <a:prstGeom prst="rect">
              <a:avLst/>
            </a:prstGeom>
          </p:spPr>
        </p:pic>
        <p:pic>
          <p:nvPicPr>
            <p:cNvPr id="118" name="object 118" descr=""/>
            <p:cNvPicPr/>
            <p:nvPr/>
          </p:nvPicPr>
          <p:blipFill>
            <a:blip r:embed="rId68" cstate="print"/>
            <a:stretch>
              <a:fillRect/>
            </a:stretch>
          </p:blipFill>
          <p:spPr>
            <a:xfrm>
              <a:off x="7778494" y="3087623"/>
              <a:ext cx="1009649" cy="311657"/>
            </a:xfrm>
            <a:prstGeom prst="rect">
              <a:avLst/>
            </a:prstGeom>
          </p:spPr>
        </p:pic>
        <p:pic>
          <p:nvPicPr>
            <p:cNvPr id="119" name="object 119" descr=""/>
            <p:cNvPicPr/>
            <p:nvPr/>
          </p:nvPicPr>
          <p:blipFill>
            <a:blip r:embed="rId69" cstate="print"/>
            <a:stretch>
              <a:fillRect/>
            </a:stretch>
          </p:blipFill>
          <p:spPr>
            <a:xfrm>
              <a:off x="7732014" y="3080003"/>
              <a:ext cx="1152143" cy="269747"/>
            </a:xfrm>
            <a:prstGeom prst="rect">
              <a:avLst/>
            </a:prstGeom>
          </p:spPr>
        </p:pic>
        <p:pic>
          <p:nvPicPr>
            <p:cNvPr id="120" name="object 120" descr=""/>
            <p:cNvPicPr/>
            <p:nvPr/>
          </p:nvPicPr>
          <p:blipFill>
            <a:blip r:embed="rId53" cstate="print"/>
            <a:stretch>
              <a:fillRect/>
            </a:stretch>
          </p:blipFill>
          <p:spPr>
            <a:xfrm>
              <a:off x="7754112" y="3063316"/>
              <a:ext cx="1008113" cy="309956"/>
            </a:xfrm>
            <a:prstGeom prst="rect">
              <a:avLst/>
            </a:prstGeom>
          </p:spPr>
        </p:pic>
      </p:grpSp>
      <p:sp>
        <p:nvSpPr>
          <p:cNvPr id="121" name="object 121" descr=""/>
          <p:cNvSpPr txBox="1"/>
          <p:nvPr/>
        </p:nvSpPr>
        <p:spPr>
          <a:xfrm>
            <a:off x="7801478" y="2735925"/>
            <a:ext cx="913130" cy="594360"/>
          </a:xfrm>
          <a:prstGeom prst="rect">
            <a:avLst/>
          </a:prstGeom>
        </p:spPr>
        <p:txBody>
          <a:bodyPr wrap="square" lIns="0" tIns="12065" rIns="0" bIns="0" rtlCol="0" vert="horz">
            <a:spAutoFit/>
          </a:bodyPr>
          <a:lstStyle/>
          <a:p>
            <a:pPr marL="90805">
              <a:lnSpc>
                <a:spcPct val="100000"/>
              </a:lnSpc>
              <a:spcBef>
                <a:spcPts val="95"/>
              </a:spcBef>
            </a:pPr>
            <a:r>
              <a:rPr dirty="0" sz="1400" spc="-30">
                <a:latin typeface="Microsoft YaHei"/>
                <a:cs typeface="Microsoft YaHei"/>
              </a:rPr>
              <a:t>时延敏感</a:t>
            </a:r>
            <a:endParaRPr sz="1400">
              <a:latin typeface="Microsoft YaHei"/>
              <a:cs typeface="Microsoft YaHei"/>
            </a:endParaRPr>
          </a:p>
          <a:p>
            <a:pPr marL="12700">
              <a:lnSpc>
                <a:spcPct val="100000"/>
              </a:lnSpc>
              <a:spcBef>
                <a:spcPts val="1120"/>
              </a:spcBef>
            </a:pPr>
            <a:r>
              <a:rPr dirty="0" sz="1400" spc="-30">
                <a:latin typeface="Microsoft YaHei"/>
                <a:cs typeface="Microsoft YaHei"/>
              </a:rPr>
              <a:t>时延非敏感</a:t>
            </a:r>
            <a:endParaRPr sz="1400">
              <a:latin typeface="Microsoft YaHei"/>
              <a:cs typeface="Microsoft YaHei"/>
            </a:endParaRPr>
          </a:p>
        </p:txBody>
      </p:sp>
      <p:sp>
        <p:nvSpPr>
          <p:cNvPr id="122" name="object 122" descr=""/>
          <p:cNvSpPr txBox="1"/>
          <p:nvPr/>
        </p:nvSpPr>
        <p:spPr>
          <a:xfrm>
            <a:off x="4789970" y="3940708"/>
            <a:ext cx="3854450" cy="923925"/>
          </a:xfrm>
          <a:prstGeom prst="rect">
            <a:avLst/>
          </a:prstGeom>
          <a:solidFill>
            <a:srgbClr val="00BFFF"/>
          </a:solidFill>
        </p:spPr>
        <p:txBody>
          <a:bodyPr wrap="square" lIns="0" tIns="37465" rIns="0" bIns="0" rtlCol="0" vert="horz">
            <a:spAutoFit/>
          </a:bodyPr>
          <a:lstStyle/>
          <a:p>
            <a:pPr marL="90805" marR="97790">
              <a:lnSpc>
                <a:spcPct val="100000"/>
              </a:lnSpc>
              <a:spcBef>
                <a:spcPts val="295"/>
              </a:spcBef>
            </a:pPr>
            <a:r>
              <a:rPr dirty="0" sz="1800" b="1">
                <a:solidFill>
                  <a:srgbClr val="FFFFFF"/>
                </a:solidFill>
                <a:latin typeface="Microsoft YaHei"/>
                <a:cs typeface="Microsoft YaHei"/>
              </a:rPr>
              <a:t>基于</a:t>
            </a:r>
            <a:r>
              <a:rPr dirty="0" sz="1800" spc="-10" b="1">
                <a:solidFill>
                  <a:srgbClr val="FFFFFF"/>
                </a:solidFill>
                <a:latin typeface="Arial"/>
                <a:cs typeface="Arial"/>
              </a:rPr>
              <a:t>3GPP</a:t>
            </a:r>
            <a:r>
              <a:rPr dirty="0" sz="1800" spc="-5" b="1">
                <a:solidFill>
                  <a:srgbClr val="FFFFFF"/>
                </a:solidFill>
                <a:latin typeface="Microsoft YaHei"/>
                <a:cs typeface="Microsoft YaHei"/>
              </a:rPr>
              <a:t>业务分类，将背景类扩展成为传输类和消息类，并增加物联网</a:t>
            </a:r>
            <a:r>
              <a:rPr dirty="0" sz="1800" b="1">
                <a:solidFill>
                  <a:srgbClr val="FFFFFF"/>
                </a:solidFill>
                <a:latin typeface="Microsoft YaHei"/>
                <a:cs typeface="Microsoft YaHei"/>
              </a:rPr>
              <a:t>业务（含采集类和控制类</a:t>
            </a:r>
            <a:r>
              <a:rPr dirty="0" sz="1800" spc="-50" b="1">
                <a:solidFill>
                  <a:srgbClr val="FFFFFF"/>
                </a:solidFill>
                <a:latin typeface="Microsoft YaHei"/>
                <a:cs typeface="Microsoft YaHei"/>
              </a:rPr>
              <a:t>）</a:t>
            </a:r>
            <a:endParaRPr sz="1800">
              <a:latin typeface="Microsoft YaHei"/>
              <a:cs typeface="Microsoft YaHei"/>
            </a:endParaRPr>
          </a:p>
        </p:txBody>
      </p:sp>
      <p:grpSp>
        <p:nvGrpSpPr>
          <p:cNvPr id="123" name="object 123" descr=""/>
          <p:cNvGrpSpPr/>
          <p:nvPr/>
        </p:nvGrpSpPr>
        <p:grpSpPr>
          <a:xfrm>
            <a:off x="2847454" y="4637659"/>
            <a:ext cx="1042035" cy="335915"/>
            <a:chOff x="2847454" y="4637659"/>
            <a:chExt cx="1042035" cy="335915"/>
          </a:xfrm>
        </p:grpSpPr>
        <p:pic>
          <p:nvPicPr>
            <p:cNvPr id="124" name="object 124" descr=""/>
            <p:cNvPicPr/>
            <p:nvPr/>
          </p:nvPicPr>
          <p:blipFill>
            <a:blip r:embed="rId60" cstate="print"/>
            <a:stretch>
              <a:fillRect/>
            </a:stretch>
          </p:blipFill>
          <p:spPr>
            <a:xfrm>
              <a:off x="2871977" y="4662677"/>
              <a:ext cx="1009649" cy="310895"/>
            </a:xfrm>
            <a:prstGeom prst="rect">
              <a:avLst/>
            </a:prstGeom>
          </p:spPr>
        </p:pic>
        <p:pic>
          <p:nvPicPr>
            <p:cNvPr id="125" name="object 125" descr=""/>
            <p:cNvPicPr/>
            <p:nvPr/>
          </p:nvPicPr>
          <p:blipFill>
            <a:blip r:embed="rId70" cstate="print"/>
            <a:stretch>
              <a:fillRect/>
            </a:stretch>
          </p:blipFill>
          <p:spPr>
            <a:xfrm>
              <a:off x="2914649" y="4654295"/>
              <a:ext cx="974597" cy="269747"/>
            </a:xfrm>
            <a:prstGeom prst="rect">
              <a:avLst/>
            </a:prstGeom>
          </p:spPr>
        </p:pic>
        <p:pic>
          <p:nvPicPr>
            <p:cNvPr id="126" name="object 126" descr=""/>
            <p:cNvPicPr/>
            <p:nvPr/>
          </p:nvPicPr>
          <p:blipFill>
            <a:blip r:embed="rId53" cstate="print"/>
            <a:stretch>
              <a:fillRect/>
            </a:stretch>
          </p:blipFill>
          <p:spPr>
            <a:xfrm>
              <a:off x="2847454" y="4637659"/>
              <a:ext cx="1008113" cy="309956"/>
            </a:xfrm>
            <a:prstGeom prst="rect">
              <a:avLst/>
            </a:prstGeom>
          </p:spPr>
        </p:pic>
      </p:grpSp>
      <p:sp>
        <p:nvSpPr>
          <p:cNvPr id="127" name="object 127" descr=""/>
          <p:cNvSpPr txBox="1"/>
          <p:nvPr/>
        </p:nvSpPr>
        <p:spPr>
          <a:xfrm>
            <a:off x="2983576" y="2635204"/>
            <a:ext cx="735965" cy="2269490"/>
          </a:xfrm>
          <a:prstGeom prst="rect">
            <a:avLst/>
          </a:prstGeom>
        </p:spPr>
        <p:txBody>
          <a:bodyPr wrap="square" lIns="0" tIns="10795" rIns="0" bIns="0" rtlCol="0" vert="horz">
            <a:spAutoFit/>
          </a:bodyPr>
          <a:lstStyle/>
          <a:p>
            <a:pPr algn="ctr" marL="12065" marR="5080" indent="-1270">
              <a:lnSpc>
                <a:spcPct val="150300"/>
              </a:lnSpc>
              <a:spcBef>
                <a:spcPts val="85"/>
              </a:spcBef>
            </a:pPr>
            <a:r>
              <a:rPr dirty="0" sz="1400" spc="-35">
                <a:latin typeface="Microsoft YaHei"/>
                <a:cs typeface="Microsoft YaHei"/>
              </a:rPr>
              <a:t>浏览类</a:t>
            </a:r>
            <a:r>
              <a:rPr dirty="0" sz="1400" spc="-50">
                <a:latin typeface="Microsoft YaHei"/>
                <a:cs typeface="Microsoft YaHei"/>
              </a:rPr>
              <a:t> </a:t>
            </a:r>
            <a:r>
              <a:rPr dirty="0" sz="1400" spc="-30">
                <a:latin typeface="Microsoft YaHei"/>
                <a:cs typeface="Microsoft YaHei"/>
              </a:rPr>
              <a:t>位置类交易类搜索类游戏类增强现实虚拟现实</a:t>
            </a:r>
            <a:endParaRPr sz="1400">
              <a:latin typeface="Microsoft YaHei"/>
              <a:cs typeface="Microsoft YaHei"/>
            </a:endParaRPr>
          </a:p>
        </p:txBody>
      </p:sp>
      <p:grpSp>
        <p:nvGrpSpPr>
          <p:cNvPr id="128" name="object 128" descr=""/>
          <p:cNvGrpSpPr/>
          <p:nvPr/>
        </p:nvGrpSpPr>
        <p:grpSpPr>
          <a:xfrm>
            <a:off x="1623326" y="3341509"/>
            <a:ext cx="1041400" cy="335915"/>
            <a:chOff x="1623326" y="3341509"/>
            <a:chExt cx="1041400" cy="335915"/>
          </a:xfrm>
        </p:grpSpPr>
        <p:pic>
          <p:nvPicPr>
            <p:cNvPr id="129" name="object 129" descr=""/>
            <p:cNvPicPr/>
            <p:nvPr/>
          </p:nvPicPr>
          <p:blipFill>
            <a:blip r:embed="rId71" cstate="print"/>
            <a:stretch>
              <a:fillRect/>
            </a:stretch>
          </p:blipFill>
          <p:spPr>
            <a:xfrm>
              <a:off x="1648205" y="3366515"/>
              <a:ext cx="1009649" cy="310895"/>
            </a:xfrm>
            <a:prstGeom prst="rect">
              <a:avLst/>
            </a:prstGeom>
          </p:spPr>
        </p:pic>
        <p:pic>
          <p:nvPicPr>
            <p:cNvPr id="130" name="object 130" descr=""/>
            <p:cNvPicPr/>
            <p:nvPr/>
          </p:nvPicPr>
          <p:blipFill>
            <a:blip r:embed="rId72" cstate="print"/>
            <a:stretch>
              <a:fillRect/>
            </a:stretch>
          </p:blipFill>
          <p:spPr>
            <a:xfrm>
              <a:off x="1690115" y="3358133"/>
              <a:ext cx="974585" cy="269746"/>
            </a:xfrm>
            <a:prstGeom prst="rect">
              <a:avLst/>
            </a:prstGeom>
          </p:spPr>
        </p:pic>
        <p:pic>
          <p:nvPicPr>
            <p:cNvPr id="131" name="object 131" descr=""/>
            <p:cNvPicPr/>
            <p:nvPr/>
          </p:nvPicPr>
          <p:blipFill>
            <a:blip r:embed="rId53" cstate="print"/>
            <a:stretch>
              <a:fillRect/>
            </a:stretch>
          </p:blipFill>
          <p:spPr>
            <a:xfrm>
              <a:off x="1623326" y="3341509"/>
              <a:ext cx="1008113" cy="309956"/>
            </a:xfrm>
            <a:prstGeom prst="rect">
              <a:avLst/>
            </a:prstGeom>
          </p:spPr>
        </p:pic>
      </p:grpSp>
      <p:sp>
        <p:nvSpPr>
          <p:cNvPr id="132" name="object 132" descr=""/>
          <p:cNvSpPr txBox="1"/>
          <p:nvPr/>
        </p:nvSpPr>
        <p:spPr>
          <a:xfrm>
            <a:off x="1759441" y="2610467"/>
            <a:ext cx="735965" cy="997585"/>
          </a:xfrm>
          <a:prstGeom prst="rect">
            <a:avLst/>
          </a:prstGeom>
        </p:spPr>
        <p:txBody>
          <a:bodyPr wrap="square" lIns="0" tIns="12700" rIns="0" bIns="0" rtlCol="0" vert="horz">
            <a:spAutoFit/>
          </a:bodyPr>
          <a:lstStyle/>
          <a:p>
            <a:pPr marL="12700" marR="5080" indent="88265">
              <a:lnSpc>
                <a:spcPct val="151900"/>
              </a:lnSpc>
              <a:spcBef>
                <a:spcPts val="100"/>
              </a:spcBef>
            </a:pPr>
            <a:r>
              <a:rPr dirty="0" sz="1400" spc="-35">
                <a:latin typeface="Microsoft YaHei"/>
                <a:cs typeface="Microsoft YaHei"/>
              </a:rPr>
              <a:t>语音类</a:t>
            </a:r>
            <a:r>
              <a:rPr dirty="0" sz="1400" spc="-30">
                <a:latin typeface="Microsoft YaHei"/>
                <a:cs typeface="Microsoft YaHei"/>
              </a:rPr>
              <a:t>视频通话虚拟现实</a:t>
            </a:r>
            <a:endParaRPr sz="1400">
              <a:latin typeface="Microsoft YaHei"/>
              <a:cs typeface="Microsoft Ya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50631" y="102499"/>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业务类型特点</a:t>
            </a:r>
          </a:p>
        </p:txBody>
      </p:sp>
      <p:pic>
        <p:nvPicPr>
          <p:cNvPr id="3" name="object 3"/>
          <p:cNvPicPr/>
          <p:nvPr/>
        </p:nvPicPr>
        <p:blipFill>
          <a:blip r:embed="rId2" cstate="print"/>
          <a:stretch>
            <a:fillRect/>
          </a:stretch>
        </p:blipFill>
        <p:spPr>
          <a:xfrm>
            <a:off x="6019825" y="1252537"/>
            <a:ext cx="3096526" cy="1689950"/>
          </a:xfrm>
          <a:prstGeom prst="rect">
            <a:avLst/>
          </a:prstGeom>
        </p:spPr>
      </p:pic>
      <p:pic>
        <p:nvPicPr>
          <p:cNvPr id="4" name="object 4"/>
          <p:cNvPicPr/>
          <p:nvPr/>
        </p:nvPicPr>
        <p:blipFill>
          <a:blip r:embed="rId3" cstate="print"/>
          <a:stretch>
            <a:fillRect/>
          </a:stretch>
        </p:blipFill>
        <p:spPr>
          <a:xfrm>
            <a:off x="6026302" y="3114992"/>
            <a:ext cx="3089867" cy="1647929"/>
          </a:xfrm>
          <a:prstGeom prst="rect">
            <a:avLst/>
          </a:prstGeom>
        </p:spPr>
      </p:pic>
      <p:grpSp>
        <p:nvGrpSpPr>
          <p:cNvPr id="5" name="object 5" descr=""/>
          <p:cNvGrpSpPr/>
          <p:nvPr/>
        </p:nvGrpSpPr>
        <p:grpSpPr>
          <a:xfrm>
            <a:off x="248055" y="1649550"/>
            <a:ext cx="5639435" cy="611505"/>
            <a:chOff x="248055" y="1649550"/>
            <a:chExt cx="5639435" cy="611505"/>
          </a:xfrm>
        </p:grpSpPr>
        <p:sp>
          <p:nvSpPr>
            <p:cNvPr id="6" name="object 6" descr=""/>
            <p:cNvSpPr/>
            <p:nvPr/>
          </p:nvSpPr>
          <p:spPr>
            <a:xfrm>
              <a:off x="3378344" y="1720814"/>
              <a:ext cx="2496185" cy="468630"/>
            </a:xfrm>
            <a:custGeom>
              <a:avLst/>
              <a:gdLst/>
              <a:ahLst/>
              <a:cxnLst/>
              <a:rect l="l" t="t" r="r" b="b"/>
              <a:pathLst>
                <a:path w="2496185" h="468630">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DCDDE">
                <a:alpha val="90194"/>
              </a:srgbClr>
            </a:solidFill>
          </p:spPr>
          <p:txBody>
            <a:bodyPr wrap="square" lIns="0" tIns="0" rIns="0" bIns="0" rtlCol="0"/>
            <a:lstStyle/>
            <a:p/>
          </p:txBody>
        </p:sp>
        <p:sp>
          <p:nvSpPr>
            <p:cNvPr id="7" name="object 7" descr=""/>
            <p:cNvSpPr/>
            <p:nvPr/>
          </p:nvSpPr>
          <p:spPr>
            <a:xfrm>
              <a:off x="3378344" y="1720814"/>
              <a:ext cx="2496185" cy="468630"/>
            </a:xfrm>
            <a:custGeom>
              <a:avLst/>
              <a:gdLst/>
              <a:ahLst/>
              <a:cxnLst/>
              <a:rect l="l" t="t" r="r" b="b"/>
              <a:pathLst>
                <a:path w="2496185" h="468630">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DCDDE"/>
              </a:solidFill>
            </a:ln>
          </p:spPr>
          <p:txBody>
            <a:bodyPr wrap="square" lIns="0" tIns="0" rIns="0" bIns="0" rtlCol="0"/>
            <a:lstStyle/>
            <a:p/>
          </p:txBody>
        </p:sp>
        <p:sp>
          <p:nvSpPr>
            <p:cNvPr id="8" name="object 8" descr=""/>
            <p:cNvSpPr/>
            <p:nvPr/>
          </p:nvSpPr>
          <p:spPr>
            <a:xfrm>
              <a:off x="260755" y="1662250"/>
              <a:ext cx="3117850" cy="586105"/>
            </a:xfrm>
            <a:custGeom>
              <a:avLst/>
              <a:gdLst/>
              <a:ahLst/>
              <a:cxnLst/>
              <a:rect l="l" t="t" r="r" b="b"/>
              <a:pathLst>
                <a:path w="3117850" h="586105">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333399"/>
            </a:solidFill>
          </p:spPr>
          <p:txBody>
            <a:bodyPr wrap="square" lIns="0" tIns="0" rIns="0" bIns="0" rtlCol="0"/>
            <a:lstStyle/>
            <a:p/>
          </p:txBody>
        </p:sp>
        <p:sp>
          <p:nvSpPr>
            <p:cNvPr id="9" name="object 9" descr=""/>
            <p:cNvSpPr/>
            <p:nvPr/>
          </p:nvSpPr>
          <p:spPr>
            <a:xfrm>
              <a:off x="260755" y="1662250"/>
              <a:ext cx="3117850" cy="586105"/>
            </a:xfrm>
            <a:custGeom>
              <a:avLst/>
              <a:gdLst/>
              <a:ahLst/>
              <a:cxnLst/>
              <a:rect l="l" t="t" r="r" b="b"/>
              <a:pathLst>
                <a:path w="3117850" h="586105">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10" name="object 10" descr=""/>
          <p:cNvSpPr txBox="1"/>
          <p:nvPr/>
        </p:nvSpPr>
        <p:spPr>
          <a:xfrm>
            <a:off x="687981" y="1811341"/>
            <a:ext cx="2263775" cy="269875"/>
          </a:xfrm>
          <a:prstGeom prst="rect">
            <a:avLst/>
          </a:prstGeom>
        </p:spPr>
        <p:txBody>
          <a:bodyPr wrap="square" lIns="0" tIns="12700" rIns="0" bIns="0" rtlCol="0" vert="horz">
            <a:spAutoFit/>
          </a:bodyPr>
          <a:lstStyle/>
          <a:p>
            <a:pPr marL="12700">
              <a:lnSpc>
                <a:spcPct val="100000"/>
              </a:lnSpc>
              <a:spcBef>
                <a:spcPts val="100"/>
              </a:spcBef>
            </a:pPr>
            <a:r>
              <a:rPr dirty="0" sz="1600" spc="-5" b="1">
                <a:solidFill>
                  <a:srgbClr val="FFFFFF"/>
                </a:solidFill>
                <a:latin typeface="Microsoft YaHei"/>
                <a:cs typeface="Microsoft YaHei"/>
              </a:rPr>
              <a:t>超高清、三维化、浸入式</a:t>
            </a:r>
            <a:endParaRPr sz="1600">
              <a:latin typeface="Microsoft YaHei"/>
              <a:cs typeface="Microsoft YaHei"/>
            </a:endParaRPr>
          </a:p>
        </p:txBody>
      </p:sp>
      <p:sp>
        <p:nvSpPr>
          <p:cNvPr id="11" name="object 11" descr=""/>
          <p:cNvSpPr/>
          <p:nvPr/>
        </p:nvSpPr>
        <p:spPr>
          <a:xfrm>
            <a:off x="260755" y="2277172"/>
            <a:ext cx="3117850" cy="586105"/>
          </a:xfrm>
          <a:custGeom>
            <a:avLst/>
            <a:gdLst/>
            <a:ahLst/>
            <a:cxnLst/>
            <a:rect l="l" t="t" r="r" b="b"/>
            <a:pathLst>
              <a:path w="3117850" h="586105">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FFC000"/>
          </a:solidFill>
        </p:spPr>
        <p:txBody>
          <a:bodyPr wrap="square" lIns="0" tIns="0" rIns="0" bIns="0" rtlCol="0"/>
          <a:lstStyle/>
          <a:p/>
        </p:txBody>
      </p:sp>
      <p:sp>
        <p:nvSpPr>
          <p:cNvPr id="12" name="object 12" descr=""/>
          <p:cNvSpPr txBox="1"/>
          <p:nvPr/>
        </p:nvSpPr>
        <p:spPr>
          <a:xfrm>
            <a:off x="530247" y="2426262"/>
            <a:ext cx="2580005"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增强</a:t>
            </a:r>
            <a:r>
              <a:rPr dirty="0" sz="1600" spc="-20" b="1">
                <a:latin typeface="Arial"/>
                <a:cs typeface="Arial"/>
              </a:rPr>
              <a:t>/</a:t>
            </a:r>
            <a:r>
              <a:rPr dirty="0" sz="1600" b="1">
                <a:latin typeface="Microsoft YaHei"/>
                <a:cs typeface="Microsoft YaHei"/>
              </a:rPr>
              <a:t>虚拟现实通信</a:t>
            </a:r>
            <a:r>
              <a:rPr dirty="0" sz="1600" spc="-20" b="1">
                <a:latin typeface="Arial"/>
                <a:cs typeface="Arial"/>
              </a:rPr>
              <a:t>/</a:t>
            </a:r>
            <a:r>
              <a:rPr dirty="0" sz="1600" spc="-15" b="1">
                <a:latin typeface="Microsoft YaHei"/>
                <a:cs typeface="Microsoft YaHei"/>
              </a:rPr>
              <a:t>在线游戏</a:t>
            </a:r>
            <a:endParaRPr sz="1600">
              <a:latin typeface="Microsoft YaHei"/>
              <a:cs typeface="Microsoft YaHei"/>
            </a:endParaRPr>
          </a:p>
        </p:txBody>
      </p:sp>
      <p:grpSp>
        <p:nvGrpSpPr>
          <p:cNvPr id="13" name="object 13" descr=""/>
          <p:cNvGrpSpPr/>
          <p:nvPr/>
        </p:nvGrpSpPr>
        <p:grpSpPr>
          <a:xfrm>
            <a:off x="248055" y="2879392"/>
            <a:ext cx="5639435" cy="611505"/>
            <a:chOff x="248055" y="2879392"/>
            <a:chExt cx="5639435" cy="611505"/>
          </a:xfrm>
        </p:grpSpPr>
        <p:sp>
          <p:nvSpPr>
            <p:cNvPr id="14" name="object 14" descr=""/>
            <p:cNvSpPr/>
            <p:nvPr/>
          </p:nvSpPr>
          <p:spPr>
            <a:xfrm>
              <a:off x="3378344" y="2950655"/>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CCCCC">
                <a:alpha val="90194"/>
              </a:srgbClr>
            </a:solidFill>
          </p:spPr>
          <p:txBody>
            <a:bodyPr wrap="square" lIns="0" tIns="0" rIns="0" bIns="0" rtlCol="0"/>
            <a:lstStyle/>
            <a:p/>
          </p:txBody>
        </p:sp>
        <p:sp>
          <p:nvSpPr>
            <p:cNvPr id="15" name="object 15" descr=""/>
            <p:cNvSpPr/>
            <p:nvPr/>
          </p:nvSpPr>
          <p:spPr>
            <a:xfrm>
              <a:off x="3378344" y="2950655"/>
              <a:ext cx="2496185" cy="468630"/>
            </a:xfrm>
            <a:custGeom>
              <a:avLst/>
              <a:gdLst/>
              <a:ahLst/>
              <a:cxnLst/>
              <a:rect l="l" t="t" r="r" b="b"/>
              <a:pathLst>
                <a:path w="2496185" h="468629">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CCCCC"/>
              </a:solidFill>
            </a:ln>
          </p:spPr>
          <p:txBody>
            <a:bodyPr wrap="square" lIns="0" tIns="0" rIns="0" bIns="0" rtlCol="0"/>
            <a:lstStyle/>
            <a:p/>
          </p:txBody>
        </p:sp>
        <p:sp>
          <p:nvSpPr>
            <p:cNvPr id="16" name="object 16" descr=""/>
            <p:cNvSpPr/>
            <p:nvPr/>
          </p:nvSpPr>
          <p:spPr>
            <a:xfrm>
              <a:off x="260755" y="2892092"/>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CC6600"/>
            </a:solidFill>
          </p:spPr>
          <p:txBody>
            <a:bodyPr wrap="square" lIns="0" tIns="0" rIns="0" bIns="0" rtlCol="0"/>
            <a:lstStyle/>
            <a:p/>
          </p:txBody>
        </p:sp>
        <p:sp>
          <p:nvSpPr>
            <p:cNvPr id="17" name="object 17" descr=""/>
            <p:cNvSpPr/>
            <p:nvPr/>
          </p:nvSpPr>
          <p:spPr>
            <a:xfrm>
              <a:off x="260755" y="2892092"/>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18" name="object 18" descr=""/>
          <p:cNvSpPr txBox="1"/>
          <p:nvPr/>
        </p:nvSpPr>
        <p:spPr>
          <a:xfrm>
            <a:off x="1426361" y="3008861"/>
            <a:ext cx="786765" cy="330200"/>
          </a:xfrm>
          <a:prstGeom prst="rect">
            <a:avLst/>
          </a:prstGeom>
        </p:spPr>
        <p:txBody>
          <a:bodyPr wrap="square" lIns="0" tIns="12065" rIns="0" bIns="0" rtlCol="0" vert="horz">
            <a:spAutoFit/>
          </a:bodyPr>
          <a:lstStyle/>
          <a:p>
            <a:pPr marL="12700">
              <a:lnSpc>
                <a:spcPct val="100000"/>
              </a:lnSpc>
              <a:spcBef>
                <a:spcPts val="95"/>
              </a:spcBef>
            </a:pPr>
            <a:r>
              <a:rPr dirty="0" sz="2000" spc="-35" b="1">
                <a:solidFill>
                  <a:srgbClr val="FFFFFF"/>
                </a:solidFill>
                <a:latin typeface="Microsoft YaHei"/>
                <a:cs typeface="Microsoft YaHei"/>
              </a:rPr>
              <a:t>云桌面</a:t>
            </a:r>
            <a:endParaRPr sz="2000">
              <a:latin typeface="Microsoft YaHei"/>
              <a:cs typeface="Microsoft YaHei"/>
            </a:endParaRPr>
          </a:p>
        </p:txBody>
      </p:sp>
      <p:grpSp>
        <p:nvGrpSpPr>
          <p:cNvPr id="19" name="object 19" descr=""/>
          <p:cNvGrpSpPr/>
          <p:nvPr/>
        </p:nvGrpSpPr>
        <p:grpSpPr>
          <a:xfrm>
            <a:off x="248055" y="3494312"/>
            <a:ext cx="5639435" cy="611505"/>
            <a:chOff x="248055" y="3494312"/>
            <a:chExt cx="5639435" cy="611505"/>
          </a:xfrm>
        </p:grpSpPr>
        <p:sp>
          <p:nvSpPr>
            <p:cNvPr id="20" name="object 20" descr=""/>
            <p:cNvSpPr/>
            <p:nvPr/>
          </p:nvSpPr>
          <p:spPr>
            <a:xfrm>
              <a:off x="3378344" y="3565575"/>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2"/>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F1F8F9">
                <a:alpha val="90194"/>
              </a:srgbClr>
            </a:solidFill>
          </p:spPr>
          <p:txBody>
            <a:bodyPr wrap="square" lIns="0" tIns="0" rIns="0" bIns="0" rtlCol="0"/>
            <a:lstStyle/>
            <a:p/>
          </p:txBody>
        </p:sp>
        <p:sp>
          <p:nvSpPr>
            <p:cNvPr id="21" name="object 21" descr=""/>
            <p:cNvSpPr/>
            <p:nvPr/>
          </p:nvSpPr>
          <p:spPr>
            <a:xfrm>
              <a:off x="3378344" y="3565575"/>
              <a:ext cx="2496185" cy="468630"/>
            </a:xfrm>
            <a:custGeom>
              <a:avLst/>
              <a:gdLst/>
              <a:ahLst/>
              <a:cxnLst/>
              <a:rect l="l" t="t" r="r" b="b"/>
              <a:pathLst>
                <a:path w="2496185" h="468629">
                  <a:moveTo>
                    <a:pt x="2495892" y="78092"/>
                  </a:moveTo>
                  <a:lnTo>
                    <a:pt x="2495892" y="390423"/>
                  </a:lnTo>
                  <a:lnTo>
                    <a:pt x="2489756" y="420820"/>
                  </a:lnTo>
                  <a:lnTo>
                    <a:pt x="2473020" y="445642"/>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F1F8F9"/>
              </a:solidFill>
            </a:ln>
          </p:spPr>
          <p:txBody>
            <a:bodyPr wrap="square" lIns="0" tIns="0" rIns="0" bIns="0" rtlCol="0"/>
            <a:lstStyle/>
            <a:p/>
          </p:txBody>
        </p:sp>
        <p:sp>
          <p:nvSpPr>
            <p:cNvPr id="22" name="object 22" descr=""/>
            <p:cNvSpPr/>
            <p:nvPr/>
          </p:nvSpPr>
          <p:spPr>
            <a:xfrm>
              <a:off x="260755" y="3507012"/>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DAEDEF"/>
            </a:solidFill>
          </p:spPr>
          <p:txBody>
            <a:bodyPr wrap="square" lIns="0" tIns="0" rIns="0" bIns="0" rtlCol="0"/>
            <a:lstStyle/>
            <a:p/>
          </p:txBody>
        </p:sp>
        <p:sp>
          <p:nvSpPr>
            <p:cNvPr id="23" name="object 23" descr=""/>
            <p:cNvSpPr/>
            <p:nvPr/>
          </p:nvSpPr>
          <p:spPr>
            <a:xfrm>
              <a:off x="260755" y="3507012"/>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24" name="object 24" descr=""/>
          <p:cNvSpPr txBox="1"/>
          <p:nvPr/>
        </p:nvSpPr>
        <p:spPr>
          <a:xfrm>
            <a:off x="1553645" y="3610733"/>
            <a:ext cx="532765" cy="330200"/>
          </a:xfrm>
          <a:prstGeom prst="rect">
            <a:avLst/>
          </a:prstGeom>
        </p:spPr>
        <p:txBody>
          <a:bodyPr wrap="square" lIns="0" tIns="12065" rIns="0" bIns="0" rtlCol="0" vert="horz">
            <a:spAutoFit/>
          </a:bodyPr>
          <a:lstStyle/>
          <a:p>
            <a:pPr marL="12700">
              <a:lnSpc>
                <a:spcPct val="100000"/>
              </a:lnSpc>
              <a:spcBef>
                <a:spcPts val="95"/>
              </a:spcBef>
            </a:pPr>
            <a:r>
              <a:rPr dirty="0" sz="2000" spc="-25" b="1">
                <a:solidFill>
                  <a:srgbClr val="FFFFFF"/>
                </a:solidFill>
                <a:latin typeface="Arial"/>
                <a:cs typeface="Arial"/>
              </a:rPr>
              <a:t>OTT</a:t>
            </a:r>
            <a:endParaRPr sz="2000">
              <a:latin typeface="Arial"/>
              <a:cs typeface="Arial"/>
            </a:endParaRPr>
          </a:p>
        </p:txBody>
      </p:sp>
      <p:grpSp>
        <p:nvGrpSpPr>
          <p:cNvPr id="25" name="object 25" descr=""/>
          <p:cNvGrpSpPr/>
          <p:nvPr/>
        </p:nvGrpSpPr>
        <p:grpSpPr>
          <a:xfrm>
            <a:off x="3365644" y="4167795"/>
            <a:ext cx="2521585" cy="494030"/>
            <a:chOff x="3365644" y="4167795"/>
            <a:chExt cx="2521585" cy="494030"/>
          </a:xfrm>
        </p:grpSpPr>
        <p:sp>
          <p:nvSpPr>
            <p:cNvPr id="26" name="object 26" descr=""/>
            <p:cNvSpPr/>
            <p:nvPr/>
          </p:nvSpPr>
          <p:spPr>
            <a:xfrm>
              <a:off x="3378344" y="4180495"/>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2"/>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DCDDA">
                <a:alpha val="90194"/>
              </a:srgbClr>
            </a:solidFill>
          </p:spPr>
          <p:txBody>
            <a:bodyPr wrap="square" lIns="0" tIns="0" rIns="0" bIns="0" rtlCol="0"/>
            <a:lstStyle/>
            <a:p/>
          </p:txBody>
        </p:sp>
        <p:sp>
          <p:nvSpPr>
            <p:cNvPr id="27" name="object 27" descr=""/>
            <p:cNvSpPr/>
            <p:nvPr/>
          </p:nvSpPr>
          <p:spPr>
            <a:xfrm>
              <a:off x="3378344" y="4180495"/>
              <a:ext cx="2496185" cy="468630"/>
            </a:xfrm>
            <a:custGeom>
              <a:avLst/>
              <a:gdLst/>
              <a:ahLst/>
              <a:cxnLst/>
              <a:rect l="l" t="t" r="r" b="b"/>
              <a:pathLst>
                <a:path w="2496185" h="468629">
                  <a:moveTo>
                    <a:pt x="2495892" y="78092"/>
                  </a:moveTo>
                  <a:lnTo>
                    <a:pt x="2495892" y="390423"/>
                  </a:lnTo>
                  <a:lnTo>
                    <a:pt x="2489756" y="420820"/>
                  </a:lnTo>
                  <a:lnTo>
                    <a:pt x="2473020" y="445642"/>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DCDDA"/>
              </a:solidFill>
            </a:ln>
          </p:spPr>
          <p:txBody>
            <a:bodyPr wrap="square" lIns="0" tIns="0" rIns="0" bIns="0" rtlCol="0"/>
            <a:lstStyle/>
            <a:p/>
          </p:txBody>
        </p:sp>
      </p:grpSp>
      <p:sp>
        <p:nvSpPr>
          <p:cNvPr id="28" name="object 28" descr=""/>
          <p:cNvSpPr txBox="1"/>
          <p:nvPr/>
        </p:nvSpPr>
        <p:spPr>
          <a:xfrm>
            <a:off x="3613301" y="1811342"/>
            <a:ext cx="1824989" cy="2807970"/>
          </a:xfrm>
          <a:prstGeom prst="rect">
            <a:avLst/>
          </a:prstGeom>
        </p:spPr>
        <p:txBody>
          <a:bodyPr wrap="square" lIns="0" tIns="12700" rIns="0" bIns="0" rtlCol="0" vert="horz">
            <a:spAutoFit/>
          </a:bodyPr>
          <a:lstStyle/>
          <a:p>
            <a:pPr marL="185420" indent="-172720">
              <a:lnSpc>
                <a:spcPct val="100000"/>
              </a:lnSpc>
              <a:spcBef>
                <a:spcPts val="100"/>
              </a:spcBef>
              <a:buFont typeface="Arial MT"/>
              <a:buChar char="•"/>
              <a:tabLst>
                <a:tab pos="185420" algn="l"/>
              </a:tabLst>
            </a:pPr>
            <a:r>
              <a:rPr dirty="0" sz="1600" spc="-10" b="1">
                <a:latin typeface="Microsoft YaHei"/>
                <a:cs typeface="Microsoft YaHei"/>
              </a:rPr>
              <a:t>信息量巨大</a:t>
            </a:r>
            <a:endParaRPr sz="1600">
              <a:latin typeface="Microsoft YaHei"/>
              <a:cs typeface="Microsoft YaHei"/>
            </a:endParaRPr>
          </a:p>
          <a:p>
            <a:pPr marL="185420" indent="-172720">
              <a:lnSpc>
                <a:spcPct val="100000"/>
              </a:lnSpc>
              <a:spcBef>
                <a:spcPts val="1685"/>
              </a:spcBef>
              <a:buFont typeface="Arial MT"/>
              <a:buChar char="•"/>
              <a:tabLst>
                <a:tab pos="185420" algn="l"/>
              </a:tabLst>
            </a:pPr>
            <a:r>
              <a:rPr dirty="0" sz="1600" spc="-10" b="1">
                <a:latin typeface="Microsoft YaHei"/>
                <a:cs typeface="Microsoft YaHei"/>
              </a:rPr>
              <a:t>上下行信息速率高</a:t>
            </a:r>
            <a:endParaRPr sz="1600">
              <a:latin typeface="Microsoft YaHei"/>
              <a:cs typeface="Microsoft YaHei"/>
            </a:endParaRPr>
          </a:p>
          <a:p>
            <a:pPr marL="185420" indent="-172720">
              <a:lnSpc>
                <a:spcPct val="100000"/>
              </a:lnSpc>
              <a:spcBef>
                <a:spcPts val="140"/>
              </a:spcBef>
              <a:buFont typeface="Arial MT"/>
              <a:buChar char="•"/>
              <a:tabLst>
                <a:tab pos="185420" algn="l"/>
              </a:tabLst>
            </a:pPr>
            <a:r>
              <a:rPr dirty="0" sz="1600" spc="-10" b="1">
                <a:latin typeface="Microsoft YaHei"/>
                <a:cs typeface="Microsoft YaHei"/>
              </a:rPr>
              <a:t>对延迟极为敏感</a:t>
            </a:r>
            <a:endParaRPr sz="1600">
              <a:latin typeface="Microsoft YaHei"/>
              <a:cs typeface="Microsoft YaHei"/>
            </a:endParaRPr>
          </a:p>
          <a:p>
            <a:pPr marL="185420" indent="-172720">
              <a:lnSpc>
                <a:spcPts val="1855"/>
              </a:lnSpc>
              <a:spcBef>
                <a:spcPts val="930"/>
              </a:spcBef>
              <a:buFont typeface="Arial MT"/>
              <a:buChar char="•"/>
              <a:tabLst>
                <a:tab pos="185420" algn="l"/>
              </a:tabLst>
            </a:pPr>
            <a:r>
              <a:rPr dirty="0" sz="1600" spc="-10" b="1">
                <a:latin typeface="Microsoft YaHei"/>
                <a:cs typeface="Microsoft YaHei"/>
              </a:rPr>
              <a:t>上下行信息速率高</a:t>
            </a:r>
            <a:endParaRPr sz="1600">
              <a:latin typeface="Microsoft YaHei"/>
              <a:cs typeface="Microsoft YaHei"/>
            </a:endParaRPr>
          </a:p>
          <a:p>
            <a:pPr marL="185420" indent="-172720">
              <a:lnSpc>
                <a:spcPts val="1855"/>
              </a:lnSpc>
              <a:buFont typeface="Arial MT"/>
              <a:buChar char="•"/>
              <a:tabLst>
                <a:tab pos="185420" algn="l"/>
              </a:tabLst>
            </a:pPr>
            <a:r>
              <a:rPr dirty="0" sz="1600" spc="-10" b="1">
                <a:latin typeface="Microsoft YaHei"/>
                <a:cs typeface="Microsoft YaHei"/>
              </a:rPr>
              <a:t>对延迟极为敏感</a:t>
            </a:r>
            <a:endParaRPr sz="1600">
              <a:latin typeface="Microsoft YaHei"/>
              <a:cs typeface="Microsoft YaHei"/>
            </a:endParaRPr>
          </a:p>
          <a:p>
            <a:pPr marL="185420" indent="-172720">
              <a:lnSpc>
                <a:spcPts val="1855"/>
              </a:lnSpc>
              <a:spcBef>
                <a:spcPts val="1130"/>
              </a:spcBef>
              <a:buFont typeface="Arial MT"/>
              <a:buChar char="•"/>
              <a:tabLst>
                <a:tab pos="185420" algn="l"/>
              </a:tabLst>
            </a:pPr>
            <a:r>
              <a:rPr dirty="0" sz="1600" spc="-10" b="1">
                <a:latin typeface="Microsoft YaHei"/>
                <a:cs typeface="Microsoft YaHei"/>
              </a:rPr>
              <a:t>大量小数据包交互</a:t>
            </a:r>
            <a:endParaRPr sz="1600">
              <a:latin typeface="Microsoft YaHei"/>
              <a:cs typeface="Microsoft YaHei"/>
            </a:endParaRPr>
          </a:p>
          <a:p>
            <a:pPr marL="185420" indent="-172720">
              <a:lnSpc>
                <a:spcPts val="1855"/>
              </a:lnSpc>
              <a:buFont typeface="Arial MT"/>
              <a:buChar char="•"/>
              <a:tabLst>
                <a:tab pos="185420" algn="l"/>
              </a:tabLst>
            </a:pPr>
            <a:r>
              <a:rPr dirty="0" sz="1600" spc="-10" b="1">
                <a:latin typeface="Microsoft YaHei"/>
                <a:cs typeface="Microsoft YaHei"/>
              </a:rPr>
              <a:t>信令资源大量消耗</a:t>
            </a:r>
            <a:endParaRPr sz="1600">
              <a:latin typeface="Microsoft YaHei"/>
              <a:cs typeface="Microsoft YaHei"/>
            </a:endParaRPr>
          </a:p>
          <a:p>
            <a:pPr marL="185420" indent="-172720">
              <a:lnSpc>
                <a:spcPts val="1855"/>
              </a:lnSpc>
              <a:spcBef>
                <a:spcPts val="1135"/>
              </a:spcBef>
              <a:buFont typeface="Arial MT"/>
              <a:buChar char="•"/>
              <a:tabLst>
                <a:tab pos="185420" algn="l"/>
              </a:tabLst>
            </a:pPr>
            <a:r>
              <a:rPr dirty="0" sz="1600" spc="-10" b="1">
                <a:latin typeface="Microsoft YaHei"/>
                <a:cs typeface="Microsoft YaHei"/>
              </a:rPr>
              <a:t>超高速移动</a:t>
            </a:r>
            <a:endParaRPr sz="1600">
              <a:latin typeface="Microsoft YaHei"/>
              <a:cs typeface="Microsoft YaHei"/>
            </a:endParaRPr>
          </a:p>
          <a:p>
            <a:pPr marL="185420" indent="-172720">
              <a:lnSpc>
                <a:spcPts val="1855"/>
              </a:lnSpc>
              <a:buFont typeface="Arial MT"/>
              <a:buChar char="•"/>
              <a:tabLst>
                <a:tab pos="185420" algn="l"/>
              </a:tabLst>
            </a:pPr>
            <a:r>
              <a:rPr dirty="0" sz="1600" spc="-10" b="1">
                <a:latin typeface="Microsoft YaHei"/>
                <a:cs typeface="Microsoft YaHei"/>
              </a:rPr>
              <a:t>超密集用户分布</a:t>
            </a:r>
            <a:endParaRPr sz="1600">
              <a:latin typeface="Microsoft YaHei"/>
              <a:cs typeface="Microsoft YaHei"/>
            </a:endParaRPr>
          </a:p>
        </p:txBody>
      </p:sp>
      <p:grpSp>
        <p:nvGrpSpPr>
          <p:cNvPr id="29" name="object 29" descr=""/>
          <p:cNvGrpSpPr/>
          <p:nvPr/>
        </p:nvGrpSpPr>
        <p:grpSpPr>
          <a:xfrm>
            <a:off x="248055" y="4109233"/>
            <a:ext cx="3143250" cy="611505"/>
            <a:chOff x="248055" y="4109233"/>
            <a:chExt cx="3143250" cy="611505"/>
          </a:xfrm>
        </p:grpSpPr>
        <p:sp>
          <p:nvSpPr>
            <p:cNvPr id="30" name="object 30" descr=""/>
            <p:cNvSpPr/>
            <p:nvPr/>
          </p:nvSpPr>
          <p:spPr>
            <a:xfrm>
              <a:off x="260755" y="4121933"/>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2D2D8A"/>
            </a:solidFill>
          </p:spPr>
          <p:txBody>
            <a:bodyPr wrap="square" lIns="0" tIns="0" rIns="0" bIns="0" rtlCol="0"/>
            <a:lstStyle/>
            <a:p/>
          </p:txBody>
        </p:sp>
        <p:sp>
          <p:nvSpPr>
            <p:cNvPr id="31" name="object 31" descr=""/>
            <p:cNvSpPr/>
            <p:nvPr/>
          </p:nvSpPr>
          <p:spPr>
            <a:xfrm>
              <a:off x="260755" y="4121933"/>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32" name="object 32" descr=""/>
          <p:cNvSpPr txBox="1"/>
          <p:nvPr/>
        </p:nvSpPr>
        <p:spPr>
          <a:xfrm>
            <a:off x="791613" y="4238702"/>
            <a:ext cx="2055495" cy="330200"/>
          </a:xfrm>
          <a:prstGeom prst="rect">
            <a:avLst/>
          </a:prstGeom>
        </p:spPr>
        <p:txBody>
          <a:bodyPr wrap="square" lIns="0" tIns="12065" rIns="0" bIns="0" rtlCol="0" vert="horz">
            <a:spAutoFit/>
          </a:bodyPr>
          <a:lstStyle/>
          <a:p>
            <a:pPr marL="12700">
              <a:lnSpc>
                <a:spcPct val="100000"/>
              </a:lnSpc>
              <a:spcBef>
                <a:spcPts val="95"/>
              </a:spcBef>
            </a:pPr>
            <a:r>
              <a:rPr dirty="0" sz="2000" spc="-25" b="1">
                <a:solidFill>
                  <a:srgbClr val="FFFFFF"/>
                </a:solidFill>
                <a:latin typeface="Microsoft YaHei"/>
                <a:cs typeface="Microsoft YaHei"/>
              </a:rPr>
              <a:t>极端场景业务体验</a:t>
            </a:r>
            <a:endParaRPr sz="2000">
              <a:latin typeface="Microsoft YaHei"/>
              <a:cs typeface="Microsoft YaHei"/>
            </a:endParaRPr>
          </a:p>
        </p:txBody>
      </p:sp>
      <p:grpSp>
        <p:nvGrpSpPr>
          <p:cNvPr id="33" name="object 33" descr=""/>
          <p:cNvGrpSpPr/>
          <p:nvPr/>
        </p:nvGrpSpPr>
        <p:grpSpPr>
          <a:xfrm>
            <a:off x="275844" y="1065276"/>
            <a:ext cx="2726690" cy="521970"/>
            <a:chOff x="275844" y="1065276"/>
            <a:chExt cx="2726690" cy="521970"/>
          </a:xfrm>
        </p:grpSpPr>
        <p:pic>
          <p:nvPicPr>
            <p:cNvPr id="34" name="object 34" descr=""/>
            <p:cNvPicPr/>
            <p:nvPr/>
          </p:nvPicPr>
          <p:blipFill>
            <a:blip r:embed="rId4" cstate="print"/>
            <a:stretch>
              <a:fillRect/>
            </a:stretch>
          </p:blipFill>
          <p:spPr>
            <a:xfrm>
              <a:off x="306324" y="1065276"/>
              <a:ext cx="2695955" cy="521969"/>
            </a:xfrm>
            <a:prstGeom prst="rect">
              <a:avLst/>
            </a:prstGeom>
          </p:spPr>
        </p:pic>
        <p:pic>
          <p:nvPicPr>
            <p:cNvPr id="35" name="object 35" descr=""/>
            <p:cNvPicPr/>
            <p:nvPr/>
          </p:nvPicPr>
          <p:blipFill>
            <a:blip r:embed="rId5" cstate="print"/>
            <a:stretch>
              <a:fillRect/>
            </a:stretch>
          </p:blipFill>
          <p:spPr>
            <a:xfrm>
              <a:off x="275844" y="1107198"/>
              <a:ext cx="2641091" cy="453377"/>
            </a:xfrm>
            <a:prstGeom prst="rect">
              <a:avLst/>
            </a:prstGeom>
          </p:spPr>
        </p:pic>
      </p:grpSp>
      <p:sp>
        <p:nvSpPr>
          <p:cNvPr id="36" name="object 36" descr=""/>
          <p:cNvSpPr txBox="1"/>
          <p:nvPr/>
        </p:nvSpPr>
        <p:spPr>
          <a:xfrm>
            <a:off x="331190" y="1090041"/>
            <a:ext cx="2592705" cy="418465"/>
          </a:xfrm>
          <a:prstGeom prst="rect">
            <a:avLst/>
          </a:prstGeom>
          <a:solidFill>
            <a:srgbClr val="00B0F0"/>
          </a:solidFill>
        </p:spPr>
        <p:txBody>
          <a:bodyPr wrap="square" lIns="0" tIns="97155" rIns="0" bIns="0" rtlCol="0" vert="horz">
            <a:spAutoFit/>
          </a:bodyPr>
          <a:lstStyle/>
          <a:p>
            <a:pPr marL="91440">
              <a:lnSpc>
                <a:spcPct val="100000"/>
              </a:lnSpc>
              <a:spcBef>
                <a:spcPts val="765"/>
              </a:spcBef>
            </a:pPr>
            <a:r>
              <a:rPr dirty="0" sz="1600" spc="-5" b="1">
                <a:latin typeface="Microsoft YaHei"/>
                <a:cs typeface="Microsoft YaHei"/>
              </a:rPr>
              <a:t>移动互联网新兴业务形态</a:t>
            </a:r>
            <a:endParaRPr sz="1600">
              <a:latin typeface="Microsoft YaHei"/>
              <a:cs typeface="Microsoft YaHei"/>
            </a:endParaRPr>
          </a:p>
        </p:txBody>
      </p:sp>
      <p:grpSp>
        <p:nvGrpSpPr>
          <p:cNvPr id="37" name="object 37" descr=""/>
          <p:cNvGrpSpPr/>
          <p:nvPr/>
        </p:nvGrpSpPr>
        <p:grpSpPr>
          <a:xfrm>
            <a:off x="475210" y="3554260"/>
            <a:ext cx="2520315" cy="502920"/>
            <a:chOff x="475210" y="3554260"/>
            <a:chExt cx="2520315" cy="502920"/>
          </a:xfrm>
        </p:grpSpPr>
        <p:pic>
          <p:nvPicPr>
            <p:cNvPr id="38" name="object 38"/>
            <p:cNvPicPr/>
            <p:nvPr/>
          </p:nvPicPr>
          <p:blipFill>
            <a:blip r:embed="rId6" cstate="print"/>
            <a:stretch>
              <a:fillRect/>
            </a:stretch>
          </p:blipFill>
          <p:spPr>
            <a:xfrm>
              <a:off x="475210" y="3554260"/>
              <a:ext cx="1080514" cy="502304"/>
            </a:xfrm>
            <a:prstGeom prst="rect">
              <a:avLst/>
            </a:prstGeom>
          </p:spPr>
        </p:pic>
        <p:pic>
          <p:nvPicPr>
            <p:cNvPr id="39" name="object 39"/>
            <p:cNvPicPr/>
            <p:nvPr/>
          </p:nvPicPr>
          <p:blipFill>
            <a:blip r:embed="rId7" cstate="print"/>
            <a:stretch>
              <a:fillRect/>
            </a:stretch>
          </p:blipFill>
          <p:spPr>
            <a:xfrm>
              <a:off x="2203400" y="3574796"/>
              <a:ext cx="792084" cy="445543"/>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50632" y="137034"/>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业务类型特点</a:t>
            </a:r>
          </a:p>
        </p:txBody>
      </p:sp>
      <p:grpSp>
        <p:nvGrpSpPr>
          <p:cNvPr id="3" name="object 3" descr=""/>
          <p:cNvGrpSpPr/>
          <p:nvPr/>
        </p:nvGrpSpPr>
        <p:grpSpPr>
          <a:xfrm>
            <a:off x="268224" y="978408"/>
            <a:ext cx="2235200" cy="521334"/>
            <a:chOff x="268224" y="978408"/>
            <a:chExt cx="2235200" cy="521334"/>
          </a:xfrm>
        </p:grpSpPr>
        <p:pic>
          <p:nvPicPr>
            <p:cNvPr id="4" name="object 4" descr=""/>
            <p:cNvPicPr/>
            <p:nvPr/>
          </p:nvPicPr>
          <p:blipFill>
            <a:blip r:embed="rId2" cstate="print"/>
            <a:stretch>
              <a:fillRect/>
            </a:stretch>
          </p:blipFill>
          <p:spPr>
            <a:xfrm>
              <a:off x="298703" y="978408"/>
              <a:ext cx="2191511" cy="521207"/>
            </a:xfrm>
            <a:prstGeom prst="rect">
              <a:avLst/>
            </a:prstGeom>
          </p:spPr>
        </p:pic>
        <p:pic>
          <p:nvPicPr>
            <p:cNvPr id="5" name="object 5" descr=""/>
            <p:cNvPicPr/>
            <p:nvPr/>
          </p:nvPicPr>
          <p:blipFill>
            <a:blip r:embed="rId3" cstate="print"/>
            <a:stretch>
              <a:fillRect/>
            </a:stretch>
          </p:blipFill>
          <p:spPr>
            <a:xfrm>
              <a:off x="268224" y="1020330"/>
              <a:ext cx="2234945" cy="453377"/>
            </a:xfrm>
            <a:prstGeom prst="rect">
              <a:avLst/>
            </a:prstGeom>
          </p:spPr>
        </p:pic>
      </p:grpSp>
      <p:sp>
        <p:nvSpPr>
          <p:cNvPr id="6" name="object 6" descr=""/>
          <p:cNvSpPr txBox="1"/>
          <p:nvPr/>
        </p:nvSpPr>
        <p:spPr>
          <a:xfrm>
            <a:off x="323532" y="1002931"/>
            <a:ext cx="2088514" cy="418465"/>
          </a:xfrm>
          <a:prstGeom prst="rect">
            <a:avLst/>
          </a:prstGeom>
          <a:solidFill>
            <a:srgbClr val="00B0F0"/>
          </a:solidFill>
        </p:spPr>
        <p:txBody>
          <a:bodyPr wrap="square" lIns="0" tIns="97155" rIns="0" bIns="0" rtlCol="0" vert="horz">
            <a:spAutoFit/>
          </a:bodyPr>
          <a:lstStyle/>
          <a:p>
            <a:pPr marL="90805">
              <a:lnSpc>
                <a:spcPct val="100000"/>
              </a:lnSpc>
              <a:spcBef>
                <a:spcPts val="765"/>
              </a:spcBef>
            </a:pPr>
            <a:r>
              <a:rPr dirty="0" sz="1600" spc="-10" b="1">
                <a:latin typeface="Microsoft YaHei"/>
                <a:cs typeface="Microsoft YaHei"/>
              </a:rPr>
              <a:t>移动物联网典型业务</a:t>
            </a:r>
            <a:endParaRPr sz="1600">
              <a:latin typeface="Microsoft YaHei"/>
              <a:cs typeface="Microsoft YaHei"/>
            </a:endParaRPr>
          </a:p>
        </p:txBody>
      </p:sp>
      <p:pic>
        <p:nvPicPr>
          <p:cNvPr id="7" name="object 7"/>
          <p:cNvPicPr/>
          <p:nvPr/>
        </p:nvPicPr>
        <p:blipFill>
          <a:blip r:embed="rId4" cstate="print"/>
          <a:stretch>
            <a:fillRect/>
          </a:stretch>
        </p:blipFill>
        <p:spPr>
          <a:xfrm>
            <a:off x="6191672" y="2202257"/>
            <a:ext cx="2952315" cy="1582989"/>
          </a:xfrm>
          <a:prstGeom prst="rect">
            <a:avLst/>
          </a:prstGeom>
        </p:spPr>
      </p:pic>
      <p:grpSp>
        <p:nvGrpSpPr>
          <p:cNvPr id="8" name="object 8" descr=""/>
          <p:cNvGrpSpPr/>
          <p:nvPr/>
        </p:nvGrpSpPr>
        <p:grpSpPr>
          <a:xfrm>
            <a:off x="3501995" y="1547379"/>
            <a:ext cx="2521585" cy="494030"/>
            <a:chOff x="3501995" y="1547379"/>
            <a:chExt cx="2521585" cy="494030"/>
          </a:xfrm>
        </p:grpSpPr>
        <p:sp>
          <p:nvSpPr>
            <p:cNvPr id="9" name="object 9" descr=""/>
            <p:cNvSpPr/>
            <p:nvPr/>
          </p:nvSpPr>
          <p:spPr>
            <a:xfrm>
              <a:off x="3514695" y="1560079"/>
              <a:ext cx="2496185" cy="468630"/>
            </a:xfrm>
            <a:custGeom>
              <a:avLst/>
              <a:gdLst/>
              <a:ahLst/>
              <a:cxnLst/>
              <a:rect l="l" t="t" r="r" b="b"/>
              <a:pathLst>
                <a:path w="2496185" h="468630">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DCDDE">
                <a:alpha val="90194"/>
              </a:srgbClr>
            </a:solidFill>
          </p:spPr>
          <p:txBody>
            <a:bodyPr wrap="square" lIns="0" tIns="0" rIns="0" bIns="0" rtlCol="0"/>
            <a:lstStyle/>
            <a:p/>
          </p:txBody>
        </p:sp>
        <p:sp>
          <p:nvSpPr>
            <p:cNvPr id="10" name="object 10" descr=""/>
            <p:cNvSpPr/>
            <p:nvPr/>
          </p:nvSpPr>
          <p:spPr>
            <a:xfrm>
              <a:off x="3514695" y="1560079"/>
              <a:ext cx="2496185" cy="468630"/>
            </a:xfrm>
            <a:custGeom>
              <a:avLst/>
              <a:gdLst/>
              <a:ahLst/>
              <a:cxnLst/>
              <a:rect l="l" t="t" r="r" b="b"/>
              <a:pathLst>
                <a:path w="2496185" h="468630">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DCDDE"/>
              </a:solidFill>
            </a:ln>
          </p:spPr>
          <p:txBody>
            <a:bodyPr wrap="square" lIns="0" tIns="0" rIns="0" bIns="0" rtlCol="0"/>
            <a:lstStyle/>
            <a:p/>
          </p:txBody>
        </p:sp>
      </p:grpSp>
      <p:sp>
        <p:nvSpPr>
          <p:cNvPr id="11" name="object 11" descr=""/>
          <p:cNvSpPr txBox="1"/>
          <p:nvPr/>
        </p:nvSpPr>
        <p:spPr>
          <a:xfrm>
            <a:off x="3749652" y="1501857"/>
            <a:ext cx="1824989" cy="497205"/>
          </a:xfrm>
          <a:prstGeom prst="rect">
            <a:avLst/>
          </a:prstGeom>
        </p:spPr>
        <p:txBody>
          <a:bodyPr wrap="square" lIns="0" tIns="12700" rIns="0" bIns="0" rtlCol="0" vert="horz">
            <a:spAutoFit/>
          </a:bodyPr>
          <a:lstStyle/>
          <a:p>
            <a:pPr marL="185420" indent="-172720">
              <a:lnSpc>
                <a:spcPts val="1855"/>
              </a:lnSpc>
              <a:spcBef>
                <a:spcPts val="100"/>
              </a:spcBef>
              <a:buFont typeface="Arial MT"/>
              <a:buChar char="•"/>
              <a:tabLst>
                <a:tab pos="185420" algn="l"/>
              </a:tabLst>
            </a:pPr>
            <a:r>
              <a:rPr dirty="0" sz="1600" spc="-10" b="1">
                <a:latin typeface="Microsoft YaHei"/>
                <a:cs typeface="Microsoft YaHei"/>
              </a:rPr>
              <a:t>海量设备连接</a:t>
            </a:r>
            <a:endParaRPr sz="1600">
              <a:latin typeface="Microsoft YaHei"/>
              <a:cs typeface="Microsoft YaHei"/>
            </a:endParaRPr>
          </a:p>
          <a:p>
            <a:pPr marL="185420" indent="-172720">
              <a:lnSpc>
                <a:spcPts val="1855"/>
              </a:lnSpc>
              <a:buFont typeface="Arial MT"/>
              <a:buChar char="•"/>
              <a:tabLst>
                <a:tab pos="185420" algn="l"/>
              </a:tabLst>
            </a:pPr>
            <a:r>
              <a:rPr dirty="0" sz="1600" spc="-10" b="1">
                <a:latin typeface="Microsoft YaHei"/>
                <a:cs typeface="Microsoft YaHei"/>
              </a:rPr>
              <a:t>大量小数据包频发</a:t>
            </a:r>
            <a:endParaRPr sz="1600">
              <a:latin typeface="Microsoft YaHei"/>
              <a:cs typeface="Microsoft YaHei"/>
            </a:endParaRPr>
          </a:p>
        </p:txBody>
      </p:sp>
      <p:grpSp>
        <p:nvGrpSpPr>
          <p:cNvPr id="12" name="object 12" descr=""/>
          <p:cNvGrpSpPr/>
          <p:nvPr/>
        </p:nvGrpSpPr>
        <p:grpSpPr>
          <a:xfrm>
            <a:off x="384406" y="1488814"/>
            <a:ext cx="3143250" cy="611505"/>
            <a:chOff x="384406" y="1488814"/>
            <a:chExt cx="3143250" cy="611505"/>
          </a:xfrm>
        </p:grpSpPr>
        <p:sp>
          <p:nvSpPr>
            <p:cNvPr id="13" name="object 13" descr=""/>
            <p:cNvSpPr/>
            <p:nvPr/>
          </p:nvSpPr>
          <p:spPr>
            <a:xfrm>
              <a:off x="397106" y="1501514"/>
              <a:ext cx="3117850" cy="586105"/>
            </a:xfrm>
            <a:custGeom>
              <a:avLst/>
              <a:gdLst/>
              <a:ahLst/>
              <a:cxnLst/>
              <a:rect l="l" t="t" r="r" b="b"/>
              <a:pathLst>
                <a:path w="3117850" h="586105">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333399"/>
            </a:solidFill>
          </p:spPr>
          <p:txBody>
            <a:bodyPr wrap="square" lIns="0" tIns="0" rIns="0" bIns="0" rtlCol="0"/>
            <a:lstStyle/>
            <a:p/>
          </p:txBody>
        </p:sp>
        <p:sp>
          <p:nvSpPr>
            <p:cNvPr id="14" name="object 14" descr=""/>
            <p:cNvSpPr/>
            <p:nvPr/>
          </p:nvSpPr>
          <p:spPr>
            <a:xfrm>
              <a:off x="397106" y="1501514"/>
              <a:ext cx="3117850" cy="586105"/>
            </a:xfrm>
            <a:custGeom>
              <a:avLst/>
              <a:gdLst/>
              <a:ahLst/>
              <a:cxnLst/>
              <a:rect l="l" t="t" r="r" b="b"/>
              <a:pathLst>
                <a:path w="3117850" h="586105">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15" name="object 15" descr=""/>
          <p:cNvSpPr txBox="1"/>
          <p:nvPr/>
        </p:nvSpPr>
        <p:spPr>
          <a:xfrm>
            <a:off x="611734" y="1461174"/>
            <a:ext cx="2688590" cy="543560"/>
          </a:xfrm>
          <a:prstGeom prst="rect">
            <a:avLst/>
          </a:prstGeom>
        </p:spPr>
        <p:txBody>
          <a:bodyPr wrap="square" lIns="0" tIns="12700" rIns="0" bIns="0" rtlCol="0" vert="horz">
            <a:spAutoFit/>
          </a:bodyPr>
          <a:lstStyle/>
          <a:p>
            <a:pPr marL="544830" marR="5080" indent="-532765">
              <a:lnSpc>
                <a:spcPct val="121400"/>
              </a:lnSpc>
              <a:spcBef>
                <a:spcPts val="100"/>
              </a:spcBef>
            </a:pPr>
            <a:r>
              <a:rPr dirty="0" sz="1400" spc="-25" b="1">
                <a:solidFill>
                  <a:srgbClr val="FFFFFF"/>
                </a:solidFill>
                <a:latin typeface="Microsoft YaHei"/>
                <a:cs typeface="Microsoft YaHei"/>
              </a:rPr>
              <a:t>智能家居、智能电网、环境监测、智能农业和智能抄表</a:t>
            </a:r>
            <a:endParaRPr sz="1400">
              <a:latin typeface="Microsoft YaHei"/>
              <a:cs typeface="Microsoft YaHei"/>
            </a:endParaRPr>
          </a:p>
        </p:txBody>
      </p:sp>
      <p:grpSp>
        <p:nvGrpSpPr>
          <p:cNvPr id="16" name="object 16" descr=""/>
          <p:cNvGrpSpPr/>
          <p:nvPr/>
        </p:nvGrpSpPr>
        <p:grpSpPr>
          <a:xfrm>
            <a:off x="397106" y="2116435"/>
            <a:ext cx="5626735" cy="1155065"/>
            <a:chOff x="397106" y="2116435"/>
            <a:chExt cx="5626735" cy="1155065"/>
          </a:xfrm>
        </p:grpSpPr>
        <p:sp>
          <p:nvSpPr>
            <p:cNvPr id="17" name="object 17" descr=""/>
            <p:cNvSpPr/>
            <p:nvPr/>
          </p:nvSpPr>
          <p:spPr>
            <a:xfrm>
              <a:off x="397106" y="2116435"/>
              <a:ext cx="3117850" cy="586105"/>
            </a:xfrm>
            <a:custGeom>
              <a:avLst/>
              <a:gdLst/>
              <a:ahLst/>
              <a:cxnLst/>
              <a:rect l="l" t="t" r="r" b="b"/>
              <a:pathLst>
                <a:path w="3117850" h="586105">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FFFF00"/>
            </a:solidFill>
          </p:spPr>
          <p:txBody>
            <a:bodyPr wrap="square" lIns="0" tIns="0" rIns="0" bIns="0" rtlCol="0"/>
            <a:lstStyle/>
            <a:p/>
          </p:txBody>
        </p:sp>
        <p:sp>
          <p:nvSpPr>
            <p:cNvPr id="18" name="object 18" descr=""/>
            <p:cNvSpPr/>
            <p:nvPr/>
          </p:nvSpPr>
          <p:spPr>
            <a:xfrm>
              <a:off x="3514695" y="2789919"/>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CCCCC">
                <a:alpha val="90194"/>
              </a:srgbClr>
            </a:solidFill>
          </p:spPr>
          <p:txBody>
            <a:bodyPr wrap="square" lIns="0" tIns="0" rIns="0" bIns="0" rtlCol="0"/>
            <a:lstStyle/>
            <a:p/>
          </p:txBody>
        </p:sp>
        <p:sp>
          <p:nvSpPr>
            <p:cNvPr id="19" name="object 19" descr=""/>
            <p:cNvSpPr/>
            <p:nvPr/>
          </p:nvSpPr>
          <p:spPr>
            <a:xfrm>
              <a:off x="3514695" y="2789919"/>
              <a:ext cx="2496185" cy="468630"/>
            </a:xfrm>
            <a:custGeom>
              <a:avLst/>
              <a:gdLst/>
              <a:ahLst/>
              <a:cxnLst/>
              <a:rect l="l" t="t" r="r" b="b"/>
              <a:pathLst>
                <a:path w="2496185" h="468629">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CCCCC"/>
              </a:solidFill>
            </a:ln>
          </p:spPr>
          <p:txBody>
            <a:bodyPr wrap="square" lIns="0" tIns="0" rIns="0" bIns="0" rtlCol="0"/>
            <a:lstStyle/>
            <a:p/>
          </p:txBody>
        </p:sp>
      </p:grpSp>
      <p:sp>
        <p:nvSpPr>
          <p:cNvPr id="20" name="object 20" descr=""/>
          <p:cNvSpPr txBox="1"/>
          <p:nvPr/>
        </p:nvSpPr>
        <p:spPr>
          <a:xfrm>
            <a:off x="3749652" y="2265526"/>
            <a:ext cx="1936750" cy="963294"/>
          </a:xfrm>
          <a:prstGeom prst="rect">
            <a:avLst/>
          </a:prstGeom>
        </p:spPr>
        <p:txBody>
          <a:bodyPr wrap="square" lIns="0" tIns="12700" rIns="0" bIns="0" rtlCol="0" vert="horz">
            <a:spAutoFit/>
          </a:bodyPr>
          <a:lstStyle/>
          <a:p>
            <a:pPr marL="185420" indent="-172720">
              <a:lnSpc>
                <a:spcPct val="100000"/>
              </a:lnSpc>
              <a:spcBef>
                <a:spcPts val="100"/>
              </a:spcBef>
              <a:buFont typeface="Arial MT"/>
              <a:buChar char="•"/>
              <a:tabLst>
                <a:tab pos="185420" algn="l"/>
              </a:tabLst>
            </a:pPr>
            <a:r>
              <a:rPr dirty="0" sz="1600" spc="-10" b="1">
                <a:latin typeface="Microsoft YaHei"/>
                <a:cs typeface="Microsoft YaHei"/>
              </a:rPr>
              <a:t>上下行信息速率高</a:t>
            </a:r>
            <a:endParaRPr sz="1600">
              <a:latin typeface="Microsoft YaHei"/>
              <a:cs typeface="Microsoft YaHei"/>
            </a:endParaRPr>
          </a:p>
          <a:p>
            <a:pPr marL="185420" indent="-172720">
              <a:lnSpc>
                <a:spcPts val="1855"/>
              </a:lnSpc>
              <a:spcBef>
                <a:spcPts val="1750"/>
              </a:spcBef>
              <a:buFont typeface="Arial MT"/>
              <a:buChar char="•"/>
              <a:tabLst>
                <a:tab pos="185420" algn="l"/>
              </a:tabLst>
            </a:pPr>
            <a:r>
              <a:rPr dirty="0" sz="1600" spc="-10" b="1">
                <a:latin typeface="Microsoft YaHei"/>
                <a:cs typeface="Microsoft YaHei"/>
              </a:rPr>
              <a:t>毫秒级时延</a:t>
            </a:r>
            <a:endParaRPr sz="1600">
              <a:latin typeface="Microsoft YaHei"/>
              <a:cs typeface="Microsoft YaHei"/>
            </a:endParaRPr>
          </a:p>
          <a:p>
            <a:pPr marL="185420" indent="-172720">
              <a:lnSpc>
                <a:spcPts val="1855"/>
              </a:lnSpc>
              <a:buFont typeface="Arial MT"/>
              <a:buChar char="•"/>
              <a:tabLst>
                <a:tab pos="185420" algn="l"/>
              </a:tabLst>
            </a:pPr>
            <a:r>
              <a:rPr dirty="0" sz="1600" b="1">
                <a:latin typeface="Microsoft YaHei"/>
                <a:cs typeface="Microsoft YaHei"/>
              </a:rPr>
              <a:t>接近</a:t>
            </a:r>
            <a:r>
              <a:rPr dirty="0" sz="1600" spc="-10" b="1">
                <a:latin typeface="Arial"/>
                <a:cs typeface="Arial"/>
              </a:rPr>
              <a:t>100%</a:t>
            </a:r>
            <a:r>
              <a:rPr dirty="0" sz="1600" spc="-15" b="1">
                <a:latin typeface="Microsoft YaHei"/>
                <a:cs typeface="Microsoft YaHei"/>
              </a:rPr>
              <a:t>的可靠性</a:t>
            </a:r>
            <a:endParaRPr sz="1600">
              <a:latin typeface="Microsoft YaHei"/>
              <a:cs typeface="Microsoft YaHei"/>
            </a:endParaRPr>
          </a:p>
        </p:txBody>
      </p:sp>
      <p:grpSp>
        <p:nvGrpSpPr>
          <p:cNvPr id="21" name="object 21" descr=""/>
          <p:cNvGrpSpPr/>
          <p:nvPr/>
        </p:nvGrpSpPr>
        <p:grpSpPr>
          <a:xfrm>
            <a:off x="384406" y="2718655"/>
            <a:ext cx="3143250" cy="611505"/>
            <a:chOff x="384406" y="2718655"/>
            <a:chExt cx="3143250" cy="611505"/>
          </a:xfrm>
        </p:grpSpPr>
        <p:sp>
          <p:nvSpPr>
            <p:cNvPr id="22" name="object 22" descr=""/>
            <p:cNvSpPr/>
            <p:nvPr/>
          </p:nvSpPr>
          <p:spPr>
            <a:xfrm>
              <a:off x="397106" y="2731355"/>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CC6600"/>
            </a:solidFill>
          </p:spPr>
          <p:txBody>
            <a:bodyPr wrap="square" lIns="0" tIns="0" rIns="0" bIns="0" rtlCol="0"/>
            <a:lstStyle/>
            <a:p/>
          </p:txBody>
        </p:sp>
        <p:sp>
          <p:nvSpPr>
            <p:cNvPr id="23" name="object 23" descr=""/>
            <p:cNvSpPr/>
            <p:nvPr/>
          </p:nvSpPr>
          <p:spPr>
            <a:xfrm>
              <a:off x="397106" y="2731355"/>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24" name="object 24" descr=""/>
          <p:cNvSpPr txBox="1"/>
          <p:nvPr/>
        </p:nvSpPr>
        <p:spPr>
          <a:xfrm>
            <a:off x="801472" y="2233204"/>
            <a:ext cx="2309495" cy="944880"/>
          </a:xfrm>
          <a:prstGeom prst="rect">
            <a:avLst/>
          </a:prstGeom>
        </p:spPr>
        <p:txBody>
          <a:bodyPr wrap="square" lIns="0" tIns="12065" rIns="0" bIns="0" rtlCol="0" vert="horz">
            <a:spAutoFit/>
          </a:bodyPr>
          <a:lstStyle/>
          <a:p>
            <a:pPr marL="12700">
              <a:lnSpc>
                <a:spcPct val="100000"/>
              </a:lnSpc>
              <a:spcBef>
                <a:spcPts val="95"/>
              </a:spcBef>
            </a:pPr>
            <a:r>
              <a:rPr dirty="0" sz="2000" spc="-25" b="1">
                <a:latin typeface="Microsoft YaHei"/>
                <a:cs typeface="Microsoft YaHei"/>
              </a:rPr>
              <a:t>视频监控、移动医疗</a:t>
            </a:r>
            <a:endParaRPr sz="2000">
              <a:latin typeface="Microsoft YaHei"/>
              <a:cs typeface="Microsoft YaHei"/>
            </a:endParaRPr>
          </a:p>
          <a:p>
            <a:pPr marL="139065">
              <a:lnSpc>
                <a:spcPct val="100000"/>
              </a:lnSpc>
              <a:spcBef>
                <a:spcPts val="2445"/>
              </a:spcBef>
            </a:pPr>
            <a:r>
              <a:rPr dirty="0" sz="2000" spc="-25" b="1">
                <a:solidFill>
                  <a:srgbClr val="FFFFFF"/>
                </a:solidFill>
                <a:latin typeface="Microsoft YaHei"/>
                <a:cs typeface="Microsoft YaHei"/>
              </a:rPr>
              <a:t>车联网、工业控制</a:t>
            </a:r>
            <a:endParaRPr sz="2000">
              <a:latin typeface="Microsoft YaHei"/>
              <a:cs typeface="Microsoft YaHei"/>
            </a:endParaRPr>
          </a:p>
        </p:txBody>
      </p:sp>
      <p:grpSp>
        <p:nvGrpSpPr>
          <p:cNvPr id="25" name="object 25" descr=""/>
          <p:cNvGrpSpPr/>
          <p:nvPr/>
        </p:nvGrpSpPr>
        <p:grpSpPr>
          <a:xfrm>
            <a:off x="3501995" y="3392139"/>
            <a:ext cx="2521585" cy="494030"/>
            <a:chOff x="3501995" y="3392139"/>
            <a:chExt cx="2521585" cy="494030"/>
          </a:xfrm>
        </p:grpSpPr>
        <p:sp>
          <p:nvSpPr>
            <p:cNvPr id="26" name="object 26" descr=""/>
            <p:cNvSpPr/>
            <p:nvPr/>
          </p:nvSpPr>
          <p:spPr>
            <a:xfrm>
              <a:off x="3514695" y="3404839"/>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F1F8F9">
                <a:alpha val="90194"/>
              </a:srgbClr>
            </a:solidFill>
          </p:spPr>
          <p:txBody>
            <a:bodyPr wrap="square" lIns="0" tIns="0" rIns="0" bIns="0" rtlCol="0"/>
            <a:lstStyle/>
            <a:p/>
          </p:txBody>
        </p:sp>
        <p:sp>
          <p:nvSpPr>
            <p:cNvPr id="27" name="object 27" descr=""/>
            <p:cNvSpPr/>
            <p:nvPr/>
          </p:nvSpPr>
          <p:spPr>
            <a:xfrm>
              <a:off x="3514695" y="3404839"/>
              <a:ext cx="2496185" cy="468630"/>
            </a:xfrm>
            <a:custGeom>
              <a:avLst/>
              <a:gdLst/>
              <a:ahLst/>
              <a:cxnLst/>
              <a:rect l="l" t="t" r="r" b="b"/>
              <a:pathLst>
                <a:path w="2496185" h="468629">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F1F8F9"/>
              </a:solidFill>
            </a:ln>
          </p:spPr>
          <p:txBody>
            <a:bodyPr wrap="square" lIns="0" tIns="0" rIns="0" bIns="0" rtlCol="0"/>
            <a:lstStyle/>
            <a:p/>
          </p:txBody>
        </p:sp>
      </p:grpSp>
      <p:sp>
        <p:nvSpPr>
          <p:cNvPr id="28" name="object 28" descr=""/>
          <p:cNvSpPr txBox="1"/>
          <p:nvPr/>
        </p:nvSpPr>
        <p:spPr>
          <a:xfrm>
            <a:off x="3749652" y="3372780"/>
            <a:ext cx="1824989" cy="269875"/>
          </a:xfrm>
          <a:prstGeom prst="rect">
            <a:avLst/>
          </a:prstGeom>
        </p:spPr>
        <p:txBody>
          <a:bodyPr wrap="square" lIns="0" tIns="12700" rIns="0" bIns="0" rtlCol="0" vert="horz">
            <a:spAutoFit/>
          </a:bodyPr>
          <a:lstStyle/>
          <a:p>
            <a:pPr marL="185420" indent="-172720">
              <a:lnSpc>
                <a:spcPct val="100000"/>
              </a:lnSpc>
              <a:spcBef>
                <a:spcPts val="100"/>
              </a:spcBef>
              <a:buFont typeface="Arial MT"/>
              <a:buChar char="•"/>
              <a:tabLst>
                <a:tab pos="185420" algn="l"/>
              </a:tabLst>
            </a:pPr>
            <a:r>
              <a:rPr dirty="0" sz="1600" spc="-10" b="1">
                <a:latin typeface="Microsoft YaHei"/>
                <a:cs typeface="Microsoft YaHei"/>
              </a:rPr>
              <a:t>对移动网络覆盖能</a:t>
            </a:r>
            <a:endParaRPr sz="1600">
              <a:latin typeface="Microsoft YaHei"/>
              <a:cs typeface="Microsoft YaHei"/>
            </a:endParaRPr>
          </a:p>
        </p:txBody>
      </p:sp>
      <p:grpSp>
        <p:nvGrpSpPr>
          <p:cNvPr id="29" name="object 29" descr=""/>
          <p:cNvGrpSpPr/>
          <p:nvPr/>
        </p:nvGrpSpPr>
        <p:grpSpPr>
          <a:xfrm>
            <a:off x="384406" y="3333577"/>
            <a:ext cx="5639435" cy="1167765"/>
            <a:chOff x="384406" y="3333577"/>
            <a:chExt cx="5639435" cy="1167765"/>
          </a:xfrm>
        </p:grpSpPr>
        <p:sp>
          <p:nvSpPr>
            <p:cNvPr id="30" name="object 30" descr=""/>
            <p:cNvSpPr/>
            <p:nvPr/>
          </p:nvSpPr>
          <p:spPr>
            <a:xfrm>
              <a:off x="397106" y="3346277"/>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00B0F0"/>
            </a:solidFill>
          </p:spPr>
          <p:txBody>
            <a:bodyPr wrap="square" lIns="0" tIns="0" rIns="0" bIns="0" rtlCol="0"/>
            <a:lstStyle/>
            <a:p/>
          </p:txBody>
        </p:sp>
        <p:sp>
          <p:nvSpPr>
            <p:cNvPr id="31" name="object 31" descr=""/>
            <p:cNvSpPr/>
            <p:nvPr/>
          </p:nvSpPr>
          <p:spPr>
            <a:xfrm>
              <a:off x="397106" y="3346277"/>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sp>
          <p:nvSpPr>
            <p:cNvPr id="32" name="object 32" descr=""/>
            <p:cNvSpPr/>
            <p:nvPr/>
          </p:nvSpPr>
          <p:spPr>
            <a:xfrm>
              <a:off x="3514695" y="4019760"/>
              <a:ext cx="2496185" cy="468630"/>
            </a:xfrm>
            <a:custGeom>
              <a:avLst/>
              <a:gdLst/>
              <a:ahLst/>
              <a:cxnLst/>
              <a:rect l="l" t="t" r="r" b="b"/>
              <a:pathLst>
                <a:path w="2496185" h="468629">
                  <a:moveTo>
                    <a:pt x="2417800" y="0"/>
                  </a:moveTo>
                  <a:lnTo>
                    <a:pt x="0" y="0"/>
                  </a:lnTo>
                  <a:lnTo>
                    <a:pt x="0" y="468515"/>
                  </a:lnTo>
                  <a:lnTo>
                    <a:pt x="2417800" y="468515"/>
                  </a:lnTo>
                  <a:lnTo>
                    <a:pt x="2448197" y="462378"/>
                  </a:lnTo>
                  <a:lnTo>
                    <a:pt x="2473020" y="445643"/>
                  </a:lnTo>
                  <a:lnTo>
                    <a:pt x="2489756" y="420820"/>
                  </a:lnTo>
                  <a:lnTo>
                    <a:pt x="2495892" y="390423"/>
                  </a:lnTo>
                  <a:lnTo>
                    <a:pt x="2495892" y="78092"/>
                  </a:lnTo>
                  <a:lnTo>
                    <a:pt x="2489756" y="47695"/>
                  </a:lnTo>
                  <a:lnTo>
                    <a:pt x="2473020" y="22872"/>
                  </a:lnTo>
                  <a:lnTo>
                    <a:pt x="2448197" y="6136"/>
                  </a:lnTo>
                  <a:lnTo>
                    <a:pt x="2417800" y="0"/>
                  </a:lnTo>
                  <a:close/>
                </a:path>
              </a:pathLst>
            </a:custGeom>
            <a:solidFill>
              <a:srgbClr val="CDCDDA">
                <a:alpha val="90194"/>
              </a:srgbClr>
            </a:solidFill>
          </p:spPr>
          <p:txBody>
            <a:bodyPr wrap="square" lIns="0" tIns="0" rIns="0" bIns="0" rtlCol="0"/>
            <a:lstStyle/>
            <a:p/>
          </p:txBody>
        </p:sp>
        <p:sp>
          <p:nvSpPr>
            <p:cNvPr id="33" name="object 33" descr=""/>
            <p:cNvSpPr/>
            <p:nvPr/>
          </p:nvSpPr>
          <p:spPr>
            <a:xfrm>
              <a:off x="3514695" y="4019760"/>
              <a:ext cx="2496185" cy="468630"/>
            </a:xfrm>
            <a:custGeom>
              <a:avLst/>
              <a:gdLst/>
              <a:ahLst/>
              <a:cxnLst/>
              <a:rect l="l" t="t" r="r" b="b"/>
              <a:pathLst>
                <a:path w="2496185" h="468629">
                  <a:moveTo>
                    <a:pt x="2495892" y="78092"/>
                  </a:moveTo>
                  <a:lnTo>
                    <a:pt x="2495892" y="390423"/>
                  </a:lnTo>
                  <a:lnTo>
                    <a:pt x="2489756" y="420820"/>
                  </a:lnTo>
                  <a:lnTo>
                    <a:pt x="2473020" y="445643"/>
                  </a:lnTo>
                  <a:lnTo>
                    <a:pt x="2448197" y="462378"/>
                  </a:lnTo>
                  <a:lnTo>
                    <a:pt x="2417800" y="468515"/>
                  </a:lnTo>
                  <a:lnTo>
                    <a:pt x="0" y="468515"/>
                  </a:lnTo>
                  <a:lnTo>
                    <a:pt x="0" y="0"/>
                  </a:lnTo>
                  <a:lnTo>
                    <a:pt x="2417800" y="0"/>
                  </a:lnTo>
                  <a:lnTo>
                    <a:pt x="2448197" y="6136"/>
                  </a:lnTo>
                  <a:lnTo>
                    <a:pt x="2473020" y="22872"/>
                  </a:lnTo>
                  <a:lnTo>
                    <a:pt x="2489756" y="47695"/>
                  </a:lnTo>
                  <a:lnTo>
                    <a:pt x="2495892" y="78092"/>
                  </a:lnTo>
                  <a:close/>
                </a:path>
              </a:pathLst>
            </a:custGeom>
            <a:ln w="25400">
              <a:solidFill>
                <a:srgbClr val="CDCDDA"/>
              </a:solidFill>
            </a:ln>
          </p:spPr>
          <p:txBody>
            <a:bodyPr wrap="square" lIns="0" tIns="0" rIns="0" bIns="0" rtlCol="0"/>
            <a:lstStyle/>
            <a:p/>
          </p:txBody>
        </p:sp>
      </p:grpSp>
      <p:sp>
        <p:nvSpPr>
          <p:cNvPr id="34" name="object 34" descr=""/>
          <p:cNvSpPr txBox="1"/>
          <p:nvPr/>
        </p:nvSpPr>
        <p:spPr>
          <a:xfrm>
            <a:off x="3749652" y="3547344"/>
            <a:ext cx="1214755" cy="911225"/>
          </a:xfrm>
          <a:prstGeom prst="rect">
            <a:avLst/>
          </a:prstGeom>
        </p:spPr>
        <p:txBody>
          <a:bodyPr wrap="square" lIns="0" tIns="12700" rIns="0" bIns="0" rtlCol="0" vert="horz">
            <a:spAutoFit/>
          </a:bodyPr>
          <a:lstStyle/>
          <a:p>
            <a:pPr marL="184150">
              <a:lnSpc>
                <a:spcPct val="100000"/>
              </a:lnSpc>
              <a:spcBef>
                <a:spcPts val="100"/>
              </a:spcBef>
            </a:pPr>
            <a:r>
              <a:rPr dirty="0" sz="1600" spc="-10" b="1">
                <a:latin typeface="Microsoft YaHei"/>
                <a:cs typeface="Microsoft YaHei"/>
              </a:rPr>
              <a:t>力的新要求</a:t>
            </a:r>
            <a:endParaRPr sz="1600">
              <a:latin typeface="Microsoft YaHei"/>
              <a:cs typeface="Microsoft YaHei"/>
            </a:endParaRPr>
          </a:p>
          <a:p>
            <a:pPr marL="185420" indent="-172720">
              <a:lnSpc>
                <a:spcPts val="1855"/>
              </a:lnSpc>
              <a:spcBef>
                <a:spcPts val="1340"/>
              </a:spcBef>
              <a:buFont typeface="Arial MT"/>
              <a:buChar char="•"/>
              <a:tabLst>
                <a:tab pos="185420" algn="l"/>
              </a:tabLst>
            </a:pPr>
            <a:r>
              <a:rPr dirty="0" sz="1600" spc="-20" b="1">
                <a:latin typeface="Microsoft YaHei"/>
                <a:cs typeface="Microsoft YaHei"/>
              </a:rPr>
              <a:t>低成本</a:t>
            </a:r>
            <a:endParaRPr sz="1600">
              <a:latin typeface="Microsoft YaHei"/>
              <a:cs typeface="Microsoft YaHei"/>
            </a:endParaRPr>
          </a:p>
          <a:p>
            <a:pPr marL="185420" indent="-172720">
              <a:lnSpc>
                <a:spcPts val="1855"/>
              </a:lnSpc>
              <a:buFont typeface="Arial MT"/>
              <a:buChar char="•"/>
              <a:tabLst>
                <a:tab pos="185420" algn="l"/>
              </a:tabLst>
            </a:pPr>
            <a:r>
              <a:rPr dirty="0" sz="1600" spc="-20" b="1">
                <a:latin typeface="Microsoft YaHei"/>
                <a:cs typeface="Microsoft YaHei"/>
              </a:rPr>
              <a:t>低功耗</a:t>
            </a:r>
            <a:endParaRPr sz="1600">
              <a:latin typeface="Microsoft YaHei"/>
              <a:cs typeface="Microsoft YaHei"/>
            </a:endParaRPr>
          </a:p>
        </p:txBody>
      </p:sp>
      <p:grpSp>
        <p:nvGrpSpPr>
          <p:cNvPr id="35" name="object 35" descr=""/>
          <p:cNvGrpSpPr/>
          <p:nvPr/>
        </p:nvGrpSpPr>
        <p:grpSpPr>
          <a:xfrm>
            <a:off x="384406" y="3948497"/>
            <a:ext cx="3143250" cy="611505"/>
            <a:chOff x="384406" y="3948497"/>
            <a:chExt cx="3143250" cy="611505"/>
          </a:xfrm>
        </p:grpSpPr>
        <p:sp>
          <p:nvSpPr>
            <p:cNvPr id="36" name="object 36" descr=""/>
            <p:cNvSpPr/>
            <p:nvPr/>
          </p:nvSpPr>
          <p:spPr>
            <a:xfrm>
              <a:off x="397106" y="3961197"/>
              <a:ext cx="3117850" cy="586105"/>
            </a:xfrm>
            <a:custGeom>
              <a:avLst/>
              <a:gdLst/>
              <a:ahLst/>
              <a:cxnLst/>
              <a:rect l="l" t="t" r="r" b="b"/>
              <a:pathLst>
                <a:path w="3117850" h="586104">
                  <a:moveTo>
                    <a:pt x="3019983" y="0"/>
                  </a:moveTo>
                  <a:lnTo>
                    <a:pt x="97612" y="0"/>
                  </a:lnTo>
                  <a:lnTo>
                    <a:pt x="59616" y="7670"/>
                  </a:lnTo>
                  <a:lnTo>
                    <a:pt x="28589" y="28589"/>
                  </a:lnTo>
                  <a:lnTo>
                    <a:pt x="7670" y="59616"/>
                  </a:lnTo>
                  <a:lnTo>
                    <a:pt x="0" y="97612"/>
                  </a:lnTo>
                  <a:lnTo>
                    <a:pt x="0" y="488035"/>
                  </a:lnTo>
                  <a:lnTo>
                    <a:pt x="7670" y="526031"/>
                  </a:lnTo>
                  <a:lnTo>
                    <a:pt x="28589" y="557058"/>
                  </a:lnTo>
                  <a:lnTo>
                    <a:pt x="59616" y="577977"/>
                  </a:lnTo>
                  <a:lnTo>
                    <a:pt x="97612" y="585647"/>
                  </a:lnTo>
                  <a:lnTo>
                    <a:pt x="3019983" y="585647"/>
                  </a:lnTo>
                  <a:lnTo>
                    <a:pt x="3057979" y="577977"/>
                  </a:lnTo>
                  <a:lnTo>
                    <a:pt x="3089006" y="557058"/>
                  </a:lnTo>
                  <a:lnTo>
                    <a:pt x="3109925" y="526031"/>
                  </a:lnTo>
                  <a:lnTo>
                    <a:pt x="3117596" y="488035"/>
                  </a:lnTo>
                  <a:lnTo>
                    <a:pt x="3117596" y="97612"/>
                  </a:lnTo>
                  <a:lnTo>
                    <a:pt x="3109925" y="59616"/>
                  </a:lnTo>
                  <a:lnTo>
                    <a:pt x="3089006" y="28589"/>
                  </a:lnTo>
                  <a:lnTo>
                    <a:pt x="3057979" y="7670"/>
                  </a:lnTo>
                  <a:lnTo>
                    <a:pt x="3019983" y="0"/>
                  </a:lnTo>
                  <a:close/>
                </a:path>
              </a:pathLst>
            </a:custGeom>
            <a:solidFill>
              <a:srgbClr val="2D2D8A"/>
            </a:solidFill>
          </p:spPr>
          <p:txBody>
            <a:bodyPr wrap="square" lIns="0" tIns="0" rIns="0" bIns="0" rtlCol="0"/>
            <a:lstStyle/>
            <a:p/>
          </p:txBody>
        </p:sp>
        <p:sp>
          <p:nvSpPr>
            <p:cNvPr id="37" name="object 37" descr=""/>
            <p:cNvSpPr/>
            <p:nvPr/>
          </p:nvSpPr>
          <p:spPr>
            <a:xfrm>
              <a:off x="397106" y="3961197"/>
              <a:ext cx="3117850" cy="586105"/>
            </a:xfrm>
            <a:custGeom>
              <a:avLst/>
              <a:gdLst/>
              <a:ahLst/>
              <a:cxnLst/>
              <a:rect l="l" t="t" r="r" b="b"/>
              <a:pathLst>
                <a:path w="3117850" h="586104">
                  <a:moveTo>
                    <a:pt x="0" y="97612"/>
                  </a:moveTo>
                  <a:lnTo>
                    <a:pt x="7670" y="59616"/>
                  </a:lnTo>
                  <a:lnTo>
                    <a:pt x="28589" y="28589"/>
                  </a:lnTo>
                  <a:lnTo>
                    <a:pt x="59616" y="7670"/>
                  </a:lnTo>
                  <a:lnTo>
                    <a:pt x="97612" y="0"/>
                  </a:lnTo>
                  <a:lnTo>
                    <a:pt x="3019983" y="0"/>
                  </a:lnTo>
                  <a:lnTo>
                    <a:pt x="3057979" y="7670"/>
                  </a:lnTo>
                  <a:lnTo>
                    <a:pt x="3089006" y="28589"/>
                  </a:lnTo>
                  <a:lnTo>
                    <a:pt x="3109925" y="59616"/>
                  </a:lnTo>
                  <a:lnTo>
                    <a:pt x="3117596" y="97612"/>
                  </a:lnTo>
                  <a:lnTo>
                    <a:pt x="3117596" y="488035"/>
                  </a:lnTo>
                  <a:lnTo>
                    <a:pt x="3109925" y="526031"/>
                  </a:lnTo>
                  <a:lnTo>
                    <a:pt x="3089006" y="557058"/>
                  </a:lnTo>
                  <a:lnTo>
                    <a:pt x="3057979" y="577977"/>
                  </a:lnTo>
                  <a:lnTo>
                    <a:pt x="3019983" y="585647"/>
                  </a:lnTo>
                  <a:lnTo>
                    <a:pt x="97612" y="585647"/>
                  </a:lnTo>
                  <a:lnTo>
                    <a:pt x="59616" y="577977"/>
                  </a:lnTo>
                  <a:lnTo>
                    <a:pt x="28589" y="557058"/>
                  </a:lnTo>
                  <a:lnTo>
                    <a:pt x="7670" y="526031"/>
                  </a:lnTo>
                  <a:lnTo>
                    <a:pt x="0" y="488035"/>
                  </a:lnTo>
                  <a:lnTo>
                    <a:pt x="0" y="97612"/>
                  </a:lnTo>
                  <a:close/>
                </a:path>
              </a:pathLst>
            </a:custGeom>
            <a:ln w="25399">
              <a:solidFill>
                <a:srgbClr val="FFFFFF"/>
              </a:solidFill>
            </a:ln>
          </p:spPr>
          <p:txBody>
            <a:bodyPr wrap="square" lIns="0" tIns="0" rIns="0" bIns="0" rtlCol="0"/>
            <a:lstStyle/>
            <a:p/>
          </p:txBody>
        </p:sp>
      </p:grpSp>
      <p:sp>
        <p:nvSpPr>
          <p:cNvPr id="38" name="object 38" descr=""/>
          <p:cNvSpPr txBox="1"/>
          <p:nvPr/>
        </p:nvSpPr>
        <p:spPr>
          <a:xfrm>
            <a:off x="927964" y="3463045"/>
            <a:ext cx="2055495" cy="944880"/>
          </a:xfrm>
          <a:prstGeom prst="rect">
            <a:avLst/>
          </a:prstGeom>
        </p:spPr>
        <p:txBody>
          <a:bodyPr wrap="square" lIns="0" tIns="12065" rIns="0" bIns="0" rtlCol="0" vert="horz">
            <a:spAutoFit/>
          </a:bodyPr>
          <a:lstStyle/>
          <a:p>
            <a:pPr algn="ctr">
              <a:lnSpc>
                <a:spcPct val="100000"/>
              </a:lnSpc>
              <a:spcBef>
                <a:spcPts val="95"/>
              </a:spcBef>
            </a:pPr>
            <a:r>
              <a:rPr dirty="0" sz="2000" spc="-25" b="1">
                <a:solidFill>
                  <a:srgbClr val="FFFFFF"/>
                </a:solidFill>
                <a:latin typeface="Microsoft YaHei"/>
                <a:cs typeface="Microsoft YaHei"/>
              </a:rPr>
              <a:t>复杂环境中的部署</a:t>
            </a:r>
            <a:endParaRPr sz="2000">
              <a:latin typeface="Microsoft YaHei"/>
              <a:cs typeface="Microsoft YaHei"/>
            </a:endParaRPr>
          </a:p>
          <a:p>
            <a:pPr algn="ctr">
              <a:lnSpc>
                <a:spcPct val="100000"/>
              </a:lnSpc>
              <a:spcBef>
                <a:spcPts val="2445"/>
              </a:spcBef>
            </a:pPr>
            <a:r>
              <a:rPr dirty="0" sz="2000" spc="-25" b="1">
                <a:solidFill>
                  <a:srgbClr val="FFFFFF"/>
                </a:solidFill>
                <a:latin typeface="Microsoft YaHei"/>
                <a:cs typeface="Microsoft YaHei"/>
              </a:rPr>
              <a:t>超大规模部署</a:t>
            </a:r>
            <a:endParaRPr sz="2000">
              <a:latin typeface="Microsoft YaHei"/>
              <a:cs typeface="Microsoft Ya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7246" y="120357"/>
            <a:ext cx="58299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流类和会话类业务趋势及挑战</a:t>
            </a:r>
          </a:p>
        </p:txBody>
      </p:sp>
      <p:sp>
        <p:nvSpPr>
          <p:cNvPr id="3" name="object 3" descr=""/>
          <p:cNvSpPr/>
          <p:nvPr/>
        </p:nvSpPr>
        <p:spPr>
          <a:xfrm>
            <a:off x="1380921" y="3705872"/>
            <a:ext cx="2255520" cy="1235075"/>
          </a:xfrm>
          <a:custGeom>
            <a:avLst/>
            <a:gdLst/>
            <a:ahLst/>
            <a:cxnLst/>
            <a:rect l="l" t="t" r="r" b="b"/>
            <a:pathLst>
              <a:path w="2255520" h="1235075">
                <a:moveTo>
                  <a:pt x="2254973" y="0"/>
                </a:moveTo>
                <a:lnTo>
                  <a:pt x="0" y="0"/>
                </a:lnTo>
                <a:lnTo>
                  <a:pt x="0" y="1234948"/>
                </a:lnTo>
                <a:lnTo>
                  <a:pt x="2254973" y="1234948"/>
                </a:lnTo>
                <a:lnTo>
                  <a:pt x="2254973" y="0"/>
                </a:lnTo>
                <a:close/>
              </a:path>
            </a:pathLst>
          </a:custGeom>
          <a:solidFill>
            <a:srgbClr val="F1F9F9"/>
          </a:solidFill>
        </p:spPr>
        <p:txBody>
          <a:bodyPr wrap="square" lIns="0" tIns="0" rIns="0" bIns="0" rtlCol="0"/>
          <a:lstStyle/>
          <a:p/>
        </p:txBody>
      </p:sp>
      <p:sp>
        <p:nvSpPr>
          <p:cNvPr id="4" name="object 4" descr=""/>
          <p:cNvSpPr txBox="1"/>
          <p:nvPr/>
        </p:nvSpPr>
        <p:spPr>
          <a:xfrm>
            <a:off x="1380921" y="3732800"/>
            <a:ext cx="2255520" cy="1169670"/>
          </a:xfrm>
          <a:prstGeom prst="rect">
            <a:avLst/>
          </a:prstGeom>
        </p:spPr>
        <p:txBody>
          <a:bodyPr wrap="square" lIns="0" tIns="12065" rIns="0" bIns="0" rtlCol="0" vert="horz">
            <a:spAutoFit/>
          </a:bodyPr>
          <a:lstStyle/>
          <a:p>
            <a:pPr marL="376555" marR="241300" indent="-285750">
              <a:lnSpc>
                <a:spcPct val="100000"/>
              </a:lnSpc>
              <a:spcBef>
                <a:spcPts val="95"/>
              </a:spcBef>
              <a:buFont typeface="Wingdings"/>
              <a:buChar char=""/>
              <a:tabLst>
                <a:tab pos="376555" algn="l"/>
              </a:tabLst>
            </a:pPr>
            <a:r>
              <a:rPr dirty="0" sz="1400" spc="-10">
                <a:latin typeface="Arial MT"/>
                <a:cs typeface="Arial MT"/>
              </a:rPr>
              <a:t>8K(3D)</a:t>
            </a:r>
            <a:r>
              <a:rPr dirty="0" sz="1400" spc="-20" b="1">
                <a:latin typeface="Microsoft YaHei"/>
                <a:cs typeface="Microsoft YaHei"/>
              </a:rPr>
              <a:t>无压缩</a:t>
            </a:r>
            <a:r>
              <a:rPr dirty="0" sz="1400" spc="-35">
                <a:latin typeface="Microsoft YaHei"/>
                <a:cs typeface="Microsoft YaHei"/>
              </a:rPr>
              <a:t>视频传</a:t>
            </a:r>
            <a:r>
              <a:rPr dirty="0" sz="1400" spc="-20">
                <a:latin typeface="Microsoft YaHei"/>
                <a:cs typeface="Microsoft YaHei"/>
              </a:rPr>
              <a:t>输速率达</a:t>
            </a:r>
            <a:r>
              <a:rPr dirty="0" sz="1400" spc="-10" b="1">
                <a:latin typeface="Arial"/>
                <a:cs typeface="Arial"/>
              </a:rPr>
              <a:t>96Gbps</a:t>
            </a:r>
            <a:endParaRPr sz="1400">
              <a:latin typeface="Arial"/>
              <a:cs typeface="Arial"/>
            </a:endParaRPr>
          </a:p>
          <a:p>
            <a:pPr marL="376555" marR="94615" indent="-285750">
              <a:lnSpc>
                <a:spcPct val="100400"/>
              </a:lnSpc>
              <a:spcBef>
                <a:spcPts val="595"/>
              </a:spcBef>
              <a:buFont typeface="Wingdings"/>
              <a:buChar char=""/>
              <a:tabLst>
                <a:tab pos="376555" algn="l"/>
              </a:tabLst>
            </a:pPr>
            <a:r>
              <a:rPr dirty="0" sz="1400" spc="-25">
                <a:latin typeface="Microsoft YaHei"/>
                <a:cs typeface="Microsoft YaHei"/>
              </a:rPr>
              <a:t>经过百倍压缩后，其传输速率也需要</a:t>
            </a:r>
            <a:r>
              <a:rPr dirty="0" sz="1400" spc="-50">
                <a:latin typeface="Microsoft YaHei"/>
                <a:cs typeface="Microsoft YaHei"/>
              </a:rPr>
              <a:t> </a:t>
            </a:r>
            <a:r>
              <a:rPr dirty="0" sz="1400" spc="-10" b="1">
                <a:latin typeface="Arial"/>
                <a:cs typeface="Arial"/>
              </a:rPr>
              <a:t>960Mbps</a:t>
            </a:r>
            <a:endParaRPr sz="1400">
              <a:latin typeface="Arial"/>
              <a:cs typeface="Arial"/>
            </a:endParaRPr>
          </a:p>
        </p:txBody>
      </p:sp>
      <p:pic>
        <p:nvPicPr>
          <p:cNvPr id="5" name="object 5"/>
          <p:cNvPicPr/>
          <p:nvPr/>
        </p:nvPicPr>
        <p:blipFill>
          <a:blip r:embed="rId2" cstate="print"/>
          <a:stretch>
            <a:fillRect/>
          </a:stretch>
        </p:blipFill>
        <p:spPr>
          <a:xfrm>
            <a:off x="539559" y="1221600"/>
            <a:ext cx="3744408" cy="1572653"/>
          </a:xfrm>
          <a:prstGeom prst="rect">
            <a:avLst/>
          </a:prstGeom>
        </p:spPr>
      </p:pic>
      <p:grpSp>
        <p:nvGrpSpPr>
          <p:cNvPr id="6" name="object 6" descr=""/>
          <p:cNvGrpSpPr/>
          <p:nvPr/>
        </p:nvGrpSpPr>
        <p:grpSpPr>
          <a:xfrm>
            <a:off x="-4762" y="1113587"/>
            <a:ext cx="9153525" cy="1895475"/>
            <a:chOff x="-4762" y="1113587"/>
            <a:chExt cx="9153525" cy="1895475"/>
          </a:xfrm>
        </p:grpSpPr>
        <p:pic>
          <p:nvPicPr>
            <p:cNvPr id="7" name="object 7"/>
            <p:cNvPicPr/>
            <p:nvPr/>
          </p:nvPicPr>
          <p:blipFill>
            <a:blip r:embed="rId3" cstate="print"/>
            <a:stretch>
              <a:fillRect/>
            </a:stretch>
          </p:blipFill>
          <p:spPr>
            <a:xfrm>
              <a:off x="5487215" y="1113587"/>
              <a:ext cx="1686899" cy="862621"/>
            </a:xfrm>
            <a:prstGeom prst="rect">
              <a:avLst/>
            </a:prstGeom>
          </p:spPr>
        </p:pic>
        <p:sp>
          <p:nvSpPr>
            <p:cNvPr id="8" name="object 8" descr=""/>
            <p:cNvSpPr/>
            <p:nvPr/>
          </p:nvSpPr>
          <p:spPr>
            <a:xfrm>
              <a:off x="0" y="3003797"/>
              <a:ext cx="9144000" cy="0"/>
            </a:xfrm>
            <a:custGeom>
              <a:avLst/>
              <a:gdLst/>
              <a:ahLst/>
              <a:cxnLst/>
              <a:rect l="l" t="t" r="r" b="b"/>
              <a:pathLst>
                <a:path w="9144000" h="0">
                  <a:moveTo>
                    <a:pt x="0" y="0"/>
                  </a:moveTo>
                  <a:lnTo>
                    <a:pt x="9144000" y="0"/>
                  </a:lnTo>
                </a:path>
              </a:pathLst>
            </a:custGeom>
            <a:ln w="9525">
              <a:solidFill>
                <a:srgbClr val="000000"/>
              </a:solidFill>
              <a:prstDash val="sysDash"/>
            </a:ln>
          </p:spPr>
          <p:txBody>
            <a:bodyPr wrap="square" lIns="0" tIns="0" rIns="0" bIns="0" rtlCol="0"/>
            <a:lstStyle/>
            <a:p/>
          </p:txBody>
        </p:sp>
        <p:sp>
          <p:nvSpPr>
            <p:cNvPr id="9" name="object 9" descr=""/>
            <p:cNvSpPr/>
            <p:nvPr/>
          </p:nvSpPr>
          <p:spPr>
            <a:xfrm>
              <a:off x="4644007" y="1167593"/>
              <a:ext cx="0" cy="1827530"/>
            </a:xfrm>
            <a:custGeom>
              <a:avLst/>
              <a:gdLst/>
              <a:ahLst/>
              <a:cxnLst/>
              <a:rect l="l" t="t" r="r" b="b"/>
              <a:pathLst>
                <a:path w="0" h="1827530">
                  <a:moveTo>
                    <a:pt x="0" y="0"/>
                  </a:moveTo>
                  <a:lnTo>
                    <a:pt x="0" y="1827377"/>
                  </a:lnTo>
                </a:path>
              </a:pathLst>
            </a:custGeom>
            <a:ln w="9525">
              <a:solidFill>
                <a:srgbClr val="000000"/>
              </a:solidFill>
              <a:prstDash val="sysDash"/>
            </a:ln>
          </p:spPr>
          <p:txBody>
            <a:bodyPr wrap="square" lIns="0" tIns="0" rIns="0" bIns="0" rtlCol="0"/>
            <a:lstStyle/>
            <a:p/>
          </p:txBody>
        </p:sp>
      </p:grpSp>
      <p:grpSp>
        <p:nvGrpSpPr>
          <p:cNvPr id="10" name="object 10" descr=""/>
          <p:cNvGrpSpPr/>
          <p:nvPr/>
        </p:nvGrpSpPr>
        <p:grpSpPr>
          <a:xfrm>
            <a:off x="1501902" y="3285744"/>
            <a:ext cx="2038350" cy="402590"/>
            <a:chOff x="1501902" y="3285744"/>
            <a:chExt cx="2038350" cy="402590"/>
          </a:xfrm>
        </p:grpSpPr>
        <p:pic>
          <p:nvPicPr>
            <p:cNvPr id="11" name="object 11" descr=""/>
            <p:cNvPicPr/>
            <p:nvPr/>
          </p:nvPicPr>
          <p:blipFill>
            <a:blip r:embed="rId4" cstate="print"/>
            <a:stretch>
              <a:fillRect/>
            </a:stretch>
          </p:blipFill>
          <p:spPr>
            <a:xfrm>
              <a:off x="1501902" y="3334511"/>
              <a:ext cx="2038349" cy="353567"/>
            </a:xfrm>
            <a:prstGeom prst="rect">
              <a:avLst/>
            </a:prstGeom>
          </p:spPr>
        </p:pic>
        <p:pic>
          <p:nvPicPr>
            <p:cNvPr id="12" name="object 12" descr=""/>
            <p:cNvPicPr/>
            <p:nvPr/>
          </p:nvPicPr>
          <p:blipFill>
            <a:blip r:embed="rId5" cstate="print"/>
            <a:stretch>
              <a:fillRect/>
            </a:stretch>
          </p:blipFill>
          <p:spPr>
            <a:xfrm>
              <a:off x="1747266" y="3285744"/>
              <a:ext cx="1603235" cy="71729"/>
            </a:xfrm>
            <a:prstGeom prst="rect">
              <a:avLst/>
            </a:prstGeom>
          </p:spPr>
        </p:pic>
        <p:pic>
          <p:nvPicPr>
            <p:cNvPr id="13" name="object 13" descr=""/>
            <p:cNvPicPr/>
            <p:nvPr/>
          </p:nvPicPr>
          <p:blipFill>
            <a:blip r:embed="rId6" cstate="print"/>
            <a:stretch>
              <a:fillRect/>
            </a:stretch>
          </p:blipFill>
          <p:spPr>
            <a:xfrm>
              <a:off x="1747266" y="3619487"/>
              <a:ext cx="1603235" cy="54876"/>
            </a:xfrm>
            <a:prstGeom prst="rect">
              <a:avLst/>
            </a:prstGeom>
          </p:spPr>
        </p:pic>
        <p:pic>
          <p:nvPicPr>
            <p:cNvPr id="14" name="object 14" descr=""/>
            <p:cNvPicPr/>
            <p:nvPr/>
          </p:nvPicPr>
          <p:blipFill>
            <a:blip r:embed="rId7" cstate="print"/>
            <a:stretch>
              <a:fillRect/>
            </a:stretch>
          </p:blipFill>
          <p:spPr>
            <a:xfrm>
              <a:off x="1547672" y="3357562"/>
              <a:ext cx="1946313" cy="261708"/>
            </a:xfrm>
            <a:prstGeom prst="rect">
              <a:avLst/>
            </a:prstGeom>
          </p:spPr>
        </p:pic>
        <p:sp>
          <p:nvSpPr>
            <p:cNvPr id="15" name="object 15" descr=""/>
            <p:cNvSpPr/>
            <p:nvPr/>
          </p:nvSpPr>
          <p:spPr>
            <a:xfrm>
              <a:off x="1547663" y="3357559"/>
              <a:ext cx="1946910" cy="262255"/>
            </a:xfrm>
            <a:custGeom>
              <a:avLst/>
              <a:gdLst/>
              <a:ahLst/>
              <a:cxnLst/>
              <a:rect l="l" t="t" r="r" b="b"/>
              <a:pathLst>
                <a:path w="1946910" h="262254">
                  <a:moveTo>
                    <a:pt x="0" y="43624"/>
                  </a:moveTo>
                  <a:lnTo>
                    <a:pt x="3428" y="26644"/>
                  </a:lnTo>
                  <a:lnTo>
                    <a:pt x="12777" y="12777"/>
                  </a:lnTo>
                  <a:lnTo>
                    <a:pt x="26644" y="3428"/>
                  </a:lnTo>
                  <a:lnTo>
                    <a:pt x="43624" y="0"/>
                  </a:lnTo>
                  <a:lnTo>
                    <a:pt x="1902714" y="0"/>
                  </a:lnTo>
                  <a:lnTo>
                    <a:pt x="1919692" y="3428"/>
                  </a:lnTo>
                  <a:lnTo>
                    <a:pt x="1933554" y="12777"/>
                  </a:lnTo>
                  <a:lnTo>
                    <a:pt x="1942899" y="26644"/>
                  </a:lnTo>
                  <a:lnTo>
                    <a:pt x="1946325" y="43624"/>
                  </a:lnTo>
                  <a:lnTo>
                    <a:pt x="1946325" y="218097"/>
                  </a:lnTo>
                  <a:lnTo>
                    <a:pt x="1942899" y="235075"/>
                  </a:lnTo>
                  <a:lnTo>
                    <a:pt x="1933554" y="248937"/>
                  </a:lnTo>
                  <a:lnTo>
                    <a:pt x="1919692" y="258282"/>
                  </a:lnTo>
                  <a:lnTo>
                    <a:pt x="1902714" y="261708"/>
                  </a:lnTo>
                  <a:lnTo>
                    <a:pt x="43624" y="261708"/>
                  </a:lnTo>
                  <a:lnTo>
                    <a:pt x="26644" y="258282"/>
                  </a:lnTo>
                  <a:lnTo>
                    <a:pt x="12777" y="248937"/>
                  </a:lnTo>
                  <a:lnTo>
                    <a:pt x="3428" y="235075"/>
                  </a:lnTo>
                  <a:lnTo>
                    <a:pt x="0" y="218097"/>
                  </a:lnTo>
                  <a:lnTo>
                    <a:pt x="0" y="43624"/>
                  </a:lnTo>
                  <a:close/>
                </a:path>
              </a:pathLst>
            </a:custGeom>
            <a:ln w="9524">
              <a:solidFill>
                <a:srgbClr val="B6DCDF"/>
              </a:solidFill>
            </a:ln>
          </p:spPr>
          <p:txBody>
            <a:bodyPr wrap="square" lIns="0" tIns="0" rIns="0" bIns="0" rtlCol="0"/>
            <a:lstStyle/>
            <a:p/>
          </p:txBody>
        </p:sp>
      </p:grpSp>
      <p:sp>
        <p:nvSpPr>
          <p:cNvPr id="16" name="object 16" descr=""/>
          <p:cNvSpPr txBox="1"/>
          <p:nvPr/>
        </p:nvSpPr>
        <p:spPr>
          <a:xfrm>
            <a:off x="1554140" y="3346180"/>
            <a:ext cx="1933575" cy="269875"/>
          </a:xfrm>
          <a:prstGeom prst="rect">
            <a:avLst/>
          </a:prstGeom>
        </p:spPr>
        <p:txBody>
          <a:bodyPr wrap="square" lIns="0" tIns="12700" rIns="0" bIns="0" rtlCol="0" vert="horz">
            <a:spAutoFit/>
          </a:bodyPr>
          <a:lstStyle/>
          <a:p>
            <a:pPr marL="355600">
              <a:lnSpc>
                <a:spcPct val="100000"/>
              </a:lnSpc>
              <a:spcBef>
                <a:spcPts val="100"/>
              </a:spcBef>
            </a:pPr>
            <a:r>
              <a:rPr dirty="0" sz="1600" spc="-10" b="1">
                <a:solidFill>
                  <a:srgbClr val="FFFFFF"/>
                </a:solidFill>
                <a:latin typeface="Microsoft YaHei"/>
                <a:cs typeface="Microsoft YaHei"/>
              </a:rPr>
              <a:t>用户体验速率</a:t>
            </a:r>
            <a:endParaRPr sz="1600">
              <a:latin typeface="Microsoft YaHei"/>
              <a:cs typeface="Microsoft YaHei"/>
            </a:endParaRPr>
          </a:p>
        </p:txBody>
      </p:sp>
      <p:grpSp>
        <p:nvGrpSpPr>
          <p:cNvPr id="17" name="object 17" descr=""/>
          <p:cNvGrpSpPr/>
          <p:nvPr/>
        </p:nvGrpSpPr>
        <p:grpSpPr>
          <a:xfrm>
            <a:off x="3737609" y="3285744"/>
            <a:ext cx="2038350" cy="402590"/>
            <a:chOff x="3737609" y="3285744"/>
            <a:chExt cx="2038350" cy="402590"/>
          </a:xfrm>
        </p:grpSpPr>
        <p:pic>
          <p:nvPicPr>
            <p:cNvPr id="18" name="object 18" descr=""/>
            <p:cNvPicPr/>
            <p:nvPr/>
          </p:nvPicPr>
          <p:blipFill>
            <a:blip r:embed="rId8" cstate="print"/>
            <a:stretch>
              <a:fillRect/>
            </a:stretch>
          </p:blipFill>
          <p:spPr>
            <a:xfrm>
              <a:off x="3737609" y="3334511"/>
              <a:ext cx="2038349" cy="353567"/>
            </a:xfrm>
            <a:prstGeom prst="rect">
              <a:avLst/>
            </a:prstGeom>
          </p:spPr>
        </p:pic>
        <p:pic>
          <p:nvPicPr>
            <p:cNvPr id="19" name="object 19" descr=""/>
            <p:cNvPicPr/>
            <p:nvPr/>
          </p:nvPicPr>
          <p:blipFill>
            <a:blip r:embed="rId9" cstate="print"/>
            <a:stretch>
              <a:fillRect/>
            </a:stretch>
          </p:blipFill>
          <p:spPr>
            <a:xfrm>
              <a:off x="4186427" y="3285744"/>
              <a:ext cx="1196327" cy="71729"/>
            </a:xfrm>
            <a:prstGeom prst="rect">
              <a:avLst/>
            </a:prstGeom>
          </p:spPr>
        </p:pic>
        <p:pic>
          <p:nvPicPr>
            <p:cNvPr id="20" name="object 20" descr=""/>
            <p:cNvPicPr/>
            <p:nvPr/>
          </p:nvPicPr>
          <p:blipFill>
            <a:blip r:embed="rId10" cstate="print"/>
            <a:stretch>
              <a:fillRect/>
            </a:stretch>
          </p:blipFill>
          <p:spPr>
            <a:xfrm>
              <a:off x="4186427" y="3619487"/>
              <a:ext cx="1196327" cy="54876"/>
            </a:xfrm>
            <a:prstGeom prst="rect">
              <a:avLst/>
            </a:prstGeom>
          </p:spPr>
        </p:pic>
        <p:pic>
          <p:nvPicPr>
            <p:cNvPr id="21" name="object 21" descr=""/>
            <p:cNvPicPr/>
            <p:nvPr/>
          </p:nvPicPr>
          <p:blipFill>
            <a:blip r:embed="rId11" cstate="print"/>
            <a:stretch>
              <a:fillRect/>
            </a:stretch>
          </p:blipFill>
          <p:spPr>
            <a:xfrm>
              <a:off x="3783863" y="3357562"/>
              <a:ext cx="1946338" cy="261708"/>
            </a:xfrm>
            <a:prstGeom prst="rect">
              <a:avLst/>
            </a:prstGeom>
          </p:spPr>
        </p:pic>
        <p:sp>
          <p:nvSpPr>
            <p:cNvPr id="22" name="object 22" descr=""/>
            <p:cNvSpPr/>
            <p:nvPr/>
          </p:nvSpPr>
          <p:spPr>
            <a:xfrm>
              <a:off x="3783865" y="3357559"/>
              <a:ext cx="1946910" cy="262255"/>
            </a:xfrm>
            <a:custGeom>
              <a:avLst/>
              <a:gdLst/>
              <a:ahLst/>
              <a:cxnLst/>
              <a:rect l="l" t="t" r="r" b="b"/>
              <a:pathLst>
                <a:path w="1946910" h="262254">
                  <a:moveTo>
                    <a:pt x="0" y="43624"/>
                  </a:moveTo>
                  <a:lnTo>
                    <a:pt x="3428" y="26644"/>
                  </a:lnTo>
                  <a:lnTo>
                    <a:pt x="12777" y="12777"/>
                  </a:lnTo>
                  <a:lnTo>
                    <a:pt x="26644" y="3428"/>
                  </a:lnTo>
                  <a:lnTo>
                    <a:pt x="43624" y="0"/>
                  </a:lnTo>
                  <a:lnTo>
                    <a:pt x="1902714" y="0"/>
                  </a:lnTo>
                  <a:lnTo>
                    <a:pt x="1919692" y="3428"/>
                  </a:lnTo>
                  <a:lnTo>
                    <a:pt x="1933554" y="12777"/>
                  </a:lnTo>
                  <a:lnTo>
                    <a:pt x="1942899" y="26644"/>
                  </a:lnTo>
                  <a:lnTo>
                    <a:pt x="1946325" y="43624"/>
                  </a:lnTo>
                  <a:lnTo>
                    <a:pt x="1946325" y="218097"/>
                  </a:lnTo>
                  <a:lnTo>
                    <a:pt x="1942899" y="235075"/>
                  </a:lnTo>
                  <a:lnTo>
                    <a:pt x="1933554" y="248937"/>
                  </a:lnTo>
                  <a:lnTo>
                    <a:pt x="1919692" y="258282"/>
                  </a:lnTo>
                  <a:lnTo>
                    <a:pt x="1902714" y="261708"/>
                  </a:lnTo>
                  <a:lnTo>
                    <a:pt x="43624" y="261708"/>
                  </a:lnTo>
                  <a:lnTo>
                    <a:pt x="26644" y="258282"/>
                  </a:lnTo>
                  <a:lnTo>
                    <a:pt x="12777" y="248937"/>
                  </a:lnTo>
                  <a:lnTo>
                    <a:pt x="3428" y="235075"/>
                  </a:lnTo>
                  <a:lnTo>
                    <a:pt x="0" y="218097"/>
                  </a:lnTo>
                  <a:lnTo>
                    <a:pt x="0" y="43624"/>
                  </a:lnTo>
                  <a:close/>
                </a:path>
              </a:pathLst>
            </a:custGeom>
            <a:ln w="9524">
              <a:solidFill>
                <a:srgbClr val="B6DCDF"/>
              </a:solidFill>
            </a:ln>
          </p:spPr>
          <p:txBody>
            <a:bodyPr wrap="square" lIns="0" tIns="0" rIns="0" bIns="0" rtlCol="0"/>
            <a:lstStyle/>
            <a:p/>
          </p:txBody>
        </p:sp>
      </p:grpSp>
      <p:sp>
        <p:nvSpPr>
          <p:cNvPr id="23" name="object 23" descr=""/>
          <p:cNvSpPr txBox="1"/>
          <p:nvPr/>
        </p:nvSpPr>
        <p:spPr>
          <a:xfrm>
            <a:off x="3790342" y="3346180"/>
            <a:ext cx="1933575" cy="269875"/>
          </a:xfrm>
          <a:prstGeom prst="rect">
            <a:avLst/>
          </a:prstGeom>
        </p:spPr>
        <p:txBody>
          <a:bodyPr wrap="square" lIns="0" tIns="12700" rIns="0" bIns="0" rtlCol="0" vert="horz">
            <a:spAutoFit/>
          </a:bodyPr>
          <a:lstStyle/>
          <a:p>
            <a:pPr marL="558800">
              <a:lnSpc>
                <a:spcPct val="100000"/>
              </a:lnSpc>
              <a:spcBef>
                <a:spcPts val="100"/>
              </a:spcBef>
            </a:pPr>
            <a:r>
              <a:rPr dirty="0" sz="1600" spc="-15" b="1">
                <a:solidFill>
                  <a:srgbClr val="FFFFFF"/>
                </a:solidFill>
                <a:latin typeface="Microsoft YaHei"/>
                <a:cs typeface="Microsoft YaHei"/>
              </a:rPr>
              <a:t>流量密度</a:t>
            </a:r>
            <a:endParaRPr sz="1600">
              <a:latin typeface="Microsoft YaHei"/>
              <a:cs typeface="Microsoft YaHei"/>
            </a:endParaRPr>
          </a:p>
        </p:txBody>
      </p:sp>
      <p:grpSp>
        <p:nvGrpSpPr>
          <p:cNvPr id="24" name="object 24" descr=""/>
          <p:cNvGrpSpPr/>
          <p:nvPr/>
        </p:nvGrpSpPr>
        <p:grpSpPr>
          <a:xfrm>
            <a:off x="6038088" y="3285744"/>
            <a:ext cx="2038350" cy="402590"/>
            <a:chOff x="6038088" y="3285744"/>
            <a:chExt cx="2038350" cy="402590"/>
          </a:xfrm>
        </p:grpSpPr>
        <p:pic>
          <p:nvPicPr>
            <p:cNvPr id="25" name="object 25" descr=""/>
            <p:cNvPicPr/>
            <p:nvPr/>
          </p:nvPicPr>
          <p:blipFill>
            <a:blip r:embed="rId12" cstate="print"/>
            <a:stretch>
              <a:fillRect/>
            </a:stretch>
          </p:blipFill>
          <p:spPr>
            <a:xfrm>
              <a:off x="6038088" y="3334511"/>
              <a:ext cx="2038349" cy="353567"/>
            </a:xfrm>
            <a:prstGeom prst="rect">
              <a:avLst/>
            </a:prstGeom>
          </p:spPr>
        </p:pic>
        <p:pic>
          <p:nvPicPr>
            <p:cNvPr id="26" name="object 26" descr=""/>
            <p:cNvPicPr/>
            <p:nvPr/>
          </p:nvPicPr>
          <p:blipFill>
            <a:blip r:embed="rId13" cstate="print"/>
            <a:stretch>
              <a:fillRect/>
            </a:stretch>
          </p:blipFill>
          <p:spPr>
            <a:xfrm>
              <a:off x="6690360" y="3285744"/>
              <a:ext cx="789431" cy="71729"/>
            </a:xfrm>
            <a:prstGeom prst="rect">
              <a:avLst/>
            </a:prstGeom>
          </p:spPr>
        </p:pic>
        <p:pic>
          <p:nvPicPr>
            <p:cNvPr id="27" name="object 27" descr=""/>
            <p:cNvPicPr/>
            <p:nvPr/>
          </p:nvPicPr>
          <p:blipFill>
            <a:blip r:embed="rId14" cstate="print"/>
            <a:stretch>
              <a:fillRect/>
            </a:stretch>
          </p:blipFill>
          <p:spPr>
            <a:xfrm>
              <a:off x="6690360" y="3619487"/>
              <a:ext cx="789431" cy="54876"/>
            </a:xfrm>
            <a:prstGeom prst="rect">
              <a:avLst/>
            </a:prstGeom>
          </p:spPr>
        </p:pic>
        <p:pic>
          <p:nvPicPr>
            <p:cNvPr id="28" name="object 28" descr=""/>
            <p:cNvPicPr/>
            <p:nvPr/>
          </p:nvPicPr>
          <p:blipFill>
            <a:blip r:embed="rId11" cstate="print"/>
            <a:stretch>
              <a:fillRect/>
            </a:stretch>
          </p:blipFill>
          <p:spPr>
            <a:xfrm>
              <a:off x="6084163" y="3357562"/>
              <a:ext cx="1946338" cy="261708"/>
            </a:xfrm>
            <a:prstGeom prst="rect">
              <a:avLst/>
            </a:prstGeom>
          </p:spPr>
        </p:pic>
        <p:sp>
          <p:nvSpPr>
            <p:cNvPr id="29" name="object 29" descr=""/>
            <p:cNvSpPr/>
            <p:nvPr/>
          </p:nvSpPr>
          <p:spPr>
            <a:xfrm>
              <a:off x="6084167" y="3357559"/>
              <a:ext cx="1946910" cy="262255"/>
            </a:xfrm>
            <a:custGeom>
              <a:avLst/>
              <a:gdLst/>
              <a:ahLst/>
              <a:cxnLst/>
              <a:rect l="l" t="t" r="r" b="b"/>
              <a:pathLst>
                <a:path w="1946909" h="262254">
                  <a:moveTo>
                    <a:pt x="0" y="43624"/>
                  </a:moveTo>
                  <a:lnTo>
                    <a:pt x="3428" y="26644"/>
                  </a:lnTo>
                  <a:lnTo>
                    <a:pt x="12777" y="12777"/>
                  </a:lnTo>
                  <a:lnTo>
                    <a:pt x="26644" y="3428"/>
                  </a:lnTo>
                  <a:lnTo>
                    <a:pt x="43624" y="0"/>
                  </a:lnTo>
                  <a:lnTo>
                    <a:pt x="1902714" y="0"/>
                  </a:lnTo>
                  <a:lnTo>
                    <a:pt x="1919692" y="3428"/>
                  </a:lnTo>
                  <a:lnTo>
                    <a:pt x="1933554" y="12777"/>
                  </a:lnTo>
                  <a:lnTo>
                    <a:pt x="1942899" y="26644"/>
                  </a:lnTo>
                  <a:lnTo>
                    <a:pt x="1946325" y="43624"/>
                  </a:lnTo>
                  <a:lnTo>
                    <a:pt x="1946325" y="218097"/>
                  </a:lnTo>
                  <a:lnTo>
                    <a:pt x="1942899" y="235075"/>
                  </a:lnTo>
                  <a:lnTo>
                    <a:pt x="1933554" y="248937"/>
                  </a:lnTo>
                  <a:lnTo>
                    <a:pt x="1919692" y="258282"/>
                  </a:lnTo>
                  <a:lnTo>
                    <a:pt x="1902714" y="261708"/>
                  </a:lnTo>
                  <a:lnTo>
                    <a:pt x="43624" y="261708"/>
                  </a:lnTo>
                  <a:lnTo>
                    <a:pt x="26644" y="258282"/>
                  </a:lnTo>
                  <a:lnTo>
                    <a:pt x="12777" y="248937"/>
                  </a:lnTo>
                  <a:lnTo>
                    <a:pt x="3428" y="235075"/>
                  </a:lnTo>
                  <a:lnTo>
                    <a:pt x="0" y="218097"/>
                  </a:lnTo>
                  <a:lnTo>
                    <a:pt x="0" y="43624"/>
                  </a:lnTo>
                  <a:close/>
                </a:path>
              </a:pathLst>
            </a:custGeom>
            <a:ln w="9524">
              <a:solidFill>
                <a:srgbClr val="B6DCDF"/>
              </a:solidFill>
            </a:ln>
          </p:spPr>
          <p:txBody>
            <a:bodyPr wrap="square" lIns="0" tIns="0" rIns="0" bIns="0" rtlCol="0"/>
            <a:lstStyle/>
            <a:p/>
          </p:txBody>
        </p:sp>
      </p:grpSp>
      <p:sp>
        <p:nvSpPr>
          <p:cNvPr id="30" name="object 30" descr=""/>
          <p:cNvSpPr txBox="1"/>
          <p:nvPr/>
        </p:nvSpPr>
        <p:spPr>
          <a:xfrm>
            <a:off x="6090644" y="3346180"/>
            <a:ext cx="1933575" cy="269875"/>
          </a:xfrm>
          <a:prstGeom prst="rect">
            <a:avLst/>
          </a:prstGeom>
        </p:spPr>
        <p:txBody>
          <a:bodyPr wrap="square" lIns="0" tIns="12700" rIns="0" bIns="0" rtlCol="0" vert="horz">
            <a:spAutoFit/>
          </a:bodyPr>
          <a:lstStyle/>
          <a:p>
            <a:pPr algn="ctr">
              <a:lnSpc>
                <a:spcPct val="100000"/>
              </a:lnSpc>
              <a:spcBef>
                <a:spcPts val="100"/>
              </a:spcBef>
            </a:pPr>
            <a:r>
              <a:rPr dirty="0" sz="1600" spc="-25" b="1">
                <a:solidFill>
                  <a:srgbClr val="FFFFFF"/>
                </a:solidFill>
                <a:latin typeface="Microsoft YaHei"/>
                <a:cs typeface="Microsoft YaHei"/>
              </a:rPr>
              <a:t>时延</a:t>
            </a:r>
            <a:endParaRPr sz="1600">
              <a:latin typeface="Microsoft YaHei"/>
              <a:cs typeface="Microsoft YaHei"/>
            </a:endParaRPr>
          </a:p>
        </p:txBody>
      </p:sp>
      <p:sp>
        <p:nvSpPr>
          <p:cNvPr id="31" name="object 31" descr=""/>
          <p:cNvSpPr txBox="1"/>
          <p:nvPr/>
        </p:nvSpPr>
        <p:spPr>
          <a:xfrm>
            <a:off x="1150278" y="811199"/>
            <a:ext cx="6266815" cy="2487930"/>
          </a:xfrm>
          <a:prstGeom prst="rect">
            <a:avLst/>
          </a:prstGeom>
        </p:spPr>
        <p:txBody>
          <a:bodyPr wrap="square" lIns="0" tIns="12700" rIns="0" bIns="0" rtlCol="0" vert="horz">
            <a:spAutoFit/>
          </a:bodyPr>
          <a:lstStyle/>
          <a:p>
            <a:pPr marL="12700">
              <a:lnSpc>
                <a:spcPct val="100000"/>
              </a:lnSpc>
              <a:spcBef>
                <a:spcPts val="100"/>
              </a:spcBef>
            </a:pPr>
            <a:r>
              <a:rPr dirty="0" sz="1600" spc="-10" b="1">
                <a:solidFill>
                  <a:srgbClr val="0070C0"/>
                </a:solidFill>
                <a:latin typeface="Microsoft YaHei"/>
                <a:cs typeface="Microsoft YaHei"/>
              </a:rPr>
              <a:t>流类与会话类业务将不断向超高清、</a:t>
            </a:r>
            <a:r>
              <a:rPr dirty="0" sz="1600" spc="-10" b="1">
                <a:solidFill>
                  <a:srgbClr val="0070C0"/>
                </a:solidFill>
                <a:latin typeface="Arial"/>
                <a:cs typeface="Arial"/>
              </a:rPr>
              <a:t>3D</a:t>
            </a:r>
            <a:r>
              <a:rPr dirty="0" sz="1600" spc="-15" b="1">
                <a:solidFill>
                  <a:srgbClr val="0070C0"/>
                </a:solidFill>
                <a:latin typeface="Microsoft YaHei"/>
                <a:cs typeface="Microsoft YaHei"/>
              </a:rPr>
              <a:t>、身临其境显示方向发展</a:t>
            </a:r>
            <a:endParaRPr sz="1600">
              <a:latin typeface="Microsoft YaHei"/>
              <a:cs typeface="Microsoft YaHei"/>
            </a:endParaRPr>
          </a:p>
          <a:p>
            <a:pPr algn="r" marR="5080">
              <a:lnSpc>
                <a:spcPct val="100000"/>
              </a:lnSpc>
              <a:spcBef>
                <a:spcPts val="2370"/>
              </a:spcBef>
            </a:pPr>
            <a:r>
              <a:rPr dirty="0" sz="1800" spc="-25" b="1">
                <a:solidFill>
                  <a:srgbClr val="002060"/>
                </a:solidFill>
                <a:latin typeface="Arial"/>
                <a:cs typeface="Arial"/>
              </a:rPr>
              <a:t>3D</a:t>
            </a:r>
            <a:endParaRPr sz="1800">
              <a:latin typeface="Arial"/>
              <a:cs typeface="Arial"/>
            </a:endParaRPr>
          </a:p>
          <a:p>
            <a:pPr>
              <a:lnSpc>
                <a:spcPct val="100000"/>
              </a:lnSpc>
              <a:spcBef>
                <a:spcPts val="480"/>
              </a:spcBef>
            </a:pPr>
            <a:endParaRPr sz="1800">
              <a:latin typeface="Arial"/>
              <a:cs typeface="Arial"/>
            </a:endParaRPr>
          </a:p>
          <a:p>
            <a:pPr algn="just" marL="4441825" marR="1613535">
              <a:lnSpc>
                <a:spcPct val="100000"/>
              </a:lnSpc>
            </a:pPr>
            <a:r>
              <a:rPr dirty="0" sz="1600" spc="-50" b="1">
                <a:solidFill>
                  <a:srgbClr val="002060"/>
                </a:solidFill>
                <a:latin typeface="Microsoft YaHei"/>
                <a:cs typeface="Microsoft YaHei"/>
              </a:rPr>
              <a:t>身临其境</a:t>
            </a:r>
            <a:endParaRPr sz="1600">
              <a:latin typeface="Microsoft YaHei"/>
              <a:cs typeface="Microsoft YaHei"/>
            </a:endParaRPr>
          </a:p>
          <a:p>
            <a:pPr marL="2785745">
              <a:lnSpc>
                <a:spcPct val="100000"/>
              </a:lnSpc>
              <a:spcBef>
                <a:spcPts val="785"/>
              </a:spcBef>
            </a:pPr>
            <a:r>
              <a:rPr dirty="0" sz="1600" spc="-10" b="1">
                <a:solidFill>
                  <a:srgbClr val="0070C0"/>
                </a:solidFill>
                <a:latin typeface="Microsoft YaHei"/>
                <a:cs typeface="Microsoft YaHei"/>
              </a:rPr>
              <a:t>业务特性及挑战</a:t>
            </a:r>
            <a:endParaRPr sz="1600">
              <a:latin typeface="Microsoft YaHei"/>
              <a:cs typeface="Microsoft YaHei"/>
            </a:endParaRPr>
          </a:p>
        </p:txBody>
      </p:sp>
      <p:sp>
        <p:nvSpPr>
          <p:cNvPr id="32" name="object 32" descr=""/>
          <p:cNvSpPr/>
          <p:nvPr/>
        </p:nvSpPr>
        <p:spPr>
          <a:xfrm>
            <a:off x="3779913" y="3705872"/>
            <a:ext cx="2016760" cy="1235075"/>
          </a:xfrm>
          <a:custGeom>
            <a:avLst/>
            <a:gdLst/>
            <a:ahLst/>
            <a:cxnLst/>
            <a:rect l="l" t="t" r="r" b="b"/>
            <a:pathLst>
              <a:path w="2016760" h="1235075">
                <a:moveTo>
                  <a:pt x="2016226" y="0"/>
                </a:moveTo>
                <a:lnTo>
                  <a:pt x="0" y="0"/>
                </a:lnTo>
                <a:lnTo>
                  <a:pt x="0" y="1234948"/>
                </a:lnTo>
                <a:lnTo>
                  <a:pt x="2016226" y="1234948"/>
                </a:lnTo>
                <a:lnTo>
                  <a:pt x="2016226" y="0"/>
                </a:lnTo>
                <a:close/>
              </a:path>
            </a:pathLst>
          </a:custGeom>
          <a:solidFill>
            <a:srgbClr val="F1F9F9"/>
          </a:solidFill>
        </p:spPr>
        <p:txBody>
          <a:bodyPr wrap="square" lIns="0" tIns="0" rIns="0" bIns="0" rtlCol="0"/>
          <a:lstStyle/>
          <a:p/>
        </p:txBody>
      </p:sp>
      <p:sp>
        <p:nvSpPr>
          <p:cNvPr id="33" name="object 33" descr=""/>
          <p:cNvSpPr txBox="1"/>
          <p:nvPr/>
        </p:nvSpPr>
        <p:spPr>
          <a:xfrm>
            <a:off x="3779913" y="3754898"/>
            <a:ext cx="2016760" cy="269875"/>
          </a:xfrm>
          <a:prstGeom prst="rect">
            <a:avLst/>
          </a:prstGeom>
        </p:spPr>
        <p:txBody>
          <a:bodyPr wrap="square" lIns="0" tIns="12700" rIns="0" bIns="0" rtlCol="0" vert="horz">
            <a:spAutoFit/>
          </a:bodyPr>
          <a:lstStyle/>
          <a:p>
            <a:pPr marL="375920" indent="-285115">
              <a:lnSpc>
                <a:spcPct val="100000"/>
              </a:lnSpc>
              <a:spcBef>
                <a:spcPts val="100"/>
              </a:spcBef>
              <a:buFont typeface="Wingdings"/>
              <a:buChar char=""/>
              <a:tabLst>
                <a:tab pos="375920" algn="l"/>
              </a:tabLst>
            </a:pPr>
            <a:r>
              <a:rPr dirty="0" sz="1600" spc="-10" b="1">
                <a:latin typeface="Microsoft YaHei"/>
                <a:cs typeface="Microsoft YaHei"/>
              </a:rPr>
              <a:t>极高的流量密度</a:t>
            </a:r>
            <a:endParaRPr sz="1600">
              <a:latin typeface="Microsoft YaHei"/>
              <a:cs typeface="Microsoft YaHei"/>
            </a:endParaRPr>
          </a:p>
        </p:txBody>
      </p:sp>
      <p:sp>
        <p:nvSpPr>
          <p:cNvPr id="34" name="object 34" descr=""/>
          <p:cNvSpPr/>
          <p:nvPr/>
        </p:nvSpPr>
        <p:spPr>
          <a:xfrm>
            <a:off x="6084163" y="3705872"/>
            <a:ext cx="2016760" cy="1235075"/>
          </a:xfrm>
          <a:custGeom>
            <a:avLst/>
            <a:gdLst/>
            <a:ahLst/>
            <a:cxnLst/>
            <a:rect l="l" t="t" r="r" b="b"/>
            <a:pathLst>
              <a:path w="2016759" h="1235075">
                <a:moveTo>
                  <a:pt x="2016226" y="0"/>
                </a:moveTo>
                <a:lnTo>
                  <a:pt x="0" y="0"/>
                </a:lnTo>
                <a:lnTo>
                  <a:pt x="0" y="1234948"/>
                </a:lnTo>
                <a:lnTo>
                  <a:pt x="2016226" y="1234948"/>
                </a:lnTo>
                <a:lnTo>
                  <a:pt x="2016226" y="0"/>
                </a:lnTo>
                <a:close/>
              </a:path>
            </a:pathLst>
          </a:custGeom>
          <a:solidFill>
            <a:srgbClr val="F1F9F9"/>
          </a:solidFill>
        </p:spPr>
        <p:txBody>
          <a:bodyPr wrap="square" lIns="0" tIns="0" rIns="0" bIns="0" rtlCol="0"/>
          <a:lstStyle/>
          <a:p/>
        </p:txBody>
      </p:sp>
      <p:sp>
        <p:nvSpPr>
          <p:cNvPr id="35" name="object 35" descr=""/>
          <p:cNvSpPr txBox="1"/>
          <p:nvPr/>
        </p:nvSpPr>
        <p:spPr>
          <a:xfrm>
            <a:off x="6084163" y="3706476"/>
            <a:ext cx="2016760" cy="610870"/>
          </a:xfrm>
          <a:prstGeom prst="rect">
            <a:avLst/>
          </a:prstGeom>
        </p:spPr>
        <p:txBody>
          <a:bodyPr wrap="square" lIns="0" tIns="12700" rIns="0" bIns="0" rtlCol="0" vert="horz">
            <a:spAutoFit/>
          </a:bodyPr>
          <a:lstStyle/>
          <a:p>
            <a:pPr marL="377190" marR="523875" indent="-285750">
              <a:lnSpc>
                <a:spcPct val="120000"/>
              </a:lnSpc>
              <a:spcBef>
                <a:spcPts val="100"/>
              </a:spcBef>
              <a:buFont typeface="Wingdings"/>
              <a:buChar char=""/>
              <a:tabLst>
                <a:tab pos="377190" algn="l"/>
              </a:tabLst>
            </a:pPr>
            <a:r>
              <a:rPr dirty="0" sz="1600" b="1">
                <a:latin typeface="Microsoft YaHei"/>
                <a:cs typeface="Microsoft YaHei"/>
              </a:rPr>
              <a:t>时延要求</a:t>
            </a:r>
            <a:r>
              <a:rPr dirty="0" sz="1600" spc="-25" b="1">
                <a:latin typeface="Arial"/>
                <a:cs typeface="Arial"/>
              </a:rPr>
              <a:t>50- </a:t>
            </a:r>
            <a:r>
              <a:rPr dirty="0" sz="1600" spc="-10" b="1">
                <a:latin typeface="Arial"/>
                <a:cs typeface="Arial"/>
              </a:rPr>
              <a:t>100ms</a:t>
            </a:r>
            <a:endParaRPr sz="1600">
              <a:latin typeface="Arial"/>
              <a:cs typeface="Arial"/>
            </a:endParaRPr>
          </a:p>
        </p:txBody>
      </p:sp>
      <p:pic>
        <p:nvPicPr>
          <p:cNvPr id="36" name="object 36"/>
          <p:cNvPicPr/>
          <p:nvPr/>
        </p:nvPicPr>
        <p:blipFill>
          <a:blip r:embed="rId15" cstate="print"/>
          <a:stretch>
            <a:fillRect/>
          </a:stretch>
        </p:blipFill>
        <p:spPr>
          <a:xfrm>
            <a:off x="5940152" y="1977683"/>
            <a:ext cx="2796584" cy="9721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67126" y="1503591"/>
            <a:ext cx="1841498" cy="1212603"/>
          </a:xfrm>
          <a:prstGeom prst="rect">
            <a:avLst/>
          </a:prstGeom>
        </p:spPr>
      </p:pic>
      <p:sp>
        <p:nvSpPr>
          <p:cNvPr id="3" name="object 3" descr=""/>
          <p:cNvSpPr txBox="1"/>
          <p:nvPr/>
        </p:nvSpPr>
        <p:spPr>
          <a:xfrm>
            <a:off x="3590264" y="2673493"/>
            <a:ext cx="1914525" cy="756920"/>
          </a:xfrm>
          <a:prstGeom prst="rect">
            <a:avLst/>
          </a:prstGeom>
        </p:spPr>
        <p:txBody>
          <a:bodyPr wrap="square" lIns="0" tIns="12700" rIns="0" bIns="0" rtlCol="0" vert="horz">
            <a:spAutoFit/>
          </a:bodyPr>
          <a:lstStyle/>
          <a:p>
            <a:pPr marL="224790" indent="-212090">
              <a:lnSpc>
                <a:spcPct val="100000"/>
              </a:lnSpc>
              <a:spcBef>
                <a:spcPts val="100"/>
              </a:spcBef>
              <a:buFont typeface="Arial MT"/>
              <a:buChar char="•"/>
              <a:tabLst>
                <a:tab pos="224790" algn="l"/>
              </a:tabLst>
            </a:pPr>
            <a:r>
              <a:rPr dirty="0" sz="1200" spc="-5">
                <a:latin typeface="Microsoft YaHei"/>
                <a:cs typeface="Microsoft YaHei"/>
              </a:rPr>
              <a:t>屏幕投影：</a:t>
            </a:r>
            <a:r>
              <a:rPr dirty="0" sz="1200" spc="-10">
                <a:latin typeface="Microsoft YaHei"/>
                <a:cs typeface="Microsoft YaHei"/>
              </a:rPr>
              <a:t>60~80</a:t>
            </a:r>
            <a:r>
              <a:rPr dirty="0" sz="1200" spc="-50">
                <a:latin typeface="Microsoft YaHei"/>
                <a:cs typeface="Microsoft YaHei"/>
              </a:rPr>
              <a:t>寸</a:t>
            </a:r>
            <a:endParaRPr sz="1200">
              <a:latin typeface="Microsoft YaHei"/>
              <a:cs typeface="Microsoft YaHei"/>
            </a:endParaRPr>
          </a:p>
          <a:p>
            <a:pPr marL="224790" indent="-212090">
              <a:lnSpc>
                <a:spcPct val="100000"/>
              </a:lnSpc>
              <a:buFont typeface="Arial MT"/>
              <a:buChar char="•"/>
              <a:tabLst>
                <a:tab pos="224790" algn="l"/>
              </a:tabLst>
            </a:pPr>
            <a:r>
              <a:rPr dirty="0" sz="1200" spc="-5">
                <a:latin typeface="Microsoft YaHei"/>
                <a:cs typeface="Microsoft YaHei"/>
              </a:rPr>
              <a:t>可视角度：</a:t>
            </a:r>
            <a:r>
              <a:rPr dirty="0" sz="1200" spc="-10">
                <a:latin typeface="Microsoft YaHei"/>
                <a:cs typeface="Microsoft YaHei"/>
              </a:rPr>
              <a:t>170</a:t>
            </a:r>
            <a:r>
              <a:rPr dirty="0" sz="1200" spc="-50">
                <a:latin typeface="Microsoft YaHei"/>
                <a:cs typeface="Microsoft YaHei"/>
              </a:rPr>
              <a:t>度</a:t>
            </a:r>
            <a:endParaRPr sz="1200">
              <a:latin typeface="Microsoft YaHei"/>
              <a:cs typeface="Microsoft YaHei"/>
            </a:endParaRPr>
          </a:p>
          <a:p>
            <a:pPr marL="224790" indent="-212090">
              <a:lnSpc>
                <a:spcPct val="100000"/>
              </a:lnSpc>
              <a:buFont typeface="Arial MT"/>
              <a:buChar char="•"/>
              <a:tabLst>
                <a:tab pos="224790" algn="l"/>
              </a:tabLst>
            </a:pPr>
            <a:r>
              <a:rPr dirty="0" sz="1200" spc="-5">
                <a:latin typeface="Microsoft YaHei"/>
                <a:cs typeface="Microsoft YaHei"/>
              </a:rPr>
              <a:t>眼镜重量：普通眼镜相当</a:t>
            </a:r>
            <a:endParaRPr sz="1200">
              <a:latin typeface="Microsoft YaHei"/>
              <a:cs typeface="Microsoft YaHei"/>
            </a:endParaRPr>
          </a:p>
          <a:p>
            <a:pPr marL="224790" indent="-212090">
              <a:lnSpc>
                <a:spcPct val="100000"/>
              </a:lnSpc>
              <a:buFont typeface="Arial MT"/>
              <a:buChar char="•"/>
              <a:tabLst>
                <a:tab pos="224790" algn="l"/>
              </a:tabLst>
            </a:pPr>
            <a:r>
              <a:rPr dirty="0" sz="1200" spc="-5">
                <a:latin typeface="Microsoft YaHei"/>
                <a:cs typeface="Microsoft YaHei"/>
              </a:rPr>
              <a:t>使用时长：</a:t>
            </a:r>
            <a:r>
              <a:rPr dirty="0" sz="1200" spc="-10">
                <a:latin typeface="Microsoft YaHei"/>
                <a:cs typeface="Microsoft YaHei"/>
              </a:rPr>
              <a:t>&gt;8</a:t>
            </a:r>
            <a:r>
              <a:rPr dirty="0" sz="1200" spc="-25">
                <a:latin typeface="Microsoft YaHei"/>
                <a:cs typeface="Microsoft YaHei"/>
              </a:rPr>
              <a:t>小时</a:t>
            </a:r>
            <a:endParaRPr sz="1200">
              <a:latin typeface="Microsoft YaHei"/>
              <a:cs typeface="Microsoft YaHei"/>
            </a:endParaRPr>
          </a:p>
        </p:txBody>
      </p:sp>
      <p:grpSp>
        <p:nvGrpSpPr>
          <p:cNvPr id="4" name="object 4" descr=""/>
          <p:cNvGrpSpPr/>
          <p:nvPr/>
        </p:nvGrpSpPr>
        <p:grpSpPr>
          <a:xfrm>
            <a:off x="3902076" y="3537172"/>
            <a:ext cx="1349375" cy="95250"/>
            <a:chOff x="3902076" y="3537172"/>
            <a:chExt cx="1349375" cy="95250"/>
          </a:xfrm>
        </p:grpSpPr>
        <p:sp>
          <p:nvSpPr>
            <p:cNvPr id="5" name="object 5" descr=""/>
            <p:cNvSpPr/>
            <p:nvPr/>
          </p:nvSpPr>
          <p:spPr>
            <a:xfrm>
              <a:off x="3914776" y="3549872"/>
              <a:ext cx="1323975" cy="69850"/>
            </a:xfrm>
            <a:custGeom>
              <a:avLst/>
              <a:gdLst/>
              <a:ahLst/>
              <a:cxnLst/>
              <a:rect l="l" t="t" r="r" b="b"/>
              <a:pathLst>
                <a:path w="1323975" h="69850">
                  <a:moveTo>
                    <a:pt x="1323975" y="0"/>
                  </a:moveTo>
                  <a:lnTo>
                    <a:pt x="0" y="0"/>
                  </a:lnTo>
                  <a:lnTo>
                    <a:pt x="661987" y="69850"/>
                  </a:lnTo>
                  <a:lnTo>
                    <a:pt x="1323975" y="0"/>
                  </a:lnTo>
                  <a:close/>
                </a:path>
              </a:pathLst>
            </a:custGeom>
            <a:solidFill>
              <a:srgbClr val="BBE0E3"/>
            </a:solidFill>
          </p:spPr>
          <p:txBody>
            <a:bodyPr wrap="square" lIns="0" tIns="0" rIns="0" bIns="0" rtlCol="0"/>
            <a:lstStyle/>
            <a:p/>
          </p:txBody>
        </p:sp>
        <p:sp>
          <p:nvSpPr>
            <p:cNvPr id="6" name="object 6" descr=""/>
            <p:cNvSpPr/>
            <p:nvPr/>
          </p:nvSpPr>
          <p:spPr>
            <a:xfrm>
              <a:off x="3914776" y="3549872"/>
              <a:ext cx="1323975" cy="69850"/>
            </a:xfrm>
            <a:custGeom>
              <a:avLst/>
              <a:gdLst/>
              <a:ahLst/>
              <a:cxnLst/>
              <a:rect l="l" t="t" r="r" b="b"/>
              <a:pathLst>
                <a:path w="1323975" h="69850">
                  <a:moveTo>
                    <a:pt x="0" y="0"/>
                  </a:moveTo>
                  <a:lnTo>
                    <a:pt x="661987" y="69850"/>
                  </a:lnTo>
                  <a:lnTo>
                    <a:pt x="1323975" y="0"/>
                  </a:lnTo>
                  <a:lnTo>
                    <a:pt x="0" y="0"/>
                  </a:lnTo>
                  <a:close/>
                </a:path>
              </a:pathLst>
            </a:custGeom>
            <a:ln w="25400">
              <a:solidFill>
                <a:srgbClr val="89A4A7"/>
              </a:solidFill>
            </a:ln>
          </p:spPr>
          <p:txBody>
            <a:bodyPr wrap="square" lIns="0" tIns="0" rIns="0" bIns="0" rtlCol="0"/>
            <a:lstStyle/>
            <a:p/>
          </p:txBody>
        </p:sp>
      </p:grpSp>
      <p:sp>
        <p:nvSpPr>
          <p:cNvPr id="7" name="object 7" descr=""/>
          <p:cNvSpPr txBox="1"/>
          <p:nvPr/>
        </p:nvSpPr>
        <p:spPr>
          <a:xfrm>
            <a:off x="3488663" y="3590813"/>
            <a:ext cx="215900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5">
                <a:latin typeface="Microsoft YaHei"/>
                <a:cs typeface="Microsoft YaHei"/>
              </a:rPr>
              <a:t>突破手机低头和使用时长瓶颈，</a:t>
            </a:r>
            <a:r>
              <a:rPr dirty="0" sz="1200" spc="-20">
                <a:latin typeface="Microsoft YaHei"/>
                <a:cs typeface="Microsoft YaHei"/>
              </a:rPr>
              <a:t>推动：</a:t>
            </a:r>
            <a:endParaRPr sz="1200">
              <a:latin typeface="Microsoft YaHei"/>
              <a:cs typeface="Microsoft YaHei"/>
            </a:endParaRPr>
          </a:p>
        </p:txBody>
      </p:sp>
      <p:sp>
        <p:nvSpPr>
          <p:cNvPr id="8" name="object 8" descr=""/>
          <p:cNvSpPr txBox="1"/>
          <p:nvPr/>
        </p:nvSpPr>
        <p:spPr>
          <a:xfrm>
            <a:off x="3488663" y="4139453"/>
            <a:ext cx="1845945" cy="574040"/>
          </a:xfrm>
          <a:prstGeom prst="rect">
            <a:avLst/>
          </a:prstGeom>
        </p:spPr>
        <p:txBody>
          <a:bodyPr wrap="square" lIns="0" tIns="104140" rIns="0" bIns="0" rtlCol="0" vert="horz">
            <a:spAutoFit/>
          </a:bodyPr>
          <a:lstStyle/>
          <a:p>
            <a:pPr marL="226695" indent="-213995">
              <a:lnSpc>
                <a:spcPct val="100000"/>
              </a:lnSpc>
              <a:spcBef>
                <a:spcPts val="820"/>
              </a:spcBef>
              <a:buFont typeface="Arial MT"/>
              <a:buChar char="•"/>
              <a:tabLst>
                <a:tab pos="226695" algn="l"/>
              </a:tabLst>
            </a:pPr>
            <a:r>
              <a:rPr dirty="0" sz="1200" spc="-10" b="1">
                <a:solidFill>
                  <a:srgbClr val="FF0000"/>
                </a:solidFill>
                <a:latin typeface="Microsoft YaHei"/>
                <a:cs typeface="Microsoft YaHei"/>
              </a:rPr>
              <a:t>HOU：2</a:t>
            </a:r>
            <a:r>
              <a:rPr dirty="0" sz="1200" spc="-5" b="1">
                <a:solidFill>
                  <a:srgbClr val="FF0000"/>
                </a:solidFill>
                <a:latin typeface="Microsoft YaHei"/>
                <a:cs typeface="Microsoft YaHei"/>
              </a:rPr>
              <a:t>小时 -&gt; </a:t>
            </a:r>
            <a:r>
              <a:rPr dirty="0" sz="1200" spc="-10" b="1">
                <a:solidFill>
                  <a:srgbClr val="FF0000"/>
                </a:solidFill>
                <a:latin typeface="Microsoft YaHei"/>
                <a:cs typeface="Microsoft YaHei"/>
              </a:rPr>
              <a:t>X</a:t>
            </a:r>
            <a:r>
              <a:rPr dirty="0" sz="1200" spc="-25" b="1">
                <a:solidFill>
                  <a:srgbClr val="FF0000"/>
                </a:solidFill>
                <a:latin typeface="Microsoft YaHei"/>
                <a:cs typeface="Microsoft YaHei"/>
              </a:rPr>
              <a:t>小时</a:t>
            </a:r>
            <a:endParaRPr sz="1200">
              <a:latin typeface="Microsoft YaHei"/>
              <a:cs typeface="Microsoft YaHei"/>
            </a:endParaRPr>
          </a:p>
          <a:p>
            <a:pPr marL="226695" indent="-213995">
              <a:lnSpc>
                <a:spcPct val="100000"/>
              </a:lnSpc>
              <a:spcBef>
                <a:spcPts val="720"/>
              </a:spcBef>
              <a:buFont typeface="Arial MT"/>
              <a:buChar char="•"/>
              <a:tabLst>
                <a:tab pos="226695" algn="l"/>
              </a:tabLst>
            </a:pPr>
            <a:r>
              <a:rPr dirty="0" sz="1200" b="1">
                <a:solidFill>
                  <a:srgbClr val="FF0000"/>
                </a:solidFill>
                <a:latin typeface="Microsoft YaHei"/>
                <a:cs typeface="Microsoft YaHei"/>
              </a:rPr>
              <a:t>DOU：XGB</a:t>
            </a:r>
            <a:r>
              <a:rPr dirty="0" sz="1200" spc="-25" b="1">
                <a:solidFill>
                  <a:srgbClr val="FF0000"/>
                </a:solidFill>
                <a:latin typeface="Microsoft YaHei"/>
                <a:cs typeface="Microsoft YaHei"/>
              </a:rPr>
              <a:t> </a:t>
            </a:r>
            <a:r>
              <a:rPr dirty="0" sz="1200" spc="-20" b="1">
                <a:solidFill>
                  <a:srgbClr val="FF0000"/>
                </a:solidFill>
                <a:latin typeface="Microsoft YaHei"/>
                <a:cs typeface="Microsoft YaHei"/>
              </a:rPr>
              <a:t>-</a:t>
            </a:r>
            <a:r>
              <a:rPr dirty="0" sz="1200" b="1">
                <a:solidFill>
                  <a:srgbClr val="FF0000"/>
                </a:solidFill>
                <a:latin typeface="Microsoft YaHei"/>
                <a:cs typeface="Microsoft YaHei"/>
              </a:rPr>
              <a:t>&gt;</a:t>
            </a:r>
            <a:r>
              <a:rPr dirty="0" sz="1200" spc="-25" b="1">
                <a:solidFill>
                  <a:srgbClr val="FF0000"/>
                </a:solidFill>
                <a:latin typeface="Microsoft YaHei"/>
                <a:cs typeface="Microsoft YaHei"/>
              </a:rPr>
              <a:t> </a:t>
            </a:r>
            <a:r>
              <a:rPr dirty="0" sz="1200" spc="-20" b="1">
                <a:solidFill>
                  <a:srgbClr val="FF0000"/>
                </a:solidFill>
                <a:latin typeface="Microsoft YaHei"/>
                <a:cs typeface="Microsoft YaHei"/>
              </a:rPr>
              <a:t>XXGB</a:t>
            </a:r>
            <a:endParaRPr sz="1200">
              <a:latin typeface="Microsoft YaHei"/>
              <a:cs typeface="Microsoft YaHei"/>
            </a:endParaRPr>
          </a:p>
        </p:txBody>
      </p:sp>
      <p:grpSp>
        <p:nvGrpSpPr>
          <p:cNvPr id="9" name="object 9" descr=""/>
          <p:cNvGrpSpPr/>
          <p:nvPr/>
        </p:nvGrpSpPr>
        <p:grpSpPr>
          <a:xfrm>
            <a:off x="1744663" y="1722666"/>
            <a:ext cx="1259205" cy="593725"/>
            <a:chOff x="1744663" y="1722666"/>
            <a:chExt cx="1259205" cy="593725"/>
          </a:xfrm>
        </p:grpSpPr>
        <p:pic>
          <p:nvPicPr>
            <p:cNvPr id="10" name="object 10"/>
            <p:cNvPicPr/>
            <p:nvPr/>
          </p:nvPicPr>
          <p:blipFill>
            <a:blip r:embed="rId3" cstate="print"/>
            <a:stretch>
              <a:fillRect/>
            </a:stretch>
          </p:blipFill>
          <p:spPr>
            <a:xfrm>
              <a:off x="2232025" y="1722666"/>
              <a:ext cx="771524" cy="563556"/>
            </a:xfrm>
            <a:prstGeom prst="rect">
              <a:avLst/>
            </a:prstGeom>
          </p:spPr>
        </p:pic>
        <p:pic>
          <p:nvPicPr>
            <p:cNvPr id="11" name="object 11"/>
            <p:cNvPicPr/>
            <p:nvPr/>
          </p:nvPicPr>
          <p:blipFill>
            <a:blip r:embed="rId4" cstate="print"/>
            <a:stretch>
              <a:fillRect/>
            </a:stretch>
          </p:blipFill>
          <p:spPr>
            <a:xfrm>
              <a:off x="1744663" y="1722666"/>
              <a:ext cx="511173" cy="593718"/>
            </a:xfrm>
            <a:prstGeom prst="rect">
              <a:avLst/>
            </a:prstGeom>
          </p:spPr>
        </p:pic>
      </p:grpSp>
      <p:sp>
        <p:nvSpPr>
          <p:cNvPr id="12" name="object 12" descr=""/>
          <p:cNvSpPr txBox="1"/>
          <p:nvPr/>
        </p:nvSpPr>
        <p:spPr>
          <a:xfrm>
            <a:off x="800418" y="2274206"/>
            <a:ext cx="89217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Microsoft YaHei"/>
                <a:cs typeface="Microsoft YaHei"/>
              </a:rPr>
              <a:t>Google</a:t>
            </a:r>
            <a:r>
              <a:rPr dirty="0" sz="1000" spc="-25">
                <a:latin typeface="Microsoft YaHei"/>
                <a:cs typeface="Microsoft YaHei"/>
              </a:rPr>
              <a:t> </a:t>
            </a:r>
            <a:r>
              <a:rPr dirty="0" sz="1000" spc="-10">
                <a:latin typeface="Microsoft YaHei"/>
                <a:cs typeface="Microsoft YaHei"/>
              </a:rPr>
              <a:t>Phone</a:t>
            </a:r>
            <a:endParaRPr sz="1000">
              <a:latin typeface="Microsoft YaHei"/>
              <a:cs typeface="Microsoft YaHei"/>
            </a:endParaRPr>
          </a:p>
        </p:txBody>
      </p:sp>
      <p:sp>
        <p:nvSpPr>
          <p:cNvPr id="13" name="object 13" descr=""/>
          <p:cNvSpPr txBox="1"/>
          <p:nvPr/>
        </p:nvSpPr>
        <p:spPr>
          <a:xfrm>
            <a:off x="938871" y="2579107"/>
            <a:ext cx="61531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Microsoft YaHei"/>
                <a:cs typeface="Microsoft YaHei"/>
              </a:rPr>
              <a:t>Tango</a:t>
            </a:r>
            <a:r>
              <a:rPr dirty="0" sz="1000" spc="-30">
                <a:latin typeface="Microsoft YaHei"/>
                <a:cs typeface="Microsoft YaHei"/>
              </a:rPr>
              <a:t> </a:t>
            </a:r>
            <a:r>
              <a:rPr dirty="0" sz="1000" spc="-25">
                <a:latin typeface="Microsoft YaHei"/>
                <a:cs typeface="Microsoft YaHei"/>
              </a:rPr>
              <a:t>VR</a:t>
            </a:r>
            <a:endParaRPr sz="1000">
              <a:latin typeface="Microsoft YaHei"/>
              <a:cs typeface="Microsoft YaHei"/>
            </a:endParaRPr>
          </a:p>
        </p:txBody>
      </p:sp>
      <p:sp>
        <p:nvSpPr>
          <p:cNvPr id="14" name="object 14" descr=""/>
          <p:cNvSpPr txBox="1"/>
          <p:nvPr/>
        </p:nvSpPr>
        <p:spPr>
          <a:xfrm>
            <a:off x="2084029" y="2355267"/>
            <a:ext cx="593090"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Microsoft YaHei"/>
                <a:cs typeface="Microsoft YaHei"/>
              </a:rPr>
              <a:t>Apple</a:t>
            </a:r>
            <a:r>
              <a:rPr dirty="0" sz="1000" spc="-10">
                <a:latin typeface="Microsoft YaHei"/>
                <a:cs typeface="Microsoft YaHei"/>
              </a:rPr>
              <a:t> </a:t>
            </a:r>
            <a:r>
              <a:rPr dirty="0" sz="1000" spc="-25">
                <a:latin typeface="Microsoft YaHei"/>
                <a:cs typeface="Microsoft YaHei"/>
              </a:rPr>
              <a:t>AR</a:t>
            </a:r>
            <a:endParaRPr sz="1000">
              <a:latin typeface="Microsoft YaHei"/>
              <a:cs typeface="Microsoft YaHei"/>
            </a:endParaRPr>
          </a:p>
        </p:txBody>
      </p:sp>
      <p:sp>
        <p:nvSpPr>
          <p:cNvPr id="15" name="object 15" descr=""/>
          <p:cNvSpPr txBox="1"/>
          <p:nvPr/>
        </p:nvSpPr>
        <p:spPr>
          <a:xfrm>
            <a:off x="767256" y="2507717"/>
            <a:ext cx="2235835" cy="178435"/>
          </a:xfrm>
          <a:prstGeom prst="rect">
            <a:avLst/>
          </a:prstGeom>
        </p:spPr>
        <p:txBody>
          <a:bodyPr wrap="square" lIns="0" tIns="12700" rIns="0" bIns="0" rtlCol="0" vert="horz">
            <a:spAutoFit/>
          </a:bodyPr>
          <a:lstStyle/>
          <a:p>
            <a:pPr marL="38100">
              <a:lnSpc>
                <a:spcPct val="100000"/>
              </a:lnSpc>
              <a:spcBef>
                <a:spcPts val="100"/>
              </a:spcBef>
            </a:pPr>
            <a:r>
              <a:rPr dirty="0" baseline="36111" sz="1500">
                <a:latin typeface="Microsoft YaHei"/>
                <a:cs typeface="Microsoft YaHei"/>
              </a:rPr>
              <a:t>DayDream</a:t>
            </a:r>
            <a:r>
              <a:rPr dirty="0" baseline="36111" sz="1500" spc="-22">
                <a:latin typeface="Microsoft YaHei"/>
                <a:cs typeface="Microsoft YaHei"/>
              </a:rPr>
              <a:t> </a:t>
            </a:r>
            <a:r>
              <a:rPr dirty="0" baseline="36111" sz="1500">
                <a:latin typeface="Microsoft YaHei"/>
                <a:cs typeface="Microsoft YaHei"/>
              </a:rPr>
              <a:t>AR</a:t>
            </a:r>
            <a:r>
              <a:rPr dirty="0" baseline="36111" sz="1500" spc="-30">
                <a:latin typeface="Microsoft YaHei"/>
                <a:cs typeface="Microsoft YaHei"/>
              </a:rPr>
              <a:t> </a:t>
            </a:r>
            <a:r>
              <a:rPr dirty="0" baseline="36111" sz="1500">
                <a:latin typeface="Microsoft YaHei"/>
                <a:cs typeface="Microsoft YaHei"/>
              </a:rPr>
              <a:t>,</a:t>
            </a:r>
            <a:r>
              <a:rPr dirty="0" baseline="36111" sz="1500" spc="405">
                <a:latin typeface="Microsoft YaHei"/>
                <a:cs typeface="Microsoft YaHei"/>
              </a:rPr>
              <a:t> </a:t>
            </a:r>
            <a:r>
              <a:rPr dirty="0" sz="1000">
                <a:latin typeface="Microsoft YaHei"/>
                <a:cs typeface="Microsoft YaHei"/>
              </a:rPr>
              <a:t>Browse</a:t>
            </a:r>
            <a:r>
              <a:rPr dirty="0" sz="1000" spc="-20">
                <a:latin typeface="Microsoft YaHei"/>
                <a:cs typeface="Microsoft YaHei"/>
              </a:rPr>
              <a:t> </a:t>
            </a:r>
            <a:r>
              <a:rPr dirty="0" sz="1000">
                <a:latin typeface="Microsoft YaHei"/>
                <a:cs typeface="Microsoft YaHei"/>
              </a:rPr>
              <a:t>Around</a:t>
            </a:r>
            <a:r>
              <a:rPr dirty="0" sz="1000" spc="-25">
                <a:latin typeface="Microsoft YaHei"/>
                <a:cs typeface="Microsoft YaHei"/>
              </a:rPr>
              <a:t> Me</a:t>
            </a:r>
            <a:endParaRPr sz="1000">
              <a:latin typeface="Microsoft YaHei"/>
              <a:cs typeface="Microsoft YaHei"/>
            </a:endParaRPr>
          </a:p>
        </p:txBody>
      </p:sp>
      <p:grpSp>
        <p:nvGrpSpPr>
          <p:cNvPr id="16" name="object 16" descr=""/>
          <p:cNvGrpSpPr/>
          <p:nvPr/>
        </p:nvGrpSpPr>
        <p:grpSpPr>
          <a:xfrm>
            <a:off x="754063" y="1703609"/>
            <a:ext cx="2024380" cy="2682875"/>
            <a:chOff x="754063" y="1703609"/>
            <a:chExt cx="2024380" cy="2682875"/>
          </a:xfrm>
        </p:grpSpPr>
        <p:pic>
          <p:nvPicPr>
            <p:cNvPr id="17" name="object 17"/>
            <p:cNvPicPr/>
            <p:nvPr/>
          </p:nvPicPr>
          <p:blipFill>
            <a:blip r:embed="rId5" cstate="print"/>
            <a:stretch>
              <a:fillRect/>
            </a:stretch>
          </p:blipFill>
          <p:spPr>
            <a:xfrm>
              <a:off x="754063" y="1703609"/>
              <a:ext cx="965199" cy="473068"/>
            </a:xfrm>
            <a:prstGeom prst="rect">
              <a:avLst/>
            </a:prstGeom>
          </p:spPr>
        </p:pic>
        <p:pic>
          <p:nvPicPr>
            <p:cNvPr id="18" name="object 18"/>
            <p:cNvPicPr/>
            <p:nvPr/>
          </p:nvPicPr>
          <p:blipFill>
            <a:blip r:embed="rId6" cstate="print"/>
            <a:stretch>
              <a:fillRect/>
            </a:stretch>
          </p:blipFill>
          <p:spPr>
            <a:xfrm>
              <a:off x="1103315" y="3926116"/>
              <a:ext cx="661984" cy="460368"/>
            </a:xfrm>
            <a:prstGeom prst="rect">
              <a:avLst/>
            </a:prstGeom>
          </p:spPr>
        </p:pic>
        <p:pic>
          <p:nvPicPr>
            <p:cNvPr id="19" name="object 19"/>
            <p:cNvPicPr/>
            <p:nvPr/>
          </p:nvPicPr>
          <p:blipFill>
            <a:blip r:embed="rId7" cstate="print"/>
            <a:stretch>
              <a:fillRect/>
            </a:stretch>
          </p:blipFill>
          <p:spPr>
            <a:xfrm>
              <a:off x="1995488" y="3926116"/>
              <a:ext cx="782636" cy="460368"/>
            </a:xfrm>
            <a:prstGeom prst="rect">
              <a:avLst/>
            </a:prstGeom>
          </p:spPr>
        </p:pic>
        <p:pic>
          <p:nvPicPr>
            <p:cNvPr id="20" name="object 20"/>
            <p:cNvPicPr/>
            <p:nvPr/>
          </p:nvPicPr>
          <p:blipFill>
            <a:blip r:embed="rId8" cstate="print"/>
            <a:stretch>
              <a:fillRect/>
            </a:stretch>
          </p:blipFill>
          <p:spPr>
            <a:xfrm>
              <a:off x="1112838" y="3106959"/>
              <a:ext cx="812798" cy="530218"/>
            </a:xfrm>
            <a:prstGeom prst="rect">
              <a:avLst/>
            </a:prstGeom>
          </p:spPr>
        </p:pic>
        <p:pic>
          <p:nvPicPr>
            <p:cNvPr id="21" name="object 21"/>
            <p:cNvPicPr/>
            <p:nvPr/>
          </p:nvPicPr>
          <p:blipFill>
            <a:blip r:embed="rId9" cstate="print"/>
            <a:stretch>
              <a:fillRect/>
            </a:stretch>
          </p:blipFill>
          <p:spPr>
            <a:xfrm>
              <a:off x="2060575" y="3183157"/>
              <a:ext cx="603249" cy="436558"/>
            </a:xfrm>
            <a:prstGeom prst="rect">
              <a:avLst/>
            </a:prstGeom>
          </p:spPr>
        </p:pic>
      </p:grpSp>
      <p:sp>
        <p:nvSpPr>
          <p:cNvPr id="22" name="object 22" descr=""/>
          <p:cNvSpPr txBox="1"/>
          <p:nvPr/>
        </p:nvSpPr>
        <p:spPr>
          <a:xfrm>
            <a:off x="402564" y="2087707"/>
            <a:ext cx="330200"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Microsoft YaHei"/>
                <a:cs typeface="Microsoft YaHei"/>
              </a:rPr>
              <a:t>手机</a:t>
            </a:r>
            <a:endParaRPr sz="1200">
              <a:latin typeface="Microsoft YaHei"/>
              <a:cs typeface="Microsoft YaHei"/>
            </a:endParaRPr>
          </a:p>
        </p:txBody>
      </p:sp>
      <p:sp>
        <p:nvSpPr>
          <p:cNvPr id="23" name="object 23" descr=""/>
          <p:cNvSpPr txBox="1"/>
          <p:nvPr/>
        </p:nvSpPr>
        <p:spPr>
          <a:xfrm>
            <a:off x="549020" y="3616431"/>
            <a:ext cx="330200" cy="574040"/>
          </a:xfrm>
          <a:prstGeom prst="rect">
            <a:avLst/>
          </a:prstGeom>
        </p:spPr>
        <p:txBody>
          <a:bodyPr wrap="square" lIns="0" tIns="12700" rIns="0" bIns="0" rtlCol="0" vert="horz">
            <a:spAutoFit/>
          </a:bodyPr>
          <a:lstStyle/>
          <a:p>
            <a:pPr marL="12700">
              <a:lnSpc>
                <a:spcPct val="100000"/>
              </a:lnSpc>
              <a:spcBef>
                <a:spcPts val="100"/>
              </a:spcBef>
            </a:pPr>
            <a:r>
              <a:rPr dirty="0" sz="1200" spc="-25">
                <a:latin typeface="Microsoft YaHei"/>
                <a:cs typeface="Microsoft YaHei"/>
              </a:rPr>
              <a:t>手机</a:t>
            </a:r>
            <a:endParaRPr sz="1200">
              <a:latin typeface="Microsoft YaHei"/>
              <a:cs typeface="Microsoft YaHei"/>
            </a:endParaRPr>
          </a:p>
          <a:p>
            <a:pPr marL="108585">
              <a:lnSpc>
                <a:spcPct val="100000"/>
              </a:lnSpc>
            </a:pPr>
            <a:r>
              <a:rPr dirty="0" sz="1200" spc="-50">
                <a:latin typeface="Microsoft YaHei"/>
                <a:cs typeface="Microsoft YaHei"/>
              </a:rPr>
              <a:t>+</a:t>
            </a:r>
            <a:endParaRPr sz="1200">
              <a:latin typeface="Microsoft YaHei"/>
              <a:cs typeface="Microsoft YaHei"/>
            </a:endParaRPr>
          </a:p>
          <a:p>
            <a:pPr marL="12700">
              <a:lnSpc>
                <a:spcPct val="100000"/>
              </a:lnSpc>
            </a:pPr>
            <a:r>
              <a:rPr dirty="0" sz="1200" spc="-25">
                <a:latin typeface="Microsoft YaHei"/>
                <a:cs typeface="Microsoft YaHei"/>
              </a:rPr>
              <a:t>眼镜</a:t>
            </a:r>
            <a:endParaRPr sz="1200">
              <a:latin typeface="Microsoft YaHei"/>
              <a:cs typeface="Microsoft YaHei"/>
            </a:endParaRPr>
          </a:p>
        </p:txBody>
      </p:sp>
      <p:sp>
        <p:nvSpPr>
          <p:cNvPr id="24" name="object 24" descr=""/>
          <p:cNvSpPr txBox="1"/>
          <p:nvPr/>
        </p:nvSpPr>
        <p:spPr>
          <a:xfrm>
            <a:off x="1054736" y="3572780"/>
            <a:ext cx="816610"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Microsoft YaHei"/>
                <a:cs typeface="Microsoft YaHei"/>
              </a:rPr>
              <a:t>微软</a:t>
            </a:r>
            <a:r>
              <a:rPr dirty="0" sz="1000" spc="-10">
                <a:latin typeface="Microsoft YaHei"/>
                <a:cs typeface="Microsoft YaHei"/>
              </a:rPr>
              <a:t>Hololens</a:t>
            </a:r>
            <a:endParaRPr sz="1000">
              <a:latin typeface="Microsoft YaHei"/>
              <a:cs typeface="Microsoft YaHei"/>
            </a:endParaRPr>
          </a:p>
        </p:txBody>
      </p:sp>
      <p:sp>
        <p:nvSpPr>
          <p:cNvPr id="25" name="object 25" descr=""/>
          <p:cNvSpPr txBox="1"/>
          <p:nvPr/>
        </p:nvSpPr>
        <p:spPr>
          <a:xfrm>
            <a:off x="1069752" y="4415711"/>
            <a:ext cx="75501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Microsoft YaHei"/>
                <a:cs typeface="Microsoft YaHei"/>
              </a:rPr>
              <a:t>Recon</a:t>
            </a:r>
            <a:r>
              <a:rPr dirty="0" sz="1000" spc="-35">
                <a:latin typeface="Microsoft YaHei"/>
                <a:cs typeface="Microsoft YaHei"/>
              </a:rPr>
              <a:t> </a:t>
            </a:r>
            <a:r>
              <a:rPr dirty="0" sz="1000" spc="-10">
                <a:latin typeface="Microsoft YaHei"/>
                <a:cs typeface="Microsoft YaHei"/>
              </a:rPr>
              <a:t>Glass</a:t>
            </a:r>
            <a:endParaRPr sz="1000">
              <a:latin typeface="Microsoft YaHei"/>
              <a:cs typeface="Microsoft YaHei"/>
            </a:endParaRPr>
          </a:p>
        </p:txBody>
      </p:sp>
      <p:sp>
        <p:nvSpPr>
          <p:cNvPr id="26" name="object 26" descr=""/>
          <p:cNvSpPr txBox="1"/>
          <p:nvPr/>
        </p:nvSpPr>
        <p:spPr>
          <a:xfrm>
            <a:off x="2197731" y="4415711"/>
            <a:ext cx="469265" cy="330835"/>
          </a:xfrm>
          <a:prstGeom prst="rect">
            <a:avLst/>
          </a:prstGeom>
        </p:spPr>
        <p:txBody>
          <a:bodyPr wrap="square" lIns="0" tIns="12700" rIns="0" bIns="0" rtlCol="0" vert="horz">
            <a:spAutoFit/>
          </a:bodyPr>
          <a:lstStyle/>
          <a:p>
            <a:pPr marL="76200" marR="5080" indent="-64135">
              <a:lnSpc>
                <a:spcPct val="100000"/>
              </a:lnSpc>
              <a:spcBef>
                <a:spcPts val="100"/>
              </a:spcBef>
            </a:pPr>
            <a:r>
              <a:rPr dirty="0" sz="1000" spc="-10">
                <a:latin typeface="Microsoft YaHei"/>
                <a:cs typeface="Microsoft YaHei"/>
              </a:rPr>
              <a:t>Google </a:t>
            </a:r>
            <a:r>
              <a:rPr dirty="0" sz="1000" spc="-20">
                <a:latin typeface="Microsoft YaHei"/>
                <a:cs typeface="Microsoft YaHei"/>
              </a:rPr>
              <a:t>Glass</a:t>
            </a:r>
            <a:endParaRPr sz="1000">
              <a:latin typeface="Microsoft YaHei"/>
              <a:cs typeface="Microsoft YaHei"/>
            </a:endParaRPr>
          </a:p>
        </p:txBody>
      </p:sp>
      <p:sp>
        <p:nvSpPr>
          <p:cNvPr id="27" name="object 27" descr=""/>
          <p:cNvSpPr txBox="1"/>
          <p:nvPr/>
        </p:nvSpPr>
        <p:spPr>
          <a:xfrm>
            <a:off x="2177498" y="3583851"/>
            <a:ext cx="339725" cy="178435"/>
          </a:xfrm>
          <a:prstGeom prst="rect">
            <a:avLst/>
          </a:prstGeom>
        </p:spPr>
        <p:txBody>
          <a:bodyPr wrap="square" lIns="0" tIns="12700" rIns="0" bIns="0" rtlCol="0" vert="horz">
            <a:spAutoFit/>
          </a:bodyPr>
          <a:lstStyle/>
          <a:p>
            <a:pPr marL="12700">
              <a:lnSpc>
                <a:spcPct val="100000"/>
              </a:lnSpc>
              <a:spcBef>
                <a:spcPts val="100"/>
              </a:spcBef>
            </a:pPr>
            <a:r>
              <a:rPr dirty="0" sz="1000" spc="-20">
                <a:latin typeface="Microsoft YaHei"/>
                <a:cs typeface="Microsoft YaHei"/>
              </a:rPr>
              <a:t>Meta</a:t>
            </a:r>
            <a:endParaRPr sz="1000">
              <a:latin typeface="Microsoft YaHei"/>
              <a:cs typeface="Microsoft YaHei"/>
            </a:endParaRPr>
          </a:p>
        </p:txBody>
      </p:sp>
      <p:graphicFrame>
        <p:nvGraphicFramePr>
          <p:cNvPr id="28" name="object 28" descr=""/>
          <p:cNvGraphicFramePr>
            <a:graphicFrameLocks noGrp="1"/>
          </p:cNvGraphicFramePr>
          <p:nvPr/>
        </p:nvGraphicFramePr>
        <p:xfrm>
          <a:off x="6030913" y="1536921"/>
          <a:ext cx="3006725" cy="3129279"/>
        </p:xfrm>
        <a:graphic>
          <a:graphicData uri="http://schemas.openxmlformats.org/drawingml/2006/table">
            <a:tbl>
              <a:tblPr firstRow="1" bandRow="1">
                <a:tableStyleId>{2D5ABB26-0587-4C30-8999-92F81FD0307C}</a:tableStyleId>
              </a:tblPr>
              <a:tblGrid>
                <a:gridCol w="840105"/>
                <a:gridCol w="457834"/>
                <a:gridCol w="486409"/>
                <a:gridCol w="596264"/>
                <a:gridCol w="541019"/>
              </a:tblGrid>
              <a:tr h="315595">
                <a:tc>
                  <a:txBody>
                    <a:bodyPr/>
                    <a:lstStyle/>
                    <a:p>
                      <a:pPr>
                        <a:lnSpc>
                          <a:spcPct val="100000"/>
                        </a:lnSpc>
                      </a:pPr>
                      <a:endParaRPr sz="11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515">
                        <a:lnSpc>
                          <a:spcPct val="100000"/>
                        </a:lnSpc>
                        <a:spcBef>
                          <a:spcPts val="160"/>
                        </a:spcBef>
                      </a:pPr>
                      <a:r>
                        <a:rPr dirty="0" sz="900" spc="-20" b="1">
                          <a:latin typeface="Microsoft YaHei"/>
                          <a:cs typeface="Microsoft YaHei"/>
                        </a:rPr>
                        <a:t>导入期</a:t>
                      </a:r>
                      <a:endParaRPr sz="900">
                        <a:latin typeface="Microsoft YaHei"/>
                        <a:cs typeface="Microsoft YaHei"/>
                      </a:endParaRPr>
                    </a:p>
                    <a:p>
                      <a:pPr marL="4445">
                        <a:lnSpc>
                          <a:spcPct val="100000"/>
                        </a:lnSpc>
                      </a:pPr>
                      <a:r>
                        <a:rPr dirty="0" sz="900" b="1">
                          <a:latin typeface="Microsoft YaHei"/>
                          <a:cs typeface="Microsoft YaHei"/>
                        </a:rPr>
                        <a:t>AR</a:t>
                      </a:r>
                      <a:r>
                        <a:rPr dirty="0" sz="900" spc="-25" b="1">
                          <a:latin typeface="Microsoft YaHei"/>
                          <a:cs typeface="Microsoft YaHei"/>
                        </a:rPr>
                        <a:t> </a:t>
                      </a:r>
                      <a:r>
                        <a:rPr dirty="0" sz="900" spc="-20" b="1">
                          <a:latin typeface="Microsoft YaHei"/>
                          <a:cs typeface="Microsoft YaHei"/>
                        </a:rPr>
                        <a:t>(2D)</a:t>
                      </a:r>
                      <a:endParaRPr sz="900">
                        <a:latin typeface="Microsoft YaHei"/>
                        <a:cs typeface="Microsoft YaHei"/>
                      </a:endParaRPr>
                    </a:p>
                  </a:txBody>
                  <a:tcPr marL="0" marR="0" marB="0" marT="203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1120">
                        <a:lnSpc>
                          <a:spcPct val="100000"/>
                        </a:lnSpc>
                        <a:spcBef>
                          <a:spcPts val="160"/>
                        </a:spcBef>
                      </a:pPr>
                      <a:r>
                        <a:rPr dirty="0" sz="900" spc="-20" b="1">
                          <a:latin typeface="Microsoft YaHei"/>
                          <a:cs typeface="Microsoft YaHei"/>
                        </a:rPr>
                        <a:t>普及型</a:t>
                      </a:r>
                      <a:endParaRPr sz="900">
                        <a:latin typeface="Microsoft YaHei"/>
                        <a:cs typeface="Microsoft YaHei"/>
                      </a:endParaRPr>
                    </a:p>
                    <a:p>
                      <a:pPr marL="18415">
                        <a:lnSpc>
                          <a:spcPct val="100000"/>
                        </a:lnSpc>
                      </a:pPr>
                      <a:r>
                        <a:rPr dirty="0" sz="900" b="1">
                          <a:latin typeface="Microsoft YaHei"/>
                          <a:cs typeface="Microsoft YaHei"/>
                        </a:rPr>
                        <a:t>AR</a:t>
                      </a:r>
                      <a:r>
                        <a:rPr dirty="0" sz="900" spc="-25" b="1">
                          <a:latin typeface="Microsoft YaHei"/>
                          <a:cs typeface="Microsoft YaHei"/>
                        </a:rPr>
                        <a:t> </a:t>
                      </a:r>
                      <a:r>
                        <a:rPr dirty="0" sz="900" spc="-20" b="1">
                          <a:latin typeface="Microsoft YaHei"/>
                          <a:cs typeface="Microsoft YaHei"/>
                        </a:rPr>
                        <a:t>(2D)</a:t>
                      </a:r>
                      <a:endParaRPr sz="900">
                        <a:latin typeface="Microsoft YaHei"/>
                        <a:cs typeface="Microsoft YaHei"/>
                      </a:endParaRPr>
                    </a:p>
                  </a:txBody>
                  <a:tcPr marL="0" marR="0" marB="0" marT="203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4935" marR="35560" indent="-72390">
                        <a:lnSpc>
                          <a:spcPct val="100000"/>
                        </a:lnSpc>
                        <a:spcBef>
                          <a:spcPts val="160"/>
                        </a:spcBef>
                      </a:pPr>
                      <a:r>
                        <a:rPr dirty="0" sz="900" b="1">
                          <a:latin typeface="Microsoft YaHei"/>
                          <a:cs typeface="Microsoft YaHei"/>
                        </a:rPr>
                        <a:t>中等AR</a:t>
                      </a:r>
                      <a:r>
                        <a:rPr dirty="0" sz="900" spc="-50" b="1">
                          <a:latin typeface="Microsoft YaHei"/>
                          <a:cs typeface="Microsoft YaHei"/>
                        </a:rPr>
                        <a:t>体</a:t>
                      </a:r>
                      <a:r>
                        <a:rPr dirty="0" sz="900" spc="-10" b="1">
                          <a:latin typeface="Microsoft YaHei"/>
                          <a:cs typeface="Microsoft YaHei"/>
                        </a:rPr>
                        <a:t>验(</a:t>
                      </a:r>
                      <a:r>
                        <a:rPr dirty="0" sz="900" spc="-20" b="1">
                          <a:latin typeface="Microsoft YaHei"/>
                          <a:cs typeface="Microsoft YaHei"/>
                        </a:rPr>
                        <a:t>2D)</a:t>
                      </a:r>
                      <a:endParaRPr sz="900">
                        <a:latin typeface="Microsoft YaHei"/>
                        <a:cs typeface="Microsoft YaHei"/>
                      </a:endParaRPr>
                    </a:p>
                  </a:txBody>
                  <a:tcPr marL="0" marR="0" marB="0" marT="203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6995" marR="7620" indent="-72390">
                        <a:lnSpc>
                          <a:spcPct val="100000"/>
                        </a:lnSpc>
                        <a:spcBef>
                          <a:spcPts val="160"/>
                        </a:spcBef>
                      </a:pPr>
                      <a:r>
                        <a:rPr dirty="0" sz="900" b="1">
                          <a:latin typeface="Microsoft YaHei"/>
                          <a:cs typeface="Microsoft YaHei"/>
                        </a:rPr>
                        <a:t>极致AR</a:t>
                      </a:r>
                      <a:r>
                        <a:rPr dirty="0" sz="900" spc="-50" b="1">
                          <a:latin typeface="Microsoft YaHei"/>
                          <a:cs typeface="Microsoft YaHei"/>
                        </a:rPr>
                        <a:t>体</a:t>
                      </a:r>
                      <a:r>
                        <a:rPr dirty="0" sz="900" spc="-10" b="1">
                          <a:latin typeface="Microsoft YaHei"/>
                          <a:cs typeface="Microsoft YaHei"/>
                        </a:rPr>
                        <a:t>验(</a:t>
                      </a:r>
                      <a:r>
                        <a:rPr dirty="0" sz="900" spc="-20" b="1">
                          <a:latin typeface="Microsoft YaHei"/>
                          <a:cs typeface="Microsoft YaHei"/>
                        </a:rPr>
                        <a:t>3D)</a:t>
                      </a:r>
                      <a:endParaRPr sz="900">
                        <a:latin typeface="Microsoft YaHei"/>
                        <a:cs typeface="Microsoft YaHei"/>
                      </a:endParaRPr>
                    </a:p>
                  </a:txBody>
                  <a:tcPr marL="0" marR="0" marB="0" marT="203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7975">
                <a:tc>
                  <a:txBody>
                    <a:bodyPr/>
                    <a:lstStyle/>
                    <a:p>
                      <a:pPr algn="ctr">
                        <a:lnSpc>
                          <a:spcPct val="100000"/>
                        </a:lnSpc>
                        <a:spcBef>
                          <a:spcPts val="700"/>
                        </a:spcBef>
                      </a:pPr>
                      <a:r>
                        <a:rPr dirty="0" sz="900" spc="-10">
                          <a:latin typeface="Microsoft YaHei"/>
                          <a:cs typeface="Microsoft YaHei"/>
                        </a:rPr>
                        <a:t>H-</a:t>
                      </a:r>
                      <a:r>
                        <a:rPr dirty="0" sz="900" spc="-25">
                          <a:latin typeface="Microsoft YaHei"/>
                          <a:cs typeface="Microsoft YaHei"/>
                        </a:rPr>
                        <a:t>FOV</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33</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66</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132</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200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7975">
                <a:tc>
                  <a:txBody>
                    <a:bodyPr/>
                    <a:lstStyle/>
                    <a:p>
                      <a:pPr algn="ctr">
                        <a:lnSpc>
                          <a:spcPct val="100000"/>
                        </a:lnSpc>
                        <a:spcBef>
                          <a:spcPts val="700"/>
                        </a:spcBef>
                      </a:pPr>
                      <a:r>
                        <a:rPr dirty="0" sz="900" spc="-10">
                          <a:latin typeface="Microsoft YaHei"/>
                          <a:cs typeface="Microsoft YaHei"/>
                        </a:rPr>
                        <a:t>V-</a:t>
                      </a:r>
                      <a:r>
                        <a:rPr dirty="0" sz="900" spc="-25">
                          <a:latin typeface="Microsoft YaHei"/>
                          <a:cs typeface="Microsoft YaHei"/>
                        </a:rPr>
                        <a:t>FOV</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18</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36</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72</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5">
                          <a:latin typeface="Microsoft YaHei"/>
                          <a:cs typeface="Microsoft YaHei"/>
                        </a:rPr>
                        <a:t>130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7975">
                <a:tc>
                  <a:txBody>
                    <a:bodyPr/>
                    <a:lstStyle/>
                    <a:p>
                      <a:pPr algn="ctr">
                        <a:lnSpc>
                          <a:spcPct val="100000"/>
                        </a:lnSpc>
                        <a:spcBef>
                          <a:spcPts val="700"/>
                        </a:spcBef>
                      </a:pPr>
                      <a:r>
                        <a:rPr dirty="0" sz="900" spc="-10">
                          <a:latin typeface="Microsoft YaHei"/>
                          <a:cs typeface="Microsoft YaHei"/>
                        </a:rPr>
                        <a:t>H-Resolution</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1980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3960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7920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10">
                          <a:latin typeface="Microsoft YaHei"/>
                          <a:cs typeface="Microsoft YaHei"/>
                        </a:rPr>
                        <a:t>12000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07975">
                <a:tc>
                  <a:txBody>
                    <a:bodyPr/>
                    <a:lstStyle/>
                    <a:p>
                      <a:pPr algn="ctr">
                        <a:lnSpc>
                          <a:spcPct val="100000"/>
                        </a:lnSpc>
                        <a:spcBef>
                          <a:spcPts val="700"/>
                        </a:spcBef>
                      </a:pPr>
                      <a:r>
                        <a:rPr dirty="0" sz="900" spc="-10">
                          <a:latin typeface="Microsoft YaHei"/>
                          <a:cs typeface="Microsoft YaHei"/>
                        </a:rPr>
                        <a:t>V-Resolution</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1080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2160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4320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00"/>
                        </a:spcBef>
                      </a:pPr>
                      <a:r>
                        <a:rPr dirty="0" sz="900" spc="-20">
                          <a:latin typeface="Microsoft YaHei"/>
                          <a:cs typeface="Microsoft YaHei"/>
                        </a:rPr>
                        <a:t>7800</a:t>
                      </a:r>
                      <a:endParaRPr sz="900">
                        <a:latin typeface="Microsoft YaHei"/>
                        <a:cs typeface="Microsoft YaHei"/>
                      </a:endParaRPr>
                    </a:p>
                  </a:txBody>
                  <a:tcPr marL="0" marR="0" marB="0" marT="889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a:txBody>
                    <a:bodyPr/>
                    <a:lstStyle/>
                    <a:p>
                      <a:pPr>
                        <a:lnSpc>
                          <a:spcPct val="100000"/>
                        </a:lnSpc>
                        <a:spcBef>
                          <a:spcPts val="195"/>
                        </a:spcBef>
                      </a:pPr>
                      <a:endParaRPr sz="900">
                        <a:latin typeface="Times New Roman"/>
                        <a:cs typeface="Times New Roman"/>
                      </a:endParaRPr>
                    </a:p>
                    <a:p>
                      <a:pPr algn="ctr">
                        <a:lnSpc>
                          <a:spcPct val="100000"/>
                        </a:lnSpc>
                      </a:pPr>
                      <a:r>
                        <a:rPr dirty="0" sz="900">
                          <a:latin typeface="Microsoft YaHei"/>
                          <a:cs typeface="Microsoft YaHei"/>
                        </a:rPr>
                        <a:t>Color</a:t>
                      </a:r>
                      <a:r>
                        <a:rPr dirty="0" sz="900" spc="-40">
                          <a:latin typeface="Microsoft YaHei"/>
                          <a:cs typeface="Microsoft YaHei"/>
                        </a:rPr>
                        <a:t> </a:t>
                      </a:r>
                      <a:r>
                        <a:rPr dirty="0" sz="900" spc="-10">
                          <a:latin typeface="Microsoft YaHei"/>
                          <a:cs typeface="Microsoft YaHei"/>
                        </a:rPr>
                        <a:t>depth</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95"/>
                        </a:spcBef>
                      </a:pPr>
                      <a:endParaRPr sz="900">
                        <a:latin typeface="Times New Roman"/>
                        <a:cs typeface="Times New Roman"/>
                      </a:endParaRPr>
                    </a:p>
                    <a:p>
                      <a:pPr algn="ctr">
                        <a:lnSpc>
                          <a:spcPct val="100000"/>
                        </a:lnSpc>
                      </a:pPr>
                      <a:r>
                        <a:rPr dirty="0" sz="900" spc="-50">
                          <a:latin typeface="Microsoft YaHei"/>
                          <a:cs typeface="Microsoft YaHei"/>
                        </a:rPr>
                        <a:t>8</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95"/>
                        </a:spcBef>
                      </a:pPr>
                      <a:endParaRPr sz="900">
                        <a:latin typeface="Times New Roman"/>
                        <a:cs typeface="Times New Roman"/>
                      </a:endParaRPr>
                    </a:p>
                    <a:p>
                      <a:pPr algn="ctr">
                        <a:lnSpc>
                          <a:spcPct val="100000"/>
                        </a:lnSpc>
                      </a:pPr>
                      <a:r>
                        <a:rPr dirty="0" sz="900" spc="-25">
                          <a:latin typeface="Microsoft YaHei"/>
                          <a:cs typeface="Microsoft YaHei"/>
                        </a:rPr>
                        <a:t>10</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95"/>
                        </a:spcBef>
                      </a:pPr>
                      <a:endParaRPr sz="900">
                        <a:latin typeface="Times New Roman"/>
                        <a:cs typeface="Times New Roman"/>
                      </a:endParaRPr>
                    </a:p>
                    <a:p>
                      <a:pPr algn="ctr">
                        <a:lnSpc>
                          <a:spcPct val="100000"/>
                        </a:lnSpc>
                      </a:pPr>
                      <a:r>
                        <a:rPr dirty="0" sz="900" spc="-25">
                          <a:latin typeface="Microsoft YaHei"/>
                          <a:cs typeface="Microsoft YaHei"/>
                        </a:rPr>
                        <a:t>12</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95"/>
                        </a:spcBef>
                      </a:pPr>
                      <a:endParaRPr sz="900">
                        <a:latin typeface="Times New Roman"/>
                        <a:cs typeface="Times New Roman"/>
                      </a:endParaRPr>
                    </a:p>
                    <a:p>
                      <a:pPr algn="ctr">
                        <a:lnSpc>
                          <a:spcPct val="100000"/>
                        </a:lnSpc>
                      </a:pPr>
                      <a:r>
                        <a:rPr dirty="0" sz="900" spc="-25">
                          <a:latin typeface="Microsoft YaHei"/>
                          <a:cs typeface="Microsoft YaHei"/>
                        </a:rPr>
                        <a:t>14</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1950">
                <a:tc>
                  <a:txBody>
                    <a:bodyPr/>
                    <a:lstStyle/>
                    <a:p>
                      <a:pPr algn="ctr">
                        <a:lnSpc>
                          <a:spcPct val="100000"/>
                        </a:lnSpc>
                        <a:spcBef>
                          <a:spcPts val="910"/>
                        </a:spcBef>
                      </a:pPr>
                      <a:r>
                        <a:rPr dirty="0" sz="900" spc="-25">
                          <a:latin typeface="Microsoft YaHei"/>
                          <a:cs typeface="Microsoft YaHei"/>
                        </a:rPr>
                        <a:t>Fps</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10"/>
                        </a:spcBef>
                      </a:pPr>
                      <a:r>
                        <a:rPr dirty="0" sz="900" spc="-25">
                          <a:latin typeface="Microsoft YaHei"/>
                          <a:cs typeface="Microsoft YaHei"/>
                        </a:rPr>
                        <a:t>60</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10"/>
                        </a:spcBef>
                      </a:pPr>
                      <a:r>
                        <a:rPr dirty="0" sz="900" spc="-25">
                          <a:latin typeface="Microsoft YaHei"/>
                          <a:cs typeface="Microsoft YaHei"/>
                        </a:rPr>
                        <a:t>60</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10"/>
                        </a:spcBef>
                      </a:pPr>
                      <a:r>
                        <a:rPr dirty="0" sz="900" spc="-25">
                          <a:latin typeface="Microsoft YaHei"/>
                          <a:cs typeface="Microsoft YaHei"/>
                        </a:rPr>
                        <a:t>120</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10"/>
                        </a:spcBef>
                      </a:pPr>
                      <a:r>
                        <a:rPr dirty="0" sz="900" spc="-25">
                          <a:latin typeface="Microsoft YaHei"/>
                          <a:cs typeface="Microsoft YaHei"/>
                        </a:rPr>
                        <a:t>120</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4645">
                <a:tc>
                  <a:txBody>
                    <a:bodyPr/>
                    <a:lstStyle/>
                    <a:p>
                      <a:pPr marL="277495" marR="54610" indent="-216535">
                        <a:lnSpc>
                          <a:spcPct val="100000"/>
                        </a:lnSpc>
                        <a:spcBef>
                          <a:spcPts val="265"/>
                        </a:spcBef>
                      </a:pPr>
                      <a:r>
                        <a:rPr dirty="0" sz="900" spc="-10">
                          <a:latin typeface="Microsoft YaHei"/>
                          <a:cs typeface="Microsoft YaHei"/>
                        </a:rPr>
                        <a:t>Compression Ratio</a:t>
                      </a:r>
                      <a:endParaRPr sz="900">
                        <a:latin typeface="Microsoft YaHei"/>
                        <a:cs typeface="Microsoft YaHei"/>
                      </a:endParaRPr>
                    </a:p>
                  </a:txBody>
                  <a:tcPr marL="0" marR="0" marB="0" marT="336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05"/>
                        </a:spcBef>
                      </a:pPr>
                      <a:r>
                        <a:rPr dirty="0" sz="900" spc="-25">
                          <a:latin typeface="Microsoft YaHei"/>
                          <a:cs typeface="Microsoft YaHei"/>
                        </a:rPr>
                        <a:t>120</a:t>
                      </a:r>
                      <a:endParaRPr sz="900">
                        <a:latin typeface="Microsoft YaHei"/>
                        <a:cs typeface="Microsoft YaHei"/>
                      </a:endParaRPr>
                    </a:p>
                  </a:txBody>
                  <a:tcPr marL="0" marR="0" marB="0" marT="1022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05"/>
                        </a:spcBef>
                      </a:pPr>
                      <a:r>
                        <a:rPr dirty="0" sz="900" spc="-25">
                          <a:latin typeface="Microsoft YaHei"/>
                          <a:cs typeface="Microsoft YaHei"/>
                        </a:rPr>
                        <a:t>150</a:t>
                      </a:r>
                      <a:endParaRPr sz="900">
                        <a:latin typeface="Microsoft YaHei"/>
                        <a:cs typeface="Microsoft YaHei"/>
                      </a:endParaRPr>
                    </a:p>
                  </a:txBody>
                  <a:tcPr marL="0" marR="0" marB="0" marT="1022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05"/>
                        </a:spcBef>
                      </a:pPr>
                      <a:r>
                        <a:rPr dirty="0" sz="900" spc="-25">
                          <a:latin typeface="Microsoft YaHei"/>
                          <a:cs typeface="Microsoft YaHei"/>
                        </a:rPr>
                        <a:t>150</a:t>
                      </a:r>
                      <a:endParaRPr sz="900">
                        <a:latin typeface="Microsoft YaHei"/>
                        <a:cs typeface="Microsoft YaHei"/>
                      </a:endParaRPr>
                    </a:p>
                  </a:txBody>
                  <a:tcPr marL="0" marR="0" marB="0" marT="1022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805"/>
                        </a:spcBef>
                      </a:pPr>
                      <a:r>
                        <a:rPr dirty="0" sz="900" spc="-25">
                          <a:latin typeface="Microsoft YaHei"/>
                          <a:cs typeface="Microsoft YaHei"/>
                        </a:rPr>
                        <a:t>350</a:t>
                      </a:r>
                      <a:endParaRPr sz="900">
                        <a:latin typeface="Microsoft YaHei"/>
                        <a:cs typeface="Microsoft YaHei"/>
                      </a:endParaRPr>
                    </a:p>
                  </a:txBody>
                  <a:tcPr marL="0" marR="0" marB="0" marT="1022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2595">
                <a:tc>
                  <a:txBody>
                    <a:bodyPr/>
                    <a:lstStyle/>
                    <a:p>
                      <a:pPr marL="226060" marR="152400" indent="-67310">
                        <a:lnSpc>
                          <a:spcPct val="100000"/>
                        </a:lnSpc>
                        <a:spcBef>
                          <a:spcPts val="690"/>
                        </a:spcBef>
                      </a:pPr>
                      <a:r>
                        <a:rPr dirty="0" sz="900">
                          <a:latin typeface="Microsoft YaHei"/>
                          <a:cs typeface="Microsoft YaHei"/>
                        </a:rPr>
                        <a:t>DL</a:t>
                      </a:r>
                      <a:r>
                        <a:rPr dirty="0" sz="900" spc="-30">
                          <a:latin typeface="Microsoft YaHei"/>
                          <a:cs typeface="Microsoft YaHei"/>
                        </a:rPr>
                        <a:t> </a:t>
                      </a:r>
                      <a:r>
                        <a:rPr dirty="0" sz="900" spc="-10">
                          <a:latin typeface="Microsoft YaHei"/>
                          <a:cs typeface="Microsoft YaHei"/>
                        </a:rPr>
                        <a:t>Speed (Mbps)</a:t>
                      </a:r>
                      <a:endParaRPr sz="900">
                        <a:latin typeface="Microsoft YaHei"/>
                        <a:cs typeface="Microsoft YaHei"/>
                      </a:endParaRPr>
                    </a:p>
                  </a:txBody>
                  <a:tcPr marL="0" marR="0" marB="0" marT="876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95"/>
                        </a:spcBef>
                      </a:pPr>
                      <a:endParaRPr sz="900">
                        <a:latin typeface="Times New Roman"/>
                        <a:cs typeface="Times New Roman"/>
                      </a:endParaRPr>
                    </a:p>
                    <a:p>
                      <a:pPr algn="ctr">
                        <a:lnSpc>
                          <a:spcPct val="100000"/>
                        </a:lnSpc>
                      </a:pPr>
                      <a:r>
                        <a:rPr dirty="0" sz="900" spc="-20" b="1">
                          <a:latin typeface="Microsoft YaHei"/>
                          <a:cs typeface="Microsoft YaHei"/>
                        </a:rPr>
                        <a:t>12.5</a:t>
                      </a:r>
                      <a:endParaRPr sz="900">
                        <a:latin typeface="Microsoft YaHei"/>
                        <a:cs typeface="Microsoft YaHei"/>
                      </a:endParaRPr>
                    </a:p>
                  </a:txBody>
                  <a:tcPr marL="0" marR="0" marB="0" marT="247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30"/>
                        </a:spcBef>
                      </a:pPr>
                      <a:r>
                        <a:rPr dirty="0" sz="1400" spc="-20" b="1">
                          <a:solidFill>
                            <a:srgbClr val="FF0000"/>
                          </a:solidFill>
                          <a:latin typeface="Microsoft YaHei"/>
                          <a:cs typeface="Microsoft YaHei"/>
                        </a:rPr>
                        <a:t>48.9</a:t>
                      </a:r>
                      <a:endParaRPr sz="1400">
                        <a:latin typeface="Microsoft YaHei"/>
                        <a:cs typeface="Microsoft YaHei"/>
                      </a:endParaRPr>
                    </a:p>
                  </a:txBody>
                  <a:tcPr marL="0" marR="0" marB="0" marT="1181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30"/>
                        </a:spcBef>
                      </a:pPr>
                      <a:r>
                        <a:rPr dirty="0" sz="1400" spc="-10" b="1">
                          <a:solidFill>
                            <a:srgbClr val="FF0000"/>
                          </a:solidFill>
                          <a:latin typeface="Microsoft YaHei"/>
                          <a:cs typeface="Microsoft YaHei"/>
                        </a:rPr>
                        <a:t>469.9</a:t>
                      </a:r>
                      <a:endParaRPr sz="1400">
                        <a:latin typeface="Microsoft YaHei"/>
                        <a:cs typeface="Microsoft YaHei"/>
                      </a:endParaRPr>
                    </a:p>
                  </a:txBody>
                  <a:tcPr marL="0" marR="0" marB="0" marT="1181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930"/>
                        </a:spcBef>
                      </a:pPr>
                      <a:r>
                        <a:rPr dirty="0" sz="1400" spc="-20" b="1">
                          <a:solidFill>
                            <a:srgbClr val="FF0000"/>
                          </a:solidFill>
                          <a:latin typeface="Microsoft YaHei"/>
                          <a:cs typeface="Microsoft YaHei"/>
                        </a:rPr>
                        <a:t>1285</a:t>
                      </a:r>
                      <a:endParaRPr sz="1400">
                        <a:latin typeface="Microsoft YaHei"/>
                        <a:cs typeface="Microsoft YaHei"/>
                      </a:endParaRPr>
                    </a:p>
                  </a:txBody>
                  <a:tcPr marL="0" marR="0" marB="0" marT="1181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29" name="object 29" descr=""/>
          <p:cNvSpPr txBox="1"/>
          <p:nvPr/>
        </p:nvSpPr>
        <p:spPr>
          <a:xfrm>
            <a:off x="3283936" y="1084968"/>
            <a:ext cx="2534285" cy="269875"/>
          </a:xfrm>
          <a:prstGeom prst="rect">
            <a:avLst/>
          </a:prstGeom>
        </p:spPr>
        <p:txBody>
          <a:bodyPr wrap="square" lIns="0" tIns="12700" rIns="0" bIns="0" rtlCol="0" vert="horz">
            <a:spAutoFit/>
          </a:bodyPr>
          <a:lstStyle/>
          <a:p>
            <a:pPr marL="12700">
              <a:lnSpc>
                <a:spcPct val="100000"/>
              </a:lnSpc>
              <a:spcBef>
                <a:spcPts val="100"/>
              </a:spcBef>
            </a:pPr>
            <a:r>
              <a:rPr dirty="0" sz="1200" spc="-10" b="1">
                <a:latin typeface="Microsoft YaHei"/>
                <a:cs typeface="Microsoft YaHei"/>
              </a:rPr>
              <a:t>AR</a:t>
            </a:r>
            <a:r>
              <a:rPr dirty="0" sz="1200" b="1">
                <a:latin typeface="Microsoft YaHei"/>
                <a:cs typeface="Microsoft YaHei"/>
              </a:rPr>
              <a:t>改变用户行为，</a:t>
            </a:r>
            <a:r>
              <a:rPr dirty="0" sz="1600" spc="-10" b="1">
                <a:solidFill>
                  <a:srgbClr val="C00000"/>
                </a:solidFill>
                <a:latin typeface="Microsoft YaHei"/>
                <a:cs typeface="Microsoft YaHei"/>
              </a:rPr>
              <a:t>突破手机瓶颈</a:t>
            </a:r>
            <a:endParaRPr sz="1600">
              <a:latin typeface="Microsoft YaHei"/>
              <a:cs typeface="Microsoft YaHei"/>
            </a:endParaRPr>
          </a:p>
        </p:txBody>
      </p:sp>
      <p:sp>
        <p:nvSpPr>
          <p:cNvPr id="30" name="object 30" descr=""/>
          <p:cNvSpPr txBox="1"/>
          <p:nvPr/>
        </p:nvSpPr>
        <p:spPr>
          <a:xfrm>
            <a:off x="5972293" y="1084968"/>
            <a:ext cx="3156585" cy="269875"/>
          </a:xfrm>
          <a:prstGeom prst="rect">
            <a:avLst/>
          </a:prstGeom>
        </p:spPr>
        <p:txBody>
          <a:bodyPr wrap="square" lIns="0" tIns="12700" rIns="0" bIns="0" rtlCol="0" vert="horz">
            <a:spAutoFit/>
          </a:bodyPr>
          <a:lstStyle/>
          <a:p>
            <a:pPr marL="12700">
              <a:lnSpc>
                <a:spcPct val="100000"/>
              </a:lnSpc>
              <a:spcBef>
                <a:spcPts val="100"/>
              </a:spcBef>
            </a:pPr>
            <a:r>
              <a:rPr dirty="0" sz="1600" spc="-10" b="1">
                <a:solidFill>
                  <a:srgbClr val="C00000"/>
                </a:solidFill>
                <a:latin typeface="Microsoft YaHei"/>
                <a:cs typeface="Microsoft YaHei"/>
              </a:rPr>
              <a:t>AR</a:t>
            </a:r>
            <a:r>
              <a:rPr dirty="0" sz="1600" spc="-5" b="1">
                <a:solidFill>
                  <a:srgbClr val="C00000"/>
                </a:solidFill>
                <a:latin typeface="Microsoft YaHei"/>
                <a:cs typeface="Microsoft YaHei"/>
              </a:rPr>
              <a:t>体验速率：</a:t>
            </a:r>
            <a:r>
              <a:rPr dirty="0" sz="1600" spc="-10" b="1">
                <a:solidFill>
                  <a:srgbClr val="C00000"/>
                </a:solidFill>
                <a:latin typeface="Microsoft YaHei"/>
                <a:cs typeface="Microsoft YaHei"/>
              </a:rPr>
              <a:t>50Mbps~1.3Gbps</a:t>
            </a:r>
            <a:endParaRPr sz="1600">
              <a:latin typeface="Microsoft YaHei"/>
              <a:cs typeface="Microsoft YaHei"/>
            </a:endParaRPr>
          </a:p>
        </p:txBody>
      </p:sp>
      <p:sp>
        <p:nvSpPr>
          <p:cNvPr id="31" name="object 31" descr=""/>
          <p:cNvSpPr txBox="1"/>
          <p:nvPr/>
        </p:nvSpPr>
        <p:spPr>
          <a:xfrm>
            <a:off x="221488" y="1084968"/>
            <a:ext cx="2874645" cy="269875"/>
          </a:xfrm>
          <a:prstGeom prst="rect">
            <a:avLst/>
          </a:prstGeom>
        </p:spPr>
        <p:txBody>
          <a:bodyPr wrap="square" lIns="0" tIns="12700" rIns="0" bIns="0" rtlCol="0" vert="horz">
            <a:spAutoFit/>
          </a:bodyPr>
          <a:lstStyle/>
          <a:p>
            <a:pPr marL="12700">
              <a:lnSpc>
                <a:spcPct val="100000"/>
              </a:lnSpc>
              <a:spcBef>
                <a:spcPts val="100"/>
              </a:spcBef>
            </a:pPr>
            <a:r>
              <a:rPr dirty="0" sz="1200" spc="-10" b="1">
                <a:latin typeface="Microsoft YaHei"/>
                <a:cs typeface="Microsoft YaHei"/>
              </a:rPr>
              <a:t>AR/VR</a:t>
            </a:r>
            <a:r>
              <a:rPr dirty="0" sz="1200" spc="-5" b="1">
                <a:latin typeface="Microsoft YaHei"/>
                <a:cs typeface="Microsoft YaHei"/>
              </a:rPr>
              <a:t>硬件类型：</a:t>
            </a:r>
            <a:r>
              <a:rPr dirty="0" sz="1600" spc="-15" b="1">
                <a:solidFill>
                  <a:srgbClr val="C00000"/>
                </a:solidFill>
                <a:latin typeface="Microsoft YaHei"/>
                <a:cs typeface="Microsoft YaHei"/>
              </a:rPr>
              <a:t>手机，手机+眼镜</a:t>
            </a:r>
            <a:endParaRPr sz="1600">
              <a:latin typeface="Microsoft YaHei"/>
              <a:cs typeface="Microsoft YaHei"/>
            </a:endParaRPr>
          </a:p>
        </p:txBody>
      </p:sp>
      <p:sp>
        <p:nvSpPr>
          <p:cNvPr id="32" name="object 32" descr=""/>
          <p:cNvSpPr/>
          <p:nvPr/>
        </p:nvSpPr>
        <p:spPr>
          <a:xfrm>
            <a:off x="338138" y="1468657"/>
            <a:ext cx="2726055" cy="3311525"/>
          </a:xfrm>
          <a:custGeom>
            <a:avLst/>
            <a:gdLst/>
            <a:ahLst/>
            <a:cxnLst/>
            <a:rect l="l" t="t" r="r" b="b"/>
            <a:pathLst>
              <a:path w="2726055" h="3311525">
                <a:moveTo>
                  <a:pt x="0" y="173304"/>
                </a:moveTo>
                <a:lnTo>
                  <a:pt x="6190" y="127235"/>
                </a:lnTo>
                <a:lnTo>
                  <a:pt x="23659" y="85836"/>
                </a:lnTo>
                <a:lnTo>
                  <a:pt x="50757" y="50761"/>
                </a:lnTo>
                <a:lnTo>
                  <a:pt x="85831" y="23662"/>
                </a:lnTo>
                <a:lnTo>
                  <a:pt x="127230" y="6191"/>
                </a:lnTo>
                <a:lnTo>
                  <a:pt x="173304" y="0"/>
                </a:lnTo>
                <a:lnTo>
                  <a:pt x="2552433" y="0"/>
                </a:lnTo>
                <a:lnTo>
                  <a:pt x="2598502" y="6191"/>
                </a:lnTo>
                <a:lnTo>
                  <a:pt x="2639900" y="23662"/>
                </a:lnTo>
                <a:lnTo>
                  <a:pt x="2674975" y="50761"/>
                </a:lnTo>
                <a:lnTo>
                  <a:pt x="2702075" y="85836"/>
                </a:lnTo>
                <a:lnTo>
                  <a:pt x="2719546" y="127235"/>
                </a:lnTo>
                <a:lnTo>
                  <a:pt x="2725737" y="173304"/>
                </a:lnTo>
                <a:lnTo>
                  <a:pt x="2725737" y="3138220"/>
                </a:lnTo>
                <a:lnTo>
                  <a:pt x="2719547" y="3184294"/>
                </a:lnTo>
                <a:lnTo>
                  <a:pt x="2702077" y="3225693"/>
                </a:lnTo>
                <a:lnTo>
                  <a:pt x="2674980" y="3260767"/>
                </a:lnTo>
                <a:lnTo>
                  <a:pt x="2639906" y="3287865"/>
                </a:lnTo>
                <a:lnTo>
                  <a:pt x="2598506" y="3305334"/>
                </a:lnTo>
                <a:lnTo>
                  <a:pt x="2552433" y="3311525"/>
                </a:lnTo>
                <a:lnTo>
                  <a:pt x="173304" y="3311525"/>
                </a:lnTo>
                <a:lnTo>
                  <a:pt x="127230" y="3305334"/>
                </a:lnTo>
                <a:lnTo>
                  <a:pt x="85831" y="3287865"/>
                </a:lnTo>
                <a:lnTo>
                  <a:pt x="50757" y="3260767"/>
                </a:lnTo>
                <a:lnTo>
                  <a:pt x="23659" y="3225693"/>
                </a:lnTo>
                <a:lnTo>
                  <a:pt x="6190" y="3184294"/>
                </a:lnTo>
                <a:lnTo>
                  <a:pt x="0" y="3138220"/>
                </a:lnTo>
                <a:lnTo>
                  <a:pt x="0" y="173304"/>
                </a:lnTo>
                <a:close/>
              </a:path>
            </a:pathLst>
          </a:custGeom>
          <a:ln w="25400">
            <a:solidFill>
              <a:srgbClr val="00B0F0"/>
            </a:solidFill>
          </a:ln>
        </p:spPr>
        <p:txBody>
          <a:bodyPr wrap="square" lIns="0" tIns="0" rIns="0" bIns="0" rtlCol="0"/>
          <a:lstStyle/>
          <a:p/>
        </p:txBody>
      </p:sp>
      <p:sp>
        <p:nvSpPr>
          <p:cNvPr id="33" name="object 33" descr=""/>
          <p:cNvSpPr txBox="1"/>
          <p:nvPr/>
        </p:nvSpPr>
        <p:spPr>
          <a:xfrm>
            <a:off x="4801603" y="2044782"/>
            <a:ext cx="596900"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00B050"/>
                </a:solidFill>
                <a:latin typeface="Microsoft YaHei"/>
                <a:cs typeface="Microsoft YaHei"/>
              </a:rPr>
              <a:t>手机做主机</a:t>
            </a:r>
            <a:endParaRPr sz="900">
              <a:latin typeface="Microsoft YaHei"/>
              <a:cs typeface="Microsoft YaHei"/>
            </a:endParaRPr>
          </a:p>
        </p:txBody>
      </p:sp>
      <p:sp>
        <p:nvSpPr>
          <p:cNvPr id="34" name="object 34" descr=""/>
          <p:cNvSpPr txBox="1"/>
          <p:nvPr/>
        </p:nvSpPr>
        <p:spPr>
          <a:xfrm>
            <a:off x="3872801" y="1826583"/>
            <a:ext cx="482600" cy="162560"/>
          </a:xfrm>
          <a:prstGeom prst="rect">
            <a:avLst/>
          </a:prstGeom>
        </p:spPr>
        <p:txBody>
          <a:bodyPr wrap="square" lIns="0" tIns="12700" rIns="0" bIns="0" rtlCol="0" vert="horz">
            <a:spAutoFit/>
          </a:bodyPr>
          <a:lstStyle/>
          <a:p>
            <a:pPr marL="12700">
              <a:lnSpc>
                <a:spcPct val="100000"/>
              </a:lnSpc>
              <a:spcBef>
                <a:spcPts val="100"/>
              </a:spcBef>
            </a:pPr>
            <a:r>
              <a:rPr dirty="0" sz="900" spc="-15" b="1">
                <a:solidFill>
                  <a:srgbClr val="00B050"/>
                </a:solidFill>
                <a:latin typeface="Microsoft YaHei"/>
                <a:cs typeface="Microsoft YaHei"/>
              </a:rPr>
              <a:t>眼镜投影</a:t>
            </a:r>
            <a:endParaRPr sz="900">
              <a:latin typeface="Microsoft YaHei"/>
              <a:cs typeface="Microsoft YaHei"/>
            </a:endParaRPr>
          </a:p>
        </p:txBody>
      </p:sp>
      <p:sp>
        <p:nvSpPr>
          <p:cNvPr id="35" name="object 35" descr=""/>
          <p:cNvSpPr/>
          <p:nvPr/>
        </p:nvSpPr>
        <p:spPr>
          <a:xfrm>
            <a:off x="3233737" y="1468663"/>
            <a:ext cx="2559050" cy="3311525"/>
          </a:xfrm>
          <a:custGeom>
            <a:avLst/>
            <a:gdLst/>
            <a:ahLst/>
            <a:cxnLst/>
            <a:rect l="l" t="t" r="r" b="b"/>
            <a:pathLst>
              <a:path w="2559050" h="3311525">
                <a:moveTo>
                  <a:pt x="0" y="162699"/>
                </a:moveTo>
                <a:lnTo>
                  <a:pt x="5812" y="119444"/>
                </a:lnTo>
                <a:lnTo>
                  <a:pt x="22214" y="80578"/>
                </a:lnTo>
                <a:lnTo>
                  <a:pt x="47655" y="47650"/>
                </a:lnTo>
                <a:lnTo>
                  <a:pt x="80583" y="22211"/>
                </a:lnTo>
                <a:lnTo>
                  <a:pt x="119449" y="5811"/>
                </a:lnTo>
                <a:lnTo>
                  <a:pt x="162699" y="0"/>
                </a:lnTo>
                <a:lnTo>
                  <a:pt x="2396350" y="0"/>
                </a:lnTo>
                <a:lnTo>
                  <a:pt x="2439600" y="5811"/>
                </a:lnTo>
                <a:lnTo>
                  <a:pt x="2478466" y="22211"/>
                </a:lnTo>
                <a:lnTo>
                  <a:pt x="2511394" y="47650"/>
                </a:lnTo>
                <a:lnTo>
                  <a:pt x="2536835" y="80578"/>
                </a:lnTo>
                <a:lnTo>
                  <a:pt x="2553237" y="119444"/>
                </a:lnTo>
                <a:lnTo>
                  <a:pt x="2559050" y="162699"/>
                </a:lnTo>
                <a:lnTo>
                  <a:pt x="2559050" y="3148812"/>
                </a:lnTo>
                <a:lnTo>
                  <a:pt x="2553237" y="3192068"/>
                </a:lnTo>
                <a:lnTo>
                  <a:pt x="2536835" y="3230937"/>
                </a:lnTo>
                <a:lnTo>
                  <a:pt x="2511394" y="3263868"/>
                </a:lnTo>
                <a:lnTo>
                  <a:pt x="2478466" y="3289310"/>
                </a:lnTo>
                <a:lnTo>
                  <a:pt x="2439600" y="3305712"/>
                </a:lnTo>
                <a:lnTo>
                  <a:pt x="2396350" y="3311525"/>
                </a:lnTo>
                <a:lnTo>
                  <a:pt x="162699" y="3311525"/>
                </a:lnTo>
                <a:lnTo>
                  <a:pt x="119449" y="3305712"/>
                </a:lnTo>
                <a:lnTo>
                  <a:pt x="80583" y="3289310"/>
                </a:lnTo>
                <a:lnTo>
                  <a:pt x="47655" y="3263868"/>
                </a:lnTo>
                <a:lnTo>
                  <a:pt x="22214" y="3230937"/>
                </a:lnTo>
                <a:lnTo>
                  <a:pt x="5812" y="3192068"/>
                </a:lnTo>
                <a:lnTo>
                  <a:pt x="0" y="3148812"/>
                </a:lnTo>
                <a:lnTo>
                  <a:pt x="0" y="162699"/>
                </a:lnTo>
                <a:close/>
              </a:path>
            </a:pathLst>
          </a:custGeom>
          <a:ln w="25400">
            <a:solidFill>
              <a:srgbClr val="00B0F0"/>
            </a:solidFill>
          </a:ln>
        </p:spPr>
        <p:txBody>
          <a:bodyPr wrap="square" lIns="0" tIns="0" rIns="0" bIns="0" rtlCol="0"/>
          <a:lstStyle/>
          <a:p/>
        </p:txBody>
      </p:sp>
      <p:sp>
        <p:nvSpPr>
          <p:cNvPr id="36" name="object 36"/>
          <p:cNvSpPr txBox="1">
            <a:spLocks noGrp="1"/>
          </p:cNvSpPr>
          <p:nvPr>
            <p:ph type="title"/>
          </p:nvPr>
        </p:nvSpPr>
        <p:spPr>
          <a:xfrm>
            <a:off x="1126363" y="161753"/>
            <a:ext cx="757618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AR/VR</a:t>
            </a:r>
            <a:r>
              <a:rPr dirty="0" spc="-45"/>
              <a:t>应用驱动网络体验速率向</a:t>
            </a:r>
            <a:r>
              <a:rPr dirty="0" b="0">
                <a:latin typeface="Times New Roman"/>
                <a:cs typeface="Times New Roman"/>
              </a:rPr>
              <a:t>Gbps</a:t>
            </a:r>
            <a:r>
              <a:rPr dirty="0" spc="204" b="0">
                <a:latin typeface="Times New Roman"/>
                <a:cs typeface="Times New Roman"/>
              </a:rPr>
              <a:t> </a:t>
            </a:r>
            <a:r>
              <a:rPr dirty="0" spc="-45"/>
              <a:t>升级</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6846" y="156077"/>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交互类业务趋势及挑战</a:t>
            </a:r>
          </a:p>
        </p:txBody>
      </p:sp>
      <p:grpSp>
        <p:nvGrpSpPr>
          <p:cNvPr id="3" name="object 3" descr=""/>
          <p:cNvGrpSpPr/>
          <p:nvPr/>
        </p:nvGrpSpPr>
        <p:grpSpPr>
          <a:xfrm>
            <a:off x="1491233" y="3992117"/>
            <a:ext cx="3100070" cy="995680"/>
            <a:chOff x="1491233" y="3992117"/>
            <a:chExt cx="3100070" cy="995680"/>
          </a:xfrm>
        </p:grpSpPr>
        <p:pic>
          <p:nvPicPr>
            <p:cNvPr id="4" name="object 4" descr=""/>
            <p:cNvPicPr/>
            <p:nvPr/>
          </p:nvPicPr>
          <p:blipFill>
            <a:blip r:embed="rId2" cstate="print"/>
            <a:stretch>
              <a:fillRect/>
            </a:stretch>
          </p:blipFill>
          <p:spPr>
            <a:xfrm>
              <a:off x="1536953" y="4014216"/>
              <a:ext cx="3034271" cy="973073"/>
            </a:xfrm>
            <a:prstGeom prst="rect">
              <a:avLst/>
            </a:prstGeom>
          </p:spPr>
        </p:pic>
        <p:pic>
          <p:nvPicPr>
            <p:cNvPr id="5" name="object 5" descr=""/>
            <p:cNvPicPr/>
            <p:nvPr/>
          </p:nvPicPr>
          <p:blipFill>
            <a:blip r:embed="rId3" cstate="print"/>
            <a:stretch>
              <a:fillRect/>
            </a:stretch>
          </p:blipFill>
          <p:spPr>
            <a:xfrm>
              <a:off x="1491233" y="3992117"/>
              <a:ext cx="3099815" cy="698753"/>
            </a:xfrm>
            <a:prstGeom prst="rect">
              <a:avLst/>
            </a:prstGeom>
          </p:spPr>
        </p:pic>
        <p:sp>
          <p:nvSpPr>
            <p:cNvPr id="6" name="object 6" descr=""/>
            <p:cNvSpPr/>
            <p:nvPr/>
          </p:nvSpPr>
          <p:spPr>
            <a:xfrm>
              <a:off x="1577873" y="4035501"/>
              <a:ext cx="2952750" cy="890905"/>
            </a:xfrm>
            <a:custGeom>
              <a:avLst/>
              <a:gdLst/>
              <a:ahLst/>
              <a:cxnLst/>
              <a:rect l="l" t="t" r="r" b="b"/>
              <a:pathLst>
                <a:path w="2952750" h="890904">
                  <a:moveTo>
                    <a:pt x="2952330" y="0"/>
                  </a:moveTo>
                  <a:lnTo>
                    <a:pt x="0" y="0"/>
                  </a:lnTo>
                  <a:lnTo>
                    <a:pt x="0" y="890536"/>
                  </a:lnTo>
                  <a:lnTo>
                    <a:pt x="2952330" y="890536"/>
                  </a:lnTo>
                  <a:lnTo>
                    <a:pt x="2952330" y="0"/>
                  </a:lnTo>
                  <a:close/>
                </a:path>
              </a:pathLst>
            </a:custGeom>
            <a:solidFill>
              <a:srgbClr val="E4F3F4"/>
            </a:solidFill>
          </p:spPr>
          <p:txBody>
            <a:bodyPr wrap="square" lIns="0" tIns="0" rIns="0" bIns="0" rtlCol="0"/>
            <a:lstStyle/>
            <a:p/>
          </p:txBody>
        </p:sp>
      </p:grpSp>
      <p:sp>
        <p:nvSpPr>
          <p:cNvPr id="7" name="object 7" descr=""/>
          <p:cNvSpPr txBox="1"/>
          <p:nvPr/>
        </p:nvSpPr>
        <p:spPr>
          <a:xfrm>
            <a:off x="1577873" y="4060141"/>
            <a:ext cx="2952750" cy="574040"/>
          </a:xfrm>
          <a:prstGeom prst="rect">
            <a:avLst/>
          </a:prstGeom>
        </p:spPr>
        <p:txBody>
          <a:bodyPr wrap="square" lIns="0" tIns="12700" rIns="0" bIns="0" rtlCol="0" vert="horz">
            <a:spAutoFit/>
          </a:bodyPr>
          <a:lstStyle/>
          <a:p>
            <a:pPr marL="91440" marR="109855">
              <a:lnSpc>
                <a:spcPct val="100000"/>
              </a:lnSpc>
              <a:spcBef>
                <a:spcPts val="100"/>
              </a:spcBef>
            </a:pPr>
            <a:r>
              <a:rPr dirty="0" sz="1800" spc="-5">
                <a:solidFill>
                  <a:srgbClr val="002060"/>
                </a:solidFill>
                <a:latin typeface="Microsoft YaHei"/>
                <a:cs typeface="Microsoft YaHei"/>
              </a:rPr>
              <a:t>达到用户对时延基本无感知</a:t>
            </a:r>
            <a:r>
              <a:rPr dirty="0" sz="1800">
                <a:solidFill>
                  <a:srgbClr val="002060"/>
                </a:solidFill>
                <a:latin typeface="Microsoft YaHei"/>
                <a:cs typeface="Microsoft YaHei"/>
              </a:rPr>
              <a:t>的使用体验</a:t>
            </a:r>
            <a:r>
              <a:rPr dirty="0" sz="1800" spc="-10">
                <a:solidFill>
                  <a:srgbClr val="002060"/>
                </a:solidFill>
                <a:latin typeface="Microsoft YaHei"/>
                <a:cs typeface="Microsoft YaHei"/>
              </a:rPr>
              <a:t>（</a:t>
            </a:r>
            <a:r>
              <a:rPr dirty="0" sz="1800" spc="-10">
                <a:solidFill>
                  <a:srgbClr val="002060"/>
                </a:solidFill>
                <a:latin typeface="Arial MT"/>
                <a:cs typeface="Arial MT"/>
              </a:rPr>
              <a:t>5-</a:t>
            </a:r>
            <a:r>
              <a:rPr dirty="0" sz="1800" spc="-20">
                <a:solidFill>
                  <a:srgbClr val="002060"/>
                </a:solidFill>
                <a:latin typeface="Arial MT"/>
                <a:cs typeface="Arial MT"/>
              </a:rPr>
              <a:t>10ms</a:t>
            </a:r>
            <a:r>
              <a:rPr dirty="0" sz="1800" spc="-20">
                <a:solidFill>
                  <a:srgbClr val="002060"/>
                </a:solidFill>
                <a:latin typeface="Microsoft YaHei"/>
                <a:cs typeface="Microsoft YaHei"/>
              </a:rPr>
              <a:t>）</a:t>
            </a:r>
            <a:endParaRPr sz="1800">
              <a:latin typeface="Microsoft YaHei"/>
              <a:cs typeface="Microsoft YaHei"/>
            </a:endParaRPr>
          </a:p>
        </p:txBody>
      </p:sp>
      <p:pic>
        <p:nvPicPr>
          <p:cNvPr id="8" name="object 8"/>
          <p:cNvPicPr/>
          <p:nvPr/>
        </p:nvPicPr>
        <p:blipFill>
          <a:blip r:embed="rId4" cstate="print"/>
          <a:stretch>
            <a:fillRect/>
          </a:stretch>
        </p:blipFill>
        <p:spPr>
          <a:xfrm>
            <a:off x="929805" y="1821257"/>
            <a:ext cx="1656180" cy="790620"/>
          </a:xfrm>
          <a:prstGeom prst="rect">
            <a:avLst/>
          </a:prstGeom>
        </p:spPr>
      </p:pic>
      <p:sp>
        <p:nvSpPr>
          <p:cNvPr id="9" name="object 9" descr=""/>
          <p:cNvSpPr txBox="1"/>
          <p:nvPr/>
        </p:nvSpPr>
        <p:spPr>
          <a:xfrm>
            <a:off x="1315204" y="1424108"/>
            <a:ext cx="6950075" cy="299720"/>
          </a:xfrm>
          <a:prstGeom prst="rect">
            <a:avLst/>
          </a:prstGeom>
        </p:spPr>
        <p:txBody>
          <a:bodyPr wrap="square" lIns="0" tIns="12700" rIns="0" bIns="0" rtlCol="0" vert="horz">
            <a:spAutoFit/>
          </a:bodyPr>
          <a:lstStyle/>
          <a:p>
            <a:pPr marL="12700">
              <a:lnSpc>
                <a:spcPct val="100000"/>
              </a:lnSpc>
              <a:spcBef>
                <a:spcPts val="100"/>
              </a:spcBef>
              <a:tabLst>
                <a:tab pos="2019935" algn="l"/>
                <a:tab pos="4234180" algn="l"/>
                <a:tab pos="6022340" algn="l"/>
              </a:tabLst>
            </a:pPr>
            <a:r>
              <a:rPr dirty="0" sz="1800">
                <a:latin typeface="Microsoft YaHei"/>
                <a:cs typeface="Microsoft YaHei"/>
              </a:rPr>
              <a:t>增强现</a:t>
            </a:r>
            <a:r>
              <a:rPr dirty="0" sz="1800" spc="-50">
                <a:latin typeface="Microsoft YaHei"/>
                <a:cs typeface="Microsoft YaHei"/>
              </a:rPr>
              <a:t>实</a:t>
            </a:r>
            <a:r>
              <a:rPr dirty="0" sz="1800">
                <a:latin typeface="Microsoft YaHei"/>
                <a:cs typeface="Microsoft YaHei"/>
              </a:rPr>
              <a:t>	在线游</a:t>
            </a:r>
            <a:r>
              <a:rPr dirty="0" sz="1800" spc="-50">
                <a:latin typeface="Microsoft YaHei"/>
                <a:cs typeface="Microsoft YaHei"/>
              </a:rPr>
              <a:t>戏</a:t>
            </a:r>
            <a:r>
              <a:rPr dirty="0" sz="1800">
                <a:latin typeface="Microsoft YaHei"/>
                <a:cs typeface="Microsoft YaHei"/>
              </a:rPr>
              <a:t>	云桌</a:t>
            </a:r>
            <a:r>
              <a:rPr dirty="0" sz="1800" spc="-50">
                <a:latin typeface="Microsoft YaHei"/>
                <a:cs typeface="Microsoft YaHei"/>
              </a:rPr>
              <a:t>面</a:t>
            </a:r>
            <a:r>
              <a:rPr dirty="0" sz="1800">
                <a:latin typeface="Microsoft YaHei"/>
                <a:cs typeface="Microsoft YaHei"/>
              </a:rPr>
              <a:t>	虚拟现</a:t>
            </a:r>
            <a:r>
              <a:rPr dirty="0" sz="1800" spc="-50">
                <a:latin typeface="Microsoft YaHei"/>
                <a:cs typeface="Microsoft YaHei"/>
              </a:rPr>
              <a:t>实</a:t>
            </a:r>
            <a:endParaRPr sz="1800">
              <a:latin typeface="Microsoft YaHei"/>
              <a:cs typeface="Microsoft YaHei"/>
            </a:endParaRPr>
          </a:p>
        </p:txBody>
      </p:sp>
      <p:pic>
        <p:nvPicPr>
          <p:cNvPr id="10" name="object 10"/>
          <p:cNvPicPr/>
          <p:nvPr/>
        </p:nvPicPr>
        <p:blipFill>
          <a:blip r:embed="rId5" cstate="print"/>
          <a:stretch>
            <a:fillRect/>
          </a:stretch>
        </p:blipFill>
        <p:spPr>
          <a:xfrm>
            <a:off x="2946031" y="1821259"/>
            <a:ext cx="1656177" cy="740605"/>
          </a:xfrm>
          <a:prstGeom prst="rect">
            <a:avLst/>
          </a:prstGeom>
        </p:spPr>
      </p:pic>
      <p:pic>
        <p:nvPicPr>
          <p:cNvPr id="11" name="object 11"/>
          <p:cNvPicPr/>
          <p:nvPr/>
        </p:nvPicPr>
        <p:blipFill>
          <a:blip r:embed="rId6" cstate="print"/>
          <a:stretch>
            <a:fillRect/>
          </a:stretch>
        </p:blipFill>
        <p:spPr>
          <a:xfrm>
            <a:off x="5106266" y="1821257"/>
            <a:ext cx="1643920" cy="810090"/>
          </a:xfrm>
          <a:prstGeom prst="rect">
            <a:avLst/>
          </a:prstGeom>
        </p:spPr>
      </p:pic>
      <p:sp>
        <p:nvSpPr>
          <p:cNvPr id="12" name="object 12" descr=""/>
          <p:cNvSpPr txBox="1"/>
          <p:nvPr/>
        </p:nvSpPr>
        <p:spPr>
          <a:xfrm>
            <a:off x="936533" y="2766283"/>
            <a:ext cx="6853555" cy="238760"/>
          </a:xfrm>
          <a:prstGeom prst="rect">
            <a:avLst/>
          </a:prstGeom>
        </p:spPr>
        <p:txBody>
          <a:bodyPr wrap="square" lIns="0" tIns="12065" rIns="0" bIns="0" rtlCol="0" vert="horz">
            <a:spAutoFit/>
          </a:bodyPr>
          <a:lstStyle/>
          <a:p>
            <a:pPr marL="297815" indent="-285115">
              <a:lnSpc>
                <a:spcPct val="100000"/>
              </a:lnSpc>
              <a:spcBef>
                <a:spcPts val="95"/>
              </a:spcBef>
              <a:buChar char="•"/>
              <a:tabLst>
                <a:tab pos="297815" algn="l"/>
              </a:tabLst>
            </a:pPr>
            <a:r>
              <a:rPr dirty="0" sz="1400" spc="-10">
                <a:latin typeface="Arial MT"/>
                <a:cs typeface="Arial MT"/>
              </a:rPr>
              <a:t>Juniper</a:t>
            </a:r>
            <a:r>
              <a:rPr dirty="0" sz="1400" spc="-10">
                <a:latin typeface="Microsoft YaHei"/>
                <a:cs typeface="Microsoft YaHei"/>
              </a:rPr>
              <a:t>：</a:t>
            </a:r>
            <a:r>
              <a:rPr dirty="0" sz="1400" spc="-10">
                <a:latin typeface="Arial MT"/>
                <a:cs typeface="Arial MT"/>
              </a:rPr>
              <a:t>2018</a:t>
            </a:r>
            <a:r>
              <a:rPr dirty="0" sz="1400" spc="-20">
                <a:latin typeface="Microsoft YaHei"/>
                <a:cs typeface="Microsoft YaHei"/>
              </a:rPr>
              <a:t>年将拥有</a:t>
            </a:r>
            <a:r>
              <a:rPr dirty="0" sz="1400">
                <a:latin typeface="Arial MT"/>
                <a:cs typeface="Arial MT"/>
              </a:rPr>
              <a:t>2</a:t>
            </a:r>
            <a:r>
              <a:rPr dirty="0" sz="1400" spc="-20">
                <a:latin typeface="Microsoft YaHei"/>
                <a:cs typeface="Microsoft YaHei"/>
              </a:rPr>
              <a:t>亿增强现实用户，</a:t>
            </a:r>
            <a:r>
              <a:rPr dirty="0" sz="1400" spc="-10">
                <a:latin typeface="Arial MT"/>
                <a:cs typeface="Arial MT"/>
              </a:rPr>
              <a:t>2020</a:t>
            </a:r>
            <a:r>
              <a:rPr dirty="0" sz="1400" spc="-20">
                <a:latin typeface="Microsoft YaHei"/>
                <a:cs typeface="Microsoft YaHei"/>
              </a:rPr>
              <a:t>年超过</a:t>
            </a:r>
            <a:r>
              <a:rPr dirty="0" sz="1400">
                <a:latin typeface="Arial MT"/>
                <a:cs typeface="Arial MT"/>
              </a:rPr>
              <a:t>1</a:t>
            </a:r>
            <a:r>
              <a:rPr dirty="0" sz="1400" spc="-25">
                <a:latin typeface="Microsoft YaHei"/>
                <a:cs typeface="Microsoft YaHei"/>
              </a:rPr>
              <a:t>亿部汽车具备增强现实功能</a:t>
            </a:r>
            <a:endParaRPr sz="1400">
              <a:latin typeface="Microsoft YaHei"/>
              <a:cs typeface="Microsoft YaHei"/>
            </a:endParaRPr>
          </a:p>
        </p:txBody>
      </p:sp>
      <p:grpSp>
        <p:nvGrpSpPr>
          <p:cNvPr id="13" name="object 13" descr=""/>
          <p:cNvGrpSpPr/>
          <p:nvPr/>
        </p:nvGrpSpPr>
        <p:grpSpPr>
          <a:xfrm>
            <a:off x="918972" y="925067"/>
            <a:ext cx="7787005" cy="476250"/>
            <a:chOff x="918972" y="925067"/>
            <a:chExt cx="7787005" cy="476250"/>
          </a:xfrm>
        </p:grpSpPr>
        <p:pic>
          <p:nvPicPr>
            <p:cNvPr id="14" name="object 14" descr=""/>
            <p:cNvPicPr/>
            <p:nvPr/>
          </p:nvPicPr>
          <p:blipFill>
            <a:blip r:embed="rId7" cstate="print"/>
            <a:stretch>
              <a:fillRect/>
            </a:stretch>
          </p:blipFill>
          <p:spPr>
            <a:xfrm>
              <a:off x="918972" y="949452"/>
              <a:ext cx="7786876" cy="451865"/>
            </a:xfrm>
            <a:prstGeom prst="rect">
              <a:avLst/>
            </a:prstGeom>
          </p:spPr>
        </p:pic>
        <p:pic>
          <p:nvPicPr>
            <p:cNvPr id="15" name="object 15" descr=""/>
            <p:cNvPicPr/>
            <p:nvPr/>
          </p:nvPicPr>
          <p:blipFill>
            <a:blip r:embed="rId8" cstate="print"/>
            <a:stretch>
              <a:fillRect/>
            </a:stretch>
          </p:blipFill>
          <p:spPr>
            <a:xfrm>
              <a:off x="3833621" y="925067"/>
              <a:ext cx="2020061" cy="426719"/>
            </a:xfrm>
            <a:prstGeom prst="rect">
              <a:avLst/>
            </a:prstGeom>
          </p:spPr>
        </p:pic>
      </p:grpSp>
      <p:sp>
        <p:nvSpPr>
          <p:cNvPr id="16" name="object 16" descr=""/>
          <p:cNvSpPr txBox="1"/>
          <p:nvPr/>
        </p:nvSpPr>
        <p:spPr>
          <a:xfrm>
            <a:off x="960018" y="970838"/>
            <a:ext cx="7705090" cy="369570"/>
          </a:xfrm>
          <a:prstGeom prst="rect">
            <a:avLst/>
          </a:prstGeom>
          <a:solidFill>
            <a:srgbClr val="CDCDCD"/>
          </a:solidFill>
        </p:spPr>
        <p:txBody>
          <a:bodyPr wrap="square" lIns="0" tIns="37465" rIns="0" bIns="0" rtlCol="0" vert="horz">
            <a:spAutoFit/>
          </a:bodyPr>
          <a:lstStyle/>
          <a:p>
            <a:pPr algn="ctr">
              <a:lnSpc>
                <a:spcPct val="100000"/>
              </a:lnSpc>
              <a:spcBef>
                <a:spcPts val="295"/>
              </a:spcBef>
            </a:pPr>
            <a:r>
              <a:rPr dirty="0" sz="1800" spc="-10">
                <a:latin typeface="Microsoft YaHei"/>
                <a:cs typeface="Microsoft YaHei"/>
              </a:rPr>
              <a:t>交互类挑战业务</a:t>
            </a:r>
            <a:endParaRPr sz="1800">
              <a:latin typeface="Microsoft YaHei"/>
              <a:cs typeface="Microsoft YaHei"/>
            </a:endParaRPr>
          </a:p>
        </p:txBody>
      </p:sp>
      <p:grpSp>
        <p:nvGrpSpPr>
          <p:cNvPr id="17" name="object 17" descr=""/>
          <p:cNvGrpSpPr/>
          <p:nvPr/>
        </p:nvGrpSpPr>
        <p:grpSpPr>
          <a:xfrm>
            <a:off x="1531619" y="3516629"/>
            <a:ext cx="6756400" cy="1503680"/>
            <a:chOff x="1531619" y="3516629"/>
            <a:chExt cx="6756400" cy="1503680"/>
          </a:xfrm>
        </p:grpSpPr>
        <p:pic>
          <p:nvPicPr>
            <p:cNvPr id="18" name="object 18" descr=""/>
            <p:cNvPicPr/>
            <p:nvPr/>
          </p:nvPicPr>
          <p:blipFill>
            <a:blip r:embed="rId9" cstate="print"/>
            <a:stretch>
              <a:fillRect/>
            </a:stretch>
          </p:blipFill>
          <p:spPr>
            <a:xfrm>
              <a:off x="1531619" y="3580637"/>
              <a:ext cx="3044189" cy="416051"/>
            </a:xfrm>
            <a:prstGeom prst="rect">
              <a:avLst/>
            </a:prstGeom>
          </p:spPr>
        </p:pic>
        <p:pic>
          <p:nvPicPr>
            <p:cNvPr id="19" name="object 19" descr=""/>
            <p:cNvPicPr/>
            <p:nvPr/>
          </p:nvPicPr>
          <p:blipFill>
            <a:blip r:embed="rId10" cstate="print"/>
            <a:stretch>
              <a:fillRect/>
            </a:stretch>
          </p:blipFill>
          <p:spPr>
            <a:xfrm>
              <a:off x="2353055" y="3516629"/>
              <a:ext cx="1472933" cy="86652"/>
            </a:xfrm>
            <a:prstGeom prst="rect">
              <a:avLst/>
            </a:prstGeom>
          </p:spPr>
        </p:pic>
        <p:pic>
          <p:nvPicPr>
            <p:cNvPr id="20" name="object 20" descr=""/>
            <p:cNvPicPr/>
            <p:nvPr/>
          </p:nvPicPr>
          <p:blipFill>
            <a:blip r:embed="rId11" cstate="print"/>
            <a:stretch>
              <a:fillRect/>
            </a:stretch>
          </p:blipFill>
          <p:spPr>
            <a:xfrm>
              <a:off x="2353055" y="3927424"/>
              <a:ext cx="1472933" cy="54787"/>
            </a:xfrm>
            <a:prstGeom prst="rect">
              <a:avLst/>
            </a:prstGeom>
          </p:spPr>
        </p:pic>
        <p:pic>
          <p:nvPicPr>
            <p:cNvPr id="21" name="object 21" descr=""/>
            <p:cNvPicPr/>
            <p:nvPr/>
          </p:nvPicPr>
          <p:blipFill>
            <a:blip r:embed="rId12" cstate="print"/>
            <a:stretch>
              <a:fillRect/>
            </a:stretch>
          </p:blipFill>
          <p:spPr>
            <a:xfrm>
              <a:off x="1577873" y="3603459"/>
              <a:ext cx="2952330" cy="324040"/>
            </a:xfrm>
            <a:prstGeom prst="rect">
              <a:avLst/>
            </a:prstGeom>
          </p:spPr>
        </p:pic>
        <p:sp>
          <p:nvSpPr>
            <p:cNvPr id="22" name="object 22" descr=""/>
            <p:cNvSpPr/>
            <p:nvPr/>
          </p:nvSpPr>
          <p:spPr>
            <a:xfrm>
              <a:off x="1577874" y="3603449"/>
              <a:ext cx="2952750" cy="324485"/>
            </a:xfrm>
            <a:custGeom>
              <a:avLst/>
              <a:gdLst/>
              <a:ahLst/>
              <a:cxnLst/>
              <a:rect l="l" t="t" r="r" b="b"/>
              <a:pathLst>
                <a:path w="2952750" h="324485">
                  <a:moveTo>
                    <a:pt x="0" y="54013"/>
                  </a:moveTo>
                  <a:lnTo>
                    <a:pt x="4244" y="32988"/>
                  </a:lnTo>
                  <a:lnTo>
                    <a:pt x="15819" y="15819"/>
                  </a:lnTo>
                  <a:lnTo>
                    <a:pt x="32988" y="4244"/>
                  </a:lnTo>
                  <a:lnTo>
                    <a:pt x="54013" y="0"/>
                  </a:lnTo>
                  <a:lnTo>
                    <a:pt x="2898317" y="0"/>
                  </a:lnTo>
                  <a:lnTo>
                    <a:pt x="2919342" y="4244"/>
                  </a:lnTo>
                  <a:lnTo>
                    <a:pt x="2936511" y="15819"/>
                  </a:lnTo>
                  <a:lnTo>
                    <a:pt x="2948086" y="32988"/>
                  </a:lnTo>
                  <a:lnTo>
                    <a:pt x="2952330" y="54013"/>
                  </a:lnTo>
                  <a:lnTo>
                    <a:pt x="2952330" y="270040"/>
                  </a:lnTo>
                  <a:lnTo>
                    <a:pt x="2948086" y="291057"/>
                  </a:lnTo>
                  <a:lnTo>
                    <a:pt x="2936511" y="308222"/>
                  </a:lnTo>
                  <a:lnTo>
                    <a:pt x="2919342" y="319796"/>
                  </a:lnTo>
                  <a:lnTo>
                    <a:pt x="2898317" y="324040"/>
                  </a:lnTo>
                  <a:lnTo>
                    <a:pt x="54013" y="324040"/>
                  </a:lnTo>
                  <a:lnTo>
                    <a:pt x="32988" y="319796"/>
                  </a:lnTo>
                  <a:lnTo>
                    <a:pt x="15819" y="308222"/>
                  </a:lnTo>
                  <a:lnTo>
                    <a:pt x="4244" y="291057"/>
                  </a:lnTo>
                  <a:lnTo>
                    <a:pt x="0" y="270040"/>
                  </a:lnTo>
                  <a:lnTo>
                    <a:pt x="0" y="54013"/>
                  </a:lnTo>
                  <a:close/>
                </a:path>
              </a:pathLst>
            </a:custGeom>
            <a:ln w="9525">
              <a:solidFill>
                <a:srgbClr val="B6DCDF"/>
              </a:solidFill>
            </a:ln>
          </p:spPr>
          <p:txBody>
            <a:bodyPr wrap="square" lIns="0" tIns="0" rIns="0" bIns="0" rtlCol="0"/>
            <a:lstStyle/>
            <a:p/>
          </p:txBody>
        </p:sp>
        <p:pic>
          <p:nvPicPr>
            <p:cNvPr id="23" name="object 23" descr=""/>
            <p:cNvPicPr/>
            <p:nvPr/>
          </p:nvPicPr>
          <p:blipFill>
            <a:blip r:embed="rId13" cstate="print"/>
            <a:stretch>
              <a:fillRect/>
            </a:stretch>
          </p:blipFill>
          <p:spPr>
            <a:xfrm>
              <a:off x="4993385" y="4014215"/>
              <a:ext cx="3294125" cy="1005839"/>
            </a:xfrm>
            <a:prstGeom prst="rect">
              <a:avLst/>
            </a:prstGeom>
          </p:spPr>
        </p:pic>
        <p:pic>
          <p:nvPicPr>
            <p:cNvPr id="24" name="object 24" descr=""/>
            <p:cNvPicPr/>
            <p:nvPr/>
          </p:nvPicPr>
          <p:blipFill>
            <a:blip r:embed="rId14" cstate="print"/>
            <a:stretch>
              <a:fillRect/>
            </a:stretch>
          </p:blipFill>
          <p:spPr>
            <a:xfrm>
              <a:off x="4947665" y="3992117"/>
              <a:ext cx="3328415" cy="973073"/>
            </a:xfrm>
            <a:prstGeom prst="rect">
              <a:avLst/>
            </a:prstGeom>
          </p:spPr>
        </p:pic>
        <p:sp>
          <p:nvSpPr>
            <p:cNvPr id="25" name="object 25" descr=""/>
            <p:cNvSpPr/>
            <p:nvPr/>
          </p:nvSpPr>
          <p:spPr>
            <a:xfrm>
              <a:off x="5034254" y="4035501"/>
              <a:ext cx="3212465" cy="923925"/>
            </a:xfrm>
            <a:custGeom>
              <a:avLst/>
              <a:gdLst/>
              <a:ahLst/>
              <a:cxnLst/>
              <a:rect l="l" t="t" r="r" b="b"/>
              <a:pathLst>
                <a:path w="3212465" h="923925">
                  <a:moveTo>
                    <a:pt x="3212426" y="0"/>
                  </a:moveTo>
                  <a:lnTo>
                    <a:pt x="0" y="0"/>
                  </a:lnTo>
                  <a:lnTo>
                    <a:pt x="0" y="923328"/>
                  </a:lnTo>
                  <a:lnTo>
                    <a:pt x="3212426" y="923328"/>
                  </a:lnTo>
                  <a:lnTo>
                    <a:pt x="3212426" y="0"/>
                  </a:lnTo>
                  <a:close/>
                </a:path>
              </a:pathLst>
            </a:custGeom>
            <a:solidFill>
              <a:srgbClr val="B9CDE5"/>
            </a:solidFill>
          </p:spPr>
          <p:txBody>
            <a:bodyPr wrap="square" lIns="0" tIns="0" rIns="0" bIns="0" rtlCol="0"/>
            <a:lstStyle/>
            <a:p/>
          </p:txBody>
        </p:sp>
      </p:grpSp>
      <p:sp>
        <p:nvSpPr>
          <p:cNvPr id="26" name="object 26" descr=""/>
          <p:cNvSpPr txBox="1"/>
          <p:nvPr/>
        </p:nvSpPr>
        <p:spPr>
          <a:xfrm>
            <a:off x="5034254" y="4060141"/>
            <a:ext cx="3212465" cy="848360"/>
          </a:xfrm>
          <a:prstGeom prst="rect">
            <a:avLst/>
          </a:prstGeom>
        </p:spPr>
        <p:txBody>
          <a:bodyPr wrap="square" lIns="0" tIns="12700" rIns="0" bIns="0" rtlCol="0" vert="horz">
            <a:spAutoFit/>
          </a:bodyPr>
          <a:lstStyle/>
          <a:p>
            <a:pPr algn="just" marL="91440" marR="140970">
              <a:lnSpc>
                <a:spcPct val="100000"/>
              </a:lnSpc>
              <a:spcBef>
                <a:spcPts val="100"/>
              </a:spcBef>
            </a:pPr>
            <a:r>
              <a:rPr dirty="0" sz="1800" spc="-5">
                <a:solidFill>
                  <a:srgbClr val="002060"/>
                </a:solidFill>
                <a:latin typeface="Microsoft YaHei"/>
                <a:cs typeface="Microsoft YaHei"/>
              </a:rPr>
              <a:t>增强现实、在线游戏等需要进行实时高清视频交互，对上下行用户传输速率提出挑战</a:t>
            </a:r>
            <a:endParaRPr sz="1800">
              <a:latin typeface="Microsoft YaHei"/>
              <a:cs typeface="Microsoft YaHei"/>
            </a:endParaRPr>
          </a:p>
        </p:txBody>
      </p:sp>
      <p:grpSp>
        <p:nvGrpSpPr>
          <p:cNvPr id="27" name="object 27" descr=""/>
          <p:cNvGrpSpPr/>
          <p:nvPr/>
        </p:nvGrpSpPr>
        <p:grpSpPr>
          <a:xfrm>
            <a:off x="4988052" y="3516629"/>
            <a:ext cx="3305175" cy="480059"/>
            <a:chOff x="4988052" y="3516629"/>
            <a:chExt cx="3305175" cy="480059"/>
          </a:xfrm>
        </p:grpSpPr>
        <p:pic>
          <p:nvPicPr>
            <p:cNvPr id="28" name="object 28" descr=""/>
            <p:cNvPicPr/>
            <p:nvPr/>
          </p:nvPicPr>
          <p:blipFill>
            <a:blip r:embed="rId15" cstate="print"/>
            <a:stretch>
              <a:fillRect/>
            </a:stretch>
          </p:blipFill>
          <p:spPr>
            <a:xfrm>
              <a:off x="4988052" y="3580637"/>
              <a:ext cx="3304792" cy="416051"/>
            </a:xfrm>
            <a:prstGeom prst="rect">
              <a:avLst/>
            </a:prstGeom>
          </p:spPr>
        </p:pic>
        <p:pic>
          <p:nvPicPr>
            <p:cNvPr id="29" name="object 29" descr=""/>
            <p:cNvPicPr/>
            <p:nvPr/>
          </p:nvPicPr>
          <p:blipFill>
            <a:blip r:embed="rId16" cstate="print"/>
            <a:stretch>
              <a:fillRect/>
            </a:stretch>
          </p:blipFill>
          <p:spPr>
            <a:xfrm>
              <a:off x="5685282" y="3516629"/>
              <a:ext cx="1980437" cy="86652"/>
            </a:xfrm>
            <a:prstGeom prst="rect">
              <a:avLst/>
            </a:prstGeom>
          </p:spPr>
        </p:pic>
        <p:pic>
          <p:nvPicPr>
            <p:cNvPr id="30" name="object 30" descr=""/>
            <p:cNvPicPr/>
            <p:nvPr/>
          </p:nvPicPr>
          <p:blipFill>
            <a:blip r:embed="rId17" cstate="print"/>
            <a:stretch>
              <a:fillRect/>
            </a:stretch>
          </p:blipFill>
          <p:spPr>
            <a:xfrm>
              <a:off x="5685282" y="3927424"/>
              <a:ext cx="1980437" cy="54787"/>
            </a:xfrm>
            <a:prstGeom prst="rect">
              <a:avLst/>
            </a:prstGeom>
          </p:spPr>
        </p:pic>
        <p:pic>
          <p:nvPicPr>
            <p:cNvPr id="31" name="object 31" descr=""/>
            <p:cNvPicPr/>
            <p:nvPr/>
          </p:nvPicPr>
          <p:blipFill>
            <a:blip r:embed="rId18" cstate="print"/>
            <a:stretch>
              <a:fillRect/>
            </a:stretch>
          </p:blipFill>
          <p:spPr>
            <a:xfrm>
              <a:off x="5034267" y="3603459"/>
              <a:ext cx="3212426" cy="324040"/>
            </a:xfrm>
            <a:prstGeom prst="rect">
              <a:avLst/>
            </a:prstGeom>
          </p:spPr>
        </p:pic>
        <p:sp>
          <p:nvSpPr>
            <p:cNvPr id="32" name="object 32" descr=""/>
            <p:cNvSpPr/>
            <p:nvPr/>
          </p:nvSpPr>
          <p:spPr>
            <a:xfrm>
              <a:off x="5034258" y="3603449"/>
              <a:ext cx="3212465" cy="324485"/>
            </a:xfrm>
            <a:custGeom>
              <a:avLst/>
              <a:gdLst/>
              <a:ahLst/>
              <a:cxnLst/>
              <a:rect l="l" t="t" r="r" b="b"/>
              <a:pathLst>
                <a:path w="3212465" h="324485">
                  <a:moveTo>
                    <a:pt x="0" y="54013"/>
                  </a:moveTo>
                  <a:lnTo>
                    <a:pt x="4244" y="32988"/>
                  </a:lnTo>
                  <a:lnTo>
                    <a:pt x="15819" y="15819"/>
                  </a:lnTo>
                  <a:lnTo>
                    <a:pt x="32988" y="4244"/>
                  </a:lnTo>
                  <a:lnTo>
                    <a:pt x="54013" y="0"/>
                  </a:lnTo>
                  <a:lnTo>
                    <a:pt x="3158426" y="0"/>
                  </a:lnTo>
                  <a:lnTo>
                    <a:pt x="3179444" y="4244"/>
                  </a:lnTo>
                  <a:lnTo>
                    <a:pt x="3196609" y="15819"/>
                  </a:lnTo>
                  <a:lnTo>
                    <a:pt x="3208182" y="32988"/>
                  </a:lnTo>
                  <a:lnTo>
                    <a:pt x="3212426" y="54013"/>
                  </a:lnTo>
                  <a:lnTo>
                    <a:pt x="3212426" y="270040"/>
                  </a:lnTo>
                  <a:lnTo>
                    <a:pt x="3208182" y="291057"/>
                  </a:lnTo>
                  <a:lnTo>
                    <a:pt x="3196609" y="308222"/>
                  </a:lnTo>
                  <a:lnTo>
                    <a:pt x="3179444" y="319796"/>
                  </a:lnTo>
                  <a:lnTo>
                    <a:pt x="3158426" y="324040"/>
                  </a:lnTo>
                  <a:lnTo>
                    <a:pt x="54013" y="324040"/>
                  </a:lnTo>
                  <a:lnTo>
                    <a:pt x="32988" y="319796"/>
                  </a:lnTo>
                  <a:lnTo>
                    <a:pt x="15819" y="308222"/>
                  </a:lnTo>
                  <a:lnTo>
                    <a:pt x="4244" y="291057"/>
                  </a:lnTo>
                  <a:lnTo>
                    <a:pt x="0" y="270040"/>
                  </a:lnTo>
                  <a:lnTo>
                    <a:pt x="0" y="54013"/>
                  </a:lnTo>
                  <a:close/>
                </a:path>
              </a:pathLst>
            </a:custGeom>
            <a:ln w="9524">
              <a:solidFill>
                <a:srgbClr val="B6DCDF"/>
              </a:solidFill>
            </a:ln>
          </p:spPr>
          <p:txBody>
            <a:bodyPr wrap="square" lIns="0" tIns="0" rIns="0" bIns="0" rtlCol="0"/>
            <a:lstStyle/>
            <a:p/>
          </p:txBody>
        </p:sp>
      </p:grpSp>
      <p:sp>
        <p:nvSpPr>
          <p:cNvPr id="33" name="object 33" descr=""/>
          <p:cNvSpPr txBox="1"/>
          <p:nvPr/>
        </p:nvSpPr>
        <p:spPr>
          <a:xfrm>
            <a:off x="1584759" y="3591229"/>
            <a:ext cx="6655434" cy="330200"/>
          </a:xfrm>
          <a:prstGeom prst="rect">
            <a:avLst/>
          </a:prstGeom>
        </p:spPr>
        <p:txBody>
          <a:bodyPr wrap="square" lIns="0" tIns="12065" rIns="0" bIns="0" rtlCol="0" vert="horz">
            <a:spAutoFit/>
          </a:bodyPr>
          <a:lstStyle/>
          <a:p>
            <a:pPr algn="ctr" marL="123189">
              <a:lnSpc>
                <a:spcPct val="100000"/>
              </a:lnSpc>
              <a:spcBef>
                <a:spcPts val="95"/>
              </a:spcBef>
              <a:tabLst>
                <a:tab pos="3455035" algn="l"/>
              </a:tabLst>
            </a:pPr>
            <a:r>
              <a:rPr dirty="0" sz="2000" spc="-20">
                <a:solidFill>
                  <a:srgbClr val="FFFFFF"/>
                </a:solidFill>
                <a:latin typeface="Microsoft YaHei"/>
                <a:cs typeface="Microsoft YaHei"/>
              </a:rPr>
              <a:t>快速响</a:t>
            </a:r>
            <a:r>
              <a:rPr dirty="0" sz="2000" spc="-50">
                <a:solidFill>
                  <a:srgbClr val="FFFFFF"/>
                </a:solidFill>
                <a:latin typeface="Microsoft YaHei"/>
                <a:cs typeface="Microsoft YaHei"/>
              </a:rPr>
              <a:t>应</a:t>
            </a:r>
            <a:r>
              <a:rPr dirty="0" sz="2000">
                <a:solidFill>
                  <a:srgbClr val="FFFFFF"/>
                </a:solidFill>
                <a:latin typeface="Microsoft YaHei"/>
                <a:cs typeface="Microsoft YaHei"/>
              </a:rPr>
              <a:t>	</a:t>
            </a:r>
            <a:r>
              <a:rPr dirty="0" sz="2000" spc="-20">
                <a:solidFill>
                  <a:srgbClr val="FFFFFF"/>
                </a:solidFill>
                <a:latin typeface="Microsoft YaHei"/>
                <a:cs typeface="Microsoft YaHei"/>
              </a:rPr>
              <a:t>大量数据交</a:t>
            </a:r>
            <a:r>
              <a:rPr dirty="0" sz="2000" spc="-50">
                <a:solidFill>
                  <a:srgbClr val="FFFFFF"/>
                </a:solidFill>
                <a:latin typeface="Microsoft YaHei"/>
                <a:cs typeface="Microsoft YaHei"/>
              </a:rPr>
              <a:t>互</a:t>
            </a:r>
            <a:endParaRPr sz="2000">
              <a:latin typeface="Microsoft YaHei"/>
              <a:cs typeface="Microsoft YaHei"/>
            </a:endParaRPr>
          </a:p>
        </p:txBody>
      </p:sp>
      <p:grpSp>
        <p:nvGrpSpPr>
          <p:cNvPr id="34" name="object 34" descr=""/>
          <p:cNvGrpSpPr/>
          <p:nvPr/>
        </p:nvGrpSpPr>
        <p:grpSpPr>
          <a:xfrm>
            <a:off x="1490471" y="2996945"/>
            <a:ext cx="6851650" cy="476250"/>
            <a:chOff x="1490471" y="2996945"/>
            <a:chExt cx="6851650" cy="476250"/>
          </a:xfrm>
        </p:grpSpPr>
        <p:pic>
          <p:nvPicPr>
            <p:cNvPr id="35" name="object 35" descr=""/>
            <p:cNvPicPr/>
            <p:nvPr/>
          </p:nvPicPr>
          <p:blipFill>
            <a:blip r:embed="rId19" cstate="print"/>
            <a:stretch>
              <a:fillRect/>
            </a:stretch>
          </p:blipFill>
          <p:spPr>
            <a:xfrm>
              <a:off x="1490471" y="3021329"/>
              <a:ext cx="6851140" cy="451865"/>
            </a:xfrm>
            <a:prstGeom prst="rect">
              <a:avLst/>
            </a:prstGeom>
          </p:spPr>
        </p:pic>
        <p:pic>
          <p:nvPicPr>
            <p:cNvPr id="36" name="object 36" descr=""/>
            <p:cNvPicPr/>
            <p:nvPr/>
          </p:nvPicPr>
          <p:blipFill>
            <a:blip r:embed="rId20" cstate="print"/>
            <a:stretch>
              <a:fillRect/>
            </a:stretch>
          </p:blipFill>
          <p:spPr>
            <a:xfrm>
              <a:off x="4280153" y="2996945"/>
              <a:ext cx="1334261" cy="426719"/>
            </a:xfrm>
            <a:prstGeom prst="rect">
              <a:avLst/>
            </a:prstGeom>
          </p:spPr>
        </p:pic>
      </p:grpSp>
      <p:sp>
        <p:nvSpPr>
          <p:cNvPr id="37" name="object 37" descr=""/>
          <p:cNvSpPr txBox="1"/>
          <p:nvPr/>
        </p:nvSpPr>
        <p:spPr>
          <a:xfrm>
            <a:off x="1531518" y="3042539"/>
            <a:ext cx="6769100" cy="369570"/>
          </a:xfrm>
          <a:prstGeom prst="rect">
            <a:avLst/>
          </a:prstGeom>
          <a:solidFill>
            <a:srgbClr val="CDCDCD"/>
          </a:solidFill>
        </p:spPr>
        <p:txBody>
          <a:bodyPr wrap="square" lIns="0" tIns="37465" rIns="0" bIns="0" rtlCol="0" vert="horz">
            <a:spAutoFit/>
          </a:bodyPr>
          <a:lstStyle/>
          <a:p>
            <a:pPr algn="ctr">
              <a:lnSpc>
                <a:spcPct val="100000"/>
              </a:lnSpc>
              <a:spcBef>
                <a:spcPts val="295"/>
              </a:spcBef>
            </a:pPr>
            <a:r>
              <a:rPr dirty="0" sz="1800" spc="-15">
                <a:latin typeface="Microsoft YaHei"/>
                <a:cs typeface="Microsoft YaHei"/>
              </a:rPr>
              <a:t>主要挑战</a:t>
            </a:r>
            <a:endParaRPr sz="1800">
              <a:latin typeface="Microsoft YaHei"/>
              <a:cs typeface="Microsoft YaHei"/>
            </a:endParaRPr>
          </a:p>
        </p:txBody>
      </p:sp>
      <p:pic>
        <p:nvPicPr>
          <p:cNvPr id="38" name="object 38"/>
          <p:cNvPicPr/>
          <p:nvPr/>
        </p:nvPicPr>
        <p:blipFill>
          <a:blip r:embed="rId21" cstate="print"/>
          <a:stretch>
            <a:fillRect/>
          </a:stretch>
        </p:blipFill>
        <p:spPr>
          <a:xfrm>
            <a:off x="7050482" y="1821257"/>
            <a:ext cx="1665439" cy="8100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3792" y="150113"/>
            <a:ext cx="623824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传输类和消息类业务趋势及挑战</a:t>
            </a:r>
          </a:p>
        </p:txBody>
      </p:sp>
      <p:pic>
        <p:nvPicPr>
          <p:cNvPr id="3" name="object 3"/>
          <p:cNvPicPr/>
          <p:nvPr/>
        </p:nvPicPr>
        <p:blipFill>
          <a:blip r:embed="rId2" cstate="print"/>
          <a:stretch>
            <a:fillRect/>
          </a:stretch>
        </p:blipFill>
        <p:spPr>
          <a:xfrm>
            <a:off x="1752288" y="897564"/>
            <a:ext cx="2160239" cy="967049"/>
          </a:xfrm>
          <a:prstGeom prst="rect">
            <a:avLst/>
          </a:prstGeom>
        </p:spPr>
      </p:pic>
      <p:sp>
        <p:nvSpPr>
          <p:cNvPr id="4" name="object 4" descr=""/>
          <p:cNvSpPr txBox="1"/>
          <p:nvPr/>
        </p:nvSpPr>
        <p:spPr>
          <a:xfrm>
            <a:off x="1025415" y="1727541"/>
            <a:ext cx="4032250" cy="1068070"/>
          </a:xfrm>
          <a:prstGeom prst="rect">
            <a:avLst/>
          </a:prstGeom>
        </p:spPr>
        <p:txBody>
          <a:bodyPr wrap="square" lIns="0" tIns="106680" rIns="0" bIns="0" rtlCol="0" vert="horz">
            <a:spAutoFit/>
          </a:bodyPr>
          <a:lstStyle/>
          <a:p>
            <a:pPr marL="779780">
              <a:lnSpc>
                <a:spcPct val="100000"/>
              </a:lnSpc>
              <a:spcBef>
                <a:spcPts val="840"/>
              </a:spcBef>
            </a:pPr>
            <a:r>
              <a:rPr dirty="0" sz="1400" spc="-25">
                <a:latin typeface="Microsoft YaHei"/>
                <a:cs typeface="Microsoft YaHei"/>
              </a:rPr>
              <a:t>云存储将成为主流应用之一</a:t>
            </a:r>
            <a:endParaRPr sz="1400">
              <a:latin typeface="Microsoft YaHei"/>
              <a:cs typeface="Microsoft YaHei"/>
            </a:endParaRPr>
          </a:p>
          <a:p>
            <a:pPr marL="297815" indent="-285115">
              <a:lnSpc>
                <a:spcPct val="100000"/>
              </a:lnSpc>
              <a:spcBef>
                <a:spcPts val="745"/>
              </a:spcBef>
              <a:buChar char="•"/>
              <a:tabLst>
                <a:tab pos="297815" algn="l"/>
              </a:tabLst>
            </a:pPr>
            <a:r>
              <a:rPr dirty="0" sz="1400" spc="-10">
                <a:latin typeface="Arial MT"/>
                <a:cs typeface="Arial MT"/>
              </a:rPr>
              <a:t>IDC</a:t>
            </a:r>
            <a:r>
              <a:rPr dirty="0" sz="1400" spc="-10">
                <a:latin typeface="Microsoft YaHei"/>
                <a:cs typeface="Microsoft YaHei"/>
              </a:rPr>
              <a:t>：</a:t>
            </a:r>
            <a:r>
              <a:rPr dirty="0" sz="1400" spc="-10">
                <a:latin typeface="Arial MT"/>
                <a:cs typeface="Arial MT"/>
              </a:rPr>
              <a:t>2020</a:t>
            </a:r>
            <a:r>
              <a:rPr dirty="0" sz="1400" spc="-20">
                <a:latin typeface="Microsoft YaHei"/>
                <a:cs typeface="Microsoft YaHei"/>
              </a:rPr>
              <a:t>年全球</a:t>
            </a:r>
            <a:r>
              <a:rPr dirty="0" sz="1400" spc="-20">
                <a:latin typeface="Arial MT"/>
                <a:cs typeface="Arial MT"/>
              </a:rPr>
              <a:t>30%</a:t>
            </a:r>
            <a:r>
              <a:rPr dirty="0" sz="1400" spc="-25">
                <a:latin typeface="Microsoft YaHei"/>
                <a:cs typeface="Microsoft YaHei"/>
              </a:rPr>
              <a:t>数字信息将存储在云端；</a:t>
            </a:r>
            <a:endParaRPr sz="1400">
              <a:latin typeface="Microsoft YaHei"/>
              <a:cs typeface="Microsoft YaHei"/>
            </a:endParaRPr>
          </a:p>
          <a:p>
            <a:pPr marL="297815" marR="76835" indent="-285750">
              <a:lnSpc>
                <a:spcPct val="100000"/>
              </a:lnSpc>
              <a:buChar char="•"/>
              <a:tabLst>
                <a:tab pos="297815" algn="l"/>
              </a:tabLst>
            </a:pPr>
            <a:r>
              <a:rPr dirty="0" sz="1400">
                <a:latin typeface="Arial MT"/>
                <a:cs typeface="Arial MT"/>
              </a:rPr>
              <a:t>Markets and </a:t>
            </a:r>
            <a:r>
              <a:rPr dirty="0" sz="1400" spc="-10">
                <a:latin typeface="Arial MT"/>
                <a:cs typeface="Arial MT"/>
              </a:rPr>
              <a:t>Markets</a:t>
            </a:r>
            <a:r>
              <a:rPr dirty="0" sz="1400" spc="-10">
                <a:latin typeface="Microsoft YaHei"/>
                <a:cs typeface="Microsoft YaHei"/>
              </a:rPr>
              <a:t>：</a:t>
            </a:r>
            <a:r>
              <a:rPr dirty="0" sz="1400" spc="-10">
                <a:latin typeface="Arial MT"/>
                <a:cs typeface="Arial MT"/>
              </a:rPr>
              <a:t>2018</a:t>
            </a:r>
            <a:r>
              <a:rPr dirty="0" sz="1400" spc="-25">
                <a:latin typeface="Microsoft YaHei"/>
                <a:cs typeface="Microsoft YaHei"/>
              </a:rPr>
              <a:t>年云存储市场将达</a:t>
            </a:r>
            <a:r>
              <a:rPr dirty="0" sz="1400" spc="-20">
                <a:latin typeface="Microsoft YaHei"/>
                <a:cs typeface="Microsoft YaHei"/>
              </a:rPr>
              <a:t>到</a:t>
            </a:r>
            <a:r>
              <a:rPr dirty="0" sz="1400">
                <a:latin typeface="Arial MT"/>
                <a:cs typeface="Arial MT"/>
              </a:rPr>
              <a:t>468</a:t>
            </a:r>
            <a:r>
              <a:rPr dirty="0" sz="1400" spc="-30">
                <a:latin typeface="Microsoft YaHei"/>
                <a:cs typeface="Microsoft YaHei"/>
              </a:rPr>
              <a:t>亿美元；</a:t>
            </a:r>
            <a:endParaRPr sz="1400">
              <a:latin typeface="Microsoft YaHei"/>
              <a:cs typeface="Microsoft YaHei"/>
            </a:endParaRPr>
          </a:p>
        </p:txBody>
      </p:sp>
      <p:grpSp>
        <p:nvGrpSpPr>
          <p:cNvPr id="5" name="object 5" descr=""/>
          <p:cNvGrpSpPr/>
          <p:nvPr/>
        </p:nvGrpSpPr>
        <p:grpSpPr>
          <a:xfrm>
            <a:off x="384810" y="4107179"/>
            <a:ext cx="2489200" cy="745490"/>
            <a:chOff x="384810" y="4107179"/>
            <a:chExt cx="2489200" cy="745490"/>
          </a:xfrm>
        </p:grpSpPr>
        <p:pic>
          <p:nvPicPr>
            <p:cNvPr id="6" name="object 6" descr=""/>
            <p:cNvPicPr/>
            <p:nvPr/>
          </p:nvPicPr>
          <p:blipFill>
            <a:blip r:embed="rId3" cstate="print"/>
            <a:stretch>
              <a:fillRect/>
            </a:stretch>
          </p:blipFill>
          <p:spPr>
            <a:xfrm>
              <a:off x="415290" y="4122432"/>
              <a:ext cx="2458211" cy="729982"/>
            </a:xfrm>
            <a:prstGeom prst="rect">
              <a:avLst/>
            </a:prstGeom>
          </p:spPr>
        </p:pic>
        <p:pic>
          <p:nvPicPr>
            <p:cNvPr id="7" name="object 7" descr=""/>
            <p:cNvPicPr/>
            <p:nvPr/>
          </p:nvPicPr>
          <p:blipFill>
            <a:blip r:embed="rId4" cstate="print"/>
            <a:stretch>
              <a:fillRect/>
            </a:stretch>
          </p:blipFill>
          <p:spPr>
            <a:xfrm>
              <a:off x="384810" y="4107179"/>
              <a:ext cx="2360675" cy="630935"/>
            </a:xfrm>
            <a:prstGeom prst="rect">
              <a:avLst/>
            </a:prstGeom>
          </p:spPr>
        </p:pic>
      </p:grpSp>
      <p:sp>
        <p:nvSpPr>
          <p:cNvPr id="8" name="object 8" descr=""/>
          <p:cNvSpPr txBox="1"/>
          <p:nvPr/>
        </p:nvSpPr>
        <p:spPr>
          <a:xfrm>
            <a:off x="456145" y="4143387"/>
            <a:ext cx="2376805" cy="648335"/>
          </a:xfrm>
          <a:prstGeom prst="rect">
            <a:avLst/>
          </a:prstGeom>
          <a:solidFill>
            <a:srgbClr val="B9CDE5"/>
          </a:solidFill>
        </p:spPr>
        <p:txBody>
          <a:bodyPr wrap="square" lIns="0" tIns="38100" rIns="0" bIns="0" rtlCol="0" vert="horz">
            <a:spAutoFit/>
          </a:bodyPr>
          <a:lstStyle/>
          <a:p>
            <a:pPr marL="90805" marR="242570">
              <a:lnSpc>
                <a:spcPct val="100000"/>
              </a:lnSpc>
              <a:spcBef>
                <a:spcPts val="300"/>
              </a:spcBef>
            </a:pPr>
            <a:r>
              <a:rPr dirty="0" sz="1600" spc="-5">
                <a:solidFill>
                  <a:srgbClr val="002060"/>
                </a:solidFill>
                <a:latin typeface="Microsoft YaHei"/>
                <a:cs typeface="Microsoft YaHei"/>
              </a:rPr>
              <a:t>达到媲美光纤的速率体</a:t>
            </a:r>
            <a:r>
              <a:rPr dirty="0" sz="1600">
                <a:solidFill>
                  <a:srgbClr val="002060"/>
                </a:solidFill>
                <a:latin typeface="Microsoft YaHei"/>
                <a:cs typeface="Microsoft YaHei"/>
              </a:rPr>
              <a:t>验</a:t>
            </a:r>
            <a:r>
              <a:rPr dirty="0" sz="1600" spc="-10">
                <a:solidFill>
                  <a:srgbClr val="002060"/>
                </a:solidFill>
                <a:latin typeface="Microsoft YaHei"/>
                <a:cs typeface="Microsoft YaHei"/>
              </a:rPr>
              <a:t>（</a:t>
            </a:r>
            <a:r>
              <a:rPr dirty="0" sz="1600" spc="-10">
                <a:solidFill>
                  <a:srgbClr val="002060"/>
                </a:solidFill>
                <a:latin typeface="Arial MT"/>
                <a:cs typeface="Arial MT"/>
              </a:rPr>
              <a:t>~1Gbps</a:t>
            </a:r>
            <a:r>
              <a:rPr dirty="0" sz="1600" spc="-10">
                <a:solidFill>
                  <a:srgbClr val="002060"/>
                </a:solidFill>
                <a:latin typeface="Microsoft YaHei"/>
                <a:cs typeface="Microsoft YaHei"/>
              </a:rPr>
              <a:t>）</a:t>
            </a:r>
            <a:endParaRPr sz="1600">
              <a:latin typeface="Microsoft YaHei"/>
              <a:cs typeface="Microsoft YaHei"/>
            </a:endParaRPr>
          </a:p>
        </p:txBody>
      </p:sp>
      <p:grpSp>
        <p:nvGrpSpPr>
          <p:cNvPr id="9" name="object 9" descr=""/>
          <p:cNvGrpSpPr/>
          <p:nvPr/>
        </p:nvGrpSpPr>
        <p:grpSpPr>
          <a:xfrm>
            <a:off x="2833115" y="4107179"/>
            <a:ext cx="2417445" cy="928369"/>
            <a:chOff x="2833115" y="4107179"/>
            <a:chExt cx="2417445" cy="928369"/>
          </a:xfrm>
        </p:grpSpPr>
        <p:pic>
          <p:nvPicPr>
            <p:cNvPr id="10" name="object 10" descr=""/>
            <p:cNvPicPr/>
            <p:nvPr/>
          </p:nvPicPr>
          <p:blipFill>
            <a:blip r:embed="rId5" cstate="print"/>
            <a:stretch>
              <a:fillRect/>
            </a:stretch>
          </p:blipFill>
          <p:spPr>
            <a:xfrm>
              <a:off x="2863596" y="4122432"/>
              <a:ext cx="2386583" cy="912862"/>
            </a:xfrm>
            <a:prstGeom prst="rect">
              <a:avLst/>
            </a:prstGeom>
          </p:spPr>
        </p:pic>
        <p:pic>
          <p:nvPicPr>
            <p:cNvPr id="11" name="object 11" descr=""/>
            <p:cNvPicPr/>
            <p:nvPr/>
          </p:nvPicPr>
          <p:blipFill>
            <a:blip r:embed="rId6" cstate="print"/>
            <a:stretch>
              <a:fillRect/>
            </a:stretch>
          </p:blipFill>
          <p:spPr>
            <a:xfrm>
              <a:off x="2833115" y="4107179"/>
              <a:ext cx="2360675" cy="874775"/>
            </a:xfrm>
            <a:prstGeom prst="rect">
              <a:avLst/>
            </a:prstGeom>
          </p:spPr>
        </p:pic>
      </p:grpSp>
      <p:sp>
        <p:nvSpPr>
          <p:cNvPr id="12" name="object 12" descr=""/>
          <p:cNvSpPr txBox="1"/>
          <p:nvPr/>
        </p:nvSpPr>
        <p:spPr>
          <a:xfrm>
            <a:off x="2904413" y="4143387"/>
            <a:ext cx="2304415" cy="831215"/>
          </a:xfrm>
          <a:prstGeom prst="rect">
            <a:avLst/>
          </a:prstGeom>
          <a:solidFill>
            <a:srgbClr val="B9CDE5"/>
          </a:solidFill>
        </p:spPr>
        <p:txBody>
          <a:bodyPr wrap="square" lIns="0" tIns="38100" rIns="0" bIns="0" rtlCol="0" vert="horz">
            <a:spAutoFit/>
          </a:bodyPr>
          <a:lstStyle/>
          <a:p>
            <a:pPr algn="just" marL="91440" marR="170180">
              <a:lnSpc>
                <a:spcPct val="100000"/>
              </a:lnSpc>
              <a:spcBef>
                <a:spcPts val="300"/>
              </a:spcBef>
            </a:pPr>
            <a:r>
              <a:rPr dirty="0" sz="1600" spc="-5">
                <a:solidFill>
                  <a:srgbClr val="033085"/>
                </a:solidFill>
                <a:latin typeface="Microsoft YaHei"/>
                <a:cs typeface="Microsoft YaHei"/>
              </a:rPr>
              <a:t>密集场景中所产生的流量极大，对网络容量提</a:t>
            </a:r>
            <a:r>
              <a:rPr dirty="0" sz="1600" spc="-10">
                <a:solidFill>
                  <a:srgbClr val="033085"/>
                </a:solidFill>
                <a:latin typeface="Microsoft YaHei"/>
                <a:cs typeface="Microsoft YaHei"/>
              </a:rPr>
              <a:t>出极高要求</a:t>
            </a:r>
            <a:endParaRPr sz="1600">
              <a:latin typeface="Microsoft YaHei"/>
              <a:cs typeface="Microsoft YaHei"/>
            </a:endParaRPr>
          </a:p>
        </p:txBody>
      </p:sp>
      <p:sp>
        <p:nvSpPr>
          <p:cNvPr id="13" name="object 13" descr=""/>
          <p:cNvSpPr txBox="1"/>
          <p:nvPr/>
        </p:nvSpPr>
        <p:spPr>
          <a:xfrm>
            <a:off x="5722310" y="2057703"/>
            <a:ext cx="2838450" cy="992505"/>
          </a:xfrm>
          <a:prstGeom prst="rect">
            <a:avLst/>
          </a:prstGeom>
        </p:spPr>
        <p:txBody>
          <a:bodyPr wrap="square" lIns="0" tIns="69215" rIns="0" bIns="0" rtlCol="0" vert="horz">
            <a:spAutoFit/>
          </a:bodyPr>
          <a:lstStyle/>
          <a:p>
            <a:pPr marL="372745">
              <a:lnSpc>
                <a:spcPct val="100000"/>
              </a:lnSpc>
              <a:spcBef>
                <a:spcPts val="545"/>
              </a:spcBef>
            </a:pPr>
            <a:r>
              <a:rPr dirty="0" sz="1400" spc="-10">
                <a:latin typeface="Arial MT"/>
                <a:cs typeface="Arial MT"/>
              </a:rPr>
              <a:t>OTT</a:t>
            </a:r>
            <a:r>
              <a:rPr dirty="0" sz="1400" spc="-25">
                <a:latin typeface="Microsoft YaHei"/>
                <a:cs typeface="Microsoft YaHei"/>
              </a:rPr>
              <a:t>消息将成为主流应用之一</a:t>
            </a:r>
            <a:endParaRPr sz="1400">
              <a:latin typeface="Microsoft YaHei"/>
              <a:cs typeface="Microsoft YaHei"/>
            </a:endParaRPr>
          </a:p>
          <a:p>
            <a:pPr marL="297815" indent="-285115">
              <a:lnSpc>
                <a:spcPct val="100000"/>
              </a:lnSpc>
              <a:spcBef>
                <a:spcPts val="445"/>
              </a:spcBef>
              <a:buChar char="•"/>
              <a:tabLst>
                <a:tab pos="297815" algn="l"/>
              </a:tabLst>
            </a:pPr>
            <a:r>
              <a:rPr dirty="0" sz="1400" spc="-20">
                <a:latin typeface="Arial MT"/>
                <a:cs typeface="Arial MT"/>
              </a:rPr>
              <a:t>RADICATI</a:t>
            </a:r>
            <a:r>
              <a:rPr dirty="0" sz="1400" spc="50">
                <a:latin typeface="Arial MT"/>
                <a:cs typeface="Arial MT"/>
              </a:rPr>
              <a:t> </a:t>
            </a:r>
            <a:r>
              <a:rPr dirty="0" sz="1400" spc="-25">
                <a:latin typeface="Arial MT"/>
                <a:cs typeface="Arial MT"/>
              </a:rPr>
              <a:t>GROUP</a:t>
            </a:r>
            <a:r>
              <a:rPr dirty="0" sz="1400" spc="-30">
                <a:latin typeface="Microsoft YaHei"/>
                <a:cs typeface="Microsoft YaHei"/>
              </a:rPr>
              <a:t>预测，到</a:t>
            </a:r>
            <a:endParaRPr sz="1400">
              <a:latin typeface="Microsoft YaHei"/>
              <a:cs typeface="Microsoft YaHei"/>
            </a:endParaRPr>
          </a:p>
          <a:p>
            <a:pPr marL="297815" marR="5080">
              <a:lnSpc>
                <a:spcPct val="100000"/>
              </a:lnSpc>
            </a:pPr>
            <a:r>
              <a:rPr dirty="0" sz="1400">
                <a:latin typeface="Arial MT"/>
                <a:cs typeface="Arial MT"/>
              </a:rPr>
              <a:t>2017</a:t>
            </a:r>
            <a:r>
              <a:rPr dirty="0" sz="1400" spc="-25">
                <a:latin typeface="Microsoft YaHei"/>
                <a:cs typeface="Microsoft YaHei"/>
              </a:rPr>
              <a:t>年即时通信市场用户数量将</a:t>
            </a:r>
            <a:r>
              <a:rPr dirty="0" sz="1400" spc="-20">
                <a:latin typeface="Microsoft YaHei"/>
                <a:cs typeface="Microsoft YaHei"/>
              </a:rPr>
              <a:t>达</a:t>
            </a:r>
            <a:r>
              <a:rPr dirty="0" sz="1400">
                <a:latin typeface="Arial MT"/>
                <a:cs typeface="Arial MT"/>
              </a:rPr>
              <a:t>44</a:t>
            </a:r>
            <a:r>
              <a:rPr dirty="0" sz="1400" spc="-50">
                <a:latin typeface="Microsoft YaHei"/>
                <a:cs typeface="Microsoft YaHei"/>
              </a:rPr>
              <a:t>亿</a:t>
            </a:r>
            <a:endParaRPr sz="1400">
              <a:latin typeface="Microsoft YaHei"/>
              <a:cs typeface="Microsoft YaHei"/>
            </a:endParaRPr>
          </a:p>
        </p:txBody>
      </p:sp>
      <p:grpSp>
        <p:nvGrpSpPr>
          <p:cNvPr id="14" name="object 14" descr=""/>
          <p:cNvGrpSpPr/>
          <p:nvPr/>
        </p:nvGrpSpPr>
        <p:grpSpPr>
          <a:xfrm>
            <a:off x="409956" y="3566159"/>
            <a:ext cx="2468245" cy="476250"/>
            <a:chOff x="409956" y="3566159"/>
            <a:chExt cx="2468245" cy="476250"/>
          </a:xfrm>
        </p:grpSpPr>
        <p:pic>
          <p:nvPicPr>
            <p:cNvPr id="15" name="object 15" descr=""/>
            <p:cNvPicPr/>
            <p:nvPr/>
          </p:nvPicPr>
          <p:blipFill>
            <a:blip r:embed="rId7" cstate="print"/>
            <a:stretch>
              <a:fillRect/>
            </a:stretch>
          </p:blipFill>
          <p:spPr>
            <a:xfrm>
              <a:off x="409956" y="3634739"/>
              <a:ext cx="2468117" cy="407669"/>
            </a:xfrm>
            <a:prstGeom prst="rect">
              <a:avLst/>
            </a:prstGeom>
          </p:spPr>
        </p:pic>
        <p:pic>
          <p:nvPicPr>
            <p:cNvPr id="16" name="object 16" descr=""/>
            <p:cNvPicPr/>
            <p:nvPr/>
          </p:nvPicPr>
          <p:blipFill>
            <a:blip r:embed="rId8" cstate="print"/>
            <a:stretch>
              <a:fillRect/>
            </a:stretch>
          </p:blipFill>
          <p:spPr>
            <a:xfrm>
              <a:off x="689609" y="3566159"/>
              <a:ext cx="1980437" cy="91147"/>
            </a:xfrm>
            <a:prstGeom prst="rect">
              <a:avLst/>
            </a:prstGeom>
          </p:spPr>
        </p:pic>
        <p:pic>
          <p:nvPicPr>
            <p:cNvPr id="17" name="object 17" descr=""/>
            <p:cNvPicPr/>
            <p:nvPr/>
          </p:nvPicPr>
          <p:blipFill>
            <a:blip r:embed="rId9" cstate="print"/>
            <a:stretch>
              <a:fillRect/>
            </a:stretch>
          </p:blipFill>
          <p:spPr>
            <a:xfrm>
              <a:off x="689609" y="3973347"/>
              <a:ext cx="1980437" cy="58394"/>
            </a:xfrm>
            <a:prstGeom prst="rect">
              <a:avLst/>
            </a:prstGeom>
          </p:spPr>
        </p:pic>
        <p:pic>
          <p:nvPicPr>
            <p:cNvPr id="18" name="object 18" descr=""/>
            <p:cNvPicPr/>
            <p:nvPr/>
          </p:nvPicPr>
          <p:blipFill>
            <a:blip r:embed="rId10" cstate="print"/>
            <a:stretch>
              <a:fillRect/>
            </a:stretch>
          </p:blipFill>
          <p:spPr>
            <a:xfrm>
              <a:off x="456145" y="3657333"/>
              <a:ext cx="2376271" cy="315887"/>
            </a:xfrm>
            <a:prstGeom prst="rect">
              <a:avLst/>
            </a:prstGeom>
          </p:spPr>
        </p:pic>
        <p:sp>
          <p:nvSpPr>
            <p:cNvPr id="19" name="object 19" descr=""/>
            <p:cNvSpPr/>
            <p:nvPr/>
          </p:nvSpPr>
          <p:spPr>
            <a:xfrm>
              <a:off x="456144" y="3657325"/>
              <a:ext cx="2376805" cy="316230"/>
            </a:xfrm>
            <a:custGeom>
              <a:avLst/>
              <a:gdLst/>
              <a:ahLst/>
              <a:cxnLst/>
              <a:rect l="l" t="t" r="r" b="b"/>
              <a:pathLst>
                <a:path w="2376805" h="316229">
                  <a:moveTo>
                    <a:pt x="0" y="52654"/>
                  </a:moveTo>
                  <a:lnTo>
                    <a:pt x="4137" y="32157"/>
                  </a:lnTo>
                  <a:lnTo>
                    <a:pt x="15420" y="15420"/>
                  </a:lnTo>
                  <a:lnTo>
                    <a:pt x="32157" y="4137"/>
                  </a:lnTo>
                  <a:lnTo>
                    <a:pt x="52654" y="0"/>
                  </a:lnTo>
                  <a:lnTo>
                    <a:pt x="2323617" y="0"/>
                  </a:lnTo>
                  <a:lnTo>
                    <a:pt x="2344106" y="4137"/>
                  </a:lnTo>
                  <a:lnTo>
                    <a:pt x="2360839" y="15420"/>
                  </a:lnTo>
                  <a:lnTo>
                    <a:pt x="2372121" y="32157"/>
                  </a:lnTo>
                  <a:lnTo>
                    <a:pt x="2376258" y="52654"/>
                  </a:lnTo>
                  <a:lnTo>
                    <a:pt x="2376258" y="263245"/>
                  </a:lnTo>
                  <a:lnTo>
                    <a:pt x="2372121" y="283734"/>
                  </a:lnTo>
                  <a:lnTo>
                    <a:pt x="2360839" y="300467"/>
                  </a:lnTo>
                  <a:lnTo>
                    <a:pt x="2344106" y="311749"/>
                  </a:lnTo>
                  <a:lnTo>
                    <a:pt x="2323617" y="315887"/>
                  </a:lnTo>
                  <a:lnTo>
                    <a:pt x="52654" y="315887"/>
                  </a:lnTo>
                  <a:lnTo>
                    <a:pt x="32157" y="311749"/>
                  </a:lnTo>
                  <a:lnTo>
                    <a:pt x="15420" y="300467"/>
                  </a:lnTo>
                  <a:lnTo>
                    <a:pt x="4137" y="283734"/>
                  </a:lnTo>
                  <a:lnTo>
                    <a:pt x="0" y="263245"/>
                  </a:lnTo>
                  <a:lnTo>
                    <a:pt x="0" y="52654"/>
                  </a:lnTo>
                  <a:close/>
                </a:path>
              </a:pathLst>
            </a:custGeom>
            <a:ln w="9525">
              <a:solidFill>
                <a:srgbClr val="B6DCDF"/>
              </a:solidFill>
            </a:ln>
          </p:spPr>
          <p:txBody>
            <a:bodyPr wrap="square" lIns="0" tIns="0" rIns="0" bIns="0" rtlCol="0"/>
            <a:lstStyle/>
            <a:p/>
          </p:txBody>
        </p:sp>
      </p:grpSp>
      <p:sp>
        <p:nvSpPr>
          <p:cNvPr id="20" name="object 20" descr=""/>
          <p:cNvSpPr txBox="1"/>
          <p:nvPr/>
        </p:nvSpPr>
        <p:spPr>
          <a:xfrm>
            <a:off x="462975" y="3641030"/>
            <a:ext cx="2362835" cy="330200"/>
          </a:xfrm>
          <a:prstGeom prst="rect">
            <a:avLst/>
          </a:prstGeom>
        </p:spPr>
        <p:txBody>
          <a:bodyPr wrap="square" lIns="0" tIns="12065" rIns="0" bIns="0" rtlCol="0" vert="horz">
            <a:spAutoFit/>
          </a:bodyPr>
          <a:lstStyle/>
          <a:p>
            <a:pPr marL="419734">
              <a:lnSpc>
                <a:spcPct val="100000"/>
              </a:lnSpc>
              <a:spcBef>
                <a:spcPts val="95"/>
              </a:spcBef>
            </a:pPr>
            <a:r>
              <a:rPr dirty="0" sz="2000" spc="-25">
                <a:solidFill>
                  <a:srgbClr val="FFFFFF"/>
                </a:solidFill>
                <a:latin typeface="Microsoft YaHei"/>
                <a:cs typeface="Microsoft YaHei"/>
              </a:rPr>
              <a:t>高速数据传输</a:t>
            </a:r>
            <a:endParaRPr sz="2000">
              <a:latin typeface="Microsoft YaHei"/>
              <a:cs typeface="Microsoft YaHei"/>
            </a:endParaRPr>
          </a:p>
        </p:txBody>
      </p:sp>
      <p:grpSp>
        <p:nvGrpSpPr>
          <p:cNvPr id="21" name="object 21" descr=""/>
          <p:cNvGrpSpPr/>
          <p:nvPr/>
        </p:nvGrpSpPr>
        <p:grpSpPr>
          <a:xfrm>
            <a:off x="2858261" y="3566159"/>
            <a:ext cx="2396490" cy="476250"/>
            <a:chOff x="2858261" y="3566159"/>
            <a:chExt cx="2396490" cy="476250"/>
          </a:xfrm>
        </p:grpSpPr>
        <p:pic>
          <p:nvPicPr>
            <p:cNvPr id="22" name="object 22" descr=""/>
            <p:cNvPicPr/>
            <p:nvPr/>
          </p:nvPicPr>
          <p:blipFill>
            <a:blip r:embed="rId11" cstate="print"/>
            <a:stretch>
              <a:fillRect/>
            </a:stretch>
          </p:blipFill>
          <p:spPr>
            <a:xfrm>
              <a:off x="2858261" y="3634739"/>
              <a:ext cx="2396477" cy="407669"/>
            </a:xfrm>
            <a:prstGeom prst="rect">
              <a:avLst/>
            </a:prstGeom>
          </p:spPr>
        </p:pic>
        <p:pic>
          <p:nvPicPr>
            <p:cNvPr id="23" name="object 23" descr=""/>
            <p:cNvPicPr/>
            <p:nvPr/>
          </p:nvPicPr>
          <p:blipFill>
            <a:blip r:embed="rId12" cstate="print"/>
            <a:stretch>
              <a:fillRect/>
            </a:stretch>
          </p:blipFill>
          <p:spPr>
            <a:xfrm>
              <a:off x="3228593" y="3566159"/>
              <a:ext cx="1726679" cy="91147"/>
            </a:xfrm>
            <a:prstGeom prst="rect">
              <a:avLst/>
            </a:prstGeom>
          </p:spPr>
        </p:pic>
        <p:pic>
          <p:nvPicPr>
            <p:cNvPr id="24" name="object 24" descr=""/>
            <p:cNvPicPr/>
            <p:nvPr/>
          </p:nvPicPr>
          <p:blipFill>
            <a:blip r:embed="rId13" cstate="print"/>
            <a:stretch>
              <a:fillRect/>
            </a:stretch>
          </p:blipFill>
          <p:spPr>
            <a:xfrm>
              <a:off x="3228593" y="3973347"/>
              <a:ext cx="1726679" cy="58394"/>
            </a:xfrm>
            <a:prstGeom prst="rect">
              <a:avLst/>
            </a:prstGeom>
          </p:spPr>
        </p:pic>
        <p:pic>
          <p:nvPicPr>
            <p:cNvPr id="25" name="object 25" descr=""/>
            <p:cNvPicPr/>
            <p:nvPr/>
          </p:nvPicPr>
          <p:blipFill>
            <a:blip r:embed="rId14" cstate="print"/>
            <a:stretch>
              <a:fillRect/>
            </a:stretch>
          </p:blipFill>
          <p:spPr>
            <a:xfrm>
              <a:off x="2904426" y="3657333"/>
              <a:ext cx="2304249" cy="315887"/>
            </a:xfrm>
            <a:prstGeom prst="rect">
              <a:avLst/>
            </a:prstGeom>
          </p:spPr>
        </p:pic>
        <p:sp>
          <p:nvSpPr>
            <p:cNvPr id="26" name="object 26" descr=""/>
            <p:cNvSpPr/>
            <p:nvPr/>
          </p:nvSpPr>
          <p:spPr>
            <a:xfrm>
              <a:off x="2904416" y="3657325"/>
              <a:ext cx="2304415" cy="316230"/>
            </a:xfrm>
            <a:custGeom>
              <a:avLst/>
              <a:gdLst/>
              <a:ahLst/>
              <a:cxnLst/>
              <a:rect l="l" t="t" r="r" b="b"/>
              <a:pathLst>
                <a:path w="2304415" h="316229">
                  <a:moveTo>
                    <a:pt x="0" y="52654"/>
                  </a:moveTo>
                  <a:lnTo>
                    <a:pt x="4137" y="32157"/>
                  </a:lnTo>
                  <a:lnTo>
                    <a:pt x="15420" y="15420"/>
                  </a:lnTo>
                  <a:lnTo>
                    <a:pt x="32157" y="4137"/>
                  </a:lnTo>
                  <a:lnTo>
                    <a:pt x="52654" y="0"/>
                  </a:lnTo>
                  <a:lnTo>
                    <a:pt x="2251608" y="0"/>
                  </a:lnTo>
                  <a:lnTo>
                    <a:pt x="2272097" y="4137"/>
                  </a:lnTo>
                  <a:lnTo>
                    <a:pt x="2288830" y="15420"/>
                  </a:lnTo>
                  <a:lnTo>
                    <a:pt x="2300112" y="32157"/>
                  </a:lnTo>
                  <a:lnTo>
                    <a:pt x="2304249" y="52654"/>
                  </a:lnTo>
                  <a:lnTo>
                    <a:pt x="2304249" y="263245"/>
                  </a:lnTo>
                  <a:lnTo>
                    <a:pt x="2300112" y="283734"/>
                  </a:lnTo>
                  <a:lnTo>
                    <a:pt x="2288830" y="300467"/>
                  </a:lnTo>
                  <a:lnTo>
                    <a:pt x="2272097" y="311749"/>
                  </a:lnTo>
                  <a:lnTo>
                    <a:pt x="2251608" y="315887"/>
                  </a:lnTo>
                  <a:lnTo>
                    <a:pt x="52654" y="315887"/>
                  </a:lnTo>
                  <a:lnTo>
                    <a:pt x="32157" y="311749"/>
                  </a:lnTo>
                  <a:lnTo>
                    <a:pt x="15420" y="300467"/>
                  </a:lnTo>
                  <a:lnTo>
                    <a:pt x="4137" y="283734"/>
                  </a:lnTo>
                  <a:lnTo>
                    <a:pt x="0" y="263245"/>
                  </a:lnTo>
                  <a:lnTo>
                    <a:pt x="0" y="52654"/>
                  </a:lnTo>
                  <a:close/>
                </a:path>
              </a:pathLst>
            </a:custGeom>
            <a:ln w="9525">
              <a:solidFill>
                <a:srgbClr val="B6DCDF"/>
              </a:solidFill>
            </a:ln>
          </p:spPr>
          <p:txBody>
            <a:bodyPr wrap="square" lIns="0" tIns="0" rIns="0" bIns="0" rtlCol="0"/>
            <a:lstStyle/>
            <a:p/>
          </p:txBody>
        </p:sp>
      </p:grpSp>
      <p:sp>
        <p:nvSpPr>
          <p:cNvPr id="27" name="object 27" descr=""/>
          <p:cNvSpPr txBox="1"/>
          <p:nvPr/>
        </p:nvSpPr>
        <p:spPr>
          <a:xfrm>
            <a:off x="2911247" y="3641030"/>
            <a:ext cx="2291080" cy="330200"/>
          </a:xfrm>
          <a:prstGeom prst="rect">
            <a:avLst/>
          </a:prstGeom>
        </p:spPr>
        <p:txBody>
          <a:bodyPr wrap="square" lIns="0" tIns="12065" rIns="0" bIns="0" rtlCol="0" vert="horz">
            <a:spAutoFit/>
          </a:bodyPr>
          <a:lstStyle/>
          <a:p>
            <a:pPr marL="510540">
              <a:lnSpc>
                <a:spcPct val="100000"/>
              </a:lnSpc>
              <a:spcBef>
                <a:spcPts val="95"/>
              </a:spcBef>
            </a:pPr>
            <a:r>
              <a:rPr dirty="0" sz="2000" spc="-30">
                <a:solidFill>
                  <a:srgbClr val="FFFFFF"/>
                </a:solidFill>
                <a:latin typeface="Microsoft YaHei"/>
                <a:cs typeface="Microsoft YaHei"/>
              </a:rPr>
              <a:t>高流量密度</a:t>
            </a:r>
            <a:endParaRPr sz="2000">
              <a:latin typeface="Microsoft YaHei"/>
              <a:cs typeface="Microsoft YaHei"/>
            </a:endParaRPr>
          </a:p>
        </p:txBody>
      </p:sp>
      <p:grpSp>
        <p:nvGrpSpPr>
          <p:cNvPr id="28" name="object 28" descr=""/>
          <p:cNvGrpSpPr/>
          <p:nvPr/>
        </p:nvGrpSpPr>
        <p:grpSpPr>
          <a:xfrm>
            <a:off x="570738" y="3120389"/>
            <a:ext cx="4618990" cy="476250"/>
            <a:chOff x="570738" y="3120389"/>
            <a:chExt cx="4618990" cy="476250"/>
          </a:xfrm>
        </p:grpSpPr>
        <p:pic>
          <p:nvPicPr>
            <p:cNvPr id="29" name="object 29" descr=""/>
            <p:cNvPicPr/>
            <p:nvPr/>
          </p:nvPicPr>
          <p:blipFill>
            <a:blip r:embed="rId15" cstate="print"/>
            <a:stretch>
              <a:fillRect/>
            </a:stretch>
          </p:blipFill>
          <p:spPr>
            <a:xfrm>
              <a:off x="570738" y="3144773"/>
              <a:ext cx="4618481" cy="451865"/>
            </a:xfrm>
            <a:prstGeom prst="rect">
              <a:avLst/>
            </a:prstGeom>
          </p:spPr>
        </p:pic>
        <p:pic>
          <p:nvPicPr>
            <p:cNvPr id="30" name="object 30" descr=""/>
            <p:cNvPicPr/>
            <p:nvPr/>
          </p:nvPicPr>
          <p:blipFill>
            <a:blip r:embed="rId16" cstate="print"/>
            <a:stretch>
              <a:fillRect/>
            </a:stretch>
          </p:blipFill>
          <p:spPr>
            <a:xfrm>
              <a:off x="2244089" y="3120389"/>
              <a:ext cx="1334261" cy="426719"/>
            </a:xfrm>
            <a:prstGeom prst="rect">
              <a:avLst/>
            </a:prstGeom>
          </p:spPr>
        </p:pic>
        <p:sp>
          <p:nvSpPr>
            <p:cNvPr id="31" name="object 31" descr=""/>
            <p:cNvSpPr/>
            <p:nvPr/>
          </p:nvSpPr>
          <p:spPr>
            <a:xfrm>
              <a:off x="611555" y="3165817"/>
              <a:ext cx="4537075" cy="369570"/>
            </a:xfrm>
            <a:custGeom>
              <a:avLst/>
              <a:gdLst/>
              <a:ahLst/>
              <a:cxnLst/>
              <a:rect l="l" t="t" r="r" b="b"/>
              <a:pathLst>
                <a:path w="4537075" h="369570">
                  <a:moveTo>
                    <a:pt x="4536503" y="0"/>
                  </a:moveTo>
                  <a:lnTo>
                    <a:pt x="0" y="0"/>
                  </a:lnTo>
                  <a:lnTo>
                    <a:pt x="0" y="369328"/>
                  </a:lnTo>
                  <a:lnTo>
                    <a:pt x="4536503" y="369328"/>
                  </a:lnTo>
                  <a:lnTo>
                    <a:pt x="4536503" y="0"/>
                  </a:lnTo>
                  <a:close/>
                </a:path>
              </a:pathLst>
            </a:custGeom>
            <a:solidFill>
              <a:srgbClr val="CDCDCD"/>
            </a:solidFill>
          </p:spPr>
          <p:txBody>
            <a:bodyPr wrap="square" lIns="0" tIns="0" rIns="0" bIns="0" rtlCol="0"/>
            <a:lstStyle/>
            <a:p/>
          </p:txBody>
        </p:sp>
      </p:grpSp>
      <p:sp>
        <p:nvSpPr>
          <p:cNvPr id="32" name="object 32" descr=""/>
          <p:cNvSpPr txBox="1"/>
          <p:nvPr/>
        </p:nvSpPr>
        <p:spPr>
          <a:xfrm>
            <a:off x="2409720" y="319045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Microsoft YaHei"/>
                <a:cs typeface="Microsoft YaHei"/>
              </a:rPr>
              <a:t>主要挑战</a:t>
            </a:r>
            <a:endParaRPr sz="1800">
              <a:latin typeface="Microsoft YaHei"/>
              <a:cs typeface="Microsoft YaHei"/>
            </a:endParaRPr>
          </a:p>
        </p:txBody>
      </p:sp>
      <p:grpSp>
        <p:nvGrpSpPr>
          <p:cNvPr id="33" name="object 33" descr=""/>
          <p:cNvGrpSpPr/>
          <p:nvPr/>
        </p:nvGrpSpPr>
        <p:grpSpPr>
          <a:xfrm>
            <a:off x="5882640" y="3589794"/>
            <a:ext cx="2612390" cy="452755"/>
            <a:chOff x="5882640" y="3589794"/>
            <a:chExt cx="2612390" cy="452755"/>
          </a:xfrm>
        </p:grpSpPr>
        <p:pic>
          <p:nvPicPr>
            <p:cNvPr id="34" name="object 34" descr=""/>
            <p:cNvPicPr/>
            <p:nvPr/>
          </p:nvPicPr>
          <p:blipFill>
            <a:blip r:embed="rId17" cstate="print"/>
            <a:stretch>
              <a:fillRect/>
            </a:stretch>
          </p:blipFill>
          <p:spPr>
            <a:xfrm>
              <a:off x="5882640" y="3634740"/>
              <a:ext cx="2612135" cy="407669"/>
            </a:xfrm>
            <a:prstGeom prst="rect">
              <a:avLst/>
            </a:prstGeom>
          </p:spPr>
        </p:pic>
        <p:pic>
          <p:nvPicPr>
            <p:cNvPr id="35" name="object 35" descr=""/>
            <p:cNvPicPr/>
            <p:nvPr/>
          </p:nvPicPr>
          <p:blipFill>
            <a:blip r:embed="rId18" cstate="print"/>
            <a:stretch>
              <a:fillRect/>
            </a:stretch>
          </p:blipFill>
          <p:spPr>
            <a:xfrm>
              <a:off x="6553200" y="3589794"/>
              <a:ext cx="1334261" cy="67513"/>
            </a:xfrm>
            <a:prstGeom prst="rect">
              <a:avLst/>
            </a:prstGeom>
          </p:spPr>
        </p:pic>
        <p:pic>
          <p:nvPicPr>
            <p:cNvPr id="36" name="object 36" descr=""/>
            <p:cNvPicPr/>
            <p:nvPr/>
          </p:nvPicPr>
          <p:blipFill>
            <a:blip r:embed="rId19" cstate="print"/>
            <a:stretch>
              <a:fillRect/>
            </a:stretch>
          </p:blipFill>
          <p:spPr>
            <a:xfrm>
              <a:off x="6553200" y="3973347"/>
              <a:ext cx="1334261" cy="43154"/>
            </a:xfrm>
            <a:prstGeom prst="rect">
              <a:avLst/>
            </a:prstGeom>
          </p:spPr>
        </p:pic>
        <p:pic>
          <p:nvPicPr>
            <p:cNvPr id="37" name="object 37" descr=""/>
            <p:cNvPicPr/>
            <p:nvPr/>
          </p:nvPicPr>
          <p:blipFill>
            <a:blip r:embed="rId20" cstate="print"/>
            <a:stretch>
              <a:fillRect/>
            </a:stretch>
          </p:blipFill>
          <p:spPr>
            <a:xfrm>
              <a:off x="5928753" y="3657333"/>
              <a:ext cx="2520276" cy="315887"/>
            </a:xfrm>
            <a:prstGeom prst="rect">
              <a:avLst/>
            </a:prstGeom>
          </p:spPr>
        </p:pic>
        <p:sp>
          <p:nvSpPr>
            <p:cNvPr id="38" name="object 38" descr=""/>
            <p:cNvSpPr/>
            <p:nvPr/>
          </p:nvSpPr>
          <p:spPr>
            <a:xfrm>
              <a:off x="5928752" y="3657325"/>
              <a:ext cx="2520315" cy="316230"/>
            </a:xfrm>
            <a:custGeom>
              <a:avLst/>
              <a:gdLst/>
              <a:ahLst/>
              <a:cxnLst/>
              <a:rect l="l" t="t" r="r" b="b"/>
              <a:pathLst>
                <a:path w="2520315" h="316229">
                  <a:moveTo>
                    <a:pt x="0" y="52654"/>
                  </a:moveTo>
                  <a:lnTo>
                    <a:pt x="4137" y="32157"/>
                  </a:lnTo>
                  <a:lnTo>
                    <a:pt x="15420" y="15420"/>
                  </a:lnTo>
                  <a:lnTo>
                    <a:pt x="32157" y="4137"/>
                  </a:lnTo>
                  <a:lnTo>
                    <a:pt x="52654" y="0"/>
                  </a:lnTo>
                  <a:lnTo>
                    <a:pt x="2467635" y="0"/>
                  </a:lnTo>
                  <a:lnTo>
                    <a:pt x="2488124" y="4137"/>
                  </a:lnTo>
                  <a:lnTo>
                    <a:pt x="2504857" y="15420"/>
                  </a:lnTo>
                  <a:lnTo>
                    <a:pt x="2516139" y="32157"/>
                  </a:lnTo>
                  <a:lnTo>
                    <a:pt x="2520276" y="52654"/>
                  </a:lnTo>
                  <a:lnTo>
                    <a:pt x="2520276" y="263245"/>
                  </a:lnTo>
                  <a:lnTo>
                    <a:pt x="2516139" y="283734"/>
                  </a:lnTo>
                  <a:lnTo>
                    <a:pt x="2504857" y="300467"/>
                  </a:lnTo>
                  <a:lnTo>
                    <a:pt x="2488124" y="311749"/>
                  </a:lnTo>
                  <a:lnTo>
                    <a:pt x="2467635" y="315887"/>
                  </a:lnTo>
                  <a:lnTo>
                    <a:pt x="52654" y="315887"/>
                  </a:lnTo>
                  <a:lnTo>
                    <a:pt x="32157" y="311749"/>
                  </a:lnTo>
                  <a:lnTo>
                    <a:pt x="15420" y="300467"/>
                  </a:lnTo>
                  <a:lnTo>
                    <a:pt x="4137" y="283734"/>
                  </a:lnTo>
                  <a:lnTo>
                    <a:pt x="0" y="263245"/>
                  </a:lnTo>
                  <a:lnTo>
                    <a:pt x="0" y="52654"/>
                  </a:lnTo>
                  <a:close/>
                </a:path>
              </a:pathLst>
            </a:custGeom>
            <a:ln w="9525">
              <a:solidFill>
                <a:srgbClr val="B6DCDF"/>
              </a:solidFill>
            </a:ln>
          </p:spPr>
          <p:txBody>
            <a:bodyPr wrap="square" lIns="0" tIns="0" rIns="0" bIns="0" rtlCol="0"/>
            <a:lstStyle/>
            <a:p/>
          </p:txBody>
        </p:sp>
      </p:grpSp>
      <p:grpSp>
        <p:nvGrpSpPr>
          <p:cNvPr id="39" name="object 39" descr=""/>
          <p:cNvGrpSpPr/>
          <p:nvPr/>
        </p:nvGrpSpPr>
        <p:grpSpPr>
          <a:xfrm>
            <a:off x="5573267" y="791718"/>
            <a:ext cx="2800985" cy="1280160"/>
            <a:chOff x="5573267" y="791718"/>
            <a:chExt cx="2800985" cy="1280160"/>
          </a:xfrm>
        </p:grpSpPr>
        <p:pic>
          <p:nvPicPr>
            <p:cNvPr id="40" name="object 40"/>
            <p:cNvPicPr/>
            <p:nvPr/>
          </p:nvPicPr>
          <p:blipFill>
            <a:blip r:embed="rId21" cstate="print"/>
            <a:stretch>
              <a:fillRect/>
            </a:stretch>
          </p:blipFill>
          <p:spPr>
            <a:xfrm>
              <a:off x="6034349" y="1045367"/>
              <a:ext cx="2339431" cy="1026113"/>
            </a:xfrm>
            <a:prstGeom prst="rect">
              <a:avLst/>
            </a:prstGeom>
          </p:spPr>
        </p:pic>
        <p:pic>
          <p:nvPicPr>
            <p:cNvPr id="41" name="object 41" descr=""/>
            <p:cNvPicPr/>
            <p:nvPr/>
          </p:nvPicPr>
          <p:blipFill>
            <a:blip r:embed="rId22" cstate="print"/>
            <a:stretch>
              <a:fillRect/>
            </a:stretch>
          </p:blipFill>
          <p:spPr>
            <a:xfrm>
              <a:off x="5583173" y="805434"/>
              <a:ext cx="1128521" cy="520445"/>
            </a:xfrm>
            <a:prstGeom prst="rect">
              <a:avLst/>
            </a:prstGeom>
          </p:spPr>
        </p:pic>
        <p:pic>
          <p:nvPicPr>
            <p:cNvPr id="42" name="object 42" descr=""/>
            <p:cNvPicPr/>
            <p:nvPr/>
          </p:nvPicPr>
          <p:blipFill>
            <a:blip r:embed="rId23" cstate="print"/>
            <a:stretch>
              <a:fillRect/>
            </a:stretch>
          </p:blipFill>
          <p:spPr>
            <a:xfrm>
              <a:off x="5573267" y="791718"/>
              <a:ext cx="1219199" cy="465581"/>
            </a:xfrm>
            <a:prstGeom prst="rect">
              <a:avLst/>
            </a:prstGeom>
          </p:spPr>
        </p:pic>
      </p:grpSp>
      <p:sp>
        <p:nvSpPr>
          <p:cNvPr id="43" name="object 43" descr=""/>
          <p:cNvSpPr txBox="1"/>
          <p:nvPr/>
        </p:nvSpPr>
        <p:spPr>
          <a:xfrm>
            <a:off x="5935583" y="3657032"/>
            <a:ext cx="2506980" cy="299720"/>
          </a:xfrm>
          <a:prstGeom prst="rect">
            <a:avLst/>
          </a:prstGeom>
        </p:spPr>
        <p:txBody>
          <a:bodyPr wrap="square" lIns="0" tIns="12700" rIns="0" bIns="0" rtlCol="0" vert="horz">
            <a:spAutoFit/>
          </a:bodyPr>
          <a:lstStyle/>
          <a:p>
            <a:pPr marL="795655">
              <a:lnSpc>
                <a:spcPct val="100000"/>
              </a:lnSpc>
              <a:spcBef>
                <a:spcPts val="100"/>
              </a:spcBef>
            </a:pPr>
            <a:r>
              <a:rPr dirty="0" sz="1800" spc="-15">
                <a:solidFill>
                  <a:srgbClr val="FFFFFF"/>
                </a:solidFill>
                <a:latin typeface="Microsoft YaHei"/>
                <a:cs typeface="Microsoft YaHei"/>
              </a:rPr>
              <a:t>信令开销</a:t>
            </a:r>
            <a:endParaRPr sz="1800">
              <a:latin typeface="Microsoft YaHei"/>
              <a:cs typeface="Microsoft YaHei"/>
            </a:endParaRPr>
          </a:p>
        </p:txBody>
      </p:sp>
      <p:grpSp>
        <p:nvGrpSpPr>
          <p:cNvPr id="44" name="object 44" descr=""/>
          <p:cNvGrpSpPr/>
          <p:nvPr/>
        </p:nvGrpSpPr>
        <p:grpSpPr>
          <a:xfrm>
            <a:off x="5929121" y="4107179"/>
            <a:ext cx="2563495" cy="745490"/>
            <a:chOff x="5929121" y="4107179"/>
            <a:chExt cx="2563495" cy="745490"/>
          </a:xfrm>
        </p:grpSpPr>
        <p:pic>
          <p:nvPicPr>
            <p:cNvPr id="45" name="object 45" descr=""/>
            <p:cNvPicPr/>
            <p:nvPr/>
          </p:nvPicPr>
          <p:blipFill>
            <a:blip r:embed="rId24" cstate="print"/>
            <a:stretch>
              <a:fillRect/>
            </a:stretch>
          </p:blipFill>
          <p:spPr>
            <a:xfrm>
              <a:off x="5959601" y="4122432"/>
              <a:ext cx="2530600" cy="729982"/>
            </a:xfrm>
            <a:prstGeom prst="rect">
              <a:avLst/>
            </a:prstGeom>
          </p:spPr>
        </p:pic>
        <p:pic>
          <p:nvPicPr>
            <p:cNvPr id="46" name="object 46" descr=""/>
            <p:cNvPicPr/>
            <p:nvPr/>
          </p:nvPicPr>
          <p:blipFill>
            <a:blip r:embed="rId25" cstate="print"/>
            <a:stretch>
              <a:fillRect/>
            </a:stretch>
          </p:blipFill>
          <p:spPr>
            <a:xfrm>
              <a:off x="5929121" y="4107179"/>
              <a:ext cx="2563367" cy="630935"/>
            </a:xfrm>
            <a:prstGeom prst="rect">
              <a:avLst/>
            </a:prstGeom>
          </p:spPr>
        </p:pic>
      </p:grpSp>
      <p:sp>
        <p:nvSpPr>
          <p:cNvPr id="47" name="object 47" descr=""/>
          <p:cNvSpPr txBox="1"/>
          <p:nvPr/>
        </p:nvSpPr>
        <p:spPr>
          <a:xfrm>
            <a:off x="6000762" y="4143387"/>
            <a:ext cx="2448560" cy="648335"/>
          </a:xfrm>
          <a:prstGeom prst="rect">
            <a:avLst/>
          </a:prstGeom>
          <a:solidFill>
            <a:srgbClr val="B9CDE5"/>
          </a:solidFill>
        </p:spPr>
        <p:txBody>
          <a:bodyPr wrap="square" lIns="0" tIns="38100" rIns="0" bIns="0" rtlCol="0" vert="horz">
            <a:spAutoFit/>
          </a:bodyPr>
          <a:lstStyle/>
          <a:p>
            <a:pPr marL="90805" marR="111125">
              <a:lnSpc>
                <a:spcPct val="100000"/>
              </a:lnSpc>
              <a:spcBef>
                <a:spcPts val="300"/>
              </a:spcBef>
            </a:pPr>
            <a:r>
              <a:rPr dirty="0" sz="1600" spc="-5">
                <a:solidFill>
                  <a:srgbClr val="002060"/>
                </a:solidFill>
                <a:latin typeface="Microsoft YaHei"/>
                <a:cs typeface="Microsoft YaHei"/>
              </a:rPr>
              <a:t>大量数据包频发消耗信令</a:t>
            </a:r>
            <a:r>
              <a:rPr dirty="0" sz="1600" spc="-25">
                <a:solidFill>
                  <a:srgbClr val="002060"/>
                </a:solidFill>
                <a:latin typeface="Microsoft YaHei"/>
                <a:cs typeface="Microsoft YaHei"/>
              </a:rPr>
              <a:t>资源</a:t>
            </a:r>
            <a:endParaRPr sz="1600">
              <a:latin typeface="Microsoft YaHei"/>
              <a:cs typeface="Microsoft YaHei"/>
            </a:endParaRPr>
          </a:p>
        </p:txBody>
      </p:sp>
      <p:grpSp>
        <p:nvGrpSpPr>
          <p:cNvPr id="48" name="object 48" descr=""/>
          <p:cNvGrpSpPr/>
          <p:nvPr/>
        </p:nvGrpSpPr>
        <p:grpSpPr>
          <a:xfrm>
            <a:off x="5971031" y="2818638"/>
            <a:ext cx="2458720" cy="778510"/>
            <a:chOff x="5971031" y="2818638"/>
            <a:chExt cx="2458720" cy="778510"/>
          </a:xfrm>
        </p:grpSpPr>
        <p:pic>
          <p:nvPicPr>
            <p:cNvPr id="49" name="object 49"/>
            <p:cNvPicPr/>
            <p:nvPr/>
          </p:nvPicPr>
          <p:blipFill>
            <a:blip r:embed="rId26" cstate="print"/>
            <a:stretch>
              <a:fillRect/>
            </a:stretch>
          </p:blipFill>
          <p:spPr>
            <a:xfrm>
              <a:off x="6893052" y="2818638"/>
              <a:ext cx="542531" cy="417575"/>
            </a:xfrm>
            <a:prstGeom prst="rect">
              <a:avLst/>
            </a:prstGeom>
          </p:spPr>
        </p:pic>
        <p:pic>
          <p:nvPicPr>
            <p:cNvPr id="50" name="object 50" descr=""/>
            <p:cNvPicPr/>
            <p:nvPr/>
          </p:nvPicPr>
          <p:blipFill>
            <a:blip r:embed="rId27" cstate="print"/>
            <a:stretch>
              <a:fillRect/>
            </a:stretch>
          </p:blipFill>
          <p:spPr>
            <a:xfrm>
              <a:off x="6948258" y="2841777"/>
              <a:ext cx="432053" cy="324040"/>
            </a:xfrm>
            <a:prstGeom prst="rect">
              <a:avLst/>
            </a:prstGeom>
          </p:spPr>
        </p:pic>
        <p:sp>
          <p:nvSpPr>
            <p:cNvPr id="51" name="object 51" descr=""/>
            <p:cNvSpPr/>
            <p:nvPr/>
          </p:nvSpPr>
          <p:spPr>
            <a:xfrm>
              <a:off x="6948263" y="2841783"/>
              <a:ext cx="432434" cy="324485"/>
            </a:xfrm>
            <a:custGeom>
              <a:avLst/>
              <a:gdLst/>
              <a:ahLst/>
              <a:cxnLst/>
              <a:rect l="l" t="t" r="r" b="b"/>
              <a:pathLst>
                <a:path w="432434" h="324485">
                  <a:moveTo>
                    <a:pt x="0" y="162013"/>
                  </a:moveTo>
                  <a:lnTo>
                    <a:pt x="108013" y="162013"/>
                  </a:lnTo>
                  <a:lnTo>
                    <a:pt x="108013" y="0"/>
                  </a:lnTo>
                  <a:lnTo>
                    <a:pt x="324040" y="0"/>
                  </a:lnTo>
                  <a:lnTo>
                    <a:pt x="324040" y="162013"/>
                  </a:lnTo>
                  <a:lnTo>
                    <a:pt x="432054" y="162013"/>
                  </a:lnTo>
                  <a:lnTo>
                    <a:pt x="216027" y="324027"/>
                  </a:lnTo>
                  <a:lnTo>
                    <a:pt x="0" y="162013"/>
                  </a:lnTo>
                  <a:close/>
                </a:path>
              </a:pathLst>
            </a:custGeom>
            <a:ln w="9525">
              <a:solidFill>
                <a:srgbClr val="B6DCDF"/>
              </a:solidFill>
            </a:ln>
          </p:spPr>
          <p:txBody>
            <a:bodyPr wrap="square" lIns="0" tIns="0" rIns="0" bIns="0" rtlCol="0"/>
            <a:lstStyle/>
            <a:p/>
          </p:txBody>
        </p:sp>
        <p:pic>
          <p:nvPicPr>
            <p:cNvPr id="52" name="object 52" descr=""/>
            <p:cNvPicPr/>
            <p:nvPr/>
          </p:nvPicPr>
          <p:blipFill>
            <a:blip r:embed="rId28" cstate="print"/>
            <a:stretch>
              <a:fillRect/>
            </a:stretch>
          </p:blipFill>
          <p:spPr>
            <a:xfrm>
              <a:off x="5971031" y="3144773"/>
              <a:ext cx="2458211" cy="451865"/>
            </a:xfrm>
            <a:prstGeom prst="rect">
              <a:avLst/>
            </a:prstGeom>
          </p:spPr>
        </p:pic>
        <p:pic>
          <p:nvPicPr>
            <p:cNvPr id="53" name="object 53" descr=""/>
            <p:cNvPicPr/>
            <p:nvPr/>
          </p:nvPicPr>
          <p:blipFill>
            <a:blip r:embed="rId29" cstate="print"/>
            <a:stretch>
              <a:fillRect/>
            </a:stretch>
          </p:blipFill>
          <p:spPr>
            <a:xfrm>
              <a:off x="6564628" y="3120389"/>
              <a:ext cx="1334261" cy="426719"/>
            </a:xfrm>
            <a:prstGeom prst="rect">
              <a:avLst/>
            </a:prstGeom>
          </p:spPr>
        </p:pic>
      </p:grpSp>
      <p:grpSp>
        <p:nvGrpSpPr>
          <p:cNvPr id="54" name="object 54" descr=""/>
          <p:cNvGrpSpPr/>
          <p:nvPr/>
        </p:nvGrpSpPr>
        <p:grpSpPr>
          <a:xfrm>
            <a:off x="2570226" y="2872739"/>
            <a:ext cx="547370" cy="363220"/>
            <a:chOff x="2570226" y="2872739"/>
            <a:chExt cx="547370" cy="363220"/>
          </a:xfrm>
        </p:grpSpPr>
        <p:pic>
          <p:nvPicPr>
            <p:cNvPr id="55" name="object 55"/>
            <p:cNvPicPr/>
            <p:nvPr/>
          </p:nvPicPr>
          <p:blipFill>
            <a:blip r:embed="rId30" cstate="print"/>
            <a:stretch>
              <a:fillRect/>
            </a:stretch>
          </p:blipFill>
          <p:spPr>
            <a:xfrm>
              <a:off x="2570226" y="2872739"/>
              <a:ext cx="547103" cy="362711"/>
            </a:xfrm>
            <a:prstGeom prst="rect">
              <a:avLst/>
            </a:prstGeom>
          </p:spPr>
        </p:pic>
        <p:pic>
          <p:nvPicPr>
            <p:cNvPr id="56" name="object 56" descr=""/>
            <p:cNvPicPr/>
            <p:nvPr/>
          </p:nvPicPr>
          <p:blipFill>
            <a:blip r:embed="rId31" cstate="print"/>
            <a:stretch>
              <a:fillRect/>
            </a:stretch>
          </p:blipFill>
          <p:spPr>
            <a:xfrm>
              <a:off x="2627782" y="2895790"/>
              <a:ext cx="432053" cy="270027"/>
            </a:xfrm>
            <a:prstGeom prst="rect">
              <a:avLst/>
            </a:prstGeom>
          </p:spPr>
        </p:pic>
        <p:sp>
          <p:nvSpPr>
            <p:cNvPr id="57" name="object 57" descr=""/>
            <p:cNvSpPr/>
            <p:nvPr/>
          </p:nvSpPr>
          <p:spPr>
            <a:xfrm>
              <a:off x="2627783" y="2895787"/>
              <a:ext cx="432434" cy="270510"/>
            </a:xfrm>
            <a:custGeom>
              <a:avLst/>
              <a:gdLst/>
              <a:ahLst/>
              <a:cxnLst/>
              <a:rect l="l" t="t" r="r" b="b"/>
              <a:pathLst>
                <a:path w="432435" h="270510">
                  <a:moveTo>
                    <a:pt x="0" y="135013"/>
                  </a:moveTo>
                  <a:lnTo>
                    <a:pt x="108013" y="135013"/>
                  </a:lnTo>
                  <a:lnTo>
                    <a:pt x="108013" y="0"/>
                  </a:lnTo>
                  <a:lnTo>
                    <a:pt x="324040" y="0"/>
                  </a:lnTo>
                  <a:lnTo>
                    <a:pt x="324040" y="135013"/>
                  </a:lnTo>
                  <a:lnTo>
                    <a:pt x="432054" y="135013"/>
                  </a:lnTo>
                  <a:lnTo>
                    <a:pt x="216027" y="270027"/>
                  </a:lnTo>
                  <a:lnTo>
                    <a:pt x="0" y="135013"/>
                  </a:lnTo>
                  <a:close/>
                </a:path>
              </a:pathLst>
            </a:custGeom>
            <a:ln w="9525">
              <a:solidFill>
                <a:srgbClr val="B6DCDF"/>
              </a:solidFill>
            </a:ln>
          </p:spPr>
          <p:txBody>
            <a:bodyPr wrap="square" lIns="0" tIns="0" rIns="0" bIns="0" rtlCol="0"/>
            <a:lstStyle/>
            <a:p/>
          </p:txBody>
        </p:sp>
      </p:grpSp>
      <p:sp>
        <p:nvSpPr>
          <p:cNvPr id="58" name="object 58" descr=""/>
          <p:cNvSpPr txBox="1"/>
          <p:nvPr/>
        </p:nvSpPr>
        <p:spPr>
          <a:xfrm>
            <a:off x="6012154" y="3165817"/>
            <a:ext cx="2376805" cy="369570"/>
          </a:xfrm>
          <a:prstGeom prst="rect">
            <a:avLst/>
          </a:prstGeom>
          <a:solidFill>
            <a:srgbClr val="CDCDCD"/>
          </a:solidFill>
        </p:spPr>
        <p:txBody>
          <a:bodyPr wrap="square" lIns="0" tIns="36830" rIns="0" bIns="0" rtlCol="0" vert="horz">
            <a:spAutoFit/>
          </a:bodyPr>
          <a:lstStyle/>
          <a:p>
            <a:pPr marL="730885">
              <a:lnSpc>
                <a:spcPct val="100000"/>
              </a:lnSpc>
              <a:spcBef>
                <a:spcPts val="290"/>
              </a:spcBef>
            </a:pPr>
            <a:r>
              <a:rPr dirty="0" sz="1800" spc="-15">
                <a:latin typeface="Microsoft YaHei"/>
                <a:cs typeface="Microsoft YaHei"/>
              </a:rPr>
              <a:t>主要挑战</a:t>
            </a:r>
            <a:endParaRPr sz="1800">
              <a:latin typeface="Microsoft YaHei"/>
              <a:cs typeface="Microsoft YaHei"/>
            </a:endParaRPr>
          </a:p>
        </p:txBody>
      </p:sp>
      <p:sp>
        <p:nvSpPr>
          <p:cNvPr id="59" name="object 59" descr=""/>
          <p:cNvSpPr/>
          <p:nvPr/>
        </p:nvSpPr>
        <p:spPr>
          <a:xfrm>
            <a:off x="5436096" y="897563"/>
            <a:ext cx="72390" cy="4104640"/>
          </a:xfrm>
          <a:custGeom>
            <a:avLst/>
            <a:gdLst/>
            <a:ahLst/>
            <a:cxnLst/>
            <a:rect l="l" t="t" r="r" b="b"/>
            <a:pathLst>
              <a:path w="72389" h="4104640">
                <a:moveTo>
                  <a:pt x="0" y="0"/>
                </a:moveTo>
                <a:lnTo>
                  <a:pt x="72009" y="4104462"/>
                </a:lnTo>
              </a:path>
            </a:pathLst>
          </a:custGeom>
          <a:ln w="9525">
            <a:solidFill>
              <a:srgbClr val="B6DCDF"/>
            </a:solidFill>
            <a:prstDash val="sysDash"/>
          </a:ln>
        </p:spPr>
        <p:txBody>
          <a:bodyPr wrap="square" lIns="0" tIns="0" rIns="0" bIns="0" rtlCol="0"/>
          <a:lstStyle/>
          <a:p/>
        </p:txBody>
      </p:sp>
      <p:grpSp>
        <p:nvGrpSpPr>
          <p:cNvPr id="60" name="object 60" descr=""/>
          <p:cNvGrpSpPr/>
          <p:nvPr/>
        </p:nvGrpSpPr>
        <p:grpSpPr>
          <a:xfrm>
            <a:off x="532637" y="843533"/>
            <a:ext cx="1219200" cy="534670"/>
            <a:chOff x="532637" y="843533"/>
            <a:chExt cx="1219200" cy="534670"/>
          </a:xfrm>
        </p:grpSpPr>
        <p:pic>
          <p:nvPicPr>
            <p:cNvPr id="61" name="object 61" descr=""/>
            <p:cNvPicPr/>
            <p:nvPr/>
          </p:nvPicPr>
          <p:blipFill>
            <a:blip r:embed="rId32" cstate="print"/>
            <a:stretch>
              <a:fillRect/>
            </a:stretch>
          </p:blipFill>
          <p:spPr>
            <a:xfrm>
              <a:off x="542543" y="857249"/>
              <a:ext cx="1128521" cy="520445"/>
            </a:xfrm>
            <a:prstGeom prst="rect">
              <a:avLst/>
            </a:prstGeom>
          </p:spPr>
        </p:pic>
        <p:pic>
          <p:nvPicPr>
            <p:cNvPr id="62" name="object 62" descr=""/>
            <p:cNvPicPr/>
            <p:nvPr/>
          </p:nvPicPr>
          <p:blipFill>
            <a:blip r:embed="rId23" cstate="print"/>
            <a:stretch>
              <a:fillRect/>
            </a:stretch>
          </p:blipFill>
          <p:spPr>
            <a:xfrm>
              <a:off x="532637" y="843533"/>
              <a:ext cx="1219199" cy="465581"/>
            </a:xfrm>
            <a:prstGeom prst="rect">
              <a:avLst/>
            </a:prstGeom>
          </p:spPr>
        </p:pic>
      </p:grpSp>
      <p:sp>
        <p:nvSpPr>
          <p:cNvPr id="63" name="object 63" descr=""/>
          <p:cNvSpPr txBox="1"/>
          <p:nvPr/>
        </p:nvSpPr>
        <p:spPr>
          <a:xfrm>
            <a:off x="603008" y="897559"/>
            <a:ext cx="1008380" cy="400685"/>
          </a:xfrm>
          <a:prstGeom prst="rect">
            <a:avLst/>
          </a:prstGeom>
          <a:solidFill>
            <a:srgbClr val="BBE0E3"/>
          </a:solidFill>
          <a:ln w="38100">
            <a:solidFill>
              <a:srgbClr val="FFFFFF"/>
            </a:solidFill>
          </a:ln>
        </p:spPr>
        <p:txBody>
          <a:bodyPr wrap="square" lIns="0" tIns="36195" rIns="0" bIns="0" rtlCol="0" vert="horz">
            <a:spAutoFit/>
          </a:bodyPr>
          <a:lstStyle/>
          <a:p>
            <a:pPr marL="122555">
              <a:lnSpc>
                <a:spcPct val="100000"/>
              </a:lnSpc>
              <a:spcBef>
                <a:spcPts val="285"/>
              </a:spcBef>
            </a:pPr>
            <a:r>
              <a:rPr dirty="0" sz="2000" spc="-35">
                <a:solidFill>
                  <a:srgbClr val="FFFFFF"/>
                </a:solidFill>
                <a:latin typeface="Microsoft YaHei"/>
                <a:cs typeface="Microsoft YaHei"/>
              </a:rPr>
              <a:t>传输类</a:t>
            </a:r>
            <a:endParaRPr sz="2000">
              <a:latin typeface="Microsoft YaHei"/>
              <a:cs typeface="Microsoft YaHei"/>
            </a:endParaRPr>
          </a:p>
        </p:txBody>
      </p:sp>
      <p:sp>
        <p:nvSpPr>
          <p:cNvPr id="64" name="object 64" descr=""/>
          <p:cNvSpPr txBox="1"/>
          <p:nvPr/>
        </p:nvSpPr>
        <p:spPr>
          <a:xfrm>
            <a:off x="5643575" y="845311"/>
            <a:ext cx="1008380" cy="400685"/>
          </a:xfrm>
          <a:prstGeom prst="rect">
            <a:avLst/>
          </a:prstGeom>
          <a:solidFill>
            <a:srgbClr val="BBE0E3"/>
          </a:solidFill>
          <a:ln w="38100">
            <a:solidFill>
              <a:srgbClr val="FFFFFF"/>
            </a:solidFill>
          </a:ln>
        </p:spPr>
        <p:txBody>
          <a:bodyPr wrap="square" lIns="0" tIns="36195" rIns="0" bIns="0" rtlCol="0" vert="horz">
            <a:spAutoFit/>
          </a:bodyPr>
          <a:lstStyle/>
          <a:p>
            <a:pPr marL="122555">
              <a:lnSpc>
                <a:spcPct val="100000"/>
              </a:lnSpc>
              <a:spcBef>
                <a:spcPts val="285"/>
              </a:spcBef>
            </a:pPr>
            <a:r>
              <a:rPr dirty="0" sz="2000" spc="-35">
                <a:solidFill>
                  <a:srgbClr val="FFFFFF"/>
                </a:solidFill>
                <a:latin typeface="Microsoft YaHei"/>
                <a:cs typeface="Microsoft YaHei"/>
              </a:rPr>
              <a:t>消息类</a:t>
            </a:r>
            <a:endParaRPr sz="2000">
              <a:latin typeface="Microsoft YaHei"/>
              <a:cs typeface="Microsoft YaHe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2114" rIns="0" bIns="0" rtlCol="0" vert="horz">
            <a:spAutoFit/>
          </a:bodyPr>
          <a:lstStyle/>
          <a:p>
            <a:pPr marL="12700">
              <a:lnSpc>
                <a:spcPct val="100000"/>
              </a:lnSpc>
              <a:spcBef>
                <a:spcPts val="95"/>
              </a:spcBef>
            </a:pPr>
            <a:r>
              <a:rPr dirty="0" spc="-35"/>
              <a:t>车联网</a:t>
            </a:r>
            <a:r>
              <a:rPr dirty="0" spc="-10">
                <a:latin typeface="Times New Roman"/>
                <a:cs typeface="Times New Roman"/>
              </a:rPr>
              <a:t>/</a:t>
            </a:r>
            <a:r>
              <a:rPr dirty="0" spc="-45"/>
              <a:t>工业自动化等驱动通信时延要求</a:t>
            </a:r>
            <a:r>
              <a:rPr dirty="0" spc="-30" b="0">
                <a:latin typeface="Times New Roman"/>
                <a:cs typeface="Times New Roman"/>
              </a:rPr>
              <a:t>ms</a:t>
            </a:r>
            <a:r>
              <a:rPr dirty="0" spc="-50"/>
              <a:t>级</a:t>
            </a:r>
          </a:p>
        </p:txBody>
      </p:sp>
      <p:grpSp>
        <p:nvGrpSpPr>
          <p:cNvPr id="3" name="object 3" descr=""/>
          <p:cNvGrpSpPr/>
          <p:nvPr/>
        </p:nvGrpSpPr>
        <p:grpSpPr>
          <a:xfrm>
            <a:off x="755650" y="771525"/>
            <a:ext cx="8107680" cy="4092575"/>
            <a:chOff x="755650" y="771525"/>
            <a:chExt cx="8107680" cy="4092575"/>
          </a:xfrm>
        </p:grpSpPr>
        <p:pic>
          <p:nvPicPr>
            <p:cNvPr id="4" name="object 4"/>
            <p:cNvPicPr/>
            <p:nvPr/>
          </p:nvPicPr>
          <p:blipFill>
            <a:blip r:embed="rId2" cstate="print"/>
            <a:stretch>
              <a:fillRect/>
            </a:stretch>
          </p:blipFill>
          <p:spPr>
            <a:xfrm>
              <a:off x="755650" y="2284412"/>
              <a:ext cx="5870574" cy="2579317"/>
            </a:xfrm>
            <a:prstGeom prst="rect">
              <a:avLst/>
            </a:prstGeom>
          </p:spPr>
        </p:pic>
        <p:pic>
          <p:nvPicPr>
            <p:cNvPr id="5" name="object 5"/>
            <p:cNvPicPr/>
            <p:nvPr/>
          </p:nvPicPr>
          <p:blipFill>
            <a:blip r:embed="rId3" cstate="print"/>
            <a:stretch>
              <a:fillRect/>
            </a:stretch>
          </p:blipFill>
          <p:spPr>
            <a:xfrm>
              <a:off x="4386262" y="771525"/>
              <a:ext cx="4476749" cy="1978024"/>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a:latin typeface="Microsoft YaHei"/>
                <a:cs typeface="Microsoft YaHei"/>
              </a:rPr>
              <a:t>一、 </a:t>
            </a:r>
            <a:r>
              <a:rPr dirty="0" sz="2400" spc="-20">
                <a:latin typeface="Times New Roman"/>
                <a:cs typeface="Times New Roman"/>
              </a:rPr>
              <a:t>5G</a:t>
            </a:r>
            <a:r>
              <a:rPr dirty="0" sz="2400" spc="-5">
                <a:latin typeface="Microsoft YaHei"/>
                <a:cs typeface="Microsoft YaHei"/>
              </a:rPr>
              <a:t>系统与网络典型业务概述</a:t>
            </a:r>
            <a:endParaRPr sz="2400">
              <a:latin typeface="Microsoft YaHei"/>
              <a:cs typeface="Microsoft YaHei"/>
            </a:endParaRPr>
          </a:p>
          <a:p>
            <a:pPr algn="just" marL="12700" marR="5080">
              <a:lnSpc>
                <a:spcPct val="177100"/>
              </a:lnSpc>
              <a:spcBef>
                <a:spcPts val="5"/>
              </a:spcBef>
            </a:pPr>
            <a:r>
              <a:rPr dirty="0" sz="2400" spc="-40">
                <a:latin typeface="Microsoft YaHei"/>
                <a:cs typeface="Microsoft YaHei"/>
              </a:rPr>
              <a:t>二、 </a:t>
            </a:r>
            <a:r>
              <a:rPr dirty="0" sz="2400" spc="-20">
                <a:latin typeface="Times New Roman"/>
                <a:cs typeface="Times New Roman"/>
              </a:rPr>
              <a:t>5G</a:t>
            </a:r>
            <a:r>
              <a:rPr dirty="0" sz="2400" spc="-5">
                <a:latin typeface="Microsoft YaHei"/>
                <a:cs typeface="Microsoft YaHei"/>
              </a:rPr>
              <a:t>系统与网络业务场景分类</a:t>
            </a:r>
            <a:r>
              <a:rPr dirty="0" sz="2400" spc="-65" b="1">
                <a:solidFill>
                  <a:srgbClr val="FF0000"/>
                </a:solidFill>
                <a:latin typeface="Microsoft YaHei"/>
                <a:cs typeface="Microsoft YaHei"/>
              </a:rPr>
              <a:t>三、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系统与网络典型业务模型</a:t>
            </a:r>
            <a:r>
              <a:rPr dirty="0" sz="2400" spc="-40">
                <a:latin typeface="Microsoft YaHei"/>
                <a:cs typeface="Microsoft YaHei"/>
              </a:rPr>
              <a:t>四、 </a:t>
            </a:r>
            <a:r>
              <a:rPr dirty="0" sz="2400" spc="-20">
                <a:latin typeface="Times New Roman"/>
                <a:cs typeface="Times New Roman"/>
              </a:rPr>
              <a:t>5G</a:t>
            </a:r>
            <a:r>
              <a:rPr dirty="0" sz="2400" spc="-5">
                <a:latin typeface="Microsoft YaHei"/>
                <a:cs typeface="Microsoft YaHei"/>
              </a:rPr>
              <a:t>系统与网络大带宽新业务</a:t>
            </a:r>
            <a:r>
              <a:rPr dirty="0" sz="2400" spc="-40">
                <a:latin typeface="Microsoft YaHei"/>
                <a:cs typeface="Microsoft YaHei"/>
              </a:rPr>
              <a:t>五、 </a:t>
            </a:r>
            <a:r>
              <a:rPr dirty="0" sz="2400" spc="-20">
                <a:latin typeface="Times New Roman"/>
                <a:cs typeface="Times New Roman"/>
              </a:rPr>
              <a:t>5G</a:t>
            </a:r>
            <a:r>
              <a:rPr dirty="0" sz="2400" spc="-5">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a:latin typeface="Microsoft YaHei"/>
                <a:cs typeface="Microsoft YaHei"/>
              </a:rPr>
              <a:t>六、 </a:t>
            </a:r>
            <a:r>
              <a:rPr dirty="0" sz="2400" spc="-20">
                <a:latin typeface="Times New Roman"/>
                <a:cs typeface="Times New Roman"/>
              </a:rPr>
              <a:t>5G</a:t>
            </a:r>
            <a:r>
              <a:rPr dirty="0" sz="2400" spc="-5">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136141" y="4142232"/>
            <a:ext cx="2402205" cy="666750"/>
            <a:chOff x="1136141" y="4142232"/>
            <a:chExt cx="2402205" cy="666750"/>
          </a:xfrm>
        </p:grpSpPr>
        <p:pic>
          <p:nvPicPr>
            <p:cNvPr id="3" name="object 3" descr=""/>
            <p:cNvPicPr/>
            <p:nvPr/>
          </p:nvPicPr>
          <p:blipFill>
            <a:blip r:embed="rId2" cstate="print"/>
            <a:stretch>
              <a:fillRect/>
            </a:stretch>
          </p:blipFill>
          <p:spPr>
            <a:xfrm>
              <a:off x="1278635" y="4142232"/>
              <a:ext cx="2259317" cy="525779"/>
            </a:xfrm>
            <a:prstGeom prst="rect">
              <a:avLst/>
            </a:prstGeom>
          </p:spPr>
        </p:pic>
        <p:sp>
          <p:nvSpPr>
            <p:cNvPr id="4" name="object 4" descr=""/>
            <p:cNvSpPr/>
            <p:nvPr/>
          </p:nvSpPr>
          <p:spPr>
            <a:xfrm>
              <a:off x="1324235" y="4186134"/>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00B0F0"/>
            </a:solidFill>
          </p:spPr>
          <p:txBody>
            <a:bodyPr wrap="square" lIns="0" tIns="0" rIns="0" bIns="0" rtlCol="0"/>
            <a:lstStyle/>
            <a:p/>
          </p:txBody>
        </p:sp>
        <p:sp>
          <p:nvSpPr>
            <p:cNvPr id="5" name="object 5" descr=""/>
            <p:cNvSpPr/>
            <p:nvPr/>
          </p:nvSpPr>
          <p:spPr>
            <a:xfrm>
              <a:off x="1324235" y="4186134"/>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pic>
          <p:nvPicPr>
            <p:cNvPr id="6" name="object 6" descr=""/>
            <p:cNvPicPr/>
            <p:nvPr/>
          </p:nvPicPr>
          <p:blipFill>
            <a:blip r:embed="rId3" cstate="print"/>
            <a:stretch>
              <a:fillRect/>
            </a:stretch>
          </p:blipFill>
          <p:spPr>
            <a:xfrm>
              <a:off x="1136141" y="4283202"/>
              <a:ext cx="2259329" cy="525779"/>
            </a:xfrm>
            <a:prstGeom prst="rect">
              <a:avLst/>
            </a:prstGeom>
          </p:spPr>
        </p:pic>
        <p:sp>
          <p:nvSpPr>
            <p:cNvPr id="7" name="object 7" descr=""/>
            <p:cNvSpPr/>
            <p:nvPr/>
          </p:nvSpPr>
          <p:spPr>
            <a:xfrm>
              <a:off x="1182245" y="4327437"/>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00B0F0"/>
            </a:solidFill>
          </p:spPr>
          <p:txBody>
            <a:bodyPr wrap="square" lIns="0" tIns="0" rIns="0" bIns="0" rtlCol="0"/>
            <a:lstStyle/>
            <a:p/>
          </p:txBody>
        </p:sp>
        <p:sp>
          <p:nvSpPr>
            <p:cNvPr id="8" name="object 8" descr=""/>
            <p:cNvSpPr/>
            <p:nvPr/>
          </p:nvSpPr>
          <p:spPr>
            <a:xfrm>
              <a:off x="1182245" y="4327437"/>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grpSp>
      <p:sp>
        <p:nvSpPr>
          <p:cNvPr id="9" name="object 9"/>
          <p:cNvSpPr txBox="1">
            <a:spLocks noGrp="1"/>
          </p:cNvSpPr>
          <p:nvPr>
            <p:ph type="title"/>
          </p:nvPr>
        </p:nvSpPr>
        <p:spPr>
          <a:xfrm>
            <a:off x="2660300" y="123327"/>
            <a:ext cx="4204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场景与业务选择原则</a:t>
            </a:r>
          </a:p>
        </p:txBody>
      </p:sp>
      <p:sp>
        <p:nvSpPr>
          <p:cNvPr id="10" name="object 10" descr=""/>
          <p:cNvSpPr txBox="1"/>
          <p:nvPr/>
        </p:nvSpPr>
        <p:spPr>
          <a:xfrm>
            <a:off x="467537" y="936078"/>
            <a:ext cx="3816985" cy="231140"/>
          </a:xfrm>
          <a:prstGeom prst="rect">
            <a:avLst/>
          </a:prstGeom>
          <a:solidFill>
            <a:srgbClr val="F8FBFC"/>
          </a:solidFill>
        </p:spPr>
        <p:txBody>
          <a:bodyPr wrap="square" lIns="0" tIns="0" rIns="0" bIns="0" rtlCol="0" vert="horz">
            <a:spAutoFit/>
          </a:bodyPr>
          <a:lstStyle/>
          <a:p>
            <a:pPr algn="ctr">
              <a:lnSpc>
                <a:spcPts val="1820"/>
              </a:lnSpc>
            </a:pPr>
            <a:r>
              <a:rPr dirty="0" sz="2000" spc="-30">
                <a:latin typeface="Microsoft YaHei"/>
                <a:cs typeface="Microsoft YaHei"/>
              </a:rPr>
              <a:t>场景选择</a:t>
            </a:r>
            <a:endParaRPr sz="2000">
              <a:latin typeface="Microsoft YaHei"/>
              <a:cs typeface="Microsoft YaHei"/>
            </a:endParaRPr>
          </a:p>
        </p:txBody>
      </p:sp>
      <p:sp>
        <p:nvSpPr>
          <p:cNvPr id="11" name="object 11" descr=""/>
          <p:cNvSpPr txBox="1"/>
          <p:nvPr/>
        </p:nvSpPr>
        <p:spPr>
          <a:xfrm>
            <a:off x="4932045" y="936078"/>
            <a:ext cx="3816985" cy="231140"/>
          </a:xfrm>
          <a:prstGeom prst="rect">
            <a:avLst/>
          </a:prstGeom>
          <a:solidFill>
            <a:srgbClr val="F8FBFC"/>
          </a:solidFill>
        </p:spPr>
        <p:txBody>
          <a:bodyPr wrap="square" lIns="0" tIns="0" rIns="0" bIns="0" rtlCol="0" vert="horz">
            <a:spAutoFit/>
          </a:bodyPr>
          <a:lstStyle/>
          <a:p>
            <a:pPr algn="ctr">
              <a:lnSpc>
                <a:spcPts val="1820"/>
              </a:lnSpc>
            </a:pPr>
            <a:r>
              <a:rPr dirty="0" sz="2000" spc="-30">
                <a:latin typeface="Microsoft YaHei"/>
                <a:cs typeface="Microsoft YaHei"/>
              </a:rPr>
              <a:t>业务选择</a:t>
            </a:r>
            <a:endParaRPr sz="2000">
              <a:latin typeface="Microsoft YaHei"/>
              <a:cs typeface="Microsoft YaHei"/>
            </a:endParaRPr>
          </a:p>
        </p:txBody>
      </p:sp>
      <p:grpSp>
        <p:nvGrpSpPr>
          <p:cNvPr id="12" name="object 12" descr=""/>
          <p:cNvGrpSpPr/>
          <p:nvPr/>
        </p:nvGrpSpPr>
        <p:grpSpPr>
          <a:xfrm>
            <a:off x="5717285" y="3769614"/>
            <a:ext cx="2402205" cy="1039494"/>
            <a:chOff x="5717285" y="3769614"/>
            <a:chExt cx="2402205" cy="1039494"/>
          </a:xfrm>
        </p:grpSpPr>
        <p:pic>
          <p:nvPicPr>
            <p:cNvPr id="13" name="object 13"/>
            <p:cNvPicPr/>
            <p:nvPr/>
          </p:nvPicPr>
          <p:blipFill>
            <a:blip r:embed="rId4" cstate="print"/>
            <a:stretch>
              <a:fillRect/>
            </a:stretch>
          </p:blipFill>
          <p:spPr>
            <a:xfrm>
              <a:off x="5914643" y="3769614"/>
              <a:ext cx="1994915" cy="380237"/>
            </a:xfrm>
            <a:prstGeom prst="rect">
              <a:avLst/>
            </a:prstGeom>
          </p:spPr>
        </p:pic>
        <p:pic>
          <p:nvPicPr>
            <p:cNvPr id="14" name="object 14" descr=""/>
            <p:cNvPicPr/>
            <p:nvPr/>
          </p:nvPicPr>
          <p:blipFill>
            <a:blip r:embed="rId5" cstate="print"/>
            <a:stretch>
              <a:fillRect/>
            </a:stretch>
          </p:blipFill>
          <p:spPr>
            <a:xfrm>
              <a:off x="5993904" y="3795687"/>
              <a:ext cx="1836712" cy="288226"/>
            </a:xfrm>
            <a:prstGeom prst="rect">
              <a:avLst/>
            </a:prstGeom>
          </p:spPr>
        </p:pic>
        <p:sp>
          <p:nvSpPr>
            <p:cNvPr id="15" name="object 15" descr=""/>
            <p:cNvSpPr/>
            <p:nvPr/>
          </p:nvSpPr>
          <p:spPr>
            <a:xfrm>
              <a:off x="5993903" y="3795682"/>
              <a:ext cx="1837055" cy="288290"/>
            </a:xfrm>
            <a:custGeom>
              <a:avLst/>
              <a:gdLst/>
              <a:ahLst/>
              <a:cxnLst/>
              <a:rect l="l" t="t" r="r" b="b"/>
              <a:pathLst>
                <a:path w="1837054" h="288289">
                  <a:moveTo>
                    <a:pt x="0" y="144119"/>
                  </a:moveTo>
                  <a:lnTo>
                    <a:pt x="459181" y="144119"/>
                  </a:lnTo>
                  <a:lnTo>
                    <a:pt x="459181" y="0"/>
                  </a:lnTo>
                  <a:lnTo>
                    <a:pt x="1377530" y="0"/>
                  </a:lnTo>
                  <a:lnTo>
                    <a:pt x="1377530" y="144119"/>
                  </a:lnTo>
                  <a:lnTo>
                    <a:pt x="1836712" y="144119"/>
                  </a:lnTo>
                  <a:lnTo>
                    <a:pt x="918362" y="288239"/>
                  </a:lnTo>
                  <a:lnTo>
                    <a:pt x="0" y="144119"/>
                  </a:lnTo>
                  <a:close/>
                </a:path>
              </a:pathLst>
            </a:custGeom>
            <a:ln w="9525">
              <a:solidFill>
                <a:srgbClr val="D5E8EA"/>
              </a:solidFill>
            </a:ln>
          </p:spPr>
          <p:txBody>
            <a:bodyPr wrap="square" lIns="0" tIns="0" rIns="0" bIns="0" rtlCol="0"/>
            <a:lstStyle/>
            <a:p/>
          </p:txBody>
        </p:sp>
        <p:pic>
          <p:nvPicPr>
            <p:cNvPr id="16" name="object 16" descr=""/>
            <p:cNvPicPr/>
            <p:nvPr/>
          </p:nvPicPr>
          <p:blipFill>
            <a:blip r:embed="rId6" cstate="print"/>
            <a:stretch>
              <a:fillRect/>
            </a:stretch>
          </p:blipFill>
          <p:spPr>
            <a:xfrm>
              <a:off x="5859017" y="4142232"/>
              <a:ext cx="2260091" cy="525779"/>
            </a:xfrm>
            <a:prstGeom prst="rect">
              <a:avLst/>
            </a:prstGeom>
          </p:spPr>
        </p:pic>
        <p:sp>
          <p:nvSpPr>
            <p:cNvPr id="17" name="object 17" descr=""/>
            <p:cNvSpPr/>
            <p:nvPr/>
          </p:nvSpPr>
          <p:spPr>
            <a:xfrm>
              <a:off x="5905233" y="4186134"/>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92D050"/>
            </a:solidFill>
          </p:spPr>
          <p:txBody>
            <a:bodyPr wrap="square" lIns="0" tIns="0" rIns="0" bIns="0" rtlCol="0"/>
            <a:lstStyle/>
            <a:p/>
          </p:txBody>
        </p:sp>
        <p:sp>
          <p:nvSpPr>
            <p:cNvPr id="18" name="object 18" descr=""/>
            <p:cNvSpPr/>
            <p:nvPr/>
          </p:nvSpPr>
          <p:spPr>
            <a:xfrm>
              <a:off x="5905233" y="4186134"/>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pic>
          <p:nvPicPr>
            <p:cNvPr id="19" name="object 19" descr=""/>
            <p:cNvPicPr/>
            <p:nvPr/>
          </p:nvPicPr>
          <p:blipFill>
            <a:blip r:embed="rId7" cstate="print"/>
            <a:stretch>
              <a:fillRect/>
            </a:stretch>
          </p:blipFill>
          <p:spPr>
            <a:xfrm>
              <a:off x="5717285" y="4283202"/>
              <a:ext cx="2259329" cy="525779"/>
            </a:xfrm>
            <a:prstGeom prst="rect">
              <a:avLst/>
            </a:prstGeom>
          </p:spPr>
        </p:pic>
        <p:sp>
          <p:nvSpPr>
            <p:cNvPr id="20" name="object 20" descr=""/>
            <p:cNvSpPr/>
            <p:nvPr/>
          </p:nvSpPr>
          <p:spPr>
            <a:xfrm>
              <a:off x="5763242" y="4327437"/>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92D050"/>
            </a:solidFill>
          </p:spPr>
          <p:txBody>
            <a:bodyPr wrap="square" lIns="0" tIns="0" rIns="0" bIns="0" rtlCol="0"/>
            <a:lstStyle/>
            <a:p/>
          </p:txBody>
        </p:sp>
        <p:sp>
          <p:nvSpPr>
            <p:cNvPr id="21" name="object 21" descr=""/>
            <p:cNvSpPr/>
            <p:nvPr/>
          </p:nvSpPr>
          <p:spPr>
            <a:xfrm>
              <a:off x="5763242" y="4327437"/>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grpSp>
      <p:sp>
        <p:nvSpPr>
          <p:cNvPr id="22" name="object 22" descr=""/>
          <p:cNvSpPr txBox="1"/>
          <p:nvPr/>
        </p:nvSpPr>
        <p:spPr>
          <a:xfrm>
            <a:off x="1903387" y="4219808"/>
            <a:ext cx="888365" cy="330200"/>
          </a:xfrm>
          <a:prstGeom prst="rect">
            <a:avLst/>
          </a:prstGeom>
        </p:spPr>
        <p:txBody>
          <a:bodyPr wrap="square" lIns="0" tIns="12065" rIns="0" bIns="0" rtlCol="0" vert="horz">
            <a:spAutoFit/>
          </a:bodyPr>
          <a:lstStyle/>
          <a:p>
            <a:pPr marL="38100">
              <a:lnSpc>
                <a:spcPct val="100000"/>
              </a:lnSpc>
              <a:spcBef>
                <a:spcPts val="95"/>
              </a:spcBef>
            </a:pPr>
            <a:r>
              <a:rPr dirty="0" baseline="-30555" sz="3000" spc="-1597">
                <a:latin typeface="Microsoft YaHei"/>
                <a:cs typeface="Microsoft YaHei"/>
              </a:rPr>
              <a:t>场</a:t>
            </a:r>
            <a:r>
              <a:rPr dirty="0" sz="2000" spc="-980">
                <a:latin typeface="Microsoft YaHei"/>
                <a:cs typeface="Microsoft YaHei"/>
              </a:rPr>
              <a:t>场</a:t>
            </a:r>
            <a:r>
              <a:rPr dirty="0" baseline="-30555" sz="3000" spc="-1597">
                <a:latin typeface="Microsoft YaHei"/>
                <a:cs typeface="Microsoft YaHei"/>
              </a:rPr>
              <a:t>景</a:t>
            </a:r>
            <a:r>
              <a:rPr dirty="0" sz="2000" spc="-980">
                <a:latin typeface="Microsoft YaHei"/>
                <a:cs typeface="Microsoft YaHei"/>
              </a:rPr>
              <a:t>景</a:t>
            </a:r>
            <a:r>
              <a:rPr dirty="0" baseline="-30555" sz="3000" spc="-37">
                <a:latin typeface="Arial MT"/>
                <a:cs typeface="Arial MT"/>
              </a:rPr>
              <a:t>2</a:t>
            </a:r>
            <a:r>
              <a:rPr dirty="0" sz="2000" spc="-25">
                <a:latin typeface="Arial MT"/>
                <a:cs typeface="Arial MT"/>
              </a:rPr>
              <a:t>N</a:t>
            </a:r>
            <a:endParaRPr sz="2000">
              <a:latin typeface="Arial MT"/>
              <a:cs typeface="Arial MT"/>
            </a:endParaRPr>
          </a:p>
        </p:txBody>
      </p:sp>
      <p:sp>
        <p:nvSpPr>
          <p:cNvPr id="23" name="object 23" descr=""/>
          <p:cNvSpPr/>
          <p:nvPr/>
        </p:nvSpPr>
        <p:spPr>
          <a:xfrm>
            <a:off x="1115618" y="2116582"/>
            <a:ext cx="2880360" cy="316865"/>
          </a:xfrm>
          <a:custGeom>
            <a:avLst/>
            <a:gdLst/>
            <a:ahLst/>
            <a:cxnLst/>
            <a:rect l="l" t="t" r="r" b="b"/>
            <a:pathLst>
              <a:path w="2880360" h="316864">
                <a:moveTo>
                  <a:pt x="2880321" y="0"/>
                </a:moveTo>
                <a:lnTo>
                  <a:pt x="0" y="0"/>
                </a:lnTo>
                <a:lnTo>
                  <a:pt x="0" y="316471"/>
                </a:lnTo>
                <a:lnTo>
                  <a:pt x="2880321" y="316471"/>
                </a:lnTo>
                <a:lnTo>
                  <a:pt x="2880321" y="0"/>
                </a:lnTo>
                <a:close/>
              </a:path>
            </a:pathLst>
          </a:custGeom>
          <a:solidFill>
            <a:srgbClr val="FBDF8F"/>
          </a:solidFill>
        </p:spPr>
        <p:txBody>
          <a:bodyPr wrap="square" lIns="0" tIns="0" rIns="0" bIns="0" rtlCol="0"/>
          <a:lstStyle/>
          <a:p/>
        </p:txBody>
      </p:sp>
      <p:sp>
        <p:nvSpPr>
          <p:cNvPr id="24" name="object 24" descr=""/>
          <p:cNvSpPr txBox="1"/>
          <p:nvPr/>
        </p:nvSpPr>
        <p:spPr>
          <a:xfrm>
            <a:off x="1207056" y="2116580"/>
            <a:ext cx="469900" cy="299720"/>
          </a:xfrm>
          <a:prstGeom prst="rect">
            <a:avLst/>
          </a:prstGeom>
        </p:spPr>
        <p:txBody>
          <a:bodyPr wrap="square" lIns="0" tIns="12700" rIns="0" bIns="0" rtlCol="0" vert="horz">
            <a:spAutoFit/>
          </a:bodyPr>
          <a:lstStyle/>
          <a:p>
            <a:pPr>
              <a:lnSpc>
                <a:spcPct val="100000"/>
              </a:lnSpc>
              <a:spcBef>
                <a:spcPts val="100"/>
              </a:spcBef>
            </a:pPr>
            <a:r>
              <a:rPr dirty="0" sz="1800" spc="-25">
                <a:latin typeface="Microsoft YaHei"/>
                <a:cs typeface="Microsoft YaHei"/>
              </a:rPr>
              <a:t>居住</a:t>
            </a:r>
            <a:endParaRPr sz="1800">
              <a:latin typeface="Microsoft YaHei"/>
              <a:cs typeface="Microsoft YaHei"/>
            </a:endParaRPr>
          </a:p>
        </p:txBody>
      </p:sp>
      <p:sp>
        <p:nvSpPr>
          <p:cNvPr id="25" name="object 25" descr=""/>
          <p:cNvSpPr/>
          <p:nvPr/>
        </p:nvSpPr>
        <p:spPr>
          <a:xfrm>
            <a:off x="1115618" y="2478265"/>
            <a:ext cx="2880360" cy="316865"/>
          </a:xfrm>
          <a:custGeom>
            <a:avLst/>
            <a:gdLst/>
            <a:ahLst/>
            <a:cxnLst/>
            <a:rect l="l" t="t" r="r" b="b"/>
            <a:pathLst>
              <a:path w="2880360" h="316864">
                <a:moveTo>
                  <a:pt x="2880321" y="0"/>
                </a:moveTo>
                <a:lnTo>
                  <a:pt x="0" y="0"/>
                </a:lnTo>
                <a:lnTo>
                  <a:pt x="0" y="316471"/>
                </a:lnTo>
                <a:lnTo>
                  <a:pt x="2880321" y="316471"/>
                </a:lnTo>
                <a:lnTo>
                  <a:pt x="2880321" y="0"/>
                </a:lnTo>
                <a:close/>
              </a:path>
            </a:pathLst>
          </a:custGeom>
          <a:solidFill>
            <a:srgbClr val="FBDF8F"/>
          </a:solidFill>
        </p:spPr>
        <p:txBody>
          <a:bodyPr wrap="square" lIns="0" tIns="0" rIns="0" bIns="0" rtlCol="0"/>
          <a:lstStyle/>
          <a:p/>
        </p:txBody>
      </p:sp>
      <p:sp>
        <p:nvSpPr>
          <p:cNvPr id="26" name="object 26" descr=""/>
          <p:cNvSpPr txBox="1"/>
          <p:nvPr/>
        </p:nvSpPr>
        <p:spPr>
          <a:xfrm>
            <a:off x="1194356" y="2478264"/>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latin typeface="Microsoft YaHei"/>
                <a:cs typeface="Microsoft YaHei"/>
              </a:rPr>
              <a:t>工作</a:t>
            </a:r>
            <a:endParaRPr sz="1800">
              <a:latin typeface="Microsoft YaHei"/>
              <a:cs typeface="Microsoft YaHei"/>
            </a:endParaRPr>
          </a:p>
        </p:txBody>
      </p:sp>
      <p:sp>
        <p:nvSpPr>
          <p:cNvPr id="27" name="object 27" descr=""/>
          <p:cNvSpPr/>
          <p:nvPr/>
        </p:nvSpPr>
        <p:spPr>
          <a:xfrm>
            <a:off x="1115618" y="2839948"/>
            <a:ext cx="2880360" cy="316865"/>
          </a:xfrm>
          <a:custGeom>
            <a:avLst/>
            <a:gdLst/>
            <a:ahLst/>
            <a:cxnLst/>
            <a:rect l="l" t="t" r="r" b="b"/>
            <a:pathLst>
              <a:path w="2880360" h="316864">
                <a:moveTo>
                  <a:pt x="2880321" y="0"/>
                </a:moveTo>
                <a:lnTo>
                  <a:pt x="0" y="0"/>
                </a:lnTo>
                <a:lnTo>
                  <a:pt x="0" y="316471"/>
                </a:lnTo>
                <a:lnTo>
                  <a:pt x="2880321" y="316471"/>
                </a:lnTo>
                <a:lnTo>
                  <a:pt x="2880321" y="0"/>
                </a:lnTo>
                <a:close/>
              </a:path>
            </a:pathLst>
          </a:custGeom>
          <a:solidFill>
            <a:srgbClr val="FBDF8F"/>
          </a:solidFill>
        </p:spPr>
        <p:txBody>
          <a:bodyPr wrap="square" lIns="0" tIns="0" rIns="0" bIns="0" rtlCol="0"/>
          <a:lstStyle/>
          <a:p/>
        </p:txBody>
      </p:sp>
      <p:sp>
        <p:nvSpPr>
          <p:cNvPr id="28" name="object 28" descr=""/>
          <p:cNvSpPr txBox="1"/>
          <p:nvPr/>
        </p:nvSpPr>
        <p:spPr>
          <a:xfrm>
            <a:off x="1207056" y="2839947"/>
            <a:ext cx="469900" cy="299720"/>
          </a:xfrm>
          <a:prstGeom prst="rect">
            <a:avLst/>
          </a:prstGeom>
        </p:spPr>
        <p:txBody>
          <a:bodyPr wrap="square" lIns="0" tIns="12700" rIns="0" bIns="0" rtlCol="0" vert="horz">
            <a:spAutoFit/>
          </a:bodyPr>
          <a:lstStyle/>
          <a:p>
            <a:pPr>
              <a:lnSpc>
                <a:spcPct val="100000"/>
              </a:lnSpc>
              <a:spcBef>
                <a:spcPts val="100"/>
              </a:spcBef>
            </a:pPr>
            <a:r>
              <a:rPr dirty="0" sz="1800" spc="-25">
                <a:latin typeface="Microsoft YaHei"/>
                <a:cs typeface="Microsoft YaHei"/>
              </a:rPr>
              <a:t>休闲</a:t>
            </a:r>
            <a:endParaRPr sz="1800">
              <a:latin typeface="Microsoft YaHei"/>
              <a:cs typeface="Microsoft YaHei"/>
            </a:endParaRPr>
          </a:p>
        </p:txBody>
      </p:sp>
      <p:sp>
        <p:nvSpPr>
          <p:cNvPr id="29" name="object 29" descr=""/>
          <p:cNvSpPr/>
          <p:nvPr/>
        </p:nvSpPr>
        <p:spPr>
          <a:xfrm>
            <a:off x="1115618" y="3201631"/>
            <a:ext cx="2880360" cy="316865"/>
          </a:xfrm>
          <a:custGeom>
            <a:avLst/>
            <a:gdLst/>
            <a:ahLst/>
            <a:cxnLst/>
            <a:rect l="l" t="t" r="r" b="b"/>
            <a:pathLst>
              <a:path w="2880360" h="316864">
                <a:moveTo>
                  <a:pt x="2880321" y="0"/>
                </a:moveTo>
                <a:lnTo>
                  <a:pt x="0" y="0"/>
                </a:lnTo>
                <a:lnTo>
                  <a:pt x="0" y="316471"/>
                </a:lnTo>
                <a:lnTo>
                  <a:pt x="2880321" y="316471"/>
                </a:lnTo>
                <a:lnTo>
                  <a:pt x="2880321" y="0"/>
                </a:lnTo>
                <a:close/>
              </a:path>
            </a:pathLst>
          </a:custGeom>
          <a:solidFill>
            <a:srgbClr val="FBDF8F"/>
          </a:solidFill>
        </p:spPr>
        <p:txBody>
          <a:bodyPr wrap="square" lIns="0" tIns="0" rIns="0" bIns="0" rtlCol="0"/>
          <a:lstStyle/>
          <a:p/>
        </p:txBody>
      </p:sp>
      <p:sp>
        <p:nvSpPr>
          <p:cNvPr id="30" name="object 30" descr=""/>
          <p:cNvSpPr txBox="1"/>
          <p:nvPr/>
        </p:nvSpPr>
        <p:spPr>
          <a:xfrm>
            <a:off x="1115618" y="3201631"/>
            <a:ext cx="2880360" cy="299720"/>
          </a:xfrm>
          <a:prstGeom prst="rect">
            <a:avLst/>
          </a:prstGeom>
        </p:spPr>
        <p:txBody>
          <a:bodyPr wrap="square" lIns="0" tIns="12700" rIns="0" bIns="0" rtlCol="0" vert="horz">
            <a:spAutoFit/>
          </a:bodyPr>
          <a:lstStyle/>
          <a:p>
            <a:pPr marL="90805">
              <a:lnSpc>
                <a:spcPct val="100000"/>
              </a:lnSpc>
              <a:spcBef>
                <a:spcPts val="100"/>
              </a:spcBef>
            </a:pPr>
            <a:r>
              <a:rPr dirty="0" sz="1800" spc="-25">
                <a:latin typeface="Microsoft YaHei"/>
                <a:cs typeface="Microsoft YaHei"/>
              </a:rPr>
              <a:t>交通</a:t>
            </a:r>
            <a:endParaRPr sz="1800">
              <a:latin typeface="Microsoft YaHei"/>
              <a:cs typeface="Microsoft YaHei"/>
            </a:endParaRPr>
          </a:p>
        </p:txBody>
      </p:sp>
      <p:grpSp>
        <p:nvGrpSpPr>
          <p:cNvPr id="31" name="object 31" descr=""/>
          <p:cNvGrpSpPr/>
          <p:nvPr/>
        </p:nvGrpSpPr>
        <p:grpSpPr>
          <a:xfrm>
            <a:off x="1979714" y="1528851"/>
            <a:ext cx="1800225" cy="2125345"/>
            <a:chOff x="1979714" y="1528851"/>
            <a:chExt cx="1800225" cy="2125345"/>
          </a:xfrm>
        </p:grpSpPr>
        <p:pic>
          <p:nvPicPr>
            <p:cNvPr id="32" name="object 32" descr=""/>
            <p:cNvPicPr/>
            <p:nvPr/>
          </p:nvPicPr>
          <p:blipFill>
            <a:blip r:embed="rId8" cstate="print"/>
            <a:stretch>
              <a:fillRect/>
            </a:stretch>
          </p:blipFill>
          <p:spPr>
            <a:xfrm>
              <a:off x="1979714" y="1528851"/>
              <a:ext cx="504050" cy="2124887"/>
            </a:xfrm>
            <a:prstGeom prst="rect">
              <a:avLst/>
            </a:prstGeom>
          </p:spPr>
        </p:pic>
        <p:pic>
          <p:nvPicPr>
            <p:cNvPr id="33" name="object 33" descr=""/>
            <p:cNvPicPr/>
            <p:nvPr/>
          </p:nvPicPr>
          <p:blipFill>
            <a:blip r:embed="rId8" cstate="print"/>
            <a:stretch>
              <a:fillRect/>
            </a:stretch>
          </p:blipFill>
          <p:spPr>
            <a:xfrm>
              <a:off x="2627782" y="1528851"/>
              <a:ext cx="504063" cy="2124887"/>
            </a:xfrm>
            <a:prstGeom prst="rect">
              <a:avLst/>
            </a:prstGeom>
          </p:spPr>
        </p:pic>
        <p:pic>
          <p:nvPicPr>
            <p:cNvPr id="34" name="object 34" descr=""/>
            <p:cNvPicPr/>
            <p:nvPr/>
          </p:nvPicPr>
          <p:blipFill>
            <a:blip r:embed="rId8" cstate="print"/>
            <a:stretch>
              <a:fillRect/>
            </a:stretch>
          </p:blipFill>
          <p:spPr>
            <a:xfrm>
              <a:off x="3275850" y="1528851"/>
              <a:ext cx="504063" cy="2124887"/>
            </a:xfrm>
            <a:prstGeom prst="rect">
              <a:avLst/>
            </a:prstGeom>
          </p:spPr>
        </p:pic>
      </p:grpSp>
      <p:sp>
        <p:nvSpPr>
          <p:cNvPr id="35" name="object 35" descr=""/>
          <p:cNvSpPr txBox="1"/>
          <p:nvPr/>
        </p:nvSpPr>
        <p:spPr>
          <a:xfrm>
            <a:off x="2104740" y="1599207"/>
            <a:ext cx="1550670" cy="574040"/>
          </a:xfrm>
          <a:prstGeom prst="rect">
            <a:avLst/>
          </a:prstGeom>
        </p:spPr>
        <p:txBody>
          <a:bodyPr wrap="square" lIns="0" tIns="12700" rIns="0" bIns="0" rtlCol="0" vert="horz">
            <a:spAutoFit/>
          </a:bodyPr>
          <a:lstStyle/>
          <a:p>
            <a:pPr marL="12700">
              <a:lnSpc>
                <a:spcPct val="100000"/>
              </a:lnSpc>
              <a:spcBef>
                <a:spcPts val="100"/>
              </a:spcBef>
              <a:tabLst>
                <a:tab pos="660400" algn="l"/>
                <a:tab pos="1308735" algn="l"/>
              </a:tabLst>
            </a:pPr>
            <a:r>
              <a:rPr dirty="0" sz="1800" spc="-50">
                <a:latin typeface="Microsoft YaHei"/>
                <a:cs typeface="Microsoft YaHei"/>
              </a:rPr>
              <a:t>高</a:t>
            </a:r>
            <a:r>
              <a:rPr dirty="0" sz="1800">
                <a:latin typeface="Microsoft YaHei"/>
                <a:cs typeface="Microsoft YaHei"/>
              </a:rPr>
              <a:t>	</a:t>
            </a:r>
            <a:r>
              <a:rPr dirty="0" sz="1800" spc="-50">
                <a:latin typeface="Microsoft YaHei"/>
                <a:cs typeface="Microsoft YaHei"/>
              </a:rPr>
              <a:t>高</a:t>
            </a:r>
            <a:r>
              <a:rPr dirty="0" sz="1800">
                <a:latin typeface="Microsoft YaHei"/>
                <a:cs typeface="Microsoft YaHei"/>
              </a:rPr>
              <a:t>	</a:t>
            </a:r>
            <a:r>
              <a:rPr dirty="0" sz="1800" spc="-50">
                <a:latin typeface="Microsoft YaHei"/>
                <a:cs typeface="Microsoft YaHei"/>
              </a:rPr>
              <a:t>高</a:t>
            </a:r>
            <a:endParaRPr sz="1800">
              <a:latin typeface="Microsoft YaHei"/>
              <a:cs typeface="Microsoft YaHei"/>
            </a:endParaRPr>
          </a:p>
          <a:p>
            <a:pPr marL="12700">
              <a:lnSpc>
                <a:spcPct val="100000"/>
              </a:lnSpc>
              <a:tabLst>
                <a:tab pos="660400" algn="l"/>
                <a:tab pos="1308735" algn="l"/>
              </a:tabLst>
            </a:pPr>
            <a:r>
              <a:rPr dirty="0" sz="1800" spc="-50">
                <a:latin typeface="Microsoft YaHei"/>
                <a:cs typeface="Microsoft YaHei"/>
              </a:rPr>
              <a:t>流</a:t>
            </a:r>
            <a:r>
              <a:rPr dirty="0" sz="1800">
                <a:latin typeface="Microsoft YaHei"/>
                <a:cs typeface="Microsoft YaHei"/>
              </a:rPr>
              <a:t>	</a:t>
            </a:r>
            <a:r>
              <a:rPr dirty="0" sz="1800" spc="-50">
                <a:latin typeface="Microsoft YaHei"/>
                <a:cs typeface="Microsoft YaHei"/>
              </a:rPr>
              <a:t>人</a:t>
            </a:r>
            <a:r>
              <a:rPr dirty="0" sz="1800">
                <a:latin typeface="Microsoft YaHei"/>
                <a:cs typeface="Microsoft YaHei"/>
              </a:rPr>
              <a:t>	</a:t>
            </a:r>
            <a:r>
              <a:rPr dirty="0" sz="1800" spc="-50">
                <a:latin typeface="Microsoft YaHei"/>
                <a:cs typeface="Microsoft YaHei"/>
              </a:rPr>
              <a:t>移</a:t>
            </a:r>
            <a:endParaRPr sz="1800">
              <a:latin typeface="Microsoft YaHei"/>
              <a:cs typeface="Microsoft YaHei"/>
            </a:endParaRPr>
          </a:p>
        </p:txBody>
      </p:sp>
      <p:sp>
        <p:nvSpPr>
          <p:cNvPr id="36" name="object 36" descr=""/>
          <p:cNvSpPr txBox="1"/>
          <p:nvPr/>
        </p:nvSpPr>
        <p:spPr>
          <a:xfrm>
            <a:off x="2117440" y="2147846"/>
            <a:ext cx="1537970" cy="299720"/>
          </a:xfrm>
          <a:prstGeom prst="rect">
            <a:avLst/>
          </a:prstGeom>
        </p:spPr>
        <p:txBody>
          <a:bodyPr wrap="square" lIns="0" tIns="12700" rIns="0" bIns="0" rtlCol="0" vert="horz">
            <a:spAutoFit/>
          </a:bodyPr>
          <a:lstStyle/>
          <a:p>
            <a:pPr>
              <a:lnSpc>
                <a:spcPct val="100000"/>
              </a:lnSpc>
              <a:spcBef>
                <a:spcPts val="100"/>
              </a:spcBef>
              <a:tabLst>
                <a:tab pos="647700" algn="l"/>
                <a:tab pos="1296035" algn="l"/>
              </a:tabLst>
            </a:pPr>
            <a:r>
              <a:rPr dirty="0" sz="1800" spc="-50">
                <a:latin typeface="Microsoft YaHei"/>
                <a:cs typeface="Microsoft YaHei"/>
              </a:rPr>
              <a:t>量</a:t>
            </a:r>
            <a:r>
              <a:rPr dirty="0" sz="1800">
                <a:latin typeface="Microsoft YaHei"/>
                <a:cs typeface="Microsoft YaHei"/>
              </a:rPr>
              <a:t>	</a:t>
            </a:r>
            <a:r>
              <a:rPr dirty="0" sz="1800" spc="-50">
                <a:latin typeface="Microsoft YaHei"/>
                <a:cs typeface="Microsoft YaHei"/>
              </a:rPr>
              <a:t>口</a:t>
            </a:r>
            <a:r>
              <a:rPr dirty="0" sz="1800">
                <a:latin typeface="Microsoft YaHei"/>
                <a:cs typeface="Microsoft YaHei"/>
              </a:rPr>
              <a:t>	</a:t>
            </a:r>
            <a:r>
              <a:rPr dirty="0" sz="1800" spc="-50">
                <a:latin typeface="Microsoft YaHei"/>
                <a:cs typeface="Microsoft YaHei"/>
              </a:rPr>
              <a:t>动</a:t>
            </a:r>
            <a:endParaRPr sz="1800">
              <a:latin typeface="Microsoft YaHei"/>
              <a:cs typeface="Microsoft YaHei"/>
            </a:endParaRPr>
          </a:p>
        </p:txBody>
      </p:sp>
      <p:sp>
        <p:nvSpPr>
          <p:cNvPr id="37" name="object 37" descr=""/>
          <p:cNvSpPr txBox="1"/>
          <p:nvPr/>
        </p:nvSpPr>
        <p:spPr>
          <a:xfrm>
            <a:off x="2104740" y="2422166"/>
            <a:ext cx="1550670" cy="299720"/>
          </a:xfrm>
          <a:prstGeom prst="rect">
            <a:avLst/>
          </a:prstGeom>
        </p:spPr>
        <p:txBody>
          <a:bodyPr wrap="square" lIns="0" tIns="12700" rIns="0" bIns="0" rtlCol="0" vert="horz">
            <a:spAutoFit/>
          </a:bodyPr>
          <a:lstStyle/>
          <a:p>
            <a:pPr marL="12700">
              <a:lnSpc>
                <a:spcPct val="100000"/>
              </a:lnSpc>
              <a:spcBef>
                <a:spcPts val="100"/>
              </a:spcBef>
              <a:tabLst>
                <a:tab pos="660400" algn="l"/>
                <a:tab pos="1308735" algn="l"/>
              </a:tabLst>
            </a:pPr>
            <a:r>
              <a:rPr dirty="0" sz="1800" spc="-50">
                <a:latin typeface="Microsoft YaHei"/>
                <a:cs typeface="Microsoft YaHei"/>
              </a:rPr>
              <a:t>密</a:t>
            </a:r>
            <a:r>
              <a:rPr dirty="0" sz="1800">
                <a:latin typeface="Microsoft YaHei"/>
                <a:cs typeface="Microsoft YaHei"/>
              </a:rPr>
              <a:t>	</a:t>
            </a:r>
            <a:r>
              <a:rPr dirty="0" sz="1800" spc="-50">
                <a:latin typeface="Microsoft YaHei"/>
                <a:cs typeface="Microsoft YaHei"/>
              </a:rPr>
              <a:t>密</a:t>
            </a:r>
            <a:r>
              <a:rPr dirty="0" sz="1800">
                <a:latin typeface="Microsoft YaHei"/>
                <a:cs typeface="Microsoft YaHei"/>
              </a:rPr>
              <a:t>	</a:t>
            </a:r>
            <a:r>
              <a:rPr dirty="0" sz="1800" spc="-50">
                <a:latin typeface="Microsoft YaHei"/>
                <a:cs typeface="Microsoft YaHei"/>
              </a:rPr>
              <a:t>速</a:t>
            </a:r>
            <a:endParaRPr sz="1800">
              <a:latin typeface="Microsoft YaHei"/>
              <a:cs typeface="Microsoft YaHei"/>
            </a:endParaRPr>
          </a:p>
        </p:txBody>
      </p:sp>
      <p:sp>
        <p:nvSpPr>
          <p:cNvPr id="38" name="object 38" descr=""/>
          <p:cNvSpPr txBox="1"/>
          <p:nvPr/>
        </p:nvSpPr>
        <p:spPr>
          <a:xfrm>
            <a:off x="2117440" y="2696486"/>
            <a:ext cx="1537970" cy="299720"/>
          </a:xfrm>
          <a:prstGeom prst="rect">
            <a:avLst/>
          </a:prstGeom>
        </p:spPr>
        <p:txBody>
          <a:bodyPr wrap="square" lIns="0" tIns="12700" rIns="0" bIns="0" rtlCol="0" vert="horz">
            <a:spAutoFit/>
          </a:bodyPr>
          <a:lstStyle/>
          <a:p>
            <a:pPr>
              <a:lnSpc>
                <a:spcPct val="100000"/>
              </a:lnSpc>
              <a:spcBef>
                <a:spcPts val="100"/>
              </a:spcBef>
              <a:tabLst>
                <a:tab pos="647700" algn="l"/>
                <a:tab pos="1296035" algn="l"/>
              </a:tabLst>
            </a:pPr>
            <a:r>
              <a:rPr dirty="0" sz="1800" spc="-50">
                <a:latin typeface="Microsoft YaHei"/>
                <a:cs typeface="Microsoft YaHei"/>
              </a:rPr>
              <a:t>度</a:t>
            </a:r>
            <a:r>
              <a:rPr dirty="0" sz="1800">
                <a:latin typeface="Microsoft YaHei"/>
                <a:cs typeface="Microsoft YaHei"/>
              </a:rPr>
              <a:t>	</a:t>
            </a:r>
            <a:r>
              <a:rPr dirty="0" sz="1800" spc="-50">
                <a:latin typeface="Microsoft YaHei"/>
                <a:cs typeface="Microsoft YaHei"/>
              </a:rPr>
              <a:t>度</a:t>
            </a:r>
            <a:r>
              <a:rPr dirty="0" sz="1800">
                <a:latin typeface="Microsoft YaHei"/>
                <a:cs typeface="Microsoft YaHei"/>
              </a:rPr>
              <a:t>	</a:t>
            </a:r>
            <a:r>
              <a:rPr dirty="0" sz="1800" spc="-50">
                <a:latin typeface="Microsoft YaHei"/>
                <a:cs typeface="Microsoft YaHei"/>
              </a:rPr>
              <a:t>度</a:t>
            </a:r>
            <a:endParaRPr sz="1800">
              <a:latin typeface="Microsoft YaHei"/>
              <a:cs typeface="Microsoft YaHei"/>
            </a:endParaRPr>
          </a:p>
        </p:txBody>
      </p:sp>
      <p:sp>
        <p:nvSpPr>
          <p:cNvPr id="39" name="object 39" descr=""/>
          <p:cNvSpPr/>
          <p:nvPr/>
        </p:nvSpPr>
        <p:spPr>
          <a:xfrm>
            <a:off x="971599" y="1619270"/>
            <a:ext cx="0" cy="1976755"/>
          </a:xfrm>
          <a:custGeom>
            <a:avLst/>
            <a:gdLst/>
            <a:ahLst/>
            <a:cxnLst/>
            <a:rect l="l" t="t" r="r" b="b"/>
            <a:pathLst>
              <a:path w="0" h="1976754">
                <a:moveTo>
                  <a:pt x="0" y="0"/>
                </a:moveTo>
                <a:lnTo>
                  <a:pt x="0" y="1976691"/>
                </a:lnTo>
              </a:path>
            </a:pathLst>
          </a:custGeom>
          <a:ln w="12700">
            <a:solidFill>
              <a:srgbClr val="B6DCDF"/>
            </a:solidFill>
          </a:ln>
        </p:spPr>
        <p:txBody>
          <a:bodyPr wrap="square" lIns="0" tIns="0" rIns="0" bIns="0" rtlCol="0"/>
          <a:lstStyle/>
          <a:p/>
        </p:txBody>
      </p:sp>
      <p:grpSp>
        <p:nvGrpSpPr>
          <p:cNvPr id="40" name="object 40" descr=""/>
          <p:cNvGrpSpPr/>
          <p:nvPr/>
        </p:nvGrpSpPr>
        <p:grpSpPr>
          <a:xfrm>
            <a:off x="920799" y="1387624"/>
            <a:ext cx="3213100" cy="2214880"/>
            <a:chOff x="920799" y="1387624"/>
            <a:chExt cx="3213100" cy="2214880"/>
          </a:xfrm>
        </p:grpSpPr>
        <p:sp>
          <p:nvSpPr>
            <p:cNvPr id="41" name="object 41" descr=""/>
            <p:cNvSpPr/>
            <p:nvPr/>
          </p:nvSpPr>
          <p:spPr>
            <a:xfrm>
              <a:off x="1187623" y="1438428"/>
              <a:ext cx="2940050" cy="0"/>
            </a:xfrm>
            <a:custGeom>
              <a:avLst/>
              <a:gdLst/>
              <a:ahLst/>
              <a:cxnLst/>
              <a:rect l="l" t="t" r="r" b="b"/>
              <a:pathLst>
                <a:path w="2940050" h="0">
                  <a:moveTo>
                    <a:pt x="0" y="0"/>
                  </a:moveTo>
                  <a:lnTo>
                    <a:pt x="2939757" y="0"/>
                  </a:lnTo>
                </a:path>
              </a:pathLst>
            </a:custGeom>
            <a:ln w="12700">
              <a:solidFill>
                <a:srgbClr val="B6DCDF"/>
              </a:solidFill>
            </a:ln>
          </p:spPr>
          <p:txBody>
            <a:bodyPr wrap="square" lIns="0" tIns="0" rIns="0" bIns="0" rtlCol="0"/>
            <a:lstStyle/>
            <a:p/>
          </p:txBody>
        </p:sp>
        <p:sp>
          <p:nvSpPr>
            <p:cNvPr id="42" name="object 42" descr=""/>
            <p:cNvSpPr/>
            <p:nvPr/>
          </p:nvSpPr>
          <p:spPr>
            <a:xfrm>
              <a:off x="4051180" y="1393974"/>
              <a:ext cx="76200" cy="88900"/>
            </a:xfrm>
            <a:custGeom>
              <a:avLst/>
              <a:gdLst/>
              <a:ahLst/>
              <a:cxnLst/>
              <a:rect l="l" t="t" r="r" b="b"/>
              <a:pathLst>
                <a:path w="76200" h="88900">
                  <a:moveTo>
                    <a:pt x="0" y="0"/>
                  </a:moveTo>
                  <a:lnTo>
                    <a:pt x="76200" y="44450"/>
                  </a:lnTo>
                  <a:lnTo>
                    <a:pt x="0" y="88900"/>
                  </a:lnTo>
                </a:path>
              </a:pathLst>
            </a:custGeom>
            <a:ln w="12700">
              <a:solidFill>
                <a:srgbClr val="B6DCDF"/>
              </a:solidFill>
            </a:ln>
          </p:spPr>
          <p:txBody>
            <a:bodyPr wrap="square" lIns="0" tIns="0" rIns="0" bIns="0" rtlCol="0"/>
            <a:lstStyle/>
            <a:p/>
          </p:txBody>
        </p:sp>
        <p:sp>
          <p:nvSpPr>
            <p:cNvPr id="43" name="object 43" descr=""/>
            <p:cNvSpPr/>
            <p:nvPr/>
          </p:nvSpPr>
          <p:spPr>
            <a:xfrm>
              <a:off x="927149" y="3519758"/>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grpSp>
      <p:sp>
        <p:nvSpPr>
          <p:cNvPr id="44" name="object 44" descr=""/>
          <p:cNvSpPr txBox="1"/>
          <p:nvPr/>
        </p:nvSpPr>
        <p:spPr>
          <a:xfrm>
            <a:off x="1194356" y="1192307"/>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latin typeface="Microsoft YaHei"/>
                <a:cs typeface="Microsoft YaHei"/>
              </a:rPr>
              <a:t>挑战</a:t>
            </a:r>
            <a:endParaRPr sz="1800">
              <a:latin typeface="Microsoft YaHei"/>
              <a:cs typeface="Microsoft YaHei"/>
            </a:endParaRPr>
          </a:p>
        </p:txBody>
      </p:sp>
      <p:sp>
        <p:nvSpPr>
          <p:cNvPr id="45" name="object 45" descr=""/>
          <p:cNvSpPr txBox="1"/>
          <p:nvPr/>
        </p:nvSpPr>
        <p:spPr>
          <a:xfrm>
            <a:off x="694192" y="1561870"/>
            <a:ext cx="254000" cy="1168400"/>
          </a:xfrm>
          <a:prstGeom prst="rect">
            <a:avLst/>
          </a:prstGeom>
        </p:spPr>
        <p:txBody>
          <a:bodyPr wrap="square" lIns="0" tIns="0" rIns="0" bIns="0" rtlCol="0" vert="eaVert">
            <a:spAutoFit/>
          </a:bodyPr>
          <a:lstStyle/>
          <a:p>
            <a:pPr marL="12700">
              <a:lnSpc>
                <a:spcPct val="65000"/>
              </a:lnSpc>
            </a:pPr>
            <a:r>
              <a:rPr dirty="0" sz="1800">
                <a:latin typeface="Microsoft YaHei"/>
                <a:cs typeface="Microsoft YaHei"/>
              </a:rPr>
              <a:t>从环境出发</a:t>
            </a:r>
            <a:endParaRPr sz="1800">
              <a:latin typeface="Microsoft YaHei"/>
              <a:cs typeface="Microsoft YaHei"/>
            </a:endParaRPr>
          </a:p>
        </p:txBody>
      </p:sp>
      <p:sp>
        <p:nvSpPr>
          <p:cNvPr id="46" name="object 46" descr=""/>
          <p:cNvSpPr/>
          <p:nvPr/>
        </p:nvSpPr>
        <p:spPr>
          <a:xfrm>
            <a:off x="467537" y="1167168"/>
            <a:ext cx="3816985" cy="2532380"/>
          </a:xfrm>
          <a:custGeom>
            <a:avLst/>
            <a:gdLst/>
            <a:ahLst/>
            <a:cxnLst/>
            <a:rect l="l" t="t" r="r" b="b"/>
            <a:pathLst>
              <a:path w="3816985" h="2532379">
                <a:moveTo>
                  <a:pt x="0" y="0"/>
                </a:moveTo>
                <a:lnTo>
                  <a:pt x="3816426" y="0"/>
                </a:lnTo>
                <a:lnTo>
                  <a:pt x="3816426" y="2531783"/>
                </a:lnTo>
                <a:lnTo>
                  <a:pt x="0" y="2531783"/>
                </a:lnTo>
                <a:lnTo>
                  <a:pt x="0" y="0"/>
                </a:lnTo>
                <a:close/>
              </a:path>
            </a:pathLst>
          </a:custGeom>
          <a:ln w="12700">
            <a:solidFill>
              <a:srgbClr val="000000"/>
            </a:solidFill>
            <a:prstDash val="sysDash"/>
          </a:ln>
        </p:spPr>
        <p:txBody>
          <a:bodyPr wrap="square" lIns="0" tIns="0" rIns="0" bIns="0" rtlCol="0"/>
          <a:lstStyle/>
          <a:p/>
        </p:txBody>
      </p:sp>
      <p:sp>
        <p:nvSpPr>
          <p:cNvPr id="47" name="object 47" descr=""/>
          <p:cNvSpPr/>
          <p:nvPr/>
        </p:nvSpPr>
        <p:spPr>
          <a:xfrm>
            <a:off x="5580113" y="2116582"/>
            <a:ext cx="3024505" cy="542925"/>
          </a:xfrm>
          <a:custGeom>
            <a:avLst/>
            <a:gdLst/>
            <a:ahLst/>
            <a:cxnLst/>
            <a:rect l="l" t="t" r="r" b="b"/>
            <a:pathLst>
              <a:path w="3024504" h="542925">
                <a:moveTo>
                  <a:pt x="3024339" y="0"/>
                </a:moveTo>
                <a:lnTo>
                  <a:pt x="0" y="0"/>
                </a:lnTo>
                <a:lnTo>
                  <a:pt x="0" y="542531"/>
                </a:lnTo>
                <a:lnTo>
                  <a:pt x="3024339" y="542531"/>
                </a:lnTo>
                <a:lnTo>
                  <a:pt x="3024339" y="0"/>
                </a:lnTo>
                <a:close/>
              </a:path>
            </a:pathLst>
          </a:custGeom>
          <a:solidFill>
            <a:srgbClr val="FBDF8F"/>
          </a:solidFill>
        </p:spPr>
        <p:txBody>
          <a:bodyPr wrap="square" lIns="0" tIns="0" rIns="0" bIns="0" rtlCol="0"/>
          <a:lstStyle/>
          <a:p/>
        </p:txBody>
      </p:sp>
      <p:sp>
        <p:nvSpPr>
          <p:cNvPr id="48" name="object 48" descr=""/>
          <p:cNvSpPr txBox="1"/>
          <p:nvPr/>
        </p:nvSpPr>
        <p:spPr>
          <a:xfrm>
            <a:off x="5658851" y="2092446"/>
            <a:ext cx="939800" cy="574040"/>
          </a:xfrm>
          <a:prstGeom prst="rect">
            <a:avLst/>
          </a:prstGeom>
        </p:spPr>
        <p:txBody>
          <a:bodyPr wrap="square" lIns="0" tIns="12700" rIns="0" bIns="0" rtlCol="0" vert="horz">
            <a:spAutoFit/>
          </a:bodyPr>
          <a:lstStyle/>
          <a:p>
            <a:pPr marL="12700" marR="5080">
              <a:lnSpc>
                <a:spcPct val="100000"/>
              </a:lnSpc>
              <a:spcBef>
                <a:spcPts val="100"/>
              </a:spcBef>
            </a:pPr>
            <a:r>
              <a:rPr dirty="0" sz="1800" spc="-15">
                <a:latin typeface="Microsoft YaHei"/>
                <a:cs typeface="Microsoft YaHei"/>
              </a:rPr>
              <a:t>移动互联</a:t>
            </a:r>
            <a:r>
              <a:rPr dirty="0" sz="1800" spc="-20">
                <a:latin typeface="Microsoft YaHei"/>
                <a:cs typeface="Microsoft YaHei"/>
              </a:rPr>
              <a:t>网业务</a:t>
            </a:r>
            <a:endParaRPr sz="1800">
              <a:latin typeface="Microsoft YaHei"/>
              <a:cs typeface="Microsoft YaHei"/>
            </a:endParaRPr>
          </a:p>
        </p:txBody>
      </p:sp>
      <p:sp>
        <p:nvSpPr>
          <p:cNvPr id="49" name="object 49" descr=""/>
          <p:cNvSpPr/>
          <p:nvPr/>
        </p:nvSpPr>
        <p:spPr>
          <a:xfrm>
            <a:off x="5580113" y="2885160"/>
            <a:ext cx="3024505" cy="588010"/>
          </a:xfrm>
          <a:custGeom>
            <a:avLst/>
            <a:gdLst/>
            <a:ahLst/>
            <a:cxnLst/>
            <a:rect l="l" t="t" r="r" b="b"/>
            <a:pathLst>
              <a:path w="3024504" h="588010">
                <a:moveTo>
                  <a:pt x="3024339" y="0"/>
                </a:moveTo>
                <a:lnTo>
                  <a:pt x="0" y="0"/>
                </a:lnTo>
                <a:lnTo>
                  <a:pt x="0" y="587730"/>
                </a:lnTo>
                <a:lnTo>
                  <a:pt x="3024339" y="587730"/>
                </a:lnTo>
                <a:lnTo>
                  <a:pt x="3024339" y="0"/>
                </a:lnTo>
                <a:close/>
              </a:path>
            </a:pathLst>
          </a:custGeom>
          <a:solidFill>
            <a:srgbClr val="FBDF8F"/>
          </a:solidFill>
        </p:spPr>
        <p:txBody>
          <a:bodyPr wrap="square" lIns="0" tIns="0" rIns="0" bIns="0" rtlCol="0"/>
          <a:lstStyle/>
          <a:p/>
        </p:txBody>
      </p:sp>
      <p:sp>
        <p:nvSpPr>
          <p:cNvPr id="50" name="object 50" descr=""/>
          <p:cNvSpPr txBox="1"/>
          <p:nvPr/>
        </p:nvSpPr>
        <p:spPr>
          <a:xfrm>
            <a:off x="5658851" y="2883630"/>
            <a:ext cx="939800" cy="574040"/>
          </a:xfrm>
          <a:prstGeom prst="rect">
            <a:avLst/>
          </a:prstGeom>
        </p:spPr>
        <p:txBody>
          <a:bodyPr wrap="square" lIns="0" tIns="12700" rIns="0" bIns="0" rtlCol="0" vert="horz">
            <a:spAutoFit/>
          </a:bodyPr>
          <a:lstStyle/>
          <a:p>
            <a:pPr marL="12700" marR="5080">
              <a:lnSpc>
                <a:spcPct val="100000"/>
              </a:lnSpc>
              <a:spcBef>
                <a:spcPts val="100"/>
              </a:spcBef>
            </a:pPr>
            <a:r>
              <a:rPr dirty="0" sz="1800" spc="-15">
                <a:latin typeface="Microsoft YaHei"/>
                <a:cs typeface="Microsoft YaHei"/>
              </a:rPr>
              <a:t>移动物联</a:t>
            </a:r>
            <a:r>
              <a:rPr dirty="0" sz="1800" spc="-20">
                <a:latin typeface="Microsoft YaHei"/>
                <a:cs typeface="Microsoft YaHei"/>
              </a:rPr>
              <a:t>网业务</a:t>
            </a:r>
            <a:endParaRPr sz="1800">
              <a:latin typeface="Microsoft YaHei"/>
              <a:cs typeface="Microsoft YaHei"/>
            </a:endParaRPr>
          </a:p>
        </p:txBody>
      </p:sp>
      <p:grpSp>
        <p:nvGrpSpPr>
          <p:cNvPr id="51" name="object 51" descr=""/>
          <p:cNvGrpSpPr/>
          <p:nvPr/>
        </p:nvGrpSpPr>
        <p:grpSpPr>
          <a:xfrm>
            <a:off x="6660235" y="1528851"/>
            <a:ext cx="1800225" cy="2125345"/>
            <a:chOff x="6660235" y="1528851"/>
            <a:chExt cx="1800225" cy="2125345"/>
          </a:xfrm>
        </p:grpSpPr>
        <p:pic>
          <p:nvPicPr>
            <p:cNvPr id="52" name="object 52" descr=""/>
            <p:cNvPicPr/>
            <p:nvPr/>
          </p:nvPicPr>
          <p:blipFill>
            <a:blip r:embed="rId8" cstate="print"/>
            <a:stretch>
              <a:fillRect/>
            </a:stretch>
          </p:blipFill>
          <p:spPr>
            <a:xfrm>
              <a:off x="6660235" y="1528851"/>
              <a:ext cx="504050" cy="2124887"/>
            </a:xfrm>
            <a:prstGeom prst="rect">
              <a:avLst/>
            </a:prstGeom>
          </p:spPr>
        </p:pic>
        <p:pic>
          <p:nvPicPr>
            <p:cNvPr id="53" name="object 53" descr=""/>
            <p:cNvPicPr/>
            <p:nvPr/>
          </p:nvPicPr>
          <p:blipFill>
            <a:blip r:embed="rId9" cstate="print"/>
            <a:stretch>
              <a:fillRect/>
            </a:stretch>
          </p:blipFill>
          <p:spPr>
            <a:xfrm>
              <a:off x="7308303" y="1528851"/>
              <a:ext cx="504050" cy="2124887"/>
            </a:xfrm>
            <a:prstGeom prst="rect">
              <a:avLst/>
            </a:prstGeom>
          </p:spPr>
        </p:pic>
        <p:pic>
          <p:nvPicPr>
            <p:cNvPr id="54" name="object 54" descr=""/>
            <p:cNvPicPr/>
            <p:nvPr/>
          </p:nvPicPr>
          <p:blipFill>
            <a:blip r:embed="rId9" cstate="print"/>
            <a:stretch>
              <a:fillRect/>
            </a:stretch>
          </p:blipFill>
          <p:spPr>
            <a:xfrm>
              <a:off x="7956371" y="1528851"/>
              <a:ext cx="504063" cy="2124887"/>
            </a:xfrm>
            <a:prstGeom prst="rect">
              <a:avLst/>
            </a:prstGeom>
          </p:spPr>
        </p:pic>
      </p:grpSp>
      <p:sp>
        <p:nvSpPr>
          <p:cNvPr id="55" name="object 55" descr=""/>
          <p:cNvSpPr txBox="1"/>
          <p:nvPr/>
        </p:nvSpPr>
        <p:spPr>
          <a:xfrm>
            <a:off x="6785261" y="1599207"/>
            <a:ext cx="1550670" cy="574040"/>
          </a:xfrm>
          <a:prstGeom prst="rect">
            <a:avLst/>
          </a:prstGeom>
        </p:spPr>
        <p:txBody>
          <a:bodyPr wrap="square" lIns="0" tIns="12700" rIns="0" bIns="0" rtlCol="0" vert="horz">
            <a:spAutoFit/>
          </a:bodyPr>
          <a:lstStyle/>
          <a:p>
            <a:pPr marL="12700">
              <a:lnSpc>
                <a:spcPct val="100000"/>
              </a:lnSpc>
              <a:spcBef>
                <a:spcPts val="100"/>
              </a:spcBef>
              <a:tabLst>
                <a:tab pos="660400" algn="l"/>
                <a:tab pos="1308735" algn="l"/>
              </a:tabLst>
            </a:pPr>
            <a:r>
              <a:rPr dirty="0" sz="1800" spc="-50">
                <a:latin typeface="Microsoft YaHei"/>
                <a:cs typeface="Microsoft YaHei"/>
              </a:rPr>
              <a:t>高</a:t>
            </a:r>
            <a:r>
              <a:rPr dirty="0" sz="1800">
                <a:latin typeface="Microsoft YaHei"/>
                <a:cs typeface="Microsoft YaHei"/>
              </a:rPr>
              <a:t>	</a:t>
            </a:r>
            <a:r>
              <a:rPr dirty="0" sz="1800" spc="-50">
                <a:latin typeface="Microsoft YaHei"/>
                <a:cs typeface="Microsoft YaHei"/>
              </a:rPr>
              <a:t>低</a:t>
            </a:r>
            <a:r>
              <a:rPr dirty="0" sz="1800">
                <a:latin typeface="Microsoft YaHei"/>
                <a:cs typeface="Microsoft YaHei"/>
              </a:rPr>
              <a:t>	</a:t>
            </a:r>
            <a:r>
              <a:rPr dirty="0" sz="1800" spc="-50">
                <a:latin typeface="Microsoft YaHei"/>
                <a:cs typeface="Microsoft YaHei"/>
              </a:rPr>
              <a:t>连</a:t>
            </a:r>
            <a:endParaRPr sz="1800">
              <a:latin typeface="Microsoft YaHei"/>
              <a:cs typeface="Microsoft YaHei"/>
            </a:endParaRPr>
          </a:p>
          <a:p>
            <a:pPr marL="12700">
              <a:lnSpc>
                <a:spcPct val="100000"/>
              </a:lnSpc>
              <a:tabLst>
                <a:tab pos="660400" algn="l"/>
                <a:tab pos="1308735" algn="l"/>
              </a:tabLst>
            </a:pPr>
            <a:r>
              <a:rPr dirty="0" sz="1800" spc="-50">
                <a:latin typeface="Microsoft YaHei"/>
                <a:cs typeface="Microsoft YaHei"/>
              </a:rPr>
              <a:t>速</a:t>
            </a:r>
            <a:r>
              <a:rPr dirty="0" sz="1800">
                <a:latin typeface="Microsoft YaHei"/>
                <a:cs typeface="Microsoft YaHei"/>
              </a:rPr>
              <a:t>	</a:t>
            </a:r>
            <a:r>
              <a:rPr dirty="0" sz="1800" spc="-50">
                <a:latin typeface="Microsoft YaHei"/>
                <a:cs typeface="Microsoft YaHei"/>
              </a:rPr>
              <a:t>时</a:t>
            </a:r>
            <a:r>
              <a:rPr dirty="0" sz="1800">
                <a:latin typeface="Microsoft YaHei"/>
                <a:cs typeface="Microsoft YaHei"/>
              </a:rPr>
              <a:t>	</a:t>
            </a:r>
            <a:r>
              <a:rPr dirty="0" sz="1800" spc="-50">
                <a:latin typeface="Microsoft YaHei"/>
                <a:cs typeface="Microsoft YaHei"/>
              </a:rPr>
              <a:t>接</a:t>
            </a:r>
            <a:endParaRPr sz="1800">
              <a:latin typeface="Microsoft YaHei"/>
              <a:cs typeface="Microsoft YaHei"/>
            </a:endParaRPr>
          </a:p>
        </p:txBody>
      </p:sp>
      <p:sp>
        <p:nvSpPr>
          <p:cNvPr id="56" name="object 56" descr=""/>
          <p:cNvSpPr txBox="1"/>
          <p:nvPr/>
        </p:nvSpPr>
        <p:spPr>
          <a:xfrm>
            <a:off x="6785261" y="2147846"/>
            <a:ext cx="1550670" cy="299720"/>
          </a:xfrm>
          <a:prstGeom prst="rect">
            <a:avLst/>
          </a:prstGeom>
        </p:spPr>
        <p:txBody>
          <a:bodyPr wrap="square" lIns="0" tIns="12700" rIns="0" bIns="0" rtlCol="0" vert="horz">
            <a:spAutoFit/>
          </a:bodyPr>
          <a:lstStyle/>
          <a:p>
            <a:pPr marL="12700">
              <a:lnSpc>
                <a:spcPct val="100000"/>
              </a:lnSpc>
              <a:spcBef>
                <a:spcPts val="100"/>
              </a:spcBef>
              <a:tabLst>
                <a:tab pos="660400" algn="l"/>
                <a:tab pos="1308735" algn="l"/>
              </a:tabLst>
            </a:pPr>
            <a:r>
              <a:rPr dirty="0" sz="1800" spc="-50">
                <a:latin typeface="Microsoft YaHei"/>
                <a:cs typeface="Microsoft YaHei"/>
              </a:rPr>
              <a:t>率</a:t>
            </a:r>
            <a:r>
              <a:rPr dirty="0" sz="1800">
                <a:latin typeface="Microsoft YaHei"/>
                <a:cs typeface="Microsoft YaHei"/>
              </a:rPr>
              <a:t>	</a:t>
            </a:r>
            <a:r>
              <a:rPr dirty="0" sz="1800" spc="-50">
                <a:latin typeface="Microsoft YaHei"/>
                <a:cs typeface="Microsoft YaHei"/>
              </a:rPr>
              <a:t>延</a:t>
            </a:r>
            <a:r>
              <a:rPr dirty="0" sz="1800">
                <a:latin typeface="Microsoft YaHei"/>
                <a:cs typeface="Microsoft YaHei"/>
              </a:rPr>
              <a:t>	</a:t>
            </a:r>
            <a:r>
              <a:rPr dirty="0" sz="1800" spc="-50">
                <a:latin typeface="Microsoft YaHei"/>
                <a:cs typeface="Microsoft YaHei"/>
              </a:rPr>
              <a:t>数</a:t>
            </a:r>
            <a:endParaRPr sz="1800">
              <a:latin typeface="Microsoft YaHei"/>
              <a:cs typeface="Microsoft YaHei"/>
            </a:endParaRPr>
          </a:p>
        </p:txBody>
      </p:sp>
      <p:grpSp>
        <p:nvGrpSpPr>
          <p:cNvPr id="57" name="object 57" descr=""/>
          <p:cNvGrpSpPr/>
          <p:nvPr/>
        </p:nvGrpSpPr>
        <p:grpSpPr>
          <a:xfrm>
            <a:off x="5385296" y="1387624"/>
            <a:ext cx="3213100" cy="2214880"/>
            <a:chOff x="5385296" y="1387624"/>
            <a:chExt cx="3213100" cy="2214880"/>
          </a:xfrm>
        </p:grpSpPr>
        <p:sp>
          <p:nvSpPr>
            <p:cNvPr id="58" name="object 58" descr=""/>
            <p:cNvSpPr/>
            <p:nvPr/>
          </p:nvSpPr>
          <p:spPr>
            <a:xfrm>
              <a:off x="5652119" y="1438428"/>
              <a:ext cx="2940050" cy="0"/>
            </a:xfrm>
            <a:custGeom>
              <a:avLst/>
              <a:gdLst/>
              <a:ahLst/>
              <a:cxnLst/>
              <a:rect l="l" t="t" r="r" b="b"/>
              <a:pathLst>
                <a:path w="2940050" h="0">
                  <a:moveTo>
                    <a:pt x="0" y="0"/>
                  </a:moveTo>
                  <a:lnTo>
                    <a:pt x="2939757" y="0"/>
                  </a:lnTo>
                </a:path>
              </a:pathLst>
            </a:custGeom>
            <a:ln w="12700">
              <a:solidFill>
                <a:srgbClr val="B6DCDF"/>
              </a:solidFill>
            </a:ln>
          </p:spPr>
          <p:txBody>
            <a:bodyPr wrap="square" lIns="0" tIns="0" rIns="0" bIns="0" rtlCol="0"/>
            <a:lstStyle/>
            <a:p/>
          </p:txBody>
        </p:sp>
        <p:sp>
          <p:nvSpPr>
            <p:cNvPr id="59" name="object 59" descr=""/>
            <p:cNvSpPr/>
            <p:nvPr/>
          </p:nvSpPr>
          <p:spPr>
            <a:xfrm>
              <a:off x="8515677" y="1393974"/>
              <a:ext cx="76200" cy="88900"/>
            </a:xfrm>
            <a:custGeom>
              <a:avLst/>
              <a:gdLst/>
              <a:ahLst/>
              <a:cxnLst/>
              <a:rect l="l" t="t" r="r" b="b"/>
              <a:pathLst>
                <a:path w="76200" h="88900">
                  <a:moveTo>
                    <a:pt x="0" y="0"/>
                  </a:moveTo>
                  <a:lnTo>
                    <a:pt x="76200" y="44450"/>
                  </a:lnTo>
                  <a:lnTo>
                    <a:pt x="0" y="88900"/>
                  </a:lnTo>
                </a:path>
              </a:pathLst>
            </a:custGeom>
            <a:ln w="12700">
              <a:solidFill>
                <a:srgbClr val="B6DCDF"/>
              </a:solidFill>
            </a:ln>
          </p:spPr>
          <p:txBody>
            <a:bodyPr wrap="square" lIns="0" tIns="0" rIns="0" bIns="0" rtlCol="0"/>
            <a:lstStyle/>
            <a:p/>
          </p:txBody>
        </p:sp>
        <p:sp>
          <p:nvSpPr>
            <p:cNvPr id="60" name="object 60" descr=""/>
            <p:cNvSpPr/>
            <p:nvPr/>
          </p:nvSpPr>
          <p:spPr>
            <a:xfrm>
              <a:off x="5436096" y="1619270"/>
              <a:ext cx="0" cy="1976755"/>
            </a:xfrm>
            <a:custGeom>
              <a:avLst/>
              <a:gdLst/>
              <a:ahLst/>
              <a:cxnLst/>
              <a:rect l="l" t="t" r="r" b="b"/>
              <a:pathLst>
                <a:path w="0" h="1976754">
                  <a:moveTo>
                    <a:pt x="0" y="0"/>
                  </a:moveTo>
                  <a:lnTo>
                    <a:pt x="0" y="1976691"/>
                  </a:lnTo>
                </a:path>
              </a:pathLst>
            </a:custGeom>
            <a:ln w="12700">
              <a:solidFill>
                <a:srgbClr val="B6DCDF"/>
              </a:solidFill>
            </a:ln>
          </p:spPr>
          <p:txBody>
            <a:bodyPr wrap="square" lIns="0" tIns="0" rIns="0" bIns="0" rtlCol="0"/>
            <a:lstStyle/>
            <a:p/>
          </p:txBody>
        </p:sp>
        <p:sp>
          <p:nvSpPr>
            <p:cNvPr id="61" name="object 61" descr=""/>
            <p:cNvSpPr/>
            <p:nvPr/>
          </p:nvSpPr>
          <p:spPr>
            <a:xfrm>
              <a:off x="5391646" y="3519758"/>
              <a:ext cx="88900" cy="76200"/>
            </a:xfrm>
            <a:custGeom>
              <a:avLst/>
              <a:gdLst/>
              <a:ahLst/>
              <a:cxnLst/>
              <a:rect l="l" t="t" r="r" b="b"/>
              <a:pathLst>
                <a:path w="88900" h="76200">
                  <a:moveTo>
                    <a:pt x="88900" y="0"/>
                  </a:moveTo>
                  <a:lnTo>
                    <a:pt x="44450" y="76200"/>
                  </a:lnTo>
                  <a:lnTo>
                    <a:pt x="0" y="0"/>
                  </a:lnTo>
                </a:path>
              </a:pathLst>
            </a:custGeom>
            <a:ln w="12700">
              <a:solidFill>
                <a:srgbClr val="B6DCDF"/>
              </a:solidFill>
            </a:ln>
          </p:spPr>
          <p:txBody>
            <a:bodyPr wrap="square" lIns="0" tIns="0" rIns="0" bIns="0" rtlCol="0"/>
            <a:lstStyle/>
            <a:p/>
          </p:txBody>
        </p:sp>
      </p:grpSp>
      <p:sp>
        <p:nvSpPr>
          <p:cNvPr id="62" name="object 62" descr=""/>
          <p:cNvSpPr txBox="1"/>
          <p:nvPr/>
        </p:nvSpPr>
        <p:spPr>
          <a:xfrm>
            <a:off x="5730859" y="1192307"/>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latin typeface="Microsoft YaHei"/>
                <a:cs typeface="Microsoft YaHei"/>
              </a:rPr>
              <a:t>挑战</a:t>
            </a:r>
            <a:endParaRPr sz="1800">
              <a:latin typeface="Microsoft YaHei"/>
              <a:cs typeface="Microsoft YaHei"/>
            </a:endParaRPr>
          </a:p>
        </p:txBody>
      </p:sp>
      <p:sp>
        <p:nvSpPr>
          <p:cNvPr id="63" name="object 63" descr=""/>
          <p:cNvSpPr txBox="1"/>
          <p:nvPr/>
        </p:nvSpPr>
        <p:spPr>
          <a:xfrm>
            <a:off x="5158687" y="1561870"/>
            <a:ext cx="254000" cy="1625600"/>
          </a:xfrm>
          <a:prstGeom prst="rect">
            <a:avLst/>
          </a:prstGeom>
        </p:spPr>
        <p:txBody>
          <a:bodyPr wrap="square" lIns="0" tIns="0" rIns="0" bIns="0" rtlCol="0" vert="eaVert">
            <a:spAutoFit/>
          </a:bodyPr>
          <a:lstStyle/>
          <a:p>
            <a:pPr marL="12700">
              <a:lnSpc>
                <a:spcPct val="65000"/>
              </a:lnSpc>
            </a:pPr>
            <a:r>
              <a:rPr dirty="0" sz="1800">
                <a:latin typeface="Microsoft YaHei"/>
                <a:cs typeface="Microsoft YaHei"/>
              </a:rPr>
              <a:t>从业务分类出发</a:t>
            </a:r>
            <a:endParaRPr sz="1800">
              <a:latin typeface="Microsoft YaHei"/>
              <a:cs typeface="Microsoft YaHei"/>
            </a:endParaRPr>
          </a:p>
        </p:txBody>
      </p:sp>
      <p:sp>
        <p:nvSpPr>
          <p:cNvPr id="64" name="object 64" descr=""/>
          <p:cNvSpPr/>
          <p:nvPr/>
        </p:nvSpPr>
        <p:spPr>
          <a:xfrm>
            <a:off x="4932045" y="1167676"/>
            <a:ext cx="3816985" cy="2531745"/>
          </a:xfrm>
          <a:custGeom>
            <a:avLst/>
            <a:gdLst/>
            <a:ahLst/>
            <a:cxnLst/>
            <a:rect l="l" t="t" r="r" b="b"/>
            <a:pathLst>
              <a:path w="3816984" h="2531745">
                <a:moveTo>
                  <a:pt x="0" y="0"/>
                </a:moveTo>
                <a:lnTo>
                  <a:pt x="3816426" y="0"/>
                </a:lnTo>
                <a:lnTo>
                  <a:pt x="3816426" y="2531287"/>
                </a:lnTo>
                <a:lnTo>
                  <a:pt x="0" y="2531287"/>
                </a:lnTo>
                <a:lnTo>
                  <a:pt x="0" y="0"/>
                </a:lnTo>
                <a:close/>
              </a:path>
            </a:pathLst>
          </a:custGeom>
          <a:ln w="12699">
            <a:solidFill>
              <a:srgbClr val="000000"/>
            </a:solidFill>
            <a:prstDash val="sysDash"/>
          </a:ln>
        </p:spPr>
        <p:txBody>
          <a:bodyPr wrap="square" lIns="0" tIns="0" rIns="0" bIns="0" rtlCol="0"/>
          <a:lstStyle/>
          <a:p/>
        </p:txBody>
      </p:sp>
      <p:pic>
        <p:nvPicPr>
          <p:cNvPr id="65" name="object 65"/>
          <p:cNvPicPr/>
          <p:nvPr/>
        </p:nvPicPr>
        <p:blipFill>
          <a:blip r:embed="rId10" cstate="print"/>
          <a:stretch>
            <a:fillRect/>
          </a:stretch>
        </p:blipFill>
        <p:spPr>
          <a:xfrm>
            <a:off x="4255008" y="4221479"/>
            <a:ext cx="725411" cy="493775"/>
          </a:xfrm>
          <a:prstGeom prst="rect">
            <a:avLst/>
          </a:prstGeom>
        </p:spPr>
      </p:pic>
      <p:grpSp>
        <p:nvGrpSpPr>
          <p:cNvPr id="66" name="object 66" descr=""/>
          <p:cNvGrpSpPr/>
          <p:nvPr/>
        </p:nvGrpSpPr>
        <p:grpSpPr>
          <a:xfrm>
            <a:off x="975360" y="3769614"/>
            <a:ext cx="2392045" cy="1222375"/>
            <a:chOff x="975360" y="3769614"/>
            <a:chExt cx="2392045" cy="1222375"/>
          </a:xfrm>
        </p:grpSpPr>
        <p:pic>
          <p:nvPicPr>
            <p:cNvPr id="67" name="object 67"/>
            <p:cNvPicPr/>
            <p:nvPr/>
          </p:nvPicPr>
          <p:blipFill>
            <a:blip r:embed="rId11" cstate="print"/>
            <a:stretch>
              <a:fillRect/>
            </a:stretch>
          </p:blipFill>
          <p:spPr>
            <a:xfrm>
              <a:off x="1371600" y="3769614"/>
              <a:ext cx="1995677" cy="380237"/>
            </a:xfrm>
            <a:prstGeom prst="rect">
              <a:avLst/>
            </a:prstGeom>
          </p:spPr>
        </p:pic>
        <p:pic>
          <p:nvPicPr>
            <p:cNvPr id="68" name="object 68" descr=""/>
            <p:cNvPicPr/>
            <p:nvPr/>
          </p:nvPicPr>
          <p:blipFill>
            <a:blip r:embed="rId5" cstate="print"/>
            <a:stretch>
              <a:fillRect/>
            </a:stretch>
          </p:blipFill>
          <p:spPr>
            <a:xfrm>
              <a:off x="1450975" y="3795687"/>
              <a:ext cx="1836712" cy="288226"/>
            </a:xfrm>
            <a:prstGeom prst="rect">
              <a:avLst/>
            </a:prstGeom>
          </p:spPr>
        </p:pic>
        <p:sp>
          <p:nvSpPr>
            <p:cNvPr id="69" name="object 69" descr=""/>
            <p:cNvSpPr/>
            <p:nvPr/>
          </p:nvSpPr>
          <p:spPr>
            <a:xfrm>
              <a:off x="1450973" y="3795682"/>
              <a:ext cx="1837055" cy="288290"/>
            </a:xfrm>
            <a:custGeom>
              <a:avLst/>
              <a:gdLst/>
              <a:ahLst/>
              <a:cxnLst/>
              <a:rect l="l" t="t" r="r" b="b"/>
              <a:pathLst>
                <a:path w="1837054" h="288289">
                  <a:moveTo>
                    <a:pt x="0" y="144119"/>
                  </a:moveTo>
                  <a:lnTo>
                    <a:pt x="459181" y="144119"/>
                  </a:lnTo>
                  <a:lnTo>
                    <a:pt x="459181" y="0"/>
                  </a:lnTo>
                  <a:lnTo>
                    <a:pt x="1377530" y="0"/>
                  </a:lnTo>
                  <a:lnTo>
                    <a:pt x="1377530" y="144119"/>
                  </a:lnTo>
                  <a:lnTo>
                    <a:pt x="1836712" y="144119"/>
                  </a:lnTo>
                  <a:lnTo>
                    <a:pt x="918349" y="288239"/>
                  </a:lnTo>
                  <a:lnTo>
                    <a:pt x="0" y="144119"/>
                  </a:lnTo>
                  <a:close/>
                </a:path>
              </a:pathLst>
            </a:custGeom>
            <a:ln w="9525">
              <a:solidFill>
                <a:srgbClr val="D5E8EA"/>
              </a:solidFill>
            </a:ln>
          </p:spPr>
          <p:txBody>
            <a:bodyPr wrap="square" lIns="0" tIns="0" rIns="0" bIns="0" rtlCol="0"/>
            <a:lstStyle/>
            <a:p/>
          </p:txBody>
        </p:sp>
        <p:pic>
          <p:nvPicPr>
            <p:cNvPr id="70" name="object 70" descr=""/>
            <p:cNvPicPr/>
            <p:nvPr/>
          </p:nvPicPr>
          <p:blipFill>
            <a:blip r:embed="rId12" cstate="print"/>
            <a:stretch>
              <a:fillRect/>
            </a:stretch>
          </p:blipFill>
          <p:spPr>
            <a:xfrm>
              <a:off x="975360" y="4466082"/>
              <a:ext cx="2259329" cy="525779"/>
            </a:xfrm>
            <a:prstGeom prst="rect">
              <a:avLst/>
            </a:prstGeom>
          </p:spPr>
        </p:pic>
        <p:sp>
          <p:nvSpPr>
            <p:cNvPr id="71" name="object 71" descr=""/>
            <p:cNvSpPr/>
            <p:nvPr/>
          </p:nvSpPr>
          <p:spPr>
            <a:xfrm>
              <a:off x="1021393" y="4510170"/>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00B0F0"/>
            </a:solidFill>
          </p:spPr>
          <p:txBody>
            <a:bodyPr wrap="square" lIns="0" tIns="0" rIns="0" bIns="0" rtlCol="0"/>
            <a:lstStyle/>
            <a:p/>
          </p:txBody>
        </p:sp>
        <p:sp>
          <p:nvSpPr>
            <p:cNvPr id="72" name="object 72" descr=""/>
            <p:cNvSpPr/>
            <p:nvPr/>
          </p:nvSpPr>
          <p:spPr>
            <a:xfrm>
              <a:off x="1021393" y="4510170"/>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grpSp>
      <p:sp>
        <p:nvSpPr>
          <p:cNvPr id="73" name="object 73" descr=""/>
          <p:cNvSpPr txBox="1"/>
          <p:nvPr/>
        </p:nvSpPr>
        <p:spPr>
          <a:xfrm>
            <a:off x="1767936" y="4543843"/>
            <a:ext cx="674370" cy="330200"/>
          </a:xfrm>
          <a:prstGeom prst="rect">
            <a:avLst/>
          </a:prstGeom>
        </p:spPr>
        <p:txBody>
          <a:bodyPr wrap="square" lIns="0" tIns="12065" rIns="0" bIns="0" rtlCol="0" vert="horz">
            <a:spAutoFit/>
          </a:bodyPr>
          <a:lstStyle/>
          <a:p>
            <a:pPr marL="12700">
              <a:lnSpc>
                <a:spcPct val="100000"/>
              </a:lnSpc>
              <a:spcBef>
                <a:spcPts val="95"/>
              </a:spcBef>
            </a:pPr>
            <a:r>
              <a:rPr dirty="0" sz="2000" spc="-20">
                <a:latin typeface="Microsoft YaHei"/>
                <a:cs typeface="Microsoft YaHei"/>
              </a:rPr>
              <a:t>场景</a:t>
            </a:r>
            <a:r>
              <a:rPr dirty="0" sz="2000" spc="-50">
                <a:latin typeface="Arial MT"/>
                <a:cs typeface="Arial MT"/>
              </a:rPr>
              <a:t>1</a:t>
            </a:r>
            <a:endParaRPr sz="2000">
              <a:latin typeface="Arial MT"/>
              <a:cs typeface="Arial MT"/>
            </a:endParaRPr>
          </a:p>
        </p:txBody>
      </p:sp>
      <p:sp>
        <p:nvSpPr>
          <p:cNvPr id="74" name="object 74" descr=""/>
          <p:cNvSpPr txBox="1"/>
          <p:nvPr/>
        </p:nvSpPr>
        <p:spPr>
          <a:xfrm>
            <a:off x="6484383" y="4219808"/>
            <a:ext cx="888365" cy="330200"/>
          </a:xfrm>
          <a:prstGeom prst="rect">
            <a:avLst/>
          </a:prstGeom>
        </p:spPr>
        <p:txBody>
          <a:bodyPr wrap="square" lIns="0" tIns="12065" rIns="0" bIns="0" rtlCol="0" vert="horz">
            <a:spAutoFit/>
          </a:bodyPr>
          <a:lstStyle/>
          <a:p>
            <a:pPr marL="38100">
              <a:lnSpc>
                <a:spcPct val="100000"/>
              </a:lnSpc>
              <a:spcBef>
                <a:spcPts val="95"/>
              </a:spcBef>
            </a:pPr>
            <a:r>
              <a:rPr dirty="0" baseline="-30555" sz="3000" spc="-1597">
                <a:latin typeface="Microsoft YaHei"/>
                <a:cs typeface="Microsoft YaHei"/>
              </a:rPr>
              <a:t>业</a:t>
            </a:r>
            <a:r>
              <a:rPr dirty="0" sz="2000" spc="-980">
                <a:latin typeface="Microsoft YaHei"/>
                <a:cs typeface="Microsoft YaHei"/>
              </a:rPr>
              <a:t>业</a:t>
            </a:r>
            <a:r>
              <a:rPr dirty="0" baseline="-30555" sz="3000" spc="-1597">
                <a:latin typeface="Microsoft YaHei"/>
                <a:cs typeface="Microsoft YaHei"/>
              </a:rPr>
              <a:t>务</a:t>
            </a:r>
            <a:r>
              <a:rPr dirty="0" sz="2000" spc="-980">
                <a:latin typeface="Microsoft YaHei"/>
                <a:cs typeface="Microsoft YaHei"/>
              </a:rPr>
              <a:t>务</a:t>
            </a:r>
            <a:r>
              <a:rPr dirty="0" baseline="-30555" sz="3000" spc="-37">
                <a:latin typeface="Arial MT"/>
                <a:cs typeface="Arial MT"/>
              </a:rPr>
              <a:t>2</a:t>
            </a:r>
            <a:r>
              <a:rPr dirty="0" sz="2000" spc="-25">
                <a:latin typeface="Arial MT"/>
                <a:cs typeface="Arial MT"/>
              </a:rPr>
              <a:t>N</a:t>
            </a:r>
            <a:endParaRPr sz="2000">
              <a:latin typeface="Arial MT"/>
              <a:cs typeface="Arial MT"/>
            </a:endParaRPr>
          </a:p>
        </p:txBody>
      </p:sp>
      <p:grpSp>
        <p:nvGrpSpPr>
          <p:cNvPr id="75" name="object 75" descr=""/>
          <p:cNvGrpSpPr/>
          <p:nvPr/>
        </p:nvGrpSpPr>
        <p:grpSpPr>
          <a:xfrm>
            <a:off x="5556503" y="4466082"/>
            <a:ext cx="2259330" cy="525780"/>
            <a:chOff x="5556503" y="4466082"/>
            <a:chExt cx="2259330" cy="525780"/>
          </a:xfrm>
        </p:grpSpPr>
        <p:pic>
          <p:nvPicPr>
            <p:cNvPr id="76" name="object 76" descr=""/>
            <p:cNvPicPr/>
            <p:nvPr/>
          </p:nvPicPr>
          <p:blipFill>
            <a:blip r:embed="rId13" cstate="print"/>
            <a:stretch>
              <a:fillRect/>
            </a:stretch>
          </p:blipFill>
          <p:spPr>
            <a:xfrm>
              <a:off x="5556503" y="4466082"/>
              <a:ext cx="2259329" cy="525779"/>
            </a:xfrm>
            <a:prstGeom prst="rect">
              <a:avLst/>
            </a:prstGeom>
          </p:spPr>
        </p:pic>
        <p:sp>
          <p:nvSpPr>
            <p:cNvPr id="77" name="object 77" descr=""/>
            <p:cNvSpPr/>
            <p:nvPr/>
          </p:nvSpPr>
          <p:spPr>
            <a:xfrm>
              <a:off x="5602390" y="4510170"/>
              <a:ext cx="2167890" cy="415925"/>
            </a:xfrm>
            <a:custGeom>
              <a:avLst/>
              <a:gdLst/>
              <a:ahLst/>
              <a:cxnLst/>
              <a:rect l="l" t="t" r="r" b="b"/>
              <a:pathLst>
                <a:path w="2167890" h="415925">
                  <a:moveTo>
                    <a:pt x="2098332" y="0"/>
                  </a:moveTo>
                  <a:lnTo>
                    <a:pt x="69303" y="0"/>
                  </a:lnTo>
                  <a:lnTo>
                    <a:pt x="42326" y="5445"/>
                  </a:lnTo>
                  <a:lnTo>
                    <a:pt x="20297" y="20297"/>
                  </a:lnTo>
                  <a:lnTo>
                    <a:pt x="5445" y="42326"/>
                  </a:lnTo>
                  <a:lnTo>
                    <a:pt x="0" y="69303"/>
                  </a:lnTo>
                  <a:lnTo>
                    <a:pt x="0" y="346532"/>
                  </a:lnTo>
                  <a:lnTo>
                    <a:pt x="5445" y="373509"/>
                  </a:lnTo>
                  <a:lnTo>
                    <a:pt x="20297" y="395538"/>
                  </a:lnTo>
                  <a:lnTo>
                    <a:pt x="42326" y="410390"/>
                  </a:lnTo>
                  <a:lnTo>
                    <a:pt x="69303" y="415836"/>
                  </a:lnTo>
                  <a:lnTo>
                    <a:pt x="2098332" y="415836"/>
                  </a:lnTo>
                  <a:lnTo>
                    <a:pt x="2125311" y="410390"/>
                  </a:lnTo>
                  <a:lnTo>
                    <a:pt x="2147344" y="395538"/>
                  </a:lnTo>
                  <a:lnTo>
                    <a:pt x="2162200" y="373509"/>
                  </a:lnTo>
                  <a:lnTo>
                    <a:pt x="2167648" y="346532"/>
                  </a:lnTo>
                  <a:lnTo>
                    <a:pt x="2167648" y="69303"/>
                  </a:lnTo>
                  <a:lnTo>
                    <a:pt x="2162200" y="42326"/>
                  </a:lnTo>
                  <a:lnTo>
                    <a:pt x="2147344" y="20297"/>
                  </a:lnTo>
                  <a:lnTo>
                    <a:pt x="2125311" y="5445"/>
                  </a:lnTo>
                  <a:lnTo>
                    <a:pt x="2098332" y="0"/>
                  </a:lnTo>
                  <a:close/>
                </a:path>
              </a:pathLst>
            </a:custGeom>
            <a:solidFill>
              <a:srgbClr val="92D050"/>
            </a:solidFill>
          </p:spPr>
          <p:txBody>
            <a:bodyPr wrap="square" lIns="0" tIns="0" rIns="0" bIns="0" rtlCol="0"/>
            <a:lstStyle/>
            <a:p/>
          </p:txBody>
        </p:sp>
        <p:sp>
          <p:nvSpPr>
            <p:cNvPr id="78" name="object 78" descr=""/>
            <p:cNvSpPr/>
            <p:nvPr/>
          </p:nvSpPr>
          <p:spPr>
            <a:xfrm>
              <a:off x="5602390" y="4510170"/>
              <a:ext cx="2167890" cy="415925"/>
            </a:xfrm>
            <a:custGeom>
              <a:avLst/>
              <a:gdLst/>
              <a:ahLst/>
              <a:cxnLst/>
              <a:rect l="l" t="t" r="r" b="b"/>
              <a:pathLst>
                <a:path w="2167890" h="415925">
                  <a:moveTo>
                    <a:pt x="0" y="69303"/>
                  </a:moveTo>
                  <a:lnTo>
                    <a:pt x="5445" y="42326"/>
                  </a:lnTo>
                  <a:lnTo>
                    <a:pt x="20297" y="20297"/>
                  </a:lnTo>
                  <a:lnTo>
                    <a:pt x="42326" y="5445"/>
                  </a:lnTo>
                  <a:lnTo>
                    <a:pt x="69303" y="0"/>
                  </a:lnTo>
                  <a:lnTo>
                    <a:pt x="2098332" y="0"/>
                  </a:lnTo>
                  <a:lnTo>
                    <a:pt x="2125311" y="5445"/>
                  </a:lnTo>
                  <a:lnTo>
                    <a:pt x="2147344" y="20297"/>
                  </a:lnTo>
                  <a:lnTo>
                    <a:pt x="2162200" y="42326"/>
                  </a:lnTo>
                  <a:lnTo>
                    <a:pt x="2167648" y="69303"/>
                  </a:lnTo>
                  <a:lnTo>
                    <a:pt x="2167648" y="346532"/>
                  </a:lnTo>
                  <a:lnTo>
                    <a:pt x="2162200" y="373509"/>
                  </a:lnTo>
                  <a:lnTo>
                    <a:pt x="2147344" y="395538"/>
                  </a:lnTo>
                  <a:lnTo>
                    <a:pt x="2125311" y="410390"/>
                  </a:lnTo>
                  <a:lnTo>
                    <a:pt x="2098332" y="415836"/>
                  </a:lnTo>
                  <a:lnTo>
                    <a:pt x="69303" y="415836"/>
                  </a:lnTo>
                  <a:lnTo>
                    <a:pt x="42326" y="410390"/>
                  </a:lnTo>
                  <a:lnTo>
                    <a:pt x="20297" y="395538"/>
                  </a:lnTo>
                  <a:lnTo>
                    <a:pt x="5445" y="373509"/>
                  </a:lnTo>
                  <a:lnTo>
                    <a:pt x="0" y="346532"/>
                  </a:lnTo>
                  <a:lnTo>
                    <a:pt x="0" y="69303"/>
                  </a:lnTo>
                  <a:close/>
                </a:path>
              </a:pathLst>
            </a:custGeom>
            <a:ln w="9525">
              <a:solidFill>
                <a:srgbClr val="D5E8EA"/>
              </a:solidFill>
            </a:ln>
          </p:spPr>
          <p:txBody>
            <a:bodyPr wrap="square" lIns="0" tIns="0" rIns="0" bIns="0" rtlCol="0"/>
            <a:lstStyle/>
            <a:p/>
          </p:txBody>
        </p:sp>
      </p:grpSp>
      <p:sp>
        <p:nvSpPr>
          <p:cNvPr id="79" name="object 79" descr=""/>
          <p:cNvSpPr txBox="1"/>
          <p:nvPr/>
        </p:nvSpPr>
        <p:spPr>
          <a:xfrm>
            <a:off x="6348933" y="4543843"/>
            <a:ext cx="674370" cy="330200"/>
          </a:xfrm>
          <a:prstGeom prst="rect">
            <a:avLst/>
          </a:prstGeom>
        </p:spPr>
        <p:txBody>
          <a:bodyPr wrap="square" lIns="0" tIns="12065" rIns="0" bIns="0" rtlCol="0" vert="horz">
            <a:spAutoFit/>
          </a:bodyPr>
          <a:lstStyle/>
          <a:p>
            <a:pPr marL="12700">
              <a:lnSpc>
                <a:spcPct val="100000"/>
              </a:lnSpc>
              <a:spcBef>
                <a:spcPts val="95"/>
              </a:spcBef>
            </a:pPr>
            <a:r>
              <a:rPr dirty="0" sz="2000" spc="-20">
                <a:latin typeface="Microsoft YaHei"/>
                <a:cs typeface="Microsoft YaHei"/>
              </a:rPr>
              <a:t>业务</a:t>
            </a:r>
            <a:r>
              <a:rPr dirty="0" sz="2000" spc="-50">
                <a:latin typeface="Arial MT"/>
                <a:cs typeface="Arial MT"/>
              </a:rPr>
              <a:t>1</a:t>
            </a:r>
            <a:endParaRPr sz="200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4946" y="149237"/>
            <a:ext cx="46107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每种场景下的典型业务</a:t>
            </a:r>
          </a:p>
        </p:txBody>
      </p:sp>
      <p:grpSp>
        <p:nvGrpSpPr>
          <p:cNvPr id="3" name="object 3" descr=""/>
          <p:cNvGrpSpPr/>
          <p:nvPr/>
        </p:nvGrpSpPr>
        <p:grpSpPr>
          <a:xfrm>
            <a:off x="248343" y="840383"/>
            <a:ext cx="1740535" cy="1501140"/>
            <a:chOff x="248343" y="840383"/>
            <a:chExt cx="1740535" cy="1501140"/>
          </a:xfrm>
        </p:grpSpPr>
        <p:sp>
          <p:nvSpPr>
            <p:cNvPr id="4" name="object 4" descr=""/>
            <p:cNvSpPr/>
            <p:nvPr/>
          </p:nvSpPr>
          <p:spPr>
            <a:xfrm>
              <a:off x="251523" y="843559"/>
              <a:ext cx="918210" cy="515620"/>
            </a:xfrm>
            <a:custGeom>
              <a:avLst/>
              <a:gdLst/>
              <a:ahLst/>
              <a:cxnLst/>
              <a:rect l="l" t="t" r="r" b="b"/>
              <a:pathLst>
                <a:path w="918210" h="515619">
                  <a:moveTo>
                    <a:pt x="917727" y="0"/>
                  </a:moveTo>
                  <a:lnTo>
                    <a:pt x="0" y="0"/>
                  </a:lnTo>
                  <a:lnTo>
                    <a:pt x="0" y="514997"/>
                  </a:lnTo>
                  <a:lnTo>
                    <a:pt x="917727" y="514997"/>
                  </a:lnTo>
                  <a:lnTo>
                    <a:pt x="917727" y="0"/>
                  </a:lnTo>
                  <a:close/>
                </a:path>
              </a:pathLst>
            </a:custGeom>
            <a:solidFill>
              <a:srgbClr val="F2F2F2"/>
            </a:solidFill>
          </p:spPr>
          <p:txBody>
            <a:bodyPr wrap="square" lIns="0" tIns="0" rIns="0" bIns="0" rtlCol="0"/>
            <a:lstStyle/>
            <a:p/>
          </p:txBody>
        </p:sp>
        <p:sp>
          <p:nvSpPr>
            <p:cNvPr id="5" name="object 5" descr=""/>
            <p:cNvSpPr/>
            <p:nvPr/>
          </p:nvSpPr>
          <p:spPr>
            <a:xfrm>
              <a:off x="1169238" y="1358557"/>
              <a:ext cx="816610" cy="979805"/>
            </a:xfrm>
            <a:custGeom>
              <a:avLst/>
              <a:gdLst/>
              <a:ahLst/>
              <a:cxnLst/>
              <a:rect l="l" t="t" r="r" b="b"/>
              <a:pathLst>
                <a:path w="816610" h="979805">
                  <a:moveTo>
                    <a:pt x="816178" y="0"/>
                  </a:moveTo>
                  <a:lnTo>
                    <a:pt x="0" y="0"/>
                  </a:lnTo>
                  <a:lnTo>
                    <a:pt x="0" y="979754"/>
                  </a:lnTo>
                  <a:lnTo>
                    <a:pt x="816178" y="979754"/>
                  </a:lnTo>
                  <a:lnTo>
                    <a:pt x="816178" y="0"/>
                  </a:lnTo>
                  <a:close/>
                </a:path>
              </a:pathLst>
            </a:custGeom>
            <a:solidFill>
              <a:srgbClr val="F8FBFC"/>
            </a:solidFill>
          </p:spPr>
          <p:txBody>
            <a:bodyPr wrap="square" lIns="0" tIns="0" rIns="0" bIns="0" rtlCol="0"/>
            <a:lstStyle/>
            <a:p/>
          </p:txBody>
        </p:sp>
        <p:sp>
          <p:nvSpPr>
            <p:cNvPr id="6" name="object 6" descr=""/>
            <p:cNvSpPr/>
            <p:nvPr/>
          </p:nvSpPr>
          <p:spPr>
            <a:xfrm>
              <a:off x="251518" y="843558"/>
              <a:ext cx="918210" cy="515620"/>
            </a:xfrm>
            <a:custGeom>
              <a:avLst/>
              <a:gdLst/>
              <a:ahLst/>
              <a:cxnLst/>
              <a:rect l="l" t="t" r="r" b="b"/>
              <a:pathLst>
                <a:path w="918210" h="515619">
                  <a:moveTo>
                    <a:pt x="0" y="0"/>
                  </a:moveTo>
                  <a:lnTo>
                    <a:pt x="917727" y="514997"/>
                  </a:lnTo>
                </a:path>
              </a:pathLst>
            </a:custGeom>
            <a:ln w="6349">
              <a:solidFill>
                <a:srgbClr val="000000"/>
              </a:solidFill>
            </a:ln>
          </p:spPr>
          <p:txBody>
            <a:bodyPr wrap="square" lIns="0" tIns="0" rIns="0" bIns="0" rtlCol="0"/>
            <a:lstStyle/>
            <a:p/>
          </p:txBody>
        </p:sp>
        <p:sp>
          <p:nvSpPr>
            <p:cNvPr id="7" name="object 7" descr=""/>
            <p:cNvSpPr/>
            <p:nvPr/>
          </p:nvSpPr>
          <p:spPr>
            <a:xfrm>
              <a:off x="1169243" y="1358557"/>
              <a:ext cx="816610" cy="979805"/>
            </a:xfrm>
            <a:custGeom>
              <a:avLst/>
              <a:gdLst/>
              <a:ahLst/>
              <a:cxnLst/>
              <a:rect l="l" t="t" r="r" b="b"/>
              <a:pathLst>
                <a:path w="816610" h="979805">
                  <a:moveTo>
                    <a:pt x="0" y="0"/>
                  </a:moveTo>
                  <a:lnTo>
                    <a:pt x="816178" y="979754"/>
                  </a:lnTo>
                </a:path>
              </a:pathLst>
            </a:custGeom>
            <a:ln w="6350">
              <a:solidFill>
                <a:srgbClr val="000000"/>
              </a:solidFill>
            </a:ln>
          </p:spPr>
          <p:txBody>
            <a:bodyPr wrap="square" lIns="0" tIns="0" rIns="0" bIns="0" rtlCol="0"/>
            <a:lstStyle/>
            <a:p/>
          </p:txBody>
        </p:sp>
      </p:grpSp>
      <p:graphicFrame>
        <p:nvGraphicFramePr>
          <p:cNvPr id="8" name="object 8" descr=""/>
          <p:cNvGraphicFramePr>
            <a:graphicFrameLocks noGrp="1"/>
          </p:cNvGraphicFramePr>
          <p:nvPr/>
        </p:nvGraphicFramePr>
        <p:xfrm>
          <a:off x="245168" y="837208"/>
          <a:ext cx="8686165" cy="4095750"/>
        </p:xfrm>
        <a:graphic>
          <a:graphicData uri="http://schemas.openxmlformats.org/drawingml/2006/table">
            <a:tbl>
              <a:tblPr firstRow="1" bandRow="1">
                <a:tableStyleId>{2D5ABB26-0587-4C30-8999-92F81FD0307C}</a:tableStyleId>
              </a:tblPr>
              <a:tblGrid>
                <a:gridCol w="917575"/>
                <a:gridCol w="815975"/>
                <a:gridCol w="827404"/>
                <a:gridCol w="894080"/>
                <a:gridCol w="1390650"/>
                <a:gridCol w="963929"/>
                <a:gridCol w="746759"/>
                <a:gridCol w="767715"/>
                <a:gridCol w="688340"/>
                <a:gridCol w="584834"/>
              </a:tblGrid>
              <a:tr h="514984">
                <a:tc>
                  <a:txBody>
                    <a:bodyPr/>
                    <a:lstStyle/>
                    <a:p>
                      <a:pPr marL="664845" marR="15875">
                        <a:lnSpc>
                          <a:spcPct val="100000"/>
                        </a:lnSpc>
                        <a:spcBef>
                          <a:spcPts val="220"/>
                        </a:spcBef>
                      </a:pPr>
                      <a:r>
                        <a:rPr dirty="0" sz="900" spc="-25" b="1">
                          <a:latin typeface="Microsoft YaHei"/>
                          <a:cs typeface="Microsoft YaHei"/>
                        </a:rPr>
                        <a:t>业务分类</a:t>
                      </a:r>
                      <a:endParaRPr sz="900">
                        <a:latin typeface="Microsoft YaHei"/>
                        <a:cs typeface="Microsoft YaHei"/>
                      </a:endParaRPr>
                    </a:p>
                    <a:p>
                      <a:pPr marL="23495">
                        <a:lnSpc>
                          <a:spcPct val="100000"/>
                        </a:lnSpc>
                        <a:spcBef>
                          <a:spcPts val="300"/>
                        </a:spcBef>
                      </a:pPr>
                      <a:r>
                        <a:rPr dirty="0" sz="900" spc="-15" b="1">
                          <a:latin typeface="Microsoft YaHei"/>
                          <a:cs typeface="Microsoft YaHei"/>
                        </a:rPr>
                        <a:t>场景分类</a:t>
                      </a:r>
                      <a:endParaRPr sz="900">
                        <a:latin typeface="Microsoft YaHei"/>
                        <a:cs typeface="Microsoft YaHei"/>
                      </a:endParaRPr>
                    </a:p>
                  </a:txBody>
                  <a:tcPr marL="0" marR="0" marB="0" marT="279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R="21590">
                        <a:lnSpc>
                          <a:spcPct val="100000"/>
                        </a:lnSpc>
                        <a:spcBef>
                          <a:spcPts val="415"/>
                        </a:spcBef>
                      </a:pPr>
                      <a:endParaRPr sz="900">
                        <a:latin typeface="Times New Roman"/>
                        <a:cs typeface="Times New Roman"/>
                      </a:endParaRPr>
                    </a:p>
                    <a:p>
                      <a:pPr marL="227965" marR="21590">
                        <a:lnSpc>
                          <a:spcPct val="100000"/>
                        </a:lnSpc>
                      </a:pPr>
                      <a:r>
                        <a:rPr dirty="0" sz="900" spc="-20" b="1">
                          <a:latin typeface="Microsoft YaHei"/>
                          <a:cs typeface="Microsoft YaHei"/>
                        </a:rPr>
                        <a:t>会话类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algn="ctr">
                        <a:lnSpc>
                          <a:spcPct val="100000"/>
                        </a:lnSpc>
                      </a:pPr>
                      <a:r>
                        <a:rPr dirty="0" sz="900" spc="-25" b="1">
                          <a:latin typeface="Microsoft YaHei"/>
                          <a:cs typeface="Microsoft YaHei"/>
                        </a:rPr>
                        <a:t>流类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algn="ctr">
                        <a:lnSpc>
                          <a:spcPct val="100000"/>
                        </a:lnSpc>
                      </a:pPr>
                      <a:r>
                        <a:rPr dirty="0" sz="900" spc="-20" b="1">
                          <a:latin typeface="Microsoft YaHei"/>
                          <a:cs typeface="Microsoft YaHei"/>
                        </a:rPr>
                        <a:t>交互类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marL="309880">
                        <a:lnSpc>
                          <a:spcPct val="100000"/>
                        </a:lnSpc>
                      </a:pPr>
                      <a:r>
                        <a:rPr dirty="0" sz="900" spc="-20" b="1">
                          <a:latin typeface="Microsoft YaHei"/>
                          <a:cs typeface="Microsoft YaHei"/>
                        </a:rPr>
                        <a:t>传输类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marL="201295">
                        <a:lnSpc>
                          <a:spcPct val="100000"/>
                        </a:lnSpc>
                      </a:pPr>
                      <a:r>
                        <a:rPr dirty="0" sz="900" spc="-20" b="1">
                          <a:latin typeface="Microsoft YaHei"/>
                          <a:cs typeface="Microsoft YaHei"/>
                        </a:rPr>
                        <a:t>消息类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marL="97790">
                        <a:lnSpc>
                          <a:spcPct val="100000"/>
                        </a:lnSpc>
                      </a:pPr>
                      <a:r>
                        <a:rPr dirty="0" sz="900" spc="-10" b="1">
                          <a:latin typeface="Microsoft YaHei"/>
                          <a:cs typeface="Microsoft YaHei"/>
                        </a:rPr>
                        <a:t>低速采集类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marL="57785">
                        <a:lnSpc>
                          <a:spcPct val="100000"/>
                        </a:lnSpc>
                      </a:pPr>
                      <a:r>
                        <a:rPr dirty="0" sz="900" spc="-10" b="1">
                          <a:latin typeface="Microsoft YaHei"/>
                          <a:cs typeface="Microsoft YaHei"/>
                        </a:rPr>
                        <a:t>高速采集类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15"/>
                        </a:spcBef>
                      </a:pPr>
                      <a:endParaRPr sz="900">
                        <a:latin typeface="Times New Roman"/>
                        <a:cs typeface="Times New Roman"/>
                      </a:endParaRPr>
                    </a:p>
                    <a:p>
                      <a:pPr marL="120650">
                        <a:lnSpc>
                          <a:spcPct val="100000"/>
                        </a:lnSpc>
                      </a:pPr>
                      <a:r>
                        <a:rPr dirty="0" sz="900" spc="-20" b="1">
                          <a:latin typeface="Microsoft YaHei"/>
                          <a:cs typeface="Microsoft YaHei"/>
                        </a:rPr>
                        <a:t>控制类</a:t>
                      </a:r>
                      <a:endParaRPr sz="9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r>
              <a:tr h="979169">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89535" marR="323850" indent="165735">
                        <a:lnSpc>
                          <a:spcPct val="255500"/>
                        </a:lnSpc>
                        <a:spcBef>
                          <a:spcPts val="220"/>
                        </a:spcBef>
                      </a:pPr>
                      <a:r>
                        <a:rPr dirty="0" sz="900" spc="-25">
                          <a:latin typeface="Microsoft YaHei"/>
                          <a:cs typeface="Microsoft YaHei"/>
                        </a:rPr>
                        <a:t>业务场景</a:t>
                      </a:r>
                      <a:endParaRPr sz="900">
                        <a:latin typeface="Microsoft YaHei"/>
                        <a:cs typeface="Microsoft YaHei"/>
                      </a:endParaRPr>
                    </a:p>
                  </a:txBody>
                  <a:tcPr marL="0" marR="0" marB="0" marT="279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1590">
                        <a:lnSpc>
                          <a:spcPct val="100000"/>
                        </a:lnSpc>
                      </a:pPr>
                      <a:endParaRPr sz="900">
                        <a:latin typeface="Times New Roman"/>
                        <a:cs typeface="Times New Roman"/>
                      </a:endParaRPr>
                    </a:p>
                    <a:p>
                      <a:pPr marR="21590">
                        <a:lnSpc>
                          <a:spcPct val="100000"/>
                        </a:lnSpc>
                      </a:pPr>
                      <a:endParaRPr sz="900">
                        <a:latin typeface="Times New Roman"/>
                        <a:cs typeface="Times New Roman"/>
                      </a:endParaRPr>
                    </a:p>
                    <a:p>
                      <a:pPr marR="21590">
                        <a:lnSpc>
                          <a:spcPct val="100000"/>
                        </a:lnSpc>
                        <a:spcBef>
                          <a:spcPts val="175"/>
                        </a:spcBef>
                      </a:pPr>
                      <a:endParaRPr sz="900">
                        <a:latin typeface="Times New Roman"/>
                        <a:cs typeface="Times New Roman"/>
                      </a:endParaRPr>
                    </a:p>
                    <a:p>
                      <a:pPr marL="23495" marR="21590">
                        <a:lnSpc>
                          <a:spcPct val="100000"/>
                        </a:lnSpc>
                      </a:pPr>
                      <a:r>
                        <a:rPr dirty="0" sz="900" spc="-15">
                          <a:latin typeface="Microsoft YaHei"/>
                          <a:cs typeface="Microsoft YaHei"/>
                        </a:rPr>
                        <a:t>视频会话</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75"/>
                        </a:spcBef>
                      </a:pPr>
                      <a:endParaRPr sz="900">
                        <a:latin typeface="Times New Roman"/>
                        <a:cs typeface="Times New Roman"/>
                      </a:endParaRPr>
                    </a:p>
                    <a:p>
                      <a:pPr marL="23495">
                        <a:lnSpc>
                          <a:spcPct val="100000"/>
                        </a:lnSpc>
                      </a:pPr>
                      <a:r>
                        <a:rPr dirty="0" sz="900" spc="-15">
                          <a:latin typeface="Microsoft YaHei"/>
                          <a:cs typeface="Microsoft YaHei"/>
                        </a:rPr>
                        <a:t>视频播放</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marR="673100">
                        <a:lnSpc>
                          <a:spcPct val="127699"/>
                        </a:lnSpc>
                        <a:spcBef>
                          <a:spcPts val="220"/>
                        </a:spcBef>
                      </a:pPr>
                      <a:r>
                        <a:rPr dirty="0" sz="900" spc="-10">
                          <a:latin typeface="Microsoft YaHei"/>
                          <a:cs typeface="Microsoft YaHei"/>
                        </a:rPr>
                        <a:t>移动在线游戏</a:t>
                      </a:r>
                      <a:r>
                        <a:rPr dirty="0" sz="900" spc="-15">
                          <a:latin typeface="Microsoft YaHei"/>
                          <a:cs typeface="Microsoft YaHei"/>
                        </a:rPr>
                        <a:t>增强现实</a:t>
                      </a:r>
                      <a:endParaRPr sz="900">
                        <a:latin typeface="Microsoft YaHei"/>
                        <a:cs typeface="Microsoft YaHei"/>
                      </a:endParaRPr>
                    </a:p>
                    <a:p>
                      <a:pPr marL="23495">
                        <a:lnSpc>
                          <a:spcPct val="100000"/>
                        </a:lnSpc>
                        <a:spcBef>
                          <a:spcPts val="300"/>
                        </a:spcBef>
                      </a:pPr>
                      <a:r>
                        <a:rPr dirty="0" sz="900" spc="-15">
                          <a:latin typeface="Microsoft YaHei"/>
                          <a:cs typeface="Microsoft YaHei"/>
                        </a:rPr>
                        <a:t>虚拟现实</a:t>
                      </a:r>
                      <a:endParaRPr sz="900">
                        <a:latin typeface="Microsoft YaHei"/>
                        <a:cs typeface="Microsoft YaHei"/>
                      </a:endParaRPr>
                    </a:p>
                    <a:p>
                      <a:pPr marL="23495" marR="673100">
                        <a:lnSpc>
                          <a:spcPct val="127699"/>
                        </a:lnSpc>
                      </a:pPr>
                      <a:r>
                        <a:rPr dirty="0" sz="900" spc="-10">
                          <a:latin typeface="Microsoft YaHei"/>
                          <a:cs typeface="Microsoft YaHei"/>
                        </a:rPr>
                        <a:t>实时视频分享</a:t>
                      </a:r>
                      <a:r>
                        <a:rPr dirty="0" sz="900" spc="-20">
                          <a:latin typeface="Microsoft YaHei"/>
                          <a:cs typeface="Microsoft YaHei"/>
                        </a:rPr>
                        <a:t>云桌面</a:t>
                      </a:r>
                      <a:endParaRPr sz="900">
                        <a:latin typeface="Microsoft YaHei"/>
                        <a:cs typeface="Microsoft YaHei"/>
                      </a:endParaRPr>
                    </a:p>
                  </a:txBody>
                  <a:tcPr marL="0" marR="0" marB="0" marT="279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spcBef>
                          <a:spcPts val="560"/>
                        </a:spcBef>
                      </a:pPr>
                      <a:endParaRPr sz="900">
                        <a:latin typeface="Times New Roman"/>
                        <a:cs typeface="Times New Roman"/>
                      </a:endParaRPr>
                    </a:p>
                    <a:p>
                      <a:pPr marL="23495" marR="474980">
                        <a:lnSpc>
                          <a:spcPct val="127699"/>
                        </a:lnSpc>
                        <a:spcBef>
                          <a:spcPts val="5"/>
                        </a:spcBef>
                      </a:pPr>
                      <a:r>
                        <a:rPr dirty="0" sz="900" spc="-15">
                          <a:latin typeface="Microsoft YaHei"/>
                          <a:cs typeface="Microsoft YaHei"/>
                        </a:rPr>
                        <a:t>数据下载</a:t>
                      </a:r>
                      <a:r>
                        <a:rPr dirty="0" sz="900" spc="-20">
                          <a:latin typeface="Microsoft YaHei"/>
                          <a:cs typeface="Microsoft YaHei"/>
                        </a:rPr>
                        <a:t>云存储</a:t>
                      </a:r>
                      <a:endParaRPr sz="900">
                        <a:latin typeface="Microsoft YaHei"/>
                        <a:cs typeface="Microsoft YaHei"/>
                      </a:endParaRPr>
                    </a:p>
                    <a:p>
                      <a:pPr marL="23495">
                        <a:lnSpc>
                          <a:spcPct val="100000"/>
                        </a:lnSpc>
                        <a:spcBef>
                          <a:spcPts val="300"/>
                        </a:spcBef>
                      </a:pPr>
                      <a:r>
                        <a:rPr dirty="0" sz="900" spc="-10">
                          <a:latin typeface="Microsoft YaHei"/>
                          <a:cs typeface="Microsoft YaHei"/>
                        </a:rPr>
                        <a:t>高清图片上传</a:t>
                      </a:r>
                      <a:endParaRPr sz="900">
                        <a:latin typeface="Microsoft YaHei"/>
                        <a:cs typeface="Microsoft YaHei"/>
                      </a:endParaRPr>
                    </a:p>
                  </a:txBody>
                  <a:tcPr marL="0" marR="0" marB="0" marT="71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70"/>
                        </a:spcBef>
                      </a:pPr>
                      <a:endParaRPr sz="900">
                        <a:latin typeface="Times New Roman"/>
                        <a:cs typeface="Times New Roman"/>
                      </a:endParaRPr>
                    </a:p>
                    <a:p>
                      <a:pPr marL="23495">
                        <a:lnSpc>
                          <a:spcPct val="100000"/>
                        </a:lnSpc>
                      </a:pPr>
                      <a:r>
                        <a:rPr dirty="0" sz="900" spc="-25">
                          <a:latin typeface="Microsoft YaHei"/>
                          <a:cs typeface="Microsoft YaHei"/>
                        </a:rPr>
                        <a:t>OTT消息</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70"/>
                        </a:spcBef>
                      </a:pPr>
                      <a:endParaRPr sz="900">
                        <a:latin typeface="Times New Roman"/>
                        <a:cs typeface="Times New Roman"/>
                      </a:endParaRPr>
                    </a:p>
                    <a:p>
                      <a:pPr marL="23495">
                        <a:lnSpc>
                          <a:spcPct val="100000"/>
                        </a:lnSpc>
                      </a:pPr>
                      <a:r>
                        <a:rPr dirty="0" sz="900" spc="-15">
                          <a:latin typeface="Microsoft YaHei"/>
                          <a:cs typeface="Microsoft YaHei"/>
                        </a:rPr>
                        <a:t>智能家居</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70"/>
                        </a:spcBef>
                      </a:pPr>
                      <a:endParaRPr sz="900">
                        <a:latin typeface="Times New Roman"/>
                        <a:cs typeface="Times New Roman"/>
                      </a:endParaRPr>
                    </a:p>
                    <a:p>
                      <a:pPr marL="23495">
                        <a:lnSpc>
                          <a:spcPct val="100000"/>
                        </a:lnSpc>
                      </a:pPr>
                      <a:r>
                        <a:rPr dirty="0" sz="900" spc="-15">
                          <a:latin typeface="Microsoft YaHei"/>
                          <a:cs typeface="Microsoft YaHei"/>
                        </a:rPr>
                        <a:t>视频监控</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900">
                        <a:latin typeface="Times New Roman"/>
                        <a:cs typeface="Times New Roman"/>
                      </a:endParaRPr>
                    </a:p>
                    <a:p>
                      <a:pPr>
                        <a:lnSpc>
                          <a:spcPct val="100000"/>
                        </a:lnSpc>
                      </a:pPr>
                      <a:endParaRPr sz="900">
                        <a:latin typeface="Times New Roman"/>
                        <a:cs typeface="Times New Roman"/>
                      </a:endParaRPr>
                    </a:p>
                    <a:p>
                      <a:pPr>
                        <a:lnSpc>
                          <a:spcPct val="100000"/>
                        </a:lnSpc>
                        <a:spcBef>
                          <a:spcPts val="170"/>
                        </a:spcBef>
                      </a:pPr>
                      <a:endParaRPr sz="900">
                        <a:latin typeface="Times New Roman"/>
                        <a:cs typeface="Times New Roman"/>
                      </a:endParaRPr>
                    </a:p>
                    <a:p>
                      <a:pPr marL="23495">
                        <a:lnSpc>
                          <a:spcPct val="100000"/>
                        </a:lnSpc>
                      </a:pPr>
                      <a:r>
                        <a:rPr dirty="0" sz="900" spc="-20">
                          <a:latin typeface="Microsoft YaHei"/>
                          <a:cs typeface="Microsoft YaHei"/>
                        </a:rPr>
                        <a:t>车联网</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r>
              <a:tr h="373380">
                <a:tc>
                  <a:txBody>
                    <a:bodyPr/>
                    <a:lstStyle/>
                    <a:p>
                      <a:pPr algn="ctr">
                        <a:lnSpc>
                          <a:spcPct val="100000"/>
                        </a:lnSpc>
                        <a:spcBef>
                          <a:spcPts val="890"/>
                        </a:spcBef>
                      </a:pPr>
                      <a:r>
                        <a:rPr dirty="0" sz="900" spc="-25" b="1">
                          <a:latin typeface="Microsoft YaHei"/>
                          <a:cs typeface="Microsoft YaHei"/>
                        </a:rPr>
                        <a:t>居住</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890"/>
                        </a:spcBef>
                      </a:pPr>
                      <a:r>
                        <a:rPr dirty="0" sz="900" spc="-10">
                          <a:latin typeface="Microsoft YaHei"/>
                          <a:cs typeface="Microsoft YaHei"/>
                        </a:rPr>
                        <a:t>密集住宅区</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marR="21590">
                        <a:lnSpc>
                          <a:spcPct val="100000"/>
                        </a:lnSpc>
                        <a:spcBef>
                          <a:spcPts val="890"/>
                        </a:spcBef>
                      </a:pPr>
                      <a:r>
                        <a:rPr dirty="0" sz="900" spc="-15">
                          <a:latin typeface="Microsoft YaHei"/>
                          <a:cs typeface="Microsoft YaHei"/>
                        </a:rPr>
                        <a:t>视频会话</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a:latin typeface="Microsoft YaHei"/>
                          <a:cs typeface="Microsoft YaHei"/>
                        </a:rPr>
                        <a:t>视频播放</a:t>
                      </a:r>
                      <a:r>
                        <a:rPr dirty="0" sz="900" spc="-10">
                          <a:latin typeface="Microsoft YaHei"/>
                          <a:cs typeface="Microsoft YaHei"/>
                        </a:rPr>
                        <a:t>（IPTV</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marR="673100">
                        <a:lnSpc>
                          <a:spcPts val="1380"/>
                        </a:lnSpc>
                      </a:pPr>
                      <a:r>
                        <a:rPr dirty="0" sz="900" spc="-10">
                          <a:latin typeface="Microsoft YaHei"/>
                          <a:cs typeface="Microsoft YaHei"/>
                        </a:rPr>
                        <a:t>虚拟现实应用</a:t>
                      </a:r>
                      <a:r>
                        <a:rPr dirty="0" sz="900" spc="-15">
                          <a:latin typeface="Microsoft YaHei"/>
                          <a:cs typeface="Microsoft YaHei"/>
                        </a:rPr>
                        <a:t>在线游戏</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marR="474980">
                        <a:lnSpc>
                          <a:spcPts val="1380"/>
                        </a:lnSpc>
                      </a:pPr>
                      <a:r>
                        <a:rPr dirty="0" sz="900" spc="-15">
                          <a:latin typeface="Microsoft YaHei"/>
                          <a:cs typeface="Microsoft YaHei"/>
                        </a:rPr>
                        <a:t>数据下载</a:t>
                      </a:r>
                      <a:r>
                        <a:rPr dirty="0" sz="900" spc="-20">
                          <a:latin typeface="Microsoft YaHei"/>
                          <a:cs typeface="Microsoft YaHei"/>
                        </a:rPr>
                        <a:t>云存储</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5"/>
                        </a:spcBef>
                      </a:pPr>
                      <a:r>
                        <a:rPr dirty="0" sz="900" spc="-25">
                          <a:latin typeface="Microsoft YaHei"/>
                          <a:cs typeface="Microsoft YaHei"/>
                        </a:rPr>
                        <a:t>OTT消息</a:t>
                      </a:r>
                      <a:endParaRPr sz="900">
                        <a:latin typeface="Microsoft YaHei"/>
                        <a:cs typeface="Microsoft YaHei"/>
                      </a:endParaRPr>
                    </a:p>
                  </a:txBody>
                  <a:tcPr marL="0" marR="0" marB="0" marT="1136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5"/>
                        </a:spcBef>
                      </a:pPr>
                      <a:r>
                        <a:rPr dirty="0" sz="900" spc="-15">
                          <a:latin typeface="Microsoft YaHei"/>
                          <a:cs typeface="Microsoft YaHei"/>
                        </a:rPr>
                        <a:t>智能家居</a:t>
                      </a:r>
                      <a:endParaRPr sz="900">
                        <a:latin typeface="Microsoft YaHei"/>
                        <a:cs typeface="Microsoft YaHei"/>
                      </a:endParaRPr>
                    </a:p>
                  </a:txBody>
                  <a:tcPr marL="0" marR="0" marB="0" marT="1136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514350">
                <a:tc>
                  <a:txBody>
                    <a:bodyPr/>
                    <a:lstStyle/>
                    <a:p>
                      <a:pPr>
                        <a:lnSpc>
                          <a:spcPct val="100000"/>
                        </a:lnSpc>
                        <a:spcBef>
                          <a:spcPts val="409"/>
                        </a:spcBef>
                      </a:pPr>
                      <a:endParaRPr sz="900">
                        <a:latin typeface="Times New Roman"/>
                        <a:cs typeface="Times New Roman"/>
                      </a:endParaRPr>
                    </a:p>
                    <a:p>
                      <a:pPr algn="ctr">
                        <a:lnSpc>
                          <a:spcPct val="100000"/>
                        </a:lnSpc>
                      </a:pPr>
                      <a:r>
                        <a:rPr dirty="0" sz="900" spc="-25" b="1">
                          <a:latin typeface="Microsoft YaHei"/>
                          <a:cs typeface="Microsoft YaHei"/>
                        </a:rPr>
                        <a:t>工作</a:t>
                      </a:r>
                      <a:endParaRPr sz="900">
                        <a:latin typeface="Microsoft YaHei"/>
                        <a:cs typeface="Microsoft YaHei"/>
                      </a:endParaRPr>
                    </a:p>
                  </a:txBody>
                  <a:tcPr marL="0" marR="0" marB="0" marT="520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409"/>
                        </a:spcBef>
                      </a:pPr>
                      <a:endParaRPr sz="900">
                        <a:latin typeface="Times New Roman"/>
                        <a:cs typeface="Times New Roman"/>
                      </a:endParaRPr>
                    </a:p>
                    <a:p>
                      <a:pPr marL="23495">
                        <a:lnSpc>
                          <a:spcPct val="100000"/>
                        </a:lnSpc>
                      </a:pPr>
                      <a:r>
                        <a:rPr dirty="0" sz="900" spc="-20">
                          <a:latin typeface="Microsoft YaHei"/>
                          <a:cs typeface="Microsoft YaHei"/>
                        </a:rPr>
                        <a:t>办公室</a:t>
                      </a:r>
                      <a:endParaRPr sz="900">
                        <a:latin typeface="Microsoft YaHei"/>
                        <a:cs typeface="Microsoft YaHei"/>
                      </a:endParaRPr>
                    </a:p>
                  </a:txBody>
                  <a:tcPr marL="0" marR="0" marB="0" marT="520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910"/>
                        </a:spcBef>
                      </a:pPr>
                      <a:r>
                        <a:rPr dirty="0" sz="900">
                          <a:latin typeface="Microsoft YaHei"/>
                          <a:cs typeface="Microsoft YaHei"/>
                        </a:rPr>
                        <a:t>（双方、多方</a:t>
                      </a:r>
                      <a:r>
                        <a:rPr dirty="0" sz="900" spc="-50">
                          <a:latin typeface="Microsoft YaHei"/>
                          <a:cs typeface="Microsoft YaHei"/>
                        </a:rPr>
                        <a:t>）</a:t>
                      </a:r>
                      <a:r>
                        <a:rPr dirty="0" sz="900" spc="-15">
                          <a:latin typeface="Microsoft YaHei"/>
                          <a:cs typeface="Microsoft YaHei"/>
                        </a:rPr>
                        <a:t>视频会话</a:t>
                      </a:r>
                      <a:endParaRPr sz="900">
                        <a:latin typeface="Microsoft YaHei"/>
                        <a:cs typeface="Microsoft YaHei"/>
                      </a:endParaRPr>
                    </a:p>
                  </a:txBody>
                  <a:tcPr marL="0" marR="0" marB="0" marT="1155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9"/>
                        </a:spcBef>
                      </a:pPr>
                      <a:endParaRPr sz="900">
                        <a:latin typeface="Times New Roman"/>
                        <a:cs typeface="Times New Roman"/>
                      </a:endParaRPr>
                    </a:p>
                    <a:p>
                      <a:pPr marL="23495">
                        <a:lnSpc>
                          <a:spcPct val="100000"/>
                        </a:lnSpc>
                        <a:spcBef>
                          <a:spcPts val="5"/>
                        </a:spcBef>
                      </a:pPr>
                      <a:r>
                        <a:rPr dirty="0" sz="900" spc="-20">
                          <a:latin typeface="Microsoft YaHei"/>
                          <a:cs typeface="Microsoft YaHei"/>
                        </a:rPr>
                        <a:t>云桌面</a:t>
                      </a:r>
                      <a:endParaRPr sz="900">
                        <a:latin typeface="Microsoft YaHei"/>
                        <a:cs typeface="Microsoft YaHei"/>
                      </a:endParaRPr>
                    </a:p>
                  </a:txBody>
                  <a:tcPr marL="0" marR="0" marB="0" marT="520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marR="474980">
                        <a:lnSpc>
                          <a:spcPct val="127699"/>
                        </a:lnSpc>
                        <a:spcBef>
                          <a:spcPts val="459"/>
                        </a:spcBef>
                      </a:pPr>
                      <a:r>
                        <a:rPr dirty="0" sz="900" spc="-15">
                          <a:latin typeface="Microsoft YaHei"/>
                          <a:cs typeface="Microsoft YaHei"/>
                        </a:rPr>
                        <a:t>数据下载</a:t>
                      </a:r>
                      <a:r>
                        <a:rPr dirty="0" sz="900" spc="-20">
                          <a:latin typeface="Microsoft YaHei"/>
                          <a:cs typeface="Microsoft YaHei"/>
                        </a:rPr>
                        <a:t>云存储</a:t>
                      </a:r>
                      <a:endParaRPr sz="900">
                        <a:latin typeface="Microsoft YaHei"/>
                        <a:cs typeface="Microsoft YaHei"/>
                      </a:endParaRPr>
                    </a:p>
                  </a:txBody>
                  <a:tcPr marL="0" marR="0" marB="0" marT="5841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09"/>
                        </a:spcBef>
                      </a:pPr>
                      <a:endParaRPr sz="900">
                        <a:latin typeface="Times New Roman"/>
                        <a:cs typeface="Times New Roman"/>
                      </a:endParaRPr>
                    </a:p>
                    <a:p>
                      <a:pPr marL="23495">
                        <a:lnSpc>
                          <a:spcPct val="100000"/>
                        </a:lnSpc>
                      </a:pPr>
                      <a:r>
                        <a:rPr dirty="0" sz="900" spc="-25">
                          <a:latin typeface="Microsoft YaHei"/>
                          <a:cs typeface="Microsoft YaHei"/>
                        </a:rPr>
                        <a:t>OTT消息</a:t>
                      </a:r>
                      <a:endParaRPr sz="900">
                        <a:latin typeface="Microsoft YaHei"/>
                        <a:cs typeface="Microsoft YaHei"/>
                      </a:endParaRPr>
                    </a:p>
                  </a:txBody>
                  <a:tcPr marL="0" marR="0" marB="0" marT="520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3380">
                <a:tc rowSpan="2">
                  <a:txBody>
                    <a:bodyPr/>
                    <a:lstStyle/>
                    <a:p>
                      <a:pPr>
                        <a:lnSpc>
                          <a:spcPct val="100000"/>
                        </a:lnSpc>
                      </a:pPr>
                      <a:endParaRPr sz="900">
                        <a:latin typeface="Times New Roman"/>
                        <a:cs typeface="Times New Roman"/>
                      </a:endParaRPr>
                    </a:p>
                    <a:p>
                      <a:pPr>
                        <a:lnSpc>
                          <a:spcPct val="100000"/>
                        </a:lnSpc>
                        <a:spcBef>
                          <a:spcPts val="290"/>
                        </a:spcBef>
                      </a:pPr>
                      <a:endParaRPr sz="900">
                        <a:latin typeface="Times New Roman"/>
                        <a:cs typeface="Times New Roman"/>
                      </a:endParaRPr>
                    </a:p>
                    <a:p>
                      <a:pPr algn="ctr">
                        <a:lnSpc>
                          <a:spcPct val="100000"/>
                        </a:lnSpc>
                        <a:spcBef>
                          <a:spcPts val="5"/>
                        </a:spcBef>
                      </a:pPr>
                      <a:r>
                        <a:rPr dirty="0" sz="900" spc="-25" b="1">
                          <a:latin typeface="Microsoft YaHei"/>
                          <a:cs typeface="Microsoft YaHei"/>
                        </a:rPr>
                        <a:t>休闲</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890"/>
                        </a:spcBef>
                      </a:pPr>
                      <a:r>
                        <a:rPr dirty="0" sz="900" spc="-10">
                          <a:latin typeface="Microsoft YaHei"/>
                          <a:cs typeface="Microsoft YaHei"/>
                        </a:rPr>
                        <a:t>大型体育场</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R="21590">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15">
                          <a:latin typeface="Microsoft YaHei"/>
                          <a:cs typeface="Microsoft YaHei"/>
                        </a:rPr>
                        <a:t>视频播放</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200"/>
                        </a:spcBef>
                      </a:pPr>
                      <a:r>
                        <a:rPr dirty="0" sz="900" spc="-15">
                          <a:latin typeface="Microsoft YaHei"/>
                          <a:cs typeface="Microsoft YaHei"/>
                        </a:rPr>
                        <a:t>增强现实</a:t>
                      </a:r>
                      <a:endParaRPr sz="900">
                        <a:latin typeface="Microsoft YaHei"/>
                        <a:cs typeface="Microsoft YaHei"/>
                      </a:endParaRPr>
                    </a:p>
                    <a:p>
                      <a:pPr marL="23495">
                        <a:lnSpc>
                          <a:spcPct val="100000"/>
                        </a:lnSpc>
                        <a:spcBef>
                          <a:spcPts val="300"/>
                        </a:spcBef>
                      </a:pPr>
                      <a:r>
                        <a:rPr dirty="0" sz="900" spc="-10">
                          <a:latin typeface="Microsoft YaHei"/>
                          <a:cs typeface="Microsoft YaHei"/>
                        </a:rPr>
                        <a:t>实时视频分享</a:t>
                      </a:r>
                      <a:endParaRPr sz="900">
                        <a:latin typeface="Microsoft YaHei"/>
                        <a:cs typeface="Microsoft YaHei"/>
                      </a:endParaRPr>
                    </a:p>
                  </a:txBody>
                  <a:tcPr marL="0" marR="0" marB="0" marT="254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10">
                          <a:latin typeface="Microsoft YaHei"/>
                          <a:cs typeface="Microsoft YaHei"/>
                        </a:rPr>
                        <a:t>高清图片上传</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25">
                          <a:latin typeface="Microsoft YaHei"/>
                          <a:cs typeface="Microsoft YaHei"/>
                        </a:rPr>
                        <a:t>OTT消息</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338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890"/>
                        </a:spcBef>
                      </a:pPr>
                      <a:r>
                        <a:rPr dirty="0" sz="900" spc="-10">
                          <a:latin typeface="Microsoft YaHei"/>
                          <a:cs typeface="Microsoft YaHei"/>
                        </a:rPr>
                        <a:t>大型露天集会</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R="21590">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15">
                          <a:latin typeface="Microsoft YaHei"/>
                          <a:cs typeface="Microsoft YaHei"/>
                        </a:rPr>
                        <a:t>视频播放</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200"/>
                        </a:spcBef>
                      </a:pPr>
                      <a:r>
                        <a:rPr dirty="0" sz="900" spc="-15">
                          <a:latin typeface="Microsoft YaHei"/>
                          <a:cs typeface="Microsoft YaHei"/>
                        </a:rPr>
                        <a:t>增强现实</a:t>
                      </a:r>
                      <a:endParaRPr sz="900">
                        <a:latin typeface="Microsoft YaHei"/>
                        <a:cs typeface="Microsoft YaHei"/>
                      </a:endParaRPr>
                    </a:p>
                    <a:p>
                      <a:pPr marL="23495">
                        <a:lnSpc>
                          <a:spcPct val="100000"/>
                        </a:lnSpc>
                        <a:spcBef>
                          <a:spcPts val="300"/>
                        </a:spcBef>
                      </a:pPr>
                      <a:r>
                        <a:rPr dirty="0" sz="900" spc="-10">
                          <a:latin typeface="Microsoft YaHei"/>
                          <a:cs typeface="Microsoft YaHei"/>
                        </a:rPr>
                        <a:t>实时视频分享</a:t>
                      </a:r>
                      <a:endParaRPr sz="900">
                        <a:latin typeface="Microsoft YaHei"/>
                        <a:cs typeface="Microsoft YaHei"/>
                      </a:endParaRPr>
                    </a:p>
                  </a:txBody>
                  <a:tcPr marL="0" marR="0" marB="0" marT="254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10">
                          <a:latin typeface="Microsoft YaHei"/>
                          <a:cs typeface="Microsoft YaHei"/>
                        </a:rPr>
                        <a:t>高清图片上传</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890"/>
                        </a:spcBef>
                      </a:pPr>
                      <a:r>
                        <a:rPr dirty="0" sz="900" spc="-25">
                          <a:latin typeface="Microsoft YaHei"/>
                          <a:cs typeface="Microsoft YaHei"/>
                        </a:rPr>
                        <a:t>OTT消息</a:t>
                      </a:r>
                      <a:endParaRPr sz="900">
                        <a:latin typeface="Microsoft YaHei"/>
                        <a:cs typeface="Microsoft YaHei"/>
                      </a:endParaRPr>
                    </a:p>
                  </a:txBody>
                  <a:tcPr marL="0" marR="0" marB="0" marT="1130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71450">
                <a:tc rowSpan="3">
                  <a:txBody>
                    <a:bodyPr/>
                    <a:lstStyle/>
                    <a:p>
                      <a:pPr>
                        <a:lnSpc>
                          <a:spcPct val="100000"/>
                        </a:lnSpc>
                        <a:spcBef>
                          <a:spcPts val="965"/>
                        </a:spcBef>
                      </a:pPr>
                      <a:endParaRPr sz="900">
                        <a:latin typeface="Times New Roman"/>
                        <a:cs typeface="Times New Roman"/>
                      </a:endParaRPr>
                    </a:p>
                    <a:p>
                      <a:pPr algn="ctr">
                        <a:lnSpc>
                          <a:spcPct val="100000"/>
                        </a:lnSpc>
                      </a:pPr>
                      <a:r>
                        <a:rPr dirty="0" sz="900" spc="-25" b="1">
                          <a:latin typeface="Microsoft YaHei"/>
                          <a:cs typeface="Microsoft YaHei"/>
                        </a:rPr>
                        <a:t>交通</a:t>
                      </a:r>
                      <a:endParaRPr sz="900">
                        <a:latin typeface="Microsoft YaHei"/>
                        <a:cs typeface="Microsoft YaHei"/>
                      </a:endParaRPr>
                    </a:p>
                  </a:txBody>
                  <a:tcPr marL="0" marR="0" marB="0" marT="1225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95"/>
                        </a:spcBef>
                      </a:pPr>
                      <a:r>
                        <a:rPr dirty="0" sz="900" spc="-25">
                          <a:latin typeface="Microsoft YaHei"/>
                          <a:cs typeface="Microsoft YaHei"/>
                        </a:rPr>
                        <a:t>地铁</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R="21590">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15">
                          <a:latin typeface="Microsoft YaHei"/>
                          <a:cs typeface="Microsoft YaHei"/>
                        </a:rPr>
                        <a:t>视频播放</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15">
                          <a:latin typeface="Microsoft YaHei"/>
                          <a:cs typeface="Microsoft YaHei"/>
                        </a:rPr>
                        <a:t>在线游戏</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25">
                          <a:latin typeface="Microsoft YaHei"/>
                          <a:cs typeface="Microsoft YaHei"/>
                        </a:rPr>
                        <a:t>OTT消息</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71450">
                <a:tc vMerge="1">
                  <a:txBody>
                    <a:bodyPr/>
                    <a:lstStyle/>
                    <a:p>
                      <a:pPr/>
                    </a:p>
                  </a:txBody>
                  <a:tcPr marL="0" marR="0" marB="0" marT="1225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95"/>
                        </a:spcBef>
                      </a:pPr>
                      <a:r>
                        <a:rPr dirty="0" sz="900" spc="-20">
                          <a:latin typeface="Microsoft YaHei"/>
                          <a:cs typeface="Microsoft YaHei"/>
                        </a:rPr>
                        <a:t>快速路</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marR="21590">
                        <a:lnSpc>
                          <a:spcPct val="100000"/>
                        </a:lnSpc>
                        <a:spcBef>
                          <a:spcPts val="95"/>
                        </a:spcBef>
                      </a:pPr>
                      <a:r>
                        <a:rPr dirty="0" sz="900" spc="-15">
                          <a:latin typeface="Microsoft YaHei"/>
                          <a:cs typeface="Microsoft YaHei"/>
                        </a:rPr>
                        <a:t>视频会话</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15">
                          <a:latin typeface="Microsoft YaHei"/>
                          <a:cs typeface="Microsoft YaHei"/>
                        </a:rPr>
                        <a:t>视频播放</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15">
                          <a:latin typeface="Microsoft YaHei"/>
                          <a:cs typeface="Microsoft YaHei"/>
                        </a:rPr>
                        <a:t>增强现实</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25">
                          <a:latin typeface="Microsoft YaHei"/>
                          <a:cs typeface="Microsoft YaHei"/>
                        </a:rPr>
                        <a:t>OTT消息</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95"/>
                        </a:spcBef>
                      </a:pPr>
                      <a:r>
                        <a:rPr dirty="0" sz="900" spc="-20">
                          <a:latin typeface="Microsoft YaHei"/>
                          <a:cs typeface="Microsoft YaHei"/>
                        </a:rPr>
                        <a:t>车联网</a:t>
                      </a:r>
                      <a:endParaRPr sz="900">
                        <a:latin typeface="Microsoft YaHei"/>
                        <a:cs typeface="Microsoft YaHei"/>
                      </a:endParaRPr>
                    </a:p>
                  </a:txBody>
                  <a:tcPr marL="0" marR="0" marB="0" marT="120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12420">
                <a:tc vMerge="1">
                  <a:txBody>
                    <a:bodyPr/>
                    <a:lstStyle/>
                    <a:p>
                      <a:pPr/>
                    </a:p>
                  </a:txBody>
                  <a:tcPr marL="0" marR="0" marB="0" marT="1225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650"/>
                        </a:spcBef>
                      </a:pPr>
                      <a:r>
                        <a:rPr dirty="0" sz="900" spc="-25">
                          <a:latin typeface="Microsoft YaHei"/>
                          <a:cs typeface="Microsoft YaHei"/>
                        </a:rPr>
                        <a:t>高铁</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marR="21590">
                        <a:lnSpc>
                          <a:spcPct val="100000"/>
                        </a:lnSpc>
                        <a:spcBef>
                          <a:spcPts val="650"/>
                        </a:spcBef>
                      </a:pPr>
                      <a:r>
                        <a:rPr dirty="0" sz="900" spc="-15">
                          <a:latin typeface="Microsoft YaHei"/>
                          <a:cs typeface="Microsoft YaHei"/>
                        </a:rPr>
                        <a:t>视频会话</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50"/>
                        </a:spcBef>
                      </a:pPr>
                      <a:r>
                        <a:rPr dirty="0" sz="900" spc="-15">
                          <a:latin typeface="Microsoft YaHei"/>
                          <a:cs typeface="Microsoft YaHei"/>
                        </a:rPr>
                        <a:t>视频播放</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ts val="1040"/>
                        </a:lnSpc>
                      </a:pPr>
                      <a:r>
                        <a:rPr dirty="0" sz="900" spc="-10">
                          <a:latin typeface="Microsoft YaHei"/>
                          <a:cs typeface="Microsoft YaHei"/>
                        </a:rPr>
                        <a:t>移动在线游戏</a:t>
                      </a:r>
                      <a:endParaRPr sz="900">
                        <a:latin typeface="Microsoft YaHei"/>
                        <a:cs typeface="Microsoft YaHei"/>
                      </a:endParaRPr>
                    </a:p>
                    <a:p>
                      <a:pPr marL="23495">
                        <a:lnSpc>
                          <a:spcPts val="1019"/>
                        </a:lnSpc>
                        <a:spcBef>
                          <a:spcPts val="300"/>
                        </a:spcBef>
                      </a:pPr>
                      <a:r>
                        <a:rPr dirty="0" sz="900" spc="-20">
                          <a:latin typeface="Microsoft YaHei"/>
                          <a:cs typeface="Microsoft YaHei"/>
                        </a:rPr>
                        <a:t>云桌面</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50"/>
                        </a:spcBef>
                      </a:pPr>
                      <a:r>
                        <a:rPr dirty="0" sz="900" spc="-25">
                          <a:latin typeface="Microsoft YaHei"/>
                          <a:cs typeface="Microsoft YaHei"/>
                        </a:rPr>
                        <a:t>OTT消息</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11785">
                <a:tc>
                  <a:txBody>
                    <a:bodyPr/>
                    <a:lstStyle/>
                    <a:p>
                      <a:pPr algn="ctr" marL="635">
                        <a:lnSpc>
                          <a:spcPct val="100000"/>
                        </a:lnSpc>
                        <a:spcBef>
                          <a:spcPts val="650"/>
                        </a:spcBef>
                      </a:pPr>
                      <a:r>
                        <a:rPr dirty="0" sz="900" spc="-25" b="1">
                          <a:latin typeface="Microsoft YaHei"/>
                          <a:cs typeface="Microsoft YaHei"/>
                        </a:rPr>
                        <a:t>其他</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650"/>
                        </a:spcBef>
                      </a:pPr>
                      <a:r>
                        <a:rPr dirty="0" sz="900" spc="-15">
                          <a:latin typeface="Microsoft YaHei"/>
                          <a:cs typeface="Microsoft YaHei"/>
                        </a:rPr>
                        <a:t>广域覆盖</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R="21590">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50"/>
                        </a:spcBef>
                      </a:pPr>
                      <a:r>
                        <a:rPr dirty="0" sz="900" spc="-15">
                          <a:latin typeface="Microsoft YaHei"/>
                          <a:cs typeface="Microsoft YaHei"/>
                        </a:rPr>
                        <a:t>视频播放</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ts val="1040"/>
                        </a:lnSpc>
                      </a:pPr>
                      <a:r>
                        <a:rPr dirty="0" sz="900" spc="-15">
                          <a:latin typeface="Microsoft YaHei"/>
                          <a:cs typeface="Microsoft YaHei"/>
                        </a:rPr>
                        <a:t>增强现实</a:t>
                      </a:r>
                      <a:endParaRPr sz="900">
                        <a:latin typeface="Microsoft YaHei"/>
                        <a:cs typeface="Microsoft YaHei"/>
                      </a:endParaRPr>
                    </a:p>
                    <a:p>
                      <a:pPr marL="23495">
                        <a:lnSpc>
                          <a:spcPts val="1019"/>
                        </a:lnSpc>
                        <a:spcBef>
                          <a:spcPts val="300"/>
                        </a:spcBef>
                      </a:pPr>
                      <a:r>
                        <a:rPr dirty="0" sz="900" spc="-10">
                          <a:latin typeface="Microsoft YaHei"/>
                          <a:cs typeface="Microsoft YaHei"/>
                        </a:rPr>
                        <a:t>实时视频分享</a:t>
                      </a:r>
                      <a:endParaRPr sz="9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50"/>
                        </a:spcBef>
                      </a:pPr>
                      <a:r>
                        <a:rPr dirty="0" sz="900" spc="-25">
                          <a:latin typeface="Microsoft YaHei"/>
                          <a:cs typeface="Microsoft YaHei"/>
                        </a:rPr>
                        <a:t>OTT消息</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50"/>
                        </a:spcBef>
                      </a:pPr>
                      <a:r>
                        <a:rPr dirty="0" sz="900" spc="-15">
                          <a:latin typeface="Microsoft YaHei"/>
                          <a:cs typeface="Microsoft YaHei"/>
                        </a:rPr>
                        <a:t>视频监控</a:t>
                      </a:r>
                      <a:endParaRPr sz="900">
                        <a:latin typeface="Microsoft YaHei"/>
                        <a:cs typeface="Microsoft YaHei"/>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72810" rIns="0" bIns="0" rtlCol="0" vert="horz">
            <a:spAutoFit/>
          </a:bodyPr>
          <a:lstStyle/>
          <a:p>
            <a:pPr marL="1621155">
              <a:lnSpc>
                <a:spcPct val="100000"/>
              </a:lnSpc>
              <a:spcBef>
                <a:spcPts val="95"/>
              </a:spcBef>
            </a:pPr>
            <a:r>
              <a:rPr dirty="0" spc="-30">
                <a:latin typeface="Times New Roman"/>
                <a:cs typeface="Times New Roman"/>
              </a:rPr>
              <a:t>5G</a:t>
            </a:r>
            <a:r>
              <a:rPr dirty="0" spc="-40"/>
              <a:t>互连网业务模型</a:t>
            </a:r>
            <a:r>
              <a:rPr dirty="0" spc="-25"/>
              <a:t>（</a:t>
            </a:r>
            <a:r>
              <a:rPr dirty="0" spc="-25">
                <a:latin typeface="Times New Roman"/>
                <a:cs typeface="Times New Roman"/>
              </a:rPr>
              <a:t>1</a:t>
            </a:r>
            <a:r>
              <a:rPr dirty="0" spc="-25"/>
              <a:t>）</a:t>
            </a:r>
          </a:p>
        </p:txBody>
      </p:sp>
      <p:graphicFrame>
        <p:nvGraphicFramePr>
          <p:cNvPr id="3" name="object 3" descr=""/>
          <p:cNvGraphicFramePr>
            <a:graphicFrameLocks noGrp="1"/>
          </p:cNvGraphicFramePr>
          <p:nvPr/>
        </p:nvGraphicFramePr>
        <p:xfrm>
          <a:off x="173163" y="891213"/>
          <a:ext cx="8874125" cy="4004945"/>
        </p:xfrm>
        <a:graphic>
          <a:graphicData uri="http://schemas.openxmlformats.org/drawingml/2006/table">
            <a:tbl>
              <a:tblPr firstRow="1" bandRow="1">
                <a:tableStyleId>{2D5ABB26-0587-4C30-8999-92F81FD0307C}</a:tableStyleId>
              </a:tblPr>
              <a:tblGrid>
                <a:gridCol w="1080135"/>
                <a:gridCol w="1871979"/>
                <a:gridCol w="2016125"/>
                <a:gridCol w="2016125"/>
                <a:gridCol w="1800225"/>
              </a:tblGrid>
              <a:tr h="235585">
                <a:tc>
                  <a:txBody>
                    <a:bodyPr/>
                    <a:lstStyle/>
                    <a:p>
                      <a:pPr marL="260985">
                        <a:lnSpc>
                          <a:spcPct val="100000"/>
                        </a:lnSpc>
                        <a:spcBef>
                          <a:spcPts val="225"/>
                        </a:spcBef>
                      </a:pPr>
                      <a:r>
                        <a:rPr dirty="0" sz="1100" spc="-30" b="1">
                          <a:solidFill>
                            <a:srgbClr val="FFFFFF"/>
                          </a:solidFill>
                          <a:latin typeface="Microsoft YaHei"/>
                          <a:cs typeface="Microsoft YaHei"/>
                        </a:rPr>
                        <a:t>典型应用</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225"/>
                        </a:spcBef>
                      </a:pPr>
                      <a:r>
                        <a:rPr dirty="0" sz="1100" spc="-30" b="1">
                          <a:solidFill>
                            <a:srgbClr val="FFFFFF"/>
                          </a:solidFill>
                          <a:latin typeface="Microsoft YaHei"/>
                          <a:cs typeface="Microsoft YaHei"/>
                        </a:rPr>
                        <a:t>基本假设</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marL="589280">
                        <a:lnSpc>
                          <a:spcPct val="100000"/>
                        </a:lnSpc>
                        <a:spcBef>
                          <a:spcPts val="225"/>
                        </a:spcBef>
                      </a:pPr>
                      <a:r>
                        <a:rPr dirty="0" sz="1100" spc="-25" b="1">
                          <a:solidFill>
                            <a:srgbClr val="FFFFFF"/>
                          </a:solidFill>
                          <a:latin typeface="Microsoft YaHei"/>
                          <a:cs typeface="Microsoft YaHei"/>
                        </a:rPr>
                        <a:t>传输速率要求</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225"/>
                        </a:spcBef>
                      </a:pPr>
                      <a:r>
                        <a:rPr dirty="0" sz="1100" spc="-30" b="1">
                          <a:solidFill>
                            <a:srgbClr val="FFFFFF"/>
                          </a:solidFill>
                          <a:latin typeface="Microsoft YaHei"/>
                          <a:cs typeface="Microsoft YaHei"/>
                        </a:rPr>
                        <a:t>时延要求</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225"/>
                        </a:spcBef>
                      </a:pPr>
                      <a:r>
                        <a:rPr dirty="0" sz="1100" spc="-30" b="1">
                          <a:solidFill>
                            <a:srgbClr val="FFFFFF"/>
                          </a:solidFill>
                          <a:latin typeface="Microsoft YaHei"/>
                          <a:cs typeface="Microsoft YaHei"/>
                        </a:rPr>
                        <a:t>主要挑战</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r h="520065">
                <a:tc>
                  <a:txBody>
                    <a:bodyPr/>
                    <a:lstStyle/>
                    <a:p>
                      <a:pPr>
                        <a:lnSpc>
                          <a:spcPct val="100000"/>
                        </a:lnSpc>
                        <a:spcBef>
                          <a:spcPts val="75"/>
                        </a:spcBef>
                      </a:pPr>
                      <a:endParaRPr sz="1100">
                        <a:latin typeface="Times New Roman"/>
                        <a:cs typeface="Times New Roman"/>
                      </a:endParaRPr>
                    </a:p>
                    <a:p>
                      <a:pPr marL="91440">
                        <a:lnSpc>
                          <a:spcPct val="100000"/>
                        </a:lnSpc>
                      </a:pPr>
                      <a:r>
                        <a:rPr dirty="0" sz="1100" spc="-30">
                          <a:latin typeface="Microsoft YaHei"/>
                          <a:cs typeface="Microsoft YaHei"/>
                        </a:rPr>
                        <a:t>视频会话</a:t>
                      </a:r>
                      <a:endParaRPr sz="1100">
                        <a:latin typeface="Microsoft YaHei"/>
                        <a:cs typeface="Microsoft YaHei"/>
                      </a:endParaRPr>
                    </a:p>
                  </a:txBody>
                  <a:tcPr marL="0" marR="0" marB="0" marT="952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D050"/>
                    </a:solidFill>
                  </a:tcPr>
                </a:tc>
                <a:tc>
                  <a:txBody>
                    <a:bodyPr/>
                    <a:lstStyle/>
                    <a:p>
                      <a:pPr marL="91440">
                        <a:lnSpc>
                          <a:spcPct val="100000"/>
                        </a:lnSpc>
                        <a:spcBef>
                          <a:spcPts val="229"/>
                        </a:spcBef>
                      </a:pPr>
                      <a:r>
                        <a:rPr dirty="0" sz="900">
                          <a:latin typeface="Microsoft YaHei"/>
                          <a:cs typeface="Microsoft YaHei"/>
                        </a:rPr>
                        <a:t>支持上行1080P</a:t>
                      </a:r>
                      <a:r>
                        <a:rPr dirty="0" sz="900" spc="-15">
                          <a:latin typeface="Microsoft YaHei"/>
                          <a:cs typeface="Microsoft YaHei"/>
                        </a:rPr>
                        <a:t>视频传输</a:t>
                      </a:r>
                      <a:endParaRPr sz="900">
                        <a:latin typeface="Microsoft YaHei"/>
                        <a:cs typeface="Microsoft YaHei"/>
                      </a:endParaRPr>
                    </a:p>
                  </a:txBody>
                  <a:tcPr marL="0" marR="0" marB="0" marT="29209">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D050"/>
                    </a:solidFill>
                  </a:tcPr>
                </a:tc>
                <a:tc rowSpan="6">
                  <a:txBody>
                    <a:bodyPr/>
                    <a:lstStyle/>
                    <a:p>
                      <a:pPr marL="180975" indent="-93980">
                        <a:lnSpc>
                          <a:spcPct val="100000"/>
                        </a:lnSpc>
                        <a:spcBef>
                          <a:spcPts val="585"/>
                        </a:spcBef>
                        <a:buSzPct val="88888"/>
                        <a:buFont typeface="Wingdings"/>
                        <a:buChar char=""/>
                        <a:tabLst>
                          <a:tab pos="180975" algn="l"/>
                        </a:tabLst>
                      </a:pPr>
                      <a:r>
                        <a:rPr dirty="0" sz="900" spc="-15">
                          <a:latin typeface="Microsoft YaHei"/>
                          <a:cs typeface="Microsoft YaHei"/>
                        </a:rPr>
                        <a:t>影响因素</a:t>
                      </a:r>
                      <a:endParaRPr sz="900">
                        <a:latin typeface="Microsoft YaHei"/>
                        <a:cs typeface="Microsoft YaHei"/>
                      </a:endParaRPr>
                    </a:p>
                    <a:p>
                      <a:pPr marL="271145" indent="-180340">
                        <a:lnSpc>
                          <a:spcPct val="100000"/>
                        </a:lnSpc>
                        <a:spcBef>
                          <a:spcPts val="540"/>
                        </a:spcBef>
                        <a:buFont typeface="Arial MT"/>
                        <a:buChar char="•"/>
                        <a:tabLst>
                          <a:tab pos="271145" algn="l"/>
                        </a:tabLst>
                      </a:pPr>
                      <a:r>
                        <a:rPr dirty="0" sz="900" spc="-20">
                          <a:latin typeface="Microsoft YaHei"/>
                          <a:cs typeface="Microsoft YaHei"/>
                        </a:rPr>
                        <a:t>分辨率</a:t>
                      </a:r>
                      <a:endParaRPr sz="900">
                        <a:latin typeface="Microsoft YaHei"/>
                        <a:cs typeface="Microsoft YaHei"/>
                      </a:endParaRPr>
                    </a:p>
                    <a:p>
                      <a:pPr marL="271145" indent="-180340">
                        <a:lnSpc>
                          <a:spcPct val="100000"/>
                        </a:lnSpc>
                        <a:spcBef>
                          <a:spcPts val="540"/>
                        </a:spcBef>
                        <a:buFont typeface="Arial MT"/>
                        <a:buChar char="•"/>
                        <a:tabLst>
                          <a:tab pos="271145" algn="l"/>
                        </a:tabLst>
                      </a:pPr>
                      <a:r>
                        <a:rPr dirty="0" sz="900" spc="-10">
                          <a:latin typeface="Microsoft YaHei"/>
                          <a:cs typeface="Microsoft YaHei"/>
                        </a:rPr>
                        <a:t>每像素点比特数</a:t>
                      </a:r>
                      <a:endParaRPr sz="900">
                        <a:latin typeface="Microsoft YaHei"/>
                        <a:cs typeface="Microsoft YaHei"/>
                      </a:endParaRPr>
                    </a:p>
                    <a:p>
                      <a:pPr marL="271145" indent="-180340">
                        <a:lnSpc>
                          <a:spcPct val="100000"/>
                        </a:lnSpc>
                        <a:spcBef>
                          <a:spcPts val="540"/>
                        </a:spcBef>
                        <a:buFont typeface="Arial MT"/>
                        <a:buChar char="•"/>
                        <a:tabLst>
                          <a:tab pos="271145" algn="l"/>
                        </a:tabLst>
                      </a:pPr>
                      <a:r>
                        <a:rPr dirty="0" sz="900" spc="-25">
                          <a:latin typeface="Microsoft YaHei"/>
                          <a:cs typeface="Microsoft YaHei"/>
                        </a:rPr>
                        <a:t>帧率</a:t>
                      </a:r>
                      <a:endParaRPr sz="900">
                        <a:latin typeface="Microsoft YaHei"/>
                        <a:cs typeface="Microsoft YaHei"/>
                      </a:endParaRPr>
                    </a:p>
                    <a:p>
                      <a:pPr marL="271145" indent="-180340">
                        <a:lnSpc>
                          <a:spcPct val="100000"/>
                        </a:lnSpc>
                        <a:spcBef>
                          <a:spcPts val="540"/>
                        </a:spcBef>
                        <a:buFont typeface="Arial MT"/>
                        <a:buChar char="•"/>
                        <a:tabLst>
                          <a:tab pos="271145" algn="l"/>
                        </a:tabLst>
                      </a:pPr>
                      <a:r>
                        <a:rPr dirty="0" sz="900" spc="-20">
                          <a:latin typeface="Microsoft YaHei"/>
                          <a:cs typeface="Microsoft YaHei"/>
                        </a:rPr>
                        <a:t>压缩比</a:t>
                      </a:r>
                      <a:endParaRPr sz="900">
                        <a:latin typeface="Microsoft YaHei"/>
                        <a:cs typeface="Microsoft YaHei"/>
                      </a:endParaRPr>
                    </a:p>
                    <a:p>
                      <a:pPr marL="91440" marR="111760" indent="-4445">
                        <a:lnSpc>
                          <a:spcPct val="150000"/>
                        </a:lnSpc>
                        <a:buSzPct val="88888"/>
                        <a:buFont typeface="Wingdings"/>
                        <a:buChar char=""/>
                        <a:tabLst>
                          <a:tab pos="91440" algn="l"/>
                          <a:tab pos="180975" algn="l"/>
                        </a:tabLst>
                      </a:pPr>
                      <a:r>
                        <a:rPr dirty="0" sz="900" spc="-5">
                          <a:latin typeface="Microsoft YaHei"/>
                          <a:cs typeface="Microsoft YaHei"/>
                        </a:rPr>
                        <a:t>	</a:t>
                      </a:r>
                      <a:r>
                        <a:rPr dirty="0" sz="900" spc="-5">
                          <a:latin typeface="Microsoft YaHei"/>
                          <a:cs typeface="Microsoft YaHei"/>
                        </a:rPr>
                        <a:t>测算结论：根据高清视频的帧格式</a:t>
                      </a:r>
                      <a:r>
                        <a:rPr dirty="0" sz="900" spc="-10">
                          <a:latin typeface="Microsoft YaHei"/>
                          <a:cs typeface="Microsoft YaHei"/>
                        </a:rPr>
                        <a:t>和常用的百倍压缩率</a:t>
                      </a:r>
                      <a:endParaRPr sz="900">
                        <a:latin typeface="Microsoft YaHei"/>
                        <a:cs typeface="Microsoft YaHei"/>
                      </a:endParaRPr>
                    </a:p>
                    <a:p>
                      <a:pPr marL="271145" marR="112395" indent="-180340">
                        <a:lnSpc>
                          <a:spcPct val="150000"/>
                        </a:lnSpc>
                        <a:buFont typeface="Arial MT"/>
                        <a:buChar char="•"/>
                        <a:tabLst>
                          <a:tab pos="271145" algn="l"/>
                        </a:tabLst>
                      </a:pPr>
                      <a:r>
                        <a:rPr dirty="0" sz="900">
                          <a:latin typeface="Microsoft YaHei"/>
                          <a:cs typeface="Microsoft YaHei"/>
                        </a:rPr>
                        <a:t>1080p</a:t>
                      </a:r>
                      <a:r>
                        <a:rPr dirty="0" sz="900" spc="-25">
                          <a:latin typeface="Microsoft YaHei"/>
                          <a:cs typeface="Microsoft YaHei"/>
                        </a:rPr>
                        <a:t>, </a:t>
                      </a:r>
                      <a:r>
                        <a:rPr dirty="0" sz="900">
                          <a:latin typeface="Microsoft YaHei"/>
                          <a:cs typeface="Microsoft YaHei"/>
                        </a:rPr>
                        <a:t>12bits/pixel</a:t>
                      </a:r>
                      <a:r>
                        <a:rPr dirty="0" sz="900" spc="-20">
                          <a:latin typeface="Microsoft YaHei"/>
                          <a:cs typeface="Microsoft YaHei"/>
                        </a:rPr>
                        <a:t>, </a:t>
                      </a:r>
                      <a:r>
                        <a:rPr dirty="0" sz="900" spc="-10">
                          <a:latin typeface="Microsoft YaHei"/>
                          <a:cs typeface="Microsoft YaHei"/>
                        </a:rPr>
                        <a:t>60fps</a:t>
                      </a:r>
                      <a:r>
                        <a:rPr dirty="0" sz="900" spc="-25">
                          <a:latin typeface="Microsoft YaHei"/>
                          <a:cs typeface="Microsoft YaHei"/>
                        </a:rPr>
                        <a:t>视频</a:t>
                      </a:r>
                      <a:r>
                        <a:rPr dirty="0" sz="900">
                          <a:latin typeface="Microsoft YaHei"/>
                          <a:cs typeface="Microsoft YaHei"/>
                        </a:rPr>
                        <a:t>传输需要</a:t>
                      </a:r>
                      <a:r>
                        <a:rPr dirty="0" sz="900" spc="-10">
                          <a:latin typeface="Microsoft YaHei"/>
                          <a:cs typeface="Microsoft YaHei"/>
                        </a:rPr>
                        <a:t>15Mbps</a:t>
                      </a:r>
                      <a:endParaRPr sz="900">
                        <a:latin typeface="Microsoft YaHei"/>
                        <a:cs typeface="Microsoft YaHei"/>
                      </a:endParaRPr>
                    </a:p>
                    <a:p>
                      <a:pPr marL="271145" marR="198755" indent="-180340">
                        <a:lnSpc>
                          <a:spcPct val="150000"/>
                        </a:lnSpc>
                        <a:buFont typeface="Arial MT"/>
                        <a:buChar char="•"/>
                        <a:tabLst>
                          <a:tab pos="271145" algn="l"/>
                        </a:tabLst>
                      </a:pPr>
                      <a:r>
                        <a:rPr dirty="0" sz="900">
                          <a:latin typeface="Microsoft YaHei"/>
                          <a:cs typeface="Microsoft YaHei"/>
                        </a:rPr>
                        <a:t>4K</a:t>
                      </a:r>
                      <a:r>
                        <a:rPr dirty="0" sz="900" spc="-20">
                          <a:latin typeface="Microsoft YaHei"/>
                          <a:cs typeface="Microsoft YaHei"/>
                        </a:rPr>
                        <a:t>, </a:t>
                      </a:r>
                      <a:r>
                        <a:rPr dirty="0" sz="900">
                          <a:latin typeface="Microsoft YaHei"/>
                          <a:cs typeface="Microsoft YaHei"/>
                        </a:rPr>
                        <a:t>12bits/pixel</a:t>
                      </a:r>
                      <a:r>
                        <a:rPr dirty="0" sz="900" spc="-30">
                          <a:latin typeface="Microsoft YaHei"/>
                          <a:cs typeface="Microsoft YaHei"/>
                        </a:rPr>
                        <a:t>, </a:t>
                      </a:r>
                      <a:r>
                        <a:rPr dirty="0" sz="900" spc="-10">
                          <a:latin typeface="Microsoft YaHei"/>
                          <a:cs typeface="Microsoft YaHei"/>
                        </a:rPr>
                        <a:t>60fps</a:t>
                      </a:r>
                      <a:r>
                        <a:rPr dirty="0" sz="900" spc="-20">
                          <a:latin typeface="Microsoft YaHei"/>
                          <a:cs typeface="Microsoft YaHei"/>
                        </a:rPr>
                        <a:t>视频传</a:t>
                      </a:r>
                      <a:r>
                        <a:rPr dirty="0" sz="900">
                          <a:latin typeface="Microsoft YaHei"/>
                          <a:cs typeface="Microsoft YaHei"/>
                        </a:rPr>
                        <a:t>输需要约</a:t>
                      </a:r>
                      <a:r>
                        <a:rPr dirty="0" sz="900" spc="-10">
                          <a:latin typeface="Microsoft YaHei"/>
                          <a:cs typeface="Microsoft YaHei"/>
                        </a:rPr>
                        <a:t>60Mbps</a:t>
                      </a:r>
                      <a:endParaRPr sz="900">
                        <a:latin typeface="Microsoft YaHei"/>
                        <a:cs typeface="Microsoft YaHei"/>
                      </a:endParaRPr>
                    </a:p>
                    <a:p>
                      <a:pPr marL="271145" marR="198755" indent="-180340">
                        <a:lnSpc>
                          <a:spcPct val="150000"/>
                        </a:lnSpc>
                        <a:buFont typeface="Arial MT"/>
                        <a:buChar char="•"/>
                        <a:tabLst>
                          <a:tab pos="271145" algn="l"/>
                        </a:tabLst>
                      </a:pPr>
                      <a:r>
                        <a:rPr dirty="0" sz="900">
                          <a:latin typeface="Microsoft YaHei"/>
                          <a:cs typeface="Microsoft YaHei"/>
                        </a:rPr>
                        <a:t>8K</a:t>
                      </a:r>
                      <a:r>
                        <a:rPr dirty="0" sz="900" spc="-20">
                          <a:latin typeface="Microsoft YaHei"/>
                          <a:cs typeface="Microsoft YaHei"/>
                        </a:rPr>
                        <a:t>, </a:t>
                      </a:r>
                      <a:r>
                        <a:rPr dirty="0" sz="900">
                          <a:latin typeface="Microsoft YaHei"/>
                          <a:cs typeface="Microsoft YaHei"/>
                        </a:rPr>
                        <a:t>12bits/pixel</a:t>
                      </a:r>
                      <a:r>
                        <a:rPr dirty="0" sz="900" spc="-30">
                          <a:latin typeface="Microsoft YaHei"/>
                          <a:cs typeface="Microsoft YaHei"/>
                        </a:rPr>
                        <a:t>, </a:t>
                      </a:r>
                      <a:r>
                        <a:rPr dirty="0" sz="900" spc="-10">
                          <a:latin typeface="Microsoft YaHei"/>
                          <a:cs typeface="Microsoft YaHei"/>
                        </a:rPr>
                        <a:t>60fps</a:t>
                      </a:r>
                      <a:r>
                        <a:rPr dirty="0" sz="900" spc="-20">
                          <a:latin typeface="Microsoft YaHei"/>
                          <a:cs typeface="Microsoft YaHei"/>
                        </a:rPr>
                        <a:t>视频传</a:t>
                      </a:r>
                      <a:r>
                        <a:rPr dirty="0" sz="900">
                          <a:latin typeface="Microsoft YaHei"/>
                          <a:cs typeface="Microsoft YaHei"/>
                        </a:rPr>
                        <a:t>输需要约</a:t>
                      </a:r>
                      <a:r>
                        <a:rPr dirty="0" sz="900" spc="-10">
                          <a:latin typeface="Microsoft YaHei"/>
                          <a:cs typeface="Microsoft YaHei"/>
                        </a:rPr>
                        <a:t>240Mbps</a:t>
                      </a:r>
                      <a:endParaRPr sz="900">
                        <a:latin typeface="Microsoft YaHei"/>
                        <a:cs typeface="Microsoft YaHei"/>
                      </a:endParaRPr>
                    </a:p>
                    <a:p>
                      <a:pPr marL="271145" marR="104139" indent="-180340">
                        <a:lnSpc>
                          <a:spcPct val="150000"/>
                        </a:lnSpc>
                        <a:buFont typeface="Arial MT"/>
                        <a:buChar char="•"/>
                        <a:tabLst>
                          <a:tab pos="271145" algn="l"/>
                        </a:tabLst>
                      </a:pPr>
                      <a:r>
                        <a:rPr dirty="0" sz="900" spc="-10">
                          <a:latin typeface="Microsoft YaHei"/>
                          <a:cs typeface="Microsoft YaHei"/>
                        </a:rPr>
                        <a:t>8K(3D),24bits/pixel, </a:t>
                      </a:r>
                      <a:r>
                        <a:rPr dirty="0" sz="900">
                          <a:latin typeface="Microsoft YaHei"/>
                          <a:cs typeface="Microsoft YaHei"/>
                        </a:rPr>
                        <a:t>120fps</a:t>
                      </a:r>
                      <a:r>
                        <a:rPr dirty="0" sz="900" spc="-20">
                          <a:latin typeface="Microsoft YaHei"/>
                          <a:cs typeface="Microsoft YaHei"/>
                        </a:rPr>
                        <a:t>, 普</a:t>
                      </a:r>
                      <a:r>
                        <a:rPr dirty="0" sz="900" spc="-5">
                          <a:latin typeface="Microsoft YaHei"/>
                          <a:cs typeface="Microsoft YaHei"/>
                        </a:rPr>
                        <a:t>通压缩视频传输需要约</a:t>
                      </a:r>
                      <a:r>
                        <a:rPr dirty="0" sz="900" spc="-50">
                          <a:latin typeface="Microsoft YaHei"/>
                          <a:cs typeface="Microsoft YaHei"/>
                        </a:rPr>
                        <a:t> </a:t>
                      </a:r>
                      <a:r>
                        <a:rPr dirty="0" sz="900" spc="-10">
                          <a:latin typeface="Microsoft YaHei"/>
                          <a:cs typeface="Microsoft YaHei"/>
                        </a:rPr>
                        <a:t>960Mbps</a:t>
                      </a:r>
                      <a:endParaRPr sz="900">
                        <a:latin typeface="Microsoft YaHei"/>
                        <a:cs typeface="Microsoft YaHei"/>
                      </a:endParaR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spc="-10">
                          <a:latin typeface="Microsoft YaHei"/>
                          <a:cs typeface="Microsoft YaHei"/>
                        </a:rPr>
                        <a:t>50~100ms</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D050"/>
                    </a:solidFill>
                  </a:tcPr>
                </a:tc>
                <a:tc>
                  <a:txBody>
                    <a:bodyPr/>
                    <a:lstStyle/>
                    <a:p>
                      <a:pPr marL="91440">
                        <a:lnSpc>
                          <a:spcPct val="100000"/>
                        </a:lnSpc>
                        <a:spcBef>
                          <a:spcPts val="225"/>
                        </a:spcBef>
                      </a:pPr>
                      <a:r>
                        <a:rPr dirty="0" sz="1100">
                          <a:latin typeface="Microsoft YaHei"/>
                          <a:cs typeface="Microsoft YaHei"/>
                        </a:rPr>
                        <a:t>15Mbps</a:t>
                      </a:r>
                      <a:r>
                        <a:rPr dirty="0" sz="1100" spc="-40">
                          <a:latin typeface="Microsoft YaHei"/>
                          <a:cs typeface="Microsoft YaHei"/>
                        </a:rPr>
                        <a:t> </a:t>
                      </a:r>
                      <a:r>
                        <a:rPr dirty="0" sz="1100" spc="-10">
                          <a:latin typeface="Microsoft YaHei"/>
                          <a:cs typeface="Microsoft YaHei"/>
                        </a:rPr>
                        <a:t>(UL&amp;DL)</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D050"/>
                    </a:solidFill>
                  </a:tcPr>
                </a:tc>
              </a:tr>
              <a:tr h="1290955">
                <a:tc>
                  <a:txBody>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580"/>
                        </a:spcBef>
                      </a:pPr>
                      <a:endParaRPr sz="1100">
                        <a:latin typeface="Times New Roman"/>
                        <a:cs typeface="Times New Roman"/>
                      </a:endParaRPr>
                    </a:p>
                    <a:p>
                      <a:pPr marL="91440">
                        <a:lnSpc>
                          <a:spcPct val="100000"/>
                        </a:lnSpc>
                        <a:spcBef>
                          <a:spcPts val="5"/>
                        </a:spcBef>
                      </a:pPr>
                      <a:r>
                        <a:rPr dirty="0" sz="1100" spc="-25">
                          <a:latin typeface="Microsoft YaHei"/>
                          <a:cs typeface="Microsoft YaHei"/>
                        </a:rPr>
                        <a:t>高清视频播放</a:t>
                      </a:r>
                      <a:endParaRPr sz="11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algn="just" marL="90805" marR="147320">
                        <a:lnSpc>
                          <a:spcPct val="150000"/>
                        </a:lnSpc>
                        <a:spcBef>
                          <a:spcPts val="45"/>
                        </a:spcBef>
                      </a:pPr>
                      <a:r>
                        <a:rPr dirty="0" sz="900" spc="-5">
                          <a:latin typeface="Microsoft YaHei"/>
                          <a:cs typeface="Microsoft YaHei"/>
                        </a:rPr>
                        <a:t>不同场景支持能力不同，如静止</a:t>
                      </a:r>
                      <a:r>
                        <a:rPr dirty="0" sz="900">
                          <a:latin typeface="Microsoft YaHei"/>
                          <a:cs typeface="Microsoft YaHei"/>
                        </a:rPr>
                        <a:t>场景支持</a:t>
                      </a:r>
                      <a:r>
                        <a:rPr dirty="0" sz="900" spc="-10">
                          <a:latin typeface="Microsoft YaHei"/>
                          <a:cs typeface="Microsoft YaHei"/>
                        </a:rPr>
                        <a:t>8K视频传输，中速场景</a:t>
                      </a:r>
                      <a:r>
                        <a:rPr dirty="0" sz="900">
                          <a:latin typeface="Microsoft YaHei"/>
                          <a:cs typeface="Microsoft YaHei"/>
                        </a:rPr>
                        <a:t>支持</a:t>
                      </a:r>
                      <a:r>
                        <a:rPr dirty="0" sz="900" spc="-10">
                          <a:latin typeface="Microsoft YaHei"/>
                          <a:cs typeface="Microsoft YaHei"/>
                        </a:rPr>
                        <a:t>4K</a:t>
                      </a:r>
                      <a:r>
                        <a:rPr dirty="0" sz="900" spc="-5">
                          <a:latin typeface="Microsoft YaHei"/>
                          <a:cs typeface="Microsoft YaHei"/>
                        </a:rPr>
                        <a:t>视频传输，高速场景支持</a:t>
                      </a:r>
                      <a:r>
                        <a:rPr dirty="0" sz="900" spc="-50">
                          <a:latin typeface="Microsoft YaHei"/>
                          <a:cs typeface="Microsoft YaHei"/>
                        </a:rPr>
                        <a:t> </a:t>
                      </a:r>
                      <a:r>
                        <a:rPr dirty="0" sz="900">
                          <a:latin typeface="Microsoft YaHei"/>
                          <a:cs typeface="Microsoft YaHei"/>
                        </a:rPr>
                        <a:t>1080P视频传输（均为下行</a:t>
                      </a:r>
                      <a:r>
                        <a:rPr dirty="0" sz="900" spc="-50">
                          <a:latin typeface="Microsoft YaHei"/>
                          <a:cs typeface="Microsoft YaHei"/>
                        </a:rPr>
                        <a:t>）</a:t>
                      </a:r>
                      <a:endParaRPr sz="900">
                        <a:latin typeface="Microsoft YaHei"/>
                        <a:cs typeface="Microsoft YaHei"/>
                      </a:endParaRPr>
                    </a:p>
                  </a:txBody>
                  <a:tcPr marL="0" marR="0" marB="0" marT="57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vMerge="1">
                  <a:txBody>
                    <a:bodyPr/>
                    <a:lstStyle/>
                    <a:p>
                      <a:p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1440" marR="116205">
                        <a:lnSpc>
                          <a:spcPct val="100000"/>
                        </a:lnSpc>
                        <a:spcBef>
                          <a:spcPts val="234"/>
                        </a:spcBef>
                      </a:pPr>
                      <a:r>
                        <a:rPr dirty="0" sz="900" spc="-10">
                          <a:latin typeface="Microsoft YaHei"/>
                          <a:cs typeface="Microsoft YaHei"/>
                        </a:rPr>
                        <a:t>50-100ms</a:t>
                      </a:r>
                      <a:r>
                        <a:rPr dirty="0" sz="900" spc="-5">
                          <a:latin typeface="Microsoft YaHei"/>
                          <a:cs typeface="Microsoft YaHei"/>
                        </a:rPr>
                        <a:t>能够提供非常好的业务体</a:t>
                      </a:r>
                      <a:r>
                        <a:rPr dirty="0" sz="900" spc="-50">
                          <a:latin typeface="Microsoft YaHei"/>
                          <a:cs typeface="Microsoft YaHei"/>
                        </a:rPr>
                        <a:t>验</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25"/>
                        </a:spcBef>
                      </a:pPr>
                      <a:r>
                        <a:rPr dirty="0" sz="1100">
                          <a:latin typeface="Microsoft YaHei"/>
                          <a:cs typeface="Microsoft YaHei"/>
                        </a:rPr>
                        <a:t>1080P:15Mbps</a:t>
                      </a:r>
                      <a:r>
                        <a:rPr dirty="0" sz="1100" spc="-60">
                          <a:latin typeface="Microsoft YaHei"/>
                          <a:cs typeface="Microsoft YaHei"/>
                        </a:rPr>
                        <a:t> </a:t>
                      </a:r>
                      <a:r>
                        <a:rPr dirty="0" sz="1100" spc="-20">
                          <a:latin typeface="Microsoft YaHei"/>
                          <a:cs typeface="Microsoft YaHei"/>
                        </a:rPr>
                        <a:t>(DL)</a:t>
                      </a:r>
                      <a:endParaRPr sz="1100">
                        <a:latin typeface="Microsoft YaHei"/>
                        <a:cs typeface="Microsoft YaHei"/>
                      </a:endParaRPr>
                    </a:p>
                    <a:p>
                      <a:pPr marL="91440">
                        <a:lnSpc>
                          <a:spcPct val="100000"/>
                        </a:lnSpc>
                      </a:pPr>
                      <a:r>
                        <a:rPr dirty="0" sz="1100">
                          <a:latin typeface="Microsoft YaHei"/>
                          <a:cs typeface="Microsoft YaHei"/>
                        </a:rPr>
                        <a:t>4K:60Mbps</a:t>
                      </a:r>
                      <a:r>
                        <a:rPr dirty="0" sz="1100" spc="-50">
                          <a:latin typeface="Microsoft YaHei"/>
                          <a:cs typeface="Microsoft YaHei"/>
                        </a:rPr>
                        <a:t> </a:t>
                      </a:r>
                      <a:r>
                        <a:rPr dirty="0" sz="1100" spc="-20">
                          <a:latin typeface="Microsoft YaHei"/>
                          <a:cs typeface="Microsoft YaHei"/>
                        </a:rPr>
                        <a:t>(DL)</a:t>
                      </a:r>
                      <a:endParaRPr sz="1100">
                        <a:latin typeface="Microsoft YaHei"/>
                        <a:cs typeface="Microsoft YaHei"/>
                      </a:endParaRPr>
                    </a:p>
                    <a:p>
                      <a:pPr marL="91440">
                        <a:lnSpc>
                          <a:spcPct val="100000"/>
                        </a:lnSpc>
                      </a:pPr>
                      <a:r>
                        <a:rPr dirty="0" sz="1100">
                          <a:latin typeface="Microsoft YaHei"/>
                          <a:cs typeface="Microsoft YaHei"/>
                        </a:rPr>
                        <a:t>8K:240Mbps</a:t>
                      </a:r>
                      <a:r>
                        <a:rPr dirty="0" sz="1100" spc="-55">
                          <a:latin typeface="Microsoft YaHei"/>
                          <a:cs typeface="Microsoft YaHei"/>
                        </a:rPr>
                        <a:t> </a:t>
                      </a:r>
                      <a:r>
                        <a:rPr dirty="0" sz="1100" spc="-20">
                          <a:latin typeface="Microsoft YaHei"/>
                          <a:cs typeface="Microsoft YaHei"/>
                        </a:rPr>
                        <a:t>(DL)</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r>
              <a:tr h="822960">
                <a:tc>
                  <a:txBody>
                    <a:bodyPr/>
                    <a:lstStyle/>
                    <a:p>
                      <a:pPr>
                        <a:lnSpc>
                          <a:spcPct val="100000"/>
                        </a:lnSpc>
                      </a:pPr>
                      <a:endParaRPr sz="1100">
                        <a:latin typeface="Times New Roman"/>
                        <a:cs typeface="Times New Roman"/>
                      </a:endParaRPr>
                    </a:p>
                    <a:p>
                      <a:pPr>
                        <a:lnSpc>
                          <a:spcPct val="100000"/>
                        </a:lnSpc>
                        <a:spcBef>
                          <a:spcPts val="5"/>
                        </a:spcBef>
                      </a:pPr>
                      <a:endParaRPr sz="1100">
                        <a:latin typeface="Times New Roman"/>
                        <a:cs typeface="Times New Roman"/>
                      </a:endParaRPr>
                    </a:p>
                    <a:p>
                      <a:pPr marL="91440">
                        <a:lnSpc>
                          <a:spcPct val="100000"/>
                        </a:lnSpc>
                      </a:pPr>
                      <a:r>
                        <a:rPr dirty="0" sz="1100" spc="-30">
                          <a:latin typeface="Microsoft YaHei"/>
                          <a:cs typeface="Microsoft YaHei"/>
                        </a:rPr>
                        <a:t>增强现实</a:t>
                      </a:r>
                      <a:endParaRPr sz="1100">
                        <a:latin typeface="Microsoft YaHei"/>
                        <a:cs typeface="Microsoft YaHei"/>
                      </a:endParaRPr>
                    </a:p>
                  </a:txBody>
                  <a:tcPr marL="0" marR="0" marB="0" marT="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marL="91440" marR="177165">
                        <a:lnSpc>
                          <a:spcPct val="150000"/>
                        </a:lnSpc>
                        <a:spcBef>
                          <a:spcPts val="45"/>
                        </a:spcBef>
                      </a:pPr>
                      <a:r>
                        <a:rPr dirty="0" sz="900">
                          <a:latin typeface="Microsoft YaHei"/>
                          <a:cs typeface="Microsoft YaHei"/>
                        </a:rPr>
                        <a:t>支持上下行1080P</a:t>
                      </a:r>
                      <a:r>
                        <a:rPr dirty="0" sz="900" spc="-10">
                          <a:latin typeface="Microsoft YaHei"/>
                          <a:cs typeface="Microsoft YaHei"/>
                        </a:rPr>
                        <a:t>视频传输，用户对时延无感知</a:t>
                      </a:r>
                      <a:endParaRPr sz="900">
                        <a:latin typeface="Microsoft YaHei"/>
                        <a:cs typeface="Microsoft YaHei"/>
                      </a:endParaRPr>
                    </a:p>
                  </a:txBody>
                  <a:tcPr marL="0" marR="0" marB="0" marT="57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vMerge="1">
                  <a:txBody>
                    <a:bodyPr/>
                    <a:lstStyle/>
                    <a:p>
                      <a:p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0805" marR="92075">
                        <a:lnSpc>
                          <a:spcPct val="150000"/>
                        </a:lnSpc>
                        <a:spcBef>
                          <a:spcPts val="70"/>
                        </a:spcBef>
                      </a:pPr>
                      <a:r>
                        <a:rPr dirty="0" sz="800" spc="-15">
                          <a:latin typeface="Microsoft YaHei"/>
                          <a:cs typeface="Microsoft YaHei"/>
                        </a:rPr>
                        <a:t>人眼视神经的最快反应时间去除摄像头的图像采集和终端设备的投影处理时间, 达到用户对图像时延无感知时网络需保障的</a:t>
                      </a:r>
                      <a:r>
                        <a:rPr dirty="0" sz="800" spc="-10">
                          <a:latin typeface="Microsoft YaHei"/>
                          <a:cs typeface="Microsoft YaHei"/>
                        </a:rPr>
                        <a:t>单向端到端时延约为5-</a:t>
                      </a:r>
                      <a:r>
                        <a:rPr dirty="0" sz="800" spc="-20">
                          <a:latin typeface="Microsoft YaHei"/>
                          <a:cs typeface="Microsoft YaHei"/>
                        </a:rPr>
                        <a:t>10ms</a:t>
                      </a:r>
                      <a:endParaRPr sz="800">
                        <a:latin typeface="Microsoft YaHei"/>
                        <a:cs typeface="Microsoft YaHei"/>
                      </a:endParaRPr>
                    </a:p>
                  </a:txBody>
                  <a:tcPr marL="0" marR="0" marB="0" marT="889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marL="91440" marR="590550">
                        <a:lnSpc>
                          <a:spcPct val="100000"/>
                        </a:lnSpc>
                        <a:spcBef>
                          <a:spcPts val="225"/>
                        </a:spcBef>
                      </a:pPr>
                      <a:r>
                        <a:rPr dirty="0" sz="1100" spc="-10">
                          <a:latin typeface="Microsoft YaHei"/>
                          <a:cs typeface="Microsoft YaHei"/>
                        </a:rPr>
                        <a:t>15Mbps(UL&amp;DL) 5~10ms</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r>
              <a:tr h="342900">
                <a:tc>
                  <a:txBody>
                    <a:bodyPr/>
                    <a:lstStyle/>
                    <a:p>
                      <a:pPr marL="90805">
                        <a:lnSpc>
                          <a:spcPct val="100000"/>
                        </a:lnSpc>
                        <a:spcBef>
                          <a:spcPts val="645"/>
                        </a:spcBef>
                      </a:pPr>
                      <a:r>
                        <a:rPr dirty="0" sz="1100" spc="-30">
                          <a:latin typeface="Microsoft YaHei"/>
                          <a:cs typeface="Microsoft YaHei"/>
                        </a:rPr>
                        <a:t>虚拟现实</a:t>
                      </a:r>
                      <a:endParaRPr sz="1100">
                        <a:latin typeface="Microsoft YaHei"/>
                        <a:cs typeface="Microsoft YaHei"/>
                      </a:endParaRPr>
                    </a:p>
                  </a:txBody>
                  <a:tcPr marL="0" marR="0" marB="0" marT="8191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a:latin typeface="Microsoft YaHei"/>
                          <a:cs typeface="Microsoft YaHei"/>
                        </a:rPr>
                        <a:t>支持下行</a:t>
                      </a:r>
                      <a:r>
                        <a:rPr dirty="0" sz="900" spc="-10">
                          <a:latin typeface="Microsoft YaHei"/>
                          <a:cs typeface="Microsoft YaHei"/>
                        </a:rPr>
                        <a:t>8K(3D</a:t>
                      </a:r>
                      <a:r>
                        <a:rPr dirty="0" sz="900" spc="-15">
                          <a:latin typeface="Microsoft YaHei"/>
                          <a:cs typeface="Microsoft YaHei"/>
                        </a:rPr>
                        <a:t>)高清视频传输</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vMerge="1">
                  <a:txBody>
                    <a:bodyPr/>
                    <a:lstStyle/>
                    <a:p>
                      <a:p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spc="-10">
                          <a:latin typeface="Microsoft YaHei"/>
                          <a:cs typeface="Microsoft YaHei"/>
                        </a:rPr>
                        <a:t>50~100ms</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25"/>
                        </a:spcBef>
                      </a:pPr>
                      <a:r>
                        <a:rPr dirty="0" sz="1100">
                          <a:latin typeface="Microsoft YaHei"/>
                          <a:cs typeface="Microsoft YaHei"/>
                        </a:rPr>
                        <a:t>960Mbps</a:t>
                      </a:r>
                      <a:r>
                        <a:rPr dirty="0" sz="1100" spc="-40">
                          <a:latin typeface="Microsoft YaHei"/>
                          <a:cs typeface="Microsoft YaHei"/>
                        </a:rPr>
                        <a:t> </a:t>
                      </a:r>
                      <a:r>
                        <a:rPr dirty="0" sz="1100" spc="-20">
                          <a:latin typeface="Microsoft YaHei"/>
                          <a:cs typeface="Microsoft YaHei"/>
                        </a:rPr>
                        <a:t>(DL)</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r>
              <a:tr h="388620">
                <a:tc>
                  <a:txBody>
                    <a:bodyPr/>
                    <a:lstStyle/>
                    <a:p>
                      <a:pPr marL="91440">
                        <a:lnSpc>
                          <a:spcPct val="100000"/>
                        </a:lnSpc>
                        <a:spcBef>
                          <a:spcPts val="825"/>
                        </a:spcBef>
                      </a:pPr>
                      <a:r>
                        <a:rPr dirty="0" sz="1100" spc="-25">
                          <a:latin typeface="Microsoft YaHei"/>
                          <a:cs typeface="Microsoft YaHei"/>
                        </a:rPr>
                        <a:t>实时视频分享</a:t>
                      </a:r>
                      <a:endParaRPr sz="1100">
                        <a:latin typeface="Microsoft YaHei"/>
                        <a:cs typeface="Microsoft YaHei"/>
                      </a:endParaRPr>
                    </a:p>
                  </a:txBody>
                  <a:tcPr marL="0" marR="0" marB="0" marT="1047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marL="91440">
                        <a:lnSpc>
                          <a:spcPct val="100000"/>
                        </a:lnSpc>
                        <a:spcBef>
                          <a:spcPts val="234"/>
                        </a:spcBef>
                      </a:pPr>
                      <a:r>
                        <a:rPr dirty="0" sz="900">
                          <a:latin typeface="Microsoft YaHei"/>
                          <a:cs typeface="Microsoft YaHei"/>
                        </a:rPr>
                        <a:t>支持上行</a:t>
                      </a:r>
                      <a:r>
                        <a:rPr dirty="0" sz="900" spc="-10">
                          <a:latin typeface="Microsoft YaHei"/>
                          <a:cs typeface="Microsoft YaHei"/>
                        </a:rPr>
                        <a:t>4K</a:t>
                      </a:r>
                      <a:r>
                        <a:rPr dirty="0" sz="900" spc="-15">
                          <a:latin typeface="Microsoft YaHei"/>
                          <a:cs typeface="Microsoft YaHei"/>
                        </a:rPr>
                        <a:t>视频传输</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vMerge="1">
                  <a:txBody>
                    <a:bodyPr/>
                    <a:lstStyle/>
                    <a:p>
                      <a:p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spc="-10">
                          <a:latin typeface="Microsoft YaHei"/>
                          <a:cs typeface="Microsoft YaHei"/>
                        </a:rPr>
                        <a:t>50~100ms</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c>
                  <a:txBody>
                    <a:bodyPr/>
                    <a:lstStyle/>
                    <a:p>
                      <a:pPr marL="91440">
                        <a:lnSpc>
                          <a:spcPct val="100000"/>
                        </a:lnSpc>
                        <a:spcBef>
                          <a:spcPts val="225"/>
                        </a:spcBef>
                      </a:pPr>
                      <a:r>
                        <a:rPr dirty="0" sz="1100">
                          <a:latin typeface="Microsoft YaHei"/>
                          <a:cs typeface="Microsoft YaHei"/>
                        </a:rPr>
                        <a:t>60Mbps</a:t>
                      </a:r>
                      <a:r>
                        <a:rPr dirty="0" sz="1100" spc="-40">
                          <a:latin typeface="Microsoft YaHei"/>
                          <a:cs typeface="Microsoft YaHei"/>
                        </a:rPr>
                        <a:t> </a:t>
                      </a:r>
                      <a:r>
                        <a:rPr dirty="0" sz="1100" spc="-20">
                          <a:latin typeface="Microsoft YaHei"/>
                          <a:cs typeface="Microsoft YaHei"/>
                        </a:rPr>
                        <a:t>(UL)</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CC00"/>
                    </a:solidFill>
                  </a:tcPr>
                </a:tc>
              </a:tr>
              <a:tr h="403860">
                <a:tc>
                  <a:txBody>
                    <a:bodyPr/>
                    <a:lstStyle/>
                    <a:p>
                      <a:pPr marL="91440">
                        <a:lnSpc>
                          <a:spcPct val="100000"/>
                        </a:lnSpc>
                        <a:spcBef>
                          <a:spcPts val="885"/>
                        </a:spcBef>
                      </a:pPr>
                      <a:r>
                        <a:rPr dirty="0" sz="1100" spc="-30">
                          <a:latin typeface="Microsoft YaHei"/>
                          <a:cs typeface="Microsoft YaHei"/>
                        </a:rPr>
                        <a:t>视频监控</a:t>
                      </a:r>
                      <a:endParaRPr sz="1100">
                        <a:latin typeface="Microsoft YaHei"/>
                        <a:cs typeface="Microsoft YaHei"/>
                      </a:endParaRPr>
                    </a:p>
                  </a:txBody>
                  <a:tcPr marL="0" marR="0" marB="0" marT="11239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spc="-5">
                          <a:latin typeface="Microsoft YaHei"/>
                          <a:cs typeface="Microsoft YaHei"/>
                        </a:rPr>
                        <a:t>单位面积一个摄像头，支持上行</a:t>
                      </a:r>
                      <a:endParaRPr sz="900">
                        <a:latin typeface="Microsoft YaHei"/>
                        <a:cs typeface="Microsoft YaHei"/>
                      </a:endParaRPr>
                    </a:p>
                    <a:p>
                      <a:pPr marL="91440">
                        <a:lnSpc>
                          <a:spcPct val="100000"/>
                        </a:lnSpc>
                      </a:pPr>
                      <a:r>
                        <a:rPr dirty="0" sz="900" spc="-10">
                          <a:latin typeface="Microsoft YaHei"/>
                          <a:cs typeface="Microsoft YaHei"/>
                        </a:rPr>
                        <a:t>4K</a:t>
                      </a:r>
                      <a:r>
                        <a:rPr dirty="0" sz="900" spc="-15">
                          <a:latin typeface="Microsoft YaHei"/>
                          <a:cs typeface="Microsoft YaHei"/>
                        </a:rPr>
                        <a:t>视频传输</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vMerge="1">
                  <a:txBody>
                    <a:bodyPr/>
                    <a:lstStyle/>
                    <a:p>
                      <a:pPr/>
                    </a:p>
                  </a:txBody>
                  <a:tcPr marL="0" marR="0" marB="0" marT="7429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34"/>
                        </a:spcBef>
                      </a:pPr>
                      <a:r>
                        <a:rPr dirty="0" sz="900" spc="-10">
                          <a:latin typeface="Microsoft YaHei"/>
                          <a:cs typeface="Microsoft YaHei"/>
                        </a:rPr>
                        <a:t>50~100ms</a:t>
                      </a:r>
                      <a:endParaRPr sz="900">
                        <a:latin typeface="Microsoft YaHei"/>
                        <a:cs typeface="Microsoft YaHei"/>
                      </a:endParaRPr>
                    </a:p>
                  </a:txBody>
                  <a:tcPr marL="0" marR="0" marB="0" marT="29844">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c>
                  <a:txBody>
                    <a:bodyPr/>
                    <a:lstStyle/>
                    <a:p>
                      <a:pPr marL="91440">
                        <a:lnSpc>
                          <a:spcPct val="100000"/>
                        </a:lnSpc>
                        <a:spcBef>
                          <a:spcPts val="225"/>
                        </a:spcBef>
                      </a:pPr>
                      <a:r>
                        <a:rPr dirty="0" sz="1100">
                          <a:latin typeface="Microsoft YaHei"/>
                          <a:cs typeface="Microsoft YaHei"/>
                        </a:rPr>
                        <a:t>60Mbps</a:t>
                      </a:r>
                      <a:r>
                        <a:rPr dirty="0" sz="1100" spc="-40">
                          <a:latin typeface="Microsoft YaHei"/>
                          <a:cs typeface="Microsoft YaHei"/>
                        </a:rPr>
                        <a:t> </a:t>
                      </a:r>
                      <a:r>
                        <a:rPr dirty="0" sz="1100" spc="-20">
                          <a:latin typeface="Microsoft YaHei"/>
                          <a:cs typeface="Microsoft YaHei"/>
                        </a:rPr>
                        <a:t>(UL)</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00B0F0"/>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4972050"/>
            <a:ext cx="9144000" cy="171450"/>
          </a:xfrm>
          <a:prstGeom prst="rect">
            <a:avLst/>
          </a:prstGeom>
        </p:spPr>
      </p:pic>
      <p:grpSp>
        <p:nvGrpSpPr>
          <p:cNvPr id="3" name="object 3" descr=""/>
          <p:cNvGrpSpPr/>
          <p:nvPr/>
        </p:nvGrpSpPr>
        <p:grpSpPr>
          <a:xfrm>
            <a:off x="136494" y="800668"/>
            <a:ext cx="8797925" cy="4211320"/>
            <a:chOff x="136494" y="800668"/>
            <a:chExt cx="8797925" cy="4211320"/>
          </a:xfrm>
        </p:grpSpPr>
        <p:sp>
          <p:nvSpPr>
            <p:cNvPr id="4" name="object 4" descr=""/>
            <p:cNvSpPr/>
            <p:nvPr/>
          </p:nvSpPr>
          <p:spPr>
            <a:xfrm>
              <a:off x="1438988"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5" name="object 5" descr=""/>
            <p:cNvSpPr/>
            <p:nvPr/>
          </p:nvSpPr>
          <p:spPr>
            <a:xfrm>
              <a:off x="2907952"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6" name="object 6" descr=""/>
            <p:cNvSpPr/>
            <p:nvPr/>
          </p:nvSpPr>
          <p:spPr>
            <a:xfrm>
              <a:off x="4967380"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7" name="object 7" descr=""/>
            <p:cNvSpPr/>
            <p:nvPr/>
          </p:nvSpPr>
          <p:spPr>
            <a:xfrm>
              <a:off x="7170826"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8" name="object 8" descr=""/>
            <p:cNvSpPr/>
            <p:nvPr/>
          </p:nvSpPr>
          <p:spPr>
            <a:xfrm>
              <a:off x="142844"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9" name="object 9" descr=""/>
            <p:cNvSpPr/>
            <p:nvPr/>
          </p:nvSpPr>
          <p:spPr>
            <a:xfrm>
              <a:off x="8927820" y="800668"/>
              <a:ext cx="0" cy="4211320"/>
            </a:xfrm>
            <a:custGeom>
              <a:avLst/>
              <a:gdLst/>
              <a:ahLst/>
              <a:cxnLst/>
              <a:rect l="l" t="t" r="r" b="b"/>
              <a:pathLst>
                <a:path w="0" h="4211320">
                  <a:moveTo>
                    <a:pt x="0" y="0"/>
                  </a:moveTo>
                  <a:lnTo>
                    <a:pt x="0" y="4211320"/>
                  </a:lnTo>
                </a:path>
              </a:pathLst>
            </a:custGeom>
            <a:ln w="12700">
              <a:solidFill>
                <a:srgbClr val="FFFFFF"/>
              </a:solidFill>
            </a:ln>
          </p:spPr>
          <p:txBody>
            <a:bodyPr wrap="square" lIns="0" tIns="0" rIns="0" bIns="0" rtlCol="0"/>
            <a:lstStyle/>
            <a:p/>
          </p:txBody>
        </p:sp>
        <p:sp>
          <p:nvSpPr>
            <p:cNvPr id="10" name="object 10" descr=""/>
            <p:cNvSpPr/>
            <p:nvPr/>
          </p:nvSpPr>
          <p:spPr>
            <a:xfrm>
              <a:off x="136494" y="5005639"/>
              <a:ext cx="8797925" cy="0"/>
            </a:xfrm>
            <a:custGeom>
              <a:avLst/>
              <a:gdLst/>
              <a:ahLst/>
              <a:cxnLst/>
              <a:rect l="l" t="t" r="r" b="b"/>
              <a:pathLst>
                <a:path w="8797925" h="0">
                  <a:moveTo>
                    <a:pt x="0" y="0"/>
                  </a:moveTo>
                  <a:lnTo>
                    <a:pt x="8797671" y="0"/>
                  </a:lnTo>
                </a:path>
              </a:pathLst>
            </a:custGeom>
            <a:ln w="12700">
              <a:solidFill>
                <a:srgbClr val="FFFFFF"/>
              </a:solidFill>
            </a:ln>
          </p:spPr>
          <p:txBody>
            <a:bodyPr wrap="square" lIns="0" tIns="0" rIns="0" bIns="0" rtlCol="0"/>
            <a:lstStyle/>
            <a:p/>
          </p:txBody>
        </p:sp>
      </p:grpSp>
      <p:graphicFrame>
        <p:nvGraphicFramePr>
          <p:cNvPr id="11" name="object 11" descr=""/>
          <p:cNvGraphicFramePr>
            <a:graphicFrameLocks noGrp="1"/>
          </p:cNvGraphicFramePr>
          <p:nvPr/>
        </p:nvGraphicFramePr>
        <p:xfrm>
          <a:off x="0" y="-4762"/>
          <a:ext cx="9998075" cy="5003165"/>
        </p:xfrm>
        <a:graphic>
          <a:graphicData uri="http://schemas.openxmlformats.org/drawingml/2006/table">
            <a:tbl>
              <a:tblPr firstRow="1" bandRow="1">
                <a:tableStyleId>{2D5ABB26-0587-4C30-8999-92F81FD0307C}</a:tableStyleId>
              </a:tblPr>
              <a:tblGrid>
                <a:gridCol w="136525"/>
                <a:gridCol w="1203325"/>
                <a:gridCol w="1753235"/>
                <a:gridCol w="2633344"/>
                <a:gridCol w="2202179"/>
                <a:gridCol w="1782445"/>
                <a:gridCol w="209550"/>
              </a:tblGrid>
              <a:tr h="803910">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lnB w="9525">
                      <a:solidFill>
                        <a:srgbClr val="000000"/>
                      </a:solidFill>
                      <a:prstDash val="solid"/>
                    </a:lnB>
                    <a:solidFill>
                      <a:srgbClr val="0056AC"/>
                    </a:solidFill>
                  </a:tcPr>
                </a:tc>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lnB w="19050">
                      <a:solidFill>
                        <a:srgbClr val="FFFFFF"/>
                      </a:solidFill>
                      <a:prstDash val="solid"/>
                    </a:lnB>
                  </a:tcPr>
                </a:tc>
                <a:tc>
                  <a:txBody>
                    <a:bodyPr/>
                    <a:lstStyle/>
                    <a:p>
                      <a:pPr algn="r">
                        <a:lnSpc>
                          <a:spcPct val="100000"/>
                        </a:lnSpc>
                        <a:spcBef>
                          <a:spcPts val="1265"/>
                        </a:spcBef>
                      </a:pPr>
                      <a:r>
                        <a:rPr dirty="0" sz="3200" spc="-25" b="1">
                          <a:solidFill>
                            <a:srgbClr val="FFFFFF"/>
                          </a:solidFill>
                          <a:latin typeface="Times New Roman"/>
                          <a:cs typeface="Times New Roman"/>
                        </a:rPr>
                        <a:t>5G</a:t>
                      </a:r>
                      <a:endParaRPr sz="3200">
                        <a:latin typeface="Times New Roman"/>
                        <a:cs typeface="Times New Roman"/>
                      </a:endParaRPr>
                    </a:p>
                  </a:txBody>
                  <a:tcPr marL="0" marR="0" marB="0" marT="160655">
                    <a:lnT w="9525">
                      <a:solidFill>
                        <a:srgbClr val="000000"/>
                      </a:solidFill>
                      <a:prstDash val="solid"/>
                    </a:lnT>
                    <a:lnB w="19050">
                      <a:solidFill>
                        <a:srgbClr val="FFFFFF"/>
                      </a:solidFill>
                      <a:prstDash val="solid"/>
                    </a:lnB>
                    <a:solidFill>
                      <a:srgbClr val="0056AC"/>
                    </a:solidFill>
                  </a:tcPr>
                </a:tc>
                <a:tc>
                  <a:txBody>
                    <a:bodyPr/>
                    <a:lstStyle/>
                    <a:p>
                      <a:pPr marL="189865">
                        <a:lnSpc>
                          <a:spcPct val="100000"/>
                        </a:lnSpc>
                        <a:spcBef>
                          <a:spcPts val="1265"/>
                        </a:spcBef>
                      </a:pPr>
                      <a:r>
                        <a:rPr dirty="0" sz="3200" spc="-45" b="1">
                          <a:solidFill>
                            <a:srgbClr val="FFFFFF"/>
                          </a:solidFill>
                          <a:latin typeface="Microsoft JhengHei"/>
                          <a:cs typeface="Microsoft JhengHei"/>
                        </a:rPr>
                        <a:t>互连网业务模</a:t>
                      </a:r>
                      <a:endParaRPr sz="3200">
                        <a:latin typeface="Microsoft JhengHei"/>
                        <a:cs typeface="Microsoft JhengHei"/>
                      </a:endParaRPr>
                    </a:p>
                  </a:txBody>
                  <a:tcPr marL="0" marR="0" marB="0" marT="160655">
                    <a:lnT w="9525">
                      <a:solidFill>
                        <a:srgbClr val="000000"/>
                      </a:solidFill>
                      <a:prstDash val="solid"/>
                    </a:lnT>
                    <a:lnB w="19050">
                      <a:solidFill>
                        <a:srgbClr val="FFFFFF"/>
                      </a:solidFill>
                      <a:prstDash val="solid"/>
                    </a:lnB>
                    <a:solidFill>
                      <a:srgbClr val="0056AC"/>
                    </a:solidFill>
                  </a:tcPr>
                </a:tc>
                <a:tc>
                  <a:txBody>
                    <a:bodyPr/>
                    <a:lstStyle/>
                    <a:p>
                      <a:pPr marL="581660">
                        <a:lnSpc>
                          <a:spcPct val="100000"/>
                        </a:lnSpc>
                        <a:spcBef>
                          <a:spcPts val="1265"/>
                        </a:spcBef>
                      </a:pPr>
                      <a:r>
                        <a:rPr dirty="0" sz="3200" spc="-35" b="1">
                          <a:solidFill>
                            <a:srgbClr val="FFFFFF"/>
                          </a:solidFill>
                          <a:latin typeface="Microsoft JhengHei"/>
                          <a:cs typeface="Microsoft JhengHei"/>
                        </a:rPr>
                        <a:t>型</a:t>
                      </a:r>
                      <a:r>
                        <a:rPr dirty="0" sz="3200" spc="-25" b="1">
                          <a:solidFill>
                            <a:srgbClr val="FFFFFF"/>
                          </a:solidFill>
                          <a:latin typeface="Microsoft JhengHei"/>
                          <a:cs typeface="Microsoft JhengHei"/>
                        </a:rPr>
                        <a:t>（</a:t>
                      </a:r>
                      <a:r>
                        <a:rPr dirty="0" sz="3200" spc="-25" b="1">
                          <a:solidFill>
                            <a:srgbClr val="FFFFFF"/>
                          </a:solidFill>
                          <a:latin typeface="Times New Roman"/>
                          <a:cs typeface="Times New Roman"/>
                        </a:rPr>
                        <a:t>2</a:t>
                      </a:r>
                      <a:r>
                        <a:rPr dirty="0" sz="3200" spc="-25" b="1">
                          <a:solidFill>
                            <a:srgbClr val="FFFFFF"/>
                          </a:solidFill>
                          <a:latin typeface="Microsoft JhengHei"/>
                          <a:cs typeface="Microsoft JhengHei"/>
                        </a:rPr>
                        <a:t>）</a:t>
                      </a:r>
                      <a:endParaRPr sz="3200">
                        <a:latin typeface="Microsoft JhengHei"/>
                        <a:cs typeface="Microsoft JhengHei"/>
                      </a:endParaRPr>
                    </a:p>
                  </a:txBody>
                  <a:tcPr marL="0" marR="0" marB="0" marT="160655">
                    <a:lnT w="9525">
                      <a:solidFill>
                        <a:srgbClr val="000000"/>
                      </a:solidFill>
                      <a:prstDash val="solid"/>
                    </a:lnT>
                    <a:lnB w="19050">
                      <a:solidFill>
                        <a:srgbClr val="FFFFFF"/>
                      </a:solidFill>
                      <a:prstDash val="solid"/>
                    </a:lnB>
                    <a:solidFill>
                      <a:srgbClr val="0056AC"/>
                    </a:solidFill>
                  </a:tcPr>
                </a:tc>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lnB w="19050">
                      <a:solidFill>
                        <a:srgbClr val="FFFFFF"/>
                      </a:solidFill>
                      <a:prstDash val="solid"/>
                    </a:lnB>
                    <a:solidFill>
                      <a:srgbClr val="0056AC"/>
                    </a:solidFill>
                  </a:tcPr>
                </a:tc>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lnB w="9525">
                      <a:solidFill>
                        <a:srgbClr val="000000"/>
                      </a:solidFill>
                      <a:prstDash val="solid"/>
                    </a:lnB>
                    <a:solidFill>
                      <a:srgbClr val="0056AC"/>
                    </a:solidFill>
                  </a:tcPr>
                </a:tc>
              </a:tr>
              <a:tr h="254000">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tcPr>
                </a:tc>
                <a:tc>
                  <a:txBody>
                    <a:bodyPr/>
                    <a:lstStyle/>
                    <a:p>
                      <a:pPr marL="97790">
                        <a:lnSpc>
                          <a:spcPct val="100000"/>
                        </a:lnSpc>
                        <a:spcBef>
                          <a:spcPts val="240"/>
                        </a:spcBef>
                      </a:pPr>
                      <a:r>
                        <a:rPr dirty="0" sz="1200" spc="-15" b="1">
                          <a:solidFill>
                            <a:srgbClr val="FFFFFF"/>
                          </a:solidFill>
                          <a:latin typeface="Microsoft YaHei"/>
                          <a:cs typeface="Microsoft YaHei"/>
                        </a:rPr>
                        <a:t>典型应用</a:t>
                      </a:r>
                      <a:endParaRPr sz="1200">
                        <a:latin typeface="Microsoft YaHei"/>
                        <a:cs typeface="Microsoft YaHei"/>
                      </a:endParaRPr>
                    </a:p>
                  </a:txBody>
                  <a:tcPr marL="0" marR="0" marB="0" marT="30480">
                    <a:lnT w="19050">
                      <a:solidFill>
                        <a:srgbClr val="FFFFFF"/>
                      </a:solidFill>
                      <a:prstDash val="solid"/>
                    </a:lnT>
                    <a:lnB w="38100">
                      <a:solidFill>
                        <a:srgbClr val="FFFFFF"/>
                      </a:solidFill>
                      <a:prstDash val="solid"/>
                    </a:lnB>
                    <a:solidFill>
                      <a:srgbClr val="00B0F0"/>
                    </a:solidFill>
                  </a:tcPr>
                </a:tc>
                <a:tc>
                  <a:txBody>
                    <a:bodyPr/>
                    <a:lstStyle/>
                    <a:p>
                      <a:pPr marL="190500" marR="186055">
                        <a:lnSpc>
                          <a:spcPct val="100000"/>
                        </a:lnSpc>
                        <a:spcBef>
                          <a:spcPts val="240"/>
                        </a:spcBef>
                      </a:pPr>
                      <a:r>
                        <a:rPr dirty="0" sz="1200" spc="-15" b="1">
                          <a:solidFill>
                            <a:srgbClr val="FFFFFF"/>
                          </a:solidFill>
                          <a:latin typeface="Microsoft YaHei"/>
                          <a:cs typeface="Microsoft YaHei"/>
                        </a:rPr>
                        <a:t>基本假设</a:t>
                      </a:r>
                      <a:endParaRPr sz="1200">
                        <a:latin typeface="Microsoft YaHei"/>
                        <a:cs typeface="Microsoft YaHei"/>
                      </a:endParaRPr>
                    </a:p>
                  </a:txBody>
                  <a:tcPr marL="0" marR="0" marB="0" marT="30480">
                    <a:lnT w="19050">
                      <a:solidFill>
                        <a:srgbClr val="FFFFFF"/>
                      </a:solidFill>
                      <a:prstDash val="solid"/>
                    </a:lnT>
                    <a:lnB w="38100">
                      <a:solidFill>
                        <a:srgbClr val="FFFFFF"/>
                      </a:solidFill>
                      <a:prstDash val="solid"/>
                    </a:lnB>
                    <a:solidFill>
                      <a:srgbClr val="00B0F0"/>
                    </a:solidFill>
                  </a:tcPr>
                </a:tc>
                <a:tc>
                  <a:txBody>
                    <a:bodyPr/>
                    <a:lstStyle/>
                    <a:p>
                      <a:pPr marL="98425" marR="579120">
                        <a:lnSpc>
                          <a:spcPct val="100000"/>
                        </a:lnSpc>
                        <a:spcBef>
                          <a:spcPts val="240"/>
                        </a:spcBef>
                      </a:pPr>
                      <a:r>
                        <a:rPr dirty="0" sz="1200" spc="-10" b="1">
                          <a:solidFill>
                            <a:srgbClr val="FFFFFF"/>
                          </a:solidFill>
                          <a:latin typeface="Microsoft YaHei"/>
                          <a:cs typeface="Microsoft YaHei"/>
                        </a:rPr>
                        <a:t>传输速率要求</a:t>
                      </a:r>
                      <a:endParaRPr sz="1200">
                        <a:latin typeface="Microsoft YaHei"/>
                        <a:cs typeface="Microsoft YaHei"/>
                      </a:endParaRPr>
                    </a:p>
                  </a:txBody>
                  <a:tcPr marL="0" marR="0" marB="0" marT="30480">
                    <a:lnT w="19050">
                      <a:solidFill>
                        <a:srgbClr val="FFFFFF"/>
                      </a:solidFill>
                      <a:prstDash val="solid"/>
                    </a:lnT>
                    <a:lnB w="38100">
                      <a:solidFill>
                        <a:srgbClr val="FFFFFF"/>
                      </a:solidFill>
                      <a:prstDash val="solid"/>
                    </a:lnB>
                    <a:solidFill>
                      <a:srgbClr val="00B0F0"/>
                    </a:solidFill>
                  </a:tcPr>
                </a:tc>
                <a:tc>
                  <a:txBody>
                    <a:bodyPr/>
                    <a:lstStyle/>
                    <a:p>
                      <a:pPr marL="109855">
                        <a:lnSpc>
                          <a:spcPct val="100000"/>
                        </a:lnSpc>
                        <a:spcBef>
                          <a:spcPts val="240"/>
                        </a:spcBef>
                      </a:pPr>
                      <a:r>
                        <a:rPr dirty="0" sz="1200" spc="-15" b="1">
                          <a:solidFill>
                            <a:srgbClr val="FFFFFF"/>
                          </a:solidFill>
                          <a:latin typeface="Microsoft YaHei"/>
                          <a:cs typeface="Microsoft YaHei"/>
                        </a:rPr>
                        <a:t>时延要求</a:t>
                      </a:r>
                      <a:endParaRPr sz="1200">
                        <a:latin typeface="Microsoft YaHei"/>
                        <a:cs typeface="Microsoft YaHei"/>
                      </a:endParaRPr>
                    </a:p>
                  </a:txBody>
                  <a:tcPr marL="0" marR="0" marB="0" marT="30480">
                    <a:lnT w="19050">
                      <a:solidFill>
                        <a:srgbClr val="FFFFFF"/>
                      </a:solidFill>
                      <a:prstDash val="solid"/>
                    </a:lnT>
                    <a:lnB w="38100">
                      <a:solidFill>
                        <a:srgbClr val="FFFFFF"/>
                      </a:solidFill>
                      <a:prstDash val="solid"/>
                    </a:lnB>
                    <a:solidFill>
                      <a:srgbClr val="00B0F0"/>
                    </a:solidFill>
                  </a:tcPr>
                </a:tc>
                <a:tc>
                  <a:txBody>
                    <a:bodyPr/>
                    <a:lstStyle/>
                    <a:p>
                      <a:pPr marL="110489">
                        <a:lnSpc>
                          <a:spcPct val="100000"/>
                        </a:lnSpc>
                        <a:spcBef>
                          <a:spcPts val="240"/>
                        </a:spcBef>
                      </a:pPr>
                      <a:r>
                        <a:rPr dirty="0" sz="1200" spc="-15" b="1">
                          <a:solidFill>
                            <a:srgbClr val="FFFFFF"/>
                          </a:solidFill>
                          <a:latin typeface="Microsoft YaHei"/>
                          <a:cs typeface="Microsoft YaHei"/>
                        </a:rPr>
                        <a:t>主要挑战</a:t>
                      </a:r>
                      <a:endParaRPr sz="1200">
                        <a:latin typeface="Microsoft YaHei"/>
                        <a:cs typeface="Microsoft YaHei"/>
                      </a:endParaRPr>
                    </a:p>
                  </a:txBody>
                  <a:tcPr marL="0" marR="0" marB="0" marT="30480">
                    <a:lnT w="19050">
                      <a:solidFill>
                        <a:srgbClr val="FFFFFF"/>
                      </a:solidFill>
                      <a:prstDash val="solid"/>
                    </a:lnT>
                    <a:lnB w="38100">
                      <a:solidFill>
                        <a:srgbClr val="FFFFFF"/>
                      </a:solidFill>
                      <a:prstDash val="solid"/>
                    </a:lnB>
                    <a:solidFill>
                      <a:srgbClr val="00B0F0"/>
                    </a:solidFill>
                  </a:tcPr>
                </a:tc>
                <a:tc>
                  <a:txBody>
                    <a:bodyPr/>
                    <a:lstStyle/>
                    <a:p>
                      <a:pPr>
                        <a:lnSpc>
                          <a:spcPct val="100000"/>
                        </a:lnSpc>
                      </a:pPr>
                      <a:endParaRPr sz="1200">
                        <a:latin typeface="Times New Roman"/>
                        <a:cs typeface="Times New Roman"/>
                      </a:endParaRPr>
                    </a:p>
                  </a:txBody>
                  <a:tcPr marL="0" marR="0" marB="0" marT="0">
                    <a:lnT w="9525">
                      <a:solidFill>
                        <a:srgbClr val="000000"/>
                      </a:solidFill>
                      <a:prstDash val="solid"/>
                    </a:lnT>
                  </a:tcPr>
                </a:tc>
              </a:tr>
              <a:tr h="738505">
                <a:tc>
                  <a:txBody>
                    <a:bodyPr/>
                    <a:lstStyle/>
                    <a:p>
                      <a:pPr>
                        <a:lnSpc>
                          <a:spcPct val="100000"/>
                        </a:lnSpc>
                      </a:pPr>
                      <a:endParaRPr sz="1200">
                        <a:latin typeface="Times New Roman"/>
                        <a:cs typeface="Times New Roman"/>
                      </a:endParaRPr>
                    </a:p>
                  </a:txBody>
                  <a:tcPr marL="0" marR="0" marB="0" marT="0"/>
                </a:tc>
                <a:tc>
                  <a:txBody>
                    <a:bodyPr/>
                    <a:lstStyle/>
                    <a:p>
                      <a:pPr>
                        <a:lnSpc>
                          <a:spcPct val="100000"/>
                        </a:lnSpc>
                        <a:spcBef>
                          <a:spcPts val="760"/>
                        </a:spcBef>
                      </a:pPr>
                      <a:endParaRPr sz="1200">
                        <a:latin typeface="Times New Roman"/>
                        <a:cs typeface="Times New Roman"/>
                      </a:endParaRPr>
                    </a:p>
                    <a:p>
                      <a:pPr marL="97155">
                        <a:lnSpc>
                          <a:spcPct val="100000"/>
                        </a:lnSpc>
                      </a:pPr>
                      <a:r>
                        <a:rPr dirty="0" sz="1200" spc="-20">
                          <a:latin typeface="Microsoft YaHei"/>
                          <a:cs typeface="Microsoft YaHei"/>
                        </a:rPr>
                        <a:t>云桌面</a:t>
                      </a:r>
                      <a:endParaRPr sz="1200">
                        <a:latin typeface="Microsoft YaHei"/>
                        <a:cs typeface="Microsoft YaHei"/>
                      </a:endParaRPr>
                    </a:p>
                  </a:txBody>
                  <a:tcPr marL="0" marR="0" marB="0" marT="96520">
                    <a:lnT w="38100">
                      <a:solidFill>
                        <a:srgbClr val="FFFFFF"/>
                      </a:solidFill>
                      <a:prstDash val="solid"/>
                    </a:lnT>
                    <a:lnB w="12700">
                      <a:solidFill>
                        <a:srgbClr val="FFFFFF"/>
                      </a:solidFill>
                      <a:prstDash val="solid"/>
                    </a:lnB>
                    <a:solidFill>
                      <a:srgbClr val="92D050"/>
                    </a:solidFill>
                  </a:tcPr>
                </a:tc>
                <a:tc>
                  <a:txBody>
                    <a:bodyPr/>
                    <a:lstStyle/>
                    <a:p>
                      <a:pPr marR="186055">
                        <a:lnSpc>
                          <a:spcPct val="100000"/>
                        </a:lnSpc>
                        <a:spcBef>
                          <a:spcPts val="760"/>
                        </a:spcBef>
                      </a:pPr>
                      <a:endParaRPr sz="1200">
                        <a:latin typeface="Times New Roman"/>
                        <a:cs typeface="Times New Roman"/>
                      </a:endParaRPr>
                    </a:p>
                    <a:p>
                      <a:pPr marL="190500" marR="186055">
                        <a:lnSpc>
                          <a:spcPct val="100000"/>
                        </a:lnSpc>
                      </a:pPr>
                      <a:r>
                        <a:rPr dirty="0" sz="1200" spc="-10">
                          <a:latin typeface="Microsoft YaHei"/>
                          <a:cs typeface="Microsoft YaHei"/>
                        </a:rPr>
                        <a:t>上下行数据传输</a:t>
                      </a:r>
                      <a:endParaRPr sz="1200">
                        <a:latin typeface="Microsoft YaHei"/>
                        <a:cs typeface="Microsoft YaHei"/>
                      </a:endParaRPr>
                    </a:p>
                  </a:txBody>
                  <a:tcPr marL="0" marR="0" marB="0" marT="96520">
                    <a:lnT w="38100">
                      <a:solidFill>
                        <a:srgbClr val="FFFFFF"/>
                      </a:solidFill>
                      <a:prstDash val="solid"/>
                    </a:lnT>
                    <a:lnB w="12700">
                      <a:solidFill>
                        <a:srgbClr val="FFFFFF"/>
                      </a:solidFill>
                      <a:prstDash val="solid"/>
                    </a:lnB>
                    <a:solidFill>
                      <a:srgbClr val="92D050"/>
                    </a:solidFill>
                  </a:tcPr>
                </a:tc>
                <a:tc>
                  <a:txBody>
                    <a:bodyPr/>
                    <a:lstStyle/>
                    <a:p>
                      <a:pPr marR="579120">
                        <a:lnSpc>
                          <a:spcPct val="100000"/>
                        </a:lnSpc>
                        <a:spcBef>
                          <a:spcPts val="760"/>
                        </a:spcBef>
                      </a:pPr>
                      <a:endParaRPr sz="1200">
                        <a:latin typeface="Times New Roman"/>
                        <a:cs typeface="Times New Roman"/>
                      </a:endParaRPr>
                    </a:p>
                    <a:p>
                      <a:pPr marL="98425" marR="579120">
                        <a:lnSpc>
                          <a:spcPct val="100000"/>
                        </a:lnSpc>
                      </a:pPr>
                      <a:r>
                        <a:rPr dirty="0" sz="1200">
                          <a:latin typeface="Microsoft YaHei"/>
                          <a:cs typeface="Microsoft YaHei"/>
                        </a:rPr>
                        <a:t>上下行</a:t>
                      </a:r>
                      <a:r>
                        <a:rPr dirty="0" sz="1200" spc="-10">
                          <a:latin typeface="Microsoft YaHei"/>
                          <a:cs typeface="Microsoft YaHei"/>
                        </a:rPr>
                        <a:t>20Mbps</a:t>
                      </a:r>
                      <a:endParaRPr sz="1200">
                        <a:latin typeface="Microsoft YaHei"/>
                        <a:cs typeface="Microsoft YaHei"/>
                      </a:endParaRPr>
                    </a:p>
                  </a:txBody>
                  <a:tcPr marL="0" marR="0" marB="0" marT="96520">
                    <a:lnT w="38100">
                      <a:solidFill>
                        <a:srgbClr val="FFFFFF"/>
                      </a:solidFill>
                      <a:prstDash val="solid"/>
                    </a:lnT>
                    <a:lnB w="12700">
                      <a:solidFill>
                        <a:srgbClr val="FFFFFF"/>
                      </a:solidFill>
                      <a:prstDash val="solid"/>
                    </a:lnB>
                    <a:solidFill>
                      <a:srgbClr val="92D050"/>
                    </a:solidFill>
                  </a:tcPr>
                </a:tc>
                <a:tc>
                  <a:txBody>
                    <a:bodyPr/>
                    <a:lstStyle/>
                    <a:p>
                      <a:pPr marL="109855" marR="132080">
                        <a:lnSpc>
                          <a:spcPct val="100000"/>
                        </a:lnSpc>
                        <a:spcBef>
                          <a:spcPts val="225"/>
                        </a:spcBef>
                      </a:pPr>
                      <a:r>
                        <a:rPr dirty="0" sz="1100" spc="-25">
                          <a:latin typeface="Microsoft YaHei"/>
                          <a:cs typeface="Microsoft YaHei"/>
                        </a:rPr>
                        <a:t>人眼视神经的最快反应时间去除</a:t>
                      </a:r>
                      <a:r>
                        <a:rPr dirty="0" sz="1100" spc="-50">
                          <a:latin typeface="Microsoft YaHei"/>
                          <a:cs typeface="Microsoft YaHei"/>
                        </a:rPr>
                        <a:t> </a:t>
                      </a:r>
                      <a:r>
                        <a:rPr dirty="0" sz="1100" spc="-10">
                          <a:latin typeface="Microsoft YaHei"/>
                          <a:cs typeface="Microsoft YaHei"/>
                        </a:rPr>
                        <a:t>I/O</a:t>
                      </a:r>
                      <a:r>
                        <a:rPr dirty="0" sz="1100" spc="-25">
                          <a:latin typeface="Microsoft YaHei"/>
                          <a:cs typeface="Microsoft YaHei"/>
                        </a:rPr>
                        <a:t>信息处理，操作系统处理及显示器处理时延，单向端到端</a:t>
                      </a:r>
                      <a:r>
                        <a:rPr dirty="0" sz="1100" spc="-50">
                          <a:latin typeface="Microsoft YaHei"/>
                          <a:cs typeface="Microsoft YaHei"/>
                        </a:rPr>
                        <a:t> </a:t>
                      </a:r>
                      <a:r>
                        <a:rPr dirty="0" sz="1100" spc="-20">
                          <a:latin typeface="Microsoft YaHei"/>
                          <a:cs typeface="Microsoft YaHei"/>
                        </a:rPr>
                        <a:t>10ms</a:t>
                      </a:r>
                      <a:endParaRPr sz="1100">
                        <a:latin typeface="Microsoft YaHei"/>
                        <a:cs typeface="Microsoft YaHei"/>
                      </a:endParaRPr>
                    </a:p>
                  </a:txBody>
                  <a:tcPr marL="0" marR="0" marB="0" marT="28575">
                    <a:lnT w="38100">
                      <a:solidFill>
                        <a:srgbClr val="FFFFFF"/>
                      </a:solidFill>
                      <a:prstDash val="solid"/>
                    </a:lnT>
                    <a:lnB w="12700">
                      <a:solidFill>
                        <a:srgbClr val="FFFFFF"/>
                      </a:solidFill>
                      <a:prstDash val="solid"/>
                    </a:lnB>
                    <a:solidFill>
                      <a:srgbClr val="92D050"/>
                    </a:solidFill>
                  </a:tcPr>
                </a:tc>
                <a:tc>
                  <a:txBody>
                    <a:bodyPr/>
                    <a:lstStyle/>
                    <a:p>
                      <a:pPr>
                        <a:lnSpc>
                          <a:spcPct val="100000"/>
                        </a:lnSpc>
                        <a:spcBef>
                          <a:spcPts val="40"/>
                        </a:spcBef>
                      </a:pPr>
                      <a:endParaRPr sz="1200">
                        <a:latin typeface="Times New Roman"/>
                        <a:cs typeface="Times New Roman"/>
                      </a:endParaRPr>
                    </a:p>
                    <a:p>
                      <a:pPr marL="111125" marR="408940">
                        <a:lnSpc>
                          <a:spcPct val="100000"/>
                        </a:lnSpc>
                      </a:pPr>
                      <a:r>
                        <a:rPr dirty="0" sz="1200">
                          <a:latin typeface="Microsoft YaHei"/>
                          <a:cs typeface="Microsoft YaHei"/>
                        </a:rPr>
                        <a:t>20Mbps</a:t>
                      </a:r>
                      <a:r>
                        <a:rPr dirty="0" sz="1200" spc="-45">
                          <a:latin typeface="Microsoft YaHei"/>
                          <a:cs typeface="Microsoft YaHei"/>
                        </a:rPr>
                        <a:t> </a:t>
                      </a:r>
                      <a:r>
                        <a:rPr dirty="0" sz="1200" spc="-10">
                          <a:latin typeface="Microsoft YaHei"/>
                          <a:cs typeface="Microsoft YaHei"/>
                        </a:rPr>
                        <a:t>(DL&amp;UL) </a:t>
                      </a:r>
                      <a:r>
                        <a:rPr dirty="0" sz="1200" spc="-20">
                          <a:latin typeface="Microsoft YaHei"/>
                          <a:cs typeface="Microsoft YaHei"/>
                        </a:rPr>
                        <a:t>10ms</a:t>
                      </a:r>
                      <a:endParaRPr sz="1200">
                        <a:latin typeface="Microsoft YaHei"/>
                        <a:cs typeface="Microsoft YaHei"/>
                      </a:endParaRPr>
                    </a:p>
                  </a:txBody>
                  <a:tcPr marL="0" marR="0" marB="0" marT="5080">
                    <a:lnT w="38100">
                      <a:solidFill>
                        <a:srgbClr val="FFFFFF"/>
                      </a:solidFill>
                      <a:prstDash val="solid"/>
                    </a:lnT>
                    <a:lnB w="12700">
                      <a:solidFill>
                        <a:srgbClr val="FFFFFF"/>
                      </a:solidFill>
                      <a:prstDash val="solid"/>
                    </a:lnB>
                    <a:solidFill>
                      <a:srgbClr val="92D050"/>
                    </a:solidFill>
                  </a:tcPr>
                </a:tc>
                <a:tc>
                  <a:txBody>
                    <a:bodyPr/>
                    <a:lstStyle/>
                    <a:p>
                      <a:pPr>
                        <a:lnSpc>
                          <a:spcPct val="100000"/>
                        </a:lnSpc>
                      </a:pPr>
                      <a:endParaRPr sz="1200">
                        <a:latin typeface="Times New Roman"/>
                        <a:cs typeface="Times New Roman"/>
                      </a:endParaRPr>
                    </a:p>
                  </a:txBody>
                  <a:tcPr marL="0" marR="0" marB="0" marT="0"/>
                </a:tc>
              </a:tr>
              <a:tr h="860425">
                <a:tc>
                  <a:txBody>
                    <a:bodyPr/>
                    <a:lstStyle/>
                    <a:p>
                      <a:pPr>
                        <a:lnSpc>
                          <a:spcPct val="100000"/>
                        </a:lnSpc>
                      </a:pPr>
                      <a:endParaRPr sz="1200">
                        <a:latin typeface="Times New Roman"/>
                        <a:cs typeface="Times New Roman"/>
                      </a:endParaRPr>
                    </a:p>
                  </a:txBody>
                  <a:tcPr marL="0" marR="0" marB="0" marT="0"/>
                </a:tc>
                <a:tc>
                  <a:txBody>
                    <a:bodyPr/>
                    <a:lstStyle/>
                    <a:p>
                      <a:pPr>
                        <a:lnSpc>
                          <a:spcPct val="100000"/>
                        </a:lnSpc>
                        <a:spcBef>
                          <a:spcPts val="520"/>
                        </a:spcBef>
                      </a:pPr>
                      <a:endParaRPr sz="1200">
                        <a:latin typeface="Times New Roman"/>
                        <a:cs typeface="Times New Roman"/>
                      </a:endParaRPr>
                    </a:p>
                    <a:p>
                      <a:pPr marL="97790" marR="182880">
                        <a:lnSpc>
                          <a:spcPct val="100000"/>
                        </a:lnSpc>
                      </a:pPr>
                      <a:r>
                        <a:rPr dirty="0" sz="1200" spc="-10">
                          <a:latin typeface="Microsoft YaHei"/>
                          <a:cs typeface="Microsoft YaHei"/>
                        </a:rPr>
                        <a:t>无线数据下载</a:t>
                      </a:r>
                      <a:r>
                        <a:rPr dirty="0" sz="1200" spc="-20">
                          <a:latin typeface="Microsoft YaHei"/>
                          <a:cs typeface="Microsoft YaHei"/>
                        </a:rPr>
                        <a:t>云存储</a:t>
                      </a:r>
                      <a:endParaRPr sz="1200">
                        <a:latin typeface="Microsoft YaHei"/>
                        <a:cs typeface="Microsoft YaHei"/>
                      </a:endParaRPr>
                    </a:p>
                  </a:txBody>
                  <a:tcPr marL="0" marR="0" marB="0" marT="66040">
                    <a:lnT w="12700">
                      <a:solidFill>
                        <a:srgbClr val="FFFFFF"/>
                      </a:solidFill>
                      <a:prstDash val="solid"/>
                    </a:lnT>
                    <a:lnB w="12700">
                      <a:solidFill>
                        <a:srgbClr val="FFFFFF"/>
                      </a:solidFill>
                      <a:prstDash val="solid"/>
                    </a:lnB>
                    <a:solidFill>
                      <a:srgbClr val="00B0F0"/>
                    </a:solidFill>
                  </a:tcPr>
                </a:tc>
                <a:tc>
                  <a:txBody>
                    <a:bodyPr/>
                    <a:lstStyle/>
                    <a:p>
                      <a:pPr marR="186055">
                        <a:lnSpc>
                          <a:spcPct val="100000"/>
                        </a:lnSpc>
                        <a:spcBef>
                          <a:spcPts val="1240"/>
                        </a:spcBef>
                      </a:pPr>
                      <a:endParaRPr sz="1200">
                        <a:latin typeface="Times New Roman"/>
                        <a:cs typeface="Times New Roman"/>
                      </a:endParaRPr>
                    </a:p>
                    <a:p>
                      <a:pPr marL="190500" marR="186055">
                        <a:lnSpc>
                          <a:spcPct val="100000"/>
                        </a:lnSpc>
                      </a:pPr>
                      <a:r>
                        <a:rPr dirty="0" sz="1200" spc="-10">
                          <a:latin typeface="Microsoft YaHei"/>
                          <a:cs typeface="Microsoft YaHei"/>
                        </a:rPr>
                        <a:t>可比拟光纤传输</a:t>
                      </a:r>
                      <a:endParaRPr sz="1200">
                        <a:latin typeface="Microsoft YaHei"/>
                        <a:cs typeface="Microsoft YaHei"/>
                      </a:endParaRPr>
                    </a:p>
                  </a:txBody>
                  <a:tcPr marL="0" marR="0" marB="0" marT="157480">
                    <a:lnT w="12700">
                      <a:solidFill>
                        <a:srgbClr val="FFFFFF"/>
                      </a:solidFill>
                      <a:prstDash val="solid"/>
                    </a:lnT>
                    <a:lnB w="12700">
                      <a:solidFill>
                        <a:srgbClr val="FFFFFF"/>
                      </a:solidFill>
                      <a:prstDash val="solid"/>
                    </a:lnB>
                    <a:solidFill>
                      <a:srgbClr val="00B0F0"/>
                    </a:solidFill>
                  </a:tcPr>
                </a:tc>
                <a:tc>
                  <a:txBody>
                    <a:bodyPr/>
                    <a:lstStyle/>
                    <a:p>
                      <a:pPr marR="579120">
                        <a:lnSpc>
                          <a:spcPct val="100000"/>
                        </a:lnSpc>
                        <a:spcBef>
                          <a:spcPts val="520"/>
                        </a:spcBef>
                      </a:pPr>
                      <a:endParaRPr sz="1200">
                        <a:latin typeface="Times New Roman"/>
                        <a:cs typeface="Times New Roman"/>
                      </a:endParaRPr>
                    </a:p>
                    <a:p>
                      <a:pPr marL="98425" marR="687705">
                        <a:lnSpc>
                          <a:spcPct val="100000"/>
                        </a:lnSpc>
                      </a:pPr>
                      <a:r>
                        <a:rPr dirty="0" sz="1200">
                          <a:latin typeface="Microsoft YaHei"/>
                          <a:cs typeface="Microsoft YaHei"/>
                        </a:rPr>
                        <a:t>下行传输速率约为</a:t>
                      </a:r>
                      <a:r>
                        <a:rPr dirty="0" sz="1200" spc="-10">
                          <a:latin typeface="Microsoft YaHei"/>
                          <a:cs typeface="Microsoft YaHei"/>
                        </a:rPr>
                        <a:t>1Gbps，</a:t>
                      </a:r>
                      <a:r>
                        <a:rPr dirty="0" sz="1200">
                          <a:latin typeface="Microsoft YaHei"/>
                          <a:cs typeface="Microsoft YaHei"/>
                        </a:rPr>
                        <a:t>上行</a:t>
                      </a:r>
                      <a:r>
                        <a:rPr dirty="0" sz="1200" spc="-10">
                          <a:latin typeface="Microsoft YaHei"/>
                          <a:cs typeface="Microsoft YaHei"/>
                        </a:rPr>
                        <a:t>0.5Gbps</a:t>
                      </a:r>
                      <a:endParaRPr sz="1200">
                        <a:latin typeface="Microsoft YaHei"/>
                        <a:cs typeface="Microsoft YaHei"/>
                      </a:endParaRPr>
                    </a:p>
                  </a:txBody>
                  <a:tcPr marL="0" marR="0" marB="0" marT="66040">
                    <a:lnT w="12700">
                      <a:solidFill>
                        <a:srgbClr val="FFFFFF"/>
                      </a:solidFill>
                      <a:prstDash val="solid"/>
                    </a:lnT>
                    <a:lnB w="12700">
                      <a:solidFill>
                        <a:srgbClr val="FFFFFF"/>
                      </a:solidFill>
                      <a:prstDash val="solid"/>
                    </a:lnB>
                    <a:solidFill>
                      <a:srgbClr val="00B0F0"/>
                    </a:solidFill>
                  </a:tcPr>
                </a:tc>
                <a:tc>
                  <a:txBody>
                    <a:bodyPr/>
                    <a:lstStyle/>
                    <a:p>
                      <a:pPr>
                        <a:lnSpc>
                          <a:spcPct val="100000"/>
                        </a:lnSpc>
                        <a:spcBef>
                          <a:spcPts val="1240"/>
                        </a:spcBef>
                      </a:pPr>
                      <a:endParaRPr sz="1200">
                        <a:latin typeface="Times New Roman"/>
                        <a:cs typeface="Times New Roman"/>
                      </a:endParaRPr>
                    </a:p>
                    <a:p>
                      <a:pPr marL="109855">
                        <a:lnSpc>
                          <a:spcPct val="100000"/>
                        </a:lnSpc>
                      </a:pPr>
                      <a:r>
                        <a:rPr dirty="0" sz="1200" spc="-20">
                          <a:latin typeface="Microsoft YaHei"/>
                          <a:cs typeface="Microsoft YaHei"/>
                        </a:rPr>
                        <a:t>无挑战</a:t>
                      </a:r>
                      <a:endParaRPr sz="1200">
                        <a:latin typeface="Microsoft YaHei"/>
                        <a:cs typeface="Microsoft YaHei"/>
                      </a:endParaRPr>
                    </a:p>
                  </a:txBody>
                  <a:tcPr marL="0" marR="0" marB="0" marT="157480">
                    <a:lnT w="12700">
                      <a:solidFill>
                        <a:srgbClr val="FFFFFF"/>
                      </a:solidFill>
                      <a:prstDash val="solid"/>
                    </a:lnT>
                    <a:lnB w="12700">
                      <a:solidFill>
                        <a:srgbClr val="FFFFFF"/>
                      </a:solidFill>
                      <a:prstDash val="solid"/>
                    </a:lnB>
                    <a:solidFill>
                      <a:srgbClr val="00B0F0"/>
                    </a:solidFill>
                  </a:tcPr>
                </a:tc>
                <a:tc>
                  <a:txBody>
                    <a:bodyPr/>
                    <a:lstStyle/>
                    <a:p>
                      <a:pPr marL="111125">
                        <a:lnSpc>
                          <a:spcPct val="100000"/>
                        </a:lnSpc>
                        <a:spcBef>
                          <a:spcPts val="420"/>
                        </a:spcBef>
                      </a:pPr>
                      <a:r>
                        <a:rPr dirty="0" sz="1200" spc="-10">
                          <a:latin typeface="Microsoft YaHei"/>
                          <a:cs typeface="Microsoft YaHei"/>
                        </a:rPr>
                        <a:t>1Gbps(DL)</a:t>
                      </a:r>
                      <a:endParaRPr sz="1200">
                        <a:latin typeface="Microsoft YaHei"/>
                        <a:cs typeface="Microsoft YaHei"/>
                      </a:endParaRPr>
                    </a:p>
                    <a:p>
                      <a:pPr marL="111125">
                        <a:lnSpc>
                          <a:spcPct val="100000"/>
                        </a:lnSpc>
                        <a:spcBef>
                          <a:spcPts val="960"/>
                        </a:spcBef>
                      </a:pPr>
                      <a:r>
                        <a:rPr dirty="0" sz="1200" spc="-10">
                          <a:latin typeface="Microsoft YaHei"/>
                          <a:cs typeface="Microsoft YaHei"/>
                        </a:rPr>
                        <a:t>0.5Gbps(UL)</a:t>
                      </a:r>
                      <a:endParaRPr sz="1200">
                        <a:latin typeface="Microsoft YaHei"/>
                        <a:cs typeface="Microsoft YaHei"/>
                      </a:endParaRPr>
                    </a:p>
                  </a:txBody>
                  <a:tcPr marL="0" marR="0" marB="0" marT="53340">
                    <a:lnT w="12700">
                      <a:solidFill>
                        <a:srgbClr val="FFFFFF"/>
                      </a:solidFill>
                      <a:prstDash val="solid"/>
                    </a:lnT>
                    <a:lnB w="12700">
                      <a:solidFill>
                        <a:srgbClr val="FFFFFF"/>
                      </a:solidFill>
                      <a:prstDash val="solid"/>
                    </a:lnB>
                    <a:solidFill>
                      <a:srgbClr val="00B0F0"/>
                    </a:solidFill>
                  </a:tcPr>
                </a:tc>
                <a:tc>
                  <a:txBody>
                    <a:bodyPr/>
                    <a:lstStyle/>
                    <a:p>
                      <a:pPr>
                        <a:lnSpc>
                          <a:spcPct val="100000"/>
                        </a:lnSpc>
                      </a:pPr>
                      <a:endParaRPr sz="1200">
                        <a:latin typeface="Times New Roman"/>
                        <a:cs typeface="Times New Roman"/>
                      </a:endParaRPr>
                    </a:p>
                  </a:txBody>
                  <a:tcPr marL="0" marR="0" marB="0" marT="0"/>
                </a:tc>
              </a:tr>
              <a:tr h="616585">
                <a:tc>
                  <a:txBody>
                    <a:bodyPr/>
                    <a:lstStyle/>
                    <a:p>
                      <a:pPr>
                        <a:lnSpc>
                          <a:spcPct val="100000"/>
                        </a:lnSpc>
                      </a:pPr>
                      <a:endParaRPr sz="1200">
                        <a:latin typeface="Times New Roman"/>
                        <a:cs typeface="Times New Roman"/>
                      </a:endParaRPr>
                    </a:p>
                  </a:txBody>
                  <a:tcPr marL="0" marR="0" marB="0" marT="0"/>
                </a:tc>
                <a:tc>
                  <a:txBody>
                    <a:bodyPr/>
                    <a:lstStyle/>
                    <a:p>
                      <a:pPr>
                        <a:lnSpc>
                          <a:spcPct val="100000"/>
                        </a:lnSpc>
                        <a:spcBef>
                          <a:spcPts val="280"/>
                        </a:spcBef>
                      </a:pPr>
                      <a:endParaRPr sz="1200">
                        <a:latin typeface="Times New Roman"/>
                        <a:cs typeface="Times New Roman"/>
                      </a:endParaRPr>
                    </a:p>
                    <a:p>
                      <a:pPr marL="97790">
                        <a:lnSpc>
                          <a:spcPct val="100000"/>
                        </a:lnSpc>
                      </a:pPr>
                      <a:r>
                        <a:rPr dirty="0" sz="1200" spc="-10">
                          <a:latin typeface="Microsoft YaHei"/>
                          <a:cs typeface="Microsoft YaHei"/>
                        </a:rPr>
                        <a:t>高清图片上传</a:t>
                      </a:r>
                      <a:endParaRPr sz="1200">
                        <a:latin typeface="Microsoft YaHei"/>
                        <a:cs typeface="Microsoft YaHei"/>
                      </a:endParaRPr>
                    </a:p>
                  </a:txBody>
                  <a:tcPr marL="0" marR="0" marB="0" marT="35560">
                    <a:lnT w="12700">
                      <a:solidFill>
                        <a:srgbClr val="FFFFFF"/>
                      </a:solidFill>
                      <a:prstDash val="solid"/>
                    </a:lnT>
                    <a:lnB w="12700">
                      <a:solidFill>
                        <a:srgbClr val="FFFFFF"/>
                      </a:solidFill>
                      <a:prstDash val="solid"/>
                    </a:lnB>
                    <a:solidFill>
                      <a:srgbClr val="92D050"/>
                    </a:solidFill>
                  </a:tcPr>
                </a:tc>
                <a:tc>
                  <a:txBody>
                    <a:bodyPr/>
                    <a:lstStyle/>
                    <a:p>
                      <a:pPr marL="190500" marR="283210">
                        <a:lnSpc>
                          <a:spcPct val="100000"/>
                        </a:lnSpc>
                        <a:spcBef>
                          <a:spcPts val="940"/>
                        </a:spcBef>
                      </a:pPr>
                      <a:r>
                        <a:rPr dirty="0" sz="1200">
                          <a:latin typeface="Microsoft YaHei"/>
                          <a:cs typeface="Microsoft YaHei"/>
                        </a:rPr>
                        <a:t>上传</a:t>
                      </a:r>
                      <a:r>
                        <a:rPr dirty="0" sz="1200" spc="-10">
                          <a:latin typeface="Microsoft YaHei"/>
                          <a:cs typeface="Microsoft YaHei"/>
                        </a:rPr>
                        <a:t>4000</a:t>
                      </a:r>
                      <a:r>
                        <a:rPr dirty="0" sz="1200" spc="-15">
                          <a:latin typeface="Microsoft YaHei"/>
                          <a:cs typeface="Microsoft YaHei"/>
                        </a:rPr>
                        <a:t>万像素照</a:t>
                      </a:r>
                      <a:r>
                        <a:rPr dirty="0" sz="1200" spc="-50">
                          <a:latin typeface="Microsoft YaHei"/>
                          <a:cs typeface="Microsoft YaHei"/>
                        </a:rPr>
                        <a:t>片</a:t>
                      </a:r>
                      <a:endParaRPr sz="1200">
                        <a:latin typeface="Microsoft YaHei"/>
                        <a:cs typeface="Microsoft YaHei"/>
                      </a:endParaRPr>
                    </a:p>
                  </a:txBody>
                  <a:tcPr marL="0" marR="0" marB="0" marT="119380">
                    <a:lnT w="12700">
                      <a:solidFill>
                        <a:srgbClr val="FFFFFF"/>
                      </a:solidFill>
                      <a:prstDash val="solid"/>
                    </a:lnT>
                    <a:lnB w="12700">
                      <a:solidFill>
                        <a:srgbClr val="FFFFFF"/>
                      </a:solidFill>
                      <a:prstDash val="solid"/>
                    </a:lnB>
                    <a:solidFill>
                      <a:srgbClr val="92D050"/>
                    </a:solidFill>
                  </a:tcPr>
                </a:tc>
                <a:tc>
                  <a:txBody>
                    <a:bodyPr/>
                    <a:lstStyle/>
                    <a:p>
                      <a:pPr marL="98425" marR="726440">
                        <a:lnSpc>
                          <a:spcPct val="100000"/>
                        </a:lnSpc>
                        <a:spcBef>
                          <a:spcPts val="220"/>
                        </a:spcBef>
                      </a:pPr>
                      <a:r>
                        <a:rPr dirty="0" sz="1200" spc="-10">
                          <a:latin typeface="Microsoft YaHei"/>
                          <a:cs typeface="Microsoft YaHei"/>
                        </a:rPr>
                        <a:t>文件大小约为</a:t>
                      </a:r>
                      <a:r>
                        <a:rPr dirty="0" sz="1200" spc="-50">
                          <a:latin typeface="Microsoft YaHei"/>
                          <a:cs typeface="Microsoft YaHei"/>
                        </a:rPr>
                        <a:t> </a:t>
                      </a:r>
                      <a:r>
                        <a:rPr dirty="0" sz="1200" spc="-10">
                          <a:latin typeface="Microsoft YaHei"/>
                          <a:cs typeface="Microsoft YaHei"/>
                        </a:rPr>
                        <a:t>20MB(160Mb</a:t>
                      </a:r>
                      <a:r>
                        <a:rPr dirty="0" sz="1200" spc="-20">
                          <a:latin typeface="Microsoft YaHei"/>
                          <a:cs typeface="Microsoft YaHei"/>
                        </a:rPr>
                        <a:t>)，具体测算</a:t>
                      </a:r>
                      <a:r>
                        <a:rPr dirty="0" sz="1200" spc="-10">
                          <a:latin typeface="Microsoft YaHei"/>
                          <a:cs typeface="Microsoft YaHei"/>
                        </a:rPr>
                        <a:t>结合场景分析</a:t>
                      </a:r>
                      <a:endParaRPr sz="1200">
                        <a:latin typeface="Microsoft YaHei"/>
                        <a:cs typeface="Microsoft YaHei"/>
                      </a:endParaRPr>
                    </a:p>
                  </a:txBody>
                  <a:tcPr marL="0" marR="0" marB="0" marT="27940">
                    <a:lnT w="12700">
                      <a:solidFill>
                        <a:srgbClr val="FFFFFF"/>
                      </a:solidFill>
                      <a:prstDash val="solid"/>
                    </a:lnT>
                    <a:lnB w="12700">
                      <a:solidFill>
                        <a:srgbClr val="FFFFFF"/>
                      </a:solidFill>
                      <a:prstDash val="solid"/>
                    </a:lnB>
                    <a:solidFill>
                      <a:srgbClr val="92D050"/>
                    </a:solidFill>
                  </a:tcPr>
                </a:tc>
                <a:tc>
                  <a:txBody>
                    <a:bodyPr/>
                    <a:lstStyle/>
                    <a:p>
                      <a:pPr marL="109855">
                        <a:lnSpc>
                          <a:spcPct val="100000"/>
                        </a:lnSpc>
                        <a:spcBef>
                          <a:spcPts val="940"/>
                        </a:spcBef>
                      </a:pPr>
                      <a:r>
                        <a:rPr dirty="0" sz="1200" spc="-20">
                          <a:latin typeface="Microsoft YaHei"/>
                          <a:cs typeface="Microsoft YaHei"/>
                        </a:rPr>
                        <a:t>无挑战</a:t>
                      </a:r>
                      <a:endParaRPr sz="1200">
                        <a:latin typeface="Microsoft YaHei"/>
                        <a:cs typeface="Microsoft YaHei"/>
                      </a:endParaRPr>
                    </a:p>
                  </a:txBody>
                  <a:tcPr marL="0" marR="0" marB="0" marT="119380">
                    <a:lnT w="12700">
                      <a:solidFill>
                        <a:srgbClr val="FFFFFF"/>
                      </a:solidFill>
                      <a:prstDash val="solid"/>
                    </a:lnT>
                    <a:lnB w="12700">
                      <a:solidFill>
                        <a:srgbClr val="FFFFFF"/>
                      </a:solidFill>
                      <a:prstDash val="solid"/>
                    </a:lnB>
                    <a:solidFill>
                      <a:srgbClr val="92D050"/>
                    </a:solidFill>
                  </a:tcPr>
                </a:tc>
                <a:tc>
                  <a:txBody>
                    <a:bodyPr/>
                    <a:lstStyle/>
                    <a:p>
                      <a:pPr>
                        <a:lnSpc>
                          <a:spcPct val="100000"/>
                        </a:lnSpc>
                        <a:spcBef>
                          <a:spcPts val="280"/>
                        </a:spcBef>
                      </a:pPr>
                      <a:endParaRPr sz="1200">
                        <a:latin typeface="Times New Roman"/>
                        <a:cs typeface="Times New Roman"/>
                      </a:endParaRPr>
                    </a:p>
                    <a:p>
                      <a:pPr marL="111125">
                        <a:lnSpc>
                          <a:spcPct val="100000"/>
                        </a:lnSpc>
                      </a:pPr>
                      <a:r>
                        <a:rPr dirty="0" sz="1200" spc="-10">
                          <a:latin typeface="Microsoft YaHei"/>
                          <a:cs typeface="Microsoft YaHei"/>
                        </a:rPr>
                        <a:t>结合场景分析</a:t>
                      </a:r>
                      <a:endParaRPr sz="1200">
                        <a:latin typeface="Microsoft YaHei"/>
                        <a:cs typeface="Microsoft YaHei"/>
                      </a:endParaRPr>
                    </a:p>
                  </a:txBody>
                  <a:tcPr marL="0" marR="0" marB="0" marT="35560">
                    <a:lnT w="12700">
                      <a:solidFill>
                        <a:srgbClr val="FFFFFF"/>
                      </a:solidFill>
                      <a:prstDash val="solid"/>
                    </a:lnT>
                    <a:lnB w="12700">
                      <a:solidFill>
                        <a:srgbClr val="FFFFFF"/>
                      </a:solidFill>
                      <a:prstDash val="solid"/>
                    </a:lnB>
                    <a:solidFill>
                      <a:srgbClr val="92D050"/>
                    </a:solidFill>
                  </a:tcPr>
                </a:tc>
                <a:tc>
                  <a:txBody>
                    <a:bodyPr/>
                    <a:lstStyle/>
                    <a:p>
                      <a:pPr>
                        <a:lnSpc>
                          <a:spcPct val="100000"/>
                        </a:lnSpc>
                      </a:pPr>
                      <a:endParaRPr sz="1200">
                        <a:latin typeface="Times New Roman"/>
                        <a:cs typeface="Times New Roman"/>
                      </a:endParaRPr>
                    </a:p>
                  </a:txBody>
                  <a:tcPr marL="0" marR="0" marB="0" marT="0"/>
                </a:tc>
              </a:tr>
              <a:tr h="861060">
                <a:tc>
                  <a:txBody>
                    <a:bodyPr/>
                    <a:lstStyle/>
                    <a:p>
                      <a:pPr>
                        <a:lnSpc>
                          <a:spcPct val="100000"/>
                        </a:lnSpc>
                      </a:pPr>
                      <a:endParaRPr sz="1200">
                        <a:latin typeface="Times New Roman"/>
                        <a:cs typeface="Times New Roman"/>
                      </a:endParaRPr>
                    </a:p>
                  </a:txBody>
                  <a:tcPr marL="0" marR="0" marB="0" marT="0"/>
                </a:tc>
                <a:tc>
                  <a:txBody>
                    <a:bodyPr/>
                    <a:lstStyle/>
                    <a:p>
                      <a:pPr>
                        <a:lnSpc>
                          <a:spcPct val="100000"/>
                        </a:lnSpc>
                        <a:spcBef>
                          <a:spcPts val="1240"/>
                        </a:spcBef>
                      </a:pPr>
                      <a:endParaRPr sz="1200">
                        <a:latin typeface="Times New Roman"/>
                        <a:cs typeface="Times New Roman"/>
                      </a:endParaRPr>
                    </a:p>
                    <a:p>
                      <a:pPr marL="97790">
                        <a:lnSpc>
                          <a:spcPct val="100000"/>
                        </a:lnSpc>
                      </a:pPr>
                      <a:r>
                        <a:rPr dirty="0" sz="1200" spc="-15">
                          <a:latin typeface="Microsoft YaHei"/>
                          <a:cs typeface="Microsoft YaHei"/>
                        </a:rPr>
                        <a:t>智能家居</a:t>
                      </a:r>
                      <a:endParaRPr sz="1200">
                        <a:latin typeface="Microsoft YaHei"/>
                        <a:cs typeface="Microsoft YaHei"/>
                      </a:endParaRPr>
                    </a:p>
                  </a:txBody>
                  <a:tcPr marL="0" marR="0" marB="0" marT="157480">
                    <a:lnT w="12700">
                      <a:solidFill>
                        <a:srgbClr val="FFFFFF"/>
                      </a:solidFill>
                      <a:prstDash val="solid"/>
                    </a:lnT>
                    <a:lnB w="12700">
                      <a:solidFill>
                        <a:srgbClr val="FFFFFF"/>
                      </a:solidFill>
                      <a:prstDash val="solid"/>
                    </a:lnB>
                    <a:solidFill>
                      <a:srgbClr val="00B0F0"/>
                    </a:solidFill>
                  </a:tcPr>
                </a:tc>
                <a:tc>
                  <a:txBody>
                    <a:bodyPr/>
                    <a:lstStyle/>
                    <a:p>
                      <a:pPr marL="190500" marR="283210">
                        <a:lnSpc>
                          <a:spcPct val="100000"/>
                        </a:lnSpc>
                        <a:spcBef>
                          <a:spcPts val="1180"/>
                        </a:spcBef>
                      </a:pPr>
                      <a:r>
                        <a:rPr dirty="0" sz="1200" spc="-10">
                          <a:latin typeface="Microsoft YaHei"/>
                          <a:cs typeface="Microsoft YaHei"/>
                        </a:rPr>
                        <a:t>每户家庭的连接设</a:t>
                      </a:r>
                      <a:r>
                        <a:rPr dirty="0" sz="1200">
                          <a:latin typeface="Microsoft YaHei"/>
                          <a:cs typeface="Microsoft YaHei"/>
                        </a:rPr>
                        <a:t>备为</a:t>
                      </a:r>
                      <a:r>
                        <a:rPr dirty="0" sz="1200" spc="-10">
                          <a:latin typeface="Microsoft YaHei"/>
                          <a:cs typeface="Microsoft YaHei"/>
                        </a:rPr>
                        <a:t>10</a:t>
                      </a:r>
                      <a:r>
                        <a:rPr dirty="0" sz="1200">
                          <a:latin typeface="Microsoft YaHei"/>
                          <a:cs typeface="Microsoft YaHei"/>
                        </a:rPr>
                        <a:t>至</a:t>
                      </a:r>
                      <a:r>
                        <a:rPr dirty="0" sz="1200" spc="-10">
                          <a:latin typeface="Microsoft YaHei"/>
                          <a:cs typeface="Microsoft YaHei"/>
                        </a:rPr>
                        <a:t>20</a:t>
                      </a:r>
                      <a:r>
                        <a:rPr dirty="0" sz="1200" spc="-20">
                          <a:latin typeface="Microsoft YaHei"/>
                          <a:cs typeface="Microsoft YaHei"/>
                        </a:rPr>
                        <a:t>个，主</a:t>
                      </a:r>
                      <a:r>
                        <a:rPr dirty="0" sz="1200" spc="-10">
                          <a:latin typeface="Microsoft YaHei"/>
                          <a:cs typeface="Microsoft YaHei"/>
                        </a:rPr>
                        <a:t>要影响连接数密度</a:t>
                      </a:r>
                      <a:endParaRPr sz="1200">
                        <a:latin typeface="Microsoft YaHei"/>
                        <a:cs typeface="Microsoft YaHei"/>
                      </a:endParaRPr>
                    </a:p>
                  </a:txBody>
                  <a:tcPr marL="0" marR="0" marB="0" marT="149860">
                    <a:lnT w="12700">
                      <a:solidFill>
                        <a:srgbClr val="FFFFFF"/>
                      </a:solidFill>
                      <a:prstDash val="solid"/>
                    </a:lnT>
                    <a:lnB w="12700">
                      <a:solidFill>
                        <a:srgbClr val="FFFFFF"/>
                      </a:solidFill>
                      <a:prstDash val="solid"/>
                    </a:lnB>
                    <a:solidFill>
                      <a:srgbClr val="00B0F0"/>
                    </a:solidFill>
                  </a:tcPr>
                </a:tc>
                <a:tc>
                  <a:txBody>
                    <a:bodyPr/>
                    <a:lstStyle/>
                    <a:p>
                      <a:pPr marR="579120">
                        <a:lnSpc>
                          <a:spcPct val="100000"/>
                        </a:lnSpc>
                        <a:spcBef>
                          <a:spcPts val="520"/>
                        </a:spcBef>
                      </a:pPr>
                      <a:endParaRPr sz="1200">
                        <a:latin typeface="Times New Roman"/>
                        <a:cs typeface="Times New Roman"/>
                      </a:endParaRPr>
                    </a:p>
                    <a:p>
                      <a:pPr marL="98425" marR="579120">
                        <a:lnSpc>
                          <a:spcPct val="100000"/>
                        </a:lnSpc>
                      </a:pPr>
                      <a:r>
                        <a:rPr dirty="0" sz="1200" spc="-15">
                          <a:latin typeface="Microsoft YaHei"/>
                          <a:cs typeface="Microsoft YaHei"/>
                        </a:rPr>
                        <a:t>挑战不大</a:t>
                      </a:r>
                      <a:endParaRPr sz="1200">
                        <a:latin typeface="Microsoft YaHei"/>
                        <a:cs typeface="Microsoft YaHei"/>
                      </a:endParaRPr>
                    </a:p>
                  </a:txBody>
                  <a:tcPr marL="0" marR="0" marB="0" marT="66040">
                    <a:lnT w="12700">
                      <a:solidFill>
                        <a:srgbClr val="FFFFFF"/>
                      </a:solidFill>
                      <a:prstDash val="solid"/>
                    </a:lnT>
                    <a:lnB w="12700">
                      <a:solidFill>
                        <a:srgbClr val="FFFFFF"/>
                      </a:solidFill>
                      <a:prstDash val="solid"/>
                    </a:lnB>
                    <a:solidFill>
                      <a:srgbClr val="00B0F0"/>
                    </a:solidFill>
                  </a:tcPr>
                </a:tc>
                <a:tc>
                  <a:txBody>
                    <a:bodyPr/>
                    <a:lstStyle/>
                    <a:p>
                      <a:pPr>
                        <a:lnSpc>
                          <a:spcPct val="100000"/>
                        </a:lnSpc>
                        <a:spcBef>
                          <a:spcPts val="520"/>
                        </a:spcBef>
                      </a:pPr>
                      <a:endParaRPr sz="1200">
                        <a:latin typeface="Times New Roman"/>
                        <a:cs typeface="Times New Roman"/>
                      </a:endParaRPr>
                    </a:p>
                    <a:p>
                      <a:pPr marL="109855">
                        <a:lnSpc>
                          <a:spcPct val="100000"/>
                        </a:lnSpc>
                      </a:pPr>
                      <a:r>
                        <a:rPr dirty="0" sz="1200" spc="-20">
                          <a:latin typeface="Microsoft YaHei"/>
                          <a:cs typeface="Microsoft YaHei"/>
                        </a:rPr>
                        <a:t>无挑战</a:t>
                      </a:r>
                      <a:endParaRPr sz="1200">
                        <a:latin typeface="Microsoft YaHei"/>
                        <a:cs typeface="Microsoft YaHei"/>
                      </a:endParaRPr>
                    </a:p>
                  </a:txBody>
                  <a:tcPr marL="0" marR="0" marB="0" marT="66040">
                    <a:lnT w="12700">
                      <a:solidFill>
                        <a:srgbClr val="FFFFFF"/>
                      </a:solidFill>
                      <a:prstDash val="solid"/>
                    </a:lnT>
                    <a:lnB w="12700">
                      <a:solidFill>
                        <a:srgbClr val="FFFFFF"/>
                      </a:solidFill>
                      <a:prstDash val="solid"/>
                    </a:lnB>
                    <a:solidFill>
                      <a:srgbClr val="00B0F0"/>
                    </a:solidFill>
                  </a:tcPr>
                </a:tc>
                <a:tc>
                  <a:txBody>
                    <a:bodyPr/>
                    <a:lstStyle/>
                    <a:p>
                      <a:pPr marL="111125">
                        <a:lnSpc>
                          <a:spcPct val="100000"/>
                        </a:lnSpc>
                        <a:spcBef>
                          <a:spcPts val="420"/>
                        </a:spcBef>
                      </a:pPr>
                      <a:r>
                        <a:rPr dirty="0" sz="1200" spc="-10">
                          <a:latin typeface="Microsoft YaHei"/>
                          <a:cs typeface="Microsoft YaHei"/>
                        </a:rPr>
                        <a:t>设备连接数</a:t>
                      </a:r>
                      <a:endParaRPr sz="1200">
                        <a:latin typeface="Microsoft YaHei"/>
                        <a:cs typeface="Microsoft YaHei"/>
                      </a:endParaRPr>
                    </a:p>
                    <a:p>
                      <a:pPr marL="111125">
                        <a:lnSpc>
                          <a:spcPct val="100000"/>
                        </a:lnSpc>
                        <a:spcBef>
                          <a:spcPts val="960"/>
                        </a:spcBef>
                      </a:pPr>
                      <a:r>
                        <a:rPr dirty="0" sz="1200">
                          <a:latin typeface="Microsoft YaHei"/>
                          <a:cs typeface="Microsoft YaHei"/>
                        </a:rPr>
                        <a:t>每户</a:t>
                      </a:r>
                      <a:r>
                        <a:rPr dirty="0" sz="1200" spc="-10">
                          <a:latin typeface="Microsoft YaHei"/>
                          <a:cs typeface="Microsoft YaHei"/>
                        </a:rPr>
                        <a:t>15</a:t>
                      </a:r>
                      <a:r>
                        <a:rPr dirty="0" sz="1200" spc="-50">
                          <a:latin typeface="Microsoft YaHei"/>
                          <a:cs typeface="Microsoft YaHei"/>
                        </a:rPr>
                        <a:t>个</a:t>
                      </a:r>
                      <a:endParaRPr sz="1200">
                        <a:latin typeface="Microsoft YaHei"/>
                        <a:cs typeface="Microsoft YaHei"/>
                      </a:endParaRPr>
                    </a:p>
                  </a:txBody>
                  <a:tcPr marL="0" marR="0" marB="0" marT="53340">
                    <a:lnT w="12700">
                      <a:solidFill>
                        <a:srgbClr val="FFFFFF"/>
                      </a:solidFill>
                      <a:prstDash val="solid"/>
                    </a:lnT>
                    <a:lnB w="12700">
                      <a:solidFill>
                        <a:srgbClr val="FFFFFF"/>
                      </a:solidFill>
                      <a:prstDash val="solid"/>
                    </a:lnB>
                    <a:solidFill>
                      <a:srgbClr val="00B0F0"/>
                    </a:solidFill>
                  </a:tcPr>
                </a:tc>
                <a:tc>
                  <a:txBody>
                    <a:bodyPr/>
                    <a:lstStyle/>
                    <a:p>
                      <a:pPr>
                        <a:lnSpc>
                          <a:spcPct val="100000"/>
                        </a:lnSpc>
                      </a:pPr>
                      <a:endParaRPr sz="1200">
                        <a:latin typeface="Times New Roman"/>
                        <a:cs typeface="Times New Roman"/>
                      </a:endParaRPr>
                    </a:p>
                  </a:txBody>
                  <a:tcPr marL="0" marR="0" marB="0" marT="0"/>
                </a:tc>
              </a:tr>
              <a:tr h="434340">
                <a:tc>
                  <a:txBody>
                    <a:bodyPr/>
                    <a:lstStyle/>
                    <a:p>
                      <a:pPr>
                        <a:lnSpc>
                          <a:spcPct val="100000"/>
                        </a:lnSpc>
                      </a:pPr>
                      <a:endParaRPr sz="1200">
                        <a:latin typeface="Times New Roman"/>
                        <a:cs typeface="Times New Roman"/>
                      </a:endParaRPr>
                    </a:p>
                  </a:txBody>
                  <a:tcPr marL="0" marR="0" marB="0" marT="0"/>
                </a:tc>
                <a:tc>
                  <a:txBody>
                    <a:bodyPr/>
                    <a:lstStyle/>
                    <a:p>
                      <a:pPr marL="97790">
                        <a:lnSpc>
                          <a:spcPct val="100000"/>
                        </a:lnSpc>
                        <a:spcBef>
                          <a:spcPts val="940"/>
                        </a:spcBef>
                      </a:pPr>
                      <a:r>
                        <a:rPr dirty="0" sz="1200" spc="-20">
                          <a:latin typeface="Microsoft YaHei"/>
                          <a:cs typeface="Microsoft YaHei"/>
                        </a:rPr>
                        <a:t>车联网</a:t>
                      </a:r>
                      <a:endParaRPr sz="1200">
                        <a:latin typeface="Microsoft YaHei"/>
                        <a:cs typeface="Microsoft YaHei"/>
                      </a:endParaRPr>
                    </a:p>
                  </a:txBody>
                  <a:tcPr marL="0" marR="0" marB="0" marT="119380">
                    <a:lnT w="12700">
                      <a:solidFill>
                        <a:srgbClr val="FFFFFF"/>
                      </a:solidFill>
                      <a:prstDash val="solid"/>
                    </a:lnT>
                    <a:lnB w="12700">
                      <a:solidFill>
                        <a:srgbClr val="FFFFFF"/>
                      </a:solidFill>
                      <a:prstDash val="solid"/>
                    </a:lnB>
                    <a:solidFill>
                      <a:srgbClr val="92D050"/>
                    </a:solidFill>
                  </a:tcPr>
                </a:tc>
                <a:tc>
                  <a:txBody>
                    <a:bodyPr/>
                    <a:lstStyle/>
                    <a:p>
                      <a:pPr marL="190500" marR="335280">
                        <a:lnSpc>
                          <a:spcPct val="100000"/>
                        </a:lnSpc>
                        <a:spcBef>
                          <a:spcPts val="220"/>
                        </a:spcBef>
                      </a:pPr>
                      <a:r>
                        <a:rPr dirty="0" sz="1200" spc="-10">
                          <a:latin typeface="Microsoft YaHei"/>
                          <a:cs typeface="Microsoft YaHei"/>
                        </a:rPr>
                        <a:t>满足车联网时延要</a:t>
                      </a:r>
                      <a:r>
                        <a:rPr dirty="0" sz="1200" spc="-50">
                          <a:latin typeface="Microsoft YaHei"/>
                          <a:cs typeface="Microsoft YaHei"/>
                        </a:rPr>
                        <a:t>求</a:t>
                      </a:r>
                      <a:endParaRPr sz="1200">
                        <a:latin typeface="Microsoft YaHei"/>
                        <a:cs typeface="Microsoft YaHei"/>
                      </a:endParaRPr>
                    </a:p>
                  </a:txBody>
                  <a:tcPr marL="0" marR="0" marB="0" marT="27940">
                    <a:lnT w="12700">
                      <a:solidFill>
                        <a:srgbClr val="FFFFFF"/>
                      </a:solidFill>
                      <a:prstDash val="solid"/>
                    </a:lnT>
                    <a:lnB w="12700">
                      <a:solidFill>
                        <a:srgbClr val="FFFFFF"/>
                      </a:solidFill>
                      <a:prstDash val="solid"/>
                    </a:lnB>
                    <a:solidFill>
                      <a:srgbClr val="92D050"/>
                    </a:solidFill>
                  </a:tcPr>
                </a:tc>
                <a:tc>
                  <a:txBody>
                    <a:bodyPr/>
                    <a:lstStyle/>
                    <a:p>
                      <a:pPr marL="98425" marR="579120">
                        <a:lnSpc>
                          <a:spcPct val="100000"/>
                        </a:lnSpc>
                        <a:spcBef>
                          <a:spcPts val="940"/>
                        </a:spcBef>
                      </a:pPr>
                      <a:r>
                        <a:rPr dirty="0" sz="1200" spc="-15">
                          <a:latin typeface="Microsoft YaHei"/>
                          <a:cs typeface="Microsoft YaHei"/>
                        </a:rPr>
                        <a:t>挑战不大</a:t>
                      </a:r>
                      <a:endParaRPr sz="1200">
                        <a:latin typeface="Microsoft YaHei"/>
                        <a:cs typeface="Microsoft YaHei"/>
                      </a:endParaRPr>
                    </a:p>
                  </a:txBody>
                  <a:tcPr marL="0" marR="0" marB="0" marT="119380">
                    <a:lnT w="12700">
                      <a:solidFill>
                        <a:srgbClr val="FFFFFF"/>
                      </a:solidFill>
                      <a:prstDash val="solid"/>
                    </a:lnT>
                    <a:lnB w="12700">
                      <a:solidFill>
                        <a:srgbClr val="FFFFFF"/>
                      </a:solidFill>
                      <a:prstDash val="solid"/>
                    </a:lnB>
                    <a:solidFill>
                      <a:srgbClr val="92D050"/>
                    </a:solidFill>
                  </a:tcPr>
                </a:tc>
                <a:tc>
                  <a:txBody>
                    <a:bodyPr/>
                    <a:lstStyle/>
                    <a:p>
                      <a:pPr marL="109855" marR="102870">
                        <a:lnSpc>
                          <a:spcPct val="100000"/>
                        </a:lnSpc>
                        <a:spcBef>
                          <a:spcPts val="220"/>
                        </a:spcBef>
                      </a:pPr>
                      <a:r>
                        <a:rPr dirty="0" sz="1200" spc="-5">
                          <a:latin typeface="Microsoft YaHei"/>
                          <a:cs typeface="Microsoft YaHei"/>
                        </a:rPr>
                        <a:t>考虑防碰撞所需要保障的单向</a:t>
                      </a:r>
                      <a:r>
                        <a:rPr dirty="0" sz="1200" spc="-10">
                          <a:latin typeface="Microsoft YaHei"/>
                          <a:cs typeface="Microsoft YaHei"/>
                        </a:rPr>
                        <a:t>端到端时延</a:t>
                      </a:r>
                      <a:endParaRPr sz="1200">
                        <a:latin typeface="Microsoft YaHei"/>
                        <a:cs typeface="Microsoft YaHei"/>
                      </a:endParaRPr>
                    </a:p>
                  </a:txBody>
                  <a:tcPr marL="0" marR="0" marB="0" marT="27940">
                    <a:lnT w="12700">
                      <a:solidFill>
                        <a:srgbClr val="FFFFFF"/>
                      </a:solidFill>
                      <a:prstDash val="solid"/>
                    </a:lnT>
                    <a:lnB w="12700">
                      <a:solidFill>
                        <a:srgbClr val="FFFFFF"/>
                      </a:solidFill>
                      <a:prstDash val="solid"/>
                    </a:lnB>
                    <a:solidFill>
                      <a:srgbClr val="92D050"/>
                    </a:solidFill>
                  </a:tcPr>
                </a:tc>
                <a:tc>
                  <a:txBody>
                    <a:bodyPr/>
                    <a:lstStyle/>
                    <a:p>
                      <a:pPr marL="111125">
                        <a:lnSpc>
                          <a:spcPct val="100000"/>
                        </a:lnSpc>
                        <a:spcBef>
                          <a:spcPts val="940"/>
                        </a:spcBef>
                      </a:pPr>
                      <a:r>
                        <a:rPr dirty="0" sz="1200" spc="-25">
                          <a:latin typeface="Microsoft YaHei"/>
                          <a:cs typeface="Microsoft YaHei"/>
                        </a:rPr>
                        <a:t>5ms</a:t>
                      </a:r>
                      <a:endParaRPr sz="1200">
                        <a:latin typeface="Microsoft YaHei"/>
                        <a:cs typeface="Microsoft YaHei"/>
                      </a:endParaRPr>
                    </a:p>
                  </a:txBody>
                  <a:tcPr marL="0" marR="0" marB="0" marT="119380">
                    <a:lnT w="12700">
                      <a:solidFill>
                        <a:srgbClr val="FFFFFF"/>
                      </a:solidFill>
                      <a:prstDash val="solid"/>
                    </a:lnT>
                    <a:lnB w="12700">
                      <a:solidFill>
                        <a:srgbClr val="FFFFFF"/>
                      </a:solidFill>
                      <a:prstDash val="solid"/>
                    </a:lnB>
                    <a:solidFill>
                      <a:srgbClr val="92D050"/>
                    </a:solidFill>
                  </a:tcPr>
                </a:tc>
                <a:tc>
                  <a:txBody>
                    <a:bodyPr/>
                    <a:lstStyle/>
                    <a:p>
                      <a:pPr>
                        <a:lnSpc>
                          <a:spcPct val="100000"/>
                        </a:lnSpc>
                      </a:pPr>
                      <a:endParaRPr sz="1200">
                        <a:latin typeface="Times New Roman"/>
                        <a:cs typeface="Times New Roman"/>
                      </a:endParaRPr>
                    </a:p>
                  </a:txBody>
                  <a:tcPr marL="0" marR="0" marB="0" marT="0"/>
                </a:tc>
              </a:tr>
              <a:tr h="434340">
                <a:tc>
                  <a:txBody>
                    <a:bodyPr/>
                    <a:lstStyle/>
                    <a:p>
                      <a:pPr>
                        <a:lnSpc>
                          <a:spcPct val="100000"/>
                        </a:lnSpc>
                      </a:pPr>
                      <a:endParaRPr sz="1200">
                        <a:latin typeface="Times New Roman"/>
                        <a:cs typeface="Times New Roman"/>
                      </a:endParaRPr>
                    </a:p>
                  </a:txBody>
                  <a:tcPr marL="0" marR="0" marB="0" marT="0"/>
                </a:tc>
                <a:tc>
                  <a:txBody>
                    <a:bodyPr/>
                    <a:lstStyle/>
                    <a:p>
                      <a:pPr marL="97790">
                        <a:lnSpc>
                          <a:spcPct val="100000"/>
                        </a:lnSpc>
                        <a:spcBef>
                          <a:spcPts val="940"/>
                        </a:spcBef>
                      </a:pPr>
                      <a:r>
                        <a:rPr dirty="0" sz="1200" spc="-15">
                          <a:latin typeface="Microsoft YaHei"/>
                          <a:cs typeface="Microsoft YaHei"/>
                        </a:rPr>
                        <a:t>在线游戏</a:t>
                      </a:r>
                      <a:endParaRPr sz="1200">
                        <a:latin typeface="Microsoft YaHei"/>
                        <a:cs typeface="Microsoft YaHei"/>
                      </a:endParaRPr>
                    </a:p>
                  </a:txBody>
                  <a:tcPr marL="0" marR="0" marB="0" marT="119380">
                    <a:lnT w="12700">
                      <a:solidFill>
                        <a:srgbClr val="FFFFFF"/>
                      </a:solidFill>
                      <a:prstDash val="solid"/>
                    </a:lnT>
                    <a:solidFill>
                      <a:srgbClr val="00B0F0"/>
                    </a:solidFill>
                  </a:tcPr>
                </a:tc>
                <a:tc>
                  <a:txBody>
                    <a:bodyPr/>
                    <a:lstStyle/>
                    <a:p>
                      <a:pPr marL="190500" marR="186055">
                        <a:lnSpc>
                          <a:spcPct val="100000"/>
                        </a:lnSpc>
                        <a:spcBef>
                          <a:spcPts val="940"/>
                        </a:spcBef>
                      </a:pPr>
                      <a:r>
                        <a:rPr dirty="0" sz="1200" spc="-10">
                          <a:latin typeface="Microsoft YaHei"/>
                          <a:cs typeface="Microsoft YaHei"/>
                        </a:rPr>
                        <a:t>主要考虑时延</a:t>
                      </a:r>
                      <a:endParaRPr sz="1200">
                        <a:latin typeface="Microsoft YaHei"/>
                        <a:cs typeface="Microsoft YaHei"/>
                      </a:endParaRPr>
                    </a:p>
                  </a:txBody>
                  <a:tcPr marL="0" marR="0" marB="0" marT="119380">
                    <a:lnT w="12700">
                      <a:solidFill>
                        <a:srgbClr val="FFFFFF"/>
                      </a:solidFill>
                      <a:prstDash val="solid"/>
                    </a:lnT>
                    <a:solidFill>
                      <a:srgbClr val="00B0F0"/>
                    </a:solidFill>
                  </a:tcPr>
                </a:tc>
                <a:tc>
                  <a:txBody>
                    <a:bodyPr/>
                    <a:lstStyle/>
                    <a:p>
                      <a:pPr marL="98425" marR="579120">
                        <a:lnSpc>
                          <a:spcPct val="100000"/>
                        </a:lnSpc>
                        <a:spcBef>
                          <a:spcPts val="940"/>
                        </a:spcBef>
                      </a:pPr>
                      <a:r>
                        <a:rPr dirty="0" sz="1200" spc="-15">
                          <a:latin typeface="Microsoft YaHei"/>
                          <a:cs typeface="Microsoft YaHei"/>
                        </a:rPr>
                        <a:t>挑战不大</a:t>
                      </a:r>
                      <a:endParaRPr sz="1200">
                        <a:latin typeface="Microsoft YaHei"/>
                        <a:cs typeface="Microsoft YaHei"/>
                      </a:endParaRPr>
                    </a:p>
                  </a:txBody>
                  <a:tcPr marL="0" marR="0" marB="0" marT="119380">
                    <a:lnT w="12700">
                      <a:solidFill>
                        <a:srgbClr val="FFFFFF"/>
                      </a:solidFill>
                      <a:prstDash val="solid"/>
                    </a:lnT>
                    <a:solidFill>
                      <a:srgbClr val="00B0F0"/>
                    </a:solidFill>
                  </a:tcPr>
                </a:tc>
                <a:tc>
                  <a:txBody>
                    <a:bodyPr/>
                    <a:lstStyle/>
                    <a:p>
                      <a:pPr marL="109855" marR="102870">
                        <a:lnSpc>
                          <a:spcPct val="100000"/>
                        </a:lnSpc>
                        <a:spcBef>
                          <a:spcPts val="220"/>
                        </a:spcBef>
                      </a:pPr>
                      <a:r>
                        <a:rPr dirty="0" sz="1200" spc="-5">
                          <a:latin typeface="Microsoft YaHei"/>
                          <a:cs typeface="Microsoft YaHei"/>
                        </a:rPr>
                        <a:t>动作、射击类游戏时延要求单</a:t>
                      </a:r>
                      <a:r>
                        <a:rPr dirty="0" sz="1200">
                          <a:latin typeface="Microsoft YaHei"/>
                          <a:cs typeface="Microsoft YaHei"/>
                        </a:rPr>
                        <a:t>向端到端约</a:t>
                      </a:r>
                      <a:r>
                        <a:rPr dirty="0" sz="1200" spc="-10">
                          <a:latin typeface="Microsoft YaHei"/>
                          <a:cs typeface="Microsoft YaHei"/>
                        </a:rPr>
                        <a:t>15-</a:t>
                      </a:r>
                      <a:r>
                        <a:rPr dirty="0" sz="1200" spc="-20">
                          <a:latin typeface="Microsoft YaHei"/>
                          <a:cs typeface="Microsoft YaHei"/>
                        </a:rPr>
                        <a:t>40ms</a:t>
                      </a:r>
                      <a:endParaRPr sz="1200">
                        <a:latin typeface="Microsoft YaHei"/>
                        <a:cs typeface="Microsoft YaHei"/>
                      </a:endParaRPr>
                    </a:p>
                  </a:txBody>
                  <a:tcPr marL="0" marR="0" marB="0" marT="27940">
                    <a:lnT w="12700">
                      <a:solidFill>
                        <a:srgbClr val="FFFFFF"/>
                      </a:solidFill>
                      <a:prstDash val="solid"/>
                    </a:lnT>
                    <a:solidFill>
                      <a:srgbClr val="00B0F0"/>
                    </a:solidFill>
                  </a:tcPr>
                </a:tc>
                <a:tc>
                  <a:txBody>
                    <a:bodyPr/>
                    <a:lstStyle/>
                    <a:p>
                      <a:pPr marL="111125">
                        <a:lnSpc>
                          <a:spcPct val="100000"/>
                        </a:lnSpc>
                        <a:spcBef>
                          <a:spcPts val="940"/>
                        </a:spcBef>
                      </a:pPr>
                      <a:r>
                        <a:rPr dirty="0" sz="1200" spc="-10">
                          <a:latin typeface="Microsoft YaHei"/>
                          <a:cs typeface="Microsoft YaHei"/>
                        </a:rPr>
                        <a:t>15-</a:t>
                      </a:r>
                      <a:r>
                        <a:rPr dirty="0" sz="1200" spc="-20">
                          <a:latin typeface="Microsoft YaHei"/>
                          <a:cs typeface="Microsoft YaHei"/>
                        </a:rPr>
                        <a:t>40ms</a:t>
                      </a:r>
                      <a:endParaRPr sz="1200">
                        <a:latin typeface="Microsoft YaHei"/>
                        <a:cs typeface="Microsoft YaHei"/>
                      </a:endParaRPr>
                    </a:p>
                  </a:txBody>
                  <a:tcPr marL="0" marR="0" marB="0" marT="119380">
                    <a:lnT w="12700">
                      <a:solidFill>
                        <a:srgbClr val="FFFFFF"/>
                      </a:solidFill>
                      <a:prstDash val="solid"/>
                    </a:lnT>
                    <a:solidFill>
                      <a:srgbClr val="00B0F0"/>
                    </a:solidFill>
                  </a:tcPr>
                </a:tc>
                <a:tc>
                  <a:txBody>
                    <a:bodyPr/>
                    <a:lstStyle/>
                    <a:p>
                      <a:pPr>
                        <a:lnSpc>
                          <a:spcPct val="100000"/>
                        </a:lnSpc>
                      </a:pPr>
                      <a:endParaRPr sz="1200">
                        <a:latin typeface="Times New Roman"/>
                        <a:cs typeface="Times New Roman"/>
                      </a:endParaRPr>
                    </a:p>
                  </a:txBody>
                  <a:tcPr marL="0" marR="0" marB="0" marT="0"/>
                </a:tc>
              </a:tr>
            </a:tbl>
          </a:graphicData>
        </a:graphic>
      </p:graphicFrame>
      <p:sp>
        <p:nvSpPr>
          <p:cNvPr id="12" name="object 12" descr=""/>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13" name="object 13" descr=""/>
          <p:cNvPicPr/>
          <p:nvPr/>
        </p:nvPicPr>
        <p:blipFill>
          <a:blip r:embed="rId3" cstate="print"/>
          <a:stretch>
            <a:fillRect/>
          </a:stretch>
        </p:blipFill>
        <p:spPr>
          <a:xfrm>
            <a:off x="152400" y="133350"/>
            <a:ext cx="804532" cy="57657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2992" y="137034"/>
            <a:ext cx="3799204"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性能指标测算方法</a:t>
            </a:r>
          </a:p>
        </p:txBody>
      </p:sp>
      <p:sp>
        <p:nvSpPr>
          <p:cNvPr id="3" name="object 3" descr=""/>
          <p:cNvSpPr/>
          <p:nvPr/>
        </p:nvSpPr>
        <p:spPr>
          <a:xfrm>
            <a:off x="2555775" y="1518033"/>
            <a:ext cx="0" cy="351790"/>
          </a:xfrm>
          <a:custGeom>
            <a:avLst/>
            <a:gdLst/>
            <a:ahLst/>
            <a:cxnLst/>
            <a:rect l="l" t="t" r="r" b="b"/>
            <a:pathLst>
              <a:path w="0" h="351789">
                <a:moveTo>
                  <a:pt x="0" y="0"/>
                </a:moveTo>
                <a:lnTo>
                  <a:pt x="0" y="351637"/>
                </a:lnTo>
              </a:path>
            </a:pathLst>
          </a:custGeom>
          <a:ln w="76200">
            <a:solidFill>
              <a:srgbClr val="000000"/>
            </a:solidFill>
            <a:prstDash val="dot"/>
          </a:ln>
        </p:spPr>
        <p:txBody>
          <a:bodyPr wrap="square" lIns="0" tIns="0" rIns="0" bIns="0" rtlCol="0"/>
          <a:lstStyle/>
          <a:p/>
        </p:txBody>
      </p:sp>
      <p:sp>
        <p:nvSpPr>
          <p:cNvPr id="4" name="object 4" descr=""/>
          <p:cNvSpPr/>
          <p:nvPr/>
        </p:nvSpPr>
        <p:spPr>
          <a:xfrm>
            <a:off x="5508104" y="1518033"/>
            <a:ext cx="0" cy="351790"/>
          </a:xfrm>
          <a:custGeom>
            <a:avLst/>
            <a:gdLst/>
            <a:ahLst/>
            <a:cxnLst/>
            <a:rect l="l" t="t" r="r" b="b"/>
            <a:pathLst>
              <a:path w="0" h="351789">
                <a:moveTo>
                  <a:pt x="0" y="0"/>
                </a:moveTo>
                <a:lnTo>
                  <a:pt x="0" y="351637"/>
                </a:lnTo>
              </a:path>
            </a:pathLst>
          </a:custGeom>
          <a:ln w="76200">
            <a:solidFill>
              <a:srgbClr val="000000"/>
            </a:solidFill>
            <a:prstDash val="dot"/>
          </a:ln>
        </p:spPr>
        <p:txBody>
          <a:bodyPr wrap="square" lIns="0" tIns="0" rIns="0" bIns="0" rtlCol="0"/>
          <a:lstStyle/>
          <a:p/>
        </p:txBody>
      </p:sp>
      <p:sp>
        <p:nvSpPr>
          <p:cNvPr id="5" name="object 5" descr=""/>
          <p:cNvSpPr/>
          <p:nvPr/>
        </p:nvSpPr>
        <p:spPr>
          <a:xfrm>
            <a:off x="2195735" y="1167594"/>
            <a:ext cx="720090" cy="216535"/>
          </a:xfrm>
          <a:custGeom>
            <a:avLst/>
            <a:gdLst/>
            <a:ahLst/>
            <a:cxnLst/>
            <a:rect l="l" t="t" r="r" b="b"/>
            <a:pathLst>
              <a:path w="720089" h="216534">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6"/>
                </a:lnTo>
                <a:lnTo>
                  <a:pt x="36004" y="216026"/>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sp>
        <p:nvSpPr>
          <p:cNvPr id="6" name="object 6" descr=""/>
          <p:cNvSpPr txBox="1"/>
          <p:nvPr/>
        </p:nvSpPr>
        <p:spPr>
          <a:xfrm>
            <a:off x="2313142" y="1150129"/>
            <a:ext cx="4851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1</a:t>
            </a:r>
            <a:endParaRPr sz="1400">
              <a:latin typeface="Microsoft YaHei"/>
              <a:cs typeface="Microsoft YaHei"/>
            </a:endParaRPr>
          </a:p>
        </p:txBody>
      </p:sp>
      <p:sp>
        <p:nvSpPr>
          <p:cNvPr id="7" name="object 7" descr=""/>
          <p:cNvSpPr/>
          <p:nvPr/>
        </p:nvSpPr>
        <p:spPr>
          <a:xfrm>
            <a:off x="3419871" y="897564"/>
            <a:ext cx="1080135" cy="216535"/>
          </a:xfrm>
          <a:custGeom>
            <a:avLst/>
            <a:gdLst/>
            <a:ahLst/>
            <a:cxnLst/>
            <a:rect l="l" t="t" r="r" b="b"/>
            <a:pathLst>
              <a:path w="1080135" h="216534">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8" name="object 8" descr=""/>
          <p:cNvSpPr txBox="1"/>
          <p:nvPr/>
        </p:nvSpPr>
        <p:spPr>
          <a:xfrm>
            <a:off x="3592013" y="880099"/>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终端密度</a:t>
            </a:r>
            <a:endParaRPr sz="1400">
              <a:latin typeface="Microsoft YaHei"/>
              <a:cs typeface="Microsoft YaHei"/>
            </a:endParaRPr>
          </a:p>
        </p:txBody>
      </p:sp>
      <p:sp>
        <p:nvSpPr>
          <p:cNvPr id="9" name="object 9" descr=""/>
          <p:cNvSpPr txBox="1"/>
          <p:nvPr/>
        </p:nvSpPr>
        <p:spPr>
          <a:xfrm>
            <a:off x="3419871" y="1167594"/>
            <a:ext cx="1080135" cy="216535"/>
          </a:xfrm>
          <a:prstGeom prst="rect">
            <a:avLst/>
          </a:prstGeom>
          <a:ln w="15528">
            <a:solidFill>
              <a:srgbClr val="B6DCDF"/>
            </a:solidFill>
          </a:ln>
        </p:spPr>
        <p:txBody>
          <a:bodyPr wrap="square" lIns="0" tIns="0" rIns="0" bIns="0" rtlCol="0" vert="horz">
            <a:spAutoFit/>
          </a:bodyPr>
          <a:lstStyle/>
          <a:p>
            <a:pPr marL="220979">
              <a:lnSpc>
                <a:spcPts val="1639"/>
              </a:lnSpc>
            </a:pPr>
            <a:r>
              <a:rPr dirty="0" sz="1400" spc="-20">
                <a:latin typeface="Microsoft YaHei"/>
                <a:cs typeface="Microsoft YaHei"/>
              </a:rPr>
              <a:t>激活率</a:t>
            </a:r>
            <a:r>
              <a:rPr dirty="0" sz="1400" spc="-50">
                <a:latin typeface="Microsoft YaHei"/>
                <a:cs typeface="Microsoft YaHei"/>
              </a:rPr>
              <a:t>1</a:t>
            </a:r>
            <a:endParaRPr sz="1400">
              <a:latin typeface="Microsoft YaHei"/>
              <a:cs typeface="Microsoft YaHei"/>
            </a:endParaRPr>
          </a:p>
        </p:txBody>
      </p:sp>
      <p:sp>
        <p:nvSpPr>
          <p:cNvPr id="10" name="object 10" descr=""/>
          <p:cNvSpPr/>
          <p:nvPr/>
        </p:nvSpPr>
        <p:spPr>
          <a:xfrm>
            <a:off x="3419871" y="1437624"/>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11" name="object 11" descr=""/>
          <p:cNvSpPr txBox="1"/>
          <p:nvPr/>
        </p:nvSpPr>
        <p:spPr>
          <a:xfrm>
            <a:off x="3539433" y="1420159"/>
            <a:ext cx="8401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速率要求</a:t>
            </a:r>
            <a:r>
              <a:rPr dirty="0" sz="1400" spc="-50">
                <a:latin typeface="Microsoft YaHei"/>
                <a:cs typeface="Microsoft YaHei"/>
              </a:rPr>
              <a:t>1</a:t>
            </a:r>
            <a:endParaRPr sz="1400">
              <a:latin typeface="Microsoft YaHei"/>
              <a:cs typeface="Microsoft YaHei"/>
            </a:endParaRPr>
          </a:p>
        </p:txBody>
      </p:sp>
      <p:sp>
        <p:nvSpPr>
          <p:cNvPr id="12" name="object 12" descr=""/>
          <p:cNvSpPr/>
          <p:nvPr/>
        </p:nvSpPr>
        <p:spPr>
          <a:xfrm>
            <a:off x="5004047" y="1167594"/>
            <a:ext cx="1080135" cy="216535"/>
          </a:xfrm>
          <a:custGeom>
            <a:avLst/>
            <a:gdLst/>
            <a:ahLst/>
            <a:cxnLst/>
            <a:rect l="l" t="t" r="r" b="b"/>
            <a:pathLst>
              <a:path w="1080135" h="216534">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13" name="object 13" descr=""/>
          <p:cNvSpPr txBox="1"/>
          <p:nvPr/>
        </p:nvSpPr>
        <p:spPr>
          <a:xfrm>
            <a:off x="5123610" y="1150129"/>
            <a:ext cx="8401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流量密度</a:t>
            </a:r>
            <a:r>
              <a:rPr dirty="0" sz="1400" spc="-50">
                <a:latin typeface="Microsoft YaHei"/>
                <a:cs typeface="Microsoft YaHei"/>
              </a:rPr>
              <a:t>1</a:t>
            </a:r>
            <a:endParaRPr sz="1400">
              <a:latin typeface="Microsoft YaHei"/>
              <a:cs typeface="Microsoft YaHei"/>
            </a:endParaRPr>
          </a:p>
        </p:txBody>
      </p:sp>
      <p:grpSp>
        <p:nvGrpSpPr>
          <p:cNvPr id="14" name="object 14" descr=""/>
          <p:cNvGrpSpPr/>
          <p:nvPr/>
        </p:nvGrpSpPr>
        <p:grpSpPr>
          <a:xfrm>
            <a:off x="2189385" y="999225"/>
            <a:ext cx="2814955" cy="1255395"/>
            <a:chOff x="2189385" y="999225"/>
            <a:chExt cx="2814955" cy="1255395"/>
          </a:xfrm>
        </p:grpSpPr>
        <p:sp>
          <p:nvSpPr>
            <p:cNvPr id="15" name="object 15" descr=""/>
            <p:cNvSpPr/>
            <p:nvPr/>
          </p:nvSpPr>
          <p:spPr>
            <a:xfrm>
              <a:off x="2915815" y="1035563"/>
              <a:ext cx="448309" cy="240665"/>
            </a:xfrm>
            <a:custGeom>
              <a:avLst/>
              <a:gdLst/>
              <a:ahLst/>
              <a:cxnLst/>
              <a:rect l="l" t="t" r="r" b="b"/>
              <a:pathLst>
                <a:path w="448310" h="240665">
                  <a:moveTo>
                    <a:pt x="0" y="240042"/>
                  </a:moveTo>
                  <a:lnTo>
                    <a:pt x="448081" y="0"/>
                  </a:lnTo>
                </a:path>
              </a:pathLst>
            </a:custGeom>
            <a:ln w="12700">
              <a:solidFill>
                <a:srgbClr val="B6DCDF"/>
              </a:solidFill>
            </a:ln>
          </p:spPr>
          <p:txBody>
            <a:bodyPr wrap="square" lIns="0" tIns="0" rIns="0" bIns="0" rtlCol="0"/>
            <a:lstStyle/>
            <a:p/>
          </p:txBody>
        </p:sp>
        <p:sp>
          <p:nvSpPr>
            <p:cNvPr id="16" name="object 16" descr=""/>
            <p:cNvSpPr/>
            <p:nvPr/>
          </p:nvSpPr>
          <p:spPr>
            <a:xfrm>
              <a:off x="3334711" y="1005570"/>
              <a:ext cx="85725" cy="69850"/>
            </a:xfrm>
            <a:custGeom>
              <a:avLst/>
              <a:gdLst/>
              <a:ahLst/>
              <a:cxnLst/>
              <a:rect l="l" t="t" r="r" b="b"/>
              <a:pathLst>
                <a:path w="85725" h="69850">
                  <a:moveTo>
                    <a:pt x="85166" y="0"/>
                  </a:moveTo>
                  <a:lnTo>
                    <a:pt x="0" y="2400"/>
                  </a:lnTo>
                  <a:lnTo>
                    <a:pt x="35979" y="69570"/>
                  </a:lnTo>
                  <a:lnTo>
                    <a:pt x="85166" y="0"/>
                  </a:lnTo>
                  <a:close/>
                </a:path>
              </a:pathLst>
            </a:custGeom>
            <a:solidFill>
              <a:srgbClr val="B6DCDF"/>
            </a:solidFill>
          </p:spPr>
          <p:txBody>
            <a:bodyPr wrap="square" lIns="0" tIns="0" rIns="0" bIns="0" rtlCol="0"/>
            <a:lstStyle/>
            <a:p/>
          </p:txBody>
        </p:sp>
        <p:sp>
          <p:nvSpPr>
            <p:cNvPr id="17" name="object 17" descr=""/>
            <p:cNvSpPr/>
            <p:nvPr/>
          </p:nvSpPr>
          <p:spPr>
            <a:xfrm>
              <a:off x="2915815" y="1275605"/>
              <a:ext cx="440690" cy="0"/>
            </a:xfrm>
            <a:custGeom>
              <a:avLst/>
              <a:gdLst/>
              <a:ahLst/>
              <a:cxnLst/>
              <a:rect l="l" t="t" r="r" b="b"/>
              <a:pathLst>
                <a:path w="440689" h="0">
                  <a:moveTo>
                    <a:pt x="0" y="0"/>
                  </a:moveTo>
                  <a:lnTo>
                    <a:pt x="440550" y="0"/>
                  </a:lnTo>
                </a:path>
              </a:pathLst>
            </a:custGeom>
            <a:ln w="12700">
              <a:solidFill>
                <a:srgbClr val="B6DCDF"/>
              </a:solidFill>
            </a:ln>
          </p:spPr>
          <p:txBody>
            <a:bodyPr wrap="square" lIns="0" tIns="0" rIns="0" bIns="0" rtlCol="0"/>
            <a:lstStyle/>
            <a:p/>
          </p:txBody>
        </p:sp>
        <p:sp>
          <p:nvSpPr>
            <p:cNvPr id="18" name="object 18" descr=""/>
            <p:cNvSpPr/>
            <p:nvPr/>
          </p:nvSpPr>
          <p:spPr>
            <a:xfrm>
              <a:off x="3343673" y="1237503"/>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19" name="object 19" descr=""/>
            <p:cNvSpPr/>
            <p:nvPr/>
          </p:nvSpPr>
          <p:spPr>
            <a:xfrm>
              <a:off x="2915815" y="1275605"/>
              <a:ext cx="448309" cy="240665"/>
            </a:xfrm>
            <a:custGeom>
              <a:avLst/>
              <a:gdLst/>
              <a:ahLst/>
              <a:cxnLst/>
              <a:rect l="l" t="t" r="r" b="b"/>
              <a:pathLst>
                <a:path w="448310" h="240665">
                  <a:moveTo>
                    <a:pt x="0" y="0"/>
                  </a:moveTo>
                  <a:lnTo>
                    <a:pt x="448081" y="240042"/>
                  </a:lnTo>
                </a:path>
              </a:pathLst>
            </a:custGeom>
            <a:ln w="12700">
              <a:solidFill>
                <a:srgbClr val="B6DCDF"/>
              </a:solidFill>
            </a:ln>
          </p:spPr>
          <p:txBody>
            <a:bodyPr wrap="square" lIns="0" tIns="0" rIns="0" bIns="0" rtlCol="0"/>
            <a:lstStyle/>
            <a:p/>
          </p:txBody>
        </p:sp>
        <p:sp>
          <p:nvSpPr>
            <p:cNvPr id="20" name="object 20" descr=""/>
            <p:cNvSpPr/>
            <p:nvPr/>
          </p:nvSpPr>
          <p:spPr>
            <a:xfrm>
              <a:off x="3334706" y="1476066"/>
              <a:ext cx="85725" cy="69850"/>
            </a:xfrm>
            <a:custGeom>
              <a:avLst/>
              <a:gdLst/>
              <a:ahLst/>
              <a:cxnLst/>
              <a:rect l="l" t="t" r="r" b="b"/>
              <a:pathLst>
                <a:path w="85725" h="69850">
                  <a:moveTo>
                    <a:pt x="35991" y="0"/>
                  </a:moveTo>
                  <a:lnTo>
                    <a:pt x="0" y="67170"/>
                  </a:lnTo>
                  <a:lnTo>
                    <a:pt x="85166" y="69570"/>
                  </a:lnTo>
                  <a:lnTo>
                    <a:pt x="35991" y="0"/>
                  </a:lnTo>
                  <a:close/>
                </a:path>
              </a:pathLst>
            </a:custGeom>
            <a:solidFill>
              <a:srgbClr val="B6DCDF"/>
            </a:solidFill>
          </p:spPr>
          <p:txBody>
            <a:bodyPr wrap="square" lIns="0" tIns="0" rIns="0" bIns="0" rtlCol="0"/>
            <a:lstStyle/>
            <a:p/>
          </p:txBody>
        </p:sp>
        <p:sp>
          <p:nvSpPr>
            <p:cNvPr id="21" name="object 21" descr=""/>
            <p:cNvSpPr/>
            <p:nvPr/>
          </p:nvSpPr>
          <p:spPr>
            <a:xfrm>
              <a:off x="4499992" y="1005575"/>
              <a:ext cx="448309" cy="240665"/>
            </a:xfrm>
            <a:custGeom>
              <a:avLst/>
              <a:gdLst/>
              <a:ahLst/>
              <a:cxnLst/>
              <a:rect l="l" t="t" r="r" b="b"/>
              <a:pathLst>
                <a:path w="448310" h="240665">
                  <a:moveTo>
                    <a:pt x="0" y="0"/>
                  </a:moveTo>
                  <a:lnTo>
                    <a:pt x="448081" y="240042"/>
                  </a:lnTo>
                </a:path>
              </a:pathLst>
            </a:custGeom>
            <a:ln w="12700">
              <a:solidFill>
                <a:srgbClr val="B6DCDF"/>
              </a:solidFill>
            </a:ln>
          </p:spPr>
          <p:txBody>
            <a:bodyPr wrap="square" lIns="0" tIns="0" rIns="0" bIns="0" rtlCol="0"/>
            <a:lstStyle/>
            <a:p/>
          </p:txBody>
        </p:sp>
        <p:sp>
          <p:nvSpPr>
            <p:cNvPr id="22" name="object 22" descr=""/>
            <p:cNvSpPr/>
            <p:nvPr/>
          </p:nvSpPr>
          <p:spPr>
            <a:xfrm>
              <a:off x="4918882" y="1206036"/>
              <a:ext cx="85725" cy="69850"/>
            </a:xfrm>
            <a:custGeom>
              <a:avLst/>
              <a:gdLst/>
              <a:ahLst/>
              <a:cxnLst/>
              <a:rect l="l" t="t" r="r" b="b"/>
              <a:pathLst>
                <a:path w="85725" h="69850">
                  <a:moveTo>
                    <a:pt x="35991" y="0"/>
                  </a:moveTo>
                  <a:lnTo>
                    <a:pt x="0" y="67170"/>
                  </a:lnTo>
                  <a:lnTo>
                    <a:pt x="85166" y="69570"/>
                  </a:lnTo>
                  <a:lnTo>
                    <a:pt x="35991" y="0"/>
                  </a:lnTo>
                  <a:close/>
                </a:path>
              </a:pathLst>
            </a:custGeom>
            <a:solidFill>
              <a:srgbClr val="B6DCDF"/>
            </a:solidFill>
          </p:spPr>
          <p:txBody>
            <a:bodyPr wrap="square" lIns="0" tIns="0" rIns="0" bIns="0" rtlCol="0"/>
            <a:lstStyle/>
            <a:p/>
          </p:txBody>
        </p:sp>
        <p:sp>
          <p:nvSpPr>
            <p:cNvPr id="23" name="object 23" descr=""/>
            <p:cNvSpPr/>
            <p:nvPr/>
          </p:nvSpPr>
          <p:spPr>
            <a:xfrm>
              <a:off x="4499992" y="1275605"/>
              <a:ext cx="440690" cy="0"/>
            </a:xfrm>
            <a:custGeom>
              <a:avLst/>
              <a:gdLst/>
              <a:ahLst/>
              <a:cxnLst/>
              <a:rect l="l" t="t" r="r" b="b"/>
              <a:pathLst>
                <a:path w="440689" h="0">
                  <a:moveTo>
                    <a:pt x="0" y="0"/>
                  </a:moveTo>
                  <a:lnTo>
                    <a:pt x="440550" y="0"/>
                  </a:lnTo>
                </a:path>
              </a:pathLst>
            </a:custGeom>
            <a:ln w="12700">
              <a:solidFill>
                <a:srgbClr val="B6DCDF"/>
              </a:solidFill>
            </a:ln>
          </p:spPr>
          <p:txBody>
            <a:bodyPr wrap="square" lIns="0" tIns="0" rIns="0" bIns="0" rtlCol="0"/>
            <a:lstStyle/>
            <a:p/>
          </p:txBody>
        </p:sp>
        <p:sp>
          <p:nvSpPr>
            <p:cNvPr id="24" name="object 24" descr=""/>
            <p:cNvSpPr/>
            <p:nvPr/>
          </p:nvSpPr>
          <p:spPr>
            <a:xfrm>
              <a:off x="4927850" y="1237503"/>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25" name="object 25" descr=""/>
            <p:cNvSpPr/>
            <p:nvPr/>
          </p:nvSpPr>
          <p:spPr>
            <a:xfrm>
              <a:off x="4499992" y="1305593"/>
              <a:ext cx="448309" cy="240665"/>
            </a:xfrm>
            <a:custGeom>
              <a:avLst/>
              <a:gdLst/>
              <a:ahLst/>
              <a:cxnLst/>
              <a:rect l="l" t="t" r="r" b="b"/>
              <a:pathLst>
                <a:path w="448310" h="240665">
                  <a:moveTo>
                    <a:pt x="0" y="240042"/>
                  </a:moveTo>
                  <a:lnTo>
                    <a:pt x="448081" y="0"/>
                  </a:lnTo>
                </a:path>
              </a:pathLst>
            </a:custGeom>
            <a:ln w="12700">
              <a:solidFill>
                <a:srgbClr val="B6DCDF"/>
              </a:solidFill>
            </a:ln>
          </p:spPr>
          <p:txBody>
            <a:bodyPr wrap="square" lIns="0" tIns="0" rIns="0" bIns="0" rtlCol="0"/>
            <a:lstStyle/>
            <a:p/>
          </p:txBody>
        </p:sp>
        <p:sp>
          <p:nvSpPr>
            <p:cNvPr id="26" name="object 26" descr=""/>
            <p:cNvSpPr/>
            <p:nvPr/>
          </p:nvSpPr>
          <p:spPr>
            <a:xfrm>
              <a:off x="4918887" y="1275600"/>
              <a:ext cx="85725" cy="69850"/>
            </a:xfrm>
            <a:custGeom>
              <a:avLst/>
              <a:gdLst/>
              <a:ahLst/>
              <a:cxnLst/>
              <a:rect l="l" t="t" r="r" b="b"/>
              <a:pathLst>
                <a:path w="85725" h="69850">
                  <a:moveTo>
                    <a:pt x="85166" y="0"/>
                  </a:moveTo>
                  <a:lnTo>
                    <a:pt x="0" y="2400"/>
                  </a:lnTo>
                  <a:lnTo>
                    <a:pt x="35979" y="69570"/>
                  </a:lnTo>
                  <a:lnTo>
                    <a:pt x="85166" y="0"/>
                  </a:lnTo>
                  <a:close/>
                </a:path>
              </a:pathLst>
            </a:custGeom>
            <a:solidFill>
              <a:srgbClr val="B6DCDF"/>
            </a:solidFill>
          </p:spPr>
          <p:txBody>
            <a:bodyPr wrap="square" lIns="0" tIns="0" rIns="0" bIns="0" rtlCol="0"/>
            <a:lstStyle/>
            <a:p/>
          </p:txBody>
        </p:sp>
        <p:sp>
          <p:nvSpPr>
            <p:cNvPr id="27" name="object 27" descr=""/>
            <p:cNvSpPr/>
            <p:nvPr/>
          </p:nvSpPr>
          <p:spPr>
            <a:xfrm>
              <a:off x="2195735" y="2031690"/>
              <a:ext cx="720090" cy="216535"/>
            </a:xfrm>
            <a:custGeom>
              <a:avLst/>
              <a:gdLst/>
              <a:ahLst/>
              <a:cxnLst/>
              <a:rect l="l" t="t" r="r" b="b"/>
              <a:pathLst>
                <a:path w="720089" h="216535">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7"/>
                  </a:lnTo>
                  <a:lnTo>
                    <a:pt x="36004" y="216027"/>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grpSp>
      <p:sp>
        <p:nvSpPr>
          <p:cNvPr id="28" name="object 28" descr=""/>
          <p:cNvSpPr txBox="1"/>
          <p:nvPr/>
        </p:nvSpPr>
        <p:spPr>
          <a:xfrm>
            <a:off x="2293362" y="2014226"/>
            <a:ext cx="52514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N</a:t>
            </a:r>
            <a:endParaRPr sz="1400">
              <a:latin typeface="Microsoft YaHei"/>
              <a:cs typeface="Microsoft YaHei"/>
            </a:endParaRPr>
          </a:p>
        </p:txBody>
      </p:sp>
      <p:sp>
        <p:nvSpPr>
          <p:cNvPr id="29" name="object 29" descr=""/>
          <p:cNvSpPr/>
          <p:nvPr/>
        </p:nvSpPr>
        <p:spPr>
          <a:xfrm>
            <a:off x="3419871" y="1761660"/>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30" name="object 30" descr=""/>
          <p:cNvSpPr txBox="1"/>
          <p:nvPr/>
        </p:nvSpPr>
        <p:spPr>
          <a:xfrm>
            <a:off x="3592013" y="1744195"/>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终端密度</a:t>
            </a:r>
            <a:endParaRPr sz="1400">
              <a:latin typeface="Microsoft YaHei"/>
              <a:cs typeface="Microsoft YaHei"/>
            </a:endParaRPr>
          </a:p>
        </p:txBody>
      </p:sp>
      <p:sp>
        <p:nvSpPr>
          <p:cNvPr id="31" name="object 31" descr=""/>
          <p:cNvSpPr txBox="1"/>
          <p:nvPr/>
        </p:nvSpPr>
        <p:spPr>
          <a:xfrm>
            <a:off x="3419871" y="2031690"/>
            <a:ext cx="1080135" cy="216535"/>
          </a:xfrm>
          <a:prstGeom prst="rect">
            <a:avLst/>
          </a:prstGeom>
          <a:ln w="15528">
            <a:solidFill>
              <a:srgbClr val="B6DCDF"/>
            </a:solidFill>
          </a:ln>
        </p:spPr>
        <p:txBody>
          <a:bodyPr wrap="square" lIns="0" tIns="0" rIns="0" bIns="0" rtlCol="0" vert="horz">
            <a:spAutoFit/>
          </a:bodyPr>
          <a:lstStyle/>
          <a:p>
            <a:pPr marL="201295">
              <a:lnSpc>
                <a:spcPts val="1639"/>
              </a:lnSpc>
            </a:pPr>
            <a:r>
              <a:rPr dirty="0" sz="1400" spc="-20">
                <a:latin typeface="Microsoft YaHei"/>
                <a:cs typeface="Microsoft YaHei"/>
              </a:rPr>
              <a:t>激活率</a:t>
            </a:r>
            <a:r>
              <a:rPr dirty="0" sz="1400" spc="-50">
                <a:latin typeface="Microsoft YaHei"/>
                <a:cs typeface="Microsoft YaHei"/>
              </a:rPr>
              <a:t>N</a:t>
            </a:r>
            <a:endParaRPr sz="1400">
              <a:latin typeface="Microsoft YaHei"/>
              <a:cs typeface="Microsoft YaHei"/>
            </a:endParaRPr>
          </a:p>
        </p:txBody>
      </p:sp>
      <p:sp>
        <p:nvSpPr>
          <p:cNvPr id="32" name="object 32" descr=""/>
          <p:cNvSpPr/>
          <p:nvPr/>
        </p:nvSpPr>
        <p:spPr>
          <a:xfrm>
            <a:off x="3419871" y="2301719"/>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33" name="object 33" descr=""/>
          <p:cNvSpPr txBox="1"/>
          <p:nvPr/>
        </p:nvSpPr>
        <p:spPr>
          <a:xfrm>
            <a:off x="3519653" y="2284256"/>
            <a:ext cx="88011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速率要求</a:t>
            </a:r>
            <a:r>
              <a:rPr dirty="0" sz="1400" spc="-50">
                <a:latin typeface="Microsoft YaHei"/>
                <a:cs typeface="Microsoft YaHei"/>
              </a:rPr>
              <a:t>N</a:t>
            </a:r>
            <a:endParaRPr sz="1400">
              <a:latin typeface="Microsoft YaHei"/>
              <a:cs typeface="Microsoft YaHei"/>
            </a:endParaRPr>
          </a:p>
        </p:txBody>
      </p:sp>
      <p:sp>
        <p:nvSpPr>
          <p:cNvPr id="34" name="object 34" descr=""/>
          <p:cNvSpPr/>
          <p:nvPr/>
        </p:nvSpPr>
        <p:spPr>
          <a:xfrm>
            <a:off x="5004047" y="2031690"/>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35" name="object 35" descr=""/>
          <p:cNvSpPr txBox="1"/>
          <p:nvPr/>
        </p:nvSpPr>
        <p:spPr>
          <a:xfrm>
            <a:off x="5103830" y="2014226"/>
            <a:ext cx="88011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流量密度</a:t>
            </a:r>
            <a:r>
              <a:rPr dirty="0" sz="1400" spc="-50">
                <a:latin typeface="Microsoft YaHei"/>
                <a:cs typeface="Microsoft YaHei"/>
              </a:rPr>
              <a:t>N</a:t>
            </a:r>
            <a:endParaRPr sz="1400">
              <a:latin typeface="Microsoft YaHei"/>
              <a:cs typeface="Microsoft YaHei"/>
            </a:endParaRPr>
          </a:p>
        </p:txBody>
      </p:sp>
      <p:grpSp>
        <p:nvGrpSpPr>
          <p:cNvPr id="36" name="object 36" descr=""/>
          <p:cNvGrpSpPr/>
          <p:nvPr/>
        </p:nvGrpSpPr>
        <p:grpSpPr>
          <a:xfrm>
            <a:off x="2909465" y="1593292"/>
            <a:ext cx="5701665" cy="822960"/>
            <a:chOff x="2909465" y="1593292"/>
            <a:chExt cx="5701665" cy="822960"/>
          </a:xfrm>
        </p:grpSpPr>
        <p:sp>
          <p:nvSpPr>
            <p:cNvPr id="37" name="object 37" descr=""/>
            <p:cNvSpPr/>
            <p:nvPr/>
          </p:nvSpPr>
          <p:spPr>
            <a:xfrm>
              <a:off x="2915815" y="1899659"/>
              <a:ext cx="448309" cy="240665"/>
            </a:xfrm>
            <a:custGeom>
              <a:avLst/>
              <a:gdLst/>
              <a:ahLst/>
              <a:cxnLst/>
              <a:rect l="l" t="t" r="r" b="b"/>
              <a:pathLst>
                <a:path w="448310" h="240664">
                  <a:moveTo>
                    <a:pt x="0" y="240042"/>
                  </a:moveTo>
                  <a:lnTo>
                    <a:pt x="448081" y="0"/>
                  </a:lnTo>
                </a:path>
              </a:pathLst>
            </a:custGeom>
            <a:ln w="12700">
              <a:solidFill>
                <a:srgbClr val="B6DCDF"/>
              </a:solidFill>
            </a:ln>
          </p:spPr>
          <p:txBody>
            <a:bodyPr wrap="square" lIns="0" tIns="0" rIns="0" bIns="0" rtlCol="0"/>
            <a:lstStyle/>
            <a:p/>
          </p:txBody>
        </p:sp>
        <p:sp>
          <p:nvSpPr>
            <p:cNvPr id="38" name="object 38" descr=""/>
            <p:cNvSpPr/>
            <p:nvPr/>
          </p:nvSpPr>
          <p:spPr>
            <a:xfrm>
              <a:off x="3334711" y="1869667"/>
              <a:ext cx="85725" cy="69850"/>
            </a:xfrm>
            <a:custGeom>
              <a:avLst/>
              <a:gdLst/>
              <a:ahLst/>
              <a:cxnLst/>
              <a:rect l="l" t="t" r="r" b="b"/>
              <a:pathLst>
                <a:path w="85725" h="69850">
                  <a:moveTo>
                    <a:pt x="85166" y="0"/>
                  </a:moveTo>
                  <a:lnTo>
                    <a:pt x="0" y="2400"/>
                  </a:lnTo>
                  <a:lnTo>
                    <a:pt x="35979" y="69570"/>
                  </a:lnTo>
                  <a:lnTo>
                    <a:pt x="85166" y="0"/>
                  </a:lnTo>
                  <a:close/>
                </a:path>
              </a:pathLst>
            </a:custGeom>
            <a:solidFill>
              <a:srgbClr val="B6DCDF"/>
            </a:solidFill>
          </p:spPr>
          <p:txBody>
            <a:bodyPr wrap="square" lIns="0" tIns="0" rIns="0" bIns="0" rtlCol="0"/>
            <a:lstStyle/>
            <a:p/>
          </p:txBody>
        </p:sp>
        <p:sp>
          <p:nvSpPr>
            <p:cNvPr id="39" name="object 39" descr=""/>
            <p:cNvSpPr/>
            <p:nvPr/>
          </p:nvSpPr>
          <p:spPr>
            <a:xfrm>
              <a:off x="2915815" y="2139702"/>
              <a:ext cx="440690" cy="0"/>
            </a:xfrm>
            <a:custGeom>
              <a:avLst/>
              <a:gdLst/>
              <a:ahLst/>
              <a:cxnLst/>
              <a:rect l="l" t="t" r="r" b="b"/>
              <a:pathLst>
                <a:path w="440689" h="0">
                  <a:moveTo>
                    <a:pt x="0" y="0"/>
                  </a:moveTo>
                  <a:lnTo>
                    <a:pt x="440550" y="0"/>
                  </a:lnTo>
                </a:path>
              </a:pathLst>
            </a:custGeom>
            <a:ln w="12700">
              <a:solidFill>
                <a:srgbClr val="B6DCDF"/>
              </a:solidFill>
            </a:ln>
          </p:spPr>
          <p:txBody>
            <a:bodyPr wrap="square" lIns="0" tIns="0" rIns="0" bIns="0" rtlCol="0"/>
            <a:lstStyle/>
            <a:p/>
          </p:txBody>
        </p:sp>
        <p:sp>
          <p:nvSpPr>
            <p:cNvPr id="40" name="object 40" descr=""/>
            <p:cNvSpPr/>
            <p:nvPr/>
          </p:nvSpPr>
          <p:spPr>
            <a:xfrm>
              <a:off x="3343673" y="2101598"/>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41" name="object 41" descr=""/>
            <p:cNvSpPr/>
            <p:nvPr/>
          </p:nvSpPr>
          <p:spPr>
            <a:xfrm>
              <a:off x="2915815" y="2139702"/>
              <a:ext cx="448309" cy="240665"/>
            </a:xfrm>
            <a:custGeom>
              <a:avLst/>
              <a:gdLst/>
              <a:ahLst/>
              <a:cxnLst/>
              <a:rect l="l" t="t" r="r" b="b"/>
              <a:pathLst>
                <a:path w="448310" h="240664">
                  <a:moveTo>
                    <a:pt x="0" y="0"/>
                  </a:moveTo>
                  <a:lnTo>
                    <a:pt x="448081" y="240042"/>
                  </a:lnTo>
                </a:path>
              </a:pathLst>
            </a:custGeom>
            <a:ln w="12700">
              <a:solidFill>
                <a:srgbClr val="B6DCDF"/>
              </a:solidFill>
            </a:ln>
          </p:spPr>
          <p:txBody>
            <a:bodyPr wrap="square" lIns="0" tIns="0" rIns="0" bIns="0" rtlCol="0"/>
            <a:lstStyle/>
            <a:p/>
          </p:txBody>
        </p:sp>
        <p:sp>
          <p:nvSpPr>
            <p:cNvPr id="42" name="object 42" descr=""/>
            <p:cNvSpPr/>
            <p:nvPr/>
          </p:nvSpPr>
          <p:spPr>
            <a:xfrm>
              <a:off x="3334706" y="2340161"/>
              <a:ext cx="85725" cy="69850"/>
            </a:xfrm>
            <a:custGeom>
              <a:avLst/>
              <a:gdLst/>
              <a:ahLst/>
              <a:cxnLst/>
              <a:rect l="l" t="t" r="r" b="b"/>
              <a:pathLst>
                <a:path w="85725" h="69850">
                  <a:moveTo>
                    <a:pt x="35991" y="0"/>
                  </a:moveTo>
                  <a:lnTo>
                    <a:pt x="0" y="67170"/>
                  </a:lnTo>
                  <a:lnTo>
                    <a:pt x="85166" y="69570"/>
                  </a:lnTo>
                  <a:lnTo>
                    <a:pt x="35991" y="0"/>
                  </a:lnTo>
                  <a:close/>
                </a:path>
              </a:pathLst>
            </a:custGeom>
            <a:solidFill>
              <a:srgbClr val="B6DCDF"/>
            </a:solidFill>
          </p:spPr>
          <p:txBody>
            <a:bodyPr wrap="square" lIns="0" tIns="0" rIns="0" bIns="0" rtlCol="0"/>
            <a:lstStyle/>
            <a:p/>
          </p:txBody>
        </p:sp>
        <p:sp>
          <p:nvSpPr>
            <p:cNvPr id="43" name="object 43" descr=""/>
            <p:cNvSpPr/>
            <p:nvPr/>
          </p:nvSpPr>
          <p:spPr>
            <a:xfrm>
              <a:off x="4499992" y="1869672"/>
              <a:ext cx="448309" cy="240665"/>
            </a:xfrm>
            <a:custGeom>
              <a:avLst/>
              <a:gdLst/>
              <a:ahLst/>
              <a:cxnLst/>
              <a:rect l="l" t="t" r="r" b="b"/>
              <a:pathLst>
                <a:path w="448310" h="240664">
                  <a:moveTo>
                    <a:pt x="0" y="0"/>
                  </a:moveTo>
                  <a:lnTo>
                    <a:pt x="448081" y="240042"/>
                  </a:lnTo>
                </a:path>
              </a:pathLst>
            </a:custGeom>
            <a:ln w="12700">
              <a:solidFill>
                <a:srgbClr val="B6DCDF"/>
              </a:solidFill>
            </a:ln>
          </p:spPr>
          <p:txBody>
            <a:bodyPr wrap="square" lIns="0" tIns="0" rIns="0" bIns="0" rtlCol="0"/>
            <a:lstStyle/>
            <a:p/>
          </p:txBody>
        </p:sp>
        <p:sp>
          <p:nvSpPr>
            <p:cNvPr id="44" name="object 44" descr=""/>
            <p:cNvSpPr/>
            <p:nvPr/>
          </p:nvSpPr>
          <p:spPr>
            <a:xfrm>
              <a:off x="4918882" y="2070131"/>
              <a:ext cx="85725" cy="69850"/>
            </a:xfrm>
            <a:custGeom>
              <a:avLst/>
              <a:gdLst/>
              <a:ahLst/>
              <a:cxnLst/>
              <a:rect l="l" t="t" r="r" b="b"/>
              <a:pathLst>
                <a:path w="85725" h="69850">
                  <a:moveTo>
                    <a:pt x="35991" y="0"/>
                  </a:moveTo>
                  <a:lnTo>
                    <a:pt x="0" y="67170"/>
                  </a:lnTo>
                  <a:lnTo>
                    <a:pt x="85166" y="69570"/>
                  </a:lnTo>
                  <a:lnTo>
                    <a:pt x="35991" y="0"/>
                  </a:lnTo>
                  <a:close/>
                </a:path>
              </a:pathLst>
            </a:custGeom>
            <a:solidFill>
              <a:srgbClr val="B6DCDF"/>
            </a:solidFill>
          </p:spPr>
          <p:txBody>
            <a:bodyPr wrap="square" lIns="0" tIns="0" rIns="0" bIns="0" rtlCol="0"/>
            <a:lstStyle/>
            <a:p/>
          </p:txBody>
        </p:sp>
        <p:sp>
          <p:nvSpPr>
            <p:cNvPr id="45" name="object 45" descr=""/>
            <p:cNvSpPr/>
            <p:nvPr/>
          </p:nvSpPr>
          <p:spPr>
            <a:xfrm>
              <a:off x="4499992" y="2139702"/>
              <a:ext cx="440690" cy="0"/>
            </a:xfrm>
            <a:custGeom>
              <a:avLst/>
              <a:gdLst/>
              <a:ahLst/>
              <a:cxnLst/>
              <a:rect l="l" t="t" r="r" b="b"/>
              <a:pathLst>
                <a:path w="440689" h="0">
                  <a:moveTo>
                    <a:pt x="0" y="0"/>
                  </a:moveTo>
                  <a:lnTo>
                    <a:pt x="440550" y="0"/>
                  </a:lnTo>
                </a:path>
              </a:pathLst>
            </a:custGeom>
            <a:ln w="12700">
              <a:solidFill>
                <a:srgbClr val="B6DCDF"/>
              </a:solidFill>
            </a:ln>
          </p:spPr>
          <p:txBody>
            <a:bodyPr wrap="square" lIns="0" tIns="0" rIns="0" bIns="0" rtlCol="0"/>
            <a:lstStyle/>
            <a:p/>
          </p:txBody>
        </p:sp>
        <p:sp>
          <p:nvSpPr>
            <p:cNvPr id="46" name="object 46" descr=""/>
            <p:cNvSpPr/>
            <p:nvPr/>
          </p:nvSpPr>
          <p:spPr>
            <a:xfrm>
              <a:off x="4927850" y="2101598"/>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47" name="object 47" descr=""/>
            <p:cNvSpPr/>
            <p:nvPr/>
          </p:nvSpPr>
          <p:spPr>
            <a:xfrm>
              <a:off x="4499992" y="2169689"/>
              <a:ext cx="448309" cy="240665"/>
            </a:xfrm>
            <a:custGeom>
              <a:avLst/>
              <a:gdLst/>
              <a:ahLst/>
              <a:cxnLst/>
              <a:rect l="l" t="t" r="r" b="b"/>
              <a:pathLst>
                <a:path w="448310" h="240664">
                  <a:moveTo>
                    <a:pt x="0" y="240042"/>
                  </a:moveTo>
                  <a:lnTo>
                    <a:pt x="448081" y="0"/>
                  </a:lnTo>
                </a:path>
              </a:pathLst>
            </a:custGeom>
            <a:ln w="12700">
              <a:solidFill>
                <a:srgbClr val="B6DCDF"/>
              </a:solidFill>
            </a:ln>
          </p:spPr>
          <p:txBody>
            <a:bodyPr wrap="square" lIns="0" tIns="0" rIns="0" bIns="0" rtlCol="0"/>
            <a:lstStyle/>
            <a:p/>
          </p:txBody>
        </p:sp>
        <p:sp>
          <p:nvSpPr>
            <p:cNvPr id="48" name="object 48" descr=""/>
            <p:cNvSpPr/>
            <p:nvPr/>
          </p:nvSpPr>
          <p:spPr>
            <a:xfrm>
              <a:off x="4918887" y="2139695"/>
              <a:ext cx="85725" cy="69850"/>
            </a:xfrm>
            <a:custGeom>
              <a:avLst/>
              <a:gdLst/>
              <a:ahLst/>
              <a:cxnLst/>
              <a:rect l="l" t="t" r="r" b="b"/>
              <a:pathLst>
                <a:path w="85725" h="69850">
                  <a:moveTo>
                    <a:pt x="85166" y="0"/>
                  </a:moveTo>
                  <a:lnTo>
                    <a:pt x="0" y="2400"/>
                  </a:lnTo>
                  <a:lnTo>
                    <a:pt x="35979" y="69570"/>
                  </a:lnTo>
                  <a:lnTo>
                    <a:pt x="85166" y="0"/>
                  </a:lnTo>
                  <a:close/>
                </a:path>
              </a:pathLst>
            </a:custGeom>
            <a:solidFill>
              <a:srgbClr val="B6DCDF"/>
            </a:solidFill>
          </p:spPr>
          <p:txBody>
            <a:bodyPr wrap="square" lIns="0" tIns="0" rIns="0" bIns="0" rtlCol="0"/>
            <a:lstStyle/>
            <a:p/>
          </p:txBody>
        </p:sp>
        <p:sp>
          <p:nvSpPr>
            <p:cNvPr id="49" name="object 49" descr=""/>
            <p:cNvSpPr/>
            <p:nvPr/>
          </p:nvSpPr>
          <p:spPr>
            <a:xfrm>
              <a:off x="6876256" y="1599642"/>
              <a:ext cx="1728470" cy="216535"/>
            </a:xfrm>
            <a:custGeom>
              <a:avLst/>
              <a:gdLst/>
              <a:ahLst/>
              <a:cxnLst/>
              <a:rect l="l" t="t" r="r" b="b"/>
              <a:pathLst>
                <a:path w="1728470" h="216535">
                  <a:moveTo>
                    <a:pt x="0" y="36004"/>
                  </a:moveTo>
                  <a:lnTo>
                    <a:pt x="2828" y="21988"/>
                  </a:lnTo>
                  <a:lnTo>
                    <a:pt x="10544" y="10544"/>
                  </a:lnTo>
                  <a:lnTo>
                    <a:pt x="21988" y="2828"/>
                  </a:lnTo>
                  <a:lnTo>
                    <a:pt x="36004" y="0"/>
                  </a:lnTo>
                  <a:lnTo>
                    <a:pt x="1692186" y="0"/>
                  </a:lnTo>
                  <a:lnTo>
                    <a:pt x="1706202" y="2828"/>
                  </a:lnTo>
                  <a:lnTo>
                    <a:pt x="1717646" y="10544"/>
                  </a:lnTo>
                  <a:lnTo>
                    <a:pt x="1725361" y="21988"/>
                  </a:lnTo>
                  <a:lnTo>
                    <a:pt x="1728190" y="36004"/>
                  </a:lnTo>
                  <a:lnTo>
                    <a:pt x="1728190" y="180022"/>
                  </a:lnTo>
                  <a:lnTo>
                    <a:pt x="1725361" y="194033"/>
                  </a:lnTo>
                  <a:lnTo>
                    <a:pt x="1717646" y="205478"/>
                  </a:lnTo>
                  <a:lnTo>
                    <a:pt x="1706202" y="213196"/>
                  </a:lnTo>
                  <a:lnTo>
                    <a:pt x="1692186"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grpSp>
      <p:sp>
        <p:nvSpPr>
          <p:cNvPr id="50" name="object 50" descr=""/>
          <p:cNvSpPr txBox="1"/>
          <p:nvPr/>
        </p:nvSpPr>
        <p:spPr>
          <a:xfrm>
            <a:off x="7283405" y="1582177"/>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总流量密度</a:t>
            </a:r>
            <a:endParaRPr sz="1400">
              <a:latin typeface="Microsoft YaHei"/>
              <a:cs typeface="Microsoft YaHei"/>
            </a:endParaRPr>
          </a:p>
        </p:txBody>
      </p:sp>
      <p:grpSp>
        <p:nvGrpSpPr>
          <p:cNvPr id="51" name="object 51" descr=""/>
          <p:cNvGrpSpPr/>
          <p:nvPr/>
        </p:nvGrpSpPr>
        <p:grpSpPr>
          <a:xfrm>
            <a:off x="0" y="1269255"/>
            <a:ext cx="9144000" cy="1307465"/>
            <a:chOff x="0" y="1269255"/>
            <a:chExt cx="9144000" cy="1307465"/>
          </a:xfrm>
        </p:grpSpPr>
        <p:sp>
          <p:nvSpPr>
            <p:cNvPr id="52" name="object 52" descr=""/>
            <p:cNvSpPr/>
            <p:nvPr/>
          </p:nvSpPr>
          <p:spPr>
            <a:xfrm>
              <a:off x="6084168" y="1275605"/>
              <a:ext cx="736600" cy="401955"/>
            </a:xfrm>
            <a:custGeom>
              <a:avLst/>
              <a:gdLst/>
              <a:ahLst/>
              <a:cxnLst/>
              <a:rect l="l" t="t" r="r" b="b"/>
              <a:pathLst>
                <a:path w="736600" h="401955">
                  <a:moveTo>
                    <a:pt x="0" y="0"/>
                  </a:moveTo>
                  <a:lnTo>
                    <a:pt x="736346" y="401637"/>
                  </a:lnTo>
                </a:path>
              </a:pathLst>
            </a:custGeom>
            <a:ln w="12700">
              <a:solidFill>
                <a:srgbClr val="B6DCDF"/>
              </a:solidFill>
            </a:ln>
          </p:spPr>
          <p:txBody>
            <a:bodyPr wrap="square" lIns="0" tIns="0" rIns="0" bIns="0" rtlCol="0"/>
            <a:lstStyle/>
            <a:p/>
          </p:txBody>
        </p:sp>
        <p:sp>
          <p:nvSpPr>
            <p:cNvPr id="53" name="object 53" descr=""/>
            <p:cNvSpPr/>
            <p:nvPr/>
          </p:nvSpPr>
          <p:spPr>
            <a:xfrm>
              <a:off x="6791120" y="1637715"/>
              <a:ext cx="85725" cy="70485"/>
            </a:xfrm>
            <a:custGeom>
              <a:avLst/>
              <a:gdLst/>
              <a:ahLst/>
              <a:cxnLst/>
              <a:rect l="l" t="t" r="r" b="b"/>
              <a:pathLst>
                <a:path w="85725" h="70485">
                  <a:moveTo>
                    <a:pt x="36487" y="0"/>
                  </a:moveTo>
                  <a:lnTo>
                    <a:pt x="0" y="66890"/>
                  </a:lnTo>
                  <a:lnTo>
                    <a:pt x="85140" y="69938"/>
                  </a:lnTo>
                  <a:lnTo>
                    <a:pt x="36487" y="0"/>
                  </a:lnTo>
                  <a:close/>
                </a:path>
              </a:pathLst>
            </a:custGeom>
            <a:solidFill>
              <a:srgbClr val="B6DCDF"/>
            </a:solidFill>
          </p:spPr>
          <p:txBody>
            <a:bodyPr wrap="square" lIns="0" tIns="0" rIns="0" bIns="0" rtlCol="0"/>
            <a:lstStyle/>
            <a:p/>
          </p:txBody>
        </p:sp>
        <p:sp>
          <p:nvSpPr>
            <p:cNvPr id="54" name="object 54" descr=""/>
            <p:cNvSpPr/>
            <p:nvPr/>
          </p:nvSpPr>
          <p:spPr>
            <a:xfrm>
              <a:off x="6084168" y="1738064"/>
              <a:ext cx="736600" cy="401955"/>
            </a:xfrm>
            <a:custGeom>
              <a:avLst/>
              <a:gdLst/>
              <a:ahLst/>
              <a:cxnLst/>
              <a:rect l="l" t="t" r="r" b="b"/>
              <a:pathLst>
                <a:path w="736600" h="401955">
                  <a:moveTo>
                    <a:pt x="0" y="401637"/>
                  </a:moveTo>
                  <a:lnTo>
                    <a:pt x="736346" y="0"/>
                  </a:lnTo>
                </a:path>
              </a:pathLst>
            </a:custGeom>
            <a:ln w="12700">
              <a:solidFill>
                <a:srgbClr val="B6DCDF"/>
              </a:solidFill>
            </a:ln>
          </p:spPr>
          <p:txBody>
            <a:bodyPr wrap="square" lIns="0" tIns="0" rIns="0" bIns="0" rtlCol="0"/>
            <a:lstStyle/>
            <a:p/>
          </p:txBody>
        </p:sp>
        <p:sp>
          <p:nvSpPr>
            <p:cNvPr id="55" name="object 55" descr=""/>
            <p:cNvSpPr/>
            <p:nvPr/>
          </p:nvSpPr>
          <p:spPr>
            <a:xfrm>
              <a:off x="6791116" y="1707655"/>
              <a:ext cx="85725" cy="70485"/>
            </a:xfrm>
            <a:custGeom>
              <a:avLst/>
              <a:gdLst/>
              <a:ahLst/>
              <a:cxnLst/>
              <a:rect l="l" t="t" r="r" b="b"/>
              <a:pathLst>
                <a:path w="85725" h="70485">
                  <a:moveTo>
                    <a:pt x="85140" y="0"/>
                  </a:moveTo>
                  <a:lnTo>
                    <a:pt x="0" y="3035"/>
                  </a:lnTo>
                  <a:lnTo>
                    <a:pt x="36487" y="69926"/>
                  </a:lnTo>
                  <a:lnTo>
                    <a:pt x="85140" y="0"/>
                  </a:lnTo>
                  <a:close/>
                </a:path>
              </a:pathLst>
            </a:custGeom>
            <a:solidFill>
              <a:srgbClr val="B6DCDF"/>
            </a:solidFill>
          </p:spPr>
          <p:txBody>
            <a:bodyPr wrap="square" lIns="0" tIns="0" rIns="0" bIns="0" rtlCol="0"/>
            <a:lstStyle/>
            <a:p/>
          </p:txBody>
        </p:sp>
        <p:sp>
          <p:nvSpPr>
            <p:cNvPr id="56" name="object 56" descr=""/>
            <p:cNvSpPr/>
            <p:nvPr/>
          </p:nvSpPr>
          <p:spPr>
            <a:xfrm>
              <a:off x="0" y="2571750"/>
              <a:ext cx="9144000" cy="0"/>
            </a:xfrm>
            <a:custGeom>
              <a:avLst/>
              <a:gdLst/>
              <a:ahLst/>
              <a:cxnLst/>
              <a:rect l="l" t="t" r="r" b="b"/>
              <a:pathLst>
                <a:path w="9144000" h="0">
                  <a:moveTo>
                    <a:pt x="0" y="0"/>
                  </a:moveTo>
                  <a:lnTo>
                    <a:pt x="9144000" y="0"/>
                  </a:lnTo>
                </a:path>
              </a:pathLst>
            </a:custGeom>
            <a:ln w="9525">
              <a:solidFill>
                <a:srgbClr val="000000"/>
              </a:solidFill>
              <a:prstDash val="sysDash"/>
            </a:ln>
          </p:spPr>
          <p:txBody>
            <a:bodyPr wrap="square" lIns="0" tIns="0" rIns="0" bIns="0" rtlCol="0"/>
            <a:lstStyle/>
            <a:p/>
          </p:txBody>
        </p:sp>
      </p:grpSp>
      <p:sp>
        <p:nvSpPr>
          <p:cNvPr id="57" name="object 57" descr=""/>
          <p:cNvSpPr/>
          <p:nvPr/>
        </p:nvSpPr>
        <p:spPr>
          <a:xfrm>
            <a:off x="2195735" y="2679762"/>
            <a:ext cx="720090" cy="216535"/>
          </a:xfrm>
          <a:custGeom>
            <a:avLst/>
            <a:gdLst/>
            <a:ahLst/>
            <a:cxnLst/>
            <a:rect l="l" t="t" r="r" b="b"/>
            <a:pathLst>
              <a:path w="720089" h="216535">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7"/>
                </a:lnTo>
                <a:lnTo>
                  <a:pt x="36004" y="216027"/>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sp>
        <p:nvSpPr>
          <p:cNvPr id="58" name="object 58" descr=""/>
          <p:cNvSpPr txBox="1"/>
          <p:nvPr/>
        </p:nvSpPr>
        <p:spPr>
          <a:xfrm>
            <a:off x="2313142" y="2662298"/>
            <a:ext cx="4851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1</a:t>
            </a:r>
            <a:endParaRPr sz="1400">
              <a:latin typeface="Microsoft YaHei"/>
              <a:cs typeface="Microsoft YaHei"/>
            </a:endParaRPr>
          </a:p>
        </p:txBody>
      </p:sp>
      <p:sp>
        <p:nvSpPr>
          <p:cNvPr id="59" name="object 59" descr=""/>
          <p:cNvSpPr/>
          <p:nvPr/>
        </p:nvSpPr>
        <p:spPr>
          <a:xfrm>
            <a:off x="5004047" y="2679762"/>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60" name="object 60" descr=""/>
          <p:cNvSpPr txBox="1"/>
          <p:nvPr/>
        </p:nvSpPr>
        <p:spPr>
          <a:xfrm>
            <a:off x="5123610" y="2662298"/>
            <a:ext cx="8401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时延要求</a:t>
            </a:r>
            <a:r>
              <a:rPr dirty="0" sz="1400" spc="-50">
                <a:latin typeface="Microsoft YaHei"/>
                <a:cs typeface="Microsoft YaHei"/>
              </a:rPr>
              <a:t>1</a:t>
            </a:r>
            <a:endParaRPr sz="1400">
              <a:latin typeface="Microsoft YaHei"/>
              <a:cs typeface="Microsoft YaHei"/>
            </a:endParaRPr>
          </a:p>
        </p:txBody>
      </p:sp>
      <p:grpSp>
        <p:nvGrpSpPr>
          <p:cNvPr id="61" name="object 61" descr=""/>
          <p:cNvGrpSpPr/>
          <p:nvPr/>
        </p:nvGrpSpPr>
        <p:grpSpPr>
          <a:xfrm>
            <a:off x="2189385" y="2749670"/>
            <a:ext cx="2814955" cy="746760"/>
            <a:chOff x="2189385" y="2749670"/>
            <a:chExt cx="2814955" cy="746760"/>
          </a:xfrm>
        </p:grpSpPr>
        <p:sp>
          <p:nvSpPr>
            <p:cNvPr id="62" name="object 62" descr=""/>
            <p:cNvSpPr/>
            <p:nvPr/>
          </p:nvSpPr>
          <p:spPr>
            <a:xfrm>
              <a:off x="2915815" y="2787774"/>
              <a:ext cx="2025014" cy="0"/>
            </a:xfrm>
            <a:custGeom>
              <a:avLst/>
              <a:gdLst/>
              <a:ahLst/>
              <a:cxnLst/>
              <a:rect l="l" t="t" r="r" b="b"/>
              <a:pathLst>
                <a:path w="2025014" h="0">
                  <a:moveTo>
                    <a:pt x="0" y="0"/>
                  </a:moveTo>
                  <a:lnTo>
                    <a:pt x="2024735" y="0"/>
                  </a:lnTo>
                </a:path>
              </a:pathLst>
            </a:custGeom>
            <a:ln w="12700">
              <a:solidFill>
                <a:srgbClr val="B6DCDF"/>
              </a:solidFill>
            </a:ln>
          </p:spPr>
          <p:txBody>
            <a:bodyPr wrap="square" lIns="0" tIns="0" rIns="0" bIns="0" rtlCol="0"/>
            <a:lstStyle/>
            <a:p/>
          </p:txBody>
        </p:sp>
        <p:sp>
          <p:nvSpPr>
            <p:cNvPr id="63" name="object 63" descr=""/>
            <p:cNvSpPr/>
            <p:nvPr/>
          </p:nvSpPr>
          <p:spPr>
            <a:xfrm>
              <a:off x="4927850" y="2749670"/>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64" name="object 64" descr=""/>
            <p:cNvSpPr/>
            <p:nvPr/>
          </p:nvSpPr>
          <p:spPr>
            <a:xfrm>
              <a:off x="2195735" y="3273828"/>
              <a:ext cx="720090" cy="216535"/>
            </a:xfrm>
            <a:custGeom>
              <a:avLst/>
              <a:gdLst/>
              <a:ahLst/>
              <a:cxnLst/>
              <a:rect l="l" t="t" r="r" b="b"/>
              <a:pathLst>
                <a:path w="720089" h="216535">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7"/>
                  </a:lnTo>
                  <a:lnTo>
                    <a:pt x="36004" y="216027"/>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grpSp>
      <p:sp>
        <p:nvSpPr>
          <p:cNvPr id="65" name="object 65" descr=""/>
          <p:cNvSpPr txBox="1"/>
          <p:nvPr/>
        </p:nvSpPr>
        <p:spPr>
          <a:xfrm>
            <a:off x="2293362" y="3256363"/>
            <a:ext cx="52514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N</a:t>
            </a:r>
            <a:endParaRPr sz="1400">
              <a:latin typeface="Microsoft YaHei"/>
              <a:cs typeface="Microsoft YaHei"/>
            </a:endParaRPr>
          </a:p>
        </p:txBody>
      </p:sp>
      <p:sp>
        <p:nvSpPr>
          <p:cNvPr id="66" name="object 66" descr=""/>
          <p:cNvSpPr/>
          <p:nvPr/>
        </p:nvSpPr>
        <p:spPr>
          <a:xfrm>
            <a:off x="5004047" y="3273828"/>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67" name="object 67" descr=""/>
          <p:cNvSpPr txBox="1"/>
          <p:nvPr/>
        </p:nvSpPr>
        <p:spPr>
          <a:xfrm>
            <a:off x="5103830" y="3256363"/>
            <a:ext cx="88011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时延要求</a:t>
            </a:r>
            <a:r>
              <a:rPr dirty="0" sz="1400" spc="-50">
                <a:latin typeface="Microsoft YaHei"/>
                <a:cs typeface="Microsoft YaHei"/>
              </a:rPr>
              <a:t>N</a:t>
            </a:r>
            <a:endParaRPr sz="1400">
              <a:latin typeface="Microsoft YaHei"/>
              <a:cs typeface="Microsoft YaHei"/>
            </a:endParaRPr>
          </a:p>
        </p:txBody>
      </p:sp>
      <p:grpSp>
        <p:nvGrpSpPr>
          <p:cNvPr id="68" name="object 68" descr=""/>
          <p:cNvGrpSpPr/>
          <p:nvPr/>
        </p:nvGrpSpPr>
        <p:grpSpPr>
          <a:xfrm>
            <a:off x="2909465" y="2889436"/>
            <a:ext cx="5701665" cy="530860"/>
            <a:chOff x="2909465" y="2889436"/>
            <a:chExt cx="5701665" cy="530860"/>
          </a:xfrm>
        </p:grpSpPr>
        <p:sp>
          <p:nvSpPr>
            <p:cNvPr id="69" name="object 69" descr=""/>
            <p:cNvSpPr/>
            <p:nvPr/>
          </p:nvSpPr>
          <p:spPr>
            <a:xfrm>
              <a:off x="2915815" y="3381839"/>
              <a:ext cx="2025014" cy="0"/>
            </a:xfrm>
            <a:custGeom>
              <a:avLst/>
              <a:gdLst/>
              <a:ahLst/>
              <a:cxnLst/>
              <a:rect l="l" t="t" r="r" b="b"/>
              <a:pathLst>
                <a:path w="2025014" h="0">
                  <a:moveTo>
                    <a:pt x="0" y="0"/>
                  </a:moveTo>
                  <a:lnTo>
                    <a:pt x="2024735" y="0"/>
                  </a:lnTo>
                </a:path>
              </a:pathLst>
            </a:custGeom>
            <a:ln w="12700">
              <a:solidFill>
                <a:srgbClr val="B6DCDF"/>
              </a:solidFill>
            </a:ln>
          </p:spPr>
          <p:txBody>
            <a:bodyPr wrap="square" lIns="0" tIns="0" rIns="0" bIns="0" rtlCol="0"/>
            <a:lstStyle/>
            <a:p/>
          </p:txBody>
        </p:sp>
        <p:sp>
          <p:nvSpPr>
            <p:cNvPr id="70" name="object 70" descr=""/>
            <p:cNvSpPr/>
            <p:nvPr/>
          </p:nvSpPr>
          <p:spPr>
            <a:xfrm>
              <a:off x="4927850" y="3343735"/>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71" name="object 71" descr=""/>
            <p:cNvSpPr/>
            <p:nvPr/>
          </p:nvSpPr>
          <p:spPr>
            <a:xfrm>
              <a:off x="6876256" y="2895786"/>
              <a:ext cx="1728470" cy="216535"/>
            </a:xfrm>
            <a:custGeom>
              <a:avLst/>
              <a:gdLst/>
              <a:ahLst/>
              <a:cxnLst/>
              <a:rect l="l" t="t" r="r" b="b"/>
              <a:pathLst>
                <a:path w="1728470" h="216535">
                  <a:moveTo>
                    <a:pt x="0" y="36004"/>
                  </a:moveTo>
                  <a:lnTo>
                    <a:pt x="2828" y="21988"/>
                  </a:lnTo>
                  <a:lnTo>
                    <a:pt x="10544" y="10544"/>
                  </a:lnTo>
                  <a:lnTo>
                    <a:pt x="21988" y="2828"/>
                  </a:lnTo>
                  <a:lnTo>
                    <a:pt x="36004" y="0"/>
                  </a:lnTo>
                  <a:lnTo>
                    <a:pt x="1692186" y="0"/>
                  </a:lnTo>
                  <a:lnTo>
                    <a:pt x="1706202" y="2828"/>
                  </a:lnTo>
                  <a:lnTo>
                    <a:pt x="1717646" y="10544"/>
                  </a:lnTo>
                  <a:lnTo>
                    <a:pt x="1725361" y="21988"/>
                  </a:lnTo>
                  <a:lnTo>
                    <a:pt x="1728190" y="36004"/>
                  </a:lnTo>
                  <a:lnTo>
                    <a:pt x="1728190" y="180022"/>
                  </a:lnTo>
                  <a:lnTo>
                    <a:pt x="1725361" y="194033"/>
                  </a:lnTo>
                  <a:lnTo>
                    <a:pt x="1717646" y="205478"/>
                  </a:lnTo>
                  <a:lnTo>
                    <a:pt x="1706202" y="213196"/>
                  </a:lnTo>
                  <a:lnTo>
                    <a:pt x="1692186"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grpSp>
      <p:sp>
        <p:nvSpPr>
          <p:cNvPr id="72" name="object 72" descr=""/>
          <p:cNvSpPr txBox="1"/>
          <p:nvPr/>
        </p:nvSpPr>
        <p:spPr>
          <a:xfrm>
            <a:off x="7372559" y="2878321"/>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最小时延</a:t>
            </a:r>
            <a:endParaRPr sz="1400">
              <a:latin typeface="Microsoft YaHei"/>
              <a:cs typeface="Microsoft YaHei"/>
            </a:endParaRPr>
          </a:p>
        </p:txBody>
      </p:sp>
      <p:grpSp>
        <p:nvGrpSpPr>
          <p:cNvPr id="73" name="object 73" descr=""/>
          <p:cNvGrpSpPr/>
          <p:nvPr/>
        </p:nvGrpSpPr>
        <p:grpSpPr>
          <a:xfrm>
            <a:off x="2517675" y="2781424"/>
            <a:ext cx="4358640" cy="607060"/>
            <a:chOff x="2517675" y="2781424"/>
            <a:chExt cx="4358640" cy="607060"/>
          </a:xfrm>
        </p:grpSpPr>
        <p:sp>
          <p:nvSpPr>
            <p:cNvPr id="74" name="object 74" descr=""/>
            <p:cNvSpPr/>
            <p:nvPr/>
          </p:nvSpPr>
          <p:spPr>
            <a:xfrm>
              <a:off x="6084168" y="2787774"/>
              <a:ext cx="730885" cy="199390"/>
            </a:xfrm>
            <a:custGeom>
              <a:avLst/>
              <a:gdLst/>
              <a:ahLst/>
              <a:cxnLst/>
              <a:rect l="l" t="t" r="r" b="b"/>
              <a:pathLst>
                <a:path w="730884" h="199389">
                  <a:moveTo>
                    <a:pt x="0" y="0"/>
                  </a:moveTo>
                  <a:lnTo>
                    <a:pt x="730821" y="199313"/>
                  </a:lnTo>
                </a:path>
              </a:pathLst>
            </a:custGeom>
            <a:ln w="12700">
              <a:solidFill>
                <a:srgbClr val="B6DCDF"/>
              </a:solidFill>
            </a:ln>
          </p:spPr>
          <p:txBody>
            <a:bodyPr wrap="square" lIns="0" tIns="0" rIns="0" bIns="0" rtlCol="0"/>
            <a:lstStyle/>
            <a:p/>
          </p:txBody>
        </p:sp>
        <p:sp>
          <p:nvSpPr>
            <p:cNvPr id="75" name="object 75" descr=""/>
            <p:cNvSpPr/>
            <p:nvPr/>
          </p:nvSpPr>
          <p:spPr>
            <a:xfrm>
              <a:off x="6792715" y="2946987"/>
              <a:ext cx="83820" cy="73660"/>
            </a:xfrm>
            <a:custGeom>
              <a:avLst/>
              <a:gdLst/>
              <a:ahLst/>
              <a:cxnLst/>
              <a:rect l="l" t="t" r="r" b="b"/>
              <a:pathLst>
                <a:path w="83820" h="73660">
                  <a:moveTo>
                    <a:pt x="20053" y="0"/>
                  </a:moveTo>
                  <a:lnTo>
                    <a:pt x="0" y="73520"/>
                  </a:lnTo>
                  <a:lnTo>
                    <a:pt x="83540" y="56807"/>
                  </a:lnTo>
                  <a:lnTo>
                    <a:pt x="20053" y="0"/>
                  </a:lnTo>
                  <a:close/>
                </a:path>
              </a:pathLst>
            </a:custGeom>
            <a:solidFill>
              <a:srgbClr val="B6DCDF"/>
            </a:solidFill>
          </p:spPr>
          <p:txBody>
            <a:bodyPr wrap="square" lIns="0" tIns="0" rIns="0" bIns="0" rtlCol="0"/>
            <a:lstStyle/>
            <a:p/>
          </p:txBody>
        </p:sp>
        <p:sp>
          <p:nvSpPr>
            <p:cNvPr id="76" name="object 76" descr=""/>
            <p:cNvSpPr/>
            <p:nvPr/>
          </p:nvSpPr>
          <p:spPr>
            <a:xfrm>
              <a:off x="6084168" y="3031154"/>
              <a:ext cx="735330" cy="351155"/>
            </a:xfrm>
            <a:custGeom>
              <a:avLst/>
              <a:gdLst/>
              <a:ahLst/>
              <a:cxnLst/>
              <a:rect l="l" t="t" r="r" b="b"/>
              <a:pathLst>
                <a:path w="735329" h="351154">
                  <a:moveTo>
                    <a:pt x="0" y="350685"/>
                  </a:moveTo>
                  <a:lnTo>
                    <a:pt x="734783" y="0"/>
                  </a:lnTo>
                </a:path>
              </a:pathLst>
            </a:custGeom>
            <a:ln w="12700">
              <a:solidFill>
                <a:srgbClr val="B6DCDF"/>
              </a:solidFill>
            </a:ln>
          </p:spPr>
          <p:txBody>
            <a:bodyPr wrap="square" lIns="0" tIns="0" rIns="0" bIns="0" rtlCol="0"/>
            <a:lstStyle/>
            <a:p/>
          </p:txBody>
        </p:sp>
        <p:sp>
          <p:nvSpPr>
            <p:cNvPr id="77" name="object 77" descr=""/>
            <p:cNvSpPr/>
            <p:nvPr/>
          </p:nvSpPr>
          <p:spPr>
            <a:xfrm>
              <a:off x="6791075" y="3002230"/>
              <a:ext cx="85725" cy="69215"/>
            </a:xfrm>
            <a:custGeom>
              <a:avLst/>
              <a:gdLst/>
              <a:ahLst/>
              <a:cxnLst/>
              <a:rect l="l" t="t" r="r" b="b"/>
              <a:pathLst>
                <a:path w="85725" h="69214">
                  <a:moveTo>
                    <a:pt x="0" y="0"/>
                  </a:moveTo>
                  <a:lnTo>
                    <a:pt x="32816" y="68770"/>
                  </a:lnTo>
                  <a:lnTo>
                    <a:pt x="85178" y="1562"/>
                  </a:lnTo>
                  <a:lnTo>
                    <a:pt x="0" y="0"/>
                  </a:lnTo>
                  <a:close/>
                </a:path>
              </a:pathLst>
            </a:custGeom>
            <a:solidFill>
              <a:srgbClr val="B6DCDF"/>
            </a:solidFill>
          </p:spPr>
          <p:txBody>
            <a:bodyPr wrap="square" lIns="0" tIns="0" rIns="0" bIns="0" rtlCol="0"/>
            <a:lstStyle/>
            <a:p/>
          </p:txBody>
        </p:sp>
        <p:sp>
          <p:nvSpPr>
            <p:cNvPr id="78" name="object 78" descr=""/>
            <p:cNvSpPr/>
            <p:nvPr/>
          </p:nvSpPr>
          <p:spPr>
            <a:xfrm>
              <a:off x="2555775" y="2976195"/>
              <a:ext cx="0" cy="243840"/>
            </a:xfrm>
            <a:custGeom>
              <a:avLst/>
              <a:gdLst/>
              <a:ahLst/>
              <a:cxnLst/>
              <a:rect l="l" t="t" r="r" b="b"/>
              <a:pathLst>
                <a:path w="0" h="243839">
                  <a:moveTo>
                    <a:pt x="0" y="0"/>
                  </a:moveTo>
                  <a:lnTo>
                    <a:pt x="0" y="243624"/>
                  </a:lnTo>
                </a:path>
              </a:pathLst>
            </a:custGeom>
            <a:ln w="76200">
              <a:solidFill>
                <a:srgbClr val="000000"/>
              </a:solidFill>
              <a:prstDash val="dot"/>
            </a:ln>
          </p:spPr>
          <p:txBody>
            <a:bodyPr wrap="square" lIns="0" tIns="0" rIns="0" bIns="0" rtlCol="0"/>
            <a:lstStyle/>
            <a:p/>
          </p:txBody>
        </p:sp>
        <p:sp>
          <p:nvSpPr>
            <p:cNvPr id="79" name="object 79" descr=""/>
            <p:cNvSpPr/>
            <p:nvPr/>
          </p:nvSpPr>
          <p:spPr>
            <a:xfrm>
              <a:off x="5508104" y="2976195"/>
              <a:ext cx="0" cy="243840"/>
            </a:xfrm>
            <a:custGeom>
              <a:avLst/>
              <a:gdLst/>
              <a:ahLst/>
              <a:cxnLst/>
              <a:rect l="l" t="t" r="r" b="b"/>
              <a:pathLst>
                <a:path w="0" h="243839">
                  <a:moveTo>
                    <a:pt x="0" y="0"/>
                  </a:moveTo>
                  <a:lnTo>
                    <a:pt x="0" y="243624"/>
                  </a:lnTo>
                </a:path>
              </a:pathLst>
            </a:custGeom>
            <a:ln w="76200">
              <a:solidFill>
                <a:srgbClr val="000000"/>
              </a:solidFill>
              <a:prstDash val="dot"/>
            </a:ln>
          </p:spPr>
          <p:txBody>
            <a:bodyPr wrap="square" lIns="0" tIns="0" rIns="0" bIns="0" rtlCol="0"/>
            <a:lstStyle/>
            <a:p/>
          </p:txBody>
        </p:sp>
      </p:grpSp>
      <p:sp>
        <p:nvSpPr>
          <p:cNvPr id="80" name="object 80" descr=""/>
          <p:cNvSpPr/>
          <p:nvPr/>
        </p:nvSpPr>
        <p:spPr>
          <a:xfrm>
            <a:off x="2195735" y="3651870"/>
            <a:ext cx="720090" cy="216535"/>
          </a:xfrm>
          <a:custGeom>
            <a:avLst/>
            <a:gdLst/>
            <a:ahLst/>
            <a:cxnLst/>
            <a:rect l="l" t="t" r="r" b="b"/>
            <a:pathLst>
              <a:path w="720089" h="216535">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6"/>
                </a:lnTo>
                <a:lnTo>
                  <a:pt x="36004" y="216026"/>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sp>
        <p:nvSpPr>
          <p:cNvPr id="81" name="object 81" descr=""/>
          <p:cNvSpPr txBox="1"/>
          <p:nvPr/>
        </p:nvSpPr>
        <p:spPr>
          <a:xfrm>
            <a:off x="2313142" y="3634406"/>
            <a:ext cx="48514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1</a:t>
            </a:r>
            <a:endParaRPr sz="1400">
              <a:latin typeface="Microsoft YaHei"/>
              <a:cs typeface="Microsoft YaHei"/>
            </a:endParaRPr>
          </a:p>
        </p:txBody>
      </p:sp>
      <p:sp>
        <p:nvSpPr>
          <p:cNvPr id="82" name="object 82" descr=""/>
          <p:cNvSpPr/>
          <p:nvPr/>
        </p:nvSpPr>
        <p:spPr>
          <a:xfrm>
            <a:off x="5004047" y="3651870"/>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83" name="object 83" descr=""/>
          <p:cNvSpPr txBox="1"/>
          <p:nvPr/>
        </p:nvSpPr>
        <p:spPr>
          <a:xfrm>
            <a:off x="5123610" y="3634406"/>
            <a:ext cx="84010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速率要求</a:t>
            </a:r>
            <a:r>
              <a:rPr dirty="0" sz="1400" spc="-50">
                <a:latin typeface="Microsoft YaHei"/>
                <a:cs typeface="Microsoft YaHei"/>
              </a:rPr>
              <a:t>1</a:t>
            </a:r>
            <a:endParaRPr sz="1400">
              <a:latin typeface="Microsoft YaHei"/>
              <a:cs typeface="Microsoft YaHei"/>
            </a:endParaRPr>
          </a:p>
        </p:txBody>
      </p:sp>
      <p:grpSp>
        <p:nvGrpSpPr>
          <p:cNvPr id="84" name="object 84" descr=""/>
          <p:cNvGrpSpPr/>
          <p:nvPr/>
        </p:nvGrpSpPr>
        <p:grpSpPr>
          <a:xfrm>
            <a:off x="2189385" y="3721778"/>
            <a:ext cx="2814955" cy="746760"/>
            <a:chOff x="2189385" y="3721778"/>
            <a:chExt cx="2814955" cy="746760"/>
          </a:xfrm>
        </p:grpSpPr>
        <p:sp>
          <p:nvSpPr>
            <p:cNvPr id="85" name="object 85" descr=""/>
            <p:cNvSpPr/>
            <p:nvPr/>
          </p:nvSpPr>
          <p:spPr>
            <a:xfrm>
              <a:off x="2915815" y="3759882"/>
              <a:ext cx="2025014" cy="0"/>
            </a:xfrm>
            <a:custGeom>
              <a:avLst/>
              <a:gdLst/>
              <a:ahLst/>
              <a:cxnLst/>
              <a:rect l="l" t="t" r="r" b="b"/>
              <a:pathLst>
                <a:path w="2025014" h="0">
                  <a:moveTo>
                    <a:pt x="0" y="0"/>
                  </a:moveTo>
                  <a:lnTo>
                    <a:pt x="2024735" y="0"/>
                  </a:lnTo>
                </a:path>
              </a:pathLst>
            </a:custGeom>
            <a:ln w="12700">
              <a:solidFill>
                <a:srgbClr val="B6DCDF"/>
              </a:solidFill>
            </a:ln>
          </p:spPr>
          <p:txBody>
            <a:bodyPr wrap="square" lIns="0" tIns="0" rIns="0" bIns="0" rtlCol="0"/>
            <a:lstStyle/>
            <a:p/>
          </p:txBody>
        </p:sp>
        <p:sp>
          <p:nvSpPr>
            <p:cNvPr id="86" name="object 86" descr=""/>
            <p:cNvSpPr/>
            <p:nvPr/>
          </p:nvSpPr>
          <p:spPr>
            <a:xfrm>
              <a:off x="4927850" y="3721778"/>
              <a:ext cx="76200" cy="76200"/>
            </a:xfrm>
            <a:custGeom>
              <a:avLst/>
              <a:gdLst/>
              <a:ahLst/>
              <a:cxnLst/>
              <a:rect l="l" t="t" r="r" b="b"/>
              <a:pathLst>
                <a:path w="76200" h="76200">
                  <a:moveTo>
                    <a:pt x="0" y="0"/>
                  </a:moveTo>
                  <a:lnTo>
                    <a:pt x="0" y="76199"/>
                  </a:lnTo>
                  <a:lnTo>
                    <a:pt x="76200" y="38099"/>
                  </a:lnTo>
                  <a:lnTo>
                    <a:pt x="0" y="0"/>
                  </a:lnTo>
                  <a:close/>
                </a:path>
              </a:pathLst>
            </a:custGeom>
            <a:solidFill>
              <a:srgbClr val="B6DCDF"/>
            </a:solidFill>
          </p:spPr>
          <p:txBody>
            <a:bodyPr wrap="square" lIns="0" tIns="0" rIns="0" bIns="0" rtlCol="0"/>
            <a:lstStyle/>
            <a:p/>
          </p:txBody>
        </p:sp>
        <p:sp>
          <p:nvSpPr>
            <p:cNvPr id="87" name="object 87" descr=""/>
            <p:cNvSpPr/>
            <p:nvPr/>
          </p:nvSpPr>
          <p:spPr>
            <a:xfrm>
              <a:off x="2195735" y="4245936"/>
              <a:ext cx="720090" cy="216535"/>
            </a:xfrm>
            <a:custGeom>
              <a:avLst/>
              <a:gdLst/>
              <a:ahLst/>
              <a:cxnLst/>
              <a:rect l="l" t="t" r="r" b="b"/>
              <a:pathLst>
                <a:path w="720089" h="216535">
                  <a:moveTo>
                    <a:pt x="0" y="36004"/>
                  </a:moveTo>
                  <a:lnTo>
                    <a:pt x="2828" y="21988"/>
                  </a:lnTo>
                  <a:lnTo>
                    <a:pt x="10544" y="10544"/>
                  </a:lnTo>
                  <a:lnTo>
                    <a:pt x="21988" y="2828"/>
                  </a:lnTo>
                  <a:lnTo>
                    <a:pt x="36004" y="0"/>
                  </a:lnTo>
                  <a:lnTo>
                    <a:pt x="684072" y="0"/>
                  </a:lnTo>
                  <a:lnTo>
                    <a:pt x="698088" y="2828"/>
                  </a:lnTo>
                  <a:lnTo>
                    <a:pt x="709533" y="10544"/>
                  </a:lnTo>
                  <a:lnTo>
                    <a:pt x="717248" y="21988"/>
                  </a:lnTo>
                  <a:lnTo>
                    <a:pt x="720077" y="36004"/>
                  </a:lnTo>
                  <a:lnTo>
                    <a:pt x="720077" y="180022"/>
                  </a:lnTo>
                  <a:lnTo>
                    <a:pt x="717248" y="194033"/>
                  </a:lnTo>
                  <a:lnTo>
                    <a:pt x="709533" y="205478"/>
                  </a:lnTo>
                  <a:lnTo>
                    <a:pt x="698088" y="213196"/>
                  </a:lnTo>
                  <a:lnTo>
                    <a:pt x="684072" y="216027"/>
                  </a:lnTo>
                  <a:lnTo>
                    <a:pt x="36004" y="216027"/>
                  </a:lnTo>
                  <a:lnTo>
                    <a:pt x="21988" y="213196"/>
                  </a:lnTo>
                  <a:lnTo>
                    <a:pt x="10544" y="205478"/>
                  </a:lnTo>
                  <a:lnTo>
                    <a:pt x="2828" y="194033"/>
                  </a:lnTo>
                  <a:lnTo>
                    <a:pt x="0" y="180022"/>
                  </a:lnTo>
                  <a:lnTo>
                    <a:pt x="0" y="36004"/>
                  </a:lnTo>
                  <a:close/>
                </a:path>
              </a:pathLst>
            </a:custGeom>
            <a:ln w="12700">
              <a:solidFill>
                <a:srgbClr val="B6DCDF"/>
              </a:solidFill>
            </a:ln>
          </p:spPr>
          <p:txBody>
            <a:bodyPr wrap="square" lIns="0" tIns="0" rIns="0" bIns="0" rtlCol="0"/>
            <a:lstStyle/>
            <a:p/>
          </p:txBody>
        </p:sp>
      </p:grpSp>
      <p:sp>
        <p:nvSpPr>
          <p:cNvPr id="88" name="object 88" descr=""/>
          <p:cNvSpPr txBox="1"/>
          <p:nvPr/>
        </p:nvSpPr>
        <p:spPr>
          <a:xfrm>
            <a:off x="2293362" y="4228471"/>
            <a:ext cx="525145"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业务</a:t>
            </a:r>
            <a:r>
              <a:rPr dirty="0" sz="1400" spc="-50">
                <a:latin typeface="Microsoft YaHei"/>
                <a:cs typeface="Microsoft YaHei"/>
              </a:rPr>
              <a:t>N</a:t>
            </a:r>
            <a:endParaRPr sz="1400">
              <a:latin typeface="Microsoft YaHei"/>
              <a:cs typeface="Microsoft YaHei"/>
            </a:endParaRPr>
          </a:p>
        </p:txBody>
      </p:sp>
      <p:sp>
        <p:nvSpPr>
          <p:cNvPr id="89" name="object 89" descr=""/>
          <p:cNvSpPr/>
          <p:nvPr/>
        </p:nvSpPr>
        <p:spPr>
          <a:xfrm>
            <a:off x="5004047" y="4245936"/>
            <a:ext cx="1080135" cy="216535"/>
          </a:xfrm>
          <a:custGeom>
            <a:avLst/>
            <a:gdLst/>
            <a:ahLst/>
            <a:cxnLst/>
            <a:rect l="l" t="t" r="r" b="b"/>
            <a:pathLst>
              <a:path w="1080135" h="216535">
                <a:moveTo>
                  <a:pt x="0" y="36004"/>
                </a:moveTo>
                <a:lnTo>
                  <a:pt x="2828" y="21988"/>
                </a:lnTo>
                <a:lnTo>
                  <a:pt x="10544" y="10544"/>
                </a:lnTo>
                <a:lnTo>
                  <a:pt x="21988" y="2828"/>
                </a:lnTo>
                <a:lnTo>
                  <a:pt x="36004" y="0"/>
                </a:lnTo>
                <a:lnTo>
                  <a:pt x="1044117" y="0"/>
                </a:lnTo>
                <a:lnTo>
                  <a:pt x="1058133" y="2828"/>
                </a:lnTo>
                <a:lnTo>
                  <a:pt x="1069578" y="10544"/>
                </a:lnTo>
                <a:lnTo>
                  <a:pt x="1077293" y="21988"/>
                </a:lnTo>
                <a:lnTo>
                  <a:pt x="1080122" y="36004"/>
                </a:lnTo>
                <a:lnTo>
                  <a:pt x="1080122" y="180022"/>
                </a:lnTo>
                <a:lnTo>
                  <a:pt x="1077293" y="194033"/>
                </a:lnTo>
                <a:lnTo>
                  <a:pt x="1069578" y="205478"/>
                </a:lnTo>
                <a:lnTo>
                  <a:pt x="1058133" y="213196"/>
                </a:lnTo>
                <a:lnTo>
                  <a:pt x="1044117" y="216027"/>
                </a:lnTo>
                <a:lnTo>
                  <a:pt x="36004" y="216027"/>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90" name="object 90" descr=""/>
          <p:cNvSpPr txBox="1"/>
          <p:nvPr/>
        </p:nvSpPr>
        <p:spPr>
          <a:xfrm>
            <a:off x="5103830" y="4228471"/>
            <a:ext cx="88011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速率要求</a:t>
            </a:r>
            <a:r>
              <a:rPr dirty="0" sz="1400" spc="-50">
                <a:latin typeface="Microsoft YaHei"/>
                <a:cs typeface="Microsoft YaHei"/>
              </a:rPr>
              <a:t>N</a:t>
            </a:r>
            <a:endParaRPr sz="1400">
              <a:latin typeface="Microsoft YaHei"/>
              <a:cs typeface="Microsoft YaHei"/>
            </a:endParaRPr>
          </a:p>
        </p:txBody>
      </p:sp>
      <p:grpSp>
        <p:nvGrpSpPr>
          <p:cNvPr id="91" name="object 91" descr=""/>
          <p:cNvGrpSpPr/>
          <p:nvPr/>
        </p:nvGrpSpPr>
        <p:grpSpPr>
          <a:xfrm>
            <a:off x="2909465" y="3915550"/>
            <a:ext cx="5701665" cy="476884"/>
            <a:chOff x="2909465" y="3915550"/>
            <a:chExt cx="5701665" cy="476884"/>
          </a:xfrm>
        </p:grpSpPr>
        <p:sp>
          <p:nvSpPr>
            <p:cNvPr id="92" name="object 92" descr=""/>
            <p:cNvSpPr/>
            <p:nvPr/>
          </p:nvSpPr>
          <p:spPr>
            <a:xfrm>
              <a:off x="2915815" y="4353948"/>
              <a:ext cx="2025014" cy="0"/>
            </a:xfrm>
            <a:custGeom>
              <a:avLst/>
              <a:gdLst/>
              <a:ahLst/>
              <a:cxnLst/>
              <a:rect l="l" t="t" r="r" b="b"/>
              <a:pathLst>
                <a:path w="2025014" h="0">
                  <a:moveTo>
                    <a:pt x="0" y="0"/>
                  </a:moveTo>
                  <a:lnTo>
                    <a:pt x="2024735" y="0"/>
                  </a:lnTo>
                </a:path>
              </a:pathLst>
            </a:custGeom>
            <a:ln w="12700">
              <a:solidFill>
                <a:srgbClr val="B6DCDF"/>
              </a:solidFill>
            </a:ln>
          </p:spPr>
          <p:txBody>
            <a:bodyPr wrap="square" lIns="0" tIns="0" rIns="0" bIns="0" rtlCol="0"/>
            <a:lstStyle/>
            <a:p/>
          </p:txBody>
        </p:sp>
        <p:sp>
          <p:nvSpPr>
            <p:cNvPr id="93" name="object 93" descr=""/>
            <p:cNvSpPr/>
            <p:nvPr/>
          </p:nvSpPr>
          <p:spPr>
            <a:xfrm>
              <a:off x="4927850" y="4315844"/>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sp>
          <p:nvSpPr>
            <p:cNvPr id="94" name="object 94" descr=""/>
            <p:cNvSpPr/>
            <p:nvPr/>
          </p:nvSpPr>
          <p:spPr>
            <a:xfrm>
              <a:off x="6876256" y="3921900"/>
              <a:ext cx="1728470" cy="216535"/>
            </a:xfrm>
            <a:custGeom>
              <a:avLst/>
              <a:gdLst/>
              <a:ahLst/>
              <a:cxnLst/>
              <a:rect l="l" t="t" r="r" b="b"/>
              <a:pathLst>
                <a:path w="1728470" h="216535">
                  <a:moveTo>
                    <a:pt x="0" y="36004"/>
                  </a:moveTo>
                  <a:lnTo>
                    <a:pt x="2828" y="21988"/>
                  </a:lnTo>
                  <a:lnTo>
                    <a:pt x="10544" y="10544"/>
                  </a:lnTo>
                  <a:lnTo>
                    <a:pt x="21988" y="2828"/>
                  </a:lnTo>
                  <a:lnTo>
                    <a:pt x="36004" y="0"/>
                  </a:lnTo>
                  <a:lnTo>
                    <a:pt x="1692186" y="0"/>
                  </a:lnTo>
                  <a:lnTo>
                    <a:pt x="1706202" y="2828"/>
                  </a:lnTo>
                  <a:lnTo>
                    <a:pt x="1717646" y="10544"/>
                  </a:lnTo>
                  <a:lnTo>
                    <a:pt x="1725361" y="21988"/>
                  </a:lnTo>
                  <a:lnTo>
                    <a:pt x="1728190" y="36004"/>
                  </a:lnTo>
                  <a:lnTo>
                    <a:pt x="1728190" y="180022"/>
                  </a:lnTo>
                  <a:lnTo>
                    <a:pt x="1725361" y="194033"/>
                  </a:lnTo>
                  <a:lnTo>
                    <a:pt x="1717646" y="205478"/>
                  </a:lnTo>
                  <a:lnTo>
                    <a:pt x="1706202" y="213196"/>
                  </a:lnTo>
                  <a:lnTo>
                    <a:pt x="1692186"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grpSp>
      <p:sp>
        <p:nvSpPr>
          <p:cNvPr id="95" name="object 95" descr=""/>
          <p:cNvSpPr txBox="1"/>
          <p:nvPr/>
        </p:nvSpPr>
        <p:spPr>
          <a:xfrm>
            <a:off x="7017467" y="3904436"/>
            <a:ext cx="1445895" cy="238760"/>
          </a:xfrm>
          <a:prstGeom prst="rect">
            <a:avLst/>
          </a:prstGeom>
        </p:spPr>
        <p:txBody>
          <a:bodyPr wrap="square" lIns="0" tIns="12065" rIns="0" bIns="0" rtlCol="0" vert="horz">
            <a:spAutoFit/>
          </a:bodyPr>
          <a:lstStyle/>
          <a:p>
            <a:pPr marL="12700">
              <a:lnSpc>
                <a:spcPct val="100000"/>
              </a:lnSpc>
              <a:spcBef>
                <a:spcPts val="95"/>
              </a:spcBef>
            </a:pPr>
            <a:r>
              <a:rPr dirty="0" sz="1400" spc="-25">
                <a:latin typeface="Microsoft YaHei"/>
                <a:cs typeface="Microsoft YaHei"/>
              </a:rPr>
              <a:t>最高用户体验速率</a:t>
            </a:r>
            <a:endParaRPr sz="1400">
              <a:latin typeface="Microsoft YaHei"/>
              <a:cs typeface="Microsoft YaHei"/>
            </a:endParaRPr>
          </a:p>
        </p:txBody>
      </p:sp>
      <p:grpSp>
        <p:nvGrpSpPr>
          <p:cNvPr id="96" name="object 96" descr=""/>
          <p:cNvGrpSpPr/>
          <p:nvPr/>
        </p:nvGrpSpPr>
        <p:grpSpPr>
          <a:xfrm>
            <a:off x="0" y="3593101"/>
            <a:ext cx="9107805" cy="927735"/>
            <a:chOff x="0" y="3593101"/>
            <a:chExt cx="9107805" cy="927735"/>
          </a:xfrm>
        </p:grpSpPr>
        <p:sp>
          <p:nvSpPr>
            <p:cNvPr id="97" name="object 97" descr=""/>
            <p:cNvSpPr/>
            <p:nvPr/>
          </p:nvSpPr>
          <p:spPr>
            <a:xfrm>
              <a:off x="6084168" y="3759881"/>
              <a:ext cx="732155" cy="249554"/>
            </a:xfrm>
            <a:custGeom>
              <a:avLst/>
              <a:gdLst/>
              <a:ahLst/>
              <a:cxnLst/>
              <a:rect l="l" t="t" r="r" b="b"/>
              <a:pathLst>
                <a:path w="732154" h="249554">
                  <a:moveTo>
                    <a:pt x="0" y="0"/>
                  </a:moveTo>
                  <a:lnTo>
                    <a:pt x="731989" y="249542"/>
                  </a:lnTo>
                </a:path>
              </a:pathLst>
            </a:custGeom>
            <a:ln w="12700">
              <a:solidFill>
                <a:srgbClr val="B6DCDF"/>
              </a:solidFill>
            </a:ln>
          </p:spPr>
          <p:txBody>
            <a:bodyPr wrap="square" lIns="0" tIns="0" rIns="0" bIns="0" rtlCol="0"/>
            <a:lstStyle/>
            <a:p/>
          </p:txBody>
        </p:sp>
        <p:sp>
          <p:nvSpPr>
            <p:cNvPr id="98" name="object 98" descr=""/>
            <p:cNvSpPr/>
            <p:nvPr/>
          </p:nvSpPr>
          <p:spPr>
            <a:xfrm>
              <a:off x="6791842" y="3969259"/>
              <a:ext cx="84455" cy="72390"/>
            </a:xfrm>
            <a:custGeom>
              <a:avLst/>
              <a:gdLst/>
              <a:ahLst/>
              <a:cxnLst/>
              <a:rect l="l" t="t" r="r" b="b"/>
              <a:pathLst>
                <a:path w="84454" h="72389">
                  <a:moveTo>
                    <a:pt x="24587" y="0"/>
                  </a:moveTo>
                  <a:lnTo>
                    <a:pt x="0" y="72123"/>
                  </a:lnTo>
                  <a:lnTo>
                    <a:pt x="84416" y="60655"/>
                  </a:lnTo>
                  <a:lnTo>
                    <a:pt x="24587" y="0"/>
                  </a:lnTo>
                  <a:close/>
                </a:path>
              </a:pathLst>
            </a:custGeom>
            <a:solidFill>
              <a:srgbClr val="B6DCDF"/>
            </a:solidFill>
          </p:spPr>
          <p:txBody>
            <a:bodyPr wrap="square" lIns="0" tIns="0" rIns="0" bIns="0" rtlCol="0"/>
            <a:lstStyle/>
            <a:p/>
          </p:txBody>
        </p:sp>
        <p:sp>
          <p:nvSpPr>
            <p:cNvPr id="99" name="object 99" descr=""/>
            <p:cNvSpPr/>
            <p:nvPr/>
          </p:nvSpPr>
          <p:spPr>
            <a:xfrm>
              <a:off x="6084168" y="4053961"/>
              <a:ext cx="733425" cy="300355"/>
            </a:xfrm>
            <a:custGeom>
              <a:avLst/>
              <a:gdLst/>
              <a:ahLst/>
              <a:cxnLst/>
              <a:rect l="l" t="t" r="r" b="b"/>
              <a:pathLst>
                <a:path w="733425" h="300354">
                  <a:moveTo>
                    <a:pt x="0" y="299986"/>
                  </a:moveTo>
                  <a:lnTo>
                    <a:pt x="733310" y="0"/>
                  </a:lnTo>
                </a:path>
              </a:pathLst>
            </a:custGeom>
            <a:ln w="12699">
              <a:solidFill>
                <a:srgbClr val="B6DCDF"/>
              </a:solidFill>
            </a:ln>
          </p:spPr>
          <p:txBody>
            <a:bodyPr wrap="square" lIns="0" tIns="0" rIns="0" bIns="0" rtlCol="0"/>
            <a:lstStyle/>
            <a:p/>
          </p:txBody>
        </p:sp>
        <p:sp>
          <p:nvSpPr>
            <p:cNvPr id="100" name="object 100" descr=""/>
            <p:cNvSpPr/>
            <p:nvPr/>
          </p:nvSpPr>
          <p:spPr>
            <a:xfrm>
              <a:off x="6791303" y="4023496"/>
              <a:ext cx="85090" cy="71120"/>
            </a:xfrm>
            <a:custGeom>
              <a:avLst/>
              <a:gdLst/>
              <a:ahLst/>
              <a:cxnLst/>
              <a:rect l="l" t="t" r="r" b="b"/>
              <a:pathLst>
                <a:path w="85090" h="71120">
                  <a:moveTo>
                    <a:pt x="0" y="0"/>
                  </a:moveTo>
                  <a:lnTo>
                    <a:pt x="28854" y="70523"/>
                  </a:lnTo>
                  <a:lnTo>
                    <a:pt x="84950" y="6413"/>
                  </a:lnTo>
                  <a:lnTo>
                    <a:pt x="0" y="0"/>
                  </a:lnTo>
                  <a:close/>
                </a:path>
              </a:pathLst>
            </a:custGeom>
            <a:solidFill>
              <a:srgbClr val="B6DCDF"/>
            </a:solidFill>
          </p:spPr>
          <p:txBody>
            <a:bodyPr wrap="square" lIns="0" tIns="0" rIns="0" bIns="0" rtlCol="0"/>
            <a:lstStyle/>
            <a:p/>
          </p:txBody>
        </p:sp>
        <p:sp>
          <p:nvSpPr>
            <p:cNvPr id="101" name="object 101" descr=""/>
            <p:cNvSpPr/>
            <p:nvPr/>
          </p:nvSpPr>
          <p:spPr>
            <a:xfrm>
              <a:off x="2555775" y="3948304"/>
              <a:ext cx="0" cy="243840"/>
            </a:xfrm>
            <a:custGeom>
              <a:avLst/>
              <a:gdLst/>
              <a:ahLst/>
              <a:cxnLst/>
              <a:rect l="l" t="t" r="r" b="b"/>
              <a:pathLst>
                <a:path w="0" h="243839">
                  <a:moveTo>
                    <a:pt x="0" y="0"/>
                  </a:moveTo>
                  <a:lnTo>
                    <a:pt x="0" y="243624"/>
                  </a:lnTo>
                </a:path>
              </a:pathLst>
            </a:custGeom>
            <a:ln w="76200">
              <a:solidFill>
                <a:srgbClr val="000000"/>
              </a:solidFill>
              <a:prstDash val="dot"/>
            </a:ln>
          </p:spPr>
          <p:txBody>
            <a:bodyPr wrap="square" lIns="0" tIns="0" rIns="0" bIns="0" rtlCol="0"/>
            <a:lstStyle/>
            <a:p/>
          </p:txBody>
        </p:sp>
        <p:sp>
          <p:nvSpPr>
            <p:cNvPr id="102" name="object 102" descr=""/>
            <p:cNvSpPr/>
            <p:nvPr/>
          </p:nvSpPr>
          <p:spPr>
            <a:xfrm>
              <a:off x="5508104" y="3948304"/>
              <a:ext cx="0" cy="243840"/>
            </a:xfrm>
            <a:custGeom>
              <a:avLst/>
              <a:gdLst/>
              <a:ahLst/>
              <a:cxnLst/>
              <a:rect l="l" t="t" r="r" b="b"/>
              <a:pathLst>
                <a:path w="0" h="243839">
                  <a:moveTo>
                    <a:pt x="0" y="0"/>
                  </a:moveTo>
                  <a:lnTo>
                    <a:pt x="0" y="243624"/>
                  </a:lnTo>
                </a:path>
              </a:pathLst>
            </a:custGeom>
            <a:ln w="76200">
              <a:solidFill>
                <a:srgbClr val="000000"/>
              </a:solidFill>
              <a:prstDash val="dot"/>
            </a:ln>
          </p:spPr>
          <p:txBody>
            <a:bodyPr wrap="square" lIns="0" tIns="0" rIns="0" bIns="0" rtlCol="0"/>
            <a:lstStyle/>
            <a:p/>
          </p:txBody>
        </p:sp>
        <p:sp>
          <p:nvSpPr>
            <p:cNvPr id="103" name="object 103" descr=""/>
            <p:cNvSpPr/>
            <p:nvPr/>
          </p:nvSpPr>
          <p:spPr>
            <a:xfrm>
              <a:off x="0" y="3597864"/>
              <a:ext cx="9107805" cy="0"/>
            </a:xfrm>
            <a:custGeom>
              <a:avLst/>
              <a:gdLst/>
              <a:ahLst/>
              <a:cxnLst/>
              <a:rect l="l" t="t" r="r" b="b"/>
              <a:pathLst>
                <a:path w="9107805" h="0">
                  <a:moveTo>
                    <a:pt x="0" y="0"/>
                  </a:moveTo>
                  <a:lnTo>
                    <a:pt x="9107487" y="0"/>
                  </a:lnTo>
                </a:path>
              </a:pathLst>
            </a:custGeom>
            <a:ln w="9525">
              <a:solidFill>
                <a:srgbClr val="000000"/>
              </a:solidFill>
              <a:prstDash val="sysDash"/>
            </a:ln>
          </p:spPr>
          <p:txBody>
            <a:bodyPr wrap="square" lIns="0" tIns="0" rIns="0" bIns="0" rtlCol="0"/>
            <a:lstStyle/>
            <a:p/>
          </p:txBody>
        </p:sp>
        <p:sp>
          <p:nvSpPr>
            <p:cNvPr id="104" name="object 104" descr=""/>
            <p:cNvSpPr/>
            <p:nvPr/>
          </p:nvSpPr>
          <p:spPr>
            <a:xfrm>
              <a:off x="0" y="4515966"/>
              <a:ext cx="9107805" cy="0"/>
            </a:xfrm>
            <a:custGeom>
              <a:avLst/>
              <a:gdLst/>
              <a:ahLst/>
              <a:cxnLst/>
              <a:rect l="l" t="t" r="r" b="b"/>
              <a:pathLst>
                <a:path w="9107805" h="0">
                  <a:moveTo>
                    <a:pt x="0" y="0"/>
                  </a:moveTo>
                  <a:lnTo>
                    <a:pt x="9107487" y="0"/>
                  </a:lnTo>
                </a:path>
              </a:pathLst>
            </a:custGeom>
            <a:ln w="9525">
              <a:solidFill>
                <a:srgbClr val="000000"/>
              </a:solidFill>
              <a:prstDash val="sysDash"/>
            </a:ln>
          </p:spPr>
          <p:txBody>
            <a:bodyPr wrap="square" lIns="0" tIns="0" rIns="0" bIns="0" rtlCol="0"/>
            <a:lstStyle/>
            <a:p/>
          </p:txBody>
        </p:sp>
      </p:grpSp>
      <p:sp>
        <p:nvSpPr>
          <p:cNvPr id="105" name="object 105" descr=""/>
          <p:cNvSpPr/>
          <p:nvPr/>
        </p:nvSpPr>
        <p:spPr>
          <a:xfrm>
            <a:off x="2195735" y="4623978"/>
            <a:ext cx="1008380" cy="216535"/>
          </a:xfrm>
          <a:custGeom>
            <a:avLst/>
            <a:gdLst/>
            <a:ahLst/>
            <a:cxnLst/>
            <a:rect l="l" t="t" r="r" b="b"/>
            <a:pathLst>
              <a:path w="1008380" h="216535">
                <a:moveTo>
                  <a:pt x="0" y="36004"/>
                </a:moveTo>
                <a:lnTo>
                  <a:pt x="2828" y="21988"/>
                </a:lnTo>
                <a:lnTo>
                  <a:pt x="10544" y="10544"/>
                </a:lnTo>
                <a:lnTo>
                  <a:pt x="21988" y="2828"/>
                </a:lnTo>
                <a:lnTo>
                  <a:pt x="36004" y="0"/>
                </a:lnTo>
                <a:lnTo>
                  <a:pt x="972108" y="0"/>
                </a:lnTo>
                <a:lnTo>
                  <a:pt x="986124" y="2828"/>
                </a:lnTo>
                <a:lnTo>
                  <a:pt x="997569" y="10544"/>
                </a:lnTo>
                <a:lnTo>
                  <a:pt x="1005284" y="21988"/>
                </a:lnTo>
                <a:lnTo>
                  <a:pt x="1008113" y="36004"/>
                </a:lnTo>
                <a:lnTo>
                  <a:pt x="1008113" y="180022"/>
                </a:lnTo>
                <a:lnTo>
                  <a:pt x="1005284" y="194033"/>
                </a:lnTo>
                <a:lnTo>
                  <a:pt x="997569" y="205478"/>
                </a:lnTo>
                <a:lnTo>
                  <a:pt x="986124" y="213196"/>
                </a:lnTo>
                <a:lnTo>
                  <a:pt x="972108"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106" name="object 106" descr=""/>
          <p:cNvSpPr txBox="1"/>
          <p:nvPr/>
        </p:nvSpPr>
        <p:spPr>
          <a:xfrm>
            <a:off x="2331935" y="4606513"/>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终端密度</a:t>
            </a:r>
            <a:endParaRPr sz="1400">
              <a:latin typeface="Microsoft YaHei"/>
              <a:cs typeface="Microsoft YaHei"/>
            </a:endParaRPr>
          </a:p>
        </p:txBody>
      </p:sp>
      <p:sp>
        <p:nvSpPr>
          <p:cNvPr id="107" name="object 107" descr=""/>
          <p:cNvSpPr/>
          <p:nvPr/>
        </p:nvSpPr>
        <p:spPr>
          <a:xfrm>
            <a:off x="6876256" y="4623978"/>
            <a:ext cx="1728470" cy="216535"/>
          </a:xfrm>
          <a:custGeom>
            <a:avLst/>
            <a:gdLst/>
            <a:ahLst/>
            <a:cxnLst/>
            <a:rect l="l" t="t" r="r" b="b"/>
            <a:pathLst>
              <a:path w="1728470" h="216535">
                <a:moveTo>
                  <a:pt x="0" y="36004"/>
                </a:moveTo>
                <a:lnTo>
                  <a:pt x="2828" y="21988"/>
                </a:lnTo>
                <a:lnTo>
                  <a:pt x="10544" y="10544"/>
                </a:lnTo>
                <a:lnTo>
                  <a:pt x="21988" y="2828"/>
                </a:lnTo>
                <a:lnTo>
                  <a:pt x="36004" y="0"/>
                </a:lnTo>
                <a:lnTo>
                  <a:pt x="1692186" y="0"/>
                </a:lnTo>
                <a:lnTo>
                  <a:pt x="1706202" y="2828"/>
                </a:lnTo>
                <a:lnTo>
                  <a:pt x="1717646" y="10544"/>
                </a:lnTo>
                <a:lnTo>
                  <a:pt x="1725361" y="21988"/>
                </a:lnTo>
                <a:lnTo>
                  <a:pt x="1728190" y="36004"/>
                </a:lnTo>
                <a:lnTo>
                  <a:pt x="1728190" y="180022"/>
                </a:lnTo>
                <a:lnTo>
                  <a:pt x="1725361" y="194033"/>
                </a:lnTo>
                <a:lnTo>
                  <a:pt x="1717646" y="205478"/>
                </a:lnTo>
                <a:lnTo>
                  <a:pt x="1706202" y="213196"/>
                </a:lnTo>
                <a:lnTo>
                  <a:pt x="1692186" y="216026"/>
                </a:lnTo>
                <a:lnTo>
                  <a:pt x="36004" y="216026"/>
                </a:lnTo>
                <a:lnTo>
                  <a:pt x="21988" y="213196"/>
                </a:lnTo>
                <a:lnTo>
                  <a:pt x="10544" y="205478"/>
                </a:lnTo>
                <a:lnTo>
                  <a:pt x="2828" y="194033"/>
                </a:lnTo>
                <a:lnTo>
                  <a:pt x="0" y="180022"/>
                </a:lnTo>
                <a:lnTo>
                  <a:pt x="0" y="36004"/>
                </a:lnTo>
                <a:close/>
              </a:path>
            </a:pathLst>
          </a:custGeom>
          <a:ln w="12699">
            <a:solidFill>
              <a:srgbClr val="B6DCDF"/>
            </a:solidFill>
          </a:ln>
        </p:spPr>
        <p:txBody>
          <a:bodyPr wrap="square" lIns="0" tIns="0" rIns="0" bIns="0" rtlCol="0"/>
          <a:lstStyle/>
          <a:p/>
        </p:txBody>
      </p:sp>
      <p:sp>
        <p:nvSpPr>
          <p:cNvPr id="108" name="object 108" descr=""/>
          <p:cNvSpPr txBox="1"/>
          <p:nvPr/>
        </p:nvSpPr>
        <p:spPr>
          <a:xfrm>
            <a:off x="7283405" y="4606513"/>
            <a:ext cx="913130" cy="238760"/>
          </a:xfrm>
          <a:prstGeom prst="rect">
            <a:avLst/>
          </a:prstGeom>
        </p:spPr>
        <p:txBody>
          <a:bodyPr wrap="square" lIns="0" tIns="12065" rIns="0" bIns="0" rtlCol="0" vert="horz">
            <a:spAutoFit/>
          </a:bodyPr>
          <a:lstStyle/>
          <a:p>
            <a:pPr marL="12700">
              <a:lnSpc>
                <a:spcPct val="100000"/>
              </a:lnSpc>
              <a:spcBef>
                <a:spcPts val="95"/>
              </a:spcBef>
            </a:pPr>
            <a:r>
              <a:rPr dirty="0" sz="1400" spc="-30">
                <a:latin typeface="Microsoft YaHei"/>
                <a:cs typeface="Microsoft YaHei"/>
              </a:rPr>
              <a:t>连接数密度</a:t>
            </a:r>
            <a:endParaRPr sz="1400">
              <a:latin typeface="Microsoft YaHei"/>
              <a:cs typeface="Microsoft YaHei"/>
            </a:endParaRPr>
          </a:p>
        </p:txBody>
      </p:sp>
      <p:grpSp>
        <p:nvGrpSpPr>
          <p:cNvPr id="109" name="object 109" descr=""/>
          <p:cNvGrpSpPr/>
          <p:nvPr/>
        </p:nvGrpSpPr>
        <p:grpSpPr>
          <a:xfrm>
            <a:off x="3203848" y="4693887"/>
            <a:ext cx="3672840" cy="76200"/>
            <a:chOff x="3203848" y="4693887"/>
            <a:chExt cx="3672840" cy="76200"/>
          </a:xfrm>
        </p:grpSpPr>
        <p:sp>
          <p:nvSpPr>
            <p:cNvPr id="110" name="object 110" descr=""/>
            <p:cNvSpPr/>
            <p:nvPr/>
          </p:nvSpPr>
          <p:spPr>
            <a:xfrm>
              <a:off x="3203848" y="4731990"/>
              <a:ext cx="3609340" cy="0"/>
            </a:xfrm>
            <a:custGeom>
              <a:avLst/>
              <a:gdLst/>
              <a:ahLst/>
              <a:cxnLst/>
              <a:rect l="l" t="t" r="r" b="b"/>
              <a:pathLst>
                <a:path w="3609340" h="0">
                  <a:moveTo>
                    <a:pt x="0" y="0"/>
                  </a:moveTo>
                  <a:lnTo>
                    <a:pt x="3608908" y="0"/>
                  </a:lnTo>
                </a:path>
              </a:pathLst>
            </a:custGeom>
            <a:ln w="12700">
              <a:solidFill>
                <a:srgbClr val="B6DCDF"/>
              </a:solidFill>
            </a:ln>
          </p:spPr>
          <p:txBody>
            <a:bodyPr wrap="square" lIns="0" tIns="0" rIns="0" bIns="0" rtlCol="0"/>
            <a:lstStyle/>
            <a:p/>
          </p:txBody>
        </p:sp>
        <p:sp>
          <p:nvSpPr>
            <p:cNvPr id="111" name="object 111" descr=""/>
            <p:cNvSpPr/>
            <p:nvPr/>
          </p:nvSpPr>
          <p:spPr>
            <a:xfrm>
              <a:off x="6800057" y="4693887"/>
              <a:ext cx="76200" cy="76200"/>
            </a:xfrm>
            <a:custGeom>
              <a:avLst/>
              <a:gdLst/>
              <a:ahLst/>
              <a:cxnLst/>
              <a:rect l="l" t="t" r="r" b="b"/>
              <a:pathLst>
                <a:path w="76200" h="76200">
                  <a:moveTo>
                    <a:pt x="0" y="0"/>
                  </a:moveTo>
                  <a:lnTo>
                    <a:pt x="0" y="76200"/>
                  </a:lnTo>
                  <a:lnTo>
                    <a:pt x="76200" y="38100"/>
                  </a:lnTo>
                  <a:lnTo>
                    <a:pt x="0" y="0"/>
                  </a:lnTo>
                  <a:close/>
                </a:path>
              </a:pathLst>
            </a:custGeom>
            <a:solidFill>
              <a:srgbClr val="B6DCDF"/>
            </a:solidFill>
          </p:spPr>
          <p:txBody>
            <a:bodyPr wrap="square" lIns="0" tIns="0" rIns="0" bIns="0" rtlCol="0"/>
            <a:lstStyle/>
            <a:p/>
          </p:txBody>
        </p:sp>
      </p:grpSp>
      <p:sp>
        <p:nvSpPr>
          <p:cNvPr id="112" name="object 112" descr=""/>
          <p:cNvSpPr txBox="1"/>
          <p:nvPr/>
        </p:nvSpPr>
        <p:spPr>
          <a:xfrm>
            <a:off x="323532" y="1491627"/>
            <a:ext cx="1434465" cy="326390"/>
          </a:xfrm>
          <a:prstGeom prst="rect">
            <a:avLst/>
          </a:prstGeom>
          <a:solidFill>
            <a:srgbClr val="EDF6F7"/>
          </a:solidFill>
          <a:ln w="9525">
            <a:solidFill>
              <a:srgbClr val="000000"/>
            </a:solidFill>
          </a:ln>
        </p:spPr>
        <p:txBody>
          <a:bodyPr wrap="square" lIns="0" tIns="33655" rIns="0" bIns="0" rtlCol="0" vert="horz">
            <a:spAutoFit/>
          </a:bodyPr>
          <a:lstStyle/>
          <a:p>
            <a:pPr marL="309880">
              <a:lnSpc>
                <a:spcPct val="100000"/>
              </a:lnSpc>
              <a:spcBef>
                <a:spcPts val="265"/>
              </a:spcBef>
            </a:pPr>
            <a:r>
              <a:rPr dirty="0" sz="1600" spc="-15">
                <a:latin typeface="Microsoft YaHei"/>
                <a:cs typeface="Microsoft YaHei"/>
              </a:rPr>
              <a:t>流量密度</a:t>
            </a:r>
            <a:endParaRPr sz="1600">
              <a:latin typeface="Microsoft YaHei"/>
              <a:cs typeface="Microsoft YaHei"/>
            </a:endParaRPr>
          </a:p>
        </p:txBody>
      </p:sp>
      <p:sp>
        <p:nvSpPr>
          <p:cNvPr id="113" name="object 113" descr=""/>
          <p:cNvSpPr txBox="1"/>
          <p:nvPr/>
        </p:nvSpPr>
        <p:spPr>
          <a:xfrm>
            <a:off x="323532" y="2893517"/>
            <a:ext cx="1434465" cy="326390"/>
          </a:xfrm>
          <a:prstGeom prst="rect">
            <a:avLst/>
          </a:prstGeom>
          <a:solidFill>
            <a:srgbClr val="EDF6F7"/>
          </a:solidFill>
          <a:ln w="9525">
            <a:solidFill>
              <a:srgbClr val="000000"/>
            </a:solidFill>
          </a:ln>
        </p:spPr>
        <p:txBody>
          <a:bodyPr wrap="square" lIns="0" tIns="33655" rIns="0" bIns="0" rtlCol="0" vert="horz">
            <a:spAutoFit/>
          </a:bodyPr>
          <a:lstStyle/>
          <a:p>
            <a:pPr algn="ctr">
              <a:lnSpc>
                <a:spcPct val="100000"/>
              </a:lnSpc>
              <a:spcBef>
                <a:spcPts val="265"/>
              </a:spcBef>
            </a:pPr>
            <a:r>
              <a:rPr dirty="0" sz="1600" spc="-25">
                <a:latin typeface="Microsoft YaHei"/>
                <a:cs typeface="Microsoft YaHei"/>
              </a:rPr>
              <a:t>时延</a:t>
            </a:r>
            <a:endParaRPr sz="1600">
              <a:latin typeface="Microsoft YaHei"/>
              <a:cs typeface="Microsoft YaHei"/>
            </a:endParaRPr>
          </a:p>
        </p:txBody>
      </p:sp>
      <p:sp>
        <p:nvSpPr>
          <p:cNvPr id="114" name="object 114" descr=""/>
          <p:cNvSpPr txBox="1"/>
          <p:nvPr/>
        </p:nvSpPr>
        <p:spPr>
          <a:xfrm>
            <a:off x="323532" y="3865626"/>
            <a:ext cx="1434465" cy="326390"/>
          </a:xfrm>
          <a:prstGeom prst="rect">
            <a:avLst/>
          </a:prstGeom>
          <a:solidFill>
            <a:srgbClr val="EDF6F7"/>
          </a:solidFill>
          <a:ln w="9525">
            <a:solidFill>
              <a:srgbClr val="000000"/>
            </a:solidFill>
          </a:ln>
        </p:spPr>
        <p:txBody>
          <a:bodyPr wrap="square" lIns="0" tIns="33655" rIns="0" bIns="0" rtlCol="0" vert="horz">
            <a:spAutoFit/>
          </a:bodyPr>
          <a:lstStyle/>
          <a:p>
            <a:pPr marL="106680">
              <a:lnSpc>
                <a:spcPct val="100000"/>
              </a:lnSpc>
              <a:spcBef>
                <a:spcPts val="265"/>
              </a:spcBef>
            </a:pPr>
            <a:r>
              <a:rPr dirty="0" sz="1600" spc="-10">
                <a:latin typeface="Microsoft YaHei"/>
                <a:cs typeface="Microsoft YaHei"/>
              </a:rPr>
              <a:t>用户体验速率</a:t>
            </a:r>
            <a:endParaRPr sz="1600">
              <a:latin typeface="Microsoft YaHei"/>
              <a:cs typeface="Microsoft YaHei"/>
            </a:endParaRPr>
          </a:p>
        </p:txBody>
      </p:sp>
      <p:sp>
        <p:nvSpPr>
          <p:cNvPr id="115" name="object 115" descr=""/>
          <p:cNvSpPr txBox="1"/>
          <p:nvPr/>
        </p:nvSpPr>
        <p:spPr>
          <a:xfrm>
            <a:off x="323532" y="4567707"/>
            <a:ext cx="1434465" cy="326390"/>
          </a:xfrm>
          <a:prstGeom prst="rect">
            <a:avLst/>
          </a:prstGeom>
          <a:solidFill>
            <a:srgbClr val="EDF6F7"/>
          </a:solidFill>
          <a:ln w="9525">
            <a:solidFill>
              <a:srgbClr val="000000"/>
            </a:solidFill>
          </a:ln>
        </p:spPr>
        <p:txBody>
          <a:bodyPr wrap="square" lIns="0" tIns="33655" rIns="0" bIns="0" rtlCol="0" vert="horz">
            <a:spAutoFit/>
          </a:bodyPr>
          <a:lstStyle/>
          <a:p>
            <a:pPr marL="207645">
              <a:lnSpc>
                <a:spcPct val="100000"/>
              </a:lnSpc>
              <a:spcBef>
                <a:spcPts val="265"/>
              </a:spcBef>
            </a:pPr>
            <a:r>
              <a:rPr dirty="0" sz="1600" spc="-10">
                <a:latin typeface="Microsoft YaHei"/>
                <a:cs typeface="Microsoft YaHei"/>
              </a:rPr>
              <a:t>连接数密度</a:t>
            </a:r>
            <a:endParaRPr sz="1600">
              <a:latin typeface="Microsoft YaHei"/>
              <a:cs typeface="Microsoft YaHe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392" y="120357"/>
            <a:ext cx="5017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互联网性能指标测算结果</a:t>
            </a:r>
          </a:p>
        </p:txBody>
      </p:sp>
      <p:grpSp>
        <p:nvGrpSpPr>
          <p:cNvPr id="3" name="object 3" descr=""/>
          <p:cNvGrpSpPr/>
          <p:nvPr/>
        </p:nvGrpSpPr>
        <p:grpSpPr>
          <a:xfrm>
            <a:off x="608384" y="1077360"/>
            <a:ext cx="1158875" cy="862330"/>
            <a:chOff x="608384" y="1077360"/>
            <a:chExt cx="1158875" cy="862330"/>
          </a:xfrm>
        </p:grpSpPr>
        <p:sp>
          <p:nvSpPr>
            <p:cNvPr id="4" name="object 4" descr=""/>
            <p:cNvSpPr/>
            <p:nvPr/>
          </p:nvSpPr>
          <p:spPr>
            <a:xfrm>
              <a:off x="611555" y="1080528"/>
              <a:ext cx="1152525" cy="855980"/>
            </a:xfrm>
            <a:custGeom>
              <a:avLst/>
              <a:gdLst/>
              <a:ahLst/>
              <a:cxnLst/>
              <a:rect l="l" t="t" r="r" b="b"/>
              <a:pathLst>
                <a:path w="1152525" h="855980">
                  <a:moveTo>
                    <a:pt x="1152131" y="0"/>
                  </a:moveTo>
                  <a:lnTo>
                    <a:pt x="0" y="0"/>
                  </a:lnTo>
                  <a:lnTo>
                    <a:pt x="0" y="855586"/>
                  </a:lnTo>
                  <a:lnTo>
                    <a:pt x="1152131" y="855586"/>
                  </a:lnTo>
                  <a:lnTo>
                    <a:pt x="1152131" y="0"/>
                  </a:lnTo>
                  <a:close/>
                </a:path>
              </a:pathLst>
            </a:custGeom>
            <a:solidFill>
              <a:srgbClr val="F8FBFC"/>
            </a:solidFill>
          </p:spPr>
          <p:txBody>
            <a:bodyPr wrap="square" lIns="0" tIns="0" rIns="0" bIns="0" rtlCol="0"/>
            <a:lstStyle/>
            <a:p/>
          </p:txBody>
        </p:sp>
        <p:sp>
          <p:nvSpPr>
            <p:cNvPr id="5" name="object 5" descr=""/>
            <p:cNvSpPr/>
            <p:nvPr/>
          </p:nvSpPr>
          <p:spPr>
            <a:xfrm>
              <a:off x="611559" y="1080535"/>
              <a:ext cx="1152525" cy="855980"/>
            </a:xfrm>
            <a:custGeom>
              <a:avLst/>
              <a:gdLst/>
              <a:ahLst/>
              <a:cxnLst/>
              <a:rect l="l" t="t" r="r" b="b"/>
              <a:pathLst>
                <a:path w="1152525" h="855980">
                  <a:moveTo>
                    <a:pt x="0" y="0"/>
                  </a:moveTo>
                  <a:lnTo>
                    <a:pt x="1152131" y="855586"/>
                  </a:lnTo>
                </a:path>
              </a:pathLst>
            </a:custGeom>
            <a:ln w="6350">
              <a:solidFill>
                <a:srgbClr val="000000"/>
              </a:solidFill>
            </a:ln>
          </p:spPr>
          <p:txBody>
            <a:bodyPr wrap="square" lIns="0" tIns="0" rIns="0" bIns="0" rtlCol="0"/>
            <a:lstStyle/>
            <a:p/>
          </p:txBody>
        </p:sp>
      </p:grpSp>
      <p:graphicFrame>
        <p:nvGraphicFramePr>
          <p:cNvPr id="6" name="object 6" descr=""/>
          <p:cNvGraphicFramePr>
            <a:graphicFrameLocks noGrp="1"/>
          </p:cNvGraphicFramePr>
          <p:nvPr/>
        </p:nvGraphicFramePr>
        <p:xfrm>
          <a:off x="101154" y="1074185"/>
          <a:ext cx="9018270" cy="3177539"/>
        </p:xfrm>
        <a:graphic>
          <a:graphicData uri="http://schemas.openxmlformats.org/drawingml/2006/table">
            <a:tbl>
              <a:tblPr firstRow="1" bandRow="1">
                <a:tableStyleId>{2D5ABB26-0587-4C30-8999-92F81FD0307C}</a:tableStyleId>
              </a:tblPr>
              <a:tblGrid>
                <a:gridCol w="504190"/>
                <a:gridCol w="1152524"/>
                <a:gridCol w="1080770"/>
                <a:gridCol w="792480"/>
                <a:gridCol w="648335"/>
                <a:gridCol w="1152525"/>
                <a:gridCol w="648335"/>
                <a:gridCol w="792480"/>
                <a:gridCol w="1152525"/>
                <a:gridCol w="1008379"/>
              </a:tblGrid>
              <a:tr h="855344">
                <a:tc>
                  <a:txBody>
                    <a:bodyPr/>
                    <a:lstStyle/>
                    <a:p>
                      <a:pPr>
                        <a:lnSpc>
                          <a:spcPct val="100000"/>
                        </a:lnSpc>
                      </a:pPr>
                      <a:endParaRPr sz="11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a:lnSpc>
                          <a:spcPct val="100000"/>
                        </a:lnSpc>
                        <a:spcBef>
                          <a:spcPts val="250"/>
                        </a:spcBef>
                      </a:pPr>
                      <a:endParaRPr sz="1100">
                        <a:latin typeface="Times New Roman"/>
                        <a:cs typeface="Times New Roman"/>
                      </a:endParaRPr>
                    </a:p>
                    <a:p>
                      <a:pPr algn="ctr" marL="80010">
                        <a:lnSpc>
                          <a:spcPct val="100000"/>
                        </a:lnSpc>
                      </a:pPr>
                      <a:r>
                        <a:rPr dirty="0" sz="1100" spc="-35">
                          <a:latin typeface="Microsoft YaHei"/>
                          <a:cs typeface="Microsoft YaHei"/>
                        </a:rPr>
                        <a:t>指标</a:t>
                      </a:r>
                      <a:endParaRPr sz="1100">
                        <a:latin typeface="Microsoft YaHei"/>
                        <a:cs typeface="Microsoft YaHei"/>
                      </a:endParaRPr>
                    </a:p>
                    <a:p>
                      <a:pPr marL="23495">
                        <a:lnSpc>
                          <a:spcPct val="100000"/>
                        </a:lnSpc>
                        <a:spcBef>
                          <a:spcPts val="1080"/>
                        </a:spcBef>
                      </a:pPr>
                      <a:r>
                        <a:rPr dirty="0" sz="1100" spc="-35">
                          <a:latin typeface="Microsoft YaHei"/>
                          <a:cs typeface="Microsoft YaHei"/>
                        </a:rPr>
                        <a:t>场景</a:t>
                      </a:r>
                      <a:endParaRPr sz="1100">
                        <a:latin typeface="Microsoft YaHei"/>
                        <a:cs typeface="Microsoft YaHei"/>
                      </a:endParaRPr>
                    </a:p>
                  </a:txBody>
                  <a:tcPr marL="0" marR="0" marB="0" marT="317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315"/>
                        </a:spcBef>
                      </a:pPr>
                      <a:r>
                        <a:rPr dirty="0" sz="1100" spc="-30">
                          <a:latin typeface="Microsoft YaHei"/>
                          <a:cs typeface="Microsoft YaHei"/>
                        </a:rPr>
                        <a:t>流量密度</a:t>
                      </a:r>
                      <a:endParaRPr sz="1100">
                        <a:latin typeface="Microsoft YaHei"/>
                        <a:cs typeface="Microsoft YaHei"/>
                      </a:endParaRPr>
                    </a:p>
                    <a:p>
                      <a:pPr marL="23495" marR="365760">
                        <a:lnSpc>
                          <a:spcPct val="181800"/>
                        </a:lnSpc>
                      </a:pPr>
                      <a:r>
                        <a:rPr dirty="0" sz="1100" spc="-10">
                          <a:latin typeface="Microsoft YaHei"/>
                          <a:cs typeface="Microsoft YaHei"/>
                        </a:rPr>
                        <a:t>(bps/Km2, DL/UL)</a:t>
                      </a:r>
                      <a:endParaRPr sz="11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315"/>
                        </a:spcBef>
                      </a:pPr>
                      <a:r>
                        <a:rPr dirty="0" sz="1100" spc="-35">
                          <a:latin typeface="Microsoft YaHei"/>
                          <a:cs typeface="Microsoft YaHei"/>
                        </a:rPr>
                        <a:t>连接数</a:t>
                      </a:r>
                      <a:endParaRPr sz="1100">
                        <a:latin typeface="Microsoft YaHei"/>
                        <a:cs typeface="Microsoft YaHei"/>
                      </a:endParaRPr>
                    </a:p>
                    <a:p>
                      <a:pPr marL="23495">
                        <a:lnSpc>
                          <a:spcPct val="100000"/>
                        </a:lnSpc>
                        <a:spcBef>
                          <a:spcPts val="1080"/>
                        </a:spcBef>
                      </a:pPr>
                      <a:r>
                        <a:rPr dirty="0" sz="1100" spc="-35">
                          <a:latin typeface="Microsoft YaHei"/>
                          <a:cs typeface="Microsoft YaHei"/>
                        </a:rPr>
                        <a:t>密度</a:t>
                      </a:r>
                      <a:endParaRPr sz="1100">
                        <a:latin typeface="Microsoft YaHei"/>
                        <a:cs typeface="Microsoft YaHei"/>
                      </a:endParaRPr>
                    </a:p>
                    <a:p>
                      <a:pPr marL="23495">
                        <a:lnSpc>
                          <a:spcPct val="100000"/>
                        </a:lnSpc>
                        <a:spcBef>
                          <a:spcPts val="1080"/>
                        </a:spcBef>
                      </a:pPr>
                      <a:r>
                        <a:rPr dirty="0" sz="1100" spc="-20">
                          <a:latin typeface="Microsoft YaHei"/>
                          <a:cs typeface="Microsoft YaHei"/>
                        </a:rPr>
                        <a:t>(个/Km2)</a:t>
                      </a:r>
                      <a:endParaRPr sz="11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315"/>
                        </a:spcBef>
                      </a:pPr>
                      <a:r>
                        <a:rPr dirty="0" sz="1100" spc="-35">
                          <a:latin typeface="Microsoft YaHei"/>
                          <a:cs typeface="Microsoft YaHei"/>
                        </a:rPr>
                        <a:t>端到端</a:t>
                      </a:r>
                      <a:endParaRPr sz="1100">
                        <a:latin typeface="Microsoft YaHei"/>
                        <a:cs typeface="Microsoft YaHei"/>
                      </a:endParaRPr>
                    </a:p>
                    <a:p>
                      <a:pPr marL="23495">
                        <a:lnSpc>
                          <a:spcPct val="100000"/>
                        </a:lnSpc>
                        <a:spcBef>
                          <a:spcPts val="1080"/>
                        </a:spcBef>
                      </a:pPr>
                      <a:r>
                        <a:rPr dirty="0" sz="1100" spc="-35">
                          <a:latin typeface="Microsoft YaHei"/>
                          <a:cs typeface="Microsoft YaHei"/>
                        </a:rPr>
                        <a:t>时延</a:t>
                      </a:r>
                      <a:endParaRPr sz="1100">
                        <a:latin typeface="Microsoft YaHei"/>
                        <a:cs typeface="Microsoft YaHei"/>
                      </a:endParaRPr>
                    </a:p>
                    <a:p>
                      <a:pPr marL="23495">
                        <a:lnSpc>
                          <a:spcPct val="100000"/>
                        </a:lnSpc>
                        <a:spcBef>
                          <a:spcPts val="1080"/>
                        </a:spcBef>
                      </a:pPr>
                      <a:r>
                        <a:rPr dirty="0" sz="1100" spc="-20">
                          <a:latin typeface="Microsoft YaHei"/>
                          <a:cs typeface="Microsoft YaHei"/>
                        </a:rPr>
                        <a:t>(ms)</a:t>
                      </a:r>
                      <a:endParaRPr sz="1100">
                        <a:latin typeface="Microsoft YaHei"/>
                        <a:cs typeface="Microsoft YaHei"/>
                      </a:endParaRPr>
                    </a:p>
                  </a:txBody>
                  <a:tcPr marL="0" marR="0" marB="0" marT="400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spcBef>
                          <a:spcPts val="550"/>
                        </a:spcBef>
                      </a:pPr>
                      <a:endParaRPr sz="1100">
                        <a:latin typeface="Times New Roman"/>
                        <a:cs typeface="Times New Roman"/>
                      </a:endParaRPr>
                    </a:p>
                    <a:p>
                      <a:pPr marL="23495">
                        <a:lnSpc>
                          <a:spcPct val="100000"/>
                        </a:lnSpc>
                        <a:spcBef>
                          <a:spcPts val="5"/>
                        </a:spcBef>
                      </a:pPr>
                      <a:r>
                        <a:rPr dirty="0" sz="1100" spc="-25">
                          <a:latin typeface="Microsoft YaHei"/>
                          <a:cs typeface="Microsoft YaHei"/>
                        </a:rPr>
                        <a:t>用户体验速率</a:t>
                      </a:r>
                      <a:endParaRPr sz="1100">
                        <a:latin typeface="Microsoft YaHei"/>
                        <a:cs typeface="Microsoft YaHei"/>
                      </a:endParaRPr>
                    </a:p>
                    <a:p>
                      <a:pPr marL="23495">
                        <a:lnSpc>
                          <a:spcPct val="100000"/>
                        </a:lnSpc>
                        <a:spcBef>
                          <a:spcPts val="480"/>
                        </a:spcBef>
                      </a:pPr>
                      <a:r>
                        <a:rPr dirty="0" sz="1100">
                          <a:latin typeface="Microsoft YaHei"/>
                          <a:cs typeface="Microsoft YaHei"/>
                        </a:rPr>
                        <a:t>(Mbps,</a:t>
                      </a:r>
                      <a:r>
                        <a:rPr dirty="0" sz="1100" spc="-45">
                          <a:latin typeface="Microsoft YaHei"/>
                          <a:cs typeface="Microsoft YaHei"/>
                        </a:rPr>
                        <a:t> </a:t>
                      </a:r>
                      <a:r>
                        <a:rPr dirty="0" sz="1100" spc="-10">
                          <a:latin typeface="Microsoft YaHei"/>
                          <a:cs typeface="Microsoft YaHei"/>
                        </a:rPr>
                        <a:t>DL/UL)</a:t>
                      </a:r>
                      <a:endParaRPr sz="1100">
                        <a:latin typeface="Microsoft YaHei"/>
                        <a:cs typeface="Microsoft YaHei"/>
                      </a:endParaRPr>
                    </a:p>
                  </a:txBody>
                  <a:tcPr marL="0" marR="0" marB="0" marT="698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spcBef>
                          <a:spcPts val="250"/>
                        </a:spcBef>
                      </a:pPr>
                      <a:endParaRPr sz="1100">
                        <a:latin typeface="Times New Roman"/>
                        <a:cs typeface="Times New Roman"/>
                      </a:endParaRPr>
                    </a:p>
                    <a:p>
                      <a:pPr marL="23495">
                        <a:lnSpc>
                          <a:spcPct val="100000"/>
                        </a:lnSpc>
                      </a:pPr>
                      <a:r>
                        <a:rPr dirty="0" sz="1100" spc="-35">
                          <a:latin typeface="Microsoft YaHei"/>
                          <a:cs typeface="Microsoft YaHei"/>
                        </a:rPr>
                        <a:t>移动性</a:t>
                      </a:r>
                      <a:endParaRPr sz="1100">
                        <a:latin typeface="Microsoft YaHei"/>
                        <a:cs typeface="Microsoft YaHei"/>
                      </a:endParaRPr>
                    </a:p>
                    <a:p>
                      <a:pPr marL="23495">
                        <a:lnSpc>
                          <a:spcPct val="100000"/>
                        </a:lnSpc>
                        <a:spcBef>
                          <a:spcPts val="1080"/>
                        </a:spcBef>
                      </a:pPr>
                      <a:r>
                        <a:rPr dirty="0" sz="1100" spc="-10">
                          <a:latin typeface="Microsoft YaHei"/>
                          <a:cs typeface="Microsoft YaHei"/>
                        </a:rPr>
                        <a:t>(Km/h)</a:t>
                      </a:r>
                      <a:endParaRPr sz="1100">
                        <a:latin typeface="Microsoft YaHei"/>
                        <a:cs typeface="Microsoft YaHei"/>
                      </a:endParaRPr>
                    </a:p>
                  </a:txBody>
                  <a:tcPr marL="0" marR="0" marB="0" marT="317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pPr>
                      <a:endParaRPr sz="1100">
                        <a:latin typeface="Times New Roman"/>
                        <a:cs typeface="Times New Roman"/>
                      </a:endParaRPr>
                    </a:p>
                    <a:p>
                      <a:pPr>
                        <a:lnSpc>
                          <a:spcPct val="100000"/>
                        </a:lnSpc>
                        <a:spcBef>
                          <a:spcPts val="185"/>
                        </a:spcBef>
                      </a:pPr>
                      <a:endParaRPr sz="1100">
                        <a:latin typeface="Times New Roman"/>
                        <a:cs typeface="Times New Roman"/>
                      </a:endParaRPr>
                    </a:p>
                    <a:p>
                      <a:pPr marL="23495">
                        <a:lnSpc>
                          <a:spcPct val="100000"/>
                        </a:lnSpc>
                      </a:pPr>
                      <a:r>
                        <a:rPr dirty="0" sz="1100" spc="-30">
                          <a:latin typeface="Microsoft YaHei"/>
                          <a:cs typeface="Microsoft YaHei"/>
                        </a:rPr>
                        <a:t>典型面积</a:t>
                      </a:r>
                      <a:endParaRPr sz="11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spcBef>
                          <a:spcPts val="550"/>
                        </a:spcBef>
                      </a:pPr>
                      <a:endParaRPr sz="1100">
                        <a:latin typeface="Times New Roman"/>
                        <a:cs typeface="Times New Roman"/>
                      </a:endParaRPr>
                    </a:p>
                    <a:p>
                      <a:pPr marL="23495">
                        <a:lnSpc>
                          <a:spcPct val="100000"/>
                        </a:lnSpc>
                      </a:pPr>
                      <a:r>
                        <a:rPr dirty="0" sz="1100" spc="-25">
                          <a:latin typeface="Microsoft YaHei"/>
                          <a:cs typeface="Microsoft YaHei"/>
                        </a:rPr>
                        <a:t>典型面积总流量</a:t>
                      </a:r>
                      <a:endParaRPr sz="1100">
                        <a:latin typeface="Microsoft YaHei"/>
                        <a:cs typeface="Microsoft YaHei"/>
                      </a:endParaRPr>
                    </a:p>
                    <a:p>
                      <a:pPr marL="23495">
                        <a:lnSpc>
                          <a:spcPct val="100000"/>
                        </a:lnSpc>
                        <a:spcBef>
                          <a:spcPts val="480"/>
                        </a:spcBef>
                      </a:pPr>
                      <a:r>
                        <a:rPr dirty="0" sz="1100" spc="-10">
                          <a:latin typeface="Microsoft YaHei"/>
                          <a:cs typeface="Microsoft YaHei"/>
                        </a:rPr>
                        <a:t>(bps,DL/UL)</a:t>
                      </a:r>
                      <a:endParaRPr sz="1100">
                        <a:latin typeface="Microsoft YaHei"/>
                        <a:cs typeface="Microsoft YaHei"/>
                      </a:endParaRPr>
                    </a:p>
                  </a:txBody>
                  <a:tcPr marL="0" marR="0" marB="0" marT="698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a:lnSpc>
                          <a:spcPct val="100000"/>
                        </a:lnSpc>
                        <a:spcBef>
                          <a:spcPts val="70"/>
                        </a:spcBef>
                      </a:pPr>
                      <a:endParaRPr sz="1100">
                        <a:latin typeface="Times New Roman"/>
                        <a:cs typeface="Times New Roman"/>
                      </a:endParaRPr>
                    </a:p>
                    <a:p>
                      <a:pPr marL="22860" marR="140970">
                        <a:lnSpc>
                          <a:spcPct val="136300"/>
                        </a:lnSpc>
                        <a:spcBef>
                          <a:spcPts val="5"/>
                        </a:spcBef>
                      </a:pPr>
                      <a:r>
                        <a:rPr dirty="0" sz="1100" spc="-25">
                          <a:latin typeface="Microsoft YaHei"/>
                          <a:cs typeface="Microsoft YaHei"/>
                        </a:rPr>
                        <a:t>典型面积总连</a:t>
                      </a:r>
                      <a:r>
                        <a:rPr dirty="0" sz="1100" spc="-30">
                          <a:latin typeface="Microsoft YaHei"/>
                          <a:cs typeface="Microsoft YaHei"/>
                        </a:rPr>
                        <a:t>接数(个)</a:t>
                      </a:r>
                      <a:endParaRPr sz="1100">
                        <a:latin typeface="Microsoft YaHei"/>
                        <a:cs typeface="Microsoft YaHei"/>
                      </a:endParaRPr>
                    </a:p>
                  </a:txBody>
                  <a:tcPr marL="0" marR="0" marB="0" marT="88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r>
              <a:tr h="283845">
                <a:tc>
                  <a:txBody>
                    <a:bodyPr/>
                    <a:lstStyle/>
                    <a:p>
                      <a:pPr algn="ctr">
                        <a:lnSpc>
                          <a:spcPct val="100000"/>
                        </a:lnSpc>
                        <a:spcBef>
                          <a:spcPts val="465"/>
                        </a:spcBef>
                      </a:pPr>
                      <a:r>
                        <a:rPr dirty="0" sz="1100" spc="-35" b="1">
                          <a:latin typeface="Microsoft YaHei"/>
                          <a:cs typeface="Microsoft YaHei"/>
                        </a:rPr>
                        <a:t>居住</a:t>
                      </a:r>
                      <a:endParaRPr sz="1100">
                        <a:latin typeface="Microsoft YaHei"/>
                        <a:cs typeface="Microsoft YaHei"/>
                      </a:endParaRPr>
                    </a:p>
                  </a:txBody>
                  <a:tcPr marL="0" marR="0" marB="0" marT="590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2860">
                        <a:lnSpc>
                          <a:spcPct val="100000"/>
                        </a:lnSpc>
                        <a:spcBef>
                          <a:spcPts val="465"/>
                        </a:spcBef>
                      </a:pPr>
                      <a:r>
                        <a:rPr dirty="0" sz="1100" spc="-30">
                          <a:latin typeface="Microsoft YaHei"/>
                          <a:cs typeface="Microsoft YaHei"/>
                        </a:rPr>
                        <a:t>密集住宅区</a:t>
                      </a:r>
                      <a:endParaRPr sz="1100">
                        <a:latin typeface="Microsoft YaHei"/>
                        <a:cs typeface="Microsoft YaHei"/>
                      </a:endParaRPr>
                    </a:p>
                  </a:txBody>
                  <a:tcPr marL="0" marR="0" marB="0" marT="590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2860">
                        <a:lnSpc>
                          <a:spcPct val="100000"/>
                        </a:lnSpc>
                        <a:spcBef>
                          <a:spcPts val="414"/>
                        </a:spcBef>
                      </a:pPr>
                      <a:r>
                        <a:rPr dirty="0" sz="1100" spc="-10">
                          <a:latin typeface="Microsoft YaHei"/>
                          <a:cs typeface="Microsoft YaHei"/>
                        </a:rPr>
                        <a:t>3.2T/130G</a:t>
                      </a:r>
                      <a:endParaRPr sz="110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4"/>
                        </a:spcBef>
                      </a:pPr>
                      <a:r>
                        <a:rPr dirty="0" sz="1100" spc="-20">
                          <a:latin typeface="Microsoft YaHei"/>
                          <a:cs typeface="Microsoft YaHei"/>
                        </a:rPr>
                        <a:t>100</a:t>
                      </a:r>
                      <a:r>
                        <a:rPr dirty="0" sz="1100" spc="-50">
                          <a:latin typeface="Microsoft YaHei"/>
                          <a:cs typeface="Microsoft YaHei"/>
                        </a:rPr>
                        <a:t>万</a:t>
                      </a:r>
                      <a:endParaRPr sz="110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4"/>
                        </a:spcBef>
                      </a:pPr>
                      <a:r>
                        <a:rPr dirty="0" sz="1100" spc="-10">
                          <a:latin typeface="Microsoft YaHei"/>
                          <a:cs typeface="Microsoft YaHei"/>
                        </a:rPr>
                        <a:t>15~40</a:t>
                      </a:r>
                      <a:endParaRPr sz="110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4"/>
                        </a:spcBef>
                      </a:pPr>
                      <a:r>
                        <a:rPr dirty="0" sz="1100" spc="-10" b="1">
                          <a:solidFill>
                            <a:srgbClr val="FF0000"/>
                          </a:solidFill>
                          <a:latin typeface="Microsoft YaHei"/>
                          <a:cs typeface="Microsoft YaHei"/>
                        </a:rPr>
                        <a:t>1024/512[1]</a:t>
                      </a:r>
                      <a:endParaRPr sz="110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4"/>
                        </a:spcBef>
                      </a:pPr>
                      <a:r>
                        <a:rPr dirty="0" sz="1100" spc="-50">
                          <a:latin typeface="Microsoft YaHei"/>
                          <a:cs typeface="Microsoft YaHei"/>
                        </a:rPr>
                        <a:t>-</a:t>
                      </a:r>
                      <a:endParaRPr sz="110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4"/>
                        </a:spcBef>
                      </a:pPr>
                      <a:r>
                        <a:rPr dirty="0" sz="1100" spc="-20" b="1">
                          <a:solidFill>
                            <a:srgbClr val="FF0000"/>
                          </a:solidFill>
                          <a:latin typeface="Microsoft YaHei"/>
                          <a:cs typeface="Microsoft YaHei"/>
                        </a:rPr>
                        <a:t>1Km</a:t>
                      </a:r>
                      <a:r>
                        <a:rPr dirty="0" baseline="27777" sz="1050" spc="-30" b="1">
                          <a:solidFill>
                            <a:srgbClr val="FF0000"/>
                          </a:solidFill>
                          <a:latin typeface="Microsoft YaHei"/>
                          <a:cs typeface="Microsoft YaHei"/>
                        </a:rPr>
                        <a:t>2</a:t>
                      </a:r>
                      <a:endParaRPr baseline="27777" sz="1050">
                        <a:latin typeface="Microsoft YaHei"/>
                        <a:cs typeface="Microsoft YaHei"/>
                      </a:endParaRPr>
                    </a:p>
                  </a:txBody>
                  <a:tcPr marL="0" marR="0" marB="0" marT="5270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b="1">
                          <a:solidFill>
                            <a:srgbClr val="FF0000"/>
                          </a:solidFill>
                          <a:latin typeface="Microsoft YaHei"/>
                          <a:cs typeface="Microsoft YaHei"/>
                        </a:rPr>
                        <a:t>3.2T</a:t>
                      </a:r>
                      <a:r>
                        <a:rPr dirty="0" sz="1100" spc="-10">
                          <a:latin typeface="Microsoft YaHei"/>
                          <a:cs typeface="Microsoft YaHei"/>
                        </a:rPr>
                        <a:t>/130G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b="1">
                          <a:solidFill>
                            <a:srgbClr val="FF0000"/>
                          </a:solidFill>
                          <a:latin typeface="Microsoft YaHei"/>
                          <a:cs typeface="Microsoft YaHei"/>
                        </a:rPr>
                        <a:t>100</a:t>
                      </a:r>
                      <a:r>
                        <a:rPr dirty="0" sz="1100" spc="-50" b="1">
                          <a:solidFill>
                            <a:srgbClr val="FF0000"/>
                          </a:solidFill>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35280">
                <a:tc>
                  <a:txBody>
                    <a:bodyPr/>
                    <a:lstStyle/>
                    <a:p>
                      <a:pPr algn="ctr">
                        <a:lnSpc>
                          <a:spcPct val="100000"/>
                        </a:lnSpc>
                        <a:spcBef>
                          <a:spcPts val="670"/>
                        </a:spcBef>
                      </a:pPr>
                      <a:r>
                        <a:rPr dirty="0" sz="1100" spc="-35" b="1">
                          <a:latin typeface="Microsoft YaHei"/>
                          <a:cs typeface="Microsoft YaHei"/>
                        </a:rPr>
                        <a:t>工作</a:t>
                      </a:r>
                      <a:endParaRPr sz="1100">
                        <a:latin typeface="Microsoft YaHei"/>
                        <a:cs typeface="Microsoft YaHei"/>
                      </a:endParaRPr>
                    </a:p>
                  </a:txBody>
                  <a:tcPr marL="0" marR="0" marB="0" marT="850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2860">
                        <a:lnSpc>
                          <a:spcPct val="100000"/>
                        </a:lnSpc>
                        <a:spcBef>
                          <a:spcPts val="670"/>
                        </a:spcBef>
                      </a:pPr>
                      <a:r>
                        <a:rPr dirty="0" sz="1100" spc="-35">
                          <a:latin typeface="Microsoft YaHei"/>
                          <a:cs typeface="Microsoft YaHei"/>
                        </a:rPr>
                        <a:t>办公室</a:t>
                      </a:r>
                      <a:endParaRPr sz="1100">
                        <a:latin typeface="Microsoft YaHei"/>
                        <a:cs typeface="Microsoft YaHei"/>
                      </a:endParaRPr>
                    </a:p>
                  </a:txBody>
                  <a:tcPr marL="0" marR="0" marB="0" marT="850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2860">
                        <a:lnSpc>
                          <a:spcPct val="100000"/>
                        </a:lnSpc>
                        <a:spcBef>
                          <a:spcPts val="615"/>
                        </a:spcBef>
                      </a:pPr>
                      <a:r>
                        <a:rPr dirty="0" sz="1100" spc="-10" b="1">
                          <a:solidFill>
                            <a:srgbClr val="FF0000"/>
                          </a:solidFill>
                          <a:latin typeface="Microsoft YaHei"/>
                          <a:cs typeface="Microsoft YaHei"/>
                        </a:rPr>
                        <a:t>15T/2T[3]</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615"/>
                        </a:spcBef>
                      </a:pPr>
                      <a:r>
                        <a:rPr dirty="0" sz="1100" spc="-20">
                          <a:latin typeface="Microsoft YaHei"/>
                          <a:cs typeface="Microsoft YaHei"/>
                        </a:rPr>
                        <a:t>75</a:t>
                      </a:r>
                      <a:r>
                        <a:rPr dirty="0" sz="1100" spc="-50">
                          <a:latin typeface="Microsoft YaHei"/>
                          <a:cs typeface="Microsoft YaHei"/>
                        </a:rPr>
                        <a:t>万</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615"/>
                        </a:spcBef>
                      </a:pPr>
                      <a:r>
                        <a:rPr dirty="0" sz="1100" spc="-25">
                          <a:latin typeface="Microsoft YaHei"/>
                          <a:cs typeface="Microsoft YaHei"/>
                        </a:rPr>
                        <a:t>10</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615"/>
                        </a:spcBef>
                      </a:pPr>
                      <a:r>
                        <a:rPr dirty="0" sz="1100" spc="-10">
                          <a:latin typeface="Microsoft YaHei"/>
                          <a:cs typeface="Microsoft YaHei"/>
                        </a:rPr>
                        <a:t>1024/512</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615"/>
                        </a:spcBef>
                      </a:pPr>
                      <a:r>
                        <a:rPr dirty="0" sz="1100" spc="-50">
                          <a:latin typeface="Microsoft YaHei"/>
                          <a:cs typeface="Microsoft YaHei"/>
                        </a:rPr>
                        <a:t>-</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ts val="1275"/>
                        </a:lnSpc>
                      </a:pPr>
                      <a:r>
                        <a:rPr dirty="0" sz="1100" spc="-20">
                          <a:latin typeface="Microsoft YaHei"/>
                          <a:cs typeface="Microsoft YaHei"/>
                        </a:rPr>
                        <a:t>500~</a:t>
                      </a:r>
                      <a:endParaRPr sz="1100">
                        <a:latin typeface="Microsoft YaHei"/>
                        <a:cs typeface="Microsoft YaHei"/>
                      </a:endParaRPr>
                    </a:p>
                    <a:p>
                      <a:pPr marL="22860">
                        <a:lnSpc>
                          <a:spcPts val="1265"/>
                        </a:lnSpc>
                      </a:pPr>
                      <a:r>
                        <a:rPr dirty="0" sz="1100" spc="-10">
                          <a:latin typeface="Microsoft YaHei"/>
                          <a:cs typeface="Microsoft YaHei"/>
                        </a:rPr>
                        <a:t>1000m</a:t>
                      </a:r>
                      <a:r>
                        <a:rPr dirty="0" baseline="27777" sz="1050" spc="-15">
                          <a:latin typeface="Microsoft YaHei"/>
                          <a:cs typeface="Microsoft YaHei"/>
                        </a:rPr>
                        <a:t>2</a:t>
                      </a:r>
                      <a:endParaRPr baseline="27777" sz="105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ts val="1275"/>
                        </a:lnSpc>
                      </a:pPr>
                      <a:r>
                        <a:rPr dirty="0" sz="1100" spc="-10">
                          <a:latin typeface="Microsoft YaHei"/>
                          <a:cs typeface="Microsoft YaHei"/>
                        </a:rPr>
                        <a:t>7~14G/</a:t>
                      </a:r>
                      <a:endParaRPr sz="1100">
                        <a:latin typeface="Microsoft YaHei"/>
                        <a:cs typeface="Microsoft YaHei"/>
                      </a:endParaRPr>
                    </a:p>
                    <a:p>
                      <a:pPr marL="23495">
                        <a:lnSpc>
                          <a:spcPts val="1265"/>
                        </a:lnSpc>
                      </a:pPr>
                      <a:r>
                        <a:rPr dirty="0" sz="1100" spc="-20">
                          <a:latin typeface="Microsoft YaHei"/>
                          <a:cs typeface="Microsoft YaHei"/>
                        </a:rPr>
                        <a:t>1~2G</a:t>
                      </a:r>
                      <a:endParaRPr sz="11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615"/>
                        </a:spcBef>
                      </a:pPr>
                      <a:r>
                        <a:rPr dirty="0" sz="1100" spc="-10">
                          <a:latin typeface="Microsoft YaHei"/>
                          <a:cs typeface="Microsoft YaHei"/>
                        </a:rPr>
                        <a:t>375~750</a:t>
                      </a:r>
                      <a:endParaRPr sz="1100">
                        <a:latin typeface="Microsoft YaHei"/>
                        <a:cs typeface="Microsoft YaHei"/>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rowSpan="2">
                  <a:txBody>
                    <a:bodyPr/>
                    <a:lstStyle/>
                    <a:p>
                      <a:pPr>
                        <a:lnSpc>
                          <a:spcPct val="100000"/>
                        </a:lnSpc>
                        <a:spcBef>
                          <a:spcPts val="320"/>
                        </a:spcBef>
                      </a:pPr>
                      <a:endParaRPr sz="1100">
                        <a:latin typeface="Times New Roman"/>
                        <a:cs typeface="Times New Roman"/>
                      </a:endParaRPr>
                    </a:p>
                    <a:p>
                      <a:pPr marL="111760">
                        <a:lnSpc>
                          <a:spcPct val="100000"/>
                        </a:lnSpc>
                      </a:pPr>
                      <a:r>
                        <a:rPr dirty="0" sz="1100" spc="-35" b="1">
                          <a:latin typeface="Microsoft YaHei"/>
                          <a:cs typeface="Microsoft YaHei"/>
                        </a:rPr>
                        <a:t>休闲</a:t>
                      </a:r>
                      <a:endParaRPr sz="1100">
                        <a:latin typeface="Microsoft YaHei"/>
                        <a:cs typeface="Microsoft YaHei"/>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2860">
                        <a:lnSpc>
                          <a:spcPct val="100000"/>
                        </a:lnSpc>
                        <a:spcBef>
                          <a:spcPts val="470"/>
                        </a:spcBef>
                      </a:pPr>
                      <a:r>
                        <a:rPr dirty="0" sz="1100" spc="-30">
                          <a:latin typeface="Microsoft YaHei"/>
                          <a:cs typeface="Microsoft YaHei"/>
                        </a:rPr>
                        <a:t>大型体育场</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2860">
                        <a:lnSpc>
                          <a:spcPct val="100000"/>
                        </a:lnSpc>
                        <a:spcBef>
                          <a:spcPts val="415"/>
                        </a:spcBef>
                      </a:pPr>
                      <a:r>
                        <a:rPr dirty="0" sz="1100" spc="-10">
                          <a:latin typeface="Microsoft YaHei"/>
                          <a:cs typeface="Microsoft YaHei"/>
                        </a:rPr>
                        <a:t>1.3T/2T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20">
                          <a:latin typeface="Microsoft YaHei"/>
                          <a:cs typeface="Microsoft YaHei"/>
                        </a:rPr>
                        <a:t>72</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20">
                          <a:latin typeface="Microsoft YaHei"/>
                          <a:cs typeface="Microsoft YaHei"/>
                        </a:rPr>
                        <a:t>5~10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20">
                          <a:latin typeface="Microsoft YaHei"/>
                          <a:cs typeface="Microsoft YaHei"/>
                        </a:rPr>
                        <a:t>60/60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10">
                          <a:latin typeface="Microsoft YaHei"/>
                          <a:cs typeface="Microsoft YaHei"/>
                        </a:rPr>
                        <a:t>0.2Km</a:t>
                      </a:r>
                      <a:r>
                        <a:rPr dirty="0" baseline="27777" sz="1050" spc="-15">
                          <a:latin typeface="Microsoft YaHei"/>
                          <a:cs typeface="Microsoft YaHei"/>
                        </a:rPr>
                        <a:t>2</a:t>
                      </a:r>
                      <a:endParaRPr baseline="27777" sz="105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260G/400G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14</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vMerge="1">
                  <a:txBody>
                    <a:bodyPr/>
                    <a:lstStyle/>
                    <a:p>
                      <a:p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470"/>
                        </a:spcBef>
                      </a:pPr>
                      <a:r>
                        <a:rPr dirty="0" sz="1100" spc="-25">
                          <a:latin typeface="Microsoft YaHei"/>
                          <a:cs typeface="Microsoft YaHei"/>
                        </a:rPr>
                        <a:t>大型露天集会</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415"/>
                        </a:spcBef>
                      </a:pPr>
                      <a:r>
                        <a:rPr dirty="0" sz="1100" spc="-10">
                          <a:latin typeface="Microsoft YaHei"/>
                          <a:cs typeface="Microsoft YaHei"/>
                        </a:rPr>
                        <a:t>1.3G/2T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72</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5~10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60/60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0.44Km</a:t>
                      </a:r>
                      <a:r>
                        <a:rPr dirty="0" baseline="27777" sz="1050" spc="-15">
                          <a:latin typeface="Microsoft YaHei"/>
                          <a:cs typeface="Microsoft YaHei"/>
                        </a:rPr>
                        <a:t>2</a:t>
                      </a:r>
                      <a:endParaRPr baseline="27777" sz="105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570G/</a:t>
                      </a:r>
                      <a:r>
                        <a:rPr dirty="0" sz="1100" spc="-10" b="1">
                          <a:solidFill>
                            <a:srgbClr val="FF0000"/>
                          </a:solidFill>
                          <a:latin typeface="Microsoft YaHei"/>
                          <a:cs typeface="Microsoft YaHei"/>
                        </a:rPr>
                        <a:t>880G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10">
                          <a:latin typeface="Microsoft YaHei"/>
                          <a:cs typeface="Microsoft YaHei"/>
                        </a:rPr>
                        <a:t>31.7</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rowSpan="3">
                  <a:txBody>
                    <a:bodyPr/>
                    <a:lstStyle/>
                    <a:p>
                      <a:pPr>
                        <a:lnSpc>
                          <a:spcPct val="100000"/>
                        </a:lnSpc>
                      </a:pPr>
                      <a:endParaRPr sz="1100">
                        <a:latin typeface="Times New Roman"/>
                        <a:cs typeface="Times New Roman"/>
                      </a:endParaRPr>
                    </a:p>
                    <a:p>
                      <a:pPr>
                        <a:lnSpc>
                          <a:spcPct val="100000"/>
                        </a:lnSpc>
                        <a:spcBef>
                          <a:spcPts val="175"/>
                        </a:spcBef>
                      </a:pPr>
                      <a:endParaRPr sz="1100">
                        <a:latin typeface="Times New Roman"/>
                        <a:cs typeface="Times New Roman"/>
                      </a:endParaRPr>
                    </a:p>
                    <a:p>
                      <a:pPr marL="111760">
                        <a:lnSpc>
                          <a:spcPct val="100000"/>
                        </a:lnSpc>
                      </a:pPr>
                      <a:r>
                        <a:rPr dirty="0" sz="1100" spc="-35" b="1">
                          <a:latin typeface="Microsoft YaHei"/>
                          <a:cs typeface="Microsoft YaHei"/>
                        </a:rPr>
                        <a:t>交通</a:t>
                      </a:r>
                      <a:endParaRPr sz="1100">
                        <a:latin typeface="Microsoft YaHei"/>
                        <a:cs typeface="Microsoft YaHei"/>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2860">
                        <a:lnSpc>
                          <a:spcPct val="100000"/>
                        </a:lnSpc>
                        <a:spcBef>
                          <a:spcPts val="470"/>
                        </a:spcBef>
                      </a:pPr>
                      <a:r>
                        <a:rPr dirty="0" sz="1100" spc="-35">
                          <a:latin typeface="Microsoft YaHei"/>
                          <a:cs typeface="Microsoft YaHei"/>
                        </a:rPr>
                        <a:t>地铁</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2860">
                        <a:lnSpc>
                          <a:spcPct val="100000"/>
                        </a:lnSpc>
                        <a:spcBef>
                          <a:spcPts val="415"/>
                        </a:spcBef>
                      </a:pPr>
                      <a:r>
                        <a:rPr dirty="0" sz="1100" spc="-10">
                          <a:latin typeface="Microsoft YaHei"/>
                          <a:cs typeface="Microsoft YaHei"/>
                        </a:rPr>
                        <a:t>10T/-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b="1">
                          <a:solidFill>
                            <a:srgbClr val="FF0000"/>
                          </a:solidFill>
                          <a:latin typeface="Microsoft YaHei"/>
                          <a:cs typeface="Microsoft YaHei"/>
                        </a:rPr>
                        <a:t>600</a:t>
                      </a:r>
                      <a:r>
                        <a:rPr dirty="0" sz="1100" spc="-25" b="1">
                          <a:solidFill>
                            <a:srgbClr val="FF0000"/>
                          </a:solidFill>
                          <a:latin typeface="Microsoft YaHei"/>
                          <a:cs typeface="Microsoft YaHei"/>
                        </a:rPr>
                        <a:t>万[2]</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15~40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60/-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5">
                          <a:latin typeface="Microsoft YaHei"/>
                          <a:cs typeface="Microsoft YaHei"/>
                        </a:rPr>
                        <a:t>110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410m</a:t>
                      </a:r>
                      <a:r>
                        <a:rPr dirty="0" baseline="27777" sz="1050" spc="-15">
                          <a:latin typeface="Microsoft YaHei"/>
                          <a:cs typeface="Microsoft YaHei"/>
                        </a:rPr>
                        <a:t>2</a:t>
                      </a:r>
                      <a:endParaRPr baseline="27777" sz="105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6.2G/-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0.25</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470"/>
                        </a:spcBef>
                      </a:pPr>
                      <a:r>
                        <a:rPr dirty="0" sz="1100" spc="-35">
                          <a:latin typeface="Microsoft YaHei"/>
                          <a:cs typeface="Microsoft YaHei"/>
                        </a:rPr>
                        <a:t>快速路</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5" b="1">
                          <a:solidFill>
                            <a:srgbClr val="FF0000"/>
                          </a:solidFill>
                          <a:latin typeface="Microsoft YaHei"/>
                          <a:cs typeface="Microsoft YaHei"/>
                        </a:rPr>
                        <a:t>&lt;5</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60/15</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5">
                          <a:latin typeface="Microsoft YaHei"/>
                          <a:cs typeface="Microsoft YaHei"/>
                        </a:rPr>
                        <a:t>180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470"/>
                        </a:spcBef>
                      </a:pPr>
                      <a:r>
                        <a:rPr dirty="0" sz="1100" spc="-35">
                          <a:latin typeface="Microsoft YaHei"/>
                          <a:cs typeface="Microsoft YaHei"/>
                        </a:rPr>
                        <a:t>高铁</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415"/>
                        </a:spcBef>
                      </a:pPr>
                      <a:r>
                        <a:rPr dirty="0" sz="1100" spc="-10">
                          <a:latin typeface="Microsoft YaHei"/>
                          <a:cs typeface="Microsoft YaHei"/>
                        </a:rPr>
                        <a:t>2.3T/1.2T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70</a:t>
                      </a:r>
                      <a:r>
                        <a:rPr dirty="0" sz="1100" spc="-5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5">
                          <a:latin typeface="Microsoft YaHei"/>
                          <a:cs typeface="Microsoft YaHei"/>
                        </a:rPr>
                        <a:t>10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20/20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5" b="1">
                          <a:solidFill>
                            <a:srgbClr val="FF0000"/>
                          </a:solidFill>
                          <a:latin typeface="Microsoft YaHei"/>
                          <a:cs typeface="Microsoft YaHei"/>
                        </a:rPr>
                        <a:t>500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1500m</a:t>
                      </a:r>
                      <a:r>
                        <a:rPr dirty="0" baseline="27777" sz="1050" spc="-15">
                          <a:latin typeface="Microsoft YaHei"/>
                          <a:cs typeface="Microsoft YaHei"/>
                        </a:rPr>
                        <a:t>2</a:t>
                      </a:r>
                      <a:endParaRPr baseline="27777" sz="105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3.4G/1.7G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0.1</a:t>
                      </a:r>
                      <a:r>
                        <a:rPr dirty="0" sz="1100" spc="-6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3845">
                <a:tc>
                  <a:txBody>
                    <a:bodyPr/>
                    <a:lstStyle/>
                    <a:p>
                      <a:pPr algn="ctr">
                        <a:lnSpc>
                          <a:spcPct val="100000"/>
                        </a:lnSpc>
                        <a:spcBef>
                          <a:spcPts val="470"/>
                        </a:spcBef>
                      </a:pPr>
                      <a:r>
                        <a:rPr dirty="0" sz="1100" spc="-35" b="1">
                          <a:latin typeface="Microsoft YaHei"/>
                          <a:cs typeface="Microsoft YaHei"/>
                        </a:rPr>
                        <a:t>其他</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2F2F2"/>
                    </a:solidFill>
                  </a:tcPr>
                </a:tc>
                <a:tc>
                  <a:txBody>
                    <a:bodyPr/>
                    <a:lstStyle/>
                    <a:p>
                      <a:pPr marL="23495">
                        <a:lnSpc>
                          <a:spcPct val="100000"/>
                        </a:lnSpc>
                        <a:spcBef>
                          <a:spcPts val="470"/>
                        </a:spcBef>
                      </a:pPr>
                      <a:r>
                        <a:rPr dirty="0" sz="1100" spc="-30">
                          <a:latin typeface="Microsoft YaHei"/>
                          <a:cs typeface="Microsoft YaHei"/>
                        </a:rPr>
                        <a:t>广域覆盖</a:t>
                      </a:r>
                      <a:endParaRPr sz="1100">
                        <a:latin typeface="Microsoft YaHei"/>
                        <a:cs typeface="Microsoft YaHei"/>
                      </a:endParaRPr>
                    </a:p>
                  </a:txBody>
                  <a:tcPr marL="0" marR="0" marB="0" marT="5969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8FBFC"/>
                    </a:solidFill>
                  </a:tcPr>
                </a:tc>
                <a:tc>
                  <a:txBody>
                    <a:bodyPr/>
                    <a:lstStyle/>
                    <a:p>
                      <a:pPr marL="23495">
                        <a:lnSpc>
                          <a:spcPct val="100000"/>
                        </a:lnSpc>
                        <a:spcBef>
                          <a:spcPts val="415"/>
                        </a:spcBef>
                      </a:pPr>
                      <a:r>
                        <a:rPr dirty="0" sz="1100" spc="-10">
                          <a:latin typeface="Microsoft YaHei"/>
                          <a:cs typeface="Microsoft YaHei"/>
                        </a:rPr>
                        <a:t>4G/4G</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10">
                          <a:latin typeface="Microsoft YaHei"/>
                          <a:cs typeface="Microsoft YaHei"/>
                        </a:rPr>
                        <a:t>0.1</a:t>
                      </a:r>
                      <a:r>
                        <a:rPr dirty="0" sz="1100" spc="-60">
                          <a:latin typeface="Microsoft YaHei"/>
                          <a:cs typeface="Microsoft YaHei"/>
                        </a:rPr>
                        <a:t>万</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5~10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3495">
                        <a:lnSpc>
                          <a:spcPct val="100000"/>
                        </a:lnSpc>
                        <a:spcBef>
                          <a:spcPts val="415"/>
                        </a:spcBef>
                      </a:pPr>
                      <a:r>
                        <a:rPr dirty="0" sz="1100" spc="-20">
                          <a:latin typeface="Microsoft YaHei"/>
                          <a:cs typeface="Microsoft YaHei"/>
                        </a:rPr>
                        <a:t>60/60</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50" b="1">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nSpc>
                          <a:spcPct val="100000"/>
                        </a:lnSpc>
                        <a:spcBef>
                          <a:spcPts val="415"/>
                        </a:spcBef>
                      </a:pPr>
                      <a:r>
                        <a:rPr dirty="0" sz="1100" spc="-50">
                          <a:latin typeface="Microsoft YaHei"/>
                          <a:cs typeface="Microsoft YaHei"/>
                        </a:rPr>
                        <a:t>-</a:t>
                      </a:r>
                      <a:endParaRPr sz="1100">
                        <a:latin typeface="Microsoft YaHei"/>
                        <a:cs typeface="Microsoft YaHei"/>
                      </a:endParaRPr>
                    </a:p>
                  </a:txBody>
                  <a:tcPr marL="0" marR="0" marB="0" marT="527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7" name="object 7" descr=""/>
          <p:cNvSpPr txBox="1"/>
          <p:nvPr/>
        </p:nvSpPr>
        <p:spPr>
          <a:xfrm>
            <a:off x="258074" y="4380871"/>
            <a:ext cx="8726170" cy="452120"/>
          </a:xfrm>
          <a:prstGeom prst="rect">
            <a:avLst/>
          </a:prstGeom>
        </p:spPr>
        <p:txBody>
          <a:bodyPr wrap="square" lIns="0" tIns="12065" rIns="0" bIns="0" rtlCol="0" vert="horz">
            <a:spAutoFit/>
          </a:bodyPr>
          <a:lstStyle/>
          <a:p>
            <a:pPr marL="12700" marR="5080">
              <a:lnSpc>
                <a:spcPct val="100000"/>
              </a:lnSpc>
              <a:spcBef>
                <a:spcPts val="95"/>
              </a:spcBef>
            </a:pPr>
            <a:r>
              <a:rPr dirty="0" sz="1400" spc="-15">
                <a:latin typeface="Microsoft YaHei"/>
                <a:cs typeface="Microsoft YaHei"/>
              </a:rPr>
              <a:t>【</a:t>
            </a:r>
            <a:r>
              <a:rPr dirty="0" sz="1400" spc="-10">
                <a:latin typeface="Microsoft YaHei"/>
                <a:cs typeface="Microsoft YaHei"/>
              </a:rPr>
              <a:t>1</a:t>
            </a:r>
            <a:r>
              <a:rPr dirty="0" sz="1400" spc="-15">
                <a:latin typeface="Microsoft YaHei"/>
                <a:cs typeface="Microsoft YaHei"/>
              </a:rPr>
              <a:t>】标红数字为各</a:t>
            </a:r>
            <a:r>
              <a:rPr dirty="0" sz="1400" spc="-10">
                <a:latin typeface="Microsoft YaHei"/>
                <a:cs typeface="Microsoft YaHei"/>
              </a:rPr>
              <a:t>KPI</a:t>
            </a:r>
            <a:r>
              <a:rPr dirty="0" sz="1400" spc="-15">
                <a:latin typeface="Microsoft YaHei"/>
                <a:cs typeface="Microsoft YaHei"/>
              </a:rPr>
              <a:t>在所有场景中的最大值；【</a:t>
            </a:r>
            <a:r>
              <a:rPr dirty="0" sz="1400" spc="-10">
                <a:latin typeface="Microsoft YaHei"/>
                <a:cs typeface="Microsoft YaHei"/>
              </a:rPr>
              <a:t>2</a:t>
            </a:r>
            <a:r>
              <a:rPr dirty="0" sz="1400" spc="-15">
                <a:latin typeface="Microsoft YaHei"/>
                <a:cs typeface="Microsoft YaHei"/>
              </a:rPr>
              <a:t>】地铁的用户密度较大但典型面积较小，最终</a:t>
            </a:r>
            <a:r>
              <a:rPr dirty="0" sz="1400" spc="-10">
                <a:latin typeface="Microsoft YaHei"/>
                <a:cs typeface="Microsoft YaHei"/>
              </a:rPr>
              <a:t>5G</a:t>
            </a:r>
            <a:r>
              <a:rPr dirty="0" sz="1400" spc="-15">
                <a:latin typeface="Microsoft YaHei"/>
                <a:cs typeface="Microsoft YaHei"/>
              </a:rPr>
              <a:t>能力选取了</a:t>
            </a:r>
            <a:r>
              <a:rPr dirty="0" sz="1400" spc="-10">
                <a:latin typeface="Microsoft YaHei"/>
                <a:cs typeface="Microsoft YaHei"/>
              </a:rPr>
              <a:t>100</a:t>
            </a:r>
            <a:r>
              <a:rPr dirty="0" sz="1400" spc="-15">
                <a:latin typeface="Microsoft YaHei"/>
                <a:cs typeface="Microsoft YaHei"/>
              </a:rPr>
              <a:t>万/</a:t>
            </a:r>
            <a:r>
              <a:rPr dirty="0" sz="1400" spc="-10">
                <a:latin typeface="Microsoft YaHei"/>
                <a:cs typeface="Microsoft YaHei"/>
              </a:rPr>
              <a:t>Km2</a:t>
            </a:r>
            <a:r>
              <a:rPr dirty="0" sz="1400" spc="-15">
                <a:latin typeface="Microsoft YaHei"/>
                <a:cs typeface="Microsoft YaHei"/>
              </a:rPr>
              <a:t>，对应场景为大型体育场和露天集会【</a:t>
            </a:r>
            <a:r>
              <a:rPr dirty="0" sz="1400" spc="-5">
                <a:latin typeface="Microsoft YaHei"/>
                <a:cs typeface="Microsoft YaHei"/>
              </a:rPr>
              <a:t>3</a:t>
            </a:r>
            <a:r>
              <a:rPr dirty="0" sz="1400" spc="-15">
                <a:latin typeface="Microsoft YaHei"/>
                <a:cs typeface="Microsoft YaHei"/>
              </a:rPr>
              <a:t>】办公室场景考虑每层独立部署，不同层的流量不累加。</a:t>
            </a:r>
            <a:endParaRPr sz="1400">
              <a:latin typeface="Microsoft YaHei"/>
              <a:cs typeface="Microsoft YaHe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0300" y="185240"/>
            <a:ext cx="4204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物联网业务特征分析</a:t>
            </a:r>
          </a:p>
        </p:txBody>
      </p:sp>
      <p:sp>
        <p:nvSpPr>
          <p:cNvPr id="3" name="object 3" descr=""/>
          <p:cNvSpPr/>
          <p:nvPr/>
        </p:nvSpPr>
        <p:spPr>
          <a:xfrm>
            <a:off x="381000" y="895350"/>
            <a:ext cx="4411345" cy="3930650"/>
          </a:xfrm>
          <a:custGeom>
            <a:avLst/>
            <a:gdLst/>
            <a:ahLst/>
            <a:cxnLst/>
            <a:rect l="l" t="t" r="r" b="b"/>
            <a:pathLst>
              <a:path w="4411345" h="3930650">
                <a:moveTo>
                  <a:pt x="0" y="0"/>
                </a:moveTo>
                <a:lnTo>
                  <a:pt x="4411332" y="0"/>
                </a:lnTo>
                <a:lnTo>
                  <a:pt x="4411332" y="3930319"/>
                </a:lnTo>
                <a:lnTo>
                  <a:pt x="0" y="3930319"/>
                </a:lnTo>
                <a:lnTo>
                  <a:pt x="0" y="0"/>
                </a:lnTo>
                <a:close/>
              </a:path>
            </a:pathLst>
          </a:custGeom>
          <a:ln w="25400">
            <a:solidFill>
              <a:srgbClr val="BBE0E3"/>
            </a:solidFill>
          </a:ln>
        </p:spPr>
        <p:txBody>
          <a:bodyPr wrap="square" lIns="0" tIns="0" rIns="0" bIns="0" rtlCol="0"/>
          <a:lstStyle/>
          <a:p/>
        </p:txBody>
      </p:sp>
      <p:sp>
        <p:nvSpPr>
          <p:cNvPr id="4" name="object 4" descr=""/>
          <p:cNvSpPr txBox="1"/>
          <p:nvPr/>
        </p:nvSpPr>
        <p:spPr>
          <a:xfrm>
            <a:off x="459740" y="808355"/>
            <a:ext cx="4222115" cy="3930015"/>
          </a:xfrm>
          <a:prstGeom prst="rect">
            <a:avLst/>
          </a:prstGeom>
        </p:spPr>
        <p:txBody>
          <a:bodyPr wrap="square" lIns="0" tIns="171450" rIns="0" bIns="0" rtlCol="0" vert="horz">
            <a:spAutoFit/>
          </a:bodyPr>
          <a:lstStyle/>
          <a:p>
            <a:pPr marL="354965" indent="-342265">
              <a:lnSpc>
                <a:spcPct val="100000"/>
              </a:lnSpc>
              <a:spcBef>
                <a:spcPts val="1350"/>
              </a:spcBef>
              <a:buFont typeface="Arial MT"/>
              <a:buChar char="•"/>
              <a:tabLst>
                <a:tab pos="354965" algn="l"/>
              </a:tabLst>
            </a:pPr>
            <a:r>
              <a:rPr dirty="0" sz="1800" spc="-10">
                <a:latin typeface="Microsoft YaHei"/>
                <a:cs typeface="Microsoft YaHei"/>
              </a:rPr>
              <a:t>连接数极大</a:t>
            </a:r>
            <a:endParaRPr sz="1800">
              <a:latin typeface="Microsoft YaHei"/>
              <a:cs typeface="Microsoft YaHei"/>
            </a:endParaRPr>
          </a:p>
          <a:p>
            <a:pPr marL="469900">
              <a:lnSpc>
                <a:spcPct val="100000"/>
              </a:lnSpc>
              <a:spcBef>
                <a:spcPts val="835"/>
              </a:spcBef>
              <a:tabLst>
                <a:tab pos="755015" algn="l"/>
              </a:tabLst>
            </a:pPr>
            <a:r>
              <a:rPr dirty="0" sz="1200" spc="-50">
                <a:latin typeface="Arial MT"/>
                <a:cs typeface="Arial MT"/>
              </a:rPr>
              <a:t>–</a:t>
            </a:r>
            <a:r>
              <a:rPr dirty="0" sz="1200">
                <a:latin typeface="Arial MT"/>
                <a:cs typeface="Arial MT"/>
              </a:rPr>
              <a:t>	</a:t>
            </a:r>
            <a:r>
              <a:rPr dirty="0" sz="1200" spc="-10">
                <a:latin typeface="Arial MT"/>
                <a:cs typeface="Arial MT"/>
              </a:rPr>
              <a:t>2020</a:t>
            </a:r>
            <a:r>
              <a:rPr dirty="0" sz="1200">
                <a:latin typeface="Microsoft YaHei"/>
                <a:cs typeface="Microsoft YaHei"/>
              </a:rPr>
              <a:t>年，总连接数将达到</a:t>
            </a:r>
            <a:r>
              <a:rPr dirty="0" sz="1200" spc="-10">
                <a:latin typeface="Arial MT"/>
                <a:cs typeface="Arial MT"/>
              </a:rPr>
              <a:t>500</a:t>
            </a:r>
            <a:r>
              <a:rPr dirty="0" sz="1200" spc="-10">
                <a:latin typeface="Microsoft YaHei"/>
                <a:cs typeface="Microsoft YaHei"/>
              </a:rPr>
              <a:t>亿 </a:t>
            </a:r>
            <a:r>
              <a:rPr dirty="0" sz="1200" spc="-25">
                <a:latin typeface="Arial MT"/>
                <a:cs typeface="Arial MT"/>
              </a:rPr>
              <a:t>[1]</a:t>
            </a:r>
            <a:endParaRPr sz="1200">
              <a:latin typeface="Arial MT"/>
              <a:cs typeface="Arial MT"/>
            </a:endParaRPr>
          </a:p>
          <a:p>
            <a:pPr lvl="1" marL="755015" indent="-285115">
              <a:lnSpc>
                <a:spcPct val="100000"/>
              </a:lnSpc>
              <a:spcBef>
                <a:spcPts val="720"/>
              </a:spcBef>
              <a:buFont typeface="Arial MT"/>
              <a:buChar char="–"/>
              <a:tabLst>
                <a:tab pos="755015" algn="l"/>
              </a:tabLst>
            </a:pPr>
            <a:r>
              <a:rPr dirty="0" sz="1200" spc="-5">
                <a:latin typeface="Microsoft YaHei"/>
                <a:cs typeface="Microsoft YaHei"/>
              </a:rPr>
              <a:t>相当比例通过非蜂窝网连接</a:t>
            </a:r>
            <a:endParaRPr sz="1200">
              <a:latin typeface="Microsoft YaHei"/>
              <a:cs typeface="Microsoft YaHei"/>
            </a:endParaRPr>
          </a:p>
          <a:p>
            <a:pPr lvl="2" marL="1155065" indent="-227965">
              <a:lnSpc>
                <a:spcPct val="100000"/>
              </a:lnSpc>
              <a:spcBef>
                <a:spcPts val="720"/>
              </a:spcBef>
              <a:buChar char="•"/>
              <a:tabLst>
                <a:tab pos="1155065" algn="l"/>
              </a:tabLst>
            </a:pPr>
            <a:r>
              <a:rPr dirty="0" sz="1200" spc="-10">
                <a:latin typeface="Arial MT"/>
                <a:cs typeface="Arial MT"/>
              </a:rPr>
              <a:t>2017</a:t>
            </a:r>
            <a:r>
              <a:rPr dirty="0" sz="1200">
                <a:latin typeface="Microsoft YaHei"/>
                <a:cs typeface="Microsoft YaHei"/>
              </a:rPr>
              <a:t>年，直接接入蜂窝网的设备仅占</a:t>
            </a:r>
            <a:r>
              <a:rPr dirty="0" sz="1200">
                <a:latin typeface="Arial MT"/>
                <a:cs typeface="Arial MT"/>
              </a:rPr>
              <a:t>15</a:t>
            </a:r>
            <a:r>
              <a:rPr dirty="0" sz="1200" spc="-20">
                <a:latin typeface="Arial MT"/>
                <a:cs typeface="Arial MT"/>
              </a:rPr>
              <a:t>% [</a:t>
            </a:r>
            <a:r>
              <a:rPr dirty="0" sz="1200" spc="-25">
                <a:latin typeface="Arial MT"/>
                <a:cs typeface="Arial MT"/>
              </a:rPr>
              <a:t>2]</a:t>
            </a:r>
            <a:endParaRPr sz="1200">
              <a:latin typeface="Arial MT"/>
              <a:cs typeface="Arial MT"/>
            </a:endParaRPr>
          </a:p>
          <a:p>
            <a:pPr marL="354965" indent="-342265">
              <a:lnSpc>
                <a:spcPct val="100000"/>
              </a:lnSpc>
              <a:spcBef>
                <a:spcPts val="965"/>
              </a:spcBef>
              <a:buFont typeface="Arial MT"/>
              <a:buChar char="•"/>
              <a:tabLst>
                <a:tab pos="354965" algn="l"/>
              </a:tabLst>
            </a:pPr>
            <a:r>
              <a:rPr dirty="0" sz="1800" spc="-10">
                <a:latin typeface="Microsoft YaHei"/>
                <a:cs typeface="Microsoft YaHei"/>
              </a:rPr>
              <a:t>流量占比极少</a:t>
            </a:r>
            <a:endParaRPr sz="1800">
              <a:latin typeface="Microsoft YaHei"/>
              <a:cs typeface="Microsoft YaHei"/>
            </a:endParaRPr>
          </a:p>
          <a:p>
            <a:pPr lvl="1" marL="755650" marR="105410" indent="-285750">
              <a:lnSpc>
                <a:spcPct val="130000"/>
              </a:lnSpc>
              <a:spcBef>
                <a:spcPts val="400"/>
              </a:spcBef>
              <a:buFont typeface="Arial MT"/>
              <a:buChar char="–"/>
              <a:tabLst>
                <a:tab pos="755650" algn="l"/>
              </a:tabLst>
            </a:pPr>
            <a:r>
              <a:rPr dirty="0" sz="1200" spc="-5">
                <a:latin typeface="Microsoft YaHei"/>
                <a:cs typeface="Microsoft YaHei"/>
              </a:rPr>
              <a:t>大多业务传输信息量极少，视频类物联网业务占比</a:t>
            </a:r>
            <a:r>
              <a:rPr dirty="0" sz="1200" spc="-25">
                <a:latin typeface="Microsoft YaHei"/>
                <a:cs typeface="Microsoft YaHei"/>
              </a:rPr>
              <a:t>很少</a:t>
            </a:r>
            <a:endParaRPr sz="1200">
              <a:latin typeface="Microsoft YaHei"/>
              <a:cs typeface="Microsoft YaHei"/>
            </a:endParaRPr>
          </a:p>
          <a:p>
            <a:pPr lvl="1" marL="755015" marR="74295" indent="-285750">
              <a:lnSpc>
                <a:spcPct val="130000"/>
              </a:lnSpc>
              <a:spcBef>
                <a:spcPts val="290"/>
              </a:spcBef>
              <a:buChar char="–"/>
              <a:tabLst>
                <a:tab pos="755015" algn="l"/>
              </a:tabLst>
            </a:pPr>
            <a:r>
              <a:rPr dirty="0" sz="1200" spc="-10">
                <a:latin typeface="Arial MT"/>
                <a:cs typeface="Arial MT"/>
              </a:rPr>
              <a:t>Machina</a:t>
            </a:r>
            <a:r>
              <a:rPr dirty="0" sz="1200" spc="-5">
                <a:latin typeface="Microsoft YaHei"/>
                <a:cs typeface="Microsoft YaHei"/>
              </a:rPr>
              <a:t>预测，</a:t>
            </a:r>
            <a:r>
              <a:rPr dirty="0" sz="1200" spc="-10">
                <a:latin typeface="Arial MT"/>
                <a:cs typeface="Arial MT"/>
              </a:rPr>
              <a:t>2022</a:t>
            </a:r>
            <a:r>
              <a:rPr dirty="0" sz="1200" spc="-5">
                <a:latin typeface="Microsoft YaHei"/>
                <a:cs typeface="Microsoft YaHei"/>
              </a:rPr>
              <a:t>年，</a:t>
            </a:r>
            <a:r>
              <a:rPr dirty="0" sz="1200" spc="-10">
                <a:latin typeface="Arial MT"/>
                <a:cs typeface="Arial MT"/>
              </a:rPr>
              <a:t>M2M</a:t>
            </a:r>
            <a:r>
              <a:rPr dirty="0" sz="1200" spc="-10">
                <a:latin typeface="Microsoft YaHei"/>
                <a:cs typeface="Microsoft YaHei"/>
              </a:rPr>
              <a:t>业务流量仅占蜂窝网总流量的 </a:t>
            </a:r>
            <a:r>
              <a:rPr dirty="0" sz="1200">
                <a:latin typeface="Arial MT"/>
                <a:cs typeface="Arial MT"/>
              </a:rPr>
              <a:t>1</a:t>
            </a:r>
            <a:r>
              <a:rPr dirty="0" sz="1200" spc="-15">
                <a:latin typeface="Arial MT"/>
                <a:cs typeface="Arial MT"/>
              </a:rPr>
              <a:t>% [</a:t>
            </a:r>
            <a:r>
              <a:rPr dirty="0" sz="1200" spc="-25">
                <a:latin typeface="Arial MT"/>
                <a:cs typeface="Arial MT"/>
              </a:rPr>
              <a:t>3]</a:t>
            </a:r>
            <a:endParaRPr sz="1200">
              <a:latin typeface="Arial MT"/>
              <a:cs typeface="Arial MT"/>
            </a:endParaRPr>
          </a:p>
          <a:p>
            <a:pPr marL="354965" indent="-342265">
              <a:lnSpc>
                <a:spcPct val="100000"/>
              </a:lnSpc>
              <a:spcBef>
                <a:spcPts val="965"/>
              </a:spcBef>
              <a:buFont typeface="Arial MT"/>
              <a:buChar char="•"/>
              <a:tabLst>
                <a:tab pos="354965" algn="l"/>
              </a:tabLst>
            </a:pPr>
            <a:r>
              <a:rPr dirty="0" sz="1800">
                <a:latin typeface="Microsoft YaHei"/>
                <a:cs typeface="Microsoft YaHei"/>
              </a:rPr>
              <a:t>单设备</a:t>
            </a:r>
            <a:r>
              <a:rPr dirty="0" sz="1800">
                <a:latin typeface="Arial MT"/>
                <a:cs typeface="Arial MT"/>
              </a:rPr>
              <a:t>ARPU</a:t>
            </a:r>
            <a:r>
              <a:rPr dirty="0" sz="1800" spc="-20">
                <a:latin typeface="Microsoft YaHei"/>
                <a:cs typeface="Microsoft YaHei"/>
              </a:rPr>
              <a:t>值极低</a:t>
            </a:r>
            <a:endParaRPr sz="1800">
              <a:latin typeface="Microsoft YaHei"/>
              <a:cs typeface="Microsoft YaHei"/>
            </a:endParaRPr>
          </a:p>
          <a:p>
            <a:pPr lvl="1" marL="755015" indent="-285115">
              <a:lnSpc>
                <a:spcPct val="100000"/>
              </a:lnSpc>
              <a:spcBef>
                <a:spcPts val="835"/>
              </a:spcBef>
              <a:buFont typeface="Arial MT"/>
              <a:buChar char="–"/>
              <a:tabLst>
                <a:tab pos="755015" algn="l"/>
              </a:tabLst>
            </a:pPr>
            <a:r>
              <a:rPr dirty="0" sz="1200" spc="-5">
                <a:latin typeface="Microsoft YaHei"/>
                <a:cs typeface="Microsoft YaHei"/>
              </a:rPr>
              <a:t>对每个连接设备而言，运营商可获得的收费非常低</a:t>
            </a:r>
            <a:endParaRPr sz="1200">
              <a:latin typeface="Microsoft YaHei"/>
              <a:cs typeface="Microsoft YaHei"/>
            </a:endParaRPr>
          </a:p>
          <a:p>
            <a:pPr lvl="1" marL="755015" marR="5080" indent="-285750">
              <a:lnSpc>
                <a:spcPct val="130000"/>
              </a:lnSpc>
              <a:spcBef>
                <a:spcPts val="285"/>
              </a:spcBef>
              <a:buChar char="–"/>
              <a:tabLst>
                <a:tab pos="755015" algn="l"/>
              </a:tabLst>
            </a:pPr>
            <a:r>
              <a:rPr dirty="0" sz="1200" spc="-10">
                <a:latin typeface="Arial MT"/>
                <a:cs typeface="Arial MT"/>
              </a:rPr>
              <a:t>2022</a:t>
            </a:r>
            <a:r>
              <a:rPr dirty="0" sz="1200" spc="-5">
                <a:latin typeface="Microsoft YaHei"/>
                <a:cs typeface="Microsoft YaHei"/>
              </a:rPr>
              <a:t>年，</a:t>
            </a:r>
            <a:r>
              <a:rPr dirty="0" sz="1200" spc="-10">
                <a:latin typeface="Arial MT"/>
                <a:cs typeface="Arial MT"/>
              </a:rPr>
              <a:t>M2M</a:t>
            </a:r>
            <a:r>
              <a:rPr dirty="0" sz="1200">
                <a:latin typeface="Microsoft YaHei"/>
                <a:cs typeface="Microsoft YaHei"/>
              </a:rPr>
              <a:t>网络连接的收入约占</a:t>
            </a:r>
            <a:r>
              <a:rPr dirty="0" sz="1200" spc="-10">
                <a:latin typeface="Arial MT"/>
                <a:cs typeface="Arial MT"/>
              </a:rPr>
              <a:t>M2M</a:t>
            </a:r>
            <a:r>
              <a:rPr dirty="0" sz="1200" spc="-10">
                <a:latin typeface="Microsoft YaHei"/>
                <a:cs typeface="Microsoft YaHei"/>
              </a:rPr>
              <a:t>市场总额的</a:t>
            </a:r>
            <a:r>
              <a:rPr dirty="0" sz="1200" spc="-50">
                <a:latin typeface="Microsoft YaHei"/>
                <a:cs typeface="Microsoft YaHei"/>
              </a:rPr>
              <a:t> </a:t>
            </a:r>
            <a:r>
              <a:rPr dirty="0" sz="1200">
                <a:latin typeface="Arial MT"/>
                <a:cs typeface="Arial MT"/>
              </a:rPr>
              <a:t>20</a:t>
            </a:r>
            <a:r>
              <a:rPr dirty="0" sz="1200" spc="-20">
                <a:latin typeface="Arial MT"/>
                <a:cs typeface="Arial MT"/>
              </a:rPr>
              <a:t>% [</a:t>
            </a:r>
            <a:r>
              <a:rPr dirty="0" sz="1200" spc="-25">
                <a:latin typeface="Arial MT"/>
                <a:cs typeface="Arial MT"/>
              </a:rPr>
              <a:t>2]</a:t>
            </a:r>
            <a:endParaRPr sz="1200">
              <a:latin typeface="Arial MT"/>
              <a:cs typeface="Arial MT"/>
            </a:endParaRPr>
          </a:p>
        </p:txBody>
      </p:sp>
      <p:pic>
        <p:nvPicPr>
          <p:cNvPr id="5" name="object 5"/>
          <p:cNvPicPr/>
          <p:nvPr/>
        </p:nvPicPr>
        <p:blipFill>
          <a:blip r:embed="rId2" cstate="print"/>
          <a:stretch>
            <a:fillRect/>
          </a:stretch>
        </p:blipFill>
        <p:spPr>
          <a:xfrm>
            <a:off x="5033395" y="2708060"/>
            <a:ext cx="3859423" cy="2004461"/>
          </a:xfrm>
          <a:prstGeom prst="rect">
            <a:avLst/>
          </a:prstGeom>
        </p:spPr>
      </p:pic>
      <p:pic>
        <p:nvPicPr>
          <p:cNvPr id="6" name="object 6"/>
          <p:cNvPicPr/>
          <p:nvPr/>
        </p:nvPicPr>
        <p:blipFill>
          <a:blip r:embed="rId3" cstate="print"/>
          <a:stretch>
            <a:fillRect/>
          </a:stretch>
        </p:blipFill>
        <p:spPr>
          <a:xfrm>
            <a:off x="4990793" y="946223"/>
            <a:ext cx="3847552" cy="1508446"/>
          </a:xfrm>
          <a:prstGeom prst="rect">
            <a:avLst/>
          </a:prstGeom>
        </p:spPr>
      </p:pic>
      <p:sp>
        <p:nvSpPr>
          <p:cNvPr id="7" name="object 7" descr=""/>
          <p:cNvSpPr txBox="1"/>
          <p:nvPr/>
        </p:nvSpPr>
        <p:spPr>
          <a:xfrm>
            <a:off x="5442827" y="4721023"/>
            <a:ext cx="2176780" cy="238760"/>
          </a:xfrm>
          <a:prstGeom prst="rect">
            <a:avLst/>
          </a:prstGeom>
        </p:spPr>
        <p:txBody>
          <a:bodyPr wrap="square" lIns="0" tIns="12065" rIns="0" bIns="0" rtlCol="0" vert="horz">
            <a:spAutoFit/>
          </a:bodyPr>
          <a:lstStyle/>
          <a:p>
            <a:pPr marL="12700">
              <a:lnSpc>
                <a:spcPct val="100000"/>
              </a:lnSpc>
              <a:spcBef>
                <a:spcPts val="95"/>
              </a:spcBef>
            </a:pPr>
            <a:r>
              <a:rPr dirty="0" sz="1400" spc="-20">
                <a:latin typeface="Microsoft YaHei"/>
                <a:cs typeface="Microsoft YaHei"/>
              </a:rPr>
              <a:t>物联网产业收入增长预测</a:t>
            </a:r>
            <a:r>
              <a:rPr dirty="0" sz="1400" spc="-25">
                <a:latin typeface="Arial MT"/>
                <a:cs typeface="Arial MT"/>
              </a:rPr>
              <a:t>[2]</a:t>
            </a:r>
            <a:endParaRPr sz="1400">
              <a:latin typeface="Arial MT"/>
              <a:cs typeface="Arial MT"/>
            </a:endParaRPr>
          </a:p>
        </p:txBody>
      </p:sp>
      <p:sp>
        <p:nvSpPr>
          <p:cNvPr id="8" name="object 8" descr=""/>
          <p:cNvSpPr txBox="1"/>
          <p:nvPr/>
        </p:nvSpPr>
        <p:spPr>
          <a:xfrm>
            <a:off x="5370743" y="2436716"/>
            <a:ext cx="3103880" cy="238760"/>
          </a:xfrm>
          <a:prstGeom prst="rect">
            <a:avLst/>
          </a:prstGeom>
        </p:spPr>
        <p:txBody>
          <a:bodyPr wrap="square" lIns="0" tIns="12065" rIns="0" bIns="0" rtlCol="0" vert="horz">
            <a:spAutoFit/>
          </a:bodyPr>
          <a:lstStyle/>
          <a:p>
            <a:pPr marL="12700">
              <a:lnSpc>
                <a:spcPct val="100000"/>
              </a:lnSpc>
              <a:spcBef>
                <a:spcPts val="95"/>
              </a:spcBef>
            </a:pPr>
            <a:r>
              <a:rPr dirty="0" sz="1400">
                <a:latin typeface="Arial MT"/>
                <a:cs typeface="Arial MT"/>
              </a:rPr>
              <a:t>M2M</a:t>
            </a:r>
            <a:r>
              <a:rPr dirty="0" sz="1400" spc="-20">
                <a:latin typeface="Microsoft YaHei"/>
                <a:cs typeface="Microsoft YaHei"/>
              </a:rPr>
              <a:t>不同连接方式和业务比例的预测</a:t>
            </a:r>
            <a:r>
              <a:rPr dirty="0" sz="1400" spc="-25">
                <a:latin typeface="Arial MT"/>
                <a:cs typeface="Arial MT"/>
              </a:rPr>
              <a:t>[2]</a:t>
            </a:r>
            <a:endParaRPr sz="140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0300" y="137032"/>
            <a:ext cx="42049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物联网典型业务需求</a:t>
            </a:r>
          </a:p>
        </p:txBody>
      </p:sp>
      <p:graphicFrame>
        <p:nvGraphicFramePr>
          <p:cNvPr id="3" name="object 3" descr=""/>
          <p:cNvGraphicFramePr>
            <a:graphicFrameLocks noGrp="1"/>
          </p:cNvGraphicFramePr>
          <p:nvPr/>
        </p:nvGraphicFramePr>
        <p:xfrm>
          <a:off x="374650" y="889000"/>
          <a:ext cx="8514080" cy="3982084"/>
        </p:xfrm>
        <a:graphic>
          <a:graphicData uri="http://schemas.openxmlformats.org/drawingml/2006/table">
            <a:tbl>
              <a:tblPr firstRow="1" bandRow="1">
                <a:tableStyleId>{2D5ABB26-0587-4C30-8999-92F81FD0307C}</a:tableStyleId>
              </a:tblPr>
              <a:tblGrid>
                <a:gridCol w="495300"/>
                <a:gridCol w="655955"/>
                <a:gridCol w="2303780"/>
                <a:gridCol w="861694"/>
                <a:gridCol w="777875"/>
                <a:gridCol w="734060"/>
                <a:gridCol w="647064"/>
                <a:gridCol w="647065"/>
                <a:gridCol w="647065"/>
                <a:gridCol w="647065"/>
              </a:tblGrid>
              <a:tr h="157480">
                <a:tc gridSpan="2">
                  <a:txBody>
                    <a:bodyPr/>
                    <a:lstStyle/>
                    <a:p>
                      <a:pPr marL="346075">
                        <a:lnSpc>
                          <a:spcPct val="100000"/>
                        </a:lnSpc>
                        <a:spcBef>
                          <a:spcPts val="30"/>
                        </a:spcBef>
                      </a:pPr>
                      <a:r>
                        <a:rPr dirty="0" sz="900" spc="-15">
                          <a:latin typeface="SimSun"/>
                          <a:cs typeface="SimSun"/>
                        </a:rPr>
                        <a:t>典型应用</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hMerge="1">
                  <a:txBody>
                    <a:bodyPr/>
                    <a:lstStyle/>
                    <a:p>
                      <a:pPr/>
                    </a:p>
                  </a:txBody>
                  <a:tcPr marL="0" marR="0" marB="0" marT="0"/>
                </a:tc>
                <a:tc>
                  <a:txBody>
                    <a:bodyPr/>
                    <a:lstStyle/>
                    <a:p>
                      <a:pPr algn="ctr">
                        <a:lnSpc>
                          <a:spcPct val="100000"/>
                        </a:lnSpc>
                        <a:spcBef>
                          <a:spcPts val="30"/>
                        </a:spcBef>
                      </a:pPr>
                      <a:r>
                        <a:rPr dirty="0" sz="900" spc="-15">
                          <a:latin typeface="SimSun"/>
                          <a:cs typeface="SimSun"/>
                        </a:rPr>
                        <a:t>应用描述</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5">
                          <a:latin typeface="SimSun"/>
                          <a:cs typeface="SimSun"/>
                        </a:rPr>
                        <a:t>覆盖</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marL="635">
                        <a:lnSpc>
                          <a:spcPct val="100000"/>
                        </a:lnSpc>
                        <a:spcBef>
                          <a:spcPts val="30"/>
                        </a:spcBef>
                      </a:pPr>
                      <a:r>
                        <a:rPr dirty="0" sz="900" spc="-15">
                          <a:latin typeface="SimSun"/>
                          <a:cs typeface="SimSun"/>
                        </a:rPr>
                        <a:t>连接密度</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0">
                          <a:latin typeface="SimSun"/>
                          <a:cs typeface="SimSun"/>
                        </a:rPr>
                        <a:t>吞吐率</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5">
                          <a:latin typeface="SimSun"/>
                          <a:cs typeface="SimSun"/>
                        </a:rPr>
                        <a:t>时延</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0">
                          <a:latin typeface="SimSun"/>
                          <a:cs typeface="SimSun"/>
                        </a:rPr>
                        <a:t>可靠性</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5">
                          <a:latin typeface="SimSun"/>
                          <a:cs typeface="SimSun"/>
                        </a:rPr>
                        <a:t>功耗</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c>
                  <a:txBody>
                    <a:bodyPr/>
                    <a:lstStyle/>
                    <a:p>
                      <a:pPr algn="ctr">
                        <a:lnSpc>
                          <a:spcPct val="100000"/>
                        </a:lnSpc>
                        <a:spcBef>
                          <a:spcPts val="30"/>
                        </a:spcBef>
                      </a:pPr>
                      <a:r>
                        <a:rPr dirty="0" sz="900" spc="-25">
                          <a:latin typeface="SimSun"/>
                          <a:cs typeface="SimSun"/>
                        </a:rPr>
                        <a:t>成本</a:t>
                      </a:r>
                      <a:endParaRPr sz="900">
                        <a:latin typeface="SimSun"/>
                        <a:cs typeface="SimSun"/>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DCDCD"/>
                    </a:solidFill>
                  </a:tcPr>
                </a:tc>
              </a:tr>
              <a:tr h="551815">
                <a:tc rowSpan="5">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75"/>
                        </a:spcBef>
                      </a:pPr>
                      <a:endParaRPr sz="800">
                        <a:latin typeface="Times New Roman"/>
                        <a:cs typeface="Times New Roman"/>
                      </a:endParaRPr>
                    </a:p>
                    <a:p>
                      <a:pPr marL="95250" marR="87630">
                        <a:lnSpc>
                          <a:spcPct val="114999"/>
                        </a:lnSpc>
                        <a:spcBef>
                          <a:spcPts val="5"/>
                        </a:spcBef>
                      </a:pPr>
                      <a:r>
                        <a:rPr dirty="0" sz="800" spc="-25">
                          <a:latin typeface="SimSun"/>
                          <a:cs typeface="SimSun"/>
                        </a:rPr>
                        <a:t>传统蜂窝应用</a:t>
                      </a:r>
                      <a:endParaRPr sz="8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725"/>
                        </a:spcBef>
                      </a:pPr>
                      <a:endParaRPr sz="800">
                        <a:latin typeface="Times New Roman"/>
                        <a:cs typeface="Times New Roman"/>
                      </a:endParaRPr>
                    </a:p>
                    <a:p>
                      <a:pPr algn="ctr">
                        <a:lnSpc>
                          <a:spcPct val="100000"/>
                        </a:lnSpc>
                        <a:spcBef>
                          <a:spcPts val="5"/>
                        </a:spcBef>
                      </a:pPr>
                      <a:r>
                        <a:rPr dirty="0" sz="800" spc="-20">
                          <a:latin typeface="SimSun"/>
                          <a:cs typeface="SimSun"/>
                        </a:rPr>
                        <a:t>环境监测</a:t>
                      </a:r>
                      <a:endParaRPr sz="800">
                        <a:latin typeface="SimSun"/>
                        <a:cs typeface="SimSun"/>
                      </a:endParaRPr>
                    </a:p>
                  </a:txBody>
                  <a:tcPr marL="0" marR="0" marB="0" marT="920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15">
                          <a:latin typeface="SimSun"/>
                          <a:cs typeface="SimSun"/>
                        </a:rPr>
                        <a:t>安装传感器，对温度、湿度等指标进行监控</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solidFill>
                            <a:srgbClr val="FF0000"/>
                          </a:solidFill>
                          <a:latin typeface="SimSun"/>
                          <a:cs typeface="SimSun"/>
                        </a:rPr>
                        <a:t>森林、平原、山</a:t>
                      </a:r>
                      <a:endParaRPr sz="800">
                        <a:latin typeface="SimSun"/>
                        <a:cs typeface="SimSun"/>
                      </a:endParaRPr>
                    </a:p>
                    <a:p>
                      <a:pPr marL="52069" marR="92075">
                        <a:lnSpc>
                          <a:spcPct val="114999"/>
                        </a:lnSpc>
                      </a:pPr>
                      <a:r>
                        <a:rPr dirty="0" sz="800" spc="-20">
                          <a:solidFill>
                            <a:srgbClr val="FF0000"/>
                          </a:solidFill>
                          <a:latin typeface="SimSun"/>
                          <a:cs typeface="SimSun"/>
                        </a:rPr>
                        <a:t>区、水域，地域</a:t>
                      </a:r>
                      <a:r>
                        <a:rPr dirty="0" sz="800" spc="-50">
                          <a:solidFill>
                            <a:srgbClr val="FF0000"/>
                          </a:solidFill>
                          <a:latin typeface="SimSun"/>
                          <a:cs typeface="SimSun"/>
                        </a:rPr>
                        <a:t>广</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003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575"/>
                        </a:spcBef>
                      </a:pPr>
                      <a:r>
                        <a:rPr dirty="0" sz="800" spc="-20">
                          <a:latin typeface="SimSun"/>
                          <a:cs typeface="SimSun"/>
                        </a:rPr>
                        <a:t>视频监控</a:t>
                      </a:r>
                      <a:endParaRPr sz="800">
                        <a:latin typeface="SimSun"/>
                        <a:cs typeface="SimSun"/>
                      </a:endParaRPr>
                    </a:p>
                  </a:txBody>
                  <a:tcPr marL="0" marR="0" marB="0" marT="730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15">
                          <a:latin typeface="SimSun"/>
                          <a:cs typeface="SimSun"/>
                        </a:rPr>
                        <a:t>在不易安装线缆的区域，通过无线方式实现监控</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偏僻的厂房、楼</a:t>
                      </a:r>
                      <a:endParaRPr sz="800">
                        <a:latin typeface="SimSun"/>
                        <a:cs typeface="SimSun"/>
                      </a:endParaRPr>
                    </a:p>
                    <a:p>
                      <a:pPr marL="52069">
                        <a:lnSpc>
                          <a:spcPct val="100000"/>
                        </a:lnSpc>
                        <a:spcBef>
                          <a:spcPts val="145"/>
                        </a:spcBef>
                      </a:pPr>
                      <a:r>
                        <a:rPr dirty="0" sz="800" spc="-20">
                          <a:latin typeface="SimSun"/>
                          <a:cs typeface="SimSun"/>
                        </a:rPr>
                        <a:t>道角落等</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solidFill>
                            <a:srgbClr val="FF0000"/>
                          </a:solidFill>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45"/>
                        </a:spcBef>
                      </a:pPr>
                      <a:r>
                        <a:rPr dirty="0" sz="800" spc="-20">
                          <a:latin typeface="SimSun"/>
                          <a:cs typeface="SimSun"/>
                        </a:rPr>
                        <a:t>移动支付</a:t>
                      </a:r>
                      <a:endParaRPr sz="800">
                        <a:latin typeface="SimSun"/>
                        <a:cs typeface="SimSun"/>
                      </a:endParaRPr>
                    </a:p>
                  </a:txBody>
                  <a:tcPr marL="0" marR="0" marB="0" marT="438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通过无线方式支付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无特殊要求</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较低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较低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45"/>
                        </a:spcBef>
                      </a:pPr>
                      <a:r>
                        <a:rPr dirty="0" sz="800" spc="-20">
                          <a:latin typeface="SimSun"/>
                          <a:cs typeface="SimSun"/>
                        </a:rPr>
                        <a:t>远程遥控</a:t>
                      </a:r>
                      <a:endParaRPr sz="800">
                        <a:latin typeface="SimSun"/>
                        <a:cs typeface="SimSun"/>
                      </a:endParaRPr>
                    </a:p>
                  </a:txBody>
                  <a:tcPr marL="0" marR="0" marB="0" marT="438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15">
                          <a:latin typeface="SimSun"/>
                          <a:cs typeface="SimSun"/>
                        </a:rPr>
                        <a:t>通过无线方式实现远程操作</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无特殊要求</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较低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较低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nSpc>
                          <a:spcPct val="100000"/>
                        </a:lnSpc>
                        <a:spcBef>
                          <a:spcPts val="300"/>
                        </a:spcBef>
                      </a:pPr>
                      <a:endParaRPr sz="800">
                        <a:latin typeface="Times New Roman"/>
                        <a:cs typeface="Times New Roman"/>
                      </a:endParaRPr>
                    </a:p>
                    <a:p>
                      <a:pPr marL="125095">
                        <a:lnSpc>
                          <a:spcPct val="100000"/>
                        </a:lnSpc>
                      </a:pPr>
                      <a:r>
                        <a:rPr dirty="0" sz="800" spc="-20">
                          <a:latin typeface="SimSun"/>
                          <a:cs typeface="SimSun"/>
                        </a:rPr>
                        <a:t>智能医疗</a:t>
                      </a:r>
                      <a:endParaRPr sz="800">
                        <a:latin typeface="SimSun"/>
                        <a:cs typeface="SimSun"/>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移动急救车</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无特殊要求</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solidFill>
                            <a:srgbClr val="FF0000"/>
                          </a:solidFill>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solidFill>
                            <a:srgbClr val="FF0000"/>
                          </a:solidFill>
                          <a:latin typeface="SimSun"/>
                          <a:cs typeface="SimSun"/>
                        </a:rPr>
                        <a:t>极高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rowSpan="6">
                  <a:txBody>
                    <a:bodyPr/>
                    <a:lstStyle/>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pPr>
                      <a:endParaRPr sz="800">
                        <a:latin typeface="Times New Roman"/>
                        <a:cs typeface="Times New Roman"/>
                      </a:endParaRPr>
                    </a:p>
                    <a:p>
                      <a:pPr>
                        <a:lnSpc>
                          <a:spcPct val="100000"/>
                        </a:lnSpc>
                        <a:spcBef>
                          <a:spcPts val="165"/>
                        </a:spcBef>
                      </a:pPr>
                      <a:endParaRPr sz="800">
                        <a:latin typeface="Times New Roman"/>
                        <a:cs typeface="Times New Roman"/>
                      </a:endParaRPr>
                    </a:p>
                    <a:p>
                      <a:pPr marL="95885" marR="87630" indent="100965">
                        <a:lnSpc>
                          <a:spcPct val="114999"/>
                        </a:lnSpc>
                        <a:spcBef>
                          <a:spcPts val="5"/>
                        </a:spcBef>
                      </a:pPr>
                      <a:r>
                        <a:rPr dirty="0" sz="800" spc="-50">
                          <a:latin typeface="SimSun"/>
                          <a:cs typeface="SimSun"/>
                        </a:rPr>
                        <a:t>可</a:t>
                      </a:r>
                      <a:r>
                        <a:rPr dirty="0" sz="800" spc="-50">
                          <a:latin typeface="SimSun"/>
                          <a:cs typeface="SimSun"/>
                        </a:rPr>
                        <a:t> </a:t>
                      </a:r>
                      <a:r>
                        <a:rPr dirty="0" sz="800" spc="-25">
                          <a:latin typeface="SimSun"/>
                          <a:cs typeface="SimSun"/>
                        </a:rPr>
                        <a:t>渗透应</a:t>
                      </a:r>
                      <a:endParaRPr sz="800">
                        <a:latin typeface="SimSun"/>
                        <a:cs typeface="SimSun"/>
                      </a:endParaRPr>
                    </a:p>
                    <a:p>
                      <a:pPr marL="196850">
                        <a:lnSpc>
                          <a:spcPct val="100000"/>
                        </a:lnSpc>
                        <a:spcBef>
                          <a:spcPts val="140"/>
                        </a:spcBef>
                      </a:pPr>
                      <a:r>
                        <a:rPr dirty="0" sz="800" spc="-50">
                          <a:latin typeface="SimSun"/>
                          <a:cs typeface="SimSun"/>
                        </a:rPr>
                        <a:t>用</a:t>
                      </a:r>
                      <a:endParaRPr sz="800">
                        <a:latin typeface="SimSun"/>
                        <a:cs typeface="SimSu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15">
                          <a:latin typeface="SimSun"/>
                          <a:cs typeface="SimSun"/>
                        </a:rPr>
                        <a:t>健康检测设备，比如心脏、血压检测</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solidFill>
                            <a:srgbClr val="FF0000"/>
                          </a:solidFill>
                          <a:latin typeface="SimSun"/>
                          <a:cs typeface="SimSun"/>
                        </a:rPr>
                        <a:t>极高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1402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80"/>
                        </a:spcBef>
                      </a:pPr>
                      <a:endParaRPr sz="800">
                        <a:latin typeface="Times New Roman"/>
                        <a:cs typeface="Times New Roman"/>
                      </a:endParaRPr>
                    </a:p>
                    <a:p>
                      <a:pPr algn="ctr">
                        <a:lnSpc>
                          <a:spcPct val="100000"/>
                        </a:lnSpc>
                        <a:spcBef>
                          <a:spcPts val="5"/>
                        </a:spcBef>
                      </a:pPr>
                      <a:r>
                        <a:rPr dirty="0" sz="800" spc="-20">
                          <a:latin typeface="SimSun"/>
                          <a:cs typeface="SimSun"/>
                        </a:rPr>
                        <a:t>智能家居</a:t>
                      </a:r>
                      <a:endParaRPr sz="800">
                        <a:latin typeface="SimSun"/>
                        <a:cs typeface="SimSun"/>
                      </a:endParaRPr>
                    </a:p>
                  </a:txBody>
                  <a:tcPr marL="0" marR="0" marB="0" marT="228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10">
                          <a:latin typeface="SimSun"/>
                          <a:cs typeface="SimSun"/>
                        </a:rPr>
                        <a:t>各种家电、传感器通过蓝牙</a:t>
                      </a:r>
                      <a:r>
                        <a:rPr dirty="0" sz="800" spc="-10">
                          <a:latin typeface="Calibri"/>
                          <a:cs typeface="Calibri"/>
                        </a:rPr>
                        <a:t>/Zigbee</a:t>
                      </a:r>
                      <a:r>
                        <a:rPr dirty="0" sz="800" spc="-20">
                          <a:latin typeface="SimSun"/>
                          <a:cs typeface="SimSun"/>
                        </a:rPr>
                        <a:t>等方式连接到</a:t>
                      </a:r>
                      <a:endParaRPr sz="800">
                        <a:latin typeface="SimSun"/>
                        <a:cs typeface="SimSun"/>
                      </a:endParaRPr>
                    </a:p>
                    <a:p>
                      <a:pPr marL="52705">
                        <a:lnSpc>
                          <a:spcPct val="100000"/>
                        </a:lnSpc>
                        <a:spcBef>
                          <a:spcPts val="145"/>
                        </a:spcBef>
                      </a:pPr>
                      <a:r>
                        <a:rPr dirty="0" sz="800" spc="-15">
                          <a:latin typeface="SimSun"/>
                          <a:cs typeface="SimSun"/>
                        </a:rPr>
                        <a:t>家庭网关中，家庭网关直接接入到移动蜂窝网</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20">
                          <a:latin typeface="SimSun"/>
                          <a:cs typeface="SimSun"/>
                        </a:rPr>
                        <a:t>家庭网关通常放</a:t>
                      </a:r>
                      <a:endParaRPr sz="800">
                        <a:latin typeface="SimSun"/>
                        <a:cs typeface="SimSun"/>
                      </a:endParaRPr>
                    </a:p>
                    <a:p>
                      <a:pPr marL="52705">
                        <a:lnSpc>
                          <a:spcPct val="100000"/>
                        </a:lnSpc>
                        <a:spcBef>
                          <a:spcPts val="145"/>
                        </a:spcBef>
                      </a:pPr>
                      <a:r>
                        <a:rPr dirty="0" sz="800" spc="-20">
                          <a:latin typeface="SimSun"/>
                          <a:cs typeface="SimSun"/>
                        </a:rPr>
                        <a:t>置在室内墙角</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7559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560"/>
                        </a:spcBef>
                      </a:pPr>
                      <a:r>
                        <a:rPr dirty="0" sz="800" spc="-20">
                          <a:latin typeface="SimSun"/>
                          <a:cs typeface="SimSun"/>
                        </a:rPr>
                        <a:t>智能电网</a:t>
                      </a:r>
                      <a:endParaRPr sz="800">
                        <a:latin typeface="SimSun"/>
                        <a:cs typeface="SimSun"/>
                      </a:endParaRPr>
                    </a:p>
                  </a:txBody>
                  <a:tcPr marL="0" marR="0" marB="0" marT="7112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15">
                          <a:latin typeface="SimSun"/>
                          <a:cs typeface="SimSun"/>
                        </a:rPr>
                        <a:t>对使用电量进行实时统计，以便控制生产电量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3660">
                        <a:lnSpc>
                          <a:spcPct val="100000"/>
                        </a:lnSpc>
                        <a:spcBef>
                          <a:spcPts val="25"/>
                        </a:spcBef>
                      </a:pPr>
                      <a:r>
                        <a:rPr dirty="0" sz="800" spc="-20">
                          <a:latin typeface="SimSun"/>
                          <a:cs typeface="SimSun"/>
                        </a:rPr>
                        <a:t>无特殊要求</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0955">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0955">
                        <a:lnSpc>
                          <a:spcPct val="100000"/>
                        </a:lnSpc>
                        <a:spcBef>
                          <a:spcPts val="25"/>
                        </a:spcBef>
                      </a:pPr>
                      <a:r>
                        <a:rPr dirty="0" sz="800" spc="-20">
                          <a:solidFill>
                            <a:srgbClr val="FF0000"/>
                          </a:solidFill>
                          <a:latin typeface="Calibri"/>
                          <a:cs typeface="Calibri"/>
                        </a:rPr>
                        <a:t>&lt;5ms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0320">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0955">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50"/>
                        </a:spcBef>
                      </a:pPr>
                      <a:r>
                        <a:rPr dirty="0" sz="800" spc="-20">
                          <a:latin typeface="SimSun"/>
                          <a:cs typeface="SimSun"/>
                        </a:rPr>
                        <a:t>物流监控</a:t>
                      </a:r>
                      <a:endParaRPr sz="800">
                        <a:latin typeface="SimSun"/>
                        <a:cs typeface="SimSun"/>
                      </a:endParaRPr>
                    </a:p>
                  </a:txBody>
                  <a:tcPr marL="0" marR="0" marB="0" marT="444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15">
                          <a:latin typeface="SimSun"/>
                          <a:cs typeface="SimSun"/>
                        </a:rPr>
                        <a:t>通过无线方式对货物行踪进行监控</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705">
                        <a:lnSpc>
                          <a:spcPct val="100000"/>
                        </a:lnSpc>
                        <a:spcBef>
                          <a:spcPts val="25"/>
                        </a:spcBef>
                      </a:pPr>
                      <a:r>
                        <a:rPr dirty="0" sz="800" spc="-20">
                          <a:latin typeface="SimSun"/>
                          <a:cs typeface="SimSun"/>
                        </a:rPr>
                        <a:t>无特殊要求</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solidFill>
                            <a:srgbClr val="FF0000"/>
                          </a:solidFill>
                          <a:latin typeface="SimSun"/>
                          <a:cs typeface="SimSun"/>
                        </a:rPr>
                        <a:t>较高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很低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1402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6060" marR="168275" indent="-50800">
                        <a:lnSpc>
                          <a:spcPct val="114999"/>
                        </a:lnSpc>
                        <a:spcBef>
                          <a:spcPts val="409"/>
                        </a:spcBef>
                      </a:pPr>
                      <a:r>
                        <a:rPr dirty="0" sz="800" spc="-25">
                          <a:latin typeface="SimSun"/>
                          <a:cs typeface="SimSun"/>
                        </a:rPr>
                        <a:t>可穿戴</a:t>
                      </a:r>
                      <a:r>
                        <a:rPr dirty="0" sz="800" spc="-30">
                          <a:latin typeface="SimSun"/>
                          <a:cs typeface="SimSun"/>
                        </a:rPr>
                        <a:t>设备</a:t>
                      </a:r>
                      <a:endParaRPr sz="800">
                        <a:latin typeface="SimSun"/>
                        <a:cs typeface="SimSun"/>
                      </a:endParaRPr>
                    </a:p>
                  </a:txBody>
                  <a:tcPr marL="0" marR="0" marB="0" marT="520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15">
                          <a:latin typeface="SimSun"/>
                          <a:cs typeface="SimSun"/>
                        </a:rPr>
                        <a:t>通过蓝牙等方式连接到手机上，再通过手机接入</a:t>
                      </a:r>
                      <a:endParaRPr sz="800">
                        <a:latin typeface="SimSun"/>
                        <a:cs typeface="SimSun"/>
                      </a:endParaRPr>
                    </a:p>
                    <a:p>
                      <a:pPr marL="52069">
                        <a:lnSpc>
                          <a:spcPct val="100000"/>
                        </a:lnSpc>
                        <a:spcBef>
                          <a:spcPts val="145"/>
                        </a:spcBef>
                      </a:pPr>
                      <a:r>
                        <a:rPr dirty="0" sz="800" spc="-15">
                          <a:latin typeface="SimSun"/>
                          <a:cs typeface="SimSun"/>
                        </a:rPr>
                        <a:t>到蜂窝中，少数设备需要直接接入蜂窝网</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2069">
                        <a:lnSpc>
                          <a:spcPct val="100000"/>
                        </a:lnSpc>
                        <a:spcBef>
                          <a:spcPts val="25"/>
                        </a:spcBef>
                      </a:pPr>
                      <a:r>
                        <a:rPr dirty="0" sz="800" spc="-20">
                          <a:latin typeface="SimSun"/>
                          <a:cs typeface="SimSun"/>
                        </a:rPr>
                        <a:t>和手机一致</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10">
                          <a:latin typeface="Calibri"/>
                          <a:cs typeface="Calibri"/>
                        </a:rPr>
                        <a:t>&lt;100ms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50">
                          <a:latin typeface="SimSun"/>
                          <a:cs typeface="SimSun"/>
                        </a:rPr>
                        <a:t>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1303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125095">
                        <a:lnSpc>
                          <a:spcPct val="100000"/>
                        </a:lnSpc>
                        <a:spcBef>
                          <a:spcPts val="580"/>
                        </a:spcBef>
                      </a:pPr>
                      <a:r>
                        <a:rPr dirty="0" sz="800" spc="-20">
                          <a:latin typeface="SimSun"/>
                          <a:cs typeface="SimSun"/>
                        </a:rPr>
                        <a:t>智能交通</a:t>
                      </a:r>
                      <a:endParaRPr sz="800">
                        <a:latin typeface="SimSun"/>
                        <a:cs typeface="SimSun"/>
                      </a:endParaRPr>
                    </a:p>
                  </a:txBody>
                  <a:tcPr marL="0" marR="0" marB="0" marT="736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52069">
                        <a:lnSpc>
                          <a:spcPct val="100000"/>
                        </a:lnSpc>
                        <a:spcBef>
                          <a:spcPts val="25"/>
                        </a:spcBef>
                      </a:pPr>
                      <a:r>
                        <a:rPr dirty="0" sz="800" spc="-15">
                          <a:latin typeface="SimSun"/>
                          <a:cs typeface="SimSun"/>
                        </a:rPr>
                        <a:t>车与车、车与路边设施进行通信</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52069">
                        <a:lnSpc>
                          <a:spcPct val="100000"/>
                        </a:lnSpc>
                        <a:spcBef>
                          <a:spcPts val="25"/>
                        </a:spcBef>
                      </a:pPr>
                      <a:r>
                        <a:rPr dirty="0" sz="800" spc="-20">
                          <a:latin typeface="SimSun"/>
                          <a:cs typeface="SimSun"/>
                        </a:rPr>
                        <a:t>近距离通信</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ctr">
                        <a:lnSpc>
                          <a:spcPct val="100000"/>
                        </a:lnSpc>
                        <a:spcBef>
                          <a:spcPts val="25"/>
                        </a:spcBef>
                      </a:pPr>
                      <a:r>
                        <a:rPr dirty="0" sz="800" spc="-20">
                          <a:solidFill>
                            <a:srgbClr val="FF0000"/>
                          </a:solidFill>
                          <a:latin typeface="SimSun"/>
                          <a:cs typeface="SimSun"/>
                        </a:rPr>
                        <a:t>在拥堵区域较</a:t>
                      </a:r>
                      <a:endParaRPr sz="800">
                        <a:latin typeface="SimSun"/>
                        <a:cs typeface="SimSun"/>
                      </a:endParaRPr>
                    </a:p>
                    <a:p>
                      <a:pPr algn="ctr">
                        <a:lnSpc>
                          <a:spcPct val="100000"/>
                        </a:lnSpc>
                        <a:spcBef>
                          <a:spcPts val="145"/>
                        </a:spcBef>
                      </a:pPr>
                      <a:r>
                        <a:rPr dirty="0" sz="800" spc="-50">
                          <a:solidFill>
                            <a:srgbClr val="FF0000"/>
                          </a:solidFill>
                          <a:latin typeface="SimSun"/>
                          <a:cs typeface="SimSun"/>
                        </a:rPr>
                        <a:t>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ctr">
                        <a:lnSpc>
                          <a:spcPct val="100000"/>
                        </a:lnSpc>
                        <a:spcBef>
                          <a:spcPts val="25"/>
                        </a:spcBef>
                      </a:pPr>
                      <a:r>
                        <a:rPr dirty="0" sz="800" spc="-50">
                          <a:latin typeface="SimSun"/>
                          <a:cs typeface="SimSun"/>
                        </a:rPr>
                        <a:t>小</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marL="212725">
                        <a:lnSpc>
                          <a:spcPct val="100000"/>
                        </a:lnSpc>
                        <a:spcBef>
                          <a:spcPts val="25"/>
                        </a:spcBef>
                      </a:pPr>
                      <a:r>
                        <a:rPr dirty="0" sz="800" spc="-20">
                          <a:solidFill>
                            <a:srgbClr val="FF0000"/>
                          </a:solidFill>
                          <a:latin typeface="Calibri"/>
                          <a:cs typeface="Calibri"/>
                        </a:rPr>
                        <a:t>&lt;5ms</a:t>
                      </a:r>
                      <a:endParaRPr sz="800">
                        <a:latin typeface="Calibri"/>
                        <a:cs typeface="Calibri"/>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ctr">
                        <a:lnSpc>
                          <a:spcPct val="100000"/>
                        </a:lnSpc>
                        <a:spcBef>
                          <a:spcPts val="25"/>
                        </a:spcBef>
                      </a:pPr>
                      <a:r>
                        <a:rPr dirty="0" sz="800" spc="-30">
                          <a:solidFill>
                            <a:srgbClr val="FF0000"/>
                          </a:solidFill>
                          <a:latin typeface="SimSun"/>
                          <a:cs typeface="SimSun"/>
                        </a:rPr>
                        <a:t>极高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2">
                  <a:txBody>
                    <a:bodyPr/>
                    <a:lstStyle/>
                    <a:p>
                      <a:pPr algn="ctr">
                        <a:lnSpc>
                          <a:spcPct val="100000"/>
                        </a:lnSpc>
                        <a:spcBef>
                          <a:spcPts val="25"/>
                        </a:spcBef>
                      </a:pPr>
                      <a:r>
                        <a:rPr dirty="0" sz="800" spc="-30">
                          <a:latin typeface="SimSun"/>
                          <a:cs typeface="SimSun"/>
                        </a:rPr>
                        <a:t>一般</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66370">
                <a:tc rowSpan="2">
                  <a:txBody>
                    <a:bodyPr/>
                    <a:lstStyle/>
                    <a:p>
                      <a:pPr marL="95885" marR="87630">
                        <a:lnSpc>
                          <a:spcPct val="114999"/>
                        </a:lnSpc>
                        <a:spcBef>
                          <a:spcPts val="540"/>
                        </a:spcBef>
                      </a:pPr>
                      <a:r>
                        <a:rPr dirty="0" sz="800" spc="-25">
                          <a:latin typeface="SimSun"/>
                          <a:cs typeface="SimSun"/>
                        </a:rPr>
                        <a:t>未来新增应用</a:t>
                      </a:r>
                      <a:endParaRPr sz="800">
                        <a:latin typeface="SimSun"/>
                        <a:cs typeface="SimSun"/>
                      </a:endParaR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736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80035">
                <a:tc vMerge="1">
                  <a:txBody>
                    <a:bodyPr/>
                    <a:lstStyle/>
                    <a:p>
                      <a:pPr/>
                    </a:p>
                  </a:txBody>
                  <a:tcPr marL="0" marR="0" marB="0" marT="6858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
                        </a:spcBef>
                      </a:pPr>
                      <a:r>
                        <a:rPr dirty="0" sz="800" spc="-30">
                          <a:latin typeface="SimSun"/>
                          <a:cs typeface="SimSun"/>
                        </a:rPr>
                        <a:t>其他</a:t>
                      </a:r>
                      <a:endParaRPr sz="800">
                        <a:latin typeface="SimSun"/>
                        <a:cs typeface="SimSun"/>
                      </a:endParaRPr>
                    </a:p>
                    <a:p>
                      <a:pPr algn="ctr">
                        <a:lnSpc>
                          <a:spcPct val="100000"/>
                        </a:lnSpc>
                        <a:spcBef>
                          <a:spcPts val="145"/>
                        </a:spcBef>
                      </a:pPr>
                      <a:r>
                        <a:rPr dirty="0" sz="800" spc="-20">
                          <a:latin typeface="SimSun"/>
                          <a:cs typeface="SimSun"/>
                        </a:rPr>
                        <a:t>新应用？</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21615">
                <a:tc gridSpan="2">
                  <a:txBody>
                    <a:bodyPr/>
                    <a:lstStyle/>
                    <a:p>
                      <a:pPr algn="ctr">
                        <a:lnSpc>
                          <a:spcPct val="100000"/>
                        </a:lnSpc>
                        <a:spcBef>
                          <a:spcPts val="350"/>
                        </a:spcBef>
                      </a:pPr>
                      <a:r>
                        <a:rPr dirty="0" sz="800" spc="-30">
                          <a:latin typeface="SimSun"/>
                          <a:cs typeface="SimSun"/>
                        </a:rPr>
                        <a:t>总结</a:t>
                      </a:r>
                      <a:endParaRPr sz="800">
                        <a:latin typeface="SimSun"/>
                        <a:cs typeface="SimSun"/>
                      </a:endParaRPr>
                    </a:p>
                  </a:txBody>
                  <a:tcPr marL="0" marR="0" marB="0" marT="444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hMerge="1">
                  <a:txBody>
                    <a:bodyPr/>
                    <a:lstStyle/>
                    <a:p>
                      <a:pPr/>
                    </a:p>
                  </a:txBody>
                  <a:tcPr marL="0" marR="0" marB="0" marT="0"/>
                </a:tc>
                <a:tc>
                  <a:txBody>
                    <a:bodyPr/>
                    <a:lstStyle/>
                    <a:p>
                      <a:pPr>
                        <a:lnSpc>
                          <a:spcPct val="100000"/>
                        </a:lnSpc>
                      </a:pPr>
                      <a:endParaRPr sz="800">
                        <a:latin typeface="Times New Roman"/>
                        <a:cs typeface="Times New Roman"/>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marL="52069">
                        <a:lnSpc>
                          <a:spcPct val="100000"/>
                        </a:lnSpc>
                        <a:spcBef>
                          <a:spcPts val="25"/>
                        </a:spcBef>
                      </a:pPr>
                      <a:r>
                        <a:rPr dirty="0" sz="800" spc="-25">
                          <a:solidFill>
                            <a:srgbClr val="FF0000"/>
                          </a:solidFill>
                          <a:latin typeface="SimSun"/>
                          <a:cs typeface="SimSun"/>
                        </a:rPr>
                        <a:t>需增强</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0">
                          <a:latin typeface="SimSun"/>
                          <a:cs typeface="SimSun"/>
                        </a:rPr>
                        <a:t>无大挑战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0">
                          <a:latin typeface="SimSun"/>
                          <a:cs typeface="SimSun"/>
                        </a:rPr>
                        <a:t>无大挑战</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5">
                          <a:solidFill>
                            <a:srgbClr val="FF0000"/>
                          </a:solidFill>
                          <a:latin typeface="SimSun"/>
                          <a:cs typeface="SimSun"/>
                        </a:rPr>
                        <a:t>需降低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5">
                          <a:solidFill>
                            <a:srgbClr val="FF0000"/>
                          </a:solidFill>
                          <a:latin typeface="SimSun"/>
                          <a:cs typeface="SimSun"/>
                        </a:rPr>
                        <a:t>需提升</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5">
                          <a:solidFill>
                            <a:srgbClr val="FF0000"/>
                          </a:solidFill>
                          <a:latin typeface="SimSun"/>
                          <a:cs typeface="SimSun"/>
                        </a:rPr>
                        <a:t>需降低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c>
                  <a:txBody>
                    <a:bodyPr/>
                    <a:lstStyle/>
                    <a:p>
                      <a:pPr algn="ctr">
                        <a:lnSpc>
                          <a:spcPct val="100000"/>
                        </a:lnSpc>
                        <a:spcBef>
                          <a:spcPts val="25"/>
                        </a:spcBef>
                      </a:pPr>
                      <a:r>
                        <a:rPr dirty="0" sz="800" spc="-25">
                          <a:solidFill>
                            <a:srgbClr val="FF0000"/>
                          </a:solidFill>
                          <a:latin typeface="SimSun"/>
                          <a:cs typeface="SimSun"/>
                        </a:rPr>
                        <a:t>需降低</a:t>
                      </a:r>
                      <a:endParaRPr sz="800">
                        <a:latin typeface="SimSun"/>
                        <a:cs typeface="SimSun"/>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0C0C0"/>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a:latin typeface="Microsoft YaHei"/>
                <a:cs typeface="Microsoft YaHei"/>
              </a:rPr>
              <a:t>一、 </a:t>
            </a:r>
            <a:r>
              <a:rPr dirty="0" sz="2400" spc="-20">
                <a:latin typeface="Times New Roman"/>
                <a:cs typeface="Times New Roman"/>
              </a:rPr>
              <a:t>5G</a:t>
            </a:r>
            <a:r>
              <a:rPr dirty="0" sz="2400" spc="-5">
                <a:latin typeface="Microsoft YaHei"/>
                <a:cs typeface="Microsoft YaHei"/>
              </a:rPr>
              <a:t>系统与网络典型业务概述</a:t>
            </a:r>
            <a:endParaRPr sz="2400">
              <a:latin typeface="Microsoft YaHei"/>
              <a:cs typeface="Microsoft YaHei"/>
            </a:endParaRPr>
          </a:p>
          <a:p>
            <a:pPr algn="just" marL="12700" marR="5080">
              <a:lnSpc>
                <a:spcPct val="177100"/>
              </a:lnSpc>
              <a:spcBef>
                <a:spcPts val="5"/>
              </a:spcBef>
            </a:pPr>
            <a:r>
              <a:rPr dirty="0" sz="2400" spc="-40">
                <a:latin typeface="Microsoft YaHei"/>
                <a:cs typeface="Microsoft YaHei"/>
              </a:rPr>
              <a:t>二、 </a:t>
            </a:r>
            <a:r>
              <a:rPr dirty="0" sz="2400" spc="-20">
                <a:latin typeface="Times New Roman"/>
                <a:cs typeface="Times New Roman"/>
              </a:rPr>
              <a:t>5G</a:t>
            </a:r>
            <a:r>
              <a:rPr dirty="0" sz="2400" spc="-5">
                <a:latin typeface="Microsoft YaHei"/>
                <a:cs typeface="Microsoft YaHei"/>
              </a:rPr>
              <a:t>系统与网络业务场景分类</a:t>
            </a:r>
            <a:r>
              <a:rPr dirty="0" sz="2400" spc="-40">
                <a:latin typeface="Microsoft YaHei"/>
                <a:cs typeface="Microsoft YaHei"/>
              </a:rPr>
              <a:t>三、 </a:t>
            </a:r>
            <a:r>
              <a:rPr dirty="0" sz="2400" spc="-20">
                <a:latin typeface="Times New Roman"/>
                <a:cs typeface="Times New Roman"/>
              </a:rPr>
              <a:t>5G</a:t>
            </a:r>
            <a:r>
              <a:rPr dirty="0" sz="2400" spc="-5">
                <a:latin typeface="Microsoft YaHei"/>
                <a:cs typeface="Microsoft YaHei"/>
              </a:rPr>
              <a:t>系统与网络典型业务模型</a:t>
            </a:r>
            <a:r>
              <a:rPr dirty="0" sz="2400" spc="-65" b="1">
                <a:solidFill>
                  <a:srgbClr val="FF0000"/>
                </a:solidFill>
                <a:latin typeface="Microsoft YaHei"/>
                <a:cs typeface="Microsoft YaHei"/>
              </a:rPr>
              <a:t>四、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系统与网络大带宽新业务</a:t>
            </a:r>
            <a:r>
              <a:rPr dirty="0" sz="2400" spc="-40">
                <a:latin typeface="Microsoft YaHei"/>
                <a:cs typeface="Microsoft YaHei"/>
              </a:rPr>
              <a:t>五、 </a:t>
            </a:r>
            <a:r>
              <a:rPr dirty="0" sz="2400" spc="-20">
                <a:latin typeface="Times New Roman"/>
                <a:cs typeface="Times New Roman"/>
              </a:rPr>
              <a:t>5G</a:t>
            </a:r>
            <a:r>
              <a:rPr dirty="0" sz="2400" spc="-5">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a:latin typeface="Microsoft YaHei"/>
                <a:cs typeface="Microsoft YaHei"/>
              </a:rPr>
              <a:t>六、 </a:t>
            </a:r>
            <a:r>
              <a:rPr dirty="0" sz="2400" spc="-20">
                <a:latin typeface="Times New Roman"/>
                <a:cs typeface="Times New Roman"/>
              </a:rPr>
              <a:t>5G</a:t>
            </a:r>
            <a:r>
              <a:rPr dirty="0" sz="2400" spc="-5">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6952" y="1222975"/>
            <a:ext cx="1619999" cy="1007995"/>
          </a:xfrm>
          <a:prstGeom prst="rect">
            <a:avLst/>
          </a:prstGeom>
        </p:spPr>
      </p:pic>
      <p:pic>
        <p:nvPicPr>
          <p:cNvPr id="3" name="object 3"/>
          <p:cNvPicPr/>
          <p:nvPr/>
        </p:nvPicPr>
        <p:blipFill>
          <a:blip r:embed="rId3" cstate="print"/>
          <a:stretch>
            <a:fillRect/>
          </a:stretch>
        </p:blipFill>
        <p:spPr>
          <a:xfrm>
            <a:off x="2654783" y="1222975"/>
            <a:ext cx="1619998" cy="1007995"/>
          </a:xfrm>
          <a:prstGeom prst="rect">
            <a:avLst/>
          </a:prstGeom>
        </p:spPr>
      </p:pic>
      <p:pic>
        <p:nvPicPr>
          <p:cNvPr id="4" name="object 4"/>
          <p:cNvPicPr/>
          <p:nvPr/>
        </p:nvPicPr>
        <p:blipFill>
          <a:blip r:embed="rId4" cstate="print"/>
          <a:stretch>
            <a:fillRect/>
          </a:stretch>
        </p:blipFill>
        <p:spPr>
          <a:xfrm>
            <a:off x="4535894" y="1222975"/>
            <a:ext cx="1619999" cy="1007995"/>
          </a:xfrm>
          <a:prstGeom prst="rect">
            <a:avLst/>
          </a:prstGeom>
        </p:spPr>
      </p:pic>
      <p:pic>
        <p:nvPicPr>
          <p:cNvPr id="5" name="object 5"/>
          <p:cNvPicPr/>
          <p:nvPr/>
        </p:nvPicPr>
        <p:blipFill>
          <a:blip r:embed="rId5" cstate="print"/>
          <a:stretch>
            <a:fillRect/>
          </a:stretch>
        </p:blipFill>
        <p:spPr>
          <a:xfrm>
            <a:off x="6227120" y="1222975"/>
            <a:ext cx="1619993" cy="1007995"/>
          </a:xfrm>
          <a:prstGeom prst="rect">
            <a:avLst/>
          </a:prstGeom>
        </p:spPr>
      </p:pic>
      <p:pic>
        <p:nvPicPr>
          <p:cNvPr id="6" name="object 6"/>
          <p:cNvPicPr/>
          <p:nvPr/>
        </p:nvPicPr>
        <p:blipFill>
          <a:blip r:embed="rId6" cstate="print"/>
          <a:stretch>
            <a:fillRect/>
          </a:stretch>
        </p:blipFill>
        <p:spPr>
          <a:xfrm>
            <a:off x="966952" y="2283716"/>
            <a:ext cx="1619999" cy="1007996"/>
          </a:xfrm>
          <a:prstGeom prst="rect">
            <a:avLst/>
          </a:prstGeom>
        </p:spPr>
      </p:pic>
      <p:pic>
        <p:nvPicPr>
          <p:cNvPr id="7" name="object 7"/>
          <p:cNvPicPr/>
          <p:nvPr/>
        </p:nvPicPr>
        <p:blipFill>
          <a:blip r:embed="rId7" cstate="print"/>
          <a:stretch>
            <a:fillRect/>
          </a:stretch>
        </p:blipFill>
        <p:spPr>
          <a:xfrm>
            <a:off x="2654782" y="2283716"/>
            <a:ext cx="1619999" cy="1007996"/>
          </a:xfrm>
          <a:prstGeom prst="rect">
            <a:avLst/>
          </a:prstGeom>
        </p:spPr>
      </p:pic>
      <p:pic>
        <p:nvPicPr>
          <p:cNvPr id="8" name="object 8"/>
          <p:cNvPicPr/>
          <p:nvPr/>
        </p:nvPicPr>
        <p:blipFill>
          <a:blip r:embed="rId8" cstate="print"/>
          <a:stretch>
            <a:fillRect/>
          </a:stretch>
        </p:blipFill>
        <p:spPr>
          <a:xfrm>
            <a:off x="6227121" y="2283716"/>
            <a:ext cx="1619999" cy="1007996"/>
          </a:xfrm>
          <a:prstGeom prst="rect">
            <a:avLst/>
          </a:prstGeom>
        </p:spPr>
      </p:pic>
      <p:pic>
        <p:nvPicPr>
          <p:cNvPr id="9" name="object 9"/>
          <p:cNvPicPr/>
          <p:nvPr/>
        </p:nvPicPr>
        <p:blipFill>
          <a:blip r:embed="rId9" cstate="print"/>
          <a:stretch>
            <a:fillRect/>
          </a:stretch>
        </p:blipFill>
        <p:spPr>
          <a:xfrm>
            <a:off x="4535894" y="2283716"/>
            <a:ext cx="1619999" cy="1007996"/>
          </a:xfrm>
          <a:prstGeom prst="rect">
            <a:avLst/>
          </a:prstGeom>
        </p:spPr>
      </p:pic>
      <p:sp>
        <p:nvSpPr>
          <p:cNvPr id="10" name="object 10" descr=""/>
          <p:cNvSpPr/>
          <p:nvPr/>
        </p:nvSpPr>
        <p:spPr>
          <a:xfrm>
            <a:off x="4287042" y="699546"/>
            <a:ext cx="0" cy="2500630"/>
          </a:xfrm>
          <a:custGeom>
            <a:avLst/>
            <a:gdLst/>
            <a:ahLst/>
            <a:cxnLst/>
            <a:rect l="l" t="t" r="r" b="b"/>
            <a:pathLst>
              <a:path w="0" h="2500630">
                <a:moveTo>
                  <a:pt x="0" y="0"/>
                </a:moveTo>
                <a:lnTo>
                  <a:pt x="0" y="2500630"/>
                </a:lnTo>
              </a:path>
            </a:pathLst>
          </a:custGeom>
          <a:ln w="12700">
            <a:solidFill>
              <a:srgbClr val="FFFFFF"/>
            </a:solidFill>
          </a:ln>
        </p:spPr>
        <p:txBody>
          <a:bodyPr wrap="square" lIns="0" tIns="0" rIns="0" bIns="0" rtlCol="0"/>
          <a:lstStyle/>
          <a:p/>
        </p:txBody>
      </p:sp>
      <p:sp>
        <p:nvSpPr>
          <p:cNvPr id="11" name="object 11" descr=""/>
          <p:cNvSpPr txBox="1"/>
          <p:nvPr/>
        </p:nvSpPr>
        <p:spPr>
          <a:xfrm>
            <a:off x="394009" y="1963060"/>
            <a:ext cx="482600" cy="574040"/>
          </a:xfrm>
          <a:prstGeom prst="rect">
            <a:avLst/>
          </a:prstGeom>
        </p:spPr>
        <p:txBody>
          <a:bodyPr wrap="square" lIns="0" tIns="12700" rIns="0" bIns="0" rtlCol="0" vert="horz">
            <a:spAutoFit/>
          </a:bodyPr>
          <a:lstStyle/>
          <a:p>
            <a:pPr marL="12700">
              <a:lnSpc>
                <a:spcPct val="100000"/>
              </a:lnSpc>
              <a:spcBef>
                <a:spcPts val="100"/>
              </a:spcBef>
            </a:pPr>
            <a:r>
              <a:rPr dirty="0" sz="1200" spc="-20" b="1">
                <a:solidFill>
                  <a:srgbClr val="FF0000"/>
                </a:solidFill>
                <a:latin typeface="Microsoft YaHei"/>
                <a:cs typeface="Microsoft YaHei"/>
              </a:rPr>
              <a:t>eMBB</a:t>
            </a:r>
            <a:endParaRPr sz="1200">
              <a:latin typeface="Microsoft YaHei"/>
              <a:cs typeface="Microsoft YaHei"/>
            </a:endParaRPr>
          </a:p>
          <a:p>
            <a:pPr marL="12700" marR="5080">
              <a:lnSpc>
                <a:spcPct val="100000"/>
              </a:lnSpc>
            </a:pPr>
            <a:r>
              <a:rPr dirty="0" sz="1200" spc="-20" b="1">
                <a:solidFill>
                  <a:srgbClr val="FF0000"/>
                </a:solidFill>
                <a:latin typeface="Microsoft YaHei"/>
                <a:cs typeface="Microsoft YaHei"/>
              </a:rPr>
              <a:t>增强移动宽带</a:t>
            </a:r>
            <a:endParaRPr sz="1200">
              <a:latin typeface="Microsoft YaHei"/>
              <a:cs typeface="Microsoft YaHei"/>
            </a:endParaRPr>
          </a:p>
        </p:txBody>
      </p:sp>
      <p:sp>
        <p:nvSpPr>
          <p:cNvPr id="12" name="object 12" descr=""/>
          <p:cNvSpPr txBox="1">
            <a:spLocks noGrp="1"/>
          </p:cNvSpPr>
          <p:nvPr>
            <p:ph type="body" idx="1"/>
          </p:nvPr>
        </p:nvSpPr>
        <p:spPr>
          <a:prstGeom prst="rect"/>
        </p:spPr>
        <p:txBody>
          <a:bodyPr wrap="square" lIns="0" tIns="12700" rIns="0" bIns="0" rtlCol="0" vert="horz">
            <a:spAutoFit/>
          </a:bodyPr>
          <a:lstStyle/>
          <a:p>
            <a:pPr algn="just" marL="7435215" marR="5080">
              <a:lnSpc>
                <a:spcPct val="100000"/>
              </a:lnSpc>
              <a:spcBef>
                <a:spcPts val="100"/>
              </a:spcBef>
            </a:pPr>
            <a:r>
              <a:rPr dirty="0" spc="-30">
                <a:solidFill>
                  <a:srgbClr val="00B050"/>
                </a:solidFill>
              </a:rPr>
              <a:t>mMTC</a:t>
            </a:r>
            <a:r>
              <a:rPr dirty="0" spc="-50">
                <a:solidFill>
                  <a:srgbClr val="00B050"/>
                </a:solidFill>
              </a:rPr>
              <a:t>海</a:t>
            </a:r>
            <a:r>
              <a:rPr dirty="0" spc="-15">
                <a:solidFill>
                  <a:srgbClr val="00B050"/>
                </a:solidFill>
              </a:rPr>
              <a:t>量机器类</a:t>
            </a:r>
            <a:r>
              <a:rPr dirty="0" spc="-25">
                <a:solidFill>
                  <a:srgbClr val="00B050"/>
                </a:solidFill>
              </a:rPr>
              <a:t>通信</a:t>
            </a:r>
          </a:p>
          <a:p>
            <a:pPr marL="292735" indent="-280035">
              <a:lnSpc>
                <a:spcPct val="100000"/>
              </a:lnSpc>
              <a:spcBef>
                <a:spcPts val="2165"/>
              </a:spcBef>
              <a:buFont typeface="Wingdings"/>
              <a:buChar char=""/>
              <a:tabLst>
                <a:tab pos="292735" algn="l"/>
              </a:tabLst>
            </a:pPr>
            <a:r>
              <a:rPr dirty="0" sz="1400" spc="-20">
                <a:solidFill>
                  <a:srgbClr val="000000"/>
                </a:solidFill>
              </a:rPr>
              <a:t>5G时代，流量密度、连接密度、时延、峰值速率等</a:t>
            </a:r>
            <a:r>
              <a:rPr dirty="0" sz="1400" spc="-10">
                <a:solidFill>
                  <a:srgbClr val="000000"/>
                </a:solidFill>
              </a:rPr>
              <a:t>8</a:t>
            </a:r>
            <a:r>
              <a:rPr dirty="0" sz="1400" spc="-25">
                <a:solidFill>
                  <a:srgbClr val="000000"/>
                </a:solidFill>
              </a:rPr>
              <a:t>项关键技术指标都有较大幅度的提升</a:t>
            </a:r>
            <a:endParaRPr sz="1400"/>
          </a:p>
        </p:txBody>
      </p:sp>
      <p:sp>
        <p:nvSpPr>
          <p:cNvPr id="13" name="object 13" descr=""/>
          <p:cNvSpPr txBox="1"/>
          <p:nvPr/>
        </p:nvSpPr>
        <p:spPr>
          <a:xfrm>
            <a:off x="966952" y="909015"/>
            <a:ext cx="3308350" cy="300990"/>
          </a:xfrm>
          <a:prstGeom prst="rect">
            <a:avLst/>
          </a:prstGeom>
          <a:solidFill>
            <a:srgbClr val="000000">
              <a:alpha val="25097"/>
            </a:srgbClr>
          </a:solidFill>
        </p:spPr>
        <p:txBody>
          <a:bodyPr wrap="square" lIns="0" tIns="28575" rIns="0" bIns="0" rtlCol="0" vert="horz">
            <a:spAutoFit/>
          </a:bodyPr>
          <a:lstStyle/>
          <a:p>
            <a:pPr marL="986790">
              <a:lnSpc>
                <a:spcPct val="100000"/>
              </a:lnSpc>
              <a:spcBef>
                <a:spcPts val="225"/>
              </a:spcBef>
            </a:pPr>
            <a:r>
              <a:rPr dirty="0" sz="1500" spc="-10">
                <a:latin typeface="Microsoft YaHei"/>
                <a:cs typeface="Microsoft YaHei"/>
              </a:rPr>
              <a:t>面向移动互联网</a:t>
            </a:r>
            <a:endParaRPr sz="1500">
              <a:latin typeface="Microsoft YaHei"/>
              <a:cs typeface="Microsoft YaHei"/>
            </a:endParaRPr>
          </a:p>
        </p:txBody>
      </p:sp>
      <p:sp>
        <p:nvSpPr>
          <p:cNvPr id="14" name="object 14" descr=""/>
          <p:cNvSpPr txBox="1"/>
          <p:nvPr/>
        </p:nvSpPr>
        <p:spPr>
          <a:xfrm>
            <a:off x="4501794" y="909015"/>
            <a:ext cx="3345815" cy="300990"/>
          </a:xfrm>
          <a:prstGeom prst="rect">
            <a:avLst/>
          </a:prstGeom>
          <a:solidFill>
            <a:srgbClr val="000000">
              <a:alpha val="25097"/>
            </a:srgbClr>
          </a:solidFill>
        </p:spPr>
        <p:txBody>
          <a:bodyPr wrap="square" lIns="0" tIns="28575" rIns="0" bIns="0" rtlCol="0" vert="horz">
            <a:spAutoFit/>
          </a:bodyPr>
          <a:lstStyle/>
          <a:p>
            <a:pPr algn="ctr">
              <a:lnSpc>
                <a:spcPct val="100000"/>
              </a:lnSpc>
              <a:spcBef>
                <a:spcPts val="225"/>
              </a:spcBef>
            </a:pPr>
            <a:r>
              <a:rPr dirty="0" sz="1500" spc="-10">
                <a:latin typeface="Microsoft YaHei"/>
                <a:cs typeface="Microsoft YaHei"/>
              </a:rPr>
              <a:t>面向物联网</a:t>
            </a:r>
            <a:endParaRPr sz="1500">
              <a:latin typeface="Microsoft YaHei"/>
              <a:cs typeface="Microsoft YaHei"/>
            </a:endParaRPr>
          </a:p>
        </p:txBody>
      </p:sp>
      <p:graphicFrame>
        <p:nvGraphicFramePr>
          <p:cNvPr id="15" name="object 15" descr=""/>
          <p:cNvGraphicFramePr>
            <a:graphicFrameLocks noGrp="1"/>
          </p:cNvGraphicFramePr>
          <p:nvPr/>
        </p:nvGraphicFramePr>
        <p:xfrm>
          <a:off x="461965" y="3668752"/>
          <a:ext cx="7773034" cy="1240789"/>
        </p:xfrm>
        <a:graphic>
          <a:graphicData uri="http://schemas.openxmlformats.org/drawingml/2006/table">
            <a:tbl>
              <a:tblPr firstRow="1" bandRow="1">
                <a:tableStyleId>{2D5ABB26-0587-4C30-8999-92F81FD0307C}</a:tableStyleId>
              </a:tblPr>
              <a:tblGrid>
                <a:gridCol w="836294"/>
                <a:gridCol w="1261745"/>
                <a:gridCol w="816610"/>
                <a:gridCol w="1167764"/>
                <a:gridCol w="865505"/>
                <a:gridCol w="1138554"/>
                <a:gridCol w="890904"/>
                <a:gridCol w="706754"/>
              </a:tblGrid>
              <a:tr h="314325">
                <a:tc>
                  <a:txBody>
                    <a:bodyPr/>
                    <a:lstStyle/>
                    <a:p>
                      <a:pPr algn="ctr">
                        <a:lnSpc>
                          <a:spcPct val="100000"/>
                        </a:lnSpc>
                        <a:spcBef>
                          <a:spcPts val="470"/>
                        </a:spcBef>
                      </a:pPr>
                      <a:r>
                        <a:rPr dirty="0" sz="1200" spc="-15" b="1">
                          <a:solidFill>
                            <a:srgbClr val="FFFFFF"/>
                          </a:solidFill>
                          <a:latin typeface="Microsoft YaHei"/>
                          <a:cs typeface="Microsoft YaHei"/>
                        </a:rPr>
                        <a:t>关键指标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流量密度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连接密度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峰值速率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网络能效</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0" b="1">
                          <a:solidFill>
                            <a:srgbClr val="FFFFFF"/>
                          </a:solidFill>
                          <a:latin typeface="Microsoft YaHei"/>
                          <a:cs typeface="Microsoft YaHei"/>
                        </a:rPr>
                        <a:t>用户体验速率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0" b="1">
                          <a:solidFill>
                            <a:srgbClr val="FFFFFF"/>
                          </a:solidFill>
                          <a:latin typeface="Microsoft YaHei"/>
                          <a:cs typeface="Microsoft YaHei"/>
                        </a:rPr>
                        <a:t>移动性</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5" b="1">
                          <a:solidFill>
                            <a:srgbClr val="FFFFFF"/>
                          </a:solidFill>
                          <a:latin typeface="Microsoft YaHei"/>
                          <a:cs typeface="Microsoft YaHei"/>
                        </a:rPr>
                        <a:t>时延</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r>
              <a:tr h="311785">
                <a:tc>
                  <a:txBody>
                    <a:bodyPr/>
                    <a:lstStyle/>
                    <a:p>
                      <a:pPr algn="ctr">
                        <a:lnSpc>
                          <a:spcPct val="100000"/>
                        </a:lnSpc>
                        <a:spcBef>
                          <a:spcPts val="459"/>
                        </a:spcBef>
                      </a:pPr>
                      <a:r>
                        <a:rPr dirty="0" sz="1200" spc="-25">
                          <a:latin typeface="Microsoft YaHei"/>
                          <a:cs typeface="Microsoft YaHei"/>
                        </a:rPr>
                        <a:t>5G</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10Tbps/Km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1M/Km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10[20]Gbps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0">
                          <a:latin typeface="Microsoft YaHei"/>
                          <a:cs typeface="Microsoft YaHei"/>
                        </a:rPr>
                        <a:t>100x</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100Mbps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500km/h</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5">
                          <a:latin typeface="Microsoft YaHei"/>
                          <a:cs typeface="Microsoft YaHei"/>
                        </a:rPr>
                        <a:t>1ms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8610">
                <a:tc>
                  <a:txBody>
                    <a:bodyPr/>
                    <a:lstStyle/>
                    <a:p>
                      <a:pPr algn="ctr">
                        <a:lnSpc>
                          <a:spcPct val="100000"/>
                        </a:lnSpc>
                        <a:spcBef>
                          <a:spcPts val="445"/>
                        </a:spcBef>
                      </a:pPr>
                      <a:r>
                        <a:rPr dirty="0" sz="1200" spc="-25">
                          <a:latin typeface="Microsoft YaHei"/>
                          <a:cs typeface="Microsoft YaHei"/>
                        </a:rPr>
                        <a:t>4G</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10Gbps/Km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1K/Km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25">
                          <a:latin typeface="Microsoft YaHei"/>
                          <a:cs typeface="Microsoft YaHei"/>
                        </a:rPr>
                        <a:t>1x</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&lt;10Mbps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120km/h</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6070">
                <a:tc>
                  <a:txBody>
                    <a:bodyPr/>
                    <a:lstStyle/>
                    <a:p>
                      <a:pPr algn="ctr">
                        <a:lnSpc>
                          <a:spcPct val="100000"/>
                        </a:lnSpc>
                        <a:spcBef>
                          <a:spcPts val="434"/>
                        </a:spcBef>
                      </a:pPr>
                      <a:r>
                        <a:rPr dirty="0" sz="1200">
                          <a:solidFill>
                            <a:srgbClr val="FF0000"/>
                          </a:solidFill>
                          <a:latin typeface="Microsoft YaHei"/>
                          <a:cs typeface="Microsoft YaHei"/>
                        </a:rPr>
                        <a:t>5G</a:t>
                      </a:r>
                      <a:r>
                        <a:rPr dirty="0" sz="1200" spc="-25">
                          <a:solidFill>
                            <a:srgbClr val="FF0000"/>
                          </a:solidFill>
                          <a:latin typeface="Microsoft YaHei"/>
                          <a:cs typeface="Microsoft YaHei"/>
                        </a:rPr>
                        <a:t> </a:t>
                      </a:r>
                      <a:r>
                        <a:rPr dirty="0" sz="1200">
                          <a:solidFill>
                            <a:srgbClr val="FF0000"/>
                          </a:solidFill>
                          <a:latin typeface="Microsoft YaHei"/>
                          <a:cs typeface="Microsoft YaHei"/>
                        </a:rPr>
                        <a:t>vs</a:t>
                      </a:r>
                      <a:r>
                        <a:rPr dirty="0" sz="1200" spc="-20">
                          <a:solidFill>
                            <a:srgbClr val="FF0000"/>
                          </a:solidFill>
                          <a:latin typeface="Microsoft YaHei"/>
                          <a:cs typeface="Microsoft YaHei"/>
                        </a:rPr>
                        <a:t> </a:t>
                      </a:r>
                      <a:r>
                        <a:rPr dirty="0" sz="1200" spc="-25">
                          <a:solidFill>
                            <a:srgbClr val="FF0000"/>
                          </a:solidFill>
                          <a:latin typeface="Microsoft YaHei"/>
                          <a:cs typeface="Microsoft YaHei"/>
                        </a:rPr>
                        <a:t>4G</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↑&gt;4</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20">
                          <a:solidFill>
                            <a:srgbClr val="FF0000"/>
                          </a:solidFill>
                          <a:latin typeface="Microsoft YaHei"/>
                          <a:cs typeface="Microsoft YaHei"/>
                        </a:rPr>
                        <a:t>↓&gt;0.1</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r>
            </a:tbl>
          </a:graphicData>
        </a:graphic>
      </p:graphicFrame>
      <p:sp>
        <p:nvSpPr>
          <p:cNvPr id="16" name="object 16" descr=""/>
          <p:cNvSpPr txBox="1"/>
          <p:nvPr/>
        </p:nvSpPr>
        <p:spPr>
          <a:xfrm>
            <a:off x="7972761" y="1461496"/>
            <a:ext cx="648335" cy="574040"/>
          </a:xfrm>
          <a:prstGeom prst="rect">
            <a:avLst/>
          </a:prstGeom>
        </p:spPr>
        <p:txBody>
          <a:bodyPr wrap="square" lIns="0" tIns="12700" rIns="0" bIns="0" rtlCol="0" vert="horz">
            <a:spAutoFit/>
          </a:bodyPr>
          <a:lstStyle/>
          <a:p>
            <a:pPr algn="just" marL="12700" marR="5080">
              <a:lnSpc>
                <a:spcPct val="100000"/>
              </a:lnSpc>
              <a:spcBef>
                <a:spcPts val="100"/>
              </a:spcBef>
            </a:pPr>
            <a:r>
              <a:rPr dirty="0" sz="1200" spc="-25" b="1">
                <a:solidFill>
                  <a:srgbClr val="00B050"/>
                </a:solidFill>
                <a:latin typeface="Microsoft YaHei"/>
                <a:cs typeface="Microsoft YaHei"/>
              </a:rPr>
              <a:t>uRLLC</a:t>
            </a:r>
            <a:r>
              <a:rPr dirty="0" sz="1200" spc="-50" b="1">
                <a:solidFill>
                  <a:srgbClr val="00B050"/>
                </a:solidFill>
                <a:latin typeface="Microsoft YaHei"/>
                <a:cs typeface="Microsoft YaHei"/>
              </a:rPr>
              <a:t>超</a:t>
            </a:r>
            <a:r>
              <a:rPr dirty="0" sz="1200" spc="-15" b="1">
                <a:solidFill>
                  <a:srgbClr val="00B050"/>
                </a:solidFill>
                <a:latin typeface="Microsoft YaHei"/>
                <a:cs typeface="Microsoft YaHei"/>
              </a:rPr>
              <a:t>高可靠低时延通信</a:t>
            </a:r>
            <a:endParaRPr sz="1200">
              <a:latin typeface="Microsoft YaHei"/>
              <a:cs typeface="Microsoft YaHei"/>
            </a:endParaRPr>
          </a:p>
        </p:txBody>
      </p:sp>
      <p:sp>
        <p:nvSpPr>
          <p:cNvPr id="17" name="object 17"/>
          <p:cNvSpPr txBox="1">
            <a:spLocks noGrp="1"/>
          </p:cNvSpPr>
          <p:nvPr>
            <p:ph type="title"/>
          </p:nvPr>
        </p:nvSpPr>
        <p:spPr>
          <a:xfrm>
            <a:off x="3269583" y="187706"/>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网络应用优势</a:t>
            </a:r>
          </a:p>
        </p:txBody>
      </p:sp>
      <p:sp>
        <p:nvSpPr>
          <p:cNvPr id="18" name="object 18" descr=""/>
          <p:cNvSpPr/>
          <p:nvPr/>
        </p:nvSpPr>
        <p:spPr>
          <a:xfrm>
            <a:off x="179511" y="1779656"/>
            <a:ext cx="1082675" cy="991869"/>
          </a:xfrm>
          <a:custGeom>
            <a:avLst/>
            <a:gdLst/>
            <a:ahLst/>
            <a:cxnLst/>
            <a:rect l="l" t="t" r="r" b="b"/>
            <a:pathLst>
              <a:path w="1082675" h="991869">
                <a:moveTo>
                  <a:pt x="0" y="495782"/>
                </a:moveTo>
                <a:lnTo>
                  <a:pt x="2211" y="450656"/>
                </a:lnTo>
                <a:lnTo>
                  <a:pt x="8720" y="406665"/>
                </a:lnTo>
                <a:lnTo>
                  <a:pt x="19334" y="363984"/>
                </a:lnTo>
                <a:lnTo>
                  <a:pt x="33862" y="322788"/>
                </a:lnTo>
                <a:lnTo>
                  <a:pt x="52113" y="283252"/>
                </a:lnTo>
                <a:lnTo>
                  <a:pt x="73897" y="245552"/>
                </a:lnTo>
                <a:lnTo>
                  <a:pt x="99022" y="209861"/>
                </a:lnTo>
                <a:lnTo>
                  <a:pt x="127297" y="176356"/>
                </a:lnTo>
                <a:lnTo>
                  <a:pt x="158530" y="145211"/>
                </a:lnTo>
                <a:lnTo>
                  <a:pt x="192532" y="116602"/>
                </a:lnTo>
                <a:lnTo>
                  <a:pt x="229111" y="90702"/>
                </a:lnTo>
                <a:lnTo>
                  <a:pt x="268075" y="67689"/>
                </a:lnTo>
                <a:lnTo>
                  <a:pt x="309234" y="47735"/>
                </a:lnTo>
                <a:lnTo>
                  <a:pt x="352396" y="31017"/>
                </a:lnTo>
                <a:lnTo>
                  <a:pt x="397371" y="17709"/>
                </a:lnTo>
                <a:lnTo>
                  <a:pt x="443968" y="7987"/>
                </a:lnTo>
                <a:lnTo>
                  <a:pt x="491995" y="2026"/>
                </a:lnTo>
                <a:lnTo>
                  <a:pt x="541261" y="0"/>
                </a:lnTo>
                <a:lnTo>
                  <a:pt x="590525" y="2026"/>
                </a:lnTo>
                <a:lnTo>
                  <a:pt x="638550" y="7987"/>
                </a:lnTo>
                <a:lnTo>
                  <a:pt x="685146" y="17709"/>
                </a:lnTo>
                <a:lnTo>
                  <a:pt x="730120" y="31017"/>
                </a:lnTo>
                <a:lnTo>
                  <a:pt x="773282" y="47735"/>
                </a:lnTo>
                <a:lnTo>
                  <a:pt x="814441" y="67689"/>
                </a:lnTo>
                <a:lnTo>
                  <a:pt x="853405" y="90702"/>
                </a:lnTo>
                <a:lnTo>
                  <a:pt x="889984" y="116602"/>
                </a:lnTo>
                <a:lnTo>
                  <a:pt x="923986" y="145211"/>
                </a:lnTo>
                <a:lnTo>
                  <a:pt x="955221" y="176356"/>
                </a:lnTo>
                <a:lnTo>
                  <a:pt x="983496" y="209861"/>
                </a:lnTo>
                <a:lnTo>
                  <a:pt x="1008622" y="245552"/>
                </a:lnTo>
                <a:lnTo>
                  <a:pt x="1030406" y="283252"/>
                </a:lnTo>
                <a:lnTo>
                  <a:pt x="1048658" y="322788"/>
                </a:lnTo>
                <a:lnTo>
                  <a:pt x="1063187" y="363984"/>
                </a:lnTo>
                <a:lnTo>
                  <a:pt x="1073801" y="406665"/>
                </a:lnTo>
                <a:lnTo>
                  <a:pt x="1080310" y="450656"/>
                </a:lnTo>
                <a:lnTo>
                  <a:pt x="1082522" y="495782"/>
                </a:lnTo>
                <a:lnTo>
                  <a:pt x="1080310" y="540908"/>
                </a:lnTo>
                <a:lnTo>
                  <a:pt x="1073801" y="584899"/>
                </a:lnTo>
                <a:lnTo>
                  <a:pt x="1063187" y="627580"/>
                </a:lnTo>
                <a:lnTo>
                  <a:pt x="1048658" y="668776"/>
                </a:lnTo>
                <a:lnTo>
                  <a:pt x="1030406" y="708312"/>
                </a:lnTo>
                <a:lnTo>
                  <a:pt x="1008622" y="746013"/>
                </a:lnTo>
                <a:lnTo>
                  <a:pt x="983496" y="781703"/>
                </a:lnTo>
                <a:lnTo>
                  <a:pt x="955221" y="815208"/>
                </a:lnTo>
                <a:lnTo>
                  <a:pt x="923986" y="846353"/>
                </a:lnTo>
                <a:lnTo>
                  <a:pt x="889984" y="874962"/>
                </a:lnTo>
                <a:lnTo>
                  <a:pt x="853405" y="900862"/>
                </a:lnTo>
                <a:lnTo>
                  <a:pt x="814441" y="923876"/>
                </a:lnTo>
                <a:lnTo>
                  <a:pt x="773282" y="943829"/>
                </a:lnTo>
                <a:lnTo>
                  <a:pt x="730120" y="960547"/>
                </a:lnTo>
                <a:lnTo>
                  <a:pt x="685146" y="973855"/>
                </a:lnTo>
                <a:lnTo>
                  <a:pt x="638550" y="983577"/>
                </a:lnTo>
                <a:lnTo>
                  <a:pt x="590525" y="989539"/>
                </a:lnTo>
                <a:lnTo>
                  <a:pt x="541261" y="991565"/>
                </a:lnTo>
                <a:lnTo>
                  <a:pt x="491995" y="989539"/>
                </a:lnTo>
                <a:lnTo>
                  <a:pt x="443968" y="983577"/>
                </a:lnTo>
                <a:lnTo>
                  <a:pt x="397371" y="973855"/>
                </a:lnTo>
                <a:lnTo>
                  <a:pt x="352396" y="960547"/>
                </a:lnTo>
                <a:lnTo>
                  <a:pt x="309234" y="943829"/>
                </a:lnTo>
                <a:lnTo>
                  <a:pt x="268075" y="923876"/>
                </a:lnTo>
                <a:lnTo>
                  <a:pt x="229111" y="900862"/>
                </a:lnTo>
                <a:lnTo>
                  <a:pt x="192532" y="874962"/>
                </a:lnTo>
                <a:lnTo>
                  <a:pt x="158530" y="846353"/>
                </a:lnTo>
                <a:lnTo>
                  <a:pt x="127297" y="815208"/>
                </a:lnTo>
                <a:lnTo>
                  <a:pt x="99022" y="781703"/>
                </a:lnTo>
                <a:lnTo>
                  <a:pt x="73897" y="746013"/>
                </a:lnTo>
                <a:lnTo>
                  <a:pt x="52113" y="708312"/>
                </a:lnTo>
                <a:lnTo>
                  <a:pt x="33862" y="668776"/>
                </a:lnTo>
                <a:lnTo>
                  <a:pt x="19334" y="627580"/>
                </a:lnTo>
                <a:lnTo>
                  <a:pt x="8720" y="584899"/>
                </a:lnTo>
                <a:lnTo>
                  <a:pt x="2211" y="540908"/>
                </a:lnTo>
                <a:lnTo>
                  <a:pt x="0" y="495782"/>
                </a:lnTo>
                <a:close/>
              </a:path>
            </a:pathLst>
          </a:custGeom>
          <a:ln w="28575">
            <a:solidFill>
              <a:srgbClr val="FF0000"/>
            </a:solidFill>
          </a:ln>
        </p:spPr>
        <p:txBody>
          <a:bodyPr wrap="square" lIns="0" tIns="0" rIns="0" bIns="0" rtlCol="0"/>
          <a:lstStyl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1835712" y="1787951"/>
            <a:ext cx="642620" cy="353060"/>
          </a:xfrm>
          <a:custGeom>
            <a:avLst/>
            <a:gdLst/>
            <a:ahLst/>
            <a:cxnLst/>
            <a:rect l="l" t="t" r="r" b="b"/>
            <a:pathLst>
              <a:path w="642619" h="353060">
                <a:moveTo>
                  <a:pt x="465620" y="0"/>
                </a:moveTo>
                <a:lnTo>
                  <a:pt x="465620" y="88201"/>
                </a:lnTo>
                <a:lnTo>
                  <a:pt x="0" y="88201"/>
                </a:lnTo>
                <a:lnTo>
                  <a:pt x="0" y="264604"/>
                </a:lnTo>
                <a:lnTo>
                  <a:pt x="465620" y="264604"/>
                </a:lnTo>
                <a:lnTo>
                  <a:pt x="465620" y="352805"/>
                </a:lnTo>
                <a:lnTo>
                  <a:pt x="642023" y="176402"/>
                </a:lnTo>
                <a:lnTo>
                  <a:pt x="465620" y="0"/>
                </a:lnTo>
                <a:close/>
              </a:path>
            </a:pathLst>
          </a:custGeom>
          <a:solidFill>
            <a:srgbClr val="222268"/>
          </a:solidFill>
        </p:spPr>
        <p:txBody>
          <a:bodyPr wrap="square" lIns="0" tIns="0" rIns="0" bIns="0" rtlCol="0"/>
          <a:lstStyle/>
          <a:p/>
        </p:txBody>
      </p:sp>
      <p:sp>
        <p:nvSpPr>
          <p:cNvPr id="3" name="object 3" descr=""/>
          <p:cNvSpPr/>
          <p:nvPr/>
        </p:nvSpPr>
        <p:spPr>
          <a:xfrm>
            <a:off x="1835716" y="4019146"/>
            <a:ext cx="642620" cy="353060"/>
          </a:xfrm>
          <a:custGeom>
            <a:avLst/>
            <a:gdLst/>
            <a:ahLst/>
            <a:cxnLst/>
            <a:rect l="l" t="t" r="r" b="b"/>
            <a:pathLst>
              <a:path w="642619" h="353060">
                <a:moveTo>
                  <a:pt x="176403" y="0"/>
                </a:moveTo>
                <a:lnTo>
                  <a:pt x="0" y="176402"/>
                </a:lnTo>
                <a:lnTo>
                  <a:pt x="176403" y="352805"/>
                </a:lnTo>
                <a:lnTo>
                  <a:pt x="176403" y="264604"/>
                </a:lnTo>
                <a:lnTo>
                  <a:pt x="642023" y="264604"/>
                </a:lnTo>
                <a:lnTo>
                  <a:pt x="642023" y="88201"/>
                </a:lnTo>
                <a:lnTo>
                  <a:pt x="176403" y="88201"/>
                </a:lnTo>
                <a:lnTo>
                  <a:pt x="176403" y="0"/>
                </a:lnTo>
                <a:close/>
              </a:path>
            </a:pathLst>
          </a:custGeom>
          <a:solidFill>
            <a:srgbClr val="C0C0C0"/>
          </a:solidFill>
        </p:spPr>
        <p:txBody>
          <a:bodyPr wrap="square" lIns="0" tIns="0" rIns="0" bIns="0" rtlCol="0"/>
          <a:lstStyle/>
          <a:p/>
        </p:txBody>
      </p:sp>
      <p:sp>
        <p:nvSpPr>
          <p:cNvPr id="4" name="object 4" descr=""/>
          <p:cNvSpPr txBox="1"/>
          <p:nvPr/>
        </p:nvSpPr>
        <p:spPr>
          <a:xfrm>
            <a:off x="1776364" y="1198518"/>
            <a:ext cx="78994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a:latin typeface="SimSun"/>
                <a:cs typeface="SimSun"/>
              </a:rPr>
              <a:t>超高速率稳定实时回传</a:t>
            </a:r>
            <a:endParaRPr sz="1200">
              <a:latin typeface="SimSun"/>
              <a:cs typeface="SimSun"/>
            </a:endParaRPr>
          </a:p>
        </p:txBody>
      </p:sp>
      <p:sp>
        <p:nvSpPr>
          <p:cNvPr id="5" name="object 5" descr=""/>
          <p:cNvSpPr txBox="1"/>
          <p:nvPr/>
        </p:nvSpPr>
        <p:spPr>
          <a:xfrm>
            <a:off x="1776364" y="3462590"/>
            <a:ext cx="78994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a:latin typeface="SimSun"/>
                <a:cs typeface="SimSun"/>
              </a:rPr>
              <a:t>多种途径观看视频业务</a:t>
            </a:r>
            <a:endParaRPr sz="1200">
              <a:latin typeface="SimSun"/>
              <a:cs typeface="SimSun"/>
            </a:endParaRPr>
          </a:p>
        </p:txBody>
      </p:sp>
      <p:sp>
        <p:nvSpPr>
          <p:cNvPr id="6" name="object 6"/>
          <p:cNvSpPr txBox="1">
            <a:spLocks noGrp="1"/>
          </p:cNvSpPr>
          <p:nvPr>
            <p:ph type="title"/>
          </p:nvPr>
        </p:nvSpPr>
        <p:spPr>
          <a:xfrm>
            <a:off x="3560222" y="156082"/>
            <a:ext cx="2404745"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5G+</a:t>
            </a:r>
            <a:r>
              <a:rPr dirty="0" spc="-40"/>
              <a:t>视频业务</a:t>
            </a:r>
          </a:p>
        </p:txBody>
      </p:sp>
      <p:sp>
        <p:nvSpPr>
          <p:cNvPr id="7" name="object 7" descr=""/>
          <p:cNvSpPr/>
          <p:nvPr/>
        </p:nvSpPr>
        <p:spPr>
          <a:xfrm>
            <a:off x="511124" y="796010"/>
            <a:ext cx="1224280" cy="338455"/>
          </a:xfrm>
          <a:custGeom>
            <a:avLst/>
            <a:gdLst/>
            <a:ahLst/>
            <a:cxnLst/>
            <a:rect l="l" t="t" r="r" b="b"/>
            <a:pathLst>
              <a:path w="1224280" h="338455">
                <a:moveTo>
                  <a:pt x="1224140" y="0"/>
                </a:moveTo>
                <a:lnTo>
                  <a:pt x="0" y="0"/>
                </a:lnTo>
                <a:lnTo>
                  <a:pt x="0" y="338340"/>
                </a:lnTo>
                <a:lnTo>
                  <a:pt x="1224140" y="338340"/>
                </a:lnTo>
                <a:lnTo>
                  <a:pt x="1224140" y="0"/>
                </a:lnTo>
                <a:close/>
              </a:path>
            </a:pathLst>
          </a:custGeom>
          <a:solidFill>
            <a:srgbClr val="222268"/>
          </a:solidFill>
        </p:spPr>
        <p:txBody>
          <a:bodyPr wrap="square" lIns="0" tIns="0" rIns="0" bIns="0" rtlCol="0"/>
          <a:lstStyle/>
          <a:p/>
        </p:txBody>
      </p:sp>
      <p:sp>
        <p:nvSpPr>
          <p:cNvPr id="8" name="object 8" descr=""/>
          <p:cNvSpPr txBox="1"/>
          <p:nvPr/>
        </p:nvSpPr>
        <p:spPr>
          <a:xfrm>
            <a:off x="753494" y="842749"/>
            <a:ext cx="73850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FFFF"/>
                </a:solidFill>
                <a:latin typeface="SimSun"/>
                <a:cs typeface="SimSun"/>
              </a:rPr>
              <a:t>视频采集</a:t>
            </a:r>
            <a:endParaRPr sz="1400">
              <a:latin typeface="SimSun"/>
              <a:cs typeface="SimSun"/>
            </a:endParaRPr>
          </a:p>
        </p:txBody>
      </p:sp>
      <p:sp>
        <p:nvSpPr>
          <p:cNvPr id="9" name="object 9" descr=""/>
          <p:cNvSpPr txBox="1"/>
          <p:nvPr/>
        </p:nvSpPr>
        <p:spPr>
          <a:xfrm>
            <a:off x="533400" y="2654122"/>
            <a:ext cx="1230630" cy="338455"/>
          </a:xfrm>
          <a:prstGeom prst="rect">
            <a:avLst/>
          </a:prstGeom>
          <a:solidFill>
            <a:srgbClr val="92D050"/>
          </a:solidFill>
        </p:spPr>
        <p:txBody>
          <a:bodyPr wrap="square" lIns="0" tIns="59055" rIns="0" bIns="0" rtlCol="0" vert="horz">
            <a:spAutoFit/>
          </a:bodyPr>
          <a:lstStyle/>
          <a:p>
            <a:pPr marL="257810">
              <a:lnSpc>
                <a:spcPct val="100000"/>
              </a:lnSpc>
              <a:spcBef>
                <a:spcPts val="465"/>
              </a:spcBef>
            </a:pPr>
            <a:r>
              <a:rPr dirty="0" sz="1400" spc="-20">
                <a:solidFill>
                  <a:srgbClr val="FFFFFF"/>
                </a:solidFill>
                <a:latin typeface="SimSun"/>
                <a:cs typeface="SimSun"/>
              </a:rPr>
              <a:t>体验形式</a:t>
            </a:r>
            <a:endParaRPr sz="1400">
              <a:latin typeface="SimSun"/>
              <a:cs typeface="SimSun"/>
            </a:endParaRPr>
          </a:p>
        </p:txBody>
      </p:sp>
      <p:sp>
        <p:nvSpPr>
          <p:cNvPr id="10" name="object 10" descr=""/>
          <p:cNvSpPr txBox="1"/>
          <p:nvPr/>
        </p:nvSpPr>
        <p:spPr>
          <a:xfrm>
            <a:off x="2612339" y="1203591"/>
            <a:ext cx="1223010" cy="338455"/>
          </a:xfrm>
          <a:prstGeom prst="rect">
            <a:avLst/>
          </a:prstGeom>
          <a:solidFill>
            <a:srgbClr val="FF0000"/>
          </a:solidFill>
        </p:spPr>
        <p:txBody>
          <a:bodyPr wrap="square" lIns="0" tIns="59055" rIns="0" bIns="0" rtlCol="0" vert="horz">
            <a:spAutoFit/>
          </a:bodyPr>
          <a:lstStyle/>
          <a:p>
            <a:pPr marL="253365">
              <a:lnSpc>
                <a:spcPct val="100000"/>
              </a:lnSpc>
              <a:spcBef>
                <a:spcPts val="465"/>
              </a:spcBef>
            </a:pPr>
            <a:r>
              <a:rPr dirty="0" sz="1400" spc="-20">
                <a:solidFill>
                  <a:srgbClr val="FFFFFF"/>
                </a:solidFill>
                <a:latin typeface="SimSun"/>
                <a:cs typeface="SimSun"/>
              </a:rPr>
              <a:t>高速网络</a:t>
            </a:r>
            <a:endParaRPr sz="1400">
              <a:latin typeface="SimSun"/>
              <a:cs typeface="SimSun"/>
            </a:endParaRPr>
          </a:p>
        </p:txBody>
      </p:sp>
      <p:sp>
        <p:nvSpPr>
          <p:cNvPr id="11" name="object 11" descr=""/>
          <p:cNvSpPr txBox="1"/>
          <p:nvPr/>
        </p:nvSpPr>
        <p:spPr>
          <a:xfrm>
            <a:off x="4878616" y="1372768"/>
            <a:ext cx="1350010" cy="523240"/>
          </a:xfrm>
          <a:prstGeom prst="rect">
            <a:avLst/>
          </a:prstGeom>
          <a:solidFill>
            <a:srgbClr val="0070C0"/>
          </a:solidFill>
        </p:spPr>
        <p:txBody>
          <a:bodyPr wrap="square" lIns="0" tIns="67945" rIns="0" bIns="0" rtlCol="0" vert="horz">
            <a:spAutoFit/>
          </a:bodyPr>
          <a:lstStyle/>
          <a:p>
            <a:pPr marL="495934" marR="132080" indent="-356235">
              <a:lnSpc>
                <a:spcPts val="1610"/>
              </a:lnSpc>
              <a:spcBef>
                <a:spcPts val="535"/>
              </a:spcBef>
            </a:pPr>
            <a:r>
              <a:rPr dirty="0" sz="1400" spc="-20">
                <a:solidFill>
                  <a:srgbClr val="FFFFFF"/>
                </a:solidFill>
                <a:latin typeface="SimSun"/>
                <a:cs typeface="SimSun"/>
              </a:rPr>
              <a:t>视频融合业务</a:t>
            </a:r>
            <a:r>
              <a:rPr dirty="0" sz="1400" spc="-30">
                <a:solidFill>
                  <a:srgbClr val="FFFFFF"/>
                </a:solidFill>
                <a:latin typeface="SimSun"/>
                <a:cs typeface="SimSun"/>
              </a:rPr>
              <a:t>平台</a:t>
            </a:r>
            <a:endParaRPr sz="1400">
              <a:latin typeface="SimSun"/>
              <a:cs typeface="SimSun"/>
            </a:endParaRPr>
          </a:p>
        </p:txBody>
      </p:sp>
      <p:sp>
        <p:nvSpPr>
          <p:cNvPr id="12" name="object 12" descr=""/>
          <p:cNvSpPr txBox="1"/>
          <p:nvPr/>
        </p:nvSpPr>
        <p:spPr>
          <a:xfrm>
            <a:off x="6629400" y="1875269"/>
            <a:ext cx="1917700" cy="338455"/>
          </a:xfrm>
          <a:prstGeom prst="rect">
            <a:avLst/>
          </a:prstGeom>
          <a:solidFill>
            <a:srgbClr val="00B0F0">
              <a:alpha val="81176"/>
            </a:srgbClr>
          </a:solidFill>
        </p:spPr>
        <p:txBody>
          <a:bodyPr wrap="square" lIns="0" tIns="59055" rIns="0" bIns="0" rtlCol="0" vert="horz">
            <a:spAutoFit/>
          </a:bodyPr>
          <a:lstStyle/>
          <a:p>
            <a:pPr marL="424180">
              <a:lnSpc>
                <a:spcPct val="100000"/>
              </a:lnSpc>
              <a:spcBef>
                <a:spcPts val="465"/>
              </a:spcBef>
            </a:pPr>
            <a:r>
              <a:rPr dirty="0" sz="1400" spc="-20">
                <a:solidFill>
                  <a:srgbClr val="FFFFFF"/>
                </a:solidFill>
                <a:latin typeface="SimSun"/>
                <a:cs typeface="SimSun"/>
              </a:rPr>
              <a:t>公共安全平台</a:t>
            </a:r>
            <a:endParaRPr sz="1400">
              <a:latin typeface="SimSun"/>
              <a:cs typeface="SimSun"/>
            </a:endParaRPr>
          </a:p>
        </p:txBody>
      </p:sp>
      <p:sp>
        <p:nvSpPr>
          <p:cNvPr id="13" name="object 13" descr=""/>
          <p:cNvSpPr txBox="1"/>
          <p:nvPr/>
        </p:nvSpPr>
        <p:spPr>
          <a:xfrm>
            <a:off x="6629400" y="819150"/>
            <a:ext cx="1917700" cy="338455"/>
          </a:xfrm>
          <a:prstGeom prst="rect">
            <a:avLst/>
          </a:prstGeom>
          <a:solidFill>
            <a:srgbClr val="00B0F0">
              <a:alpha val="81176"/>
            </a:srgbClr>
          </a:solidFill>
        </p:spPr>
        <p:txBody>
          <a:bodyPr wrap="square" lIns="0" tIns="59055" rIns="0" bIns="0" rtlCol="0" vert="horz">
            <a:spAutoFit/>
          </a:bodyPr>
          <a:lstStyle/>
          <a:p>
            <a:pPr marL="424180">
              <a:lnSpc>
                <a:spcPct val="100000"/>
              </a:lnSpc>
              <a:spcBef>
                <a:spcPts val="465"/>
              </a:spcBef>
            </a:pPr>
            <a:r>
              <a:rPr dirty="0" sz="1400" spc="-20">
                <a:solidFill>
                  <a:srgbClr val="FFFFFF"/>
                </a:solidFill>
                <a:latin typeface="SimSun"/>
                <a:cs typeface="SimSun"/>
              </a:rPr>
              <a:t>参观导览平台</a:t>
            </a:r>
            <a:endParaRPr sz="1400">
              <a:latin typeface="SimSun"/>
              <a:cs typeface="SimSun"/>
            </a:endParaRPr>
          </a:p>
        </p:txBody>
      </p:sp>
      <p:sp>
        <p:nvSpPr>
          <p:cNvPr id="14" name="object 14" descr=""/>
          <p:cNvSpPr txBox="1"/>
          <p:nvPr/>
        </p:nvSpPr>
        <p:spPr>
          <a:xfrm>
            <a:off x="6629400" y="2931388"/>
            <a:ext cx="1917700" cy="338455"/>
          </a:xfrm>
          <a:prstGeom prst="rect">
            <a:avLst/>
          </a:prstGeom>
          <a:solidFill>
            <a:srgbClr val="00B0F0">
              <a:alpha val="81176"/>
            </a:srgbClr>
          </a:solidFill>
        </p:spPr>
        <p:txBody>
          <a:bodyPr wrap="square" lIns="0" tIns="59055" rIns="0" bIns="0" rtlCol="0" vert="horz">
            <a:spAutoFit/>
          </a:bodyPr>
          <a:lstStyle/>
          <a:p>
            <a:pPr marL="424180">
              <a:lnSpc>
                <a:spcPct val="100000"/>
              </a:lnSpc>
              <a:spcBef>
                <a:spcPts val="465"/>
              </a:spcBef>
            </a:pPr>
            <a:r>
              <a:rPr dirty="0" sz="1400" spc="-20">
                <a:solidFill>
                  <a:srgbClr val="FFFFFF"/>
                </a:solidFill>
                <a:latin typeface="SimSun"/>
                <a:cs typeface="SimSun"/>
              </a:rPr>
              <a:t>导购推广平台</a:t>
            </a:r>
            <a:endParaRPr sz="1400">
              <a:latin typeface="SimSun"/>
              <a:cs typeface="SimSun"/>
            </a:endParaRPr>
          </a:p>
        </p:txBody>
      </p:sp>
      <p:sp>
        <p:nvSpPr>
          <p:cNvPr id="15" name="object 15" descr=""/>
          <p:cNvSpPr txBox="1"/>
          <p:nvPr/>
        </p:nvSpPr>
        <p:spPr>
          <a:xfrm>
            <a:off x="6638163" y="3987507"/>
            <a:ext cx="1917700" cy="304165"/>
          </a:xfrm>
          <a:prstGeom prst="rect">
            <a:avLst/>
          </a:prstGeom>
          <a:solidFill>
            <a:srgbClr val="00B0F0">
              <a:alpha val="81176"/>
            </a:srgbClr>
          </a:solidFill>
        </p:spPr>
        <p:txBody>
          <a:bodyPr wrap="square" lIns="0" tIns="59055" rIns="0" bIns="0" rtlCol="0" vert="horz">
            <a:spAutoFit/>
          </a:bodyPr>
          <a:lstStyle/>
          <a:p>
            <a:pPr marL="415290">
              <a:lnSpc>
                <a:spcPct val="100000"/>
              </a:lnSpc>
              <a:spcBef>
                <a:spcPts val="465"/>
              </a:spcBef>
            </a:pPr>
            <a:r>
              <a:rPr dirty="0" sz="1400" spc="-20">
                <a:solidFill>
                  <a:srgbClr val="FFFFFF"/>
                </a:solidFill>
                <a:latin typeface="SimSun"/>
                <a:cs typeface="SimSun"/>
              </a:rPr>
              <a:t>其它业务平台</a:t>
            </a:r>
            <a:endParaRPr sz="1400">
              <a:latin typeface="SimSun"/>
              <a:cs typeface="SimSun"/>
            </a:endParaRPr>
          </a:p>
        </p:txBody>
      </p:sp>
      <p:grpSp>
        <p:nvGrpSpPr>
          <p:cNvPr id="16" name="object 16" descr=""/>
          <p:cNvGrpSpPr/>
          <p:nvPr/>
        </p:nvGrpSpPr>
        <p:grpSpPr>
          <a:xfrm>
            <a:off x="511911" y="1134351"/>
            <a:ext cx="1223010" cy="1526540"/>
            <a:chOff x="511911" y="1134351"/>
            <a:chExt cx="1223010" cy="1526540"/>
          </a:xfrm>
        </p:grpSpPr>
        <p:sp>
          <p:nvSpPr>
            <p:cNvPr id="17" name="object 17" descr=""/>
            <p:cNvSpPr/>
            <p:nvPr/>
          </p:nvSpPr>
          <p:spPr>
            <a:xfrm>
              <a:off x="511911" y="1134351"/>
              <a:ext cx="1223010" cy="1462405"/>
            </a:xfrm>
            <a:custGeom>
              <a:avLst/>
              <a:gdLst/>
              <a:ahLst/>
              <a:cxnLst/>
              <a:rect l="l" t="t" r="r" b="b"/>
              <a:pathLst>
                <a:path w="1223010" h="1462405">
                  <a:moveTo>
                    <a:pt x="1222552" y="0"/>
                  </a:moveTo>
                  <a:lnTo>
                    <a:pt x="0" y="0"/>
                  </a:lnTo>
                  <a:lnTo>
                    <a:pt x="0" y="1461858"/>
                  </a:lnTo>
                  <a:lnTo>
                    <a:pt x="1222552" y="1461858"/>
                  </a:lnTo>
                  <a:lnTo>
                    <a:pt x="1222552" y="0"/>
                  </a:lnTo>
                  <a:close/>
                </a:path>
              </a:pathLst>
            </a:custGeom>
            <a:solidFill>
              <a:srgbClr val="0070C0">
                <a:alpha val="30194"/>
              </a:srgbClr>
            </a:solidFill>
          </p:spPr>
          <p:txBody>
            <a:bodyPr wrap="square" lIns="0" tIns="0" rIns="0" bIns="0" rtlCol="0"/>
            <a:lstStyle/>
            <a:p/>
          </p:txBody>
        </p:sp>
        <p:pic>
          <p:nvPicPr>
            <p:cNvPr id="18" name="object 18"/>
            <p:cNvPicPr/>
            <p:nvPr/>
          </p:nvPicPr>
          <p:blipFill>
            <a:blip r:embed="rId2" cstate="print"/>
            <a:stretch>
              <a:fillRect/>
            </a:stretch>
          </p:blipFill>
          <p:spPr>
            <a:xfrm>
              <a:off x="854067" y="1192331"/>
              <a:ext cx="538245" cy="424925"/>
            </a:xfrm>
            <a:prstGeom prst="rect">
              <a:avLst/>
            </a:prstGeom>
          </p:spPr>
        </p:pic>
        <p:pic>
          <p:nvPicPr>
            <p:cNvPr id="19" name="object 19"/>
            <p:cNvPicPr/>
            <p:nvPr/>
          </p:nvPicPr>
          <p:blipFill>
            <a:blip r:embed="rId3" cstate="print"/>
            <a:stretch>
              <a:fillRect/>
            </a:stretch>
          </p:blipFill>
          <p:spPr>
            <a:xfrm>
              <a:off x="832053" y="1700760"/>
              <a:ext cx="582282" cy="329029"/>
            </a:xfrm>
            <a:prstGeom prst="rect">
              <a:avLst/>
            </a:prstGeom>
          </p:spPr>
        </p:pic>
        <p:pic>
          <p:nvPicPr>
            <p:cNvPr id="20" name="object 20"/>
            <p:cNvPicPr/>
            <p:nvPr/>
          </p:nvPicPr>
          <p:blipFill>
            <a:blip r:embed="rId4" cstate="print"/>
            <a:stretch>
              <a:fillRect/>
            </a:stretch>
          </p:blipFill>
          <p:spPr>
            <a:xfrm>
              <a:off x="666026" y="2008860"/>
              <a:ext cx="914332" cy="651801"/>
            </a:xfrm>
            <a:prstGeom prst="rect">
              <a:avLst/>
            </a:prstGeom>
          </p:spPr>
        </p:pic>
      </p:grpSp>
      <p:grpSp>
        <p:nvGrpSpPr>
          <p:cNvPr id="21" name="object 21" descr=""/>
          <p:cNvGrpSpPr/>
          <p:nvPr/>
        </p:nvGrpSpPr>
        <p:grpSpPr>
          <a:xfrm>
            <a:off x="533400" y="2992450"/>
            <a:ext cx="1230630" cy="2151380"/>
            <a:chOff x="533400" y="2992450"/>
            <a:chExt cx="1230630" cy="2151380"/>
          </a:xfrm>
        </p:grpSpPr>
        <p:sp>
          <p:nvSpPr>
            <p:cNvPr id="22" name="object 22" descr=""/>
            <p:cNvSpPr/>
            <p:nvPr/>
          </p:nvSpPr>
          <p:spPr>
            <a:xfrm>
              <a:off x="533400" y="2992450"/>
              <a:ext cx="1230630" cy="1927860"/>
            </a:xfrm>
            <a:custGeom>
              <a:avLst/>
              <a:gdLst/>
              <a:ahLst/>
              <a:cxnLst/>
              <a:rect l="l" t="t" r="r" b="b"/>
              <a:pathLst>
                <a:path w="1230630" h="1927860">
                  <a:moveTo>
                    <a:pt x="1230198" y="0"/>
                  </a:moveTo>
                  <a:lnTo>
                    <a:pt x="0" y="0"/>
                  </a:lnTo>
                  <a:lnTo>
                    <a:pt x="0" y="1927758"/>
                  </a:lnTo>
                  <a:lnTo>
                    <a:pt x="1230198" y="1927758"/>
                  </a:lnTo>
                  <a:lnTo>
                    <a:pt x="1230198" y="0"/>
                  </a:lnTo>
                  <a:close/>
                </a:path>
              </a:pathLst>
            </a:custGeom>
            <a:solidFill>
              <a:srgbClr val="0070C0">
                <a:alpha val="30194"/>
              </a:srgbClr>
            </a:solidFill>
          </p:spPr>
          <p:txBody>
            <a:bodyPr wrap="square" lIns="0" tIns="0" rIns="0" bIns="0" rtlCol="0"/>
            <a:lstStyle/>
            <a:p/>
          </p:txBody>
        </p:sp>
        <p:pic>
          <p:nvPicPr>
            <p:cNvPr id="23" name="object 23"/>
            <p:cNvPicPr/>
            <p:nvPr/>
          </p:nvPicPr>
          <p:blipFill>
            <a:blip r:embed="rId4" cstate="print"/>
            <a:stretch>
              <a:fillRect/>
            </a:stretch>
          </p:blipFill>
          <p:spPr>
            <a:xfrm>
              <a:off x="835355" y="4491698"/>
              <a:ext cx="914323" cy="651802"/>
            </a:xfrm>
            <a:prstGeom prst="rect">
              <a:avLst/>
            </a:prstGeom>
          </p:spPr>
        </p:pic>
        <p:pic>
          <p:nvPicPr>
            <p:cNvPr id="24" name="object 24"/>
            <p:cNvPicPr/>
            <p:nvPr/>
          </p:nvPicPr>
          <p:blipFill>
            <a:blip r:embed="rId5" cstate="print"/>
            <a:stretch>
              <a:fillRect/>
            </a:stretch>
          </p:blipFill>
          <p:spPr>
            <a:xfrm>
              <a:off x="853846" y="3091291"/>
              <a:ext cx="589314" cy="531980"/>
            </a:xfrm>
            <a:prstGeom prst="rect">
              <a:avLst/>
            </a:prstGeom>
          </p:spPr>
        </p:pic>
        <p:pic>
          <p:nvPicPr>
            <p:cNvPr id="25" name="object 25"/>
            <p:cNvPicPr/>
            <p:nvPr/>
          </p:nvPicPr>
          <p:blipFill>
            <a:blip r:embed="rId6" cstate="print"/>
            <a:stretch>
              <a:fillRect/>
            </a:stretch>
          </p:blipFill>
          <p:spPr>
            <a:xfrm>
              <a:off x="1192301" y="4266247"/>
              <a:ext cx="376137" cy="376139"/>
            </a:xfrm>
            <a:prstGeom prst="rect">
              <a:avLst/>
            </a:prstGeom>
          </p:spPr>
        </p:pic>
        <p:pic>
          <p:nvPicPr>
            <p:cNvPr id="26" name="object 26"/>
            <p:cNvPicPr/>
            <p:nvPr/>
          </p:nvPicPr>
          <p:blipFill>
            <a:blip r:embed="rId7" cstate="print"/>
            <a:stretch>
              <a:fillRect/>
            </a:stretch>
          </p:blipFill>
          <p:spPr>
            <a:xfrm>
              <a:off x="735129" y="4266247"/>
              <a:ext cx="376142" cy="376142"/>
            </a:xfrm>
            <a:prstGeom prst="rect">
              <a:avLst/>
            </a:prstGeom>
          </p:spPr>
        </p:pic>
        <p:pic>
          <p:nvPicPr>
            <p:cNvPr id="27" name="object 27"/>
            <p:cNvPicPr/>
            <p:nvPr/>
          </p:nvPicPr>
          <p:blipFill>
            <a:blip r:embed="rId8" cstate="print"/>
            <a:stretch>
              <a:fillRect/>
            </a:stretch>
          </p:blipFill>
          <p:spPr>
            <a:xfrm>
              <a:off x="782934" y="3665359"/>
              <a:ext cx="731133" cy="548343"/>
            </a:xfrm>
            <a:prstGeom prst="rect">
              <a:avLst/>
            </a:prstGeom>
          </p:spPr>
        </p:pic>
      </p:grpSp>
      <p:grpSp>
        <p:nvGrpSpPr>
          <p:cNvPr id="28" name="object 28" descr=""/>
          <p:cNvGrpSpPr/>
          <p:nvPr/>
        </p:nvGrpSpPr>
        <p:grpSpPr>
          <a:xfrm>
            <a:off x="2612339" y="1541932"/>
            <a:ext cx="1223010" cy="2913380"/>
            <a:chOff x="2612339" y="1541932"/>
            <a:chExt cx="1223010" cy="2913380"/>
          </a:xfrm>
        </p:grpSpPr>
        <p:sp>
          <p:nvSpPr>
            <p:cNvPr id="29" name="object 29" descr=""/>
            <p:cNvSpPr/>
            <p:nvPr/>
          </p:nvSpPr>
          <p:spPr>
            <a:xfrm>
              <a:off x="2612339" y="1541932"/>
              <a:ext cx="1223010" cy="2913380"/>
            </a:xfrm>
            <a:custGeom>
              <a:avLst/>
              <a:gdLst/>
              <a:ahLst/>
              <a:cxnLst/>
              <a:rect l="l" t="t" r="r" b="b"/>
              <a:pathLst>
                <a:path w="1223010" h="2913379">
                  <a:moveTo>
                    <a:pt x="1222552" y="0"/>
                  </a:moveTo>
                  <a:lnTo>
                    <a:pt x="0" y="0"/>
                  </a:lnTo>
                  <a:lnTo>
                    <a:pt x="0" y="2913024"/>
                  </a:lnTo>
                  <a:lnTo>
                    <a:pt x="1222552" y="2913024"/>
                  </a:lnTo>
                  <a:lnTo>
                    <a:pt x="1222552" y="0"/>
                  </a:lnTo>
                  <a:close/>
                </a:path>
              </a:pathLst>
            </a:custGeom>
            <a:solidFill>
              <a:srgbClr val="CC6600">
                <a:alpha val="30194"/>
              </a:srgbClr>
            </a:solidFill>
          </p:spPr>
          <p:txBody>
            <a:bodyPr wrap="square" lIns="0" tIns="0" rIns="0" bIns="0" rtlCol="0"/>
            <a:lstStyle/>
            <a:p/>
          </p:txBody>
        </p:sp>
        <p:pic>
          <p:nvPicPr>
            <p:cNvPr id="30" name="object 30"/>
            <p:cNvPicPr/>
            <p:nvPr/>
          </p:nvPicPr>
          <p:blipFill>
            <a:blip r:embed="rId9" cstate="print"/>
            <a:stretch>
              <a:fillRect/>
            </a:stretch>
          </p:blipFill>
          <p:spPr>
            <a:xfrm>
              <a:off x="2723979" y="1574673"/>
              <a:ext cx="997678" cy="997679"/>
            </a:xfrm>
            <a:prstGeom prst="rect">
              <a:avLst/>
            </a:prstGeom>
          </p:spPr>
        </p:pic>
      </p:grpSp>
      <p:sp>
        <p:nvSpPr>
          <p:cNvPr id="31" name="object 31" descr=""/>
          <p:cNvSpPr/>
          <p:nvPr/>
        </p:nvSpPr>
        <p:spPr>
          <a:xfrm>
            <a:off x="4878616" y="1895982"/>
            <a:ext cx="1350010" cy="2181225"/>
          </a:xfrm>
          <a:custGeom>
            <a:avLst/>
            <a:gdLst/>
            <a:ahLst/>
            <a:cxnLst/>
            <a:rect l="l" t="t" r="r" b="b"/>
            <a:pathLst>
              <a:path w="1350010" h="2181225">
                <a:moveTo>
                  <a:pt x="1349565" y="0"/>
                </a:moveTo>
                <a:lnTo>
                  <a:pt x="0" y="0"/>
                </a:lnTo>
                <a:lnTo>
                  <a:pt x="0" y="2180691"/>
                </a:lnTo>
                <a:lnTo>
                  <a:pt x="1349565" y="2180691"/>
                </a:lnTo>
                <a:lnTo>
                  <a:pt x="1349565" y="0"/>
                </a:lnTo>
                <a:close/>
              </a:path>
            </a:pathLst>
          </a:custGeom>
          <a:solidFill>
            <a:srgbClr val="00B0F0">
              <a:alpha val="30194"/>
            </a:srgbClr>
          </a:solidFill>
        </p:spPr>
        <p:txBody>
          <a:bodyPr wrap="square" lIns="0" tIns="0" rIns="0" bIns="0" rtlCol="0"/>
          <a:lstStyle/>
          <a:p/>
        </p:txBody>
      </p:sp>
      <p:sp>
        <p:nvSpPr>
          <p:cNvPr id="32" name="object 32" descr=""/>
          <p:cNvSpPr/>
          <p:nvPr/>
        </p:nvSpPr>
        <p:spPr>
          <a:xfrm>
            <a:off x="3915274" y="2173824"/>
            <a:ext cx="917575" cy="326390"/>
          </a:xfrm>
          <a:custGeom>
            <a:avLst/>
            <a:gdLst/>
            <a:ahLst/>
            <a:cxnLst/>
            <a:rect l="l" t="t" r="r" b="b"/>
            <a:pathLst>
              <a:path w="917575" h="326389">
                <a:moveTo>
                  <a:pt x="754151" y="0"/>
                </a:moveTo>
                <a:lnTo>
                  <a:pt x="754151" y="81483"/>
                </a:lnTo>
                <a:lnTo>
                  <a:pt x="0" y="81483"/>
                </a:lnTo>
                <a:lnTo>
                  <a:pt x="0" y="244436"/>
                </a:lnTo>
                <a:lnTo>
                  <a:pt x="754151" y="244436"/>
                </a:lnTo>
                <a:lnTo>
                  <a:pt x="754151" y="325920"/>
                </a:lnTo>
                <a:lnTo>
                  <a:pt x="917105" y="162966"/>
                </a:lnTo>
                <a:lnTo>
                  <a:pt x="754151" y="0"/>
                </a:lnTo>
                <a:close/>
              </a:path>
            </a:pathLst>
          </a:custGeom>
          <a:solidFill>
            <a:srgbClr val="000000"/>
          </a:solidFill>
        </p:spPr>
        <p:txBody>
          <a:bodyPr wrap="square" lIns="0" tIns="0" rIns="0" bIns="0" rtlCol="0"/>
          <a:lstStyle/>
          <a:p/>
        </p:txBody>
      </p:sp>
      <p:sp>
        <p:nvSpPr>
          <p:cNvPr id="33" name="object 33" descr=""/>
          <p:cNvSpPr/>
          <p:nvPr/>
        </p:nvSpPr>
        <p:spPr>
          <a:xfrm>
            <a:off x="3915275" y="3003795"/>
            <a:ext cx="917575" cy="326390"/>
          </a:xfrm>
          <a:custGeom>
            <a:avLst/>
            <a:gdLst/>
            <a:ahLst/>
            <a:cxnLst/>
            <a:rect l="l" t="t" r="r" b="b"/>
            <a:pathLst>
              <a:path w="917575" h="326389">
                <a:moveTo>
                  <a:pt x="162953" y="0"/>
                </a:moveTo>
                <a:lnTo>
                  <a:pt x="0" y="162953"/>
                </a:lnTo>
                <a:lnTo>
                  <a:pt x="162953" y="325920"/>
                </a:lnTo>
                <a:lnTo>
                  <a:pt x="162953" y="244436"/>
                </a:lnTo>
                <a:lnTo>
                  <a:pt x="917105" y="244436"/>
                </a:lnTo>
                <a:lnTo>
                  <a:pt x="917105" y="81483"/>
                </a:lnTo>
                <a:lnTo>
                  <a:pt x="162953" y="81483"/>
                </a:lnTo>
                <a:lnTo>
                  <a:pt x="162953" y="0"/>
                </a:lnTo>
                <a:close/>
              </a:path>
            </a:pathLst>
          </a:custGeom>
          <a:solidFill>
            <a:srgbClr val="000000"/>
          </a:solidFill>
        </p:spPr>
        <p:txBody>
          <a:bodyPr wrap="square" lIns="0" tIns="0" rIns="0" bIns="0" rtlCol="0"/>
          <a:lstStyle/>
          <a:p/>
        </p:txBody>
      </p:sp>
      <p:sp>
        <p:nvSpPr>
          <p:cNvPr id="34" name="object 34" descr=""/>
          <p:cNvSpPr txBox="1"/>
          <p:nvPr/>
        </p:nvSpPr>
        <p:spPr>
          <a:xfrm>
            <a:off x="2612339" y="1541932"/>
            <a:ext cx="1223010" cy="2913380"/>
          </a:xfrm>
          <a:prstGeom prst="rect">
            <a:avLst/>
          </a:prstGeom>
        </p:spPr>
        <p:txBody>
          <a:bodyPr wrap="square" lIns="0" tIns="0" rIns="0" bIns="0" rtlCol="0" vert="horz">
            <a:spAutoFit/>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315"/>
              </a:spcBef>
            </a:pPr>
            <a:endParaRPr sz="1200">
              <a:latin typeface="Times New Roman"/>
              <a:cs typeface="Times New Roman"/>
            </a:endParaRPr>
          </a:p>
          <a:p>
            <a:pPr marL="344170">
              <a:lnSpc>
                <a:spcPct val="100000"/>
              </a:lnSpc>
            </a:pPr>
            <a:r>
              <a:rPr dirty="0" sz="1200" spc="-10" b="1">
                <a:latin typeface="Arial"/>
                <a:cs typeface="Arial"/>
              </a:rPr>
              <a:t>5G</a:t>
            </a:r>
            <a:r>
              <a:rPr dirty="0" sz="1200" spc="-25">
                <a:latin typeface="SimSun"/>
                <a:cs typeface="SimSun"/>
              </a:rPr>
              <a:t>网络</a:t>
            </a:r>
            <a:endParaRPr sz="1200">
              <a:latin typeface="SimSun"/>
              <a:cs typeface="SimSun"/>
            </a:endParaRPr>
          </a:p>
          <a:p>
            <a:pPr algn="just" marL="72390" marR="73660">
              <a:lnSpc>
                <a:spcPct val="150000"/>
              </a:lnSpc>
              <a:spcBef>
                <a:spcPts val="1015"/>
              </a:spcBef>
            </a:pPr>
            <a:r>
              <a:rPr dirty="0" sz="1200" spc="-10">
                <a:latin typeface="SimSun"/>
                <a:cs typeface="SimSun"/>
              </a:rPr>
              <a:t>根据不同业务需要，满足各型业务展示终端的上下行速率需求</a:t>
            </a:r>
            <a:endParaRPr sz="1200">
              <a:latin typeface="SimSun"/>
              <a:cs typeface="SimSun"/>
            </a:endParaRPr>
          </a:p>
        </p:txBody>
      </p:sp>
      <p:sp>
        <p:nvSpPr>
          <p:cNvPr id="35" name="object 35" descr=""/>
          <p:cNvSpPr/>
          <p:nvPr/>
        </p:nvSpPr>
        <p:spPr>
          <a:xfrm>
            <a:off x="6629400" y="1209522"/>
            <a:ext cx="1917700" cy="614045"/>
          </a:xfrm>
          <a:custGeom>
            <a:avLst/>
            <a:gdLst/>
            <a:ahLst/>
            <a:cxnLst/>
            <a:rect l="l" t="t" r="r" b="b"/>
            <a:pathLst>
              <a:path w="1917700" h="614044">
                <a:moveTo>
                  <a:pt x="1917661" y="0"/>
                </a:moveTo>
                <a:lnTo>
                  <a:pt x="0" y="0"/>
                </a:lnTo>
                <a:lnTo>
                  <a:pt x="0" y="613689"/>
                </a:lnTo>
                <a:lnTo>
                  <a:pt x="1917661" y="613689"/>
                </a:lnTo>
                <a:lnTo>
                  <a:pt x="1917661" y="0"/>
                </a:lnTo>
                <a:close/>
              </a:path>
            </a:pathLst>
          </a:custGeom>
          <a:solidFill>
            <a:srgbClr val="E9F4F5">
              <a:alpha val="30194"/>
            </a:srgbClr>
          </a:solidFill>
        </p:spPr>
        <p:txBody>
          <a:bodyPr wrap="square" lIns="0" tIns="0" rIns="0" bIns="0" rtlCol="0"/>
          <a:lstStyle/>
          <a:p/>
        </p:txBody>
      </p:sp>
      <p:sp>
        <p:nvSpPr>
          <p:cNvPr id="36" name="object 36" descr=""/>
          <p:cNvSpPr txBox="1"/>
          <p:nvPr/>
        </p:nvSpPr>
        <p:spPr>
          <a:xfrm>
            <a:off x="6629400" y="1204449"/>
            <a:ext cx="1917700" cy="574040"/>
          </a:xfrm>
          <a:prstGeom prst="rect">
            <a:avLst/>
          </a:prstGeom>
        </p:spPr>
        <p:txBody>
          <a:bodyPr wrap="square" lIns="0" tIns="12700" rIns="0" bIns="0" rtlCol="0" vert="horz">
            <a:spAutoFit/>
          </a:bodyPr>
          <a:lstStyle/>
          <a:p>
            <a:pPr marL="91440" marR="139700">
              <a:lnSpc>
                <a:spcPct val="150000"/>
              </a:lnSpc>
              <a:spcBef>
                <a:spcPts val="100"/>
              </a:spcBef>
            </a:pPr>
            <a:r>
              <a:rPr dirty="0" sz="1200" spc="-5">
                <a:latin typeface="SimSun"/>
                <a:cs typeface="SimSun"/>
              </a:rPr>
              <a:t>规划参观路线，服务观众</a:t>
            </a:r>
            <a:r>
              <a:rPr dirty="0" sz="1200" spc="-10">
                <a:latin typeface="SimSun"/>
                <a:cs typeface="SimSun"/>
              </a:rPr>
              <a:t>确定理想游览线路</a:t>
            </a:r>
            <a:endParaRPr sz="1200">
              <a:latin typeface="SimSun"/>
              <a:cs typeface="SimSun"/>
            </a:endParaRPr>
          </a:p>
        </p:txBody>
      </p:sp>
      <p:sp>
        <p:nvSpPr>
          <p:cNvPr id="37" name="object 37" descr=""/>
          <p:cNvSpPr txBox="1"/>
          <p:nvPr/>
        </p:nvSpPr>
        <p:spPr>
          <a:xfrm>
            <a:off x="4878616" y="1895982"/>
            <a:ext cx="1350010" cy="2181225"/>
          </a:xfrm>
          <a:prstGeom prst="rect">
            <a:avLst/>
          </a:prstGeom>
        </p:spPr>
        <p:txBody>
          <a:bodyPr wrap="square" lIns="0" tIns="164465" rIns="0" bIns="0" rtlCol="0" vert="horz">
            <a:spAutoFit/>
          </a:bodyPr>
          <a:lstStyle/>
          <a:p>
            <a:pPr algn="just" marL="91440" marR="180975">
              <a:lnSpc>
                <a:spcPct val="150000"/>
              </a:lnSpc>
              <a:spcBef>
                <a:spcPts val="1295"/>
              </a:spcBef>
            </a:pPr>
            <a:r>
              <a:rPr dirty="0" sz="1200" spc="-10">
                <a:latin typeface="SimSun"/>
                <a:cs typeface="SimSun"/>
              </a:rPr>
              <a:t>接收、发送与管理影像数据，向获授权的其它业务应用平台开放视频读取权限</a:t>
            </a:r>
            <a:endParaRPr sz="1200">
              <a:latin typeface="SimSun"/>
              <a:cs typeface="SimSun"/>
            </a:endParaRPr>
          </a:p>
        </p:txBody>
      </p:sp>
      <p:sp>
        <p:nvSpPr>
          <p:cNvPr id="38" name="object 38" descr=""/>
          <p:cNvSpPr txBox="1"/>
          <p:nvPr/>
        </p:nvSpPr>
        <p:spPr>
          <a:xfrm>
            <a:off x="3966362" y="1630565"/>
            <a:ext cx="78994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a:latin typeface="SimSun"/>
                <a:cs typeface="SimSun"/>
              </a:rPr>
              <a:t>云化功能本地近端部署</a:t>
            </a:r>
            <a:endParaRPr sz="1200">
              <a:latin typeface="SimSun"/>
              <a:cs typeface="SimSun"/>
            </a:endParaRPr>
          </a:p>
        </p:txBody>
      </p:sp>
      <p:sp>
        <p:nvSpPr>
          <p:cNvPr id="39" name="object 39" descr=""/>
          <p:cNvSpPr txBox="1"/>
          <p:nvPr/>
        </p:nvSpPr>
        <p:spPr>
          <a:xfrm>
            <a:off x="3966362" y="3214992"/>
            <a:ext cx="78994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a:latin typeface="SimSun"/>
                <a:cs typeface="SimSun"/>
              </a:rPr>
              <a:t>观看用户即时快捷调取</a:t>
            </a:r>
            <a:endParaRPr sz="1200">
              <a:latin typeface="SimSun"/>
              <a:cs typeface="SimSun"/>
            </a:endParaRPr>
          </a:p>
        </p:txBody>
      </p:sp>
      <p:grpSp>
        <p:nvGrpSpPr>
          <p:cNvPr id="40" name="object 40" descr=""/>
          <p:cNvGrpSpPr/>
          <p:nvPr/>
        </p:nvGrpSpPr>
        <p:grpSpPr>
          <a:xfrm>
            <a:off x="6153763" y="950213"/>
            <a:ext cx="476250" cy="3244850"/>
            <a:chOff x="6153763" y="950213"/>
            <a:chExt cx="476250" cy="3244850"/>
          </a:xfrm>
        </p:grpSpPr>
        <p:sp>
          <p:nvSpPr>
            <p:cNvPr id="41" name="object 41" descr=""/>
            <p:cNvSpPr/>
            <p:nvPr/>
          </p:nvSpPr>
          <p:spPr>
            <a:xfrm>
              <a:off x="6217260" y="988315"/>
              <a:ext cx="349250" cy="1906905"/>
            </a:xfrm>
            <a:custGeom>
              <a:avLst/>
              <a:gdLst/>
              <a:ahLst/>
              <a:cxnLst/>
              <a:rect l="l" t="t" r="r" b="b"/>
              <a:pathLst>
                <a:path w="349250" h="1906905">
                  <a:moveTo>
                    <a:pt x="0" y="1906523"/>
                  </a:moveTo>
                  <a:lnTo>
                    <a:pt x="174320" y="1906523"/>
                  </a:lnTo>
                  <a:lnTo>
                    <a:pt x="174320" y="0"/>
                  </a:lnTo>
                  <a:lnTo>
                    <a:pt x="348640" y="0"/>
                  </a:lnTo>
                </a:path>
              </a:pathLst>
            </a:custGeom>
            <a:ln w="12700">
              <a:solidFill>
                <a:srgbClr val="B6DCDF"/>
              </a:solidFill>
              <a:prstDash val="sysDash"/>
            </a:ln>
          </p:spPr>
          <p:txBody>
            <a:bodyPr wrap="square" lIns="0" tIns="0" rIns="0" bIns="0" rtlCol="0"/>
            <a:lstStyle/>
            <a:p/>
          </p:txBody>
        </p:sp>
        <p:sp>
          <p:nvSpPr>
            <p:cNvPr id="42" name="object 42" descr=""/>
            <p:cNvSpPr/>
            <p:nvPr/>
          </p:nvSpPr>
          <p:spPr>
            <a:xfrm>
              <a:off x="6153760" y="950213"/>
              <a:ext cx="476250" cy="1983105"/>
            </a:xfrm>
            <a:custGeom>
              <a:avLst/>
              <a:gdLst/>
              <a:ahLst/>
              <a:cxnLst/>
              <a:rect l="l" t="t" r="r" b="b"/>
              <a:pathLst>
                <a:path w="476250" h="1983105">
                  <a:moveTo>
                    <a:pt x="76200" y="1906524"/>
                  </a:moveTo>
                  <a:lnTo>
                    <a:pt x="0" y="1944624"/>
                  </a:lnTo>
                  <a:lnTo>
                    <a:pt x="76200" y="1982724"/>
                  </a:lnTo>
                  <a:lnTo>
                    <a:pt x="76200" y="1906524"/>
                  </a:lnTo>
                  <a:close/>
                </a:path>
                <a:path w="476250" h="1983105">
                  <a:moveTo>
                    <a:pt x="475640" y="38100"/>
                  </a:moveTo>
                  <a:lnTo>
                    <a:pt x="399440" y="0"/>
                  </a:lnTo>
                  <a:lnTo>
                    <a:pt x="399440" y="76200"/>
                  </a:lnTo>
                  <a:lnTo>
                    <a:pt x="475640" y="38100"/>
                  </a:lnTo>
                  <a:close/>
                </a:path>
              </a:pathLst>
            </a:custGeom>
            <a:solidFill>
              <a:srgbClr val="B6DCDF"/>
            </a:solidFill>
          </p:spPr>
          <p:txBody>
            <a:bodyPr wrap="square" lIns="0" tIns="0" rIns="0" bIns="0" rtlCol="0"/>
            <a:lstStyle/>
            <a:p/>
          </p:txBody>
        </p:sp>
        <p:sp>
          <p:nvSpPr>
            <p:cNvPr id="43" name="object 43" descr=""/>
            <p:cNvSpPr/>
            <p:nvPr/>
          </p:nvSpPr>
          <p:spPr>
            <a:xfrm>
              <a:off x="6217260" y="2894839"/>
              <a:ext cx="349250" cy="205740"/>
            </a:xfrm>
            <a:custGeom>
              <a:avLst/>
              <a:gdLst/>
              <a:ahLst/>
              <a:cxnLst/>
              <a:rect l="l" t="t" r="r" b="b"/>
              <a:pathLst>
                <a:path w="349250" h="205739">
                  <a:moveTo>
                    <a:pt x="0" y="0"/>
                  </a:moveTo>
                  <a:lnTo>
                    <a:pt x="174320" y="0"/>
                  </a:lnTo>
                  <a:lnTo>
                    <a:pt x="174320" y="205714"/>
                  </a:lnTo>
                  <a:lnTo>
                    <a:pt x="348640" y="205714"/>
                  </a:lnTo>
                </a:path>
              </a:pathLst>
            </a:custGeom>
            <a:ln w="12700">
              <a:solidFill>
                <a:srgbClr val="B6DCDF"/>
              </a:solidFill>
              <a:prstDash val="sysDash"/>
            </a:ln>
          </p:spPr>
          <p:txBody>
            <a:bodyPr wrap="square" lIns="0" tIns="0" rIns="0" bIns="0" rtlCol="0"/>
            <a:lstStyle/>
            <a:p/>
          </p:txBody>
        </p:sp>
        <p:sp>
          <p:nvSpPr>
            <p:cNvPr id="44" name="object 44" descr=""/>
            <p:cNvSpPr/>
            <p:nvPr/>
          </p:nvSpPr>
          <p:spPr>
            <a:xfrm>
              <a:off x="6153760" y="2856737"/>
              <a:ext cx="476250" cy="281940"/>
            </a:xfrm>
            <a:custGeom>
              <a:avLst/>
              <a:gdLst/>
              <a:ahLst/>
              <a:cxnLst/>
              <a:rect l="l" t="t" r="r" b="b"/>
              <a:pathLst>
                <a:path w="476250" h="281939">
                  <a:moveTo>
                    <a:pt x="76200" y="0"/>
                  </a:moveTo>
                  <a:lnTo>
                    <a:pt x="0" y="38100"/>
                  </a:lnTo>
                  <a:lnTo>
                    <a:pt x="76200" y="76200"/>
                  </a:lnTo>
                  <a:lnTo>
                    <a:pt x="76200" y="0"/>
                  </a:lnTo>
                  <a:close/>
                </a:path>
                <a:path w="476250" h="281939">
                  <a:moveTo>
                    <a:pt x="475640" y="243814"/>
                  </a:moveTo>
                  <a:lnTo>
                    <a:pt x="399440" y="205714"/>
                  </a:lnTo>
                  <a:lnTo>
                    <a:pt x="399440" y="281914"/>
                  </a:lnTo>
                  <a:lnTo>
                    <a:pt x="475640" y="243814"/>
                  </a:lnTo>
                  <a:close/>
                </a:path>
              </a:pathLst>
            </a:custGeom>
            <a:solidFill>
              <a:srgbClr val="B6DCDF"/>
            </a:solidFill>
          </p:spPr>
          <p:txBody>
            <a:bodyPr wrap="square" lIns="0" tIns="0" rIns="0" bIns="0" rtlCol="0"/>
            <a:lstStyle/>
            <a:p/>
          </p:txBody>
        </p:sp>
        <p:sp>
          <p:nvSpPr>
            <p:cNvPr id="45" name="object 45" descr=""/>
            <p:cNvSpPr/>
            <p:nvPr/>
          </p:nvSpPr>
          <p:spPr>
            <a:xfrm>
              <a:off x="6217260" y="2044434"/>
              <a:ext cx="349250" cy="850900"/>
            </a:xfrm>
            <a:custGeom>
              <a:avLst/>
              <a:gdLst/>
              <a:ahLst/>
              <a:cxnLst/>
              <a:rect l="l" t="t" r="r" b="b"/>
              <a:pathLst>
                <a:path w="349250" h="850900">
                  <a:moveTo>
                    <a:pt x="348640" y="0"/>
                  </a:moveTo>
                  <a:lnTo>
                    <a:pt x="174320" y="0"/>
                  </a:lnTo>
                  <a:lnTo>
                    <a:pt x="174320" y="850404"/>
                  </a:lnTo>
                  <a:lnTo>
                    <a:pt x="0" y="850404"/>
                  </a:lnTo>
                </a:path>
              </a:pathLst>
            </a:custGeom>
            <a:ln w="12700">
              <a:solidFill>
                <a:srgbClr val="B6DCDF"/>
              </a:solidFill>
              <a:prstDash val="sysDash"/>
            </a:ln>
          </p:spPr>
          <p:txBody>
            <a:bodyPr wrap="square" lIns="0" tIns="0" rIns="0" bIns="0" rtlCol="0"/>
            <a:lstStyle/>
            <a:p/>
          </p:txBody>
        </p:sp>
        <p:sp>
          <p:nvSpPr>
            <p:cNvPr id="46" name="object 46" descr=""/>
            <p:cNvSpPr/>
            <p:nvPr/>
          </p:nvSpPr>
          <p:spPr>
            <a:xfrm>
              <a:off x="6153760" y="2006333"/>
              <a:ext cx="476250" cy="927100"/>
            </a:xfrm>
            <a:custGeom>
              <a:avLst/>
              <a:gdLst/>
              <a:ahLst/>
              <a:cxnLst/>
              <a:rect l="l" t="t" r="r" b="b"/>
              <a:pathLst>
                <a:path w="476250" h="927100">
                  <a:moveTo>
                    <a:pt x="76200" y="850404"/>
                  </a:moveTo>
                  <a:lnTo>
                    <a:pt x="0" y="888504"/>
                  </a:lnTo>
                  <a:lnTo>
                    <a:pt x="76200" y="926604"/>
                  </a:lnTo>
                  <a:lnTo>
                    <a:pt x="76200" y="850404"/>
                  </a:lnTo>
                  <a:close/>
                </a:path>
                <a:path w="476250" h="927100">
                  <a:moveTo>
                    <a:pt x="475640" y="38100"/>
                  </a:moveTo>
                  <a:lnTo>
                    <a:pt x="399440" y="0"/>
                  </a:lnTo>
                  <a:lnTo>
                    <a:pt x="399440" y="76200"/>
                  </a:lnTo>
                  <a:lnTo>
                    <a:pt x="475640" y="38100"/>
                  </a:lnTo>
                  <a:close/>
                </a:path>
              </a:pathLst>
            </a:custGeom>
            <a:solidFill>
              <a:srgbClr val="B6DCDF"/>
            </a:solidFill>
          </p:spPr>
          <p:txBody>
            <a:bodyPr wrap="square" lIns="0" tIns="0" rIns="0" bIns="0" rtlCol="0"/>
            <a:lstStyle/>
            <a:p/>
          </p:txBody>
        </p:sp>
        <p:sp>
          <p:nvSpPr>
            <p:cNvPr id="47" name="object 47" descr=""/>
            <p:cNvSpPr/>
            <p:nvPr/>
          </p:nvSpPr>
          <p:spPr>
            <a:xfrm>
              <a:off x="6217260" y="2894836"/>
              <a:ext cx="349250" cy="1262380"/>
            </a:xfrm>
            <a:custGeom>
              <a:avLst/>
              <a:gdLst/>
              <a:ahLst/>
              <a:cxnLst/>
              <a:rect l="l" t="t" r="r" b="b"/>
              <a:pathLst>
                <a:path w="349250" h="1262379">
                  <a:moveTo>
                    <a:pt x="348640" y="1261833"/>
                  </a:moveTo>
                  <a:lnTo>
                    <a:pt x="174320" y="1261833"/>
                  </a:lnTo>
                  <a:lnTo>
                    <a:pt x="174320" y="0"/>
                  </a:lnTo>
                  <a:lnTo>
                    <a:pt x="0" y="0"/>
                  </a:lnTo>
                </a:path>
              </a:pathLst>
            </a:custGeom>
            <a:ln w="12700">
              <a:solidFill>
                <a:srgbClr val="B6DCDF"/>
              </a:solidFill>
              <a:prstDash val="sysDash"/>
            </a:ln>
          </p:spPr>
          <p:txBody>
            <a:bodyPr wrap="square" lIns="0" tIns="0" rIns="0" bIns="0" rtlCol="0"/>
            <a:lstStyle/>
            <a:p/>
          </p:txBody>
        </p:sp>
        <p:sp>
          <p:nvSpPr>
            <p:cNvPr id="48" name="object 48" descr=""/>
            <p:cNvSpPr/>
            <p:nvPr/>
          </p:nvSpPr>
          <p:spPr>
            <a:xfrm>
              <a:off x="6153760" y="2856737"/>
              <a:ext cx="476250" cy="1338580"/>
            </a:xfrm>
            <a:custGeom>
              <a:avLst/>
              <a:gdLst/>
              <a:ahLst/>
              <a:cxnLst/>
              <a:rect l="l" t="t" r="r" b="b"/>
              <a:pathLst>
                <a:path w="476250" h="1338579">
                  <a:moveTo>
                    <a:pt x="76200" y="0"/>
                  </a:moveTo>
                  <a:lnTo>
                    <a:pt x="0" y="38100"/>
                  </a:lnTo>
                  <a:lnTo>
                    <a:pt x="76200" y="76200"/>
                  </a:lnTo>
                  <a:lnTo>
                    <a:pt x="76200" y="0"/>
                  </a:lnTo>
                  <a:close/>
                </a:path>
                <a:path w="476250" h="1338579">
                  <a:moveTo>
                    <a:pt x="475640" y="1299933"/>
                  </a:moveTo>
                  <a:lnTo>
                    <a:pt x="399440" y="1261833"/>
                  </a:lnTo>
                  <a:lnTo>
                    <a:pt x="399440" y="1338033"/>
                  </a:lnTo>
                  <a:lnTo>
                    <a:pt x="475640" y="1299933"/>
                  </a:lnTo>
                  <a:close/>
                </a:path>
              </a:pathLst>
            </a:custGeom>
            <a:solidFill>
              <a:srgbClr val="B6DCDF"/>
            </a:solidFill>
          </p:spPr>
          <p:txBody>
            <a:bodyPr wrap="square" lIns="0" tIns="0" rIns="0" bIns="0" rtlCol="0"/>
            <a:lstStyle/>
            <a:p/>
          </p:txBody>
        </p:sp>
      </p:grpSp>
      <p:sp>
        <p:nvSpPr>
          <p:cNvPr id="49" name="object 49" descr=""/>
          <p:cNvSpPr txBox="1"/>
          <p:nvPr/>
        </p:nvSpPr>
        <p:spPr>
          <a:xfrm>
            <a:off x="6629400" y="2265641"/>
            <a:ext cx="1930400" cy="614045"/>
          </a:xfrm>
          <a:prstGeom prst="rect">
            <a:avLst/>
          </a:prstGeom>
          <a:solidFill>
            <a:srgbClr val="E9F4F5">
              <a:alpha val="30194"/>
            </a:srgbClr>
          </a:solidFill>
        </p:spPr>
        <p:txBody>
          <a:bodyPr wrap="square" lIns="0" tIns="7620" rIns="0" bIns="0" rtlCol="0" vert="horz">
            <a:spAutoFit/>
          </a:bodyPr>
          <a:lstStyle/>
          <a:p>
            <a:pPr marL="91440">
              <a:lnSpc>
                <a:spcPct val="150000"/>
              </a:lnSpc>
              <a:spcBef>
                <a:spcPts val="60"/>
              </a:spcBef>
            </a:pPr>
            <a:r>
              <a:rPr dirty="0" sz="1200" spc="-5">
                <a:latin typeface="SimSun"/>
                <a:cs typeface="SimSun"/>
              </a:rPr>
              <a:t>服务安全巡查与人流管控，</a:t>
            </a:r>
            <a:r>
              <a:rPr dirty="0" sz="1200" spc="-10">
                <a:latin typeface="SimSun"/>
                <a:cs typeface="SimSun"/>
              </a:rPr>
              <a:t>保障活动有序开展</a:t>
            </a:r>
            <a:endParaRPr sz="1200">
              <a:latin typeface="SimSun"/>
              <a:cs typeface="SimSun"/>
            </a:endParaRPr>
          </a:p>
        </p:txBody>
      </p:sp>
      <p:sp>
        <p:nvSpPr>
          <p:cNvPr id="50" name="object 50" descr=""/>
          <p:cNvSpPr txBox="1"/>
          <p:nvPr/>
        </p:nvSpPr>
        <p:spPr>
          <a:xfrm>
            <a:off x="6629400" y="3321761"/>
            <a:ext cx="1930400" cy="614045"/>
          </a:xfrm>
          <a:prstGeom prst="rect">
            <a:avLst/>
          </a:prstGeom>
          <a:solidFill>
            <a:srgbClr val="E9F4F5">
              <a:alpha val="30194"/>
            </a:srgbClr>
          </a:solidFill>
        </p:spPr>
        <p:txBody>
          <a:bodyPr wrap="square" lIns="0" tIns="7620" rIns="0" bIns="0" rtlCol="0" vert="horz">
            <a:spAutoFit/>
          </a:bodyPr>
          <a:lstStyle/>
          <a:p>
            <a:pPr marL="91440">
              <a:lnSpc>
                <a:spcPct val="150000"/>
              </a:lnSpc>
              <a:spcBef>
                <a:spcPts val="60"/>
              </a:spcBef>
            </a:pPr>
            <a:r>
              <a:rPr dirty="0" sz="1200" spc="-5">
                <a:latin typeface="SimSun"/>
                <a:cs typeface="SimSun"/>
              </a:rPr>
              <a:t>线下到线上，对接参展方，</a:t>
            </a:r>
            <a:r>
              <a:rPr dirty="0" sz="1200" spc="-10">
                <a:latin typeface="SimSun"/>
                <a:cs typeface="SimSun"/>
              </a:rPr>
              <a:t>向观众推广特色产品</a:t>
            </a:r>
            <a:endParaRPr sz="1200">
              <a:latin typeface="SimSun"/>
              <a:cs typeface="SimSun"/>
            </a:endParaRPr>
          </a:p>
        </p:txBody>
      </p:sp>
      <p:sp>
        <p:nvSpPr>
          <p:cNvPr id="51" name="object 51" descr=""/>
          <p:cNvSpPr txBox="1"/>
          <p:nvPr/>
        </p:nvSpPr>
        <p:spPr>
          <a:xfrm>
            <a:off x="6638163" y="4291558"/>
            <a:ext cx="1917700" cy="614045"/>
          </a:xfrm>
          <a:prstGeom prst="rect">
            <a:avLst/>
          </a:prstGeom>
          <a:solidFill>
            <a:srgbClr val="E9F4F5">
              <a:alpha val="30194"/>
            </a:srgbClr>
          </a:solidFill>
        </p:spPr>
        <p:txBody>
          <a:bodyPr wrap="square" lIns="0" tIns="7620" rIns="0" bIns="0" rtlCol="0" vert="horz">
            <a:spAutoFit/>
          </a:bodyPr>
          <a:lstStyle/>
          <a:p>
            <a:pPr marL="91440" marR="139700">
              <a:lnSpc>
                <a:spcPct val="150000"/>
              </a:lnSpc>
              <a:spcBef>
                <a:spcPts val="60"/>
              </a:spcBef>
            </a:pPr>
            <a:r>
              <a:rPr dirty="0" sz="1200" spc="-5">
                <a:latin typeface="SimSun"/>
                <a:cs typeface="SimSun"/>
              </a:rPr>
              <a:t>针对不同业务需要可申请</a:t>
            </a:r>
            <a:r>
              <a:rPr dirty="0" sz="1200" spc="-10">
                <a:latin typeface="SimSun"/>
                <a:cs typeface="SimSun"/>
              </a:rPr>
              <a:t>授权拉取影像数据</a:t>
            </a:r>
            <a:endParaRPr sz="1200">
              <a:latin typeface="SimSun"/>
              <a:cs typeface="SimSu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5979" y="135544"/>
            <a:ext cx="4274185" cy="513080"/>
          </a:xfrm>
          <a:prstGeom prst="rect"/>
        </p:spPr>
        <p:txBody>
          <a:bodyPr wrap="square" lIns="0" tIns="12065" rIns="0" bIns="0" rtlCol="0" vert="horz">
            <a:spAutoFit/>
          </a:bodyPr>
          <a:lstStyle/>
          <a:p>
            <a:pPr marL="12700">
              <a:lnSpc>
                <a:spcPct val="100000"/>
              </a:lnSpc>
              <a:spcBef>
                <a:spcPts val="95"/>
              </a:spcBef>
            </a:pPr>
            <a:r>
              <a:rPr dirty="0" spc="-35"/>
              <a:t>视频</a:t>
            </a:r>
            <a:r>
              <a:rPr dirty="0" spc="-30">
                <a:latin typeface="Times New Roman"/>
                <a:cs typeface="Times New Roman"/>
              </a:rPr>
              <a:t>VR</a:t>
            </a:r>
            <a:r>
              <a:rPr dirty="0" spc="-45"/>
              <a:t>类业务应用需求</a:t>
            </a:r>
          </a:p>
        </p:txBody>
      </p:sp>
      <p:graphicFrame>
        <p:nvGraphicFramePr>
          <p:cNvPr id="3" name="object 3" descr=""/>
          <p:cNvGraphicFramePr>
            <a:graphicFrameLocks noGrp="1"/>
          </p:cNvGraphicFramePr>
          <p:nvPr/>
        </p:nvGraphicFramePr>
        <p:xfrm>
          <a:off x="317498" y="837209"/>
          <a:ext cx="8658225" cy="4070984"/>
        </p:xfrm>
        <a:graphic>
          <a:graphicData uri="http://schemas.openxmlformats.org/drawingml/2006/table">
            <a:tbl>
              <a:tblPr firstRow="1" bandRow="1">
                <a:tableStyleId>{2D5ABB26-0587-4C30-8999-92F81FD0307C}</a:tableStyleId>
              </a:tblPr>
              <a:tblGrid>
                <a:gridCol w="1402080"/>
                <a:gridCol w="6307455"/>
                <a:gridCol w="860425"/>
              </a:tblGrid>
              <a:tr h="367030">
                <a:tc>
                  <a:txBody>
                    <a:bodyPr/>
                    <a:lstStyle/>
                    <a:p>
                      <a:pPr marL="67945">
                        <a:lnSpc>
                          <a:spcPct val="100000"/>
                        </a:lnSpc>
                        <a:spcBef>
                          <a:spcPts val="785"/>
                        </a:spcBef>
                      </a:pPr>
                      <a:r>
                        <a:rPr dirty="0" sz="1200" spc="-15" b="1">
                          <a:solidFill>
                            <a:srgbClr val="FFFFFF"/>
                          </a:solidFill>
                          <a:latin typeface="Microsoft YaHei"/>
                          <a:cs typeface="Microsoft YaHei"/>
                        </a:rPr>
                        <a:t>业务类型</a:t>
                      </a:r>
                      <a:endParaRPr sz="1200">
                        <a:latin typeface="Microsoft YaHei"/>
                        <a:cs typeface="Microsoft YaHei"/>
                      </a:endParaRPr>
                    </a:p>
                  </a:txBody>
                  <a:tcPr marL="0" marR="0" marB="0" marT="9969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C6600"/>
                    </a:solidFill>
                  </a:tcPr>
                </a:tc>
                <a:tc>
                  <a:txBody>
                    <a:bodyPr/>
                    <a:lstStyle/>
                    <a:p>
                      <a:pPr marL="68580">
                        <a:lnSpc>
                          <a:spcPct val="100000"/>
                        </a:lnSpc>
                        <a:spcBef>
                          <a:spcPts val="785"/>
                        </a:spcBef>
                      </a:pPr>
                      <a:r>
                        <a:rPr dirty="0" sz="1200" spc="-10" b="1">
                          <a:solidFill>
                            <a:srgbClr val="FFFFFF"/>
                          </a:solidFill>
                          <a:latin typeface="Microsoft YaHei"/>
                          <a:cs typeface="Microsoft YaHei"/>
                        </a:rPr>
                        <a:t>对网络指标的要求</a:t>
                      </a:r>
                      <a:endParaRPr sz="1200">
                        <a:latin typeface="Microsoft YaHei"/>
                        <a:cs typeface="Microsoft YaHei"/>
                      </a:endParaRPr>
                    </a:p>
                  </a:txBody>
                  <a:tcPr marL="0" marR="0" marB="0" marT="9969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C6600"/>
                    </a:solidFill>
                  </a:tcPr>
                </a:tc>
                <a:tc>
                  <a:txBody>
                    <a:bodyPr/>
                    <a:lstStyle/>
                    <a:p>
                      <a:pPr marL="70485">
                        <a:lnSpc>
                          <a:spcPct val="100000"/>
                        </a:lnSpc>
                        <a:spcBef>
                          <a:spcPts val="785"/>
                        </a:spcBef>
                      </a:pPr>
                      <a:r>
                        <a:rPr dirty="0" sz="1200" spc="-25" b="1">
                          <a:solidFill>
                            <a:srgbClr val="FFFFFF"/>
                          </a:solidFill>
                          <a:latin typeface="Microsoft YaHei"/>
                          <a:cs typeface="Microsoft YaHei"/>
                        </a:rPr>
                        <a:t>网络</a:t>
                      </a:r>
                      <a:endParaRPr sz="1200">
                        <a:latin typeface="Microsoft YaHei"/>
                        <a:cs typeface="Microsoft YaHei"/>
                      </a:endParaRPr>
                    </a:p>
                  </a:txBody>
                  <a:tcPr marL="0" marR="0" marB="0" marT="9969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CC6600"/>
                    </a:solidFill>
                  </a:tcPr>
                </a:tc>
              </a:tr>
              <a:tr h="382905">
                <a:tc>
                  <a:txBody>
                    <a:bodyPr/>
                    <a:lstStyle/>
                    <a:p>
                      <a:pPr marL="68580">
                        <a:lnSpc>
                          <a:spcPct val="100000"/>
                        </a:lnSpc>
                        <a:spcBef>
                          <a:spcPts val="844"/>
                        </a:spcBef>
                      </a:pPr>
                      <a:r>
                        <a:rPr dirty="0" sz="1200" spc="-20" b="1">
                          <a:solidFill>
                            <a:srgbClr val="FFFFFF"/>
                          </a:solidFill>
                          <a:latin typeface="Microsoft YaHei"/>
                          <a:cs typeface="Microsoft YaHei"/>
                        </a:rPr>
                        <a:t>4K</a:t>
                      </a:r>
                      <a:r>
                        <a:rPr dirty="0" sz="1200" spc="-10" b="1">
                          <a:solidFill>
                            <a:srgbClr val="FFFFFF"/>
                          </a:solidFill>
                          <a:latin typeface="Microsoft YaHei"/>
                          <a:cs typeface="Microsoft YaHei"/>
                        </a:rPr>
                        <a:t>高清视频业务</a:t>
                      </a:r>
                      <a:endParaRPr sz="1200">
                        <a:latin typeface="Microsoft YaHei"/>
                        <a:cs typeface="Microsoft YaHei"/>
                      </a:endParaRPr>
                    </a:p>
                  </a:txBody>
                  <a:tcPr marL="0" marR="0" marB="0" marT="10731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2D050"/>
                    </a:solidFill>
                  </a:tcPr>
                </a:tc>
                <a:tc>
                  <a:txBody>
                    <a:bodyPr/>
                    <a:lstStyle/>
                    <a:p>
                      <a:pPr marL="335280">
                        <a:lnSpc>
                          <a:spcPct val="100000"/>
                        </a:lnSpc>
                        <a:spcBef>
                          <a:spcPts val="844"/>
                        </a:spcBef>
                      </a:pPr>
                      <a:r>
                        <a:rPr dirty="0" sz="1200">
                          <a:latin typeface="Microsoft YaHei"/>
                          <a:cs typeface="Microsoft YaHei"/>
                        </a:rPr>
                        <a:t>单个用户感知速率至少需要</a:t>
                      </a:r>
                      <a:r>
                        <a:rPr dirty="0" sz="1200" spc="-10">
                          <a:latin typeface="Microsoft YaHei"/>
                          <a:cs typeface="Microsoft YaHei"/>
                        </a:rPr>
                        <a:t>30~120Mbps</a:t>
                      </a:r>
                      <a:r>
                        <a:rPr dirty="0" sz="1200" spc="-50">
                          <a:latin typeface="Microsoft YaHei"/>
                          <a:cs typeface="Microsoft YaHei"/>
                        </a:rPr>
                        <a:t>。</a:t>
                      </a:r>
                      <a:endParaRPr sz="1200">
                        <a:latin typeface="Microsoft YaHei"/>
                        <a:cs typeface="Microsoft YaHei"/>
                      </a:endParaRPr>
                    </a:p>
                  </a:txBody>
                  <a:tcPr marL="0" marR="0" marB="0" marT="10731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CCCC"/>
                    </a:solidFill>
                  </a:tcPr>
                </a:tc>
                <a:tc>
                  <a:txBody>
                    <a:bodyPr/>
                    <a:lstStyle/>
                    <a:p>
                      <a:pPr algn="ctr" marL="1270">
                        <a:lnSpc>
                          <a:spcPct val="100000"/>
                        </a:lnSpc>
                        <a:spcBef>
                          <a:spcPts val="844"/>
                        </a:spcBef>
                      </a:pPr>
                      <a:r>
                        <a:rPr dirty="0" sz="1200" spc="-25">
                          <a:latin typeface="Microsoft YaHei"/>
                          <a:cs typeface="Microsoft YaHei"/>
                        </a:rPr>
                        <a:t>4G</a:t>
                      </a:r>
                      <a:endParaRPr sz="1200">
                        <a:latin typeface="Microsoft YaHei"/>
                        <a:cs typeface="Microsoft YaHei"/>
                      </a:endParaRPr>
                    </a:p>
                  </a:txBody>
                  <a:tcPr marL="0" marR="0" marB="0" marT="10731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CCCC"/>
                    </a:solidFill>
                  </a:tcPr>
                </a:tc>
              </a:tr>
              <a:tr h="375285">
                <a:tc>
                  <a:txBody>
                    <a:bodyPr/>
                    <a:lstStyle/>
                    <a:p>
                      <a:pPr marL="68580">
                        <a:lnSpc>
                          <a:spcPct val="100000"/>
                        </a:lnSpc>
                        <a:spcBef>
                          <a:spcPts val="815"/>
                        </a:spcBef>
                      </a:pPr>
                      <a:r>
                        <a:rPr dirty="0" sz="1200" spc="-20" b="1">
                          <a:solidFill>
                            <a:srgbClr val="FFFFFF"/>
                          </a:solidFill>
                          <a:latin typeface="Microsoft YaHei"/>
                          <a:cs typeface="Microsoft YaHei"/>
                        </a:rPr>
                        <a:t>8K</a:t>
                      </a:r>
                      <a:r>
                        <a:rPr dirty="0" sz="1200" spc="-10" b="1">
                          <a:solidFill>
                            <a:srgbClr val="FFFFFF"/>
                          </a:solidFill>
                          <a:latin typeface="Microsoft YaHei"/>
                          <a:cs typeface="Microsoft YaHei"/>
                        </a:rPr>
                        <a:t>高清视频业务</a:t>
                      </a:r>
                      <a:endParaRPr sz="1200">
                        <a:latin typeface="Microsoft YaHei"/>
                        <a:cs typeface="Microsoft YaHei"/>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marL="335280">
                        <a:lnSpc>
                          <a:spcPct val="100000"/>
                        </a:lnSpc>
                        <a:spcBef>
                          <a:spcPts val="815"/>
                        </a:spcBef>
                      </a:pPr>
                      <a:r>
                        <a:rPr dirty="0" sz="1200">
                          <a:latin typeface="Microsoft YaHei"/>
                          <a:cs typeface="Microsoft YaHei"/>
                        </a:rPr>
                        <a:t>单个用户下行感知速率至少需要</a:t>
                      </a:r>
                      <a:r>
                        <a:rPr dirty="0" sz="1200" spc="-10">
                          <a:latin typeface="Microsoft YaHei"/>
                          <a:cs typeface="Microsoft YaHei"/>
                        </a:rPr>
                        <a:t>1Gbps</a:t>
                      </a:r>
                      <a:r>
                        <a:rPr dirty="0" sz="1200" spc="-5">
                          <a:latin typeface="Microsoft YaHei"/>
                          <a:cs typeface="Microsoft YaHei"/>
                        </a:rPr>
                        <a:t>，单小区则要满足</a:t>
                      </a:r>
                      <a:r>
                        <a:rPr dirty="0" sz="1200" spc="-10">
                          <a:latin typeface="Microsoft YaHei"/>
                          <a:cs typeface="Microsoft YaHei"/>
                        </a:rPr>
                        <a:t>10Gbps以上更高的吞吐量。</a:t>
                      </a:r>
                      <a:endParaRPr sz="1200">
                        <a:latin typeface="Microsoft YaHei"/>
                        <a:cs typeface="Microsoft YaHei"/>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c>
                  <a:txBody>
                    <a:bodyPr/>
                    <a:lstStyle/>
                    <a:p>
                      <a:pPr algn="ctr" marL="1270">
                        <a:lnSpc>
                          <a:spcPct val="100000"/>
                        </a:lnSpc>
                        <a:spcBef>
                          <a:spcPts val="815"/>
                        </a:spcBef>
                      </a:pPr>
                      <a:r>
                        <a:rPr dirty="0" sz="1200" spc="-25">
                          <a:latin typeface="Microsoft YaHei"/>
                          <a:cs typeface="Microsoft YaHei"/>
                        </a:rPr>
                        <a:t>5G</a:t>
                      </a:r>
                      <a:endParaRPr sz="1200">
                        <a:latin typeface="Microsoft YaHei"/>
                        <a:cs typeface="Microsoft YaHei"/>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r>
              <a:tr h="822960">
                <a:tc>
                  <a:txBody>
                    <a:bodyPr/>
                    <a:lstStyle/>
                    <a:p>
                      <a:pPr>
                        <a:lnSpc>
                          <a:spcPct val="100000"/>
                        </a:lnSpc>
                        <a:spcBef>
                          <a:spcPts val="1195"/>
                        </a:spcBef>
                      </a:pPr>
                      <a:endParaRPr sz="1200">
                        <a:latin typeface="Times New Roman"/>
                        <a:cs typeface="Times New Roman"/>
                      </a:endParaRPr>
                    </a:p>
                    <a:p>
                      <a:pPr marL="68580">
                        <a:lnSpc>
                          <a:spcPct val="100000"/>
                        </a:lnSpc>
                        <a:spcBef>
                          <a:spcPts val="5"/>
                        </a:spcBef>
                      </a:pPr>
                      <a:r>
                        <a:rPr dirty="0" sz="1200" spc="-20" b="1">
                          <a:solidFill>
                            <a:srgbClr val="FFFFFF"/>
                          </a:solidFill>
                          <a:latin typeface="Microsoft YaHei"/>
                          <a:cs typeface="Microsoft YaHei"/>
                        </a:rPr>
                        <a:t>VR</a:t>
                      </a:r>
                      <a:r>
                        <a:rPr dirty="0" sz="1200" spc="-25" b="1">
                          <a:solidFill>
                            <a:srgbClr val="FFFFFF"/>
                          </a:solidFill>
                          <a:latin typeface="Microsoft YaHei"/>
                          <a:cs typeface="Microsoft YaHei"/>
                        </a:rPr>
                        <a:t>业务</a:t>
                      </a:r>
                      <a:endParaRPr sz="1200">
                        <a:latin typeface="Microsoft YaHei"/>
                        <a:cs typeface="Microsoft YaHei"/>
                      </a:endParaRPr>
                    </a:p>
                  </a:txBody>
                  <a:tcPr marL="0" marR="0" marB="0" marT="1517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marL="335280">
                        <a:lnSpc>
                          <a:spcPct val="100000"/>
                        </a:lnSpc>
                        <a:spcBef>
                          <a:spcPts val="420"/>
                        </a:spcBef>
                      </a:pPr>
                      <a:r>
                        <a:rPr dirty="0" sz="1200" spc="-5">
                          <a:latin typeface="Microsoft YaHei"/>
                          <a:cs typeface="Microsoft YaHei"/>
                        </a:rPr>
                        <a:t>典型：</a:t>
                      </a:r>
                      <a:r>
                        <a:rPr dirty="0" sz="1200" spc="-10">
                          <a:latin typeface="Microsoft YaHei"/>
                          <a:cs typeface="Microsoft YaHei"/>
                        </a:rPr>
                        <a:t>40Mbps</a:t>
                      </a:r>
                      <a:r>
                        <a:rPr dirty="0" sz="1200" spc="-5">
                          <a:latin typeface="Microsoft YaHei"/>
                          <a:cs typeface="Microsoft YaHei"/>
                        </a:rPr>
                        <a:t>的实时速率，</a:t>
                      </a:r>
                      <a:r>
                        <a:rPr dirty="0" sz="1200" spc="-10">
                          <a:latin typeface="Microsoft YaHei"/>
                          <a:cs typeface="Microsoft YaHei"/>
                        </a:rPr>
                        <a:t>&lt;40ms</a:t>
                      </a:r>
                      <a:r>
                        <a:rPr dirty="0" sz="1200" spc="-5">
                          <a:latin typeface="Microsoft YaHei"/>
                          <a:cs typeface="Microsoft YaHei"/>
                        </a:rPr>
                        <a:t>的时延，时延太大会有眩晕；</a:t>
                      </a:r>
                      <a:endParaRPr sz="1200">
                        <a:latin typeface="Microsoft YaHei"/>
                        <a:cs typeface="Microsoft YaHei"/>
                      </a:endParaRPr>
                    </a:p>
                    <a:p>
                      <a:pPr marL="335280" marR="2797810">
                        <a:lnSpc>
                          <a:spcPct val="150000"/>
                        </a:lnSpc>
                      </a:pPr>
                      <a:r>
                        <a:rPr dirty="0" sz="1200" spc="-5">
                          <a:latin typeface="Microsoft YaHei"/>
                          <a:cs typeface="Microsoft YaHei"/>
                        </a:rPr>
                        <a:t>挑战：</a:t>
                      </a:r>
                      <a:r>
                        <a:rPr dirty="0" sz="1200" spc="-10">
                          <a:latin typeface="Microsoft YaHei"/>
                          <a:cs typeface="Microsoft YaHei"/>
                        </a:rPr>
                        <a:t>100Mbps的实时速率，&lt;20ms</a:t>
                      </a:r>
                      <a:r>
                        <a:rPr dirty="0" sz="1200" spc="-15">
                          <a:latin typeface="Microsoft YaHei"/>
                          <a:cs typeface="Microsoft YaHei"/>
                        </a:rPr>
                        <a:t>的时延；</a:t>
                      </a:r>
                      <a:r>
                        <a:rPr dirty="0" sz="1200" spc="-5">
                          <a:latin typeface="Microsoft YaHei"/>
                          <a:cs typeface="Microsoft YaHei"/>
                        </a:rPr>
                        <a:t>极致：</a:t>
                      </a:r>
                      <a:r>
                        <a:rPr dirty="0" sz="1200" spc="-10">
                          <a:latin typeface="Microsoft YaHei"/>
                          <a:cs typeface="Microsoft YaHei"/>
                        </a:rPr>
                        <a:t>1000Mbps</a:t>
                      </a:r>
                      <a:r>
                        <a:rPr dirty="0" sz="1200" spc="-5">
                          <a:latin typeface="Microsoft YaHei"/>
                          <a:cs typeface="Microsoft YaHei"/>
                        </a:rPr>
                        <a:t>的实时速率，</a:t>
                      </a:r>
                      <a:r>
                        <a:rPr dirty="0" sz="1200" spc="-10">
                          <a:latin typeface="Microsoft YaHei"/>
                          <a:cs typeface="Microsoft YaHei"/>
                        </a:rPr>
                        <a:t>&lt;2ms</a:t>
                      </a:r>
                      <a:r>
                        <a:rPr dirty="0" sz="1200" spc="-15">
                          <a:latin typeface="Microsoft YaHei"/>
                          <a:cs typeface="Microsoft YaHei"/>
                        </a:rPr>
                        <a:t>的时延。</a:t>
                      </a:r>
                      <a:endParaRPr sz="1200">
                        <a:latin typeface="Microsoft YaHei"/>
                        <a:cs typeface="Microsoft YaHei"/>
                      </a:endParaRPr>
                    </a:p>
                  </a:txBody>
                  <a:tcPr marL="0" marR="0" marB="0" marT="533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CCC"/>
                    </a:solidFill>
                  </a:tcPr>
                </a:tc>
                <a:tc>
                  <a:txBody>
                    <a:bodyPr/>
                    <a:lstStyle/>
                    <a:p>
                      <a:pPr>
                        <a:lnSpc>
                          <a:spcPct val="100000"/>
                        </a:lnSpc>
                        <a:spcBef>
                          <a:spcPts val="1195"/>
                        </a:spcBef>
                      </a:pPr>
                      <a:endParaRPr sz="1200">
                        <a:latin typeface="Times New Roman"/>
                        <a:cs typeface="Times New Roman"/>
                      </a:endParaRPr>
                    </a:p>
                    <a:p>
                      <a:pPr algn="ctr" marL="1270">
                        <a:lnSpc>
                          <a:spcPct val="100000"/>
                        </a:lnSpc>
                        <a:spcBef>
                          <a:spcPts val="5"/>
                        </a:spcBef>
                      </a:pPr>
                      <a:r>
                        <a:rPr dirty="0" sz="1200" spc="-25">
                          <a:latin typeface="Microsoft YaHei"/>
                          <a:cs typeface="Microsoft YaHei"/>
                        </a:rPr>
                        <a:t>5G</a:t>
                      </a:r>
                      <a:endParaRPr sz="1200">
                        <a:latin typeface="Microsoft YaHei"/>
                        <a:cs typeface="Microsoft YaHei"/>
                      </a:endParaRPr>
                    </a:p>
                  </a:txBody>
                  <a:tcPr marL="0" marR="0" marB="0" marT="1517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CCC"/>
                    </a:solidFill>
                  </a:tcPr>
                </a:tc>
              </a:tr>
              <a:tr h="822325">
                <a:tc>
                  <a:txBody>
                    <a:bodyPr/>
                    <a:lstStyle/>
                    <a:p>
                      <a:pPr>
                        <a:lnSpc>
                          <a:spcPct val="100000"/>
                        </a:lnSpc>
                        <a:spcBef>
                          <a:spcPts val="1195"/>
                        </a:spcBef>
                      </a:pPr>
                      <a:endParaRPr sz="1200">
                        <a:latin typeface="Times New Roman"/>
                        <a:cs typeface="Times New Roman"/>
                      </a:endParaRPr>
                    </a:p>
                    <a:p>
                      <a:pPr marL="68580">
                        <a:lnSpc>
                          <a:spcPct val="100000"/>
                        </a:lnSpc>
                        <a:spcBef>
                          <a:spcPts val="5"/>
                        </a:spcBef>
                      </a:pPr>
                      <a:r>
                        <a:rPr dirty="0" sz="1200" spc="-10" b="1">
                          <a:solidFill>
                            <a:srgbClr val="FFFFFF"/>
                          </a:solidFill>
                          <a:latin typeface="Microsoft YaHei"/>
                          <a:cs typeface="Microsoft YaHei"/>
                        </a:rPr>
                        <a:t>AR</a:t>
                      </a:r>
                      <a:r>
                        <a:rPr dirty="0" sz="1200" spc="-25" b="1">
                          <a:solidFill>
                            <a:srgbClr val="FFFFFF"/>
                          </a:solidFill>
                          <a:latin typeface="Microsoft YaHei"/>
                          <a:cs typeface="Microsoft YaHei"/>
                        </a:rPr>
                        <a:t>业务</a:t>
                      </a:r>
                      <a:endParaRPr sz="1200">
                        <a:latin typeface="Microsoft YaHei"/>
                        <a:cs typeface="Microsoft YaHei"/>
                      </a:endParaRPr>
                    </a:p>
                  </a:txBody>
                  <a:tcPr marL="0" marR="0" marB="0" marT="1517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marL="245745">
                        <a:lnSpc>
                          <a:spcPct val="100000"/>
                        </a:lnSpc>
                        <a:spcBef>
                          <a:spcPts val="420"/>
                        </a:spcBef>
                      </a:pPr>
                      <a:r>
                        <a:rPr dirty="0" sz="1200" spc="-5">
                          <a:latin typeface="Microsoft YaHei"/>
                          <a:cs typeface="Microsoft YaHei"/>
                        </a:rPr>
                        <a:t>典型：</a:t>
                      </a:r>
                      <a:r>
                        <a:rPr dirty="0" sz="1200" spc="-10">
                          <a:latin typeface="Microsoft YaHei"/>
                          <a:cs typeface="Microsoft YaHei"/>
                        </a:rPr>
                        <a:t>20Mbps</a:t>
                      </a:r>
                      <a:r>
                        <a:rPr dirty="0" sz="1200" spc="-5">
                          <a:latin typeface="Microsoft YaHei"/>
                          <a:cs typeface="Microsoft YaHei"/>
                        </a:rPr>
                        <a:t>的实时速率，</a:t>
                      </a:r>
                      <a:r>
                        <a:rPr dirty="0" sz="1200" spc="-10">
                          <a:latin typeface="Microsoft YaHei"/>
                          <a:cs typeface="Microsoft YaHei"/>
                        </a:rPr>
                        <a:t>&lt;100ms</a:t>
                      </a:r>
                      <a:r>
                        <a:rPr dirty="0" sz="1200" spc="-15">
                          <a:latin typeface="Microsoft YaHei"/>
                          <a:cs typeface="Microsoft YaHei"/>
                        </a:rPr>
                        <a:t>的时延；</a:t>
                      </a:r>
                      <a:endParaRPr sz="1200">
                        <a:latin typeface="Microsoft YaHei"/>
                        <a:cs typeface="Microsoft YaHei"/>
                      </a:endParaRPr>
                    </a:p>
                    <a:p>
                      <a:pPr marL="245745" marR="2975610">
                        <a:lnSpc>
                          <a:spcPct val="150000"/>
                        </a:lnSpc>
                      </a:pPr>
                      <a:r>
                        <a:rPr dirty="0" sz="1200" spc="-5">
                          <a:latin typeface="Microsoft YaHei"/>
                          <a:cs typeface="Microsoft YaHei"/>
                        </a:rPr>
                        <a:t>挑战：</a:t>
                      </a:r>
                      <a:r>
                        <a:rPr dirty="0" sz="1200" spc="-10">
                          <a:latin typeface="Microsoft YaHei"/>
                          <a:cs typeface="Microsoft YaHei"/>
                        </a:rPr>
                        <a:t>40Mbps</a:t>
                      </a:r>
                      <a:r>
                        <a:rPr dirty="0" sz="1200" spc="-5">
                          <a:latin typeface="Microsoft YaHei"/>
                          <a:cs typeface="Microsoft YaHei"/>
                        </a:rPr>
                        <a:t>的实时速率，</a:t>
                      </a:r>
                      <a:r>
                        <a:rPr dirty="0" sz="1200" spc="-10">
                          <a:latin typeface="Microsoft YaHei"/>
                          <a:cs typeface="Microsoft YaHei"/>
                        </a:rPr>
                        <a:t>&lt;50ms</a:t>
                      </a:r>
                      <a:r>
                        <a:rPr dirty="0" sz="1200" spc="-15">
                          <a:latin typeface="Microsoft YaHei"/>
                          <a:cs typeface="Microsoft YaHei"/>
                        </a:rPr>
                        <a:t>的时延；</a:t>
                      </a:r>
                      <a:r>
                        <a:rPr dirty="0" sz="1200" spc="-5">
                          <a:latin typeface="Microsoft YaHei"/>
                          <a:cs typeface="Microsoft YaHei"/>
                        </a:rPr>
                        <a:t>极致：</a:t>
                      </a:r>
                      <a:r>
                        <a:rPr dirty="0" sz="1200" spc="-10">
                          <a:latin typeface="Microsoft YaHei"/>
                          <a:cs typeface="Microsoft YaHei"/>
                        </a:rPr>
                        <a:t>200Mbps</a:t>
                      </a:r>
                      <a:r>
                        <a:rPr dirty="0" sz="1200" spc="-5">
                          <a:latin typeface="Microsoft YaHei"/>
                          <a:cs typeface="Microsoft YaHei"/>
                        </a:rPr>
                        <a:t>的实时速率，</a:t>
                      </a:r>
                      <a:r>
                        <a:rPr dirty="0" sz="1200" spc="-10">
                          <a:latin typeface="Microsoft YaHei"/>
                          <a:cs typeface="Microsoft YaHei"/>
                        </a:rPr>
                        <a:t>&lt;5ms</a:t>
                      </a:r>
                      <a:r>
                        <a:rPr dirty="0" sz="1200" spc="-15">
                          <a:latin typeface="Microsoft YaHei"/>
                          <a:cs typeface="Microsoft YaHei"/>
                        </a:rPr>
                        <a:t>的时延。</a:t>
                      </a:r>
                      <a:endParaRPr sz="1200">
                        <a:latin typeface="Microsoft YaHei"/>
                        <a:cs typeface="Microsoft YaHei"/>
                      </a:endParaRPr>
                    </a:p>
                  </a:txBody>
                  <a:tcPr marL="0" marR="0" marB="0" marT="5334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c>
                  <a:txBody>
                    <a:bodyPr/>
                    <a:lstStyle/>
                    <a:p>
                      <a:pPr>
                        <a:lnSpc>
                          <a:spcPct val="100000"/>
                        </a:lnSpc>
                        <a:spcBef>
                          <a:spcPts val="1195"/>
                        </a:spcBef>
                      </a:pPr>
                      <a:endParaRPr sz="1200">
                        <a:latin typeface="Times New Roman"/>
                        <a:cs typeface="Times New Roman"/>
                      </a:endParaRPr>
                    </a:p>
                    <a:p>
                      <a:pPr algn="ctr" marL="1270">
                        <a:lnSpc>
                          <a:spcPct val="100000"/>
                        </a:lnSpc>
                        <a:spcBef>
                          <a:spcPts val="5"/>
                        </a:spcBef>
                      </a:pPr>
                      <a:r>
                        <a:rPr dirty="0" sz="1200" spc="-25">
                          <a:latin typeface="Microsoft YaHei"/>
                          <a:cs typeface="Microsoft YaHei"/>
                        </a:rPr>
                        <a:t>5G</a:t>
                      </a:r>
                      <a:endParaRPr sz="1200">
                        <a:latin typeface="Microsoft YaHei"/>
                        <a:cs typeface="Microsoft YaHei"/>
                      </a:endParaRPr>
                    </a:p>
                  </a:txBody>
                  <a:tcPr marL="0" marR="0" marB="0" marT="15176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r>
              <a:tr h="513715">
                <a:tc>
                  <a:txBody>
                    <a:bodyPr/>
                    <a:lstStyle/>
                    <a:p>
                      <a:pPr marL="68580">
                        <a:lnSpc>
                          <a:spcPct val="100000"/>
                        </a:lnSpc>
                        <a:spcBef>
                          <a:spcPts val="1360"/>
                        </a:spcBef>
                      </a:pPr>
                      <a:r>
                        <a:rPr dirty="0" sz="1200" spc="-15" b="1">
                          <a:solidFill>
                            <a:srgbClr val="FFFFFF"/>
                          </a:solidFill>
                          <a:latin typeface="Microsoft YaHei"/>
                          <a:cs typeface="Microsoft YaHei"/>
                        </a:rPr>
                        <a:t>高清回传</a:t>
                      </a:r>
                      <a:endParaRPr sz="1200">
                        <a:latin typeface="Microsoft YaHei"/>
                        <a:cs typeface="Microsoft YaHei"/>
                      </a:endParaRPr>
                    </a:p>
                  </a:txBody>
                  <a:tcPr marL="0" marR="0" marB="0" marT="1727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marL="335280">
                        <a:lnSpc>
                          <a:spcPct val="100000"/>
                        </a:lnSpc>
                        <a:spcBef>
                          <a:spcPts val="1360"/>
                        </a:spcBef>
                      </a:pPr>
                      <a:r>
                        <a:rPr dirty="0" sz="1200">
                          <a:latin typeface="Microsoft YaHei"/>
                          <a:cs typeface="Microsoft YaHei"/>
                        </a:rPr>
                        <a:t>单个用户上行回传速率至少需要</a:t>
                      </a:r>
                      <a:r>
                        <a:rPr dirty="0" sz="1200" spc="-10">
                          <a:latin typeface="Microsoft YaHei"/>
                          <a:cs typeface="Microsoft YaHei"/>
                        </a:rPr>
                        <a:t>50~120Mbps</a:t>
                      </a:r>
                      <a:r>
                        <a:rPr dirty="0" sz="1200" spc="-5">
                          <a:latin typeface="Microsoft YaHei"/>
                          <a:cs typeface="Microsoft YaHei"/>
                        </a:rPr>
                        <a:t>，端到端时延控制在</a:t>
                      </a:r>
                      <a:r>
                        <a:rPr dirty="0" sz="1200" spc="-10">
                          <a:latin typeface="Microsoft YaHei"/>
                          <a:cs typeface="Microsoft YaHei"/>
                        </a:rPr>
                        <a:t>40ms</a:t>
                      </a:r>
                      <a:r>
                        <a:rPr dirty="0" sz="1200" spc="-50">
                          <a:latin typeface="Microsoft YaHei"/>
                          <a:cs typeface="Microsoft YaHei"/>
                        </a:rPr>
                        <a:t>。</a:t>
                      </a:r>
                      <a:endParaRPr sz="1200">
                        <a:latin typeface="Microsoft YaHei"/>
                        <a:cs typeface="Microsoft YaHei"/>
                      </a:endParaRPr>
                    </a:p>
                  </a:txBody>
                  <a:tcPr marL="0" marR="0" marB="0" marT="1727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CCC"/>
                    </a:solidFill>
                  </a:tcPr>
                </a:tc>
                <a:tc>
                  <a:txBody>
                    <a:bodyPr/>
                    <a:lstStyle/>
                    <a:p>
                      <a:pPr marL="196215">
                        <a:lnSpc>
                          <a:spcPct val="100000"/>
                        </a:lnSpc>
                        <a:spcBef>
                          <a:spcPts val="1360"/>
                        </a:spcBef>
                      </a:pPr>
                      <a:r>
                        <a:rPr dirty="0" sz="1200" spc="-10">
                          <a:latin typeface="Microsoft YaHei"/>
                          <a:cs typeface="Microsoft YaHei"/>
                        </a:rPr>
                        <a:t>4G/5G</a:t>
                      </a:r>
                      <a:endParaRPr sz="1200">
                        <a:latin typeface="Microsoft YaHei"/>
                        <a:cs typeface="Microsoft YaHei"/>
                      </a:endParaRPr>
                    </a:p>
                  </a:txBody>
                  <a:tcPr marL="0" marR="0" marB="0" marT="17272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CCC"/>
                    </a:solidFill>
                  </a:tcPr>
                </a:tc>
              </a:tr>
              <a:tr h="786765">
                <a:tc>
                  <a:txBody>
                    <a:bodyPr/>
                    <a:lstStyle/>
                    <a:p>
                      <a:pPr marL="68580" marR="715645">
                        <a:lnSpc>
                          <a:spcPct val="150000"/>
                        </a:lnSpc>
                        <a:spcBef>
                          <a:spcPts val="635"/>
                        </a:spcBef>
                      </a:pPr>
                      <a:r>
                        <a:rPr dirty="0" sz="1200" spc="-20" b="1">
                          <a:solidFill>
                            <a:srgbClr val="FFFFFF"/>
                          </a:solidFill>
                          <a:latin typeface="Microsoft YaHei"/>
                          <a:cs typeface="Microsoft YaHei"/>
                        </a:rPr>
                        <a:t>无人机</a:t>
                      </a:r>
                      <a:r>
                        <a:rPr dirty="0" sz="1200" spc="-50" b="1">
                          <a:solidFill>
                            <a:srgbClr val="FFFFFF"/>
                          </a:solidFill>
                          <a:latin typeface="Microsoft YaHei"/>
                          <a:cs typeface="Microsoft YaHei"/>
                        </a:rPr>
                        <a:t> </a:t>
                      </a:r>
                      <a:r>
                        <a:rPr dirty="0" sz="1200" spc="-15" b="1">
                          <a:solidFill>
                            <a:srgbClr val="FFFFFF"/>
                          </a:solidFill>
                          <a:latin typeface="Microsoft YaHei"/>
                          <a:cs typeface="Microsoft YaHei"/>
                        </a:rPr>
                        <a:t>视频监控</a:t>
                      </a:r>
                      <a:endParaRPr sz="1200">
                        <a:latin typeface="Microsoft YaHei"/>
                        <a:cs typeface="Microsoft YaHei"/>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2D050"/>
                    </a:solidFill>
                  </a:tcPr>
                </a:tc>
                <a:tc>
                  <a:txBody>
                    <a:bodyPr/>
                    <a:lstStyle/>
                    <a:p>
                      <a:pPr marL="68580" marR="181610" indent="266700">
                        <a:lnSpc>
                          <a:spcPct val="150000"/>
                        </a:lnSpc>
                        <a:spcBef>
                          <a:spcPts val="635"/>
                        </a:spcBef>
                      </a:pPr>
                      <a:r>
                        <a:rPr dirty="0" sz="1200">
                          <a:latin typeface="Microsoft YaHei"/>
                          <a:cs typeface="Microsoft YaHei"/>
                        </a:rPr>
                        <a:t>单个用户上行回传速率至少需要</a:t>
                      </a:r>
                      <a:r>
                        <a:rPr dirty="0" sz="1200" spc="-10">
                          <a:latin typeface="Microsoft YaHei"/>
                          <a:cs typeface="Microsoft YaHei"/>
                        </a:rPr>
                        <a:t>50~120Mbps</a:t>
                      </a:r>
                      <a:r>
                        <a:rPr dirty="0" sz="1200" spc="-5">
                          <a:latin typeface="Microsoft YaHei"/>
                          <a:cs typeface="Microsoft YaHei"/>
                        </a:rPr>
                        <a:t>，端到端时延控制在</a:t>
                      </a:r>
                      <a:r>
                        <a:rPr dirty="0" sz="1200" spc="-10">
                          <a:latin typeface="Microsoft YaHei"/>
                          <a:cs typeface="Microsoft YaHei"/>
                        </a:rPr>
                        <a:t>20ms</a:t>
                      </a:r>
                      <a:r>
                        <a:rPr dirty="0" sz="1200" spc="-15">
                          <a:latin typeface="Microsoft YaHei"/>
                          <a:cs typeface="Microsoft YaHei"/>
                        </a:rPr>
                        <a:t>，无人机覆盖</a:t>
                      </a:r>
                      <a:r>
                        <a:rPr dirty="0" sz="1200">
                          <a:latin typeface="Microsoft YaHei"/>
                          <a:cs typeface="Microsoft YaHei"/>
                        </a:rPr>
                        <a:t>范围在</a:t>
                      </a:r>
                      <a:r>
                        <a:rPr dirty="0" sz="1200" spc="-10">
                          <a:latin typeface="Microsoft YaHei"/>
                          <a:cs typeface="Microsoft YaHei"/>
                        </a:rPr>
                        <a:t>150~500m</a:t>
                      </a:r>
                      <a:r>
                        <a:rPr dirty="0" sz="1200" spc="-5">
                          <a:latin typeface="Microsoft YaHei"/>
                          <a:cs typeface="Microsoft YaHei"/>
                        </a:rPr>
                        <a:t>，定位精度在</a:t>
                      </a:r>
                      <a:r>
                        <a:rPr dirty="0" sz="1200" spc="-10">
                          <a:latin typeface="Microsoft YaHei"/>
                          <a:cs typeface="Microsoft YaHei"/>
                        </a:rPr>
                        <a:t>1m</a:t>
                      </a:r>
                      <a:r>
                        <a:rPr dirty="0" sz="1200" spc="-50">
                          <a:latin typeface="Microsoft YaHei"/>
                          <a:cs typeface="Microsoft YaHei"/>
                        </a:rPr>
                        <a:t>。</a:t>
                      </a:r>
                      <a:endParaRPr sz="1200">
                        <a:latin typeface="Microsoft YaHei"/>
                        <a:cs typeface="Microsoft YaHei"/>
                      </a:endParaRPr>
                    </a:p>
                  </a:txBody>
                  <a:tcPr marL="0" marR="0" marB="0" marT="8064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c>
                  <a:txBody>
                    <a:bodyPr/>
                    <a:lstStyle/>
                    <a:p>
                      <a:pPr>
                        <a:lnSpc>
                          <a:spcPct val="100000"/>
                        </a:lnSpc>
                        <a:spcBef>
                          <a:spcPts val="1055"/>
                        </a:spcBef>
                      </a:pPr>
                      <a:endParaRPr sz="1200">
                        <a:latin typeface="Times New Roman"/>
                        <a:cs typeface="Times New Roman"/>
                      </a:endParaRPr>
                    </a:p>
                    <a:p>
                      <a:pPr algn="ctr" marL="1270">
                        <a:lnSpc>
                          <a:spcPct val="100000"/>
                        </a:lnSpc>
                      </a:pPr>
                      <a:r>
                        <a:rPr dirty="0" sz="1200" spc="-25">
                          <a:latin typeface="Microsoft YaHei"/>
                          <a:cs typeface="Microsoft YaHei"/>
                        </a:rPr>
                        <a:t>5G</a:t>
                      </a:r>
                      <a:endParaRPr sz="1200">
                        <a:latin typeface="Microsoft YaHei"/>
                        <a:cs typeface="Microsoft YaHei"/>
                      </a:endParaRPr>
                    </a:p>
                  </a:txBody>
                  <a:tcPr marL="0" marR="0" marB="0" marT="13398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8E8"/>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4652392" y="2599998"/>
            <a:ext cx="1800225" cy="1363345"/>
          </a:xfrm>
          <a:custGeom>
            <a:avLst/>
            <a:gdLst/>
            <a:ahLst/>
            <a:cxnLst/>
            <a:rect l="l" t="t" r="r" b="b"/>
            <a:pathLst>
              <a:path w="1800225" h="1363345">
                <a:moveTo>
                  <a:pt x="266" y="0"/>
                </a:moveTo>
                <a:lnTo>
                  <a:pt x="300037" y="437946"/>
                </a:lnTo>
                <a:lnTo>
                  <a:pt x="0" y="437946"/>
                </a:lnTo>
                <a:lnTo>
                  <a:pt x="0" y="1363052"/>
                </a:lnTo>
                <a:lnTo>
                  <a:pt x="1800199" y="1363052"/>
                </a:lnTo>
                <a:lnTo>
                  <a:pt x="1800199" y="437946"/>
                </a:lnTo>
                <a:lnTo>
                  <a:pt x="750087" y="437946"/>
                </a:lnTo>
                <a:lnTo>
                  <a:pt x="266" y="0"/>
                </a:lnTo>
                <a:close/>
              </a:path>
            </a:pathLst>
          </a:custGeom>
          <a:solidFill>
            <a:srgbClr val="9A9A9A"/>
          </a:solidFill>
        </p:spPr>
        <p:txBody>
          <a:bodyPr wrap="square" lIns="0" tIns="0" rIns="0" bIns="0" rtlCol="0"/>
          <a:lstStyle/>
          <a:p/>
        </p:txBody>
      </p:sp>
      <p:grpSp>
        <p:nvGrpSpPr>
          <p:cNvPr id="3" name="object 3" descr=""/>
          <p:cNvGrpSpPr/>
          <p:nvPr/>
        </p:nvGrpSpPr>
        <p:grpSpPr>
          <a:xfrm>
            <a:off x="300939" y="2547275"/>
            <a:ext cx="8448040" cy="2322195"/>
            <a:chOff x="300939" y="2547275"/>
            <a:chExt cx="8448040" cy="2322195"/>
          </a:xfrm>
        </p:grpSpPr>
        <p:sp>
          <p:nvSpPr>
            <p:cNvPr id="4" name="object 4" descr=""/>
            <p:cNvSpPr/>
            <p:nvPr/>
          </p:nvSpPr>
          <p:spPr>
            <a:xfrm>
              <a:off x="6948611" y="2547275"/>
              <a:ext cx="1800225" cy="1325245"/>
            </a:xfrm>
            <a:custGeom>
              <a:avLst/>
              <a:gdLst/>
              <a:ahLst/>
              <a:cxnLst/>
              <a:rect l="l" t="t" r="r" b="b"/>
              <a:pathLst>
                <a:path w="1800225" h="1325245">
                  <a:moveTo>
                    <a:pt x="503186" y="0"/>
                  </a:moveTo>
                  <a:lnTo>
                    <a:pt x="300037" y="399859"/>
                  </a:lnTo>
                  <a:lnTo>
                    <a:pt x="0" y="399859"/>
                  </a:lnTo>
                  <a:lnTo>
                    <a:pt x="0" y="1324965"/>
                  </a:lnTo>
                  <a:lnTo>
                    <a:pt x="1800199" y="1324965"/>
                  </a:lnTo>
                  <a:lnTo>
                    <a:pt x="1800199" y="399859"/>
                  </a:lnTo>
                  <a:lnTo>
                    <a:pt x="750087" y="399859"/>
                  </a:lnTo>
                  <a:lnTo>
                    <a:pt x="503186" y="0"/>
                  </a:lnTo>
                  <a:close/>
                </a:path>
              </a:pathLst>
            </a:custGeom>
            <a:solidFill>
              <a:srgbClr val="9A9A9A"/>
            </a:solidFill>
          </p:spPr>
          <p:txBody>
            <a:bodyPr wrap="square" lIns="0" tIns="0" rIns="0" bIns="0" rtlCol="0"/>
            <a:lstStyle/>
            <a:p/>
          </p:txBody>
        </p:sp>
        <p:pic>
          <p:nvPicPr>
            <p:cNvPr id="5" name="object 5"/>
            <p:cNvPicPr/>
            <p:nvPr/>
          </p:nvPicPr>
          <p:blipFill>
            <a:blip r:embed="rId2" cstate="print"/>
            <a:stretch>
              <a:fillRect/>
            </a:stretch>
          </p:blipFill>
          <p:spPr>
            <a:xfrm>
              <a:off x="300939" y="2885668"/>
              <a:ext cx="4075774" cy="1983356"/>
            </a:xfrm>
            <a:prstGeom prst="rect">
              <a:avLst/>
            </a:prstGeom>
          </p:spPr>
        </p:pic>
        <p:pic>
          <p:nvPicPr>
            <p:cNvPr id="6" name="object 6"/>
            <p:cNvPicPr/>
            <p:nvPr/>
          </p:nvPicPr>
          <p:blipFill>
            <a:blip r:embed="rId3" cstate="print"/>
            <a:stretch>
              <a:fillRect/>
            </a:stretch>
          </p:blipFill>
          <p:spPr>
            <a:xfrm>
              <a:off x="1889594" y="3998395"/>
              <a:ext cx="312635" cy="248573"/>
            </a:xfrm>
            <a:prstGeom prst="rect">
              <a:avLst/>
            </a:prstGeom>
          </p:spPr>
        </p:pic>
        <p:pic>
          <p:nvPicPr>
            <p:cNvPr id="7" name="object 7"/>
            <p:cNvPicPr/>
            <p:nvPr/>
          </p:nvPicPr>
          <p:blipFill>
            <a:blip r:embed="rId3" cstate="print"/>
            <a:stretch>
              <a:fillRect/>
            </a:stretch>
          </p:blipFill>
          <p:spPr>
            <a:xfrm>
              <a:off x="2936811" y="4280179"/>
              <a:ext cx="312635" cy="248577"/>
            </a:xfrm>
            <a:prstGeom prst="rect">
              <a:avLst/>
            </a:prstGeom>
          </p:spPr>
        </p:pic>
        <p:pic>
          <p:nvPicPr>
            <p:cNvPr id="8" name="object 8"/>
            <p:cNvPicPr/>
            <p:nvPr/>
          </p:nvPicPr>
          <p:blipFill>
            <a:blip r:embed="rId3" cstate="print"/>
            <a:stretch>
              <a:fillRect/>
            </a:stretch>
          </p:blipFill>
          <p:spPr>
            <a:xfrm>
              <a:off x="1339329" y="4306573"/>
              <a:ext cx="312635" cy="248573"/>
            </a:xfrm>
            <a:prstGeom prst="rect">
              <a:avLst/>
            </a:prstGeom>
          </p:spPr>
        </p:pic>
        <p:pic>
          <p:nvPicPr>
            <p:cNvPr id="9" name="object 9"/>
            <p:cNvPicPr/>
            <p:nvPr/>
          </p:nvPicPr>
          <p:blipFill>
            <a:blip r:embed="rId3" cstate="print"/>
            <a:stretch>
              <a:fillRect/>
            </a:stretch>
          </p:blipFill>
          <p:spPr>
            <a:xfrm>
              <a:off x="2837906" y="3954640"/>
              <a:ext cx="312633" cy="248576"/>
            </a:xfrm>
            <a:prstGeom prst="rect">
              <a:avLst/>
            </a:prstGeom>
          </p:spPr>
        </p:pic>
        <p:pic>
          <p:nvPicPr>
            <p:cNvPr id="10" name="object 10"/>
            <p:cNvPicPr/>
            <p:nvPr/>
          </p:nvPicPr>
          <p:blipFill>
            <a:blip r:embed="rId4" cstate="print"/>
            <a:stretch>
              <a:fillRect/>
            </a:stretch>
          </p:blipFill>
          <p:spPr>
            <a:xfrm>
              <a:off x="4127195" y="3879405"/>
              <a:ext cx="202107" cy="137496"/>
            </a:xfrm>
            <a:prstGeom prst="rect">
              <a:avLst/>
            </a:prstGeom>
          </p:spPr>
        </p:pic>
        <p:pic>
          <p:nvPicPr>
            <p:cNvPr id="11" name="object 11"/>
            <p:cNvPicPr/>
            <p:nvPr/>
          </p:nvPicPr>
          <p:blipFill>
            <a:blip r:embed="rId4" cstate="print"/>
            <a:stretch>
              <a:fillRect/>
            </a:stretch>
          </p:blipFill>
          <p:spPr>
            <a:xfrm>
              <a:off x="3289493" y="3823861"/>
              <a:ext cx="202105" cy="137497"/>
            </a:xfrm>
            <a:prstGeom prst="rect">
              <a:avLst/>
            </a:prstGeom>
          </p:spPr>
        </p:pic>
        <p:pic>
          <p:nvPicPr>
            <p:cNvPr id="12" name="object 12"/>
            <p:cNvPicPr/>
            <p:nvPr/>
          </p:nvPicPr>
          <p:blipFill>
            <a:blip r:embed="rId4" cstate="print"/>
            <a:stretch>
              <a:fillRect/>
            </a:stretch>
          </p:blipFill>
          <p:spPr>
            <a:xfrm>
              <a:off x="2137919" y="3810648"/>
              <a:ext cx="202105" cy="137501"/>
            </a:xfrm>
            <a:prstGeom prst="rect">
              <a:avLst/>
            </a:prstGeom>
          </p:spPr>
        </p:pic>
        <p:pic>
          <p:nvPicPr>
            <p:cNvPr id="13" name="object 13"/>
            <p:cNvPicPr/>
            <p:nvPr/>
          </p:nvPicPr>
          <p:blipFill>
            <a:blip r:embed="rId4" cstate="print"/>
            <a:stretch>
              <a:fillRect/>
            </a:stretch>
          </p:blipFill>
          <p:spPr>
            <a:xfrm>
              <a:off x="1238457" y="3822729"/>
              <a:ext cx="202103" cy="137498"/>
            </a:xfrm>
            <a:prstGeom prst="rect">
              <a:avLst/>
            </a:prstGeom>
          </p:spPr>
        </p:pic>
        <p:pic>
          <p:nvPicPr>
            <p:cNvPr id="14" name="object 14"/>
            <p:cNvPicPr/>
            <p:nvPr/>
          </p:nvPicPr>
          <p:blipFill>
            <a:blip r:embed="rId4" cstate="print"/>
            <a:stretch>
              <a:fillRect/>
            </a:stretch>
          </p:blipFill>
          <p:spPr>
            <a:xfrm>
              <a:off x="353352" y="3838740"/>
              <a:ext cx="202104" cy="137501"/>
            </a:xfrm>
            <a:prstGeom prst="rect">
              <a:avLst/>
            </a:prstGeom>
          </p:spPr>
        </p:pic>
      </p:grpSp>
      <p:sp>
        <p:nvSpPr>
          <p:cNvPr id="15" name="object 15"/>
          <p:cNvSpPr txBox="1">
            <a:spLocks noGrp="1"/>
          </p:cNvSpPr>
          <p:nvPr>
            <p:ph type="title"/>
          </p:nvPr>
        </p:nvSpPr>
        <p:spPr>
          <a:prstGeom prst="rect"/>
        </p:spPr>
        <p:txBody>
          <a:bodyPr wrap="square" lIns="0" tIns="132114" rIns="0" bIns="0" rtlCol="0" vert="horz">
            <a:spAutoFit/>
          </a:bodyPr>
          <a:lstStyle/>
          <a:p>
            <a:pPr marL="800735">
              <a:lnSpc>
                <a:spcPct val="100000"/>
              </a:lnSpc>
              <a:spcBef>
                <a:spcPts val="95"/>
              </a:spcBef>
            </a:pPr>
            <a:r>
              <a:rPr dirty="0" spc="-35"/>
              <a:t>体育直播（</a:t>
            </a:r>
            <a:r>
              <a:rPr dirty="0" spc="-40"/>
              <a:t>多点全景，内场直播</a:t>
            </a:r>
            <a:r>
              <a:rPr dirty="0" spc="-50"/>
              <a:t>）</a:t>
            </a:r>
          </a:p>
        </p:txBody>
      </p:sp>
      <p:sp>
        <p:nvSpPr>
          <p:cNvPr id="16" name="object 16" descr=""/>
          <p:cNvSpPr txBox="1"/>
          <p:nvPr/>
        </p:nvSpPr>
        <p:spPr>
          <a:xfrm>
            <a:off x="2011728" y="3564002"/>
            <a:ext cx="1092200" cy="185420"/>
          </a:xfrm>
          <a:prstGeom prst="rect">
            <a:avLst/>
          </a:prstGeom>
        </p:spPr>
        <p:txBody>
          <a:bodyPr wrap="square" lIns="0" tIns="12700" rIns="0" bIns="0" rtlCol="0" vert="horz">
            <a:spAutoFit/>
          </a:bodyPr>
          <a:lstStyle/>
          <a:p>
            <a:pPr marL="12700">
              <a:lnSpc>
                <a:spcPct val="100000"/>
              </a:lnSpc>
              <a:spcBef>
                <a:spcPts val="100"/>
              </a:spcBef>
            </a:pPr>
            <a:r>
              <a:rPr dirty="0" sz="1050" spc="-10" b="1">
                <a:solidFill>
                  <a:srgbClr val="FFFFFF"/>
                </a:solidFill>
                <a:latin typeface="Microsoft YaHei"/>
                <a:cs typeface="Microsoft YaHei"/>
              </a:rPr>
              <a:t>全景摄像机拍摄点</a:t>
            </a:r>
            <a:endParaRPr sz="1050">
              <a:latin typeface="Microsoft YaHei"/>
              <a:cs typeface="Microsoft YaHei"/>
            </a:endParaRPr>
          </a:p>
        </p:txBody>
      </p:sp>
      <p:sp>
        <p:nvSpPr>
          <p:cNvPr id="17" name="object 17" descr=""/>
          <p:cNvSpPr txBox="1"/>
          <p:nvPr/>
        </p:nvSpPr>
        <p:spPr>
          <a:xfrm>
            <a:off x="3569923" y="3957918"/>
            <a:ext cx="476884" cy="505459"/>
          </a:xfrm>
          <a:prstGeom prst="rect">
            <a:avLst/>
          </a:prstGeom>
        </p:spPr>
        <p:txBody>
          <a:bodyPr wrap="square" lIns="0" tIns="12700" rIns="0" bIns="0" rtlCol="0" vert="horz">
            <a:spAutoFit/>
          </a:bodyPr>
          <a:lstStyle/>
          <a:p>
            <a:pPr algn="ctr" marL="12065" marR="5080">
              <a:lnSpc>
                <a:spcPct val="100000"/>
              </a:lnSpc>
              <a:spcBef>
                <a:spcPts val="100"/>
              </a:spcBef>
            </a:pPr>
            <a:r>
              <a:rPr dirty="0" sz="1050" spc="-10" b="1">
                <a:solidFill>
                  <a:srgbClr val="FFFFFF"/>
                </a:solidFill>
                <a:latin typeface="Microsoft YaHei"/>
                <a:cs typeface="Microsoft YaHei"/>
              </a:rPr>
              <a:t>5G</a:t>
            </a:r>
            <a:r>
              <a:rPr dirty="0" sz="1050" spc="-25" b="1">
                <a:solidFill>
                  <a:srgbClr val="FFFFFF"/>
                </a:solidFill>
                <a:latin typeface="Microsoft YaHei"/>
                <a:cs typeface="Microsoft YaHei"/>
              </a:rPr>
              <a:t>室内</a:t>
            </a:r>
            <a:r>
              <a:rPr dirty="0" sz="1050" spc="-20" b="1">
                <a:solidFill>
                  <a:srgbClr val="FFFFFF"/>
                </a:solidFill>
                <a:latin typeface="Microsoft YaHei"/>
                <a:cs typeface="Microsoft YaHei"/>
              </a:rPr>
              <a:t>覆盖基</a:t>
            </a:r>
            <a:r>
              <a:rPr dirty="0" sz="1050" spc="-50" b="1">
                <a:solidFill>
                  <a:srgbClr val="FFFFFF"/>
                </a:solidFill>
                <a:latin typeface="Microsoft YaHei"/>
                <a:cs typeface="Microsoft YaHei"/>
              </a:rPr>
              <a:t>站</a:t>
            </a:r>
            <a:endParaRPr sz="1050">
              <a:latin typeface="Microsoft YaHei"/>
              <a:cs typeface="Microsoft YaHei"/>
            </a:endParaRPr>
          </a:p>
        </p:txBody>
      </p:sp>
      <p:grpSp>
        <p:nvGrpSpPr>
          <p:cNvPr id="18" name="object 18" descr=""/>
          <p:cNvGrpSpPr/>
          <p:nvPr/>
        </p:nvGrpSpPr>
        <p:grpSpPr>
          <a:xfrm>
            <a:off x="395923" y="3699573"/>
            <a:ext cx="3888740" cy="1087755"/>
            <a:chOff x="395923" y="3699573"/>
            <a:chExt cx="3888740" cy="1087755"/>
          </a:xfrm>
        </p:grpSpPr>
        <p:sp>
          <p:nvSpPr>
            <p:cNvPr id="19" name="object 19" descr=""/>
            <p:cNvSpPr/>
            <p:nvPr/>
          </p:nvSpPr>
          <p:spPr>
            <a:xfrm>
              <a:off x="552085" y="3870909"/>
              <a:ext cx="694690" cy="35560"/>
            </a:xfrm>
            <a:custGeom>
              <a:avLst/>
              <a:gdLst/>
              <a:ahLst/>
              <a:cxnLst/>
              <a:rect l="l" t="t" r="r" b="b"/>
              <a:pathLst>
                <a:path w="694690" h="35560">
                  <a:moveTo>
                    <a:pt x="0" y="35140"/>
                  </a:moveTo>
                  <a:lnTo>
                    <a:pt x="47481" y="27867"/>
                  </a:lnTo>
                  <a:lnTo>
                    <a:pt x="95048" y="20875"/>
                  </a:lnTo>
                  <a:lnTo>
                    <a:pt x="142791" y="14446"/>
                  </a:lnTo>
                  <a:lnTo>
                    <a:pt x="190796" y="8863"/>
                  </a:lnTo>
                  <a:lnTo>
                    <a:pt x="239153" y="4406"/>
                  </a:lnTo>
                  <a:lnTo>
                    <a:pt x="287950" y="1358"/>
                  </a:lnTo>
                  <a:lnTo>
                    <a:pt x="337273" y="0"/>
                  </a:lnTo>
                  <a:lnTo>
                    <a:pt x="387183" y="524"/>
                  </a:lnTo>
                  <a:lnTo>
                    <a:pt x="437619" y="2738"/>
                  </a:lnTo>
                  <a:lnTo>
                    <a:pt x="488493" y="6358"/>
                  </a:lnTo>
                  <a:lnTo>
                    <a:pt x="539717" y="11105"/>
                  </a:lnTo>
                  <a:lnTo>
                    <a:pt x="591204" y="16696"/>
                  </a:lnTo>
                  <a:lnTo>
                    <a:pt x="642866" y="22850"/>
                  </a:lnTo>
                  <a:lnTo>
                    <a:pt x="694613" y="29286"/>
                  </a:lnTo>
                </a:path>
              </a:pathLst>
            </a:custGeom>
            <a:ln w="25400">
              <a:solidFill>
                <a:srgbClr val="FFFFFF"/>
              </a:solidFill>
            </a:ln>
          </p:spPr>
          <p:txBody>
            <a:bodyPr wrap="square" lIns="0" tIns="0" rIns="0" bIns="0" rtlCol="0"/>
            <a:lstStyle/>
            <a:p/>
          </p:txBody>
        </p:sp>
        <p:sp>
          <p:nvSpPr>
            <p:cNvPr id="20" name="object 20" descr=""/>
            <p:cNvSpPr/>
            <p:nvPr/>
          </p:nvSpPr>
          <p:spPr>
            <a:xfrm>
              <a:off x="1435417" y="3865058"/>
              <a:ext cx="711200" cy="32384"/>
            </a:xfrm>
            <a:custGeom>
              <a:avLst/>
              <a:gdLst/>
              <a:ahLst/>
              <a:cxnLst/>
              <a:rect l="l" t="t" r="r" b="b"/>
              <a:pathLst>
                <a:path w="711200" h="32385">
                  <a:moveTo>
                    <a:pt x="0" y="32207"/>
                  </a:moveTo>
                  <a:lnTo>
                    <a:pt x="55463" y="25661"/>
                  </a:lnTo>
                  <a:lnTo>
                    <a:pt x="110733" y="19357"/>
                  </a:lnTo>
                  <a:lnTo>
                    <a:pt x="165616" y="13539"/>
                  </a:lnTo>
                  <a:lnTo>
                    <a:pt x="219919" y="8450"/>
                  </a:lnTo>
                  <a:lnTo>
                    <a:pt x="273450" y="4335"/>
                  </a:lnTo>
                  <a:lnTo>
                    <a:pt x="326014" y="1437"/>
                  </a:lnTo>
                  <a:lnTo>
                    <a:pt x="377418" y="0"/>
                  </a:lnTo>
                  <a:lnTo>
                    <a:pt x="427539" y="184"/>
                  </a:lnTo>
                  <a:lnTo>
                    <a:pt x="476501" y="1829"/>
                  </a:lnTo>
                  <a:lnTo>
                    <a:pt x="524496" y="4689"/>
                  </a:lnTo>
                  <a:lnTo>
                    <a:pt x="571718" y="8521"/>
                  </a:lnTo>
                  <a:lnTo>
                    <a:pt x="618361" y="13083"/>
                  </a:lnTo>
                  <a:lnTo>
                    <a:pt x="664616" y="18130"/>
                  </a:lnTo>
                  <a:lnTo>
                    <a:pt x="710679" y="23418"/>
                  </a:lnTo>
                </a:path>
              </a:pathLst>
            </a:custGeom>
            <a:ln w="25399">
              <a:solidFill>
                <a:srgbClr val="FFFFFF"/>
              </a:solidFill>
            </a:ln>
          </p:spPr>
          <p:txBody>
            <a:bodyPr wrap="square" lIns="0" tIns="0" rIns="0" bIns="0" rtlCol="0"/>
            <a:lstStyle/>
            <a:p/>
          </p:txBody>
        </p:sp>
        <p:sp>
          <p:nvSpPr>
            <p:cNvPr id="21" name="object 21" descr=""/>
            <p:cNvSpPr/>
            <p:nvPr/>
          </p:nvSpPr>
          <p:spPr>
            <a:xfrm>
              <a:off x="2334809" y="3844425"/>
              <a:ext cx="955675" cy="55880"/>
            </a:xfrm>
            <a:custGeom>
              <a:avLst/>
              <a:gdLst/>
              <a:ahLst/>
              <a:cxnLst/>
              <a:rect l="l" t="t" r="r" b="b"/>
              <a:pathLst>
                <a:path w="955675" h="55879">
                  <a:moveTo>
                    <a:pt x="0" y="55768"/>
                  </a:moveTo>
                  <a:lnTo>
                    <a:pt x="50181" y="47885"/>
                  </a:lnTo>
                  <a:lnTo>
                    <a:pt x="100314" y="40144"/>
                  </a:lnTo>
                  <a:lnTo>
                    <a:pt x="150350" y="32683"/>
                  </a:lnTo>
                  <a:lnTo>
                    <a:pt x="200242" y="25644"/>
                  </a:lnTo>
                  <a:lnTo>
                    <a:pt x="249942" y="19168"/>
                  </a:lnTo>
                  <a:lnTo>
                    <a:pt x="299401" y="13394"/>
                  </a:lnTo>
                  <a:lnTo>
                    <a:pt x="348570" y="8464"/>
                  </a:lnTo>
                  <a:lnTo>
                    <a:pt x="397403" y="4519"/>
                  </a:lnTo>
                  <a:lnTo>
                    <a:pt x="445850" y="1698"/>
                  </a:lnTo>
                  <a:lnTo>
                    <a:pt x="493864" y="142"/>
                  </a:lnTo>
                  <a:lnTo>
                    <a:pt x="546668" y="0"/>
                  </a:lnTo>
                  <a:lnTo>
                    <a:pt x="598942" y="1400"/>
                  </a:lnTo>
                  <a:lnTo>
                    <a:pt x="650753" y="4151"/>
                  </a:lnTo>
                  <a:lnTo>
                    <a:pt x="702167" y="8058"/>
                  </a:lnTo>
                  <a:lnTo>
                    <a:pt x="753250" y="12930"/>
                  </a:lnTo>
                  <a:lnTo>
                    <a:pt x="804069" y="18574"/>
                  </a:lnTo>
                  <a:lnTo>
                    <a:pt x="854689" y="24796"/>
                  </a:lnTo>
                  <a:lnTo>
                    <a:pt x="905177" y="31403"/>
                  </a:lnTo>
                  <a:lnTo>
                    <a:pt x="955598" y="38204"/>
                  </a:lnTo>
                </a:path>
              </a:pathLst>
            </a:custGeom>
            <a:ln w="25400">
              <a:solidFill>
                <a:srgbClr val="FFFFFF"/>
              </a:solidFill>
            </a:ln>
          </p:spPr>
          <p:txBody>
            <a:bodyPr wrap="square" lIns="0" tIns="0" rIns="0" bIns="0" rtlCol="0"/>
            <a:lstStyle/>
            <a:p/>
          </p:txBody>
        </p:sp>
        <p:pic>
          <p:nvPicPr>
            <p:cNvPr id="22" name="object 22"/>
            <p:cNvPicPr/>
            <p:nvPr/>
          </p:nvPicPr>
          <p:blipFill>
            <a:blip r:embed="rId5" cstate="print"/>
            <a:stretch>
              <a:fillRect/>
            </a:stretch>
          </p:blipFill>
          <p:spPr>
            <a:xfrm>
              <a:off x="2402017" y="3699573"/>
              <a:ext cx="312638" cy="248577"/>
            </a:xfrm>
            <a:prstGeom prst="rect">
              <a:avLst/>
            </a:prstGeom>
          </p:spPr>
        </p:pic>
        <p:sp>
          <p:nvSpPr>
            <p:cNvPr id="23" name="object 23" descr=""/>
            <p:cNvSpPr/>
            <p:nvPr/>
          </p:nvSpPr>
          <p:spPr>
            <a:xfrm>
              <a:off x="3487157" y="3889499"/>
              <a:ext cx="642620" cy="78105"/>
            </a:xfrm>
            <a:custGeom>
              <a:avLst/>
              <a:gdLst/>
              <a:ahLst/>
              <a:cxnLst/>
              <a:rect l="l" t="t" r="r" b="b"/>
              <a:pathLst>
                <a:path w="642620" h="78104">
                  <a:moveTo>
                    <a:pt x="0" y="4838"/>
                  </a:moveTo>
                  <a:lnTo>
                    <a:pt x="55683" y="3316"/>
                  </a:lnTo>
                  <a:lnTo>
                    <a:pt x="110870" y="1932"/>
                  </a:lnTo>
                  <a:lnTo>
                    <a:pt x="165066" y="826"/>
                  </a:lnTo>
                  <a:lnTo>
                    <a:pt x="217775" y="136"/>
                  </a:lnTo>
                  <a:lnTo>
                    <a:pt x="268502" y="0"/>
                  </a:lnTo>
                  <a:lnTo>
                    <a:pt x="316750" y="556"/>
                  </a:lnTo>
                  <a:lnTo>
                    <a:pt x="362024" y="1945"/>
                  </a:lnTo>
                  <a:lnTo>
                    <a:pt x="403828" y="4304"/>
                  </a:lnTo>
                  <a:lnTo>
                    <a:pt x="511620" y="19810"/>
                  </a:lnTo>
                  <a:lnTo>
                    <a:pt x="564632" y="36586"/>
                  </a:lnTo>
                  <a:lnTo>
                    <a:pt x="606352" y="56522"/>
                  </a:lnTo>
                  <a:lnTo>
                    <a:pt x="642429" y="78041"/>
                  </a:lnTo>
                </a:path>
              </a:pathLst>
            </a:custGeom>
            <a:ln w="25400">
              <a:solidFill>
                <a:srgbClr val="FFFFFF"/>
              </a:solidFill>
            </a:ln>
          </p:spPr>
          <p:txBody>
            <a:bodyPr wrap="square" lIns="0" tIns="0" rIns="0" bIns="0" rtlCol="0"/>
            <a:lstStyle/>
            <a:p/>
          </p:txBody>
        </p:sp>
        <p:pic>
          <p:nvPicPr>
            <p:cNvPr id="24" name="object 24"/>
            <p:cNvPicPr/>
            <p:nvPr/>
          </p:nvPicPr>
          <p:blipFill>
            <a:blip r:embed="rId6" cstate="print"/>
            <a:stretch>
              <a:fillRect/>
            </a:stretch>
          </p:blipFill>
          <p:spPr>
            <a:xfrm>
              <a:off x="3101842" y="4579010"/>
              <a:ext cx="318717" cy="208121"/>
            </a:xfrm>
            <a:prstGeom prst="rect">
              <a:avLst/>
            </a:prstGeom>
          </p:spPr>
        </p:pic>
        <p:pic>
          <p:nvPicPr>
            <p:cNvPr id="25" name="object 25"/>
            <p:cNvPicPr/>
            <p:nvPr/>
          </p:nvPicPr>
          <p:blipFill>
            <a:blip r:embed="rId7" cstate="print"/>
            <a:stretch>
              <a:fillRect/>
            </a:stretch>
          </p:blipFill>
          <p:spPr>
            <a:xfrm>
              <a:off x="3955757" y="4181170"/>
              <a:ext cx="328904" cy="88854"/>
            </a:xfrm>
            <a:prstGeom prst="rect">
              <a:avLst/>
            </a:prstGeom>
          </p:spPr>
        </p:pic>
        <p:pic>
          <p:nvPicPr>
            <p:cNvPr id="26" name="object 26" descr=""/>
            <p:cNvPicPr/>
            <p:nvPr/>
          </p:nvPicPr>
          <p:blipFill>
            <a:blip r:embed="rId8" cstate="print"/>
            <a:stretch>
              <a:fillRect/>
            </a:stretch>
          </p:blipFill>
          <p:spPr>
            <a:xfrm>
              <a:off x="4079940" y="4005197"/>
              <a:ext cx="189217" cy="194056"/>
            </a:xfrm>
            <a:prstGeom prst="rect">
              <a:avLst/>
            </a:prstGeom>
          </p:spPr>
        </p:pic>
        <p:pic>
          <p:nvPicPr>
            <p:cNvPr id="27" name="object 27"/>
            <p:cNvPicPr/>
            <p:nvPr/>
          </p:nvPicPr>
          <p:blipFill>
            <a:blip r:embed="rId9" cstate="print"/>
            <a:stretch>
              <a:fillRect/>
            </a:stretch>
          </p:blipFill>
          <p:spPr>
            <a:xfrm>
              <a:off x="395923" y="3733876"/>
              <a:ext cx="872208" cy="861934"/>
            </a:xfrm>
            <a:prstGeom prst="rect">
              <a:avLst/>
            </a:prstGeom>
          </p:spPr>
        </p:pic>
        <p:pic>
          <p:nvPicPr>
            <p:cNvPr id="28" name="object 28"/>
            <p:cNvPicPr/>
            <p:nvPr/>
          </p:nvPicPr>
          <p:blipFill>
            <a:blip r:embed="rId10" cstate="print"/>
            <a:stretch>
              <a:fillRect/>
            </a:stretch>
          </p:blipFill>
          <p:spPr>
            <a:xfrm>
              <a:off x="2262904" y="3921277"/>
              <a:ext cx="349561" cy="292518"/>
            </a:xfrm>
            <a:prstGeom prst="rect">
              <a:avLst/>
            </a:prstGeom>
          </p:spPr>
        </p:pic>
        <p:pic>
          <p:nvPicPr>
            <p:cNvPr id="29" name="object 29"/>
            <p:cNvPicPr/>
            <p:nvPr/>
          </p:nvPicPr>
          <p:blipFill>
            <a:blip r:embed="rId11" cstate="print"/>
            <a:stretch>
              <a:fillRect/>
            </a:stretch>
          </p:blipFill>
          <p:spPr>
            <a:xfrm>
              <a:off x="3123833" y="3886390"/>
              <a:ext cx="372248" cy="344674"/>
            </a:xfrm>
            <a:prstGeom prst="rect">
              <a:avLst/>
            </a:prstGeom>
          </p:spPr>
        </p:pic>
        <p:sp>
          <p:nvSpPr>
            <p:cNvPr id="30" name="object 30" descr=""/>
            <p:cNvSpPr/>
            <p:nvPr/>
          </p:nvSpPr>
          <p:spPr>
            <a:xfrm>
              <a:off x="3261206" y="4270024"/>
              <a:ext cx="859155" cy="309245"/>
            </a:xfrm>
            <a:custGeom>
              <a:avLst/>
              <a:gdLst/>
              <a:ahLst/>
              <a:cxnLst/>
              <a:rect l="l" t="t" r="r" b="b"/>
              <a:pathLst>
                <a:path w="859154" h="309245">
                  <a:moveTo>
                    <a:pt x="859002" y="0"/>
                  </a:moveTo>
                  <a:lnTo>
                    <a:pt x="859002" y="154482"/>
                  </a:lnTo>
                  <a:lnTo>
                    <a:pt x="0" y="154482"/>
                  </a:lnTo>
                  <a:lnTo>
                    <a:pt x="0" y="308978"/>
                  </a:lnTo>
                </a:path>
              </a:pathLst>
            </a:custGeom>
            <a:ln w="28574">
              <a:solidFill>
                <a:srgbClr val="FFFFFF"/>
              </a:solidFill>
            </a:ln>
          </p:spPr>
          <p:txBody>
            <a:bodyPr wrap="square" lIns="0" tIns="0" rIns="0" bIns="0" rtlCol="0"/>
            <a:lstStyle/>
            <a:p/>
          </p:txBody>
        </p:sp>
      </p:grpSp>
      <p:sp>
        <p:nvSpPr>
          <p:cNvPr id="31" name="object 31" descr=""/>
          <p:cNvSpPr txBox="1"/>
          <p:nvPr/>
        </p:nvSpPr>
        <p:spPr>
          <a:xfrm>
            <a:off x="3284571" y="4569468"/>
            <a:ext cx="1059180" cy="345440"/>
          </a:xfrm>
          <a:prstGeom prst="rect">
            <a:avLst/>
          </a:prstGeom>
        </p:spPr>
        <p:txBody>
          <a:bodyPr wrap="square" lIns="0" tIns="12700" rIns="0" bIns="0" rtlCol="0" vert="horz">
            <a:spAutoFit/>
          </a:bodyPr>
          <a:lstStyle/>
          <a:p>
            <a:pPr marL="128905" marR="5080" indent="-116839">
              <a:lnSpc>
                <a:spcPct val="100000"/>
              </a:lnSpc>
              <a:spcBef>
                <a:spcPts val="100"/>
              </a:spcBef>
            </a:pPr>
            <a:r>
              <a:rPr dirty="0" sz="1050" spc="-10" b="1">
                <a:solidFill>
                  <a:srgbClr val="FFFFFF"/>
                </a:solidFill>
                <a:latin typeface="Microsoft YaHei"/>
                <a:cs typeface="Microsoft YaHei"/>
              </a:rPr>
              <a:t>MEC</a:t>
            </a:r>
            <a:r>
              <a:rPr dirty="0" sz="1050" spc="-15" b="1">
                <a:solidFill>
                  <a:srgbClr val="FFFFFF"/>
                </a:solidFill>
                <a:latin typeface="Microsoft YaHei"/>
                <a:cs typeface="Microsoft YaHei"/>
              </a:rPr>
              <a:t>赛事/演出直</a:t>
            </a:r>
            <a:r>
              <a:rPr dirty="0" sz="1050" spc="-10" b="1">
                <a:solidFill>
                  <a:srgbClr val="FFFFFF"/>
                </a:solidFill>
                <a:latin typeface="Microsoft YaHei"/>
                <a:cs typeface="Microsoft YaHei"/>
              </a:rPr>
              <a:t>播业务服务器</a:t>
            </a:r>
            <a:endParaRPr sz="1050">
              <a:latin typeface="Microsoft YaHei"/>
              <a:cs typeface="Microsoft YaHei"/>
            </a:endParaRPr>
          </a:p>
        </p:txBody>
      </p:sp>
      <p:grpSp>
        <p:nvGrpSpPr>
          <p:cNvPr id="32" name="object 32" descr=""/>
          <p:cNvGrpSpPr/>
          <p:nvPr/>
        </p:nvGrpSpPr>
        <p:grpSpPr>
          <a:xfrm>
            <a:off x="1752600" y="895350"/>
            <a:ext cx="7147559" cy="3336290"/>
            <a:chOff x="1752600" y="895350"/>
            <a:chExt cx="7147559" cy="3336290"/>
          </a:xfrm>
        </p:grpSpPr>
        <p:pic>
          <p:nvPicPr>
            <p:cNvPr id="33" name="object 33"/>
            <p:cNvPicPr/>
            <p:nvPr/>
          </p:nvPicPr>
          <p:blipFill>
            <a:blip r:embed="rId12" cstate="print"/>
            <a:stretch>
              <a:fillRect/>
            </a:stretch>
          </p:blipFill>
          <p:spPr>
            <a:xfrm>
              <a:off x="1752600" y="895350"/>
              <a:ext cx="7147102" cy="2009947"/>
            </a:xfrm>
            <a:prstGeom prst="rect">
              <a:avLst/>
            </a:prstGeom>
          </p:spPr>
        </p:pic>
        <p:pic>
          <p:nvPicPr>
            <p:cNvPr id="34" name="object 34"/>
            <p:cNvPicPr/>
            <p:nvPr/>
          </p:nvPicPr>
          <p:blipFill>
            <a:blip r:embed="rId13" cstate="print"/>
            <a:stretch>
              <a:fillRect/>
            </a:stretch>
          </p:blipFill>
          <p:spPr>
            <a:xfrm>
              <a:off x="6851510" y="2893814"/>
              <a:ext cx="2041664" cy="1337241"/>
            </a:xfrm>
            <a:prstGeom prst="rect">
              <a:avLst/>
            </a:prstGeom>
          </p:spPr>
        </p:pic>
        <p:pic>
          <p:nvPicPr>
            <p:cNvPr id="35" name="object 35"/>
            <p:cNvPicPr/>
            <p:nvPr/>
          </p:nvPicPr>
          <p:blipFill>
            <a:blip r:embed="rId14" cstate="print"/>
            <a:stretch>
              <a:fillRect/>
            </a:stretch>
          </p:blipFill>
          <p:spPr>
            <a:xfrm>
              <a:off x="4427983" y="2875283"/>
              <a:ext cx="2287618" cy="1344468"/>
            </a:xfrm>
            <a:prstGeom prst="rect">
              <a:avLst/>
            </a:prstGeom>
          </p:spPr>
        </p:pic>
      </p:grpSp>
      <p:sp>
        <p:nvSpPr>
          <p:cNvPr id="36" name="object 36" descr=""/>
          <p:cNvSpPr txBox="1"/>
          <p:nvPr/>
        </p:nvSpPr>
        <p:spPr>
          <a:xfrm>
            <a:off x="6882989" y="4308422"/>
            <a:ext cx="1870710" cy="528320"/>
          </a:xfrm>
          <a:prstGeom prst="rect">
            <a:avLst/>
          </a:prstGeom>
        </p:spPr>
        <p:txBody>
          <a:bodyPr wrap="square" lIns="0" tIns="12700" rIns="0" bIns="0" rtlCol="0" vert="horz">
            <a:spAutoFit/>
          </a:bodyPr>
          <a:lstStyle/>
          <a:p>
            <a:pPr marL="180975" marR="5080" indent="-168275">
              <a:lnSpc>
                <a:spcPct val="150000"/>
              </a:lnSpc>
              <a:spcBef>
                <a:spcPts val="100"/>
              </a:spcBef>
              <a:buFont typeface="Arial MT"/>
              <a:buChar char="•"/>
              <a:tabLst>
                <a:tab pos="184150" algn="l"/>
              </a:tabLst>
            </a:pPr>
            <a:r>
              <a:rPr dirty="0" sz="1100" spc="-25">
                <a:latin typeface="SimSun"/>
                <a:cs typeface="SimSun"/>
              </a:rPr>
              <a:t>面向非现场专业观众、互联	网观众的三级直播体验</a:t>
            </a:r>
            <a:endParaRPr sz="1100">
              <a:latin typeface="SimSun"/>
              <a:cs typeface="SimSun"/>
            </a:endParaRPr>
          </a:p>
        </p:txBody>
      </p:sp>
      <p:sp>
        <p:nvSpPr>
          <p:cNvPr id="37" name="object 37" descr=""/>
          <p:cNvSpPr txBox="1"/>
          <p:nvPr/>
        </p:nvSpPr>
        <p:spPr>
          <a:xfrm>
            <a:off x="4562095" y="4298367"/>
            <a:ext cx="1591310" cy="528320"/>
          </a:xfrm>
          <a:prstGeom prst="rect">
            <a:avLst/>
          </a:prstGeom>
        </p:spPr>
        <p:txBody>
          <a:bodyPr wrap="square" lIns="0" tIns="96520" rIns="0" bIns="0" rtlCol="0" vert="horz">
            <a:spAutoFit/>
          </a:bodyPr>
          <a:lstStyle/>
          <a:p>
            <a:pPr marL="180975" indent="-168275">
              <a:lnSpc>
                <a:spcPct val="100000"/>
              </a:lnSpc>
              <a:spcBef>
                <a:spcPts val="760"/>
              </a:spcBef>
              <a:buFont typeface="Arial MT"/>
              <a:buChar char="•"/>
              <a:tabLst>
                <a:tab pos="180975" algn="l"/>
              </a:tabLst>
            </a:pPr>
            <a:r>
              <a:rPr dirty="0" sz="1100" spc="-25">
                <a:latin typeface="SimSun"/>
                <a:cs typeface="SimSun"/>
              </a:rPr>
              <a:t>现场直播体育赛事观看</a:t>
            </a:r>
            <a:endParaRPr sz="1100">
              <a:latin typeface="SimSun"/>
              <a:cs typeface="SimSun"/>
            </a:endParaRPr>
          </a:p>
          <a:p>
            <a:pPr marL="180975" indent="-168275">
              <a:lnSpc>
                <a:spcPct val="100000"/>
              </a:lnSpc>
              <a:spcBef>
                <a:spcPts val="660"/>
              </a:spcBef>
              <a:buFont typeface="Arial MT"/>
              <a:buChar char="•"/>
              <a:tabLst>
                <a:tab pos="180975" algn="l"/>
              </a:tabLst>
            </a:pPr>
            <a:r>
              <a:rPr dirty="0" sz="1100" spc="-25">
                <a:latin typeface="SimSun"/>
                <a:cs typeface="SimSun"/>
              </a:rPr>
              <a:t>时间切片效果观看</a:t>
            </a:r>
            <a:endParaRPr sz="1100">
              <a:latin typeface="SimSun"/>
              <a:cs typeface="SimSun"/>
            </a:endParaRPr>
          </a:p>
        </p:txBody>
      </p:sp>
      <p:sp>
        <p:nvSpPr>
          <p:cNvPr id="38" name="object 38" descr=""/>
          <p:cNvSpPr txBox="1"/>
          <p:nvPr/>
        </p:nvSpPr>
        <p:spPr>
          <a:xfrm>
            <a:off x="404279" y="1232808"/>
            <a:ext cx="1167765" cy="574040"/>
          </a:xfrm>
          <a:prstGeom prst="rect">
            <a:avLst/>
          </a:prstGeom>
        </p:spPr>
        <p:txBody>
          <a:bodyPr wrap="square" lIns="0" tIns="12700" rIns="0" bIns="0" rtlCol="0" vert="horz">
            <a:spAutoFit/>
          </a:bodyPr>
          <a:lstStyle/>
          <a:p>
            <a:pPr marL="125730" marR="5080" indent="-113664">
              <a:lnSpc>
                <a:spcPct val="100000"/>
              </a:lnSpc>
              <a:spcBef>
                <a:spcPts val="100"/>
              </a:spcBef>
            </a:pPr>
            <a:r>
              <a:rPr dirty="0" sz="1800">
                <a:latin typeface="Arial MT"/>
                <a:cs typeface="Arial MT"/>
              </a:rPr>
              <a:t>5G</a:t>
            </a:r>
            <a:r>
              <a:rPr dirty="0" sz="1800" spc="-125">
                <a:latin typeface="Arial MT"/>
                <a:cs typeface="Arial MT"/>
              </a:rPr>
              <a:t> </a:t>
            </a:r>
            <a:r>
              <a:rPr dirty="0" sz="1800" spc="-10">
                <a:latin typeface="Arial MT"/>
                <a:cs typeface="Arial MT"/>
              </a:rPr>
              <a:t>VR</a:t>
            </a:r>
            <a:r>
              <a:rPr dirty="0" sz="1800" spc="-25">
                <a:latin typeface="SimSun"/>
                <a:cs typeface="SimSun"/>
              </a:rPr>
              <a:t>全景</a:t>
            </a:r>
            <a:r>
              <a:rPr dirty="0" sz="1800" spc="-15">
                <a:latin typeface="SimSun"/>
                <a:cs typeface="SimSun"/>
              </a:rPr>
              <a:t>体育直播</a:t>
            </a:r>
            <a:endParaRPr sz="1800">
              <a:latin typeface="SimSun"/>
              <a:cs typeface="SimSu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2114" rIns="0" bIns="0" rtlCol="0" vert="horz">
            <a:spAutoFit/>
          </a:bodyPr>
          <a:lstStyle/>
          <a:p>
            <a:pPr marL="981710">
              <a:lnSpc>
                <a:spcPct val="100000"/>
              </a:lnSpc>
              <a:spcBef>
                <a:spcPts val="95"/>
              </a:spcBef>
            </a:pPr>
            <a:r>
              <a:rPr dirty="0" spc="-35"/>
              <a:t>视觉旅游（</a:t>
            </a:r>
            <a:r>
              <a:rPr dirty="0" spc="-35">
                <a:latin typeface="Times New Roman"/>
                <a:cs typeface="Times New Roman"/>
              </a:rPr>
              <a:t>MR</a:t>
            </a:r>
            <a:r>
              <a:rPr dirty="0" spc="-35"/>
              <a:t>导览，</a:t>
            </a:r>
            <a:r>
              <a:rPr dirty="0" spc="-35">
                <a:latin typeface="Times New Roman"/>
                <a:cs typeface="Times New Roman"/>
              </a:rPr>
              <a:t>VR</a:t>
            </a:r>
            <a:r>
              <a:rPr dirty="0" spc="-35"/>
              <a:t>体验</a:t>
            </a:r>
            <a:r>
              <a:rPr dirty="0" spc="-50"/>
              <a:t>）</a:t>
            </a:r>
          </a:p>
        </p:txBody>
      </p:sp>
      <p:grpSp>
        <p:nvGrpSpPr>
          <p:cNvPr id="3" name="object 3" descr=""/>
          <p:cNvGrpSpPr/>
          <p:nvPr/>
        </p:nvGrpSpPr>
        <p:grpSpPr>
          <a:xfrm>
            <a:off x="3203854" y="1060996"/>
            <a:ext cx="2797810" cy="2663190"/>
            <a:chOff x="3203854" y="1060996"/>
            <a:chExt cx="2797810" cy="2663190"/>
          </a:xfrm>
        </p:grpSpPr>
        <p:pic>
          <p:nvPicPr>
            <p:cNvPr id="4" name="object 4" descr=""/>
            <p:cNvPicPr/>
            <p:nvPr/>
          </p:nvPicPr>
          <p:blipFill>
            <a:blip r:embed="rId2" cstate="print"/>
            <a:stretch>
              <a:fillRect/>
            </a:stretch>
          </p:blipFill>
          <p:spPr>
            <a:xfrm>
              <a:off x="3203854" y="1060996"/>
              <a:ext cx="2797644" cy="2662885"/>
            </a:xfrm>
            <a:prstGeom prst="rect">
              <a:avLst/>
            </a:prstGeom>
          </p:spPr>
        </p:pic>
        <p:pic>
          <p:nvPicPr>
            <p:cNvPr id="5" name="object 5"/>
            <p:cNvPicPr/>
            <p:nvPr/>
          </p:nvPicPr>
          <p:blipFill>
            <a:blip r:embed="rId3" cstate="print"/>
            <a:stretch>
              <a:fillRect/>
            </a:stretch>
          </p:blipFill>
          <p:spPr>
            <a:xfrm>
              <a:off x="4877704" y="1482733"/>
              <a:ext cx="918432" cy="918432"/>
            </a:xfrm>
            <a:prstGeom prst="rect">
              <a:avLst/>
            </a:prstGeom>
          </p:spPr>
        </p:pic>
        <p:pic>
          <p:nvPicPr>
            <p:cNvPr id="6" name="object 6"/>
            <p:cNvPicPr/>
            <p:nvPr/>
          </p:nvPicPr>
          <p:blipFill>
            <a:blip r:embed="rId4" cstate="print"/>
            <a:stretch>
              <a:fillRect/>
            </a:stretch>
          </p:blipFill>
          <p:spPr>
            <a:xfrm>
              <a:off x="3447734" y="1491629"/>
              <a:ext cx="836229" cy="836232"/>
            </a:xfrm>
            <a:prstGeom prst="rect">
              <a:avLst/>
            </a:prstGeom>
          </p:spPr>
        </p:pic>
        <p:pic>
          <p:nvPicPr>
            <p:cNvPr id="7" name="object 7"/>
            <p:cNvPicPr/>
            <p:nvPr/>
          </p:nvPicPr>
          <p:blipFill>
            <a:blip r:embed="rId5" cstate="print"/>
            <a:stretch>
              <a:fillRect/>
            </a:stretch>
          </p:blipFill>
          <p:spPr>
            <a:xfrm>
              <a:off x="5004048" y="2787776"/>
              <a:ext cx="707666" cy="707663"/>
            </a:xfrm>
            <a:prstGeom prst="rect">
              <a:avLst/>
            </a:prstGeom>
          </p:spPr>
        </p:pic>
        <p:pic>
          <p:nvPicPr>
            <p:cNvPr id="8" name="object 8" descr=""/>
            <p:cNvPicPr/>
            <p:nvPr/>
          </p:nvPicPr>
          <p:blipFill>
            <a:blip r:embed="rId6" cstate="print"/>
            <a:stretch>
              <a:fillRect/>
            </a:stretch>
          </p:blipFill>
          <p:spPr>
            <a:xfrm>
              <a:off x="4879847" y="2495549"/>
              <a:ext cx="367283" cy="288035"/>
            </a:xfrm>
            <a:prstGeom prst="rect">
              <a:avLst/>
            </a:prstGeom>
          </p:spPr>
        </p:pic>
        <p:pic>
          <p:nvPicPr>
            <p:cNvPr id="9" name="object 9" descr=""/>
            <p:cNvPicPr/>
            <p:nvPr/>
          </p:nvPicPr>
          <p:blipFill>
            <a:blip r:embed="rId7" cstate="print"/>
            <a:stretch>
              <a:fillRect/>
            </a:stretch>
          </p:blipFill>
          <p:spPr>
            <a:xfrm>
              <a:off x="5033771" y="2495549"/>
              <a:ext cx="823721" cy="288035"/>
            </a:xfrm>
            <a:prstGeom prst="rect">
              <a:avLst/>
            </a:prstGeom>
          </p:spPr>
        </p:pic>
      </p:grpSp>
      <p:sp>
        <p:nvSpPr>
          <p:cNvPr id="10" name="object 10" descr=""/>
          <p:cNvSpPr txBox="1"/>
          <p:nvPr/>
        </p:nvSpPr>
        <p:spPr>
          <a:xfrm>
            <a:off x="4963869" y="2537841"/>
            <a:ext cx="789940" cy="208279"/>
          </a:xfrm>
          <a:prstGeom prst="rect">
            <a:avLst/>
          </a:prstGeom>
        </p:spPr>
        <p:txBody>
          <a:bodyPr wrap="square" lIns="0" tIns="12700" rIns="0" bIns="0" rtlCol="0" vert="horz">
            <a:spAutoFit/>
          </a:bodyPr>
          <a:lstStyle/>
          <a:p>
            <a:pPr marL="12700">
              <a:lnSpc>
                <a:spcPct val="100000"/>
              </a:lnSpc>
              <a:spcBef>
                <a:spcPts val="100"/>
              </a:spcBef>
            </a:pPr>
            <a:r>
              <a:rPr dirty="0" sz="1200" spc="-235" b="1">
                <a:latin typeface="Arial"/>
                <a:cs typeface="Arial"/>
              </a:rPr>
              <a:t>VR</a:t>
            </a:r>
            <a:r>
              <a:rPr dirty="0" sz="1200" spc="-15">
                <a:latin typeface="SimSun"/>
                <a:cs typeface="SimSun"/>
              </a:rPr>
              <a:t>体验门户</a:t>
            </a:r>
            <a:endParaRPr sz="1200">
              <a:latin typeface="SimSun"/>
              <a:cs typeface="SimSun"/>
            </a:endParaRPr>
          </a:p>
        </p:txBody>
      </p:sp>
      <p:pic>
        <p:nvPicPr>
          <p:cNvPr id="11" name="object 11" descr=""/>
          <p:cNvPicPr/>
          <p:nvPr/>
        </p:nvPicPr>
        <p:blipFill>
          <a:blip r:embed="rId8" cstate="print"/>
          <a:stretch>
            <a:fillRect/>
          </a:stretch>
        </p:blipFill>
        <p:spPr>
          <a:xfrm>
            <a:off x="4993385" y="1261871"/>
            <a:ext cx="825245" cy="288035"/>
          </a:xfrm>
          <a:prstGeom prst="rect">
            <a:avLst/>
          </a:prstGeom>
        </p:spPr>
      </p:pic>
      <p:sp>
        <p:nvSpPr>
          <p:cNvPr id="12" name="object 12" descr=""/>
          <p:cNvSpPr txBox="1"/>
          <p:nvPr/>
        </p:nvSpPr>
        <p:spPr>
          <a:xfrm>
            <a:off x="5076875" y="1304250"/>
            <a:ext cx="638175" cy="208279"/>
          </a:xfrm>
          <a:prstGeom prst="rect">
            <a:avLst/>
          </a:prstGeom>
        </p:spPr>
        <p:txBody>
          <a:bodyPr wrap="square" lIns="0" tIns="12700" rIns="0" bIns="0" rtlCol="0" vert="horz">
            <a:spAutoFit/>
          </a:bodyPr>
          <a:lstStyle/>
          <a:p>
            <a:pPr marL="12700">
              <a:lnSpc>
                <a:spcPct val="100000"/>
              </a:lnSpc>
              <a:spcBef>
                <a:spcPts val="100"/>
              </a:spcBef>
            </a:pPr>
            <a:r>
              <a:rPr dirty="0" sz="1200" spc="-15">
                <a:latin typeface="SimSun"/>
                <a:cs typeface="SimSun"/>
              </a:rPr>
              <a:t>平面门户</a:t>
            </a:r>
            <a:endParaRPr sz="1200">
              <a:latin typeface="SimSun"/>
              <a:cs typeface="SimSun"/>
            </a:endParaRPr>
          </a:p>
        </p:txBody>
      </p:sp>
      <p:grpSp>
        <p:nvGrpSpPr>
          <p:cNvPr id="13" name="object 13" descr=""/>
          <p:cNvGrpSpPr/>
          <p:nvPr/>
        </p:nvGrpSpPr>
        <p:grpSpPr>
          <a:xfrm>
            <a:off x="3378707" y="2496311"/>
            <a:ext cx="977900" cy="288290"/>
            <a:chOff x="3378707" y="2496311"/>
            <a:chExt cx="977900" cy="288290"/>
          </a:xfrm>
        </p:grpSpPr>
        <p:pic>
          <p:nvPicPr>
            <p:cNvPr id="14" name="object 14" descr=""/>
            <p:cNvPicPr/>
            <p:nvPr/>
          </p:nvPicPr>
          <p:blipFill>
            <a:blip r:embed="rId9" cstate="print"/>
            <a:stretch>
              <a:fillRect/>
            </a:stretch>
          </p:blipFill>
          <p:spPr>
            <a:xfrm>
              <a:off x="3378707" y="2496311"/>
              <a:ext cx="367283" cy="288035"/>
            </a:xfrm>
            <a:prstGeom prst="rect">
              <a:avLst/>
            </a:prstGeom>
          </p:spPr>
        </p:pic>
        <p:pic>
          <p:nvPicPr>
            <p:cNvPr id="15" name="object 15" descr=""/>
            <p:cNvPicPr/>
            <p:nvPr/>
          </p:nvPicPr>
          <p:blipFill>
            <a:blip r:embed="rId10" cstate="print"/>
            <a:stretch>
              <a:fillRect/>
            </a:stretch>
          </p:blipFill>
          <p:spPr>
            <a:xfrm>
              <a:off x="3532631" y="2496311"/>
              <a:ext cx="823709" cy="288035"/>
            </a:xfrm>
            <a:prstGeom prst="rect">
              <a:avLst/>
            </a:prstGeom>
          </p:spPr>
        </p:pic>
      </p:grpSp>
      <p:sp>
        <p:nvSpPr>
          <p:cNvPr id="16" name="object 16" descr=""/>
          <p:cNvSpPr txBox="1"/>
          <p:nvPr/>
        </p:nvSpPr>
        <p:spPr>
          <a:xfrm>
            <a:off x="3462238" y="2539005"/>
            <a:ext cx="789940" cy="208279"/>
          </a:xfrm>
          <a:prstGeom prst="rect">
            <a:avLst/>
          </a:prstGeom>
        </p:spPr>
        <p:txBody>
          <a:bodyPr wrap="square" lIns="0" tIns="12700" rIns="0" bIns="0" rtlCol="0" vert="horz">
            <a:spAutoFit/>
          </a:bodyPr>
          <a:lstStyle/>
          <a:p>
            <a:pPr marL="12700">
              <a:lnSpc>
                <a:spcPct val="100000"/>
              </a:lnSpc>
              <a:spcBef>
                <a:spcPts val="100"/>
              </a:spcBef>
            </a:pPr>
            <a:r>
              <a:rPr dirty="0" sz="1200" spc="-265" b="1">
                <a:latin typeface="Arial"/>
                <a:cs typeface="Arial"/>
              </a:rPr>
              <a:t>AR</a:t>
            </a:r>
            <a:r>
              <a:rPr dirty="0" sz="1200" spc="-15">
                <a:latin typeface="SimSun"/>
                <a:cs typeface="SimSun"/>
              </a:rPr>
              <a:t>叠加门户</a:t>
            </a:r>
            <a:endParaRPr sz="1200">
              <a:latin typeface="SimSun"/>
              <a:cs typeface="SimSun"/>
            </a:endParaRPr>
          </a:p>
        </p:txBody>
      </p:sp>
      <p:pic>
        <p:nvPicPr>
          <p:cNvPr id="17" name="object 17"/>
          <p:cNvPicPr/>
          <p:nvPr/>
        </p:nvPicPr>
        <p:blipFill>
          <a:blip r:embed="rId11" cstate="print"/>
          <a:stretch>
            <a:fillRect/>
          </a:stretch>
        </p:blipFill>
        <p:spPr>
          <a:xfrm>
            <a:off x="6162992" y="4185411"/>
            <a:ext cx="2165969" cy="762825"/>
          </a:xfrm>
          <a:prstGeom prst="rect">
            <a:avLst/>
          </a:prstGeom>
        </p:spPr>
      </p:pic>
      <p:pic>
        <p:nvPicPr>
          <p:cNvPr id="18" name="object 18"/>
          <p:cNvPicPr/>
          <p:nvPr/>
        </p:nvPicPr>
        <p:blipFill>
          <a:blip r:embed="rId12" cstate="print"/>
          <a:stretch>
            <a:fillRect/>
          </a:stretch>
        </p:blipFill>
        <p:spPr>
          <a:xfrm>
            <a:off x="6162992" y="2287231"/>
            <a:ext cx="2213610" cy="1800199"/>
          </a:xfrm>
          <a:prstGeom prst="rect">
            <a:avLst/>
          </a:prstGeom>
        </p:spPr>
      </p:pic>
      <p:pic>
        <p:nvPicPr>
          <p:cNvPr id="19" name="object 19"/>
          <p:cNvPicPr/>
          <p:nvPr/>
        </p:nvPicPr>
        <p:blipFill>
          <a:blip r:embed="rId13" cstate="print"/>
          <a:stretch>
            <a:fillRect/>
          </a:stretch>
        </p:blipFill>
        <p:spPr>
          <a:xfrm>
            <a:off x="3357779" y="3795885"/>
            <a:ext cx="1214219" cy="792078"/>
          </a:xfrm>
          <a:prstGeom prst="rect">
            <a:avLst/>
          </a:prstGeom>
        </p:spPr>
      </p:pic>
      <p:grpSp>
        <p:nvGrpSpPr>
          <p:cNvPr id="20" name="object 20" descr=""/>
          <p:cNvGrpSpPr/>
          <p:nvPr/>
        </p:nvGrpSpPr>
        <p:grpSpPr>
          <a:xfrm>
            <a:off x="179514" y="819150"/>
            <a:ext cx="8149590" cy="4136390"/>
            <a:chOff x="179514" y="819150"/>
            <a:chExt cx="8149590" cy="4136390"/>
          </a:xfrm>
        </p:grpSpPr>
        <p:pic>
          <p:nvPicPr>
            <p:cNvPr id="21" name="object 21"/>
            <p:cNvPicPr/>
            <p:nvPr/>
          </p:nvPicPr>
          <p:blipFill>
            <a:blip r:embed="rId14" cstate="print"/>
            <a:stretch>
              <a:fillRect/>
            </a:stretch>
          </p:blipFill>
          <p:spPr>
            <a:xfrm>
              <a:off x="3528804" y="2893453"/>
              <a:ext cx="890932" cy="587762"/>
            </a:xfrm>
            <a:prstGeom prst="rect">
              <a:avLst/>
            </a:prstGeom>
          </p:spPr>
        </p:pic>
        <p:pic>
          <p:nvPicPr>
            <p:cNvPr id="22" name="object 22"/>
            <p:cNvPicPr/>
            <p:nvPr/>
          </p:nvPicPr>
          <p:blipFill>
            <a:blip r:embed="rId15" cstate="print"/>
            <a:stretch>
              <a:fillRect/>
            </a:stretch>
          </p:blipFill>
          <p:spPr>
            <a:xfrm>
              <a:off x="4631591" y="3939984"/>
              <a:ext cx="1431629" cy="1015428"/>
            </a:xfrm>
            <a:prstGeom prst="rect">
              <a:avLst/>
            </a:prstGeom>
          </p:spPr>
        </p:pic>
        <p:pic>
          <p:nvPicPr>
            <p:cNvPr id="23" name="object 23"/>
            <p:cNvPicPr/>
            <p:nvPr/>
          </p:nvPicPr>
          <p:blipFill>
            <a:blip r:embed="rId16" cstate="print"/>
            <a:stretch>
              <a:fillRect/>
            </a:stretch>
          </p:blipFill>
          <p:spPr>
            <a:xfrm>
              <a:off x="1379271" y="4054565"/>
              <a:ext cx="1713280" cy="749432"/>
            </a:xfrm>
            <a:prstGeom prst="rect">
              <a:avLst/>
            </a:prstGeom>
          </p:spPr>
        </p:pic>
        <p:pic>
          <p:nvPicPr>
            <p:cNvPr id="24" name="object 24"/>
            <p:cNvPicPr/>
            <p:nvPr/>
          </p:nvPicPr>
          <p:blipFill>
            <a:blip r:embed="rId17" cstate="print"/>
            <a:stretch>
              <a:fillRect/>
            </a:stretch>
          </p:blipFill>
          <p:spPr>
            <a:xfrm>
              <a:off x="179514" y="3960914"/>
              <a:ext cx="1164881" cy="707771"/>
            </a:xfrm>
            <a:prstGeom prst="rect">
              <a:avLst/>
            </a:prstGeom>
          </p:spPr>
        </p:pic>
        <p:pic>
          <p:nvPicPr>
            <p:cNvPr id="25" name="object 25"/>
            <p:cNvPicPr/>
            <p:nvPr/>
          </p:nvPicPr>
          <p:blipFill>
            <a:blip r:embed="rId18" cstate="print"/>
            <a:stretch>
              <a:fillRect/>
            </a:stretch>
          </p:blipFill>
          <p:spPr>
            <a:xfrm>
              <a:off x="1379270" y="3305936"/>
              <a:ext cx="1713280" cy="705972"/>
            </a:xfrm>
            <a:prstGeom prst="rect">
              <a:avLst/>
            </a:prstGeom>
          </p:spPr>
        </p:pic>
        <p:pic>
          <p:nvPicPr>
            <p:cNvPr id="26" name="object 26"/>
            <p:cNvPicPr/>
            <p:nvPr/>
          </p:nvPicPr>
          <p:blipFill>
            <a:blip r:embed="rId19" cstate="print"/>
            <a:stretch>
              <a:fillRect/>
            </a:stretch>
          </p:blipFill>
          <p:spPr>
            <a:xfrm>
              <a:off x="6161900" y="819150"/>
              <a:ext cx="2167061" cy="1379120"/>
            </a:xfrm>
            <a:prstGeom prst="rect">
              <a:avLst/>
            </a:prstGeom>
          </p:spPr>
        </p:pic>
        <p:pic>
          <p:nvPicPr>
            <p:cNvPr id="27" name="object 27" descr=""/>
            <p:cNvPicPr/>
            <p:nvPr/>
          </p:nvPicPr>
          <p:blipFill>
            <a:blip r:embed="rId20" cstate="print"/>
            <a:stretch>
              <a:fillRect/>
            </a:stretch>
          </p:blipFill>
          <p:spPr>
            <a:xfrm>
              <a:off x="3434333" y="1114044"/>
              <a:ext cx="977645" cy="288035"/>
            </a:xfrm>
            <a:prstGeom prst="rect">
              <a:avLst/>
            </a:prstGeom>
          </p:spPr>
        </p:pic>
      </p:grpSp>
      <p:sp>
        <p:nvSpPr>
          <p:cNvPr id="28" name="object 28" descr=""/>
          <p:cNvSpPr txBox="1"/>
          <p:nvPr/>
        </p:nvSpPr>
        <p:spPr>
          <a:xfrm>
            <a:off x="3520301" y="4474691"/>
            <a:ext cx="958215" cy="360680"/>
          </a:xfrm>
          <a:prstGeom prst="rect">
            <a:avLst/>
          </a:prstGeom>
        </p:spPr>
        <p:txBody>
          <a:bodyPr wrap="square" lIns="0" tIns="12065" rIns="0" bIns="0" rtlCol="0" vert="horz">
            <a:spAutoFit/>
          </a:bodyPr>
          <a:lstStyle/>
          <a:p>
            <a:pPr marL="12700" marR="5080">
              <a:lnSpc>
                <a:spcPct val="100000"/>
              </a:lnSpc>
              <a:spcBef>
                <a:spcPts val="95"/>
              </a:spcBef>
            </a:pPr>
            <a:r>
              <a:rPr dirty="0" sz="1100" b="1">
                <a:latin typeface="Arial"/>
                <a:cs typeface="Arial"/>
              </a:rPr>
              <a:t>VR</a:t>
            </a:r>
            <a:r>
              <a:rPr dirty="0" sz="1100" spc="-75" b="1">
                <a:latin typeface="Arial"/>
                <a:cs typeface="Arial"/>
              </a:rPr>
              <a:t> </a:t>
            </a:r>
            <a:r>
              <a:rPr dirty="0" sz="1100" spc="-20">
                <a:latin typeface="SimSun"/>
                <a:cs typeface="SimSun"/>
              </a:rPr>
              <a:t>头盔，环幕景区体验</a:t>
            </a:r>
            <a:endParaRPr sz="1100">
              <a:latin typeface="SimSun"/>
              <a:cs typeface="SimSun"/>
            </a:endParaRPr>
          </a:p>
        </p:txBody>
      </p:sp>
      <p:sp>
        <p:nvSpPr>
          <p:cNvPr id="29" name="object 29" descr=""/>
          <p:cNvSpPr txBox="1"/>
          <p:nvPr/>
        </p:nvSpPr>
        <p:spPr>
          <a:xfrm>
            <a:off x="3518298" y="1156677"/>
            <a:ext cx="78994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SimSun"/>
                <a:cs typeface="SimSun"/>
              </a:rPr>
              <a:t>旅游边缘云</a:t>
            </a:r>
            <a:endParaRPr sz="1200">
              <a:latin typeface="SimSun"/>
              <a:cs typeface="SimSun"/>
            </a:endParaRPr>
          </a:p>
        </p:txBody>
      </p:sp>
      <p:sp>
        <p:nvSpPr>
          <p:cNvPr id="30" name="object 30" descr=""/>
          <p:cNvSpPr txBox="1"/>
          <p:nvPr/>
        </p:nvSpPr>
        <p:spPr>
          <a:xfrm>
            <a:off x="258251" y="3428043"/>
            <a:ext cx="1067435" cy="193040"/>
          </a:xfrm>
          <a:prstGeom prst="rect">
            <a:avLst/>
          </a:prstGeom>
        </p:spPr>
        <p:txBody>
          <a:bodyPr wrap="square" lIns="0" tIns="12065" rIns="0" bIns="0" rtlCol="0" vert="horz">
            <a:spAutoFit/>
          </a:bodyPr>
          <a:lstStyle/>
          <a:p>
            <a:pPr marL="12700">
              <a:lnSpc>
                <a:spcPct val="100000"/>
              </a:lnSpc>
              <a:spcBef>
                <a:spcPts val="95"/>
              </a:spcBef>
            </a:pPr>
            <a:r>
              <a:rPr dirty="0" sz="1100" spc="-20" b="1">
                <a:latin typeface="Arial"/>
                <a:cs typeface="Arial"/>
              </a:rPr>
              <a:t>AR</a:t>
            </a:r>
            <a:r>
              <a:rPr dirty="0" sz="1100" spc="-20">
                <a:latin typeface="SimSun"/>
                <a:cs typeface="SimSun"/>
              </a:rPr>
              <a:t>眼镜景区解讲</a:t>
            </a:r>
            <a:endParaRPr sz="1100">
              <a:latin typeface="SimSun"/>
              <a:cs typeface="SimSun"/>
            </a:endParaRPr>
          </a:p>
        </p:txBody>
      </p:sp>
      <p:pic>
        <p:nvPicPr>
          <p:cNvPr id="31" name="object 31"/>
          <p:cNvPicPr/>
          <p:nvPr/>
        </p:nvPicPr>
        <p:blipFill>
          <a:blip r:embed="rId21" cstate="print"/>
          <a:stretch>
            <a:fillRect/>
          </a:stretch>
        </p:blipFill>
        <p:spPr>
          <a:xfrm>
            <a:off x="323850" y="843559"/>
            <a:ext cx="2663651" cy="2062073"/>
          </a:xfrm>
          <a:prstGeom prst="rect">
            <a:avLst/>
          </a:prstGeom>
        </p:spPr>
      </p:pic>
      <p:sp>
        <p:nvSpPr>
          <p:cNvPr id="32" name="object 32" descr=""/>
          <p:cNvSpPr txBox="1"/>
          <p:nvPr/>
        </p:nvSpPr>
        <p:spPr>
          <a:xfrm>
            <a:off x="402590" y="956010"/>
            <a:ext cx="1401445" cy="29972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SimSun"/>
                <a:cs typeface="SimSun"/>
              </a:rPr>
              <a:t>智能线路导览</a:t>
            </a:r>
            <a:endParaRPr sz="1800">
              <a:latin typeface="SimSun"/>
              <a:cs typeface="SimSun"/>
            </a:endParaRPr>
          </a:p>
        </p:txBody>
      </p:sp>
      <p:sp>
        <p:nvSpPr>
          <p:cNvPr id="33" name="object 33" descr=""/>
          <p:cNvSpPr txBox="1"/>
          <p:nvPr/>
        </p:nvSpPr>
        <p:spPr>
          <a:xfrm>
            <a:off x="6174740" y="849883"/>
            <a:ext cx="1005840" cy="193040"/>
          </a:xfrm>
          <a:prstGeom prst="rect">
            <a:avLst/>
          </a:prstGeom>
        </p:spPr>
        <p:txBody>
          <a:bodyPr wrap="square" lIns="0" tIns="12065" rIns="0" bIns="0" rtlCol="0" vert="horz">
            <a:spAutoFit/>
          </a:bodyPr>
          <a:lstStyle/>
          <a:p>
            <a:pPr marL="12700">
              <a:lnSpc>
                <a:spcPct val="100000"/>
              </a:lnSpc>
              <a:spcBef>
                <a:spcPts val="95"/>
              </a:spcBef>
            </a:pPr>
            <a:r>
              <a:rPr dirty="0" sz="1100" spc="-20">
                <a:latin typeface="SimSun"/>
                <a:cs typeface="SimSun"/>
              </a:rPr>
              <a:t>平台导览，广告</a:t>
            </a:r>
            <a:endParaRPr sz="1100">
              <a:latin typeface="SimSun"/>
              <a:cs typeface="SimSun"/>
            </a:endParaRPr>
          </a:p>
        </p:txBody>
      </p:sp>
      <p:grpSp>
        <p:nvGrpSpPr>
          <p:cNvPr id="34" name="object 34" descr=""/>
          <p:cNvGrpSpPr/>
          <p:nvPr/>
        </p:nvGrpSpPr>
        <p:grpSpPr>
          <a:xfrm>
            <a:off x="3048603" y="1296130"/>
            <a:ext cx="3108325" cy="2600960"/>
            <a:chOff x="3048603" y="1296130"/>
            <a:chExt cx="3108325" cy="2600960"/>
          </a:xfrm>
        </p:grpSpPr>
        <p:pic>
          <p:nvPicPr>
            <p:cNvPr id="35" name="object 35"/>
            <p:cNvPicPr/>
            <p:nvPr/>
          </p:nvPicPr>
          <p:blipFill>
            <a:blip r:embed="rId22" cstate="print"/>
            <a:stretch>
              <a:fillRect/>
            </a:stretch>
          </p:blipFill>
          <p:spPr>
            <a:xfrm>
              <a:off x="3131840" y="1354349"/>
              <a:ext cx="1145392" cy="1145392"/>
            </a:xfrm>
            <a:prstGeom prst="rect">
              <a:avLst/>
            </a:prstGeom>
          </p:spPr>
        </p:pic>
        <p:sp>
          <p:nvSpPr>
            <p:cNvPr id="36" name="object 36" descr=""/>
            <p:cNvSpPr/>
            <p:nvPr/>
          </p:nvSpPr>
          <p:spPr>
            <a:xfrm>
              <a:off x="3048597" y="1296136"/>
              <a:ext cx="3108325" cy="2600960"/>
            </a:xfrm>
            <a:custGeom>
              <a:avLst/>
              <a:gdLst/>
              <a:ahLst/>
              <a:cxnLst/>
              <a:rect l="l" t="t" r="r" b="b"/>
              <a:pathLst>
                <a:path w="3108325" h="2600960">
                  <a:moveTo>
                    <a:pt x="155244" y="2102713"/>
                  </a:moveTo>
                  <a:lnTo>
                    <a:pt x="0" y="2229231"/>
                  </a:lnTo>
                  <a:lnTo>
                    <a:pt x="155244" y="2355735"/>
                  </a:lnTo>
                  <a:lnTo>
                    <a:pt x="155244" y="2102713"/>
                  </a:lnTo>
                  <a:close/>
                </a:path>
                <a:path w="3108325" h="2600960">
                  <a:moveTo>
                    <a:pt x="155244" y="0"/>
                  </a:moveTo>
                  <a:lnTo>
                    <a:pt x="0" y="126517"/>
                  </a:lnTo>
                  <a:lnTo>
                    <a:pt x="155244" y="253022"/>
                  </a:lnTo>
                  <a:lnTo>
                    <a:pt x="155244" y="0"/>
                  </a:lnTo>
                  <a:close/>
                </a:path>
                <a:path w="3108325" h="2600960">
                  <a:moveTo>
                    <a:pt x="2411387" y="2445258"/>
                  </a:moveTo>
                  <a:lnTo>
                    <a:pt x="2158365" y="2445258"/>
                  </a:lnTo>
                  <a:lnTo>
                    <a:pt x="2284882" y="2600502"/>
                  </a:lnTo>
                  <a:lnTo>
                    <a:pt x="2411387" y="2445258"/>
                  </a:lnTo>
                  <a:close/>
                </a:path>
                <a:path w="3108325" h="2600960">
                  <a:moveTo>
                    <a:pt x="3108134" y="487095"/>
                  </a:moveTo>
                  <a:lnTo>
                    <a:pt x="2952889" y="360591"/>
                  </a:lnTo>
                  <a:lnTo>
                    <a:pt x="2952889" y="613613"/>
                  </a:lnTo>
                  <a:lnTo>
                    <a:pt x="3108134" y="487095"/>
                  </a:lnTo>
                  <a:close/>
                </a:path>
              </a:pathLst>
            </a:custGeom>
            <a:solidFill>
              <a:srgbClr val="9A9A9A"/>
            </a:solidFill>
          </p:spPr>
          <p:txBody>
            <a:bodyPr wrap="square" lIns="0" tIns="0" rIns="0" bIns="0" rtlCol="0"/>
            <a:lstStyle/>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2114" rIns="0" bIns="0" rtlCol="0" vert="horz">
            <a:spAutoFit/>
          </a:bodyPr>
          <a:lstStyle/>
          <a:p>
            <a:pPr marL="1407160">
              <a:lnSpc>
                <a:spcPct val="100000"/>
              </a:lnSpc>
              <a:spcBef>
                <a:spcPts val="95"/>
              </a:spcBef>
            </a:pPr>
            <a:r>
              <a:rPr dirty="0" spc="-35"/>
              <a:t>虚拟教学（</a:t>
            </a:r>
            <a:r>
              <a:rPr dirty="0" spc="-45"/>
              <a:t>课堂</a:t>
            </a:r>
            <a:r>
              <a:rPr dirty="0">
                <a:latin typeface="Times New Roman"/>
                <a:cs typeface="Times New Roman"/>
              </a:rPr>
              <a:t>&amp;</a:t>
            </a:r>
            <a:r>
              <a:rPr dirty="0" spc="-40"/>
              <a:t>实验室</a:t>
            </a:r>
            <a:r>
              <a:rPr dirty="0" spc="-50"/>
              <a:t>）</a:t>
            </a:r>
          </a:p>
        </p:txBody>
      </p:sp>
      <p:grpSp>
        <p:nvGrpSpPr>
          <p:cNvPr id="3" name="object 3" descr=""/>
          <p:cNvGrpSpPr/>
          <p:nvPr/>
        </p:nvGrpSpPr>
        <p:grpSpPr>
          <a:xfrm>
            <a:off x="355854" y="870203"/>
            <a:ext cx="4669155" cy="3610610"/>
            <a:chOff x="355854" y="870203"/>
            <a:chExt cx="4669155" cy="3610610"/>
          </a:xfrm>
        </p:grpSpPr>
        <p:pic>
          <p:nvPicPr>
            <p:cNvPr id="4" name="object 4"/>
            <p:cNvPicPr/>
            <p:nvPr/>
          </p:nvPicPr>
          <p:blipFill>
            <a:blip r:embed="rId2" cstate="print"/>
            <a:stretch>
              <a:fillRect/>
            </a:stretch>
          </p:blipFill>
          <p:spPr>
            <a:xfrm>
              <a:off x="1690116" y="1143000"/>
              <a:ext cx="3334511" cy="2911601"/>
            </a:xfrm>
            <a:prstGeom prst="rect">
              <a:avLst/>
            </a:prstGeom>
          </p:spPr>
        </p:pic>
        <p:sp>
          <p:nvSpPr>
            <p:cNvPr id="5" name="object 5" descr=""/>
            <p:cNvSpPr/>
            <p:nvPr/>
          </p:nvSpPr>
          <p:spPr>
            <a:xfrm>
              <a:off x="1714972" y="1167930"/>
              <a:ext cx="3231515" cy="2807970"/>
            </a:xfrm>
            <a:custGeom>
              <a:avLst/>
              <a:gdLst/>
              <a:ahLst/>
              <a:cxnLst/>
              <a:rect l="l" t="t" r="r" b="b"/>
              <a:pathLst>
                <a:path w="3231515" h="2807970">
                  <a:moveTo>
                    <a:pt x="1615630" y="0"/>
                  </a:moveTo>
                  <a:lnTo>
                    <a:pt x="1564343" y="693"/>
                  </a:lnTo>
                  <a:lnTo>
                    <a:pt x="1513455" y="2761"/>
                  </a:lnTo>
                  <a:lnTo>
                    <a:pt x="1462989" y="6183"/>
                  </a:lnTo>
                  <a:lnTo>
                    <a:pt x="1412969" y="10937"/>
                  </a:lnTo>
                  <a:lnTo>
                    <a:pt x="1363418" y="17004"/>
                  </a:lnTo>
                  <a:lnTo>
                    <a:pt x="1314360" y="24363"/>
                  </a:lnTo>
                  <a:lnTo>
                    <a:pt x="1265819" y="32993"/>
                  </a:lnTo>
                  <a:lnTo>
                    <a:pt x="1217819" y="42873"/>
                  </a:lnTo>
                  <a:lnTo>
                    <a:pt x="1170383" y="53984"/>
                  </a:lnTo>
                  <a:lnTo>
                    <a:pt x="1123535" y="66305"/>
                  </a:lnTo>
                  <a:lnTo>
                    <a:pt x="1077298" y="79814"/>
                  </a:lnTo>
                  <a:lnTo>
                    <a:pt x="1031696" y="94492"/>
                  </a:lnTo>
                  <a:lnTo>
                    <a:pt x="986753" y="110318"/>
                  </a:lnTo>
                  <a:lnTo>
                    <a:pt x="942493" y="127272"/>
                  </a:lnTo>
                  <a:lnTo>
                    <a:pt x="898938" y="145332"/>
                  </a:lnTo>
                  <a:lnTo>
                    <a:pt x="856113" y="164479"/>
                  </a:lnTo>
                  <a:lnTo>
                    <a:pt x="814042" y="184691"/>
                  </a:lnTo>
                  <a:lnTo>
                    <a:pt x="772748" y="205949"/>
                  </a:lnTo>
                  <a:lnTo>
                    <a:pt x="732254" y="228231"/>
                  </a:lnTo>
                  <a:lnTo>
                    <a:pt x="692585" y="251517"/>
                  </a:lnTo>
                  <a:lnTo>
                    <a:pt x="653764" y="275787"/>
                  </a:lnTo>
                  <a:lnTo>
                    <a:pt x="615814" y="301019"/>
                  </a:lnTo>
                  <a:lnTo>
                    <a:pt x="578760" y="327194"/>
                  </a:lnTo>
                  <a:lnTo>
                    <a:pt x="542625" y="354291"/>
                  </a:lnTo>
                  <a:lnTo>
                    <a:pt x="507432" y="382289"/>
                  </a:lnTo>
                  <a:lnTo>
                    <a:pt x="473206" y="411168"/>
                  </a:lnTo>
                  <a:lnTo>
                    <a:pt x="439970" y="440907"/>
                  </a:lnTo>
                  <a:lnTo>
                    <a:pt x="407747" y="471486"/>
                  </a:lnTo>
                  <a:lnTo>
                    <a:pt x="376562" y="502884"/>
                  </a:lnTo>
                  <a:lnTo>
                    <a:pt x="346438" y="535080"/>
                  </a:lnTo>
                  <a:lnTo>
                    <a:pt x="317398" y="568055"/>
                  </a:lnTo>
                  <a:lnTo>
                    <a:pt x="289466" y="601786"/>
                  </a:lnTo>
                  <a:lnTo>
                    <a:pt x="262667" y="636255"/>
                  </a:lnTo>
                  <a:lnTo>
                    <a:pt x="237023" y="671440"/>
                  </a:lnTo>
                  <a:lnTo>
                    <a:pt x="212558" y="707320"/>
                  </a:lnTo>
                  <a:lnTo>
                    <a:pt x="189296" y="743876"/>
                  </a:lnTo>
                  <a:lnTo>
                    <a:pt x="167260" y="781086"/>
                  </a:lnTo>
                  <a:lnTo>
                    <a:pt x="146475" y="818931"/>
                  </a:lnTo>
                  <a:lnTo>
                    <a:pt x="126964" y="857389"/>
                  </a:lnTo>
                  <a:lnTo>
                    <a:pt x="108750" y="896440"/>
                  </a:lnTo>
                  <a:lnTo>
                    <a:pt x="91857" y="936063"/>
                  </a:lnTo>
                  <a:lnTo>
                    <a:pt x="76309" y="976238"/>
                  </a:lnTo>
                  <a:lnTo>
                    <a:pt x="62130" y="1016945"/>
                  </a:lnTo>
                  <a:lnTo>
                    <a:pt x="49342" y="1058162"/>
                  </a:lnTo>
                  <a:lnTo>
                    <a:pt x="37971" y="1099869"/>
                  </a:lnTo>
                  <a:lnTo>
                    <a:pt x="28039" y="1142046"/>
                  </a:lnTo>
                  <a:lnTo>
                    <a:pt x="19570" y="1184672"/>
                  </a:lnTo>
                  <a:lnTo>
                    <a:pt x="12588" y="1227727"/>
                  </a:lnTo>
                  <a:lnTo>
                    <a:pt x="7116" y="1271190"/>
                  </a:lnTo>
                  <a:lnTo>
                    <a:pt x="3178" y="1315039"/>
                  </a:lnTo>
                  <a:lnTo>
                    <a:pt x="798" y="1359256"/>
                  </a:lnTo>
                  <a:lnTo>
                    <a:pt x="0" y="1403819"/>
                  </a:lnTo>
                  <a:lnTo>
                    <a:pt x="798" y="1448383"/>
                  </a:lnTo>
                  <a:lnTo>
                    <a:pt x="3178" y="1492599"/>
                  </a:lnTo>
                  <a:lnTo>
                    <a:pt x="7116" y="1536449"/>
                  </a:lnTo>
                  <a:lnTo>
                    <a:pt x="12588" y="1579912"/>
                  </a:lnTo>
                  <a:lnTo>
                    <a:pt x="19570" y="1622967"/>
                  </a:lnTo>
                  <a:lnTo>
                    <a:pt x="28039" y="1665593"/>
                  </a:lnTo>
                  <a:lnTo>
                    <a:pt x="37971" y="1707770"/>
                  </a:lnTo>
                  <a:lnTo>
                    <a:pt x="49342" y="1749478"/>
                  </a:lnTo>
                  <a:lnTo>
                    <a:pt x="62130" y="1790695"/>
                  </a:lnTo>
                  <a:lnTo>
                    <a:pt x="76309" y="1831402"/>
                  </a:lnTo>
                  <a:lnTo>
                    <a:pt x="91857" y="1871577"/>
                  </a:lnTo>
                  <a:lnTo>
                    <a:pt x="108750" y="1911201"/>
                  </a:lnTo>
                  <a:lnTo>
                    <a:pt x="126964" y="1950252"/>
                  </a:lnTo>
                  <a:lnTo>
                    <a:pt x="146475" y="1988710"/>
                  </a:lnTo>
                  <a:lnTo>
                    <a:pt x="167260" y="2026555"/>
                  </a:lnTo>
                  <a:lnTo>
                    <a:pt x="189296" y="2063766"/>
                  </a:lnTo>
                  <a:lnTo>
                    <a:pt x="212558" y="2100322"/>
                  </a:lnTo>
                  <a:lnTo>
                    <a:pt x="237023" y="2136203"/>
                  </a:lnTo>
                  <a:lnTo>
                    <a:pt x="262667" y="2171388"/>
                  </a:lnTo>
                  <a:lnTo>
                    <a:pt x="289466" y="2205857"/>
                  </a:lnTo>
                  <a:lnTo>
                    <a:pt x="317398" y="2239589"/>
                  </a:lnTo>
                  <a:lnTo>
                    <a:pt x="346438" y="2272563"/>
                  </a:lnTo>
                  <a:lnTo>
                    <a:pt x="376562" y="2304760"/>
                  </a:lnTo>
                  <a:lnTo>
                    <a:pt x="407747" y="2336158"/>
                  </a:lnTo>
                  <a:lnTo>
                    <a:pt x="439970" y="2366737"/>
                  </a:lnTo>
                  <a:lnTo>
                    <a:pt x="473206" y="2396477"/>
                  </a:lnTo>
                  <a:lnTo>
                    <a:pt x="507432" y="2425356"/>
                  </a:lnTo>
                  <a:lnTo>
                    <a:pt x="542625" y="2453355"/>
                  </a:lnTo>
                  <a:lnTo>
                    <a:pt x="578760" y="2480452"/>
                  </a:lnTo>
                  <a:lnTo>
                    <a:pt x="615814" y="2506627"/>
                  </a:lnTo>
                  <a:lnTo>
                    <a:pt x="653764" y="2531860"/>
                  </a:lnTo>
                  <a:lnTo>
                    <a:pt x="692585" y="2556130"/>
                  </a:lnTo>
                  <a:lnTo>
                    <a:pt x="732254" y="2579417"/>
                  </a:lnTo>
                  <a:lnTo>
                    <a:pt x="772748" y="2601699"/>
                  </a:lnTo>
                  <a:lnTo>
                    <a:pt x="814042" y="2622957"/>
                  </a:lnTo>
                  <a:lnTo>
                    <a:pt x="856113" y="2643170"/>
                  </a:lnTo>
                  <a:lnTo>
                    <a:pt x="898938" y="2662317"/>
                  </a:lnTo>
                  <a:lnTo>
                    <a:pt x="942493" y="2680377"/>
                  </a:lnTo>
                  <a:lnTo>
                    <a:pt x="986753" y="2697331"/>
                  </a:lnTo>
                  <a:lnTo>
                    <a:pt x="1031696" y="2713157"/>
                  </a:lnTo>
                  <a:lnTo>
                    <a:pt x="1077298" y="2727836"/>
                  </a:lnTo>
                  <a:lnTo>
                    <a:pt x="1123535" y="2741346"/>
                  </a:lnTo>
                  <a:lnTo>
                    <a:pt x="1170383" y="2753666"/>
                  </a:lnTo>
                  <a:lnTo>
                    <a:pt x="1217819" y="2764777"/>
                  </a:lnTo>
                  <a:lnTo>
                    <a:pt x="1265819" y="2774658"/>
                  </a:lnTo>
                  <a:lnTo>
                    <a:pt x="1314360" y="2783288"/>
                  </a:lnTo>
                  <a:lnTo>
                    <a:pt x="1363418" y="2790647"/>
                  </a:lnTo>
                  <a:lnTo>
                    <a:pt x="1412969" y="2796714"/>
                  </a:lnTo>
                  <a:lnTo>
                    <a:pt x="1462989" y="2801469"/>
                  </a:lnTo>
                  <a:lnTo>
                    <a:pt x="1513455" y="2804890"/>
                  </a:lnTo>
                  <a:lnTo>
                    <a:pt x="1564343" y="2806958"/>
                  </a:lnTo>
                  <a:lnTo>
                    <a:pt x="1615630" y="2807652"/>
                  </a:lnTo>
                  <a:lnTo>
                    <a:pt x="1666916" y="2806958"/>
                  </a:lnTo>
                  <a:lnTo>
                    <a:pt x="1717804" y="2804890"/>
                  </a:lnTo>
                  <a:lnTo>
                    <a:pt x="1768269" y="2801469"/>
                  </a:lnTo>
                  <a:lnTo>
                    <a:pt x="1818289" y="2796714"/>
                  </a:lnTo>
                  <a:lnTo>
                    <a:pt x="1867839" y="2790647"/>
                  </a:lnTo>
                  <a:lnTo>
                    <a:pt x="1916896" y="2783288"/>
                  </a:lnTo>
                  <a:lnTo>
                    <a:pt x="1965436" y="2774658"/>
                  </a:lnTo>
                  <a:lnTo>
                    <a:pt x="2013436" y="2764777"/>
                  </a:lnTo>
                  <a:lnTo>
                    <a:pt x="2060871" y="2753666"/>
                  </a:lnTo>
                  <a:lnTo>
                    <a:pt x="2107719" y="2741346"/>
                  </a:lnTo>
                  <a:lnTo>
                    <a:pt x="2153956" y="2727836"/>
                  </a:lnTo>
                  <a:lnTo>
                    <a:pt x="2199557" y="2713157"/>
                  </a:lnTo>
                  <a:lnTo>
                    <a:pt x="2244499" y="2697331"/>
                  </a:lnTo>
                  <a:lnTo>
                    <a:pt x="2288760" y="2680377"/>
                  </a:lnTo>
                  <a:lnTo>
                    <a:pt x="2332314" y="2662317"/>
                  </a:lnTo>
                  <a:lnTo>
                    <a:pt x="2375138" y="2643170"/>
                  </a:lnTo>
                  <a:lnTo>
                    <a:pt x="2417209" y="2622957"/>
                  </a:lnTo>
                  <a:lnTo>
                    <a:pt x="2458503" y="2601699"/>
                  </a:lnTo>
                  <a:lnTo>
                    <a:pt x="2498996" y="2579417"/>
                  </a:lnTo>
                  <a:lnTo>
                    <a:pt x="2538665" y="2556130"/>
                  </a:lnTo>
                  <a:lnTo>
                    <a:pt x="2577486" y="2531860"/>
                  </a:lnTo>
                  <a:lnTo>
                    <a:pt x="2615435" y="2506627"/>
                  </a:lnTo>
                  <a:lnTo>
                    <a:pt x="2652489" y="2480452"/>
                  </a:lnTo>
                  <a:lnTo>
                    <a:pt x="2688624" y="2453355"/>
                  </a:lnTo>
                  <a:lnTo>
                    <a:pt x="2723817" y="2425356"/>
                  </a:lnTo>
                  <a:lnTo>
                    <a:pt x="2758043" y="2396477"/>
                  </a:lnTo>
                  <a:lnTo>
                    <a:pt x="2791279" y="2366737"/>
                  </a:lnTo>
                  <a:lnTo>
                    <a:pt x="2823501" y="2336158"/>
                  </a:lnTo>
                  <a:lnTo>
                    <a:pt x="2854686" y="2304760"/>
                  </a:lnTo>
                  <a:lnTo>
                    <a:pt x="2884811" y="2272563"/>
                  </a:lnTo>
                  <a:lnTo>
                    <a:pt x="2913850" y="2239589"/>
                  </a:lnTo>
                  <a:lnTo>
                    <a:pt x="2941782" y="2205857"/>
                  </a:lnTo>
                  <a:lnTo>
                    <a:pt x="2968581" y="2171388"/>
                  </a:lnTo>
                  <a:lnTo>
                    <a:pt x="2994225" y="2136203"/>
                  </a:lnTo>
                  <a:lnTo>
                    <a:pt x="3018690" y="2100322"/>
                  </a:lnTo>
                  <a:lnTo>
                    <a:pt x="3041952" y="2063766"/>
                  </a:lnTo>
                  <a:lnTo>
                    <a:pt x="3063987" y="2026555"/>
                  </a:lnTo>
                  <a:lnTo>
                    <a:pt x="3084773" y="1988710"/>
                  </a:lnTo>
                  <a:lnTo>
                    <a:pt x="3104284" y="1950252"/>
                  </a:lnTo>
                  <a:lnTo>
                    <a:pt x="3122498" y="1911201"/>
                  </a:lnTo>
                  <a:lnTo>
                    <a:pt x="3139390" y="1871577"/>
                  </a:lnTo>
                  <a:lnTo>
                    <a:pt x="3154938" y="1831402"/>
                  </a:lnTo>
                  <a:lnTo>
                    <a:pt x="3169118" y="1790695"/>
                  </a:lnTo>
                  <a:lnTo>
                    <a:pt x="3181905" y="1749478"/>
                  </a:lnTo>
                  <a:lnTo>
                    <a:pt x="3193277" y="1707770"/>
                  </a:lnTo>
                  <a:lnTo>
                    <a:pt x="3203209" y="1665593"/>
                  </a:lnTo>
                  <a:lnTo>
                    <a:pt x="3211678" y="1622967"/>
                  </a:lnTo>
                  <a:lnTo>
                    <a:pt x="3218660" y="1579912"/>
                  </a:lnTo>
                  <a:lnTo>
                    <a:pt x="3224132" y="1536449"/>
                  </a:lnTo>
                  <a:lnTo>
                    <a:pt x="3228069" y="1492599"/>
                  </a:lnTo>
                  <a:lnTo>
                    <a:pt x="3230449" y="1448383"/>
                  </a:lnTo>
                  <a:lnTo>
                    <a:pt x="3231248" y="1403819"/>
                  </a:lnTo>
                  <a:lnTo>
                    <a:pt x="3230449" y="1359256"/>
                  </a:lnTo>
                  <a:lnTo>
                    <a:pt x="3228069" y="1315039"/>
                  </a:lnTo>
                  <a:lnTo>
                    <a:pt x="3224132" y="1271190"/>
                  </a:lnTo>
                  <a:lnTo>
                    <a:pt x="3218660" y="1227727"/>
                  </a:lnTo>
                  <a:lnTo>
                    <a:pt x="3211678" y="1184672"/>
                  </a:lnTo>
                  <a:lnTo>
                    <a:pt x="3203209" y="1142046"/>
                  </a:lnTo>
                  <a:lnTo>
                    <a:pt x="3193277" y="1099869"/>
                  </a:lnTo>
                  <a:lnTo>
                    <a:pt x="3181905" y="1058162"/>
                  </a:lnTo>
                  <a:lnTo>
                    <a:pt x="3169118" y="1016945"/>
                  </a:lnTo>
                  <a:lnTo>
                    <a:pt x="3154938" y="976238"/>
                  </a:lnTo>
                  <a:lnTo>
                    <a:pt x="3139390" y="936063"/>
                  </a:lnTo>
                  <a:lnTo>
                    <a:pt x="3122498" y="896440"/>
                  </a:lnTo>
                  <a:lnTo>
                    <a:pt x="3104284" y="857389"/>
                  </a:lnTo>
                  <a:lnTo>
                    <a:pt x="3084773" y="818931"/>
                  </a:lnTo>
                  <a:lnTo>
                    <a:pt x="3063987" y="781086"/>
                  </a:lnTo>
                  <a:lnTo>
                    <a:pt x="3041952" y="743876"/>
                  </a:lnTo>
                  <a:lnTo>
                    <a:pt x="3018690" y="707320"/>
                  </a:lnTo>
                  <a:lnTo>
                    <a:pt x="2994225" y="671440"/>
                  </a:lnTo>
                  <a:lnTo>
                    <a:pt x="2968581" y="636255"/>
                  </a:lnTo>
                  <a:lnTo>
                    <a:pt x="2941782" y="601786"/>
                  </a:lnTo>
                  <a:lnTo>
                    <a:pt x="2913850" y="568055"/>
                  </a:lnTo>
                  <a:lnTo>
                    <a:pt x="2884811" y="535080"/>
                  </a:lnTo>
                  <a:lnTo>
                    <a:pt x="2854686" y="502884"/>
                  </a:lnTo>
                  <a:lnTo>
                    <a:pt x="2823501" y="471486"/>
                  </a:lnTo>
                  <a:lnTo>
                    <a:pt x="2791279" y="440907"/>
                  </a:lnTo>
                  <a:lnTo>
                    <a:pt x="2758043" y="411168"/>
                  </a:lnTo>
                  <a:lnTo>
                    <a:pt x="2723817" y="382289"/>
                  </a:lnTo>
                  <a:lnTo>
                    <a:pt x="2688624" y="354291"/>
                  </a:lnTo>
                  <a:lnTo>
                    <a:pt x="2652489" y="327194"/>
                  </a:lnTo>
                  <a:lnTo>
                    <a:pt x="2615435" y="301019"/>
                  </a:lnTo>
                  <a:lnTo>
                    <a:pt x="2577486" y="275787"/>
                  </a:lnTo>
                  <a:lnTo>
                    <a:pt x="2538665" y="251517"/>
                  </a:lnTo>
                  <a:lnTo>
                    <a:pt x="2498996" y="228231"/>
                  </a:lnTo>
                  <a:lnTo>
                    <a:pt x="2458503" y="205949"/>
                  </a:lnTo>
                  <a:lnTo>
                    <a:pt x="2417209" y="184691"/>
                  </a:lnTo>
                  <a:lnTo>
                    <a:pt x="2375138" y="164479"/>
                  </a:lnTo>
                  <a:lnTo>
                    <a:pt x="2332314" y="145332"/>
                  </a:lnTo>
                  <a:lnTo>
                    <a:pt x="2288760" y="127272"/>
                  </a:lnTo>
                  <a:lnTo>
                    <a:pt x="2244499" y="110318"/>
                  </a:lnTo>
                  <a:lnTo>
                    <a:pt x="2199557" y="94492"/>
                  </a:lnTo>
                  <a:lnTo>
                    <a:pt x="2153956" y="79814"/>
                  </a:lnTo>
                  <a:lnTo>
                    <a:pt x="2107719" y="66305"/>
                  </a:lnTo>
                  <a:lnTo>
                    <a:pt x="2060871" y="53984"/>
                  </a:lnTo>
                  <a:lnTo>
                    <a:pt x="2013436" y="42873"/>
                  </a:lnTo>
                  <a:lnTo>
                    <a:pt x="1965436" y="32993"/>
                  </a:lnTo>
                  <a:lnTo>
                    <a:pt x="1916896" y="24363"/>
                  </a:lnTo>
                  <a:lnTo>
                    <a:pt x="1867839" y="17004"/>
                  </a:lnTo>
                  <a:lnTo>
                    <a:pt x="1818289" y="10937"/>
                  </a:lnTo>
                  <a:lnTo>
                    <a:pt x="1768269" y="6183"/>
                  </a:lnTo>
                  <a:lnTo>
                    <a:pt x="1717804" y="2761"/>
                  </a:lnTo>
                  <a:lnTo>
                    <a:pt x="1666916" y="693"/>
                  </a:lnTo>
                  <a:lnTo>
                    <a:pt x="1615630" y="0"/>
                  </a:lnTo>
                  <a:close/>
                </a:path>
              </a:pathLst>
            </a:custGeom>
            <a:solidFill>
              <a:srgbClr val="F1F9F9"/>
            </a:solidFill>
          </p:spPr>
          <p:txBody>
            <a:bodyPr wrap="square" lIns="0" tIns="0" rIns="0" bIns="0" rtlCol="0"/>
            <a:lstStyle/>
            <a:p/>
          </p:txBody>
        </p:sp>
        <p:pic>
          <p:nvPicPr>
            <p:cNvPr id="6" name="object 6"/>
            <p:cNvPicPr/>
            <p:nvPr/>
          </p:nvPicPr>
          <p:blipFill>
            <a:blip r:embed="rId3" cstate="print"/>
            <a:stretch>
              <a:fillRect/>
            </a:stretch>
          </p:blipFill>
          <p:spPr>
            <a:xfrm>
              <a:off x="355854" y="870203"/>
              <a:ext cx="3664456" cy="3610355"/>
            </a:xfrm>
            <a:prstGeom prst="rect">
              <a:avLst/>
            </a:prstGeom>
          </p:spPr>
        </p:pic>
        <p:sp>
          <p:nvSpPr>
            <p:cNvPr id="7" name="object 7" descr=""/>
            <p:cNvSpPr/>
            <p:nvPr/>
          </p:nvSpPr>
          <p:spPr>
            <a:xfrm>
              <a:off x="381000" y="895352"/>
              <a:ext cx="3560445" cy="3506470"/>
            </a:xfrm>
            <a:custGeom>
              <a:avLst/>
              <a:gdLst/>
              <a:ahLst/>
              <a:cxnLst/>
              <a:rect l="l" t="t" r="r" b="b"/>
              <a:pathLst>
                <a:path w="3560445" h="3506470">
                  <a:moveTo>
                    <a:pt x="1780095" y="0"/>
                  </a:moveTo>
                  <a:lnTo>
                    <a:pt x="1731097" y="651"/>
                  </a:lnTo>
                  <a:lnTo>
                    <a:pt x="1682426" y="2594"/>
                  </a:lnTo>
                  <a:lnTo>
                    <a:pt x="1634099" y="5811"/>
                  </a:lnTo>
                  <a:lnTo>
                    <a:pt x="1586134" y="10287"/>
                  </a:lnTo>
                  <a:lnTo>
                    <a:pt x="1538547" y="16004"/>
                  </a:lnTo>
                  <a:lnTo>
                    <a:pt x="1491354" y="22946"/>
                  </a:lnTo>
                  <a:lnTo>
                    <a:pt x="1444574" y="31095"/>
                  </a:lnTo>
                  <a:lnTo>
                    <a:pt x="1398223" y="40436"/>
                  </a:lnTo>
                  <a:lnTo>
                    <a:pt x="1352317" y="50951"/>
                  </a:lnTo>
                  <a:lnTo>
                    <a:pt x="1306875" y="62625"/>
                  </a:lnTo>
                  <a:lnTo>
                    <a:pt x="1261913" y="75439"/>
                  </a:lnTo>
                  <a:lnTo>
                    <a:pt x="1217447" y="89378"/>
                  </a:lnTo>
                  <a:lnTo>
                    <a:pt x="1173495" y="104424"/>
                  </a:lnTo>
                  <a:lnTo>
                    <a:pt x="1130075" y="120561"/>
                  </a:lnTo>
                  <a:lnTo>
                    <a:pt x="1087201" y="137773"/>
                  </a:lnTo>
                  <a:lnTo>
                    <a:pt x="1044893" y="156042"/>
                  </a:lnTo>
                  <a:lnTo>
                    <a:pt x="1003167" y="175352"/>
                  </a:lnTo>
                  <a:lnTo>
                    <a:pt x="962039" y="195686"/>
                  </a:lnTo>
                  <a:lnTo>
                    <a:pt x="921526" y="217028"/>
                  </a:lnTo>
                  <a:lnTo>
                    <a:pt x="881647" y="239360"/>
                  </a:lnTo>
                  <a:lnTo>
                    <a:pt x="842417" y="262666"/>
                  </a:lnTo>
                  <a:lnTo>
                    <a:pt x="803853" y="286929"/>
                  </a:lnTo>
                  <a:lnTo>
                    <a:pt x="765973" y="312133"/>
                  </a:lnTo>
                  <a:lnTo>
                    <a:pt x="728794" y="338261"/>
                  </a:lnTo>
                  <a:lnTo>
                    <a:pt x="692332" y="365296"/>
                  </a:lnTo>
                  <a:lnTo>
                    <a:pt x="656604" y="393222"/>
                  </a:lnTo>
                  <a:lnTo>
                    <a:pt x="621628" y="422021"/>
                  </a:lnTo>
                  <a:lnTo>
                    <a:pt x="587420" y="451677"/>
                  </a:lnTo>
                  <a:lnTo>
                    <a:pt x="553998" y="482174"/>
                  </a:lnTo>
                  <a:lnTo>
                    <a:pt x="521377" y="513494"/>
                  </a:lnTo>
                  <a:lnTo>
                    <a:pt x="489576" y="545621"/>
                  </a:lnTo>
                  <a:lnTo>
                    <a:pt x="458612" y="578538"/>
                  </a:lnTo>
                  <a:lnTo>
                    <a:pt x="428500" y="612229"/>
                  </a:lnTo>
                  <a:lnTo>
                    <a:pt x="399259" y="646676"/>
                  </a:lnTo>
                  <a:lnTo>
                    <a:pt x="370905" y="681863"/>
                  </a:lnTo>
                  <a:lnTo>
                    <a:pt x="343455" y="717774"/>
                  </a:lnTo>
                  <a:lnTo>
                    <a:pt x="316926" y="754392"/>
                  </a:lnTo>
                  <a:lnTo>
                    <a:pt x="291335" y="791699"/>
                  </a:lnTo>
                  <a:lnTo>
                    <a:pt x="266699" y="829679"/>
                  </a:lnTo>
                  <a:lnTo>
                    <a:pt x="243035" y="868316"/>
                  </a:lnTo>
                  <a:lnTo>
                    <a:pt x="220360" y="907593"/>
                  </a:lnTo>
                  <a:lnTo>
                    <a:pt x="198691" y="947493"/>
                  </a:lnTo>
                  <a:lnTo>
                    <a:pt x="178044" y="987999"/>
                  </a:lnTo>
                  <a:lnTo>
                    <a:pt x="158438" y="1029095"/>
                  </a:lnTo>
                  <a:lnTo>
                    <a:pt x="139888" y="1070764"/>
                  </a:lnTo>
                  <a:lnTo>
                    <a:pt x="122412" y="1112989"/>
                  </a:lnTo>
                  <a:lnTo>
                    <a:pt x="106027" y="1155753"/>
                  </a:lnTo>
                  <a:lnTo>
                    <a:pt x="90750" y="1199040"/>
                  </a:lnTo>
                  <a:lnTo>
                    <a:pt x="76597" y="1242834"/>
                  </a:lnTo>
                  <a:lnTo>
                    <a:pt x="63586" y="1287117"/>
                  </a:lnTo>
                  <a:lnTo>
                    <a:pt x="51734" y="1331872"/>
                  </a:lnTo>
                  <a:lnTo>
                    <a:pt x="41057" y="1377083"/>
                  </a:lnTo>
                  <a:lnTo>
                    <a:pt x="31573" y="1422734"/>
                  </a:lnTo>
                  <a:lnTo>
                    <a:pt x="23298" y="1468807"/>
                  </a:lnTo>
                  <a:lnTo>
                    <a:pt x="16250" y="1515286"/>
                  </a:lnTo>
                  <a:lnTo>
                    <a:pt x="10445" y="1562154"/>
                  </a:lnTo>
                  <a:lnTo>
                    <a:pt x="5900" y="1609395"/>
                  </a:lnTo>
                  <a:lnTo>
                    <a:pt x="2633" y="1656991"/>
                  </a:lnTo>
                  <a:lnTo>
                    <a:pt x="661" y="1704926"/>
                  </a:lnTo>
                  <a:lnTo>
                    <a:pt x="0" y="1753184"/>
                  </a:lnTo>
                  <a:lnTo>
                    <a:pt x="661" y="1801441"/>
                  </a:lnTo>
                  <a:lnTo>
                    <a:pt x="2633" y="1849376"/>
                  </a:lnTo>
                  <a:lnTo>
                    <a:pt x="5900" y="1896973"/>
                  </a:lnTo>
                  <a:lnTo>
                    <a:pt x="10445" y="1944213"/>
                  </a:lnTo>
                  <a:lnTo>
                    <a:pt x="16250" y="1991081"/>
                  </a:lnTo>
                  <a:lnTo>
                    <a:pt x="23298" y="2037560"/>
                  </a:lnTo>
                  <a:lnTo>
                    <a:pt x="31573" y="2083633"/>
                  </a:lnTo>
                  <a:lnTo>
                    <a:pt x="41057" y="2129284"/>
                  </a:lnTo>
                  <a:lnTo>
                    <a:pt x="51734" y="2174495"/>
                  </a:lnTo>
                  <a:lnTo>
                    <a:pt x="63586" y="2219251"/>
                  </a:lnTo>
                  <a:lnTo>
                    <a:pt x="76597" y="2263534"/>
                  </a:lnTo>
                  <a:lnTo>
                    <a:pt x="90750" y="2307327"/>
                  </a:lnTo>
                  <a:lnTo>
                    <a:pt x="106027" y="2350614"/>
                  </a:lnTo>
                  <a:lnTo>
                    <a:pt x="122412" y="2393379"/>
                  </a:lnTo>
                  <a:lnTo>
                    <a:pt x="139888" y="2435604"/>
                  </a:lnTo>
                  <a:lnTo>
                    <a:pt x="158438" y="2477272"/>
                  </a:lnTo>
                  <a:lnTo>
                    <a:pt x="178044" y="2518368"/>
                  </a:lnTo>
                  <a:lnTo>
                    <a:pt x="198691" y="2558874"/>
                  </a:lnTo>
                  <a:lnTo>
                    <a:pt x="220360" y="2598774"/>
                  </a:lnTo>
                  <a:lnTo>
                    <a:pt x="243035" y="2638051"/>
                  </a:lnTo>
                  <a:lnTo>
                    <a:pt x="266699" y="2676688"/>
                  </a:lnTo>
                  <a:lnTo>
                    <a:pt x="291335" y="2714668"/>
                  </a:lnTo>
                  <a:lnTo>
                    <a:pt x="316926" y="2751976"/>
                  </a:lnTo>
                  <a:lnTo>
                    <a:pt x="343455" y="2788593"/>
                  </a:lnTo>
                  <a:lnTo>
                    <a:pt x="370905" y="2824504"/>
                  </a:lnTo>
                  <a:lnTo>
                    <a:pt x="399259" y="2859691"/>
                  </a:lnTo>
                  <a:lnTo>
                    <a:pt x="428500" y="2894139"/>
                  </a:lnTo>
                  <a:lnTo>
                    <a:pt x="458612" y="2927829"/>
                  </a:lnTo>
                  <a:lnTo>
                    <a:pt x="489576" y="2960747"/>
                  </a:lnTo>
                  <a:lnTo>
                    <a:pt x="521377" y="2992874"/>
                  </a:lnTo>
                  <a:lnTo>
                    <a:pt x="553998" y="3024194"/>
                  </a:lnTo>
                  <a:lnTo>
                    <a:pt x="587420" y="3054690"/>
                  </a:lnTo>
                  <a:lnTo>
                    <a:pt x="621628" y="3084346"/>
                  </a:lnTo>
                  <a:lnTo>
                    <a:pt x="656604" y="3113146"/>
                  </a:lnTo>
                  <a:lnTo>
                    <a:pt x="692332" y="3141071"/>
                  </a:lnTo>
                  <a:lnTo>
                    <a:pt x="728794" y="3168106"/>
                  </a:lnTo>
                  <a:lnTo>
                    <a:pt x="765973" y="3194234"/>
                  </a:lnTo>
                  <a:lnTo>
                    <a:pt x="803853" y="3219438"/>
                  </a:lnTo>
                  <a:lnTo>
                    <a:pt x="842417" y="3243702"/>
                  </a:lnTo>
                  <a:lnTo>
                    <a:pt x="881647" y="3267008"/>
                  </a:lnTo>
                  <a:lnTo>
                    <a:pt x="921526" y="3289340"/>
                  </a:lnTo>
                  <a:lnTo>
                    <a:pt x="962039" y="3310681"/>
                  </a:lnTo>
                  <a:lnTo>
                    <a:pt x="1003167" y="3331015"/>
                  </a:lnTo>
                  <a:lnTo>
                    <a:pt x="1044893" y="3350325"/>
                  </a:lnTo>
                  <a:lnTo>
                    <a:pt x="1087201" y="3368595"/>
                  </a:lnTo>
                  <a:lnTo>
                    <a:pt x="1130075" y="3385806"/>
                  </a:lnTo>
                  <a:lnTo>
                    <a:pt x="1173495" y="3401943"/>
                  </a:lnTo>
                  <a:lnTo>
                    <a:pt x="1217447" y="3416990"/>
                  </a:lnTo>
                  <a:lnTo>
                    <a:pt x="1261913" y="3430928"/>
                  </a:lnTo>
                  <a:lnTo>
                    <a:pt x="1306875" y="3443743"/>
                  </a:lnTo>
                  <a:lnTo>
                    <a:pt x="1352317" y="3455416"/>
                  </a:lnTo>
                  <a:lnTo>
                    <a:pt x="1398223" y="3465931"/>
                  </a:lnTo>
                  <a:lnTo>
                    <a:pt x="1444574" y="3475272"/>
                  </a:lnTo>
                  <a:lnTo>
                    <a:pt x="1491354" y="3483422"/>
                  </a:lnTo>
                  <a:lnTo>
                    <a:pt x="1538547" y="3490363"/>
                  </a:lnTo>
                  <a:lnTo>
                    <a:pt x="1586134" y="3496081"/>
                  </a:lnTo>
                  <a:lnTo>
                    <a:pt x="1634099" y="3500556"/>
                  </a:lnTo>
                  <a:lnTo>
                    <a:pt x="1682426" y="3503774"/>
                  </a:lnTo>
                  <a:lnTo>
                    <a:pt x="1731097" y="3505717"/>
                  </a:lnTo>
                  <a:lnTo>
                    <a:pt x="1780095" y="3506368"/>
                  </a:lnTo>
                  <a:lnTo>
                    <a:pt x="1829093" y="3505717"/>
                  </a:lnTo>
                  <a:lnTo>
                    <a:pt x="1877764" y="3503774"/>
                  </a:lnTo>
                  <a:lnTo>
                    <a:pt x="1926090" y="3500556"/>
                  </a:lnTo>
                  <a:lnTo>
                    <a:pt x="1974056" y="3496081"/>
                  </a:lnTo>
                  <a:lnTo>
                    <a:pt x="2021643" y="3490363"/>
                  </a:lnTo>
                  <a:lnTo>
                    <a:pt x="2068835" y="3483422"/>
                  </a:lnTo>
                  <a:lnTo>
                    <a:pt x="2115616" y="3475272"/>
                  </a:lnTo>
                  <a:lnTo>
                    <a:pt x="2161967" y="3465931"/>
                  </a:lnTo>
                  <a:lnTo>
                    <a:pt x="2207872" y="3455416"/>
                  </a:lnTo>
                  <a:lnTo>
                    <a:pt x="2253314" y="3443743"/>
                  </a:lnTo>
                  <a:lnTo>
                    <a:pt x="2298276" y="3430928"/>
                  </a:lnTo>
                  <a:lnTo>
                    <a:pt x="2342742" y="3416990"/>
                  </a:lnTo>
                  <a:lnTo>
                    <a:pt x="2386693" y="3401943"/>
                  </a:lnTo>
                  <a:lnTo>
                    <a:pt x="2430114" y="3385806"/>
                  </a:lnTo>
                  <a:lnTo>
                    <a:pt x="2472987" y="3368595"/>
                  </a:lnTo>
                  <a:lnTo>
                    <a:pt x="2515295" y="3350325"/>
                  </a:lnTo>
                  <a:lnTo>
                    <a:pt x="2557021" y="3331015"/>
                  </a:lnTo>
                  <a:lnTo>
                    <a:pt x="2598149" y="3310681"/>
                  </a:lnTo>
                  <a:lnTo>
                    <a:pt x="2638661" y="3289340"/>
                  </a:lnTo>
                  <a:lnTo>
                    <a:pt x="2678540" y="3267008"/>
                  </a:lnTo>
                  <a:lnTo>
                    <a:pt x="2717770" y="3243702"/>
                  </a:lnTo>
                  <a:lnTo>
                    <a:pt x="2756333" y="3219438"/>
                  </a:lnTo>
                  <a:lnTo>
                    <a:pt x="2794213" y="3194234"/>
                  </a:lnTo>
                  <a:lnTo>
                    <a:pt x="2831392" y="3168106"/>
                  </a:lnTo>
                  <a:lnTo>
                    <a:pt x="2867854" y="3141071"/>
                  </a:lnTo>
                  <a:lnTo>
                    <a:pt x="2903581" y="3113146"/>
                  </a:lnTo>
                  <a:lnTo>
                    <a:pt x="2938557" y="3084346"/>
                  </a:lnTo>
                  <a:lnTo>
                    <a:pt x="2972764" y="3054690"/>
                  </a:lnTo>
                  <a:lnTo>
                    <a:pt x="3006186" y="3024194"/>
                  </a:lnTo>
                  <a:lnTo>
                    <a:pt x="3038806" y="2992874"/>
                  </a:lnTo>
                  <a:lnTo>
                    <a:pt x="3070607" y="2960747"/>
                  </a:lnTo>
                  <a:lnTo>
                    <a:pt x="3101571" y="2927829"/>
                  </a:lnTo>
                  <a:lnTo>
                    <a:pt x="3131682" y="2894139"/>
                  </a:lnTo>
                  <a:lnTo>
                    <a:pt x="3160923" y="2859691"/>
                  </a:lnTo>
                  <a:lnTo>
                    <a:pt x="3189277" y="2824504"/>
                  </a:lnTo>
                  <a:lnTo>
                    <a:pt x="3216727" y="2788593"/>
                  </a:lnTo>
                  <a:lnTo>
                    <a:pt x="3243256" y="2751976"/>
                  </a:lnTo>
                  <a:lnTo>
                    <a:pt x="3268847" y="2714668"/>
                  </a:lnTo>
                  <a:lnTo>
                    <a:pt x="3293482" y="2676688"/>
                  </a:lnTo>
                  <a:lnTo>
                    <a:pt x="3317146" y="2638051"/>
                  </a:lnTo>
                  <a:lnTo>
                    <a:pt x="3339821" y="2598774"/>
                  </a:lnTo>
                  <a:lnTo>
                    <a:pt x="3361490" y="2558874"/>
                  </a:lnTo>
                  <a:lnTo>
                    <a:pt x="3382136" y="2518368"/>
                  </a:lnTo>
                  <a:lnTo>
                    <a:pt x="3401742" y="2477272"/>
                  </a:lnTo>
                  <a:lnTo>
                    <a:pt x="3420291" y="2435604"/>
                  </a:lnTo>
                  <a:lnTo>
                    <a:pt x="3437767" y="2393379"/>
                  </a:lnTo>
                  <a:lnTo>
                    <a:pt x="3454152" y="2350614"/>
                  </a:lnTo>
                  <a:lnTo>
                    <a:pt x="3469429" y="2307327"/>
                  </a:lnTo>
                  <a:lnTo>
                    <a:pt x="3483581" y="2263534"/>
                  </a:lnTo>
                  <a:lnTo>
                    <a:pt x="3496592" y="2219251"/>
                  </a:lnTo>
                  <a:lnTo>
                    <a:pt x="3508444" y="2174495"/>
                  </a:lnTo>
                  <a:lnTo>
                    <a:pt x="3519121" y="2129284"/>
                  </a:lnTo>
                  <a:lnTo>
                    <a:pt x="3528605" y="2083633"/>
                  </a:lnTo>
                  <a:lnTo>
                    <a:pt x="3536880" y="2037560"/>
                  </a:lnTo>
                  <a:lnTo>
                    <a:pt x="3543928" y="1991081"/>
                  </a:lnTo>
                  <a:lnTo>
                    <a:pt x="3549733" y="1944213"/>
                  </a:lnTo>
                  <a:lnTo>
                    <a:pt x="3554277" y="1896973"/>
                  </a:lnTo>
                  <a:lnTo>
                    <a:pt x="3557544" y="1849376"/>
                  </a:lnTo>
                  <a:lnTo>
                    <a:pt x="3559516" y="1801441"/>
                  </a:lnTo>
                  <a:lnTo>
                    <a:pt x="3560178" y="1753184"/>
                  </a:lnTo>
                  <a:lnTo>
                    <a:pt x="3559516" y="1704926"/>
                  </a:lnTo>
                  <a:lnTo>
                    <a:pt x="3557544" y="1656991"/>
                  </a:lnTo>
                  <a:lnTo>
                    <a:pt x="3554277" y="1609395"/>
                  </a:lnTo>
                  <a:lnTo>
                    <a:pt x="3549733" y="1562154"/>
                  </a:lnTo>
                  <a:lnTo>
                    <a:pt x="3543928" y="1515286"/>
                  </a:lnTo>
                  <a:lnTo>
                    <a:pt x="3536880" y="1468807"/>
                  </a:lnTo>
                  <a:lnTo>
                    <a:pt x="3528605" y="1422734"/>
                  </a:lnTo>
                  <a:lnTo>
                    <a:pt x="3519121" y="1377083"/>
                  </a:lnTo>
                  <a:lnTo>
                    <a:pt x="3508444" y="1331872"/>
                  </a:lnTo>
                  <a:lnTo>
                    <a:pt x="3496592" y="1287117"/>
                  </a:lnTo>
                  <a:lnTo>
                    <a:pt x="3483581" y="1242834"/>
                  </a:lnTo>
                  <a:lnTo>
                    <a:pt x="3469429" y="1199040"/>
                  </a:lnTo>
                  <a:lnTo>
                    <a:pt x="3454152" y="1155753"/>
                  </a:lnTo>
                  <a:lnTo>
                    <a:pt x="3437767" y="1112989"/>
                  </a:lnTo>
                  <a:lnTo>
                    <a:pt x="3420291" y="1070764"/>
                  </a:lnTo>
                  <a:lnTo>
                    <a:pt x="3401742" y="1029095"/>
                  </a:lnTo>
                  <a:lnTo>
                    <a:pt x="3382136" y="987999"/>
                  </a:lnTo>
                  <a:lnTo>
                    <a:pt x="3361490" y="947493"/>
                  </a:lnTo>
                  <a:lnTo>
                    <a:pt x="3339821" y="907593"/>
                  </a:lnTo>
                  <a:lnTo>
                    <a:pt x="3317146" y="868316"/>
                  </a:lnTo>
                  <a:lnTo>
                    <a:pt x="3293482" y="829679"/>
                  </a:lnTo>
                  <a:lnTo>
                    <a:pt x="3268847" y="791699"/>
                  </a:lnTo>
                  <a:lnTo>
                    <a:pt x="3243256" y="754392"/>
                  </a:lnTo>
                  <a:lnTo>
                    <a:pt x="3216727" y="717774"/>
                  </a:lnTo>
                  <a:lnTo>
                    <a:pt x="3189277" y="681863"/>
                  </a:lnTo>
                  <a:lnTo>
                    <a:pt x="3160923" y="646676"/>
                  </a:lnTo>
                  <a:lnTo>
                    <a:pt x="3131682" y="612229"/>
                  </a:lnTo>
                  <a:lnTo>
                    <a:pt x="3101571" y="578538"/>
                  </a:lnTo>
                  <a:lnTo>
                    <a:pt x="3070607" y="545621"/>
                  </a:lnTo>
                  <a:lnTo>
                    <a:pt x="3038806" y="513494"/>
                  </a:lnTo>
                  <a:lnTo>
                    <a:pt x="3006186" y="482174"/>
                  </a:lnTo>
                  <a:lnTo>
                    <a:pt x="2972764" y="451677"/>
                  </a:lnTo>
                  <a:lnTo>
                    <a:pt x="2938557" y="422021"/>
                  </a:lnTo>
                  <a:lnTo>
                    <a:pt x="2903581" y="393222"/>
                  </a:lnTo>
                  <a:lnTo>
                    <a:pt x="2867854" y="365296"/>
                  </a:lnTo>
                  <a:lnTo>
                    <a:pt x="2831392" y="338261"/>
                  </a:lnTo>
                  <a:lnTo>
                    <a:pt x="2794213" y="312133"/>
                  </a:lnTo>
                  <a:lnTo>
                    <a:pt x="2756333" y="286929"/>
                  </a:lnTo>
                  <a:lnTo>
                    <a:pt x="2717770" y="262666"/>
                  </a:lnTo>
                  <a:lnTo>
                    <a:pt x="2678540" y="239360"/>
                  </a:lnTo>
                  <a:lnTo>
                    <a:pt x="2638661" y="217028"/>
                  </a:lnTo>
                  <a:lnTo>
                    <a:pt x="2598149" y="195686"/>
                  </a:lnTo>
                  <a:lnTo>
                    <a:pt x="2557021" y="175352"/>
                  </a:lnTo>
                  <a:lnTo>
                    <a:pt x="2515295" y="156042"/>
                  </a:lnTo>
                  <a:lnTo>
                    <a:pt x="2472987" y="137773"/>
                  </a:lnTo>
                  <a:lnTo>
                    <a:pt x="2430114" y="120561"/>
                  </a:lnTo>
                  <a:lnTo>
                    <a:pt x="2386693" y="104424"/>
                  </a:lnTo>
                  <a:lnTo>
                    <a:pt x="2342742" y="89378"/>
                  </a:lnTo>
                  <a:lnTo>
                    <a:pt x="2298276" y="75439"/>
                  </a:lnTo>
                  <a:lnTo>
                    <a:pt x="2253314" y="62625"/>
                  </a:lnTo>
                  <a:lnTo>
                    <a:pt x="2207872" y="50951"/>
                  </a:lnTo>
                  <a:lnTo>
                    <a:pt x="2161967" y="40436"/>
                  </a:lnTo>
                  <a:lnTo>
                    <a:pt x="2115616" y="31095"/>
                  </a:lnTo>
                  <a:lnTo>
                    <a:pt x="2068835" y="22946"/>
                  </a:lnTo>
                  <a:lnTo>
                    <a:pt x="2021643" y="16004"/>
                  </a:lnTo>
                  <a:lnTo>
                    <a:pt x="1974056" y="10287"/>
                  </a:lnTo>
                  <a:lnTo>
                    <a:pt x="1926090" y="5811"/>
                  </a:lnTo>
                  <a:lnTo>
                    <a:pt x="1877764" y="2594"/>
                  </a:lnTo>
                  <a:lnTo>
                    <a:pt x="1829093" y="651"/>
                  </a:lnTo>
                  <a:lnTo>
                    <a:pt x="1780095" y="0"/>
                  </a:lnTo>
                  <a:close/>
                </a:path>
              </a:pathLst>
            </a:custGeom>
            <a:solidFill>
              <a:srgbClr val="F1F9F9"/>
            </a:solidFill>
          </p:spPr>
          <p:txBody>
            <a:bodyPr wrap="square" lIns="0" tIns="0" rIns="0" bIns="0" rtlCol="0"/>
            <a:lstStyle/>
            <a:p/>
          </p:txBody>
        </p:sp>
      </p:grpSp>
      <p:sp>
        <p:nvSpPr>
          <p:cNvPr id="8" name="object 8" descr=""/>
          <p:cNvSpPr txBox="1"/>
          <p:nvPr/>
        </p:nvSpPr>
        <p:spPr>
          <a:xfrm>
            <a:off x="395528" y="4459008"/>
            <a:ext cx="8569325" cy="584835"/>
          </a:xfrm>
          <a:prstGeom prst="rect">
            <a:avLst/>
          </a:prstGeom>
          <a:solidFill>
            <a:srgbClr val="92D050"/>
          </a:solidFill>
        </p:spPr>
        <p:txBody>
          <a:bodyPr wrap="square" lIns="0" tIns="41910" rIns="0" bIns="0" rtlCol="0" vert="horz">
            <a:spAutoFit/>
          </a:bodyPr>
          <a:lstStyle/>
          <a:p>
            <a:pPr marL="1590675" marR="1174750" indent="-410209">
              <a:lnSpc>
                <a:spcPct val="100000"/>
              </a:lnSpc>
              <a:spcBef>
                <a:spcPts val="330"/>
              </a:spcBef>
            </a:pPr>
            <a:r>
              <a:rPr dirty="0" sz="1600">
                <a:solidFill>
                  <a:srgbClr val="FFFFFF"/>
                </a:solidFill>
                <a:latin typeface="SimSun"/>
                <a:cs typeface="SimSun"/>
              </a:rPr>
              <a:t>以技术为突破口，充分利用</a:t>
            </a:r>
            <a:r>
              <a:rPr dirty="0" sz="1600" spc="-20" b="1">
                <a:solidFill>
                  <a:srgbClr val="FFFFFF"/>
                </a:solidFill>
                <a:latin typeface="Arial"/>
                <a:cs typeface="Arial"/>
              </a:rPr>
              <a:t>5G</a:t>
            </a:r>
            <a:r>
              <a:rPr dirty="0" sz="1600" spc="-5">
                <a:solidFill>
                  <a:srgbClr val="FFFFFF"/>
                </a:solidFill>
                <a:latin typeface="SimSun"/>
                <a:cs typeface="SimSun"/>
              </a:rPr>
              <a:t>优势推出针对性方案，打造教育新生态</a:t>
            </a:r>
            <a:r>
              <a:rPr dirty="0" sz="1600">
                <a:solidFill>
                  <a:srgbClr val="FFFFFF"/>
                </a:solidFill>
                <a:latin typeface="SimSun"/>
                <a:cs typeface="SimSun"/>
              </a:rPr>
              <a:t>通过</a:t>
            </a:r>
            <a:r>
              <a:rPr dirty="0" sz="1600" spc="-20" b="1">
                <a:solidFill>
                  <a:srgbClr val="FFFFFF"/>
                </a:solidFill>
                <a:latin typeface="Arial"/>
                <a:cs typeface="Arial"/>
              </a:rPr>
              <a:t>5G</a:t>
            </a:r>
            <a:r>
              <a:rPr dirty="0" sz="1600" spc="-5">
                <a:solidFill>
                  <a:srgbClr val="FFFFFF"/>
                </a:solidFill>
                <a:latin typeface="SimSun"/>
                <a:cs typeface="SimSun"/>
              </a:rPr>
              <a:t>突破异地实验互动传输瓶颈，带动远程教育持续升级</a:t>
            </a:r>
            <a:endParaRPr sz="1600">
              <a:latin typeface="SimSun"/>
              <a:cs typeface="SimSun"/>
            </a:endParaRPr>
          </a:p>
        </p:txBody>
      </p:sp>
      <p:grpSp>
        <p:nvGrpSpPr>
          <p:cNvPr id="9" name="object 9" descr=""/>
          <p:cNvGrpSpPr/>
          <p:nvPr/>
        </p:nvGrpSpPr>
        <p:grpSpPr>
          <a:xfrm>
            <a:off x="509777" y="1250441"/>
            <a:ext cx="1480820" cy="1052830"/>
            <a:chOff x="509777" y="1250441"/>
            <a:chExt cx="1480820" cy="1052830"/>
          </a:xfrm>
        </p:grpSpPr>
        <p:pic>
          <p:nvPicPr>
            <p:cNvPr id="10" name="object 10"/>
            <p:cNvPicPr/>
            <p:nvPr/>
          </p:nvPicPr>
          <p:blipFill>
            <a:blip r:embed="rId4" cstate="print"/>
            <a:stretch>
              <a:fillRect/>
            </a:stretch>
          </p:blipFill>
          <p:spPr>
            <a:xfrm>
              <a:off x="633984" y="1250441"/>
              <a:ext cx="1189469" cy="825245"/>
            </a:xfrm>
            <a:prstGeom prst="rect">
              <a:avLst/>
            </a:prstGeom>
          </p:spPr>
        </p:pic>
        <p:pic>
          <p:nvPicPr>
            <p:cNvPr id="11" name="object 11"/>
            <p:cNvPicPr/>
            <p:nvPr/>
          </p:nvPicPr>
          <p:blipFill>
            <a:blip r:embed="rId5" cstate="print"/>
            <a:stretch>
              <a:fillRect/>
            </a:stretch>
          </p:blipFill>
          <p:spPr>
            <a:xfrm>
              <a:off x="658837" y="1275613"/>
              <a:ext cx="1086039" cy="721319"/>
            </a:xfrm>
            <a:prstGeom prst="rect">
              <a:avLst/>
            </a:prstGeom>
          </p:spPr>
        </p:pic>
        <p:pic>
          <p:nvPicPr>
            <p:cNvPr id="12" name="object 12" descr=""/>
            <p:cNvPicPr/>
            <p:nvPr/>
          </p:nvPicPr>
          <p:blipFill>
            <a:blip r:embed="rId6" cstate="print"/>
            <a:stretch>
              <a:fillRect/>
            </a:stretch>
          </p:blipFill>
          <p:spPr>
            <a:xfrm>
              <a:off x="509777" y="1963673"/>
              <a:ext cx="1480565" cy="339089"/>
            </a:xfrm>
            <a:prstGeom prst="rect">
              <a:avLst/>
            </a:prstGeom>
          </p:spPr>
        </p:pic>
      </p:grpSp>
      <p:sp>
        <p:nvSpPr>
          <p:cNvPr id="13" name="object 13" descr=""/>
          <p:cNvSpPr txBox="1"/>
          <p:nvPr/>
        </p:nvSpPr>
        <p:spPr>
          <a:xfrm>
            <a:off x="613051" y="2026419"/>
            <a:ext cx="1177925"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高精度强实时</a:t>
            </a:r>
            <a:r>
              <a:rPr dirty="0" sz="1200" spc="-25">
                <a:latin typeface="Arial MT"/>
                <a:cs typeface="Arial MT"/>
              </a:rPr>
              <a:t>MR</a:t>
            </a:r>
            <a:endParaRPr sz="1200">
              <a:latin typeface="Arial MT"/>
              <a:cs typeface="Arial MT"/>
            </a:endParaRPr>
          </a:p>
        </p:txBody>
      </p:sp>
      <p:grpSp>
        <p:nvGrpSpPr>
          <p:cNvPr id="14" name="object 14" descr=""/>
          <p:cNvGrpSpPr/>
          <p:nvPr/>
        </p:nvGrpSpPr>
        <p:grpSpPr>
          <a:xfrm>
            <a:off x="1985009" y="1250441"/>
            <a:ext cx="1556385" cy="1052830"/>
            <a:chOff x="1985009" y="1250441"/>
            <a:chExt cx="1556385" cy="1052830"/>
          </a:xfrm>
        </p:grpSpPr>
        <p:pic>
          <p:nvPicPr>
            <p:cNvPr id="15" name="object 15"/>
            <p:cNvPicPr/>
            <p:nvPr/>
          </p:nvPicPr>
          <p:blipFill>
            <a:blip r:embed="rId7" cstate="print"/>
            <a:stretch>
              <a:fillRect/>
            </a:stretch>
          </p:blipFill>
          <p:spPr>
            <a:xfrm>
              <a:off x="2327147" y="1250441"/>
              <a:ext cx="829817" cy="829817"/>
            </a:xfrm>
            <a:prstGeom prst="rect">
              <a:avLst/>
            </a:prstGeom>
          </p:spPr>
        </p:pic>
        <p:pic>
          <p:nvPicPr>
            <p:cNvPr id="16" name="object 16"/>
            <p:cNvPicPr/>
            <p:nvPr/>
          </p:nvPicPr>
          <p:blipFill>
            <a:blip r:embed="rId8" cstate="print"/>
            <a:stretch>
              <a:fillRect/>
            </a:stretch>
          </p:blipFill>
          <p:spPr>
            <a:xfrm>
              <a:off x="2351908" y="1275613"/>
              <a:ext cx="725999" cy="725994"/>
            </a:xfrm>
            <a:prstGeom prst="rect">
              <a:avLst/>
            </a:prstGeom>
          </p:spPr>
        </p:pic>
        <p:pic>
          <p:nvPicPr>
            <p:cNvPr id="17" name="object 17" descr=""/>
            <p:cNvPicPr/>
            <p:nvPr/>
          </p:nvPicPr>
          <p:blipFill>
            <a:blip r:embed="rId9" cstate="print"/>
            <a:stretch>
              <a:fillRect/>
            </a:stretch>
          </p:blipFill>
          <p:spPr>
            <a:xfrm>
              <a:off x="1985009" y="1963673"/>
              <a:ext cx="1556003" cy="339089"/>
            </a:xfrm>
            <a:prstGeom prst="rect">
              <a:avLst/>
            </a:prstGeom>
          </p:spPr>
        </p:pic>
      </p:grpSp>
      <p:sp>
        <p:nvSpPr>
          <p:cNvPr id="18" name="object 18" descr=""/>
          <p:cNvSpPr txBox="1"/>
          <p:nvPr/>
        </p:nvSpPr>
        <p:spPr>
          <a:xfrm>
            <a:off x="2088513" y="2026418"/>
            <a:ext cx="125222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SimSun"/>
                <a:cs typeface="SimSun"/>
              </a:rPr>
              <a:t>多重应用方向</a:t>
            </a:r>
            <a:r>
              <a:rPr dirty="0" sz="1200" spc="-25">
                <a:latin typeface="Arial MT"/>
                <a:cs typeface="Arial MT"/>
              </a:rPr>
              <a:t>SDK</a:t>
            </a:r>
            <a:endParaRPr sz="1200">
              <a:latin typeface="Arial MT"/>
              <a:cs typeface="Arial MT"/>
            </a:endParaRPr>
          </a:p>
        </p:txBody>
      </p:sp>
      <p:grpSp>
        <p:nvGrpSpPr>
          <p:cNvPr id="19" name="object 19" descr=""/>
          <p:cNvGrpSpPr/>
          <p:nvPr/>
        </p:nvGrpSpPr>
        <p:grpSpPr>
          <a:xfrm>
            <a:off x="546354" y="2638044"/>
            <a:ext cx="3198495" cy="1321435"/>
            <a:chOff x="546354" y="2638044"/>
            <a:chExt cx="3198495" cy="1321435"/>
          </a:xfrm>
        </p:grpSpPr>
        <p:pic>
          <p:nvPicPr>
            <p:cNvPr id="20" name="object 20"/>
            <p:cNvPicPr/>
            <p:nvPr/>
          </p:nvPicPr>
          <p:blipFill>
            <a:blip r:embed="rId10" cstate="print"/>
            <a:stretch>
              <a:fillRect/>
            </a:stretch>
          </p:blipFill>
          <p:spPr>
            <a:xfrm>
              <a:off x="546354" y="2638044"/>
              <a:ext cx="3198113" cy="1103375"/>
            </a:xfrm>
            <a:prstGeom prst="rect">
              <a:avLst/>
            </a:prstGeom>
          </p:spPr>
        </p:pic>
        <p:pic>
          <p:nvPicPr>
            <p:cNvPr id="21" name="object 21"/>
            <p:cNvPicPr/>
            <p:nvPr/>
          </p:nvPicPr>
          <p:blipFill>
            <a:blip r:embed="rId11" cstate="print"/>
            <a:stretch>
              <a:fillRect/>
            </a:stretch>
          </p:blipFill>
          <p:spPr>
            <a:xfrm>
              <a:off x="570915" y="2662847"/>
              <a:ext cx="3094696" cy="999985"/>
            </a:xfrm>
            <a:prstGeom prst="rect">
              <a:avLst/>
            </a:prstGeom>
          </p:spPr>
        </p:pic>
        <p:pic>
          <p:nvPicPr>
            <p:cNvPr id="22" name="object 22" descr=""/>
            <p:cNvPicPr/>
            <p:nvPr/>
          </p:nvPicPr>
          <p:blipFill>
            <a:blip r:embed="rId12" cstate="print"/>
            <a:stretch>
              <a:fillRect/>
            </a:stretch>
          </p:blipFill>
          <p:spPr>
            <a:xfrm>
              <a:off x="1544573" y="3620261"/>
              <a:ext cx="1243583" cy="339089"/>
            </a:xfrm>
            <a:prstGeom prst="rect">
              <a:avLst/>
            </a:prstGeom>
          </p:spPr>
        </p:pic>
      </p:grpSp>
      <p:sp>
        <p:nvSpPr>
          <p:cNvPr id="23" name="object 23" descr=""/>
          <p:cNvSpPr txBox="1"/>
          <p:nvPr/>
        </p:nvSpPr>
        <p:spPr>
          <a:xfrm>
            <a:off x="1648171" y="3682603"/>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a:latin typeface="SimSun"/>
                <a:cs typeface="SimSun"/>
              </a:rPr>
              <a:t>内容媒介平台</a:t>
            </a:r>
            <a:endParaRPr sz="1200">
              <a:latin typeface="SimSun"/>
              <a:cs typeface="SimSun"/>
            </a:endParaRPr>
          </a:p>
        </p:txBody>
      </p:sp>
      <p:grpSp>
        <p:nvGrpSpPr>
          <p:cNvPr id="24" name="object 24" descr=""/>
          <p:cNvGrpSpPr/>
          <p:nvPr/>
        </p:nvGrpSpPr>
        <p:grpSpPr>
          <a:xfrm>
            <a:off x="3730751" y="1930145"/>
            <a:ext cx="1426845" cy="1045210"/>
            <a:chOff x="3730751" y="1930145"/>
            <a:chExt cx="1426845" cy="1045210"/>
          </a:xfrm>
        </p:grpSpPr>
        <p:pic>
          <p:nvPicPr>
            <p:cNvPr id="25" name="object 25"/>
            <p:cNvPicPr/>
            <p:nvPr/>
          </p:nvPicPr>
          <p:blipFill>
            <a:blip r:embed="rId13" cstate="print"/>
            <a:stretch>
              <a:fillRect/>
            </a:stretch>
          </p:blipFill>
          <p:spPr>
            <a:xfrm>
              <a:off x="3730751" y="1930145"/>
              <a:ext cx="1426463" cy="1021841"/>
            </a:xfrm>
            <a:prstGeom prst="rect">
              <a:avLst/>
            </a:prstGeom>
          </p:spPr>
        </p:pic>
        <p:pic>
          <p:nvPicPr>
            <p:cNvPr id="26" name="object 26"/>
            <p:cNvPicPr/>
            <p:nvPr/>
          </p:nvPicPr>
          <p:blipFill>
            <a:blip r:embed="rId14" cstate="print"/>
            <a:stretch>
              <a:fillRect/>
            </a:stretch>
          </p:blipFill>
          <p:spPr>
            <a:xfrm>
              <a:off x="3754373" y="1954529"/>
              <a:ext cx="1325117" cy="919733"/>
            </a:xfrm>
            <a:prstGeom prst="rect">
              <a:avLst/>
            </a:prstGeom>
          </p:spPr>
        </p:pic>
        <p:pic>
          <p:nvPicPr>
            <p:cNvPr id="27" name="object 27" descr=""/>
            <p:cNvPicPr/>
            <p:nvPr/>
          </p:nvPicPr>
          <p:blipFill>
            <a:blip r:embed="rId15" cstate="print"/>
            <a:stretch>
              <a:fillRect/>
            </a:stretch>
          </p:blipFill>
          <p:spPr>
            <a:xfrm>
              <a:off x="3861053" y="2661665"/>
              <a:ext cx="1205483" cy="313181"/>
            </a:xfrm>
            <a:prstGeom prst="rect">
              <a:avLst/>
            </a:prstGeom>
          </p:spPr>
        </p:pic>
      </p:grpSp>
      <p:sp>
        <p:nvSpPr>
          <p:cNvPr id="28" name="object 28" descr=""/>
          <p:cNvSpPr txBox="1"/>
          <p:nvPr/>
        </p:nvSpPr>
        <p:spPr>
          <a:xfrm>
            <a:off x="3956958" y="2711687"/>
            <a:ext cx="921385" cy="193040"/>
          </a:xfrm>
          <a:prstGeom prst="rect">
            <a:avLst/>
          </a:prstGeom>
        </p:spPr>
        <p:txBody>
          <a:bodyPr wrap="square" lIns="0" tIns="12065" rIns="0" bIns="0" rtlCol="0" vert="horz">
            <a:spAutoFit/>
          </a:bodyPr>
          <a:lstStyle/>
          <a:p>
            <a:pPr marL="12700">
              <a:lnSpc>
                <a:spcPct val="100000"/>
              </a:lnSpc>
              <a:spcBef>
                <a:spcPts val="95"/>
              </a:spcBef>
            </a:pPr>
            <a:r>
              <a:rPr dirty="0" sz="1100" spc="-10">
                <a:latin typeface="Arial MT"/>
                <a:cs typeface="Arial MT"/>
              </a:rPr>
              <a:t>eMBB+uRLLC</a:t>
            </a:r>
            <a:endParaRPr sz="1100">
              <a:latin typeface="Arial MT"/>
              <a:cs typeface="Arial MT"/>
            </a:endParaRPr>
          </a:p>
        </p:txBody>
      </p:sp>
      <p:pic>
        <p:nvPicPr>
          <p:cNvPr id="29" name="object 29" descr=""/>
          <p:cNvPicPr/>
          <p:nvPr/>
        </p:nvPicPr>
        <p:blipFill>
          <a:blip r:embed="rId16" cstate="print"/>
          <a:stretch>
            <a:fillRect/>
          </a:stretch>
        </p:blipFill>
        <p:spPr>
          <a:xfrm>
            <a:off x="5193157" y="819150"/>
            <a:ext cx="1368158" cy="1268450"/>
          </a:xfrm>
          <a:prstGeom prst="rect">
            <a:avLst/>
          </a:prstGeom>
        </p:spPr>
      </p:pic>
      <p:sp>
        <p:nvSpPr>
          <p:cNvPr id="30" name="object 30" descr=""/>
          <p:cNvSpPr txBox="1"/>
          <p:nvPr/>
        </p:nvSpPr>
        <p:spPr>
          <a:xfrm>
            <a:off x="5308945" y="991095"/>
            <a:ext cx="1094740" cy="848360"/>
          </a:xfrm>
          <a:prstGeom prst="rect">
            <a:avLst/>
          </a:prstGeom>
        </p:spPr>
        <p:txBody>
          <a:bodyPr wrap="square" lIns="0" tIns="12700" rIns="0" bIns="0" rtlCol="0" vert="horz">
            <a:spAutoFit/>
          </a:bodyPr>
          <a:lstStyle/>
          <a:p>
            <a:pPr marL="12700" marR="5080">
              <a:lnSpc>
                <a:spcPct val="150000"/>
              </a:lnSpc>
              <a:spcBef>
                <a:spcPts val="100"/>
              </a:spcBef>
            </a:pPr>
            <a:r>
              <a:rPr dirty="0" sz="1200" spc="-10" b="1">
                <a:solidFill>
                  <a:srgbClr val="FFFFFF"/>
                </a:solidFill>
                <a:latin typeface="Arial"/>
                <a:cs typeface="Arial"/>
              </a:rPr>
              <a:t>Gbyte/s</a:t>
            </a:r>
            <a:r>
              <a:rPr dirty="0" sz="1200" spc="-20">
                <a:solidFill>
                  <a:srgbClr val="FFFFFF"/>
                </a:solidFill>
                <a:latin typeface="SimSun"/>
                <a:cs typeface="SimSun"/>
              </a:rPr>
              <a:t>稳定高</a:t>
            </a:r>
            <a:r>
              <a:rPr dirty="0" sz="1200" spc="-10">
                <a:solidFill>
                  <a:srgbClr val="FFFFFF"/>
                </a:solidFill>
                <a:latin typeface="SimSun"/>
                <a:cs typeface="SimSun"/>
              </a:rPr>
              <a:t>速，传输大量动态影像数据</a:t>
            </a:r>
            <a:endParaRPr sz="1200">
              <a:latin typeface="SimSun"/>
              <a:cs typeface="SimSun"/>
            </a:endParaRPr>
          </a:p>
        </p:txBody>
      </p:sp>
      <p:sp>
        <p:nvSpPr>
          <p:cNvPr id="31" name="object 31" descr=""/>
          <p:cNvSpPr/>
          <p:nvPr/>
        </p:nvSpPr>
        <p:spPr>
          <a:xfrm>
            <a:off x="7497409" y="819147"/>
            <a:ext cx="1368425" cy="1268730"/>
          </a:xfrm>
          <a:custGeom>
            <a:avLst/>
            <a:gdLst/>
            <a:ahLst/>
            <a:cxnLst/>
            <a:rect l="l" t="t" r="r" b="b"/>
            <a:pathLst>
              <a:path w="1368425" h="1268730">
                <a:moveTo>
                  <a:pt x="1241653" y="0"/>
                </a:moveTo>
                <a:lnTo>
                  <a:pt x="126504" y="0"/>
                </a:lnTo>
                <a:lnTo>
                  <a:pt x="77265" y="9941"/>
                </a:lnTo>
                <a:lnTo>
                  <a:pt x="37053" y="37053"/>
                </a:lnTo>
                <a:lnTo>
                  <a:pt x="9941" y="77265"/>
                </a:lnTo>
                <a:lnTo>
                  <a:pt x="0" y="126504"/>
                </a:lnTo>
                <a:lnTo>
                  <a:pt x="0" y="1141945"/>
                </a:lnTo>
                <a:lnTo>
                  <a:pt x="9941" y="1191185"/>
                </a:lnTo>
                <a:lnTo>
                  <a:pt x="37053" y="1231396"/>
                </a:lnTo>
                <a:lnTo>
                  <a:pt x="77265" y="1258508"/>
                </a:lnTo>
                <a:lnTo>
                  <a:pt x="126504" y="1268450"/>
                </a:lnTo>
                <a:lnTo>
                  <a:pt x="1241653" y="1268450"/>
                </a:lnTo>
                <a:lnTo>
                  <a:pt x="1290893" y="1258508"/>
                </a:lnTo>
                <a:lnTo>
                  <a:pt x="1331104" y="1231396"/>
                </a:lnTo>
                <a:lnTo>
                  <a:pt x="1358216" y="1191185"/>
                </a:lnTo>
                <a:lnTo>
                  <a:pt x="1368158" y="1141945"/>
                </a:lnTo>
                <a:lnTo>
                  <a:pt x="1368158" y="126504"/>
                </a:lnTo>
                <a:lnTo>
                  <a:pt x="1358216" y="77265"/>
                </a:lnTo>
                <a:lnTo>
                  <a:pt x="1331104" y="37053"/>
                </a:lnTo>
                <a:lnTo>
                  <a:pt x="1290893" y="9941"/>
                </a:lnTo>
                <a:lnTo>
                  <a:pt x="1241653" y="0"/>
                </a:lnTo>
                <a:close/>
              </a:path>
            </a:pathLst>
          </a:custGeom>
          <a:solidFill>
            <a:srgbClr val="FFC000"/>
          </a:solidFill>
        </p:spPr>
        <p:txBody>
          <a:bodyPr wrap="square" lIns="0" tIns="0" rIns="0" bIns="0" rtlCol="0"/>
          <a:lstStyle/>
          <a:p/>
        </p:txBody>
      </p:sp>
      <p:sp>
        <p:nvSpPr>
          <p:cNvPr id="32" name="object 32" descr=""/>
          <p:cNvSpPr txBox="1"/>
          <p:nvPr/>
        </p:nvSpPr>
        <p:spPr>
          <a:xfrm>
            <a:off x="7613201" y="991095"/>
            <a:ext cx="1217930" cy="848360"/>
          </a:xfrm>
          <a:prstGeom prst="rect">
            <a:avLst/>
          </a:prstGeom>
        </p:spPr>
        <p:txBody>
          <a:bodyPr wrap="square" lIns="0" tIns="12700" rIns="0" bIns="0" rtlCol="0" vert="horz">
            <a:spAutoFit/>
          </a:bodyPr>
          <a:lstStyle/>
          <a:p>
            <a:pPr marL="12700" marR="5080">
              <a:lnSpc>
                <a:spcPct val="150000"/>
              </a:lnSpc>
              <a:spcBef>
                <a:spcPts val="100"/>
              </a:spcBef>
            </a:pPr>
            <a:r>
              <a:rPr dirty="0" sz="1200" spc="-10" b="1">
                <a:solidFill>
                  <a:srgbClr val="FFFFFF"/>
                </a:solidFill>
                <a:latin typeface="Arial"/>
                <a:cs typeface="Arial"/>
              </a:rPr>
              <a:t>0.1ms</a:t>
            </a:r>
            <a:r>
              <a:rPr dirty="0" sz="1200" spc="-10">
                <a:solidFill>
                  <a:srgbClr val="FFFFFF"/>
                </a:solidFill>
                <a:latin typeface="SimSun"/>
                <a:cs typeface="SimSun"/>
              </a:rPr>
              <a:t>超低时延，保障参与者实时感知对方动态</a:t>
            </a:r>
            <a:endParaRPr sz="1200">
              <a:latin typeface="SimSun"/>
              <a:cs typeface="SimSun"/>
            </a:endParaRPr>
          </a:p>
        </p:txBody>
      </p:sp>
      <p:sp>
        <p:nvSpPr>
          <p:cNvPr id="33" name="object 33" descr=""/>
          <p:cNvSpPr/>
          <p:nvPr/>
        </p:nvSpPr>
        <p:spPr>
          <a:xfrm>
            <a:off x="5193154" y="3011827"/>
            <a:ext cx="1368425" cy="1388745"/>
          </a:xfrm>
          <a:custGeom>
            <a:avLst/>
            <a:gdLst/>
            <a:ahLst/>
            <a:cxnLst/>
            <a:rect l="l" t="t" r="r" b="b"/>
            <a:pathLst>
              <a:path w="1368425" h="1388745">
                <a:moveTo>
                  <a:pt x="1231709" y="0"/>
                </a:moveTo>
                <a:lnTo>
                  <a:pt x="136448" y="0"/>
                </a:lnTo>
                <a:lnTo>
                  <a:pt x="93319" y="6955"/>
                </a:lnTo>
                <a:lnTo>
                  <a:pt x="55862" y="26325"/>
                </a:lnTo>
                <a:lnTo>
                  <a:pt x="26325" y="55862"/>
                </a:lnTo>
                <a:lnTo>
                  <a:pt x="6955" y="93319"/>
                </a:lnTo>
                <a:lnTo>
                  <a:pt x="0" y="136448"/>
                </a:lnTo>
                <a:lnTo>
                  <a:pt x="0" y="1252118"/>
                </a:lnTo>
                <a:lnTo>
                  <a:pt x="6955" y="1295248"/>
                </a:lnTo>
                <a:lnTo>
                  <a:pt x="26325" y="1332704"/>
                </a:lnTo>
                <a:lnTo>
                  <a:pt x="55862" y="1362241"/>
                </a:lnTo>
                <a:lnTo>
                  <a:pt x="93319" y="1381611"/>
                </a:lnTo>
                <a:lnTo>
                  <a:pt x="136448" y="1388567"/>
                </a:lnTo>
                <a:lnTo>
                  <a:pt x="1231709" y="1388567"/>
                </a:lnTo>
                <a:lnTo>
                  <a:pt x="1274834" y="1381611"/>
                </a:lnTo>
                <a:lnTo>
                  <a:pt x="1312290" y="1362241"/>
                </a:lnTo>
                <a:lnTo>
                  <a:pt x="1341828" y="1332704"/>
                </a:lnTo>
                <a:lnTo>
                  <a:pt x="1361201" y="1295248"/>
                </a:lnTo>
                <a:lnTo>
                  <a:pt x="1368158" y="1252118"/>
                </a:lnTo>
                <a:lnTo>
                  <a:pt x="1368158" y="136448"/>
                </a:lnTo>
                <a:lnTo>
                  <a:pt x="1361201" y="93319"/>
                </a:lnTo>
                <a:lnTo>
                  <a:pt x="1341828" y="55862"/>
                </a:lnTo>
                <a:lnTo>
                  <a:pt x="1312290" y="26325"/>
                </a:lnTo>
                <a:lnTo>
                  <a:pt x="1274834" y="6955"/>
                </a:lnTo>
                <a:lnTo>
                  <a:pt x="1231709" y="0"/>
                </a:lnTo>
                <a:close/>
              </a:path>
            </a:pathLst>
          </a:custGeom>
          <a:solidFill>
            <a:srgbClr val="00B0F0"/>
          </a:solidFill>
        </p:spPr>
        <p:txBody>
          <a:bodyPr wrap="square" lIns="0" tIns="0" rIns="0" bIns="0" rtlCol="0"/>
          <a:lstStyle/>
          <a:p/>
        </p:txBody>
      </p:sp>
      <p:sp>
        <p:nvSpPr>
          <p:cNvPr id="34" name="object 34" descr=""/>
          <p:cNvSpPr txBox="1"/>
          <p:nvPr/>
        </p:nvSpPr>
        <p:spPr>
          <a:xfrm>
            <a:off x="5311857" y="3335272"/>
            <a:ext cx="109474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FFFFFF"/>
                </a:solidFill>
                <a:latin typeface="SimSun"/>
                <a:cs typeface="SimSun"/>
              </a:rPr>
              <a:t>全角度沉浸式教</a:t>
            </a:r>
            <a:endParaRPr sz="1200">
              <a:latin typeface="SimSun"/>
              <a:cs typeface="SimSun"/>
            </a:endParaRPr>
          </a:p>
        </p:txBody>
      </p:sp>
      <p:sp>
        <p:nvSpPr>
          <p:cNvPr id="35" name="object 35" descr=""/>
          <p:cNvSpPr txBox="1"/>
          <p:nvPr/>
        </p:nvSpPr>
        <p:spPr>
          <a:xfrm>
            <a:off x="5311857" y="3518153"/>
            <a:ext cx="1094740" cy="574040"/>
          </a:xfrm>
          <a:prstGeom prst="rect">
            <a:avLst/>
          </a:prstGeom>
        </p:spPr>
        <p:txBody>
          <a:bodyPr wrap="square" lIns="0" tIns="12700" rIns="0" bIns="0" rtlCol="0" vert="horz">
            <a:spAutoFit/>
          </a:bodyPr>
          <a:lstStyle/>
          <a:p>
            <a:pPr marL="12700" marR="5080">
              <a:lnSpc>
                <a:spcPct val="150000"/>
              </a:lnSpc>
              <a:spcBef>
                <a:spcPts val="100"/>
              </a:spcBef>
            </a:pPr>
            <a:r>
              <a:rPr dirty="0" sz="1200" spc="-10">
                <a:solidFill>
                  <a:srgbClr val="FFFFFF"/>
                </a:solidFill>
                <a:latin typeface="SimSun"/>
                <a:cs typeface="SimSun"/>
              </a:rPr>
              <a:t>学环境，增强受教者被带入感</a:t>
            </a:r>
            <a:endParaRPr sz="1200">
              <a:latin typeface="SimSun"/>
              <a:cs typeface="SimSun"/>
            </a:endParaRPr>
          </a:p>
        </p:txBody>
      </p:sp>
      <p:pic>
        <p:nvPicPr>
          <p:cNvPr id="36" name="object 36" descr=""/>
          <p:cNvPicPr/>
          <p:nvPr/>
        </p:nvPicPr>
        <p:blipFill>
          <a:blip r:embed="rId17" cstate="print"/>
          <a:stretch>
            <a:fillRect/>
          </a:stretch>
        </p:blipFill>
        <p:spPr>
          <a:xfrm>
            <a:off x="5481192" y="1479575"/>
            <a:ext cx="3384372" cy="2901734"/>
          </a:xfrm>
          <a:prstGeom prst="rect">
            <a:avLst/>
          </a:prstGeom>
        </p:spPr>
      </p:pic>
      <p:sp>
        <p:nvSpPr>
          <p:cNvPr id="37" name="object 37" descr=""/>
          <p:cNvSpPr txBox="1"/>
          <p:nvPr/>
        </p:nvSpPr>
        <p:spPr>
          <a:xfrm>
            <a:off x="7616113" y="3207828"/>
            <a:ext cx="1094740" cy="848360"/>
          </a:xfrm>
          <a:prstGeom prst="rect">
            <a:avLst/>
          </a:prstGeom>
        </p:spPr>
        <p:txBody>
          <a:bodyPr wrap="square" lIns="0" tIns="12700" rIns="0" bIns="0" rtlCol="0" vert="horz">
            <a:spAutoFit/>
          </a:bodyPr>
          <a:lstStyle/>
          <a:p>
            <a:pPr algn="just" marL="12700" marR="5080">
              <a:lnSpc>
                <a:spcPct val="150000"/>
              </a:lnSpc>
              <a:spcBef>
                <a:spcPts val="100"/>
              </a:spcBef>
            </a:pPr>
            <a:r>
              <a:rPr dirty="0" sz="1200" spc="-10">
                <a:solidFill>
                  <a:srgbClr val="FFFFFF"/>
                </a:solidFill>
                <a:latin typeface="SimSun"/>
                <a:cs typeface="SimSun"/>
              </a:rPr>
              <a:t>师生全环节互动加深课程印象，提升教学效果</a:t>
            </a:r>
            <a:endParaRPr sz="1200">
              <a:latin typeface="SimSun"/>
              <a:cs typeface="SimSun"/>
            </a:endParaRPr>
          </a:p>
        </p:txBody>
      </p:sp>
      <p:sp>
        <p:nvSpPr>
          <p:cNvPr id="38" name="object 38" descr=""/>
          <p:cNvSpPr txBox="1"/>
          <p:nvPr/>
        </p:nvSpPr>
        <p:spPr>
          <a:xfrm>
            <a:off x="6501282" y="2339942"/>
            <a:ext cx="1096645"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FFFFFF"/>
                </a:solidFill>
                <a:latin typeface="Times New Roman"/>
                <a:cs typeface="Times New Roman"/>
              </a:rPr>
              <a:t>5G+MR</a:t>
            </a:r>
            <a:endParaRPr sz="24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12065" rIns="0" bIns="0" rtlCol="0" vert="horz">
            <a:spAutoFit/>
          </a:bodyPr>
          <a:lstStyle/>
          <a:p>
            <a:pPr marL="12700">
              <a:lnSpc>
                <a:spcPct val="100000"/>
              </a:lnSpc>
              <a:spcBef>
                <a:spcPts val="95"/>
              </a:spcBef>
            </a:pPr>
            <a:r>
              <a:rPr dirty="0" spc="-45"/>
              <a:t>虚拟实验室无人机课程结构与飞控课程</a:t>
            </a:r>
          </a:p>
        </p:txBody>
      </p:sp>
      <p:pic>
        <p:nvPicPr>
          <p:cNvPr id="3" name="object 3"/>
          <p:cNvPicPr/>
          <p:nvPr/>
        </p:nvPicPr>
        <p:blipFill>
          <a:blip r:embed="rId2" cstate="print"/>
          <a:stretch>
            <a:fillRect/>
          </a:stretch>
        </p:blipFill>
        <p:spPr>
          <a:xfrm>
            <a:off x="4666615" y="819150"/>
            <a:ext cx="4297997" cy="1852293"/>
          </a:xfrm>
          <a:prstGeom prst="rect">
            <a:avLst/>
          </a:prstGeom>
        </p:spPr>
      </p:pic>
      <p:pic>
        <p:nvPicPr>
          <p:cNvPr id="4" name="object 4"/>
          <p:cNvPicPr/>
          <p:nvPr/>
        </p:nvPicPr>
        <p:blipFill>
          <a:blip r:embed="rId3" cstate="print"/>
          <a:stretch>
            <a:fillRect/>
          </a:stretch>
        </p:blipFill>
        <p:spPr>
          <a:xfrm>
            <a:off x="381000" y="2742565"/>
            <a:ext cx="4100194" cy="2132646"/>
          </a:xfrm>
          <a:prstGeom prst="rect">
            <a:avLst/>
          </a:prstGeom>
        </p:spPr>
      </p:pic>
      <p:pic>
        <p:nvPicPr>
          <p:cNvPr id="5" name="object 5"/>
          <p:cNvPicPr/>
          <p:nvPr/>
        </p:nvPicPr>
        <p:blipFill>
          <a:blip r:embed="rId4" cstate="print"/>
          <a:stretch>
            <a:fillRect/>
          </a:stretch>
        </p:blipFill>
        <p:spPr>
          <a:xfrm>
            <a:off x="4666615" y="2742564"/>
            <a:ext cx="4297997" cy="2145014"/>
          </a:xfrm>
          <a:prstGeom prst="rect">
            <a:avLst/>
          </a:prstGeom>
        </p:spPr>
      </p:pic>
      <p:sp>
        <p:nvSpPr>
          <p:cNvPr id="6" name="object 6" descr=""/>
          <p:cNvSpPr txBox="1"/>
          <p:nvPr/>
        </p:nvSpPr>
        <p:spPr>
          <a:xfrm>
            <a:off x="513080" y="1487678"/>
            <a:ext cx="3911600"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C00000"/>
                </a:solidFill>
                <a:latin typeface="SimSun"/>
                <a:cs typeface="SimSun"/>
              </a:rPr>
              <a:t>新技术产品构建与仿真应用（无人机</a:t>
            </a:r>
            <a:r>
              <a:rPr dirty="0" sz="1800" spc="-50">
                <a:solidFill>
                  <a:srgbClr val="C00000"/>
                </a:solidFill>
                <a:latin typeface="SimSun"/>
                <a:cs typeface="SimSun"/>
              </a:rPr>
              <a:t>）</a:t>
            </a:r>
            <a:endParaRPr sz="1800">
              <a:latin typeface="SimSun"/>
              <a:cs typeface="SimSu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0622" y="135544"/>
            <a:ext cx="3623310"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5G+</a:t>
            </a:r>
            <a:r>
              <a:rPr dirty="0" spc="-45"/>
              <a:t>无人机监测水质</a:t>
            </a:r>
          </a:p>
        </p:txBody>
      </p:sp>
      <p:grpSp>
        <p:nvGrpSpPr>
          <p:cNvPr id="3" name="object 3" descr=""/>
          <p:cNvGrpSpPr/>
          <p:nvPr/>
        </p:nvGrpSpPr>
        <p:grpSpPr>
          <a:xfrm>
            <a:off x="395541" y="922426"/>
            <a:ext cx="1504950" cy="929640"/>
            <a:chOff x="395541" y="922426"/>
            <a:chExt cx="1504950" cy="929640"/>
          </a:xfrm>
        </p:grpSpPr>
        <p:pic>
          <p:nvPicPr>
            <p:cNvPr id="4" name="object 4"/>
            <p:cNvPicPr/>
            <p:nvPr/>
          </p:nvPicPr>
          <p:blipFill>
            <a:blip r:embed="rId2" cstate="print"/>
            <a:stretch>
              <a:fillRect/>
            </a:stretch>
          </p:blipFill>
          <p:spPr>
            <a:xfrm>
              <a:off x="395541" y="922426"/>
              <a:ext cx="1447795" cy="466712"/>
            </a:xfrm>
            <a:prstGeom prst="rect">
              <a:avLst/>
            </a:prstGeom>
          </p:spPr>
        </p:pic>
        <p:sp>
          <p:nvSpPr>
            <p:cNvPr id="5" name="object 5" descr=""/>
            <p:cNvSpPr/>
            <p:nvPr/>
          </p:nvSpPr>
          <p:spPr>
            <a:xfrm>
              <a:off x="1403648" y="1419618"/>
              <a:ext cx="496570" cy="432434"/>
            </a:xfrm>
            <a:custGeom>
              <a:avLst/>
              <a:gdLst/>
              <a:ahLst/>
              <a:cxnLst/>
              <a:rect l="l" t="t" r="r" b="b"/>
              <a:pathLst>
                <a:path w="496569" h="432435">
                  <a:moveTo>
                    <a:pt x="372313" y="0"/>
                  </a:moveTo>
                  <a:lnTo>
                    <a:pt x="124104" y="0"/>
                  </a:lnTo>
                  <a:lnTo>
                    <a:pt x="124104" y="216026"/>
                  </a:lnTo>
                  <a:lnTo>
                    <a:pt x="0" y="216026"/>
                  </a:lnTo>
                  <a:lnTo>
                    <a:pt x="248208" y="432053"/>
                  </a:lnTo>
                  <a:lnTo>
                    <a:pt x="496417" y="216026"/>
                  </a:lnTo>
                  <a:lnTo>
                    <a:pt x="372313" y="216026"/>
                  </a:lnTo>
                  <a:lnTo>
                    <a:pt x="372313" y="0"/>
                  </a:lnTo>
                  <a:close/>
                </a:path>
              </a:pathLst>
            </a:custGeom>
            <a:solidFill>
              <a:srgbClr val="4597A0">
                <a:alpha val="30194"/>
              </a:srgbClr>
            </a:solidFill>
          </p:spPr>
          <p:txBody>
            <a:bodyPr wrap="square" lIns="0" tIns="0" rIns="0" bIns="0" rtlCol="0"/>
            <a:lstStyle/>
            <a:p/>
          </p:txBody>
        </p:sp>
      </p:grpSp>
      <p:sp>
        <p:nvSpPr>
          <p:cNvPr id="6" name="object 6" descr=""/>
          <p:cNvSpPr txBox="1"/>
          <p:nvPr/>
        </p:nvSpPr>
        <p:spPr>
          <a:xfrm>
            <a:off x="1916026" y="961216"/>
            <a:ext cx="159385" cy="299720"/>
          </a:xfrm>
          <a:prstGeom prst="rect">
            <a:avLst/>
          </a:prstGeom>
        </p:spPr>
        <p:txBody>
          <a:bodyPr wrap="square" lIns="0" tIns="12700" rIns="0" bIns="0" rtlCol="0" vert="horz">
            <a:spAutoFit/>
          </a:bodyPr>
          <a:lstStyle/>
          <a:p>
            <a:pPr marL="12700">
              <a:lnSpc>
                <a:spcPct val="100000"/>
              </a:lnSpc>
              <a:spcBef>
                <a:spcPts val="100"/>
              </a:spcBef>
            </a:pPr>
            <a:r>
              <a:rPr dirty="0" sz="1800" spc="-50">
                <a:latin typeface="Arial MT"/>
                <a:cs typeface="Arial MT"/>
              </a:rPr>
              <a:t>+</a:t>
            </a:r>
            <a:endParaRPr sz="1800">
              <a:latin typeface="Arial MT"/>
              <a:cs typeface="Arial MT"/>
            </a:endParaRPr>
          </a:p>
        </p:txBody>
      </p:sp>
      <p:pic>
        <p:nvPicPr>
          <p:cNvPr id="7" name="object 7"/>
          <p:cNvPicPr/>
          <p:nvPr/>
        </p:nvPicPr>
        <p:blipFill>
          <a:blip r:embed="rId3" cstate="print"/>
          <a:stretch>
            <a:fillRect/>
          </a:stretch>
        </p:blipFill>
        <p:spPr>
          <a:xfrm>
            <a:off x="2193480" y="771550"/>
            <a:ext cx="794343" cy="627113"/>
          </a:xfrm>
          <a:prstGeom prst="rect">
            <a:avLst/>
          </a:prstGeom>
        </p:spPr>
      </p:pic>
      <p:pic>
        <p:nvPicPr>
          <p:cNvPr id="8" name="object 8" descr=""/>
          <p:cNvPicPr/>
          <p:nvPr/>
        </p:nvPicPr>
        <p:blipFill>
          <a:blip r:embed="rId4" cstate="print"/>
          <a:stretch>
            <a:fillRect/>
          </a:stretch>
        </p:blipFill>
        <p:spPr>
          <a:xfrm>
            <a:off x="250825" y="1955090"/>
            <a:ext cx="3168351" cy="2908678"/>
          </a:xfrm>
          <a:prstGeom prst="rect">
            <a:avLst/>
          </a:prstGeom>
        </p:spPr>
      </p:pic>
      <p:sp>
        <p:nvSpPr>
          <p:cNvPr id="9" name="object 9" descr=""/>
          <p:cNvSpPr txBox="1"/>
          <p:nvPr/>
        </p:nvSpPr>
        <p:spPr>
          <a:xfrm>
            <a:off x="3583940" y="1036269"/>
            <a:ext cx="2625090" cy="3545840"/>
          </a:xfrm>
          <a:prstGeom prst="rect">
            <a:avLst/>
          </a:prstGeom>
        </p:spPr>
        <p:txBody>
          <a:bodyPr wrap="square" lIns="0" tIns="12700" rIns="0" bIns="0" rtlCol="0" vert="horz">
            <a:spAutoFit/>
          </a:bodyPr>
          <a:lstStyle/>
          <a:p>
            <a:pPr algn="just" marL="297180" marR="5080" indent="-284480">
              <a:lnSpc>
                <a:spcPct val="150000"/>
              </a:lnSpc>
              <a:spcBef>
                <a:spcPts val="100"/>
              </a:spcBef>
              <a:buFont typeface="Arial MT"/>
              <a:buChar char="•"/>
              <a:tabLst>
                <a:tab pos="298450" algn="l"/>
              </a:tabLst>
            </a:pPr>
            <a:r>
              <a:rPr dirty="0" sz="1400" spc="-25">
                <a:solidFill>
                  <a:srgbClr val="C00000"/>
                </a:solidFill>
                <a:latin typeface="SimSun"/>
                <a:cs typeface="SimSun"/>
              </a:rPr>
              <a:t>搭载多光谱阵列相机进行水体	地物光谱采集，用于大范围水</a:t>
            </a:r>
            <a:r>
              <a:rPr dirty="0" sz="1400" spc="-25">
                <a:solidFill>
                  <a:srgbClr val="C00000"/>
                </a:solidFill>
                <a:latin typeface="SimSun"/>
                <a:cs typeface="SimSun"/>
              </a:rPr>
              <a:t>	</a:t>
            </a:r>
            <a:r>
              <a:rPr dirty="0" sz="1400" spc="-20">
                <a:solidFill>
                  <a:srgbClr val="C00000"/>
                </a:solidFill>
                <a:latin typeface="SimSun"/>
                <a:cs typeface="SimSun"/>
              </a:rPr>
              <a:t>质定性检测。</a:t>
            </a:r>
            <a:endParaRPr sz="1400">
              <a:latin typeface="SimSun"/>
              <a:cs typeface="SimSun"/>
            </a:endParaRPr>
          </a:p>
          <a:p>
            <a:pPr algn="just" marL="297180" marR="5080" indent="-284480">
              <a:lnSpc>
                <a:spcPct val="150000"/>
              </a:lnSpc>
              <a:buFont typeface="Arial MT"/>
              <a:buChar char="•"/>
              <a:tabLst>
                <a:tab pos="298450" algn="l"/>
              </a:tabLst>
            </a:pPr>
            <a:r>
              <a:rPr dirty="0" sz="1400" spc="-25">
                <a:solidFill>
                  <a:srgbClr val="C00000"/>
                </a:solidFill>
                <a:latin typeface="SimSun"/>
                <a:cs typeface="SimSun"/>
              </a:rPr>
              <a:t>同时，在无人机上搭载抽水装	置和盛水容器，可操控其在同	一片水域进行取水检测。</a:t>
            </a:r>
            <a:endParaRPr sz="1400">
              <a:latin typeface="SimSun"/>
              <a:cs typeface="SimSun"/>
            </a:endParaRPr>
          </a:p>
          <a:p>
            <a:pPr marL="298450" marR="5080" indent="-285750">
              <a:lnSpc>
                <a:spcPct val="150000"/>
              </a:lnSpc>
              <a:buFont typeface="Arial MT"/>
              <a:buChar char="•"/>
              <a:tabLst>
                <a:tab pos="298450" algn="l"/>
              </a:tabLst>
            </a:pPr>
            <a:r>
              <a:rPr dirty="0" sz="1400" spc="-25">
                <a:solidFill>
                  <a:srgbClr val="C00000"/>
                </a:solidFill>
                <a:latin typeface="SimSun"/>
                <a:cs typeface="SimSun"/>
              </a:rPr>
              <a:t>利用多光谱影像，结合抽样水样检测数据，综合分析，可以了解监测水域的总磷、氨氮、</a:t>
            </a:r>
            <a:r>
              <a:rPr dirty="0" sz="1400" spc="-50">
                <a:solidFill>
                  <a:srgbClr val="C00000"/>
                </a:solidFill>
                <a:latin typeface="SimSun"/>
                <a:cs typeface="SimSun"/>
              </a:rPr>
              <a:t> </a:t>
            </a:r>
            <a:r>
              <a:rPr dirty="0" sz="1400" spc="-20" b="1">
                <a:solidFill>
                  <a:srgbClr val="C00000"/>
                </a:solidFill>
                <a:latin typeface="Arial"/>
                <a:cs typeface="Arial"/>
              </a:rPr>
              <a:t>pH</a:t>
            </a:r>
            <a:r>
              <a:rPr dirty="0" sz="1400" spc="-25">
                <a:solidFill>
                  <a:srgbClr val="C00000"/>
                </a:solidFill>
                <a:latin typeface="SimSun"/>
                <a:cs typeface="SimSun"/>
              </a:rPr>
              <a:t>值与浊度等情况，总体掌握监测水域的水质状况。</a:t>
            </a:r>
            <a:endParaRPr sz="1400">
              <a:latin typeface="SimSun"/>
              <a:cs typeface="SimSun"/>
            </a:endParaRPr>
          </a:p>
        </p:txBody>
      </p:sp>
      <p:pic>
        <p:nvPicPr>
          <p:cNvPr id="10" name="object 10"/>
          <p:cNvPicPr/>
          <p:nvPr/>
        </p:nvPicPr>
        <p:blipFill>
          <a:blip r:embed="rId5" cstate="print"/>
          <a:stretch>
            <a:fillRect/>
          </a:stretch>
        </p:blipFill>
        <p:spPr>
          <a:xfrm>
            <a:off x="6404220" y="3124784"/>
            <a:ext cx="2345290" cy="1607205"/>
          </a:xfrm>
          <a:prstGeom prst="rect">
            <a:avLst/>
          </a:prstGeom>
        </p:spPr>
      </p:pic>
      <p:sp>
        <p:nvSpPr>
          <p:cNvPr id="11" name="object 11" descr=""/>
          <p:cNvSpPr/>
          <p:nvPr/>
        </p:nvSpPr>
        <p:spPr>
          <a:xfrm>
            <a:off x="7380313" y="2510157"/>
            <a:ext cx="496570" cy="432434"/>
          </a:xfrm>
          <a:custGeom>
            <a:avLst/>
            <a:gdLst/>
            <a:ahLst/>
            <a:cxnLst/>
            <a:rect l="l" t="t" r="r" b="b"/>
            <a:pathLst>
              <a:path w="496570" h="432435">
                <a:moveTo>
                  <a:pt x="372313" y="0"/>
                </a:moveTo>
                <a:lnTo>
                  <a:pt x="124104" y="0"/>
                </a:lnTo>
                <a:lnTo>
                  <a:pt x="124104" y="216026"/>
                </a:lnTo>
                <a:lnTo>
                  <a:pt x="0" y="216026"/>
                </a:lnTo>
                <a:lnTo>
                  <a:pt x="248208" y="432053"/>
                </a:lnTo>
                <a:lnTo>
                  <a:pt x="496417" y="216026"/>
                </a:lnTo>
                <a:lnTo>
                  <a:pt x="372313" y="216026"/>
                </a:lnTo>
                <a:lnTo>
                  <a:pt x="372313" y="0"/>
                </a:lnTo>
                <a:close/>
              </a:path>
            </a:pathLst>
          </a:custGeom>
          <a:solidFill>
            <a:srgbClr val="000000">
              <a:alpha val="30194"/>
            </a:srgbClr>
          </a:solidFill>
        </p:spPr>
        <p:txBody>
          <a:bodyPr wrap="square" lIns="0" tIns="0" rIns="0" bIns="0" rtlCol="0"/>
          <a:lstStyle/>
          <a:p/>
        </p:txBody>
      </p:sp>
      <p:pic>
        <p:nvPicPr>
          <p:cNvPr id="12" name="object 12"/>
          <p:cNvPicPr/>
          <p:nvPr/>
        </p:nvPicPr>
        <p:blipFill>
          <a:blip r:embed="rId6" cstate="print"/>
          <a:stretch>
            <a:fillRect/>
          </a:stretch>
        </p:blipFill>
        <p:spPr>
          <a:xfrm>
            <a:off x="6404219" y="804698"/>
            <a:ext cx="2345291" cy="152798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349750"/>
            <a:chOff x="-12700" y="806450"/>
            <a:chExt cx="9169400" cy="4349750"/>
          </a:xfrm>
        </p:grpSpPr>
        <p:sp>
          <p:nvSpPr>
            <p:cNvPr id="3" name="object 3" descr=""/>
            <p:cNvSpPr/>
            <p:nvPr/>
          </p:nvSpPr>
          <p:spPr>
            <a:xfrm>
              <a:off x="0" y="819150"/>
              <a:ext cx="9144000" cy="4324350"/>
            </a:xfrm>
            <a:custGeom>
              <a:avLst/>
              <a:gdLst/>
              <a:ahLst/>
              <a:cxnLst/>
              <a:rect l="l" t="t" r="r" b="b"/>
              <a:pathLst>
                <a:path w="9144000" h="4324350">
                  <a:moveTo>
                    <a:pt x="9144000" y="0"/>
                  </a:moveTo>
                  <a:lnTo>
                    <a:pt x="0" y="0"/>
                  </a:lnTo>
                  <a:lnTo>
                    <a:pt x="0" y="4324350"/>
                  </a:lnTo>
                  <a:lnTo>
                    <a:pt x="9144000" y="4324350"/>
                  </a:lnTo>
                  <a:lnTo>
                    <a:pt x="9144000" y="0"/>
                  </a:lnTo>
                  <a:close/>
                </a:path>
              </a:pathLst>
            </a:custGeom>
            <a:solidFill>
              <a:srgbClr val="1C337E"/>
            </a:solidFill>
          </p:spPr>
          <p:txBody>
            <a:bodyPr wrap="square" lIns="0" tIns="0" rIns="0" bIns="0" rtlCol="0"/>
            <a:lstStyle/>
            <a:p/>
          </p:txBody>
        </p:sp>
        <p:sp>
          <p:nvSpPr>
            <p:cNvPr id="4" name="object 4" descr=""/>
            <p:cNvSpPr/>
            <p:nvPr/>
          </p:nvSpPr>
          <p:spPr>
            <a:xfrm>
              <a:off x="0" y="819150"/>
              <a:ext cx="9144000" cy="4324350"/>
            </a:xfrm>
            <a:custGeom>
              <a:avLst/>
              <a:gdLst/>
              <a:ahLst/>
              <a:cxnLst/>
              <a:rect l="l" t="t" r="r" b="b"/>
              <a:pathLst>
                <a:path w="9144000" h="4324350">
                  <a:moveTo>
                    <a:pt x="0" y="0"/>
                  </a:moveTo>
                  <a:lnTo>
                    <a:pt x="9144000" y="0"/>
                  </a:lnTo>
                  <a:lnTo>
                    <a:pt x="9144000" y="4324350"/>
                  </a:lnTo>
                  <a:lnTo>
                    <a:pt x="0" y="4324350"/>
                  </a:lnTo>
                  <a:lnTo>
                    <a:pt x="0" y="0"/>
                  </a:lnTo>
                  <a:close/>
                </a:path>
              </a:pathLst>
            </a:custGeom>
            <a:ln w="25400">
              <a:solidFill>
                <a:srgbClr val="89A4A7"/>
              </a:solidFill>
            </a:ln>
          </p:spPr>
          <p:txBody>
            <a:bodyPr wrap="square" lIns="0" tIns="0" rIns="0" bIns="0" rtlCol="0"/>
            <a:lstStyle/>
            <a:p/>
          </p:txBody>
        </p:sp>
        <p:pic>
          <p:nvPicPr>
            <p:cNvPr id="5" name="object 5"/>
            <p:cNvPicPr/>
            <p:nvPr/>
          </p:nvPicPr>
          <p:blipFill>
            <a:blip r:embed="rId2" cstate="print"/>
            <a:stretch>
              <a:fillRect/>
            </a:stretch>
          </p:blipFill>
          <p:spPr>
            <a:xfrm>
              <a:off x="485140" y="3751313"/>
              <a:ext cx="2381246" cy="1267634"/>
            </a:xfrm>
            <a:prstGeom prst="rect">
              <a:avLst/>
            </a:prstGeom>
          </p:spPr>
        </p:pic>
        <p:pic>
          <p:nvPicPr>
            <p:cNvPr id="6" name="object 6"/>
            <p:cNvPicPr/>
            <p:nvPr/>
          </p:nvPicPr>
          <p:blipFill>
            <a:blip r:embed="rId3" cstate="print"/>
            <a:stretch>
              <a:fillRect/>
            </a:stretch>
          </p:blipFill>
          <p:spPr>
            <a:xfrm>
              <a:off x="3237170" y="963005"/>
              <a:ext cx="2708448" cy="1437293"/>
            </a:xfrm>
            <a:prstGeom prst="rect">
              <a:avLst/>
            </a:prstGeom>
          </p:spPr>
        </p:pic>
        <p:pic>
          <p:nvPicPr>
            <p:cNvPr id="7" name="object 7" descr=""/>
            <p:cNvPicPr/>
            <p:nvPr/>
          </p:nvPicPr>
          <p:blipFill>
            <a:blip r:embed="rId4" cstate="print"/>
            <a:stretch>
              <a:fillRect/>
            </a:stretch>
          </p:blipFill>
          <p:spPr>
            <a:xfrm>
              <a:off x="3237166" y="963002"/>
              <a:ext cx="5537034" cy="1450746"/>
            </a:xfrm>
            <a:prstGeom prst="rect">
              <a:avLst/>
            </a:prstGeom>
          </p:spPr>
        </p:pic>
        <p:pic>
          <p:nvPicPr>
            <p:cNvPr id="8" name="object 8" descr=""/>
            <p:cNvPicPr/>
            <p:nvPr/>
          </p:nvPicPr>
          <p:blipFill>
            <a:blip r:embed="rId5" cstate="print"/>
            <a:stretch>
              <a:fillRect/>
            </a:stretch>
          </p:blipFill>
          <p:spPr>
            <a:xfrm>
              <a:off x="546633" y="963015"/>
              <a:ext cx="2539466" cy="1437284"/>
            </a:xfrm>
            <a:prstGeom prst="rect">
              <a:avLst/>
            </a:prstGeom>
          </p:spPr>
        </p:pic>
        <p:sp>
          <p:nvSpPr>
            <p:cNvPr id="9" name="object 9" descr=""/>
            <p:cNvSpPr/>
            <p:nvPr/>
          </p:nvSpPr>
          <p:spPr>
            <a:xfrm>
              <a:off x="546641" y="963000"/>
              <a:ext cx="2540000" cy="1437640"/>
            </a:xfrm>
            <a:custGeom>
              <a:avLst/>
              <a:gdLst/>
              <a:ahLst/>
              <a:cxnLst/>
              <a:rect l="l" t="t" r="r" b="b"/>
              <a:pathLst>
                <a:path w="2540000" h="1437639">
                  <a:moveTo>
                    <a:pt x="0" y="119329"/>
                  </a:moveTo>
                  <a:lnTo>
                    <a:pt x="9377" y="72882"/>
                  </a:lnTo>
                  <a:lnTo>
                    <a:pt x="34951" y="34951"/>
                  </a:lnTo>
                  <a:lnTo>
                    <a:pt x="72882" y="9377"/>
                  </a:lnTo>
                  <a:lnTo>
                    <a:pt x="119329" y="0"/>
                  </a:lnTo>
                  <a:lnTo>
                    <a:pt x="2420137" y="0"/>
                  </a:lnTo>
                  <a:lnTo>
                    <a:pt x="2466584" y="9377"/>
                  </a:lnTo>
                  <a:lnTo>
                    <a:pt x="2504514" y="34951"/>
                  </a:lnTo>
                  <a:lnTo>
                    <a:pt x="2530088" y="72882"/>
                  </a:lnTo>
                  <a:lnTo>
                    <a:pt x="2539466" y="119329"/>
                  </a:lnTo>
                  <a:lnTo>
                    <a:pt x="2539466" y="1317980"/>
                  </a:lnTo>
                  <a:lnTo>
                    <a:pt x="2530088" y="1364425"/>
                  </a:lnTo>
                  <a:lnTo>
                    <a:pt x="2504514" y="1402351"/>
                  </a:lnTo>
                  <a:lnTo>
                    <a:pt x="2466584" y="1427921"/>
                  </a:lnTo>
                  <a:lnTo>
                    <a:pt x="2420137" y="1437297"/>
                  </a:lnTo>
                  <a:lnTo>
                    <a:pt x="119329" y="1437297"/>
                  </a:lnTo>
                  <a:lnTo>
                    <a:pt x="72882" y="1427921"/>
                  </a:lnTo>
                  <a:lnTo>
                    <a:pt x="34951" y="1402351"/>
                  </a:lnTo>
                  <a:lnTo>
                    <a:pt x="9377" y="1364425"/>
                  </a:lnTo>
                  <a:lnTo>
                    <a:pt x="0" y="1317980"/>
                  </a:lnTo>
                  <a:lnTo>
                    <a:pt x="0" y="119329"/>
                  </a:lnTo>
                  <a:close/>
                </a:path>
              </a:pathLst>
            </a:custGeom>
            <a:ln w="6350">
              <a:solidFill>
                <a:srgbClr val="00FFFF"/>
              </a:solidFill>
            </a:ln>
          </p:spPr>
          <p:txBody>
            <a:bodyPr wrap="square" lIns="0" tIns="0" rIns="0" bIns="0" rtlCol="0"/>
            <a:lstStyle/>
            <a:p/>
          </p:txBody>
        </p:sp>
      </p:grpSp>
      <p:sp>
        <p:nvSpPr>
          <p:cNvPr id="10" name="object 10"/>
          <p:cNvSpPr txBox="1">
            <a:spLocks noGrp="1"/>
          </p:cNvSpPr>
          <p:nvPr>
            <p:ph type="title"/>
          </p:nvPr>
        </p:nvSpPr>
        <p:spPr>
          <a:xfrm>
            <a:off x="3115976" y="127507"/>
            <a:ext cx="3216910"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5G+</a:t>
            </a:r>
            <a:r>
              <a:rPr dirty="0" spc="-45"/>
              <a:t>助力智慧电力</a:t>
            </a:r>
          </a:p>
        </p:txBody>
      </p:sp>
      <p:sp>
        <p:nvSpPr>
          <p:cNvPr id="11" name="object 11" descr=""/>
          <p:cNvSpPr txBox="1"/>
          <p:nvPr/>
        </p:nvSpPr>
        <p:spPr>
          <a:xfrm>
            <a:off x="595289" y="972215"/>
            <a:ext cx="2386965" cy="1397000"/>
          </a:xfrm>
          <a:prstGeom prst="rect">
            <a:avLst/>
          </a:prstGeom>
        </p:spPr>
        <p:txBody>
          <a:bodyPr wrap="square" lIns="0" tIns="12700" rIns="0" bIns="0" rtlCol="0" vert="horz">
            <a:spAutoFit/>
          </a:bodyPr>
          <a:lstStyle/>
          <a:p>
            <a:pPr marL="189865" marR="5080" indent="-177800">
              <a:lnSpc>
                <a:spcPct val="150000"/>
              </a:lnSpc>
              <a:spcBef>
                <a:spcPts val="100"/>
              </a:spcBef>
              <a:buSzPct val="50000"/>
              <a:buFont typeface="Wingdings"/>
              <a:buChar char=""/>
              <a:tabLst>
                <a:tab pos="189865" algn="l"/>
              </a:tabLst>
            </a:pPr>
            <a:r>
              <a:rPr dirty="0" sz="1200">
                <a:solidFill>
                  <a:srgbClr val="FFFFFF"/>
                </a:solidFill>
                <a:latin typeface="Microsoft YaHei"/>
                <a:cs typeface="Microsoft YaHei"/>
              </a:rPr>
              <a:t>通过</a:t>
            </a:r>
            <a:r>
              <a:rPr dirty="0" sz="1200" spc="-10">
                <a:solidFill>
                  <a:srgbClr val="FFFFFF"/>
                </a:solidFill>
                <a:latin typeface="Microsoft YaHei"/>
                <a:cs typeface="Microsoft YaHei"/>
              </a:rPr>
              <a:t>5G</a:t>
            </a:r>
            <a:r>
              <a:rPr dirty="0" sz="1200" spc="-5">
                <a:solidFill>
                  <a:srgbClr val="FFFFFF"/>
                </a:solidFill>
                <a:latin typeface="Microsoft YaHei"/>
                <a:cs typeface="Microsoft YaHei"/>
              </a:rPr>
              <a:t>网络大带宽、低时延、高可靠，可实现配电自动化、精准负荷控制、高级用电信息采集、分布式电源应用、无人机巡检、</a:t>
            </a:r>
            <a:r>
              <a:rPr dirty="0" sz="1200">
                <a:solidFill>
                  <a:srgbClr val="FFFFFF"/>
                </a:solidFill>
                <a:latin typeface="Microsoft YaHei"/>
                <a:cs typeface="Microsoft YaHei"/>
              </a:rPr>
              <a:t>远程视频回传、</a:t>
            </a:r>
            <a:r>
              <a:rPr dirty="0" sz="1200" spc="-20">
                <a:solidFill>
                  <a:srgbClr val="FFFFFF"/>
                </a:solidFill>
                <a:latin typeface="Microsoft YaHei"/>
                <a:cs typeface="Microsoft YaHei"/>
              </a:rPr>
              <a:t>VR</a:t>
            </a:r>
            <a:r>
              <a:rPr dirty="0" sz="1200" spc="-15">
                <a:solidFill>
                  <a:srgbClr val="FFFFFF"/>
                </a:solidFill>
                <a:latin typeface="Microsoft YaHei"/>
                <a:cs typeface="Microsoft YaHei"/>
              </a:rPr>
              <a:t>培训等。</a:t>
            </a:r>
            <a:endParaRPr sz="1200">
              <a:latin typeface="Microsoft YaHei"/>
              <a:cs typeface="Microsoft YaHei"/>
            </a:endParaRPr>
          </a:p>
        </p:txBody>
      </p:sp>
      <p:grpSp>
        <p:nvGrpSpPr>
          <p:cNvPr id="12" name="object 12" descr=""/>
          <p:cNvGrpSpPr/>
          <p:nvPr/>
        </p:nvGrpSpPr>
        <p:grpSpPr>
          <a:xfrm>
            <a:off x="2387232" y="2481798"/>
            <a:ext cx="5824855" cy="1084580"/>
            <a:chOff x="2387232" y="2481798"/>
            <a:chExt cx="5824855" cy="1084580"/>
          </a:xfrm>
        </p:grpSpPr>
        <p:pic>
          <p:nvPicPr>
            <p:cNvPr id="13" name="object 13"/>
            <p:cNvPicPr/>
            <p:nvPr/>
          </p:nvPicPr>
          <p:blipFill>
            <a:blip r:embed="rId6" cstate="print"/>
            <a:stretch>
              <a:fillRect/>
            </a:stretch>
          </p:blipFill>
          <p:spPr>
            <a:xfrm>
              <a:off x="7555928" y="2481798"/>
              <a:ext cx="655785" cy="908235"/>
            </a:xfrm>
            <a:prstGeom prst="rect">
              <a:avLst/>
            </a:prstGeom>
          </p:spPr>
        </p:pic>
        <p:sp>
          <p:nvSpPr>
            <p:cNvPr id="14" name="object 14" descr=""/>
            <p:cNvSpPr/>
            <p:nvPr/>
          </p:nvSpPr>
          <p:spPr>
            <a:xfrm>
              <a:off x="2387231" y="3018129"/>
              <a:ext cx="4129404" cy="535940"/>
            </a:xfrm>
            <a:custGeom>
              <a:avLst/>
              <a:gdLst/>
              <a:ahLst/>
              <a:cxnLst/>
              <a:rect l="l" t="t" r="r" b="b"/>
              <a:pathLst>
                <a:path w="4129404" h="535939">
                  <a:moveTo>
                    <a:pt x="1055598" y="131203"/>
                  </a:moveTo>
                  <a:lnTo>
                    <a:pt x="954735" y="30353"/>
                  </a:lnTo>
                  <a:lnTo>
                    <a:pt x="954735" y="80772"/>
                  </a:lnTo>
                  <a:lnTo>
                    <a:pt x="100850" y="80772"/>
                  </a:lnTo>
                  <a:lnTo>
                    <a:pt x="100850" y="30353"/>
                  </a:lnTo>
                  <a:lnTo>
                    <a:pt x="0" y="131203"/>
                  </a:lnTo>
                  <a:lnTo>
                    <a:pt x="100850" y="232054"/>
                  </a:lnTo>
                  <a:lnTo>
                    <a:pt x="100850" y="181635"/>
                  </a:lnTo>
                  <a:lnTo>
                    <a:pt x="954735" y="181635"/>
                  </a:lnTo>
                  <a:lnTo>
                    <a:pt x="954735" y="232054"/>
                  </a:lnTo>
                  <a:lnTo>
                    <a:pt x="1055598" y="131203"/>
                  </a:lnTo>
                  <a:close/>
                </a:path>
                <a:path w="4129404" h="535939">
                  <a:moveTo>
                    <a:pt x="2985249" y="123139"/>
                  </a:moveTo>
                  <a:lnTo>
                    <a:pt x="1437995" y="123139"/>
                  </a:lnTo>
                  <a:lnTo>
                    <a:pt x="1008532" y="535444"/>
                  </a:lnTo>
                  <a:lnTo>
                    <a:pt x="2438120" y="533273"/>
                  </a:lnTo>
                  <a:lnTo>
                    <a:pt x="2985249" y="123139"/>
                  </a:lnTo>
                  <a:close/>
                </a:path>
                <a:path w="4129404" h="535939">
                  <a:moveTo>
                    <a:pt x="4128973" y="100850"/>
                  </a:moveTo>
                  <a:lnTo>
                    <a:pt x="4028122" y="0"/>
                  </a:lnTo>
                  <a:lnTo>
                    <a:pt x="4028122" y="50419"/>
                  </a:lnTo>
                  <a:lnTo>
                    <a:pt x="3080105" y="50419"/>
                  </a:lnTo>
                  <a:lnTo>
                    <a:pt x="3080105" y="0"/>
                  </a:lnTo>
                  <a:lnTo>
                    <a:pt x="2979255" y="100850"/>
                  </a:lnTo>
                  <a:lnTo>
                    <a:pt x="3080105" y="201701"/>
                  </a:lnTo>
                  <a:lnTo>
                    <a:pt x="3080105" y="151282"/>
                  </a:lnTo>
                  <a:lnTo>
                    <a:pt x="4028122" y="151282"/>
                  </a:lnTo>
                  <a:lnTo>
                    <a:pt x="4028122" y="201701"/>
                  </a:lnTo>
                  <a:lnTo>
                    <a:pt x="4128973" y="100850"/>
                  </a:lnTo>
                  <a:close/>
                </a:path>
              </a:pathLst>
            </a:custGeom>
            <a:solidFill>
              <a:srgbClr val="5CB8FF"/>
            </a:solidFill>
          </p:spPr>
          <p:txBody>
            <a:bodyPr wrap="square" lIns="0" tIns="0" rIns="0" bIns="0" rtlCol="0"/>
            <a:lstStyle/>
            <a:p/>
          </p:txBody>
        </p:sp>
        <p:sp>
          <p:nvSpPr>
            <p:cNvPr id="15" name="object 15" descr=""/>
            <p:cNvSpPr/>
            <p:nvPr/>
          </p:nvSpPr>
          <p:spPr>
            <a:xfrm>
              <a:off x="3395767" y="3141264"/>
              <a:ext cx="1976755" cy="412750"/>
            </a:xfrm>
            <a:custGeom>
              <a:avLst/>
              <a:gdLst/>
              <a:ahLst/>
              <a:cxnLst/>
              <a:rect l="l" t="t" r="r" b="b"/>
              <a:pathLst>
                <a:path w="1976754" h="412750">
                  <a:moveTo>
                    <a:pt x="429463" y="0"/>
                  </a:moveTo>
                  <a:lnTo>
                    <a:pt x="1976716" y="0"/>
                  </a:lnTo>
                  <a:lnTo>
                    <a:pt x="1429588" y="410133"/>
                  </a:lnTo>
                  <a:lnTo>
                    <a:pt x="0" y="412305"/>
                  </a:lnTo>
                  <a:lnTo>
                    <a:pt x="429463" y="0"/>
                  </a:lnTo>
                  <a:close/>
                </a:path>
              </a:pathLst>
            </a:custGeom>
            <a:ln w="25400">
              <a:solidFill>
                <a:srgbClr val="89A4A7"/>
              </a:solidFill>
            </a:ln>
          </p:spPr>
          <p:txBody>
            <a:bodyPr wrap="square" lIns="0" tIns="0" rIns="0" bIns="0" rtlCol="0"/>
            <a:lstStyle/>
            <a:p/>
          </p:txBody>
        </p:sp>
        <p:pic>
          <p:nvPicPr>
            <p:cNvPr id="16" name="object 16"/>
            <p:cNvPicPr/>
            <p:nvPr/>
          </p:nvPicPr>
          <p:blipFill>
            <a:blip r:embed="rId7" cstate="print"/>
            <a:stretch>
              <a:fillRect/>
            </a:stretch>
          </p:blipFill>
          <p:spPr>
            <a:xfrm>
              <a:off x="3724440" y="2524518"/>
              <a:ext cx="538659" cy="837920"/>
            </a:xfrm>
            <a:prstGeom prst="rect">
              <a:avLst/>
            </a:prstGeom>
          </p:spPr>
        </p:pic>
        <p:pic>
          <p:nvPicPr>
            <p:cNvPr id="17" name="object 17"/>
            <p:cNvPicPr/>
            <p:nvPr/>
          </p:nvPicPr>
          <p:blipFill>
            <a:blip r:embed="rId8" cstate="print"/>
            <a:stretch>
              <a:fillRect/>
            </a:stretch>
          </p:blipFill>
          <p:spPr>
            <a:xfrm>
              <a:off x="4262221" y="2610105"/>
              <a:ext cx="941018" cy="885963"/>
            </a:xfrm>
            <a:prstGeom prst="rect">
              <a:avLst/>
            </a:prstGeom>
          </p:spPr>
        </p:pic>
      </p:grpSp>
      <p:sp>
        <p:nvSpPr>
          <p:cNvPr id="18" name="object 18" descr=""/>
          <p:cNvSpPr txBox="1"/>
          <p:nvPr/>
        </p:nvSpPr>
        <p:spPr>
          <a:xfrm>
            <a:off x="6669931" y="3339432"/>
            <a:ext cx="661670" cy="178435"/>
          </a:xfrm>
          <a:prstGeom prst="rect">
            <a:avLst/>
          </a:prstGeom>
        </p:spPr>
        <p:txBody>
          <a:bodyPr wrap="square" lIns="0" tIns="12700" rIns="0" bIns="0" rtlCol="0" vert="horz">
            <a:spAutoFit/>
          </a:bodyPr>
          <a:lstStyle/>
          <a:p>
            <a:pPr marL="12700">
              <a:lnSpc>
                <a:spcPct val="100000"/>
              </a:lnSpc>
              <a:spcBef>
                <a:spcPts val="100"/>
              </a:spcBef>
            </a:pPr>
            <a:r>
              <a:rPr dirty="0" sz="1000" spc="-10">
                <a:solidFill>
                  <a:srgbClr val="FFFFFF"/>
                </a:solidFill>
                <a:latin typeface="SimSun"/>
                <a:cs typeface="SimSun"/>
              </a:rPr>
              <a:t>无人机巡检</a:t>
            </a:r>
            <a:endParaRPr sz="1000">
              <a:latin typeface="SimSun"/>
              <a:cs typeface="SimSun"/>
            </a:endParaRPr>
          </a:p>
        </p:txBody>
      </p:sp>
      <p:sp>
        <p:nvSpPr>
          <p:cNvPr id="19" name="object 19" descr=""/>
          <p:cNvSpPr txBox="1"/>
          <p:nvPr/>
        </p:nvSpPr>
        <p:spPr>
          <a:xfrm>
            <a:off x="5735927" y="2602483"/>
            <a:ext cx="583565" cy="360680"/>
          </a:xfrm>
          <a:prstGeom prst="rect">
            <a:avLst/>
          </a:prstGeom>
        </p:spPr>
        <p:txBody>
          <a:bodyPr wrap="square" lIns="0" tIns="12065" rIns="0" bIns="0" rtlCol="0" vert="horz">
            <a:spAutoFit/>
          </a:bodyPr>
          <a:lstStyle/>
          <a:p>
            <a:pPr marL="12700" marR="5080">
              <a:lnSpc>
                <a:spcPct val="100000"/>
              </a:lnSpc>
              <a:spcBef>
                <a:spcPts val="95"/>
              </a:spcBef>
            </a:pPr>
            <a:r>
              <a:rPr dirty="0" sz="1100" spc="-30">
                <a:solidFill>
                  <a:srgbClr val="FFFFFF"/>
                </a:solidFill>
                <a:latin typeface="SimSun"/>
                <a:cs typeface="SimSun"/>
              </a:rPr>
              <a:t>智能巡检安全可靠</a:t>
            </a:r>
            <a:endParaRPr sz="1100">
              <a:latin typeface="SimSun"/>
              <a:cs typeface="SimSun"/>
            </a:endParaRPr>
          </a:p>
        </p:txBody>
      </p:sp>
      <p:sp>
        <p:nvSpPr>
          <p:cNvPr id="20" name="object 20" descr=""/>
          <p:cNvSpPr txBox="1"/>
          <p:nvPr/>
        </p:nvSpPr>
        <p:spPr>
          <a:xfrm>
            <a:off x="2599925" y="2770934"/>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solidFill>
                  <a:srgbClr val="FFFFFF"/>
                </a:solidFill>
                <a:latin typeface="SimSun"/>
                <a:cs typeface="SimSun"/>
              </a:rPr>
              <a:t>采集信息流</a:t>
            </a:r>
            <a:endParaRPr sz="1100">
              <a:latin typeface="SimSun"/>
              <a:cs typeface="SimSun"/>
            </a:endParaRPr>
          </a:p>
        </p:txBody>
      </p:sp>
      <p:sp>
        <p:nvSpPr>
          <p:cNvPr id="21" name="object 21" descr=""/>
          <p:cNvSpPr txBox="1"/>
          <p:nvPr/>
        </p:nvSpPr>
        <p:spPr>
          <a:xfrm>
            <a:off x="3800383" y="3331171"/>
            <a:ext cx="490220" cy="193040"/>
          </a:xfrm>
          <a:prstGeom prst="rect">
            <a:avLst/>
          </a:prstGeom>
        </p:spPr>
        <p:txBody>
          <a:bodyPr wrap="square" lIns="0" tIns="12065" rIns="0" bIns="0" rtlCol="0" vert="horz">
            <a:spAutoFit/>
          </a:bodyPr>
          <a:lstStyle/>
          <a:p>
            <a:pPr marL="12700">
              <a:lnSpc>
                <a:spcPct val="100000"/>
              </a:lnSpc>
              <a:spcBef>
                <a:spcPts val="95"/>
              </a:spcBef>
            </a:pPr>
            <a:r>
              <a:rPr dirty="0" sz="1100" spc="-10">
                <a:solidFill>
                  <a:srgbClr val="2C2C2C"/>
                </a:solidFill>
                <a:latin typeface="Arial MT"/>
                <a:cs typeface="Arial MT"/>
              </a:rPr>
              <a:t>5G</a:t>
            </a:r>
            <a:r>
              <a:rPr dirty="0" sz="1100" spc="-35">
                <a:solidFill>
                  <a:srgbClr val="2C2C2C"/>
                </a:solidFill>
                <a:latin typeface="SimSun"/>
                <a:cs typeface="SimSun"/>
              </a:rPr>
              <a:t>网络</a:t>
            </a:r>
            <a:endParaRPr sz="1100">
              <a:latin typeface="SimSun"/>
              <a:cs typeface="SimSun"/>
            </a:endParaRPr>
          </a:p>
        </p:txBody>
      </p:sp>
      <p:grpSp>
        <p:nvGrpSpPr>
          <p:cNvPr id="22" name="object 22" descr=""/>
          <p:cNvGrpSpPr/>
          <p:nvPr/>
        </p:nvGrpSpPr>
        <p:grpSpPr>
          <a:xfrm>
            <a:off x="462784" y="3723939"/>
            <a:ext cx="8314690" cy="1297940"/>
            <a:chOff x="462784" y="3723939"/>
            <a:chExt cx="8314690" cy="1297940"/>
          </a:xfrm>
        </p:grpSpPr>
        <p:pic>
          <p:nvPicPr>
            <p:cNvPr id="23" name="object 23" descr=""/>
            <p:cNvPicPr/>
            <p:nvPr/>
          </p:nvPicPr>
          <p:blipFill>
            <a:blip r:embed="rId9" cstate="print"/>
            <a:stretch>
              <a:fillRect/>
            </a:stretch>
          </p:blipFill>
          <p:spPr>
            <a:xfrm>
              <a:off x="467550" y="3733406"/>
              <a:ext cx="4978133" cy="1283677"/>
            </a:xfrm>
            <a:prstGeom prst="rect">
              <a:avLst/>
            </a:prstGeom>
          </p:spPr>
        </p:pic>
        <p:sp>
          <p:nvSpPr>
            <p:cNvPr id="24" name="object 24" descr=""/>
            <p:cNvSpPr/>
            <p:nvPr/>
          </p:nvSpPr>
          <p:spPr>
            <a:xfrm>
              <a:off x="467546" y="3733402"/>
              <a:ext cx="4978400" cy="1283970"/>
            </a:xfrm>
            <a:custGeom>
              <a:avLst/>
              <a:gdLst/>
              <a:ahLst/>
              <a:cxnLst/>
              <a:rect l="l" t="t" r="r" b="b"/>
              <a:pathLst>
                <a:path w="4978400" h="1283970">
                  <a:moveTo>
                    <a:pt x="0" y="0"/>
                  </a:moveTo>
                  <a:lnTo>
                    <a:pt x="4978133" y="0"/>
                  </a:lnTo>
                  <a:lnTo>
                    <a:pt x="4978133" y="1283677"/>
                  </a:lnTo>
                  <a:lnTo>
                    <a:pt x="0" y="1283677"/>
                  </a:lnTo>
                  <a:lnTo>
                    <a:pt x="0" y="0"/>
                  </a:lnTo>
                  <a:close/>
                </a:path>
              </a:pathLst>
            </a:custGeom>
            <a:ln w="9524">
              <a:solidFill>
                <a:srgbClr val="00FFFF"/>
              </a:solidFill>
            </a:ln>
          </p:spPr>
          <p:txBody>
            <a:bodyPr wrap="square" lIns="0" tIns="0" rIns="0" bIns="0" rtlCol="0"/>
            <a:lstStyle/>
            <a:p/>
          </p:txBody>
        </p:sp>
        <p:pic>
          <p:nvPicPr>
            <p:cNvPr id="25" name="object 25" descr=""/>
            <p:cNvPicPr/>
            <p:nvPr/>
          </p:nvPicPr>
          <p:blipFill>
            <a:blip r:embed="rId10" cstate="print"/>
            <a:stretch>
              <a:fillRect/>
            </a:stretch>
          </p:blipFill>
          <p:spPr>
            <a:xfrm>
              <a:off x="5727877" y="3727119"/>
              <a:ext cx="3046323" cy="1220889"/>
            </a:xfrm>
            <a:prstGeom prst="rect">
              <a:avLst/>
            </a:prstGeom>
          </p:spPr>
        </p:pic>
        <p:sp>
          <p:nvSpPr>
            <p:cNvPr id="26" name="object 26" descr=""/>
            <p:cNvSpPr/>
            <p:nvPr/>
          </p:nvSpPr>
          <p:spPr>
            <a:xfrm>
              <a:off x="5727886" y="3727114"/>
              <a:ext cx="3046730" cy="1221105"/>
            </a:xfrm>
            <a:custGeom>
              <a:avLst/>
              <a:gdLst/>
              <a:ahLst/>
              <a:cxnLst/>
              <a:rect l="l" t="t" r="r" b="b"/>
              <a:pathLst>
                <a:path w="3046729" h="1221104">
                  <a:moveTo>
                    <a:pt x="0" y="101358"/>
                  </a:moveTo>
                  <a:lnTo>
                    <a:pt x="7964" y="61904"/>
                  </a:lnTo>
                  <a:lnTo>
                    <a:pt x="29686" y="29686"/>
                  </a:lnTo>
                  <a:lnTo>
                    <a:pt x="61904" y="7964"/>
                  </a:lnTo>
                  <a:lnTo>
                    <a:pt x="101358" y="0"/>
                  </a:lnTo>
                  <a:lnTo>
                    <a:pt x="2944964" y="0"/>
                  </a:lnTo>
                  <a:lnTo>
                    <a:pt x="2984414" y="7964"/>
                  </a:lnTo>
                  <a:lnTo>
                    <a:pt x="3016632" y="29686"/>
                  </a:lnTo>
                  <a:lnTo>
                    <a:pt x="3038356" y="61904"/>
                  </a:lnTo>
                  <a:lnTo>
                    <a:pt x="3046323" y="101358"/>
                  </a:lnTo>
                  <a:lnTo>
                    <a:pt x="3046323" y="1119543"/>
                  </a:lnTo>
                  <a:lnTo>
                    <a:pt x="3038356" y="1158997"/>
                  </a:lnTo>
                  <a:lnTo>
                    <a:pt x="3016632" y="1191215"/>
                  </a:lnTo>
                  <a:lnTo>
                    <a:pt x="2984414" y="1212936"/>
                  </a:lnTo>
                  <a:lnTo>
                    <a:pt x="2944964" y="1220901"/>
                  </a:lnTo>
                  <a:lnTo>
                    <a:pt x="101358" y="1220901"/>
                  </a:lnTo>
                  <a:lnTo>
                    <a:pt x="61904" y="1212936"/>
                  </a:lnTo>
                  <a:lnTo>
                    <a:pt x="29686" y="1191215"/>
                  </a:lnTo>
                  <a:lnTo>
                    <a:pt x="7964" y="1158997"/>
                  </a:lnTo>
                  <a:lnTo>
                    <a:pt x="0" y="1119543"/>
                  </a:lnTo>
                  <a:lnTo>
                    <a:pt x="0" y="101358"/>
                  </a:lnTo>
                  <a:close/>
                </a:path>
              </a:pathLst>
            </a:custGeom>
            <a:ln w="6349">
              <a:solidFill>
                <a:srgbClr val="00FFFF"/>
              </a:solidFill>
            </a:ln>
          </p:spPr>
          <p:txBody>
            <a:bodyPr wrap="square" lIns="0" tIns="0" rIns="0" bIns="0" rtlCol="0"/>
            <a:lstStyle/>
            <a:p/>
          </p:txBody>
        </p:sp>
      </p:grpSp>
      <p:sp>
        <p:nvSpPr>
          <p:cNvPr id="27" name="object 27" descr=""/>
          <p:cNvSpPr txBox="1"/>
          <p:nvPr/>
        </p:nvSpPr>
        <p:spPr>
          <a:xfrm>
            <a:off x="5921292" y="3992324"/>
            <a:ext cx="2286000" cy="665480"/>
          </a:xfrm>
          <a:prstGeom prst="rect">
            <a:avLst/>
          </a:prstGeom>
        </p:spPr>
        <p:txBody>
          <a:bodyPr wrap="square" lIns="0" tIns="119380" rIns="0" bIns="0" rtlCol="0" vert="horz">
            <a:spAutoFit/>
          </a:bodyPr>
          <a:lstStyle/>
          <a:p>
            <a:pPr marL="307975" indent="-295275">
              <a:lnSpc>
                <a:spcPct val="100000"/>
              </a:lnSpc>
              <a:spcBef>
                <a:spcPts val="940"/>
              </a:spcBef>
              <a:buSzPct val="50000"/>
              <a:buFont typeface="Wingdings"/>
              <a:buChar char=""/>
              <a:tabLst>
                <a:tab pos="307975" algn="l"/>
              </a:tabLst>
            </a:pPr>
            <a:r>
              <a:rPr dirty="0" sz="1400" spc="-20">
                <a:solidFill>
                  <a:srgbClr val="FFFFFF"/>
                </a:solidFill>
                <a:latin typeface="Microsoft YaHei"/>
                <a:cs typeface="Microsoft YaHei"/>
              </a:rPr>
              <a:t>人力成本可降低30</a:t>
            </a:r>
            <a:r>
              <a:rPr dirty="0" sz="1400" spc="-35">
                <a:solidFill>
                  <a:srgbClr val="FFFFFF"/>
                </a:solidFill>
                <a:latin typeface="Microsoft YaHei"/>
                <a:cs typeface="Microsoft YaHei"/>
              </a:rPr>
              <a:t>%以上</a:t>
            </a:r>
            <a:endParaRPr sz="1400">
              <a:latin typeface="Microsoft YaHei"/>
              <a:cs typeface="Microsoft YaHei"/>
            </a:endParaRPr>
          </a:p>
          <a:p>
            <a:pPr marL="307975" indent="-295275">
              <a:lnSpc>
                <a:spcPct val="100000"/>
              </a:lnSpc>
              <a:spcBef>
                <a:spcPts val="840"/>
              </a:spcBef>
              <a:buSzPct val="50000"/>
              <a:buFont typeface="Wingdings"/>
              <a:buChar char=""/>
              <a:tabLst>
                <a:tab pos="307975" algn="l"/>
              </a:tabLst>
            </a:pPr>
            <a:r>
              <a:rPr dirty="0" sz="1400" spc="-20">
                <a:solidFill>
                  <a:srgbClr val="FFFFFF"/>
                </a:solidFill>
                <a:latin typeface="Microsoft YaHei"/>
                <a:cs typeface="Microsoft YaHei"/>
              </a:rPr>
              <a:t>运营成本可降低20</a:t>
            </a:r>
            <a:r>
              <a:rPr dirty="0" sz="1400" spc="-35">
                <a:solidFill>
                  <a:srgbClr val="FFFFFF"/>
                </a:solidFill>
                <a:latin typeface="Microsoft YaHei"/>
                <a:cs typeface="Microsoft YaHei"/>
              </a:rPr>
              <a:t>%以上</a:t>
            </a:r>
            <a:endParaRPr sz="1400">
              <a:latin typeface="Microsoft YaHei"/>
              <a:cs typeface="Microsoft YaHei"/>
            </a:endParaRPr>
          </a:p>
        </p:txBody>
      </p:sp>
      <p:grpSp>
        <p:nvGrpSpPr>
          <p:cNvPr id="28" name="object 28" descr=""/>
          <p:cNvGrpSpPr/>
          <p:nvPr/>
        </p:nvGrpSpPr>
        <p:grpSpPr>
          <a:xfrm>
            <a:off x="860831" y="2431811"/>
            <a:ext cx="1288415" cy="1227455"/>
            <a:chOff x="860831" y="2431811"/>
            <a:chExt cx="1288415" cy="1227455"/>
          </a:xfrm>
        </p:grpSpPr>
        <p:pic>
          <p:nvPicPr>
            <p:cNvPr id="29" name="object 29"/>
            <p:cNvPicPr/>
            <p:nvPr/>
          </p:nvPicPr>
          <p:blipFill>
            <a:blip r:embed="rId11" cstate="print"/>
            <a:stretch>
              <a:fillRect/>
            </a:stretch>
          </p:blipFill>
          <p:spPr>
            <a:xfrm>
              <a:off x="1515313" y="2431811"/>
              <a:ext cx="633399" cy="652459"/>
            </a:xfrm>
            <a:prstGeom prst="rect">
              <a:avLst/>
            </a:prstGeom>
          </p:spPr>
        </p:pic>
        <p:pic>
          <p:nvPicPr>
            <p:cNvPr id="30" name="object 30"/>
            <p:cNvPicPr/>
            <p:nvPr/>
          </p:nvPicPr>
          <p:blipFill>
            <a:blip r:embed="rId12" cstate="print"/>
            <a:stretch>
              <a:fillRect/>
            </a:stretch>
          </p:blipFill>
          <p:spPr>
            <a:xfrm>
              <a:off x="1575119" y="3107994"/>
              <a:ext cx="513775" cy="551103"/>
            </a:xfrm>
            <a:prstGeom prst="rect">
              <a:avLst/>
            </a:prstGeom>
          </p:spPr>
        </p:pic>
        <p:pic>
          <p:nvPicPr>
            <p:cNvPr id="31" name="object 31"/>
            <p:cNvPicPr/>
            <p:nvPr/>
          </p:nvPicPr>
          <p:blipFill>
            <a:blip r:embed="rId13" cstate="print"/>
            <a:stretch>
              <a:fillRect/>
            </a:stretch>
          </p:blipFill>
          <p:spPr>
            <a:xfrm>
              <a:off x="860831" y="2467585"/>
              <a:ext cx="597514" cy="445765"/>
            </a:xfrm>
            <a:prstGeom prst="rect">
              <a:avLst/>
            </a:prstGeom>
          </p:spPr>
        </p:pic>
        <p:pic>
          <p:nvPicPr>
            <p:cNvPr id="32" name="object 32"/>
            <p:cNvPicPr/>
            <p:nvPr/>
          </p:nvPicPr>
          <p:blipFill>
            <a:blip r:embed="rId14" cstate="print"/>
            <a:stretch>
              <a:fillRect/>
            </a:stretch>
          </p:blipFill>
          <p:spPr>
            <a:xfrm>
              <a:off x="872824" y="3055327"/>
              <a:ext cx="528133" cy="506717"/>
            </a:xfrm>
            <a:prstGeom prst="rect">
              <a:avLst/>
            </a:prstGeom>
          </p:spPr>
        </p:pic>
      </p:grpSp>
      <p:sp>
        <p:nvSpPr>
          <p:cNvPr id="33" name="object 33" descr=""/>
          <p:cNvSpPr txBox="1"/>
          <p:nvPr/>
        </p:nvSpPr>
        <p:spPr>
          <a:xfrm>
            <a:off x="2269994" y="2523680"/>
            <a:ext cx="117475" cy="483234"/>
          </a:xfrm>
          <a:prstGeom prst="rect">
            <a:avLst/>
          </a:prstGeom>
        </p:spPr>
        <p:txBody>
          <a:bodyPr wrap="square" lIns="0" tIns="12700" rIns="0" bIns="0" rtlCol="0" vert="horz">
            <a:spAutoFit/>
          </a:bodyPr>
          <a:lstStyle/>
          <a:p>
            <a:pPr algn="just" marL="12700" marR="5080">
              <a:lnSpc>
                <a:spcPct val="100000"/>
              </a:lnSpc>
              <a:spcBef>
                <a:spcPts val="100"/>
              </a:spcBef>
            </a:pPr>
            <a:r>
              <a:rPr dirty="0" sz="1000" spc="-50">
                <a:solidFill>
                  <a:srgbClr val="FFFFFF"/>
                </a:solidFill>
                <a:latin typeface="Arial MT"/>
                <a:cs typeface="Arial MT"/>
              </a:rPr>
              <a:t>D T U</a:t>
            </a:r>
            <a:endParaRPr sz="1000">
              <a:latin typeface="Arial MT"/>
              <a:cs typeface="Arial MT"/>
            </a:endParaRPr>
          </a:p>
        </p:txBody>
      </p:sp>
      <p:sp>
        <p:nvSpPr>
          <p:cNvPr id="34" name="object 34" descr=""/>
          <p:cNvSpPr txBox="1"/>
          <p:nvPr/>
        </p:nvSpPr>
        <p:spPr>
          <a:xfrm>
            <a:off x="2186897" y="3113629"/>
            <a:ext cx="117475" cy="483234"/>
          </a:xfrm>
          <a:prstGeom prst="rect">
            <a:avLst/>
          </a:prstGeom>
        </p:spPr>
        <p:txBody>
          <a:bodyPr wrap="square" lIns="0" tIns="12700" rIns="0" bIns="0" rtlCol="0" vert="horz">
            <a:spAutoFit/>
          </a:bodyPr>
          <a:lstStyle/>
          <a:p>
            <a:pPr algn="just" marL="12700" marR="5080">
              <a:lnSpc>
                <a:spcPct val="100000"/>
              </a:lnSpc>
              <a:spcBef>
                <a:spcPts val="100"/>
              </a:spcBef>
            </a:pPr>
            <a:r>
              <a:rPr dirty="0" sz="1000" spc="-50">
                <a:solidFill>
                  <a:srgbClr val="FFFFFF"/>
                </a:solidFill>
                <a:latin typeface="Arial MT"/>
                <a:cs typeface="Arial MT"/>
              </a:rPr>
              <a:t>T T U</a:t>
            </a:r>
            <a:endParaRPr sz="1000">
              <a:latin typeface="Arial MT"/>
              <a:cs typeface="Arial MT"/>
            </a:endParaRPr>
          </a:p>
        </p:txBody>
      </p:sp>
      <p:sp>
        <p:nvSpPr>
          <p:cNvPr id="35" name="object 35" descr=""/>
          <p:cNvSpPr txBox="1"/>
          <p:nvPr/>
        </p:nvSpPr>
        <p:spPr>
          <a:xfrm>
            <a:off x="546284" y="2496502"/>
            <a:ext cx="280035" cy="324485"/>
          </a:xfrm>
          <a:prstGeom prst="rect">
            <a:avLst/>
          </a:prstGeom>
        </p:spPr>
        <p:txBody>
          <a:bodyPr wrap="square" lIns="0" tIns="22860" rIns="0" bIns="0" rtlCol="0" vert="horz">
            <a:spAutoFit/>
          </a:bodyPr>
          <a:lstStyle/>
          <a:p>
            <a:pPr marL="12700" marR="5080">
              <a:lnSpc>
                <a:spcPts val="1150"/>
              </a:lnSpc>
              <a:spcBef>
                <a:spcPts val="180"/>
              </a:spcBef>
            </a:pPr>
            <a:r>
              <a:rPr dirty="0" sz="1000" spc="-25">
                <a:solidFill>
                  <a:srgbClr val="FFFFFF"/>
                </a:solidFill>
                <a:latin typeface="SimSun"/>
                <a:cs typeface="SimSun"/>
              </a:rPr>
              <a:t>负荷控制</a:t>
            </a:r>
            <a:endParaRPr sz="1000">
              <a:latin typeface="SimSun"/>
              <a:cs typeface="SimSun"/>
            </a:endParaRPr>
          </a:p>
        </p:txBody>
      </p:sp>
      <p:sp>
        <p:nvSpPr>
          <p:cNvPr id="36" name="object 36" descr=""/>
          <p:cNvSpPr txBox="1"/>
          <p:nvPr/>
        </p:nvSpPr>
        <p:spPr>
          <a:xfrm>
            <a:off x="585096" y="3154787"/>
            <a:ext cx="280035" cy="324485"/>
          </a:xfrm>
          <a:prstGeom prst="rect">
            <a:avLst/>
          </a:prstGeom>
        </p:spPr>
        <p:txBody>
          <a:bodyPr wrap="square" lIns="0" tIns="22860" rIns="0" bIns="0" rtlCol="0" vert="horz">
            <a:spAutoFit/>
          </a:bodyPr>
          <a:lstStyle/>
          <a:p>
            <a:pPr marL="12700" marR="5080">
              <a:lnSpc>
                <a:spcPts val="1150"/>
              </a:lnSpc>
              <a:spcBef>
                <a:spcPts val="180"/>
              </a:spcBef>
            </a:pPr>
            <a:r>
              <a:rPr dirty="0" sz="1000" spc="-25">
                <a:solidFill>
                  <a:srgbClr val="FFFFFF"/>
                </a:solidFill>
                <a:latin typeface="SimSun"/>
                <a:cs typeface="SimSun"/>
              </a:rPr>
              <a:t>智能电表</a:t>
            </a:r>
            <a:endParaRPr sz="1000">
              <a:latin typeface="SimSun"/>
              <a:cs typeface="SimSun"/>
            </a:endParaRPr>
          </a:p>
        </p:txBody>
      </p:sp>
      <p:grpSp>
        <p:nvGrpSpPr>
          <p:cNvPr id="37" name="object 37" descr=""/>
          <p:cNvGrpSpPr/>
          <p:nvPr/>
        </p:nvGrpSpPr>
        <p:grpSpPr>
          <a:xfrm>
            <a:off x="6050915" y="972311"/>
            <a:ext cx="2865120" cy="2272030"/>
            <a:chOff x="6050915" y="972311"/>
            <a:chExt cx="2865120" cy="2272030"/>
          </a:xfrm>
        </p:grpSpPr>
        <p:pic>
          <p:nvPicPr>
            <p:cNvPr id="38" name="object 38"/>
            <p:cNvPicPr/>
            <p:nvPr/>
          </p:nvPicPr>
          <p:blipFill>
            <a:blip r:embed="rId15" cstate="print"/>
            <a:stretch>
              <a:fillRect/>
            </a:stretch>
          </p:blipFill>
          <p:spPr>
            <a:xfrm>
              <a:off x="8272161" y="2731312"/>
              <a:ext cx="643823" cy="430555"/>
            </a:xfrm>
            <a:prstGeom prst="rect">
              <a:avLst/>
            </a:prstGeom>
          </p:spPr>
        </p:pic>
        <p:pic>
          <p:nvPicPr>
            <p:cNvPr id="39" name="object 39"/>
            <p:cNvPicPr/>
            <p:nvPr/>
          </p:nvPicPr>
          <p:blipFill>
            <a:blip r:embed="rId16" cstate="print"/>
            <a:stretch>
              <a:fillRect/>
            </a:stretch>
          </p:blipFill>
          <p:spPr>
            <a:xfrm>
              <a:off x="6501828" y="2667800"/>
              <a:ext cx="1043693" cy="576058"/>
            </a:xfrm>
            <a:prstGeom prst="rect">
              <a:avLst/>
            </a:prstGeom>
          </p:spPr>
        </p:pic>
        <p:pic>
          <p:nvPicPr>
            <p:cNvPr id="40" name="object 40"/>
            <p:cNvPicPr/>
            <p:nvPr/>
          </p:nvPicPr>
          <p:blipFill>
            <a:blip r:embed="rId17" cstate="print"/>
            <a:stretch>
              <a:fillRect/>
            </a:stretch>
          </p:blipFill>
          <p:spPr>
            <a:xfrm>
              <a:off x="6050915" y="972311"/>
              <a:ext cx="2723286" cy="1427986"/>
            </a:xfrm>
            <a:prstGeom prst="rect">
              <a:avLst/>
            </a:prstGeom>
          </p:spPr>
        </p:pic>
      </p:grpSp>
      <p:sp>
        <p:nvSpPr>
          <p:cNvPr id="41" name="object 41" descr=""/>
          <p:cNvSpPr txBox="1"/>
          <p:nvPr/>
        </p:nvSpPr>
        <p:spPr>
          <a:xfrm>
            <a:off x="7505659" y="3322563"/>
            <a:ext cx="1560195" cy="178435"/>
          </a:xfrm>
          <a:prstGeom prst="rect">
            <a:avLst/>
          </a:prstGeom>
        </p:spPr>
        <p:txBody>
          <a:bodyPr wrap="square" lIns="0" tIns="12700" rIns="0" bIns="0" rtlCol="0" vert="horz">
            <a:spAutoFit/>
          </a:bodyPr>
          <a:lstStyle/>
          <a:p>
            <a:pPr marL="38100">
              <a:lnSpc>
                <a:spcPct val="100000"/>
              </a:lnSpc>
              <a:spcBef>
                <a:spcPts val="100"/>
              </a:spcBef>
            </a:pPr>
            <a:r>
              <a:rPr dirty="0" baseline="-19444" sz="1500" spc="37">
                <a:solidFill>
                  <a:srgbClr val="FFFFFF"/>
                </a:solidFill>
                <a:latin typeface="SimSun"/>
                <a:cs typeface="SimSun"/>
              </a:rPr>
              <a:t>智能巡检车 </a:t>
            </a:r>
            <a:r>
              <a:rPr dirty="0" sz="1000" spc="-10">
                <a:solidFill>
                  <a:srgbClr val="FFFFFF"/>
                </a:solidFill>
                <a:latin typeface="SimSun"/>
                <a:cs typeface="SimSun"/>
              </a:rPr>
              <a:t>远程视频监控</a:t>
            </a:r>
            <a:endParaRPr sz="1000">
              <a:latin typeface="SimSun"/>
              <a:cs typeface="SimSun"/>
            </a:endParaRPr>
          </a:p>
        </p:txBody>
      </p:sp>
      <p:sp>
        <p:nvSpPr>
          <p:cNvPr id="42" name="object 42" descr=""/>
          <p:cNvSpPr txBox="1"/>
          <p:nvPr/>
        </p:nvSpPr>
        <p:spPr>
          <a:xfrm>
            <a:off x="2595486" y="3287171"/>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solidFill>
                  <a:srgbClr val="FFFFFF"/>
                </a:solidFill>
                <a:latin typeface="SimSun"/>
                <a:cs typeface="SimSun"/>
              </a:rPr>
              <a:t>控制信息流</a:t>
            </a:r>
            <a:endParaRPr sz="1100">
              <a:latin typeface="SimSun"/>
              <a:cs typeface="SimSun"/>
            </a:endParaRPr>
          </a:p>
        </p:txBody>
      </p:sp>
      <p:sp>
        <p:nvSpPr>
          <p:cNvPr id="43" name="object 43" descr=""/>
          <p:cNvSpPr txBox="1"/>
          <p:nvPr/>
        </p:nvSpPr>
        <p:spPr>
          <a:xfrm>
            <a:off x="3237171" y="963005"/>
            <a:ext cx="5537200" cy="1450975"/>
          </a:xfrm>
          <a:prstGeom prst="rect">
            <a:avLst/>
          </a:prstGeom>
          <a:ln w="9525">
            <a:solidFill>
              <a:srgbClr val="00FFFF"/>
            </a:solidFill>
          </a:ln>
        </p:spPr>
        <p:txBody>
          <a:bodyPr wrap="square" lIns="0" tIns="80010" rIns="0" bIns="0" rtlCol="0" vert="horz">
            <a:spAutoFit/>
          </a:bodyPr>
          <a:lstStyle/>
          <a:p>
            <a:pPr marL="151130">
              <a:lnSpc>
                <a:spcPct val="100000"/>
              </a:lnSpc>
              <a:spcBef>
                <a:spcPts val="630"/>
              </a:spcBef>
              <a:tabLst>
                <a:tab pos="3033395" algn="l"/>
              </a:tabLst>
            </a:pPr>
            <a:r>
              <a:rPr dirty="0" sz="1600">
                <a:solidFill>
                  <a:srgbClr val="2C2C2C"/>
                </a:solidFill>
                <a:latin typeface="SimSun"/>
                <a:cs typeface="SimSun"/>
              </a:rPr>
              <a:t>配电自动</a:t>
            </a:r>
            <a:r>
              <a:rPr dirty="0" sz="1600" spc="-50">
                <a:solidFill>
                  <a:srgbClr val="2C2C2C"/>
                </a:solidFill>
                <a:latin typeface="SimSun"/>
                <a:cs typeface="SimSun"/>
              </a:rPr>
              <a:t>化</a:t>
            </a:r>
            <a:r>
              <a:rPr dirty="0" sz="1600">
                <a:solidFill>
                  <a:srgbClr val="2C2C2C"/>
                </a:solidFill>
                <a:latin typeface="SimSun"/>
                <a:cs typeface="SimSun"/>
              </a:rPr>
              <a:t>	</a:t>
            </a:r>
            <a:r>
              <a:rPr dirty="0" baseline="-5208" sz="2400">
                <a:solidFill>
                  <a:srgbClr val="2C2C2C"/>
                </a:solidFill>
                <a:latin typeface="SimSun"/>
                <a:cs typeface="SimSun"/>
              </a:rPr>
              <a:t>分布式电</a:t>
            </a:r>
            <a:r>
              <a:rPr dirty="0" baseline="-5208" sz="2400" spc="-75">
                <a:solidFill>
                  <a:srgbClr val="2C2C2C"/>
                </a:solidFill>
                <a:latin typeface="SimSun"/>
                <a:cs typeface="SimSun"/>
              </a:rPr>
              <a:t>源</a:t>
            </a:r>
            <a:endParaRPr baseline="-5208" sz="2400">
              <a:latin typeface="SimSun"/>
              <a:cs typeface="SimSun"/>
            </a:endParaRPr>
          </a:p>
        </p:txBody>
      </p:sp>
      <p:pic>
        <p:nvPicPr>
          <p:cNvPr id="44" name="object 44"/>
          <p:cNvPicPr/>
          <p:nvPr/>
        </p:nvPicPr>
        <p:blipFill>
          <a:blip r:embed="rId18" cstate="print"/>
          <a:stretch>
            <a:fillRect/>
          </a:stretch>
        </p:blipFill>
        <p:spPr>
          <a:xfrm>
            <a:off x="2987827" y="3749028"/>
            <a:ext cx="2457848" cy="1269918"/>
          </a:xfrm>
          <a:prstGeom prst="rect">
            <a:avLst/>
          </a:prstGeom>
        </p:spPr>
      </p:pic>
      <p:sp>
        <p:nvSpPr>
          <p:cNvPr id="45" name="object 45" descr=""/>
          <p:cNvSpPr txBox="1"/>
          <p:nvPr/>
        </p:nvSpPr>
        <p:spPr>
          <a:xfrm>
            <a:off x="3112036" y="3907005"/>
            <a:ext cx="1233805" cy="269875"/>
          </a:xfrm>
          <a:prstGeom prst="rect">
            <a:avLst/>
          </a:prstGeom>
        </p:spPr>
        <p:txBody>
          <a:bodyPr wrap="square" lIns="0" tIns="12700" rIns="0" bIns="0" rtlCol="0" vert="horz">
            <a:spAutoFit/>
          </a:bodyPr>
          <a:lstStyle/>
          <a:p>
            <a:pPr>
              <a:lnSpc>
                <a:spcPct val="100000"/>
              </a:lnSpc>
              <a:spcBef>
                <a:spcPts val="100"/>
              </a:spcBef>
            </a:pPr>
            <a:r>
              <a:rPr dirty="0" sz="1600" spc="-10">
                <a:solidFill>
                  <a:srgbClr val="2C2C2C"/>
                </a:solidFill>
                <a:latin typeface="SimSun"/>
                <a:cs typeface="SimSun"/>
              </a:rPr>
              <a:t>配网视频监控</a:t>
            </a:r>
            <a:endParaRPr sz="1600">
              <a:latin typeface="SimSun"/>
              <a:cs typeface="SimSun"/>
            </a:endParaRPr>
          </a:p>
        </p:txBody>
      </p:sp>
      <p:sp>
        <p:nvSpPr>
          <p:cNvPr id="46" name="object 46" descr=""/>
          <p:cNvSpPr txBox="1"/>
          <p:nvPr/>
        </p:nvSpPr>
        <p:spPr>
          <a:xfrm>
            <a:off x="558891" y="3762552"/>
            <a:ext cx="1233805" cy="269875"/>
          </a:xfrm>
          <a:prstGeom prst="rect">
            <a:avLst/>
          </a:prstGeom>
        </p:spPr>
        <p:txBody>
          <a:bodyPr wrap="square" lIns="0" tIns="12700" rIns="0" bIns="0" rtlCol="0" vert="horz">
            <a:spAutoFit/>
          </a:bodyPr>
          <a:lstStyle/>
          <a:p>
            <a:pPr>
              <a:lnSpc>
                <a:spcPct val="100000"/>
              </a:lnSpc>
              <a:spcBef>
                <a:spcPts val="100"/>
              </a:spcBef>
            </a:pPr>
            <a:r>
              <a:rPr dirty="0" sz="1600" spc="-10">
                <a:solidFill>
                  <a:srgbClr val="2C2C2C"/>
                </a:solidFill>
                <a:latin typeface="SimSun"/>
                <a:cs typeface="SimSun"/>
              </a:rPr>
              <a:t>精准负荷控制</a:t>
            </a:r>
            <a:endParaRPr sz="1600">
              <a:latin typeface="SimSun"/>
              <a:cs typeface="SimSu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6376" y="135544"/>
            <a:ext cx="4436110"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5G+</a:t>
            </a:r>
            <a:r>
              <a:rPr dirty="0" spc="-45"/>
              <a:t>工业互联、机器视觉</a:t>
            </a:r>
          </a:p>
        </p:txBody>
      </p:sp>
      <p:pic>
        <p:nvPicPr>
          <p:cNvPr id="3" name="object 3"/>
          <p:cNvPicPr/>
          <p:nvPr/>
        </p:nvPicPr>
        <p:blipFill>
          <a:blip r:embed="rId2" cstate="print"/>
          <a:stretch>
            <a:fillRect/>
          </a:stretch>
        </p:blipFill>
        <p:spPr>
          <a:xfrm>
            <a:off x="1043609" y="932080"/>
            <a:ext cx="6754706" cy="4015928"/>
          </a:xfrm>
          <a:prstGeom prst="rect">
            <a:avLst/>
          </a:prstGeom>
        </p:spPr>
      </p:pic>
      <p:sp>
        <p:nvSpPr>
          <p:cNvPr id="4" name="object 4" descr=""/>
          <p:cNvSpPr txBox="1"/>
          <p:nvPr/>
        </p:nvSpPr>
        <p:spPr>
          <a:xfrm>
            <a:off x="146834" y="3608527"/>
            <a:ext cx="1000760" cy="574040"/>
          </a:xfrm>
          <a:prstGeom prst="rect">
            <a:avLst/>
          </a:prstGeom>
        </p:spPr>
        <p:txBody>
          <a:bodyPr wrap="square" lIns="0" tIns="12700" rIns="0" bIns="0" rtlCol="0" vert="horz">
            <a:spAutoFit/>
          </a:bodyPr>
          <a:lstStyle/>
          <a:p>
            <a:pPr algn="just" marL="12700" marR="5080" indent="30480">
              <a:lnSpc>
                <a:spcPct val="100000"/>
              </a:lnSpc>
              <a:spcBef>
                <a:spcPts val="100"/>
              </a:spcBef>
            </a:pPr>
            <a:r>
              <a:rPr dirty="0" sz="1200" spc="-10" b="1">
                <a:solidFill>
                  <a:srgbClr val="333399"/>
                </a:solidFill>
                <a:latin typeface="Microsoft YaHei"/>
                <a:cs typeface="Microsoft YaHei"/>
              </a:rPr>
              <a:t>为制造业客户提供以视觉为</a:t>
            </a:r>
            <a:r>
              <a:rPr dirty="0" sz="1200" b="1">
                <a:solidFill>
                  <a:srgbClr val="333399"/>
                </a:solidFill>
                <a:latin typeface="Microsoft YaHei"/>
                <a:cs typeface="Microsoft YaHei"/>
              </a:rPr>
              <a:t>核心的</a:t>
            </a:r>
            <a:r>
              <a:rPr dirty="0" sz="1200" spc="-45" b="1">
                <a:solidFill>
                  <a:srgbClr val="333399"/>
                </a:solidFill>
                <a:latin typeface="Microsoft YaHei"/>
                <a:cs typeface="Microsoft YaHei"/>
              </a:rPr>
              <a:t>OT</a:t>
            </a:r>
            <a:r>
              <a:rPr dirty="0" sz="1200" spc="-25" b="1">
                <a:solidFill>
                  <a:srgbClr val="333399"/>
                </a:solidFill>
                <a:latin typeface="Microsoft YaHei"/>
                <a:cs typeface="Microsoft YaHei"/>
              </a:rPr>
              <a:t>支撑</a:t>
            </a:r>
            <a:endParaRPr sz="1200">
              <a:latin typeface="Microsoft YaHei"/>
              <a:cs typeface="Microsoft YaHei"/>
            </a:endParaRPr>
          </a:p>
        </p:txBody>
      </p:sp>
      <p:sp>
        <p:nvSpPr>
          <p:cNvPr id="5" name="object 5" descr=""/>
          <p:cNvSpPr txBox="1"/>
          <p:nvPr/>
        </p:nvSpPr>
        <p:spPr>
          <a:xfrm>
            <a:off x="7716847" y="3495903"/>
            <a:ext cx="1092200" cy="574040"/>
          </a:xfrm>
          <a:prstGeom prst="rect">
            <a:avLst/>
          </a:prstGeom>
        </p:spPr>
        <p:txBody>
          <a:bodyPr wrap="square" lIns="0" tIns="12700" rIns="0" bIns="0" rtlCol="0" vert="horz">
            <a:spAutoFit/>
          </a:bodyPr>
          <a:lstStyle/>
          <a:p>
            <a:pPr algn="ctr" marL="12700" marR="5080">
              <a:lnSpc>
                <a:spcPct val="100000"/>
              </a:lnSpc>
              <a:spcBef>
                <a:spcPts val="100"/>
              </a:spcBef>
            </a:pPr>
            <a:r>
              <a:rPr dirty="0" sz="1200" spc="-10" b="1">
                <a:solidFill>
                  <a:srgbClr val="333399"/>
                </a:solidFill>
                <a:latin typeface="Microsoft YaHei"/>
                <a:cs typeface="Microsoft YaHei"/>
              </a:rPr>
              <a:t>为制造业客户</a:t>
            </a:r>
            <a:r>
              <a:rPr dirty="0" sz="1200" spc="-50" b="1">
                <a:solidFill>
                  <a:srgbClr val="333399"/>
                </a:solidFill>
                <a:latin typeface="Microsoft YaHei"/>
                <a:cs typeface="Microsoft YaHei"/>
              </a:rPr>
              <a:t> </a:t>
            </a:r>
            <a:r>
              <a:rPr dirty="0" sz="1200" spc="-10" b="1">
                <a:solidFill>
                  <a:srgbClr val="333399"/>
                </a:solidFill>
                <a:latin typeface="Microsoft YaHei"/>
                <a:cs typeface="Microsoft YaHei"/>
              </a:rPr>
              <a:t>提供以视觉为核</a:t>
            </a:r>
            <a:r>
              <a:rPr dirty="0" sz="1200" b="1">
                <a:solidFill>
                  <a:srgbClr val="333399"/>
                </a:solidFill>
                <a:latin typeface="Microsoft YaHei"/>
                <a:cs typeface="Microsoft YaHei"/>
              </a:rPr>
              <a:t>心的</a:t>
            </a:r>
            <a:r>
              <a:rPr dirty="0" sz="1200" spc="-10" b="1">
                <a:solidFill>
                  <a:srgbClr val="333399"/>
                </a:solidFill>
                <a:latin typeface="Microsoft YaHei"/>
                <a:cs typeface="Microsoft YaHei"/>
              </a:rPr>
              <a:t>IT</a:t>
            </a:r>
            <a:r>
              <a:rPr dirty="0" sz="1200" spc="-25" b="1">
                <a:solidFill>
                  <a:srgbClr val="333399"/>
                </a:solidFill>
                <a:latin typeface="Microsoft YaHei"/>
                <a:cs typeface="Microsoft YaHei"/>
              </a:rPr>
              <a:t>支撑</a:t>
            </a:r>
            <a:endParaRPr sz="1200">
              <a:latin typeface="Microsoft YaHei"/>
              <a:cs typeface="Microsoft YaHei"/>
            </a:endParaRPr>
          </a:p>
        </p:txBody>
      </p:sp>
      <p:grpSp>
        <p:nvGrpSpPr>
          <p:cNvPr id="6" name="object 6" descr=""/>
          <p:cNvGrpSpPr/>
          <p:nvPr/>
        </p:nvGrpSpPr>
        <p:grpSpPr>
          <a:xfrm>
            <a:off x="328422" y="614172"/>
            <a:ext cx="8453120" cy="3201670"/>
            <a:chOff x="328422" y="614172"/>
            <a:chExt cx="8453120" cy="3201670"/>
          </a:xfrm>
        </p:grpSpPr>
        <p:sp>
          <p:nvSpPr>
            <p:cNvPr id="7" name="object 7" descr=""/>
            <p:cNvSpPr/>
            <p:nvPr/>
          </p:nvSpPr>
          <p:spPr>
            <a:xfrm>
              <a:off x="775550" y="2942043"/>
              <a:ext cx="953135" cy="617220"/>
            </a:xfrm>
            <a:custGeom>
              <a:avLst/>
              <a:gdLst/>
              <a:ahLst/>
              <a:cxnLst/>
              <a:rect l="l" t="t" r="r" b="b"/>
              <a:pathLst>
                <a:path w="953135" h="617220">
                  <a:moveTo>
                    <a:pt x="952741" y="0"/>
                  </a:moveTo>
                  <a:lnTo>
                    <a:pt x="0" y="616737"/>
                  </a:lnTo>
                </a:path>
              </a:pathLst>
            </a:custGeom>
            <a:ln w="12700">
              <a:solidFill>
                <a:srgbClr val="2F2F98"/>
              </a:solidFill>
            </a:ln>
          </p:spPr>
          <p:txBody>
            <a:bodyPr wrap="square" lIns="0" tIns="0" rIns="0" bIns="0" rtlCol="0"/>
            <a:lstStyle/>
            <a:p/>
          </p:txBody>
        </p:sp>
        <p:sp>
          <p:nvSpPr>
            <p:cNvPr id="8" name="object 8" descr=""/>
            <p:cNvSpPr/>
            <p:nvPr/>
          </p:nvSpPr>
          <p:spPr>
            <a:xfrm>
              <a:off x="775548" y="3480059"/>
              <a:ext cx="88265" cy="78740"/>
            </a:xfrm>
            <a:custGeom>
              <a:avLst/>
              <a:gdLst/>
              <a:ahLst/>
              <a:cxnLst/>
              <a:rect l="l" t="t" r="r" b="b"/>
              <a:pathLst>
                <a:path w="88265" h="78739">
                  <a:moveTo>
                    <a:pt x="88125" y="74625"/>
                  </a:moveTo>
                  <a:lnTo>
                    <a:pt x="0" y="78727"/>
                  </a:lnTo>
                  <a:lnTo>
                    <a:pt x="39814" y="0"/>
                  </a:lnTo>
                </a:path>
              </a:pathLst>
            </a:custGeom>
            <a:ln w="12700">
              <a:solidFill>
                <a:srgbClr val="2F2F98"/>
              </a:solidFill>
            </a:ln>
          </p:spPr>
          <p:txBody>
            <a:bodyPr wrap="square" lIns="0" tIns="0" rIns="0" bIns="0" rtlCol="0"/>
            <a:lstStyle/>
            <a:p/>
          </p:txBody>
        </p:sp>
        <p:sp>
          <p:nvSpPr>
            <p:cNvPr id="9" name="object 9" descr=""/>
            <p:cNvSpPr/>
            <p:nvPr/>
          </p:nvSpPr>
          <p:spPr>
            <a:xfrm>
              <a:off x="7478217" y="2999828"/>
              <a:ext cx="895985" cy="490855"/>
            </a:xfrm>
            <a:custGeom>
              <a:avLst/>
              <a:gdLst/>
              <a:ahLst/>
              <a:cxnLst/>
              <a:rect l="l" t="t" r="r" b="b"/>
              <a:pathLst>
                <a:path w="895984" h="490854">
                  <a:moveTo>
                    <a:pt x="0" y="0"/>
                  </a:moveTo>
                  <a:lnTo>
                    <a:pt x="895756" y="490524"/>
                  </a:lnTo>
                </a:path>
              </a:pathLst>
            </a:custGeom>
            <a:ln w="12700">
              <a:solidFill>
                <a:srgbClr val="D5E8EA"/>
              </a:solidFill>
            </a:ln>
          </p:spPr>
          <p:txBody>
            <a:bodyPr wrap="square" lIns="0" tIns="0" rIns="0" bIns="0" rtlCol="0"/>
            <a:lstStyle/>
            <a:p/>
          </p:txBody>
        </p:sp>
        <p:sp>
          <p:nvSpPr>
            <p:cNvPr id="10" name="object 10" descr=""/>
            <p:cNvSpPr/>
            <p:nvPr/>
          </p:nvSpPr>
          <p:spPr>
            <a:xfrm>
              <a:off x="8285779" y="3414769"/>
              <a:ext cx="88265" cy="78105"/>
            </a:xfrm>
            <a:custGeom>
              <a:avLst/>
              <a:gdLst/>
              <a:ahLst/>
              <a:cxnLst/>
              <a:rect l="l" t="t" r="r" b="b"/>
              <a:pathLst>
                <a:path w="88265" h="78104">
                  <a:moveTo>
                    <a:pt x="42710" y="0"/>
                  </a:moveTo>
                  <a:lnTo>
                    <a:pt x="88188" y="75590"/>
                  </a:lnTo>
                  <a:lnTo>
                    <a:pt x="0" y="77965"/>
                  </a:lnTo>
                </a:path>
              </a:pathLst>
            </a:custGeom>
            <a:ln w="12700">
              <a:solidFill>
                <a:srgbClr val="D5E8EA"/>
              </a:solidFill>
            </a:ln>
          </p:spPr>
          <p:txBody>
            <a:bodyPr wrap="square" lIns="0" tIns="0" rIns="0" bIns="0" rtlCol="0"/>
            <a:lstStyle/>
            <a:p/>
          </p:txBody>
        </p:sp>
        <p:sp>
          <p:nvSpPr>
            <p:cNvPr id="11" name="object 11" descr=""/>
            <p:cNvSpPr/>
            <p:nvPr/>
          </p:nvSpPr>
          <p:spPr>
            <a:xfrm>
              <a:off x="647564" y="801941"/>
              <a:ext cx="7616190" cy="2780030"/>
            </a:xfrm>
            <a:custGeom>
              <a:avLst/>
              <a:gdLst/>
              <a:ahLst/>
              <a:cxnLst/>
              <a:rect l="l" t="t" r="r" b="b"/>
              <a:pathLst>
                <a:path w="7616190" h="2780029">
                  <a:moveTo>
                    <a:pt x="0" y="2779661"/>
                  </a:moveTo>
                  <a:lnTo>
                    <a:pt x="1843" y="2704544"/>
                  </a:lnTo>
                  <a:lnTo>
                    <a:pt x="7328" y="2629475"/>
                  </a:lnTo>
                  <a:lnTo>
                    <a:pt x="16388" y="2554504"/>
                  </a:lnTo>
                  <a:lnTo>
                    <a:pt x="28956" y="2479679"/>
                  </a:lnTo>
                  <a:lnTo>
                    <a:pt x="36535" y="2442336"/>
                  </a:lnTo>
                  <a:lnTo>
                    <a:pt x="44966" y="2405049"/>
                  </a:lnTo>
                  <a:lnTo>
                    <a:pt x="54240" y="2367822"/>
                  </a:lnTo>
                  <a:lnTo>
                    <a:pt x="64350" y="2330663"/>
                  </a:lnTo>
                  <a:lnTo>
                    <a:pt x="75286" y="2293577"/>
                  </a:lnTo>
                  <a:lnTo>
                    <a:pt x="87042" y="2256570"/>
                  </a:lnTo>
                  <a:lnTo>
                    <a:pt x="99607" y="2219648"/>
                  </a:lnTo>
                  <a:lnTo>
                    <a:pt x="112974" y="2182818"/>
                  </a:lnTo>
                  <a:lnTo>
                    <a:pt x="127135" y="2146085"/>
                  </a:lnTo>
                  <a:lnTo>
                    <a:pt x="142081" y="2109456"/>
                  </a:lnTo>
                  <a:lnTo>
                    <a:pt x="157804" y="2072937"/>
                  </a:lnTo>
                  <a:lnTo>
                    <a:pt x="174295" y="2036533"/>
                  </a:lnTo>
                  <a:lnTo>
                    <a:pt x="191547" y="2000252"/>
                  </a:lnTo>
                  <a:lnTo>
                    <a:pt x="209550" y="1964099"/>
                  </a:lnTo>
                  <a:lnTo>
                    <a:pt x="228296" y="1928079"/>
                  </a:lnTo>
                  <a:lnTo>
                    <a:pt x="247778" y="1892200"/>
                  </a:lnTo>
                  <a:lnTo>
                    <a:pt x="267986" y="1856468"/>
                  </a:lnTo>
                  <a:lnTo>
                    <a:pt x="288913" y="1820887"/>
                  </a:lnTo>
                  <a:lnTo>
                    <a:pt x="310550" y="1785465"/>
                  </a:lnTo>
                  <a:lnTo>
                    <a:pt x="332888" y="1750208"/>
                  </a:lnTo>
                  <a:lnTo>
                    <a:pt x="355919" y="1715122"/>
                  </a:lnTo>
                  <a:lnTo>
                    <a:pt x="379636" y="1680212"/>
                  </a:lnTo>
                  <a:lnTo>
                    <a:pt x="404029" y="1645486"/>
                  </a:lnTo>
                  <a:lnTo>
                    <a:pt x="429090" y="1610948"/>
                  </a:lnTo>
                  <a:lnTo>
                    <a:pt x="454811" y="1576605"/>
                  </a:lnTo>
                  <a:lnTo>
                    <a:pt x="481184" y="1542464"/>
                  </a:lnTo>
                  <a:lnTo>
                    <a:pt x="508200" y="1508530"/>
                  </a:lnTo>
                  <a:lnTo>
                    <a:pt x="535851" y="1474810"/>
                  </a:lnTo>
                  <a:lnTo>
                    <a:pt x="564128" y="1441308"/>
                  </a:lnTo>
                  <a:lnTo>
                    <a:pt x="593023" y="1408033"/>
                  </a:lnTo>
                  <a:lnTo>
                    <a:pt x="622528" y="1374989"/>
                  </a:lnTo>
                  <a:lnTo>
                    <a:pt x="652635" y="1342183"/>
                  </a:lnTo>
                  <a:lnTo>
                    <a:pt x="683334" y="1309621"/>
                  </a:lnTo>
                  <a:lnTo>
                    <a:pt x="714618" y="1277309"/>
                  </a:lnTo>
                  <a:lnTo>
                    <a:pt x="746479" y="1245253"/>
                  </a:lnTo>
                  <a:lnTo>
                    <a:pt x="778907" y="1213459"/>
                  </a:lnTo>
                  <a:lnTo>
                    <a:pt x="811895" y="1181933"/>
                  </a:lnTo>
                  <a:lnTo>
                    <a:pt x="845435" y="1150682"/>
                  </a:lnTo>
                  <a:lnTo>
                    <a:pt x="879517" y="1119711"/>
                  </a:lnTo>
                  <a:lnTo>
                    <a:pt x="914134" y="1089027"/>
                  </a:lnTo>
                  <a:lnTo>
                    <a:pt x="949277" y="1058636"/>
                  </a:lnTo>
                  <a:lnTo>
                    <a:pt x="984938" y="1028543"/>
                  </a:lnTo>
                  <a:lnTo>
                    <a:pt x="1021109" y="998755"/>
                  </a:lnTo>
                  <a:lnTo>
                    <a:pt x="1057781" y="969278"/>
                  </a:lnTo>
                  <a:lnTo>
                    <a:pt x="1094945" y="940119"/>
                  </a:lnTo>
                  <a:lnTo>
                    <a:pt x="1132594" y="911282"/>
                  </a:lnTo>
                  <a:lnTo>
                    <a:pt x="1170719" y="882774"/>
                  </a:lnTo>
                  <a:lnTo>
                    <a:pt x="1209312" y="854602"/>
                  </a:lnTo>
                  <a:lnTo>
                    <a:pt x="1248364" y="826772"/>
                  </a:lnTo>
                  <a:lnTo>
                    <a:pt x="1287868" y="799289"/>
                  </a:lnTo>
                  <a:lnTo>
                    <a:pt x="1327814" y="772159"/>
                  </a:lnTo>
                  <a:lnTo>
                    <a:pt x="1368194" y="745390"/>
                  </a:lnTo>
                  <a:lnTo>
                    <a:pt x="1409001" y="718986"/>
                  </a:lnTo>
                  <a:lnTo>
                    <a:pt x="1450225" y="692954"/>
                  </a:lnTo>
                  <a:lnTo>
                    <a:pt x="1491858" y="667300"/>
                  </a:lnTo>
                  <a:lnTo>
                    <a:pt x="1533892" y="642031"/>
                  </a:lnTo>
                  <a:lnTo>
                    <a:pt x="1576319" y="617151"/>
                  </a:lnTo>
                  <a:lnTo>
                    <a:pt x="1619130" y="592668"/>
                  </a:lnTo>
                  <a:lnTo>
                    <a:pt x="1662317" y="568587"/>
                  </a:lnTo>
                  <a:lnTo>
                    <a:pt x="1705872" y="544915"/>
                  </a:lnTo>
                  <a:lnTo>
                    <a:pt x="1749785" y="521658"/>
                  </a:lnTo>
                  <a:lnTo>
                    <a:pt x="1794050" y="498821"/>
                  </a:lnTo>
                  <a:lnTo>
                    <a:pt x="1838657" y="476411"/>
                  </a:lnTo>
                  <a:lnTo>
                    <a:pt x="1883598" y="454434"/>
                  </a:lnTo>
                  <a:lnTo>
                    <a:pt x="1928865" y="432896"/>
                  </a:lnTo>
                  <a:lnTo>
                    <a:pt x="1974449" y="411803"/>
                  </a:lnTo>
                  <a:lnTo>
                    <a:pt x="2020342" y="391161"/>
                  </a:lnTo>
                  <a:lnTo>
                    <a:pt x="2066536" y="370976"/>
                  </a:lnTo>
                  <a:lnTo>
                    <a:pt x="2113022" y="351255"/>
                  </a:lnTo>
                  <a:lnTo>
                    <a:pt x="2159793" y="332004"/>
                  </a:lnTo>
                  <a:lnTo>
                    <a:pt x="2206839" y="313228"/>
                  </a:lnTo>
                  <a:lnTo>
                    <a:pt x="2254152" y="294934"/>
                  </a:lnTo>
                  <a:lnTo>
                    <a:pt x="2301724" y="277127"/>
                  </a:lnTo>
                  <a:lnTo>
                    <a:pt x="2349547" y="259814"/>
                  </a:lnTo>
                  <a:lnTo>
                    <a:pt x="2397612" y="243002"/>
                  </a:lnTo>
                  <a:lnTo>
                    <a:pt x="2445911" y="226695"/>
                  </a:lnTo>
                  <a:lnTo>
                    <a:pt x="2494435" y="210901"/>
                  </a:lnTo>
                  <a:lnTo>
                    <a:pt x="2543177" y="195625"/>
                  </a:lnTo>
                  <a:lnTo>
                    <a:pt x="2592127" y="180873"/>
                  </a:lnTo>
                  <a:lnTo>
                    <a:pt x="2641278" y="166652"/>
                  </a:lnTo>
                  <a:lnTo>
                    <a:pt x="2690621" y="152967"/>
                  </a:lnTo>
                  <a:lnTo>
                    <a:pt x="2740148" y="139825"/>
                  </a:lnTo>
                  <a:lnTo>
                    <a:pt x="2789850" y="127232"/>
                  </a:lnTo>
                  <a:lnTo>
                    <a:pt x="2839719" y="115194"/>
                  </a:lnTo>
                  <a:lnTo>
                    <a:pt x="2889747" y="103717"/>
                  </a:lnTo>
                  <a:lnTo>
                    <a:pt x="2939925" y="92806"/>
                  </a:lnTo>
                  <a:lnTo>
                    <a:pt x="2990246" y="82469"/>
                  </a:lnTo>
                  <a:lnTo>
                    <a:pt x="3040700" y="72711"/>
                  </a:lnTo>
                  <a:lnTo>
                    <a:pt x="3091279" y="63539"/>
                  </a:lnTo>
                  <a:lnTo>
                    <a:pt x="3141975" y="54958"/>
                  </a:lnTo>
                  <a:lnTo>
                    <a:pt x="3192780" y="46974"/>
                  </a:lnTo>
                  <a:lnTo>
                    <a:pt x="3243685" y="39594"/>
                  </a:lnTo>
                  <a:lnTo>
                    <a:pt x="3294681" y="32824"/>
                  </a:lnTo>
                  <a:lnTo>
                    <a:pt x="3345762" y="26670"/>
                  </a:lnTo>
                  <a:lnTo>
                    <a:pt x="3396917" y="21137"/>
                  </a:lnTo>
                  <a:lnTo>
                    <a:pt x="3448140" y="16233"/>
                  </a:lnTo>
                  <a:lnTo>
                    <a:pt x="3499421" y="11963"/>
                  </a:lnTo>
                  <a:lnTo>
                    <a:pt x="3550752" y="8333"/>
                  </a:lnTo>
                  <a:lnTo>
                    <a:pt x="3602124" y="5349"/>
                  </a:lnTo>
                  <a:lnTo>
                    <a:pt x="3653531" y="3018"/>
                  </a:lnTo>
                  <a:lnTo>
                    <a:pt x="3704962" y="1345"/>
                  </a:lnTo>
                  <a:lnTo>
                    <a:pt x="3756410" y="337"/>
                  </a:lnTo>
                  <a:lnTo>
                    <a:pt x="3807866" y="0"/>
                  </a:lnTo>
                  <a:lnTo>
                    <a:pt x="3860057" y="333"/>
                  </a:lnTo>
                  <a:lnTo>
                    <a:pt x="3912239" y="1327"/>
                  </a:lnTo>
                  <a:lnTo>
                    <a:pt x="3964404" y="2978"/>
                  </a:lnTo>
                  <a:lnTo>
                    <a:pt x="4016543" y="5279"/>
                  </a:lnTo>
                  <a:lnTo>
                    <a:pt x="4068647" y="8223"/>
                  </a:lnTo>
                  <a:lnTo>
                    <a:pt x="4120707" y="11805"/>
                  </a:lnTo>
                  <a:lnTo>
                    <a:pt x="4172715" y="16018"/>
                  </a:lnTo>
                  <a:lnTo>
                    <a:pt x="4224662" y="20856"/>
                  </a:lnTo>
                  <a:lnTo>
                    <a:pt x="4276539" y="26314"/>
                  </a:lnTo>
                  <a:lnTo>
                    <a:pt x="4328338" y="32385"/>
                  </a:lnTo>
                  <a:lnTo>
                    <a:pt x="4380049" y="39063"/>
                  </a:lnTo>
                  <a:lnTo>
                    <a:pt x="4431665" y="46341"/>
                  </a:lnTo>
                  <a:lnTo>
                    <a:pt x="4483176" y="54215"/>
                  </a:lnTo>
                  <a:lnTo>
                    <a:pt x="4534574" y="62677"/>
                  </a:lnTo>
                  <a:lnTo>
                    <a:pt x="4585849" y="71722"/>
                  </a:lnTo>
                  <a:lnTo>
                    <a:pt x="4636995" y="81343"/>
                  </a:lnTo>
                  <a:lnTo>
                    <a:pt x="4688000" y="91535"/>
                  </a:lnTo>
                  <a:lnTo>
                    <a:pt x="4738857" y="102291"/>
                  </a:lnTo>
                  <a:lnTo>
                    <a:pt x="4789558" y="113605"/>
                  </a:lnTo>
                  <a:lnTo>
                    <a:pt x="4840093" y="125471"/>
                  </a:lnTo>
                  <a:lnTo>
                    <a:pt x="4890454" y="137883"/>
                  </a:lnTo>
                  <a:lnTo>
                    <a:pt x="4940631" y="150835"/>
                  </a:lnTo>
                  <a:lnTo>
                    <a:pt x="4990617" y="164321"/>
                  </a:lnTo>
                  <a:lnTo>
                    <a:pt x="5040402" y="178334"/>
                  </a:lnTo>
                  <a:lnTo>
                    <a:pt x="5089978" y="192869"/>
                  </a:lnTo>
                  <a:lnTo>
                    <a:pt x="5139337" y="207920"/>
                  </a:lnTo>
                  <a:lnTo>
                    <a:pt x="5188468" y="223479"/>
                  </a:lnTo>
                  <a:lnTo>
                    <a:pt x="5237365" y="239542"/>
                  </a:lnTo>
                  <a:lnTo>
                    <a:pt x="5286017" y="256102"/>
                  </a:lnTo>
                  <a:lnTo>
                    <a:pt x="5334416" y="273154"/>
                  </a:lnTo>
                  <a:lnTo>
                    <a:pt x="5382554" y="290690"/>
                  </a:lnTo>
                  <a:lnTo>
                    <a:pt x="5430422" y="308704"/>
                  </a:lnTo>
                  <a:lnTo>
                    <a:pt x="5478011" y="327192"/>
                  </a:lnTo>
                  <a:lnTo>
                    <a:pt x="5525313" y="346146"/>
                  </a:lnTo>
                  <a:lnTo>
                    <a:pt x="5572318" y="365561"/>
                  </a:lnTo>
                  <a:lnTo>
                    <a:pt x="5619018" y="385430"/>
                  </a:lnTo>
                  <a:lnTo>
                    <a:pt x="5665404" y="405747"/>
                  </a:lnTo>
                  <a:lnTo>
                    <a:pt x="5711467" y="426507"/>
                  </a:lnTo>
                  <a:lnTo>
                    <a:pt x="5757200" y="447703"/>
                  </a:lnTo>
                  <a:lnTo>
                    <a:pt x="5802592" y="469328"/>
                  </a:lnTo>
                  <a:lnTo>
                    <a:pt x="5847636" y="491378"/>
                  </a:lnTo>
                  <a:lnTo>
                    <a:pt x="5892323" y="513845"/>
                  </a:lnTo>
                  <a:lnTo>
                    <a:pt x="5936644" y="536724"/>
                  </a:lnTo>
                  <a:lnTo>
                    <a:pt x="5980589" y="560008"/>
                  </a:lnTo>
                  <a:lnTo>
                    <a:pt x="6024152" y="583692"/>
                  </a:lnTo>
                  <a:lnTo>
                    <a:pt x="6067322" y="607770"/>
                  </a:lnTo>
                  <a:lnTo>
                    <a:pt x="6110091" y="632234"/>
                  </a:lnTo>
                  <a:lnTo>
                    <a:pt x="6152450" y="657080"/>
                  </a:lnTo>
                  <a:lnTo>
                    <a:pt x="6194391" y="682301"/>
                  </a:lnTo>
                  <a:lnTo>
                    <a:pt x="6235905" y="707890"/>
                  </a:lnTo>
                  <a:lnTo>
                    <a:pt x="6276984" y="733843"/>
                  </a:lnTo>
                  <a:lnTo>
                    <a:pt x="6317617" y="760152"/>
                  </a:lnTo>
                  <a:lnTo>
                    <a:pt x="6357798" y="786812"/>
                  </a:lnTo>
                  <a:lnTo>
                    <a:pt x="6397517" y="813816"/>
                  </a:lnTo>
                  <a:lnTo>
                    <a:pt x="6436765" y="841159"/>
                  </a:lnTo>
                  <a:lnTo>
                    <a:pt x="6475533" y="868834"/>
                  </a:lnTo>
                  <a:lnTo>
                    <a:pt x="6513814" y="896835"/>
                  </a:lnTo>
                  <a:lnTo>
                    <a:pt x="6551597" y="925157"/>
                  </a:lnTo>
                  <a:lnTo>
                    <a:pt x="6588876" y="953792"/>
                  </a:lnTo>
                  <a:lnTo>
                    <a:pt x="6625640" y="982736"/>
                  </a:lnTo>
                  <a:lnTo>
                    <a:pt x="6661881" y="1011981"/>
                  </a:lnTo>
                  <a:lnTo>
                    <a:pt x="6697590" y="1041521"/>
                  </a:lnTo>
                  <a:lnTo>
                    <a:pt x="6732759" y="1071352"/>
                  </a:lnTo>
                  <a:lnTo>
                    <a:pt x="6767379" y="1101466"/>
                  </a:lnTo>
                  <a:lnTo>
                    <a:pt x="6801441" y="1131857"/>
                  </a:lnTo>
                  <a:lnTo>
                    <a:pt x="6834937" y="1162519"/>
                  </a:lnTo>
                  <a:lnTo>
                    <a:pt x="6867857" y="1193447"/>
                  </a:lnTo>
                  <a:lnTo>
                    <a:pt x="6900193" y="1224633"/>
                  </a:lnTo>
                  <a:lnTo>
                    <a:pt x="6931937" y="1256073"/>
                  </a:lnTo>
                  <a:lnTo>
                    <a:pt x="6963080" y="1287759"/>
                  </a:lnTo>
                  <a:lnTo>
                    <a:pt x="6993612" y="1319687"/>
                  </a:lnTo>
                  <a:lnTo>
                    <a:pt x="7023525" y="1351848"/>
                  </a:lnTo>
                  <a:lnTo>
                    <a:pt x="7052811" y="1384239"/>
                  </a:lnTo>
                  <a:lnTo>
                    <a:pt x="7081461" y="1416852"/>
                  </a:lnTo>
                  <a:lnTo>
                    <a:pt x="7109465" y="1449681"/>
                  </a:lnTo>
                  <a:lnTo>
                    <a:pt x="7136816" y="1482720"/>
                  </a:lnTo>
                  <a:lnTo>
                    <a:pt x="7163505" y="1515963"/>
                  </a:lnTo>
                  <a:lnTo>
                    <a:pt x="7189523" y="1549405"/>
                  </a:lnTo>
                  <a:lnTo>
                    <a:pt x="7214860" y="1583038"/>
                  </a:lnTo>
                  <a:lnTo>
                    <a:pt x="7239509" y="1616857"/>
                  </a:lnTo>
                  <a:lnTo>
                    <a:pt x="7263461" y="1650856"/>
                  </a:lnTo>
                  <a:lnTo>
                    <a:pt x="7286707" y="1685029"/>
                  </a:lnTo>
                  <a:lnTo>
                    <a:pt x="7309239" y="1719369"/>
                  </a:lnTo>
                  <a:lnTo>
                    <a:pt x="7331046" y="1753870"/>
                  </a:lnTo>
                  <a:lnTo>
                    <a:pt x="7352122" y="1788527"/>
                  </a:lnTo>
                  <a:lnTo>
                    <a:pt x="7372457" y="1823332"/>
                  </a:lnTo>
                  <a:lnTo>
                    <a:pt x="7392042" y="1858281"/>
                  </a:lnTo>
                  <a:lnTo>
                    <a:pt x="7410869" y="1893367"/>
                  </a:lnTo>
                  <a:lnTo>
                    <a:pt x="7428929" y="1928584"/>
                  </a:lnTo>
                  <a:lnTo>
                    <a:pt x="7446214" y="1963925"/>
                  </a:lnTo>
                  <a:lnTo>
                    <a:pt x="7462714" y="1999385"/>
                  </a:lnTo>
                  <a:lnTo>
                    <a:pt x="7478421" y="2034958"/>
                  </a:lnTo>
                  <a:lnTo>
                    <a:pt x="7493326" y="2070637"/>
                  </a:lnTo>
                  <a:lnTo>
                    <a:pt x="7507420" y="2106416"/>
                  </a:lnTo>
                  <a:lnTo>
                    <a:pt x="7520695" y="2142290"/>
                  </a:lnTo>
                  <a:lnTo>
                    <a:pt x="7544753" y="2214296"/>
                  </a:lnTo>
                  <a:lnTo>
                    <a:pt x="7565429" y="2286605"/>
                  </a:lnTo>
                  <a:lnTo>
                    <a:pt x="7582654" y="2359169"/>
                  </a:lnTo>
                  <a:lnTo>
                    <a:pt x="7596357" y="2431939"/>
                  </a:lnTo>
                  <a:lnTo>
                    <a:pt x="7606470" y="2504867"/>
                  </a:lnTo>
                  <a:lnTo>
                    <a:pt x="7612922" y="2577902"/>
                  </a:lnTo>
                  <a:lnTo>
                    <a:pt x="7614753" y="2614446"/>
                  </a:lnTo>
                  <a:lnTo>
                    <a:pt x="7615643" y="2650998"/>
                  </a:lnTo>
                </a:path>
              </a:pathLst>
            </a:custGeom>
            <a:ln w="12699">
              <a:solidFill>
                <a:srgbClr val="FF0000"/>
              </a:solidFill>
            </a:ln>
          </p:spPr>
          <p:txBody>
            <a:bodyPr wrap="square" lIns="0" tIns="0" rIns="0" bIns="0" rtlCol="0"/>
            <a:lstStyle/>
            <a:p/>
          </p:txBody>
        </p:sp>
        <p:sp>
          <p:nvSpPr>
            <p:cNvPr id="12" name="object 12" descr=""/>
            <p:cNvSpPr/>
            <p:nvPr/>
          </p:nvSpPr>
          <p:spPr>
            <a:xfrm>
              <a:off x="8218350" y="3379920"/>
              <a:ext cx="88900" cy="76835"/>
            </a:xfrm>
            <a:custGeom>
              <a:avLst/>
              <a:gdLst/>
              <a:ahLst/>
              <a:cxnLst/>
              <a:rect l="l" t="t" r="r" b="b"/>
              <a:pathLst>
                <a:path w="88900" h="76835">
                  <a:moveTo>
                    <a:pt x="88900" y="0"/>
                  </a:moveTo>
                  <a:lnTo>
                    <a:pt x="44881" y="76454"/>
                  </a:lnTo>
                  <a:lnTo>
                    <a:pt x="0" y="508"/>
                  </a:lnTo>
                </a:path>
              </a:pathLst>
            </a:custGeom>
            <a:ln w="12700">
              <a:solidFill>
                <a:srgbClr val="FF0000"/>
              </a:solidFill>
            </a:ln>
          </p:spPr>
          <p:txBody>
            <a:bodyPr wrap="square" lIns="0" tIns="0" rIns="0" bIns="0" rtlCol="0"/>
            <a:lstStyle/>
            <a:p/>
          </p:txBody>
        </p:sp>
        <p:pic>
          <p:nvPicPr>
            <p:cNvPr id="13" name="object 13"/>
            <p:cNvPicPr/>
            <p:nvPr/>
          </p:nvPicPr>
          <p:blipFill>
            <a:blip r:embed="rId3" cstate="print"/>
            <a:stretch>
              <a:fillRect/>
            </a:stretch>
          </p:blipFill>
          <p:spPr>
            <a:xfrm>
              <a:off x="328422" y="643890"/>
              <a:ext cx="1979675" cy="1850897"/>
            </a:xfrm>
            <a:prstGeom prst="rect">
              <a:avLst/>
            </a:prstGeom>
          </p:spPr>
        </p:pic>
        <p:sp>
          <p:nvSpPr>
            <p:cNvPr id="14" name="object 14" descr=""/>
            <p:cNvSpPr/>
            <p:nvPr/>
          </p:nvSpPr>
          <p:spPr>
            <a:xfrm>
              <a:off x="581776" y="913899"/>
              <a:ext cx="1518920" cy="1397000"/>
            </a:xfrm>
            <a:custGeom>
              <a:avLst/>
              <a:gdLst/>
              <a:ahLst/>
              <a:cxnLst/>
              <a:rect l="l" t="t" r="r" b="b"/>
              <a:pathLst>
                <a:path w="1518920" h="1397000">
                  <a:moveTo>
                    <a:pt x="289344" y="1117600"/>
                  </a:moveTo>
                  <a:lnTo>
                    <a:pt x="92481" y="1295400"/>
                  </a:lnTo>
                  <a:lnTo>
                    <a:pt x="190665" y="1397000"/>
                  </a:lnTo>
                  <a:lnTo>
                    <a:pt x="219862" y="1371600"/>
                  </a:lnTo>
                  <a:lnTo>
                    <a:pt x="141592" y="1295400"/>
                  </a:lnTo>
                  <a:lnTo>
                    <a:pt x="280060" y="1168400"/>
                  </a:lnTo>
                  <a:lnTo>
                    <a:pt x="333159" y="1168400"/>
                  </a:lnTo>
                  <a:lnTo>
                    <a:pt x="289344" y="1117600"/>
                  </a:lnTo>
                  <a:close/>
                </a:path>
                <a:path w="1518920" h="1397000">
                  <a:moveTo>
                    <a:pt x="269138" y="1193800"/>
                  </a:moveTo>
                  <a:lnTo>
                    <a:pt x="169595" y="1282700"/>
                  </a:lnTo>
                  <a:lnTo>
                    <a:pt x="220992" y="1333500"/>
                  </a:lnTo>
                  <a:lnTo>
                    <a:pt x="247535" y="1320800"/>
                  </a:lnTo>
                  <a:lnTo>
                    <a:pt x="241350" y="1308100"/>
                  </a:lnTo>
                  <a:lnTo>
                    <a:pt x="255950" y="1295400"/>
                  </a:lnTo>
                  <a:lnTo>
                    <a:pt x="224624" y="1295400"/>
                  </a:lnTo>
                  <a:lnTo>
                    <a:pt x="212877" y="1282700"/>
                  </a:lnTo>
                  <a:lnTo>
                    <a:pt x="259334" y="1231900"/>
                  </a:lnTo>
                  <a:lnTo>
                    <a:pt x="303047" y="1231900"/>
                  </a:lnTo>
                  <a:lnTo>
                    <a:pt x="269138" y="1193800"/>
                  </a:lnTo>
                  <a:close/>
                </a:path>
                <a:path w="1518920" h="1397000">
                  <a:moveTo>
                    <a:pt x="303047" y="1231900"/>
                  </a:moveTo>
                  <a:lnTo>
                    <a:pt x="259334" y="1231900"/>
                  </a:lnTo>
                  <a:lnTo>
                    <a:pt x="271081" y="1244600"/>
                  </a:lnTo>
                  <a:lnTo>
                    <a:pt x="224624" y="1295400"/>
                  </a:lnTo>
                  <a:lnTo>
                    <a:pt x="255950" y="1295400"/>
                  </a:lnTo>
                  <a:lnTo>
                    <a:pt x="314350" y="1244600"/>
                  </a:lnTo>
                  <a:lnTo>
                    <a:pt x="303047" y="1231900"/>
                  </a:lnTo>
                  <a:close/>
                </a:path>
                <a:path w="1518920" h="1397000">
                  <a:moveTo>
                    <a:pt x="349123" y="1257300"/>
                  </a:moveTo>
                  <a:lnTo>
                    <a:pt x="300677" y="1257300"/>
                  </a:lnTo>
                  <a:lnTo>
                    <a:pt x="293827" y="1270000"/>
                  </a:lnTo>
                  <a:lnTo>
                    <a:pt x="308327" y="1270000"/>
                  </a:lnTo>
                  <a:lnTo>
                    <a:pt x="315597" y="1282700"/>
                  </a:lnTo>
                  <a:lnTo>
                    <a:pt x="322884" y="1282700"/>
                  </a:lnTo>
                  <a:lnTo>
                    <a:pt x="337460" y="1270000"/>
                  </a:lnTo>
                  <a:lnTo>
                    <a:pt x="349123" y="1257300"/>
                  </a:lnTo>
                  <a:close/>
                </a:path>
                <a:path w="1518920" h="1397000">
                  <a:moveTo>
                    <a:pt x="214706" y="1079500"/>
                  </a:moveTo>
                  <a:lnTo>
                    <a:pt x="60312" y="1219200"/>
                  </a:lnTo>
                  <a:lnTo>
                    <a:pt x="104927" y="1270000"/>
                  </a:lnTo>
                  <a:lnTo>
                    <a:pt x="161070" y="1219200"/>
                  </a:lnTo>
                  <a:lnTo>
                    <a:pt x="117436" y="1219200"/>
                  </a:lnTo>
                  <a:lnTo>
                    <a:pt x="107086" y="1206500"/>
                  </a:lnTo>
                  <a:lnTo>
                    <a:pt x="202196" y="1117600"/>
                  </a:lnTo>
                  <a:lnTo>
                    <a:pt x="248167" y="1117600"/>
                  </a:lnTo>
                  <a:lnTo>
                    <a:pt x="214706" y="1079500"/>
                  </a:lnTo>
                  <a:close/>
                </a:path>
                <a:path w="1518920" h="1397000">
                  <a:moveTo>
                    <a:pt x="363702" y="1244600"/>
                  </a:moveTo>
                  <a:lnTo>
                    <a:pt x="314669" y="1244600"/>
                  </a:lnTo>
                  <a:lnTo>
                    <a:pt x="307625" y="1257300"/>
                  </a:lnTo>
                  <a:lnTo>
                    <a:pt x="357871" y="1257300"/>
                  </a:lnTo>
                  <a:lnTo>
                    <a:pt x="363702" y="1244600"/>
                  </a:lnTo>
                  <a:close/>
                </a:path>
                <a:path w="1518920" h="1397000">
                  <a:moveTo>
                    <a:pt x="369877" y="1231900"/>
                  </a:moveTo>
                  <a:lnTo>
                    <a:pt x="327480" y="1231900"/>
                  </a:lnTo>
                  <a:lnTo>
                    <a:pt x="321805" y="1244600"/>
                  </a:lnTo>
                  <a:lnTo>
                    <a:pt x="367436" y="1244600"/>
                  </a:lnTo>
                  <a:lnTo>
                    <a:pt x="369877" y="1231900"/>
                  </a:lnTo>
                  <a:close/>
                </a:path>
                <a:path w="1518920" h="1397000">
                  <a:moveTo>
                    <a:pt x="104736" y="1079500"/>
                  </a:moveTo>
                  <a:lnTo>
                    <a:pt x="73901" y="1117600"/>
                  </a:lnTo>
                  <a:lnTo>
                    <a:pt x="79387" y="1130300"/>
                  </a:lnTo>
                  <a:lnTo>
                    <a:pt x="91909" y="1130300"/>
                  </a:lnTo>
                  <a:lnTo>
                    <a:pt x="0" y="1219200"/>
                  </a:lnTo>
                  <a:lnTo>
                    <a:pt x="20320" y="1231900"/>
                  </a:lnTo>
                  <a:lnTo>
                    <a:pt x="179615" y="1092200"/>
                  </a:lnTo>
                  <a:lnTo>
                    <a:pt x="111094" y="1092200"/>
                  </a:lnTo>
                  <a:lnTo>
                    <a:pt x="104736" y="1079500"/>
                  </a:lnTo>
                  <a:close/>
                </a:path>
                <a:path w="1518920" h="1397000">
                  <a:moveTo>
                    <a:pt x="333159" y="1168400"/>
                  </a:moveTo>
                  <a:lnTo>
                    <a:pt x="280060" y="1168400"/>
                  </a:lnTo>
                  <a:lnTo>
                    <a:pt x="323684" y="1219200"/>
                  </a:lnTo>
                  <a:lnTo>
                    <a:pt x="328418" y="1219200"/>
                  </a:lnTo>
                  <a:lnTo>
                    <a:pt x="329684" y="1231900"/>
                  </a:lnTo>
                  <a:lnTo>
                    <a:pt x="371028" y="1231900"/>
                  </a:lnTo>
                  <a:lnTo>
                    <a:pt x="370890" y="1219200"/>
                  </a:lnTo>
                  <a:lnTo>
                    <a:pt x="369309" y="1206500"/>
                  </a:lnTo>
                  <a:lnTo>
                    <a:pt x="366145" y="1206500"/>
                  </a:lnTo>
                  <a:lnTo>
                    <a:pt x="361398" y="1193800"/>
                  </a:lnTo>
                  <a:lnTo>
                    <a:pt x="355066" y="1193800"/>
                  </a:lnTo>
                  <a:lnTo>
                    <a:pt x="333159" y="1168400"/>
                  </a:lnTo>
                  <a:close/>
                </a:path>
                <a:path w="1518920" h="1397000">
                  <a:moveTo>
                    <a:pt x="248167" y="1117600"/>
                  </a:moveTo>
                  <a:lnTo>
                    <a:pt x="202196" y="1117600"/>
                  </a:lnTo>
                  <a:lnTo>
                    <a:pt x="212559" y="1130300"/>
                  </a:lnTo>
                  <a:lnTo>
                    <a:pt x="117436" y="1219200"/>
                  </a:lnTo>
                  <a:lnTo>
                    <a:pt x="161070" y="1219200"/>
                  </a:lnTo>
                  <a:lnTo>
                    <a:pt x="259321" y="1130300"/>
                  </a:lnTo>
                  <a:lnTo>
                    <a:pt x="248167" y="1117600"/>
                  </a:lnTo>
                  <a:close/>
                </a:path>
                <a:path w="1518920" h="1397000">
                  <a:moveTo>
                    <a:pt x="350050" y="1066800"/>
                  </a:moveTo>
                  <a:lnTo>
                    <a:pt x="346316" y="1104900"/>
                  </a:lnTo>
                  <a:lnTo>
                    <a:pt x="396849" y="1104900"/>
                  </a:lnTo>
                  <a:lnTo>
                    <a:pt x="395942" y="1130300"/>
                  </a:lnTo>
                  <a:lnTo>
                    <a:pt x="393028" y="1143000"/>
                  </a:lnTo>
                  <a:lnTo>
                    <a:pt x="388107" y="1168400"/>
                  </a:lnTo>
                  <a:lnTo>
                    <a:pt x="381177" y="1181100"/>
                  </a:lnTo>
                  <a:lnTo>
                    <a:pt x="392489" y="1193800"/>
                  </a:lnTo>
                  <a:lnTo>
                    <a:pt x="424459" y="1193800"/>
                  </a:lnTo>
                  <a:lnTo>
                    <a:pt x="430007" y="1181100"/>
                  </a:lnTo>
                  <a:lnTo>
                    <a:pt x="433793" y="1155700"/>
                  </a:lnTo>
                  <a:lnTo>
                    <a:pt x="435817" y="1130300"/>
                  </a:lnTo>
                  <a:lnTo>
                    <a:pt x="436079" y="1117600"/>
                  </a:lnTo>
                  <a:lnTo>
                    <a:pt x="475742" y="1117600"/>
                  </a:lnTo>
                  <a:lnTo>
                    <a:pt x="478675" y="1079500"/>
                  </a:lnTo>
                  <a:lnTo>
                    <a:pt x="392430" y="1079500"/>
                  </a:lnTo>
                  <a:lnTo>
                    <a:pt x="350050" y="1066800"/>
                  </a:lnTo>
                  <a:close/>
                </a:path>
                <a:path w="1518920" h="1397000">
                  <a:moveTo>
                    <a:pt x="330873" y="1016000"/>
                  </a:moveTo>
                  <a:lnTo>
                    <a:pt x="294906" y="1028700"/>
                  </a:lnTo>
                  <a:lnTo>
                    <a:pt x="297905" y="1041400"/>
                  </a:lnTo>
                  <a:lnTo>
                    <a:pt x="299815" y="1066800"/>
                  </a:lnTo>
                  <a:lnTo>
                    <a:pt x="300639" y="1079500"/>
                  </a:lnTo>
                  <a:lnTo>
                    <a:pt x="300380" y="1092200"/>
                  </a:lnTo>
                  <a:lnTo>
                    <a:pt x="326714" y="1092200"/>
                  </a:lnTo>
                  <a:lnTo>
                    <a:pt x="338772" y="1104900"/>
                  </a:lnTo>
                  <a:lnTo>
                    <a:pt x="339113" y="1079500"/>
                  </a:lnTo>
                  <a:lnTo>
                    <a:pt x="337908" y="1054100"/>
                  </a:lnTo>
                  <a:lnTo>
                    <a:pt x="335161" y="1041400"/>
                  </a:lnTo>
                  <a:lnTo>
                    <a:pt x="330873" y="1016000"/>
                  </a:lnTo>
                  <a:close/>
                </a:path>
                <a:path w="1518920" h="1397000">
                  <a:moveTo>
                    <a:pt x="494319" y="901700"/>
                  </a:moveTo>
                  <a:lnTo>
                    <a:pt x="445833" y="901700"/>
                  </a:lnTo>
                  <a:lnTo>
                    <a:pt x="459513" y="914400"/>
                  </a:lnTo>
                  <a:lnTo>
                    <a:pt x="470873" y="939800"/>
                  </a:lnTo>
                  <a:lnTo>
                    <a:pt x="479910" y="952500"/>
                  </a:lnTo>
                  <a:lnTo>
                    <a:pt x="486625" y="977900"/>
                  </a:lnTo>
                  <a:lnTo>
                    <a:pt x="425348" y="977900"/>
                  </a:lnTo>
                  <a:lnTo>
                    <a:pt x="459182" y="1003300"/>
                  </a:lnTo>
                  <a:lnTo>
                    <a:pt x="476288" y="1003300"/>
                  </a:lnTo>
                  <a:lnTo>
                    <a:pt x="493522" y="1016000"/>
                  </a:lnTo>
                  <a:lnTo>
                    <a:pt x="493105" y="1041400"/>
                  </a:lnTo>
                  <a:lnTo>
                    <a:pt x="490467" y="1054100"/>
                  </a:lnTo>
                  <a:lnTo>
                    <a:pt x="485610" y="1079500"/>
                  </a:lnTo>
                  <a:lnTo>
                    <a:pt x="478536" y="1104900"/>
                  </a:lnTo>
                  <a:lnTo>
                    <a:pt x="521792" y="1104900"/>
                  </a:lnTo>
                  <a:lnTo>
                    <a:pt x="528073" y="1092200"/>
                  </a:lnTo>
                  <a:lnTo>
                    <a:pt x="532517" y="1066800"/>
                  </a:lnTo>
                  <a:lnTo>
                    <a:pt x="535122" y="1054100"/>
                  </a:lnTo>
                  <a:lnTo>
                    <a:pt x="535889" y="1028700"/>
                  </a:lnTo>
                  <a:lnTo>
                    <a:pt x="606920" y="1028700"/>
                  </a:lnTo>
                  <a:lnTo>
                    <a:pt x="604240" y="1016000"/>
                  </a:lnTo>
                  <a:lnTo>
                    <a:pt x="602068" y="1003300"/>
                  </a:lnTo>
                  <a:lnTo>
                    <a:pt x="600401" y="990600"/>
                  </a:lnTo>
                  <a:lnTo>
                    <a:pt x="531202" y="990600"/>
                  </a:lnTo>
                  <a:lnTo>
                    <a:pt x="523123" y="965200"/>
                  </a:lnTo>
                  <a:lnTo>
                    <a:pt x="510828" y="927100"/>
                  </a:lnTo>
                  <a:lnTo>
                    <a:pt x="494319" y="901700"/>
                  </a:lnTo>
                  <a:close/>
                </a:path>
                <a:path w="1518920" h="1397000">
                  <a:moveTo>
                    <a:pt x="217220" y="1016000"/>
                  </a:moveTo>
                  <a:lnTo>
                    <a:pt x="128854" y="1092200"/>
                  </a:lnTo>
                  <a:lnTo>
                    <a:pt x="179615" y="1092200"/>
                  </a:lnTo>
                  <a:lnTo>
                    <a:pt x="237540" y="1041400"/>
                  </a:lnTo>
                  <a:lnTo>
                    <a:pt x="217220" y="1016000"/>
                  </a:lnTo>
                  <a:close/>
                </a:path>
                <a:path w="1518920" h="1397000">
                  <a:moveTo>
                    <a:pt x="411988" y="1016000"/>
                  </a:moveTo>
                  <a:lnTo>
                    <a:pt x="405815" y="1016000"/>
                  </a:lnTo>
                  <a:lnTo>
                    <a:pt x="377139" y="1028700"/>
                  </a:lnTo>
                  <a:lnTo>
                    <a:pt x="381980" y="1041400"/>
                  </a:lnTo>
                  <a:lnTo>
                    <a:pt x="386141" y="1054100"/>
                  </a:lnTo>
                  <a:lnTo>
                    <a:pt x="389624" y="1066800"/>
                  </a:lnTo>
                  <a:lnTo>
                    <a:pt x="392430" y="1079500"/>
                  </a:lnTo>
                  <a:lnTo>
                    <a:pt x="431736" y="1079500"/>
                  </a:lnTo>
                  <a:lnTo>
                    <a:pt x="428293" y="1066800"/>
                  </a:lnTo>
                  <a:lnTo>
                    <a:pt x="423852" y="1041400"/>
                  </a:lnTo>
                  <a:lnTo>
                    <a:pt x="418416" y="1028700"/>
                  </a:lnTo>
                  <a:lnTo>
                    <a:pt x="411988" y="1016000"/>
                  </a:lnTo>
                  <a:close/>
                </a:path>
                <a:path w="1518920" h="1397000">
                  <a:moveTo>
                    <a:pt x="276301" y="927100"/>
                  </a:moveTo>
                  <a:lnTo>
                    <a:pt x="252425" y="965200"/>
                  </a:lnTo>
                  <a:lnTo>
                    <a:pt x="259868" y="965200"/>
                  </a:lnTo>
                  <a:lnTo>
                    <a:pt x="266998" y="977900"/>
                  </a:lnTo>
                  <a:lnTo>
                    <a:pt x="280314" y="977900"/>
                  </a:lnTo>
                  <a:lnTo>
                    <a:pt x="238277" y="1016000"/>
                  </a:lnTo>
                  <a:lnTo>
                    <a:pt x="262978" y="1041400"/>
                  </a:lnTo>
                  <a:lnTo>
                    <a:pt x="359757" y="952500"/>
                  </a:lnTo>
                  <a:lnTo>
                    <a:pt x="303295" y="952500"/>
                  </a:lnTo>
                  <a:lnTo>
                    <a:pt x="294860" y="939800"/>
                  </a:lnTo>
                  <a:lnTo>
                    <a:pt x="285861" y="939800"/>
                  </a:lnTo>
                  <a:lnTo>
                    <a:pt x="276301" y="927100"/>
                  </a:lnTo>
                  <a:close/>
                </a:path>
                <a:path w="1518920" h="1397000">
                  <a:moveTo>
                    <a:pt x="425348" y="977900"/>
                  </a:moveTo>
                  <a:lnTo>
                    <a:pt x="350735" y="977900"/>
                  </a:lnTo>
                  <a:lnTo>
                    <a:pt x="343014" y="1016000"/>
                  </a:lnTo>
                  <a:lnTo>
                    <a:pt x="408406" y="1016000"/>
                  </a:lnTo>
                  <a:lnTo>
                    <a:pt x="411721" y="1003300"/>
                  </a:lnTo>
                  <a:lnTo>
                    <a:pt x="430045" y="1003300"/>
                  </a:lnTo>
                  <a:lnTo>
                    <a:pt x="428551" y="990600"/>
                  </a:lnTo>
                  <a:lnTo>
                    <a:pt x="426987" y="990600"/>
                  </a:lnTo>
                  <a:lnTo>
                    <a:pt x="425348" y="977900"/>
                  </a:lnTo>
                  <a:close/>
                </a:path>
                <a:path w="1518920" h="1397000">
                  <a:moveTo>
                    <a:pt x="599236" y="977900"/>
                  </a:moveTo>
                  <a:lnTo>
                    <a:pt x="582361" y="990600"/>
                  </a:lnTo>
                  <a:lnTo>
                    <a:pt x="600401" y="990600"/>
                  </a:lnTo>
                  <a:lnTo>
                    <a:pt x="599236" y="977900"/>
                  </a:lnTo>
                  <a:close/>
                </a:path>
                <a:path w="1518920" h="1397000">
                  <a:moveTo>
                    <a:pt x="668705" y="838200"/>
                  </a:moveTo>
                  <a:lnTo>
                    <a:pt x="582231" y="838200"/>
                  </a:lnTo>
                  <a:lnTo>
                    <a:pt x="597573" y="863600"/>
                  </a:lnTo>
                  <a:lnTo>
                    <a:pt x="552005" y="901700"/>
                  </a:lnTo>
                  <a:lnTo>
                    <a:pt x="629881" y="990600"/>
                  </a:lnTo>
                  <a:lnTo>
                    <a:pt x="656424" y="965200"/>
                  </a:lnTo>
                  <a:lnTo>
                    <a:pt x="601459" y="901700"/>
                  </a:lnTo>
                  <a:lnTo>
                    <a:pt x="620483" y="889000"/>
                  </a:lnTo>
                  <a:lnTo>
                    <a:pt x="683634" y="889000"/>
                  </a:lnTo>
                  <a:lnTo>
                    <a:pt x="649681" y="850900"/>
                  </a:lnTo>
                  <a:lnTo>
                    <a:pt x="668705" y="838200"/>
                  </a:lnTo>
                  <a:close/>
                </a:path>
                <a:path w="1518920" h="1397000">
                  <a:moveTo>
                    <a:pt x="382907" y="850900"/>
                  </a:moveTo>
                  <a:lnTo>
                    <a:pt x="377875" y="850900"/>
                  </a:lnTo>
                  <a:lnTo>
                    <a:pt x="345528" y="863600"/>
                  </a:lnTo>
                  <a:lnTo>
                    <a:pt x="359433" y="901700"/>
                  </a:lnTo>
                  <a:lnTo>
                    <a:pt x="371240" y="927100"/>
                  </a:lnTo>
                  <a:lnTo>
                    <a:pt x="380951" y="952500"/>
                  </a:lnTo>
                  <a:lnTo>
                    <a:pt x="388569" y="977900"/>
                  </a:lnTo>
                  <a:lnTo>
                    <a:pt x="486625" y="977900"/>
                  </a:lnTo>
                  <a:lnTo>
                    <a:pt x="414312" y="927100"/>
                  </a:lnTo>
                  <a:lnTo>
                    <a:pt x="445833" y="901700"/>
                  </a:lnTo>
                  <a:lnTo>
                    <a:pt x="494319" y="901700"/>
                  </a:lnTo>
                  <a:lnTo>
                    <a:pt x="483957" y="889000"/>
                  </a:lnTo>
                  <a:lnTo>
                    <a:pt x="396671" y="889000"/>
                  </a:lnTo>
                  <a:lnTo>
                    <a:pt x="392304" y="876300"/>
                  </a:lnTo>
                  <a:lnTo>
                    <a:pt x="387716" y="863600"/>
                  </a:lnTo>
                  <a:lnTo>
                    <a:pt x="382907" y="850900"/>
                  </a:lnTo>
                  <a:close/>
                </a:path>
                <a:path w="1518920" h="1397000">
                  <a:moveTo>
                    <a:pt x="348881" y="914400"/>
                  </a:moveTo>
                  <a:lnTo>
                    <a:pt x="311162" y="952500"/>
                  </a:lnTo>
                  <a:lnTo>
                    <a:pt x="359757" y="952500"/>
                  </a:lnTo>
                  <a:lnTo>
                    <a:pt x="373583" y="939800"/>
                  </a:lnTo>
                  <a:lnTo>
                    <a:pt x="348881" y="914400"/>
                  </a:lnTo>
                  <a:close/>
                </a:path>
                <a:path w="1518920" h="1397000">
                  <a:moveTo>
                    <a:pt x="681901" y="889000"/>
                  </a:moveTo>
                  <a:lnTo>
                    <a:pt x="620483" y="889000"/>
                  </a:lnTo>
                  <a:lnTo>
                    <a:pt x="688390" y="952500"/>
                  </a:lnTo>
                  <a:lnTo>
                    <a:pt x="717588" y="927100"/>
                  </a:lnTo>
                  <a:lnTo>
                    <a:pt x="694952" y="901700"/>
                  </a:lnTo>
                  <a:lnTo>
                    <a:pt x="690637" y="901700"/>
                  </a:lnTo>
                  <a:lnTo>
                    <a:pt x="681901" y="889000"/>
                  </a:lnTo>
                  <a:close/>
                </a:path>
                <a:path w="1518920" h="1397000">
                  <a:moveTo>
                    <a:pt x="715518" y="838200"/>
                  </a:moveTo>
                  <a:lnTo>
                    <a:pt x="668705" y="838200"/>
                  </a:lnTo>
                  <a:lnTo>
                    <a:pt x="697776" y="876300"/>
                  </a:lnTo>
                  <a:lnTo>
                    <a:pt x="689940" y="889000"/>
                  </a:lnTo>
                  <a:lnTo>
                    <a:pt x="683634" y="889000"/>
                  </a:lnTo>
                  <a:lnTo>
                    <a:pt x="694952" y="901700"/>
                  </a:lnTo>
                  <a:lnTo>
                    <a:pt x="706182" y="901700"/>
                  </a:lnTo>
                  <a:lnTo>
                    <a:pt x="712990" y="914400"/>
                  </a:lnTo>
                  <a:lnTo>
                    <a:pt x="716381" y="914400"/>
                  </a:lnTo>
                  <a:lnTo>
                    <a:pt x="721702" y="901700"/>
                  </a:lnTo>
                  <a:lnTo>
                    <a:pt x="736206" y="889000"/>
                  </a:lnTo>
                  <a:lnTo>
                    <a:pt x="739432" y="876300"/>
                  </a:lnTo>
                  <a:lnTo>
                    <a:pt x="738644" y="876300"/>
                  </a:lnTo>
                  <a:lnTo>
                    <a:pt x="737432" y="863600"/>
                  </a:lnTo>
                  <a:lnTo>
                    <a:pt x="734974" y="863600"/>
                  </a:lnTo>
                  <a:lnTo>
                    <a:pt x="731268" y="850900"/>
                  </a:lnTo>
                  <a:lnTo>
                    <a:pt x="726313" y="850900"/>
                  </a:lnTo>
                  <a:lnTo>
                    <a:pt x="715518" y="838200"/>
                  </a:lnTo>
                  <a:close/>
                </a:path>
                <a:path w="1518920" h="1397000">
                  <a:moveTo>
                    <a:pt x="683634" y="889000"/>
                  </a:moveTo>
                  <a:lnTo>
                    <a:pt x="681901" y="889000"/>
                  </a:lnTo>
                  <a:lnTo>
                    <a:pt x="690637" y="901700"/>
                  </a:lnTo>
                  <a:lnTo>
                    <a:pt x="694952" y="901700"/>
                  </a:lnTo>
                  <a:lnTo>
                    <a:pt x="683634" y="889000"/>
                  </a:lnTo>
                  <a:close/>
                </a:path>
                <a:path w="1518920" h="1397000">
                  <a:moveTo>
                    <a:pt x="459930" y="825500"/>
                  </a:moveTo>
                  <a:lnTo>
                    <a:pt x="396671" y="889000"/>
                  </a:lnTo>
                  <a:lnTo>
                    <a:pt x="483957" y="889000"/>
                  </a:lnTo>
                  <a:lnTo>
                    <a:pt x="473595" y="876300"/>
                  </a:lnTo>
                  <a:lnTo>
                    <a:pt x="486422" y="863600"/>
                  </a:lnTo>
                  <a:lnTo>
                    <a:pt x="459930" y="825500"/>
                  </a:lnTo>
                  <a:close/>
                </a:path>
                <a:path w="1518920" h="1397000">
                  <a:moveTo>
                    <a:pt x="628324" y="800100"/>
                  </a:moveTo>
                  <a:lnTo>
                    <a:pt x="541807" y="800100"/>
                  </a:lnTo>
                  <a:lnTo>
                    <a:pt x="559536" y="812800"/>
                  </a:lnTo>
                  <a:lnTo>
                    <a:pt x="505333" y="863600"/>
                  </a:lnTo>
                  <a:lnTo>
                    <a:pt x="528040" y="889000"/>
                  </a:lnTo>
                  <a:lnTo>
                    <a:pt x="582231" y="838200"/>
                  </a:lnTo>
                  <a:lnTo>
                    <a:pt x="715518" y="838200"/>
                  </a:lnTo>
                  <a:lnTo>
                    <a:pt x="704722" y="825500"/>
                  </a:lnTo>
                  <a:lnTo>
                    <a:pt x="626770" y="825500"/>
                  </a:lnTo>
                  <a:lnTo>
                    <a:pt x="611441" y="812800"/>
                  </a:lnTo>
                  <a:lnTo>
                    <a:pt x="628324" y="800100"/>
                  </a:lnTo>
                  <a:close/>
                </a:path>
                <a:path w="1518920" h="1397000">
                  <a:moveTo>
                    <a:pt x="788904" y="863600"/>
                  </a:moveTo>
                  <a:lnTo>
                    <a:pt x="772943" y="863600"/>
                  </a:lnTo>
                  <a:lnTo>
                    <a:pt x="780122" y="876300"/>
                  </a:lnTo>
                  <a:lnTo>
                    <a:pt x="788904" y="863600"/>
                  </a:lnTo>
                  <a:close/>
                </a:path>
                <a:path w="1518920" h="1397000">
                  <a:moveTo>
                    <a:pt x="811796" y="838200"/>
                  </a:moveTo>
                  <a:lnTo>
                    <a:pt x="754981" y="838200"/>
                  </a:lnTo>
                  <a:lnTo>
                    <a:pt x="746290" y="850900"/>
                  </a:lnTo>
                  <a:lnTo>
                    <a:pt x="756027" y="850900"/>
                  </a:lnTo>
                  <a:lnTo>
                    <a:pt x="764911" y="863600"/>
                  </a:lnTo>
                  <a:lnTo>
                    <a:pt x="797112" y="863600"/>
                  </a:lnTo>
                  <a:lnTo>
                    <a:pt x="804743" y="850900"/>
                  </a:lnTo>
                  <a:lnTo>
                    <a:pt x="811796" y="838200"/>
                  </a:lnTo>
                  <a:close/>
                </a:path>
                <a:path w="1518920" h="1397000">
                  <a:moveTo>
                    <a:pt x="489470" y="762000"/>
                  </a:moveTo>
                  <a:lnTo>
                    <a:pt x="460984" y="787400"/>
                  </a:lnTo>
                  <a:lnTo>
                    <a:pt x="471321" y="800100"/>
                  </a:lnTo>
                  <a:lnTo>
                    <a:pt x="480823" y="812800"/>
                  </a:lnTo>
                  <a:lnTo>
                    <a:pt x="489489" y="838200"/>
                  </a:lnTo>
                  <a:lnTo>
                    <a:pt x="497319" y="850900"/>
                  </a:lnTo>
                  <a:lnTo>
                    <a:pt x="514056" y="850900"/>
                  </a:lnTo>
                  <a:lnTo>
                    <a:pt x="521563" y="838200"/>
                  </a:lnTo>
                  <a:lnTo>
                    <a:pt x="526164" y="838200"/>
                  </a:lnTo>
                  <a:lnTo>
                    <a:pt x="523640" y="825500"/>
                  </a:lnTo>
                  <a:lnTo>
                    <a:pt x="520925" y="825500"/>
                  </a:lnTo>
                  <a:lnTo>
                    <a:pt x="518020" y="812800"/>
                  </a:lnTo>
                  <a:lnTo>
                    <a:pt x="541807" y="800100"/>
                  </a:lnTo>
                  <a:lnTo>
                    <a:pt x="628324" y="800100"/>
                  </a:lnTo>
                  <a:lnTo>
                    <a:pt x="645206" y="787400"/>
                  </a:lnTo>
                  <a:lnTo>
                    <a:pt x="501840" y="787400"/>
                  </a:lnTo>
                  <a:lnTo>
                    <a:pt x="489470" y="762000"/>
                  </a:lnTo>
                  <a:close/>
                </a:path>
                <a:path w="1518920" h="1397000">
                  <a:moveTo>
                    <a:pt x="821969" y="825500"/>
                  </a:moveTo>
                  <a:lnTo>
                    <a:pt x="769084" y="825500"/>
                  </a:lnTo>
                  <a:lnTo>
                    <a:pt x="762579" y="838200"/>
                  </a:lnTo>
                  <a:lnTo>
                    <a:pt x="817726" y="838200"/>
                  </a:lnTo>
                  <a:lnTo>
                    <a:pt x="821969" y="825500"/>
                  </a:lnTo>
                  <a:close/>
                </a:path>
                <a:path w="1518920" h="1397000">
                  <a:moveTo>
                    <a:pt x="672338" y="787400"/>
                  </a:moveTo>
                  <a:lnTo>
                    <a:pt x="626770" y="825500"/>
                  </a:lnTo>
                  <a:lnTo>
                    <a:pt x="704722" y="825500"/>
                  </a:lnTo>
                  <a:lnTo>
                    <a:pt x="672338" y="787400"/>
                  </a:lnTo>
                  <a:close/>
                </a:path>
                <a:path w="1518920" h="1397000">
                  <a:moveTo>
                    <a:pt x="620623" y="660400"/>
                  </a:moveTo>
                  <a:lnTo>
                    <a:pt x="593636" y="685800"/>
                  </a:lnTo>
                  <a:lnTo>
                    <a:pt x="726884" y="825500"/>
                  </a:lnTo>
                  <a:lnTo>
                    <a:pt x="753872" y="800100"/>
                  </a:lnTo>
                  <a:lnTo>
                    <a:pt x="620623" y="660400"/>
                  </a:lnTo>
                  <a:close/>
                </a:path>
                <a:path w="1518920" h="1397000">
                  <a:moveTo>
                    <a:pt x="825398" y="812800"/>
                  </a:moveTo>
                  <a:lnTo>
                    <a:pt x="778759" y="812800"/>
                  </a:lnTo>
                  <a:lnTo>
                    <a:pt x="774496" y="825500"/>
                  </a:lnTo>
                  <a:lnTo>
                    <a:pt x="824526" y="825500"/>
                  </a:lnTo>
                  <a:lnTo>
                    <a:pt x="825398" y="812800"/>
                  </a:lnTo>
                  <a:close/>
                </a:path>
                <a:path w="1518920" h="1397000">
                  <a:moveTo>
                    <a:pt x="646010" y="596900"/>
                  </a:moveTo>
                  <a:lnTo>
                    <a:pt x="617702" y="622300"/>
                  </a:lnTo>
                  <a:lnTo>
                    <a:pt x="773645" y="800100"/>
                  </a:lnTo>
                  <a:lnTo>
                    <a:pt x="778334" y="812800"/>
                  </a:lnTo>
                  <a:lnTo>
                    <a:pt x="824496" y="812800"/>
                  </a:lnTo>
                  <a:lnTo>
                    <a:pt x="821715" y="800100"/>
                  </a:lnTo>
                  <a:lnTo>
                    <a:pt x="817058" y="787400"/>
                  </a:lnTo>
                  <a:lnTo>
                    <a:pt x="810526" y="787400"/>
                  </a:lnTo>
                  <a:lnTo>
                    <a:pt x="646010" y="596900"/>
                  </a:lnTo>
                  <a:close/>
                </a:path>
                <a:path w="1518920" h="1397000">
                  <a:moveTo>
                    <a:pt x="520611" y="711200"/>
                  </a:moveTo>
                  <a:lnTo>
                    <a:pt x="491413" y="736600"/>
                  </a:lnTo>
                  <a:lnTo>
                    <a:pt x="519099" y="774700"/>
                  </a:lnTo>
                  <a:lnTo>
                    <a:pt x="501840" y="787400"/>
                  </a:lnTo>
                  <a:lnTo>
                    <a:pt x="588733" y="787400"/>
                  </a:lnTo>
                  <a:lnTo>
                    <a:pt x="571004" y="774700"/>
                  </a:lnTo>
                  <a:lnTo>
                    <a:pt x="593121" y="749300"/>
                  </a:lnTo>
                  <a:lnTo>
                    <a:pt x="548297" y="749300"/>
                  </a:lnTo>
                  <a:lnTo>
                    <a:pt x="520611" y="711200"/>
                  </a:lnTo>
                  <a:close/>
                </a:path>
                <a:path w="1518920" h="1397000">
                  <a:moveTo>
                    <a:pt x="639381" y="749300"/>
                  </a:moveTo>
                  <a:lnTo>
                    <a:pt x="588733" y="787400"/>
                  </a:lnTo>
                  <a:lnTo>
                    <a:pt x="645206" y="787400"/>
                  </a:lnTo>
                  <a:lnTo>
                    <a:pt x="662089" y="774700"/>
                  </a:lnTo>
                  <a:lnTo>
                    <a:pt x="639381" y="749300"/>
                  </a:lnTo>
                  <a:close/>
                </a:path>
                <a:path w="1518920" h="1397000">
                  <a:moveTo>
                    <a:pt x="834010" y="673100"/>
                  </a:moveTo>
                  <a:lnTo>
                    <a:pt x="786168" y="673100"/>
                  </a:lnTo>
                  <a:lnTo>
                    <a:pt x="836752" y="723900"/>
                  </a:lnTo>
                  <a:lnTo>
                    <a:pt x="831494" y="774700"/>
                  </a:lnTo>
                  <a:lnTo>
                    <a:pt x="874445" y="787400"/>
                  </a:lnTo>
                  <a:lnTo>
                    <a:pt x="874740" y="774700"/>
                  </a:lnTo>
                  <a:lnTo>
                    <a:pt x="875166" y="762000"/>
                  </a:lnTo>
                  <a:lnTo>
                    <a:pt x="875720" y="749300"/>
                  </a:lnTo>
                  <a:lnTo>
                    <a:pt x="876401" y="736600"/>
                  </a:lnTo>
                  <a:lnTo>
                    <a:pt x="912845" y="736600"/>
                  </a:lnTo>
                  <a:lnTo>
                    <a:pt x="930185" y="723900"/>
                  </a:lnTo>
                  <a:lnTo>
                    <a:pt x="946937" y="711200"/>
                  </a:lnTo>
                  <a:lnTo>
                    <a:pt x="867130" y="711200"/>
                  </a:lnTo>
                  <a:lnTo>
                    <a:pt x="834010" y="673100"/>
                  </a:lnTo>
                  <a:close/>
                </a:path>
                <a:path w="1518920" h="1397000">
                  <a:moveTo>
                    <a:pt x="592543" y="698500"/>
                  </a:moveTo>
                  <a:lnTo>
                    <a:pt x="548297" y="749300"/>
                  </a:lnTo>
                  <a:lnTo>
                    <a:pt x="593121" y="749300"/>
                  </a:lnTo>
                  <a:lnTo>
                    <a:pt x="615238" y="723900"/>
                  </a:lnTo>
                  <a:lnTo>
                    <a:pt x="592543" y="698500"/>
                  </a:lnTo>
                  <a:close/>
                </a:path>
                <a:path w="1518920" h="1397000">
                  <a:moveTo>
                    <a:pt x="1048346" y="571500"/>
                  </a:moveTo>
                  <a:lnTo>
                    <a:pt x="1001350" y="622300"/>
                  </a:lnTo>
                  <a:lnTo>
                    <a:pt x="971322" y="647700"/>
                  </a:lnTo>
                  <a:lnTo>
                    <a:pt x="936942" y="673100"/>
                  </a:lnTo>
                  <a:lnTo>
                    <a:pt x="901574" y="698500"/>
                  </a:lnTo>
                  <a:lnTo>
                    <a:pt x="884237" y="698500"/>
                  </a:lnTo>
                  <a:lnTo>
                    <a:pt x="867130" y="711200"/>
                  </a:lnTo>
                  <a:lnTo>
                    <a:pt x="946937" y="711200"/>
                  </a:lnTo>
                  <a:lnTo>
                    <a:pt x="966671" y="698500"/>
                  </a:lnTo>
                  <a:lnTo>
                    <a:pt x="992955" y="673100"/>
                  </a:lnTo>
                  <a:lnTo>
                    <a:pt x="1025793" y="647700"/>
                  </a:lnTo>
                  <a:lnTo>
                    <a:pt x="1065187" y="609600"/>
                  </a:lnTo>
                  <a:lnTo>
                    <a:pt x="1048346" y="571500"/>
                  </a:lnTo>
                  <a:close/>
                </a:path>
                <a:path w="1518920" h="1397000">
                  <a:moveTo>
                    <a:pt x="789851" y="622300"/>
                  </a:moveTo>
                  <a:lnTo>
                    <a:pt x="740295" y="660400"/>
                  </a:lnTo>
                  <a:lnTo>
                    <a:pt x="765594" y="698500"/>
                  </a:lnTo>
                  <a:lnTo>
                    <a:pt x="786168" y="673100"/>
                  </a:lnTo>
                  <a:lnTo>
                    <a:pt x="834010" y="673100"/>
                  </a:lnTo>
                  <a:lnTo>
                    <a:pt x="789851" y="622300"/>
                  </a:lnTo>
                  <a:close/>
                </a:path>
                <a:path w="1518920" h="1397000">
                  <a:moveTo>
                    <a:pt x="960666" y="508000"/>
                  </a:moveTo>
                  <a:lnTo>
                    <a:pt x="837907" y="622300"/>
                  </a:lnTo>
                  <a:lnTo>
                    <a:pt x="898055" y="685800"/>
                  </a:lnTo>
                  <a:lnTo>
                    <a:pt x="952619" y="635000"/>
                  </a:lnTo>
                  <a:lnTo>
                    <a:pt x="905116" y="635000"/>
                  </a:lnTo>
                  <a:lnTo>
                    <a:pt x="888784" y="622300"/>
                  </a:lnTo>
                  <a:lnTo>
                    <a:pt x="953604" y="558800"/>
                  </a:lnTo>
                  <a:lnTo>
                    <a:pt x="1008794" y="558800"/>
                  </a:lnTo>
                  <a:lnTo>
                    <a:pt x="960666" y="508000"/>
                  </a:lnTo>
                  <a:close/>
                </a:path>
                <a:path w="1518920" h="1397000">
                  <a:moveTo>
                    <a:pt x="1008794" y="558800"/>
                  </a:moveTo>
                  <a:lnTo>
                    <a:pt x="953604" y="558800"/>
                  </a:lnTo>
                  <a:lnTo>
                    <a:pt x="969937" y="571500"/>
                  </a:lnTo>
                  <a:lnTo>
                    <a:pt x="905116" y="635000"/>
                  </a:lnTo>
                  <a:lnTo>
                    <a:pt x="952619" y="635000"/>
                  </a:lnTo>
                  <a:lnTo>
                    <a:pt x="1020826" y="571500"/>
                  </a:lnTo>
                  <a:lnTo>
                    <a:pt x="1008794" y="558800"/>
                  </a:lnTo>
                  <a:close/>
                </a:path>
                <a:path w="1518920" h="1397000">
                  <a:moveTo>
                    <a:pt x="822947" y="444500"/>
                  </a:moveTo>
                  <a:lnTo>
                    <a:pt x="793534" y="469900"/>
                  </a:lnTo>
                  <a:lnTo>
                    <a:pt x="818235" y="495300"/>
                  </a:lnTo>
                  <a:lnTo>
                    <a:pt x="796556" y="520700"/>
                  </a:lnTo>
                  <a:lnTo>
                    <a:pt x="840536" y="520700"/>
                  </a:lnTo>
                  <a:lnTo>
                    <a:pt x="856475" y="533400"/>
                  </a:lnTo>
                  <a:lnTo>
                    <a:pt x="789000" y="596900"/>
                  </a:lnTo>
                  <a:lnTo>
                    <a:pt x="811314" y="622300"/>
                  </a:lnTo>
                  <a:lnTo>
                    <a:pt x="936555" y="508000"/>
                  </a:lnTo>
                  <a:lnTo>
                    <a:pt x="885888" y="508000"/>
                  </a:lnTo>
                  <a:lnTo>
                    <a:pt x="869962" y="495300"/>
                  </a:lnTo>
                  <a:lnTo>
                    <a:pt x="901958" y="469900"/>
                  </a:lnTo>
                  <a:lnTo>
                    <a:pt x="847648" y="469900"/>
                  </a:lnTo>
                  <a:lnTo>
                    <a:pt x="822947" y="444500"/>
                  </a:lnTo>
                  <a:close/>
                </a:path>
                <a:path w="1518920" h="1397000">
                  <a:moveTo>
                    <a:pt x="716690" y="558800"/>
                  </a:moveTo>
                  <a:lnTo>
                    <a:pt x="698995" y="558800"/>
                  </a:lnTo>
                  <a:lnTo>
                    <a:pt x="688467" y="596900"/>
                  </a:lnTo>
                  <a:lnTo>
                    <a:pt x="704985" y="596900"/>
                  </a:lnTo>
                  <a:lnTo>
                    <a:pt x="721640" y="609600"/>
                  </a:lnTo>
                  <a:lnTo>
                    <a:pt x="755357" y="609600"/>
                  </a:lnTo>
                  <a:lnTo>
                    <a:pt x="765505" y="571500"/>
                  </a:lnTo>
                  <a:lnTo>
                    <a:pt x="733674" y="571500"/>
                  </a:lnTo>
                  <a:lnTo>
                    <a:pt x="716690" y="558800"/>
                  </a:lnTo>
                  <a:close/>
                </a:path>
                <a:path w="1518920" h="1397000">
                  <a:moveTo>
                    <a:pt x="787717" y="495300"/>
                  </a:moveTo>
                  <a:lnTo>
                    <a:pt x="754468" y="508000"/>
                  </a:lnTo>
                  <a:lnTo>
                    <a:pt x="763327" y="533400"/>
                  </a:lnTo>
                  <a:lnTo>
                    <a:pt x="770910" y="546100"/>
                  </a:lnTo>
                  <a:lnTo>
                    <a:pt x="777219" y="571500"/>
                  </a:lnTo>
                  <a:lnTo>
                    <a:pt x="782256" y="584200"/>
                  </a:lnTo>
                  <a:lnTo>
                    <a:pt x="791852" y="584200"/>
                  </a:lnTo>
                  <a:lnTo>
                    <a:pt x="800941" y="571500"/>
                  </a:lnTo>
                  <a:lnTo>
                    <a:pt x="815314" y="571500"/>
                  </a:lnTo>
                  <a:lnTo>
                    <a:pt x="812634" y="558800"/>
                  </a:lnTo>
                  <a:lnTo>
                    <a:pt x="809574" y="546100"/>
                  </a:lnTo>
                  <a:lnTo>
                    <a:pt x="840536" y="520700"/>
                  </a:lnTo>
                  <a:lnTo>
                    <a:pt x="796556" y="520700"/>
                  </a:lnTo>
                  <a:lnTo>
                    <a:pt x="793800" y="508000"/>
                  </a:lnTo>
                  <a:lnTo>
                    <a:pt x="790867" y="508000"/>
                  </a:lnTo>
                  <a:lnTo>
                    <a:pt x="787717" y="495300"/>
                  </a:lnTo>
                  <a:close/>
                </a:path>
                <a:path w="1518920" h="1397000">
                  <a:moveTo>
                    <a:pt x="1113409" y="469900"/>
                  </a:moveTo>
                  <a:lnTo>
                    <a:pt x="1094831" y="495300"/>
                  </a:lnTo>
                  <a:lnTo>
                    <a:pt x="1077485" y="520700"/>
                  </a:lnTo>
                  <a:lnTo>
                    <a:pt x="1061375" y="533400"/>
                  </a:lnTo>
                  <a:lnTo>
                    <a:pt x="1046505" y="558800"/>
                  </a:lnTo>
                  <a:lnTo>
                    <a:pt x="1078814" y="584200"/>
                  </a:lnTo>
                  <a:lnTo>
                    <a:pt x="1094525" y="558800"/>
                  </a:lnTo>
                  <a:lnTo>
                    <a:pt x="1109995" y="546100"/>
                  </a:lnTo>
                  <a:lnTo>
                    <a:pt x="1125223" y="520700"/>
                  </a:lnTo>
                  <a:lnTo>
                    <a:pt x="1140206" y="508000"/>
                  </a:lnTo>
                  <a:lnTo>
                    <a:pt x="1134343" y="495300"/>
                  </a:lnTo>
                  <a:lnTo>
                    <a:pt x="1127921" y="495300"/>
                  </a:lnTo>
                  <a:lnTo>
                    <a:pt x="1120942" y="482600"/>
                  </a:lnTo>
                  <a:lnTo>
                    <a:pt x="1113409" y="469900"/>
                  </a:lnTo>
                  <a:close/>
                </a:path>
                <a:path w="1518920" h="1397000">
                  <a:moveTo>
                    <a:pt x="1036266" y="444500"/>
                  </a:moveTo>
                  <a:lnTo>
                    <a:pt x="1001179" y="444500"/>
                  </a:lnTo>
                  <a:lnTo>
                    <a:pt x="1005420" y="469900"/>
                  </a:lnTo>
                  <a:lnTo>
                    <a:pt x="1008427" y="482600"/>
                  </a:lnTo>
                  <a:lnTo>
                    <a:pt x="1010201" y="495300"/>
                  </a:lnTo>
                  <a:lnTo>
                    <a:pt x="1010742" y="508000"/>
                  </a:lnTo>
                  <a:lnTo>
                    <a:pt x="1040765" y="520700"/>
                  </a:lnTo>
                  <a:lnTo>
                    <a:pt x="1049813" y="508000"/>
                  </a:lnTo>
                  <a:lnTo>
                    <a:pt x="1061283" y="495300"/>
                  </a:lnTo>
                  <a:lnTo>
                    <a:pt x="1075174" y="482600"/>
                  </a:lnTo>
                  <a:lnTo>
                    <a:pt x="1091488" y="469900"/>
                  </a:lnTo>
                  <a:lnTo>
                    <a:pt x="1041552" y="469900"/>
                  </a:lnTo>
                  <a:lnTo>
                    <a:pt x="1036266" y="444500"/>
                  </a:lnTo>
                  <a:close/>
                </a:path>
                <a:path w="1518920" h="1397000">
                  <a:moveTo>
                    <a:pt x="1029512" y="266700"/>
                  </a:moveTo>
                  <a:lnTo>
                    <a:pt x="994422" y="292100"/>
                  </a:lnTo>
                  <a:lnTo>
                    <a:pt x="1009750" y="317500"/>
                  </a:lnTo>
                  <a:lnTo>
                    <a:pt x="1022188" y="355600"/>
                  </a:lnTo>
                  <a:lnTo>
                    <a:pt x="1031734" y="381000"/>
                  </a:lnTo>
                  <a:lnTo>
                    <a:pt x="1038390" y="419100"/>
                  </a:lnTo>
                  <a:lnTo>
                    <a:pt x="1075410" y="419100"/>
                  </a:lnTo>
                  <a:lnTo>
                    <a:pt x="1075488" y="420301"/>
                  </a:lnTo>
                  <a:lnTo>
                    <a:pt x="1172235" y="520700"/>
                  </a:lnTo>
                  <a:lnTo>
                    <a:pt x="1201432" y="495300"/>
                  </a:lnTo>
                  <a:lnTo>
                    <a:pt x="1187488" y="482600"/>
                  </a:lnTo>
                  <a:lnTo>
                    <a:pt x="1216687" y="457200"/>
                  </a:lnTo>
                  <a:lnTo>
                    <a:pt x="1166368" y="457200"/>
                  </a:lnTo>
                  <a:lnTo>
                    <a:pt x="1145654" y="431800"/>
                  </a:lnTo>
                  <a:lnTo>
                    <a:pt x="1177950" y="406400"/>
                  </a:lnTo>
                  <a:lnTo>
                    <a:pt x="1125143" y="406400"/>
                  </a:lnTo>
                  <a:lnTo>
                    <a:pt x="1104430" y="393700"/>
                  </a:lnTo>
                  <a:lnTo>
                    <a:pt x="1125960" y="368300"/>
                  </a:lnTo>
                  <a:lnTo>
                    <a:pt x="1083919" y="368300"/>
                  </a:lnTo>
                  <a:lnTo>
                    <a:pt x="1063205" y="342900"/>
                  </a:lnTo>
                  <a:lnTo>
                    <a:pt x="1095502" y="317500"/>
                  </a:lnTo>
                  <a:lnTo>
                    <a:pt x="1047991" y="317500"/>
                  </a:lnTo>
                  <a:lnTo>
                    <a:pt x="1043786" y="304800"/>
                  </a:lnTo>
                  <a:lnTo>
                    <a:pt x="1039304" y="292100"/>
                  </a:lnTo>
                  <a:lnTo>
                    <a:pt x="1034546" y="279400"/>
                  </a:lnTo>
                  <a:lnTo>
                    <a:pt x="1029512" y="266700"/>
                  </a:lnTo>
                  <a:close/>
                </a:path>
                <a:path w="1518920" h="1397000">
                  <a:moveTo>
                    <a:pt x="942073" y="457200"/>
                  </a:moveTo>
                  <a:lnTo>
                    <a:pt x="885888" y="508000"/>
                  </a:lnTo>
                  <a:lnTo>
                    <a:pt x="936555" y="508000"/>
                  </a:lnTo>
                  <a:lnTo>
                    <a:pt x="964387" y="482600"/>
                  </a:lnTo>
                  <a:lnTo>
                    <a:pt x="942073" y="457200"/>
                  </a:lnTo>
                  <a:close/>
                </a:path>
                <a:path w="1518920" h="1397000">
                  <a:moveTo>
                    <a:pt x="895654" y="431800"/>
                  </a:moveTo>
                  <a:lnTo>
                    <a:pt x="847648" y="469900"/>
                  </a:lnTo>
                  <a:lnTo>
                    <a:pt x="901958" y="469900"/>
                  </a:lnTo>
                  <a:lnTo>
                    <a:pt x="917956" y="457200"/>
                  </a:lnTo>
                  <a:lnTo>
                    <a:pt x="895654" y="431800"/>
                  </a:lnTo>
                  <a:close/>
                </a:path>
                <a:path w="1518920" h="1397000">
                  <a:moveTo>
                    <a:pt x="955878" y="330200"/>
                  </a:moveTo>
                  <a:lnTo>
                    <a:pt x="921296" y="355600"/>
                  </a:lnTo>
                  <a:lnTo>
                    <a:pt x="934488" y="381000"/>
                  </a:lnTo>
                  <a:lnTo>
                    <a:pt x="943983" y="419100"/>
                  </a:lnTo>
                  <a:lnTo>
                    <a:pt x="949780" y="431800"/>
                  </a:lnTo>
                  <a:lnTo>
                    <a:pt x="951877" y="457200"/>
                  </a:lnTo>
                  <a:lnTo>
                    <a:pt x="981303" y="469900"/>
                  </a:lnTo>
                  <a:lnTo>
                    <a:pt x="1001179" y="444500"/>
                  </a:lnTo>
                  <a:lnTo>
                    <a:pt x="1036266" y="444500"/>
                  </a:lnTo>
                  <a:lnTo>
                    <a:pt x="1029627" y="419100"/>
                  </a:lnTo>
                  <a:lnTo>
                    <a:pt x="979284" y="419100"/>
                  </a:lnTo>
                  <a:lnTo>
                    <a:pt x="974548" y="406400"/>
                  </a:lnTo>
                  <a:lnTo>
                    <a:pt x="969067" y="381000"/>
                  </a:lnTo>
                  <a:lnTo>
                    <a:pt x="962842" y="355600"/>
                  </a:lnTo>
                  <a:lnTo>
                    <a:pt x="955878" y="330200"/>
                  </a:lnTo>
                  <a:close/>
                </a:path>
                <a:path w="1518920" h="1397000">
                  <a:moveTo>
                    <a:pt x="1070241" y="431800"/>
                  </a:moveTo>
                  <a:lnTo>
                    <a:pt x="1061962" y="444500"/>
                  </a:lnTo>
                  <a:lnTo>
                    <a:pt x="1054420" y="457200"/>
                  </a:lnTo>
                  <a:lnTo>
                    <a:pt x="1047617" y="457200"/>
                  </a:lnTo>
                  <a:lnTo>
                    <a:pt x="1041552" y="469900"/>
                  </a:lnTo>
                  <a:lnTo>
                    <a:pt x="1091488" y="469900"/>
                  </a:lnTo>
                  <a:lnTo>
                    <a:pt x="1085031" y="457200"/>
                  </a:lnTo>
                  <a:lnTo>
                    <a:pt x="1079336" y="444500"/>
                  </a:lnTo>
                  <a:lnTo>
                    <a:pt x="1074406" y="444500"/>
                  </a:lnTo>
                  <a:lnTo>
                    <a:pt x="1070241" y="431800"/>
                  </a:lnTo>
                  <a:close/>
                </a:path>
                <a:path w="1518920" h="1397000">
                  <a:moveTo>
                    <a:pt x="1268564" y="368300"/>
                  </a:moveTo>
                  <a:lnTo>
                    <a:pt x="1227874" y="406400"/>
                  </a:lnTo>
                  <a:lnTo>
                    <a:pt x="1177950" y="406400"/>
                  </a:lnTo>
                  <a:lnTo>
                    <a:pt x="1198664" y="431800"/>
                  </a:lnTo>
                  <a:lnTo>
                    <a:pt x="1166368" y="457200"/>
                  </a:lnTo>
                  <a:lnTo>
                    <a:pt x="1216687" y="457200"/>
                  </a:lnTo>
                  <a:lnTo>
                    <a:pt x="1289685" y="393700"/>
                  </a:lnTo>
                  <a:lnTo>
                    <a:pt x="1268564" y="368300"/>
                  </a:lnTo>
                  <a:close/>
                </a:path>
                <a:path w="1518920" h="1397000">
                  <a:moveTo>
                    <a:pt x="1074331" y="419100"/>
                  </a:moveTo>
                  <a:lnTo>
                    <a:pt x="1056078" y="419100"/>
                  </a:lnTo>
                  <a:lnTo>
                    <a:pt x="1066072" y="431800"/>
                  </a:lnTo>
                  <a:lnTo>
                    <a:pt x="1076236" y="431800"/>
                  </a:lnTo>
                  <a:lnTo>
                    <a:pt x="1075488" y="420301"/>
                  </a:lnTo>
                  <a:lnTo>
                    <a:pt x="1074331" y="419100"/>
                  </a:lnTo>
                  <a:close/>
                </a:path>
                <a:path w="1518920" h="1397000">
                  <a:moveTo>
                    <a:pt x="1075410" y="419100"/>
                  </a:moveTo>
                  <a:lnTo>
                    <a:pt x="1074331" y="419100"/>
                  </a:lnTo>
                  <a:lnTo>
                    <a:pt x="1075488" y="420301"/>
                  </a:lnTo>
                  <a:lnTo>
                    <a:pt x="1075410" y="419100"/>
                  </a:lnTo>
                  <a:close/>
                </a:path>
                <a:path w="1518920" h="1397000">
                  <a:moveTo>
                    <a:pt x="1012291" y="355600"/>
                  </a:moveTo>
                  <a:lnTo>
                    <a:pt x="979157" y="368300"/>
                  </a:lnTo>
                  <a:lnTo>
                    <a:pt x="982612" y="381000"/>
                  </a:lnTo>
                  <a:lnTo>
                    <a:pt x="985854" y="393700"/>
                  </a:lnTo>
                  <a:lnTo>
                    <a:pt x="988885" y="406400"/>
                  </a:lnTo>
                  <a:lnTo>
                    <a:pt x="991704" y="406400"/>
                  </a:lnTo>
                  <a:lnTo>
                    <a:pt x="986739" y="419100"/>
                  </a:lnTo>
                  <a:lnTo>
                    <a:pt x="1029627" y="419100"/>
                  </a:lnTo>
                  <a:lnTo>
                    <a:pt x="1021635" y="393700"/>
                  </a:lnTo>
                  <a:lnTo>
                    <a:pt x="1012291" y="355600"/>
                  </a:lnTo>
                  <a:close/>
                </a:path>
                <a:path w="1518920" h="1397000">
                  <a:moveTo>
                    <a:pt x="1222921" y="317500"/>
                  </a:moveTo>
                  <a:lnTo>
                    <a:pt x="1186637" y="355600"/>
                  </a:lnTo>
                  <a:lnTo>
                    <a:pt x="1136726" y="355600"/>
                  </a:lnTo>
                  <a:lnTo>
                    <a:pt x="1157439" y="381000"/>
                  </a:lnTo>
                  <a:lnTo>
                    <a:pt x="1125143" y="406400"/>
                  </a:lnTo>
                  <a:lnTo>
                    <a:pt x="1227874" y="406400"/>
                  </a:lnTo>
                  <a:lnTo>
                    <a:pt x="1207147" y="381000"/>
                  </a:lnTo>
                  <a:lnTo>
                    <a:pt x="1243431" y="342900"/>
                  </a:lnTo>
                  <a:lnTo>
                    <a:pt x="1222921" y="317500"/>
                  </a:lnTo>
                  <a:close/>
                </a:path>
                <a:path w="1518920" h="1397000">
                  <a:moveTo>
                    <a:pt x="1248473" y="50800"/>
                  </a:moveTo>
                  <a:lnTo>
                    <a:pt x="1216533" y="88900"/>
                  </a:lnTo>
                  <a:lnTo>
                    <a:pt x="1224635" y="101600"/>
                  </a:lnTo>
                  <a:lnTo>
                    <a:pt x="1236891" y="101600"/>
                  </a:lnTo>
                  <a:lnTo>
                    <a:pt x="1148854" y="177800"/>
                  </a:lnTo>
                  <a:lnTo>
                    <a:pt x="1218361" y="266700"/>
                  </a:lnTo>
                  <a:lnTo>
                    <a:pt x="1245960" y="292100"/>
                  </a:lnTo>
                  <a:lnTo>
                    <a:pt x="1267510" y="317500"/>
                  </a:lnTo>
                  <a:lnTo>
                    <a:pt x="1283012" y="355600"/>
                  </a:lnTo>
                  <a:lnTo>
                    <a:pt x="1292466" y="381000"/>
                  </a:lnTo>
                  <a:lnTo>
                    <a:pt x="1335303" y="381000"/>
                  </a:lnTo>
                  <a:lnTo>
                    <a:pt x="1326273" y="342900"/>
                  </a:lnTo>
                  <a:lnTo>
                    <a:pt x="1309090" y="317500"/>
                  </a:lnTo>
                  <a:lnTo>
                    <a:pt x="1283754" y="279400"/>
                  </a:lnTo>
                  <a:lnTo>
                    <a:pt x="1250264" y="241300"/>
                  </a:lnTo>
                  <a:lnTo>
                    <a:pt x="1199476" y="177800"/>
                  </a:lnTo>
                  <a:lnTo>
                    <a:pt x="1315825" y="76200"/>
                  </a:lnTo>
                  <a:lnTo>
                    <a:pt x="1275168" y="76200"/>
                  </a:lnTo>
                  <a:lnTo>
                    <a:pt x="1268420" y="63500"/>
                  </a:lnTo>
                  <a:lnTo>
                    <a:pt x="1255071" y="63500"/>
                  </a:lnTo>
                  <a:lnTo>
                    <a:pt x="1248473" y="50800"/>
                  </a:lnTo>
                  <a:close/>
                </a:path>
                <a:path w="1518920" h="1397000">
                  <a:moveTo>
                    <a:pt x="1141234" y="228600"/>
                  </a:moveTo>
                  <a:lnTo>
                    <a:pt x="1089367" y="279400"/>
                  </a:lnTo>
                  <a:lnTo>
                    <a:pt x="1081951" y="279400"/>
                  </a:lnTo>
                  <a:lnTo>
                    <a:pt x="1047991" y="317500"/>
                  </a:lnTo>
                  <a:lnTo>
                    <a:pt x="1095502" y="317500"/>
                  </a:lnTo>
                  <a:lnTo>
                    <a:pt x="1116215" y="330200"/>
                  </a:lnTo>
                  <a:lnTo>
                    <a:pt x="1083919" y="368300"/>
                  </a:lnTo>
                  <a:lnTo>
                    <a:pt x="1125960" y="368300"/>
                  </a:lnTo>
                  <a:lnTo>
                    <a:pt x="1136726" y="355600"/>
                  </a:lnTo>
                  <a:lnTo>
                    <a:pt x="1186637" y="355600"/>
                  </a:lnTo>
                  <a:lnTo>
                    <a:pt x="1165923" y="330200"/>
                  </a:lnTo>
                  <a:lnTo>
                    <a:pt x="1202207" y="304800"/>
                  </a:lnTo>
                  <a:lnTo>
                    <a:pt x="1145413" y="304800"/>
                  </a:lnTo>
                  <a:lnTo>
                    <a:pt x="1124699" y="292100"/>
                  </a:lnTo>
                  <a:lnTo>
                    <a:pt x="1162748" y="254000"/>
                  </a:lnTo>
                  <a:lnTo>
                    <a:pt x="1141234" y="228600"/>
                  </a:lnTo>
                  <a:close/>
                </a:path>
                <a:path w="1518920" h="1397000">
                  <a:moveTo>
                    <a:pt x="1425206" y="266700"/>
                  </a:moveTo>
                  <a:lnTo>
                    <a:pt x="1318348" y="266700"/>
                  </a:lnTo>
                  <a:lnTo>
                    <a:pt x="1334853" y="279400"/>
                  </a:lnTo>
                  <a:lnTo>
                    <a:pt x="1382052" y="279400"/>
                  </a:lnTo>
                  <a:lnTo>
                    <a:pt x="1370593" y="292100"/>
                  </a:lnTo>
                  <a:lnTo>
                    <a:pt x="1357515" y="304800"/>
                  </a:lnTo>
                  <a:lnTo>
                    <a:pt x="1342818" y="330200"/>
                  </a:lnTo>
                  <a:lnTo>
                    <a:pt x="1326502" y="342900"/>
                  </a:lnTo>
                  <a:lnTo>
                    <a:pt x="1354457" y="342900"/>
                  </a:lnTo>
                  <a:lnTo>
                    <a:pt x="1362989" y="355600"/>
                  </a:lnTo>
                  <a:lnTo>
                    <a:pt x="1381937" y="330200"/>
                  </a:lnTo>
                  <a:lnTo>
                    <a:pt x="1398622" y="304800"/>
                  </a:lnTo>
                  <a:lnTo>
                    <a:pt x="1413045" y="279400"/>
                  </a:lnTo>
                  <a:lnTo>
                    <a:pt x="1425206" y="266700"/>
                  </a:lnTo>
                  <a:close/>
                </a:path>
                <a:path w="1518920" h="1397000">
                  <a:moveTo>
                    <a:pt x="1181684" y="279400"/>
                  </a:moveTo>
                  <a:lnTo>
                    <a:pt x="1145413" y="304800"/>
                  </a:lnTo>
                  <a:lnTo>
                    <a:pt x="1202207" y="304800"/>
                  </a:lnTo>
                  <a:lnTo>
                    <a:pt x="1181684" y="279400"/>
                  </a:lnTo>
                  <a:close/>
                </a:path>
                <a:path w="1518920" h="1397000">
                  <a:moveTo>
                    <a:pt x="1088982" y="241300"/>
                  </a:moveTo>
                  <a:lnTo>
                    <a:pt x="1049820" y="241300"/>
                  </a:lnTo>
                  <a:lnTo>
                    <a:pt x="1038872" y="266700"/>
                  </a:lnTo>
                  <a:lnTo>
                    <a:pt x="1050516" y="266700"/>
                  </a:lnTo>
                  <a:lnTo>
                    <a:pt x="1061578" y="279400"/>
                  </a:lnTo>
                  <a:lnTo>
                    <a:pt x="1089367" y="279400"/>
                  </a:lnTo>
                  <a:lnTo>
                    <a:pt x="1099312" y="254000"/>
                  </a:lnTo>
                  <a:lnTo>
                    <a:pt x="1088982" y="241300"/>
                  </a:lnTo>
                  <a:close/>
                </a:path>
                <a:path w="1518920" h="1397000">
                  <a:moveTo>
                    <a:pt x="1428457" y="127000"/>
                  </a:moveTo>
                  <a:lnTo>
                    <a:pt x="1282687" y="254000"/>
                  </a:lnTo>
                  <a:lnTo>
                    <a:pt x="1304188" y="279400"/>
                  </a:lnTo>
                  <a:lnTo>
                    <a:pt x="1318348" y="266700"/>
                  </a:lnTo>
                  <a:lnTo>
                    <a:pt x="1425206" y="266700"/>
                  </a:lnTo>
                  <a:lnTo>
                    <a:pt x="1445749" y="254000"/>
                  </a:lnTo>
                  <a:lnTo>
                    <a:pt x="1468175" y="241300"/>
                  </a:lnTo>
                  <a:lnTo>
                    <a:pt x="1349756" y="241300"/>
                  </a:lnTo>
                  <a:lnTo>
                    <a:pt x="1417002" y="177800"/>
                  </a:lnTo>
                  <a:lnTo>
                    <a:pt x="1449314" y="177800"/>
                  </a:lnTo>
                  <a:lnTo>
                    <a:pt x="1449831" y="165100"/>
                  </a:lnTo>
                  <a:lnTo>
                    <a:pt x="1449971" y="152400"/>
                  </a:lnTo>
                  <a:lnTo>
                    <a:pt x="1428457" y="127000"/>
                  </a:lnTo>
                  <a:close/>
                </a:path>
                <a:path w="1518920" h="1397000">
                  <a:moveTo>
                    <a:pt x="1449314" y="177800"/>
                  </a:moveTo>
                  <a:lnTo>
                    <a:pt x="1417002" y="177800"/>
                  </a:lnTo>
                  <a:lnTo>
                    <a:pt x="1415390" y="190500"/>
                  </a:lnTo>
                  <a:lnTo>
                    <a:pt x="1412557" y="203200"/>
                  </a:lnTo>
                  <a:lnTo>
                    <a:pt x="1408505" y="228600"/>
                  </a:lnTo>
                  <a:lnTo>
                    <a:pt x="1403235" y="241300"/>
                  </a:lnTo>
                  <a:lnTo>
                    <a:pt x="1468175" y="241300"/>
                  </a:lnTo>
                  <a:lnTo>
                    <a:pt x="1492484" y="228600"/>
                  </a:lnTo>
                  <a:lnTo>
                    <a:pt x="1505581" y="215900"/>
                  </a:lnTo>
                  <a:lnTo>
                    <a:pt x="1444053" y="215900"/>
                  </a:lnTo>
                  <a:lnTo>
                    <a:pt x="1446873" y="203200"/>
                  </a:lnTo>
                  <a:lnTo>
                    <a:pt x="1448798" y="190500"/>
                  </a:lnTo>
                  <a:lnTo>
                    <a:pt x="1449314" y="177800"/>
                  </a:lnTo>
                  <a:close/>
                </a:path>
                <a:path w="1518920" h="1397000">
                  <a:moveTo>
                    <a:pt x="1336582" y="190500"/>
                  </a:moveTo>
                  <a:lnTo>
                    <a:pt x="1262316" y="190500"/>
                  </a:lnTo>
                  <a:lnTo>
                    <a:pt x="1294777" y="228600"/>
                  </a:lnTo>
                  <a:lnTo>
                    <a:pt x="1336582" y="190500"/>
                  </a:lnTo>
                  <a:close/>
                </a:path>
                <a:path w="1518920" h="1397000">
                  <a:moveTo>
                    <a:pt x="1343926" y="63500"/>
                  </a:moveTo>
                  <a:lnTo>
                    <a:pt x="1315605" y="88900"/>
                  </a:lnTo>
                  <a:lnTo>
                    <a:pt x="1323975" y="101600"/>
                  </a:lnTo>
                  <a:lnTo>
                    <a:pt x="1269111" y="139700"/>
                  </a:lnTo>
                  <a:lnTo>
                    <a:pt x="1260754" y="139700"/>
                  </a:lnTo>
                  <a:lnTo>
                    <a:pt x="1232433" y="165100"/>
                  </a:lnTo>
                  <a:lnTo>
                    <a:pt x="1240802" y="165100"/>
                  </a:lnTo>
                  <a:lnTo>
                    <a:pt x="1216698" y="190500"/>
                  </a:lnTo>
                  <a:lnTo>
                    <a:pt x="1238199" y="215900"/>
                  </a:lnTo>
                  <a:lnTo>
                    <a:pt x="1262316" y="190500"/>
                  </a:lnTo>
                  <a:lnTo>
                    <a:pt x="1336582" y="190500"/>
                  </a:lnTo>
                  <a:lnTo>
                    <a:pt x="1350518" y="177800"/>
                  </a:lnTo>
                  <a:lnTo>
                    <a:pt x="1302778" y="177800"/>
                  </a:lnTo>
                  <a:lnTo>
                    <a:pt x="1290624" y="165100"/>
                  </a:lnTo>
                  <a:lnTo>
                    <a:pt x="1345488" y="114300"/>
                  </a:lnTo>
                  <a:lnTo>
                    <a:pt x="1395437" y="114300"/>
                  </a:lnTo>
                  <a:lnTo>
                    <a:pt x="1373797" y="88900"/>
                  </a:lnTo>
                  <a:lnTo>
                    <a:pt x="1388840" y="76200"/>
                  </a:lnTo>
                  <a:lnTo>
                    <a:pt x="1352283" y="76200"/>
                  </a:lnTo>
                  <a:lnTo>
                    <a:pt x="1343926" y="63500"/>
                  </a:lnTo>
                  <a:close/>
                </a:path>
                <a:path w="1518920" h="1397000">
                  <a:moveTo>
                    <a:pt x="1518678" y="203200"/>
                  </a:moveTo>
                  <a:lnTo>
                    <a:pt x="1458720" y="203200"/>
                  </a:lnTo>
                  <a:lnTo>
                    <a:pt x="1444053" y="215900"/>
                  </a:lnTo>
                  <a:lnTo>
                    <a:pt x="1505581" y="215900"/>
                  </a:lnTo>
                  <a:lnTo>
                    <a:pt x="1518678" y="203200"/>
                  </a:lnTo>
                  <a:close/>
                </a:path>
                <a:path w="1518920" h="1397000">
                  <a:moveTo>
                    <a:pt x="1507629" y="165100"/>
                  </a:moveTo>
                  <a:lnTo>
                    <a:pt x="1490505" y="190500"/>
                  </a:lnTo>
                  <a:lnTo>
                    <a:pt x="1474203" y="203200"/>
                  </a:lnTo>
                  <a:lnTo>
                    <a:pt x="1515687" y="203200"/>
                  </a:lnTo>
                  <a:lnTo>
                    <a:pt x="1512849" y="190500"/>
                  </a:lnTo>
                  <a:lnTo>
                    <a:pt x="1510163" y="177800"/>
                  </a:lnTo>
                  <a:lnTo>
                    <a:pt x="1507629" y="165100"/>
                  </a:lnTo>
                  <a:close/>
                </a:path>
                <a:path w="1518920" h="1397000">
                  <a:moveTo>
                    <a:pt x="1395437" y="114300"/>
                  </a:moveTo>
                  <a:lnTo>
                    <a:pt x="1345488" y="114300"/>
                  </a:lnTo>
                  <a:lnTo>
                    <a:pt x="1357630" y="127000"/>
                  </a:lnTo>
                  <a:lnTo>
                    <a:pt x="1302778" y="177800"/>
                  </a:lnTo>
                  <a:lnTo>
                    <a:pt x="1350518" y="177800"/>
                  </a:lnTo>
                  <a:lnTo>
                    <a:pt x="1406258" y="127000"/>
                  </a:lnTo>
                  <a:lnTo>
                    <a:pt x="1395437" y="114300"/>
                  </a:lnTo>
                  <a:close/>
                </a:path>
                <a:path w="1518920" h="1397000">
                  <a:moveTo>
                    <a:pt x="1351699" y="0"/>
                  </a:moveTo>
                  <a:lnTo>
                    <a:pt x="1275168" y="76200"/>
                  </a:lnTo>
                  <a:lnTo>
                    <a:pt x="1315825" y="76200"/>
                  </a:lnTo>
                  <a:lnTo>
                    <a:pt x="1374000" y="25400"/>
                  </a:lnTo>
                  <a:lnTo>
                    <a:pt x="1351699" y="0"/>
                  </a:lnTo>
                  <a:close/>
                </a:path>
                <a:path w="1518920" h="1397000">
                  <a:moveTo>
                    <a:pt x="1382369" y="38100"/>
                  </a:moveTo>
                  <a:lnTo>
                    <a:pt x="1352283" y="76200"/>
                  </a:lnTo>
                  <a:lnTo>
                    <a:pt x="1388840" y="76200"/>
                  </a:lnTo>
                  <a:lnTo>
                    <a:pt x="1403883" y="63500"/>
                  </a:lnTo>
                  <a:lnTo>
                    <a:pt x="1382369" y="38100"/>
                  </a:lnTo>
                  <a:close/>
                </a:path>
              </a:pathLst>
            </a:custGeom>
            <a:solidFill>
              <a:srgbClr val="000000"/>
            </a:solidFill>
          </p:spPr>
          <p:txBody>
            <a:bodyPr wrap="square" lIns="0" tIns="0" rIns="0" bIns="0" rtlCol="0"/>
            <a:lstStyle/>
            <a:p/>
          </p:txBody>
        </p:sp>
        <p:pic>
          <p:nvPicPr>
            <p:cNvPr id="15" name="object 15"/>
            <p:cNvPicPr/>
            <p:nvPr/>
          </p:nvPicPr>
          <p:blipFill>
            <a:blip r:embed="rId4" cstate="print"/>
            <a:stretch>
              <a:fillRect/>
            </a:stretch>
          </p:blipFill>
          <p:spPr>
            <a:xfrm>
              <a:off x="6575297" y="614172"/>
              <a:ext cx="2205989" cy="2055113"/>
            </a:xfrm>
            <a:prstGeom prst="rect">
              <a:avLst/>
            </a:prstGeom>
          </p:spPr>
        </p:pic>
        <p:pic>
          <p:nvPicPr>
            <p:cNvPr id="16" name="object 16" descr=""/>
            <p:cNvPicPr/>
            <p:nvPr/>
          </p:nvPicPr>
          <p:blipFill>
            <a:blip r:embed="rId5" cstate="print"/>
            <a:stretch>
              <a:fillRect/>
            </a:stretch>
          </p:blipFill>
          <p:spPr>
            <a:xfrm>
              <a:off x="6782163" y="874396"/>
              <a:ext cx="1730781" cy="1600200"/>
            </a:xfrm>
            <a:prstGeom prst="rect">
              <a:avLst/>
            </a:prstGeom>
          </p:spPr>
        </p:pic>
        <p:pic>
          <p:nvPicPr>
            <p:cNvPr id="17" name="object 17" descr=""/>
            <p:cNvPicPr/>
            <p:nvPr/>
          </p:nvPicPr>
          <p:blipFill>
            <a:blip r:embed="rId6" cstate="print"/>
            <a:stretch>
              <a:fillRect/>
            </a:stretch>
          </p:blipFill>
          <p:spPr>
            <a:xfrm>
              <a:off x="3949445" y="3475481"/>
              <a:ext cx="1499615" cy="339851"/>
            </a:xfrm>
            <a:prstGeom prst="rect">
              <a:avLst/>
            </a:prstGeom>
          </p:spPr>
        </p:pic>
      </p:grpSp>
      <p:sp>
        <p:nvSpPr>
          <p:cNvPr id="18" name="object 18" descr=""/>
          <p:cNvSpPr txBox="1"/>
          <p:nvPr/>
        </p:nvSpPr>
        <p:spPr>
          <a:xfrm>
            <a:off x="4068902" y="3526878"/>
            <a:ext cx="1246505" cy="269875"/>
          </a:xfrm>
          <a:prstGeom prst="rect">
            <a:avLst/>
          </a:prstGeom>
        </p:spPr>
        <p:txBody>
          <a:bodyPr wrap="square" lIns="0" tIns="12700" rIns="0" bIns="0" rtlCol="0" vert="horz">
            <a:spAutoFit/>
          </a:bodyPr>
          <a:lstStyle/>
          <a:p>
            <a:pPr marL="12700">
              <a:lnSpc>
                <a:spcPct val="100000"/>
              </a:lnSpc>
              <a:spcBef>
                <a:spcPts val="100"/>
              </a:spcBef>
            </a:pPr>
            <a:r>
              <a:rPr dirty="0" sz="1600" spc="-10" b="1">
                <a:latin typeface="Microsoft YaHei"/>
                <a:cs typeface="Microsoft YaHei"/>
              </a:rPr>
              <a:t>以视觉为核心</a:t>
            </a:r>
            <a:endParaRPr sz="1600">
              <a:latin typeface="Microsoft YaHei"/>
              <a:cs typeface="Microsoft YaHei"/>
            </a:endParaRPr>
          </a:p>
        </p:txBody>
      </p:sp>
      <p:grpSp>
        <p:nvGrpSpPr>
          <p:cNvPr id="19" name="object 19" descr=""/>
          <p:cNvGrpSpPr/>
          <p:nvPr/>
        </p:nvGrpSpPr>
        <p:grpSpPr>
          <a:xfrm>
            <a:off x="152400" y="4083918"/>
            <a:ext cx="8837295" cy="977265"/>
            <a:chOff x="152400" y="4083918"/>
            <a:chExt cx="8837295" cy="977265"/>
          </a:xfrm>
        </p:grpSpPr>
        <p:sp>
          <p:nvSpPr>
            <p:cNvPr id="20" name="object 20" descr=""/>
            <p:cNvSpPr/>
            <p:nvPr/>
          </p:nvSpPr>
          <p:spPr>
            <a:xfrm>
              <a:off x="7685608" y="4804816"/>
              <a:ext cx="330200" cy="124460"/>
            </a:xfrm>
            <a:custGeom>
              <a:avLst/>
              <a:gdLst/>
              <a:ahLst/>
              <a:cxnLst/>
              <a:rect l="l" t="t" r="r" b="b"/>
              <a:pathLst>
                <a:path w="330200" h="124460">
                  <a:moveTo>
                    <a:pt x="330098" y="0"/>
                  </a:moveTo>
                  <a:lnTo>
                    <a:pt x="0" y="0"/>
                  </a:lnTo>
                  <a:lnTo>
                    <a:pt x="0" y="88900"/>
                  </a:lnTo>
                  <a:lnTo>
                    <a:pt x="0" y="124460"/>
                  </a:lnTo>
                  <a:lnTo>
                    <a:pt x="109740" y="124460"/>
                  </a:lnTo>
                  <a:lnTo>
                    <a:pt x="109740" y="88900"/>
                  </a:lnTo>
                  <a:lnTo>
                    <a:pt x="202704" y="88900"/>
                  </a:lnTo>
                  <a:lnTo>
                    <a:pt x="202704" y="124460"/>
                  </a:lnTo>
                  <a:lnTo>
                    <a:pt x="330098" y="124460"/>
                  </a:lnTo>
                  <a:lnTo>
                    <a:pt x="330098" y="88900"/>
                  </a:lnTo>
                  <a:lnTo>
                    <a:pt x="330098" y="0"/>
                  </a:lnTo>
                  <a:close/>
                </a:path>
              </a:pathLst>
            </a:custGeom>
            <a:solidFill>
              <a:srgbClr val="000000"/>
            </a:solidFill>
          </p:spPr>
          <p:txBody>
            <a:bodyPr wrap="square" lIns="0" tIns="0" rIns="0" bIns="0" rtlCol="0"/>
            <a:lstStyle/>
            <a:p/>
          </p:txBody>
        </p:sp>
        <p:sp>
          <p:nvSpPr>
            <p:cNvPr id="21" name="object 21" descr=""/>
            <p:cNvSpPr/>
            <p:nvPr/>
          </p:nvSpPr>
          <p:spPr>
            <a:xfrm>
              <a:off x="8015706" y="4804816"/>
              <a:ext cx="81915" cy="125095"/>
            </a:xfrm>
            <a:custGeom>
              <a:avLst/>
              <a:gdLst/>
              <a:ahLst/>
              <a:cxnLst/>
              <a:rect l="l" t="t" r="r" b="b"/>
              <a:pathLst>
                <a:path w="81915" h="125095">
                  <a:moveTo>
                    <a:pt x="81762" y="0"/>
                  </a:moveTo>
                  <a:lnTo>
                    <a:pt x="0" y="0"/>
                  </a:lnTo>
                  <a:lnTo>
                    <a:pt x="0" y="124675"/>
                  </a:lnTo>
                  <a:lnTo>
                    <a:pt x="81762" y="124675"/>
                  </a:lnTo>
                  <a:lnTo>
                    <a:pt x="81762" y="0"/>
                  </a:lnTo>
                  <a:close/>
                </a:path>
              </a:pathLst>
            </a:custGeom>
            <a:solidFill>
              <a:srgbClr val="DAEDEF"/>
            </a:solidFill>
          </p:spPr>
          <p:txBody>
            <a:bodyPr wrap="square" lIns="0" tIns="0" rIns="0" bIns="0" rtlCol="0"/>
            <a:lstStyle/>
            <a:p/>
          </p:txBody>
        </p:sp>
        <p:sp>
          <p:nvSpPr>
            <p:cNvPr id="22" name="object 22" descr=""/>
            <p:cNvSpPr/>
            <p:nvPr/>
          </p:nvSpPr>
          <p:spPr>
            <a:xfrm>
              <a:off x="7718755" y="4856594"/>
              <a:ext cx="248920" cy="17145"/>
            </a:xfrm>
            <a:custGeom>
              <a:avLst/>
              <a:gdLst/>
              <a:ahLst/>
              <a:cxnLst/>
              <a:rect l="l" t="t" r="r" b="b"/>
              <a:pathLst>
                <a:path w="248920" h="17145">
                  <a:moveTo>
                    <a:pt x="22809" y="0"/>
                  </a:moveTo>
                  <a:lnTo>
                    <a:pt x="0" y="0"/>
                  </a:lnTo>
                  <a:lnTo>
                    <a:pt x="0" y="17030"/>
                  </a:lnTo>
                  <a:lnTo>
                    <a:pt x="22809" y="17030"/>
                  </a:lnTo>
                  <a:lnTo>
                    <a:pt x="22809" y="0"/>
                  </a:lnTo>
                  <a:close/>
                </a:path>
                <a:path w="248920" h="17145">
                  <a:moveTo>
                    <a:pt x="76606" y="0"/>
                  </a:moveTo>
                  <a:lnTo>
                    <a:pt x="53365" y="0"/>
                  </a:lnTo>
                  <a:lnTo>
                    <a:pt x="53365" y="17030"/>
                  </a:lnTo>
                  <a:lnTo>
                    <a:pt x="76606" y="17030"/>
                  </a:lnTo>
                  <a:lnTo>
                    <a:pt x="76606" y="0"/>
                  </a:lnTo>
                  <a:close/>
                </a:path>
                <a:path w="248920" h="17145">
                  <a:moveTo>
                    <a:pt x="133832" y="0"/>
                  </a:moveTo>
                  <a:lnTo>
                    <a:pt x="112318" y="0"/>
                  </a:lnTo>
                  <a:lnTo>
                    <a:pt x="112318" y="17030"/>
                  </a:lnTo>
                  <a:lnTo>
                    <a:pt x="133832" y="17030"/>
                  </a:lnTo>
                  <a:lnTo>
                    <a:pt x="133832" y="0"/>
                  </a:lnTo>
                  <a:close/>
                </a:path>
                <a:path w="248920" h="17145">
                  <a:moveTo>
                    <a:pt x="191058" y="0"/>
                  </a:moveTo>
                  <a:lnTo>
                    <a:pt x="169557" y="0"/>
                  </a:lnTo>
                  <a:lnTo>
                    <a:pt x="169557" y="17030"/>
                  </a:lnTo>
                  <a:lnTo>
                    <a:pt x="191058" y="17030"/>
                  </a:lnTo>
                  <a:lnTo>
                    <a:pt x="191058" y="0"/>
                  </a:lnTo>
                  <a:close/>
                </a:path>
                <a:path w="248920" h="17145">
                  <a:moveTo>
                    <a:pt x="248742" y="0"/>
                  </a:moveTo>
                  <a:lnTo>
                    <a:pt x="226796" y="0"/>
                  </a:lnTo>
                  <a:lnTo>
                    <a:pt x="226796" y="17030"/>
                  </a:lnTo>
                  <a:lnTo>
                    <a:pt x="248742" y="17030"/>
                  </a:lnTo>
                  <a:lnTo>
                    <a:pt x="248742" y="0"/>
                  </a:lnTo>
                  <a:close/>
                </a:path>
              </a:pathLst>
            </a:custGeom>
            <a:solidFill>
              <a:srgbClr val="FFFFFF"/>
            </a:solidFill>
          </p:spPr>
          <p:txBody>
            <a:bodyPr wrap="square" lIns="0" tIns="0" rIns="0" bIns="0" rtlCol="0"/>
            <a:lstStyle/>
            <a:p/>
          </p:txBody>
        </p:sp>
        <p:sp>
          <p:nvSpPr>
            <p:cNvPr id="23" name="object 23" descr=""/>
            <p:cNvSpPr/>
            <p:nvPr/>
          </p:nvSpPr>
          <p:spPr>
            <a:xfrm>
              <a:off x="7751877" y="4669231"/>
              <a:ext cx="276860" cy="27305"/>
            </a:xfrm>
            <a:custGeom>
              <a:avLst/>
              <a:gdLst/>
              <a:ahLst/>
              <a:cxnLst/>
              <a:rect l="l" t="t" r="r" b="b"/>
              <a:pathLst>
                <a:path w="276859" h="27304">
                  <a:moveTo>
                    <a:pt x="50787" y="27254"/>
                  </a:moveTo>
                  <a:lnTo>
                    <a:pt x="49491" y="0"/>
                  </a:lnTo>
                  <a:lnTo>
                    <a:pt x="1295" y="0"/>
                  </a:lnTo>
                  <a:lnTo>
                    <a:pt x="0" y="27254"/>
                  </a:lnTo>
                  <a:lnTo>
                    <a:pt x="50787" y="27254"/>
                  </a:lnTo>
                  <a:close/>
                </a:path>
                <a:path w="276859" h="27304">
                  <a:moveTo>
                    <a:pt x="164401" y="27254"/>
                  </a:moveTo>
                  <a:lnTo>
                    <a:pt x="161823" y="0"/>
                  </a:lnTo>
                  <a:lnTo>
                    <a:pt x="114909" y="0"/>
                  </a:lnTo>
                  <a:lnTo>
                    <a:pt x="113614" y="27254"/>
                  </a:lnTo>
                  <a:lnTo>
                    <a:pt x="164401" y="27254"/>
                  </a:lnTo>
                  <a:close/>
                </a:path>
                <a:path w="276859" h="27304">
                  <a:moveTo>
                    <a:pt x="276733" y="27254"/>
                  </a:moveTo>
                  <a:lnTo>
                    <a:pt x="275437" y="0"/>
                  </a:lnTo>
                  <a:lnTo>
                    <a:pt x="228104" y="0"/>
                  </a:lnTo>
                  <a:lnTo>
                    <a:pt x="225513" y="27254"/>
                  </a:lnTo>
                  <a:lnTo>
                    <a:pt x="276733" y="27254"/>
                  </a:lnTo>
                  <a:close/>
                </a:path>
              </a:pathLst>
            </a:custGeom>
            <a:solidFill>
              <a:srgbClr val="000000"/>
            </a:solidFill>
          </p:spPr>
          <p:txBody>
            <a:bodyPr wrap="square" lIns="0" tIns="0" rIns="0" bIns="0" rtlCol="0"/>
            <a:lstStyle/>
            <a:p/>
          </p:txBody>
        </p:sp>
        <p:sp>
          <p:nvSpPr>
            <p:cNvPr id="24" name="object 24" descr=""/>
            <p:cNvSpPr/>
            <p:nvPr/>
          </p:nvSpPr>
          <p:spPr>
            <a:xfrm>
              <a:off x="7744142" y="4703635"/>
              <a:ext cx="292735" cy="102235"/>
            </a:xfrm>
            <a:custGeom>
              <a:avLst/>
              <a:gdLst/>
              <a:ahLst/>
              <a:cxnLst/>
              <a:rect l="l" t="t" r="r" b="b"/>
              <a:pathLst>
                <a:path w="292734" h="102235">
                  <a:moveTo>
                    <a:pt x="66281" y="102196"/>
                  </a:moveTo>
                  <a:lnTo>
                    <a:pt x="58534" y="0"/>
                  </a:lnTo>
                  <a:lnTo>
                    <a:pt x="7747" y="0"/>
                  </a:lnTo>
                  <a:lnTo>
                    <a:pt x="0" y="102196"/>
                  </a:lnTo>
                  <a:lnTo>
                    <a:pt x="66281" y="102196"/>
                  </a:lnTo>
                  <a:close/>
                </a:path>
                <a:path w="292734" h="102235">
                  <a:moveTo>
                    <a:pt x="178600" y="102196"/>
                  </a:moveTo>
                  <a:lnTo>
                    <a:pt x="172135" y="0"/>
                  </a:lnTo>
                  <a:lnTo>
                    <a:pt x="120065" y="0"/>
                  </a:lnTo>
                  <a:lnTo>
                    <a:pt x="113614" y="102196"/>
                  </a:lnTo>
                  <a:lnTo>
                    <a:pt x="178600" y="102196"/>
                  </a:lnTo>
                  <a:close/>
                </a:path>
                <a:path w="292734" h="102235">
                  <a:moveTo>
                    <a:pt x="292214" y="102196"/>
                  </a:moveTo>
                  <a:lnTo>
                    <a:pt x="285750" y="0"/>
                  </a:lnTo>
                  <a:lnTo>
                    <a:pt x="233248" y="0"/>
                  </a:lnTo>
                  <a:lnTo>
                    <a:pt x="227228" y="102196"/>
                  </a:lnTo>
                  <a:lnTo>
                    <a:pt x="292214" y="102196"/>
                  </a:lnTo>
                  <a:close/>
                </a:path>
              </a:pathLst>
            </a:custGeom>
            <a:solidFill>
              <a:srgbClr val="DAEDEF"/>
            </a:solidFill>
          </p:spPr>
          <p:txBody>
            <a:bodyPr wrap="square" lIns="0" tIns="0" rIns="0" bIns="0" rtlCol="0"/>
            <a:lstStyle/>
            <a:p/>
          </p:txBody>
        </p:sp>
        <p:sp>
          <p:nvSpPr>
            <p:cNvPr id="25" name="object 25" descr=""/>
            <p:cNvSpPr/>
            <p:nvPr/>
          </p:nvSpPr>
          <p:spPr>
            <a:xfrm>
              <a:off x="8222283" y="4593535"/>
              <a:ext cx="430530" cy="340995"/>
            </a:xfrm>
            <a:custGeom>
              <a:avLst/>
              <a:gdLst/>
              <a:ahLst/>
              <a:cxnLst/>
              <a:rect l="l" t="t" r="r" b="b"/>
              <a:pathLst>
                <a:path w="430529" h="340995">
                  <a:moveTo>
                    <a:pt x="215036" y="0"/>
                  </a:moveTo>
                  <a:lnTo>
                    <a:pt x="165717" y="4495"/>
                  </a:lnTo>
                  <a:lnTo>
                    <a:pt x="120459" y="17299"/>
                  </a:lnTo>
                  <a:lnTo>
                    <a:pt x="80536" y="37391"/>
                  </a:lnTo>
                  <a:lnTo>
                    <a:pt x="47239" y="63749"/>
                  </a:lnTo>
                  <a:lnTo>
                    <a:pt x="21856" y="95351"/>
                  </a:lnTo>
                  <a:lnTo>
                    <a:pt x="5679" y="131177"/>
                  </a:lnTo>
                  <a:lnTo>
                    <a:pt x="0" y="170205"/>
                  </a:lnTo>
                  <a:lnTo>
                    <a:pt x="5679" y="209233"/>
                  </a:lnTo>
                  <a:lnTo>
                    <a:pt x="21857" y="245061"/>
                  </a:lnTo>
                  <a:lnTo>
                    <a:pt x="47242" y="276666"/>
                  </a:lnTo>
                  <a:lnTo>
                    <a:pt x="80543" y="303027"/>
                  </a:lnTo>
                  <a:lnTo>
                    <a:pt x="120470" y="323121"/>
                  </a:lnTo>
                  <a:lnTo>
                    <a:pt x="165731" y="335927"/>
                  </a:lnTo>
                  <a:lnTo>
                    <a:pt x="215036" y="340423"/>
                  </a:lnTo>
                  <a:lnTo>
                    <a:pt x="264340" y="335927"/>
                  </a:lnTo>
                  <a:lnTo>
                    <a:pt x="309599" y="323121"/>
                  </a:lnTo>
                  <a:lnTo>
                    <a:pt x="349524" y="303027"/>
                  </a:lnTo>
                  <a:lnTo>
                    <a:pt x="382822" y="276666"/>
                  </a:lnTo>
                  <a:lnTo>
                    <a:pt x="408205" y="245061"/>
                  </a:lnTo>
                  <a:lnTo>
                    <a:pt x="424381" y="209233"/>
                  </a:lnTo>
                  <a:lnTo>
                    <a:pt x="430060" y="170205"/>
                  </a:lnTo>
                  <a:lnTo>
                    <a:pt x="424381" y="131177"/>
                  </a:lnTo>
                  <a:lnTo>
                    <a:pt x="408205" y="95351"/>
                  </a:lnTo>
                  <a:lnTo>
                    <a:pt x="382822" y="63749"/>
                  </a:lnTo>
                  <a:lnTo>
                    <a:pt x="349524" y="37391"/>
                  </a:lnTo>
                  <a:lnTo>
                    <a:pt x="309599" y="17299"/>
                  </a:lnTo>
                  <a:lnTo>
                    <a:pt x="264340" y="4495"/>
                  </a:lnTo>
                  <a:lnTo>
                    <a:pt x="215036" y="0"/>
                  </a:lnTo>
                  <a:close/>
                </a:path>
              </a:pathLst>
            </a:custGeom>
            <a:solidFill>
              <a:srgbClr val="000000"/>
            </a:solidFill>
          </p:spPr>
          <p:txBody>
            <a:bodyPr wrap="square" lIns="0" tIns="0" rIns="0" bIns="0" rtlCol="0"/>
            <a:lstStyle/>
            <a:p/>
          </p:txBody>
        </p:sp>
        <p:sp>
          <p:nvSpPr>
            <p:cNvPr id="26" name="object 26" descr=""/>
            <p:cNvSpPr/>
            <p:nvPr/>
          </p:nvSpPr>
          <p:spPr>
            <a:xfrm>
              <a:off x="8258833" y="4620085"/>
              <a:ext cx="357505" cy="282575"/>
            </a:xfrm>
            <a:custGeom>
              <a:avLst/>
              <a:gdLst/>
              <a:ahLst/>
              <a:cxnLst/>
              <a:rect l="l" t="t" r="r" b="b"/>
              <a:pathLst>
                <a:path w="357504" h="282575">
                  <a:moveTo>
                    <a:pt x="178485" y="0"/>
                  </a:moveTo>
                  <a:lnTo>
                    <a:pt x="122069" y="7201"/>
                  </a:lnTo>
                  <a:lnTo>
                    <a:pt x="73073" y="27256"/>
                  </a:lnTo>
                  <a:lnTo>
                    <a:pt x="34436" y="57837"/>
                  </a:lnTo>
                  <a:lnTo>
                    <a:pt x="9099" y="96619"/>
                  </a:lnTo>
                  <a:lnTo>
                    <a:pt x="0" y="141274"/>
                  </a:lnTo>
                  <a:lnTo>
                    <a:pt x="9099" y="185930"/>
                  </a:lnTo>
                  <a:lnTo>
                    <a:pt x="34436" y="224711"/>
                  </a:lnTo>
                  <a:lnTo>
                    <a:pt x="73073" y="255293"/>
                  </a:lnTo>
                  <a:lnTo>
                    <a:pt x="122069" y="275347"/>
                  </a:lnTo>
                  <a:lnTo>
                    <a:pt x="178485" y="282549"/>
                  </a:lnTo>
                  <a:lnTo>
                    <a:pt x="234895" y="275347"/>
                  </a:lnTo>
                  <a:lnTo>
                    <a:pt x="283888" y="255293"/>
                  </a:lnTo>
                  <a:lnTo>
                    <a:pt x="322523" y="224711"/>
                  </a:lnTo>
                  <a:lnTo>
                    <a:pt x="347859" y="185930"/>
                  </a:lnTo>
                  <a:lnTo>
                    <a:pt x="356958" y="141274"/>
                  </a:lnTo>
                  <a:lnTo>
                    <a:pt x="347859" y="96619"/>
                  </a:lnTo>
                  <a:lnTo>
                    <a:pt x="322523" y="57837"/>
                  </a:lnTo>
                  <a:lnTo>
                    <a:pt x="283888" y="27256"/>
                  </a:lnTo>
                  <a:lnTo>
                    <a:pt x="234895" y="7201"/>
                  </a:lnTo>
                  <a:lnTo>
                    <a:pt x="178485" y="0"/>
                  </a:lnTo>
                  <a:close/>
                </a:path>
              </a:pathLst>
            </a:custGeom>
            <a:solidFill>
              <a:srgbClr val="FFFFFF"/>
            </a:solidFill>
          </p:spPr>
          <p:txBody>
            <a:bodyPr wrap="square" lIns="0" tIns="0" rIns="0" bIns="0" rtlCol="0"/>
            <a:lstStyle/>
            <a:p/>
          </p:txBody>
        </p:sp>
        <p:pic>
          <p:nvPicPr>
            <p:cNvPr id="27" name="object 27" descr=""/>
            <p:cNvPicPr/>
            <p:nvPr/>
          </p:nvPicPr>
          <p:blipFill>
            <a:blip r:embed="rId7" cstate="print"/>
            <a:stretch>
              <a:fillRect/>
            </a:stretch>
          </p:blipFill>
          <p:spPr>
            <a:xfrm>
              <a:off x="8295233" y="4649241"/>
              <a:ext cx="284175" cy="196024"/>
            </a:xfrm>
            <a:prstGeom prst="rect">
              <a:avLst/>
            </a:prstGeom>
          </p:spPr>
        </p:pic>
        <p:sp>
          <p:nvSpPr>
            <p:cNvPr id="28" name="object 28" descr=""/>
            <p:cNvSpPr/>
            <p:nvPr/>
          </p:nvSpPr>
          <p:spPr>
            <a:xfrm>
              <a:off x="8408505" y="4737239"/>
              <a:ext cx="187960" cy="49530"/>
            </a:xfrm>
            <a:custGeom>
              <a:avLst/>
              <a:gdLst/>
              <a:ahLst/>
              <a:cxnLst/>
              <a:rect l="l" t="t" r="r" b="b"/>
              <a:pathLst>
                <a:path w="187959" h="49529">
                  <a:moveTo>
                    <a:pt x="187388" y="16916"/>
                  </a:moveTo>
                  <a:lnTo>
                    <a:pt x="181546" y="11074"/>
                  </a:lnTo>
                  <a:lnTo>
                    <a:pt x="56172" y="11074"/>
                  </a:lnTo>
                  <a:lnTo>
                    <a:pt x="52857" y="7188"/>
                  </a:lnTo>
                  <a:lnTo>
                    <a:pt x="43014" y="1930"/>
                  </a:lnTo>
                  <a:lnTo>
                    <a:pt x="30975" y="0"/>
                  </a:lnTo>
                  <a:lnTo>
                    <a:pt x="18910" y="1930"/>
                  </a:lnTo>
                  <a:lnTo>
                    <a:pt x="9067" y="7188"/>
                  </a:lnTo>
                  <a:lnTo>
                    <a:pt x="2425" y="14973"/>
                  </a:lnTo>
                  <a:lnTo>
                    <a:pt x="0" y="24511"/>
                  </a:lnTo>
                  <a:lnTo>
                    <a:pt x="2425" y="34061"/>
                  </a:lnTo>
                  <a:lnTo>
                    <a:pt x="9067" y="41846"/>
                  </a:lnTo>
                  <a:lnTo>
                    <a:pt x="18910" y="47104"/>
                  </a:lnTo>
                  <a:lnTo>
                    <a:pt x="30975" y="49022"/>
                  </a:lnTo>
                  <a:lnTo>
                    <a:pt x="43014" y="47104"/>
                  </a:lnTo>
                  <a:lnTo>
                    <a:pt x="52857" y="41846"/>
                  </a:lnTo>
                  <a:lnTo>
                    <a:pt x="56832" y="37185"/>
                  </a:lnTo>
                  <a:lnTo>
                    <a:pt x="181546" y="37185"/>
                  </a:lnTo>
                  <a:lnTo>
                    <a:pt x="187388" y="31343"/>
                  </a:lnTo>
                  <a:lnTo>
                    <a:pt x="187388" y="16916"/>
                  </a:lnTo>
                  <a:close/>
                </a:path>
              </a:pathLst>
            </a:custGeom>
            <a:solidFill>
              <a:srgbClr val="FFFFFF"/>
            </a:solidFill>
          </p:spPr>
          <p:txBody>
            <a:bodyPr wrap="square" lIns="0" tIns="0" rIns="0" bIns="0" rtlCol="0"/>
            <a:lstStyle/>
            <a:p/>
          </p:txBody>
        </p:sp>
        <p:pic>
          <p:nvPicPr>
            <p:cNvPr id="29" name="object 29" descr=""/>
            <p:cNvPicPr/>
            <p:nvPr/>
          </p:nvPicPr>
          <p:blipFill>
            <a:blip r:embed="rId8" cstate="print"/>
            <a:stretch>
              <a:fillRect/>
            </a:stretch>
          </p:blipFill>
          <p:spPr>
            <a:xfrm>
              <a:off x="7452320" y="4303902"/>
              <a:ext cx="230952" cy="335440"/>
            </a:xfrm>
            <a:prstGeom prst="rect">
              <a:avLst/>
            </a:prstGeom>
          </p:spPr>
        </p:pic>
        <p:sp>
          <p:nvSpPr>
            <p:cNvPr id="30" name="object 30" descr=""/>
            <p:cNvSpPr/>
            <p:nvPr/>
          </p:nvSpPr>
          <p:spPr>
            <a:xfrm>
              <a:off x="7804104" y="4083918"/>
              <a:ext cx="628650" cy="306705"/>
            </a:xfrm>
            <a:custGeom>
              <a:avLst/>
              <a:gdLst/>
              <a:ahLst/>
              <a:cxnLst/>
              <a:rect l="l" t="t" r="r" b="b"/>
              <a:pathLst>
                <a:path w="628650" h="306704">
                  <a:moveTo>
                    <a:pt x="416064" y="0"/>
                  </a:moveTo>
                  <a:lnTo>
                    <a:pt x="352993" y="15251"/>
                  </a:lnTo>
                  <a:lnTo>
                    <a:pt x="312115" y="54533"/>
                  </a:lnTo>
                  <a:lnTo>
                    <a:pt x="309714" y="60680"/>
                  </a:lnTo>
                  <a:lnTo>
                    <a:pt x="283679" y="50774"/>
                  </a:lnTo>
                  <a:lnTo>
                    <a:pt x="275159" y="48949"/>
                  </a:lnTo>
                  <a:lnTo>
                    <a:pt x="266396" y="47620"/>
                  </a:lnTo>
                  <a:lnTo>
                    <a:pt x="257417" y="46808"/>
                  </a:lnTo>
                  <a:lnTo>
                    <a:pt x="244182" y="46532"/>
                  </a:lnTo>
                  <a:lnTo>
                    <a:pt x="208752" y="50772"/>
                  </a:lnTo>
                  <a:lnTo>
                    <a:pt x="177566" y="62639"/>
                  </a:lnTo>
                  <a:lnTo>
                    <a:pt x="152241" y="80854"/>
                  </a:lnTo>
                  <a:lnTo>
                    <a:pt x="134391" y="104139"/>
                  </a:lnTo>
                  <a:lnTo>
                    <a:pt x="131102" y="112534"/>
                  </a:lnTo>
                  <a:lnTo>
                    <a:pt x="122593" y="112534"/>
                  </a:lnTo>
                  <a:lnTo>
                    <a:pt x="74875" y="120160"/>
                  </a:lnTo>
                  <a:lnTo>
                    <a:pt x="35907" y="140958"/>
                  </a:lnTo>
                  <a:lnTo>
                    <a:pt x="9634" y="171808"/>
                  </a:lnTo>
                  <a:lnTo>
                    <a:pt x="0" y="209588"/>
                  </a:lnTo>
                  <a:lnTo>
                    <a:pt x="9634" y="247360"/>
                  </a:lnTo>
                  <a:lnTo>
                    <a:pt x="35907" y="278206"/>
                  </a:lnTo>
                  <a:lnTo>
                    <a:pt x="74875" y="299002"/>
                  </a:lnTo>
                  <a:lnTo>
                    <a:pt x="122593" y="306628"/>
                  </a:lnTo>
                  <a:lnTo>
                    <a:pt x="505586" y="306628"/>
                  </a:lnTo>
                  <a:lnTo>
                    <a:pt x="553304" y="299002"/>
                  </a:lnTo>
                  <a:lnTo>
                    <a:pt x="592272" y="278206"/>
                  </a:lnTo>
                  <a:lnTo>
                    <a:pt x="618545" y="247360"/>
                  </a:lnTo>
                  <a:lnTo>
                    <a:pt x="628180" y="209588"/>
                  </a:lnTo>
                  <a:lnTo>
                    <a:pt x="620740" y="176218"/>
                  </a:lnTo>
                  <a:lnTo>
                    <a:pt x="600184" y="147853"/>
                  </a:lnTo>
                  <a:lnTo>
                    <a:pt x="569153" y="126584"/>
                  </a:lnTo>
                  <a:lnTo>
                    <a:pt x="530288" y="114503"/>
                  </a:lnTo>
                  <a:lnTo>
                    <a:pt x="526973" y="114249"/>
                  </a:lnTo>
                  <a:lnTo>
                    <a:pt x="528878" y="99326"/>
                  </a:lnTo>
                  <a:lnTo>
                    <a:pt x="528878" y="89293"/>
                  </a:lnTo>
                  <a:lnTo>
                    <a:pt x="520013" y="54537"/>
                  </a:lnTo>
                  <a:lnTo>
                    <a:pt x="495836" y="26154"/>
                  </a:lnTo>
                  <a:lnTo>
                    <a:pt x="459977" y="7017"/>
                  </a:lnTo>
                  <a:lnTo>
                    <a:pt x="416064" y="0"/>
                  </a:lnTo>
                  <a:close/>
                </a:path>
              </a:pathLst>
            </a:custGeom>
            <a:solidFill>
              <a:srgbClr val="747474"/>
            </a:solidFill>
          </p:spPr>
          <p:txBody>
            <a:bodyPr wrap="square" lIns="0" tIns="0" rIns="0" bIns="0" rtlCol="0"/>
            <a:lstStyle/>
            <a:p/>
          </p:txBody>
        </p:sp>
        <p:pic>
          <p:nvPicPr>
            <p:cNvPr id="31" name="object 31" descr=""/>
            <p:cNvPicPr/>
            <p:nvPr/>
          </p:nvPicPr>
          <p:blipFill>
            <a:blip r:embed="rId9" cstate="print"/>
            <a:stretch>
              <a:fillRect/>
            </a:stretch>
          </p:blipFill>
          <p:spPr>
            <a:xfrm>
              <a:off x="7645113" y="4390544"/>
              <a:ext cx="153367" cy="93289"/>
            </a:xfrm>
            <a:prstGeom prst="rect">
              <a:avLst/>
            </a:prstGeom>
          </p:spPr>
        </p:pic>
        <p:pic>
          <p:nvPicPr>
            <p:cNvPr id="32" name="object 32" descr=""/>
            <p:cNvPicPr/>
            <p:nvPr/>
          </p:nvPicPr>
          <p:blipFill>
            <a:blip r:embed="rId10" cstate="print"/>
            <a:stretch>
              <a:fillRect/>
            </a:stretch>
          </p:blipFill>
          <p:spPr>
            <a:xfrm>
              <a:off x="7883568" y="4438554"/>
              <a:ext cx="89090" cy="166284"/>
            </a:xfrm>
            <a:prstGeom prst="rect">
              <a:avLst/>
            </a:prstGeom>
          </p:spPr>
        </p:pic>
        <p:pic>
          <p:nvPicPr>
            <p:cNvPr id="33" name="object 33" descr=""/>
            <p:cNvPicPr/>
            <p:nvPr/>
          </p:nvPicPr>
          <p:blipFill>
            <a:blip r:embed="rId11" cstate="print"/>
            <a:stretch>
              <a:fillRect/>
            </a:stretch>
          </p:blipFill>
          <p:spPr>
            <a:xfrm>
              <a:off x="8256933" y="4429395"/>
              <a:ext cx="116086" cy="153625"/>
            </a:xfrm>
            <a:prstGeom prst="rect">
              <a:avLst/>
            </a:prstGeom>
          </p:spPr>
        </p:pic>
        <p:pic>
          <p:nvPicPr>
            <p:cNvPr id="34" name="object 34" descr=""/>
            <p:cNvPicPr/>
            <p:nvPr/>
          </p:nvPicPr>
          <p:blipFill>
            <a:blip r:embed="rId12" cstate="print"/>
            <a:stretch>
              <a:fillRect/>
            </a:stretch>
          </p:blipFill>
          <p:spPr>
            <a:xfrm>
              <a:off x="8533927" y="4382048"/>
              <a:ext cx="191990" cy="101785"/>
            </a:xfrm>
            <a:prstGeom prst="rect">
              <a:avLst/>
            </a:prstGeom>
          </p:spPr>
        </p:pic>
        <p:sp>
          <p:nvSpPr>
            <p:cNvPr id="35" name="object 35" descr=""/>
            <p:cNvSpPr/>
            <p:nvPr/>
          </p:nvSpPr>
          <p:spPr>
            <a:xfrm>
              <a:off x="8765463" y="4521243"/>
              <a:ext cx="224790" cy="298450"/>
            </a:xfrm>
            <a:custGeom>
              <a:avLst/>
              <a:gdLst/>
              <a:ahLst/>
              <a:cxnLst/>
              <a:rect l="l" t="t" r="r" b="b"/>
              <a:pathLst>
                <a:path w="224790" h="298450">
                  <a:moveTo>
                    <a:pt x="206222" y="0"/>
                  </a:moveTo>
                  <a:lnTo>
                    <a:pt x="17970" y="0"/>
                  </a:lnTo>
                  <a:lnTo>
                    <a:pt x="10972" y="1413"/>
                  </a:lnTo>
                  <a:lnTo>
                    <a:pt x="5260" y="5265"/>
                  </a:lnTo>
                  <a:lnTo>
                    <a:pt x="1411" y="10978"/>
                  </a:lnTo>
                  <a:lnTo>
                    <a:pt x="0" y="17970"/>
                  </a:lnTo>
                  <a:lnTo>
                    <a:pt x="0" y="280390"/>
                  </a:lnTo>
                  <a:lnTo>
                    <a:pt x="1411" y="287380"/>
                  </a:lnTo>
                  <a:lnTo>
                    <a:pt x="5260" y="293089"/>
                  </a:lnTo>
                  <a:lnTo>
                    <a:pt x="10972" y="296937"/>
                  </a:lnTo>
                  <a:lnTo>
                    <a:pt x="17970" y="298348"/>
                  </a:lnTo>
                  <a:lnTo>
                    <a:pt x="206222" y="298348"/>
                  </a:lnTo>
                  <a:lnTo>
                    <a:pt x="213220" y="296937"/>
                  </a:lnTo>
                  <a:lnTo>
                    <a:pt x="218932" y="293089"/>
                  </a:lnTo>
                  <a:lnTo>
                    <a:pt x="222781" y="287380"/>
                  </a:lnTo>
                  <a:lnTo>
                    <a:pt x="224193" y="280390"/>
                  </a:lnTo>
                  <a:lnTo>
                    <a:pt x="224193" y="17970"/>
                  </a:lnTo>
                  <a:lnTo>
                    <a:pt x="222781" y="10978"/>
                  </a:lnTo>
                  <a:lnTo>
                    <a:pt x="218932" y="5265"/>
                  </a:lnTo>
                  <a:lnTo>
                    <a:pt x="213220" y="1413"/>
                  </a:lnTo>
                  <a:lnTo>
                    <a:pt x="206222" y="0"/>
                  </a:lnTo>
                  <a:close/>
                </a:path>
              </a:pathLst>
            </a:custGeom>
            <a:solidFill>
              <a:srgbClr val="787878"/>
            </a:solidFill>
          </p:spPr>
          <p:txBody>
            <a:bodyPr wrap="square" lIns="0" tIns="0" rIns="0" bIns="0" rtlCol="0"/>
            <a:lstStyle/>
            <a:p/>
          </p:txBody>
        </p:sp>
        <p:pic>
          <p:nvPicPr>
            <p:cNvPr id="36" name="object 36" descr=""/>
            <p:cNvPicPr/>
            <p:nvPr/>
          </p:nvPicPr>
          <p:blipFill>
            <a:blip r:embed="rId13" cstate="print"/>
            <a:stretch>
              <a:fillRect/>
            </a:stretch>
          </p:blipFill>
          <p:spPr>
            <a:xfrm>
              <a:off x="8793469" y="4552825"/>
              <a:ext cx="157492" cy="154509"/>
            </a:xfrm>
            <a:prstGeom prst="rect">
              <a:avLst/>
            </a:prstGeom>
          </p:spPr>
        </p:pic>
        <p:pic>
          <p:nvPicPr>
            <p:cNvPr id="37" name="object 37"/>
            <p:cNvPicPr/>
            <p:nvPr/>
          </p:nvPicPr>
          <p:blipFill>
            <a:blip r:embed="rId14" cstate="print"/>
            <a:stretch>
              <a:fillRect/>
            </a:stretch>
          </p:blipFill>
          <p:spPr>
            <a:xfrm>
              <a:off x="152400" y="4227944"/>
              <a:ext cx="1539280" cy="833074"/>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2802" y="135544"/>
            <a:ext cx="3279140" cy="513080"/>
          </a:xfrm>
          <a:prstGeom prst="rect"/>
        </p:spPr>
        <p:txBody>
          <a:bodyPr wrap="square" lIns="0" tIns="12065" rIns="0" bIns="0" rtlCol="0" vert="horz">
            <a:spAutoFit/>
          </a:bodyPr>
          <a:lstStyle/>
          <a:p>
            <a:pPr marL="12700">
              <a:lnSpc>
                <a:spcPct val="100000"/>
              </a:lnSpc>
              <a:spcBef>
                <a:spcPts val="95"/>
              </a:spcBef>
            </a:pPr>
            <a:r>
              <a:rPr dirty="0" spc="-45"/>
              <a:t>工业视觉应用案例</a:t>
            </a:r>
          </a:p>
        </p:txBody>
      </p:sp>
      <p:pic>
        <p:nvPicPr>
          <p:cNvPr id="3" name="object 3"/>
          <p:cNvPicPr/>
          <p:nvPr/>
        </p:nvPicPr>
        <p:blipFill>
          <a:blip r:embed="rId2" cstate="print"/>
          <a:stretch>
            <a:fillRect/>
          </a:stretch>
        </p:blipFill>
        <p:spPr>
          <a:xfrm>
            <a:off x="683567" y="895350"/>
            <a:ext cx="3409984" cy="1772445"/>
          </a:xfrm>
          <a:prstGeom prst="rect">
            <a:avLst/>
          </a:prstGeom>
        </p:spPr>
      </p:pic>
      <p:sp>
        <p:nvSpPr>
          <p:cNvPr id="4" name="object 4" descr=""/>
          <p:cNvSpPr txBox="1"/>
          <p:nvPr/>
        </p:nvSpPr>
        <p:spPr>
          <a:xfrm>
            <a:off x="1475428" y="2661390"/>
            <a:ext cx="2138680"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002060"/>
                </a:solidFill>
                <a:latin typeface="Microsoft YaHei"/>
                <a:cs typeface="Microsoft YaHei"/>
              </a:rPr>
              <a:t>电子产品</a:t>
            </a:r>
            <a:r>
              <a:rPr dirty="0" sz="1400" spc="-10" b="1">
                <a:solidFill>
                  <a:srgbClr val="002060"/>
                </a:solidFill>
                <a:latin typeface="Microsoft YaHei"/>
                <a:cs typeface="Microsoft YaHei"/>
              </a:rPr>
              <a:t>CPE</a:t>
            </a:r>
            <a:r>
              <a:rPr dirty="0" sz="1400" spc="-25" b="1">
                <a:solidFill>
                  <a:srgbClr val="002060"/>
                </a:solidFill>
                <a:latin typeface="Microsoft YaHei"/>
                <a:cs typeface="Microsoft YaHei"/>
              </a:rPr>
              <a:t>外观检测案例</a:t>
            </a:r>
            <a:endParaRPr sz="1400">
              <a:latin typeface="Microsoft YaHei"/>
              <a:cs typeface="Microsoft YaHei"/>
            </a:endParaRPr>
          </a:p>
        </p:txBody>
      </p:sp>
      <p:grpSp>
        <p:nvGrpSpPr>
          <p:cNvPr id="5" name="object 5" descr=""/>
          <p:cNvGrpSpPr/>
          <p:nvPr/>
        </p:nvGrpSpPr>
        <p:grpSpPr>
          <a:xfrm>
            <a:off x="4836757" y="910572"/>
            <a:ext cx="3850004" cy="1969135"/>
            <a:chOff x="4836757" y="910572"/>
            <a:chExt cx="3850004" cy="1969135"/>
          </a:xfrm>
        </p:grpSpPr>
        <p:pic>
          <p:nvPicPr>
            <p:cNvPr id="6" name="object 6"/>
            <p:cNvPicPr/>
            <p:nvPr/>
          </p:nvPicPr>
          <p:blipFill>
            <a:blip r:embed="rId3" cstate="print"/>
            <a:stretch>
              <a:fillRect/>
            </a:stretch>
          </p:blipFill>
          <p:spPr>
            <a:xfrm>
              <a:off x="4836757" y="910572"/>
              <a:ext cx="3849705" cy="1865012"/>
            </a:xfrm>
            <a:prstGeom prst="rect">
              <a:avLst/>
            </a:prstGeom>
          </p:spPr>
        </p:pic>
        <p:sp>
          <p:nvSpPr>
            <p:cNvPr id="7" name="object 7" descr=""/>
            <p:cNvSpPr/>
            <p:nvPr/>
          </p:nvSpPr>
          <p:spPr>
            <a:xfrm>
              <a:off x="6084163" y="2571750"/>
              <a:ext cx="2159635" cy="307975"/>
            </a:xfrm>
            <a:custGeom>
              <a:avLst/>
              <a:gdLst/>
              <a:ahLst/>
              <a:cxnLst/>
              <a:rect l="l" t="t" r="r" b="b"/>
              <a:pathLst>
                <a:path w="2159634" h="307975">
                  <a:moveTo>
                    <a:pt x="2159571" y="0"/>
                  </a:moveTo>
                  <a:lnTo>
                    <a:pt x="0" y="0"/>
                  </a:lnTo>
                  <a:lnTo>
                    <a:pt x="0" y="307771"/>
                  </a:lnTo>
                  <a:lnTo>
                    <a:pt x="2159571" y="307771"/>
                  </a:lnTo>
                  <a:lnTo>
                    <a:pt x="2159571" y="0"/>
                  </a:lnTo>
                  <a:close/>
                </a:path>
              </a:pathLst>
            </a:custGeom>
            <a:solidFill>
              <a:srgbClr val="FFFFFF"/>
            </a:solidFill>
          </p:spPr>
          <p:txBody>
            <a:bodyPr wrap="square" lIns="0" tIns="0" rIns="0" bIns="0" rtlCol="0"/>
            <a:lstStyle/>
            <a:p/>
          </p:txBody>
        </p:sp>
      </p:grpSp>
      <p:sp>
        <p:nvSpPr>
          <p:cNvPr id="8" name="object 8" descr=""/>
          <p:cNvSpPr txBox="1"/>
          <p:nvPr/>
        </p:nvSpPr>
        <p:spPr>
          <a:xfrm>
            <a:off x="6162907" y="2598672"/>
            <a:ext cx="1978660"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002060"/>
                </a:solidFill>
                <a:latin typeface="Microsoft YaHei"/>
                <a:cs typeface="Microsoft YaHei"/>
              </a:rPr>
              <a:t>异形注塑件外观检测案例</a:t>
            </a:r>
            <a:endParaRPr sz="1400">
              <a:latin typeface="Microsoft YaHei"/>
              <a:cs typeface="Microsoft YaHei"/>
            </a:endParaRPr>
          </a:p>
        </p:txBody>
      </p:sp>
      <p:grpSp>
        <p:nvGrpSpPr>
          <p:cNvPr id="9" name="object 9" descr=""/>
          <p:cNvGrpSpPr/>
          <p:nvPr/>
        </p:nvGrpSpPr>
        <p:grpSpPr>
          <a:xfrm>
            <a:off x="683567" y="2962903"/>
            <a:ext cx="3371850" cy="1974214"/>
            <a:chOff x="683567" y="2962903"/>
            <a:chExt cx="3371850" cy="1974214"/>
          </a:xfrm>
        </p:grpSpPr>
        <p:pic>
          <p:nvPicPr>
            <p:cNvPr id="10" name="object 10"/>
            <p:cNvPicPr/>
            <p:nvPr/>
          </p:nvPicPr>
          <p:blipFill>
            <a:blip r:embed="rId4" cstate="print"/>
            <a:stretch>
              <a:fillRect/>
            </a:stretch>
          </p:blipFill>
          <p:spPr>
            <a:xfrm>
              <a:off x="683567" y="2962903"/>
              <a:ext cx="3371567" cy="1699499"/>
            </a:xfrm>
            <a:prstGeom prst="rect">
              <a:avLst/>
            </a:prstGeom>
          </p:spPr>
        </p:pic>
        <p:sp>
          <p:nvSpPr>
            <p:cNvPr id="11" name="object 11" descr=""/>
            <p:cNvSpPr/>
            <p:nvPr/>
          </p:nvSpPr>
          <p:spPr>
            <a:xfrm>
              <a:off x="1295400" y="4629150"/>
              <a:ext cx="2159635" cy="307975"/>
            </a:xfrm>
            <a:custGeom>
              <a:avLst/>
              <a:gdLst/>
              <a:ahLst/>
              <a:cxnLst/>
              <a:rect l="l" t="t" r="r" b="b"/>
              <a:pathLst>
                <a:path w="2159635" h="307975">
                  <a:moveTo>
                    <a:pt x="2159571" y="0"/>
                  </a:moveTo>
                  <a:lnTo>
                    <a:pt x="0" y="0"/>
                  </a:lnTo>
                  <a:lnTo>
                    <a:pt x="0" y="307771"/>
                  </a:lnTo>
                  <a:lnTo>
                    <a:pt x="2159571" y="307771"/>
                  </a:lnTo>
                  <a:lnTo>
                    <a:pt x="2159571" y="0"/>
                  </a:lnTo>
                  <a:close/>
                </a:path>
              </a:pathLst>
            </a:custGeom>
            <a:solidFill>
              <a:srgbClr val="FFFFFF"/>
            </a:solidFill>
          </p:spPr>
          <p:txBody>
            <a:bodyPr wrap="square" lIns="0" tIns="0" rIns="0" bIns="0" rtlCol="0"/>
            <a:lstStyle/>
            <a:p/>
          </p:txBody>
        </p:sp>
      </p:grpSp>
      <p:grpSp>
        <p:nvGrpSpPr>
          <p:cNvPr id="12" name="object 12" descr=""/>
          <p:cNvGrpSpPr/>
          <p:nvPr/>
        </p:nvGrpSpPr>
        <p:grpSpPr>
          <a:xfrm>
            <a:off x="4960697" y="2932841"/>
            <a:ext cx="3687445" cy="2004695"/>
            <a:chOff x="4960697" y="2932841"/>
            <a:chExt cx="3687445" cy="2004695"/>
          </a:xfrm>
        </p:grpSpPr>
        <p:pic>
          <p:nvPicPr>
            <p:cNvPr id="13" name="object 13"/>
            <p:cNvPicPr/>
            <p:nvPr/>
          </p:nvPicPr>
          <p:blipFill>
            <a:blip r:embed="rId5" cstate="print"/>
            <a:stretch>
              <a:fillRect/>
            </a:stretch>
          </p:blipFill>
          <p:spPr>
            <a:xfrm>
              <a:off x="4960697" y="2932841"/>
              <a:ext cx="3687096" cy="1796036"/>
            </a:xfrm>
            <a:prstGeom prst="rect">
              <a:avLst/>
            </a:prstGeom>
          </p:spPr>
        </p:pic>
        <p:sp>
          <p:nvSpPr>
            <p:cNvPr id="14" name="object 14" descr=""/>
            <p:cNvSpPr/>
            <p:nvPr/>
          </p:nvSpPr>
          <p:spPr>
            <a:xfrm>
              <a:off x="5867400" y="4629150"/>
              <a:ext cx="1800860" cy="307975"/>
            </a:xfrm>
            <a:custGeom>
              <a:avLst/>
              <a:gdLst/>
              <a:ahLst/>
              <a:cxnLst/>
              <a:rect l="l" t="t" r="r" b="b"/>
              <a:pathLst>
                <a:path w="1800859" h="307975">
                  <a:moveTo>
                    <a:pt x="1800491" y="0"/>
                  </a:moveTo>
                  <a:lnTo>
                    <a:pt x="0" y="0"/>
                  </a:lnTo>
                  <a:lnTo>
                    <a:pt x="0" y="307771"/>
                  </a:lnTo>
                  <a:lnTo>
                    <a:pt x="1800491" y="307771"/>
                  </a:lnTo>
                  <a:lnTo>
                    <a:pt x="1800491" y="0"/>
                  </a:lnTo>
                  <a:close/>
                </a:path>
              </a:pathLst>
            </a:custGeom>
            <a:solidFill>
              <a:srgbClr val="FFFFFF"/>
            </a:solidFill>
          </p:spPr>
          <p:txBody>
            <a:bodyPr wrap="square" lIns="0" tIns="0" rIns="0" bIns="0" rtlCol="0"/>
            <a:lstStyle/>
            <a:p/>
          </p:txBody>
        </p:sp>
      </p:grpSp>
      <p:sp>
        <p:nvSpPr>
          <p:cNvPr id="15" name="object 15" descr=""/>
          <p:cNvSpPr txBox="1"/>
          <p:nvPr/>
        </p:nvSpPr>
        <p:spPr>
          <a:xfrm>
            <a:off x="1374139" y="4656073"/>
            <a:ext cx="1978660"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002060"/>
                </a:solidFill>
                <a:latin typeface="Microsoft YaHei"/>
                <a:cs typeface="Microsoft YaHei"/>
              </a:rPr>
              <a:t>电池视觉定位与外观检测</a:t>
            </a:r>
            <a:endParaRPr sz="1400">
              <a:latin typeface="Microsoft YaHei"/>
              <a:cs typeface="Microsoft YaHei"/>
            </a:endParaRPr>
          </a:p>
        </p:txBody>
      </p:sp>
      <p:sp>
        <p:nvSpPr>
          <p:cNvPr id="16" name="object 16" descr=""/>
          <p:cNvSpPr txBox="1"/>
          <p:nvPr/>
        </p:nvSpPr>
        <p:spPr>
          <a:xfrm>
            <a:off x="5946140" y="4656073"/>
            <a:ext cx="1623695" cy="238760"/>
          </a:xfrm>
          <a:prstGeom prst="rect">
            <a:avLst/>
          </a:prstGeom>
        </p:spPr>
        <p:txBody>
          <a:bodyPr wrap="square" lIns="0" tIns="12065" rIns="0" bIns="0" rtlCol="0" vert="horz">
            <a:spAutoFit/>
          </a:bodyPr>
          <a:lstStyle/>
          <a:p>
            <a:pPr marL="12700">
              <a:lnSpc>
                <a:spcPct val="100000"/>
              </a:lnSpc>
              <a:spcBef>
                <a:spcPts val="95"/>
              </a:spcBef>
            </a:pPr>
            <a:r>
              <a:rPr dirty="0" sz="1400" spc="-25" b="1">
                <a:solidFill>
                  <a:srgbClr val="002060"/>
                </a:solidFill>
                <a:latin typeface="Microsoft YaHei"/>
                <a:cs typeface="Microsoft YaHei"/>
              </a:rPr>
              <a:t>电路板外观缺陷检测</a:t>
            </a:r>
            <a:endParaRPr sz="1400">
              <a:latin typeface="Microsoft YaHei"/>
              <a:cs typeface="Microsoft YaHe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a:latin typeface="Microsoft YaHei"/>
                <a:cs typeface="Microsoft YaHei"/>
              </a:rPr>
              <a:t>一、 </a:t>
            </a:r>
            <a:r>
              <a:rPr dirty="0" sz="2400" spc="-20">
                <a:latin typeface="Times New Roman"/>
                <a:cs typeface="Times New Roman"/>
              </a:rPr>
              <a:t>5G</a:t>
            </a:r>
            <a:r>
              <a:rPr dirty="0" sz="2400" spc="-5">
                <a:latin typeface="Microsoft YaHei"/>
                <a:cs typeface="Microsoft YaHei"/>
              </a:rPr>
              <a:t>系统与网络典型业务概述</a:t>
            </a:r>
            <a:endParaRPr sz="2400">
              <a:latin typeface="Microsoft YaHei"/>
              <a:cs typeface="Microsoft YaHei"/>
            </a:endParaRPr>
          </a:p>
          <a:p>
            <a:pPr algn="just" marL="12700" marR="5080">
              <a:lnSpc>
                <a:spcPct val="177100"/>
              </a:lnSpc>
              <a:spcBef>
                <a:spcPts val="5"/>
              </a:spcBef>
            </a:pPr>
            <a:r>
              <a:rPr dirty="0" sz="2400" spc="-40">
                <a:latin typeface="Microsoft YaHei"/>
                <a:cs typeface="Microsoft YaHei"/>
              </a:rPr>
              <a:t>二、 </a:t>
            </a:r>
            <a:r>
              <a:rPr dirty="0" sz="2400" spc="-20">
                <a:latin typeface="Times New Roman"/>
                <a:cs typeface="Times New Roman"/>
              </a:rPr>
              <a:t>5G</a:t>
            </a:r>
            <a:r>
              <a:rPr dirty="0" sz="2400" spc="-5">
                <a:latin typeface="Microsoft YaHei"/>
                <a:cs typeface="Microsoft YaHei"/>
              </a:rPr>
              <a:t>系统与网络业务场景分类</a:t>
            </a:r>
            <a:r>
              <a:rPr dirty="0" sz="2400" spc="-40">
                <a:latin typeface="Microsoft YaHei"/>
                <a:cs typeface="Microsoft YaHei"/>
              </a:rPr>
              <a:t>三、 </a:t>
            </a:r>
            <a:r>
              <a:rPr dirty="0" sz="2400" spc="-20">
                <a:latin typeface="Times New Roman"/>
                <a:cs typeface="Times New Roman"/>
              </a:rPr>
              <a:t>5G</a:t>
            </a:r>
            <a:r>
              <a:rPr dirty="0" sz="2400" spc="-5">
                <a:latin typeface="Microsoft YaHei"/>
                <a:cs typeface="Microsoft YaHei"/>
              </a:rPr>
              <a:t>系统与网络典型业务模型</a:t>
            </a:r>
            <a:r>
              <a:rPr dirty="0" sz="2400" spc="-40">
                <a:latin typeface="Microsoft YaHei"/>
                <a:cs typeface="Microsoft YaHei"/>
              </a:rPr>
              <a:t>四、 </a:t>
            </a:r>
            <a:r>
              <a:rPr dirty="0" sz="2400" spc="-20">
                <a:latin typeface="Times New Roman"/>
                <a:cs typeface="Times New Roman"/>
              </a:rPr>
              <a:t>5G</a:t>
            </a:r>
            <a:r>
              <a:rPr dirty="0" sz="2400" spc="-5">
                <a:latin typeface="Microsoft YaHei"/>
                <a:cs typeface="Microsoft YaHei"/>
              </a:rPr>
              <a:t>系统与网络大带宽新业务</a:t>
            </a:r>
            <a:r>
              <a:rPr dirty="0" sz="2400" spc="-40" b="1">
                <a:solidFill>
                  <a:srgbClr val="FF0000"/>
                </a:solidFill>
                <a:latin typeface="Microsoft YaHei"/>
                <a:cs typeface="Microsoft YaHei"/>
              </a:rPr>
              <a:t>五、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a:latin typeface="Microsoft YaHei"/>
                <a:cs typeface="Microsoft YaHei"/>
              </a:rPr>
              <a:t>六、 </a:t>
            </a:r>
            <a:r>
              <a:rPr dirty="0" sz="2400" spc="-20">
                <a:latin typeface="Times New Roman"/>
                <a:cs typeface="Times New Roman"/>
              </a:rPr>
              <a:t>5G</a:t>
            </a:r>
            <a:r>
              <a:rPr dirty="0" sz="2400" spc="-5">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6952" y="1222975"/>
            <a:ext cx="1619999" cy="1007995"/>
          </a:xfrm>
          <a:prstGeom prst="rect">
            <a:avLst/>
          </a:prstGeom>
        </p:spPr>
      </p:pic>
      <p:pic>
        <p:nvPicPr>
          <p:cNvPr id="3" name="object 3"/>
          <p:cNvPicPr/>
          <p:nvPr/>
        </p:nvPicPr>
        <p:blipFill>
          <a:blip r:embed="rId3" cstate="print"/>
          <a:stretch>
            <a:fillRect/>
          </a:stretch>
        </p:blipFill>
        <p:spPr>
          <a:xfrm>
            <a:off x="2654783" y="1222975"/>
            <a:ext cx="1619998" cy="1007995"/>
          </a:xfrm>
          <a:prstGeom prst="rect">
            <a:avLst/>
          </a:prstGeom>
        </p:spPr>
      </p:pic>
      <p:pic>
        <p:nvPicPr>
          <p:cNvPr id="4" name="object 4"/>
          <p:cNvPicPr/>
          <p:nvPr/>
        </p:nvPicPr>
        <p:blipFill>
          <a:blip r:embed="rId4" cstate="print"/>
          <a:stretch>
            <a:fillRect/>
          </a:stretch>
        </p:blipFill>
        <p:spPr>
          <a:xfrm>
            <a:off x="4535894" y="1222975"/>
            <a:ext cx="1619999" cy="1007995"/>
          </a:xfrm>
          <a:prstGeom prst="rect">
            <a:avLst/>
          </a:prstGeom>
        </p:spPr>
      </p:pic>
      <p:pic>
        <p:nvPicPr>
          <p:cNvPr id="5" name="object 5"/>
          <p:cNvPicPr/>
          <p:nvPr/>
        </p:nvPicPr>
        <p:blipFill>
          <a:blip r:embed="rId5" cstate="print"/>
          <a:stretch>
            <a:fillRect/>
          </a:stretch>
        </p:blipFill>
        <p:spPr>
          <a:xfrm>
            <a:off x="6227120" y="1222975"/>
            <a:ext cx="1619993" cy="1007995"/>
          </a:xfrm>
          <a:prstGeom prst="rect">
            <a:avLst/>
          </a:prstGeom>
        </p:spPr>
      </p:pic>
      <p:pic>
        <p:nvPicPr>
          <p:cNvPr id="6" name="object 6"/>
          <p:cNvPicPr/>
          <p:nvPr/>
        </p:nvPicPr>
        <p:blipFill>
          <a:blip r:embed="rId6" cstate="print"/>
          <a:stretch>
            <a:fillRect/>
          </a:stretch>
        </p:blipFill>
        <p:spPr>
          <a:xfrm>
            <a:off x="966952" y="2283716"/>
            <a:ext cx="1619999" cy="1007996"/>
          </a:xfrm>
          <a:prstGeom prst="rect">
            <a:avLst/>
          </a:prstGeom>
        </p:spPr>
      </p:pic>
      <p:pic>
        <p:nvPicPr>
          <p:cNvPr id="7" name="object 7"/>
          <p:cNvPicPr/>
          <p:nvPr/>
        </p:nvPicPr>
        <p:blipFill>
          <a:blip r:embed="rId7" cstate="print"/>
          <a:stretch>
            <a:fillRect/>
          </a:stretch>
        </p:blipFill>
        <p:spPr>
          <a:xfrm>
            <a:off x="2654782" y="2283716"/>
            <a:ext cx="1619999" cy="1007996"/>
          </a:xfrm>
          <a:prstGeom prst="rect">
            <a:avLst/>
          </a:prstGeom>
        </p:spPr>
      </p:pic>
      <p:pic>
        <p:nvPicPr>
          <p:cNvPr id="8" name="object 8"/>
          <p:cNvPicPr/>
          <p:nvPr/>
        </p:nvPicPr>
        <p:blipFill>
          <a:blip r:embed="rId8" cstate="print"/>
          <a:stretch>
            <a:fillRect/>
          </a:stretch>
        </p:blipFill>
        <p:spPr>
          <a:xfrm>
            <a:off x="6227121" y="2283716"/>
            <a:ext cx="1619999" cy="1007996"/>
          </a:xfrm>
          <a:prstGeom prst="rect">
            <a:avLst/>
          </a:prstGeom>
        </p:spPr>
      </p:pic>
      <p:pic>
        <p:nvPicPr>
          <p:cNvPr id="9" name="object 9"/>
          <p:cNvPicPr/>
          <p:nvPr/>
        </p:nvPicPr>
        <p:blipFill>
          <a:blip r:embed="rId9" cstate="print"/>
          <a:stretch>
            <a:fillRect/>
          </a:stretch>
        </p:blipFill>
        <p:spPr>
          <a:xfrm>
            <a:off x="4535894" y="2283716"/>
            <a:ext cx="1619999" cy="1007996"/>
          </a:xfrm>
          <a:prstGeom prst="rect">
            <a:avLst/>
          </a:prstGeom>
        </p:spPr>
      </p:pic>
      <p:sp>
        <p:nvSpPr>
          <p:cNvPr id="10" name="object 10" descr=""/>
          <p:cNvSpPr txBox="1">
            <a:spLocks noGrp="1"/>
          </p:cNvSpPr>
          <p:nvPr>
            <p:ph type="body" idx="1"/>
          </p:nvPr>
        </p:nvSpPr>
        <p:spPr>
          <a:prstGeom prst="rect"/>
        </p:spPr>
        <p:txBody>
          <a:bodyPr wrap="square" lIns="0" tIns="12700" rIns="0" bIns="0" rtlCol="0" vert="horz">
            <a:spAutoFit/>
          </a:bodyPr>
          <a:lstStyle/>
          <a:p>
            <a:pPr algn="just" marL="7435215" marR="5080">
              <a:lnSpc>
                <a:spcPct val="100000"/>
              </a:lnSpc>
              <a:spcBef>
                <a:spcPts val="100"/>
              </a:spcBef>
            </a:pPr>
            <a:r>
              <a:rPr dirty="0" spc="-30">
                <a:solidFill>
                  <a:srgbClr val="00B050"/>
                </a:solidFill>
              </a:rPr>
              <a:t>mMTC</a:t>
            </a:r>
            <a:r>
              <a:rPr dirty="0" spc="-50">
                <a:solidFill>
                  <a:srgbClr val="00B050"/>
                </a:solidFill>
              </a:rPr>
              <a:t>海</a:t>
            </a:r>
            <a:r>
              <a:rPr dirty="0" spc="-15">
                <a:solidFill>
                  <a:srgbClr val="00B050"/>
                </a:solidFill>
              </a:rPr>
              <a:t>量机器类</a:t>
            </a:r>
            <a:r>
              <a:rPr dirty="0" spc="-25">
                <a:solidFill>
                  <a:srgbClr val="00B050"/>
                </a:solidFill>
              </a:rPr>
              <a:t>通信</a:t>
            </a:r>
          </a:p>
          <a:p>
            <a:pPr marL="292735" indent="-280035">
              <a:lnSpc>
                <a:spcPct val="100000"/>
              </a:lnSpc>
              <a:spcBef>
                <a:spcPts val="2165"/>
              </a:spcBef>
              <a:buFont typeface="Wingdings"/>
              <a:buChar char=""/>
              <a:tabLst>
                <a:tab pos="292735" algn="l"/>
              </a:tabLst>
            </a:pPr>
            <a:r>
              <a:rPr dirty="0" sz="1400" spc="-20">
                <a:solidFill>
                  <a:srgbClr val="000000"/>
                </a:solidFill>
              </a:rPr>
              <a:t>5G时代，流量密度、连接密度、时延、峰值速率等</a:t>
            </a:r>
            <a:r>
              <a:rPr dirty="0" sz="1400" spc="-10">
                <a:solidFill>
                  <a:srgbClr val="000000"/>
                </a:solidFill>
              </a:rPr>
              <a:t>8</a:t>
            </a:r>
            <a:r>
              <a:rPr dirty="0" sz="1400" spc="-25">
                <a:solidFill>
                  <a:srgbClr val="000000"/>
                </a:solidFill>
              </a:rPr>
              <a:t>项关键技术指标都有较大幅度的提升</a:t>
            </a:r>
            <a:endParaRPr sz="1400"/>
          </a:p>
        </p:txBody>
      </p:sp>
      <p:sp>
        <p:nvSpPr>
          <p:cNvPr id="11" name="object 11" descr=""/>
          <p:cNvSpPr txBox="1"/>
          <p:nvPr/>
        </p:nvSpPr>
        <p:spPr>
          <a:xfrm>
            <a:off x="394009" y="1963060"/>
            <a:ext cx="482600" cy="574040"/>
          </a:xfrm>
          <a:prstGeom prst="rect">
            <a:avLst/>
          </a:prstGeom>
        </p:spPr>
        <p:txBody>
          <a:bodyPr wrap="square" lIns="0" tIns="12700" rIns="0" bIns="0" rtlCol="0" vert="horz">
            <a:spAutoFit/>
          </a:bodyPr>
          <a:lstStyle/>
          <a:p>
            <a:pPr marL="12700">
              <a:lnSpc>
                <a:spcPct val="100000"/>
              </a:lnSpc>
              <a:spcBef>
                <a:spcPts val="100"/>
              </a:spcBef>
            </a:pPr>
            <a:r>
              <a:rPr dirty="0" sz="1200" spc="-20" b="1">
                <a:solidFill>
                  <a:srgbClr val="00B050"/>
                </a:solidFill>
                <a:latin typeface="Microsoft YaHei"/>
                <a:cs typeface="Microsoft YaHei"/>
              </a:rPr>
              <a:t>eMBB</a:t>
            </a:r>
            <a:endParaRPr sz="1200">
              <a:latin typeface="Microsoft YaHei"/>
              <a:cs typeface="Microsoft YaHei"/>
            </a:endParaRPr>
          </a:p>
          <a:p>
            <a:pPr marL="12700" marR="5080">
              <a:lnSpc>
                <a:spcPct val="100000"/>
              </a:lnSpc>
            </a:pPr>
            <a:r>
              <a:rPr dirty="0" sz="1200" spc="-20" b="1">
                <a:solidFill>
                  <a:srgbClr val="00B050"/>
                </a:solidFill>
                <a:latin typeface="Microsoft YaHei"/>
                <a:cs typeface="Microsoft YaHei"/>
              </a:rPr>
              <a:t>增强移动宽带</a:t>
            </a:r>
            <a:endParaRPr sz="1200">
              <a:latin typeface="Microsoft YaHei"/>
              <a:cs typeface="Microsoft YaHei"/>
            </a:endParaRPr>
          </a:p>
        </p:txBody>
      </p:sp>
      <p:sp>
        <p:nvSpPr>
          <p:cNvPr id="12" name="object 12" descr=""/>
          <p:cNvSpPr txBox="1"/>
          <p:nvPr/>
        </p:nvSpPr>
        <p:spPr>
          <a:xfrm>
            <a:off x="966952" y="909015"/>
            <a:ext cx="3308350" cy="300990"/>
          </a:xfrm>
          <a:prstGeom prst="rect">
            <a:avLst/>
          </a:prstGeom>
          <a:solidFill>
            <a:srgbClr val="000000">
              <a:alpha val="25097"/>
            </a:srgbClr>
          </a:solidFill>
        </p:spPr>
        <p:txBody>
          <a:bodyPr wrap="square" lIns="0" tIns="28575" rIns="0" bIns="0" rtlCol="0" vert="horz">
            <a:spAutoFit/>
          </a:bodyPr>
          <a:lstStyle/>
          <a:p>
            <a:pPr marL="986790">
              <a:lnSpc>
                <a:spcPct val="100000"/>
              </a:lnSpc>
              <a:spcBef>
                <a:spcPts val="225"/>
              </a:spcBef>
            </a:pPr>
            <a:r>
              <a:rPr dirty="0" sz="1500" spc="-10">
                <a:latin typeface="Microsoft YaHei"/>
                <a:cs typeface="Microsoft YaHei"/>
              </a:rPr>
              <a:t>面向移动互联网</a:t>
            </a:r>
            <a:endParaRPr sz="1500">
              <a:latin typeface="Microsoft YaHei"/>
              <a:cs typeface="Microsoft YaHei"/>
            </a:endParaRPr>
          </a:p>
        </p:txBody>
      </p:sp>
      <p:sp>
        <p:nvSpPr>
          <p:cNvPr id="13" name="object 13" descr=""/>
          <p:cNvSpPr txBox="1"/>
          <p:nvPr/>
        </p:nvSpPr>
        <p:spPr>
          <a:xfrm>
            <a:off x="4501794" y="909015"/>
            <a:ext cx="3345815" cy="300990"/>
          </a:xfrm>
          <a:prstGeom prst="rect">
            <a:avLst/>
          </a:prstGeom>
          <a:solidFill>
            <a:srgbClr val="000000">
              <a:alpha val="25097"/>
            </a:srgbClr>
          </a:solidFill>
        </p:spPr>
        <p:txBody>
          <a:bodyPr wrap="square" lIns="0" tIns="28575" rIns="0" bIns="0" rtlCol="0" vert="horz">
            <a:spAutoFit/>
          </a:bodyPr>
          <a:lstStyle/>
          <a:p>
            <a:pPr algn="ctr">
              <a:lnSpc>
                <a:spcPct val="100000"/>
              </a:lnSpc>
              <a:spcBef>
                <a:spcPts val="225"/>
              </a:spcBef>
            </a:pPr>
            <a:r>
              <a:rPr dirty="0" sz="1500" spc="-10">
                <a:latin typeface="Microsoft YaHei"/>
                <a:cs typeface="Microsoft YaHei"/>
              </a:rPr>
              <a:t>面向物联网</a:t>
            </a:r>
            <a:endParaRPr sz="1500">
              <a:latin typeface="Microsoft YaHei"/>
              <a:cs typeface="Microsoft YaHei"/>
            </a:endParaRPr>
          </a:p>
        </p:txBody>
      </p:sp>
      <p:graphicFrame>
        <p:nvGraphicFramePr>
          <p:cNvPr id="14" name="object 14" descr=""/>
          <p:cNvGraphicFramePr>
            <a:graphicFrameLocks noGrp="1"/>
          </p:cNvGraphicFramePr>
          <p:nvPr/>
        </p:nvGraphicFramePr>
        <p:xfrm>
          <a:off x="461965" y="3668752"/>
          <a:ext cx="7773034" cy="1240789"/>
        </p:xfrm>
        <a:graphic>
          <a:graphicData uri="http://schemas.openxmlformats.org/drawingml/2006/table">
            <a:tbl>
              <a:tblPr firstRow="1" bandRow="1">
                <a:tableStyleId>{2D5ABB26-0587-4C30-8999-92F81FD0307C}</a:tableStyleId>
              </a:tblPr>
              <a:tblGrid>
                <a:gridCol w="836294"/>
                <a:gridCol w="1261745"/>
                <a:gridCol w="816610"/>
                <a:gridCol w="1167764"/>
                <a:gridCol w="865505"/>
                <a:gridCol w="1138554"/>
                <a:gridCol w="890904"/>
                <a:gridCol w="706754"/>
              </a:tblGrid>
              <a:tr h="314325">
                <a:tc>
                  <a:txBody>
                    <a:bodyPr/>
                    <a:lstStyle/>
                    <a:p>
                      <a:pPr algn="ctr">
                        <a:lnSpc>
                          <a:spcPct val="100000"/>
                        </a:lnSpc>
                        <a:spcBef>
                          <a:spcPts val="470"/>
                        </a:spcBef>
                      </a:pPr>
                      <a:r>
                        <a:rPr dirty="0" sz="1200" spc="-15" b="1">
                          <a:solidFill>
                            <a:srgbClr val="FFFFFF"/>
                          </a:solidFill>
                          <a:latin typeface="Microsoft YaHei"/>
                          <a:cs typeface="Microsoft YaHei"/>
                        </a:rPr>
                        <a:t>关键指标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流量密度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连接密度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峰值速率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网络能效</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0" b="1">
                          <a:solidFill>
                            <a:srgbClr val="FFFFFF"/>
                          </a:solidFill>
                          <a:latin typeface="Microsoft YaHei"/>
                          <a:cs typeface="Microsoft YaHei"/>
                        </a:rPr>
                        <a:t>用户体验速率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0" b="1">
                          <a:solidFill>
                            <a:srgbClr val="FFFFFF"/>
                          </a:solidFill>
                          <a:latin typeface="Microsoft YaHei"/>
                          <a:cs typeface="Microsoft YaHei"/>
                        </a:rPr>
                        <a:t>移动性</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5" b="1">
                          <a:solidFill>
                            <a:srgbClr val="FFFFFF"/>
                          </a:solidFill>
                          <a:latin typeface="Microsoft YaHei"/>
                          <a:cs typeface="Microsoft YaHei"/>
                        </a:rPr>
                        <a:t>时延</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r>
              <a:tr h="311785">
                <a:tc>
                  <a:txBody>
                    <a:bodyPr/>
                    <a:lstStyle/>
                    <a:p>
                      <a:pPr algn="ctr">
                        <a:lnSpc>
                          <a:spcPct val="100000"/>
                        </a:lnSpc>
                        <a:spcBef>
                          <a:spcPts val="459"/>
                        </a:spcBef>
                      </a:pPr>
                      <a:r>
                        <a:rPr dirty="0" sz="1200" spc="-25">
                          <a:latin typeface="Microsoft YaHei"/>
                          <a:cs typeface="Microsoft YaHei"/>
                        </a:rPr>
                        <a:t>5G</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10Tbps/Km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1M/Km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10[20]Gbps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0">
                          <a:latin typeface="Microsoft YaHei"/>
                          <a:cs typeface="Microsoft YaHei"/>
                        </a:rPr>
                        <a:t>100x</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100Mbps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500km/h</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5">
                          <a:latin typeface="Microsoft YaHei"/>
                          <a:cs typeface="Microsoft YaHei"/>
                        </a:rPr>
                        <a:t>1ms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8610">
                <a:tc>
                  <a:txBody>
                    <a:bodyPr/>
                    <a:lstStyle/>
                    <a:p>
                      <a:pPr algn="ctr">
                        <a:lnSpc>
                          <a:spcPct val="100000"/>
                        </a:lnSpc>
                        <a:spcBef>
                          <a:spcPts val="445"/>
                        </a:spcBef>
                      </a:pPr>
                      <a:r>
                        <a:rPr dirty="0" sz="1200" spc="-25">
                          <a:latin typeface="Microsoft YaHei"/>
                          <a:cs typeface="Microsoft YaHei"/>
                        </a:rPr>
                        <a:t>4G</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10Gbps/Km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1K/Km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25">
                          <a:latin typeface="Microsoft YaHei"/>
                          <a:cs typeface="Microsoft YaHei"/>
                        </a:rPr>
                        <a:t>1x</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&lt;10Mbps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120km/h</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6070">
                <a:tc>
                  <a:txBody>
                    <a:bodyPr/>
                    <a:lstStyle/>
                    <a:p>
                      <a:pPr algn="ctr">
                        <a:lnSpc>
                          <a:spcPct val="100000"/>
                        </a:lnSpc>
                        <a:spcBef>
                          <a:spcPts val="434"/>
                        </a:spcBef>
                      </a:pPr>
                      <a:r>
                        <a:rPr dirty="0" sz="1200">
                          <a:solidFill>
                            <a:srgbClr val="FF0000"/>
                          </a:solidFill>
                          <a:latin typeface="Microsoft YaHei"/>
                          <a:cs typeface="Microsoft YaHei"/>
                        </a:rPr>
                        <a:t>5G</a:t>
                      </a:r>
                      <a:r>
                        <a:rPr dirty="0" sz="1200" spc="-25">
                          <a:solidFill>
                            <a:srgbClr val="FF0000"/>
                          </a:solidFill>
                          <a:latin typeface="Microsoft YaHei"/>
                          <a:cs typeface="Microsoft YaHei"/>
                        </a:rPr>
                        <a:t> </a:t>
                      </a:r>
                      <a:r>
                        <a:rPr dirty="0" sz="1200">
                          <a:solidFill>
                            <a:srgbClr val="FF0000"/>
                          </a:solidFill>
                          <a:latin typeface="Microsoft YaHei"/>
                          <a:cs typeface="Microsoft YaHei"/>
                        </a:rPr>
                        <a:t>vs</a:t>
                      </a:r>
                      <a:r>
                        <a:rPr dirty="0" sz="1200" spc="-20">
                          <a:solidFill>
                            <a:srgbClr val="FF0000"/>
                          </a:solidFill>
                          <a:latin typeface="Microsoft YaHei"/>
                          <a:cs typeface="Microsoft YaHei"/>
                        </a:rPr>
                        <a:t> </a:t>
                      </a:r>
                      <a:r>
                        <a:rPr dirty="0" sz="1200" spc="-25">
                          <a:solidFill>
                            <a:srgbClr val="FF0000"/>
                          </a:solidFill>
                          <a:latin typeface="Microsoft YaHei"/>
                          <a:cs typeface="Microsoft YaHei"/>
                        </a:rPr>
                        <a:t>4G</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↑&gt;4</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20">
                          <a:solidFill>
                            <a:srgbClr val="FF0000"/>
                          </a:solidFill>
                          <a:latin typeface="Microsoft YaHei"/>
                          <a:cs typeface="Microsoft YaHei"/>
                        </a:rPr>
                        <a:t>↓&gt;0.1</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r>
            </a:tbl>
          </a:graphicData>
        </a:graphic>
      </p:graphicFrame>
      <p:sp>
        <p:nvSpPr>
          <p:cNvPr id="15" name="object 15" descr=""/>
          <p:cNvSpPr txBox="1"/>
          <p:nvPr/>
        </p:nvSpPr>
        <p:spPr>
          <a:xfrm>
            <a:off x="7972761" y="1461496"/>
            <a:ext cx="648335" cy="574040"/>
          </a:xfrm>
          <a:prstGeom prst="rect">
            <a:avLst/>
          </a:prstGeom>
        </p:spPr>
        <p:txBody>
          <a:bodyPr wrap="square" lIns="0" tIns="12700" rIns="0" bIns="0" rtlCol="0" vert="horz">
            <a:spAutoFit/>
          </a:bodyPr>
          <a:lstStyle/>
          <a:p>
            <a:pPr algn="just" marL="12700" marR="5080">
              <a:lnSpc>
                <a:spcPct val="100000"/>
              </a:lnSpc>
              <a:spcBef>
                <a:spcPts val="100"/>
              </a:spcBef>
            </a:pPr>
            <a:r>
              <a:rPr dirty="0" sz="1200" spc="-25" b="1">
                <a:solidFill>
                  <a:srgbClr val="FF0000"/>
                </a:solidFill>
                <a:latin typeface="Microsoft YaHei"/>
                <a:cs typeface="Microsoft YaHei"/>
              </a:rPr>
              <a:t>uRLLC</a:t>
            </a:r>
            <a:r>
              <a:rPr dirty="0" sz="1200" spc="-50" b="1">
                <a:solidFill>
                  <a:srgbClr val="FF0000"/>
                </a:solidFill>
                <a:latin typeface="Microsoft YaHei"/>
                <a:cs typeface="Microsoft YaHei"/>
              </a:rPr>
              <a:t>超</a:t>
            </a:r>
            <a:r>
              <a:rPr dirty="0" sz="1200" spc="-15" b="1">
                <a:solidFill>
                  <a:srgbClr val="FF0000"/>
                </a:solidFill>
                <a:latin typeface="Microsoft YaHei"/>
                <a:cs typeface="Microsoft YaHei"/>
              </a:rPr>
              <a:t>高可靠低时延通信</a:t>
            </a:r>
            <a:endParaRPr sz="1200">
              <a:latin typeface="Microsoft YaHei"/>
              <a:cs typeface="Microsoft YaHei"/>
            </a:endParaRPr>
          </a:p>
        </p:txBody>
      </p:sp>
      <p:sp>
        <p:nvSpPr>
          <p:cNvPr id="16" name="object 16"/>
          <p:cNvSpPr txBox="1">
            <a:spLocks noGrp="1"/>
          </p:cNvSpPr>
          <p:nvPr>
            <p:ph type="title"/>
          </p:nvPr>
        </p:nvSpPr>
        <p:spPr>
          <a:xfrm>
            <a:off x="3307683" y="129231"/>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网络应用优势</a:t>
            </a:r>
          </a:p>
        </p:txBody>
      </p:sp>
      <p:sp>
        <p:nvSpPr>
          <p:cNvPr id="17" name="object 17" descr=""/>
          <p:cNvSpPr/>
          <p:nvPr/>
        </p:nvSpPr>
        <p:spPr>
          <a:xfrm>
            <a:off x="7812360" y="1275600"/>
            <a:ext cx="1082675" cy="991869"/>
          </a:xfrm>
          <a:custGeom>
            <a:avLst/>
            <a:gdLst/>
            <a:ahLst/>
            <a:cxnLst/>
            <a:rect l="l" t="t" r="r" b="b"/>
            <a:pathLst>
              <a:path w="1082675" h="991869">
                <a:moveTo>
                  <a:pt x="0" y="495782"/>
                </a:moveTo>
                <a:lnTo>
                  <a:pt x="2211" y="450656"/>
                </a:lnTo>
                <a:lnTo>
                  <a:pt x="8720" y="406665"/>
                </a:lnTo>
                <a:lnTo>
                  <a:pt x="19334" y="363984"/>
                </a:lnTo>
                <a:lnTo>
                  <a:pt x="33862" y="322788"/>
                </a:lnTo>
                <a:lnTo>
                  <a:pt x="52113" y="283252"/>
                </a:lnTo>
                <a:lnTo>
                  <a:pt x="73897" y="245552"/>
                </a:lnTo>
                <a:lnTo>
                  <a:pt x="99022" y="209861"/>
                </a:lnTo>
                <a:lnTo>
                  <a:pt x="127297" y="176356"/>
                </a:lnTo>
                <a:lnTo>
                  <a:pt x="158530" y="145211"/>
                </a:lnTo>
                <a:lnTo>
                  <a:pt x="192532" y="116602"/>
                </a:lnTo>
                <a:lnTo>
                  <a:pt x="229111" y="90702"/>
                </a:lnTo>
                <a:lnTo>
                  <a:pt x="268075" y="67689"/>
                </a:lnTo>
                <a:lnTo>
                  <a:pt x="309234" y="47735"/>
                </a:lnTo>
                <a:lnTo>
                  <a:pt x="352396" y="31017"/>
                </a:lnTo>
                <a:lnTo>
                  <a:pt x="397371" y="17709"/>
                </a:lnTo>
                <a:lnTo>
                  <a:pt x="443968" y="7987"/>
                </a:lnTo>
                <a:lnTo>
                  <a:pt x="491995" y="2026"/>
                </a:lnTo>
                <a:lnTo>
                  <a:pt x="541261" y="0"/>
                </a:lnTo>
                <a:lnTo>
                  <a:pt x="590525" y="2026"/>
                </a:lnTo>
                <a:lnTo>
                  <a:pt x="638550" y="7987"/>
                </a:lnTo>
                <a:lnTo>
                  <a:pt x="685145" y="17709"/>
                </a:lnTo>
                <a:lnTo>
                  <a:pt x="730119" y="31017"/>
                </a:lnTo>
                <a:lnTo>
                  <a:pt x="773280" y="47735"/>
                </a:lnTo>
                <a:lnTo>
                  <a:pt x="814438" y="67689"/>
                </a:lnTo>
                <a:lnTo>
                  <a:pt x="853401" y="90702"/>
                </a:lnTo>
                <a:lnTo>
                  <a:pt x="889979" y="116602"/>
                </a:lnTo>
                <a:lnTo>
                  <a:pt x="923980" y="145211"/>
                </a:lnTo>
                <a:lnTo>
                  <a:pt x="955213" y="176356"/>
                </a:lnTo>
                <a:lnTo>
                  <a:pt x="983488" y="209861"/>
                </a:lnTo>
                <a:lnTo>
                  <a:pt x="1008612" y="245552"/>
                </a:lnTo>
                <a:lnTo>
                  <a:pt x="1030396" y="283252"/>
                </a:lnTo>
                <a:lnTo>
                  <a:pt x="1048647" y="322788"/>
                </a:lnTo>
                <a:lnTo>
                  <a:pt x="1063175" y="363984"/>
                </a:lnTo>
                <a:lnTo>
                  <a:pt x="1073789" y="406665"/>
                </a:lnTo>
                <a:lnTo>
                  <a:pt x="1080297" y="450656"/>
                </a:lnTo>
                <a:lnTo>
                  <a:pt x="1082509" y="495782"/>
                </a:lnTo>
                <a:lnTo>
                  <a:pt x="1080297" y="540908"/>
                </a:lnTo>
                <a:lnTo>
                  <a:pt x="1073789" y="584899"/>
                </a:lnTo>
                <a:lnTo>
                  <a:pt x="1063175" y="627580"/>
                </a:lnTo>
                <a:lnTo>
                  <a:pt x="1048647" y="668776"/>
                </a:lnTo>
                <a:lnTo>
                  <a:pt x="1030396" y="708312"/>
                </a:lnTo>
                <a:lnTo>
                  <a:pt x="1008612" y="746013"/>
                </a:lnTo>
                <a:lnTo>
                  <a:pt x="983488" y="781703"/>
                </a:lnTo>
                <a:lnTo>
                  <a:pt x="955213" y="815208"/>
                </a:lnTo>
                <a:lnTo>
                  <a:pt x="923980" y="846353"/>
                </a:lnTo>
                <a:lnTo>
                  <a:pt x="889979" y="874962"/>
                </a:lnTo>
                <a:lnTo>
                  <a:pt x="853401" y="900862"/>
                </a:lnTo>
                <a:lnTo>
                  <a:pt x="814438" y="923876"/>
                </a:lnTo>
                <a:lnTo>
                  <a:pt x="773280" y="943829"/>
                </a:lnTo>
                <a:lnTo>
                  <a:pt x="730119" y="960547"/>
                </a:lnTo>
                <a:lnTo>
                  <a:pt x="685145" y="973855"/>
                </a:lnTo>
                <a:lnTo>
                  <a:pt x="638550" y="983577"/>
                </a:lnTo>
                <a:lnTo>
                  <a:pt x="590525" y="989539"/>
                </a:lnTo>
                <a:lnTo>
                  <a:pt x="541261" y="991565"/>
                </a:lnTo>
                <a:lnTo>
                  <a:pt x="491995" y="989539"/>
                </a:lnTo>
                <a:lnTo>
                  <a:pt x="443968" y="983577"/>
                </a:lnTo>
                <a:lnTo>
                  <a:pt x="397371" y="973855"/>
                </a:lnTo>
                <a:lnTo>
                  <a:pt x="352396" y="960547"/>
                </a:lnTo>
                <a:lnTo>
                  <a:pt x="309234" y="943829"/>
                </a:lnTo>
                <a:lnTo>
                  <a:pt x="268075" y="923876"/>
                </a:lnTo>
                <a:lnTo>
                  <a:pt x="229111" y="900862"/>
                </a:lnTo>
                <a:lnTo>
                  <a:pt x="192532" y="874962"/>
                </a:lnTo>
                <a:lnTo>
                  <a:pt x="158530" y="846353"/>
                </a:lnTo>
                <a:lnTo>
                  <a:pt x="127297" y="815208"/>
                </a:lnTo>
                <a:lnTo>
                  <a:pt x="99022" y="781703"/>
                </a:lnTo>
                <a:lnTo>
                  <a:pt x="73897" y="746013"/>
                </a:lnTo>
                <a:lnTo>
                  <a:pt x="52113" y="708312"/>
                </a:lnTo>
                <a:lnTo>
                  <a:pt x="33862" y="668776"/>
                </a:lnTo>
                <a:lnTo>
                  <a:pt x="19334" y="627580"/>
                </a:lnTo>
                <a:lnTo>
                  <a:pt x="8720" y="584899"/>
                </a:lnTo>
                <a:lnTo>
                  <a:pt x="2211" y="540908"/>
                </a:lnTo>
                <a:lnTo>
                  <a:pt x="0" y="495782"/>
                </a:lnTo>
                <a:close/>
              </a:path>
            </a:pathLst>
          </a:custGeom>
          <a:ln w="28575">
            <a:solidFill>
              <a:srgbClr val="FF0000"/>
            </a:solidFill>
          </a:ln>
        </p:spPr>
        <p:txBody>
          <a:bodyPr wrap="square" lIns="0" tIns="0" rIns="0" bIns="0" rtlCol="0"/>
          <a:lstStyl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1818" y="97642"/>
            <a:ext cx="5896610" cy="513080"/>
          </a:xfrm>
          <a:prstGeom prst="rect"/>
        </p:spPr>
        <p:txBody>
          <a:bodyPr wrap="square" lIns="0" tIns="12065" rIns="0" bIns="0" rtlCol="0" vert="horz">
            <a:spAutoFit/>
          </a:bodyPr>
          <a:lstStyle/>
          <a:p>
            <a:pPr marL="12700">
              <a:lnSpc>
                <a:spcPct val="100000"/>
              </a:lnSpc>
              <a:spcBef>
                <a:spcPts val="95"/>
              </a:spcBef>
            </a:pPr>
            <a:r>
              <a:rPr dirty="0">
                <a:latin typeface="Times New Roman"/>
                <a:cs typeface="Times New Roman"/>
              </a:rPr>
              <a:t>3GPP</a:t>
            </a:r>
            <a:r>
              <a:rPr dirty="0" spc="-45"/>
              <a:t>车联网</a:t>
            </a:r>
            <a:r>
              <a:rPr dirty="0" spc="-30">
                <a:latin typeface="Times New Roman"/>
                <a:cs typeface="Times New Roman"/>
              </a:rPr>
              <a:t>V2X</a:t>
            </a:r>
            <a:r>
              <a:rPr dirty="0" spc="-45"/>
              <a:t>标准演进时间表</a:t>
            </a:r>
          </a:p>
        </p:txBody>
      </p:sp>
      <p:pic>
        <p:nvPicPr>
          <p:cNvPr id="3" name="object 3"/>
          <p:cNvPicPr/>
          <p:nvPr/>
        </p:nvPicPr>
        <p:blipFill>
          <a:blip r:embed="rId2" cstate="print"/>
          <a:stretch>
            <a:fillRect/>
          </a:stretch>
        </p:blipFill>
        <p:spPr>
          <a:xfrm>
            <a:off x="835596" y="843559"/>
            <a:ext cx="7180257" cy="2785059"/>
          </a:xfrm>
          <a:prstGeom prst="rect">
            <a:avLst/>
          </a:prstGeom>
        </p:spPr>
      </p:pic>
      <p:sp>
        <p:nvSpPr>
          <p:cNvPr id="4" name="object 4" descr=""/>
          <p:cNvSpPr txBox="1"/>
          <p:nvPr/>
        </p:nvSpPr>
        <p:spPr>
          <a:xfrm>
            <a:off x="347281" y="3772636"/>
            <a:ext cx="8425180" cy="1103630"/>
          </a:xfrm>
          <a:prstGeom prst="rect">
            <a:avLst/>
          </a:prstGeom>
          <a:ln w="9525">
            <a:solidFill>
              <a:srgbClr val="808080"/>
            </a:solidFill>
          </a:ln>
        </p:spPr>
        <p:txBody>
          <a:bodyPr wrap="square" lIns="0" tIns="48260" rIns="0" bIns="0" rtlCol="0" vert="horz">
            <a:spAutoFit/>
          </a:bodyPr>
          <a:lstStyle/>
          <a:p>
            <a:pPr marL="353695" indent="-285750">
              <a:lnSpc>
                <a:spcPct val="100000"/>
              </a:lnSpc>
              <a:spcBef>
                <a:spcPts val="380"/>
              </a:spcBef>
              <a:buFont typeface="Arial MT"/>
              <a:buChar char="•"/>
              <a:tabLst>
                <a:tab pos="353695" algn="l"/>
              </a:tabLst>
            </a:pPr>
            <a:r>
              <a:rPr dirty="0" sz="1400" spc="-10">
                <a:solidFill>
                  <a:srgbClr val="C00000"/>
                </a:solidFill>
                <a:latin typeface="SimSun"/>
                <a:cs typeface="SimSun"/>
              </a:rPr>
              <a:t>阶段</a:t>
            </a:r>
            <a:r>
              <a:rPr dirty="0" sz="1400" b="1">
                <a:solidFill>
                  <a:srgbClr val="C00000"/>
                </a:solidFill>
                <a:latin typeface="Arial"/>
                <a:cs typeface="Arial"/>
              </a:rPr>
              <a:t>1</a:t>
            </a:r>
            <a:r>
              <a:rPr dirty="0" sz="1400">
                <a:solidFill>
                  <a:srgbClr val="C00000"/>
                </a:solidFill>
                <a:latin typeface="SimSun"/>
                <a:cs typeface="SimSun"/>
              </a:rPr>
              <a:t>：</a:t>
            </a:r>
            <a:r>
              <a:rPr dirty="0" sz="1400" b="1">
                <a:solidFill>
                  <a:srgbClr val="C00000"/>
                </a:solidFill>
                <a:latin typeface="Arial"/>
                <a:cs typeface="Arial"/>
              </a:rPr>
              <a:t>R14</a:t>
            </a:r>
            <a:r>
              <a:rPr dirty="0" sz="1400" spc="-15" b="1">
                <a:solidFill>
                  <a:srgbClr val="C00000"/>
                </a:solidFill>
                <a:latin typeface="Arial"/>
                <a:cs typeface="Arial"/>
              </a:rPr>
              <a:t> </a:t>
            </a:r>
            <a:r>
              <a:rPr dirty="0" sz="1400" spc="-20" b="1">
                <a:solidFill>
                  <a:srgbClr val="C00000"/>
                </a:solidFill>
                <a:latin typeface="Arial"/>
                <a:cs typeface="Arial"/>
              </a:rPr>
              <a:t>LTE</a:t>
            </a:r>
            <a:r>
              <a:rPr dirty="0" sz="1400" spc="15" b="1">
                <a:solidFill>
                  <a:srgbClr val="C00000"/>
                </a:solidFill>
                <a:latin typeface="Arial"/>
                <a:cs typeface="Arial"/>
              </a:rPr>
              <a:t> </a:t>
            </a:r>
            <a:r>
              <a:rPr dirty="0" sz="1400" spc="-10" b="1">
                <a:solidFill>
                  <a:srgbClr val="C00000"/>
                </a:solidFill>
                <a:latin typeface="Arial"/>
                <a:cs typeface="Arial"/>
              </a:rPr>
              <a:t>V2X</a:t>
            </a:r>
            <a:r>
              <a:rPr dirty="0" sz="1400" spc="-10">
                <a:solidFill>
                  <a:srgbClr val="C00000"/>
                </a:solidFill>
                <a:latin typeface="SimSun"/>
                <a:cs typeface="SimSun"/>
              </a:rPr>
              <a:t>，标准于</a:t>
            </a:r>
            <a:r>
              <a:rPr dirty="0" sz="1400" spc="-10" b="1">
                <a:solidFill>
                  <a:srgbClr val="C00000"/>
                </a:solidFill>
                <a:latin typeface="Arial"/>
                <a:cs typeface="Arial"/>
              </a:rPr>
              <a:t>2017</a:t>
            </a:r>
            <a:r>
              <a:rPr dirty="0" sz="1400" spc="-10">
                <a:solidFill>
                  <a:srgbClr val="C00000"/>
                </a:solidFill>
                <a:latin typeface="SimSun"/>
                <a:cs typeface="SimSun"/>
              </a:rPr>
              <a:t>年</a:t>
            </a:r>
            <a:r>
              <a:rPr dirty="0" sz="1400" spc="-10" b="1">
                <a:solidFill>
                  <a:srgbClr val="C00000"/>
                </a:solidFill>
                <a:latin typeface="Arial"/>
                <a:cs typeface="Arial"/>
              </a:rPr>
              <a:t>3</a:t>
            </a:r>
            <a:r>
              <a:rPr dirty="0" sz="1400" spc="-25">
                <a:solidFill>
                  <a:srgbClr val="C00000"/>
                </a:solidFill>
                <a:latin typeface="SimSun"/>
                <a:cs typeface="SimSun"/>
              </a:rPr>
              <a:t>月份冻结；支持基本的道路安全业务。</a:t>
            </a:r>
            <a:endParaRPr sz="1400">
              <a:latin typeface="SimSun"/>
              <a:cs typeface="SimSun"/>
            </a:endParaRPr>
          </a:p>
          <a:p>
            <a:pPr marL="353695" indent="-285750">
              <a:lnSpc>
                <a:spcPct val="100000"/>
              </a:lnSpc>
              <a:spcBef>
                <a:spcPts val="335"/>
              </a:spcBef>
              <a:buFont typeface="Arial MT"/>
              <a:buChar char="•"/>
              <a:tabLst>
                <a:tab pos="353695" algn="l"/>
              </a:tabLst>
            </a:pPr>
            <a:r>
              <a:rPr dirty="0" sz="1400" spc="-10">
                <a:solidFill>
                  <a:srgbClr val="C00000"/>
                </a:solidFill>
                <a:latin typeface="SimSun"/>
                <a:cs typeface="SimSun"/>
              </a:rPr>
              <a:t>阶段</a:t>
            </a:r>
            <a:r>
              <a:rPr dirty="0" sz="1400" b="1">
                <a:solidFill>
                  <a:srgbClr val="C00000"/>
                </a:solidFill>
                <a:latin typeface="Arial"/>
                <a:cs typeface="Arial"/>
              </a:rPr>
              <a:t>2</a:t>
            </a:r>
            <a:r>
              <a:rPr dirty="0" sz="1400">
                <a:solidFill>
                  <a:srgbClr val="C00000"/>
                </a:solidFill>
                <a:latin typeface="SimSun"/>
                <a:cs typeface="SimSun"/>
              </a:rPr>
              <a:t>：</a:t>
            </a:r>
            <a:r>
              <a:rPr dirty="0" sz="1400" b="1">
                <a:solidFill>
                  <a:srgbClr val="C00000"/>
                </a:solidFill>
                <a:latin typeface="Arial"/>
                <a:cs typeface="Arial"/>
              </a:rPr>
              <a:t>R15</a:t>
            </a:r>
            <a:r>
              <a:rPr dirty="0" sz="1400" spc="-10" b="1">
                <a:solidFill>
                  <a:srgbClr val="C00000"/>
                </a:solidFill>
                <a:latin typeface="Arial"/>
                <a:cs typeface="Arial"/>
              </a:rPr>
              <a:t> </a:t>
            </a:r>
            <a:r>
              <a:rPr dirty="0" sz="1400" spc="-20" b="1">
                <a:solidFill>
                  <a:srgbClr val="C00000"/>
                </a:solidFill>
                <a:latin typeface="Arial"/>
                <a:cs typeface="Arial"/>
              </a:rPr>
              <a:t>LTE</a:t>
            </a:r>
            <a:r>
              <a:rPr dirty="0" sz="1400" spc="20" b="1">
                <a:solidFill>
                  <a:srgbClr val="C00000"/>
                </a:solidFill>
                <a:latin typeface="Arial"/>
                <a:cs typeface="Arial"/>
              </a:rPr>
              <a:t> </a:t>
            </a:r>
            <a:r>
              <a:rPr dirty="0" sz="1400" spc="-10" b="1">
                <a:solidFill>
                  <a:srgbClr val="C00000"/>
                </a:solidFill>
                <a:latin typeface="Arial"/>
                <a:cs typeface="Arial"/>
              </a:rPr>
              <a:t>eV2X</a:t>
            </a:r>
            <a:r>
              <a:rPr dirty="0" sz="1400" spc="-10">
                <a:solidFill>
                  <a:srgbClr val="C00000"/>
                </a:solidFill>
                <a:latin typeface="SimSun"/>
                <a:cs typeface="SimSun"/>
              </a:rPr>
              <a:t>，标准计划于</a:t>
            </a:r>
            <a:r>
              <a:rPr dirty="0" sz="1400" spc="-10" b="1">
                <a:solidFill>
                  <a:srgbClr val="C00000"/>
                </a:solidFill>
                <a:latin typeface="Arial"/>
                <a:cs typeface="Arial"/>
              </a:rPr>
              <a:t>2018</a:t>
            </a:r>
            <a:r>
              <a:rPr dirty="0" sz="1400" spc="-10">
                <a:solidFill>
                  <a:srgbClr val="C00000"/>
                </a:solidFill>
                <a:latin typeface="SimSun"/>
                <a:cs typeface="SimSun"/>
              </a:rPr>
              <a:t>年</a:t>
            </a:r>
            <a:r>
              <a:rPr dirty="0" sz="1400" spc="-10" b="1">
                <a:solidFill>
                  <a:srgbClr val="C00000"/>
                </a:solidFill>
                <a:latin typeface="Arial"/>
                <a:cs typeface="Arial"/>
              </a:rPr>
              <a:t>6</a:t>
            </a:r>
            <a:r>
              <a:rPr dirty="0" sz="1400" spc="-20">
                <a:solidFill>
                  <a:srgbClr val="C00000"/>
                </a:solidFill>
                <a:latin typeface="SimSun"/>
                <a:cs typeface="SimSun"/>
              </a:rPr>
              <a:t>月份冻结；支持更高级的</a:t>
            </a:r>
            <a:r>
              <a:rPr dirty="0" sz="1400" spc="-10" b="1">
                <a:solidFill>
                  <a:srgbClr val="C00000"/>
                </a:solidFill>
                <a:latin typeface="Arial"/>
                <a:cs typeface="Arial"/>
              </a:rPr>
              <a:t>V2X</a:t>
            </a:r>
            <a:r>
              <a:rPr dirty="0" sz="1400" spc="-25">
                <a:solidFill>
                  <a:srgbClr val="C00000"/>
                </a:solidFill>
                <a:latin typeface="SimSun"/>
                <a:cs typeface="SimSun"/>
              </a:rPr>
              <a:t>业务，例如半自动驾驶等。</a:t>
            </a:r>
            <a:endParaRPr sz="1400">
              <a:latin typeface="SimSun"/>
              <a:cs typeface="SimSun"/>
            </a:endParaRPr>
          </a:p>
          <a:p>
            <a:pPr marL="353695" marR="60325" indent="-285750">
              <a:lnSpc>
                <a:spcPct val="120000"/>
              </a:lnSpc>
              <a:buFont typeface="Arial MT"/>
              <a:buChar char="•"/>
              <a:tabLst>
                <a:tab pos="353695" algn="l"/>
              </a:tabLst>
            </a:pPr>
            <a:r>
              <a:rPr dirty="0" sz="1400" spc="-10">
                <a:solidFill>
                  <a:srgbClr val="C00000"/>
                </a:solidFill>
                <a:latin typeface="SimSun"/>
                <a:cs typeface="SimSun"/>
              </a:rPr>
              <a:t>阶段</a:t>
            </a:r>
            <a:r>
              <a:rPr dirty="0" sz="1400" b="1">
                <a:solidFill>
                  <a:srgbClr val="C00000"/>
                </a:solidFill>
                <a:latin typeface="Arial"/>
                <a:cs typeface="Arial"/>
              </a:rPr>
              <a:t>3</a:t>
            </a:r>
            <a:r>
              <a:rPr dirty="0" sz="1400">
                <a:solidFill>
                  <a:srgbClr val="C00000"/>
                </a:solidFill>
                <a:latin typeface="SimSun"/>
                <a:cs typeface="SimSun"/>
              </a:rPr>
              <a:t>：</a:t>
            </a:r>
            <a:r>
              <a:rPr dirty="0" sz="1400" b="1">
                <a:solidFill>
                  <a:srgbClr val="C00000"/>
                </a:solidFill>
                <a:latin typeface="Arial"/>
                <a:cs typeface="Arial"/>
              </a:rPr>
              <a:t>R17</a:t>
            </a:r>
            <a:r>
              <a:rPr dirty="0" sz="1400" spc="425" b="1">
                <a:solidFill>
                  <a:srgbClr val="C00000"/>
                </a:solidFill>
                <a:latin typeface="Arial"/>
                <a:cs typeface="Arial"/>
              </a:rPr>
              <a:t> </a:t>
            </a:r>
            <a:r>
              <a:rPr dirty="0" sz="1400" b="1">
                <a:solidFill>
                  <a:srgbClr val="C00000"/>
                </a:solidFill>
                <a:latin typeface="Arial"/>
                <a:cs typeface="Arial"/>
              </a:rPr>
              <a:t>NR</a:t>
            </a:r>
            <a:r>
              <a:rPr dirty="0" sz="1400" spc="425" b="1">
                <a:solidFill>
                  <a:srgbClr val="C00000"/>
                </a:solidFill>
                <a:latin typeface="Arial"/>
                <a:cs typeface="Arial"/>
              </a:rPr>
              <a:t> </a:t>
            </a:r>
            <a:r>
              <a:rPr dirty="0" sz="1400" spc="-10" b="1">
                <a:solidFill>
                  <a:srgbClr val="C00000"/>
                </a:solidFill>
                <a:latin typeface="Arial"/>
                <a:cs typeface="Arial"/>
              </a:rPr>
              <a:t>V2X</a:t>
            </a:r>
            <a:r>
              <a:rPr dirty="0" sz="1400" spc="-10">
                <a:solidFill>
                  <a:srgbClr val="C00000"/>
                </a:solidFill>
                <a:latin typeface="SimSun"/>
                <a:cs typeface="SimSun"/>
              </a:rPr>
              <a:t>，</a:t>
            </a:r>
            <a:r>
              <a:rPr dirty="0" sz="1400" spc="-10" b="1">
                <a:solidFill>
                  <a:srgbClr val="C00000"/>
                </a:solidFill>
                <a:latin typeface="Arial"/>
                <a:cs typeface="Arial"/>
              </a:rPr>
              <a:t>NR-V2X</a:t>
            </a:r>
            <a:r>
              <a:rPr dirty="0" sz="1400">
                <a:solidFill>
                  <a:srgbClr val="C00000"/>
                </a:solidFill>
                <a:latin typeface="SimSun"/>
                <a:cs typeface="SimSun"/>
              </a:rPr>
              <a:t>是</a:t>
            </a:r>
            <a:r>
              <a:rPr dirty="0" sz="1400" spc="-40" b="1">
                <a:solidFill>
                  <a:srgbClr val="C00000"/>
                </a:solidFill>
                <a:latin typeface="Arial"/>
                <a:cs typeface="Arial"/>
              </a:rPr>
              <a:t>LTE-</a:t>
            </a:r>
            <a:r>
              <a:rPr dirty="0" sz="1400" spc="-10" b="1">
                <a:solidFill>
                  <a:srgbClr val="C00000"/>
                </a:solidFill>
                <a:latin typeface="Arial"/>
                <a:cs typeface="Arial"/>
              </a:rPr>
              <a:t>V</a:t>
            </a:r>
            <a:r>
              <a:rPr dirty="0" sz="1400" spc="-10">
                <a:solidFill>
                  <a:srgbClr val="C00000"/>
                </a:solidFill>
                <a:latin typeface="SimSun"/>
                <a:cs typeface="SimSun"/>
              </a:rPr>
              <a:t>的增强和补充，标准计划于</a:t>
            </a:r>
            <a:r>
              <a:rPr dirty="0" sz="1400" spc="-10" b="1">
                <a:solidFill>
                  <a:srgbClr val="C00000"/>
                </a:solidFill>
                <a:latin typeface="Arial"/>
                <a:cs typeface="Arial"/>
              </a:rPr>
              <a:t>2021</a:t>
            </a:r>
            <a:r>
              <a:rPr dirty="0" sz="1400">
                <a:solidFill>
                  <a:srgbClr val="C00000"/>
                </a:solidFill>
                <a:latin typeface="SimSun"/>
                <a:cs typeface="SimSun"/>
              </a:rPr>
              <a:t>年</a:t>
            </a:r>
            <a:r>
              <a:rPr dirty="0" sz="1400" spc="-10" b="1">
                <a:solidFill>
                  <a:srgbClr val="C00000"/>
                </a:solidFill>
                <a:latin typeface="Arial"/>
                <a:cs typeface="Arial"/>
              </a:rPr>
              <a:t>Q1</a:t>
            </a:r>
            <a:r>
              <a:rPr dirty="0" sz="1400" spc="-15">
                <a:solidFill>
                  <a:srgbClr val="C00000"/>
                </a:solidFill>
                <a:latin typeface="SimSun"/>
                <a:cs typeface="SimSun"/>
              </a:rPr>
              <a:t>冻结。支持自动驾驶及</a:t>
            </a:r>
            <a:r>
              <a:rPr dirty="0" sz="1400" spc="-25">
                <a:solidFill>
                  <a:srgbClr val="C00000"/>
                </a:solidFill>
                <a:latin typeface="SimSun"/>
                <a:cs typeface="SimSun"/>
              </a:rPr>
              <a:t>未来车联网需求。</a:t>
            </a:r>
            <a:endParaRPr sz="1400">
              <a:latin typeface="SimSun"/>
              <a:cs typeface="SimSu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392" y="175439"/>
            <a:ext cx="501840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50"/>
              <a:t>支持多类型智能网联业务</a:t>
            </a:r>
          </a:p>
        </p:txBody>
      </p:sp>
      <p:grpSp>
        <p:nvGrpSpPr>
          <p:cNvPr id="3" name="object 3" descr=""/>
          <p:cNvGrpSpPr/>
          <p:nvPr/>
        </p:nvGrpSpPr>
        <p:grpSpPr>
          <a:xfrm>
            <a:off x="278892" y="973835"/>
            <a:ext cx="4010025" cy="1976120"/>
            <a:chOff x="278892" y="973835"/>
            <a:chExt cx="4010025" cy="1976120"/>
          </a:xfrm>
        </p:grpSpPr>
        <p:pic>
          <p:nvPicPr>
            <p:cNvPr id="4" name="object 4"/>
            <p:cNvPicPr/>
            <p:nvPr/>
          </p:nvPicPr>
          <p:blipFill>
            <a:blip r:embed="rId2" cstate="print"/>
            <a:stretch>
              <a:fillRect/>
            </a:stretch>
          </p:blipFill>
          <p:spPr>
            <a:xfrm>
              <a:off x="278892" y="2044445"/>
              <a:ext cx="1978913" cy="905255"/>
            </a:xfrm>
            <a:prstGeom prst="rect">
              <a:avLst/>
            </a:prstGeom>
          </p:spPr>
        </p:pic>
        <p:pic>
          <p:nvPicPr>
            <p:cNvPr id="5" name="object 5" descr=""/>
            <p:cNvPicPr/>
            <p:nvPr/>
          </p:nvPicPr>
          <p:blipFill>
            <a:blip r:embed="rId3" cstate="print"/>
            <a:stretch>
              <a:fillRect/>
            </a:stretch>
          </p:blipFill>
          <p:spPr>
            <a:xfrm>
              <a:off x="330615" y="2057952"/>
              <a:ext cx="1875523" cy="801827"/>
            </a:xfrm>
            <a:prstGeom prst="rect">
              <a:avLst/>
            </a:prstGeom>
          </p:spPr>
        </p:pic>
        <p:pic>
          <p:nvPicPr>
            <p:cNvPr id="6" name="object 6"/>
            <p:cNvPicPr/>
            <p:nvPr/>
          </p:nvPicPr>
          <p:blipFill>
            <a:blip r:embed="rId4" cstate="print"/>
            <a:stretch>
              <a:fillRect/>
            </a:stretch>
          </p:blipFill>
          <p:spPr>
            <a:xfrm>
              <a:off x="2382773" y="2044445"/>
              <a:ext cx="1897379" cy="905255"/>
            </a:xfrm>
            <a:prstGeom prst="rect">
              <a:avLst/>
            </a:prstGeom>
          </p:spPr>
        </p:pic>
        <p:pic>
          <p:nvPicPr>
            <p:cNvPr id="7" name="object 7" descr=""/>
            <p:cNvPicPr/>
            <p:nvPr/>
          </p:nvPicPr>
          <p:blipFill>
            <a:blip r:embed="rId5" cstate="print"/>
            <a:stretch>
              <a:fillRect/>
            </a:stretch>
          </p:blipFill>
          <p:spPr>
            <a:xfrm>
              <a:off x="2434855" y="2057952"/>
              <a:ext cx="1793265" cy="801827"/>
            </a:xfrm>
            <a:prstGeom prst="rect">
              <a:avLst/>
            </a:prstGeom>
          </p:spPr>
        </p:pic>
        <p:pic>
          <p:nvPicPr>
            <p:cNvPr id="8" name="object 8"/>
            <p:cNvPicPr/>
            <p:nvPr/>
          </p:nvPicPr>
          <p:blipFill>
            <a:blip r:embed="rId6" cstate="print"/>
            <a:stretch>
              <a:fillRect/>
            </a:stretch>
          </p:blipFill>
          <p:spPr>
            <a:xfrm>
              <a:off x="324612" y="983741"/>
              <a:ext cx="1905761" cy="905255"/>
            </a:xfrm>
            <a:prstGeom prst="rect">
              <a:avLst/>
            </a:prstGeom>
          </p:spPr>
        </p:pic>
        <p:pic>
          <p:nvPicPr>
            <p:cNvPr id="9" name="object 9" descr=""/>
            <p:cNvPicPr/>
            <p:nvPr/>
          </p:nvPicPr>
          <p:blipFill>
            <a:blip r:embed="rId7" cstate="print"/>
            <a:stretch>
              <a:fillRect/>
            </a:stretch>
          </p:blipFill>
          <p:spPr>
            <a:xfrm>
              <a:off x="376359" y="997402"/>
              <a:ext cx="1802130" cy="801827"/>
            </a:xfrm>
            <a:prstGeom prst="rect">
              <a:avLst/>
            </a:prstGeom>
          </p:spPr>
        </p:pic>
        <p:pic>
          <p:nvPicPr>
            <p:cNvPr id="10" name="object 10"/>
            <p:cNvPicPr/>
            <p:nvPr/>
          </p:nvPicPr>
          <p:blipFill>
            <a:blip r:embed="rId8" cstate="print"/>
            <a:stretch>
              <a:fillRect/>
            </a:stretch>
          </p:blipFill>
          <p:spPr>
            <a:xfrm>
              <a:off x="2382773" y="973835"/>
              <a:ext cx="1905761" cy="915161"/>
            </a:xfrm>
            <a:prstGeom prst="rect">
              <a:avLst/>
            </a:prstGeom>
          </p:spPr>
        </p:pic>
        <p:pic>
          <p:nvPicPr>
            <p:cNvPr id="11" name="object 11" descr=""/>
            <p:cNvPicPr/>
            <p:nvPr/>
          </p:nvPicPr>
          <p:blipFill>
            <a:blip r:embed="rId9" cstate="print"/>
            <a:stretch>
              <a:fillRect/>
            </a:stretch>
          </p:blipFill>
          <p:spPr>
            <a:xfrm>
              <a:off x="2434855" y="987572"/>
              <a:ext cx="1802130" cy="811656"/>
            </a:xfrm>
            <a:prstGeom prst="rect">
              <a:avLst/>
            </a:prstGeom>
          </p:spPr>
        </p:pic>
      </p:grpSp>
      <p:sp>
        <p:nvSpPr>
          <p:cNvPr id="12" name="object 12" descr=""/>
          <p:cNvSpPr txBox="1"/>
          <p:nvPr/>
        </p:nvSpPr>
        <p:spPr>
          <a:xfrm>
            <a:off x="882897" y="1850914"/>
            <a:ext cx="8623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紧急制动预警</a:t>
            </a:r>
            <a:endParaRPr sz="1100">
              <a:latin typeface="Microsoft YaHei"/>
              <a:cs typeface="Microsoft YaHei"/>
            </a:endParaRPr>
          </a:p>
        </p:txBody>
      </p:sp>
      <p:sp>
        <p:nvSpPr>
          <p:cNvPr id="13" name="object 13" descr=""/>
          <p:cNvSpPr txBox="1"/>
          <p:nvPr/>
        </p:nvSpPr>
        <p:spPr>
          <a:xfrm>
            <a:off x="2928709" y="2906799"/>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闯红灯预警</a:t>
            </a:r>
            <a:endParaRPr sz="1100">
              <a:latin typeface="Microsoft YaHei"/>
              <a:cs typeface="Microsoft YaHei"/>
            </a:endParaRPr>
          </a:p>
        </p:txBody>
      </p:sp>
      <p:sp>
        <p:nvSpPr>
          <p:cNvPr id="14" name="object 14" descr=""/>
          <p:cNvSpPr txBox="1"/>
          <p:nvPr/>
        </p:nvSpPr>
        <p:spPr>
          <a:xfrm>
            <a:off x="743033" y="2913911"/>
            <a:ext cx="1141095"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交叉路口碰撞预警</a:t>
            </a:r>
            <a:endParaRPr sz="1100">
              <a:latin typeface="Microsoft YaHei"/>
              <a:cs typeface="Microsoft YaHei"/>
            </a:endParaRPr>
          </a:p>
        </p:txBody>
      </p:sp>
      <p:sp>
        <p:nvSpPr>
          <p:cNvPr id="15" name="object 15" descr=""/>
          <p:cNvSpPr txBox="1"/>
          <p:nvPr/>
        </p:nvSpPr>
        <p:spPr>
          <a:xfrm>
            <a:off x="2858429" y="1850914"/>
            <a:ext cx="862330" cy="193040"/>
          </a:xfrm>
          <a:prstGeom prst="rect">
            <a:avLst/>
          </a:prstGeom>
        </p:spPr>
        <p:txBody>
          <a:bodyPr wrap="square" lIns="0" tIns="12065" rIns="0" bIns="0" rtlCol="0" vert="horz">
            <a:spAutoFit/>
          </a:bodyPr>
          <a:lstStyle/>
          <a:p>
            <a:pPr marL="12700">
              <a:lnSpc>
                <a:spcPct val="100000"/>
              </a:lnSpc>
              <a:spcBef>
                <a:spcPts val="95"/>
              </a:spcBef>
            </a:pPr>
            <a:r>
              <a:rPr dirty="0" sz="1100" spc="-25">
                <a:latin typeface="Microsoft YaHei"/>
                <a:cs typeface="Microsoft YaHei"/>
              </a:rPr>
              <a:t>危险路段提示</a:t>
            </a:r>
            <a:endParaRPr sz="1100">
              <a:latin typeface="Microsoft YaHei"/>
              <a:cs typeface="Microsoft YaHei"/>
            </a:endParaRPr>
          </a:p>
        </p:txBody>
      </p:sp>
      <p:grpSp>
        <p:nvGrpSpPr>
          <p:cNvPr id="16" name="object 16" descr=""/>
          <p:cNvGrpSpPr/>
          <p:nvPr/>
        </p:nvGrpSpPr>
        <p:grpSpPr>
          <a:xfrm>
            <a:off x="1709927" y="1754885"/>
            <a:ext cx="1097280" cy="478155"/>
            <a:chOff x="1709927" y="1754885"/>
            <a:chExt cx="1097280" cy="478155"/>
          </a:xfrm>
        </p:grpSpPr>
        <p:pic>
          <p:nvPicPr>
            <p:cNvPr id="17" name="object 17" descr=""/>
            <p:cNvPicPr/>
            <p:nvPr/>
          </p:nvPicPr>
          <p:blipFill>
            <a:blip r:embed="rId10" cstate="print"/>
            <a:stretch>
              <a:fillRect/>
            </a:stretch>
          </p:blipFill>
          <p:spPr>
            <a:xfrm>
              <a:off x="1709927" y="1769363"/>
              <a:ext cx="1097279" cy="463295"/>
            </a:xfrm>
            <a:prstGeom prst="rect">
              <a:avLst/>
            </a:prstGeom>
          </p:spPr>
        </p:pic>
        <p:pic>
          <p:nvPicPr>
            <p:cNvPr id="18" name="object 18" descr=""/>
            <p:cNvPicPr/>
            <p:nvPr/>
          </p:nvPicPr>
          <p:blipFill>
            <a:blip r:embed="rId11" cstate="print"/>
            <a:stretch>
              <a:fillRect/>
            </a:stretch>
          </p:blipFill>
          <p:spPr>
            <a:xfrm>
              <a:off x="1851659" y="1754885"/>
              <a:ext cx="881633" cy="161670"/>
            </a:xfrm>
            <a:prstGeom prst="rect">
              <a:avLst/>
            </a:prstGeom>
          </p:spPr>
        </p:pic>
        <p:pic>
          <p:nvPicPr>
            <p:cNvPr id="19" name="object 19" descr=""/>
            <p:cNvPicPr/>
            <p:nvPr/>
          </p:nvPicPr>
          <p:blipFill>
            <a:blip r:embed="rId12" cstate="print"/>
            <a:stretch>
              <a:fillRect/>
            </a:stretch>
          </p:blipFill>
          <p:spPr>
            <a:xfrm>
              <a:off x="1851659" y="2038845"/>
              <a:ext cx="881633" cy="140474"/>
            </a:xfrm>
            <a:prstGeom prst="rect">
              <a:avLst/>
            </a:prstGeom>
          </p:spPr>
        </p:pic>
        <p:sp>
          <p:nvSpPr>
            <p:cNvPr id="20" name="object 20" descr=""/>
            <p:cNvSpPr/>
            <p:nvPr/>
          </p:nvSpPr>
          <p:spPr>
            <a:xfrm>
              <a:off x="1755607" y="1792085"/>
              <a:ext cx="1005840" cy="371475"/>
            </a:xfrm>
            <a:custGeom>
              <a:avLst/>
              <a:gdLst/>
              <a:ahLst/>
              <a:cxnLst/>
              <a:rect l="l" t="t" r="r" b="b"/>
              <a:pathLst>
                <a:path w="1005839" h="371475">
                  <a:moveTo>
                    <a:pt x="502754" y="0"/>
                  </a:moveTo>
                  <a:lnTo>
                    <a:pt x="434534" y="1695"/>
                  </a:lnTo>
                  <a:lnTo>
                    <a:pt x="369104" y="6634"/>
                  </a:lnTo>
                  <a:lnTo>
                    <a:pt x="307061" y="14596"/>
                  </a:lnTo>
                  <a:lnTo>
                    <a:pt x="249006" y="25359"/>
                  </a:lnTo>
                  <a:lnTo>
                    <a:pt x="195537" y="38701"/>
                  </a:lnTo>
                  <a:lnTo>
                    <a:pt x="147254" y="54402"/>
                  </a:lnTo>
                  <a:lnTo>
                    <a:pt x="104756" y="72239"/>
                  </a:lnTo>
                  <a:lnTo>
                    <a:pt x="68641" y="91993"/>
                  </a:lnTo>
                  <a:lnTo>
                    <a:pt x="17959" y="136361"/>
                  </a:lnTo>
                  <a:lnTo>
                    <a:pt x="0" y="185737"/>
                  </a:lnTo>
                  <a:lnTo>
                    <a:pt x="4589" y="210940"/>
                  </a:lnTo>
                  <a:lnTo>
                    <a:pt x="39509" y="258034"/>
                  </a:lnTo>
                  <a:lnTo>
                    <a:pt x="104756" y="299235"/>
                  </a:lnTo>
                  <a:lnTo>
                    <a:pt x="147254" y="317072"/>
                  </a:lnTo>
                  <a:lnTo>
                    <a:pt x="195537" y="332773"/>
                  </a:lnTo>
                  <a:lnTo>
                    <a:pt x="249006" y="346115"/>
                  </a:lnTo>
                  <a:lnTo>
                    <a:pt x="307061" y="356878"/>
                  </a:lnTo>
                  <a:lnTo>
                    <a:pt x="369104" y="364840"/>
                  </a:lnTo>
                  <a:lnTo>
                    <a:pt x="434534" y="369779"/>
                  </a:lnTo>
                  <a:lnTo>
                    <a:pt x="502754" y="371475"/>
                  </a:lnTo>
                  <a:lnTo>
                    <a:pt x="570977" y="369779"/>
                  </a:lnTo>
                  <a:lnTo>
                    <a:pt x="636411" y="364840"/>
                  </a:lnTo>
                  <a:lnTo>
                    <a:pt x="698455" y="356878"/>
                  </a:lnTo>
                  <a:lnTo>
                    <a:pt x="756512" y="346115"/>
                  </a:lnTo>
                  <a:lnTo>
                    <a:pt x="809982" y="332773"/>
                  </a:lnTo>
                  <a:lnTo>
                    <a:pt x="858266" y="317072"/>
                  </a:lnTo>
                  <a:lnTo>
                    <a:pt x="900765" y="299235"/>
                  </a:lnTo>
                  <a:lnTo>
                    <a:pt x="936880" y="279481"/>
                  </a:lnTo>
                  <a:lnTo>
                    <a:pt x="987563" y="235113"/>
                  </a:lnTo>
                  <a:lnTo>
                    <a:pt x="1005522" y="185737"/>
                  </a:lnTo>
                  <a:lnTo>
                    <a:pt x="1000932" y="160534"/>
                  </a:lnTo>
                  <a:lnTo>
                    <a:pt x="966012" y="113440"/>
                  </a:lnTo>
                  <a:lnTo>
                    <a:pt x="900765" y="72239"/>
                  </a:lnTo>
                  <a:lnTo>
                    <a:pt x="858266" y="54402"/>
                  </a:lnTo>
                  <a:lnTo>
                    <a:pt x="809982" y="38701"/>
                  </a:lnTo>
                  <a:lnTo>
                    <a:pt x="756512" y="25359"/>
                  </a:lnTo>
                  <a:lnTo>
                    <a:pt x="698455" y="14596"/>
                  </a:lnTo>
                  <a:lnTo>
                    <a:pt x="636411" y="6634"/>
                  </a:lnTo>
                  <a:lnTo>
                    <a:pt x="570977" y="1695"/>
                  </a:lnTo>
                  <a:lnTo>
                    <a:pt x="502754" y="0"/>
                  </a:lnTo>
                  <a:close/>
                </a:path>
              </a:pathLst>
            </a:custGeom>
            <a:solidFill>
              <a:srgbClr val="00B0F0"/>
            </a:solidFill>
          </p:spPr>
          <p:txBody>
            <a:bodyPr wrap="square" lIns="0" tIns="0" rIns="0" bIns="0" rtlCol="0"/>
            <a:lstStyle/>
            <a:p/>
          </p:txBody>
        </p:sp>
        <p:sp>
          <p:nvSpPr>
            <p:cNvPr id="21" name="object 21" descr=""/>
            <p:cNvSpPr/>
            <p:nvPr/>
          </p:nvSpPr>
          <p:spPr>
            <a:xfrm>
              <a:off x="1755607" y="1792085"/>
              <a:ext cx="1005840" cy="371475"/>
            </a:xfrm>
            <a:custGeom>
              <a:avLst/>
              <a:gdLst/>
              <a:ahLst/>
              <a:cxnLst/>
              <a:rect l="l" t="t" r="r" b="b"/>
              <a:pathLst>
                <a:path w="1005839" h="371475">
                  <a:moveTo>
                    <a:pt x="0" y="185737"/>
                  </a:moveTo>
                  <a:lnTo>
                    <a:pt x="17959" y="136361"/>
                  </a:lnTo>
                  <a:lnTo>
                    <a:pt x="68641" y="91993"/>
                  </a:lnTo>
                  <a:lnTo>
                    <a:pt x="104756" y="72239"/>
                  </a:lnTo>
                  <a:lnTo>
                    <a:pt x="147254" y="54402"/>
                  </a:lnTo>
                  <a:lnTo>
                    <a:pt x="195537" y="38701"/>
                  </a:lnTo>
                  <a:lnTo>
                    <a:pt x="249006" y="25359"/>
                  </a:lnTo>
                  <a:lnTo>
                    <a:pt x="307061" y="14596"/>
                  </a:lnTo>
                  <a:lnTo>
                    <a:pt x="369104" y="6634"/>
                  </a:lnTo>
                  <a:lnTo>
                    <a:pt x="434534" y="1695"/>
                  </a:lnTo>
                  <a:lnTo>
                    <a:pt x="502754" y="0"/>
                  </a:lnTo>
                  <a:lnTo>
                    <a:pt x="570977" y="1695"/>
                  </a:lnTo>
                  <a:lnTo>
                    <a:pt x="636411" y="6634"/>
                  </a:lnTo>
                  <a:lnTo>
                    <a:pt x="698455" y="14596"/>
                  </a:lnTo>
                  <a:lnTo>
                    <a:pt x="756512" y="25359"/>
                  </a:lnTo>
                  <a:lnTo>
                    <a:pt x="809982" y="38701"/>
                  </a:lnTo>
                  <a:lnTo>
                    <a:pt x="858266" y="54402"/>
                  </a:lnTo>
                  <a:lnTo>
                    <a:pt x="900765" y="72239"/>
                  </a:lnTo>
                  <a:lnTo>
                    <a:pt x="936880" y="91993"/>
                  </a:lnTo>
                  <a:lnTo>
                    <a:pt x="987563" y="136361"/>
                  </a:lnTo>
                  <a:lnTo>
                    <a:pt x="1005522" y="185737"/>
                  </a:lnTo>
                  <a:lnTo>
                    <a:pt x="1000932" y="210940"/>
                  </a:lnTo>
                  <a:lnTo>
                    <a:pt x="987563" y="235113"/>
                  </a:lnTo>
                  <a:lnTo>
                    <a:pt x="936880" y="279481"/>
                  </a:lnTo>
                  <a:lnTo>
                    <a:pt x="900765" y="299235"/>
                  </a:lnTo>
                  <a:lnTo>
                    <a:pt x="858266" y="317072"/>
                  </a:lnTo>
                  <a:lnTo>
                    <a:pt x="809982" y="332773"/>
                  </a:lnTo>
                  <a:lnTo>
                    <a:pt x="756512" y="346115"/>
                  </a:lnTo>
                  <a:lnTo>
                    <a:pt x="698455" y="356878"/>
                  </a:lnTo>
                  <a:lnTo>
                    <a:pt x="636411" y="364840"/>
                  </a:lnTo>
                  <a:lnTo>
                    <a:pt x="570977" y="369779"/>
                  </a:lnTo>
                  <a:lnTo>
                    <a:pt x="502754" y="371475"/>
                  </a:lnTo>
                  <a:lnTo>
                    <a:pt x="434534" y="369779"/>
                  </a:lnTo>
                  <a:lnTo>
                    <a:pt x="369104" y="364840"/>
                  </a:lnTo>
                  <a:lnTo>
                    <a:pt x="307061" y="356878"/>
                  </a:lnTo>
                  <a:lnTo>
                    <a:pt x="249006" y="346115"/>
                  </a:lnTo>
                  <a:lnTo>
                    <a:pt x="195537" y="332773"/>
                  </a:lnTo>
                  <a:lnTo>
                    <a:pt x="147254" y="317072"/>
                  </a:lnTo>
                  <a:lnTo>
                    <a:pt x="104756" y="299235"/>
                  </a:lnTo>
                  <a:lnTo>
                    <a:pt x="68641" y="279481"/>
                  </a:lnTo>
                  <a:lnTo>
                    <a:pt x="17959" y="235113"/>
                  </a:lnTo>
                  <a:lnTo>
                    <a:pt x="0" y="185737"/>
                  </a:lnTo>
                  <a:close/>
                </a:path>
              </a:pathLst>
            </a:custGeom>
            <a:ln w="9525">
              <a:solidFill>
                <a:srgbClr val="D5E8EA"/>
              </a:solidFill>
            </a:ln>
          </p:spPr>
          <p:txBody>
            <a:bodyPr wrap="square" lIns="0" tIns="0" rIns="0" bIns="0" rtlCol="0"/>
            <a:lstStyle/>
            <a:p/>
          </p:txBody>
        </p:sp>
      </p:grpSp>
      <p:sp>
        <p:nvSpPr>
          <p:cNvPr id="22" name="object 22" descr=""/>
          <p:cNvSpPr txBox="1"/>
          <p:nvPr/>
        </p:nvSpPr>
        <p:spPr>
          <a:xfrm>
            <a:off x="2017193" y="1819580"/>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Microsoft YaHei"/>
                <a:cs typeface="Microsoft YaHei"/>
              </a:rPr>
              <a:t>安全</a:t>
            </a:r>
            <a:endParaRPr sz="1800">
              <a:latin typeface="Microsoft YaHei"/>
              <a:cs typeface="Microsoft YaHei"/>
            </a:endParaRPr>
          </a:p>
        </p:txBody>
      </p:sp>
      <p:grpSp>
        <p:nvGrpSpPr>
          <p:cNvPr id="23" name="object 23" descr=""/>
          <p:cNvGrpSpPr/>
          <p:nvPr/>
        </p:nvGrpSpPr>
        <p:grpSpPr>
          <a:xfrm>
            <a:off x="4405121" y="1046226"/>
            <a:ext cx="4467225" cy="1896745"/>
            <a:chOff x="4405121" y="1046226"/>
            <a:chExt cx="4467225" cy="1896745"/>
          </a:xfrm>
        </p:grpSpPr>
        <p:pic>
          <p:nvPicPr>
            <p:cNvPr id="24" name="object 24"/>
            <p:cNvPicPr/>
            <p:nvPr/>
          </p:nvPicPr>
          <p:blipFill>
            <a:blip r:embed="rId13" cstate="print"/>
            <a:stretch>
              <a:fillRect/>
            </a:stretch>
          </p:blipFill>
          <p:spPr>
            <a:xfrm>
              <a:off x="4405121" y="2058161"/>
              <a:ext cx="2169413" cy="884681"/>
            </a:xfrm>
            <a:prstGeom prst="rect">
              <a:avLst/>
            </a:prstGeom>
          </p:spPr>
        </p:pic>
        <p:pic>
          <p:nvPicPr>
            <p:cNvPr id="25" name="object 25" descr=""/>
            <p:cNvPicPr/>
            <p:nvPr/>
          </p:nvPicPr>
          <p:blipFill>
            <a:blip r:embed="rId14" cstate="print"/>
            <a:stretch>
              <a:fillRect/>
            </a:stretch>
          </p:blipFill>
          <p:spPr>
            <a:xfrm>
              <a:off x="4456849" y="2071942"/>
              <a:ext cx="2066036" cy="781126"/>
            </a:xfrm>
            <a:prstGeom prst="rect">
              <a:avLst/>
            </a:prstGeom>
          </p:spPr>
        </p:pic>
        <p:pic>
          <p:nvPicPr>
            <p:cNvPr id="26" name="object 26"/>
            <p:cNvPicPr/>
            <p:nvPr/>
          </p:nvPicPr>
          <p:blipFill>
            <a:blip r:embed="rId15" cstate="print"/>
            <a:stretch>
              <a:fillRect/>
            </a:stretch>
          </p:blipFill>
          <p:spPr>
            <a:xfrm>
              <a:off x="6682739" y="1046226"/>
              <a:ext cx="2189225" cy="884681"/>
            </a:xfrm>
            <a:prstGeom prst="rect">
              <a:avLst/>
            </a:prstGeom>
          </p:spPr>
        </p:pic>
        <p:pic>
          <p:nvPicPr>
            <p:cNvPr id="27" name="object 27" descr=""/>
            <p:cNvPicPr/>
            <p:nvPr/>
          </p:nvPicPr>
          <p:blipFill>
            <a:blip r:embed="rId16" cstate="print"/>
            <a:stretch>
              <a:fillRect/>
            </a:stretch>
          </p:blipFill>
          <p:spPr>
            <a:xfrm>
              <a:off x="6734790" y="1059934"/>
              <a:ext cx="2085682" cy="781126"/>
            </a:xfrm>
            <a:prstGeom prst="rect">
              <a:avLst/>
            </a:prstGeom>
          </p:spPr>
        </p:pic>
      </p:grpSp>
      <p:sp>
        <p:nvSpPr>
          <p:cNvPr id="28" name="object 28" descr=""/>
          <p:cNvSpPr txBox="1"/>
          <p:nvPr/>
        </p:nvSpPr>
        <p:spPr>
          <a:xfrm>
            <a:off x="5198413" y="1876954"/>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车速引导</a:t>
            </a:r>
            <a:endParaRPr sz="1100">
              <a:latin typeface="Microsoft YaHei"/>
              <a:cs typeface="Microsoft YaHei"/>
            </a:endParaRPr>
          </a:p>
        </p:txBody>
      </p:sp>
      <p:sp>
        <p:nvSpPr>
          <p:cNvPr id="29" name="object 29" descr=""/>
          <p:cNvSpPr txBox="1"/>
          <p:nvPr/>
        </p:nvSpPr>
        <p:spPr>
          <a:xfrm>
            <a:off x="7486861" y="2913875"/>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绿波通行</a:t>
            </a:r>
            <a:endParaRPr sz="1100">
              <a:latin typeface="Microsoft YaHei"/>
              <a:cs typeface="Microsoft YaHei"/>
            </a:endParaRPr>
          </a:p>
        </p:txBody>
      </p:sp>
      <p:sp>
        <p:nvSpPr>
          <p:cNvPr id="30" name="object 30" descr=""/>
          <p:cNvSpPr txBox="1"/>
          <p:nvPr/>
        </p:nvSpPr>
        <p:spPr>
          <a:xfrm>
            <a:off x="5224629" y="2913875"/>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编队行驶</a:t>
            </a:r>
            <a:endParaRPr sz="1100">
              <a:latin typeface="Microsoft YaHei"/>
              <a:cs typeface="Microsoft YaHei"/>
            </a:endParaRPr>
          </a:p>
        </p:txBody>
      </p:sp>
      <p:sp>
        <p:nvSpPr>
          <p:cNvPr id="31" name="object 31" descr=""/>
          <p:cNvSpPr txBox="1"/>
          <p:nvPr/>
        </p:nvSpPr>
        <p:spPr>
          <a:xfrm>
            <a:off x="7485746" y="1876954"/>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优先通行</a:t>
            </a:r>
            <a:endParaRPr sz="1100">
              <a:latin typeface="Microsoft YaHei"/>
              <a:cs typeface="Microsoft YaHei"/>
            </a:endParaRPr>
          </a:p>
        </p:txBody>
      </p:sp>
      <p:grpSp>
        <p:nvGrpSpPr>
          <p:cNvPr id="32" name="object 32" descr=""/>
          <p:cNvGrpSpPr/>
          <p:nvPr/>
        </p:nvGrpSpPr>
        <p:grpSpPr>
          <a:xfrm>
            <a:off x="4418837" y="1054607"/>
            <a:ext cx="4448175" cy="1905000"/>
            <a:chOff x="4418837" y="1054607"/>
            <a:chExt cx="4448175" cy="1905000"/>
          </a:xfrm>
        </p:grpSpPr>
        <p:pic>
          <p:nvPicPr>
            <p:cNvPr id="33" name="object 33"/>
            <p:cNvPicPr/>
            <p:nvPr/>
          </p:nvPicPr>
          <p:blipFill>
            <a:blip r:embed="rId17" cstate="print"/>
            <a:stretch>
              <a:fillRect/>
            </a:stretch>
          </p:blipFill>
          <p:spPr>
            <a:xfrm>
              <a:off x="6693407" y="2074925"/>
              <a:ext cx="2173223" cy="884681"/>
            </a:xfrm>
            <a:prstGeom prst="rect">
              <a:avLst/>
            </a:prstGeom>
          </p:spPr>
        </p:pic>
        <p:pic>
          <p:nvPicPr>
            <p:cNvPr id="34" name="object 34" descr=""/>
            <p:cNvPicPr/>
            <p:nvPr/>
          </p:nvPicPr>
          <p:blipFill>
            <a:blip r:embed="rId18" cstate="print"/>
            <a:stretch>
              <a:fillRect/>
            </a:stretch>
          </p:blipFill>
          <p:spPr>
            <a:xfrm>
              <a:off x="6745522" y="2088513"/>
              <a:ext cx="2069147" cy="781126"/>
            </a:xfrm>
            <a:prstGeom prst="rect">
              <a:avLst/>
            </a:prstGeom>
          </p:spPr>
        </p:pic>
        <p:pic>
          <p:nvPicPr>
            <p:cNvPr id="35" name="object 35"/>
            <p:cNvPicPr/>
            <p:nvPr/>
          </p:nvPicPr>
          <p:blipFill>
            <a:blip r:embed="rId19" cstate="print"/>
            <a:stretch>
              <a:fillRect/>
            </a:stretch>
          </p:blipFill>
          <p:spPr>
            <a:xfrm>
              <a:off x="4418837" y="1054607"/>
              <a:ext cx="2087117" cy="884681"/>
            </a:xfrm>
            <a:prstGeom prst="rect">
              <a:avLst/>
            </a:prstGeom>
          </p:spPr>
        </p:pic>
        <p:pic>
          <p:nvPicPr>
            <p:cNvPr id="36" name="object 36" descr=""/>
            <p:cNvPicPr/>
            <p:nvPr/>
          </p:nvPicPr>
          <p:blipFill>
            <a:blip r:embed="rId20" cstate="print"/>
            <a:stretch>
              <a:fillRect/>
            </a:stretch>
          </p:blipFill>
          <p:spPr>
            <a:xfrm>
              <a:off x="4470544" y="1068146"/>
              <a:ext cx="1983930" cy="781126"/>
            </a:xfrm>
            <a:prstGeom prst="rect">
              <a:avLst/>
            </a:prstGeom>
          </p:spPr>
        </p:pic>
        <p:pic>
          <p:nvPicPr>
            <p:cNvPr id="37" name="object 37" descr=""/>
            <p:cNvPicPr/>
            <p:nvPr/>
          </p:nvPicPr>
          <p:blipFill>
            <a:blip r:embed="rId21" cstate="print"/>
            <a:stretch>
              <a:fillRect/>
            </a:stretch>
          </p:blipFill>
          <p:spPr>
            <a:xfrm>
              <a:off x="5955030" y="1693163"/>
              <a:ext cx="1256537" cy="453389"/>
            </a:xfrm>
            <a:prstGeom prst="rect">
              <a:avLst/>
            </a:prstGeom>
          </p:spPr>
        </p:pic>
        <p:pic>
          <p:nvPicPr>
            <p:cNvPr id="38" name="object 38" descr=""/>
            <p:cNvPicPr/>
            <p:nvPr/>
          </p:nvPicPr>
          <p:blipFill>
            <a:blip r:embed="rId22" cstate="print"/>
            <a:stretch>
              <a:fillRect/>
            </a:stretch>
          </p:blipFill>
          <p:spPr>
            <a:xfrm>
              <a:off x="6176772" y="1673351"/>
              <a:ext cx="881633" cy="118630"/>
            </a:xfrm>
            <a:prstGeom prst="rect">
              <a:avLst/>
            </a:prstGeom>
          </p:spPr>
        </p:pic>
        <p:pic>
          <p:nvPicPr>
            <p:cNvPr id="39" name="object 39" descr=""/>
            <p:cNvPicPr/>
            <p:nvPr/>
          </p:nvPicPr>
          <p:blipFill>
            <a:blip r:embed="rId23" cstate="print"/>
            <a:stretch>
              <a:fillRect/>
            </a:stretch>
          </p:blipFill>
          <p:spPr>
            <a:xfrm>
              <a:off x="6176772" y="2001354"/>
              <a:ext cx="881633" cy="96430"/>
            </a:xfrm>
            <a:prstGeom prst="rect">
              <a:avLst/>
            </a:prstGeom>
          </p:spPr>
        </p:pic>
        <p:sp>
          <p:nvSpPr>
            <p:cNvPr id="40" name="object 40" descr=""/>
            <p:cNvSpPr/>
            <p:nvPr/>
          </p:nvSpPr>
          <p:spPr>
            <a:xfrm>
              <a:off x="6001143" y="1715910"/>
              <a:ext cx="1164590" cy="361950"/>
            </a:xfrm>
            <a:custGeom>
              <a:avLst/>
              <a:gdLst/>
              <a:ahLst/>
              <a:cxnLst/>
              <a:rect l="l" t="t" r="r" b="b"/>
              <a:pathLst>
                <a:path w="1164590" h="361950">
                  <a:moveTo>
                    <a:pt x="582231" y="0"/>
                  </a:moveTo>
                  <a:lnTo>
                    <a:pt x="514332" y="1217"/>
                  </a:lnTo>
                  <a:lnTo>
                    <a:pt x="448733" y="4778"/>
                  </a:lnTo>
                  <a:lnTo>
                    <a:pt x="385871" y="10547"/>
                  </a:lnTo>
                  <a:lnTo>
                    <a:pt x="326183" y="18389"/>
                  </a:lnTo>
                  <a:lnTo>
                    <a:pt x="270106" y="28167"/>
                  </a:lnTo>
                  <a:lnTo>
                    <a:pt x="218078" y="39747"/>
                  </a:lnTo>
                  <a:lnTo>
                    <a:pt x="170534" y="52992"/>
                  </a:lnTo>
                  <a:lnTo>
                    <a:pt x="127911" y="67766"/>
                  </a:lnTo>
                  <a:lnTo>
                    <a:pt x="90647" y="83935"/>
                  </a:lnTo>
                  <a:lnTo>
                    <a:pt x="33943" y="119911"/>
                  </a:lnTo>
                  <a:lnTo>
                    <a:pt x="3917" y="159834"/>
                  </a:lnTo>
                  <a:lnTo>
                    <a:pt x="0" y="180936"/>
                  </a:lnTo>
                  <a:lnTo>
                    <a:pt x="3917" y="202039"/>
                  </a:lnTo>
                  <a:lnTo>
                    <a:pt x="33943" y="241963"/>
                  </a:lnTo>
                  <a:lnTo>
                    <a:pt x="90647" y="277942"/>
                  </a:lnTo>
                  <a:lnTo>
                    <a:pt x="127911" y="294111"/>
                  </a:lnTo>
                  <a:lnTo>
                    <a:pt x="170534" y="308887"/>
                  </a:lnTo>
                  <a:lnTo>
                    <a:pt x="218078" y="322134"/>
                  </a:lnTo>
                  <a:lnTo>
                    <a:pt x="270106" y="333714"/>
                  </a:lnTo>
                  <a:lnTo>
                    <a:pt x="326183" y="343494"/>
                  </a:lnTo>
                  <a:lnTo>
                    <a:pt x="385871" y="351337"/>
                  </a:lnTo>
                  <a:lnTo>
                    <a:pt x="448733" y="357107"/>
                  </a:lnTo>
                  <a:lnTo>
                    <a:pt x="514332" y="360669"/>
                  </a:lnTo>
                  <a:lnTo>
                    <a:pt x="582231" y="361886"/>
                  </a:lnTo>
                  <a:lnTo>
                    <a:pt x="650133" y="360669"/>
                  </a:lnTo>
                  <a:lnTo>
                    <a:pt x="715733" y="357107"/>
                  </a:lnTo>
                  <a:lnTo>
                    <a:pt x="778596" y="351337"/>
                  </a:lnTo>
                  <a:lnTo>
                    <a:pt x="838284" y="343494"/>
                  </a:lnTo>
                  <a:lnTo>
                    <a:pt x="894361" y="333714"/>
                  </a:lnTo>
                  <a:lnTo>
                    <a:pt x="946390" y="322134"/>
                  </a:lnTo>
                  <a:lnTo>
                    <a:pt x="993933" y="308887"/>
                  </a:lnTo>
                  <a:lnTo>
                    <a:pt x="1036555" y="294111"/>
                  </a:lnTo>
                  <a:lnTo>
                    <a:pt x="1073818" y="277942"/>
                  </a:lnTo>
                  <a:lnTo>
                    <a:pt x="1130520" y="241963"/>
                  </a:lnTo>
                  <a:lnTo>
                    <a:pt x="1160545" y="202039"/>
                  </a:lnTo>
                  <a:lnTo>
                    <a:pt x="1164463" y="180936"/>
                  </a:lnTo>
                  <a:lnTo>
                    <a:pt x="1160545" y="159834"/>
                  </a:lnTo>
                  <a:lnTo>
                    <a:pt x="1130520" y="119911"/>
                  </a:lnTo>
                  <a:lnTo>
                    <a:pt x="1073818" y="83935"/>
                  </a:lnTo>
                  <a:lnTo>
                    <a:pt x="1036555" y="67766"/>
                  </a:lnTo>
                  <a:lnTo>
                    <a:pt x="993933" y="52992"/>
                  </a:lnTo>
                  <a:lnTo>
                    <a:pt x="946390" y="39747"/>
                  </a:lnTo>
                  <a:lnTo>
                    <a:pt x="894361" y="28167"/>
                  </a:lnTo>
                  <a:lnTo>
                    <a:pt x="838284" y="18389"/>
                  </a:lnTo>
                  <a:lnTo>
                    <a:pt x="778596" y="10547"/>
                  </a:lnTo>
                  <a:lnTo>
                    <a:pt x="715733" y="4778"/>
                  </a:lnTo>
                  <a:lnTo>
                    <a:pt x="650133" y="1217"/>
                  </a:lnTo>
                  <a:lnTo>
                    <a:pt x="582231" y="0"/>
                  </a:lnTo>
                  <a:close/>
                </a:path>
              </a:pathLst>
            </a:custGeom>
            <a:solidFill>
              <a:srgbClr val="00B0F0"/>
            </a:solidFill>
          </p:spPr>
          <p:txBody>
            <a:bodyPr wrap="square" lIns="0" tIns="0" rIns="0" bIns="0" rtlCol="0"/>
            <a:lstStyle/>
            <a:p/>
          </p:txBody>
        </p:sp>
        <p:sp>
          <p:nvSpPr>
            <p:cNvPr id="41" name="object 41" descr=""/>
            <p:cNvSpPr/>
            <p:nvPr/>
          </p:nvSpPr>
          <p:spPr>
            <a:xfrm>
              <a:off x="6001143" y="1715910"/>
              <a:ext cx="1164590" cy="361950"/>
            </a:xfrm>
            <a:custGeom>
              <a:avLst/>
              <a:gdLst/>
              <a:ahLst/>
              <a:cxnLst/>
              <a:rect l="l" t="t" r="r" b="b"/>
              <a:pathLst>
                <a:path w="1164590" h="361950">
                  <a:moveTo>
                    <a:pt x="0" y="180936"/>
                  </a:moveTo>
                  <a:lnTo>
                    <a:pt x="15377" y="139447"/>
                  </a:lnTo>
                  <a:lnTo>
                    <a:pt x="59179" y="101362"/>
                  </a:lnTo>
                  <a:lnTo>
                    <a:pt x="127911" y="67766"/>
                  </a:lnTo>
                  <a:lnTo>
                    <a:pt x="170534" y="52992"/>
                  </a:lnTo>
                  <a:lnTo>
                    <a:pt x="218078" y="39747"/>
                  </a:lnTo>
                  <a:lnTo>
                    <a:pt x="270106" y="28167"/>
                  </a:lnTo>
                  <a:lnTo>
                    <a:pt x="326183" y="18389"/>
                  </a:lnTo>
                  <a:lnTo>
                    <a:pt x="385871" y="10547"/>
                  </a:lnTo>
                  <a:lnTo>
                    <a:pt x="448733" y="4778"/>
                  </a:lnTo>
                  <a:lnTo>
                    <a:pt x="514332" y="1217"/>
                  </a:lnTo>
                  <a:lnTo>
                    <a:pt x="582231" y="0"/>
                  </a:lnTo>
                  <a:lnTo>
                    <a:pt x="650133" y="1217"/>
                  </a:lnTo>
                  <a:lnTo>
                    <a:pt x="715733" y="4778"/>
                  </a:lnTo>
                  <a:lnTo>
                    <a:pt x="778596" y="10547"/>
                  </a:lnTo>
                  <a:lnTo>
                    <a:pt x="838284" y="18389"/>
                  </a:lnTo>
                  <a:lnTo>
                    <a:pt x="894361" y="28167"/>
                  </a:lnTo>
                  <a:lnTo>
                    <a:pt x="946390" y="39747"/>
                  </a:lnTo>
                  <a:lnTo>
                    <a:pt x="993933" y="52992"/>
                  </a:lnTo>
                  <a:lnTo>
                    <a:pt x="1036555" y="67766"/>
                  </a:lnTo>
                  <a:lnTo>
                    <a:pt x="1073818" y="83935"/>
                  </a:lnTo>
                  <a:lnTo>
                    <a:pt x="1130520" y="119911"/>
                  </a:lnTo>
                  <a:lnTo>
                    <a:pt x="1160545" y="159834"/>
                  </a:lnTo>
                  <a:lnTo>
                    <a:pt x="1164463" y="180936"/>
                  </a:lnTo>
                  <a:lnTo>
                    <a:pt x="1160545" y="202039"/>
                  </a:lnTo>
                  <a:lnTo>
                    <a:pt x="1149086" y="222427"/>
                  </a:lnTo>
                  <a:lnTo>
                    <a:pt x="1105285" y="260514"/>
                  </a:lnTo>
                  <a:lnTo>
                    <a:pt x="1036555" y="294111"/>
                  </a:lnTo>
                  <a:lnTo>
                    <a:pt x="993933" y="308887"/>
                  </a:lnTo>
                  <a:lnTo>
                    <a:pt x="946390" y="322134"/>
                  </a:lnTo>
                  <a:lnTo>
                    <a:pt x="894361" y="333714"/>
                  </a:lnTo>
                  <a:lnTo>
                    <a:pt x="838284" y="343494"/>
                  </a:lnTo>
                  <a:lnTo>
                    <a:pt x="778596" y="351337"/>
                  </a:lnTo>
                  <a:lnTo>
                    <a:pt x="715733" y="357107"/>
                  </a:lnTo>
                  <a:lnTo>
                    <a:pt x="650133" y="360669"/>
                  </a:lnTo>
                  <a:lnTo>
                    <a:pt x="582231" y="361886"/>
                  </a:lnTo>
                  <a:lnTo>
                    <a:pt x="514332" y="360669"/>
                  </a:lnTo>
                  <a:lnTo>
                    <a:pt x="448733" y="357107"/>
                  </a:lnTo>
                  <a:lnTo>
                    <a:pt x="385871" y="351337"/>
                  </a:lnTo>
                  <a:lnTo>
                    <a:pt x="326183" y="343494"/>
                  </a:lnTo>
                  <a:lnTo>
                    <a:pt x="270106" y="333714"/>
                  </a:lnTo>
                  <a:lnTo>
                    <a:pt x="218078" y="322134"/>
                  </a:lnTo>
                  <a:lnTo>
                    <a:pt x="170534" y="308887"/>
                  </a:lnTo>
                  <a:lnTo>
                    <a:pt x="127911" y="294111"/>
                  </a:lnTo>
                  <a:lnTo>
                    <a:pt x="90647" y="277942"/>
                  </a:lnTo>
                  <a:lnTo>
                    <a:pt x="33943" y="241963"/>
                  </a:lnTo>
                  <a:lnTo>
                    <a:pt x="3917" y="202039"/>
                  </a:lnTo>
                  <a:lnTo>
                    <a:pt x="0" y="180936"/>
                  </a:lnTo>
                  <a:close/>
                </a:path>
              </a:pathLst>
            </a:custGeom>
            <a:ln w="9524">
              <a:solidFill>
                <a:srgbClr val="D5E8EA"/>
              </a:solidFill>
            </a:ln>
          </p:spPr>
          <p:txBody>
            <a:bodyPr wrap="square" lIns="0" tIns="0" rIns="0" bIns="0" rtlCol="0"/>
            <a:lstStyle/>
            <a:p/>
          </p:txBody>
        </p:sp>
      </p:grpSp>
      <p:sp>
        <p:nvSpPr>
          <p:cNvPr id="42" name="object 42" descr=""/>
          <p:cNvSpPr txBox="1"/>
          <p:nvPr/>
        </p:nvSpPr>
        <p:spPr>
          <a:xfrm>
            <a:off x="6342076" y="1738605"/>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Microsoft YaHei"/>
                <a:cs typeface="Microsoft YaHei"/>
              </a:rPr>
              <a:t>效率</a:t>
            </a:r>
            <a:endParaRPr sz="1800">
              <a:latin typeface="Microsoft YaHei"/>
              <a:cs typeface="Microsoft YaHei"/>
            </a:endParaRPr>
          </a:p>
        </p:txBody>
      </p:sp>
      <p:grpSp>
        <p:nvGrpSpPr>
          <p:cNvPr id="43" name="object 43" descr=""/>
          <p:cNvGrpSpPr/>
          <p:nvPr/>
        </p:nvGrpSpPr>
        <p:grpSpPr>
          <a:xfrm>
            <a:off x="323532" y="3195637"/>
            <a:ext cx="3897629" cy="1635125"/>
            <a:chOff x="323532" y="3195637"/>
            <a:chExt cx="3897629" cy="1635125"/>
          </a:xfrm>
        </p:grpSpPr>
        <p:pic>
          <p:nvPicPr>
            <p:cNvPr id="44" name="object 44"/>
            <p:cNvPicPr/>
            <p:nvPr/>
          </p:nvPicPr>
          <p:blipFill>
            <a:blip r:embed="rId24" cstate="print"/>
            <a:stretch>
              <a:fillRect/>
            </a:stretch>
          </p:blipFill>
          <p:spPr>
            <a:xfrm>
              <a:off x="323532" y="4115930"/>
              <a:ext cx="1823574" cy="714488"/>
            </a:xfrm>
            <a:prstGeom prst="rect">
              <a:avLst/>
            </a:prstGeom>
          </p:spPr>
        </p:pic>
        <p:pic>
          <p:nvPicPr>
            <p:cNvPr id="45" name="object 45"/>
            <p:cNvPicPr/>
            <p:nvPr/>
          </p:nvPicPr>
          <p:blipFill>
            <a:blip r:embed="rId25" cstate="print"/>
            <a:stretch>
              <a:fillRect/>
            </a:stretch>
          </p:blipFill>
          <p:spPr>
            <a:xfrm>
              <a:off x="2470443" y="3195637"/>
              <a:ext cx="1750591" cy="755954"/>
            </a:xfrm>
            <a:prstGeom prst="rect">
              <a:avLst/>
            </a:prstGeom>
          </p:spPr>
        </p:pic>
      </p:grpSp>
      <p:sp>
        <p:nvSpPr>
          <p:cNvPr id="46" name="object 46" descr=""/>
          <p:cNvSpPr txBox="1"/>
          <p:nvPr/>
        </p:nvSpPr>
        <p:spPr>
          <a:xfrm>
            <a:off x="910103" y="3943837"/>
            <a:ext cx="304800" cy="193040"/>
          </a:xfrm>
          <a:prstGeom prst="rect">
            <a:avLst/>
          </a:prstGeom>
        </p:spPr>
        <p:txBody>
          <a:bodyPr wrap="square" lIns="0" tIns="12065" rIns="0" bIns="0" rtlCol="0" vert="horz">
            <a:spAutoFit/>
          </a:bodyPr>
          <a:lstStyle/>
          <a:p>
            <a:pPr marL="12700">
              <a:lnSpc>
                <a:spcPct val="100000"/>
              </a:lnSpc>
              <a:spcBef>
                <a:spcPts val="95"/>
              </a:spcBef>
            </a:pPr>
            <a:r>
              <a:rPr dirty="0" sz="1100" spc="-35">
                <a:latin typeface="Microsoft YaHei"/>
                <a:cs typeface="Microsoft YaHei"/>
              </a:rPr>
              <a:t>工作</a:t>
            </a:r>
            <a:endParaRPr sz="1100">
              <a:latin typeface="Microsoft YaHei"/>
              <a:cs typeface="Microsoft YaHei"/>
            </a:endParaRPr>
          </a:p>
        </p:txBody>
      </p:sp>
      <p:sp>
        <p:nvSpPr>
          <p:cNvPr id="47" name="object 47" descr=""/>
          <p:cNvSpPr txBox="1"/>
          <p:nvPr/>
        </p:nvSpPr>
        <p:spPr>
          <a:xfrm>
            <a:off x="3206779" y="3943837"/>
            <a:ext cx="304800" cy="193040"/>
          </a:xfrm>
          <a:prstGeom prst="rect">
            <a:avLst/>
          </a:prstGeom>
        </p:spPr>
        <p:txBody>
          <a:bodyPr wrap="square" lIns="0" tIns="12065" rIns="0" bIns="0" rtlCol="0" vert="horz">
            <a:spAutoFit/>
          </a:bodyPr>
          <a:lstStyle/>
          <a:p>
            <a:pPr marL="12700">
              <a:lnSpc>
                <a:spcPct val="100000"/>
              </a:lnSpc>
              <a:spcBef>
                <a:spcPts val="95"/>
              </a:spcBef>
            </a:pPr>
            <a:r>
              <a:rPr dirty="0" sz="1100" spc="-35">
                <a:latin typeface="Microsoft YaHei"/>
                <a:cs typeface="Microsoft YaHei"/>
              </a:rPr>
              <a:t>娱乐</a:t>
            </a:r>
            <a:endParaRPr sz="1100">
              <a:latin typeface="Microsoft YaHei"/>
              <a:cs typeface="Microsoft YaHei"/>
            </a:endParaRPr>
          </a:p>
        </p:txBody>
      </p:sp>
      <p:grpSp>
        <p:nvGrpSpPr>
          <p:cNvPr id="48" name="object 48" descr=""/>
          <p:cNvGrpSpPr/>
          <p:nvPr/>
        </p:nvGrpSpPr>
        <p:grpSpPr>
          <a:xfrm>
            <a:off x="323532" y="3195637"/>
            <a:ext cx="3897629" cy="1635125"/>
            <a:chOff x="323532" y="3195637"/>
            <a:chExt cx="3897629" cy="1635125"/>
          </a:xfrm>
        </p:grpSpPr>
        <p:pic>
          <p:nvPicPr>
            <p:cNvPr id="49" name="object 49"/>
            <p:cNvPicPr/>
            <p:nvPr/>
          </p:nvPicPr>
          <p:blipFill>
            <a:blip r:embed="rId26" cstate="print"/>
            <a:stretch>
              <a:fillRect/>
            </a:stretch>
          </p:blipFill>
          <p:spPr>
            <a:xfrm>
              <a:off x="323532" y="3195637"/>
              <a:ext cx="1819688" cy="755954"/>
            </a:xfrm>
            <a:prstGeom prst="rect">
              <a:avLst/>
            </a:prstGeom>
          </p:spPr>
        </p:pic>
        <p:pic>
          <p:nvPicPr>
            <p:cNvPr id="50" name="object 50"/>
            <p:cNvPicPr/>
            <p:nvPr/>
          </p:nvPicPr>
          <p:blipFill>
            <a:blip r:embed="rId27" cstate="print"/>
            <a:stretch>
              <a:fillRect/>
            </a:stretch>
          </p:blipFill>
          <p:spPr>
            <a:xfrm>
              <a:off x="2470445" y="4115930"/>
              <a:ext cx="1750590" cy="714488"/>
            </a:xfrm>
            <a:prstGeom prst="rect">
              <a:avLst/>
            </a:prstGeom>
          </p:spPr>
        </p:pic>
        <p:pic>
          <p:nvPicPr>
            <p:cNvPr id="51" name="object 51" descr=""/>
            <p:cNvPicPr/>
            <p:nvPr/>
          </p:nvPicPr>
          <p:blipFill>
            <a:blip r:embed="rId28" cstate="print"/>
            <a:stretch>
              <a:fillRect/>
            </a:stretch>
          </p:blipFill>
          <p:spPr>
            <a:xfrm>
              <a:off x="1742694" y="3865626"/>
              <a:ext cx="1222247" cy="366521"/>
            </a:xfrm>
            <a:prstGeom prst="rect">
              <a:avLst/>
            </a:prstGeom>
          </p:spPr>
        </p:pic>
        <p:pic>
          <p:nvPicPr>
            <p:cNvPr id="52" name="object 52" descr=""/>
            <p:cNvPicPr/>
            <p:nvPr/>
          </p:nvPicPr>
          <p:blipFill>
            <a:blip r:embed="rId12" cstate="print"/>
            <a:stretch>
              <a:fillRect/>
            </a:stretch>
          </p:blipFill>
          <p:spPr>
            <a:xfrm>
              <a:off x="1946909" y="3803141"/>
              <a:ext cx="881633" cy="148196"/>
            </a:xfrm>
            <a:prstGeom prst="rect">
              <a:avLst/>
            </a:prstGeom>
          </p:spPr>
        </p:pic>
        <p:pic>
          <p:nvPicPr>
            <p:cNvPr id="53" name="object 53" descr=""/>
            <p:cNvPicPr/>
            <p:nvPr/>
          </p:nvPicPr>
          <p:blipFill>
            <a:blip r:embed="rId29" cstate="print"/>
            <a:stretch>
              <a:fillRect/>
            </a:stretch>
          </p:blipFill>
          <p:spPr>
            <a:xfrm>
              <a:off x="1946909" y="4100842"/>
              <a:ext cx="881633" cy="126732"/>
            </a:xfrm>
            <a:prstGeom prst="rect">
              <a:avLst/>
            </a:prstGeom>
          </p:spPr>
        </p:pic>
        <p:sp>
          <p:nvSpPr>
            <p:cNvPr id="54" name="object 54" descr=""/>
            <p:cNvSpPr/>
            <p:nvPr/>
          </p:nvSpPr>
          <p:spPr>
            <a:xfrm>
              <a:off x="1788981" y="3888621"/>
              <a:ext cx="1130300" cy="274955"/>
            </a:xfrm>
            <a:custGeom>
              <a:avLst/>
              <a:gdLst/>
              <a:ahLst/>
              <a:cxnLst/>
              <a:rect l="l" t="t" r="r" b="b"/>
              <a:pathLst>
                <a:path w="1130300" h="274954">
                  <a:moveTo>
                    <a:pt x="565099" y="0"/>
                  </a:moveTo>
                  <a:lnTo>
                    <a:pt x="494215" y="1071"/>
                  </a:lnTo>
                  <a:lnTo>
                    <a:pt x="425958" y="4199"/>
                  </a:lnTo>
                  <a:lnTo>
                    <a:pt x="360859" y="9254"/>
                  </a:lnTo>
                  <a:lnTo>
                    <a:pt x="299445" y="16108"/>
                  </a:lnTo>
                  <a:lnTo>
                    <a:pt x="242248" y="24633"/>
                  </a:lnTo>
                  <a:lnTo>
                    <a:pt x="189796" y="34698"/>
                  </a:lnTo>
                  <a:lnTo>
                    <a:pt x="142620" y="46175"/>
                  </a:lnTo>
                  <a:lnTo>
                    <a:pt x="101248" y="58936"/>
                  </a:lnTo>
                  <a:lnTo>
                    <a:pt x="38038" y="87791"/>
                  </a:lnTo>
                  <a:lnTo>
                    <a:pt x="4403" y="120233"/>
                  </a:lnTo>
                  <a:lnTo>
                    <a:pt x="0" y="137477"/>
                  </a:lnTo>
                  <a:lnTo>
                    <a:pt x="4403" y="154723"/>
                  </a:lnTo>
                  <a:lnTo>
                    <a:pt x="38038" y="187168"/>
                  </a:lnTo>
                  <a:lnTo>
                    <a:pt x="101248" y="216024"/>
                  </a:lnTo>
                  <a:lnTo>
                    <a:pt x="142620" y="228784"/>
                  </a:lnTo>
                  <a:lnTo>
                    <a:pt x="189796" y="240261"/>
                  </a:lnTo>
                  <a:lnTo>
                    <a:pt x="242248" y="250325"/>
                  </a:lnTo>
                  <a:lnTo>
                    <a:pt x="299445" y="258848"/>
                  </a:lnTo>
                  <a:lnTo>
                    <a:pt x="360859" y="265702"/>
                  </a:lnTo>
                  <a:lnTo>
                    <a:pt x="425958" y="270756"/>
                  </a:lnTo>
                  <a:lnTo>
                    <a:pt x="494215" y="273883"/>
                  </a:lnTo>
                  <a:lnTo>
                    <a:pt x="565099" y="274955"/>
                  </a:lnTo>
                  <a:lnTo>
                    <a:pt x="635982" y="273883"/>
                  </a:lnTo>
                  <a:lnTo>
                    <a:pt x="704239" y="270756"/>
                  </a:lnTo>
                  <a:lnTo>
                    <a:pt x="769339" y="265702"/>
                  </a:lnTo>
                  <a:lnTo>
                    <a:pt x="830752" y="258848"/>
                  </a:lnTo>
                  <a:lnTo>
                    <a:pt x="887949" y="250325"/>
                  </a:lnTo>
                  <a:lnTo>
                    <a:pt x="940401" y="240261"/>
                  </a:lnTo>
                  <a:lnTo>
                    <a:pt x="987578" y="228784"/>
                  </a:lnTo>
                  <a:lnTo>
                    <a:pt x="1028949" y="216024"/>
                  </a:lnTo>
                  <a:lnTo>
                    <a:pt x="1092160" y="187168"/>
                  </a:lnTo>
                  <a:lnTo>
                    <a:pt x="1125795" y="154723"/>
                  </a:lnTo>
                  <a:lnTo>
                    <a:pt x="1130198" y="137477"/>
                  </a:lnTo>
                  <a:lnTo>
                    <a:pt x="1125795" y="120233"/>
                  </a:lnTo>
                  <a:lnTo>
                    <a:pt x="1092160" y="87791"/>
                  </a:lnTo>
                  <a:lnTo>
                    <a:pt x="1028949" y="58936"/>
                  </a:lnTo>
                  <a:lnTo>
                    <a:pt x="987578" y="46175"/>
                  </a:lnTo>
                  <a:lnTo>
                    <a:pt x="940401" y="34698"/>
                  </a:lnTo>
                  <a:lnTo>
                    <a:pt x="887949" y="24633"/>
                  </a:lnTo>
                  <a:lnTo>
                    <a:pt x="830752" y="16108"/>
                  </a:lnTo>
                  <a:lnTo>
                    <a:pt x="769339" y="9254"/>
                  </a:lnTo>
                  <a:lnTo>
                    <a:pt x="704239" y="4199"/>
                  </a:lnTo>
                  <a:lnTo>
                    <a:pt x="635982" y="1071"/>
                  </a:lnTo>
                  <a:lnTo>
                    <a:pt x="565099" y="0"/>
                  </a:lnTo>
                  <a:close/>
                </a:path>
              </a:pathLst>
            </a:custGeom>
            <a:solidFill>
              <a:srgbClr val="00B0F0"/>
            </a:solidFill>
          </p:spPr>
          <p:txBody>
            <a:bodyPr wrap="square" lIns="0" tIns="0" rIns="0" bIns="0" rtlCol="0"/>
            <a:lstStyle/>
            <a:p/>
          </p:txBody>
        </p:sp>
        <p:sp>
          <p:nvSpPr>
            <p:cNvPr id="55" name="object 55" descr=""/>
            <p:cNvSpPr/>
            <p:nvPr/>
          </p:nvSpPr>
          <p:spPr>
            <a:xfrm>
              <a:off x="1788981" y="3888621"/>
              <a:ext cx="1130300" cy="274955"/>
            </a:xfrm>
            <a:custGeom>
              <a:avLst/>
              <a:gdLst/>
              <a:ahLst/>
              <a:cxnLst/>
              <a:rect l="l" t="t" r="r" b="b"/>
              <a:pathLst>
                <a:path w="1130300" h="274954">
                  <a:moveTo>
                    <a:pt x="0" y="137477"/>
                  </a:moveTo>
                  <a:lnTo>
                    <a:pt x="38038" y="87791"/>
                  </a:lnTo>
                  <a:lnTo>
                    <a:pt x="101248" y="58936"/>
                  </a:lnTo>
                  <a:lnTo>
                    <a:pt x="142620" y="46175"/>
                  </a:lnTo>
                  <a:lnTo>
                    <a:pt x="189796" y="34698"/>
                  </a:lnTo>
                  <a:lnTo>
                    <a:pt x="242248" y="24633"/>
                  </a:lnTo>
                  <a:lnTo>
                    <a:pt x="299445" y="16108"/>
                  </a:lnTo>
                  <a:lnTo>
                    <a:pt x="360859" y="9254"/>
                  </a:lnTo>
                  <a:lnTo>
                    <a:pt x="425958" y="4199"/>
                  </a:lnTo>
                  <a:lnTo>
                    <a:pt x="494215" y="1071"/>
                  </a:lnTo>
                  <a:lnTo>
                    <a:pt x="565099" y="0"/>
                  </a:lnTo>
                  <a:lnTo>
                    <a:pt x="635982" y="1071"/>
                  </a:lnTo>
                  <a:lnTo>
                    <a:pt x="704239" y="4199"/>
                  </a:lnTo>
                  <a:lnTo>
                    <a:pt x="769339" y="9254"/>
                  </a:lnTo>
                  <a:lnTo>
                    <a:pt x="830752" y="16108"/>
                  </a:lnTo>
                  <a:lnTo>
                    <a:pt x="887949" y="24633"/>
                  </a:lnTo>
                  <a:lnTo>
                    <a:pt x="940401" y="34698"/>
                  </a:lnTo>
                  <a:lnTo>
                    <a:pt x="987578" y="46175"/>
                  </a:lnTo>
                  <a:lnTo>
                    <a:pt x="1028949" y="58936"/>
                  </a:lnTo>
                  <a:lnTo>
                    <a:pt x="1092160" y="87791"/>
                  </a:lnTo>
                  <a:lnTo>
                    <a:pt x="1125795" y="120233"/>
                  </a:lnTo>
                  <a:lnTo>
                    <a:pt x="1130198" y="137477"/>
                  </a:lnTo>
                  <a:lnTo>
                    <a:pt x="1125795" y="154723"/>
                  </a:lnTo>
                  <a:lnTo>
                    <a:pt x="1112939" y="171330"/>
                  </a:lnTo>
                  <a:lnTo>
                    <a:pt x="1063987" y="202109"/>
                  </a:lnTo>
                  <a:lnTo>
                    <a:pt x="987578" y="228784"/>
                  </a:lnTo>
                  <a:lnTo>
                    <a:pt x="940401" y="240261"/>
                  </a:lnTo>
                  <a:lnTo>
                    <a:pt x="887949" y="250325"/>
                  </a:lnTo>
                  <a:lnTo>
                    <a:pt x="830752" y="258848"/>
                  </a:lnTo>
                  <a:lnTo>
                    <a:pt x="769339" y="265702"/>
                  </a:lnTo>
                  <a:lnTo>
                    <a:pt x="704239" y="270756"/>
                  </a:lnTo>
                  <a:lnTo>
                    <a:pt x="635982" y="273883"/>
                  </a:lnTo>
                  <a:lnTo>
                    <a:pt x="565099" y="274955"/>
                  </a:lnTo>
                  <a:lnTo>
                    <a:pt x="494215" y="273883"/>
                  </a:lnTo>
                  <a:lnTo>
                    <a:pt x="425958" y="270756"/>
                  </a:lnTo>
                  <a:lnTo>
                    <a:pt x="360859" y="265702"/>
                  </a:lnTo>
                  <a:lnTo>
                    <a:pt x="299445" y="258848"/>
                  </a:lnTo>
                  <a:lnTo>
                    <a:pt x="242248" y="250325"/>
                  </a:lnTo>
                  <a:lnTo>
                    <a:pt x="189796" y="240261"/>
                  </a:lnTo>
                  <a:lnTo>
                    <a:pt x="142620" y="228784"/>
                  </a:lnTo>
                  <a:lnTo>
                    <a:pt x="101248" y="216024"/>
                  </a:lnTo>
                  <a:lnTo>
                    <a:pt x="38038" y="187168"/>
                  </a:lnTo>
                  <a:lnTo>
                    <a:pt x="4403" y="154723"/>
                  </a:lnTo>
                  <a:lnTo>
                    <a:pt x="0" y="137477"/>
                  </a:lnTo>
                  <a:close/>
                </a:path>
              </a:pathLst>
            </a:custGeom>
            <a:ln w="9525">
              <a:solidFill>
                <a:srgbClr val="D5E8EA"/>
              </a:solidFill>
            </a:ln>
          </p:spPr>
          <p:txBody>
            <a:bodyPr wrap="square" lIns="0" tIns="0" rIns="0" bIns="0" rtlCol="0"/>
            <a:lstStyle/>
            <a:p/>
          </p:txBody>
        </p:sp>
      </p:grpSp>
      <p:sp>
        <p:nvSpPr>
          <p:cNvPr id="56" name="object 56" descr=""/>
          <p:cNvSpPr txBox="1"/>
          <p:nvPr/>
        </p:nvSpPr>
        <p:spPr>
          <a:xfrm>
            <a:off x="910103" y="4858105"/>
            <a:ext cx="304800" cy="193040"/>
          </a:xfrm>
          <a:prstGeom prst="rect">
            <a:avLst/>
          </a:prstGeom>
        </p:spPr>
        <p:txBody>
          <a:bodyPr wrap="square" lIns="0" tIns="12065" rIns="0" bIns="0" rtlCol="0" vert="horz">
            <a:spAutoFit/>
          </a:bodyPr>
          <a:lstStyle/>
          <a:p>
            <a:pPr marL="12700">
              <a:lnSpc>
                <a:spcPct val="100000"/>
              </a:lnSpc>
              <a:spcBef>
                <a:spcPts val="95"/>
              </a:spcBef>
            </a:pPr>
            <a:r>
              <a:rPr dirty="0" sz="1100" spc="-35">
                <a:latin typeface="Microsoft YaHei"/>
                <a:cs typeface="Microsoft YaHei"/>
              </a:rPr>
              <a:t>游戏</a:t>
            </a:r>
            <a:endParaRPr sz="1100">
              <a:latin typeface="Microsoft YaHei"/>
              <a:cs typeface="Microsoft YaHei"/>
            </a:endParaRPr>
          </a:p>
        </p:txBody>
      </p:sp>
      <p:sp>
        <p:nvSpPr>
          <p:cNvPr id="57" name="object 57" descr=""/>
          <p:cNvSpPr txBox="1"/>
          <p:nvPr/>
        </p:nvSpPr>
        <p:spPr>
          <a:xfrm>
            <a:off x="2997916" y="4858105"/>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各种应用</a:t>
            </a:r>
            <a:endParaRPr sz="1100">
              <a:latin typeface="Microsoft YaHei"/>
              <a:cs typeface="Microsoft YaHei"/>
            </a:endParaRPr>
          </a:p>
        </p:txBody>
      </p:sp>
      <p:sp>
        <p:nvSpPr>
          <p:cNvPr id="58" name="object 58" descr=""/>
          <p:cNvSpPr txBox="1"/>
          <p:nvPr/>
        </p:nvSpPr>
        <p:spPr>
          <a:xfrm>
            <a:off x="2112652" y="3867857"/>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a:solidFill>
                  <a:srgbClr val="FFFFFF"/>
                </a:solidFill>
                <a:latin typeface="Microsoft YaHei"/>
                <a:cs typeface="Microsoft YaHei"/>
              </a:rPr>
              <a:t>内容</a:t>
            </a:r>
            <a:endParaRPr sz="1800">
              <a:latin typeface="Microsoft YaHei"/>
              <a:cs typeface="Microsoft YaHei"/>
            </a:endParaRPr>
          </a:p>
        </p:txBody>
      </p:sp>
      <p:pic>
        <p:nvPicPr>
          <p:cNvPr id="59" name="object 59"/>
          <p:cNvPicPr/>
          <p:nvPr/>
        </p:nvPicPr>
        <p:blipFill>
          <a:blip r:embed="rId30" cstate="print"/>
          <a:stretch>
            <a:fillRect/>
          </a:stretch>
        </p:blipFill>
        <p:spPr>
          <a:xfrm>
            <a:off x="4499991" y="3147813"/>
            <a:ext cx="4320475" cy="16888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0998" y="135545"/>
            <a:ext cx="5717540" cy="513080"/>
          </a:xfrm>
          <a:prstGeom prst="rect"/>
        </p:spPr>
        <p:txBody>
          <a:bodyPr wrap="square" lIns="0" tIns="12065" rIns="0" bIns="0" rtlCol="0" vert="horz">
            <a:spAutoFit/>
          </a:bodyPr>
          <a:lstStyle/>
          <a:p>
            <a:pPr marL="12700">
              <a:lnSpc>
                <a:spcPct val="100000"/>
              </a:lnSpc>
              <a:spcBef>
                <a:spcPts val="95"/>
              </a:spcBef>
            </a:pPr>
            <a:r>
              <a:rPr dirty="0" spc="-45"/>
              <a:t>各地加速智能网联汽车产业布局</a:t>
            </a:r>
          </a:p>
        </p:txBody>
      </p:sp>
      <p:sp>
        <p:nvSpPr>
          <p:cNvPr id="3" name="object 3" descr=""/>
          <p:cNvSpPr txBox="1"/>
          <p:nvPr/>
        </p:nvSpPr>
        <p:spPr>
          <a:xfrm>
            <a:off x="443788" y="855433"/>
            <a:ext cx="4158615" cy="584835"/>
          </a:xfrm>
          <a:prstGeom prst="rect">
            <a:avLst/>
          </a:prstGeom>
          <a:solidFill>
            <a:srgbClr val="0070C0"/>
          </a:solidFill>
        </p:spPr>
        <p:txBody>
          <a:bodyPr wrap="square" lIns="0" tIns="38100" rIns="0" bIns="0" rtlCol="0" vert="horz">
            <a:spAutoFit/>
          </a:bodyPr>
          <a:lstStyle/>
          <a:p>
            <a:pPr marL="1468120" marR="139700" indent="-1321435">
              <a:lnSpc>
                <a:spcPct val="100000"/>
              </a:lnSpc>
              <a:spcBef>
                <a:spcPts val="300"/>
              </a:spcBef>
            </a:pPr>
            <a:r>
              <a:rPr dirty="0" sz="1600" spc="-15" b="1">
                <a:solidFill>
                  <a:srgbClr val="FFFFFF"/>
                </a:solidFill>
                <a:latin typeface="Microsoft YaHei"/>
                <a:cs typeface="Microsoft YaHei"/>
              </a:rPr>
              <a:t>“基于宽带移动互联网的智能汽车、智慧交</a:t>
            </a:r>
            <a:r>
              <a:rPr dirty="0" sz="1600" spc="-10" b="1">
                <a:solidFill>
                  <a:srgbClr val="FFFFFF"/>
                </a:solidFill>
                <a:latin typeface="Microsoft YaHei"/>
                <a:cs typeface="Microsoft YaHei"/>
              </a:rPr>
              <a:t>通应用示范”</a:t>
            </a:r>
            <a:endParaRPr sz="1600">
              <a:latin typeface="Microsoft YaHei"/>
              <a:cs typeface="Microsoft YaHei"/>
            </a:endParaRPr>
          </a:p>
        </p:txBody>
      </p:sp>
      <p:sp>
        <p:nvSpPr>
          <p:cNvPr id="4" name="object 4" descr=""/>
          <p:cNvSpPr/>
          <p:nvPr/>
        </p:nvSpPr>
        <p:spPr>
          <a:xfrm>
            <a:off x="4794491" y="855433"/>
            <a:ext cx="3942079" cy="584835"/>
          </a:xfrm>
          <a:custGeom>
            <a:avLst/>
            <a:gdLst/>
            <a:ahLst/>
            <a:cxnLst/>
            <a:rect l="l" t="t" r="r" b="b"/>
            <a:pathLst>
              <a:path w="3942079" h="584835">
                <a:moveTo>
                  <a:pt x="3941635" y="0"/>
                </a:moveTo>
                <a:lnTo>
                  <a:pt x="0" y="0"/>
                </a:lnTo>
                <a:lnTo>
                  <a:pt x="0" y="584771"/>
                </a:lnTo>
                <a:lnTo>
                  <a:pt x="3941635" y="584771"/>
                </a:lnTo>
                <a:lnTo>
                  <a:pt x="3941635" y="0"/>
                </a:lnTo>
                <a:close/>
              </a:path>
            </a:pathLst>
          </a:custGeom>
          <a:solidFill>
            <a:srgbClr val="0070C0"/>
          </a:solidFill>
        </p:spPr>
        <p:txBody>
          <a:bodyPr wrap="square" lIns="0" tIns="0" rIns="0" bIns="0" rtlCol="0"/>
          <a:lstStyle/>
          <a:p/>
        </p:txBody>
      </p:sp>
      <p:sp>
        <p:nvSpPr>
          <p:cNvPr id="5" name="object 5" descr=""/>
          <p:cNvSpPr txBox="1"/>
          <p:nvPr/>
        </p:nvSpPr>
        <p:spPr>
          <a:xfrm>
            <a:off x="4794491" y="855433"/>
            <a:ext cx="3942079" cy="282575"/>
          </a:xfrm>
          <a:prstGeom prst="rect">
            <a:avLst/>
          </a:prstGeom>
          <a:solidFill>
            <a:srgbClr val="0070C0"/>
          </a:solidFill>
        </p:spPr>
        <p:txBody>
          <a:bodyPr wrap="square" lIns="0" tIns="38100" rIns="0" bIns="0" rtlCol="0" vert="horz">
            <a:spAutoFit/>
          </a:bodyPr>
          <a:lstStyle/>
          <a:p>
            <a:pPr marL="242570">
              <a:lnSpc>
                <a:spcPct val="100000"/>
              </a:lnSpc>
              <a:spcBef>
                <a:spcPts val="300"/>
              </a:spcBef>
            </a:pPr>
            <a:r>
              <a:rPr dirty="0" sz="1600" spc="-15" b="1">
                <a:solidFill>
                  <a:srgbClr val="FFFFFF"/>
                </a:solidFill>
                <a:latin typeface="Microsoft YaHei"/>
                <a:cs typeface="Microsoft YaHei"/>
              </a:rPr>
              <a:t>工信部与公安部、江苏省政府开展无锡</a:t>
            </a:r>
            <a:endParaRPr sz="1600">
              <a:latin typeface="Microsoft YaHei"/>
              <a:cs typeface="Microsoft YaHei"/>
            </a:endParaRPr>
          </a:p>
        </p:txBody>
      </p:sp>
      <p:sp>
        <p:nvSpPr>
          <p:cNvPr id="6" name="object 6" descr=""/>
          <p:cNvSpPr txBox="1"/>
          <p:nvPr/>
        </p:nvSpPr>
        <p:spPr>
          <a:xfrm>
            <a:off x="4794491" y="1137841"/>
            <a:ext cx="3942079" cy="302895"/>
          </a:xfrm>
          <a:prstGeom prst="rect">
            <a:avLst/>
          </a:prstGeom>
          <a:solidFill>
            <a:srgbClr val="0070C0"/>
          </a:solidFill>
        </p:spPr>
        <p:txBody>
          <a:bodyPr wrap="square" lIns="0" tIns="0" rIns="0" bIns="0" rtlCol="0" vert="horz">
            <a:spAutoFit/>
          </a:bodyPr>
          <a:lstStyle/>
          <a:p>
            <a:pPr marL="140335">
              <a:lnSpc>
                <a:spcPts val="1920"/>
              </a:lnSpc>
            </a:pPr>
            <a:r>
              <a:rPr dirty="0" sz="1600" spc="-15" b="1">
                <a:solidFill>
                  <a:srgbClr val="FFFFFF"/>
                </a:solidFill>
                <a:latin typeface="Microsoft YaHei"/>
                <a:cs typeface="Microsoft YaHei"/>
              </a:rPr>
              <a:t>“国家智能交通综合测试基地共建合作”</a:t>
            </a:r>
            <a:endParaRPr sz="1600">
              <a:latin typeface="Microsoft YaHei"/>
              <a:cs typeface="Microsoft YaHei"/>
            </a:endParaRPr>
          </a:p>
        </p:txBody>
      </p:sp>
      <p:pic>
        <p:nvPicPr>
          <p:cNvPr id="7" name="object 7"/>
          <p:cNvPicPr/>
          <p:nvPr/>
        </p:nvPicPr>
        <p:blipFill>
          <a:blip r:embed="rId2" cstate="print"/>
          <a:stretch>
            <a:fillRect/>
          </a:stretch>
        </p:blipFill>
        <p:spPr>
          <a:xfrm>
            <a:off x="4794491" y="1493520"/>
            <a:ext cx="1970818" cy="1090104"/>
          </a:xfrm>
          <a:prstGeom prst="rect">
            <a:avLst/>
          </a:prstGeom>
        </p:spPr>
      </p:pic>
      <p:pic>
        <p:nvPicPr>
          <p:cNvPr id="8" name="object 8"/>
          <p:cNvPicPr/>
          <p:nvPr/>
        </p:nvPicPr>
        <p:blipFill>
          <a:blip r:embed="rId3" cstate="print"/>
          <a:stretch>
            <a:fillRect/>
          </a:stretch>
        </p:blipFill>
        <p:spPr>
          <a:xfrm>
            <a:off x="6918350" y="1493520"/>
            <a:ext cx="1800196" cy="1090104"/>
          </a:xfrm>
          <a:prstGeom prst="rect">
            <a:avLst/>
          </a:prstGeom>
        </p:spPr>
      </p:pic>
      <p:sp>
        <p:nvSpPr>
          <p:cNvPr id="9" name="object 9" descr=""/>
          <p:cNvSpPr txBox="1"/>
          <p:nvPr/>
        </p:nvSpPr>
        <p:spPr>
          <a:xfrm>
            <a:off x="4794491" y="2701836"/>
            <a:ext cx="3975735" cy="356870"/>
          </a:xfrm>
          <a:prstGeom prst="rect">
            <a:avLst/>
          </a:prstGeom>
          <a:solidFill>
            <a:srgbClr val="0070C0"/>
          </a:solidFill>
        </p:spPr>
        <p:txBody>
          <a:bodyPr wrap="square" lIns="0" tIns="38100" rIns="0" bIns="0" rtlCol="0" vert="horz">
            <a:spAutoFit/>
          </a:bodyPr>
          <a:lstStyle/>
          <a:p>
            <a:pPr marL="767080">
              <a:lnSpc>
                <a:spcPct val="100000"/>
              </a:lnSpc>
              <a:spcBef>
                <a:spcPts val="300"/>
              </a:spcBef>
            </a:pPr>
            <a:r>
              <a:rPr dirty="0" sz="1600" spc="-10" b="1">
                <a:solidFill>
                  <a:srgbClr val="FFFFFF"/>
                </a:solidFill>
                <a:latin typeface="Microsoft YaHei"/>
                <a:cs typeface="Microsoft YaHei"/>
              </a:rPr>
              <a:t>“智能制造试点示范项目”</a:t>
            </a:r>
            <a:endParaRPr sz="1600">
              <a:latin typeface="Microsoft YaHei"/>
              <a:cs typeface="Microsoft YaHei"/>
            </a:endParaRPr>
          </a:p>
        </p:txBody>
      </p:sp>
      <p:grpSp>
        <p:nvGrpSpPr>
          <p:cNvPr id="10" name="object 10" descr=""/>
          <p:cNvGrpSpPr/>
          <p:nvPr/>
        </p:nvGrpSpPr>
        <p:grpSpPr>
          <a:xfrm>
            <a:off x="4794491" y="3058185"/>
            <a:ext cx="3975735" cy="1729739"/>
            <a:chOff x="4794491" y="3058185"/>
            <a:chExt cx="3975735" cy="1729739"/>
          </a:xfrm>
        </p:grpSpPr>
        <p:pic>
          <p:nvPicPr>
            <p:cNvPr id="11" name="object 11"/>
            <p:cNvPicPr/>
            <p:nvPr/>
          </p:nvPicPr>
          <p:blipFill>
            <a:blip r:embed="rId4" cstate="print"/>
            <a:stretch>
              <a:fillRect/>
            </a:stretch>
          </p:blipFill>
          <p:spPr>
            <a:xfrm>
              <a:off x="4798809" y="3785964"/>
              <a:ext cx="1693616" cy="1001478"/>
            </a:xfrm>
            <a:prstGeom prst="rect">
              <a:avLst/>
            </a:prstGeom>
          </p:spPr>
        </p:pic>
        <p:sp>
          <p:nvSpPr>
            <p:cNvPr id="12" name="object 12" descr=""/>
            <p:cNvSpPr/>
            <p:nvPr/>
          </p:nvSpPr>
          <p:spPr>
            <a:xfrm>
              <a:off x="4794491" y="3058185"/>
              <a:ext cx="3975735" cy="728345"/>
            </a:xfrm>
            <a:custGeom>
              <a:avLst/>
              <a:gdLst/>
              <a:ahLst/>
              <a:cxnLst/>
              <a:rect l="l" t="t" r="r" b="b"/>
              <a:pathLst>
                <a:path w="3975734" h="728345">
                  <a:moveTo>
                    <a:pt x="3975442" y="0"/>
                  </a:moveTo>
                  <a:lnTo>
                    <a:pt x="0" y="0"/>
                  </a:lnTo>
                  <a:lnTo>
                    <a:pt x="0" y="727786"/>
                  </a:lnTo>
                  <a:lnTo>
                    <a:pt x="3975442" y="727786"/>
                  </a:lnTo>
                  <a:lnTo>
                    <a:pt x="3975442" y="0"/>
                  </a:lnTo>
                  <a:close/>
                </a:path>
              </a:pathLst>
            </a:custGeom>
            <a:solidFill>
              <a:srgbClr val="F2F2F2">
                <a:alpha val="79998"/>
              </a:srgbClr>
            </a:solidFill>
          </p:spPr>
          <p:txBody>
            <a:bodyPr wrap="square" lIns="0" tIns="0" rIns="0" bIns="0" rtlCol="0"/>
            <a:lstStyle/>
            <a:p/>
          </p:txBody>
        </p:sp>
      </p:grpSp>
      <p:graphicFrame>
        <p:nvGraphicFramePr>
          <p:cNvPr id="13" name="object 13" descr=""/>
          <p:cNvGraphicFramePr>
            <a:graphicFrameLocks noGrp="1"/>
          </p:cNvGraphicFramePr>
          <p:nvPr/>
        </p:nvGraphicFramePr>
        <p:xfrm>
          <a:off x="439061" y="2696789"/>
          <a:ext cx="4257040" cy="2090420"/>
        </p:xfrm>
        <a:graphic>
          <a:graphicData uri="http://schemas.openxmlformats.org/drawingml/2006/table">
            <a:tbl>
              <a:tblPr firstRow="1" bandRow="1">
                <a:tableStyleId>{2D5ABB26-0587-4C30-8999-92F81FD0307C}</a:tableStyleId>
              </a:tblPr>
              <a:tblGrid>
                <a:gridCol w="567690"/>
                <a:gridCol w="864235"/>
                <a:gridCol w="1152525"/>
                <a:gridCol w="1584325"/>
              </a:tblGrid>
              <a:tr h="349885">
                <a:tc>
                  <a:txBody>
                    <a:bodyPr/>
                    <a:lstStyle/>
                    <a:p>
                      <a:pPr algn="ctr">
                        <a:lnSpc>
                          <a:spcPct val="100000"/>
                        </a:lnSpc>
                        <a:spcBef>
                          <a:spcPts val="625"/>
                        </a:spcBef>
                      </a:pPr>
                      <a:r>
                        <a:rPr dirty="0" sz="1200" spc="-25">
                          <a:solidFill>
                            <a:srgbClr val="FFFFFF"/>
                          </a:solidFill>
                          <a:latin typeface="SimSun"/>
                          <a:cs typeface="SimSun"/>
                        </a:rPr>
                        <a:t>城市</a:t>
                      </a:r>
                      <a:endParaRPr sz="1200">
                        <a:latin typeface="SimSun"/>
                        <a:cs typeface="SimSun"/>
                      </a:endParaRPr>
                    </a:p>
                  </a:txBody>
                  <a:tcPr marL="0" marR="0" marB="0" marT="793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BE0E3"/>
                    </a:solidFill>
                  </a:tcPr>
                </a:tc>
                <a:tc>
                  <a:txBody>
                    <a:bodyPr/>
                    <a:lstStyle/>
                    <a:p>
                      <a:pPr algn="ctr">
                        <a:lnSpc>
                          <a:spcPct val="100000"/>
                        </a:lnSpc>
                        <a:spcBef>
                          <a:spcPts val="625"/>
                        </a:spcBef>
                      </a:pPr>
                      <a:r>
                        <a:rPr dirty="0" sz="1200" spc="-15">
                          <a:solidFill>
                            <a:srgbClr val="FFFFFF"/>
                          </a:solidFill>
                          <a:latin typeface="SimSun"/>
                          <a:cs typeface="SimSun"/>
                        </a:rPr>
                        <a:t>启动时间</a:t>
                      </a:r>
                      <a:endParaRPr sz="1200">
                        <a:latin typeface="SimSun"/>
                        <a:cs typeface="SimSun"/>
                      </a:endParaRPr>
                    </a:p>
                  </a:txBody>
                  <a:tcPr marL="0" marR="0" marB="0" marT="793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BE0E3"/>
                    </a:solidFill>
                  </a:tcPr>
                </a:tc>
                <a:tc>
                  <a:txBody>
                    <a:bodyPr/>
                    <a:lstStyle/>
                    <a:p>
                      <a:pPr algn="ctr" marL="635">
                        <a:lnSpc>
                          <a:spcPct val="100000"/>
                        </a:lnSpc>
                        <a:spcBef>
                          <a:spcPts val="625"/>
                        </a:spcBef>
                      </a:pPr>
                      <a:r>
                        <a:rPr dirty="0" sz="1200" spc="-15">
                          <a:solidFill>
                            <a:srgbClr val="FFFFFF"/>
                          </a:solidFill>
                          <a:latin typeface="SimSun"/>
                          <a:cs typeface="SimSun"/>
                        </a:rPr>
                        <a:t>牵头单位</a:t>
                      </a:r>
                      <a:endParaRPr sz="1200">
                        <a:latin typeface="SimSun"/>
                        <a:cs typeface="SimSun"/>
                      </a:endParaRPr>
                    </a:p>
                  </a:txBody>
                  <a:tcPr marL="0" marR="0" marB="0" marT="793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BE0E3"/>
                    </a:solidFill>
                  </a:tcPr>
                </a:tc>
                <a:tc>
                  <a:txBody>
                    <a:bodyPr/>
                    <a:lstStyle/>
                    <a:p>
                      <a:pPr algn="ctr">
                        <a:lnSpc>
                          <a:spcPct val="100000"/>
                        </a:lnSpc>
                        <a:spcBef>
                          <a:spcPts val="625"/>
                        </a:spcBef>
                      </a:pPr>
                      <a:r>
                        <a:rPr dirty="0" sz="1200" spc="-15">
                          <a:solidFill>
                            <a:srgbClr val="FFFFFF"/>
                          </a:solidFill>
                          <a:latin typeface="SimSun"/>
                          <a:cs typeface="SimSun"/>
                        </a:rPr>
                        <a:t>参与单位</a:t>
                      </a:r>
                      <a:endParaRPr sz="1200">
                        <a:latin typeface="SimSun"/>
                        <a:cs typeface="SimSun"/>
                      </a:endParaRPr>
                    </a:p>
                  </a:txBody>
                  <a:tcPr marL="0" marR="0" marB="0" marT="79375">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BBE0E3"/>
                    </a:solidFill>
                  </a:tcPr>
                </a:tc>
              </a:tr>
              <a:tr h="365760">
                <a:tc>
                  <a:txBody>
                    <a:bodyPr/>
                    <a:lstStyle/>
                    <a:p>
                      <a:pPr algn="ctr">
                        <a:lnSpc>
                          <a:spcPct val="100000"/>
                        </a:lnSpc>
                        <a:spcBef>
                          <a:spcPts val="875"/>
                        </a:spcBef>
                      </a:pPr>
                      <a:r>
                        <a:rPr dirty="0" sz="900" spc="-25">
                          <a:latin typeface="SimSun"/>
                          <a:cs typeface="SimSun"/>
                        </a:rPr>
                        <a:t>上海</a:t>
                      </a:r>
                      <a:endParaRPr sz="900">
                        <a:latin typeface="SimSun"/>
                        <a:cs typeface="SimSun"/>
                      </a:endParaRPr>
                    </a:p>
                  </a:txBody>
                  <a:tcPr marL="0" marR="0" marB="0" marT="11112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70"/>
                        </a:spcBef>
                      </a:pPr>
                      <a:r>
                        <a:rPr dirty="0" sz="900" spc="-10">
                          <a:latin typeface="Arial MT"/>
                          <a:cs typeface="Arial MT"/>
                        </a:rPr>
                        <a:t>2015.7</a:t>
                      </a:r>
                      <a:endParaRPr sz="900">
                        <a:latin typeface="Arial MT"/>
                        <a:cs typeface="Arial MT"/>
                      </a:endParaRPr>
                    </a:p>
                  </a:txBody>
                  <a:tcPr marL="0" marR="0" marB="0" marT="11049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75"/>
                        </a:spcBef>
                      </a:pPr>
                      <a:r>
                        <a:rPr dirty="0" sz="900" spc="-20">
                          <a:latin typeface="SimSun"/>
                          <a:cs typeface="SimSun"/>
                        </a:rPr>
                        <a:t>工信部</a:t>
                      </a:r>
                      <a:endParaRPr sz="900">
                        <a:latin typeface="SimSun"/>
                        <a:cs typeface="SimSun"/>
                      </a:endParaRPr>
                    </a:p>
                  </a:txBody>
                  <a:tcPr marL="0" marR="0" marB="0" marT="11112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marL="213360" marR="97790" indent="-107950">
                        <a:lnSpc>
                          <a:spcPts val="1070"/>
                        </a:lnSpc>
                        <a:spcBef>
                          <a:spcPts val="390"/>
                        </a:spcBef>
                      </a:pPr>
                      <a:r>
                        <a:rPr dirty="0" sz="900">
                          <a:latin typeface="SimSun"/>
                          <a:cs typeface="SimSun"/>
                        </a:rPr>
                        <a:t>安亭、</a:t>
                      </a:r>
                      <a:r>
                        <a:rPr dirty="0" sz="900">
                          <a:latin typeface="Arial MT"/>
                          <a:cs typeface="Arial MT"/>
                        </a:rPr>
                        <a:t>SAE</a:t>
                      </a:r>
                      <a:r>
                        <a:rPr dirty="0" sz="900">
                          <a:latin typeface="SimSun"/>
                          <a:cs typeface="SimSun"/>
                        </a:rPr>
                        <a:t>（</a:t>
                      </a:r>
                      <a:r>
                        <a:rPr dirty="0" sz="900" spc="-10">
                          <a:latin typeface="SimSun"/>
                          <a:cs typeface="SimSun"/>
                        </a:rPr>
                        <a:t>汽车工程师学</a:t>
                      </a:r>
                      <a:r>
                        <a:rPr dirty="0" sz="900">
                          <a:latin typeface="SimSun"/>
                          <a:cs typeface="SimSun"/>
                        </a:rPr>
                        <a:t>会）、</a:t>
                      </a:r>
                      <a:r>
                        <a:rPr dirty="0" sz="900" spc="-10">
                          <a:latin typeface="Arial MT"/>
                          <a:cs typeface="Arial MT"/>
                        </a:rPr>
                        <a:t>CATARC</a:t>
                      </a:r>
                      <a:r>
                        <a:rPr dirty="0" sz="900" spc="-20">
                          <a:latin typeface="SimSun"/>
                          <a:cs typeface="SimSun"/>
                        </a:rPr>
                        <a:t>、上汽</a:t>
                      </a:r>
                      <a:endParaRPr sz="900">
                        <a:latin typeface="SimSun"/>
                        <a:cs typeface="SimSun"/>
                      </a:endParaRPr>
                    </a:p>
                  </a:txBody>
                  <a:tcPr marL="0" marR="0" marB="0" marT="4953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349885">
                <a:tc>
                  <a:txBody>
                    <a:bodyPr/>
                    <a:lstStyle/>
                    <a:p>
                      <a:pPr algn="ctr">
                        <a:lnSpc>
                          <a:spcPct val="100000"/>
                        </a:lnSpc>
                        <a:spcBef>
                          <a:spcPts val="815"/>
                        </a:spcBef>
                      </a:pPr>
                      <a:r>
                        <a:rPr dirty="0" sz="900" spc="-25">
                          <a:latin typeface="SimSun"/>
                          <a:cs typeface="SimSun"/>
                        </a:rPr>
                        <a:t>浙江</a:t>
                      </a:r>
                      <a:endParaRPr sz="900">
                        <a:latin typeface="SimSun"/>
                        <a:cs typeface="SimSun"/>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05"/>
                        </a:spcBef>
                      </a:pPr>
                      <a:r>
                        <a:rPr dirty="0" sz="900" spc="-10">
                          <a:latin typeface="Arial MT"/>
                          <a:cs typeface="Arial MT"/>
                        </a:rPr>
                        <a:t>2015.9</a:t>
                      </a:r>
                      <a:endParaRPr sz="900">
                        <a:latin typeface="Arial MT"/>
                        <a:cs typeface="Arial MT"/>
                      </a:endParaRPr>
                    </a:p>
                  </a:txBody>
                  <a:tcPr marL="0" marR="0" marB="0" marT="10223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15"/>
                        </a:spcBef>
                      </a:pPr>
                      <a:r>
                        <a:rPr dirty="0" sz="900" spc="-15">
                          <a:latin typeface="SimSun"/>
                          <a:cs typeface="SimSun"/>
                        </a:rPr>
                        <a:t>省经信委</a:t>
                      </a:r>
                      <a:endParaRPr sz="900">
                        <a:latin typeface="SimSun"/>
                        <a:cs typeface="SimSun"/>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15"/>
                        </a:spcBef>
                      </a:pPr>
                      <a:r>
                        <a:rPr dirty="0" sz="900" spc="-5">
                          <a:latin typeface="SimSun"/>
                          <a:cs typeface="SimSun"/>
                        </a:rPr>
                        <a:t>浙江移动、华为、阿里</a:t>
                      </a:r>
                      <a:endParaRPr sz="900">
                        <a:latin typeface="SimSun"/>
                        <a:cs typeface="SimSun"/>
                      </a:endParaRPr>
                    </a:p>
                  </a:txBody>
                  <a:tcPr marL="0" marR="0" marB="0" marT="10350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365760">
                <a:tc>
                  <a:txBody>
                    <a:bodyPr/>
                    <a:lstStyle/>
                    <a:p>
                      <a:pPr marL="168910" marR="123825" indent="-38100">
                        <a:lnSpc>
                          <a:spcPts val="1070"/>
                        </a:lnSpc>
                        <a:spcBef>
                          <a:spcPts val="390"/>
                        </a:spcBef>
                      </a:pPr>
                      <a:r>
                        <a:rPr dirty="0" sz="900">
                          <a:latin typeface="SimSun"/>
                          <a:cs typeface="SimSun"/>
                        </a:rPr>
                        <a:t>北京</a:t>
                      </a:r>
                      <a:r>
                        <a:rPr dirty="0" sz="900" spc="-50">
                          <a:latin typeface="Arial MT"/>
                          <a:cs typeface="Arial MT"/>
                        </a:rPr>
                        <a:t>&amp;</a:t>
                      </a:r>
                      <a:r>
                        <a:rPr dirty="0" sz="900" spc="-25">
                          <a:latin typeface="SimSun"/>
                          <a:cs typeface="SimSun"/>
                        </a:rPr>
                        <a:t>河北</a:t>
                      </a:r>
                      <a:endParaRPr sz="900">
                        <a:latin typeface="SimSun"/>
                        <a:cs typeface="SimSun"/>
                      </a:endParaRPr>
                    </a:p>
                  </a:txBody>
                  <a:tcPr marL="0" marR="0" marB="0" marT="495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69"/>
                        </a:spcBef>
                      </a:pPr>
                      <a:r>
                        <a:rPr dirty="0" sz="900" spc="-10">
                          <a:latin typeface="Arial MT"/>
                          <a:cs typeface="Arial MT"/>
                        </a:rPr>
                        <a:t>2016.1</a:t>
                      </a:r>
                      <a:endParaRPr sz="900">
                        <a:latin typeface="Arial MT"/>
                        <a:cs typeface="Arial MT"/>
                      </a:endParaRPr>
                    </a:p>
                  </a:txBody>
                  <a:tcPr marL="0" marR="0" marB="0" marT="110489">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marL="175260" marR="111125" indent="-57150">
                        <a:lnSpc>
                          <a:spcPts val="1030"/>
                        </a:lnSpc>
                        <a:spcBef>
                          <a:spcPts val="465"/>
                        </a:spcBef>
                      </a:pPr>
                      <a:r>
                        <a:rPr dirty="0" sz="900" spc="-10">
                          <a:latin typeface="SimSun"/>
                          <a:cs typeface="SimSun"/>
                        </a:rPr>
                        <a:t>工信部、北京市政府、河北省政府</a:t>
                      </a:r>
                      <a:endParaRPr sz="900">
                        <a:latin typeface="SimSun"/>
                        <a:cs typeface="SimSun"/>
                      </a:endParaRPr>
                    </a:p>
                  </a:txBody>
                  <a:tcPr marL="0" marR="0" marB="0" marT="5905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875"/>
                        </a:spcBef>
                      </a:pPr>
                      <a:r>
                        <a:rPr dirty="0" sz="900" spc="-10">
                          <a:latin typeface="SimSun"/>
                          <a:cs typeface="SimSun"/>
                        </a:rPr>
                        <a:t>长城、乐视</a:t>
                      </a:r>
                      <a:endParaRPr sz="900">
                        <a:latin typeface="SimSun"/>
                        <a:cs typeface="SimSun"/>
                      </a:endParaRPr>
                    </a:p>
                  </a:txBody>
                  <a:tcPr marL="0" marR="0" marB="0" marT="1111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365760">
                <a:tc>
                  <a:txBody>
                    <a:bodyPr/>
                    <a:lstStyle/>
                    <a:p>
                      <a:pPr algn="ctr">
                        <a:lnSpc>
                          <a:spcPct val="100000"/>
                        </a:lnSpc>
                        <a:spcBef>
                          <a:spcPts val="875"/>
                        </a:spcBef>
                      </a:pPr>
                      <a:r>
                        <a:rPr dirty="0" sz="900" spc="-25">
                          <a:latin typeface="SimSun"/>
                          <a:cs typeface="SimSun"/>
                        </a:rPr>
                        <a:t>重庆</a:t>
                      </a:r>
                      <a:endParaRPr sz="900">
                        <a:latin typeface="SimSun"/>
                        <a:cs typeface="SimSun"/>
                      </a:endParaRPr>
                    </a:p>
                  </a:txBody>
                  <a:tcPr marL="0" marR="0" marB="0" marT="1111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69"/>
                        </a:spcBef>
                      </a:pPr>
                      <a:r>
                        <a:rPr dirty="0" sz="900" spc="-10">
                          <a:latin typeface="Arial MT"/>
                          <a:cs typeface="Arial MT"/>
                        </a:rPr>
                        <a:t>2016.1</a:t>
                      </a:r>
                      <a:endParaRPr sz="900">
                        <a:latin typeface="Arial MT"/>
                        <a:cs typeface="Arial MT"/>
                      </a:endParaRPr>
                    </a:p>
                  </a:txBody>
                  <a:tcPr marL="0" marR="0" marB="0" marT="110489">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875"/>
                        </a:spcBef>
                      </a:pPr>
                      <a:r>
                        <a:rPr dirty="0" sz="900" spc="-20">
                          <a:latin typeface="SimSun"/>
                          <a:cs typeface="SimSun"/>
                        </a:rPr>
                        <a:t>工信部</a:t>
                      </a:r>
                      <a:endParaRPr sz="900">
                        <a:latin typeface="SimSun"/>
                        <a:cs typeface="SimSun"/>
                      </a:endParaRPr>
                    </a:p>
                  </a:txBody>
                  <a:tcPr marL="0" marR="0" marB="0" marT="11112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63195" marR="95250" indent="-60325">
                        <a:lnSpc>
                          <a:spcPts val="1070"/>
                        </a:lnSpc>
                        <a:spcBef>
                          <a:spcPts val="390"/>
                        </a:spcBef>
                      </a:pPr>
                      <a:r>
                        <a:rPr dirty="0" sz="900" spc="-10">
                          <a:latin typeface="Arial MT"/>
                          <a:cs typeface="Arial MT"/>
                        </a:rPr>
                        <a:t>CAERI</a:t>
                      </a:r>
                      <a:r>
                        <a:rPr dirty="0" sz="900" spc="-10">
                          <a:latin typeface="SimSun"/>
                          <a:cs typeface="SimSun"/>
                        </a:rPr>
                        <a:t>（中国汽车工程研究</a:t>
                      </a:r>
                      <a:r>
                        <a:rPr dirty="0" sz="900">
                          <a:latin typeface="SimSun"/>
                          <a:cs typeface="SimSun"/>
                        </a:rPr>
                        <a:t>院）</a:t>
                      </a:r>
                      <a:r>
                        <a:rPr dirty="0" sz="900" spc="-10">
                          <a:latin typeface="SimSun"/>
                          <a:cs typeface="SimSun"/>
                        </a:rPr>
                        <a:t>、长安、大唐、高通</a:t>
                      </a:r>
                      <a:endParaRPr sz="900">
                        <a:latin typeface="SimSun"/>
                        <a:cs typeface="SimSun"/>
                      </a:endParaRPr>
                    </a:p>
                  </a:txBody>
                  <a:tcPr marL="0" marR="0" marB="0" marT="495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93370">
                <a:tc>
                  <a:txBody>
                    <a:bodyPr/>
                    <a:lstStyle/>
                    <a:p>
                      <a:pPr algn="ctr">
                        <a:lnSpc>
                          <a:spcPct val="100000"/>
                        </a:lnSpc>
                        <a:spcBef>
                          <a:spcPts val="590"/>
                        </a:spcBef>
                      </a:pPr>
                      <a:r>
                        <a:rPr dirty="0" sz="900" spc="-25">
                          <a:latin typeface="SimSun"/>
                          <a:cs typeface="SimSun"/>
                        </a:rPr>
                        <a:t>吉林</a:t>
                      </a:r>
                      <a:endParaRPr sz="900">
                        <a:latin typeface="SimSun"/>
                        <a:cs typeface="SimSun"/>
                      </a:endParaRPr>
                    </a:p>
                  </a:txBody>
                  <a:tcPr marL="0" marR="0" marB="0" marT="749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85"/>
                        </a:spcBef>
                      </a:pPr>
                      <a:r>
                        <a:rPr dirty="0" sz="900" spc="-10">
                          <a:latin typeface="Arial MT"/>
                          <a:cs typeface="Arial MT"/>
                        </a:rPr>
                        <a:t>2016.3</a:t>
                      </a:r>
                      <a:endParaRPr sz="900">
                        <a:latin typeface="Arial MT"/>
                        <a:cs typeface="Arial MT"/>
                      </a:endParaRPr>
                    </a:p>
                  </a:txBody>
                  <a:tcPr marL="0" marR="0" marB="0" marT="7429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90"/>
                        </a:spcBef>
                      </a:pPr>
                      <a:r>
                        <a:rPr dirty="0" sz="900" spc="-15">
                          <a:latin typeface="SimSun"/>
                          <a:cs typeface="SimSun"/>
                        </a:rPr>
                        <a:t>省工信厅</a:t>
                      </a:r>
                      <a:endParaRPr sz="900">
                        <a:latin typeface="SimSun"/>
                        <a:cs typeface="SimSun"/>
                      </a:endParaRPr>
                    </a:p>
                  </a:txBody>
                  <a:tcPr marL="0" marR="0" marB="0" marT="749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590"/>
                        </a:spcBef>
                      </a:pPr>
                      <a:r>
                        <a:rPr dirty="0" sz="900" spc="-10">
                          <a:latin typeface="SimSun"/>
                          <a:cs typeface="SimSun"/>
                        </a:rPr>
                        <a:t>一汽、启明信息</a:t>
                      </a:r>
                      <a:endParaRPr sz="900">
                        <a:latin typeface="SimSun"/>
                        <a:cs typeface="SimSun"/>
                      </a:endParaRPr>
                    </a:p>
                  </a:txBody>
                  <a:tcPr marL="0" marR="0" marB="0" marT="7493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bl>
          </a:graphicData>
        </a:graphic>
      </p:graphicFrame>
      <p:sp>
        <p:nvSpPr>
          <p:cNvPr id="14" name="object 14" descr=""/>
          <p:cNvSpPr txBox="1"/>
          <p:nvPr/>
        </p:nvSpPr>
        <p:spPr>
          <a:xfrm>
            <a:off x="443788" y="1493519"/>
            <a:ext cx="4158615" cy="1090295"/>
          </a:xfrm>
          <a:prstGeom prst="rect">
            <a:avLst/>
          </a:prstGeom>
          <a:solidFill>
            <a:srgbClr val="F2F2F2">
              <a:alpha val="79998"/>
            </a:srgbClr>
          </a:solidFill>
        </p:spPr>
        <p:txBody>
          <a:bodyPr wrap="square" lIns="0" tIns="104775" rIns="0" bIns="0" rtlCol="0" vert="horz">
            <a:spAutoFit/>
          </a:bodyPr>
          <a:lstStyle/>
          <a:p>
            <a:pPr algn="just" marL="382905" marR="107950" indent="-285750">
              <a:lnSpc>
                <a:spcPct val="130000"/>
              </a:lnSpc>
              <a:spcBef>
                <a:spcPts val="825"/>
              </a:spcBef>
              <a:buFont typeface="Wingdings"/>
              <a:buChar char=""/>
              <a:tabLst>
                <a:tab pos="382905" algn="l"/>
              </a:tabLst>
            </a:pPr>
            <a:r>
              <a:rPr dirty="0" sz="1400">
                <a:latin typeface="Microsoft YaHei"/>
                <a:cs typeface="Microsoft YaHei"/>
              </a:rPr>
              <a:t>工信部会同地方政府建设试点示范：</a:t>
            </a:r>
            <a:r>
              <a:rPr dirty="0" sz="1400" spc="-15">
                <a:solidFill>
                  <a:srgbClr val="FF0000"/>
                </a:solidFill>
                <a:latin typeface="Microsoft YaHei"/>
                <a:cs typeface="Microsoft YaHei"/>
              </a:rPr>
              <a:t>浙江、北</a:t>
            </a:r>
            <a:r>
              <a:rPr dirty="0" sz="1400" spc="-10">
                <a:solidFill>
                  <a:srgbClr val="FF0000"/>
                </a:solidFill>
                <a:latin typeface="Microsoft YaHei"/>
                <a:cs typeface="Microsoft YaHei"/>
              </a:rPr>
              <a:t>京-河北、重庆、吉林、湖北</a:t>
            </a:r>
            <a:r>
              <a:rPr dirty="0" sz="1400" spc="-15">
                <a:latin typeface="Microsoft YaHei"/>
                <a:cs typeface="Microsoft YaHei"/>
              </a:rPr>
              <a:t>等地开展示范，提</a:t>
            </a:r>
            <a:r>
              <a:rPr dirty="0" sz="1400" spc="-25">
                <a:latin typeface="Microsoft YaHei"/>
                <a:cs typeface="Microsoft YaHei"/>
              </a:rPr>
              <a:t>供技术融合和协同创新的应用与测试验证环境</a:t>
            </a:r>
            <a:endParaRPr sz="1400">
              <a:latin typeface="Microsoft YaHei"/>
              <a:cs typeface="Microsoft YaHei"/>
            </a:endParaRPr>
          </a:p>
        </p:txBody>
      </p:sp>
      <p:sp>
        <p:nvSpPr>
          <p:cNvPr id="15" name="object 15" descr=""/>
          <p:cNvSpPr txBox="1"/>
          <p:nvPr/>
        </p:nvSpPr>
        <p:spPr>
          <a:xfrm>
            <a:off x="4794491" y="3081159"/>
            <a:ext cx="3975735" cy="580390"/>
          </a:xfrm>
          <a:prstGeom prst="rect">
            <a:avLst/>
          </a:prstGeom>
        </p:spPr>
        <p:txBody>
          <a:bodyPr wrap="square" lIns="0" tIns="12700" rIns="0" bIns="0" rtlCol="0" vert="horz">
            <a:spAutoFit/>
          </a:bodyPr>
          <a:lstStyle/>
          <a:p>
            <a:pPr marL="410845" marR="182245" indent="-285750">
              <a:lnSpc>
                <a:spcPct val="130000"/>
              </a:lnSpc>
              <a:spcBef>
                <a:spcPts val="100"/>
              </a:spcBef>
              <a:buFont typeface="Wingdings"/>
              <a:buChar char=""/>
              <a:tabLst>
                <a:tab pos="410845" algn="l"/>
              </a:tabLst>
            </a:pPr>
            <a:r>
              <a:rPr dirty="0" sz="1400" spc="-25">
                <a:latin typeface="Microsoft YaHei"/>
                <a:cs typeface="Microsoft YaHei"/>
              </a:rPr>
              <a:t>工信部批复上海国际汽车城建立“国家智能</a:t>
            </a:r>
            <a:r>
              <a:rPr dirty="0" sz="1400" spc="-20">
                <a:latin typeface="Microsoft YaHei"/>
                <a:cs typeface="Microsoft YaHei"/>
              </a:rPr>
              <a:t>网联汽车（</a:t>
            </a:r>
            <a:r>
              <a:rPr dirty="0" sz="1400" spc="-20">
                <a:solidFill>
                  <a:srgbClr val="FF0000"/>
                </a:solidFill>
                <a:latin typeface="Microsoft YaHei"/>
                <a:cs typeface="Microsoft YaHei"/>
              </a:rPr>
              <a:t>上海</a:t>
            </a:r>
            <a:r>
              <a:rPr dirty="0" sz="1400" spc="-20">
                <a:latin typeface="Microsoft YaHei"/>
                <a:cs typeface="Microsoft YaHei"/>
              </a:rPr>
              <a:t>）</a:t>
            </a:r>
            <a:r>
              <a:rPr dirty="0" sz="1400" spc="-25">
                <a:latin typeface="Microsoft YaHei"/>
                <a:cs typeface="Microsoft YaHei"/>
              </a:rPr>
              <a:t>试点示范项目”</a:t>
            </a:r>
            <a:endParaRPr sz="1400">
              <a:latin typeface="Microsoft YaHei"/>
              <a:cs typeface="Microsoft YaHei"/>
            </a:endParaRPr>
          </a:p>
        </p:txBody>
      </p:sp>
      <p:pic>
        <p:nvPicPr>
          <p:cNvPr id="16" name="object 16"/>
          <p:cNvPicPr/>
          <p:nvPr/>
        </p:nvPicPr>
        <p:blipFill>
          <a:blip r:embed="rId5" cstate="print"/>
          <a:stretch>
            <a:fillRect/>
          </a:stretch>
        </p:blipFill>
        <p:spPr>
          <a:xfrm>
            <a:off x="6756298" y="3750404"/>
            <a:ext cx="2037383" cy="105479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6657" y="189264"/>
            <a:ext cx="4091940" cy="513080"/>
          </a:xfrm>
          <a:prstGeom prst="rect"/>
        </p:spPr>
        <p:txBody>
          <a:bodyPr wrap="square" lIns="0" tIns="12065" rIns="0" bIns="0" rtlCol="0" vert="horz">
            <a:spAutoFit/>
          </a:bodyPr>
          <a:lstStyle/>
          <a:p>
            <a:pPr marL="12700">
              <a:lnSpc>
                <a:spcPct val="100000"/>
              </a:lnSpc>
              <a:spcBef>
                <a:spcPts val="95"/>
              </a:spcBef>
            </a:pPr>
            <a:r>
              <a:rPr dirty="0" spc="-45"/>
              <a:t>智能网联市场空间巨大</a:t>
            </a:r>
          </a:p>
        </p:txBody>
      </p:sp>
      <p:sp>
        <p:nvSpPr>
          <p:cNvPr id="3" name="object 3" descr=""/>
          <p:cNvSpPr txBox="1"/>
          <p:nvPr/>
        </p:nvSpPr>
        <p:spPr>
          <a:xfrm>
            <a:off x="284162" y="1337767"/>
            <a:ext cx="2127885" cy="369570"/>
          </a:xfrm>
          <a:prstGeom prst="rect">
            <a:avLst/>
          </a:prstGeom>
          <a:solidFill>
            <a:srgbClr val="92D050"/>
          </a:solidFill>
          <a:ln w="25400">
            <a:solidFill>
              <a:srgbClr val="BBE0E3"/>
            </a:solidFill>
          </a:ln>
        </p:spPr>
        <p:txBody>
          <a:bodyPr wrap="square" lIns="0" tIns="36830" rIns="0" bIns="0" rtlCol="0" vert="horz">
            <a:spAutoFit/>
          </a:bodyPr>
          <a:lstStyle/>
          <a:p>
            <a:pPr marL="148590">
              <a:lnSpc>
                <a:spcPct val="100000"/>
              </a:lnSpc>
              <a:spcBef>
                <a:spcPts val="290"/>
              </a:spcBef>
            </a:pPr>
            <a:r>
              <a:rPr dirty="0" sz="1800" spc="-10" b="1">
                <a:solidFill>
                  <a:srgbClr val="FFFFFF"/>
                </a:solidFill>
                <a:latin typeface="Microsoft YaHei"/>
                <a:cs typeface="Microsoft YaHei"/>
              </a:rPr>
              <a:t>智能网联业务范畴</a:t>
            </a:r>
            <a:endParaRPr sz="1800">
              <a:latin typeface="Microsoft YaHei"/>
              <a:cs typeface="Microsoft YaHei"/>
            </a:endParaRPr>
          </a:p>
        </p:txBody>
      </p:sp>
      <p:pic>
        <p:nvPicPr>
          <p:cNvPr id="4" name="object 4" descr=""/>
          <p:cNvPicPr/>
          <p:nvPr/>
        </p:nvPicPr>
        <p:blipFill>
          <a:blip r:embed="rId2" cstate="print"/>
          <a:stretch>
            <a:fillRect/>
          </a:stretch>
        </p:blipFill>
        <p:spPr>
          <a:xfrm>
            <a:off x="3355847" y="1289304"/>
            <a:ext cx="2340864" cy="487680"/>
          </a:xfrm>
          <a:prstGeom prst="rect">
            <a:avLst/>
          </a:prstGeom>
        </p:spPr>
      </p:pic>
      <p:sp>
        <p:nvSpPr>
          <p:cNvPr id="5" name="object 5" descr=""/>
          <p:cNvSpPr txBox="1"/>
          <p:nvPr/>
        </p:nvSpPr>
        <p:spPr>
          <a:xfrm>
            <a:off x="3600940" y="1362418"/>
            <a:ext cx="1854200" cy="299720"/>
          </a:xfrm>
          <a:prstGeom prst="rect">
            <a:avLst/>
          </a:prstGeom>
        </p:spPr>
        <p:txBody>
          <a:bodyPr wrap="square" lIns="0" tIns="12700" rIns="0" bIns="0" rtlCol="0" vert="horz">
            <a:spAutoFit/>
          </a:bodyPr>
          <a:lstStyle/>
          <a:p>
            <a:pPr marL="12700">
              <a:lnSpc>
                <a:spcPct val="100000"/>
              </a:lnSpc>
              <a:spcBef>
                <a:spcPts val="100"/>
              </a:spcBef>
            </a:pPr>
            <a:r>
              <a:rPr dirty="0" sz="1800" spc="-10" b="1">
                <a:solidFill>
                  <a:srgbClr val="FFFFFF"/>
                </a:solidFill>
                <a:latin typeface="Microsoft YaHei"/>
                <a:cs typeface="Microsoft YaHei"/>
              </a:rPr>
              <a:t>智能网联市场规模</a:t>
            </a:r>
            <a:endParaRPr sz="1800">
              <a:latin typeface="Microsoft YaHei"/>
              <a:cs typeface="Microsoft YaHei"/>
            </a:endParaRPr>
          </a:p>
        </p:txBody>
      </p:sp>
      <p:grpSp>
        <p:nvGrpSpPr>
          <p:cNvPr id="6" name="object 6" descr=""/>
          <p:cNvGrpSpPr/>
          <p:nvPr/>
        </p:nvGrpSpPr>
        <p:grpSpPr>
          <a:xfrm>
            <a:off x="2840037" y="1824757"/>
            <a:ext cx="3444875" cy="3263900"/>
            <a:chOff x="2840037" y="1824757"/>
            <a:chExt cx="3444875" cy="3263900"/>
          </a:xfrm>
        </p:grpSpPr>
        <p:sp>
          <p:nvSpPr>
            <p:cNvPr id="7" name="object 7" descr=""/>
            <p:cNvSpPr/>
            <p:nvPr/>
          </p:nvSpPr>
          <p:spPr>
            <a:xfrm>
              <a:off x="2852737" y="1837457"/>
              <a:ext cx="3419475" cy="3238500"/>
            </a:xfrm>
            <a:custGeom>
              <a:avLst/>
              <a:gdLst/>
              <a:ahLst/>
              <a:cxnLst/>
              <a:rect l="l" t="t" r="r" b="b"/>
              <a:pathLst>
                <a:path w="3419475" h="3238500">
                  <a:moveTo>
                    <a:pt x="1709737" y="0"/>
                  </a:moveTo>
                  <a:lnTo>
                    <a:pt x="1660207" y="666"/>
                  </a:lnTo>
                  <a:lnTo>
                    <a:pt x="1611027" y="2653"/>
                  </a:lnTo>
                  <a:lnTo>
                    <a:pt x="1562215" y="5943"/>
                  </a:lnTo>
                  <a:lnTo>
                    <a:pt x="1513790" y="10518"/>
                  </a:lnTo>
                  <a:lnTo>
                    <a:pt x="1465771" y="16360"/>
                  </a:lnTo>
                  <a:lnTo>
                    <a:pt x="1418177" y="23450"/>
                  </a:lnTo>
                  <a:lnTo>
                    <a:pt x="1371028" y="31771"/>
                  </a:lnTo>
                  <a:lnTo>
                    <a:pt x="1324342" y="41305"/>
                  </a:lnTo>
                  <a:lnTo>
                    <a:pt x="1278138" y="52034"/>
                  </a:lnTo>
                  <a:lnTo>
                    <a:pt x="1232435" y="63940"/>
                  </a:lnTo>
                  <a:lnTo>
                    <a:pt x="1187252" y="77004"/>
                  </a:lnTo>
                  <a:lnTo>
                    <a:pt x="1142609" y="91209"/>
                  </a:lnTo>
                  <a:lnTo>
                    <a:pt x="1098524" y="106537"/>
                  </a:lnTo>
                  <a:lnTo>
                    <a:pt x="1055016" y="122970"/>
                  </a:lnTo>
                  <a:lnTo>
                    <a:pt x="1012105" y="140490"/>
                  </a:lnTo>
                  <a:lnTo>
                    <a:pt x="969809" y="159078"/>
                  </a:lnTo>
                  <a:lnTo>
                    <a:pt x="928147" y="178717"/>
                  </a:lnTo>
                  <a:lnTo>
                    <a:pt x="887138" y="199389"/>
                  </a:lnTo>
                  <a:lnTo>
                    <a:pt x="846802" y="221075"/>
                  </a:lnTo>
                  <a:lnTo>
                    <a:pt x="807157" y="243759"/>
                  </a:lnTo>
                  <a:lnTo>
                    <a:pt x="768222" y="267421"/>
                  </a:lnTo>
                  <a:lnTo>
                    <a:pt x="730016" y="292044"/>
                  </a:lnTo>
                  <a:lnTo>
                    <a:pt x="692559" y="317610"/>
                  </a:lnTo>
                  <a:lnTo>
                    <a:pt x="655870" y="344100"/>
                  </a:lnTo>
                  <a:lnTo>
                    <a:pt x="619966" y="371497"/>
                  </a:lnTo>
                  <a:lnTo>
                    <a:pt x="584868" y="399783"/>
                  </a:lnTo>
                  <a:lnTo>
                    <a:pt x="550595" y="428940"/>
                  </a:lnTo>
                  <a:lnTo>
                    <a:pt x="517165" y="458949"/>
                  </a:lnTo>
                  <a:lnTo>
                    <a:pt x="484597" y="489794"/>
                  </a:lnTo>
                  <a:lnTo>
                    <a:pt x="452910" y="521455"/>
                  </a:lnTo>
                  <a:lnTo>
                    <a:pt x="422124" y="553914"/>
                  </a:lnTo>
                  <a:lnTo>
                    <a:pt x="392258" y="587155"/>
                  </a:lnTo>
                  <a:lnTo>
                    <a:pt x="363329" y="621158"/>
                  </a:lnTo>
                  <a:lnTo>
                    <a:pt x="335358" y="655906"/>
                  </a:lnTo>
                  <a:lnTo>
                    <a:pt x="308364" y="691380"/>
                  </a:lnTo>
                  <a:lnTo>
                    <a:pt x="282365" y="727564"/>
                  </a:lnTo>
                  <a:lnTo>
                    <a:pt x="257381" y="764438"/>
                  </a:lnTo>
                  <a:lnTo>
                    <a:pt x="233430" y="801985"/>
                  </a:lnTo>
                  <a:lnTo>
                    <a:pt x="210531" y="840186"/>
                  </a:lnTo>
                  <a:lnTo>
                    <a:pt x="188704" y="879025"/>
                  </a:lnTo>
                  <a:lnTo>
                    <a:pt x="167968" y="918482"/>
                  </a:lnTo>
                  <a:lnTo>
                    <a:pt x="148341" y="958539"/>
                  </a:lnTo>
                  <a:lnTo>
                    <a:pt x="129842" y="999180"/>
                  </a:lnTo>
                  <a:lnTo>
                    <a:pt x="112491" y="1040385"/>
                  </a:lnTo>
                  <a:lnTo>
                    <a:pt x="96306" y="1082137"/>
                  </a:lnTo>
                  <a:lnTo>
                    <a:pt x="81307" y="1124417"/>
                  </a:lnTo>
                  <a:lnTo>
                    <a:pt x="67513" y="1167209"/>
                  </a:lnTo>
                  <a:lnTo>
                    <a:pt x="54942" y="1210493"/>
                  </a:lnTo>
                  <a:lnTo>
                    <a:pt x="43614" y="1254251"/>
                  </a:lnTo>
                  <a:lnTo>
                    <a:pt x="33547" y="1298467"/>
                  </a:lnTo>
                  <a:lnTo>
                    <a:pt x="24761" y="1343121"/>
                  </a:lnTo>
                  <a:lnTo>
                    <a:pt x="17274" y="1388195"/>
                  </a:lnTo>
                  <a:lnTo>
                    <a:pt x="11106" y="1433673"/>
                  </a:lnTo>
                  <a:lnTo>
                    <a:pt x="6275" y="1479535"/>
                  </a:lnTo>
                  <a:lnTo>
                    <a:pt x="2801" y="1525764"/>
                  </a:lnTo>
                  <a:lnTo>
                    <a:pt x="703" y="1572341"/>
                  </a:lnTo>
                  <a:lnTo>
                    <a:pt x="0" y="1619250"/>
                  </a:lnTo>
                  <a:lnTo>
                    <a:pt x="703" y="1666158"/>
                  </a:lnTo>
                  <a:lnTo>
                    <a:pt x="2801" y="1712736"/>
                  </a:lnTo>
                  <a:lnTo>
                    <a:pt x="6275" y="1758966"/>
                  </a:lnTo>
                  <a:lnTo>
                    <a:pt x="11106" y="1804828"/>
                  </a:lnTo>
                  <a:lnTo>
                    <a:pt x="17274" y="1850306"/>
                  </a:lnTo>
                  <a:lnTo>
                    <a:pt x="24761" y="1895382"/>
                  </a:lnTo>
                  <a:lnTo>
                    <a:pt x="33547" y="1940036"/>
                  </a:lnTo>
                  <a:lnTo>
                    <a:pt x="43614" y="1984252"/>
                  </a:lnTo>
                  <a:lnTo>
                    <a:pt x="54942" y="2028011"/>
                  </a:lnTo>
                  <a:lnTo>
                    <a:pt x="67513" y="2071295"/>
                  </a:lnTo>
                  <a:lnTo>
                    <a:pt x="81307" y="2114087"/>
                  </a:lnTo>
                  <a:lnTo>
                    <a:pt x="96306" y="2156367"/>
                  </a:lnTo>
                  <a:lnTo>
                    <a:pt x="112491" y="2198119"/>
                  </a:lnTo>
                  <a:lnTo>
                    <a:pt x="129842" y="2239325"/>
                  </a:lnTo>
                  <a:lnTo>
                    <a:pt x="148341" y="2279965"/>
                  </a:lnTo>
                  <a:lnTo>
                    <a:pt x="167968" y="2320023"/>
                  </a:lnTo>
                  <a:lnTo>
                    <a:pt x="188704" y="2359480"/>
                  </a:lnTo>
                  <a:lnTo>
                    <a:pt x="210531" y="2398318"/>
                  </a:lnTo>
                  <a:lnTo>
                    <a:pt x="233430" y="2436520"/>
                  </a:lnTo>
                  <a:lnTo>
                    <a:pt x="257381" y="2474067"/>
                  </a:lnTo>
                  <a:lnTo>
                    <a:pt x="282365" y="2510941"/>
                  </a:lnTo>
                  <a:lnTo>
                    <a:pt x="308364" y="2547124"/>
                  </a:lnTo>
                  <a:lnTo>
                    <a:pt x="335358" y="2582599"/>
                  </a:lnTo>
                  <a:lnTo>
                    <a:pt x="363329" y="2617346"/>
                  </a:lnTo>
                  <a:lnTo>
                    <a:pt x="392258" y="2651350"/>
                  </a:lnTo>
                  <a:lnTo>
                    <a:pt x="422124" y="2684590"/>
                  </a:lnTo>
                  <a:lnTo>
                    <a:pt x="452910" y="2717049"/>
                  </a:lnTo>
                  <a:lnTo>
                    <a:pt x="484597" y="2748710"/>
                  </a:lnTo>
                  <a:lnTo>
                    <a:pt x="517165" y="2779554"/>
                  </a:lnTo>
                  <a:lnTo>
                    <a:pt x="550595" y="2809564"/>
                  </a:lnTo>
                  <a:lnTo>
                    <a:pt x="584868" y="2838720"/>
                  </a:lnTo>
                  <a:lnTo>
                    <a:pt x="619966" y="2867006"/>
                  </a:lnTo>
                  <a:lnTo>
                    <a:pt x="655870" y="2894403"/>
                  </a:lnTo>
                  <a:lnTo>
                    <a:pt x="692559" y="2920893"/>
                  </a:lnTo>
                  <a:lnTo>
                    <a:pt x="730016" y="2946459"/>
                  </a:lnTo>
                  <a:lnTo>
                    <a:pt x="768222" y="2971081"/>
                  </a:lnTo>
                  <a:lnTo>
                    <a:pt x="807157" y="2994743"/>
                  </a:lnTo>
                  <a:lnTo>
                    <a:pt x="846802" y="3017426"/>
                  </a:lnTo>
                  <a:lnTo>
                    <a:pt x="887138" y="3039113"/>
                  </a:lnTo>
                  <a:lnTo>
                    <a:pt x="928147" y="3059784"/>
                  </a:lnTo>
                  <a:lnTo>
                    <a:pt x="969809" y="3079423"/>
                  </a:lnTo>
                  <a:lnTo>
                    <a:pt x="1012105" y="3098011"/>
                  </a:lnTo>
                  <a:lnTo>
                    <a:pt x="1055016" y="3115531"/>
                  </a:lnTo>
                  <a:lnTo>
                    <a:pt x="1098524" y="3131963"/>
                  </a:lnTo>
                  <a:lnTo>
                    <a:pt x="1142609" y="3147291"/>
                  </a:lnTo>
                  <a:lnTo>
                    <a:pt x="1187252" y="3161496"/>
                  </a:lnTo>
                  <a:lnTo>
                    <a:pt x="1232435" y="3174560"/>
                  </a:lnTo>
                  <a:lnTo>
                    <a:pt x="1278138" y="3186466"/>
                  </a:lnTo>
                  <a:lnTo>
                    <a:pt x="1324342" y="3197194"/>
                  </a:lnTo>
                  <a:lnTo>
                    <a:pt x="1371028" y="3206728"/>
                  </a:lnTo>
                  <a:lnTo>
                    <a:pt x="1418177" y="3215049"/>
                  </a:lnTo>
                  <a:lnTo>
                    <a:pt x="1465771" y="3222140"/>
                  </a:lnTo>
                  <a:lnTo>
                    <a:pt x="1513790" y="3227981"/>
                  </a:lnTo>
                  <a:lnTo>
                    <a:pt x="1562215" y="3232556"/>
                  </a:lnTo>
                  <a:lnTo>
                    <a:pt x="1611027" y="3235846"/>
                  </a:lnTo>
                  <a:lnTo>
                    <a:pt x="1660207" y="3237833"/>
                  </a:lnTo>
                  <a:lnTo>
                    <a:pt x="1709737" y="3238500"/>
                  </a:lnTo>
                  <a:lnTo>
                    <a:pt x="1759267" y="3237833"/>
                  </a:lnTo>
                  <a:lnTo>
                    <a:pt x="1808447" y="3235846"/>
                  </a:lnTo>
                  <a:lnTo>
                    <a:pt x="1857259" y="3232556"/>
                  </a:lnTo>
                  <a:lnTo>
                    <a:pt x="1905684" y="3227981"/>
                  </a:lnTo>
                  <a:lnTo>
                    <a:pt x="1953703" y="3222140"/>
                  </a:lnTo>
                  <a:lnTo>
                    <a:pt x="2001297" y="3215049"/>
                  </a:lnTo>
                  <a:lnTo>
                    <a:pt x="2048446" y="3206728"/>
                  </a:lnTo>
                  <a:lnTo>
                    <a:pt x="2095132" y="3197194"/>
                  </a:lnTo>
                  <a:lnTo>
                    <a:pt x="2141336" y="3186466"/>
                  </a:lnTo>
                  <a:lnTo>
                    <a:pt x="2187039" y="3174560"/>
                  </a:lnTo>
                  <a:lnTo>
                    <a:pt x="2232222" y="3161496"/>
                  </a:lnTo>
                  <a:lnTo>
                    <a:pt x="2276865" y="3147291"/>
                  </a:lnTo>
                  <a:lnTo>
                    <a:pt x="2320950" y="3131963"/>
                  </a:lnTo>
                  <a:lnTo>
                    <a:pt x="2364458" y="3115531"/>
                  </a:lnTo>
                  <a:lnTo>
                    <a:pt x="2407369" y="3098011"/>
                  </a:lnTo>
                  <a:lnTo>
                    <a:pt x="2449665" y="3079423"/>
                  </a:lnTo>
                  <a:lnTo>
                    <a:pt x="2491327" y="3059784"/>
                  </a:lnTo>
                  <a:lnTo>
                    <a:pt x="2532336" y="3039113"/>
                  </a:lnTo>
                  <a:lnTo>
                    <a:pt x="2572672" y="3017426"/>
                  </a:lnTo>
                  <a:lnTo>
                    <a:pt x="2612317" y="2994743"/>
                  </a:lnTo>
                  <a:lnTo>
                    <a:pt x="2651252" y="2971081"/>
                  </a:lnTo>
                  <a:lnTo>
                    <a:pt x="2689458" y="2946459"/>
                  </a:lnTo>
                  <a:lnTo>
                    <a:pt x="2726915" y="2920893"/>
                  </a:lnTo>
                  <a:lnTo>
                    <a:pt x="2763604" y="2894403"/>
                  </a:lnTo>
                  <a:lnTo>
                    <a:pt x="2799508" y="2867006"/>
                  </a:lnTo>
                  <a:lnTo>
                    <a:pt x="2834606" y="2838720"/>
                  </a:lnTo>
                  <a:lnTo>
                    <a:pt x="2868879" y="2809564"/>
                  </a:lnTo>
                  <a:lnTo>
                    <a:pt x="2902309" y="2779554"/>
                  </a:lnTo>
                  <a:lnTo>
                    <a:pt x="2934877" y="2748710"/>
                  </a:lnTo>
                  <a:lnTo>
                    <a:pt x="2966564" y="2717049"/>
                  </a:lnTo>
                  <a:lnTo>
                    <a:pt x="2997350" y="2684590"/>
                  </a:lnTo>
                  <a:lnTo>
                    <a:pt x="3027216" y="2651350"/>
                  </a:lnTo>
                  <a:lnTo>
                    <a:pt x="3056145" y="2617346"/>
                  </a:lnTo>
                  <a:lnTo>
                    <a:pt x="3084116" y="2582599"/>
                  </a:lnTo>
                  <a:lnTo>
                    <a:pt x="3111110" y="2547124"/>
                  </a:lnTo>
                  <a:lnTo>
                    <a:pt x="3137109" y="2510941"/>
                  </a:lnTo>
                  <a:lnTo>
                    <a:pt x="3162093" y="2474067"/>
                  </a:lnTo>
                  <a:lnTo>
                    <a:pt x="3186044" y="2436520"/>
                  </a:lnTo>
                  <a:lnTo>
                    <a:pt x="3208943" y="2398318"/>
                  </a:lnTo>
                  <a:lnTo>
                    <a:pt x="3230770" y="2359480"/>
                  </a:lnTo>
                  <a:lnTo>
                    <a:pt x="3251506" y="2320023"/>
                  </a:lnTo>
                  <a:lnTo>
                    <a:pt x="3271133" y="2279965"/>
                  </a:lnTo>
                  <a:lnTo>
                    <a:pt x="3289632" y="2239325"/>
                  </a:lnTo>
                  <a:lnTo>
                    <a:pt x="3306983" y="2198119"/>
                  </a:lnTo>
                  <a:lnTo>
                    <a:pt x="3323168" y="2156367"/>
                  </a:lnTo>
                  <a:lnTo>
                    <a:pt x="3338167" y="2114087"/>
                  </a:lnTo>
                  <a:lnTo>
                    <a:pt x="3351961" y="2071295"/>
                  </a:lnTo>
                  <a:lnTo>
                    <a:pt x="3364532" y="2028011"/>
                  </a:lnTo>
                  <a:lnTo>
                    <a:pt x="3375860" y="1984252"/>
                  </a:lnTo>
                  <a:lnTo>
                    <a:pt x="3385927" y="1940036"/>
                  </a:lnTo>
                  <a:lnTo>
                    <a:pt x="3394713" y="1895382"/>
                  </a:lnTo>
                  <a:lnTo>
                    <a:pt x="3402200" y="1850306"/>
                  </a:lnTo>
                  <a:lnTo>
                    <a:pt x="3408368" y="1804828"/>
                  </a:lnTo>
                  <a:lnTo>
                    <a:pt x="3413199" y="1758966"/>
                  </a:lnTo>
                  <a:lnTo>
                    <a:pt x="3416673" y="1712736"/>
                  </a:lnTo>
                  <a:lnTo>
                    <a:pt x="3418771" y="1666158"/>
                  </a:lnTo>
                  <a:lnTo>
                    <a:pt x="3419475" y="1619250"/>
                  </a:lnTo>
                  <a:lnTo>
                    <a:pt x="3418771" y="1572341"/>
                  </a:lnTo>
                  <a:lnTo>
                    <a:pt x="3416673" y="1525764"/>
                  </a:lnTo>
                  <a:lnTo>
                    <a:pt x="3413199" y="1479535"/>
                  </a:lnTo>
                  <a:lnTo>
                    <a:pt x="3408368" y="1433673"/>
                  </a:lnTo>
                  <a:lnTo>
                    <a:pt x="3402200" y="1388195"/>
                  </a:lnTo>
                  <a:lnTo>
                    <a:pt x="3394713" y="1343121"/>
                  </a:lnTo>
                  <a:lnTo>
                    <a:pt x="3385927" y="1298467"/>
                  </a:lnTo>
                  <a:lnTo>
                    <a:pt x="3375860" y="1254251"/>
                  </a:lnTo>
                  <a:lnTo>
                    <a:pt x="3364532" y="1210493"/>
                  </a:lnTo>
                  <a:lnTo>
                    <a:pt x="3351961" y="1167209"/>
                  </a:lnTo>
                  <a:lnTo>
                    <a:pt x="3338167" y="1124417"/>
                  </a:lnTo>
                  <a:lnTo>
                    <a:pt x="3323168" y="1082137"/>
                  </a:lnTo>
                  <a:lnTo>
                    <a:pt x="3306983" y="1040385"/>
                  </a:lnTo>
                  <a:lnTo>
                    <a:pt x="3289632" y="999180"/>
                  </a:lnTo>
                  <a:lnTo>
                    <a:pt x="3271133" y="958539"/>
                  </a:lnTo>
                  <a:lnTo>
                    <a:pt x="3251506" y="918482"/>
                  </a:lnTo>
                  <a:lnTo>
                    <a:pt x="3230770" y="879025"/>
                  </a:lnTo>
                  <a:lnTo>
                    <a:pt x="3208943" y="840186"/>
                  </a:lnTo>
                  <a:lnTo>
                    <a:pt x="3186044" y="801985"/>
                  </a:lnTo>
                  <a:lnTo>
                    <a:pt x="3162093" y="764438"/>
                  </a:lnTo>
                  <a:lnTo>
                    <a:pt x="3137109" y="727564"/>
                  </a:lnTo>
                  <a:lnTo>
                    <a:pt x="3111110" y="691380"/>
                  </a:lnTo>
                  <a:lnTo>
                    <a:pt x="3084116" y="655906"/>
                  </a:lnTo>
                  <a:lnTo>
                    <a:pt x="3056145" y="621158"/>
                  </a:lnTo>
                  <a:lnTo>
                    <a:pt x="3027216" y="587155"/>
                  </a:lnTo>
                  <a:lnTo>
                    <a:pt x="2997350" y="553914"/>
                  </a:lnTo>
                  <a:lnTo>
                    <a:pt x="2966564" y="521455"/>
                  </a:lnTo>
                  <a:lnTo>
                    <a:pt x="2934877" y="489794"/>
                  </a:lnTo>
                  <a:lnTo>
                    <a:pt x="2902309" y="458949"/>
                  </a:lnTo>
                  <a:lnTo>
                    <a:pt x="2868879" y="428940"/>
                  </a:lnTo>
                  <a:lnTo>
                    <a:pt x="2834606" y="399783"/>
                  </a:lnTo>
                  <a:lnTo>
                    <a:pt x="2799508" y="371497"/>
                  </a:lnTo>
                  <a:lnTo>
                    <a:pt x="2763604" y="344100"/>
                  </a:lnTo>
                  <a:lnTo>
                    <a:pt x="2726915" y="317610"/>
                  </a:lnTo>
                  <a:lnTo>
                    <a:pt x="2689458" y="292044"/>
                  </a:lnTo>
                  <a:lnTo>
                    <a:pt x="2651252" y="267421"/>
                  </a:lnTo>
                  <a:lnTo>
                    <a:pt x="2612317" y="243759"/>
                  </a:lnTo>
                  <a:lnTo>
                    <a:pt x="2572672" y="221075"/>
                  </a:lnTo>
                  <a:lnTo>
                    <a:pt x="2532336" y="199389"/>
                  </a:lnTo>
                  <a:lnTo>
                    <a:pt x="2491327" y="178717"/>
                  </a:lnTo>
                  <a:lnTo>
                    <a:pt x="2449665" y="159078"/>
                  </a:lnTo>
                  <a:lnTo>
                    <a:pt x="2407369" y="140490"/>
                  </a:lnTo>
                  <a:lnTo>
                    <a:pt x="2364458" y="122970"/>
                  </a:lnTo>
                  <a:lnTo>
                    <a:pt x="2320950" y="106537"/>
                  </a:lnTo>
                  <a:lnTo>
                    <a:pt x="2276865" y="91209"/>
                  </a:lnTo>
                  <a:lnTo>
                    <a:pt x="2232222" y="77004"/>
                  </a:lnTo>
                  <a:lnTo>
                    <a:pt x="2187039" y="63940"/>
                  </a:lnTo>
                  <a:lnTo>
                    <a:pt x="2141336" y="52034"/>
                  </a:lnTo>
                  <a:lnTo>
                    <a:pt x="2095132" y="41305"/>
                  </a:lnTo>
                  <a:lnTo>
                    <a:pt x="2048446" y="31771"/>
                  </a:lnTo>
                  <a:lnTo>
                    <a:pt x="2001297" y="23450"/>
                  </a:lnTo>
                  <a:lnTo>
                    <a:pt x="1953703" y="16360"/>
                  </a:lnTo>
                  <a:lnTo>
                    <a:pt x="1905684" y="10518"/>
                  </a:lnTo>
                  <a:lnTo>
                    <a:pt x="1857259" y="5943"/>
                  </a:lnTo>
                  <a:lnTo>
                    <a:pt x="1808447" y="2653"/>
                  </a:lnTo>
                  <a:lnTo>
                    <a:pt x="1759267" y="666"/>
                  </a:lnTo>
                  <a:lnTo>
                    <a:pt x="1709737" y="0"/>
                  </a:lnTo>
                  <a:close/>
                </a:path>
              </a:pathLst>
            </a:custGeom>
            <a:solidFill>
              <a:srgbClr val="FFFFFF"/>
            </a:solidFill>
          </p:spPr>
          <p:txBody>
            <a:bodyPr wrap="square" lIns="0" tIns="0" rIns="0" bIns="0" rtlCol="0"/>
            <a:lstStyle/>
            <a:p/>
          </p:txBody>
        </p:sp>
        <p:sp>
          <p:nvSpPr>
            <p:cNvPr id="8" name="object 8" descr=""/>
            <p:cNvSpPr/>
            <p:nvPr/>
          </p:nvSpPr>
          <p:spPr>
            <a:xfrm>
              <a:off x="2852737" y="1837457"/>
              <a:ext cx="3419475" cy="3238500"/>
            </a:xfrm>
            <a:custGeom>
              <a:avLst/>
              <a:gdLst/>
              <a:ahLst/>
              <a:cxnLst/>
              <a:rect l="l" t="t" r="r" b="b"/>
              <a:pathLst>
                <a:path w="3419475" h="3238500">
                  <a:moveTo>
                    <a:pt x="0" y="1619250"/>
                  </a:moveTo>
                  <a:lnTo>
                    <a:pt x="703" y="1572341"/>
                  </a:lnTo>
                  <a:lnTo>
                    <a:pt x="2801" y="1525764"/>
                  </a:lnTo>
                  <a:lnTo>
                    <a:pt x="6275" y="1479535"/>
                  </a:lnTo>
                  <a:lnTo>
                    <a:pt x="11106" y="1433673"/>
                  </a:lnTo>
                  <a:lnTo>
                    <a:pt x="17274" y="1388195"/>
                  </a:lnTo>
                  <a:lnTo>
                    <a:pt x="24761" y="1343121"/>
                  </a:lnTo>
                  <a:lnTo>
                    <a:pt x="33547" y="1298467"/>
                  </a:lnTo>
                  <a:lnTo>
                    <a:pt x="43614" y="1254251"/>
                  </a:lnTo>
                  <a:lnTo>
                    <a:pt x="54942" y="1210493"/>
                  </a:lnTo>
                  <a:lnTo>
                    <a:pt x="67513" y="1167209"/>
                  </a:lnTo>
                  <a:lnTo>
                    <a:pt x="81307" y="1124417"/>
                  </a:lnTo>
                  <a:lnTo>
                    <a:pt x="96306" y="1082137"/>
                  </a:lnTo>
                  <a:lnTo>
                    <a:pt x="112491" y="1040385"/>
                  </a:lnTo>
                  <a:lnTo>
                    <a:pt x="129842" y="999180"/>
                  </a:lnTo>
                  <a:lnTo>
                    <a:pt x="148341" y="958539"/>
                  </a:lnTo>
                  <a:lnTo>
                    <a:pt x="167968" y="918482"/>
                  </a:lnTo>
                  <a:lnTo>
                    <a:pt x="188704" y="879025"/>
                  </a:lnTo>
                  <a:lnTo>
                    <a:pt x="210531" y="840186"/>
                  </a:lnTo>
                  <a:lnTo>
                    <a:pt x="233430" y="801985"/>
                  </a:lnTo>
                  <a:lnTo>
                    <a:pt x="257381" y="764438"/>
                  </a:lnTo>
                  <a:lnTo>
                    <a:pt x="282365" y="727564"/>
                  </a:lnTo>
                  <a:lnTo>
                    <a:pt x="308364" y="691380"/>
                  </a:lnTo>
                  <a:lnTo>
                    <a:pt x="335358" y="655906"/>
                  </a:lnTo>
                  <a:lnTo>
                    <a:pt x="363329" y="621158"/>
                  </a:lnTo>
                  <a:lnTo>
                    <a:pt x="392258" y="587155"/>
                  </a:lnTo>
                  <a:lnTo>
                    <a:pt x="422124" y="553914"/>
                  </a:lnTo>
                  <a:lnTo>
                    <a:pt x="452910" y="521455"/>
                  </a:lnTo>
                  <a:lnTo>
                    <a:pt x="484597" y="489794"/>
                  </a:lnTo>
                  <a:lnTo>
                    <a:pt x="517165" y="458949"/>
                  </a:lnTo>
                  <a:lnTo>
                    <a:pt x="550595" y="428940"/>
                  </a:lnTo>
                  <a:lnTo>
                    <a:pt x="584868" y="399783"/>
                  </a:lnTo>
                  <a:lnTo>
                    <a:pt x="619966" y="371497"/>
                  </a:lnTo>
                  <a:lnTo>
                    <a:pt x="655870" y="344100"/>
                  </a:lnTo>
                  <a:lnTo>
                    <a:pt x="692559" y="317610"/>
                  </a:lnTo>
                  <a:lnTo>
                    <a:pt x="730016" y="292044"/>
                  </a:lnTo>
                  <a:lnTo>
                    <a:pt x="768222" y="267421"/>
                  </a:lnTo>
                  <a:lnTo>
                    <a:pt x="807157" y="243759"/>
                  </a:lnTo>
                  <a:lnTo>
                    <a:pt x="846802" y="221075"/>
                  </a:lnTo>
                  <a:lnTo>
                    <a:pt x="887138" y="199389"/>
                  </a:lnTo>
                  <a:lnTo>
                    <a:pt x="928147" y="178717"/>
                  </a:lnTo>
                  <a:lnTo>
                    <a:pt x="969809" y="159078"/>
                  </a:lnTo>
                  <a:lnTo>
                    <a:pt x="1012105" y="140490"/>
                  </a:lnTo>
                  <a:lnTo>
                    <a:pt x="1055016" y="122970"/>
                  </a:lnTo>
                  <a:lnTo>
                    <a:pt x="1098524" y="106537"/>
                  </a:lnTo>
                  <a:lnTo>
                    <a:pt x="1142609" y="91209"/>
                  </a:lnTo>
                  <a:lnTo>
                    <a:pt x="1187252" y="77004"/>
                  </a:lnTo>
                  <a:lnTo>
                    <a:pt x="1232435" y="63940"/>
                  </a:lnTo>
                  <a:lnTo>
                    <a:pt x="1278138" y="52034"/>
                  </a:lnTo>
                  <a:lnTo>
                    <a:pt x="1324342" y="41305"/>
                  </a:lnTo>
                  <a:lnTo>
                    <a:pt x="1371028" y="31771"/>
                  </a:lnTo>
                  <a:lnTo>
                    <a:pt x="1418177" y="23450"/>
                  </a:lnTo>
                  <a:lnTo>
                    <a:pt x="1465771" y="16360"/>
                  </a:lnTo>
                  <a:lnTo>
                    <a:pt x="1513790" y="10518"/>
                  </a:lnTo>
                  <a:lnTo>
                    <a:pt x="1562215" y="5943"/>
                  </a:lnTo>
                  <a:lnTo>
                    <a:pt x="1611027" y="2653"/>
                  </a:lnTo>
                  <a:lnTo>
                    <a:pt x="1660207" y="666"/>
                  </a:lnTo>
                  <a:lnTo>
                    <a:pt x="1709737" y="0"/>
                  </a:lnTo>
                  <a:lnTo>
                    <a:pt x="1759267" y="666"/>
                  </a:lnTo>
                  <a:lnTo>
                    <a:pt x="1808447" y="2653"/>
                  </a:lnTo>
                  <a:lnTo>
                    <a:pt x="1857259" y="5943"/>
                  </a:lnTo>
                  <a:lnTo>
                    <a:pt x="1905684" y="10518"/>
                  </a:lnTo>
                  <a:lnTo>
                    <a:pt x="1953703" y="16360"/>
                  </a:lnTo>
                  <a:lnTo>
                    <a:pt x="2001297" y="23450"/>
                  </a:lnTo>
                  <a:lnTo>
                    <a:pt x="2048446" y="31771"/>
                  </a:lnTo>
                  <a:lnTo>
                    <a:pt x="2095132" y="41305"/>
                  </a:lnTo>
                  <a:lnTo>
                    <a:pt x="2141336" y="52034"/>
                  </a:lnTo>
                  <a:lnTo>
                    <a:pt x="2187039" y="63940"/>
                  </a:lnTo>
                  <a:lnTo>
                    <a:pt x="2232222" y="77004"/>
                  </a:lnTo>
                  <a:lnTo>
                    <a:pt x="2276865" y="91209"/>
                  </a:lnTo>
                  <a:lnTo>
                    <a:pt x="2320950" y="106537"/>
                  </a:lnTo>
                  <a:lnTo>
                    <a:pt x="2364458" y="122970"/>
                  </a:lnTo>
                  <a:lnTo>
                    <a:pt x="2407369" y="140490"/>
                  </a:lnTo>
                  <a:lnTo>
                    <a:pt x="2449665" y="159078"/>
                  </a:lnTo>
                  <a:lnTo>
                    <a:pt x="2491327" y="178717"/>
                  </a:lnTo>
                  <a:lnTo>
                    <a:pt x="2532336" y="199389"/>
                  </a:lnTo>
                  <a:lnTo>
                    <a:pt x="2572672" y="221075"/>
                  </a:lnTo>
                  <a:lnTo>
                    <a:pt x="2612317" y="243759"/>
                  </a:lnTo>
                  <a:lnTo>
                    <a:pt x="2651252" y="267421"/>
                  </a:lnTo>
                  <a:lnTo>
                    <a:pt x="2689458" y="292044"/>
                  </a:lnTo>
                  <a:lnTo>
                    <a:pt x="2726915" y="317610"/>
                  </a:lnTo>
                  <a:lnTo>
                    <a:pt x="2763604" y="344100"/>
                  </a:lnTo>
                  <a:lnTo>
                    <a:pt x="2799508" y="371497"/>
                  </a:lnTo>
                  <a:lnTo>
                    <a:pt x="2834606" y="399783"/>
                  </a:lnTo>
                  <a:lnTo>
                    <a:pt x="2868879" y="428940"/>
                  </a:lnTo>
                  <a:lnTo>
                    <a:pt x="2902309" y="458949"/>
                  </a:lnTo>
                  <a:lnTo>
                    <a:pt x="2934877" y="489794"/>
                  </a:lnTo>
                  <a:lnTo>
                    <a:pt x="2966564" y="521455"/>
                  </a:lnTo>
                  <a:lnTo>
                    <a:pt x="2997350" y="553914"/>
                  </a:lnTo>
                  <a:lnTo>
                    <a:pt x="3027216" y="587155"/>
                  </a:lnTo>
                  <a:lnTo>
                    <a:pt x="3056145" y="621158"/>
                  </a:lnTo>
                  <a:lnTo>
                    <a:pt x="3084116" y="655906"/>
                  </a:lnTo>
                  <a:lnTo>
                    <a:pt x="3111110" y="691380"/>
                  </a:lnTo>
                  <a:lnTo>
                    <a:pt x="3137109" y="727564"/>
                  </a:lnTo>
                  <a:lnTo>
                    <a:pt x="3162093" y="764438"/>
                  </a:lnTo>
                  <a:lnTo>
                    <a:pt x="3186044" y="801985"/>
                  </a:lnTo>
                  <a:lnTo>
                    <a:pt x="3208943" y="840186"/>
                  </a:lnTo>
                  <a:lnTo>
                    <a:pt x="3230770" y="879025"/>
                  </a:lnTo>
                  <a:lnTo>
                    <a:pt x="3251506" y="918482"/>
                  </a:lnTo>
                  <a:lnTo>
                    <a:pt x="3271133" y="958539"/>
                  </a:lnTo>
                  <a:lnTo>
                    <a:pt x="3289632" y="999180"/>
                  </a:lnTo>
                  <a:lnTo>
                    <a:pt x="3306983" y="1040385"/>
                  </a:lnTo>
                  <a:lnTo>
                    <a:pt x="3323168" y="1082137"/>
                  </a:lnTo>
                  <a:lnTo>
                    <a:pt x="3338167" y="1124417"/>
                  </a:lnTo>
                  <a:lnTo>
                    <a:pt x="3351961" y="1167209"/>
                  </a:lnTo>
                  <a:lnTo>
                    <a:pt x="3364532" y="1210493"/>
                  </a:lnTo>
                  <a:lnTo>
                    <a:pt x="3375860" y="1254251"/>
                  </a:lnTo>
                  <a:lnTo>
                    <a:pt x="3385927" y="1298467"/>
                  </a:lnTo>
                  <a:lnTo>
                    <a:pt x="3394713" y="1343121"/>
                  </a:lnTo>
                  <a:lnTo>
                    <a:pt x="3402200" y="1388195"/>
                  </a:lnTo>
                  <a:lnTo>
                    <a:pt x="3408368" y="1433673"/>
                  </a:lnTo>
                  <a:lnTo>
                    <a:pt x="3413199" y="1479535"/>
                  </a:lnTo>
                  <a:lnTo>
                    <a:pt x="3416673" y="1525764"/>
                  </a:lnTo>
                  <a:lnTo>
                    <a:pt x="3418771" y="1572341"/>
                  </a:lnTo>
                  <a:lnTo>
                    <a:pt x="3419475" y="1619250"/>
                  </a:lnTo>
                  <a:lnTo>
                    <a:pt x="3418771" y="1666158"/>
                  </a:lnTo>
                  <a:lnTo>
                    <a:pt x="3416673" y="1712736"/>
                  </a:lnTo>
                  <a:lnTo>
                    <a:pt x="3413199" y="1758966"/>
                  </a:lnTo>
                  <a:lnTo>
                    <a:pt x="3408368" y="1804828"/>
                  </a:lnTo>
                  <a:lnTo>
                    <a:pt x="3402200" y="1850306"/>
                  </a:lnTo>
                  <a:lnTo>
                    <a:pt x="3394713" y="1895382"/>
                  </a:lnTo>
                  <a:lnTo>
                    <a:pt x="3385927" y="1940036"/>
                  </a:lnTo>
                  <a:lnTo>
                    <a:pt x="3375860" y="1984252"/>
                  </a:lnTo>
                  <a:lnTo>
                    <a:pt x="3364532" y="2028011"/>
                  </a:lnTo>
                  <a:lnTo>
                    <a:pt x="3351961" y="2071295"/>
                  </a:lnTo>
                  <a:lnTo>
                    <a:pt x="3338167" y="2114087"/>
                  </a:lnTo>
                  <a:lnTo>
                    <a:pt x="3323168" y="2156367"/>
                  </a:lnTo>
                  <a:lnTo>
                    <a:pt x="3306983" y="2198119"/>
                  </a:lnTo>
                  <a:lnTo>
                    <a:pt x="3289632" y="2239325"/>
                  </a:lnTo>
                  <a:lnTo>
                    <a:pt x="3271133" y="2279965"/>
                  </a:lnTo>
                  <a:lnTo>
                    <a:pt x="3251506" y="2320023"/>
                  </a:lnTo>
                  <a:lnTo>
                    <a:pt x="3230770" y="2359480"/>
                  </a:lnTo>
                  <a:lnTo>
                    <a:pt x="3208943" y="2398318"/>
                  </a:lnTo>
                  <a:lnTo>
                    <a:pt x="3186044" y="2436520"/>
                  </a:lnTo>
                  <a:lnTo>
                    <a:pt x="3162093" y="2474067"/>
                  </a:lnTo>
                  <a:lnTo>
                    <a:pt x="3137109" y="2510941"/>
                  </a:lnTo>
                  <a:lnTo>
                    <a:pt x="3111110" y="2547124"/>
                  </a:lnTo>
                  <a:lnTo>
                    <a:pt x="3084116" y="2582599"/>
                  </a:lnTo>
                  <a:lnTo>
                    <a:pt x="3056145" y="2617346"/>
                  </a:lnTo>
                  <a:lnTo>
                    <a:pt x="3027216" y="2651350"/>
                  </a:lnTo>
                  <a:lnTo>
                    <a:pt x="2997350" y="2684590"/>
                  </a:lnTo>
                  <a:lnTo>
                    <a:pt x="2966564" y="2717049"/>
                  </a:lnTo>
                  <a:lnTo>
                    <a:pt x="2934877" y="2748710"/>
                  </a:lnTo>
                  <a:lnTo>
                    <a:pt x="2902309" y="2779554"/>
                  </a:lnTo>
                  <a:lnTo>
                    <a:pt x="2868879" y="2809564"/>
                  </a:lnTo>
                  <a:lnTo>
                    <a:pt x="2834606" y="2838720"/>
                  </a:lnTo>
                  <a:lnTo>
                    <a:pt x="2799508" y="2867006"/>
                  </a:lnTo>
                  <a:lnTo>
                    <a:pt x="2763604" y="2894403"/>
                  </a:lnTo>
                  <a:lnTo>
                    <a:pt x="2726915" y="2920893"/>
                  </a:lnTo>
                  <a:lnTo>
                    <a:pt x="2689458" y="2946459"/>
                  </a:lnTo>
                  <a:lnTo>
                    <a:pt x="2651252" y="2971081"/>
                  </a:lnTo>
                  <a:lnTo>
                    <a:pt x="2612317" y="2994743"/>
                  </a:lnTo>
                  <a:lnTo>
                    <a:pt x="2572672" y="3017426"/>
                  </a:lnTo>
                  <a:lnTo>
                    <a:pt x="2532336" y="3039113"/>
                  </a:lnTo>
                  <a:lnTo>
                    <a:pt x="2491327" y="3059784"/>
                  </a:lnTo>
                  <a:lnTo>
                    <a:pt x="2449665" y="3079423"/>
                  </a:lnTo>
                  <a:lnTo>
                    <a:pt x="2407369" y="3098011"/>
                  </a:lnTo>
                  <a:lnTo>
                    <a:pt x="2364458" y="3115531"/>
                  </a:lnTo>
                  <a:lnTo>
                    <a:pt x="2320950" y="3131963"/>
                  </a:lnTo>
                  <a:lnTo>
                    <a:pt x="2276865" y="3147291"/>
                  </a:lnTo>
                  <a:lnTo>
                    <a:pt x="2232222" y="3161496"/>
                  </a:lnTo>
                  <a:lnTo>
                    <a:pt x="2187039" y="3174560"/>
                  </a:lnTo>
                  <a:lnTo>
                    <a:pt x="2141336" y="3186466"/>
                  </a:lnTo>
                  <a:lnTo>
                    <a:pt x="2095132" y="3197194"/>
                  </a:lnTo>
                  <a:lnTo>
                    <a:pt x="2048446" y="3206728"/>
                  </a:lnTo>
                  <a:lnTo>
                    <a:pt x="2001297" y="3215049"/>
                  </a:lnTo>
                  <a:lnTo>
                    <a:pt x="1953703" y="3222140"/>
                  </a:lnTo>
                  <a:lnTo>
                    <a:pt x="1905684" y="3227981"/>
                  </a:lnTo>
                  <a:lnTo>
                    <a:pt x="1857259" y="3232556"/>
                  </a:lnTo>
                  <a:lnTo>
                    <a:pt x="1808447" y="3235846"/>
                  </a:lnTo>
                  <a:lnTo>
                    <a:pt x="1759267" y="3237833"/>
                  </a:lnTo>
                  <a:lnTo>
                    <a:pt x="1709737" y="3238500"/>
                  </a:lnTo>
                  <a:lnTo>
                    <a:pt x="1660207" y="3237833"/>
                  </a:lnTo>
                  <a:lnTo>
                    <a:pt x="1611027" y="3235846"/>
                  </a:lnTo>
                  <a:lnTo>
                    <a:pt x="1562215" y="3232556"/>
                  </a:lnTo>
                  <a:lnTo>
                    <a:pt x="1513790" y="3227981"/>
                  </a:lnTo>
                  <a:lnTo>
                    <a:pt x="1465771" y="3222140"/>
                  </a:lnTo>
                  <a:lnTo>
                    <a:pt x="1418177" y="3215049"/>
                  </a:lnTo>
                  <a:lnTo>
                    <a:pt x="1371028" y="3206728"/>
                  </a:lnTo>
                  <a:lnTo>
                    <a:pt x="1324342" y="3197194"/>
                  </a:lnTo>
                  <a:lnTo>
                    <a:pt x="1278138" y="3186466"/>
                  </a:lnTo>
                  <a:lnTo>
                    <a:pt x="1232435" y="3174560"/>
                  </a:lnTo>
                  <a:lnTo>
                    <a:pt x="1187252" y="3161496"/>
                  </a:lnTo>
                  <a:lnTo>
                    <a:pt x="1142609" y="3147291"/>
                  </a:lnTo>
                  <a:lnTo>
                    <a:pt x="1098524" y="3131963"/>
                  </a:lnTo>
                  <a:lnTo>
                    <a:pt x="1055016" y="3115531"/>
                  </a:lnTo>
                  <a:lnTo>
                    <a:pt x="1012105" y="3098011"/>
                  </a:lnTo>
                  <a:lnTo>
                    <a:pt x="969809" y="3079423"/>
                  </a:lnTo>
                  <a:lnTo>
                    <a:pt x="928147" y="3059784"/>
                  </a:lnTo>
                  <a:lnTo>
                    <a:pt x="887138" y="3039113"/>
                  </a:lnTo>
                  <a:lnTo>
                    <a:pt x="846802" y="3017426"/>
                  </a:lnTo>
                  <a:lnTo>
                    <a:pt x="807157" y="2994743"/>
                  </a:lnTo>
                  <a:lnTo>
                    <a:pt x="768222" y="2971081"/>
                  </a:lnTo>
                  <a:lnTo>
                    <a:pt x="730016" y="2946459"/>
                  </a:lnTo>
                  <a:lnTo>
                    <a:pt x="692559" y="2920893"/>
                  </a:lnTo>
                  <a:lnTo>
                    <a:pt x="655870" y="2894403"/>
                  </a:lnTo>
                  <a:lnTo>
                    <a:pt x="619966" y="2867006"/>
                  </a:lnTo>
                  <a:lnTo>
                    <a:pt x="584868" y="2838720"/>
                  </a:lnTo>
                  <a:lnTo>
                    <a:pt x="550595" y="2809564"/>
                  </a:lnTo>
                  <a:lnTo>
                    <a:pt x="517165" y="2779554"/>
                  </a:lnTo>
                  <a:lnTo>
                    <a:pt x="484597" y="2748710"/>
                  </a:lnTo>
                  <a:lnTo>
                    <a:pt x="452910" y="2717049"/>
                  </a:lnTo>
                  <a:lnTo>
                    <a:pt x="422124" y="2684590"/>
                  </a:lnTo>
                  <a:lnTo>
                    <a:pt x="392258" y="2651350"/>
                  </a:lnTo>
                  <a:lnTo>
                    <a:pt x="363329" y="2617346"/>
                  </a:lnTo>
                  <a:lnTo>
                    <a:pt x="335358" y="2582599"/>
                  </a:lnTo>
                  <a:lnTo>
                    <a:pt x="308364" y="2547124"/>
                  </a:lnTo>
                  <a:lnTo>
                    <a:pt x="282365" y="2510941"/>
                  </a:lnTo>
                  <a:lnTo>
                    <a:pt x="257381" y="2474067"/>
                  </a:lnTo>
                  <a:lnTo>
                    <a:pt x="233430" y="2436520"/>
                  </a:lnTo>
                  <a:lnTo>
                    <a:pt x="210531" y="2398318"/>
                  </a:lnTo>
                  <a:lnTo>
                    <a:pt x="188704" y="2359480"/>
                  </a:lnTo>
                  <a:lnTo>
                    <a:pt x="167968" y="2320023"/>
                  </a:lnTo>
                  <a:lnTo>
                    <a:pt x="148341" y="2279965"/>
                  </a:lnTo>
                  <a:lnTo>
                    <a:pt x="129842" y="2239325"/>
                  </a:lnTo>
                  <a:lnTo>
                    <a:pt x="112491" y="2198119"/>
                  </a:lnTo>
                  <a:lnTo>
                    <a:pt x="96306" y="2156367"/>
                  </a:lnTo>
                  <a:lnTo>
                    <a:pt x="81307" y="2114087"/>
                  </a:lnTo>
                  <a:lnTo>
                    <a:pt x="67513" y="2071295"/>
                  </a:lnTo>
                  <a:lnTo>
                    <a:pt x="54942" y="2028011"/>
                  </a:lnTo>
                  <a:lnTo>
                    <a:pt x="43614" y="1984252"/>
                  </a:lnTo>
                  <a:lnTo>
                    <a:pt x="33547" y="1940036"/>
                  </a:lnTo>
                  <a:lnTo>
                    <a:pt x="24761" y="1895382"/>
                  </a:lnTo>
                  <a:lnTo>
                    <a:pt x="17274" y="1850306"/>
                  </a:lnTo>
                  <a:lnTo>
                    <a:pt x="11106" y="1804828"/>
                  </a:lnTo>
                  <a:lnTo>
                    <a:pt x="6275" y="1758966"/>
                  </a:lnTo>
                  <a:lnTo>
                    <a:pt x="2801" y="1712736"/>
                  </a:lnTo>
                  <a:lnTo>
                    <a:pt x="703" y="1666158"/>
                  </a:lnTo>
                  <a:lnTo>
                    <a:pt x="0" y="1619250"/>
                  </a:lnTo>
                  <a:close/>
                </a:path>
              </a:pathLst>
            </a:custGeom>
            <a:ln w="25400">
              <a:solidFill>
                <a:srgbClr val="89A4A7"/>
              </a:solidFill>
            </a:ln>
          </p:spPr>
          <p:txBody>
            <a:bodyPr wrap="square" lIns="0" tIns="0" rIns="0" bIns="0" rtlCol="0"/>
            <a:lstStyle/>
            <a:p/>
          </p:txBody>
        </p:sp>
      </p:grpSp>
      <p:sp>
        <p:nvSpPr>
          <p:cNvPr id="9" name="object 9" descr=""/>
          <p:cNvSpPr txBox="1"/>
          <p:nvPr/>
        </p:nvSpPr>
        <p:spPr>
          <a:xfrm>
            <a:off x="3750590" y="2051070"/>
            <a:ext cx="1623695" cy="665480"/>
          </a:xfrm>
          <a:prstGeom prst="rect">
            <a:avLst/>
          </a:prstGeom>
        </p:spPr>
        <p:txBody>
          <a:bodyPr wrap="square" lIns="0" tIns="12065" rIns="0" bIns="0" rtlCol="0" vert="horz">
            <a:spAutoFit/>
          </a:bodyPr>
          <a:lstStyle/>
          <a:p>
            <a:pPr algn="ctr" marL="635">
              <a:lnSpc>
                <a:spcPct val="100000"/>
              </a:lnSpc>
              <a:spcBef>
                <a:spcPts val="95"/>
              </a:spcBef>
            </a:pPr>
            <a:r>
              <a:rPr dirty="0" sz="1400" spc="-30" b="1">
                <a:latin typeface="Microsoft YaHei"/>
                <a:cs typeface="Microsoft YaHei"/>
              </a:rPr>
              <a:t>智能网联</a:t>
            </a:r>
            <a:endParaRPr sz="1400">
              <a:latin typeface="Microsoft YaHei"/>
              <a:cs typeface="Microsoft YaHei"/>
            </a:endParaRPr>
          </a:p>
          <a:p>
            <a:pPr algn="ctr">
              <a:lnSpc>
                <a:spcPct val="100000"/>
              </a:lnSpc>
            </a:pPr>
            <a:r>
              <a:rPr dirty="0" sz="1400" spc="-25" b="1">
                <a:latin typeface="Microsoft YaHei"/>
                <a:cs typeface="Microsoft YaHei"/>
              </a:rPr>
              <a:t>网络平台和网络应用</a:t>
            </a:r>
            <a:endParaRPr sz="1400">
              <a:latin typeface="Microsoft YaHei"/>
              <a:cs typeface="Microsoft YaHei"/>
            </a:endParaRPr>
          </a:p>
          <a:p>
            <a:pPr algn="ctr" marL="635">
              <a:lnSpc>
                <a:spcPct val="100000"/>
              </a:lnSpc>
            </a:pPr>
            <a:r>
              <a:rPr dirty="0" sz="1400" spc="-10" b="1">
                <a:latin typeface="Microsoft YaHei"/>
                <a:cs typeface="Microsoft YaHei"/>
              </a:rPr>
              <a:t>&lt;1</a:t>
            </a:r>
            <a:r>
              <a:rPr dirty="0" sz="1400" spc="-35" b="1">
                <a:latin typeface="Microsoft YaHei"/>
                <a:cs typeface="Microsoft YaHei"/>
              </a:rPr>
              <a:t>万亿元</a:t>
            </a:r>
            <a:endParaRPr sz="1400">
              <a:latin typeface="Microsoft YaHei"/>
              <a:cs typeface="Microsoft YaHei"/>
            </a:endParaRPr>
          </a:p>
        </p:txBody>
      </p:sp>
      <p:sp>
        <p:nvSpPr>
          <p:cNvPr id="10" name="object 10" descr=""/>
          <p:cNvSpPr txBox="1"/>
          <p:nvPr/>
        </p:nvSpPr>
        <p:spPr>
          <a:xfrm>
            <a:off x="0" y="1915236"/>
            <a:ext cx="2698750" cy="539750"/>
          </a:xfrm>
          <a:prstGeom prst="rect">
            <a:avLst/>
          </a:prstGeom>
          <a:solidFill>
            <a:srgbClr val="EBEBEB"/>
          </a:solidFill>
        </p:spPr>
        <p:txBody>
          <a:bodyPr wrap="square" lIns="0" tIns="39370" rIns="0" bIns="0" rtlCol="0" vert="horz">
            <a:spAutoFit/>
          </a:bodyPr>
          <a:lstStyle/>
          <a:p>
            <a:pPr marL="549910">
              <a:lnSpc>
                <a:spcPct val="100000"/>
              </a:lnSpc>
              <a:spcBef>
                <a:spcPts val="310"/>
              </a:spcBef>
            </a:pPr>
            <a:r>
              <a:rPr dirty="0" sz="1400" spc="-25">
                <a:latin typeface="Microsoft YaHei"/>
                <a:cs typeface="Microsoft YaHei"/>
              </a:rPr>
              <a:t>网络平台和网络应用</a:t>
            </a:r>
            <a:endParaRPr sz="1400">
              <a:latin typeface="Microsoft YaHei"/>
              <a:cs typeface="Microsoft YaHei"/>
            </a:endParaRPr>
          </a:p>
        </p:txBody>
      </p:sp>
      <p:sp>
        <p:nvSpPr>
          <p:cNvPr id="11" name="object 11" descr=""/>
          <p:cNvSpPr/>
          <p:nvPr/>
        </p:nvSpPr>
        <p:spPr>
          <a:xfrm>
            <a:off x="0" y="2999498"/>
            <a:ext cx="2698750" cy="527050"/>
          </a:xfrm>
          <a:custGeom>
            <a:avLst/>
            <a:gdLst/>
            <a:ahLst/>
            <a:cxnLst/>
            <a:rect l="l" t="t" r="r" b="b"/>
            <a:pathLst>
              <a:path w="2698750" h="527050">
                <a:moveTo>
                  <a:pt x="2698750" y="0"/>
                </a:moveTo>
                <a:lnTo>
                  <a:pt x="0" y="0"/>
                </a:lnTo>
                <a:lnTo>
                  <a:pt x="0" y="527050"/>
                </a:lnTo>
                <a:lnTo>
                  <a:pt x="2698750" y="527050"/>
                </a:lnTo>
                <a:lnTo>
                  <a:pt x="2698750" y="0"/>
                </a:lnTo>
                <a:close/>
              </a:path>
            </a:pathLst>
          </a:custGeom>
          <a:solidFill>
            <a:srgbClr val="EBEBEB"/>
          </a:solidFill>
        </p:spPr>
        <p:txBody>
          <a:bodyPr wrap="square" lIns="0" tIns="0" rIns="0" bIns="0" rtlCol="0"/>
          <a:lstStyle/>
          <a:p/>
        </p:txBody>
      </p:sp>
      <p:sp>
        <p:nvSpPr>
          <p:cNvPr id="12" name="object 12" descr=""/>
          <p:cNvSpPr txBox="1"/>
          <p:nvPr/>
        </p:nvSpPr>
        <p:spPr>
          <a:xfrm>
            <a:off x="109863" y="3026430"/>
            <a:ext cx="2478405" cy="452120"/>
          </a:xfrm>
          <a:prstGeom prst="rect">
            <a:avLst/>
          </a:prstGeom>
        </p:spPr>
        <p:txBody>
          <a:bodyPr wrap="square" lIns="0" tIns="12065" rIns="0" bIns="0" rtlCol="0" vert="horz">
            <a:spAutoFit/>
          </a:bodyPr>
          <a:lstStyle/>
          <a:p>
            <a:pPr algn="ctr" marL="635">
              <a:lnSpc>
                <a:spcPct val="100000"/>
              </a:lnSpc>
              <a:spcBef>
                <a:spcPts val="95"/>
              </a:spcBef>
            </a:pPr>
            <a:r>
              <a:rPr dirty="0" sz="1400" spc="-30">
                <a:latin typeface="Microsoft YaHei"/>
                <a:cs typeface="Microsoft YaHei"/>
              </a:rPr>
              <a:t>基础设施</a:t>
            </a:r>
            <a:endParaRPr sz="1400">
              <a:latin typeface="Microsoft YaHei"/>
              <a:cs typeface="Microsoft YaHei"/>
            </a:endParaRPr>
          </a:p>
          <a:p>
            <a:pPr algn="ctr">
              <a:lnSpc>
                <a:spcPct val="100000"/>
              </a:lnSpc>
            </a:pPr>
            <a:r>
              <a:rPr dirty="0" sz="1400" spc="-25">
                <a:latin typeface="Microsoft YaHei"/>
                <a:cs typeface="Microsoft YaHei"/>
              </a:rPr>
              <a:t>【信号灯、标识牌、停车位…】</a:t>
            </a:r>
            <a:endParaRPr sz="1400">
              <a:latin typeface="Microsoft YaHei"/>
              <a:cs typeface="Microsoft YaHei"/>
            </a:endParaRPr>
          </a:p>
        </p:txBody>
      </p:sp>
      <p:sp>
        <p:nvSpPr>
          <p:cNvPr id="13" name="object 13" descr=""/>
          <p:cNvSpPr txBox="1"/>
          <p:nvPr/>
        </p:nvSpPr>
        <p:spPr>
          <a:xfrm>
            <a:off x="0" y="4078211"/>
            <a:ext cx="2698750" cy="539750"/>
          </a:xfrm>
          <a:prstGeom prst="rect">
            <a:avLst/>
          </a:prstGeom>
          <a:solidFill>
            <a:srgbClr val="EBEBEB"/>
          </a:solidFill>
        </p:spPr>
        <p:txBody>
          <a:bodyPr wrap="square" lIns="0" tIns="30480" rIns="0" bIns="0" rtlCol="0" vert="horz">
            <a:spAutoFit/>
          </a:bodyPr>
          <a:lstStyle/>
          <a:p>
            <a:pPr marL="816610">
              <a:lnSpc>
                <a:spcPct val="100000"/>
              </a:lnSpc>
              <a:spcBef>
                <a:spcPts val="240"/>
              </a:spcBef>
            </a:pPr>
            <a:r>
              <a:rPr dirty="0" sz="1400" spc="-25">
                <a:latin typeface="Microsoft YaHei"/>
                <a:cs typeface="Microsoft YaHei"/>
              </a:rPr>
              <a:t>车载通信终端</a:t>
            </a:r>
            <a:endParaRPr sz="1400">
              <a:latin typeface="Microsoft YaHei"/>
              <a:cs typeface="Microsoft YaHei"/>
            </a:endParaRPr>
          </a:p>
        </p:txBody>
      </p:sp>
      <p:sp>
        <p:nvSpPr>
          <p:cNvPr id="14" name="object 14" descr=""/>
          <p:cNvSpPr txBox="1"/>
          <p:nvPr/>
        </p:nvSpPr>
        <p:spPr>
          <a:xfrm>
            <a:off x="6769417" y="1337767"/>
            <a:ext cx="2051050" cy="369570"/>
          </a:xfrm>
          <a:prstGeom prst="rect">
            <a:avLst/>
          </a:prstGeom>
          <a:solidFill>
            <a:srgbClr val="FFC000"/>
          </a:solidFill>
          <a:ln w="25400">
            <a:solidFill>
              <a:srgbClr val="BBE0E3"/>
            </a:solidFill>
          </a:ln>
        </p:spPr>
        <p:txBody>
          <a:bodyPr wrap="square" lIns="0" tIns="36830" rIns="0" bIns="0" rtlCol="0" vert="horz">
            <a:spAutoFit/>
          </a:bodyPr>
          <a:lstStyle/>
          <a:p>
            <a:pPr marL="111125">
              <a:lnSpc>
                <a:spcPct val="100000"/>
              </a:lnSpc>
              <a:spcBef>
                <a:spcPts val="290"/>
              </a:spcBef>
            </a:pPr>
            <a:r>
              <a:rPr dirty="0" sz="1800" spc="-10" b="1">
                <a:solidFill>
                  <a:srgbClr val="FFFFFF"/>
                </a:solidFill>
                <a:latin typeface="Microsoft YaHei"/>
                <a:cs typeface="Microsoft YaHei"/>
              </a:rPr>
              <a:t>智能网联设备容量</a:t>
            </a:r>
            <a:endParaRPr sz="1800">
              <a:latin typeface="Microsoft YaHei"/>
              <a:cs typeface="Microsoft YaHei"/>
            </a:endParaRPr>
          </a:p>
        </p:txBody>
      </p:sp>
      <p:sp>
        <p:nvSpPr>
          <p:cNvPr id="15" name="object 15" descr=""/>
          <p:cNvSpPr/>
          <p:nvPr/>
        </p:nvSpPr>
        <p:spPr>
          <a:xfrm>
            <a:off x="6445250" y="1915248"/>
            <a:ext cx="2698750" cy="1619250"/>
          </a:xfrm>
          <a:custGeom>
            <a:avLst/>
            <a:gdLst/>
            <a:ahLst/>
            <a:cxnLst/>
            <a:rect l="l" t="t" r="r" b="b"/>
            <a:pathLst>
              <a:path w="2698750" h="1619250">
                <a:moveTo>
                  <a:pt x="2698750" y="0"/>
                </a:moveTo>
                <a:lnTo>
                  <a:pt x="0" y="0"/>
                </a:lnTo>
                <a:lnTo>
                  <a:pt x="0" y="1619249"/>
                </a:lnTo>
                <a:lnTo>
                  <a:pt x="2698750" y="1619249"/>
                </a:lnTo>
                <a:lnTo>
                  <a:pt x="2698750" y="0"/>
                </a:lnTo>
                <a:close/>
              </a:path>
            </a:pathLst>
          </a:custGeom>
          <a:solidFill>
            <a:srgbClr val="EBEBEB"/>
          </a:solidFill>
        </p:spPr>
        <p:txBody>
          <a:bodyPr wrap="square" lIns="0" tIns="0" rIns="0" bIns="0" rtlCol="0"/>
          <a:lstStyle/>
          <a:p/>
        </p:txBody>
      </p:sp>
      <p:sp>
        <p:nvSpPr>
          <p:cNvPr id="16" name="object 16" descr=""/>
          <p:cNvSpPr txBox="1"/>
          <p:nvPr/>
        </p:nvSpPr>
        <p:spPr>
          <a:xfrm>
            <a:off x="6523990" y="1942167"/>
            <a:ext cx="2511425" cy="1518920"/>
          </a:xfrm>
          <a:prstGeom prst="rect">
            <a:avLst/>
          </a:prstGeom>
        </p:spPr>
        <p:txBody>
          <a:bodyPr wrap="square" lIns="0" tIns="12065" rIns="0" bIns="0" rtlCol="0" vert="horz">
            <a:spAutoFit/>
          </a:bodyPr>
          <a:lstStyle/>
          <a:p>
            <a:pPr marL="12700" marR="594995">
              <a:lnSpc>
                <a:spcPct val="100000"/>
              </a:lnSpc>
              <a:spcBef>
                <a:spcPts val="95"/>
              </a:spcBef>
            </a:pPr>
            <a:r>
              <a:rPr dirty="0" sz="1400" spc="-20">
                <a:latin typeface="Microsoft YaHei"/>
                <a:cs typeface="Microsoft YaHei"/>
              </a:rPr>
              <a:t>路边通信单元：</a:t>
            </a:r>
            <a:r>
              <a:rPr dirty="0" sz="1400" spc="-10">
                <a:latin typeface="Arial MT"/>
                <a:cs typeface="Arial MT"/>
              </a:rPr>
              <a:t>500</a:t>
            </a:r>
            <a:r>
              <a:rPr dirty="0" sz="1400" spc="-35">
                <a:latin typeface="Microsoft YaHei"/>
                <a:cs typeface="Microsoft YaHei"/>
              </a:rPr>
              <a:t>万个</a:t>
            </a:r>
            <a:r>
              <a:rPr dirty="0" sz="1400" spc="-20">
                <a:latin typeface="Microsoft YaHei"/>
                <a:cs typeface="Microsoft YaHei"/>
              </a:rPr>
              <a:t>交通设施终端：</a:t>
            </a:r>
            <a:r>
              <a:rPr dirty="0" sz="1400" spc="-10">
                <a:latin typeface="Arial MT"/>
                <a:cs typeface="Arial MT"/>
              </a:rPr>
              <a:t>1</a:t>
            </a:r>
            <a:r>
              <a:rPr dirty="0" sz="1400" spc="-35">
                <a:latin typeface="Microsoft YaHei"/>
                <a:cs typeface="Microsoft YaHei"/>
              </a:rPr>
              <a:t>亿个</a:t>
            </a:r>
            <a:endParaRPr sz="1400">
              <a:latin typeface="Microsoft YaHei"/>
              <a:cs typeface="Microsoft YaHei"/>
            </a:endParaRPr>
          </a:p>
          <a:p>
            <a:pPr marL="12700">
              <a:lnSpc>
                <a:spcPct val="100000"/>
              </a:lnSpc>
            </a:pPr>
            <a:r>
              <a:rPr dirty="0" sz="1400" spc="-20">
                <a:latin typeface="Microsoft YaHei"/>
                <a:cs typeface="Microsoft YaHei"/>
              </a:rPr>
              <a:t>（信号灯、信息屏、标识牌等</a:t>
            </a:r>
            <a:r>
              <a:rPr dirty="0" sz="1400" spc="-50">
                <a:latin typeface="Microsoft YaHei"/>
                <a:cs typeface="Microsoft YaHei"/>
              </a:rPr>
              <a:t>）</a:t>
            </a:r>
            <a:endParaRPr sz="1400">
              <a:latin typeface="Microsoft YaHei"/>
              <a:cs typeface="Microsoft YaHei"/>
            </a:endParaRPr>
          </a:p>
          <a:p>
            <a:pPr marL="12700" marR="495934">
              <a:lnSpc>
                <a:spcPct val="100000"/>
              </a:lnSpc>
              <a:spcBef>
                <a:spcPts val="1680"/>
              </a:spcBef>
            </a:pPr>
            <a:r>
              <a:rPr dirty="0" sz="1400" spc="-15">
                <a:latin typeface="Microsoft YaHei"/>
                <a:cs typeface="Microsoft YaHei"/>
              </a:rPr>
              <a:t>交通监测终端：</a:t>
            </a:r>
            <a:r>
              <a:rPr dirty="0" sz="1400" spc="-5">
                <a:latin typeface="Arial MT"/>
                <a:cs typeface="Arial MT"/>
              </a:rPr>
              <a:t>500</a:t>
            </a:r>
            <a:r>
              <a:rPr dirty="0" sz="1400" spc="-15">
                <a:latin typeface="Microsoft YaHei"/>
                <a:cs typeface="Microsoft YaHei"/>
              </a:rPr>
              <a:t>万个停车泊车设备：</a:t>
            </a:r>
            <a:r>
              <a:rPr dirty="0" sz="1400" spc="-5">
                <a:latin typeface="Arial MT"/>
                <a:cs typeface="Arial MT"/>
              </a:rPr>
              <a:t>1.5</a:t>
            </a:r>
            <a:r>
              <a:rPr dirty="0" sz="1400" spc="-15">
                <a:latin typeface="Microsoft YaHei"/>
                <a:cs typeface="Microsoft YaHei"/>
              </a:rPr>
              <a:t>亿个道路照明设备：</a:t>
            </a:r>
            <a:r>
              <a:rPr dirty="0" sz="1400" spc="-5">
                <a:latin typeface="Arial MT"/>
                <a:cs typeface="Arial MT"/>
              </a:rPr>
              <a:t>4500</a:t>
            </a:r>
            <a:r>
              <a:rPr dirty="0" sz="1400" spc="-15">
                <a:latin typeface="Microsoft YaHei"/>
                <a:cs typeface="Microsoft YaHei"/>
              </a:rPr>
              <a:t>万盏</a:t>
            </a:r>
            <a:endParaRPr sz="1400">
              <a:latin typeface="Microsoft YaHei"/>
              <a:cs typeface="Microsoft YaHei"/>
            </a:endParaRPr>
          </a:p>
        </p:txBody>
      </p:sp>
      <p:sp>
        <p:nvSpPr>
          <p:cNvPr id="17" name="object 17" descr=""/>
          <p:cNvSpPr txBox="1"/>
          <p:nvPr/>
        </p:nvSpPr>
        <p:spPr>
          <a:xfrm>
            <a:off x="6445250" y="4078211"/>
            <a:ext cx="2698750" cy="539750"/>
          </a:xfrm>
          <a:prstGeom prst="rect">
            <a:avLst/>
          </a:prstGeom>
          <a:solidFill>
            <a:srgbClr val="EBEBEB"/>
          </a:solidFill>
        </p:spPr>
        <p:txBody>
          <a:bodyPr wrap="square" lIns="0" tIns="47625" rIns="0" bIns="0" rtlCol="0" vert="horz">
            <a:spAutoFit/>
          </a:bodyPr>
          <a:lstStyle/>
          <a:p>
            <a:pPr marL="91440">
              <a:lnSpc>
                <a:spcPct val="100000"/>
              </a:lnSpc>
              <a:spcBef>
                <a:spcPts val="375"/>
              </a:spcBef>
            </a:pPr>
            <a:r>
              <a:rPr dirty="0" sz="1400" spc="-20">
                <a:latin typeface="Microsoft YaHei"/>
                <a:cs typeface="Microsoft YaHei"/>
              </a:rPr>
              <a:t>车载通信终端：</a:t>
            </a:r>
            <a:r>
              <a:rPr dirty="0" sz="1400" spc="-10">
                <a:latin typeface="Arial MT"/>
                <a:cs typeface="Arial MT"/>
              </a:rPr>
              <a:t>3</a:t>
            </a:r>
            <a:r>
              <a:rPr dirty="0" sz="1400" spc="-35">
                <a:latin typeface="Microsoft YaHei"/>
                <a:cs typeface="Microsoft YaHei"/>
              </a:rPr>
              <a:t>亿台</a:t>
            </a:r>
            <a:endParaRPr sz="1400">
              <a:latin typeface="Microsoft YaHei"/>
              <a:cs typeface="Microsoft YaHei"/>
            </a:endParaRPr>
          </a:p>
        </p:txBody>
      </p:sp>
      <p:grpSp>
        <p:nvGrpSpPr>
          <p:cNvPr id="18" name="object 18" descr=""/>
          <p:cNvGrpSpPr/>
          <p:nvPr/>
        </p:nvGrpSpPr>
        <p:grpSpPr>
          <a:xfrm>
            <a:off x="2678112" y="2904262"/>
            <a:ext cx="3756025" cy="2186305"/>
            <a:chOff x="2678112" y="2904262"/>
            <a:chExt cx="3756025" cy="2186305"/>
          </a:xfrm>
        </p:grpSpPr>
        <p:sp>
          <p:nvSpPr>
            <p:cNvPr id="19" name="object 19" descr=""/>
            <p:cNvSpPr/>
            <p:nvPr/>
          </p:nvSpPr>
          <p:spPr>
            <a:xfrm>
              <a:off x="2682875" y="3272556"/>
              <a:ext cx="3746500" cy="17780"/>
            </a:xfrm>
            <a:custGeom>
              <a:avLst/>
              <a:gdLst/>
              <a:ahLst/>
              <a:cxnLst/>
              <a:rect l="l" t="t" r="r" b="b"/>
              <a:pathLst>
                <a:path w="3746500" h="17779">
                  <a:moveTo>
                    <a:pt x="0" y="0"/>
                  </a:moveTo>
                  <a:lnTo>
                    <a:pt x="3746500" y="17462"/>
                  </a:lnTo>
                </a:path>
              </a:pathLst>
            </a:custGeom>
            <a:ln w="9525">
              <a:solidFill>
                <a:srgbClr val="B6DCDF"/>
              </a:solidFill>
            </a:ln>
          </p:spPr>
          <p:txBody>
            <a:bodyPr wrap="square" lIns="0" tIns="0" rIns="0" bIns="0" rtlCol="0"/>
            <a:lstStyle/>
            <a:p/>
          </p:txBody>
        </p:sp>
        <p:sp>
          <p:nvSpPr>
            <p:cNvPr id="20" name="object 20" descr=""/>
            <p:cNvSpPr/>
            <p:nvPr/>
          </p:nvSpPr>
          <p:spPr>
            <a:xfrm>
              <a:off x="3402012" y="2916962"/>
              <a:ext cx="2339975" cy="2160905"/>
            </a:xfrm>
            <a:custGeom>
              <a:avLst/>
              <a:gdLst/>
              <a:ahLst/>
              <a:cxnLst/>
              <a:rect l="l" t="t" r="r" b="b"/>
              <a:pathLst>
                <a:path w="2339975" h="2160904">
                  <a:moveTo>
                    <a:pt x="1169987" y="0"/>
                  </a:moveTo>
                  <a:lnTo>
                    <a:pt x="1119220" y="998"/>
                  </a:lnTo>
                  <a:lnTo>
                    <a:pt x="1069018" y="3965"/>
                  </a:lnTo>
                  <a:lnTo>
                    <a:pt x="1019415" y="8861"/>
                  </a:lnTo>
                  <a:lnTo>
                    <a:pt x="970452" y="15644"/>
                  </a:lnTo>
                  <a:lnTo>
                    <a:pt x="922174" y="24276"/>
                  </a:lnTo>
                  <a:lnTo>
                    <a:pt x="874624" y="34714"/>
                  </a:lnTo>
                  <a:lnTo>
                    <a:pt x="827845" y="46919"/>
                  </a:lnTo>
                  <a:lnTo>
                    <a:pt x="781882" y="60849"/>
                  </a:lnTo>
                  <a:lnTo>
                    <a:pt x="736779" y="76465"/>
                  </a:lnTo>
                  <a:lnTo>
                    <a:pt x="692579" y="93726"/>
                  </a:lnTo>
                  <a:lnTo>
                    <a:pt x="649326" y="112592"/>
                  </a:lnTo>
                  <a:lnTo>
                    <a:pt x="607065" y="133021"/>
                  </a:lnTo>
                  <a:lnTo>
                    <a:pt x="565839" y="154973"/>
                  </a:lnTo>
                  <a:lnTo>
                    <a:pt x="525692" y="178408"/>
                  </a:lnTo>
                  <a:lnTo>
                    <a:pt x="486667" y="203285"/>
                  </a:lnTo>
                  <a:lnTo>
                    <a:pt x="448810" y="229564"/>
                  </a:lnTo>
                  <a:lnTo>
                    <a:pt x="412163" y="257204"/>
                  </a:lnTo>
                  <a:lnTo>
                    <a:pt x="376771" y="286165"/>
                  </a:lnTo>
                  <a:lnTo>
                    <a:pt x="342677" y="316406"/>
                  </a:lnTo>
                  <a:lnTo>
                    <a:pt x="309926" y="347886"/>
                  </a:lnTo>
                  <a:lnTo>
                    <a:pt x="278561" y="380565"/>
                  </a:lnTo>
                  <a:lnTo>
                    <a:pt x="248626" y="414403"/>
                  </a:lnTo>
                  <a:lnTo>
                    <a:pt x="220165" y="449359"/>
                  </a:lnTo>
                  <a:lnTo>
                    <a:pt x="193222" y="485392"/>
                  </a:lnTo>
                  <a:lnTo>
                    <a:pt x="167842" y="522462"/>
                  </a:lnTo>
                  <a:lnTo>
                    <a:pt x="144067" y="560528"/>
                  </a:lnTo>
                  <a:lnTo>
                    <a:pt x="121941" y="599551"/>
                  </a:lnTo>
                  <a:lnTo>
                    <a:pt x="101510" y="639488"/>
                  </a:lnTo>
                  <a:lnTo>
                    <a:pt x="82815" y="680300"/>
                  </a:lnTo>
                  <a:lnTo>
                    <a:pt x="65903" y="721947"/>
                  </a:lnTo>
                  <a:lnTo>
                    <a:pt x="50815" y="764387"/>
                  </a:lnTo>
                  <a:lnTo>
                    <a:pt x="37597" y="807580"/>
                  </a:lnTo>
                  <a:lnTo>
                    <a:pt x="26292" y="851486"/>
                  </a:lnTo>
                  <a:lnTo>
                    <a:pt x="16944" y="896064"/>
                  </a:lnTo>
                  <a:lnTo>
                    <a:pt x="9596" y="941274"/>
                  </a:lnTo>
                  <a:lnTo>
                    <a:pt x="4294" y="987075"/>
                  </a:lnTo>
                  <a:lnTo>
                    <a:pt x="1080" y="1033426"/>
                  </a:lnTo>
                  <a:lnTo>
                    <a:pt x="0" y="1080287"/>
                  </a:lnTo>
                  <a:lnTo>
                    <a:pt x="1080" y="1127148"/>
                  </a:lnTo>
                  <a:lnTo>
                    <a:pt x="4294" y="1173499"/>
                  </a:lnTo>
                  <a:lnTo>
                    <a:pt x="9596" y="1219300"/>
                  </a:lnTo>
                  <a:lnTo>
                    <a:pt x="16944" y="1264510"/>
                  </a:lnTo>
                  <a:lnTo>
                    <a:pt x="26292" y="1309088"/>
                  </a:lnTo>
                  <a:lnTo>
                    <a:pt x="37597" y="1352994"/>
                  </a:lnTo>
                  <a:lnTo>
                    <a:pt x="50815" y="1396188"/>
                  </a:lnTo>
                  <a:lnTo>
                    <a:pt x="65903" y="1438629"/>
                  </a:lnTo>
                  <a:lnTo>
                    <a:pt x="82816" y="1480275"/>
                  </a:lnTo>
                  <a:lnTo>
                    <a:pt x="101510" y="1521088"/>
                  </a:lnTo>
                  <a:lnTo>
                    <a:pt x="121942" y="1561026"/>
                  </a:lnTo>
                  <a:lnTo>
                    <a:pt x="144068" y="1600048"/>
                  </a:lnTo>
                  <a:lnTo>
                    <a:pt x="167843" y="1638115"/>
                  </a:lnTo>
                  <a:lnTo>
                    <a:pt x="193225" y="1675186"/>
                  </a:lnTo>
                  <a:lnTo>
                    <a:pt x="220168" y="1711219"/>
                  </a:lnTo>
                  <a:lnTo>
                    <a:pt x="248629" y="1746176"/>
                  </a:lnTo>
                  <a:lnTo>
                    <a:pt x="278564" y="1780014"/>
                  </a:lnTo>
                  <a:lnTo>
                    <a:pt x="309930" y="1812694"/>
                  </a:lnTo>
                  <a:lnTo>
                    <a:pt x="342682" y="1844174"/>
                  </a:lnTo>
                  <a:lnTo>
                    <a:pt x="376776" y="1874416"/>
                  </a:lnTo>
                  <a:lnTo>
                    <a:pt x="412169" y="1903377"/>
                  </a:lnTo>
                  <a:lnTo>
                    <a:pt x="448817" y="1931017"/>
                  </a:lnTo>
                  <a:lnTo>
                    <a:pt x="486675" y="1957297"/>
                  </a:lnTo>
                  <a:lnTo>
                    <a:pt x="525700" y="1982175"/>
                  </a:lnTo>
                  <a:lnTo>
                    <a:pt x="565849" y="2005610"/>
                  </a:lnTo>
                  <a:lnTo>
                    <a:pt x="607076" y="2027563"/>
                  </a:lnTo>
                  <a:lnTo>
                    <a:pt x="649338" y="2047992"/>
                  </a:lnTo>
                  <a:lnTo>
                    <a:pt x="692592" y="2066858"/>
                  </a:lnTo>
                  <a:lnTo>
                    <a:pt x="736792" y="2084119"/>
                  </a:lnTo>
                  <a:lnTo>
                    <a:pt x="781897" y="2099736"/>
                  </a:lnTo>
                  <a:lnTo>
                    <a:pt x="827861" y="2113667"/>
                  </a:lnTo>
                  <a:lnTo>
                    <a:pt x="874640" y="2125872"/>
                  </a:lnTo>
                  <a:lnTo>
                    <a:pt x="922191" y="2136310"/>
                  </a:lnTo>
                  <a:lnTo>
                    <a:pt x="970470" y="2144942"/>
                  </a:lnTo>
                  <a:lnTo>
                    <a:pt x="1019433" y="2151726"/>
                  </a:lnTo>
                  <a:lnTo>
                    <a:pt x="1069036" y="2156622"/>
                  </a:lnTo>
                  <a:lnTo>
                    <a:pt x="1119236" y="2159589"/>
                  </a:lnTo>
                  <a:lnTo>
                    <a:pt x="1169987" y="2160587"/>
                  </a:lnTo>
                  <a:lnTo>
                    <a:pt x="1220738" y="2159589"/>
                  </a:lnTo>
                  <a:lnTo>
                    <a:pt x="1270938" y="2156622"/>
                  </a:lnTo>
                  <a:lnTo>
                    <a:pt x="1320541" y="2151726"/>
                  </a:lnTo>
                  <a:lnTo>
                    <a:pt x="1369504" y="2144942"/>
                  </a:lnTo>
                  <a:lnTo>
                    <a:pt x="1417783" y="2136310"/>
                  </a:lnTo>
                  <a:lnTo>
                    <a:pt x="1465334" y="2125872"/>
                  </a:lnTo>
                  <a:lnTo>
                    <a:pt x="1512113" y="2113667"/>
                  </a:lnTo>
                  <a:lnTo>
                    <a:pt x="1558077" y="2099736"/>
                  </a:lnTo>
                  <a:lnTo>
                    <a:pt x="1603182" y="2084119"/>
                  </a:lnTo>
                  <a:lnTo>
                    <a:pt x="1647382" y="2066858"/>
                  </a:lnTo>
                  <a:lnTo>
                    <a:pt x="1690636" y="2047992"/>
                  </a:lnTo>
                  <a:lnTo>
                    <a:pt x="1732898" y="2027563"/>
                  </a:lnTo>
                  <a:lnTo>
                    <a:pt x="1774125" y="2005610"/>
                  </a:lnTo>
                  <a:lnTo>
                    <a:pt x="1814274" y="1982175"/>
                  </a:lnTo>
                  <a:lnTo>
                    <a:pt x="1853299" y="1957297"/>
                  </a:lnTo>
                  <a:lnTo>
                    <a:pt x="1891157" y="1931017"/>
                  </a:lnTo>
                  <a:lnTo>
                    <a:pt x="1927805" y="1903377"/>
                  </a:lnTo>
                  <a:lnTo>
                    <a:pt x="1963198" y="1874416"/>
                  </a:lnTo>
                  <a:lnTo>
                    <a:pt x="1997292" y="1844174"/>
                  </a:lnTo>
                  <a:lnTo>
                    <a:pt x="2030044" y="1812694"/>
                  </a:lnTo>
                  <a:lnTo>
                    <a:pt x="2061410" y="1780014"/>
                  </a:lnTo>
                  <a:lnTo>
                    <a:pt x="2091345" y="1746176"/>
                  </a:lnTo>
                  <a:lnTo>
                    <a:pt x="2119806" y="1711219"/>
                  </a:lnTo>
                  <a:lnTo>
                    <a:pt x="2146749" y="1675186"/>
                  </a:lnTo>
                  <a:lnTo>
                    <a:pt x="2172131" y="1638115"/>
                  </a:lnTo>
                  <a:lnTo>
                    <a:pt x="2195906" y="1600048"/>
                  </a:lnTo>
                  <a:lnTo>
                    <a:pt x="2218032" y="1561026"/>
                  </a:lnTo>
                  <a:lnTo>
                    <a:pt x="2238464" y="1521088"/>
                  </a:lnTo>
                  <a:lnTo>
                    <a:pt x="2257158" y="1480275"/>
                  </a:lnTo>
                  <a:lnTo>
                    <a:pt x="2274071" y="1438629"/>
                  </a:lnTo>
                  <a:lnTo>
                    <a:pt x="2289159" y="1396188"/>
                  </a:lnTo>
                  <a:lnTo>
                    <a:pt x="2302377" y="1352994"/>
                  </a:lnTo>
                  <a:lnTo>
                    <a:pt x="2313682" y="1309088"/>
                  </a:lnTo>
                  <a:lnTo>
                    <a:pt x="2323030" y="1264510"/>
                  </a:lnTo>
                  <a:lnTo>
                    <a:pt x="2330378" y="1219300"/>
                  </a:lnTo>
                  <a:lnTo>
                    <a:pt x="2335680" y="1173499"/>
                  </a:lnTo>
                  <a:lnTo>
                    <a:pt x="2338894" y="1127148"/>
                  </a:lnTo>
                  <a:lnTo>
                    <a:pt x="2339975" y="1080287"/>
                  </a:lnTo>
                  <a:lnTo>
                    <a:pt x="2338894" y="1033426"/>
                  </a:lnTo>
                  <a:lnTo>
                    <a:pt x="2335680" y="987075"/>
                  </a:lnTo>
                  <a:lnTo>
                    <a:pt x="2330378" y="941274"/>
                  </a:lnTo>
                  <a:lnTo>
                    <a:pt x="2323030" y="896064"/>
                  </a:lnTo>
                  <a:lnTo>
                    <a:pt x="2313682" y="851486"/>
                  </a:lnTo>
                  <a:lnTo>
                    <a:pt x="2302377" y="807580"/>
                  </a:lnTo>
                  <a:lnTo>
                    <a:pt x="2289159" y="764387"/>
                  </a:lnTo>
                  <a:lnTo>
                    <a:pt x="2274071" y="721947"/>
                  </a:lnTo>
                  <a:lnTo>
                    <a:pt x="2257158" y="680300"/>
                  </a:lnTo>
                  <a:lnTo>
                    <a:pt x="2238464" y="639488"/>
                  </a:lnTo>
                  <a:lnTo>
                    <a:pt x="2218032" y="599551"/>
                  </a:lnTo>
                  <a:lnTo>
                    <a:pt x="2195906" y="560528"/>
                  </a:lnTo>
                  <a:lnTo>
                    <a:pt x="2172131" y="522462"/>
                  </a:lnTo>
                  <a:lnTo>
                    <a:pt x="2146749" y="485392"/>
                  </a:lnTo>
                  <a:lnTo>
                    <a:pt x="2119806" y="449359"/>
                  </a:lnTo>
                  <a:lnTo>
                    <a:pt x="2091345" y="414403"/>
                  </a:lnTo>
                  <a:lnTo>
                    <a:pt x="2061410" y="380565"/>
                  </a:lnTo>
                  <a:lnTo>
                    <a:pt x="2030044" y="347886"/>
                  </a:lnTo>
                  <a:lnTo>
                    <a:pt x="1997292" y="316406"/>
                  </a:lnTo>
                  <a:lnTo>
                    <a:pt x="1963198" y="286165"/>
                  </a:lnTo>
                  <a:lnTo>
                    <a:pt x="1927805" y="257204"/>
                  </a:lnTo>
                  <a:lnTo>
                    <a:pt x="1891157" y="229564"/>
                  </a:lnTo>
                  <a:lnTo>
                    <a:pt x="1853299" y="203285"/>
                  </a:lnTo>
                  <a:lnTo>
                    <a:pt x="1814274" y="178408"/>
                  </a:lnTo>
                  <a:lnTo>
                    <a:pt x="1774125" y="154973"/>
                  </a:lnTo>
                  <a:lnTo>
                    <a:pt x="1732898" y="133021"/>
                  </a:lnTo>
                  <a:lnTo>
                    <a:pt x="1690636" y="112592"/>
                  </a:lnTo>
                  <a:lnTo>
                    <a:pt x="1647382" y="93726"/>
                  </a:lnTo>
                  <a:lnTo>
                    <a:pt x="1603182" y="76465"/>
                  </a:lnTo>
                  <a:lnTo>
                    <a:pt x="1558077" y="60849"/>
                  </a:lnTo>
                  <a:lnTo>
                    <a:pt x="1512113" y="46919"/>
                  </a:lnTo>
                  <a:lnTo>
                    <a:pt x="1465334" y="34714"/>
                  </a:lnTo>
                  <a:lnTo>
                    <a:pt x="1417783" y="24276"/>
                  </a:lnTo>
                  <a:lnTo>
                    <a:pt x="1369504" y="15644"/>
                  </a:lnTo>
                  <a:lnTo>
                    <a:pt x="1320541" y="8861"/>
                  </a:lnTo>
                  <a:lnTo>
                    <a:pt x="1270938" y="3965"/>
                  </a:lnTo>
                  <a:lnTo>
                    <a:pt x="1220738" y="998"/>
                  </a:lnTo>
                  <a:lnTo>
                    <a:pt x="1169987" y="0"/>
                  </a:lnTo>
                  <a:close/>
                </a:path>
              </a:pathLst>
            </a:custGeom>
            <a:solidFill>
              <a:srgbClr val="FFFFFF"/>
            </a:solidFill>
          </p:spPr>
          <p:txBody>
            <a:bodyPr wrap="square" lIns="0" tIns="0" rIns="0" bIns="0" rtlCol="0"/>
            <a:lstStyle/>
            <a:p/>
          </p:txBody>
        </p:sp>
        <p:sp>
          <p:nvSpPr>
            <p:cNvPr id="21" name="object 21" descr=""/>
            <p:cNvSpPr/>
            <p:nvPr/>
          </p:nvSpPr>
          <p:spPr>
            <a:xfrm>
              <a:off x="3402012" y="2916962"/>
              <a:ext cx="2339975" cy="2160905"/>
            </a:xfrm>
            <a:custGeom>
              <a:avLst/>
              <a:gdLst/>
              <a:ahLst/>
              <a:cxnLst/>
              <a:rect l="l" t="t" r="r" b="b"/>
              <a:pathLst>
                <a:path w="2339975" h="2160904">
                  <a:moveTo>
                    <a:pt x="0" y="1080287"/>
                  </a:moveTo>
                  <a:lnTo>
                    <a:pt x="1080" y="1033426"/>
                  </a:lnTo>
                  <a:lnTo>
                    <a:pt x="4294" y="987074"/>
                  </a:lnTo>
                  <a:lnTo>
                    <a:pt x="9596" y="941274"/>
                  </a:lnTo>
                  <a:lnTo>
                    <a:pt x="16944" y="896064"/>
                  </a:lnTo>
                  <a:lnTo>
                    <a:pt x="26292" y="851486"/>
                  </a:lnTo>
                  <a:lnTo>
                    <a:pt x="37597" y="807579"/>
                  </a:lnTo>
                  <a:lnTo>
                    <a:pt x="50815" y="764386"/>
                  </a:lnTo>
                  <a:lnTo>
                    <a:pt x="65903" y="721945"/>
                  </a:lnTo>
                  <a:lnTo>
                    <a:pt x="82816" y="680299"/>
                  </a:lnTo>
                  <a:lnTo>
                    <a:pt x="101510" y="639486"/>
                  </a:lnTo>
                  <a:lnTo>
                    <a:pt x="121942" y="599548"/>
                  </a:lnTo>
                  <a:lnTo>
                    <a:pt x="144068" y="560526"/>
                  </a:lnTo>
                  <a:lnTo>
                    <a:pt x="167843" y="522459"/>
                  </a:lnTo>
                  <a:lnTo>
                    <a:pt x="193225" y="485389"/>
                  </a:lnTo>
                  <a:lnTo>
                    <a:pt x="220168" y="449355"/>
                  </a:lnTo>
                  <a:lnTo>
                    <a:pt x="248629" y="414399"/>
                  </a:lnTo>
                  <a:lnTo>
                    <a:pt x="278564" y="380561"/>
                  </a:lnTo>
                  <a:lnTo>
                    <a:pt x="309930" y="347881"/>
                  </a:lnTo>
                  <a:lnTo>
                    <a:pt x="342682" y="316401"/>
                  </a:lnTo>
                  <a:lnTo>
                    <a:pt x="376776" y="286160"/>
                  </a:lnTo>
                  <a:lnTo>
                    <a:pt x="412169" y="257199"/>
                  </a:lnTo>
                  <a:lnTo>
                    <a:pt x="448817" y="229559"/>
                  </a:lnTo>
                  <a:lnTo>
                    <a:pt x="486675" y="203280"/>
                  </a:lnTo>
                  <a:lnTo>
                    <a:pt x="525700" y="178402"/>
                  </a:lnTo>
                  <a:lnTo>
                    <a:pt x="565849" y="154967"/>
                  </a:lnTo>
                  <a:lnTo>
                    <a:pt x="607076" y="133015"/>
                  </a:lnTo>
                  <a:lnTo>
                    <a:pt x="649338" y="112586"/>
                  </a:lnTo>
                  <a:lnTo>
                    <a:pt x="692592" y="93721"/>
                  </a:lnTo>
                  <a:lnTo>
                    <a:pt x="736792" y="76460"/>
                  </a:lnTo>
                  <a:lnTo>
                    <a:pt x="781897" y="60844"/>
                  </a:lnTo>
                  <a:lnTo>
                    <a:pt x="827861" y="46914"/>
                  </a:lnTo>
                  <a:lnTo>
                    <a:pt x="874640" y="34710"/>
                  </a:lnTo>
                  <a:lnTo>
                    <a:pt x="922191" y="24272"/>
                  </a:lnTo>
                  <a:lnTo>
                    <a:pt x="970470" y="15641"/>
                  </a:lnTo>
                  <a:lnTo>
                    <a:pt x="1019433" y="8858"/>
                  </a:lnTo>
                  <a:lnTo>
                    <a:pt x="1069036" y="3963"/>
                  </a:lnTo>
                  <a:lnTo>
                    <a:pt x="1119236" y="997"/>
                  </a:lnTo>
                  <a:lnTo>
                    <a:pt x="1169987" y="0"/>
                  </a:lnTo>
                  <a:lnTo>
                    <a:pt x="1220738" y="998"/>
                  </a:lnTo>
                  <a:lnTo>
                    <a:pt x="1270938" y="3965"/>
                  </a:lnTo>
                  <a:lnTo>
                    <a:pt x="1320541" y="8861"/>
                  </a:lnTo>
                  <a:lnTo>
                    <a:pt x="1369504" y="15644"/>
                  </a:lnTo>
                  <a:lnTo>
                    <a:pt x="1417783" y="24276"/>
                  </a:lnTo>
                  <a:lnTo>
                    <a:pt x="1465334" y="34714"/>
                  </a:lnTo>
                  <a:lnTo>
                    <a:pt x="1512113" y="46919"/>
                  </a:lnTo>
                  <a:lnTo>
                    <a:pt x="1558077" y="60849"/>
                  </a:lnTo>
                  <a:lnTo>
                    <a:pt x="1603182" y="76465"/>
                  </a:lnTo>
                  <a:lnTo>
                    <a:pt x="1647382" y="93726"/>
                  </a:lnTo>
                  <a:lnTo>
                    <a:pt x="1690636" y="112592"/>
                  </a:lnTo>
                  <a:lnTo>
                    <a:pt x="1732898" y="133021"/>
                  </a:lnTo>
                  <a:lnTo>
                    <a:pt x="1774125" y="154973"/>
                  </a:lnTo>
                  <a:lnTo>
                    <a:pt x="1814274" y="178408"/>
                  </a:lnTo>
                  <a:lnTo>
                    <a:pt x="1853299" y="203285"/>
                  </a:lnTo>
                  <a:lnTo>
                    <a:pt x="1891157" y="229564"/>
                  </a:lnTo>
                  <a:lnTo>
                    <a:pt x="1927805" y="257204"/>
                  </a:lnTo>
                  <a:lnTo>
                    <a:pt x="1963198" y="286165"/>
                  </a:lnTo>
                  <a:lnTo>
                    <a:pt x="1997292" y="316406"/>
                  </a:lnTo>
                  <a:lnTo>
                    <a:pt x="2030044" y="347886"/>
                  </a:lnTo>
                  <a:lnTo>
                    <a:pt x="2061410" y="380565"/>
                  </a:lnTo>
                  <a:lnTo>
                    <a:pt x="2091345" y="414403"/>
                  </a:lnTo>
                  <a:lnTo>
                    <a:pt x="2119806" y="449359"/>
                  </a:lnTo>
                  <a:lnTo>
                    <a:pt x="2146749" y="485392"/>
                  </a:lnTo>
                  <a:lnTo>
                    <a:pt x="2172131" y="522462"/>
                  </a:lnTo>
                  <a:lnTo>
                    <a:pt x="2195906" y="560528"/>
                  </a:lnTo>
                  <a:lnTo>
                    <a:pt x="2218032" y="599551"/>
                  </a:lnTo>
                  <a:lnTo>
                    <a:pt x="2238464" y="639488"/>
                  </a:lnTo>
                  <a:lnTo>
                    <a:pt x="2257158" y="680300"/>
                  </a:lnTo>
                  <a:lnTo>
                    <a:pt x="2274071" y="721947"/>
                  </a:lnTo>
                  <a:lnTo>
                    <a:pt x="2289159" y="764387"/>
                  </a:lnTo>
                  <a:lnTo>
                    <a:pt x="2302377" y="807580"/>
                  </a:lnTo>
                  <a:lnTo>
                    <a:pt x="2313682" y="851486"/>
                  </a:lnTo>
                  <a:lnTo>
                    <a:pt x="2323030" y="896064"/>
                  </a:lnTo>
                  <a:lnTo>
                    <a:pt x="2330378" y="941274"/>
                  </a:lnTo>
                  <a:lnTo>
                    <a:pt x="2335680" y="987075"/>
                  </a:lnTo>
                  <a:lnTo>
                    <a:pt x="2338894" y="1033426"/>
                  </a:lnTo>
                  <a:lnTo>
                    <a:pt x="2339975" y="1080287"/>
                  </a:lnTo>
                  <a:lnTo>
                    <a:pt x="2338894" y="1127148"/>
                  </a:lnTo>
                  <a:lnTo>
                    <a:pt x="2335680" y="1173499"/>
                  </a:lnTo>
                  <a:lnTo>
                    <a:pt x="2330378" y="1219300"/>
                  </a:lnTo>
                  <a:lnTo>
                    <a:pt x="2323030" y="1264510"/>
                  </a:lnTo>
                  <a:lnTo>
                    <a:pt x="2313682" y="1309088"/>
                  </a:lnTo>
                  <a:lnTo>
                    <a:pt x="2302377" y="1352994"/>
                  </a:lnTo>
                  <a:lnTo>
                    <a:pt x="2289159" y="1396188"/>
                  </a:lnTo>
                  <a:lnTo>
                    <a:pt x="2274071" y="1438629"/>
                  </a:lnTo>
                  <a:lnTo>
                    <a:pt x="2257158" y="1480275"/>
                  </a:lnTo>
                  <a:lnTo>
                    <a:pt x="2238464" y="1521088"/>
                  </a:lnTo>
                  <a:lnTo>
                    <a:pt x="2218032" y="1561026"/>
                  </a:lnTo>
                  <a:lnTo>
                    <a:pt x="2195906" y="1600048"/>
                  </a:lnTo>
                  <a:lnTo>
                    <a:pt x="2172131" y="1638115"/>
                  </a:lnTo>
                  <a:lnTo>
                    <a:pt x="2146749" y="1675186"/>
                  </a:lnTo>
                  <a:lnTo>
                    <a:pt x="2119806" y="1711219"/>
                  </a:lnTo>
                  <a:lnTo>
                    <a:pt x="2091345" y="1746176"/>
                  </a:lnTo>
                  <a:lnTo>
                    <a:pt x="2061410" y="1780014"/>
                  </a:lnTo>
                  <a:lnTo>
                    <a:pt x="2030044" y="1812694"/>
                  </a:lnTo>
                  <a:lnTo>
                    <a:pt x="1997292" y="1844174"/>
                  </a:lnTo>
                  <a:lnTo>
                    <a:pt x="1963198" y="1874416"/>
                  </a:lnTo>
                  <a:lnTo>
                    <a:pt x="1927805" y="1903377"/>
                  </a:lnTo>
                  <a:lnTo>
                    <a:pt x="1891157" y="1931017"/>
                  </a:lnTo>
                  <a:lnTo>
                    <a:pt x="1853299" y="1957297"/>
                  </a:lnTo>
                  <a:lnTo>
                    <a:pt x="1814274" y="1982175"/>
                  </a:lnTo>
                  <a:lnTo>
                    <a:pt x="1774125" y="2005610"/>
                  </a:lnTo>
                  <a:lnTo>
                    <a:pt x="1732898" y="2027563"/>
                  </a:lnTo>
                  <a:lnTo>
                    <a:pt x="1690636" y="2047992"/>
                  </a:lnTo>
                  <a:lnTo>
                    <a:pt x="1647382" y="2066858"/>
                  </a:lnTo>
                  <a:lnTo>
                    <a:pt x="1603182" y="2084119"/>
                  </a:lnTo>
                  <a:lnTo>
                    <a:pt x="1558077" y="2099736"/>
                  </a:lnTo>
                  <a:lnTo>
                    <a:pt x="1512113" y="2113667"/>
                  </a:lnTo>
                  <a:lnTo>
                    <a:pt x="1465334" y="2125872"/>
                  </a:lnTo>
                  <a:lnTo>
                    <a:pt x="1417783" y="2136310"/>
                  </a:lnTo>
                  <a:lnTo>
                    <a:pt x="1369504" y="2144942"/>
                  </a:lnTo>
                  <a:lnTo>
                    <a:pt x="1320541" y="2151726"/>
                  </a:lnTo>
                  <a:lnTo>
                    <a:pt x="1270938" y="2156622"/>
                  </a:lnTo>
                  <a:lnTo>
                    <a:pt x="1220738" y="2159589"/>
                  </a:lnTo>
                  <a:lnTo>
                    <a:pt x="1169987" y="2160587"/>
                  </a:lnTo>
                  <a:lnTo>
                    <a:pt x="1119236" y="2159589"/>
                  </a:lnTo>
                  <a:lnTo>
                    <a:pt x="1069036" y="2156622"/>
                  </a:lnTo>
                  <a:lnTo>
                    <a:pt x="1019433" y="2151726"/>
                  </a:lnTo>
                  <a:lnTo>
                    <a:pt x="970470" y="2144942"/>
                  </a:lnTo>
                  <a:lnTo>
                    <a:pt x="922191" y="2136310"/>
                  </a:lnTo>
                  <a:lnTo>
                    <a:pt x="874640" y="2125872"/>
                  </a:lnTo>
                  <a:lnTo>
                    <a:pt x="827861" y="2113667"/>
                  </a:lnTo>
                  <a:lnTo>
                    <a:pt x="781897" y="2099736"/>
                  </a:lnTo>
                  <a:lnTo>
                    <a:pt x="736792" y="2084119"/>
                  </a:lnTo>
                  <a:lnTo>
                    <a:pt x="692592" y="2066858"/>
                  </a:lnTo>
                  <a:lnTo>
                    <a:pt x="649338" y="2047992"/>
                  </a:lnTo>
                  <a:lnTo>
                    <a:pt x="607076" y="2027563"/>
                  </a:lnTo>
                  <a:lnTo>
                    <a:pt x="565849" y="2005610"/>
                  </a:lnTo>
                  <a:lnTo>
                    <a:pt x="525700" y="1982175"/>
                  </a:lnTo>
                  <a:lnTo>
                    <a:pt x="486675" y="1957297"/>
                  </a:lnTo>
                  <a:lnTo>
                    <a:pt x="448817" y="1931017"/>
                  </a:lnTo>
                  <a:lnTo>
                    <a:pt x="412169" y="1903377"/>
                  </a:lnTo>
                  <a:lnTo>
                    <a:pt x="376776" y="1874416"/>
                  </a:lnTo>
                  <a:lnTo>
                    <a:pt x="342682" y="1844174"/>
                  </a:lnTo>
                  <a:lnTo>
                    <a:pt x="309930" y="1812694"/>
                  </a:lnTo>
                  <a:lnTo>
                    <a:pt x="278564" y="1780014"/>
                  </a:lnTo>
                  <a:lnTo>
                    <a:pt x="248629" y="1746176"/>
                  </a:lnTo>
                  <a:lnTo>
                    <a:pt x="220168" y="1711219"/>
                  </a:lnTo>
                  <a:lnTo>
                    <a:pt x="193225" y="1675186"/>
                  </a:lnTo>
                  <a:lnTo>
                    <a:pt x="167843" y="1638115"/>
                  </a:lnTo>
                  <a:lnTo>
                    <a:pt x="144068" y="1600048"/>
                  </a:lnTo>
                  <a:lnTo>
                    <a:pt x="121942" y="1561026"/>
                  </a:lnTo>
                  <a:lnTo>
                    <a:pt x="101510" y="1521088"/>
                  </a:lnTo>
                  <a:lnTo>
                    <a:pt x="82816" y="1480275"/>
                  </a:lnTo>
                  <a:lnTo>
                    <a:pt x="65903" y="1438629"/>
                  </a:lnTo>
                  <a:lnTo>
                    <a:pt x="50815" y="1396188"/>
                  </a:lnTo>
                  <a:lnTo>
                    <a:pt x="37597" y="1352994"/>
                  </a:lnTo>
                  <a:lnTo>
                    <a:pt x="26292" y="1309088"/>
                  </a:lnTo>
                  <a:lnTo>
                    <a:pt x="16944" y="1264510"/>
                  </a:lnTo>
                  <a:lnTo>
                    <a:pt x="9596" y="1219300"/>
                  </a:lnTo>
                  <a:lnTo>
                    <a:pt x="4294" y="1173499"/>
                  </a:lnTo>
                  <a:lnTo>
                    <a:pt x="1080" y="1127148"/>
                  </a:lnTo>
                  <a:lnTo>
                    <a:pt x="0" y="1080287"/>
                  </a:lnTo>
                  <a:close/>
                </a:path>
              </a:pathLst>
            </a:custGeom>
            <a:ln w="25400">
              <a:solidFill>
                <a:srgbClr val="89A4A7"/>
              </a:solidFill>
            </a:ln>
          </p:spPr>
          <p:txBody>
            <a:bodyPr wrap="square" lIns="0" tIns="0" rIns="0" bIns="0" rtlCol="0"/>
            <a:lstStyle/>
            <a:p/>
          </p:txBody>
        </p:sp>
      </p:grpSp>
      <p:sp>
        <p:nvSpPr>
          <p:cNvPr id="22" name="object 22" descr=""/>
          <p:cNvSpPr txBox="1"/>
          <p:nvPr/>
        </p:nvSpPr>
        <p:spPr>
          <a:xfrm>
            <a:off x="4204334" y="3018334"/>
            <a:ext cx="735965" cy="452120"/>
          </a:xfrm>
          <a:prstGeom prst="rect">
            <a:avLst/>
          </a:prstGeom>
        </p:spPr>
        <p:txBody>
          <a:bodyPr wrap="square" lIns="0" tIns="12065" rIns="0" bIns="0" rtlCol="0" vert="horz">
            <a:spAutoFit/>
          </a:bodyPr>
          <a:lstStyle/>
          <a:p>
            <a:pPr marL="12700" marR="5080">
              <a:lnSpc>
                <a:spcPct val="100000"/>
              </a:lnSpc>
              <a:spcBef>
                <a:spcPts val="95"/>
              </a:spcBef>
            </a:pPr>
            <a:r>
              <a:rPr dirty="0" sz="1400" spc="-30" b="1">
                <a:latin typeface="Microsoft YaHei"/>
                <a:cs typeface="Microsoft YaHei"/>
              </a:rPr>
              <a:t>智能网联基础设施</a:t>
            </a:r>
            <a:endParaRPr sz="1400">
              <a:latin typeface="Microsoft YaHei"/>
              <a:cs typeface="Microsoft YaHei"/>
            </a:endParaRPr>
          </a:p>
        </p:txBody>
      </p:sp>
      <p:sp>
        <p:nvSpPr>
          <p:cNvPr id="23" name="object 23" descr=""/>
          <p:cNvSpPr txBox="1"/>
          <p:nvPr/>
        </p:nvSpPr>
        <p:spPr>
          <a:xfrm>
            <a:off x="4162434" y="3445154"/>
            <a:ext cx="819785" cy="238760"/>
          </a:xfrm>
          <a:prstGeom prst="rect">
            <a:avLst/>
          </a:prstGeom>
        </p:spPr>
        <p:txBody>
          <a:bodyPr wrap="square" lIns="0" tIns="12065" rIns="0" bIns="0" rtlCol="0" vert="horz">
            <a:spAutoFit/>
          </a:bodyPr>
          <a:lstStyle/>
          <a:p>
            <a:pPr marL="12700">
              <a:lnSpc>
                <a:spcPct val="100000"/>
              </a:lnSpc>
              <a:spcBef>
                <a:spcPts val="95"/>
              </a:spcBef>
            </a:pPr>
            <a:r>
              <a:rPr dirty="0" sz="1400" spc="-10" b="1">
                <a:latin typeface="Microsoft YaHei"/>
                <a:cs typeface="Microsoft YaHei"/>
              </a:rPr>
              <a:t>3000</a:t>
            </a:r>
            <a:r>
              <a:rPr dirty="0" sz="1400" spc="-35" b="1">
                <a:latin typeface="Microsoft YaHei"/>
                <a:cs typeface="Microsoft YaHei"/>
              </a:rPr>
              <a:t>亿元</a:t>
            </a:r>
            <a:endParaRPr sz="1400">
              <a:latin typeface="Microsoft YaHei"/>
              <a:cs typeface="Microsoft YaHei"/>
            </a:endParaRPr>
          </a:p>
        </p:txBody>
      </p:sp>
      <p:grpSp>
        <p:nvGrpSpPr>
          <p:cNvPr id="24" name="object 24" descr=""/>
          <p:cNvGrpSpPr/>
          <p:nvPr/>
        </p:nvGrpSpPr>
        <p:grpSpPr>
          <a:xfrm>
            <a:off x="2693987" y="3783191"/>
            <a:ext cx="3756025" cy="1315085"/>
            <a:chOff x="2693987" y="3783191"/>
            <a:chExt cx="3756025" cy="1315085"/>
          </a:xfrm>
        </p:grpSpPr>
        <p:sp>
          <p:nvSpPr>
            <p:cNvPr id="25" name="object 25" descr=""/>
            <p:cNvSpPr/>
            <p:nvPr/>
          </p:nvSpPr>
          <p:spPr>
            <a:xfrm>
              <a:off x="2698750" y="4339356"/>
              <a:ext cx="3746500" cy="17780"/>
            </a:xfrm>
            <a:custGeom>
              <a:avLst/>
              <a:gdLst/>
              <a:ahLst/>
              <a:cxnLst/>
              <a:rect l="l" t="t" r="r" b="b"/>
              <a:pathLst>
                <a:path w="3746500" h="17779">
                  <a:moveTo>
                    <a:pt x="0" y="0"/>
                  </a:moveTo>
                  <a:lnTo>
                    <a:pt x="3746500" y="17462"/>
                  </a:lnTo>
                </a:path>
              </a:pathLst>
            </a:custGeom>
            <a:ln w="9525">
              <a:solidFill>
                <a:srgbClr val="B6DCDF"/>
              </a:solidFill>
            </a:ln>
          </p:spPr>
          <p:txBody>
            <a:bodyPr wrap="square" lIns="0" tIns="0" rIns="0" bIns="0" rtlCol="0"/>
            <a:lstStyle/>
            <a:p/>
          </p:txBody>
        </p:sp>
        <p:sp>
          <p:nvSpPr>
            <p:cNvPr id="26" name="object 26" descr=""/>
            <p:cNvSpPr/>
            <p:nvPr/>
          </p:nvSpPr>
          <p:spPr>
            <a:xfrm>
              <a:off x="3960832" y="3795891"/>
              <a:ext cx="1331595" cy="1289685"/>
            </a:xfrm>
            <a:custGeom>
              <a:avLst/>
              <a:gdLst/>
              <a:ahLst/>
              <a:cxnLst/>
              <a:rect l="l" t="t" r="r" b="b"/>
              <a:pathLst>
                <a:path w="1331595" h="1289685">
                  <a:moveTo>
                    <a:pt x="665619" y="0"/>
                  </a:moveTo>
                  <a:lnTo>
                    <a:pt x="615943" y="1768"/>
                  </a:lnTo>
                  <a:lnTo>
                    <a:pt x="567258" y="6991"/>
                  </a:lnTo>
                  <a:lnTo>
                    <a:pt x="519694" y="15543"/>
                  </a:lnTo>
                  <a:lnTo>
                    <a:pt x="473378" y="27299"/>
                  </a:lnTo>
                  <a:lnTo>
                    <a:pt x="428441" y="42136"/>
                  </a:lnTo>
                  <a:lnTo>
                    <a:pt x="385010" y="59928"/>
                  </a:lnTo>
                  <a:lnTo>
                    <a:pt x="343213" y="80551"/>
                  </a:lnTo>
                  <a:lnTo>
                    <a:pt x="303181" y="103880"/>
                  </a:lnTo>
                  <a:lnTo>
                    <a:pt x="265041" y="129790"/>
                  </a:lnTo>
                  <a:lnTo>
                    <a:pt x="228923" y="158156"/>
                  </a:lnTo>
                  <a:lnTo>
                    <a:pt x="194954" y="188855"/>
                  </a:lnTo>
                  <a:lnTo>
                    <a:pt x="163264" y="221761"/>
                  </a:lnTo>
                  <a:lnTo>
                    <a:pt x="133981" y="256749"/>
                  </a:lnTo>
                  <a:lnTo>
                    <a:pt x="107234" y="293696"/>
                  </a:lnTo>
                  <a:lnTo>
                    <a:pt x="83152" y="332475"/>
                  </a:lnTo>
                  <a:lnTo>
                    <a:pt x="61863" y="372964"/>
                  </a:lnTo>
                  <a:lnTo>
                    <a:pt x="43497" y="415036"/>
                  </a:lnTo>
                  <a:lnTo>
                    <a:pt x="28181" y="458567"/>
                  </a:lnTo>
                  <a:lnTo>
                    <a:pt x="16045" y="503433"/>
                  </a:lnTo>
                  <a:lnTo>
                    <a:pt x="7216" y="549509"/>
                  </a:lnTo>
                  <a:lnTo>
                    <a:pt x="1825" y="596670"/>
                  </a:lnTo>
                  <a:lnTo>
                    <a:pt x="0" y="644791"/>
                  </a:lnTo>
                  <a:lnTo>
                    <a:pt x="1825" y="692913"/>
                  </a:lnTo>
                  <a:lnTo>
                    <a:pt x="7216" y="740074"/>
                  </a:lnTo>
                  <a:lnTo>
                    <a:pt x="16045" y="786150"/>
                  </a:lnTo>
                  <a:lnTo>
                    <a:pt x="28181" y="831016"/>
                  </a:lnTo>
                  <a:lnTo>
                    <a:pt x="43497" y="874548"/>
                  </a:lnTo>
                  <a:lnTo>
                    <a:pt x="61863" y="916621"/>
                  </a:lnTo>
                  <a:lnTo>
                    <a:pt x="83152" y="957110"/>
                  </a:lnTo>
                  <a:lnTo>
                    <a:pt x="107234" y="995891"/>
                  </a:lnTo>
                  <a:lnTo>
                    <a:pt x="133981" y="1032838"/>
                  </a:lnTo>
                  <a:lnTo>
                    <a:pt x="163264" y="1067827"/>
                  </a:lnTo>
                  <a:lnTo>
                    <a:pt x="194954" y="1100734"/>
                  </a:lnTo>
                  <a:lnTo>
                    <a:pt x="228923" y="1131433"/>
                  </a:lnTo>
                  <a:lnTo>
                    <a:pt x="265041" y="1159801"/>
                  </a:lnTo>
                  <a:lnTo>
                    <a:pt x="303181" y="1185712"/>
                  </a:lnTo>
                  <a:lnTo>
                    <a:pt x="343213" y="1209041"/>
                  </a:lnTo>
                  <a:lnTo>
                    <a:pt x="385010" y="1229665"/>
                  </a:lnTo>
                  <a:lnTo>
                    <a:pt x="428441" y="1247457"/>
                  </a:lnTo>
                  <a:lnTo>
                    <a:pt x="473378" y="1262295"/>
                  </a:lnTo>
                  <a:lnTo>
                    <a:pt x="519694" y="1274052"/>
                  </a:lnTo>
                  <a:lnTo>
                    <a:pt x="567258" y="1282604"/>
                  </a:lnTo>
                  <a:lnTo>
                    <a:pt x="615943" y="1287827"/>
                  </a:lnTo>
                  <a:lnTo>
                    <a:pt x="665619" y="1289596"/>
                  </a:lnTo>
                  <a:lnTo>
                    <a:pt x="715296" y="1287827"/>
                  </a:lnTo>
                  <a:lnTo>
                    <a:pt x="763980" y="1282604"/>
                  </a:lnTo>
                  <a:lnTo>
                    <a:pt x="811545" y="1274052"/>
                  </a:lnTo>
                  <a:lnTo>
                    <a:pt x="857861" y="1262295"/>
                  </a:lnTo>
                  <a:lnTo>
                    <a:pt x="902799" y="1247457"/>
                  </a:lnTo>
                  <a:lnTo>
                    <a:pt x="946231" y="1229665"/>
                  </a:lnTo>
                  <a:lnTo>
                    <a:pt x="988028" y="1209041"/>
                  </a:lnTo>
                  <a:lnTo>
                    <a:pt x="1028061" y="1185712"/>
                  </a:lnTo>
                  <a:lnTo>
                    <a:pt x="1066202" y="1159801"/>
                  </a:lnTo>
                  <a:lnTo>
                    <a:pt x="1102321" y="1131433"/>
                  </a:lnTo>
                  <a:lnTo>
                    <a:pt x="1136291" y="1100734"/>
                  </a:lnTo>
                  <a:lnTo>
                    <a:pt x="1167982" y="1067827"/>
                  </a:lnTo>
                  <a:lnTo>
                    <a:pt x="1197265" y="1032838"/>
                  </a:lnTo>
                  <a:lnTo>
                    <a:pt x="1224013" y="995891"/>
                  </a:lnTo>
                  <a:lnTo>
                    <a:pt x="1248096" y="957110"/>
                  </a:lnTo>
                  <a:lnTo>
                    <a:pt x="1269385" y="916621"/>
                  </a:lnTo>
                  <a:lnTo>
                    <a:pt x="1287753" y="874548"/>
                  </a:lnTo>
                  <a:lnTo>
                    <a:pt x="1303069" y="831016"/>
                  </a:lnTo>
                  <a:lnTo>
                    <a:pt x="1315206" y="786150"/>
                  </a:lnTo>
                  <a:lnTo>
                    <a:pt x="1324034" y="740074"/>
                  </a:lnTo>
                  <a:lnTo>
                    <a:pt x="1329426" y="692913"/>
                  </a:lnTo>
                  <a:lnTo>
                    <a:pt x="1331252" y="644791"/>
                  </a:lnTo>
                  <a:lnTo>
                    <a:pt x="1329426" y="596670"/>
                  </a:lnTo>
                  <a:lnTo>
                    <a:pt x="1324034" y="549509"/>
                  </a:lnTo>
                  <a:lnTo>
                    <a:pt x="1315206" y="503433"/>
                  </a:lnTo>
                  <a:lnTo>
                    <a:pt x="1303069" y="458567"/>
                  </a:lnTo>
                  <a:lnTo>
                    <a:pt x="1287753" y="415036"/>
                  </a:lnTo>
                  <a:lnTo>
                    <a:pt x="1269385" y="372964"/>
                  </a:lnTo>
                  <a:lnTo>
                    <a:pt x="1248096" y="332475"/>
                  </a:lnTo>
                  <a:lnTo>
                    <a:pt x="1224013" y="293696"/>
                  </a:lnTo>
                  <a:lnTo>
                    <a:pt x="1197265" y="256749"/>
                  </a:lnTo>
                  <a:lnTo>
                    <a:pt x="1167982" y="221761"/>
                  </a:lnTo>
                  <a:lnTo>
                    <a:pt x="1136291" y="188855"/>
                  </a:lnTo>
                  <a:lnTo>
                    <a:pt x="1102321" y="158156"/>
                  </a:lnTo>
                  <a:lnTo>
                    <a:pt x="1066202" y="129790"/>
                  </a:lnTo>
                  <a:lnTo>
                    <a:pt x="1028061" y="103880"/>
                  </a:lnTo>
                  <a:lnTo>
                    <a:pt x="988028" y="80551"/>
                  </a:lnTo>
                  <a:lnTo>
                    <a:pt x="946231" y="59928"/>
                  </a:lnTo>
                  <a:lnTo>
                    <a:pt x="902799" y="42136"/>
                  </a:lnTo>
                  <a:lnTo>
                    <a:pt x="857861" y="27299"/>
                  </a:lnTo>
                  <a:lnTo>
                    <a:pt x="811545" y="15543"/>
                  </a:lnTo>
                  <a:lnTo>
                    <a:pt x="763980" y="6991"/>
                  </a:lnTo>
                  <a:lnTo>
                    <a:pt x="715296" y="1768"/>
                  </a:lnTo>
                  <a:lnTo>
                    <a:pt x="665619" y="0"/>
                  </a:lnTo>
                  <a:close/>
                </a:path>
              </a:pathLst>
            </a:custGeom>
            <a:solidFill>
              <a:srgbClr val="FFFFFF"/>
            </a:solidFill>
          </p:spPr>
          <p:txBody>
            <a:bodyPr wrap="square" lIns="0" tIns="0" rIns="0" bIns="0" rtlCol="0"/>
            <a:lstStyle/>
            <a:p/>
          </p:txBody>
        </p:sp>
        <p:sp>
          <p:nvSpPr>
            <p:cNvPr id="27" name="object 27" descr=""/>
            <p:cNvSpPr/>
            <p:nvPr/>
          </p:nvSpPr>
          <p:spPr>
            <a:xfrm>
              <a:off x="3960832" y="3795891"/>
              <a:ext cx="1331595" cy="1289685"/>
            </a:xfrm>
            <a:custGeom>
              <a:avLst/>
              <a:gdLst/>
              <a:ahLst/>
              <a:cxnLst/>
              <a:rect l="l" t="t" r="r" b="b"/>
              <a:pathLst>
                <a:path w="1331595" h="1289685">
                  <a:moveTo>
                    <a:pt x="0" y="644791"/>
                  </a:moveTo>
                  <a:lnTo>
                    <a:pt x="1825" y="596670"/>
                  </a:lnTo>
                  <a:lnTo>
                    <a:pt x="7216" y="549509"/>
                  </a:lnTo>
                  <a:lnTo>
                    <a:pt x="16045" y="503433"/>
                  </a:lnTo>
                  <a:lnTo>
                    <a:pt x="28181" y="458567"/>
                  </a:lnTo>
                  <a:lnTo>
                    <a:pt x="43497" y="415036"/>
                  </a:lnTo>
                  <a:lnTo>
                    <a:pt x="61863" y="372964"/>
                  </a:lnTo>
                  <a:lnTo>
                    <a:pt x="83152" y="332475"/>
                  </a:lnTo>
                  <a:lnTo>
                    <a:pt x="107234" y="293696"/>
                  </a:lnTo>
                  <a:lnTo>
                    <a:pt x="133981" y="256749"/>
                  </a:lnTo>
                  <a:lnTo>
                    <a:pt x="163264" y="221761"/>
                  </a:lnTo>
                  <a:lnTo>
                    <a:pt x="194954" y="188855"/>
                  </a:lnTo>
                  <a:lnTo>
                    <a:pt x="228923" y="158156"/>
                  </a:lnTo>
                  <a:lnTo>
                    <a:pt x="265041" y="129790"/>
                  </a:lnTo>
                  <a:lnTo>
                    <a:pt x="303181" y="103880"/>
                  </a:lnTo>
                  <a:lnTo>
                    <a:pt x="343213" y="80551"/>
                  </a:lnTo>
                  <a:lnTo>
                    <a:pt x="385010" y="59928"/>
                  </a:lnTo>
                  <a:lnTo>
                    <a:pt x="428441" y="42136"/>
                  </a:lnTo>
                  <a:lnTo>
                    <a:pt x="473378" y="27299"/>
                  </a:lnTo>
                  <a:lnTo>
                    <a:pt x="519694" y="15543"/>
                  </a:lnTo>
                  <a:lnTo>
                    <a:pt x="567258" y="6991"/>
                  </a:lnTo>
                  <a:lnTo>
                    <a:pt x="615943" y="1768"/>
                  </a:lnTo>
                  <a:lnTo>
                    <a:pt x="665619" y="0"/>
                  </a:lnTo>
                  <a:lnTo>
                    <a:pt x="715296" y="1768"/>
                  </a:lnTo>
                  <a:lnTo>
                    <a:pt x="763980" y="6991"/>
                  </a:lnTo>
                  <a:lnTo>
                    <a:pt x="811545" y="15543"/>
                  </a:lnTo>
                  <a:lnTo>
                    <a:pt x="857861" y="27299"/>
                  </a:lnTo>
                  <a:lnTo>
                    <a:pt x="902799" y="42136"/>
                  </a:lnTo>
                  <a:lnTo>
                    <a:pt x="946231" y="59928"/>
                  </a:lnTo>
                  <a:lnTo>
                    <a:pt x="988028" y="80551"/>
                  </a:lnTo>
                  <a:lnTo>
                    <a:pt x="1028061" y="103880"/>
                  </a:lnTo>
                  <a:lnTo>
                    <a:pt x="1066202" y="129790"/>
                  </a:lnTo>
                  <a:lnTo>
                    <a:pt x="1102321" y="158156"/>
                  </a:lnTo>
                  <a:lnTo>
                    <a:pt x="1136291" y="188855"/>
                  </a:lnTo>
                  <a:lnTo>
                    <a:pt x="1167982" y="221761"/>
                  </a:lnTo>
                  <a:lnTo>
                    <a:pt x="1197265" y="256749"/>
                  </a:lnTo>
                  <a:lnTo>
                    <a:pt x="1224013" y="293696"/>
                  </a:lnTo>
                  <a:lnTo>
                    <a:pt x="1248096" y="332475"/>
                  </a:lnTo>
                  <a:lnTo>
                    <a:pt x="1269385" y="372964"/>
                  </a:lnTo>
                  <a:lnTo>
                    <a:pt x="1287753" y="415036"/>
                  </a:lnTo>
                  <a:lnTo>
                    <a:pt x="1303069" y="458567"/>
                  </a:lnTo>
                  <a:lnTo>
                    <a:pt x="1315206" y="503433"/>
                  </a:lnTo>
                  <a:lnTo>
                    <a:pt x="1324034" y="549509"/>
                  </a:lnTo>
                  <a:lnTo>
                    <a:pt x="1329426" y="596670"/>
                  </a:lnTo>
                  <a:lnTo>
                    <a:pt x="1331252" y="644791"/>
                  </a:lnTo>
                  <a:lnTo>
                    <a:pt x="1329426" y="692913"/>
                  </a:lnTo>
                  <a:lnTo>
                    <a:pt x="1324034" y="740074"/>
                  </a:lnTo>
                  <a:lnTo>
                    <a:pt x="1315206" y="786150"/>
                  </a:lnTo>
                  <a:lnTo>
                    <a:pt x="1303069" y="831016"/>
                  </a:lnTo>
                  <a:lnTo>
                    <a:pt x="1287753" y="874548"/>
                  </a:lnTo>
                  <a:lnTo>
                    <a:pt x="1269385" y="916621"/>
                  </a:lnTo>
                  <a:lnTo>
                    <a:pt x="1248096" y="957110"/>
                  </a:lnTo>
                  <a:lnTo>
                    <a:pt x="1224013" y="995891"/>
                  </a:lnTo>
                  <a:lnTo>
                    <a:pt x="1197265" y="1032838"/>
                  </a:lnTo>
                  <a:lnTo>
                    <a:pt x="1167982" y="1067827"/>
                  </a:lnTo>
                  <a:lnTo>
                    <a:pt x="1136291" y="1100734"/>
                  </a:lnTo>
                  <a:lnTo>
                    <a:pt x="1102321" y="1131433"/>
                  </a:lnTo>
                  <a:lnTo>
                    <a:pt x="1066202" y="1159801"/>
                  </a:lnTo>
                  <a:lnTo>
                    <a:pt x="1028061" y="1185712"/>
                  </a:lnTo>
                  <a:lnTo>
                    <a:pt x="988028" y="1209041"/>
                  </a:lnTo>
                  <a:lnTo>
                    <a:pt x="946231" y="1229665"/>
                  </a:lnTo>
                  <a:lnTo>
                    <a:pt x="902799" y="1247457"/>
                  </a:lnTo>
                  <a:lnTo>
                    <a:pt x="857861" y="1262295"/>
                  </a:lnTo>
                  <a:lnTo>
                    <a:pt x="811545" y="1274052"/>
                  </a:lnTo>
                  <a:lnTo>
                    <a:pt x="763980" y="1282604"/>
                  </a:lnTo>
                  <a:lnTo>
                    <a:pt x="715296" y="1287827"/>
                  </a:lnTo>
                  <a:lnTo>
                    <a:pt x="665619" y="1289596"/>
                  </a:lnTo>
                  <a:lnTo>
                    <a:pt x="615943" y="1287827"/>
                  </a:lnTo>
                  <a:lnTo>
                    <a:pt x="567258" y="1282604"/>
                  </a:lnTo>
                  <a:lnTo>
                    <a:pt x="519694" y="1274052"/>
                  </a:lnTo>
                  <a:lnTo>
                    <a:pt x="473378" y="1262295"/>
                  </a:lnTo>
                  <a:lnTo>
                    <a:pt x="428441" y="1247457"/>
                  </a:lnTo>
                  <a:lnTo>
                    <a:pt x="385010" y="1229665"/>
                  </a:lnTo>
                  <a:lnTo>
                    <a:pt x="343213" y="1209041"/>
                  </a:lnTo>
                  <a:lnTo>
                    <a:pt x="303181" y="1185712"/>
                  </a:lnTo>
                  <a:lnTo>
                    <a:pt x="265041" y="1159801"/>
                  </a:lnTo>
                  <a:lnTo>
                    <a:pt x="228923" y="1131433"/>
                  </a:lnTo>
                  <a:lnTo>
                    <a:pt x="194954" y="1100734"/>
                  </a:lnTo>
                  <a:lnTo>
                    <a:pt x="163264" y="1067827"/>
                  </a:lnTo>
                  <a:lnTo>
                    <a:pt x="133981" y="1032838"/>
                  </a:lnTo>
                  <a:lnTo>
                    <a:pt x="107234" y="995891"/>
                  </a:lnTo>
                  <a:lnTo>
                    <a:pt x="83152" y="957110"/>
                  </a:lnTo>
                  <a:lnTo>
                    <a:pt x="61863" y="916621"/>
                  </a:lnTo>
                  <a:lnTo>
                    <a:pt x="43497" y="874548"/>
                  </a:lnTo>
                  <a:lnTo>
                    <a:pt x="28181" y="831016"/>
                  </a:lnTo>
                  <a:lnTo>
                    <a:pt x="16045" y="786150"/>
                  </a:lnTo>
                  <a:lnTo>
                    <a:pt x="7216" y="740074"/>
                  </a:lnTo>
                  <a:lnTo>
                    <a:pt x="1825" y="692913"/>
                  </a:lnTo>
                  <a:lnTo>
                    <a:pt x="0" y="644791"/>
                  </a:lnTo>
                  <a:close/>
                </a:path>
              </a:pathLst>
            </a:custGeom>
            <a:ln w="25399">
              <a:solidFill>
                <a:srgbClr val="89A4A7"/>
              </a:solidFill>
            </a:ln>
          </p:spPr>
          <p:txBody>
            <a:bodyPr wrap="square" lIns="0" tIns="0" rIns="0" bIns="0" rtlCol="0"/>
            <a:lstStyle/>
            <a:p/>
          </p:txBody>
        </p:sp>
      </p:grpSp>
      <p:sp>
        <p:nvSpPr>
          <p:cNvPr id="28" name="object 28" descr=""/>
          <p:cNvSpPr txBox="1"/>
          <p:nvPr/>
        </p:nvSpPr>
        <p:spPr>
          <a:xfrm>
            <a:off x="4258599" y="3995165"/>
            <a:ext cx="735965" cy="238760"/>
          </a:xfrm>
          <a:prstGeom prst="rect">
            <a:avLst/>
          </a:prstGeom>
        </p:spPr>
        <p:txBody>
          <a:bodyPr wrap="square" lIns="0" tIns="12065" rIns="0" bIns="0" rtlCol="0" vert="horz">
            <a:spAutoFit/>
          </a:bodyPr>
          <a:lstStyle/>
          <a:p>
            <a:pPr marL="12700">
              <a:lnSpc>
                <a:spcPct val="100000"/>
              </a:lnSpc>
              <a:spcBef>
                <a:spcPts val="95"/>
              </a:spcBef>
            </a:pPr>
            <a:r>
              <a:rPr dirty="0" sz="1400" spc="-30" b="1">
                <a:latin typeface="Microsoft YaHei"/>
                <a:cs typeface="Microsoft YaHei"/>
              </a:rPr>
              <a:t>智能网联</a:t>
            </a:r>
            <a:endParaRPr sz="1400">
              <a:latin typeface="Microsoft YaHei"/>
              <a:cs typeface="Microsoft YaHei"/>
            </a:endParaRPr>
          </a:p>
        </p:txBody>
      </p:sp>
      <p:sp>
        <p:nvSpPr>
          <p:cNvPr id="29" name="object 29" descr=""/>
          <p:cNvSpPr txBox="1"/>
          <p:nvPr/>
        </p:nvSpPr>
        <p:spPr>
          <a:xfrm>
            <a:off x="4436145" y="4208576"/>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b="1">
                <a:latin typeface="Microsoft YaHei"/>
                <a:cs typeface="Microsoft YaHei"/>
              </a:rPr>
              <a:t>终端</a:t>
            </a:r>
            <a:endParaRPr sz="1400">
              <a:latin typeface="Microsoft YaHei"/>
              <a:cs typeface="Microsoft YaHei"/>
            </a:endParaRPr>
          </a:p>
        </p:txBody>
      </p:sp>
      <p:sp>
        <p:nvSpPr>
          <p:cNvPr id="30" name="object 30" descr=""/>
          <p:cNvSpPr txBox="1"/>
          <p:nvPr/>
        </p:nvSpPr>
        <p:spPr>
          <a:xfrm>
            <a:off x="4305116" y="4421986"/>
            <a:ext cx="641985" cy="452120"/>
          </a:xfrm>
          <a:prstGeom prst="rect">
            <a:avLst/>
          </a:prstGeom>
        </p:spPr>
        <p:txBody>
          <a:bodyPr wrap="square" lIns="0" tIns="12065" rIns="0" bIns="0" rtlCol="0" vert="horz">
            <a:spAutoFit/>
          </a:bodyPr>
          <a:lstStyle/>
          <a:p>
            <a:pPr algn="ctr">
              <a:lnSpc>
                <a:spcPct val="100000"/>
              </a:lnSpc>
              <a:spcBef>
                <a:spcPts val="95"/>
              </a:spcBef>
            </a:pPr>
            <a:r>
              <a:rPr dirty="0" sz="1400" spc="-10" b="1">
                <a:latin typeface="Microsoft YaHei"/>
                <a:cs typeface="Microsoft YaHei"/>
              </a:rPr>
              <a:t>1500</a:t>
            </a:r>
            <a:r>
              <a:rPr dirty="0" sz="1400" spc="-50" b="1">
                <a:latin typeface="Microsoft YaHei"/>
                <a:cs typeface="Microsoft YaHei"/>
              </a:rPr>
              <a:t>亿</a:t>
            </a:r>
            <a:endParaRPr sz="1400">
              <a:latin typeface="Microsoft YaHei"/>
              <a:cs typeface="Microsoft YaHei"/>
            </a:endParaRPr>
          </a:p>
          <a:p>
            <a:pPr algn="ctr">
              <a:lnSpc>
                <a:spcPct val="100000"/>
              </a:lnSpc>
            </a:pPr>
            <a:r>
              <a:rPr dirty="0" sz="1400" spc="-50" b="1">
                <a:latin typeface="Microsoft YaHei"/>
                <a:cs typeface="Microsoft YaHei"/>
              </a:rPr>
              <a:t>元</a:t>
            </a:r>
            <a:endParaRPr sz="1400">
              <a:latin typeface="Microsoft YaHei"/>
              <a:cs typeface="Microsoft YaHei"/>
            </a:endParaRPr>
          </a:p>
        </p:txBody>
      </p:sp>
      <p:sp>
        <p:nvSpPr>
          <p:cNvPr id="31" name="object 31" descr=""/>
          <p:cNvSpPr txBox="1"/>
          <p:nvPr/>
        </p:nvSpPr>
        <p:spPr>
          <a:xfrm>
            <a:off x="581977" y="767588"/>
            <a:ext cx="7932420" cy="574040"/>
          </a:xfrm>
          <a:prstGeom prst="rect">
            <a:avLst/>
          </a:prstGeom>
        </p:spPr>
        <p:txBody>
          <a:bodyPr wrap="square" lIns="0" tIns="12700" rIns="0" bIns="0" rtlCol="0" vert="horz">
            <a:spAutoFit/>
          </a:bodyPr>
          <a:lstStyle/>
          <a:p>
            <a:pPr marL="12700" marR="5080">
              <a:lnSpc>
                <a:spcPct val="100000"/>
              </a:lnSpc>
              <a:spcBef>
                <a:spcPts val="100"/>
              </a:spcBef>
            </a:pPr>
            <a:r>
              <a:rPr dirty="0" sz="1800">
                <a:solidFill>
                  <a:srgbClr val="C00000"/>
                </a:solidFill>
                <a:latin typeface="Microsoft YaHei"/>
                <a:cs typeface="Microsoft YaHei"/>
              </a:rPr>
              <a:t>智能网联业务范畴分3</a:t>
            </a:r>
            <a:r>
              <a:rPr dirty="0" sz="1800" spc="-5">
                <a:solidFill>
                  <a:srgbClr val="C00000"/>
                </a:solidFill>
                <a:latin typeface="Microsoft YaHei"/>
                <a:cs typeface="Microsoft YaHei"/>
              </a:rPr>
              <a:t>部分：终端，基础设施、网络平台和网络应用。终端市场规模过千亿，整体市场规模超万亿。</a:t>
            </a:r>
            <a:endParaRPr sz="1800">
              <a:latin typeface="Microsoft YaHei"/>
              <a:cs typeface="Microsoft YaHe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32102" y="175439"/>
            <a:ext cx="6936105" cy="513080"/>
          </a:xfrm>
          <a:prstGeom prst="rect"/>
        </p:spPr>
        <p:txBody>
          <a:bodyPr wrap="square" lIns="0" tIns="12065" rIns="0" bIns="0" rtlCol="0" vert="horz">
            <a:spAutoFit/>
          </a:bodyPr>
          <a:lstStyle/>
          <a:p>
            <a:pPr marL="12700">
              <a:lnSpc>
                <a:spcPct val="100000"/>
              </a:lnSpc>
              <a:spcBef>
                <a:spcPts val="95"/>
              </a:spcBef>
            </a:pPr>
            <a:r>
              <a:rPr dirty="0" spc="-45"/>
              <a:t>智能网联汽车是网联化与智能化的结合</a:t>
            </a:r>
          </a:p>
        </p:txBody>
      </p:sp>
      <p:sp>
        <p:nvSpPr>
          <p:cNvPr id="3" name="object 3" descr=""/>
          <p:cNvSpPr txBox="1"/>
          <p:nvPr/>
        </p:nvSpPr>
        <p:spPr>
          <a:xfrm>
            <a:off x="558916" y="800254"/>
            <a:ext cx="8010525" cy="857885"/>
          </a:xfrm>
          <a:prstGeom prst="rect">
            <a:avLst/>
          </a:prstGeom>
        </p:spPr>
        <p:txBody>
          <a:bodyPr wrap="square" lIns="0" tIns="12700" rIns="0" bIns="0" rtlCol="0" vert="horz">
            <a:spAutoFit/>
          </a:bodyPr>
          <a:lstStyle/>
          <a:p>
            <a:pPr marL="355600" marR="5080" indent="-342900">
              <a:lnSpc>
                <a:spcPct val="130000"/>
              </a:lnSpc>
              <a:spcBef>
                <a:spcPts val="100"/>
              </a:spcBef>
              <a:buFont typeface="Wingdings"/>
              <a:buChar char=""/>
              <a:tabLst>
                <a:tab pos="355600" algn="l"/>
              </a:tabLst>
            </a:pPr>
            <a:r>
              <a:rPr dirty="0" sz="1400" spc="-25">
                <a:latin typeface="Microsoft YaHei"/>
                <a:cs typeface="Microsoft YaHei"/>
              </a:rPr>
              <a:t>智能网联汽车是指搭载先进的车载传感器、控制器、执行器等装置，并融合现代通信与网络技术，</a:t>
            </a:r>
            <a:r>
              <a:rPr dirty="0" sz="1400" spc="15">
                <a:latin typeface="Microsoft YaHei"/>
                <a:cs typeface="Microsoft YaHei"/>
              </a:rPr>
              <a:t>实现车与 </a:t>
            </a:r>
            <a:r>
              <a:rPr dirty="0" sz="1400" spc="-10">
                <a:latin typeface="Microsoft YaHei"/>
                <a:cs typeface="Microsoft YaHei"/>
              </a:rPr>
              <a:t>X（</a:t>
            </a:r>
            <a:r>
              <a:rPr dirty="0" sz="1400" spc="-20">
                <a:latin typeface="Microsoft YaHei"/>
                <a:cs typeface="Microsoft YaHei"/>
              </a:rPr>
              <a:t>人、车、路、云端等）</a:t>
            </a:r>
            <a:r>
              <a:rPr dirty="0" sz="1400" spc="-25">
                <a:latin typeface="Microsoft YaHei"/>
                <a:cs typeface="Microsoft YaHei"/>
              </a:rPr>
              <a:t>智能信息交换、共享，具备复杂环境感知、智能决策、协同</a:t>
            </a:r>
            <a:r>
              <a:rPr dirty="0" sz="1400" spc="500">
                <a:latin typeface="Microsoft YaHei"/>
                <a:cs typeface="Microsoft YaHei"/>
              </a:rPr>
              <a:t> </a:t>
            </a:r>
            <a:r>
              <a:rPr dirty="0" sz="1400" spc="-25">
                <a:latin typeface="Microsoft YaHei"/>
                <a:cs typeface="Microsoft YaHei"/>
              </a:rPr>
              <a:t>控制等功能，可实现“安全、高效、舒适、节能”行驶，并最终可实现替代人操作的新一代汽车。</a:t>
            </a:r>
            <a:endParaRPr sz="1400">
              <a:latin typeface="Microsoft YaHei"/>
              <a:cs typeface="Microsoft YaHei"/>
            </a:endParaRPr>
          </a:p>
        </p:txBody>
      </p:sp>
      <p:grpSp>
        <p:nvGrpSpPr>
          <p:cNvPr id="4" name="object 4" descr=""/>
          <p:cNvGrpSpPr/>
          <p:nvPr/>
        </p:nvGrpSpPr>
        <p:grpSpPr>
          <a:xfrm>
            <a:off x="531051" y="1839048"/>
            <a:ext cx="3825240" cy="2092325"/>
            <a:chOff x="531051" y="1839048"/>
            <a:chExt cx="3825240" cy="2092325"/>
          </a:xfrm>
        </p:grpSpPr>
        <p:pic>
          <p:nvPicPr>
            <p:cNvPr id="5" name="object 5" descr=""/>
            <p:cNvPicPr/>
            <p:nvPr/>
          </p:nvPicPr>
          <p:blipFill>
            <a:blip r:embed="rId2" cstate="print"/>
            <a:stretch>
              <a:fillRect/>
            </a:stretch>
          </p:blipFill>
          <p:spPr>
            <a:xfrm>
              <a:off x="531051" y="1839048"/>
              <a:ext cx="3824922" cy="2092020"/>
            </a:xfrm>
            <a:prstGeom prst="rect">
              <a:avLst/>
            </a:prstGeom>
          </p:spPr>
        </p:pic>
        <p:pic>
          <p:nvPicPr>
            <p:cNvPr id="6" name="object 6"/>
            <p:cNvPicPr/>
            <p:nvPr/>
          </p:nvPicPr>
          <p:blipFill>
            <a:blip r:embed="rId3" cstate="print"/>
            <a:stretch>
              <a:fillRect/>
            </a:stretch>
          </p:blipFill>
          <p:spPr>
            <a:xfrm>
              <a:off x="1885383" y="2534894"/>
              <a:ext cx="1422661" cy="673880"/>
            </a:xfrm>
            <a:prstGeom prst="rect">
              <a:avLst/>
            </a:prstGeom>
          </p:spPr>
        </p:pic>
      </p:grpSp>
      <p:sp>
        <p:nvSpPr>
          <p:cNvPr id="7" name="object 7" descr=""/>
          <p:cNvSpPr/>
          <p:nvPr/>
        </p:nvSpPr>
        <p:spPr>
          <a:xfrm>
            <a:off x="1872843" y="4218901"/>
            <a:ext cx="379095" cy="182245"/>
          </a:xfrm>
          <a:custGeom>
            <a:avLst/>
            <a:gdLst/>
            <a:ahLst/>
            <a:cxnLst/>
            <a:rect l="l" t="t" r="r" b="b"/>
            <a:pathLst>
              <a:path w="379094" h="182245">
                <a:moveTo>
                  <a:pt x="378777" y="0"/>
                </a:moveTo>
                <a:lnTo>
                  <a:pt x="0" y="0"/>
                </a:lnTo>
                <a:lnTo>
                  <a:pt x="0" y="181914"/>
                </a:lnTo>
                <a:lnTo>
                  <a:pt x="378777" y="181914"/>
                </a:lnTo>
                <a:lnTo>
                  <a:pt x="378777" y="0"/>
                </a:lnTo>
                <a:close/>
              </a:path>
            </a:pathLst>
          </a:custGeom>
          <a:solidFill>
            <a:srgbClr val="FFFF00"/>
          </a:solidFill>
        </p:spPr>
        <p:txBody>
          <a:bodyPr wrap="square" lIns="0" tIns="0" rIns="0" bIns="0" rtlCol="0"/>
          <a:lstStyle/>
          <a:p/>
        </p:txBody>
      </p:sp>
      <p:sp>
        <p:nvSpPr>
          <p:cNvPr id="8" name="object 8" descr=""/>
          <p:cNvSpPr txBox="1"/>
          <p:nvPr/>
        </p:nvSpPr>
        <p:spPr>
          <a:xfrm>
            <a:off x="2274101" y="4005569"/>
            <a:ext cx="715010" cy="390525"/>
          </a:xfrm>
          <a:prstGeom prst="rect">
            <a:avLst/>
          </a:prstGeom>
        </p:spPr>
        <p:txBody>
          <a:bodyPr wrap="square" lIns="0" tIns="12700" rIns="0" bIns="0" rtlCol="0" vert="horz">
            <a:spAutoFit/>
          </a:bodyPr>
          <a:lstStyle/>
          <a:p>
            <a:pPr marL="12700">
              <a:lnSpc>
                <a:spcPct val="100000"/>
              </a:lnSpc>
              <a:spcBef>
                <a:spcPts val="100"/>
              </a:spcBef>
            </a:pPr>
            <a:r>
              <a:rPr dirty="0" sz="900" spc="-10">
                <a:latin typeface="Microsoft YaHei"/>
                <a:cs typeface="Microsoft YaHei"/>
              </a:rPr>
              <a:t>毫米波雷达</a:t>
            </a:r>
            <a:endParaRPr sz="900">
              <a:latin typeface="Microsoft YaHei"/>
              <a:cs typeface="Microsoft YaHei"/>
            </a:endParaRPr>
          </a:p>
          <a:p>
            <a:pPr marL="15875">
              <a:lnSpc>
                <a:spcPct val="100000"/>
              </a:lnSpc>
              <a:spcBef>
                <a:spcPts val="710"/>
              </a:spcBef>
            </a:pPr>
            <a:r>
              <a:rPr dirty="0" sz="900" spc="-10">
                <a:latin typeface="Microsoft YaHei"/>
                <a:cs typeface="Microsoft YaHei"/>
              </a:rPr>
              <a:t>超声波传感器</a:t>
            </a:r>
            <a:endParaRPr sz="900">
              <a:latin typeface="Microsoft YaHei"/>
              <a:cs typeface="Microsoft YaHei"/>
            </a:endParaRPr>
          </a:p>
        </p:txBody>
      </p:sp>
      <p:sp>
        <p:nvSpPr>
          <p:cNvPr id="9" name="object 9" descr=""/>
          <p:cNvSpPr/>
          <p:nvPr/>
        </p:nvSpPr>
        <p:spPr>
          <a:xfrm>
            <a:off x="1876513" y="3991508"/>
            <a:ext cx="383540" cy="182245"/>
          </a:xfrm>
          <a:custGeom>
            <a:avLst/>
            <a:gdLst/>
            <a:ahLst/>
            <a:cxnLst/>
            <a:rect l="l" t="t" r="r" b="b"/>
            <a:pathLst>
              <a:path w="383539" h="182245">
                <a:moveTo>
                  <a:pt x="383247" y="0"/>
                </a:moveTo>
                <a:lnTo>
                  <a:pt x="0" y="0"/>
                </a:lnTo>
                <a:lnTo>
                  <a:pt x="0" y="181914"/>
                </a:lnTo>
                <a:lnTo>
                  <a:pt x="383247" y="181914"/>
                </a:lnTo>
                <a:lnTo>
                  <a:pt x="383247" y="0"/>
                </a:lnTo>
                <a:close/>
              </a:path>
            </a:pathLst>
          </a:custGeom>
          <a:solidFill>
            <a:srgbClr val="DADADA"/>
          </a:solidFill>
        </p:spPr>
        <p:txBody>
          <a:bodyPr wrap="square" lIns="0" tIns="0" rIns="0" bIns="0" rtlCol="0"/>
          <a:lstStyle/>
          <a:p/>
        </p:txBody>
      </p:sp>
      <p:sp>
        <p:nvSpPr>
          <p:cNvPr id="10" name="object 10" descr=""/>
          <p:cNvSpPr/>
          <p:nvPr/>
        </p:nvSpPr>
        <p:spPr>
          <a:xfrm>
            <a:off x="3046069" y="3978541"/>
            <a:ext cx="383540" cy="182245"/>
          </a:xfrm>
          <a:custGeom>
            <a:avLst/>
            <a:gdLst/>
            <a:ahLst/>
            <a:cxnLst/>
            <a:rect l="l" t="t" r="r" b="b"/>
            <a:pathLst>
              <a:path w="383539" h="182245">
                <a:moveTo>
                  <a:pt x="383247" y="0"/>
                </a:moveTo>
                <a:lnTo>
                  <a:pt x="0" y="0"/>
                </a:lnTo>
                <a:lnTo>
                  <a:pt x="0" y="181914"/>
                </a:lnTo>
                <a:lnTo>
                  <a:pt x="383247" y="181914"/>
                </a:lnTo>
                <a:lnTo>
                  <a:pt x="383247" y="0"/>
                </a:lnTo>
                <a:close/>
              </a:path>
            </a:pathLst>
          </a:custGeom>
          <a:solidFill>
            <a:srgbClr val="00A1D8"/>
          </a:solidFill>
        </p:spPr>
        <p:txBody>
          <a:bodyPr wrap="square" lIns="0" tIns="0" rIns="0" bIns="0" rtlCol="0"/>
          <a:lstStyle/>
          <a:p/>
        </p:txBody>
      </p:sp>
      <p:sp>
        <p:nvSpPr>
          <p:cNvPr id="11" name="object 11" descr=""/>
          <p:cNvSpPr txBox="1"/>
          <p:nvPr/>
        </p:nvSpPr>
        <p:spPr>
          <a:xfrm>
            <a:off x="3455529" y="3980723"/>
            <a:ext cx="596900" cy="162560"/>
          </a:xfrm>
          <a:prstGeom prst="rect">
            <a:avLst/>
          </a:prstGeom>
        </p:spPr>
        <p:txBody>
          <a:bodyPr wrap="square" lIns="0" tIns="12700" rIns="0" bIns="0" rtlCol="0" vert="horz">
            <a:spAutoFit/>
          </a:bodyPr>
          <a:lstStyle/>
          <a:p>
            <a:pPr marL="12700">
              <a:lnSpc>
                <a:spcPct val="100000"/>
              </a:lnSpc>
              <a:spcBef>
                <a:spcPts val="100"/>
              </a:spcBef>
            </a:pPr>
            <a:r>
              <a:rPr dirty="0" sz="900" spc="-10">
                <a:latin typeface="Microsoft YaHei"/>
                <a:cs typeface="Microsoft YaHei"/>
              </a:rPr>
              <a:t>图像传感器</a:t>
            </a:r>
            <a:endParaRPr sz="900">
              <a:latin typeface="Microsoft YaHei"/>
              <a:cs typeface="Microsoft YaHei"/>
            </a:endParaRPr>
          </a:p>
        </p:txBody>
      </p:sp>
      <p:sp>
        <p:nvSpPr>
          <p:cNvPr id="12" name="object 12" descr=""/>
          <p:cNvSpPr/>
          <p:nvPr/>
        </p:nvSpPr>
        <p:spPr>
          <a:xfrm>
            <a:off x="816228" y="3991508"/>
            <a:ext cx="383540" cy="182245"/>
          </a:xfrm>
          <a:custGeom>
            <a:avLst/>
            <a:gdLst/>
            <a:ahLst/>
            <a:cxnLst/>
            <a:rect l="l" t="t" r="r" b="b"/>
            <a:pathLst>
              <a:path w="383540" h="182245">
                <a:moveTo>
                  <a:pt x="383247" y="0"/>
                </a:moveTo>
                <a:lnTo>
                  <a:pt x="0" y="0"/>
                </a:lnTo>
                <a:lnTo>
                  <a:pt x="0" y="181914"/>
                </a:lnTo>
                <a:lnTo>
                  <a:pt x="383247" y="181914"/>
                </a:lnTo>
                <a:lnTo>
                  <a:pt x="383247" y="0"/>
                </a:lnTo>
                <a:close/>
              </a:path>
            </a:pathLst>
          </a:custGeom>
          <a:solidFill>
            <a:srgbClr val="FFC000"/>
          </a:solidFill>
        </p:spPr>
        <p:txBody>
          <a:bodyPr wrap="square" lIns="0" tIns="0" rIns="0" bIns="0" rtlCol="0"/>
          <a:lstStyle/>
          <a:p/>
        </p:txBody>
      </p:sp>
      <p:sp>
        <p:nvSpPr>
          <p:cNvPr id="13" name="object 13" descr=""/>
          <p:cNvSpPr txBox="1"/>
          <p:nvPr/>
        </p:nvSpPr>
        <p:spPr>
          <a:xfrm>
            <a:off x="1213813" y="4005569"/>
            <a:ext cx="495300" cy="390525"/>
          </a:xfrm>
          <a:prstGeom prst="rect">
            <a:avLst/>
          </a:prstGeom>
        </p:spPr>
        <p:txBody>
          <a:bodyPr wrap="square" lIns="0" tIns="12700" rIns="0" bIns="0" rtlCol="0" vert="horz">
            <a:spAutoFit/>
          </a:bodyPr>
          <a:lstStyle/>
          <a:p>
            <a:pPr marL="12700">
              <a:lnSpc>
                <a:spcPct val="100000"/>
              </a:lnSpc>
              <a:spcBef>
                <a:spcPts val="100"/>
              </a:spcBef>
            </a:pPr>
            <a:r>
              <a:rPr dirty="0" sz="900" spc="-10">
                <a:latin typeface="Microsoft YaHei"/>
                <a:cs typeface="Microsoft YaHei"/>
              </a:rPr>
              <a:t>V2X</a:t>
            </a:r>
            <a:r>
              <a:rPr dirty="0" sz="900" spc="-25">
                <a:latin typeface="Microsoft YaHei"/>
                <a:cs typeface="Microsoft YaHei"/>
              </a:rPr>
              <a:t>网联</a:t>
            </a:r>
            <a:endParaRPr sz="900">
              <a:latin typeface="Microsoft YaHei"/>
              <a:cs typeface="Microsoft YaHei"/>
            </a:endParaRPr>
          </a:p>
          <a:p>
            <a:pPr marL="24765">
              <a:lnSpc>
                <a:spcPct val="100000"/>
              </a:lnSpc>
              <a:spcBef>
                <a:spcPts val="710"/>
              </a:spcBef>
            </a:pPr>
            <a:r>
              <a:rPr dirty="0" sz="900" spc="-15">
                <a:latin typeface="Microsoft YaHei"/>
                <a:cs typeface="Microsoft YaHei"/>
              </a:rPr>
              <a:t>激光雷达</a:t>
            </a:r>
            <a:endParaRPr sz="900">
              <a:latin typeface="Microsoft YaHei"/>
              <a:cs typeface="Microsoft YaHei"/>
            </a:endParaRPr>
          </a:p>
        </p:txBody>
      </p:sp>
      <p:sp>
        <p:nvSpPr>
          <p:cNvPr id="14" name="object 14" descr=""/>
          <p:cNvSpPr/>
          <p:nvPr/>
        </p:nvSpPr>
        <p:spPr>
          <a:xfrm>
            <a:off x="816724" y="4218901"/>
            <a:ext cx="383540" cy="182245"/>
          </a:xfrm>
          <a:custGeom>
            <a:avLst/>
            <a:gdLst/>
            <a:ahLst/>
            <a:cxnLst/>
            <a:rect l="l" t="t" r="r" b="b"/>
            <a:pathLst>
              <a:path w="383540" h="182245">
                <a:moveTo>
                  <a:pt x="383247" y="0"/>
                </a:moveTo>
                <a:lnTo>
                  <a:pt x="0" y="0"/>
                </a:lnTo>
                <a:lnTo>
                  <a:pt x="0" y="181914"/>
                </a:lnTo>
                <a:lnTo>
                  <a:pt x="383247" y="181914"/>
                </a:lnTo>
                <a:lnTo>
                  <a:pt x="383247" y="0"/>
                </a:lnTo>
                <a:close/>
              </a:path>
            </a:pathLst>
          </a:custGeom>
          <a:solidFill>
            <a:srgbClr val="747474"/>
          </a:solidFill>
        </p:spPr>
        <p:txBody>
          <a:bodyPr wrap="square" lIns="0" tIns="0" rIns="0" bIns="0" rtlCol="0"/>
          <a:lstStyle/>
          <a:p/>
        </p:txBody>
      </p:sp>
      <p:sp>
        <p:nvSpPr>
          <p:cNvPr id="15" name="object 15" descr=""/>
          <p:cNvSpPr txBox="1"/>
          <p:nvPr/>
        </p:nvSpPr>
        <p:spPr>
          <a:xfrm>
            <a:off x="905606" y="4611867"/>
            <a:ext cx="3075940" cy="269875"/>
          </a:xfrm>
          <a:prstGeom prst="rect">
            <a:avLst/>
          </a:prstGeom>
        </p:spPr>
        <p:txBody>
          <a:bodyPr wrap="square" lIns="0" tIns="12700" rIns="0" bIns="0" rtlCol="0" vert="horz">
            <a:spAutoFit/>
          </a:bodyPr>
          <a:lstStyle/>
          <a:p>
            <a:pPr marL="12700">
              <a:lnSpc>
                <a:spcPct val="100000"/>
              </a:lnSpc>
              <a:spcBef>
                <a:spcPts val="100"/>
              </a:spcBef>
            </a:pPr>
            <a:r>
              <a:rPr dirty="0" sz="1600" spc="-15" b="1">
                <a:solidFill>
                  <a:srgbClr val="C00000"/>
                </a:solidFill>
                <a:latin typeface="Microsoft YaHei"/>
                <a:cs typeface="Microsoft YaHei"/>
              </a:rPr>
              <a:t>网联化是实现自动驾驶的必要条件</a:t>
            </a:r>
            <a:endParaRPr sz="1600">
              <a:latin typeface="Microsoft YaHei"/>
              <a:cs typeface="Microsoft YaHei"/>
            </a:endParaRPr>
          </a:p>
        </p:txBody>
      </p:sp>
      <p:sp>
        <p:nvSpPr>
          <p:cNvPr id="16" name="object 16" descr=""/>
          <p:cNvSpPr txBox="1"/>
          <p:nvPr/>
        </p:nvSpPr>
        <p:spPr>
          <a:xfrm>
            <a:off x="1617933" y="1979176"/>
            <a:ext cx="1678939" cy="224154"/>
          </a:xfrm>
          <a:prstGeom prst="rect">
            <a:avLst/>
          </a:prstGeom>
        </p:spPr>
        <p:txBody>
          <a:bodyPr wrap="square" lIns="0" tIns="12700" rIns="0" bIns="0" rtlCol="0" vert="horz">
            <a:spAutoFit/>
          </a:bodyPr>
          <a:lstStyle/>
          <a:p>
            <a:pPr marL="12700">
              <a:lnSpc>
                <a:spcPct val="100000"/>
              </a:lnSpc>
              <a:spcBef>
                <a:spcPts val="100"/>
              </a:spcBef>
            </a:pPr>
            <a:r>
              <a:rPr dirty="0" sz="1300" spc="-5" b="1">
                <a:solidFill>
                  <a:srgbClr val="3E3E3E"/>
                </a:solidFill>
                <a:latin typeface="Microsoft YaHei"/>
                <a:cs typeface="Microsoft YaHei"/>
              </a:rPr>
              <a:t>各项技术感知范围比较</a:t>
            </a:r>
            <a:endParaRPr sz="1300">
              <a:latin typeface="Microsoft YaHei"/>
              <a:cs typeface="Microsoft YaHei"/>
            </a:endParaRPr>
          </a:p>
        </p:txBody>
      </p:sp>
      <p:sp>
        <p:nvSpPr>
          <p:cNvPr id="17" name="object 17" descr=""/>
          <p:cNvSpPr txBox="1"/>
          <p:nvPr/>
        </p:nvSpPr>
        <p:spPr>
          <a:xfrm>
            <a:off x="4536757" y="1876983"/>
            <a:ext cx="4032250" cy="2916555"/>
          </a:xfrm>
          <a:prstGeom prst="rect">
            <a:avLst/>
          </a:prstGeom>
          <a:solidFill>
            <a:srgbClr val="F2F2F2"/>
          </a:solidFill>
        </p:spPr>
        <p:txBody>
          <a:bodyPr wrap="square" lIns="0" tIns="88265" rIns="0" bIns="0" rtlCol="0" vert="horz">
            <a:spAutoFit/>
          </a:bodyPr>
          <a:lstStyle/>
          <a:p>
            <a:pPr marL="469265" marR="180340" indent="-342900">
              <a:lnSpc>
                <a:spcPct val="130000"/>
              </a:lnSpc>
              <a:spcBef>
                <a:spcPts val="695"/>
              </a:spcBef>
              <a:buFont typeface="Wingdings"/>
              <a:buChar char=""/>
              <a:tabLst>
                <a:tab pos="469265" algn="l"/>
              </a:tabLst>
            </a:pPr>
            <a:r>
              <a:rPr dirty="0" sz="1400" spc="-25">
                <a:latin typeface="Microsoft YaHei"/>
                <a:cs typeface="Microsoft YaHei"/>
              </a:rPr>
              <a:t>单车智能是通过在车辆搭载图像、毫米波雷达、激光雷达等传感器设备，实现部分</a:t>
            </a:r>
            <a:r>
              <a:rPr dirty="0" sz="1400" spc="-50">
                <a:latin typeface="Microsoft YaHei"/>
                <a:cs typeface="Microsoft YaHei"/>
              </a:rPr>
              <a:t> </a:t>
            </a:r>
            <a:r>
              <a:rPr dirty="0" sz="1400" spc="-25">
                <a:latin typeface="Microsoft YaHei"/>
                <a:cs typeface="Microsoft YaHei"/>
              </a:rPr>
              <a:t>ADAS功能；但存在成本、识别局限性等劣</a:t>
            </a:r>
            <a:r>
              <a:rPr dirty="0" sz="1400" spc="-50">
                <a:latin typeface="Microsoft YaHei"/>
                <a:cs typeface="Microsoft YaHei"/>
              </a:rPr>
              <a:t>势</a:t>
            </a:r>
            <a:endParaRPr sz="1400">
              <a:latin typeface="Microsoft YaHei"/>
              <a:cs typeface="Microsoft YaHei"/>
            </a:endParaRPr>
          </a:p>
          <a:p>
            <a:pPr algn="just" marL="469265" marR="180340" indent="-342900">
              <a:lnSpc>
                <a:spcPct val="130000"/>
              </a:lnSpc>
              <a:buFont typeface="Wingdings"/>
              <a:buChar char=""/>
              <a:tabLst>
                <a:tab pos="469265" algn="l"/>
              </a:tabLst>
            </a:pPr>
            <a:r>
              <a:rPr dirty="0" sz="1400" spc="-20">
                <a:latin typeface="Microsoft YaHei"/>
                <a:cs typeface="Microsoft YaHei"/>
              </a:rPr>
              <a:t>智能网联是利用无线通信协议V2X</a:t>
            </a:r>
            <a:r>
              <a:rPr dirty="0" sz="1400" spc="-30">
                <a:latin typeface="Microsoft YaHei"/>
                <a:cs typeface="Microsoft YaHei"/>
              </a:rPr>
              <a:t>，可感知</a:t>
            </a:r>
            <a:r>
              <a:rPr dirty="0" sz="1400" spc="-25">
                <a:latin typeface="Microsoft YaHei"/>
                <a:cs typeface="Microsoft YaHei"/>
              </a:rPr>
              <a:t>实时路况、道路信息等，从而辅助车辆进行决策和控制等功能；优势包括：</a:t>
            </a:r>
            <a:endParaRPr sz="1400">
              <a:latin typeface="Microsoft YaHei"/>
              <a:cs typeface="Microsoft YaHei"/>
            </a:endParaRPr>
          </a:p>
          <a:p>
            <a:pPr lvl="1" marL="702310" indent="-215265">
              <a:lnSpc>
                <a:spcPct val="100000"/>
              </a:lnSpc>
              <a:spcBef>
                <a:spcPts val="475"/>
              </a:spcBef>
              <a:buFont typeface="Arial MT"/>
              <a:buChar char="•"/>
              <a:tabLst>
                <a:tab pos="702310" algn="l"/>
              </a:tabLst>
            </a:pPr>
            <a:r>
              <a:rPr dirty="0" sz="1200" spc="-10">
                <a:latin typeface="Microsoft YaHei"/>
                <a:cs typeface="Microsoft YaHei"/>
              </a:rPr>
              <a:t>感知范围大幅增加</a:t>
            </a:r>
            <a:endParaRPr sz="1200">
              <a:latin typeface="Microsoft YaHei"/>
              <a:cs typeface="Microsoft YaHei"/>
            </a:endParaRPr>
          </a:p>
          <a:p>
            <a:pPr lvl="1" marL="702310" indent="-215265">
              <a:lnSpc>
                <a:spcPct val="100000"/>
              </a:lnSpc>
              <a:spcBef>
                <a:spcPts val="430"/>
              </a:spcBef>
              <a:buFont typeface="Arial MT"/>
              <a:buChar char="•"/>
              <a:tabLst>
                <a:tab pos="702310" algn="l"/>
              </a:tabLst>
            </a:pPr>
            <a:r>
              <a:rPr dirty="0" sz="1200" spc="-5">
                <a:latin typeface="Microsoft YaHei"/>
                <a:cs typeface="Microsoft YaHei"/>
              </a:rPr>
              <a:t>感知信息更加丰富，可与智能交通系统深度融合</a:t>
            </a:r>
            <a:endParaRPr sz="1200">
              <a:latin typeface="Microsoft YaHei"/>
              <a:cs typeface="Microsoft YaHei"/>
            </a:endParaRPr>
          </a:p>
          <a:p>
            <a:pPr lvl="1" marL="702310" indent="-215265">
              <a:lnSpc>
                <a:spcPct val="100000"/>
              </a:lnSpc>
              <a:spcBef>
                <a:spcPts val="430"/>
              </a:spcBef>
              <a:buFont typeface="Arial MT"/>
              <a:buChar char="•"/>
              <a:tabLst>
                <a:tab pos="702310" algn="l"/>
              </a:tabLst>
            </a:pPr>
            <a:r>
              <a:rPr dirty="0" sz="1200" spc="-15">
                <a:latin typeface="Microsoft YaHei"/>
                <a:cs typeface="Microsoft YaHei"/>
              </a:rPr>
              <a:t>成本较低</a:t>
            </a:r>
            <a:endParaRPr sz="1200">
              <a:latin typeface="Microsoft YaHei"/>
              <a:cs typeface="Microsoft YaHe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3938597" y="714071"/>
            <a:ext cx="917575" cy="918844"/>
            <a:chOff x="3938597" y="714071"/>
            <a:chExt cx="917575" cy="918844"/>
          </a:xfrm>
        </p:grpSpPr>
        <p:sp>
          <p:nvSpPr>
            <p:cNvPr id="3" name="object 3" descr=""/>
            <p:cNvSpPr/>
            <p:nvPr/>
          </p:nvSpPr>
          <p:spPr>
            <a:xfrm>
              <a:off x="3970347" y="745821"/>
              <a:ext cx="854075" cy="855344"/>
            </a:xfrm>
            <a:custGeom>
              <a:avLst/>
              <a:gdLst/>
              <a:ahLst/>
              <a:cxnLst/>
              <a:rect l="l" t="t" r="r" b="b"/>
              <a:pathLst>
                <a:path w="854075" h="855344">
                  <a:moveTo>
                    <a:pt x="426834" y="0"/>
                  </a:moveTo>
                  <a:lnTo>
                    <a:pt x="380325" y="2508"/>
                  </a:lnTo>
                  <a:lnTo>
                    <a:pt x="335267" y="9858"/>
                  </a:lnTo>
                  <a:lnTo>
                    <a:pt x="291920" y="21790"/>
                  </a:lnTo>
                  <a:lnTo>
                    <a:pt x="250544" y="38043"/>
                  </a:lnTo>
                  <a:lnTo>
                    <a:pt x="211401" y="58356"/>
                  </a:lnTo>
                  <a:lnTo>
                    <a:pt x="174750" y="82468"/>
                  </a:lnTo>
                  <a:lnTo>
                    <a:pt x="140851" y="110119"/>
                  </a:lnTo>
                  <a:lnTo>
                    <a:pt x="109965" y="141048"/>
                  </a:lnTo>
                  <a:lnTo>
                    <a:pt x="82353" y="174994"/>
                  </a:lnTo>
                  <a:lnTo>
                    <a:pt x="58274" y="211696"/>
                  </a:lnTo>
                  <a:lnTo>
                    <a:pt x="37990" y="250895"/>
                  </a:lnTo>
                  <a:lnTo>
                    <a:pt x="21759" y="292328"/>
                  </a:lnTo>
                  <a:lnTo>
                    <a:pt x="9844" y="335736"/>
                  </a:lnTo>
                  <a:lnTo>
                    <a:pt x="2504" y="380857"/>
                  </a:lnTo>
                  <a:lnTo>
                    <a:pt x="0" y="427431"/>
                  </a:lnTo>
                  <a:lnTo>
                    <a:pt x="2504" y="474005"/>
                  </a:lnTo>
                  <a:lnTo>
                    <a:pt x="9844" y="519126"/>
                  </a:lnTo>
                  <a:lnTo>
                    <a:pt x="21759" y="562534"/>
                  </a:lnTo>
                  <a:lnTo>
                    <a:pt x="37990" y="603967"/>
                  </a:lnTo>
                  <a:lnTo>
                    <a:pt x="58274" y="643165"/>
                  </a:lnTo>
                  <a:lnTo>
                    <a:pt x="82353" y="679868"/>
                  </a:lnTo>
                  <a:lnTo>
                    <a:pt x="109965" y="713814"/>
                  </a:lnTo>
                  <a:lnTo>
                    <a:pt x="140851" y="744743"/>
                  </a:lnTo>
                  <a:lnTo>
                    <a:pt x="174750" y="772394"/>
                  </a:lnTo>
                  <a:lnTo>
                    <a:pt x="211401" y="796506"/>
                  </a:lnTo>
                  <a:lnTo>
                    <a:pt x="250544" y="816819"/>
                  </a:lnTo>
                  <a:lnTo>
                    <a:pt x="291920" y="833072"/>
                  </a:lnTo>
                  <a:lnTo>
                    <a:pt x="335267" y="845003"/>
                  </a:lnTo>
                  <a:lnTo>
                    <a:pt x="380325" y="852354"/>
                  </a:lnTo>
                  <a:lnTo>
                    <a:pt x="426834" y="854862"/>
                  </a:lnTo>
                  <a:lnTo>
                    <a:pt x="473343" y="852354"/>
                  </a:lnTo>
                  <a:lnTo>
                    <a:pt x="518401" y="845003"/>
                  </a:lnTo>
                  <a:lnTo>
                    <a:pt x="561749" y="833072"/>
                  </a:lnTo>
                  <a:lnTo>
                    <a:pt x="603125" y="816819"/>
                  </a:lnTo>
                  <a:lnTo>
                    <a:pt x="642270" y="796506"/>
                  </a:lnTo>
                  <a:lnTo>
                    <a:pt x="678923" y="772394"/>
                  </a:lnTo>
                  <a:lnTo>
                    <a:pt x="712822" y="744743"/>
                  </a:lnTo>
                  <a:lnTo>
                    <a:pt x="743709" y="713814"/>
                  </a:lnTo>
                  <a:lnTo>
                    <a:pt x="771323" y="679868"/>
                  </a:lnTo>
                  <a:lnTo>
                    <a:pt x="795403" y="643165"/>
                  </a:lnTo>
                  <a:lnTo>
                    <a:pt x="815688" y="603967"/>
                  </a:lnTo>
                  <a:lnTo>
                    <a:pt x="831920" y="562534"/>
                  </a:lnTo>
                  <a:lnTo>
                    <a:pt x="843836" y="519126"/>
                  </a:lnTo>
                  <a:lnTo>
                    <a:pt x="851176" y="474005"/>
                  </a:lnTo>
                  <a:lnTo>
                    <a:pt x="853681" y="427431"/>
                  </a:lnTo>
                  <a:lnTo>
                    <a:pt x="851176" y="380857"/>
                  </a:lnTo>
                  <a:lnTo>
                    <a:pt x="843836" y="335736"/>
                  </a:lnTo>
                  <a:lnTo>
                    <a:pt x="831920" y="292328"/>
                  </a:lnTo>
                  <a:lnTo>
                    <a:pt x="815688" y="250895"/>
                  </a:lnTo>
                  <a:lnTo>
                    <a:pt x="795403" y="211696"/>
                  </a:lnTo>
                  <a:lnTo>
                    <a:pt x="771323" y="174994"/>
                  </a:lnTo>
                  <a:lnTo>
                    <a:pt x="743709" y="141048"/>
                  </a:lnTo>
                  <a:lnTo>
                    <a:pt x="712822" y="110119"/>
                  </a:lnTo>
                  <a:lnTo>
                    <a:pt x="678923" y="82468"/>
                  </a:lnTo>
                  <a:lnTo>
                    <a:pt x="642270" y="58356"/>
                  </a:lnTo>
                  <a:lnTo>
                    <a:pt x="603125" y="38043"/>
                  </a:lnTo>
                  <a:lnTo>
                    <a:pt x="561749" y="21790"/>
                  </a:lnTo>
                  <a:lnTo>
                    <a:pt x="518401" y="9858"/>
                  </a:lnTo>
                  <a:lnTo>
                    <a:pt x="473343" y="2508"/>
                  </a:lnTo>
                  <a:lnTo>
                    <a:pt x="426834" y="0"/>
                  </a:lnTo>
                  <a:close/>
                </a:path>
              </a:pathLst>
            </a:custGeom>
            <a:solidFill>
              <a:srgbClr val="FFFFFF"/>
            </a:solidFill>
          </p:spPr>
          <p:txBody>
            <a:bodyPr wrap="square" lIns="0" tIns="0" rIns="0" bIns="0" rtlCol="0"/>
            <a:lstStyle/>
            <a:p/>
          </p:txBody>
        </p:sp>
        <p:sp>
          <p:nvSpPr>
            <p:cNvPr id="4" name="object 4" descr=""/>
            <p:cNvSpPr/>
            <p:nvPr/>
          </p:nvSpPr>
          <p:spPr>
            <a:xfrm>
              <a:off x="3970347" y="745821"/>
              <a:ext cx="854075" cy="855344"/>
            </a:xfrm>
            <a:custGeom>
              <a:avLst/>
              <a:gdLst/>
              <a:ahLst/>
              <a:cxnLst/>
              <a:rect l="l" t="t" r="r" b="b"/>
              <a:pathLst>
                <a:path w="854075" h="855344">
                  <a:moveTo>
                    <a:pt x="0" y="427431"/>
                  </a:moveTo>
                  <a:lnTo>
                    <a:pt x="2504" y="380857"/>
                  </a:lnTo>
                  <a:lnTo>
                    <a:pt x="9844" y="335736"/>
                  </a:lnTo>
                  <a:lnTo>
                    <a:pt x="21759" y="292328"/>
                  </a:lnTo>
                  <a:lnTo>
                    <a:pt x="37990" y="250895"/>
                  </a:lnTo>
                  <a:lnTo>
                    <a:pt x="58274" y="211696"/>
                  </a:lnTo>
                  <a:lnTo>
                    <a:pt x="82353" y="174994"/>
                  </a:lnTo>
                  <a:lnTo>
                    <a:pt x="109965" y="141048"/>
                  </a:lnTo>
                  <a:lnTo>
                    <a:pt x="140851" y="110119"/>
                  </a:lnTo>
                  <a:lnTo>
                    <a:pt x="174750" y="82468"/>
                  </a:lnTo>
                  <a:lnTo>
                    <a:pt x="211401" y="58356"/>
                  </a:lnTo>
                  <a:lnTo>
                    <a:pt x="250544" y="38043"/>
                  </a:lnTo>
                  <a:lnTo>
                    <a:pt x="291920" y="21790"/>
                  </a:lnTo>
                  <a:lnTo>
                    <a:pt x="335267" y="9858"/>
                  </a:lnTo>
                  <a:lnTo>
                    <a:pt x="380325" y="2508"/>
                  </a:lnTo>
                  <a:lnTo>
                    <a:pt x="426834" y="0"/>
                  </a:lnTo>
                  <a:lnTo>
                    <a:pt x="473343" y="2508"/>
                  </a:lnTo>
                  <a:lnTo>
                    <a:pt x="518401" y="9858"/>
                  </a:lnTo>
                  <a:lnTo>
                    <a:pt x="561749" y="21790"/>
                  </a:lnTo>
                  <a:lnTo>
                    <a:pt x="603125" y="38043"/>
                  </a:lnTo>
                  <a:lnTo>
                    <a:pt x="642270" y="58356"/>
                  </a:lnTo>
                  <a:lnTo>
                    <a:pt x="678923" y="82468"/>
                  </a:lnTo>
                  <a:lnTo>
                    <a:pt x="712822" y="110119"/>
                  </a:lnTo>
                  <a:lnTo>
                    <a:pt x="743709" y="141048"/>
                  </a:lnTo>
                  <a:lnTo>
                    <a:pt x="771323" y="174994"/>
                  </a:lnTo>
                  <a:lnTo>
                    <a:pt x="795403" y="211696"/>
                  </a:lnTo>
                  <a:lnTo>
                    <a:pt x="815688" y="250895"/>
                  </a:lnTo>
                  <a:lnTo>
                    <a:pt x="831920" y="292328"/>
                  </a:lnTo>
                  <a:lnTo>
                    <a:pt x="843836" y="335736"/>
                  </a:lnTo>
                  <a:lnTo>
                    <a:pt x="851176" y="380857"/>
                  </a:lnTo>
                  <a:lnTo>
                    <a:pt x="853681" y="427431"/>
                  </a:lnTo>
                  <a:lnTo>
                    <a:pt x="851176" y="474005"/>
                  </a:lnTo>
                  <a:lnTo>
                    <a:pt x="843836" y="519126"/>
                  </a:lnTo>
                  <a:lnTo>
                    <a:pt x="831920" y="562534"/>
                  </a:lnTo>
                  <a:lnTo>
                    <a:pt x="815688" y="603967"/>
                  </a:lnTo>
                  <a:lnTo>
                    <a:pt x="795403" y="643165"/>
                  </a:lnTo>
                  <a:lnTo>
                    <a:pt x="771323" y="679868"/>
                  </a:lnTo>
                  <a:lnTo>
                    <a:pt x="743709" y="713814"/>
                  </a:lnTo>
                  <a:lnTo>
                    <a:pt x="712822" y="744743"/>
                  </a:lnTo>
                  <a:lnTo>
                    <a:pt x="678923" y="772394"/>
                  </a:lnTo>
                  <a:lnTo>
                    <a:pt x="642270" y="796506"/>
                  </a:lnTo>
                  <a:lnTo>
                    <a:pt x="603125" y="816819"/>
                  </a:lnTo>
                  <a:lnTo>
                    <a:pt x="561749" y="833072"/>
                  </a:lnTo>
                  <a:lnTo>
                    <a:pt x="518401" y="845003"/>
                  </a:lnTo>
                  <a:lnTo>
                    <a:pt x="473343" y="852354"/>
                  </a:lnTo>
                  <a:lnTo>
                    <a:pt x="426834" y="854862"/>
                  </a:lnTo>
                  <a:lnTo>
                    <a:pt x="380325" y="852354"/>
                  </a:lnTo>
                  <a:lnTo>
                    <a:pt x="335267" y="845003"/>
                  </a:lnTo>
                  <a:lnTo>
                    <a:pt x="291920" y="833072"/>
                  </a:lnTo>
                  <a:lnTo>
                    <a:pt x="250544" y="816819"/>
                  </a:lnTo>
                  <a:lnTo>
                    <a:pt x="211401" y="796506"/>
                  </a:lnTo>
                  <a:lnTo>
                    <a:pt x="174750" y="772394"/>
                  </a:lnTo>
                  <a:lnTo>
                    <a:pt x="140851" y="744743"/>
                  </a:lnTo>
                  <a:lnTo>
                    <a:pt x="109965" y="713814"/>
                  </a:lnTo>
                  <a:lnTo>
                    <a:pt x="82353" y="679868"/>
                  </a:lnTo>
                  <a:lnTo>
                    <a:pt x="58274" y="643165"/>
                  </a:lnTo>
                  <a:lnTo>
                    <a:pt x="37990" y="603967"/>
                  </a:lnTo>
                  <a:lnTo>
                    <a:pt x="21759" y="562534"/>
                  </a:lnTo>
                  <a:lnTo>
                    <a:pt x="9844" y="519126"/>
                  </a:lnTo>
                  <a:lnTo>
                    <a:pt x="2504" y="474005"/>
                  </a:lnTo>
                  <a:lnTo>
                    <a:pt x="0" y="427431"/>
                  </a:lnTo>
                  <a:close/>
                </a:path>
              </a:pathLst>
            </a:custGeom>
            <a:ln w="63500">
              <a:solidFill>
                <a:srgbClr val="C00000"/>
              </a:solidFill>
            </a:ln>
          </p:spPr>
          <p:txBody>
            <a:bodyPr wrap="square" lIns="0" tIns="0" rIns="0" bIns="0" rtlCol="0"/>
            <a:lstStyle/>
            <a:p/>
          </p:txBody>
        </p:sp>
      </p:grpSp>
      <p:sp>
        <p:nvSpPr>
          <p:cNvPr id="5" name="object 5" descr=""/>
          <p:cNvSpPr txBox="1"/>
          <p:nvPr/>
        </p:nvSpPr>
        <p:spPr>
          <a:xfrm>
            <a:off x="4156012" y="877850"/>
            <a:ext cx="482600" cy="574040"/>
          </a:xfrm>
          <a:prstGeom prst="rect">
            <a:avLst/>
          </a:prstGeom>
        </p:spPr>
        <p:txBody>
          <a:bodyPr wrap="square" lIns="0" tIns="12700" rIns="0" bIns="0" rtlCol="0" vert="horz">
            <a:spAutoFit/>
          </a:bodyPr>
          <a:lstStyle/>
          <a:p>
            <a:pPr marL="12700" marR="5080">
              <a:lnSpc>
                <a:spcPct val="100000"/>
              </a:lnSpc>
              <a:spcBef>
                <a:spcPts val="100"/>
              </a:spcBef>
            </a:pPr>
            <a:r>
              <a:rPr dirty="0" sz="1800" spc="-25">
                <a:solidFill>
                  <a:srgbClr val="C00000"/>
                </a:solidFill>
                <a:latin typeface="Microsoft YaHei"/>
                <a:cs typeface="Microsoft YaHei"/>
              </a:rPr>
              <a:t>无人驾驶</a:t>
            </a:r>
            <a:endParaRPr sz="1800">
              <a:latin typeface="Microsoft YaHei"/>
              <a:cs typeface="Microsoft YaHei"/>
            </a:endParaRPr>
          </a:p>
        </p:txBody>
      </p:sp>
      <p:grpSp>
        <p:nvGrpSpPr>
          <p:cNvPr id="6" name="object 6" descr=""/>
          <p:cNvGrpSpPr/>
          <p:nvPr/>
        </p:nvGrpSpPr>
        <p:grpSpPr>
          <a:xfrm>
            <a:off x="1477220" y="1095340"/>
            <a:ext cx="2458085" cy="3495675"/>
            <a:chOff x="1477220" y="1095340"/>
            <a:chExt cx="2458085" cy="3495675"/>
          </a:xfrm>
        </p:grpSpPr>
        <p:sp>
          <p:nvSpPr>
            <p:cNvPr id="7" name="object 7" descr=""/>
            <p:cNvSpPr/>
            <p:nvPr/>
          </p:nvSpPr>
          <p:spPr>
            <a:xfrm>
              <a:off x="1477220" y="1095340"/>
              <a:ext cx="2458085" cy="3495675"/>
            </a:xfrm>
            <a:custGeom>
              <a:avLst/>
              <a:gdLst/>
              <a:ahLst/>
              <a:cxnLst/>
              <a:rect l="l" t="t" r="r" b="b"/>
              <a:pathLst>
                <a:path w="2458085" h="3495675">
                  <a:moveTo>
                    <a:pt x="2438311" y="0"/>
                  </a:moveTo>
                  <a:lnTo>
                    <a:pt x="2146414" y="91897"/>
                  </a:lnTo>
                  <a:lnTo>
                    <a:pt x="2225903" y="146431"/>
                  </a:lnTo>
                  <a:lnTo>
                    <a:pt x="0" y="3390900"/>
                  </a:lnTo>
                  <a:lnTo>
                    <a:pt x="152234" y="3495344"/>
                  </a:lnTo>
                  <a:lnTo>
                    <a:pt x="2378138" y="250875"/>
                  </a:lnTo>
                  <a:lnTo>
                    <a:pt x="2457640" y="305409"/>
                  </a:lnTo>
                  <a:lnTo>
                    <a:pt x="2438311" y="0"/>
                  </a:lnTo>
                  <a:close/>
                </a:path>
              </a:pathLst>
            </a:custGeom>
            <a:solidFill>
              <a:srgbClr val="D5134F"/>
            </a:solidFill>
          </p:spPr>
          <p:txBody>
            <a:bodyPr wrap="square" lIns="0" tIns="0" rIns="0" bIns="0" rtlCol="0"/>
            <a:lstStyle/>
            <a:p/>
          </p:txBody>
        </p:sp>
        <p:pic>
          <p:nvPicPr>
            <p:cNvPr id="8" name="object 8" descr=""/>
            <p:cNvPicPr/>
            <p:nvPr/>
          </p:nvPicPr>
          <p:blipFill>
            <a:blip r:embed="rId2" cstate="print"/>
            <a:stretch>
              <a:fillRect/>
            </a:stretch>
          </p:blipFill>
          <p:spPr>
            <a:xfrm>
              <a:off x="2085163" y="3633857"/>
              <a:ext cx="103855" cy="104778"/>
            </a:xfrm>
            <a:prstGeom prst="rect">
              <a:avLst/>
            </a:prstGeom>
          </p:spPr>
        </p:pic>
        <p:pic>
          <p:nvPicPr>
            <p:cNvPr id="9" name="object 9" descr=""/>
            <p:cNvPicPr/>
            <p:nvPr/>
          </p:nvPicPr>
          <p:blipFill>
            <a:blip r:embed="rId3" cstate="print"/>
            <a:stretch>
              <a:fillRect/>
            </a:stretch>
          </p:blipFill>
          <p:spPr>
            <a:xfrm>
              <a:off x="2449561" y="3102711"/>
              <a:ext cx="103855" cy="104778"/>
            </a:xfrm>
            <a:prstGeom prst="rect">
              <a:avLst/>
            </a:prstGeom>
          </p:spPr>
        </p:pic>
        <p:pic>
          <p:nvPicPr>
            <p:cNvPr id="10" name="object 10" descr=""/>
            <p:cNvPicPr/>
            <p:nvPr/>
          </p:nvPicPr>
          <p:blipFill>
            <a:blip r:embed="rId4" cstate="print"/>
            <a:stretch>
              <a:fillRect/>
            </a:stretch>
          </p:blipFill>
          <p:spPr>
            <a:xfrm>
              <a:off x="2813285" y="2571571"/>
              <a:ext cx="104528" cy="105756"/>
            </a:xfrm>
            <a:prstGeom prst="rect">
              <a:avLst/>
            </a:prstGeom>
          </p:spPr>
        </p:pic>
        <p:pic>
          <p:nvPicPr>
            <p:cNvPr id="11" name="object 11" descr=""/>
            <p:cNvPicPr/>
            <p:nvPr/>
          </p:nvPicPr>
          <p:blipFill>
            <a:blip r:embed="rId5" cstate="print"/>
            <a:stretch>
              <a:fillRect/>
            </a:stretch>
          </p:blipFill>
          <p:spPr>
            <a:xfrm>
              <a:off x="3177684" y="2041405"/>
              <a:ext cx="103855" cy="104778"/>
            </a:xfrm>
            <a:prstGeom prst="rect">
              <a:avLst/>
            </a:prstGeom>
          </p:spPr>
        </p:pic>
        <p:pic>
          <p:nvPicPr>
            <p:cNvPr id="12" name="object 12" descr=""/>
            <p:cNvPicPr/>
            <p:nvPr/>
          </p:nvPicPr>
          <p:blipFill>
            <a:blip r:embed="rId6" cstate="print"/>
            <a:stretch>
              <a:fillRect/>
            </a:stretch>
          </p:blipFill>
          <p:spPr>
            <a:xfrm>
              <a:off x="3542081" y="1510258"/>
              <a:ext cx="103855" cy="104778"/>
            </a:xfrm>
            <a:prstGeom prst="rect">
              <a:avLst/>
            </a:prstGeom>
          </p:spPr>
        </p:pic>
        <p:pic>
          <p:nvPicPr>
            <p:cNvPr id="13" name="object 13" descr=""/>
            <p:cNvPicPr/>
            <p:nvPr/>
          </p:nvPicPr>
          <p:blipFill>
            <a:blip r:embed="rId7" cstate="print"/>
            <a:stretch>
              <a:fillRect/>
            </a:stretch>
          </p:blipFill>
          <p:spPr>
            <a:xfrm>
              <a:off x="1728175" y="4153226"/>
              <a:ext cx="104528" cy="105756"/>
            </a:xfrm>
            <a:prstGeom prst="rect">
              <a:avLst/>
            </a:prstGeom>
          </p:spPr>
        </p:pic>
      </p:grpSp>
      <p:sp>
        <p:nvSpPr>
          <p:cNvPr id="14" name="object 14" descr=""/>
          <p:cNvSpPr txBox="1"/>
          <p:nvPr/>
        </p:nvSpPr>
        <p:spPr>
          <a:xfrm>
            <a:off x="1222057" y="2198004"/>
            <a:ext cx="1492250" cy="445134"/>
          </a:xfrm>
          <a:prstGeom prst="rect">
            <a:avLst/>
          </a:prstGeom>
        </p:spPr>
        <p:txBody>
          <a:bodyPr wrap="square" lIns="0" tIns="12700" rIns="0" bIns="0" rtlCol="0" vert="horz">
            <a:spAutoFit/>
          </a:bodyPr>
          <a:lstStyle/>
          <a:p>
            <a:pPr marL="791845">
              <a:lnSpc>
                <a:spcPct val="100000"/>
              </a:lnSpc>
              <a:spcBef>
                <a:spcPts val="100"/>
              </a:spcBef>
            </a:pPr>
            <a:r>
              <a:rPr dirty="0" sz="1000" spc="-10" b="1">
                <a:solidFill>
                  <a:srgbClr val="F1618E"/>
                </a:solidFill>
                <a:latin typeface="Microsoft YaHei"/>
                <a:cs typeface="Microsoft YaHei"/>
              </a:rPr>
              <a:t>MEC+V2X</a:t>
            </a:r>
            <a:endParaRPr sz="1000">
              <a:latin typeface="Microsoft YaHei"/>
              <a:cs typeface="Microsoft YaHei"/>
            </a:endParaRPr>
          </a:p>
          <a:p>
            <a:pPr marL="12700">
              <a:lnSpc>
                <a:spcPct val="100000"/>
              </a:lnSpc>
              <a:spcBef>
                <a:spcPts val="840"/>
              </a:spcBef>
            </a:pPr>
            <a:r>
              <a:rPr dirty="0" sz="1050" spc="-5">
                <a:solidFill>
                  <a:srgbClr val="595958"/>
                </a:solidFill>
                <a:latin typeface="Microsoft YaHei"/>
                <a:cs typeface="Microsoft YaHei"/>
              </a:rPr>
              <a:t>安全可控与车辆数据分析</a:t>
            </a:r>
            <a:endParaRPr sz="1050">
              <a:latin typeface="Microsoft YaHei"/>
              <a:cs typeface="Microsoft YaHei"/>
            </a:endParaRPr>
          </a:p>
        </p:txBody>
      </p:sp>
      <p:sp>
        <p:nvSpPr>
          <p:cNvPr id="15" name="object 15" descr=""/>
          <p:cNvSpPr txBox="1"/>
          <p:nvPr/>
        </p:nvSpPr>
        <p:spPr>
          <a:xfrm>
            <a:off x="1890540" y="1249961"/>
            <a:ext cx="1358900" cy="443230"/>
          </a:xfrm>
          <a:prstGeom prst="rect">
            <a:avLst/>
          </a:prstGeom>
        </p:spPr>
        <p:txBody>
          <a:bodyPr wrap="square" lIns="0" tIns="12700" rIns="0" bIns="0" rtlCol="0" vert="horz">
            <a:spAutoFit/>
          </a:bodyPr>
          <a:lstStyle/>
          <a:p>
            <a:pPr marL="901065">
              <a:lnSpc>
                <a:spcPct val="100000"/>
              </a:lnSpc>
              <a:spcBef>
                <a:spcPts val="100"/>
              </a:spcBef>
            </a:pPr>
            <a:r>
              <a:rPr dirty="0" sz="1000" b="1">
                <a:solidFill>
                  <a:srgbClr val="F1618E"/>
                </a:solidFill>
                <a:latin typeface="Microsoft YaHei"/>
                <a:cs typeface="Microsoft YaHei"/>
              </a:rPr>
              <a:t>5G</a:t>
            </a:r>
            <a:r>
              <a:rPr dirty="0" sz="1000" spc="-20" b="1">
                <a:solidFill>
                  <a:srgbClr val="F1618E"/>
                </a:solidFill>
                <a:latin typeface="Microsoft YaHei"/>
                <a:cs typeface="Microsoft YaHei"/>
              </a:rPr>
              <a:t> </a:t>
            </a:r>
            <a:r>
              <a:rPr dirty="0" sz="1000" spc="-25" b="1">
                <a:solidFill>
                  <a:srgbClr val="F1618E"/>
                </a:solidFill>
                <a:latin typeface="Microsoft YaHei"/>
                <a:cs typeface="Microsoft YaHei"/>
              </a:rPr>
              <a:t>NR</a:t>
            </a:r>
            <a:endParaRPr sz="1000">
              <a:latin typeface="Microsoft YaHei"/>
              <a:cs typeface="Microsoft YaHei"/>
            </a:endParaRPr>
          </a:p>
          <a:p>
            <a:pPr marL="12700">
              <a:lnSpc>
                <a:spcPct val="100000"/>
              </a:lnSpc>
              <a:spcBef>
                <a:spcPts val="825"/>
              </a:spcBef>
            </a:pPr>
            <a:r>
              <a:rPr dirty="0" sz="1050" spc="-5">
                <a:solidFill>
                  <a:srgbClr val="595958"/>
                </a:solidFill>
                <a:latin typeface="Microsoft YaHei"/>
                <a:cs typeface="Microsoft YaHei"/>
              </a:rPr>
              <a:t>网络支撑业务能力飞跃</a:t>
            </a:r>
            <a:endParaRPr sz="1050">
              <a:latin typeface="Microsoft YaHei"/>
              <a:cs typeface="Microsoft YaHei"/>
            </a:endParaRPr>
          </a:p>
        </p:txBody>
      </p:sp>
      <p:sp>
        <p:nvSpPr>
          <p:cNvPr id="16" name="object 16" descr=""/>
          <p:cNvSpPr txBox="1"/>
          <p:nvPr/>
        </p:nvSpPr>
        <p:spPr>
          <a:xfrm>
            <a:off x="423957" y="3674232"/>
            <a:ext cx="1225550" cy="447040"/>
          </a:xfrm>
          <a:prstGeom prst="rect">
            <a:avLst/>
          </a:prstGeom>
        </p:spPr>
        <p:txBody>
          <a:bodyPr wrap="square" lIns="0" tIns="66040" rIns="0" bIns="0" rtlCol="0" vert="horz">
            <a:spAutoFit/>
          </a:bodyPr>
          <a:lstStyle/>
          <a:p>
            <a:pPr marL="674370">
              <a:lnSpc>
                <a:spcPct val="100000"/>
              </a:lnSpc>
              <a:spcBef>
                <a:spcPts val="520"/>
              </a:spcBef>
            </a:pPr>
            <a:r>
              <a:rPr dirty="0" sz="1000" spc="-10" b="1">
                <a:solidFill>
                  <a:srgbClr val="F1618E"/>
                </a:solidFill>
                <a:latin typeface="Microsoft YaHei"/>
                <a:cs typeface="Microsoft YaHei"/>
              </a:rPr>
              <a:t>V2X</a:t>
            </a:r>
            <a:r>
              <a:rPr dirty="0" sz="1000" spc="-25" b="1">
                <a:solidFill>
                  <a:srgbClr val="F1618E"/>
                </a:solidFill>
                <a:latin typeface="Microsoft YaHei"/>
                <a:cs typeface="Microsoft YaHei"/>
              </a:rPr>
              <a:t>网联</a:t>
            </a:r>
            <a:endParaRPr sz="1000">
              <a:latin typeface="Microsoft YaHei"/>
              <a:cs typeface="Microsoft YaHei"/>
            </a:endParaRPr>
          </a:p>
          <a:p>
            <a:pPr marL="12700">
              <a:lnSpc>
                <a:spcPct val="100000"/>
              </a:lnSpc>
              <a:spcBef>
                <a:spcPts val="434"/>
              </a:spcBef>
            </a:pPr>
            <a:r>
              <a:rPr dirty="0" sz="1050" spc="-10">
                <a:solidFill>
                  <a:srgbClr val="595958"/>
                </a:solidFill>
                <a:latin typeface="Microsoft YaHei"/>
                <a:cs typeface="Microsoft YaHei"/>
              </a:rPr>
              <a:t>传感增强，辅助驾驶</a:t>
            </a:r>
            <a:endParaRPr sz="1050">
              <a:latin typeface="Microsoft YaHei"/>
              <a:cs typeface="Microsoft YaHei"/>
            </a:endParaRPr>
          </a:p>
        </p:txBody>
      </p:sp>
      <p:sp>
        <p:nvSpPr>
          <p:cNvPr id="17" name="object 17"/>
          <p:cNvSpPr txBox="1">
            <a:spLocks noGrp="1"/>
          </p:cNvSpPr>
          <p:nvPr>
            <p:ph type="title"/>
          </p:nvPr>
        </p:nvSpPr>
        <p:spPr>
          <a:xfrm>
            <a:off x="2107057" y="189264"/>
            <a:ext cx="5311140" cy="513080"/>
          </a:xfrm>
          <a:prstGeom prst="rect"/>
        </p:spPr>
        <p:txBody>
          <a:bodyPr wrap="square" lIns="0" tIns="12065" rIns="0" bIns="0" rtlCol="0" vert="horz">
            <a:spAutoFit/>
          </a:bodyPr>
          <a:lstStyle/>
          <a:p>
            <a:pPr marL="12700">
              <a:lnSpc>
                <a:spcPct val="100000"/>
              </a:lnSpc>
              <a:spcBef>
                <a:spcPts val="95"/>
              </a:spcBef>
            </a:pPr>
            <a:r>
              <a:rPr dirty="0" spc="-45"/>
              <a:t>面向未来无人驾驶的终极目标</a:t>
            </a:r>
          </a:p>
        </p:txBody>
      </p:sp>
      <p:grpSp>
        <p:nvGrpSpPr>
          <p:cNvPr id="18" name="object 18" descr=""/>
          <p:cNvGrpSpPr/>
          <p:nvPr/>
        </p:nvGrpSpPr>
        <p:grpSpPr>
          <a:xfrm>
            <a:off x="4871818" y="1152284"/>
            <a:ext cx="2692400" cy="3308985"/>
            <a:chOff x="4871818" y="1152284"/>
            <a:chExt cx="2692400" cy="3308985"/>
          </a:xfrm>
        </p:grpSpPr>
        <p:sp>
          <p:nvSpPr>
            <p:cNvPr id="19" name="object 19" descr=""/>
            <p:cNvSpPr/>
            <p:nvPr/>
          </p:nvSpPr>
          <p:spPr>
            <a:xfrm>
              <a:off x="4871818" y="1152284"/>
              <a:ext cx="2692400" cy="3308985"/>
            </a:xfrm>
            <a:custGeom>
              <a:avLst/>
              <a:gdLst/>
              <a:ahLst/>
              <a:cxnLst/>
              <a:rect l="l" t="t" r="r" b="b"/>
              <a:pathLst>
                <a:path w="2692400" h="3308985">
                  <a:moveTo>
                    <a:pt x="0" y="0"/>
                  </a:moveTo>
                  <a:lnTo>
                    <a:pt x="4267" y="305993"/>
                  </a:lnTo>
                  <a:lnTo>
                    <a:pt x="79324" y="245490"/>
                  </a:lnTo>
                  <a:lnTo>
                    <a:pt x="2548623" y="3308781"/>
                  </a:lnTo>
                  <a:lnTo>
                    <a:pt x="2692361" y="3192919"/>
                  </a:lnTo>
                  <a:lnTo>
                    <a:pt x="223050" y="129616"/>
                  </a:lnTo>
                  <a:lnTo>
                    <a:pt x="298107" y="69126"/>
                  </a:lnTo>
                  <a:lnTo>
                    <a:pt x="0" y="0"/>
                  </a:lnTo>
                  <a:close/>
                </a:path>
              </a:pathLst>
            </a:custGeom>
            <a:solidFill>
              <a:srgbClr val="D5134F"/>
            </a:solidFill>
          </p:spPr>
          <p:txBody>
            <a:bodyPr wrap="square" lIns="0" tIns="0" rIns="0" bIns="0" rtlCol="0"/>
            <a:lstStyle/>
            <a:p/>
          </p:txBody>
        </p:sp>
        <p:pic>
          <p:nvPicPr>
            <p:cNvPr id="20" name="object 20" descr=""/>
            <p:cNvPicPr/>
            <p:nvPr/>
          </p:nvPicPr>
          <p:blipFill>
            <a:blip r:embed="rId8" cstate="print"/>
            <a:stretch>
              <a:fillRect/>
            </a:stretch>
          </p:blipFill>
          <p:spPr>
            <a:xfrm>
              <a:off x="6705179" y="3439044"/>
              <a:ext cx="105230" cy="105778"/>
            </a:xfrm>
            <a:prstGeom prst="rect">
              <a:avLst/>
            </a:prstGeom>
          </p:spPr>
        </p:pic>
        <p:pic>
          <p:nvPicPr>
            <p:cNvPr id="21" name="object 21" descr=""/>
            <p:cNvPicPr/>
            <p:nvPr/>
          </p:nvPicPr>
          <p:blipFill>
            <a:blip r:embed="rId9" cstate="print"/>
            <a:stretch>
              <a:fillRect/>
            </a:stretch>
          </p:blipFill>
          <p:spPr>
            <a:xfrm>
              <a:off x="6300934" y="2937563"/>
              <a:ext cx="105230" cy="105773"/>
            </a:xfrm>
            <a:prstGeom prst="rect">
              <a:avLst/>
            </a:prstGeom>
          </p:spPr>
        </p:pic>
        <p:pic>
          <p:nvPicPr>
            <p:cNvPr id="22" name="object 22" descr=""/>
            <p:cNvPicPr/>
            <p:nvPr/>
          </p:nvPicPr>
          <p:blipFill>
            <a:blip r:embed="rId10" cstate="print"/>
            <a:stretch>
              <a:fillRect/>
            </a:stretch>
          </p:blipFill>
          <p:spPr>
            <a:xfrm>
              <a:off x="5896689" y="2436073"/>
              <a:ext cx="105979" cy="106705"/>
            </a:xfrm>
            <a:prstGeom prst="rect">
              <a:avLst/>
            </a:prstGeom>
          </p:spPr>
        </p:pic>
        <p:pic>
          <p:nvPicPr>
            <p:cNvPr id="23" name="object 23" descr=""/>
            <p:cNvPicPr/>
            <p:nvPr/>
          </p:nvPicPr>
          <p:blipFill>
            <a:blip r:embed="rId11" cstate="print"/>
            <a:stretch>
              <a:fillRect/>
            </a:stretch>
          </p:blipFill>
          <p:spPr>
            <a:xfrm>
              <a:off x="5493194" y="1935519"/>
              <a:ext cx="105230" cy="105773"/>
            </a:xfrm>
            <a:prstGeom prst="rect">
              <a:avLst/>
            </a:prstGeom>
          </p:spPr>
        </p:pic>
        <p:pic>
          <p:nvPicPr>
            <p:cNvPr id="24" name="object 24" descr=""/>
            <p:cNvPicPr/>
            <p:nvPr/>
          </p:nvPicPr>
          <p:blipFill>
            <a:blip r:embed="rId12" cstate="print"/>
            <a:stretch>
              <a:fillRect/>
            </a:stretch>
          </p:blipFill>
          <p:spPr>
            <a:xfrm>
              <a:off x="5088950" y="1434029"/>
              <a:ext cx="105230" cy="105778"/>
            </a:xfrm>
            <a:prstGeom prst="rect">
              <a:avLst/>
            </a:prstGeom>
          </p:spPr>
        </p:pic>
        <p:pic>
          <p:nvPicPr>
            <p:cNvPr id="25" name="object 25" descr=""/>
            <p:cNvPicPr/>
            <p:nvPr/>
          </p:nvPicPr>
          <p:blipFill>
            <a:blip r:embed="rId13" cstate="print"/>
            <a:stretch>
              <a:fillRect/>
            </a:stretch>
          </p:blipFill>
          <p:spPr>
            <a:xfrm>
              <a:off x="7100455" y="3929405"/>
              <a:ext cx="105979" cy="106705"/>
            </a:xfrm>
            <a:prstGeom prst="rect">
              <a:avLst/>
            </a:prstGeom>
          </p:spPr>
        </p:pic>
      </p:grpSp>
      <p:sp>
        <p:nvSpPr>
          <p:cNvPr id="26" name="object 26" descr=""/>
          <p:cNvSpPr txBox="1"/>
          <p:nvPr/>
        </p:nvSpPr>
        <p:spPr>
          <a:xfrm>
            <a:off x="6157833" y="2166108"/>
            <a:ext cx="1445895" cy="391160"/>
          </a:xfrm>
          <a:prstGeom prst="rect">
            <a:avLst/>
          </a:prstGeom>
        </p:spPr>
        <p:txBody>
          <a:bodyPr wrap="square" lIns="0" tIns="12700" rIns="0" bIns="0" rtlCol="0" vert="horz">
            <a:spAutoFit/>
          </a:bodyPr>
          <a:lstStyle/>
          <a:p>
            <a:pPr marL="12700">
              <a:lnSpc>
                <a:spcPct val="100000"/>
              </a:lnSpc>
              <a:spcBef>
                <a:spcPts val="100"/>
              </a:spcBef>
            </a:pPr>
            <a:r>
              <a:rPr dirty="0" sz="1000" spc="-15" b="1">
                <a:solidFill>
                  <a:srgbClr val="F1618E"/>
                </a:solidFill>
                <a:latin typeface="Microsoft YaHei"/>
                <a:cs typeface="Microsoft YaHei"/>
              </a:rPr>
              <a:t>人工智能</a:t>
            </a:r>
            <a:endParaRPr sz="1000">
              <a:latin typeface="Microsoft YaHei"/>
              <a:cs typeface="Microsoft YaHei"/>
            </a:endParaRPr>
          </a:p>
          <a:p>
            <a:pPr marL="13335">
              <a:lnSpc>
                <a:spcPct val="100000"/>
              </a:lnSpc>
              <a:spcBef>
                <a:spcPts val="715"/>
              </a:spcBef>
            </a:pPr>
            <a:r>
              <a:rPr dirty="0" sz="800" spc="-15">
                <a:solidFill>
                  <a:srgbClr val="595958"/>
                </a:solidFill>
                <a:latin typeface="Microsoft YaHei"/>
                <a:cs typeface="Microsoft YaHei"/>
              </a:rPr>
              <a:t>单车计算能力与传感器产业发展</a:t>
            </a:r>
            <a:endParaRPr sz="800">
              <a:latin typeface="Microsoft YaHei"/>
              <a:cs typeface="Microsoft YaHei"/>
            </a:endParaRPr>
          </a:p>
        </p:txBody>
      </p:sp>
      <p:sp>
        <p:nvSpPr>
          <p:cNvPr id="27" name="object 27" descr=""/>
          <p:cNvSpPr txBox="1"/>
          <p:nvPr/>
        </p:nvSpPr>
        <p:spPr>
          <a:xfrm>
            <a:off x="6938664" y="3078271"/>
            <a:ext cx="1264920" cy="521334"/>
          </a:xfrm>
          <a:prstGeom prst="rect">
            <a:avLst/>
          </a:prstGeom>
        </p:spPr>
        <p:txBody>
          <a:bodyPr wrap="square" lIns="0" tIns="102235" rIns="0" bIns="0" rtlCol="0" vert="horz">
            <a:spAutoFit/>
          </a:bodyPr>
          <a:lstStyle/>
          <a:p>
            <a:pPr marL="12700">
              <a:lnSpc>
                <a:spcPct val="100000"/>
              </a:lnSpc>
              <a:spcBef>
                <a:spcPts val="805"/>
              </a:spcBef>
            </a:pPr>
            <a:r>
              <a:rPr dirty="0" sz="1000" spc="-15" b="1">
                <a:solidFill>
                  <a:srgbClr val="F1618E"/>
                </a:solidFill>
                <a:latin typeface="Microsoft YaHei"/>
                <a:cs typeface="Microsoft YaHei"/>
              </a:rPr>
              <a:t>自动驾驶</a:t>
            </a:r>
            <a:endParaRPr sz="1000">
              <a:latin typeface="Microsoft YaHei"/>
              <a:cs typeface="Microsoft YaHei"/>
            </a:endParaRPr>
          </a:p>
          <a:p>
            <a:pPr marL="12700">
              <a:lnSpc>
                <a:spcPct val="100000"/>
              </a:lnSpc>
              <a:spcBef>
                <a:spcPts val="735"/>
              </a:spcBef>
            </a:pPr>
            <a:r>
              <a:rPr dirty="0" sz="1050" spc="-10">
                <a:solidFill>
                  <a:srgbClr val="595958"/>
                </a:solidFill>
                <a:latin typeface="Microsoft YaHei"/>
                <a:cs typeface="Microsoft YaHei"/>
              </a:rPr>
              <a:t>单车传感器 识别技术</a:t>
            </a:r>
            <a:endParaRPr sz="1050">
              <a:latin typeface="Microsoft YaHei"/>
              <a:cs typeface="Microsoft YaHei"/>
            </a:endParaRPr>
          </a:p>
        </p:txBody>
      </p:sp>
      <p:sp>
        <p:nvSpPr>
          <p:cNvPr id="28" name="object 28" descr=""/>
          <p:cNvSpPr txBox="1"/>
          <p:nvPr/>
        </p:nvSpPr>
        <p:spPr>
          <a:xfrm>
            <a:off x="5409453" y="1192360"/>
            <a:ext cx="1247775" cy="440055"/>
          </a:xfrm>
          <a:prstGeom prst="rect">
            <a:avLst/>
          </a:prstGeom>
        </p:spPr>
        <p:txBody>
          <a:bodyPr wrap="square" lIns="0" tIns="12700" rIns="0" bIns="0" rtlCol="0" vert="horz">
            <a:spAutoFit/>
          </a:bodyPr>
          <a:lstStyle/>
          <a:p>
            <a:pPr marL="12700">
              <a:lnSpc>
                <a:spcPct val="100000"/>
              </a:lnSpc>
              <a:spcBef>
                <a:spcPts val="100"/>
              </a:spcBef>
            </a:pPr>
            <a:r>
              <a:rPr dirty="0" sz="1000" spc="-10" b="1">
                <a:solidFill>
                  <a:srgbClr val="F1618E"/>
                </a:solidFill>
                <a:latin typeface="Microsoft YaHei"/>
                <a:cs typeface="Microsoft YaHei"/>
              </a:rPr>
              <a:t>安全与商用</a:t>
            </a:r>
            <a:endParaRPr sz="1000">
              <a:latin typeface="Microsoft YaHei"/>
              <a:cs typeface="Microsoft YaHei"/>
            </a:endParaRPr>
          </a:p>
          <a:p>
            <a:pPr marL="34290">
              <a:lnSpc>
                <a:spcPct val="100000"/>
              </a:lnSpc>
              <a:spcBef>
                <a:spcPts val="800"/>
              </a:spcBef>
            </a:pPr>
            <a:r>
              <a:rPr dirty="0" sz="1050" spc="-10">
                <a:solidFill>
                  <a:srgbClr val="595958"/>
                </a:solidFill>
                <a:latin typeface="Microsoft YaHei"/>
                <a:cs typeface="Microsoft YaHei"/>
              </a:rPr>
              <a:t>安全难题与应用场景</a:t>
            </a:r>
            <a:endParaRPr sz="1050">
              <a:latin typeface="Microsoft YaHei"/>
              <a:cs typeface="Microsoft YaHei"/>
            </a:endParaRPr>
          </a:p>
        </p:txBody>
      </p:sp>
      <p:grpSp>
        <p:nvGrpSpPr>
          <p:cNvPr id="29" name="object 29" descr=""/>
          <p:cNvGrpSpPr/>
          <p:nvPr/>
        </p:nvGrpSpPr>
        <p:grpSpPr>
          <a:xfrm>
            <a:off x="6923531" y="4512564"/>
            <a:ext cx="1110615" cy="478790"/>
            <a:chOff x="6923531" y="4512564"/>
            <a:chExt cx="1110615" cy="478790"/>
          </a:xfrm>
        </p:grpSpPr>
        <p:pic>
          <p:nvPicPr>
            <p:cNvPr id="30" name="object 30" descr=""/>
            <p:cNvPicPr/>
            <p:nvPr/>
          </p:nvPicPr>
          <p:blipFill>
            <a:blip r:embed="rId14" cstate="print"/>
            <a:stretch>
              <a:fillRect/>
            </a:stretch>
          </p:blipFill>
          <p:spPr>
            <a:xfrm>
              <a:off x="6964679" y="4530089"/>
              <a:ext cx="968500" cy="461009"/>
            </a:xfrm>
            <a:prstGeom prst="rect">
              <a:avLst/>
            </a:prstGeom>
          </p:spPr>
        </p:pic>
        <p:pic>
          <p:nvPicPr>
            <p:cNvPr id="31" name="object 31" descr=""/>
            <p:cNvPicPr/>
            <p:nvPr/>
          </p:nvPicPr>
          <p:blipFill>
            <a:blip r:embed="rId15" cstate="print"/>
            <a:stretch>
              <a:fillRect/>
            </a:stretch>
          </p:blipFill>
          <p:spPr>
            <a:xfrm>
              <a:off x="6923531" y="4512564"/>
              <a:ext cx="1110232" cy="424433"/>
            </a:xfrm>
            <a:prstGeom prst="rect">
              <a:avLst/>
            </a:prstGeom>
          </p:spPr>
        </p:pic>
      </p:grpSp>
      <p:sp>
        <p:nvSpPr>
          <p:cNvPr id="32" name="object 32" descr=""/>
          <p:cNvSpPr txBox="1"/>
          <p:nvPr/>
        </p:nvSpPr>
        <p:spPr>
          <a:xfrm>
            <a:off x="7010400" y="4552950"/>
            <a:ext cx="877569" cy="369570"/>
          </a:xfrm>
          <a:prstGeom prst="rect">
            <a:avLst/>
          </a:prstGeom>
          <a:solidFill>
            <a:srgbClr val="00B0F0"/>
          </a:solidFill>
          <a:ln w="9525">
            <a:solidFill>
              <a:srgbClr val="B6DCDF"/>
            </a:solidFill>
          </a:ln>
        </p:spPr>
        <p:txBody>
          <a:bodyPr wrap="square" lIns="0" tIns="37465" rIns="0" bIns="0" rtlCol="0" vert="horz">
            <a:spAutoFit/>
          </a:bodyPr>
          <a:lstStyle/>
          <a:p>
            <a:pPr marL="91440">
              <a:lnSpc>
                <a:spcPct val="100000"/>
              </a:lnSpc>
              <a:spcBef>
                <a:spcPts val="295"/>
              </a:spcBef>
            </a:pPr>
            <a:r>
              <a:rPr dirty="0" sz="1800" spc="-20" b="1">
                <a:solidFill>
                  <a:srgbClr val="FFFFFF"/>
                </a:solidFill>
                <a:latin typeface="Microsoft YaHei"/>
                <a:cs typeface="Microsoft YaHei"/>
              </a:rPr>
              <a:t>智能化</a:t>
            </a:r>
            <a:endParaRPr sz="1800">
              <a:latin typeface="Microsoft YaHei"/>
              <a:cs typeface="Microsoft YaHei"/>
            </a:endParaRPr>
          </a:p>
        </p:txBody>
      </p:sp>
      <p:grpSp>
        <p:nvGrpSpPr>
          <p:cNvPr id="33" name="object 33" descr=""/>
          <p:cNvGrpSpPr/>
          <p:nvPr/>
        </p:nvGrpSpPr>
        <p:grpSpPr>
          <a:xfrm>
            <a:off x="1018794" y="4557521"/>
            <a:ext cx="1110615" cy="478790"/>
            <a:chOff x="1018794" y="4557521"/>
            <a:chExt cx="1110615" cy="478790"/>
          </a:xfrm>
        </p:grpSpPr>
        <p:pic>
          <p:nvPicPr>
            <p:cNvPr id="34" name="object 34" descr=""/>
            <p:cNvPicPr/>
            <p:nvPr/>
          </p:nvPicPr>
          <p:blipFill>
            <a:blip r:embed="rId16" cstate="print"/>
            <a:stretch>
              <a:fillRect/>
            </a:stretch>
          </p:blipFill>
          <p:spPr>
            <a:xfrm>
              <a:off x="1059942" y="4575047"/>
              <a:ext cx="968501" cy="461009"/>
            </a:xfrm>
            <a:prstGeom prst="rect">
              <a:avLst/>
            </a:prstGeom>
          </p:spPr>
        </p:pic>
        <p:pic>
          <p:nvPicPr>
            <p:cNvPr id="35" name="object 35" descr=""/>
            <p:cNvPicPr/>
            <p:nvPr/>
          </p:nvPicPr>
          <p:blipFill>
            <a:blip r:embed="rId15" cstate="print"/>
            <a:stretch>
              <a:fillRect/>
            </a:stretch>
          </p:blipFill>
          <p:spPr>
            <a:xfrm>
              <a:off x="1018794" y="4557521"/>
              <a:ext cx="1110233" cy="424434"/>
            </a:xfrm>
            <a:prstGeom prst="rect">
              <a:avLst/>
            </a:prstGeom>
          </p:spPr>
        </p:pic>
      </p:grpSp>
      <p:sp>
        <p:nvSpPr>
          <p:cNvPr id="36" name="object 36" descr=""/>
          <p:cNvSpPr txBox="1"/>
          <p:nvPr/>
        </p:nvSpPr>
        <p:spPr>
          <a:xfrm>
            <a:off x="1105738" y="4597793"/>
            <a:ext cx="877569" cy="369570"/>
          </a:xfrm>
          <a:prstGeom prst="rect">
            <a:avLst/>
          </a:prstGeom>
          <a:solidFill>
            <a:srgbClr val="00B0F0"/>
          </a:solidFill>
          <a:ln w="9525">
            <a:solidFill>
              <a:srgbClr val="B6DCDF"/>
            </a:solidFill>
          </a:ln>
        </p:spPr>
        <p:txBody>
          <a:bodyPr wrap="square" lIns="0" tIns="37465" rIns="0" bIns="0" rtlCol="0" vert="horz">
            <a:spAutoFit/>
          </a:bodyPr>
          <a:lstStyle/>
          <a:p>
            <a:pPr marL="91440">
              <a:lnSpc>
                <a:spcPct val="100000"/>
              </a:lnSpc>
              <a:spcBef>
                <a:spcPts val="295"/>
              </a:spcBef>
            </a:pPr>
            <a:r>
              <a:rPr dirty="0" sz="1800" spc="-20" b="1">
                <a:solidFill>
                  <a:srgbClr val="FFFFFF"/>
                </a:solidFill>
                <a:latin typeface="Microsoft YaHei"/>
                <a:cs typeface="Microsoft YaHei"/>
              </a:rPr>
              <a:t>网联化</a:t>
            </a:r>
            <a:endParaRPr sz="1800">
              <a:latin typeface="Microsoft YaHei"/>
              <a:cs typeface="Microsoft YaHei"/>
            </a:endParaRPr>
          </a:p>
        </p:txBody>
      </p:sp>
      <p:grpSp>
        <p:nvGrpSpPr>
          <p:cNvPr id="37" name="object 37" descr=""/>
          <p:cNvGrpSpPr/>
          <p:nvPr/>
        </p:nvGrpSpPr>
        <p:grpSpPr>
          <a:xfrm>
            <a:off x="2667762" y="3616452"/>
            <a:ext cx="3493770" cy="942975"/>
            <a:chOff x="2667762" y="3616452"/>
            <a:chExt cx="3493770" cy="942975"/>
          </a:xfrm>
        </p:grpSpPr>
        <p:pic>
          <p:nvPicPr>
            <p:cNvPr id="38" name="object 38" descr=""/>
            <p:cNvPicPr/>
            <p:nvPr/>
          </p:nvPicPr>
          <p:blipFill>
            <a:blip r:embed="rId17" cstate="print"/>
            <a:stretch>
              <a:fillRect/>
            </a:stretch>
          </p:blipFill>
          <p:spPr>
            <a:xfrm>
              <a:off x="2667762" y="3616452"/>
              <a:ext cx="3493768" cy="942593"/>
            </a:xfrm>
            <a:prstGeom prst="rect">
              <a:avLst/>
            </a:prstGeom>
          </p:spPr>
        </p:pic>
        <p:sp>
          <p:nvSpPr>
            <p:cNvPr id="39" name="object 39" descr=""/>
            <p:cNvSpPr/>
            <p:nvPr/>
          </p:nvSpPr>
          <p:spPr>
            <a:xfrm>
              <a:off x="2713932" y="3639510"/>
              <a:ext cx="3401695" cy="850900"/>
            </a:xfrm>
            <a:custGeom>
              <a:avLst/>
              <a:gdLst/>
              <a:ahLst/>
              <a:cxnLst/>
              <a:rect l="l" t="t" r="r" b="b"/>
              <a:pathLst>
                <a:path w="3401695" h="850900">
                  <a:moveTo>
                    <a:pt x="2976092" y="0"/>
                  </a:moveTo>
                  <a:lnTo>
                    <a:pt x="2976092" y="212674"/>
                  </a:lnTo>
                  <a:lnTo>
                    <a:pt x="425361" y="212674"/>
                  </a:lnTo>
                  <a:lnTo>
                    <a:pt x="425361" y="0"/>
                  </a:lnTo>
                  <a:lnTo>
                    <a:pt x="0" y="425361"/>
                  </a:lnTo>
                  <a:lnTo>
                    <a:pt x="425361" y="850722"/>
                  </a:lnTo>
                  <a:lnTo>
                    <a:pt x="425361" y="638047"/>
                  </a:lnTo>
                  <a:lnTo>
                    <a:pt x="2976092" y="638047"/>
                  </a:lnTo>
                  <a:lnTo>
                    <a:pt x="2976092" y="850722"/>
                  </a:lnTo>
                  <a:lnTo>
                    <a:pt x="3401453" y="425361"/>
                  </a:lnTo>
                  <a:lnTo>
                    <a:pt x="2976092" y="0"/>
                  </a:lnTo>
                  <a:close/>
                </a:path>
              </a:pathLst>
            </a:custGeom>
            <a:solidFill>
              <a:srgbClr val="00B0F0"/>
            </a:solidFill>
          </p:spPr>
          <p:txBody>
            <a:bodyPr wrap="square" lIns="0" tIns="0" rIns="0" bIns="0" rtlCol="0"/>
            <a:lstStyle/>
            <a:p/>
          </p:txBody>
        </p:sp>
        <p:sp>
          <p:nvSpPr>
            <p:cNvPr id="40" name="object 40" descr=""/>
            <p:cNvSpPr/>
            <p:nvPr/>
          </p:nvSpPr>
          <p:spPr>
            <a:xfrm>
              <a:off x="2713932" y="3639510"/>
              <a:ext cx="3401695" cy="850900"/>
            </a:xfrm>
            <a:custGeom>
              <a:avLst/>
              <a:gdLst/>
              <a:ahLst/>
              <a:cxnLst/>
              <a:rect l="l" t="t" r="r" b="b"/>
              <a:pathLst>
                <a:path w="3401695" h="850900">
                  <a:moveTo>
                    <a:pt x="0" y="425361"/>
                  </a:moveTo>
                  <a:lnTo>
                    <a:pt x="425361" y="0"/>
                  </a:lnTo>
                  <a:lnTo>
                    <a:pt x="425361" y="212674"/>
                  </a:lnTo>
                  <a:lnTo>
                    <a:pt x="2976092" y="212674"/>
                  </a:lnTo>
                  <a:lnTo>
                    <a:pt x="2976092" y="0"/>
                  </a:lnTo>
                  <a:lnTo>
                    <a:pt x="3401453" y="425361"/>
                  </a:lnTo>
                  <a:lnTo>
                    <a:pt x="2976092" y="850722"/>
                  </a:lnTo>
                  <a:lnTo>
                    <a:pt x="2976092" y="638047"/>
                  </a:lnTo>
                  <a:lnTo>
                    <a:pt x="425361" y="638047"/>
                  </a:lnTo>
                  <a:lnTo>
                    <a:pt x="425361" y="850722"/>
                  </a:lnTo>
                  <a:lnTo>
                    <a:pt x="0" y="425361"/>
                  </a:lnTo>
                  <a:close/>
                </a:path>
              </a:pathLst>
            </a:custGeom>
            <a:ln w="9524">
              <a:solidFill>
                <a:srgbClr val="F9F9F9"/>
              </a:solidFill>
            </a:ln>
          </p:spPr>
          <p:txBody>
            <a:bodyPr wrap="square" lIns="0" tIns="0" rIns="0" bIns="0" rtlCol="0"/>
            <a:lstStyle/>
            <a:p/>
          </p:txBody>
        </p:sp>
      </p:grpSp>
      <p:sp>
        <p:nvSpPr>
          <p:cNvPr id="41" name="object 41" descr=""/>
          <p:cNvSpPr txBox="1"/>
          <p:nvPr/>
        </p:nvSpPr>
        <p:spPr>
          <a:xfrm>
            <a:off x="3144282" y="3906628"/>
            <a:ext cx="2540000" cy="299720"/>
          </a:xfrm>
          <a:prstGeom prst="rect">
            <a:avLst/>
          </a:prstGeom>
        </p:spPr>
        <p:txBody>
          <a:bodyPr wrap="square" lIns="0" tIns="12700" rIns="0" bIns="0" rtlCol="0" vert="horz">
            <a:spAutoFit/>
          </a:bodyPr>
          <a:lstStyle/>
          <a:p>
            <a:pPr marL="12700">
              <a:lnSpc>
                <a:spcPct val="100000"/>
              </a:lnSpc>
              <a:spcBef>
                <a:spcPts val="100"/>
              </a:spcBef>
            </a:pPr>
            <a:r>
              <a:rPr dirty="0" sz="1800" spc="-5" b="1">
                <a:solidFill>
                  <a:srgbClr val="FFFFFF"/>
                </a:solidFill>
                <a:latin typeface="Microsoft YaHei"/>
                <a:cs typeface="Microsoft YaHei"/>
              </a:rPr>
              <a:t>技术融合，产业相互促进</a:t>
            </a:r>
            <a:endParaRPr sz="1800">
              <a:latin typeface="Microsoft YaHei"/>
              <a:cs typeface="Microsoft YaHei"/>
            </a:endParaRPr>
          </a:p>
        </p:txBody>
      </p:sp>
      <p:grpSp>
        <p:nvGrpSpPr>
          <p:cNvPr id="42" name="object 42" descr=""/>
          <p:cNvGrpSpPr/>
          <p:nvPr/>
        </p:nvGrpSpPr>
        <p:grpSpPr>
          <a:xfrm>
            <a:off x="4009644" y="1689354"/>
            <a:ext cx="761365" cy="2209800"/>
            <a:chOff x="4009644" y="1689354"/>
            <a:chExt cx="761365" cy="2209800"/>
          </a:xfrm>
        </p:grpSpPr>
        <p:pic>
          <p:nvPicPr>
            <p:cNvPr id="43" name="object 43" descr=""/>
            <p:cNvPicPr/>
            <p:nvPr/>
          </p:nvPicPr>
          <p:blipFill>
            <a:blip r:embed="rId18" cstate="print"/>
            <a:stretch>
              <a:fillRect/>
            </a:stretch>
          </p:blipFill>
          <p:spPr>
            <a:xfrm>
              <a:off x="4009644" y="1689354"/>
              <a:ext cx="761237" cy="2209799"/>
            </a:xfrm>
            <a:prstGeom prst="rect">
              <a:avLst/>
            </a:prstGeom>
          </p:spPr>
        </p:pic>
        <p:pic>
          <p:nvPicPr>
            <p:cNvPr id="44" name="object 44" descr=""/>
            <p:cNvPicPr/>
            <p:nvPr/>
          </p:nvPicPr>
          <p:blipFill>
            <a:blip r:embed="rId19" cstate="print"/>
            <a:stretch>
              <a:fillRect/>
            </a:stretch>
          </p:blipFill>
          <p:spPr>
            <a:xfrm>
              <a:off x="4143756" y="2090927"/>
              <a:ext cx="96037" cy="1338833"/>
            </a:xfrm>
            <a:prstGeom prst="rect">
              <a:avLst/>
            </a:prstGeom>
          </p:spPr>
        </p:pic>
        <p:sp>
          <p:nvSpPr>
            <p:cNvPr id="45" name="object 45" descr=""/>
            <p:cNvSpPr/>
            <p:nvPr/>
          </p:nvSpPr>
          <p:spPr>
            <a:xfrm>
              <a:off x="4055404" y="1711932"/>
              <a:ext cx="669925" cy="2118995"/>
            </a:xfrm>
            <a:custGeom>
              <a:avLst/>
              <a:gdLst/>
              <a:ahLst/>
              <a:cxnLst/>
              <a:rect l="l" t="t" r="r" b="b"/>
              <a:pathLst>
                <a:path w="669925" h="2118995">
                  <a:moveTo>
                    <a:pt x="334746" y="0"/>
                  </a:moveTo>
                  <a:lnTo>
                    <a:pt x="0" y="334746"/>
                  </a:lnTo>
                  <a:lnTo>
                    <a:pt x="184619" y="334746"/>
                  </a:lnTo>
                  <a:lnTo>
                    <a:pt x="184619" y="1783778"/>
                  </a:lnTo>
                  <a:lnTo>
                    <a:pt x="0" y="1783778"/>
                  </a:lnTo>
                  <a:lnTo>
                    <a:pt x="334746" y="2118525"/>
                  </a:lnTo>
                  <a:lnTo>
                    <a:pt x="669493" y="1783778"/>
                  </a:lnTo>
                  <a:lnTo>
                    <a:pt x="484873" y="1783778"/>
                  </a:lnTo>
                  <a:lnTo>
                    <a:pt x="484873" y="334746"/>
                  </a:lnTo>
                  <a:lnTo>
                    <a:pt x="669493" y="334746"/>
                  </a:lnTo>
                  <a:lnTo>
                    <a:pt x="334746" y="0"/>
                  </a:lnTo>
                  <a:close/>
                </a:path>
              </a:pathLst>
            </a:custGeom>
            <a:solidFill>
              <a:srgbClr val="FF0000"/>
            </a:solidFill>
          </p:spPr>
          <p:txBody>
            <a:bodyPr wrap="square" lIns="0" tIns="0" rIns="0" bIns="0" rtlCol="0"/>
            <a:lstStyle/>
            <a:p/>
          </p:txBody>
        </p:sp>
        <p:sp>
          <p:nvSpPr>
            <p:cNvPr id="46" name="object 46" descr=""/>
            <p:cNvSpPr/>
            <p:nvPr/>
          </p:nvSpPr>
          <p:spPr>
            <a:xfrm>
              <a:off x="4055404" y="1711932"/>
              <a:ext cx="669925" cy="2118995"/>
            </a:xfrm>
            <a:custGeom>
              <a:avLst/>
              <a:gdLst/>
              <a:ahLst/>
              <a:cxnLst/>
              <a:rect l="l" t="t" r="r" b="b"/>
              <a:pathLst>
                <a:path w="669925" h="2118995">
                  <a:moveTo>
                    <a:pt x="334746" y="2118525"/>
                  </a:moveTo>
                  <a:lnTo>
                    <a:pt x="0" y="1783778"/>
                  </a:lnTo>
                  <a:lnTo>
                    <a:pt x="184619" y="1783778"/>
                  </a:lnTo>
                  <a:lnTo>
                    <a:pt x="184619" y="334746"/>
                  </a:lnTo>
                  <a:lnTo>
                    <a:pt x="0" y="334746"/>
                  </a:lnTo>
                  <a:lnTo>
                    <a:pt x="334746" y="0"/>
                  </a:lnTo>
                  <a:lnTo>
                    <a:pt x="669493" y="334746"/>
                  </a:lnTo>
                  <a:lnTo>
                    <a:pt x="484873" y="334746"/>
                  </a:lnTo>
                  <a:lnTo>
                    <a:pt x="484873" y="1783778"/>
                  </a:lnTo>
                  <a:lnTo>
                    <a:pt x="669493" y="1783778"/>
                  </a:lnTo>
                  <a:lnTo>
                    <a:pt x="334746" y="2118525"/>
                  </a:lnTo>
                  <a:close/>
                </a:path>
              </a:pathLst>
            </a:custGeom>
            <a:ln w="9525">
              <a:solidFill>
                <a:srgbClr val="000000"/>
              </a:solidFill>
            </a:ln>
          </p:spPr>
          <p:txBody>
            <a:bodyPr wrap="square" lIns="0" tIns="0" rIns="0" bIns="0" rtlCol="0"/>
            <a:lstStyle/>
            <a:p/>
          </p:txBody>
        </p:sp>
      </p:grpSp>
      <p:sp>
        <p:nvSpPr>
          <p:cNvPr id="47" name="object 47" descr=""/>
          <p:cNvSpPr txBox="1"/>
          <p:nvPr/>
        </p:nvSpPr>
        <p:spPr>
          <a:xfrm>
            <a:off x="4218626" y="2301229"/>
            <a:ext cx="327660" cy="939800"/>
          </a:xfrm>
          <a:prstGeom prst="rect">
            <a:avLst/>
          </a:prstGeom>
        </p:spPr>
        <p:txBody>
          <a:bodyPr wrap="square" lIns="0" tIns="26034" rIns="0" bIns="0" rtlCol="0" vert="vert270">
            <a:spAutoFit/>
          </a:bodyPr>
          <a:lstStyle/>
          <a:p>
            <a:pPr marL="12700">
              <a:lnSpc>
                <a:spcPct val="100000"/>
              </a:lnSpc>
              <a:spcBef>
                <a:spcPts val="204"/>
              </a:spcBef>
            </a:pPr>
            <a:r>
              <a:rPr dirty="0" sz="1800" spc="-15" b="1">
                <a:solidFill>
                  <a:srgbClr val="FFFFFF"/>
                </a:solidFill>
                <a:latin typeface="Microsoft YaHei"/>
                <a:cs typeface="Microsoft YaHei"/>
              </a:rPr>
              <a:t>商业模式</a:t>
            </a:r>
            <a:endParaRPr sz="1800">
              <a:latin typeface="Microsoft YaHei"/>
              <a:cs typeface="Microsoft YaHe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6657" y="165390"/>
            <a:ext cx="4091940" cy="513080"/>
          </a:xfrm>
          <a:prstGeom prst="rect"/>
        </p:spPr>
        <p:txBody>
          <a:bodyPr wrap="square" lIns="0" tIns="12065" rIns="0" bIns="0" rtlCol="0" vert="horz">
            <a:spAutoFit/>
          </a:bodyPr>
          <a:lstStyle/>
          <a:p>
            <a:pPr marL="12700">
              <a:lnSpc>
                <a:spcPct val="100000"/>
              </a:lnSpc>
              <a:spcBef>
                <a:spcPts val="95"/>
              </a:spcBef>
            </a:pPr>
            <a:r>
              <a:rPr dirty="0" spc="-45"/>
              <a:t>智能网联汽车产业生态</a:t>
            </a:r>
          </a:p>
        </p:txBody>
      </p:sp>
      <p:pic>
        <p:nvPicPr>
          <p:cNvPr id="3" name="object 3"/>
          <p:cNvPicPr/>
          <p:nvPr/>
        </p:nvPicPr>
        <p:blipFill>
          <a:blip r:embed="rId2" cstate="print"/>
          <a:stretch>
            <a:fillRect/>
          </a:stretch>
        </p:blipFill>
        <p:spPr>
          <a:xfrm>
            <a:off x="4992217" y="1851672"/>
            <a:ext cx="4001641" cy="2592284"/>
          </a:xfrm>
          <a:prstGeom prst="rect">
            <a:avLst/>
          </a:prstGeom>
        </p:spPr>
      </p:pic>
      <p:pic>
        <p:nvPicPr>
          <p:cNvPr id="4" name="object 4"/>
          <p:cNvPicPr/>
          <p:nvPr/>
        </p:nvPicPr>
        <p:blipFill>
          <a:blip r:embed="rId3" cstate="print"/>
          <a:stretch>
            <a:fillRect/>
          </a:stretch>
        </p:blipFill>
        <p:spPr>
          <a:xfrm>
            <a:off x="107505" y="1851672"/>
            <a:ext cx="4680518" cy="2592285"/>
          </a:xfrm>
          <a:prstGeom prst="rect">
            <a:avLst/>
          </a:prstGeom>
        </p:spPr>
      </p:pic>
      <p:sp>
        <p:nvSpPr>
          <p:cNvPr id="5" name="object 5" descr=""/>
          <p:cNvSpPr txBox="1"/>
          <p:nvPr/>
        </p:nvSpPr>
        <p:spPr>
          <a:xfrm>
            <a:off x="1383963" y="1235707"/>
            <a:ext cx="2322195" cy="330200"/>
          </a:xfrm>
          <a:prstGeom prst="rect">
            <a:avLst/>
          </a:prstGeom>
        </p:spPr>
        <p:txBody>
          <a:bodyPr wrap="square" lIns="0" tIns="12065" rIns="0" bIns="0" rtlCol="0" vert="horz">
            <a:spAutoFit/>
          </a:bodyPr>
          <a:lstStyle/>
          <a:p>
            <a:pPr marL="12700">
              <a:lnSpc>
                <a:spcPct val="100000"/>
              </a:lnSpc>
              <a:spcBef>
                <a:spcPts val="95"/>
              </a:spcBef>
            </a:pPr>
            <a:r>
              <a:rPr dirty="0" sz="2000" spc="-20">
                <a:latin typeface="SimSun"/>
                <a:cs typeface="SimSun"/>
              </a:rPr>
              <a:t>智能网联汽车产业链</a:t>
            </a:r>
            <a:endParaRPr sz="2000">
              <a:latin typeface="SimSun"/>
              <a:cs typeface="SimSun"/>
            </a:endParaRPr>
          </a:p>
        </p:txBody>
      </p:sp>
      <p:sp>
        <p:nvSpPr>
          <p:cNvPr id="6" name="object 6" descr=""/>
          <p:cNvSpPr txBox="1"/>
          <p:nvPr/>
        </p:nvSpPr>
        <p:spPr>
          <a:xfrm>
            <a:off x="6079821" y="1235707"/>
            <a:ext cx="1687830" cy="330200"/>
          </a:xfrm>
          <a:prstGeom prst="rect">
            <a:avLst/>
          </a:prstGeom>
        </p:spPr>
        <p:txBody>
          <a:bodyPr wrap="square" lIns="0" tIns="12065" rIns="0" bIns="0" rtlCol="0" vert="horz">
            <a:spAutoFit/>
          </a:bodyPr>
          <a:lstStyle/>
          <a:p>
            <a:pPr marL="12700">
              <a:lnSpc>
                <a:spcPct val="100000"/>
              </a:lnSpc>
              <a:spcBef>
                <a:spcPts val="95"/>
              </a:spcBef>
            </a:pPr>
            <a:r>
              <a:rPr dirty="0" sz="2000" spc="-10">
                <a:latin typeface="SimSun"/>
                <a:cs typeface="SimSun"/>
              </a:rPr>
              <a:t>C-V2X</a:t>
            </a:r>
            <a:r>
              <a:rPr dirty="0" sz="2000" spc="-20">
                <a:latin typeface="SimSun"/>
                <a:cs typeface="SimSun"/>
              </a:rPr>
              <a:t>主要企业</a:t>
            </a:r>
            <a:endParaRPr sz="2000">
              <a:latin typeface="SimSun"/>
              <a:cs typeface="SimSu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9847" y="165390"/>
            <a:ext cx="6326505" cy="513080"/>
          </a:xfrm>
          <a:prstGeom prst="rect"/>
        </p:spPr>
        <p:txBody>
          <a:bodyPr wrap="square" lIns="0" tIns="12065" rIns="0" bIns="0" rtlCol="0" vert="horz">
            <a:spAutoFit/>
          </a:bodyPr>
          <a:lstStyle/>
          <a:p>
            <a:pPr marL="12700">
              <a:lnSpc>
                <a:spcPct val="100000"/>
              </a:lnSpc>
              <a:spcBef>
                <a:spcPts val="95"/>
              </a:spcBef>
            </a:pPr>
            <a:r>
              <a:rPr dirty="0" spc="-40"/>
              <a:t>业界动态</a:t>
            </a:r>
            <a:r>
              <a:rPr dirty="0" spc="-30">
                <a:latin typeface="Times New Roman"/>
                <a:cs typeface="Times New Roman"/>
              </a:rPr>
              <a:t>1</a:t>
            </a:r>
            <a:r>
              <a:rPr dirty="0" spc="-45"/>
              <a:t>：互联网及新兴造车势力</a:t>
            </a:r>
          </a:p>
        </p:txBody>
      </p:sp>
      <p:sp>
        <p:nvSpPr>
          <p:cNvPr id="3" name="object 3" descr=""/>
          <p:cNvSpPr txBox="1"/>
          <p:nvPr/>
        </p:nvSpPr>
        <p:spPr>
          <a:xfrm>
            <a:off x="7171019" y="2096903"/>
            <a:ext cx="1880870" cy="848360"/>
          </a:xfrm>
          <a:prstGeom prst="rect">
            <a:avLst/>
          </a:prstGeom>
        </p:spPr>
        <p:txBody>
          <a:bodyPr wrap="square" lIns="0" tIns="12700" rIns="0" bIns="0" rtlCol="0" vert="horz">
            <a:spAutoFit/>
          </a:bodyPr>
          <a:lstStyle/>
          <a:p>
            <a:pPr marL="12700" marR="5080">
              <a:lnSpc>
                <a:spcPct val="100000"/>
              </a:lnSpc>
              <a:spcBef>
                <a:spcPts val="100"/>
              </a:spcBef>
            </a:pPr>
            <a:r>
              <a:rPr dirty="0" sz="1800" spc="-10">
                <a:latin typeface="SimSun"/>
                <a:cs typeface="SimSun"/>
              </a:rPr>
              <a:t>依赖单车智能：</a:t>
            </a:r>
            <a:r>
              <a:rPr dirty="0" sz="1800" spc="-50">
                <a:latin typeface="SimSun"/>
                <a:cs typeface="SimSun"/>
              </a:rPr>
              <a:t> </a:t>
            </a:r>
            <a:r>
              <a:rPr dirty="0" sz="1800">
                <a:latin typeface="SimSun"/>
                <a:cs typeface="SimSun"/>
              </a:rPr>
              <a:t>瞄向</a:t>
            </a:r>
            <a:r>
              <a:rPr dirty="0" sz="1800">
                <a:latin typeface="Arial MT"/>
                <a:cs typeface="Arial MT"/>
              </a:rPr>
              <a:t>L4</a:t>
            </a:r>
            <a:r>
              <a:rPr dirty="0" sz="1800" spc="-10">
                <a:latin typeface="SimSun"/>
                <a:cs typeface="SimSun"/>
              </a:rPr>
              <a:t>及以上的无</a:t>
            </a:r>
            <a:r>
              <a:rPr dirty="0" sz="1800" spc="-20">
                <a:latin typeface="SimSun"/>
                <a:cs typeface="SimSun"/>
              </a:rPr>
              <a:t>人驾驶</a:t>
            </a:r>
            <a:endParaRPr sz="1800">
              <a:latin typeface="SimSun"/>
              <a:cs typeface="SimSun"/>
            </a:endParaRPr>
          </a:p>
        </p:txBody>
      </p:sp>
      <p:grpSp>
        <p:nvGrpSpPr>
          <p:cNvPr id="4" name="object 4" descr=""/>
          <p:cNvGrpSpPr/>
          <p:nvPr/>
        </p:nvGrpSpPr>
        <p:grpSpPr>
          <a:xfrm>
            <a:off x="169664" y="995957"/>
            <a:ext cx="6130925" cy="895985"/>
            <a:chOff x="169664" y="995957"/>
            <a:chExt cx="6130925" cy="895985"/>
          </a:xfrm>
        </p:grpSpPr>
        <p:pic>
          <p:nvPicPr>
            <p:cNvPr id="5" name="object 5"/>
            <p:cNvPicPr/>
            <p:nvPr/>
          </p:nvPicPr>
          <p:blipFill>
            <a:blip r:embed="rId2" cstate="print"/>
            <a:stretch>
              <a:fillRect/>
            </a:stretch>
          </p:blipFill>
          <p:spPr>
            <a:xfrm>
              <a:off x="169664" y="995957"/>
              <a:ext cx="1752600" cy="771525"/>
            </a:xfrm>
            <a:prstGeom prst="rect">
              <a:avLst/>
            </a:prstGeom>
          </p:spPr>
        </p:pic>
        <p:pic>
          <p:nvPicPr>
            <p:cNvPr id="6" name="object 6"/>
            <p:cNvPicPr/>
            <p:nvPr/>
          </p:nvPicPr>
          <p:blipFill>
            <a:blip r:embed="rId3" cstate="print"/>
            <a:stretch>
              <a:fillRect/>
            </a:stretch>
          </p:blipFill>
          <p:spPr>
            <a:xfrm>
              <a:off x="1785019" y="1228531"/>
              <a:ext cx="2266949" cy="561975"/>
            </a:xfrm>
            <a:prstGeom prst="rect">
              <a:avLst/>
            </a:prstGeom>
          </p:spPr>
        </p:pic>
        <p:pic>
          <p:nvPicPr>
            <p:cNvPr id="7" name="object 7"/>
            <p:cNvPicPr/>
            <p:nvPr/>
          </p:nvPicPr>
          <p:blipFill>
            <a:blip r:embed="rId4" cstate="print"/>
            <a:stretch>
              <a:fillRect/>
            </a:stretch>
          </p:blipFill>
          <p:spPr>
            <a:xfrm>
              <a:off x="4022972" y="1023061"/>
              <a:ext cx="2277217" cy="868623"/>
            </a:xfrm>
            <a:prstGeom prst="rect">
              <a:avLst/>
            </a:prstGeom>
          </p:spPr>
        </p:pic>
      </p:grpSp>
      <p:pic>
        <p:nvPicPr>
          <p:cNvPr id="8" name="object 8"/>
          <p:cNvPicPr/>
          <p:nvPr/>
        </p:nvPicPr>
        <p:blipFill>
          <a:blip r:embed="rId5" cstate="print"/>
          <a:stretch>
            <a:fillRect/>
          </a:stretch>
        </p:blipFill>
        <p:spPr>
          <a:xfrm>
            <a:off x="265239" y="2945509"/>
            <a:ext cx="1514472" cy="609590"/>
          </a:xfrm>
          <a:prstGeom prst="rect">
            <a:avLst/>
          </a:prstGeom>
        </p:spPr>
      </p:pic>
      <p:sp>
        <p:nvSpPr>
          <p:cNvPr id="9" name="object 9" descr=""/>
          <p:cNvSpPr txBox="1"/>
          <p:nvPr/>
        </p:nvSpPr>
        <p:spPr>
          <a:xfrm>
            <a:off x="1713560" y="1851672"/>
            <a:ext cx="2354580" cy="400685"/>
          </a:xfrm>
          <a:prstGeom prst="rect">
            <a:avLst/>
          </a:prstGeom>
          <a:solidFill>
            <a:srgbClr val="72BFC5"/>
          </a:solidFill>
        </p:spPr>
        <p:txBody>
          <a:bodyPr wrap="square" lIns="0" tIns="41275" rIns="0" bIns="0" rtlCol="0" vert="horz">
            <a:spAutoFit/>
          </a:bodyPr>
          <a:lstStyle/>
          <a:p>
            <a:pPr marL="283845">
              <a:lnSpc>
                <a:spcPct val="100000"/>
              </a:lnSpc>
              <a:spcBef>
                <a:spcPts val="325"/>
              </a:spcBef>
            </a:pPr>
            <a:r>
              <a:rPr dirty="0" sz="2000" spc="-20">
                <a:solidFill>
                  <a:srgbClr val="FFFFFF"/>
                </a:solidFill>
                <a:latin typeface="SimSun"/>
                <a:cs typeface="SimSun"/>
              </a:rPr>
              <a:t>互联网造车势力</a:t>
            </a:r>
            <a:endParaRPr sz="2000">
              <a:latin typeface="SimSun"/>
              <a:cs typeface="SimSun"/>
            </a:endParaRPr>
          </a:p>
        </p:txBody>
      </p:sp>
      <p:sp>
        <p:nvSpPr>
          <p:cNvPr id="10" name="object 10" descr=""/>
          <p:cNvSpPr txBox="1"/>
          <p:nvPr/>
        </p:nvSpPr>
        <p:spPr>
          <a:xfrm>
            <a:off x="1905000" y="4552950"/>
            <a:ext cx="2114550" cy="400685"/>
          </a:xfrm>
          <a:prstGeom prst="rect">
            <a:avLst/>
          </a:prstGeom>
          <a:solidFill>
            <a:srgbClr val="72BFC5"/>
          </a:solidFill>
        </p:spPr>
        <p:txBody>
          <a:bodyPr wrap="square" lIns="0" tIns="41275" rIns="0" bIns="0" rtlCol="0" vert="horz">
            <a:spAutoFit/>
          </a:bodyPr>
          <a:lstStyle/>
          <a:p>
            <a:pPr marL="291465">
              <a:lnSpc>
                <a:spcPct val="100000"/>
              </a:lnSpc>
              <a:spcBef>
                <a:spcPts val="325"/>
              </a:spcBef>
            </a:pPr>
            <a:r>
              <a:rPr dirty="0" sz="2000" spc="-25">
                <a:solidFill>
                  <a:srgbClr val="FFFFFF"/>
                </a:solidFill>
                <a:latin typeface="SimSun"/>
                <a:cs typeface="SimSun"/>
              </a:rPr>
              <a:t>新兴造车势力</a:t>
            </a:r>
            <a:endParaRPr sz="2000">
              <a:latin typeface="SimSun"/>
              <a:cs typeface="SimSun"/>
            </a:endParaRPr>
          </a:p>
        </p:txBody>
      </p:sp>
      <p:grpSp>
        <p:nvGrpSpPr>
          <p:cNvPr id="11" name="object 11" descr=""/>
          <p:cNvGrpSpPr/>
          <p:nvPr/>
        </p:nvGrpSpPr>
        <p:grpSpPr>
          <a:xfrm>
            <a:off x="2107340" y="2643758"/>
            <a:ext cx="3921760" cy="2019300"/>
            <a:chOff x="2107340" y="2643758"/>
            <a:chExt cx="3921760" cy="2019300"/>
          </a:xfrm>
        </p:grpSpPr>
        <p:pic>
          <p:nvPicPr>
            <p:cNvPr id="12" name="object 12"/>
            <p:cNvPicPr/>
            <p:nvPr/>
          </p:nvPicPr>
          <p:blipFill>
            <a:blip r:embed="rId6" cstate="print"/>
            <a:stretch>
              <a:fillRect/>
            </a:stretch>
          </p:blipFill>
          <p:spPr>
            <a:xfrm>
              <a:off x="2107340" y="2643758"/>
              <a:ext cx="1172354" cy="968468"/>
            </a:xfrm>
            <a:prstGeom prst="rect">
              <a:avLst/>
            </a:prstGeom>
          </p:spPr>
        </p:pic>
        <p:pic>
          <p:nvPicPr>
            <p:cNvPr id="13" name="object 13"/>
            <p:cNvPicPr/>
            <p:nvPr/>
          </p:nvPicPr>
          <p:blipFill>
            <a:blip r:embed="rId7" cstate="print"/>
            <a:stretch>
              <a:fillRect/>
            </a:stretch>
          </p:blipFill>
          <p:spPr>
            <a:xfrm>
              <a:off x="4866489" y="2802704"/>
              <a:ext cx="1162243" cy="896426"/>
            </a:xfrm>
            <a:prstGeom prst="rect">
              <a:avLst/>
            </a:prstGeom>
          </p:spPr>
        </p:pic>
        <p:pic>
          <p:nvPicPr>
            <p:cNvPr id="14" name="object 14"/>
            <p:cNvPicPr/>
            <p:nvPr/>
          </p:nvPicPr>
          <p:blipFill>
            <a:blip r:embed="rId8" cstate="print"/>
            <a:stretch>
              <a:fillRect/>
            </a:stretch>
          </p:blipFill>
          <p:spPr>
            <a:xfrm>
              <a:off x="3667445" y="2643758"/>
              <a:ext cx="956383" cy="1170712"/>
            </a:xfrm>
            <a:prstGeom prst="rect">
              <a:avLst/>
            </a:prstGeom>
          </p:spPr>
        </p:pic>
        <p:pic>
          <p:nvPicPr>
            <p:cNvPr id="15" name="object 15"/>
            <p:cNvPicPr/>
            <p:nvPr/>
          </p:nvPicPr>
          <p:blipFill>
            <a:blip r:embed="rId9" cstate="print"/>
            <a:stretch>
              <a:fillRect/>
            </a:stretch>
          </p:blipFill>
          <p:spPr>
            <a:xfrm>
              <a:off x="2123732" y="3651872"/>
              <a:ext cx="1274265" cy="908874"/>
            </a:xfrm>
            <a:prstGeom prst="rect">
              <a:avLst/>
            </a:prstGeom>
          </p:spPr>
        </p:pic>
        <p:pic>
          <p:nvPicPr>
            <p:cNvPr id="16" name="object 16"/>
            <p:cNvPicPr/>
            <p:nvPr/>
          </p:nvPicPr>
          <p:blipFill>
            <a:blip r:embed="rId10" cstate="print"/>
            <a:stretch>
              <a:fillRect/>
            </a:stretch>
          </p:blipFill>
          <p:spPr>
            <a:xfrm>
              <a:off x="3406129" y="3714446"/>
              <a:ext cx="1525903" cy="854644"/>
            </a:xfrm>
            <a:prstGeom prst="rect">
              <a:avLst/>
            </a:prstGeom>
          </p:spPr>
        </p:pic>
        <p:pic>
          <p:nvPicPr>
            <p:cNvPr id="17" name="object 17"/>
            <p:cNvPicPr/>
            <p:nvPr/>
          </p:nvPicPr>
          <p:blipFill>
            <a:blip r:embed="rId11" cstate="print"/>
            <a:stretch>
              <a:fillRect/>
            </a:stretch>
          </p:blipFill>
          <p:spPr>
            <a:xfrm>
              <a:off x="5006708" y="3795885"/>
              <a:ext cx="933437" cy="866775"/>
            </a:xfrm>
            <a:prstGeom prst="rect">
              <a:avLst/>
            </a:prstGeom>
          </p:spPr>
        </p:pic>
      </p:grpSp>
      <p:pic>
        <p:nvPicPr>
          <p:cNvPr id="18" name="object 18"/>
          <p:cNvPicPr/>
          <p:nvPr/>
        </p:nvPicPr>
        <p:blipFill>
          <a:blip r:embed="rId12" cstate="print"/>
          <a:stretch>
            <a:fillRect/>
          </a:stretch>
        </p:blipFill>
        <p:spPr>
          <a:xfrm>
            <a:off x="187895" y="3973040"/>
            <a:ext cx="1676389" cy="381000"/>
          </a:xfrm>
          <a:prstGeom prst="rect">
            <a:avLst/>
          </a:prstGeom>
        </p:spPr>
      </p:pic>
      <p:grpSp>
        <p:nvGrpSpPr>
          <p:cNvPr id="19" name="object 19" descr=""/>
          <p:cNvGrpSpPr/>
          <p:nvPr/>
        </p:nvGrpSpPr>
        <p:grpSpPr>
          <a:xfrm>
            <a:off x="7581138" y="1595627"/>
            <a:ext cx="882015" cy="478790"/>
            <a:chOff x="7581138" y="1595627"/>
            <a:chExt cx="882015" cy="478790"/>
          </a:xfrm>
        </p:grpSpPr>
        <p:pic>
          <p:nvPicPr>
            <p:cNvPr id="20" name="object 20" descr=""/>
            <p:cNvPicPr/>
            <p:nvPr/>
          </p:nvPicPr>
          <p:blipFill>
            <a:blip r:embed="rId13" cstate="print"/>
            <a:stretch>
              <a:fillRect/>
            </a:stretch>
          </p:blipFill>
          <p:spPr>
            <a:xfrm>
              <a:off x="7622286" y="1612391"/>
              <a:ext cx="738377" cy="461771"/>
            </a:xfrm>
            <a:prstGeom prst="rect">
              <a:avLst/>
            </a:prstGeom>
          </p:spPr>
        </p:pic>
        <p:pic>
          <p:nvPicPr>
            <p:cNvPr id="21" name="object 21" descr=""/>
            <p:cNvPicPr/>
            <p:nvPr/>
          </p:nvPicPr>
          <p:blipFill>
            <a:blip r:embed="rId14" cstate="print"/>
            <a:stretch>
              <a:fillRect/>
            </a:stretch>
          </p:blipFill>
          <p:spPr>
            <a:xfrm>
              <a:off x="7581138" y="1595627"/>
              <a:ext cx="881633" cy="424433"/>
            </a:xfrm>
            <a:prstGeom prst="rect">
              <a:avLst/>
            </a:prstGeom>
          </p:spPr>
        </p:pic>
        <p:pic>
          <p:nvPicPr>
            <p:cNvPr id="22" name="object 22" descr=""/>
            <p:cNvPicPr/>
            <p:nvPr/>
          </p:nvPicPr>
          <p:blipFill>
            <a:blip r:embed="rId15" cstate="print"/>
            <a:stretch>
              <a:fillRect/>
            </a:stretch>
          </p:blipFill>
          <p:spPr>
            <a:xfrm>
              <a:off x="7668348" y="1635645"/>
              <a:ext cx="646328" cy="369328"/>
            </a:xfrm>
            <a:prstGeom prst="rect">
              <a:avLst/>
            </a:prstGeom>
          </p:spPr>
        </p:pic>
      </p:grpSp>
      <p:sp>
        <p:nvSpPr>
          <p:cNvPr id="23" name="object 23" descr=""/>
          <p:cNvSpPr txBox="1"/>
          <p:nvPr/>
        </p:nvSpPr>
        <p:spPr>
          <a:xfrm>
            <a:off x="7668343" y="1635645"/>
            <a:ext cx="646430" cy="369570"/>
          </a:xfrm>
          <a:prstGeom prst="rect">
            <a:avLst/>
          </a:prstGeom>
          <a:ln w="9525">
            <a:solidFill>
              <a:srgbClr val="B6DCDF"/>
            </a:solidFill>
          </a:ln>
        </p:spPr>
        <p:txBody>
          <a:bodyPr wrap="square" lIns="0" tIns="37465" rIns="0" bIns="0" rtlCol="0" vert="horz">
            <a:spAutoFit/>
          </a:bodyPr>
          <a:lstStyle/>
          <a:p>
            <a:pPr marL="91440">
              <a:lnSpc>
                <a:spcPct val="100000"/>
              </a:lnSpc>
              <a:spcBef>
                <a:spcPts val="295"/>
              </a:spcBef>
            </a:pPr>
            <a:r>
              <a:rPr dirty="0" sz="1800" spc="-25">
                <a:solidFill>
                  <a:srgbClr val="FFFFFF"/>
                </a:solidFill>
                <a:latin typeface="Microsoft YaHei"/>
                <a:cs typeface="Microsoft YaHei"/>
              </a:rPr>
              <a:t>关注</a:t>
            </a:r>
            <a:endParaRPr sz="1800">
              <a:latin typeface="Microsoft YaHei"/>
              <a:cs typeface="Microsoft YaHei"/>
            </a:endParaRPr>
          </a:p>
        </p:txBody>
      </p:sp>
      <p:sp>
        <p:nvSpPr>
          <p:cNvPr id="24" name="object 24" descr=""/>
          <p:cNvSpPr txBox="1"/>
          <p:nvPr/>
        </p:nvSpPr>
        <p:spPr>
          <a:xfrm>
            <a:off x="7227927" y="3682707"/>
            <a:ext cx="1854835" cy="574675"/>
          </a:xfrm>
          <a:prstGeom prst="rect">
            <a:avLst/>
          </a:prstGeom>
        </p:spPr>
        <p:txBody>
          <a:bodyPr wrap="square" lIns="0" tIns="12700" rIns="0" bIns="0" rtlCol="0" vert="horz">
            <a:spAutoFit/>
          </a:bodyPr>
          <a:lstStyle/>
          <a:p>
            <a:pPr marL="12700" marR="5080">
              <a:lnSpc>
                <a:spcPct val="100000"/>
              </a:lnSpc>
              <a:spcBef>
                <a:spcPts val="100"/>
              </a:spcBef>
            </a:pPr>
            <a:r>
              <a:rPr dirty="0" sz="1800" spc="-10">
                <a:latin typeface="SimSun"/>
                <a:cs typeface="SimSun"/>
              </a:rPr>
              <a:t>存在较多局限性：速度、成本等</a:t>
            </a:r>
            <a:endParaRPr sz="1800">
              <a:latin typeface="SimSun"/>
              <a:cs typeface="SimSun"/>
            </a:endParaRPr>
          </a:p>
        </p:txBody>
      </p:sp>
      <p:grpSp>
        <p:nvGrpSpPr>
          <p:cNvPr id="25" name="object 25" descr=""/>
          <p:cNvGrpSpPr/>
          <p:nvPr/>
        </p:nvGrpSpPr>
        <p:grpSpPr>
          <a:xfrm>
            <a:off x="7583423" y="3169919"/>
            <a:ext cx="882015" cy="478790"/>
            <a:chOff x="7583423" y="3169919"/>
            <a:chExt cx="882015" cy="478790"/>
          </a:xfrm>
        </p:grpSpPr>
        <p:pic>
          <p:nvPicPr>
            <p:cNvPr id="26" name="object 26" descr=""/>
            <p:cNvPicPr/>
            <p:nvPr/>
          </p:nvPicPr>
          <p:blipFill>
            <a:blip r:embed="rId16" cstate="print"/>
            <a:stretch>
              <a:fillRect/>
            </a:stretch>
          </p:blipFill>
          <p:spPr>
            <a:xfrm>
              <a:off x="7623809" y="3187445"/>
              <a:ext cx="738377" cy="461009"/>
            </a:xfrm>
            <a:prstGeom prst="rect">
              <a:avLst/>
            </a:prstGeom>
          </p:spPr>
        </p:pic>
        <p:pic>
          <p:nvPicPr>
            <p:cNvPr id="27" name="object 27" descr=""/>
            <p:cNvPicPr/>
            <p:nvPr/>
          </p:nvPicPr>
          <p:blipFill>
            <a:blip r:embed="rId14" cstate="print"/>
            <a:stretch>
              <a:fillRect/>
            </a:stretch>
          </p:blipFill>
          <p:spPr>
            <a:xfrm>
              <a:off x="7583423" y="3169919"/>
              <a:ext cx="881633" cy="424434"/>
            </a:xfrm>
            <a:prstGeom prst="rect">
              <a:avLst/>
            </a:prstGeom>
          </p:spPr>
        </p:pic>
        <p:pic>
          <p:nvPicPr>
            <p:cNvPr id="28" name="object 28" descr=""/>
            <p:cNvPicPr/>
            <p:nvPr/>
          </p:nvPicPr>
          <p:blipFill>
            <a:blip r:embed="rId17" cstate="print"/>
            <a:stretch>
              <a:fillRect/>
            </a:stretch>
          </p:blipFill>
          <p:spPr>
            <a:xfrm>
              <a:off x="7670088" y="3210534"/>
              <a:ext cx="646328" cy="369328"/>
            </a:xfrm>
            <a:prstGeom prst="rect">
              <a:avLst/>
            </a:prstGeom>
          </p:spPr>
        </p:pic>
      </p:grpSp>
      <p:sp>
        <p:nvSpPr>
          <p:cNvPr id="29" name="object 29" descr=""/>
          <p:cNvSpPr txBox="1"/>
          <p:nvPr/>
        </p:nvSpPr>
        <p:spPr>
          <a:xfrm>
            <a:off x="7670085" y="3210529"/>
            <a:ext cx="646430" cy="369570"/>
          </a:xfrm>
          <a:prstGeom prst="rect">
            <a:avLst/>
          </a:prstGeom>
          <a:ln w="9525">
            <a:solidFill>
              <a:srgbClr val="B6DCDF"/>
            </a:solidFill>
          </a:ln>
        </p:spPr>
        <p:txBody>
          <a:bodyPr wrap="square" lIns="0" tIns="36830" rIns="0" bIns="0" rtlCol="0" vert="horz">
            <a:spAutoFit/>
          </a:bodyPr>
          <a:lstStyle/>
          <a:p>
            <a:pPr marL="90805">
              <a:lnSpc>
                <a:spcPct val="100000"/>
              </a:lnSpc>
              <a:spcBef>
                <a:spcPts val="290"/>
              </a:spcBef>
            </a:pPr>
            <a:r>
              <a:rPr dirty="0" sz="1800" spc="-25">
                <a:solidFill>
                  <a:srgbClr val="FFFFFF"/>
                </a:solidFill>
                <a:latin typeface="Microsoft YaHei"/>
                <a:cs typeface="Microsoft YaHei"/>
              </a:rPr>
              <a:t>局限</a:t>
            </a:r>
            <a:endParaRPr sz="1800">
              <a:latin typeface="Microsoft YaHei"/>
              <a:cs typeface="Microsoft YaHei"/>
            </a:endParaRPr>
          </a:p>
        </p:txBody>
      </p:sp>
      <p:sp>
        <p:nvSpPr>
          <p:cNvPr id="30" name="object 30" descr=""/>
          <p:cNvSpPr/>
          <p:nvPr/>
        </p:nvSpPr>
        <p:spPr>
          <a:xfrm>
            <a:off x="6529575" y="1779662"/>
            <a:ext cx="563245" cy="2366645"/>
          </a:xfrm>
          <a:custGeom>
            <a:avLst/>
            <a:gdLst/>
            <a:ahLst/>
            <a:cxnLst/>
            <a:rect l="l" t="t" r="r" b="b"/>
            <a:pathLst>
              <a:path w="563245" h="2366645">
                <a:moveTo>
                  <a:pt x="0" y="0"/>
                </a:moveTo>
                <a:lnTo>
                  <a:pt x="74794" y="1674"/>
                </a:lnTo>
                <a:lnTo>
                  <a:pt x="142003" y="6401"/>
                </a:lnTo>
                <a:lnTo>
                  <a:pt x="198947" y="13733"/>
                </a:lnTo>
                <a:lnTo>
                  <a:pt x="242941" y="23223"/>
                </a:lnTo>
                <a:lnTo>
                  <a:pt x="281355" y="46888"/>
                </a:lnTo>
                <a:lnTo>
                  <a:pt x="281355" y="1136383"/>
                </a:lnTo>
                <a:lnTo>
                  <a:pt x="291405" y="1148847"/>
                </a:lnTo>
                <a:lnTo>
                  <a:pt x="363758" y="1169538"/>
                </a:lnTo>
                <a:lnTo>
                  <a:pt x="420698" y="1176869"/>
                </a:lnTo>
                <a:lnTo>
                  <a:pt x="487905" y="1181596"/>
                </a:lnTo>
                <a:lnTo>
                  <a:pt x="562698" y="1183271"/>
                </a:lnTo>
                <a:lnTo>
                  <a:pt x="487905" y="1184946"/>
                </a:lnTo>
                <a:lnTo>
                  <a:pt x="420698" y="1189673"/>
                </a:lnTo>
                <a:lnTo>
                  <a:pt x="363758" y="1197005"/>
                </a:lnTo>
                <a:lnTo>
                  <a:pt x="319766" y="1206494"/>
                </a:lnTo>
                <a:lnTo>
                  <a:pt x="281355" y="1230160"/>
                </a:lnTo>
                <a:lnTo>
                  <a:pt x="281355" y="2319655"/>
                </a:lnTo>
                <a:lnTo>
                  <a:pt x="242941" y="2343320"/>
                </a:lnTo>
                <a:lnTo>
                  <a:pt x="198947" y="2352809"/>
                </a:lnTo>
                <a:lnTo>
                  <a:pt x="142003" y="2360141"/>
                </a:lnTo>
                <a:lnTo>
                  <a:pt x="74794" y="2364868"/>
                </a:lnTo>
                <a:lnTo>
                  <a:pt x="0" y="2366543"/>
                </a:lnTo>
              </a:path>
            </a:pathLst>
          </a:custGeom>
          <a:ln w="57150">
            <a:solidFill>
              <a:srgbClr val="B6DCDF"/>
            </a:solidFill>
          </a:ln>
        </p:spPr>
        <p:txBody>
          <a:bodyPr wrap="square" lIns="0" tIns="0" rIns="0" bIns="0" rtlCol="0"/>
          <a:lstStyl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9047" y="165390"/>
            <a:ext cx="3888104" cy="513080"/>
          </a:xfrm>
          <a:prstGeom prst="rect"/>
        </p:spPr>
        <p:txBody>
          <a:bodyPr wrap="square" lIns="0" tIns="12065" rIns="0" bIns="0" rtlCol="0" vert="horz">
            <a:spAutoFit/>
          </a:bodyPr>
          <a:lstStyle/>
          <a:p>
            <a:pPr marL="12700">
              <a:lnSpc>
                <a:spcPct val="100000"/>
              </a:lnSpc>
              <a:spcBef>
                <a:spcPts val="95"/>
              </a:spcBef>
            </a:pPr>
            <a:r>
              <a:rPr dirty="0" spc="-40"/>
              <a:t>业界动态</a:t>
            </a:r>
            <a:r>
              <a:rPr dirty="0" spc="-30">
                <a:latin typeface="Times New Roman"/>
                <a:cs typeface="Times New Roman"/>
              </a:rPr>
              <a:t>2</a:t>
            </a:r>
            <a:r>
              <a:rPr dirty="0" spc="-45"/>
              <a:t>：传统车企</a:t>
            </a:r>
          </a:p>
        </p:txBody>
      </p:sp>
      <p:sp>
        <p:nvSpPr>
          <p:cNvPr id="3" name="object 3" descr=""/>
          <p:cNvSpPr txBox="1"/>
          <p:nvPr/>
        </p:nvSpPr>
        <p:spPr>
          <a:xfrm>
            <a:off x="5586844" y="3837505"/>
            <a:ext cx="2997200" cy="563880"/>
          </a:xfrm>
          <a:prstGeom prst="rect">
            <a:avLst/>
          </a:prstGeom>
        </p:spPr>
        <p:txBody>
          <a:bodyPr wrap="square" lIns="0" tIns="29845" rIns="0" bIns="0" rtlCol="0" vert="horz">
            <a:spAutoFit/>
          </a:bodyPr>
          <a:lstStyle/>
          <a:p>
            <a:pPr marL="12700" marR="5080">
              <a:lnSpc>
                <a:spcPts val="2080"/>
              </a:lnSpc>
              <a:spcBef>
                <a:spcPts val="235"/>
              </a:spcBef>
            </a:pPr>
            <a:r>
              <a:rPr dirty="0" sz="1800" spc="-5">
                <a:latin typeface="SimSun"/>
                <a:cs typeface="SimSun"/>
              </a:rPr>
              <a:t>商业模式：最终用户是否愿为</a:t>
            </a:r>
            <a:r>
              <a:rPr dirty="0" sz="1800" spc="-10">
                <a:latin typeface="SimSun"/>
                <a:cs typeface="SimSun"/>
              </a:rPr>
              <a:t>新增功能买单</a:t>
            </a:r>
            <a:endParaRPr sz="1800">
              <a:latin typeface="SimSun"/>
              <a:cs typeface="SimSun"/>
            </a:endParaRPr>
          </a:p>
        </p:txBody>
      </p:sp>
      <p:pic>
        <p:nvPicPr>
          <p:cNvPr id="4" name="object 4"/>
          <p:cNvPicPr/>
          <p:nvPr/>
        </p:nvPicPr>
        <p:blipFill>
          <a:blip r:embed="rId2" cstate="print"/>
          <a:stretch>
            <a:fillRect/>
          </a:stretch>
        </p:blipFill>
        <p:spPr>
          <a:xfrm>
            <a:off x="355818" y="1131595"/>
            <a:ext cx="2018256" cy="766627"/>
          </a:xfrm>
          <a:prstGeom prst="rect">
            <a:avLst/>
          </a:prstGeom>
        </p:spPr>
      </p:pic>
      <p:pic>
        <p:nvPicPr>
          <p:cNvPr id="5" name="object 5"/>
          <p:cNvPicPr/>
          <p:nvPr/>
        </p:nvPicPr>
        <p:blipFill>
          <a:blip r:embed="rId3" cstate="print"/>
          <a:stretch>
            <a:fillRect/>
          </a:stretch>
        </p:blipFill>
        <p:spPr>
          <a:xfrm>
            <a:off x="2438400" y="895350"/>
            <a:ext cx="2390825" cy="1279621"/>
          </a:xfrm>
          <a:prstGeom prst="rect">
            <a:avLst/>
          </a:prstGeom>
        </p:spPr>
      </p:pic>
      <p:pic>
        <p:nvPicPr>
          <p:cNvPr id="6" name="object 6"/>
          <p:cNvPicPr/>
          <p:nvPr/>
        </p:nvPicPr>
        <p:blipFill>
          <a:blip r:embed="rId4" cstate="print"/>
          <a:stretch>
            <a:fillRect/>
          </a:stretch>
        </p:blipFill>
        <p:spPr>
          <a:xfrm>
            <a:off x="554361" y="2355725"/>
            <a:ext cx="1396261" cy="1136476"/>
          </a:xfrm>
          <a:prstGeom prst="rect">
            <a:avLst/>
          </a:prstGeom>
        </p:spPr>
      </p:pic>
      <p:pic>
        <p:nvPicPr>
          <p:cNvPr id="7" name="object 7"/>
          <p:cNvPicPr/>
          <p:nvPr/>
        </p:nvPicPr>
        <p:blipFill>
          <a:blip r:embed="rId5" cstate="print"/>
          <a:stretch>
            <a:fillRect/>
          </a:stretch>
        </p:blipFill>
        <p:spPr>
          <a:xfrm>
            <a:off x="2483767" y="2283717"/>
            <a:ext cx="2395178" cy="1339909"/>
          </a:xfrm>
          <a:prstGeom prst="rect">
            <a:avLst/>
          </a:prstGeom>
        </p:spPr>
      </p:pic>
      <p:pic>
        <p:nvPicPr>
          <p:cNvPr id="8" name="object 8"/>
          <p:cNvPicPr/>
          <p:nvPr/>
        </p:nvPicPr>
        <p:blipFill>
          <a:blip r:embed="rId6" cstate="print"/>
          <a:stretch>
            <a:fillRect/>
          </a:stretch>
        </p:blipFill>
        <p:spPr>
          <a:xfrm>
            <a:off x="683567" y="3867899"/>
            <a:ext cx="1108808" cy="1075624"/>
          </a:xfrm>
          <a:prstGeom prst="rect">
            <a:avLst/>
          </a:prstGeom>
        </p:spPr>
      </p:pic>
      <p:pic>
        <p:nvPicPr>
          <p:cNvPr id="9" name="object 9"/>
          <p:cNvPicPr/>
          <p:nvPr/>
        </p:nvPicPr>
        <p:blipFill>
          <a:blip r:embed="rId7" cstate="print"/>
          <a:stretch>
            <a:fillRect/>
          </a:stretch>
        </p:blipFill>
        <p:spPr>
          <a:xfrm>
            <a:off x="2483766" y="3752637"/>
            <a:ext cx="2390823" cy="1267380"/>
          </a:xfrm>
          <a:prstGeom prst="rect">
            <a:avLst/>
          </a:prstGeom>
        </p:spPr>
      </p:pic>
      <p:grpSp>
        <p:nvGrpSpPr>
          <p:cNvPr id="10" name="object 10" descr=""/>
          <p:cNvGrpSpPr/>
          <p:nvPr/>
        </p:nvGrpSpPr>
        <p:grpSpPr>
          <a:xfrm>
            <a:off x="6417564" y="1595627"/>
            <a:ext cx="882015" cy="478790"/>
            <a:chOff x="6417564" y="1595627"/>
            <a:chExt cx="882015" cy="478790"/>
          </a:xfrm>
        </p:grpSpPr>
        <p:pic>
          <p:nvPicPr>
            <p:cNvPr id="11" name="object 11" descr=""/>
            <p:cNvPicPr/>
            <p:nvPr/>
          </p:nvPicPr>
          <p:blipFill>
            <a:blip r:embed="rId8" cstate="print"/>
            <a:stretch>
              <a:fillRect/>
            </a:stretch>
          </p:blipFill>
          <p:spPr>
            <a:xfrm>
              <a:off x="6458712" y="1612391"/>
              <a:ext cx="738377" cy="461771"/>
            </a:xfrm>
            <a:prstGeom prst="rect">
              <a:avLst/>
            </a:prstGeom>
          </p:spPr>
        </p:pic>
        <p:pic>
          <p:nvPicPr>
            <p:cNvPr id="12" name="object 12" descr=""/>
            <p:cNvPicPr/>
            <p:nvPr/>
          </p:nvPicPr>
          <p:blipFill>
            <a:blip r:embed="rId9" cstate="print"/>
            <a:stretch>
              <a:fillRect/>
            </a:stretch>
          </p:blipFill>
          <p:spPr>
            <a:xfrm>
              <a:off x="6417564" y="1595627"/>
              <a:ext cx="881632" cy="424433"/>
            </a:xfrm>
            <a:prstGeom prst="rect">
              <a:avLst/>
            </a:prstGeom>
          </p:spPr>
        </p:pic>
      </p:grpSp>
      <p:sp>
        <p:nvSpPr>
          <p:cNvPr id="13" name="object 13" descr=""/>
          <p:cNvSpPr txBox="1"/>
          <p:nvPr/>
        </p:nvSpPr>
        <p:spPr>
          <a:xfrm>
            <a:off x="6504596" y="1635645"/>
            <a:ext cx="646430" cy="369570"/>
          </a:xfrm>
          <a:prstGeom prst="rect">
            <a:avLst/>
          </a:prstGeom>
          <a:solidFill>
            <a:srgbClr val="00CC00"/>
          </a:solidFill>
          <a:ln w="9525">
            <a:solidFill>
              <a:srgbClr val="B6DCDF"/>
            </a:solidFill>
          </a:ln>
        </p:spPr>
        <p:txBody>
          <a:bodyPr wrap="square" lIns="0" tIns="37465" rIns="0" bIns="0" rtlCol="0" vert="horz">
            <a:spAutoFit/>
          </a:bodyPr>
          <a:lstStyle/>
          <a:p>
            <a:pPr marL="91440">
              <a:lnSpc>
                <a:spcPct val="100000"/>
              </a:lnSpc>
              <a:spcBef>
                <a:spcPts val="295"/>
              </a:spcBef>
            </a:pPr>
            <a:r>
              <a:rPr dirty="0" sz="1800" spc="-25">
                <a:solidFill>
                  <a:srgbClr val="FFFFFF"/>
                </a:solidFill>
                <a:latin typeface="Microsoft YaHei"/>
                <a:cs typeface="Microsoft YaHei"/>
              </a:rPr>
              <a:t>关注</a:t>
            </a:r>
            <a:endParaRPr sz="1800">
              <a:latin typeface="Microsoft YaHei"/>
              <a:cs typeface="Microsoft YaHei"/>
            </a:endParaRPr>
          </a:p>
        </p:txBody>
      </p:sp>
      <p:grpSp>
        <p:nvGrpSpPr>
          <p:cNvPr id="14" name="object 14" descr=""/>
          <p:cNvGrpSpPr/>
          <p:nvPr/>
        </p:nvGrpSpPr>
        <p:grpSpPr>
          <a:xfrm>
            <a:off x="6431279" y="3169919"/>
            <a:ext cx="882015" cy="478790"/>
            <a:chOff x="6431279" y="3169919"/>
            <a:chExt cx="882015" cy="478790"/>
          </a:xfrm>
        </p:grpSpPr>
        <p:pic>
          <p:nvPicPr>
            <p:cNvPr id="15" name="object 15" descr=""/>
            <p:cNvPicPr/>
            <p:nvPr/>
          </p:nvPicPr>
          <p:blipFill>
            <a:blip r:embed="rId10" cstate="print"/>
            <a:stretch>
              <a:fillRect/>
            </a:stretch>
          </p:blipFill>
          <p:spPr>
            <a:xfrm>
              <a:off x="6471665" y="3187445"/>
              <a:ext cx="738377" cy="461009"/>
            </a:xfrm>
            <a:prstGeom prst="rect">
              <a:avLst/>
            </a:prstGeom>
          </p:spPr>
        </p:pic>
        <p:pic>
          <p:nvPicPr>
            <p:cNvPr id="16" name="object 16" descr=""/>
            <p:cNvPicPr/>
            <p:nvPr/>
          </p:nvPicPr>
          <p:blipFill>
            <a:blip r:embed="rId9" cstate="print"/>
            <a:stretch>
              <a:fillRect/>
            </a:stretch>
          </p:blipFill>
          <p:spPr>
            <a:xfrm>
              <a:off x="6431279" y="3169919"/>
              <a:ext cx="881633" cy="424434"/>
            </a:xfrm>
            <a:prstGeom prst="rect">
              <a:avLst/>
            </a:prstGeom>
          </p:spPr>
        </p:pic>
      </p:grpSp>
      <p:sp>
        <p:nvSpPr>
          <p:cNvPr id="17" name="object 17" descr=""/>
          <p:cNvSpPr txBox="1"/>
          <p:nvPr/>
        </p:nvSpPr>
        <p:spPr>
          <a:xfrm>
            <a:off x="6517957" y="3210534"/>
            <a:ext cx="646430" cy="369570"/>
          </a:xfrm>
          <a:prstGeom prst="rect">
            <a:avLst/>
          </a:prstGeom>
          <a:solidFill>
            <a:srgbClr val="00CC00"/>
          </a:solidFill>
          <a:ln w="9525">
            <a:solidFill>
              <a:srgbClr val="B6DCDF"/>
            </a:solidFill>
          </a:ln>
        </p:spPr>
        <p:txBody>
          <a:bodyPr wrap="square" lIns="0" tIns="36830" rIns="0" bIns="0" rtlCol="0" vert="horz">
            <a:spAutoFit/>
          </a:bodyPr>
          <a:lstStyle/>
          <a:p>
            <a:pPr marL="90805">
              <a:lnSpc>
                <a:spcPct val="100000"/>
              </a:lnSpc>
              <a:spcBef>
                <a:spcPts val="290"/>
              </a:spcBef>
            </a:pPr>
            <a:r>
              <a:rPr dirty="0" sz="1800" spc="-25">
                <a:solidFill>
                  <a:srgbClr val="FFFFFF"/>
                </a:solidFill>
                <a:latin typeface="Microsoft YaHei"/>
                <a:cs typeface="Microsoft YaHei"/>
              </a:rPr>
              <a:t>模式</a:t>
            </a:r>
            <a:endParaRPr sz="1800">
              <a:latin typeface="Microsoft YaHei"/>
              <a:cs typeface="Microsoft YaHei"/>
            </a:endParaRPr>
          </a:p>
        </p:txBody>
      </p:sp>
      <p:sp>
        <p:nvSpPr>
          <p:cNvPr id="18" name="object 18" descr=""/>
          <p:cNvSpPr/>
          <p:nvPr/>
        </p:nvSpPr>
        <p:spPr>
          <a:xfrm>
            <a:off x="5004047" y="1779662"/>
            <a:ext cx="563245" cy="2366645"/>
          </a:xfrm>
          <a:custGeom>
            <a:avLst/>
            <a:gdLst/>
            <a:ahLst/>
            <a:cxnLst/>
            <a:rect l="l" t="t" r="r" b="b"/>
            <a:pathLst>
              <a:path w="563245" h="2366645">
                <a:moveTo>
                  <a:pt x="0" y="0"/>
                </a:moveTo>
                <a:lnTo>
                  <a:pt x="74794" y="1674"/>
                </a:lnTo>
                <a:lnTo>
                  <a:pt x="142003" y="6401"/>
                </a:lnTo>
                <a:lnTo>
                  <a:pt x="198947" y="13733"/>
                </a:lnTo>
                <a:lnTo>
                  <a:pt x="242941" y="23223"/>
                </a:lnTo>
                <a:lnTo>
                  <a:pt x="281355" y="46888"/>
                </a:lnTo>
                <a:lnTo>
                  <a:pt x="281355" y="1136383"/>
                </a:lnTo>
                <a:lnTo>
                  <a:pt x="291405" y="1148847"/>
                </a:lnTo>
                <a:lnTo>
                  <a:pt x="363758" y="1169538"/>
                </a:lnTo>
                <a:lnTo>
                  <a:pt x="420698" y="1176869"/>
                </a:lnTo>
                <a:lnTo>
                  <a:pt x="487905" y="1181596"/>
                </a:lnTo>
                <a:lnTo>
                  <a:pt x="562698" y="1183271"/>
                </a:lnTo>
                <a:lnTo>
                  <a:pt x="487905" y="1184946"/>
                </a:lnTo>
                <a:lnTo>
                  <a:pt x="420698" y="1189673"/>
                </a:lnTo>
                <a:lnTo>
                  <a:pt x="363758" y="1197005"/>
                </a:lnTo>
                <a:lnTo>
                  <a:pt x="319766" y="1206494"/>
                </a:lnTo>
                <a:lnTo>
                  <a:pt x="281355" y="1230160"/>
                </a:lnTo>
                <a:lnTo>
                  <a:pt x="281355" y="2319655"/>
                </a:lnTo>
                <a:lnTo>
                  <a:pt x="242941" y="2343320"/>
                </a:lnTo>
                <a:lnTo>
                  <a:pt x="198947" y="2352809"/>
                </a:lnTo>
                <a:lnTo>
                  <a:pt x="142003" y="2360141"/>
                </a:lnTo>
                <a:lnTo>
                  <a:pt x="74794" y="2364868"/>
                </a:lnTo>
                <a:lnTo>
                  <a:pt x="0" y="2366543"/>
                </a:lnTo>
              </a:path>
            </a:pathLst>
          </a:custGeom>
          <a:ln w="57150">
            <a:solidFill>
              <a:srgbClr val="B6DCDF"/>
            </a:solidFill>
          </a:ln>
        </p:spPr>
        <p:txBody>
          <a:bodyPr wrap="square" lIns="0" tIns="0" rIns="0" bIns="0" rtlCol="0"/>
          <a:lstStyle/>
          <a:p/>
        </p:txBody>
      </p:sp>
      <p:sp>
        <p:nvSpPr>
          <p:cNvPr id="19" name="object 19" descr=""/>
          <p:cNvSpPr txBox="1"/>
          <p:nvPr/>
        </p:nvSpPr>
        <p:spPr>
          <a:xfrm>
            <a:off x="5540091" y="2175348"/>
            <a:ext cx="2997200" cy="574040"/>
          </a:xfrm>
          <a:prstGeom prst="rect">
            <a:avLst/>
          </a:prstGeom>
        </p:spPr>
        <p:txBody>
          <a:bodyPr wrap="square" lIns="0" tIns="12700" rIns="0" bIns="0" rtlCol="0" vert="horz">
            <a:spAutoFit/>
          </a:bodyPr>
          <a:lstStyle/>
          <a:p>
            <a:pPr marL="12700" marR="5080">
              <a:lnSpc>
                <a:spcPct val="100000"/>
              </a:lnSpc>
              <a:spcBef>
                <a:spcPts val="100"/>
              </a:spcBef>
            </a:pPr>
            <a:r>
              <a:rPr dirty="0" sz="1800" spc="-5">
                <a:latin typeface="SimSun"/>
                <a:cs typeface="SimSun"/>
              </a:rPr>
              <a:t>演进方式：更注重逐步演进，</a:t>
            </a:r>
            <a:r>
              <a:rPr dirty="0" sz="1800" spc="-10">
                <a:latin typeface="SimSun"/>
                <a:cs typeface="SimSun"/>
              </a:rPr>
              <a:t>从智能辅助驾驶开始</a:t>
            </a:r>
            <a:endParaRPr sz="1800">
              <a:latin typeface="SimSun"/>
              <a:cs typeface="SimSu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5346" y="199136"/>
            <a:ext cx="58299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是车辆网联化发展的关键技术</a:t>
            </a:r>
          </a:p>
        </p:txBody>
      </p:sp>
      <p:grpSp>
        <p:nvGrpSpPr>
          <p:cNvPr id="3" name="object 3" descr=""/>
          <p:cNvGrpSpPr/>
          <p:nvPr/>
        </p:nvGrpSpPr>
        <p:grpSpPr>
          <a:xfrm>
            <a:off x="2683764" y="3018294"/>
            <a:ext cx="1832610" cy="2074545"/>
            <a:chOff x="2683764" y="3018294"/>
            <a:chExt cx="1832610" cy="2074545"/>
          </a:xfrm>
        </p:grpSpPr>
        <p:pic>
          <p:nvPicPr>
            <p:cNvPr id="4" name="object 4"/>
            <p:cNvPicPr/>
            <p:nvPr/>
          </p:nvPicPr>
          <p:blipFill>
            <a:blip r:embed="rId2" cstate="print"/>
            <a:stretch>
              <a:fillRect/>
            </a:stretch>
          </p:blipFill>
          <p:spPr>
            <a:xfrm>
              <a:off x="2939796" y="3459492"/>
              <a:ext cx="1321307" cy="1632952"/>
            </a:xfrm>
            <a:prstGeom prst="rect">
              <a:avLst/>
            </a:prstGeom>
          </p:spPr>
        </p:pic>
        <p:pic>
          <p:nvPicPr>
            <p:cNvPr id="5" name="object 5"/>
            <p:cNvPicPr/>
            <p:nvPr/>
          </p:nvPicPr>
          <p:blipFill>
            <a:blip r:embed="rId3" cstate="print"/>
            <a:stretch>
              <a:fillRect/>
            </a:stretch>
          </p:blipFill>
          <p:spPr>
            <a:xfrm>
              <a:off x="2683764" y="3018294"/>
              <a:ext cx="1832609" cy="1813546"/>
            </a:xfrm>
            <a:prstGeom prst="rect">
              <a:avLst/>
            </a:prstGeom>
          </p:spPr>
        </p:pic>
        <p:pic>
          <p:nvPicPr>
            <p:cNvPr id="6" name="object 6" descr=""/>
            <p:cNvPicPr/>
            <p:nvPr/>
          </p:nvPicPr>
          <p:blipFill>
            <a:blip r:embed="rId4" cstate="print"/>
            <a:stretch>
              <a:fillRect/>
            </a:stretch>
          </p:blipFill>
          <p:spPr>
            <a:xfrm>
              <a:off x="3064763" y="3221735"/>
              <a:ext cx="1070609" cy="1051559"/>
            </a:xfrm>
            <a:prstGeom prst="rect">
              <a:avLst/>
            </a:prstGeom>
          </p:spPr>
        </p:pic>
        <p:pic>
          <p:nvPicPr>
            <p:cNvPr id="7" name="object 7"/>
            <p:cNvPicPr/>
            <p:nvPr/>
          </p:nvPicPr>
          <p:blipFill>
            <a:blip r:embed="rId5" cstate="print"/>
            <a:stretch>
              <a:fillRect/>
            </a:stretch>
          </p:blipFill>
          <p:spPr>
            <a:xfrm>
              <a:off x="3265169" y="3489197"/>
              <a:ext cx="669797" cy="1319021"/>
            </a:xfrm>
            <a:prstGeom prst="rect">
              <a:avLst/>
            </a:prstGeom>
          </p:spPr>
        </p:pic>
        <p:pic>
          <p:nvPicPr>
            <p:cNvPr id="8" name="object 8"/>
            <p:cNvPicPr/>
            <p:nvPr/>
          </p:nvPicPr>
          <p:blipFill>
            <a:blip r:embed="rId6" cstate="print"/>
            <a:stretch>
              <a:fillRect/>
            </a:stretch>
          </p:blipFill>
          <p:spPr>
            <a:xfrm>
              <a:off x="3176778" y="3404615"/>
              <a:ext cx="847343" cy="838199"/>
            </a:xfrm>
            <a:prstGeom prst="rect">
              <a:avLst/>
            </a:prstGeom>
          </p:spPr>
        </p:pic>
        <p:pic>
          <p:nvPicPr>
            <p:cNvPr id="9" name="object 9" descr=""/>
            <p:cNvPicPr/>
            <p:nvPr/>
          </p:nvPicPr>
          <p:blipFill>
            <a:blip r:embed="rId7" cstate="print"/>
            <a:stretch>
              <a:fillRect/>
            </a:stretch>
          </p:blipFill>
          <p:spPr>
            <a:xfrm>
              <a:off x="3329178" y="3480815"/>
              <a:ext cx="542531" cy="533399"/>
            </a:xfrm>
            <a:prstGeom prst="rect">
              <a:avLst/>
            </a:prstGeom>
          </p:spPr>
        </p:pic>
        <p:sp>
          <p:nvSpPr>
            <p:cNvPr id="10" name="object 10" descr=""/>
            <p:cNvSpPr/>
            <p:nvPr/>
          </p:nvSpPr>
          <p:spPr>
            <a:xfrm>
              <a:off x="3431421" y="3515827"/>
              <a:ext cx="337820" cy="124460"/>
            </a:xfrm>
            <a:custGeom>
              <a:avLst/>
              <a:gdLst/>
              <a:ahLst/>
              <a:cxnLst/>
              <a:rect l="l" t="t" r="r" b="b"/>
              <a:pathLst>
                <a:path w="337820" h="124460">
                  <a:moveTo>
                    <a:pt x="168681" y="0"/>
                  </a:moveTo>
                  <a:lnTo>
                    <a:pt x="115362" y="6319"/>
                  </a:lnTo>
                  <a:lnTo>
                    <a:pt x="69057" y="23917"/>
                  </a:lnTo>
                  <a:lnTo>
                    <a:pt x="32543" y="50751"/>
                  </a:lnTo>
                  <a:lnTo>
                    <a:pt x="8598" y="84781"/>
                  </a:lnTo>
                  <a:lnTo>
                    <a:pt x="0" y="123964"/>
                  </a:lnTo>
                  <a:lnTo>
                    <a:pt x="48638" y="107035"/>
                  </a:lnTo>
                  <a:lnTo>
                    <a:pt x="95284" y="96156"/>
                  </a:lnTo>
                  <a:lnTo>
                    <a:pt x="141044" y="91082"/>
                  </a:lnTo>
                  <a:lnTo>
                    <a:pt x="187025" y="91570"/>
                  </a:lnTo>
                  <a:lnTo>
                    <a:pt x="234334" y="97375"/>
                  </a:lnTo>
                  <a:lnTo>
                    <a:pt x="284077" y="108255"/>
                  </a:lnTo>
                  <a:lnTo>
                    <a:pt x="337362" y="123964"/>
                  </a:lnTo>
                  <a:lnTo>
                    <a:pt x="328762" y="84781"/>
                  </a:lnTo>
                  <a:lnTo>
                    <a:pt x="304815" y="50751"/>
                  </a:lnTo>
                  <a:lnTo>
                    <a:pt x="268299" y="23917"/>
                  </a:lnTo>
                  <a:lnTo>
                    <a:pt x="221995" y="6319"/>
                  </a:lnTo>
                  <a:lnTo>
                    <a:pt x="168681" y="0"/>
                  </a:lnTo>
                  <a:close/>
                </a:path>
              </a:pathLst>
            </a:custGeom>
            <a:solidFill>
              <a:srgbClr val="FFFFFF">
                <a:alpha val="30194"/>
              </a:srgbClr>
            </a:solidFill>
          </p:spPr>
          <p:txBody>
            <a:bodyPr wrap="square" lIns="0" tIns="0" rIns="0" bIns="0" rtlCol="0"/>
            <a:lstStyle/>
            <a:p/>
          </p:txBody>
        </p:sp>
      </p:grpSp>
      <p:sp>
        <p:nvSpPr>
          <p:cNvPr id="11" name="object 11" descr=""/>
          <p:cNvSpPr txBox="1"/>
          <p:nvPr/>
        </p:nvSpPr>
        <p:spPr>
          <a:xfrm>
            <a:off x="3513071" y="3571900"/>
            <a:ext cx="174625" cy="330200"/>
          </a:xfrm>
          <a:prstGeom prst="rect">
            <a:avLst/>
          </a:prstGeom>
        </p:spPr>
        <p:txBody>
          <a:bodyPr wrap="square" lIns="0" tIns="12065" rIns="0" bIns="0" rtlCol="0" vert="horz">
            <a:spAutoFit/>
          </a:bodyPr>
          <a:lstStyle/>
          <a:p>
            <a:pPr marL="12700">
              <a:lnSpc>
                <a:spcPct val="100000"/>
              </a:lnSpc>
              <a:spcBef>
                <a:spcPts val="95"/>
              </a:spcBef>
            </a:pPr>
            <a:r>
              <a:rPr dirty="0" sz="2000" spc="-50">
                <a:solidFill>
                  <a:srgbClr val="FFFFFF"/>
                </a:solidFill>
                <a:latin typeface="Microsoft YaHei"/>
                <a:cs typeface="Microsoft YaHei"/>
              </a:rPr>
              <a:t>3</a:t>
            </a:r>
            <a:endParaRPr sz="2000">
              <a:latin typeface="Microsoft YaHei"/>
              <a:cs typeface="Microsoft YaHei"/>
            </a:endParaRPr>
          </a:p>
        </p:txBody>
      </p:sp>
      <p:grpSp>
        <p:nvGrpSpPr>
          <p:cNvPr id="12" name="object 12" descr=""/>
          <p:cNvGrpSpPr/>
          <p:nvPr/>
        </p:nvGrpSpPr>
        <p:grpSpPr>
          <a:xfrm>
            <a:off x="4264152" y="3018294"/>
            <a:ext cx="1832610" cy="2074545"/>
            <a:chOff x="4264152" y="3018294"/>
            <a:chExt cx="1832610" cy="2074545"/>
          </a:xfrm>
        </p:grpSpPr>
        <p:pic>
          <p:nvPicPr>
            <p:cNvPr id="13" name="object 13"/>
            <p:cNvPicPr/>
            <p:nvPr/>
          </p:nvPicPr>
          <p:blipFill>
            <a:blip r:embed="rId8" cstate="print"/>
            <a:stretch>
              <a:fillRect/>
            </a:stretch>
          </p:blipFill>
          <p:spPr>
            <a:xfrm>
              <a:off x="4520184" y="3459492"/>
              <a:ext cx="1321307" cy="1632952"/>
            </a:xfrm>
            <a:prstGeom prst="rect">
              <a:avLst/>
            </a:prstGeom>
          </p:spPr>
        </p:pic>
        <p:pic>
          <p:nvPicPr>
            <p:cNvPr id="14" name="object 14"/>
            <p:cNvPicPr/>
            <p:nvPr/>
          </p:nvPicPr>
          <p:blipFill>
            <a:blip r:embed="rId9" cstate="print"/>
            <a:stretch>
              <a:fillRect/>
            </a:stretch>
          </p:blipFill>
          <p:spPr>
            <a:xfrm>
              <a:off x="4264152" y="3018294"/>
              <a:ext cx="1832609" cy="1813546"/>
            </a:xfrm>
            <a:prstGeom prst="rect">
              <a:avLst/>
            </a:prstGeom>
          </p:spPr>
        </p:pic>
        <p:pic>
          <p:nvPicPr>
            <p:cNvPr id="15" name="object 15" descr=""/>
            <p:cNvPicPr/>
            <p:nvPr/>
          </p:nvPicPr>
          <p:blipFill>
            <a:blip r:embed="rId10" cstate="print"/>
            <a:stretch>
              <a:fillRect/>
            </a:stretch>
          </p:blipFill>
          <p:spPr>
            <a:xfrm>
              <a:off x="4645151" y="3221735"/>
              <a:ext cx="1070609" cy="1051559"/>
            </a:xfrm>
            <a:prstGeom prst="rect">
              <a:avLst/>
            </a:prstGeom>
          </p:spPr>
        </p:pic>
        <p:pic>
          <p:nvPicPr>
            <p:cNvPr id="16" name="object 16"/>
            <p:cNvPicPr/>
            <p:nvPr/>
          </p:nvPicPr>
          <p:blipFill>
            <a:blip r:embed="rId11" cstate="print"/>
            <a:stretch>
              <a:fillRect/>
            </a:stretch>
          </p:blipFill>
          <p:spPr>
            <a:xfrm>
              <a:off x="4845557" y="3489197"/>
              <a:ext cx="670559" cy="1319021"/>
            </a:xfrm>
            <a:prstGeom prst="rect">
              <a:avLst/>
            </a:prstGeom>
          </p:spPr>
        </p:pic>
        <p:pic>
          <p:nvPicPr>
            <p:cNvPr id="17" name="object 17"/>
            <p:cNvPicPr/>
            <p:nvPr/>
          </p:nvPicPr>
          <p:blipFill>
            <a:blip r:embed="rId12" cstate="print"/>
            <a:stretch>
              <a:fillRect/>
            </a:stretch>
          </p:blipFill>
          <p:spPr>
            <a:xfrm>
              <a:off x="4757165" y="3404615"/>
              <a:ext cx="847343" cy="838199"/>
            </a:xfrm>
            <a:prstGeom prst="rect">
              <a:avLst/>
            </a:prstGeom>
          </p:spPr>
        </p:pic>
        <p:pic>
          <p:nvPicPr>
            <p:cNvPr id="18" name="object 18" descr=""/>
            <p:cNvPicPr/>
            <p:nvPr/>
          </p:nvPicPr>
          <p:blipFill>
            <a:blip r:embed="rId13" cstate="print"/>
            <a:stretch>
              <a:fillRect/>
            </a:stretch>
          </p:blipFill>
          <p:spPr>
            <a:xfrm>
              <a:off x="4909565" y="3480815"/>
              <a:ext cx="542543" cy="533399"/>
            </a:xfrm>
            <a:prstGeom prst="rect">
              <a:avLst/>
            </a:prstGeom>
          </p:spPr>
        </p:pic>
        <p:sp>
          <p:nvSpPr>
            <p:cNvPr id="19" name="object 19" descr=""/>
            <p:cNvSpPr/>
            <p:nvPr/>
          </p:nvSpPr>
          <p:spPr>
            <a:xfrm>
              <a:off x="5012081" y="3515827"/>
              <a:ext cx="337820" cy="124460"/>
            </a:xfrm>
            <a:custGeom>
              <a:avLst/>
              <a:gdLst/>
              <a:ahLst/>
              <a:cxnLst/>
              <a:rect l="l" t="t" r="r" b="b"/>
              <a:pathLst>
                <a:path w="337820" h="124460">
                  <a:moveTo>
                    <a:pt x="168681" y="0"/>
                  </a:moveTo>
                  <a:lnTo>
                    <a:pt x="115362" y="6319"/>
                  </a:lnTo>
                  <a:lnTo>
                    <a:pt x="69057" y="23917"/>
                  </a:lnTo>
                  <a:lnTo>
                    <a:pt x="32543" y="50751"/>
                  </a:lnTo>
                  <a:lnTo>
                    <a:pt x="8598" y="84781"/>
                  </a:lnTo>
                  <a:lnTo>
                    <a:pt x="0" y="123964"/>
                  </a:lnTo>
                  <a:lnTo>
                    <a:pt x="48638" y="107035"/>
                  </a:lnTo>
                  <a:lnTo>
                    <a:pt x="95284" y="96156"/>
                  </a:lnTo>
                  <a:lnTo>
                    <a:pt x="141044" y="91082"/>
                  </a:lnTo>
                  <a:lnTo>
                    <a:pt x="187025" y="91570"/>
                  </a:lnTo>
                  <a:lnTo>
                    <a:pt x="234334" y="97375"/>
                  </a:lnTo>
                  <a:lnTo>
                    <a:pt x="284077" y="108255"/>
                  </a:lnTo>
                  <a:lnTo>
                    <a:pt x="337362" y="123964"/>
                  </a:lnTo>
                  <a:lnTo>
                    <a:pt x="328762" y="84781"/>
                  </a:lnTo>
                  <a:lnTo>
                    <a:pt x="304815" y="50751"/>
                  </a:lnTo>
                  <a:lnTo>
                    <a:pt x="268299" y="23917"/>
                  </a:lnTo>
                  <a:lnTo>
                    <a:pt x="221995" y="6319"/>
                  </a:lnTo>
                  <a:lnTo>
                    <a:pt x="168681" y="0"/>
                  </a:lnTo>
                  <a:close/>
                </a:path>
              </a:pathLst>
            </a:custGeom>
            <a:solidFill>
              <a:srgbClr val="FFFFFF">
                <a:alpha val="30194"/>
              </a:srgbClr>
            </a:solidFill>
          </p:spPr>
          <p:txBody>
            <a:bodyPr wrap="square" lIns="0" tIns="0" rIns="0" bIns="0" rtlCol="0"/>
            <a:lstStyle/>
            <a:p/>
          </p:txBody>
        </p:sp>
      </p:grpSp>
      <p:sp>
        <p:nvSpPr>
          <p:cNvPr id="20" name="object 20" descr=""/>
          <p:cNvSpPr txBox="1"/>
          <p:nvPr/>
        </p:nvSpPr>
        <p:spPr>
          <a:xfrm>
            <a:off x="5081147" y="3563344"/>
            <a:ext cx="174625" cy="330200"/>
          </a:xfrm>
          <a:prstGeom prst="rect">
            <a:avLst/>
          </a:prstGeom>
        </p:spPr>
        <p:txBody>
          <a:bodyPr wrap="square" lIns="0" tIns="12065" rIns="0" bIns="0" rtlCol="0" vert="horz">
            <a:spAutoFit/>
          </a:bodyPr>
          <a:lstStyle/>
          <a:p>
            <a:pPr marL="12700">
              <a:lnSpc>
                <a:spcPct val="100000"/>
              </a:lnSpc>
              <a:spcBef>
                <a:spcPts val="95"/>
              </a:spcBef>
            </a:pPr>
            <a:r>
              <a:rPr dirty="0" sz="2000" spc="-50">
                <a:solidFill>
                  <a:srgbClr val="FFFFFF"/>
                </a:solidFill>
                <a:latin typeface="Microsoft YaHei"/>
                <a:cs typeface="Microsoft YaHei"/>
              </a:rPr>
              <a:t>4</a:t>
            </a:r>
            <a:endParaRPr sz="2000">
              <a:latin typeface="Microsoft YaHei"/>
              <a:cs typeface="Microsoft YaHei"/>
            </a:endParaRPr>
          </a:p>
        </p:txBody>
      </p:sp>
      <p:grpSp>
        <p:nvGrpSpPr>
          <p:cNvPr id="21" name="object 21" descr=""/>
          <p:cNvGrpSpPr/>
          <p:nvPr/>
        </p:nvGrpSpPr>
        <p:grpSpPr>
          <a:xfrm>
            <a:off x="2686811" y="1694700"/>
            <a:ext cx="1832610" cy="2074545"/>
            <a:chOff x="2686811" y="1694700"/>
            <a:chExt cx="1832610" cy="2074545"/>
          </a:xfrm>
        </p:grpSpPr>
        <p:pic>
          <p:nvPicPr>
            <p:cNvPr id="22" name="object 22"/>
            <p:cNvPicPr/>
            <p:nvPr/>
          </p:nvPicPr>
          <p:blipFill>
            <a:blip r:embed="rId14" cstate="print"/>
            <a:stretch>
              <a:fillRect/>
            </a:stretch>
          </p:blipFill>
          <p:spPr>
            <a:xfrm>
              <a:off x="2942843" y="2135123"/>
              <a:ext cx="1321307" cy="1633727"/>
            </a:xfrm>
            <a:prstGeom prst="rect">
              <a:avLst/>
            </a:prstGeom>
          </p:spPr>
        </p:pic>
        <p:pic>
          <p:nvPicPr>
            <p:cNvPr id="23" name="object 23"/>
            <p:cNvPicPr/>
            <p:nvPr/>
          </p:nvPicPr>
          <p:blipFill>
            <a:blip r:embed="rId15" cstate="print"/>
            <a:stretch>
              <a:fillRect/>
            </a:stretch>
          </p:blipFill>
          <p:spPr>
            <a:xfrm>
              <a:off x="2686811" y="1694700"/>
              <a:ext cx="1832609" cy="1813547"/>
            </a:xfrm>
            <a:prstGeom prst="rect">
              <a:avLst/>
            </a:prstGeom>
          </p:spPr>
        </p:pic>
        <p:pic>
          <p:nvPicPr>
            <p:cNvPr id="24" name="object 24" descr=""/>
            <p:cNvPicPr/>
            <p:nvPr/>
          </p:nvPicPr>
          <p:blipFill>
            <a:blip r:embed="rId16" cstate="print"/>
            <a:stretch>
              <a:fillRect/>
            </a:stretch>
          </p:blipFill>
          <p:spPr>
            <a:xfrm>
              <a:off x="3067811" y="1897379"/>
              <a:ext cx="1070609" cy="1051559"/>
            </a:xfrm>
            <a:prstGeom prst="rect">
              <a:avLst/>
            </a:prstGeom>
          </p:spPr>
        </p:pic>
        <p:pic>
          <p:nvPicPr>
            <p:cNvPr id="25" name="object 25"/>
            <p:cNvPicPr/>
            <p:nvPr/>
          </p:nvPicPr>
          <p:blipFill>
            <a:blip r:embed="rId17" cstate="print"/>
            <a:stretch>
              <a:fillRect/>
            </a:stretch>
          </p:blipFill>
          <p:spPr>
            <a:xfrm>
              <a:off x="3268217" y="2165603"/>
              <a:ext cx="670559" cy="1318259"/>
            </a:xfrm>
            <a:prstGeom prst="rect">
              <a:avLst/>
            </a:prstGeom>
          </p:spPr>
        </p:pic>
        <p:pic>
          <p:nvPicPr>
            <p:cNvPr id="26" name="object 26"/>
            <p:cNvPicPr/>
            <p:nvPr/>
          </p:nvPicPr>
          <p:blipFill>
            <a:blip r:embed="rId18" cstate="print"/>
            <a:stretch>
              <a:fillRect/>
            </a:stretch>
          </p:blipFill>
          <p:spPr>
            <a:xfrm>
              <a:off x="3179825" y="2081034"/>
              <a:ext cx="847343" cy="837425"/>
            </a:xfrm>
            <a:prstGeom prst="rect">
              <a:avLst/>
            </a:prstGeom>
          </p:spPr>
        </p:pic>
        <p:pic>
          <p:nvPicPr>
            <p:cNvPr id="27" name="object 27" descr=""/>
            <p:cNvPicPr/>
            <p:nvPr/>
          </p:nvPicPr>
          <p:blipFill>
            <a:blip r:embed="rId19" cstate="print"/>
            <a:stretch>
              <a:fillRect/>
            </a:stretch>
          </p:blipFill>
          <p:spPr>
            <a:xfrm>
              <a:off x="3332226" y="2157221"/>
              <a:ext cx="542543" cy="532637"/>
            </a:xfrm>
            <a:prstGeom prst="rect">
              <a:avLst/>
            </a:prstGeom>
          </p:spPr>
        </p:pic>
        <p:sp>
          <p:nvSpPr>
            <p:cNvPr id="28" name="object 28" descr=""/>
            <p:cNvSpPr/>
            <p:nvPr/>
          </p:nvSpPr>
          <p:spPr>
            <a:xfrm>
              <a:off x="3434690" y="2191729"/>
              <a:ext cx="337820" cy="124460"/>
            </a:xfrm>
            <a:custGeom>
              <a:avLst/>
              <a:gdLst/>
              <a:ahLst/>
              <a:cxnLst/>
              <a:rect l="l" t="t" r="r" b="b"/>
              <a:pathLst>
                <a:path w="337820" h="124460">
                  <a:moveTo>
                    <a:pt x="168681" y="0"/>
                  </a:moveTo>
                  <a:lnTo>
                    <a:pt x="115362" y="6319"/>
                  </a:lnTo>
                  <a:lnTo>
                    <a:pt x="69057" y="23917"/>
                  </a:lnTo>
                  <a:lnTo>
                    <a:pt x="32543" y="50751"/>
                  </a:lnTo>
                  <a:lnTo>
                    <a:pt x="8598" y="84781"/>
                  </a:lnTo>
                  <a:lnTo>
                    <a:pt x="0" y="123964"/>
                  </a:lnTo>
                  <a:lnTo>
                    <a:pt x="48638" y="107035"/>
                  </a:lnTo>
                  <a:lnTo>
                    <a:pt x="95284" y="96156"/>
                  </a:lnTo>
                  <a:lnTo>
                    <a:pt x="141044" y="91082"/>
                  </a:lnTo>
                  <a:lnTo>
                    <a:pt x="187025" y="91570"/>
                  </a:lnTo>
                  <a:lnTo>
                    <a:pt x="234334" y="97375"/>
                  </a:lnTo>
                  <a:lnTo>
                    <a:pt x="284077" y="108255"/>
                  </a:lnTo>
                  <a:lnTo>
                    <a:pt x="337362" y="123964"/>
                  </a:lnTo>
                  <a:lnTo>
                    <a:pt x="328762" y="84781"/>
                  </a:lnTo>
                  <a:lnTo>
                    <a:pt x="304815" y="50751"/>
                  </a:lnTo>
                  <a:lnTo>
                    <a:pt x="268299" y="23917"/>
                  </a:lnTo>
                  <a:lnTo>
                    <a:pt x="221995" y="6319"/>
                  </a:lnTo>
                  <a:lnTo>
                    <a:pt x="168681" y="0"/>
                  </a:lnTo>
                  <a:close/>
                </a:path>
              </a:pathLst>
            </a:custGeom>
            <a:solidFill>
              <a:srgbClr val="FFFFFF">
                <a:alpha val="30194"/>
              </a:srgbClr>
            </a:solidFill>
          </p:spPr>
          <p:txBody>
            <a:bodyPr wrap="square" lIns="0" tIns="0" rIns="0" bIns="0" rtlCol="0"/>
            <a:lstStyle/>
            <a:p/>
          </p:txBody>
        </p:sp>
      </p:grpSp>
      <p:sp>
        <p:nvSpPr>
          <p:cNvPr id="29" name="object 29" descr=""/>
          <p:cNvSpPr txBox="1"/>
          <p:nvPr/>
        </p:nvSpPr>
        <p:spPr>
          <a:xfrm>
            <a:off x="3516812" y="2276327"/>
            <a:ext cx="174625" cy="330200"/>
          </a:xfrm>
          <a:prstGeom prst="rect">
            <a:avLst/>
          </a:prstGeom>
        </p:spPr>
        <p:txBody>
          <a:bodyPr wrap="square" lIns="0" tIns="12065" rIns="0" bIns="0" rtlCol="0" vert="horz">
            <a:spAutoFit/>
          </a:bodyPr>
          <a:lstStyle/>
          <a:p>
            <a:pPr marL="12700">
              <a:lnSpc>
                <a:spcPct val="100000"/>
              </a:lnSpc>
              <a:spcBef>
                <a:spcPts val="95"/>
              </a:spcBef>
            </a:pPr>
            <a:r>
              <a:rPr dirty="0" sz="2000" spc="-50">
                <a:solidFill>
                  <a:srgbClr val="FFFFFF"/>
                </a:solidFill>
                <a:latin typeface="Microsoft YaHei"/>
                <a:cs typeface="Microsoft YaHei"/>
              </a:rPr>
              <a:t>1</a:t>
            </a:r>
            <a:endParaRPr sz="2000">
              <a:latin typeface="Microsoft YaHei"/>
              <a:cs typeface="Microsoft YaHei"/>
            </a:endParaRPr>
          </a:p>
        </p:txBody>
      </p:sp>
      <p:grpSp>
        <p:nvGrpSpPr>
          <p:cNvPr id="30" name="object 30" descr=""/>
          <p:cNvGrpSpPr/>
          <p:nvPr/>
        </p:nvGrpSpPr>
        <p:grpSpPr>
          <a:xfrm>
            <a:off x="4258055" y="1694700"/>
            <a:ext cx="1831975" cy="2074545"/>
            <a:chOff x="4258055" y="1694700"/>
            <a:chExt cx="1831975" cy="2074545"/>
          </a:xfrm>
        </p:grpSpPr>
        <p:pic>
          <p:nvPicPr>
            <p:cNvPr id="31" name="object 31"/>
            <p:cNvPicPr/>
            <p:nvPr/>
          </p:nvPicPr>
          <p:blipFill>
            <a:blip r:embed="rId20" cstate="print"/>
            <a:stretch>
              <a:fillRect/>
            </a:stretch>
          </p:blipFill>
          <p:spPr>
            <a:xfrm>
              <a:off x="4513325" y="2135123"/>
              <a:ext cx="1321307" cy="1633727"/>
            </a:xfrm>
            <a:prstGeom prst="rect">
              <a:avLst/>
            </a:prstGeom>
          </p:spPr>
        </p:pic>
        <p:pic>
          <p:nvPicPr>
            <p:cNvPr id="32" name="object 32"/>
            <p:cNvPicPr/>
            <p:nvPr/>
          </p:nvPicPr>
          <p:blipFill>
            <a:blip r:embed="rId21" cstate="print"/>
            <a:stretch>
              <a:fillRect/>
            </a:stretch>
          </p:blipFill>
          <p:spPr>
            <a:xfrm>
              <a:off x="4258055" y="1694700"/>
              <a:ext cx="1831847" cy="1813547"/>
            </a:xfrm>
            <a:prstGeom prst="rect">
              <a:avLst/>
            </a:prstGeom>
          </p:spPr>
        </p:pic>
        <p:pic>
          <p:nvPicPr>
            <p:cNvPr id="33" name="object 33" descr=""/>
            <p:cNvPicPr/>
            <p:nvPr/>
          </p:nvPicPr>
          <p:blipFill>
            <a:blip r:embed="rId22" cstate="print"/>
            <a:stretch>
              <a:fillRect/>
            </a:stretch>
          </p:blipFill>
          <p:spPr>
            <a:xfrm>
              <a:off x="4639055" y="1897379"/>
              <a:ext cx="1069847" cy="1051559"/>
            </a:xfrm>
            <a:prstGeom prst="rect">
              <a:avLst/>
            </a:prstGeom>
          </p:spPr>
        </p:pic>
        <p:pic>
          <p:nvPicPr>
            <p:cNvPr id="34" name="object 34"/>
            <p:cNvPicPr/>
            <p:nvPr/>
          </p:nvPicPr>
          <p:blipFill>
            <a:blip r:embed="rId17" cstate="print"/>
            <a:stretch>
              <a:fillRect/>
            </a:stretch>
          </p:blipFill>
          <p:spPr>
            <a:xfrm>
              <a:off x="4838700" y="2165603"/>
              <a:ext cx="670559" cy="1318259"/>
            </a:xfrm>
            <a:prstGeom prst="rect">
              <a:avLst/>
            </a:prstGeom>
          </p:spPr>
        </p:pic>
        <p:pic>
          <p:nvPicPr>
            <p:cNvPr id="35" name="object 35"/>
            <p:cNvPicPr/>
            <p:nvPr/>
          </p:nvPicPr>
          <p:blipFill>
            <a:blip r:embed="rId18" cstate="print"/>
            <a:stretch>
              <a:fillRect/>
            </a:stretch>
          </p:blipFill>
          <p:spPr>
            <a:xfrm>
              <a:off x="4750307" y="2081034"/>
              <a:ext cx="847343" cy="837425"/>
            </a:xfrm>
            <a:prstGeom prst="rect">
              <a:avLst/>
            </a:prstGeom>
          </p:spPr>
        </p:pic>
        <p:pic>
          <p:nvPicPr>
            <p:cNvPr id="36" name="object 36" descr=""/>
            <p:cNvPicPr/>
            <p:nvPr/>
          </p:nvPicPr>
          <p:blipFill>
            <a:blip r:embed="rId23" cstate="print"/>
            <a:stretch>
              <a:fillRect/>
            </a:stretch>
          </p:blipFill>
          <p:spPr>
            <a:xfrm>
              <a:off x="4902707" y="2157221"/>
              <a:ext cx="542543" cy="532637"/>
            </a:xfrm>
            <a:prstGeom prst="rect">
              <a:avLst/>
            </a:prstGeom>
          </p:spPr>
        </p:pic>
        <p:sp>
          <p:nvSpPr>
            <p:cNvPr id="37" name="object 37" descr=""/>
            <p:cNvSpPr/>
            <p:nvPr/>
          </p:nvSpPr>
          <p:spPr>
            <a:xfrm>
              <a:off x="5005242" y="2191729"/>
              <a:ext cx="337820" cy="124460"/>
            </a:xfrm>
            <a:custGeom>
              <a:avLst/>
              <a:gdLst/>
              <a:ahLst/>
              <a:cxnLst/>
              <a:rect l="l" t="t" r="r" b="b"/>
              <a:pathLst>
                <a:path w="337820" h="124460">
                  <a:moveTo>
                    <a:pt x="168681" y="0"/>
                  </a:moveTo>
                  <a:lnTo>
                    <a:pt x="115362" y="6319"/>
                  </a:lnTo>
                  <a:lnTo>
                    <a:pt x="69057" y="23917"/>
                  </a:lnTo>
                  <a:lnTo>
                    <a:pt x="32543" y="50751"/>
                  </a:lnTo>
                  <a:lnTo>
                    <a:pt x="8598" y="84781"/>
                  </a:lnTo>
                  <a:lnTo>
                    <a:pt x="0" y="123964"/>
                  </a:lnTo>
                  <a:lnTo>
                    <a:pt x="48638" y="107035"/>
                  </a:lnTo>
                  <a:lnTo>
                    <a:pt x="95284" y="96156"/>
                  </a:lnTo>
                  <a:lnTo>
                    <a:pt x="141044" y="91082"/>
                  </a:lnTo>
                  <a:lnTo>
                    <a:pt x="187025" y="91570"/>
                  </a:lnTo>
                  <a:lnTo>
                    <a:pt x="234334" y="97375"/>
                  </a:lnTo>
                  <a:lnTo>
                    <a:pt x="284077" y="108255"/>
                  </a:lnTo>
                  <a:lnTo>
                    <a:pt x="337362" y="123964"/>
                  </a:lnTo>
                  <a:lnTo>
                    <a:pt x="328762" y="84781"/>
                  </a:lnTo>
                  <a:lnTo>
                    <a:pt x="304815" y="50751"/>
                  </a:lnTo>
                  <a:lnTo>
                    <a:pt x="268299" y="23917"/>
                  </a:lnTo>
                  <a:lnTo>
                    <a:pt x="221995" y="6319"/>
                  </a:lnTo>
                  <a:lnTo>
                    <a:pt x="168681" y="0"/>
                  </a:lnTo>
                  <a:close/>
                </a:path>
              </a:pathLst>
            </a:custGeom>
            <a:solidFill>
              <a:srgbClr val="FFFFFF">
                <a:alpha val="30194"/>
              </a:srgbClr>
            </a:solidFill>
          </p:spPr>
          <p:txBody>
            <a:bodyPr wrap="square" lIns="0" tIns="0" rIns="0" bIns="0" rtlCol="0"/>
            <a:lstStyle/>
            <a:p/>
          </p:txBody>
        </p:sp>
      </p:grpSp>
      <p:sp>
        <p:nvSpPr>
          <p:cNvPr id="38" name="object 38" descr=""/>
          <p:cNvSpPr txBox="1"/>
          <p:nvPr/>
        </p:nvSpPr>
        <p:spPr>
          <a:xfrm>
            <a:off x="5091196" y="2244967"/>
            <a:ext cx="174625" cy="330200"/>
          </a:xfrm>
          <a:prstGeom prst="rect">
            <a:avLst/>
          </a:prstGeom>
        </p:spPr>
        <p:txBody>
          <a:bodyPr wrap="square" lIns="0" tIns="12065" rIns="0" bIns="0" rtlCol="0" vert="horz">
            <a:spAutoFit/>
          </a:bodyPr>
          <a:lstStyle/>
          <a:p>
            <a:pPr marL="12700">
              <a:lnSpc>
                <a:spcPct val="100000"/>
              </a:lnSpc>
              <a:spcBef>
                <a:spcPts val="95"/>
              </a:spcBef>
            </a:pPr>
            <a:r>
              <a:rPr dirty="0" sz="2000" spc="-50">
                <a:solidFill>
                  <a:srgbClr val="FFFFFF"/>
                </a:solidFill>
                <a:latin typeface="Microsoft YaHei"/>
                <a:cs typeface="Microsoft YaHei"/>
              </a:rPr>
              <a:t>2</a:t>
            </a:r>
            <a:endParaRPr sz="2000">
              <a:latin typeface="Microsoft YaHei"/>
              <a:cs typeface="Microsoft YaHei"/>
            </a:endParaRPr>
          </a:p>
        </p:txBody>
      </p:sp>
      <p:grpSp>
        <p:nvGrpSpPr>
          <p:cNvPr id="39" name="object 39" descr=""/>
          <p:cNvGrpSpPr/>
          <p:nvPr/>
        </p:nvGrpSpPr>
        <p:grpSpPr>
          <a:xfrm>
            <a:off x="1672252" y="1458066"/>
            <a:ext cx="5419090" cy="704215"/>
            <a:chOff x="1672252" y="1458066"/>
            <a:chExt cx="5419090" cy="704215"/>
          </a:xfrm>
        </p:grpSpPr>
        <p:pic>
          <p:nvPicPr>
            <p:cNvPr id="40" name="object 40" descr=""/>
            <p:cNvPicPr/>
            <p:nvPr/>
          </p:nvPicPr>
          <p:blipFill>
            <a:blip r:embed="rId24" cstate="print"/>
            <a:stretch>
              <a:fillRect/>
            </a:stretch>
          </p:blipFill>
          <p:spPr>
            <a:xfrm>
              <a:off x="3226141" y="2084597"/>
              <a:ext cx="78955" cy="77571"/>
            </a:xfrm>
            <a:prstGeom prst="rect">
              <a:avLst/>
            </a:prstGeom>
          </p:spPr>
        </p:pic>
        <p:sp>
          <p:nvSpPr>
            <p:cNvPr id="41" name="object 41" descr=""/>
            <p:cNvSpPr/>
            <p:nvPr/>
          </p:nvSpPr>
          <p:spPr>
            <a:xfrm>
              <a:off x="1681777" y="1467591"/>
              <a:ext cx="1564005" cy="633730"/>
            </a:xfrm>
            <a:custGeom>
              <a:avLst/>
              <a:gdLst/>
              <a:ahLst/>
              <a:cxnLst/>
              <a:rect l="l" t="t" r="r" b="b"/>
              <a:pathLst>
                <a:path w="1564005" h="633730">
                  <a:moveTo>
                    <a:pt x="1563992" y="633209"/>
                  </a:moveTo>
                  <a:lnTo>
                    <a:pt x="1160894" y="0"/>
                  </a:lnTo>
                  <a:lnTo>
                    <a:pt x="0" y="0"/>
                  </a:lnTo>
                </a:path>
              </a:pathLst>
            </a:custGeom>
            <a:ln w="19050">
              <a:solidFill>
                <a:srgbClr val="808080"/>
              </a:solidFill>
            </a:ln>
          </p:spPr>
          <p:txBody>
            <a:bodyPr wrap="square" lIns="0" tIns="0" rIns="0" bIns="0" rtlCol="0"/>
            <a:lstStyle/>
            <a:p/>
          </p:txBody>
        </p:sp>
        <p:pic>
          <p:nvPicPr>
            <p:cNvPr id="42" name="object 42" descr=""/>
            <p:cNvPicPr/>
            <p:nvPr/>
          </p:nvPicPr>
          <p:blipFill>
            <a:blip r:embed="rId24" cstate="print"/>
            <a:stretch>
              <a:fillRect/>
            </a:stretch>
          </p:blipFill>
          <p:spPr>
            <a:xfrm>
              <a:off x="5458124" y="2084598"/>
              <a:ext cx="78955" cy="77571"/>
            </a:xfrm>
            <a:prstGeom prst="rect">
              <a:avLst/>
            </a:prstGeom>
          </p:spPr>
        </p:pic>
        <p:sp>
          <p:nvSpPr>
            <p:cNvPr id="43" name="object 43" descr=""/>
            <p:cNvSpPr/>
            <p:nvPr/>
          </p:nvSpPr>
          <p:spPr>
            <a:xfrm>
              <a:off x="5517450" y="1467592"/>
              <a:ext cx="1564005" cy="633730"/>
            </a:xfrm>
            <a:custGeom>
              <a:avLst/>
              <a:gdLst/>
              <a:ahLst/>
              <a:cxnLst/>
              <a:rect l="l" t="t" r="r" b="b"/>
              <a:pathLst>
                <a:path w="1564004" h="633730">
                  <a:moveTo>
                    <a:pt x="0" y="633209"/>
                  </a:moveTo>
                  <a:lnTo>
                    <a:pt x="403098" y="0"/>
                  </a:lnTo>
                  <a:lnTo>
                    <a:pt x="1563992" y="0"/>
                  </a:lnTo>
                </a:path>
              </a:pathLst>
            </a:custGeom>
            <a:ln w="19050">
              <a:solidFill>
                <a:srgbClr val="808080"/>
              </a:solidFill>
            </a:ln>
          </p:spPr>
          <p:txBody>
            <a:bodyPr wrap="square" lIns="0" tIns="0" rIns="0" bIns="0" rtlCol="0"/>
            <a:lstStyle/>
            <a:p/>
          </p:txBody>
        </p:sp>
      </p:grpSp>
      <p:sp>
        <p:nvSpPr>
          <p:cNvPr id="44" name="object 44" descr=""/>
          <p:cNvSpPr txBox="1"/>
          <p:nvPr/>
        </p:nvSpPr>
        <p:spPr>
          <a:xfrm>
            <a:off x="955471" y="1073552"/>
            <a:ext cx="1575435" cy="269875"/>
          </a:xfrm>
          <a:prstGeom prst="rect">
            <a:avLst/>
          </a:prstGeom>
        </p:spPr>
        <p:txBody>
          <a:bodyPr wrap="square" lIns="0" tIns="12700" rIns="0" bIns="0" rtlCol="0" vert="horz">
            <a:spAutoFit/>
          </a:bodyPr>
          <a:lstStyle/>
          <a:p>
            <a:pPr marL="12700">
              <a:lnSpc>
                <a:spcPct val="100000"/>
              </a:lnSpc>
              <a:spcBef>
                <a:spcPts val="100"/>
              </a:spcBef>
            </a:pPr>
            <a:r>
              <a:rPr dirty="0" sz="1600" b="1">
                <a:solidFill>
                  <a:srgbClr val="E9A94B"/>
                </a:solidFill>
                <a:latin typeface="Microsoft YaHei"/>
                <a:cs typeface="Microsoft YaHei"/>
              </a:rPr>
              <a:t>1</a:t>
            </a:r>
            <a:r>
              <a:rPr dirty="0" sz="1600" spc="-10" b="1">
                <a:solidFill>
                  <a:srgbClr val="E9A94B"/>
                </a:solidFill>
                <a:latin typeface="Microsoft YaHei"/>
                <a:cs typeface="Microsoft YaHei"/>
              </a:rPr>
              <a:t>：增加感知范围</a:t>
            </a:r>
            <a:endParaRPr sz="1600">
              <a:latin typeface="Microsoft YaHei"/>
              <a:cs typeface="Microsoft YaHei"/>
            </a:endParaRPr>
          </a:p>
        </p:txBody>
      </p:sp>
      <p:sp>
        <p:nvSpPr>
          <p:cNvPr id="45" name="object 45" descr=""/>
          <p:cNvSpPr txBox="1"/>
          <p:nvPr/>
        </p:nvSpPr>
        <p:spPr>
          <a:xfrm>
            <a:off x="883465" y="1626024"/>
            <a:ext cx="2101215" cy="939800"/>
          </a:xfrm>
          <a:prstGeom prst="rect">
            <a:avLst/>
          </a:prstGeom>
        </p:spPr>
        <p:txBody>
          <a:bodyPr wrap="square" lIns="0" tIns="12700" rIns="0" bIns="0" rtlCol="0" vert="horz">
            <a:spAutoFit/>
          </a:bodyPr>
          <a:lstStyle/>
          <a:p>
            <a:pPr marL="183515" marR="5080" indent="-171450">
              <a:lnSpc>
                <a:spcPct val="100000"/>
              </a:lnSpc>
              <a:spcBef>
                <a:spcPts val="100"/>
              </a:spcBef>
              <a:buFont typeface="Arial MT"/>
              <a:buChar char="•"/>
              <a:tabLst>
                <a:tab pos="183515" algn="l"/>
              </a:tabLst>
            </a:pPr>
            <a:r>
              <a:rPr dirty="0" sz="1200" spc="55">
                <a:latin typeface="Microsoft YaHei"/>
                <a:cs typeface="Microsoft YaHei"/>
              </a:rPr>
              <a:t>车路协同，可感知城市范围内的道路、信号灯等信</a:t>
            </a:r>
            <a:r>
              <a:rPr dirty="0" sz="1200" spc="40">
                <a:latin typeface="Microsoft YaHei"/>
                <a:cs typeface="Microsoft YaHei"/>
              </a:rPr>
              <a:t>息，可提前预测路口行人、车辆等信息，感知更精准，</a:t>
            </a:r>
            <a:r>
              <a:rPr dirty="0" sz="1200" spc="-10">
                <a:latin typeface="Microsoft YaHei"/>
                <a:cs typeface="Microsoft YaHei"/>
              </a:rPr>
              <a:t>保障行车安全</a:t>
            </a:r>
            <a:endParaRPr sz="1200">
              <a:latin typeface="Microsoft YaHei"/>
              <a:cs typeface="Microsoft YaHei"/>
            </a:endParaRPr>
          </a:p>
        </p:txBody>
      </p:sp>
      <p:sp>
        <p:nvSpPr>
          <p:cNvPr id="46" name="object 46" descr=""/>
          <p:cNvSpPr txBox="1"/>
          <p:nvPr/>
        </p:nvSpPr>
        <p:spPr>
          <a:xfrm>
            <a:off x="6072732" y="1073552"/>
            <a:ext cx="1575435" cy="269875"/>
          </a:xfrm>
          <a:prstGeom prst="rect">
            <a:avLst/>
          </a:prstGeom>
        </p:spPr>
        <p:txBody>
          <a:bodyPr wrap="square" lIns="0" tIns="12700" rIns="0" bIns="0" rtlCol="0" vert="horz">
            <a:spAutoFit/>
          </a:bodyPr>
          <a:lstStyle/>
          <a:p>
            <a:pPr marL="12700">
              <a:lnSpc>
                <a:spcPct val="100000"/>
              </a:lnSpc>
              <a:spcBef>
                <a:spcPts val="100"/>
              </a:spcBef>
            </a:pPr>
            <a:r>
              <a:rPr dirty="0" sz="1600" b="1">
                <a:solidFill>
                  <a:srgbClr val="01ACBE"/>
                </a:solidFill>
                <a:latin typeface="Microsoft YaHei"/>
                <a:cs typeface="Microsoft YaHei"/>
              </a:rPr>
              <a:t>2</a:t>
            </a:r>
            <a:r>
              <a:rPr dirty="0" sz="1600" spc="-10" b="1">
                <a:solidFill>
                  <a:srgbClr val="01ACBE"/>
                </a:solidFill>
                <a:latin typeface="Microsoft YaHei"/>
                <a:cs typeface="Microsoft YaHei"/>
              </a:rPr>
              <a:t>：降低车辆成本</a:t>
            </a:r>
            <a:endParaRPr sz="1600">
              <a:latin typeface="Microsoft YaHei"/>
              <a:cs typeface="Microsoft YaHei"/>
            </a:endParaRPr>
          </a:p>
        </p:txBody>
      </p:sp>
      <p:grpSp>
        <p:nvGrpSpPr>
          <p:cNvPr id="47" name="object 47" descr=""/>
          <p:cNvGrpSpPr/>
          <p:nvPr/>
        </p:nvGrpSpPr>
        <p:grpSpPr>
          <a:xfrm>
            <a:off x="1680244" y="4015760"/>
            <a:ext cx="5408295" cy="801370"/>
            <a:chOff x="1680244" y="4015760"/>
            <a:chExt cx="5408295" cy="801370"/>
          </a:xfrm>
        </p:grpSpPr>
        <p:pic>
          <p:nvPicPr>
            <p:cNvPr id="48" name="object 48" descr=""/>
            <p:cNvPicPr/>
            <p:nvPr/>
          </p:nvPicPr>
          <p:blipFill>
            <a:blip r:embed="rId24" cstate="print"/>
            <a:stretch>
              <a:fillRect/>
            </a:stretch>
          </p:blipFill>
          <p:spPr>
            <a:xfrm>
              <a:off x="3234132" y="4033150"/>
              <a:ext cx="78955" cy="77571"/>
            </a:xfrm>
            <a:prstGeom prst="rect">
              <a:avLst/>
            </a:prstGeom>
          </p:spPr>
        </p:pic>
        <p:sp>
          <p:nvSpPr>
            <p:cNvPr id="49" name="object 49" descr=""/>
            <p:cNvSpPr/>
            <p:nvPr/>
          </p:nvSpPr>
          <p:spPr>
            <a:xfrm>
              <a:off x="1689769" y="4094523"/>
              <a:ext cx="1564005" cy="713105"/>
            </a:xfrm>
            <a:custGeom>
              <a:avLst/>
              <a:gdLst/>
              <a:ahLst/>
              <a:cxnLst/>
              <a:rect l="l" t="t" r="r" b="b"/>
              <a:pathLst>
                <a:path w="1564004" h="713104">
                  <a:moveTo>
                    <a:pt x="1563992" y="0"/>
                  </a:moveTo>
                  <a:lnTo>
                    <a:pt x="1160894" y="712736"/>
                  </a:lnTo>
                  <a:lnTo>
                    <a:pt x="0" y="712736"/>
                  </a:lnTo>
                </a:path>
              </a:pathLst>
            </a:custGeom>
            <a:ln w="19050">
              <a:solidFill>
                <a:srgbClr val="808080"/>
              </a:solidFill>
            </a:ln>
          </p:spPr>
          <p:txBody>
            <a:bodyPr wrap="square" lIns="0" tIns="0" rIns="0" bIns="0" rtlCol="0"/>
            <a:lstStyle/>
            <a:p/>
          </p:txBody>
        </p:sp>
        <p:pic>
          <p:nvPicPr>
            <p:cNvPr id="50" name="object 50" descr=""/>
            <p:cNvPicPr/>
            <p:nvPr/>
          </p:nvPicPr>
          <p:blipFill>
            <a:blip r:embed="rId25" cstate="print"/>
            <a:stretch>
              <a:fillRect/>
            </a:stretch>
          </p:blipFill>
          <p:spPr>
            <a:xfrm>
              <a:off x="5455639" y="4015760"/>
              <a:ext cx="78955" cy="77571"/>
            </a:xfrm>
            <a:prstGeom prst="rect">
              <a:avLst/>
            </a:prstGeom>
          </p:spPr>
        </p:pic>
        <p:sp>
          <p:nvSpPr>
            <p:cNvPr id="51" name="object 51" descr=""/>
            <p:cNvSpPr/>
            <p:nvPr/>
          </p:nvSpPr>
          <p:spPr>
            <a:xfrm>
              <a:off x="5514964" y="4077126"/>
              <a:ext cx="1564005" cy="730250"/>
            </a:xfrm>
            <a:custGeom>
              <a:avLst/>
              <a:gdLst/>
              <a:ahLst/>
              <a:cxnLst/>
              <a:rect l="l" t="t" r="r" b="b"/>
              <a:pathLst>
                <a:path w="1564004" h="730250">
                  <a:moveTo>
                    <a:pt x="0" y="0"/>
                  </a:moveTo>
                  <a:lnTo>
                    <a:pt x="403098" y="730135"/>
                  </a:lnTo>
                  <a:lnTo>
                    <a:pt x="1563992" y="730135"/>
                  </a:lnTo>
                </a:path>
              </a:pathLst>
            </a:custGeom>
            <a:ln w="19050">
              <a:solidFill>
                <a:srgbClr val="808080"/>
              </a:solidFill>
            </a:ln>
          </p:spPr>
          <p:txBody>
            <a:bodyPr wrap="square" lIns="0" tIns="0" rIns="0" bIns="0" rtlCol="0"/>
            <a:lstStyle/>
            <a:p/>
          </p:txBody>
        </p:sp>
      </p:grpSp>
      <p:sp>
        <p:nvSpPr>
          <p:cNvPr id="52" name="object 52" descr=""/>
          <p:cNvSpPr txBox="1"/>
          <p:nvPr/>
        </p:nvSpPr>
        <p:spPr>
          <a:xfrm>
            <a:off x="6068039" y="1635315"/>
            <a:ext cx="2199640" cy="939800"/>
          </a:xfrm>
          <a:prstGeom prst="rect">
            <a:avLst/>
          </a:prstGeom>
        </p:spPr>
        <p:txBody>
          <a:bodyPr wrap="square" lIns="0" tIns="12700" rIns="0" bIns="0" rtlCol="0" vert="horz">
            <a:spAutoFit/>
          </a:bodyPr>
          <a:lstStyle/>
          <a:p>
            <a:pPr marL="183515" marR="5080" indent="-171450">
              <a:lnSpc>
                <a:spcPct val="100000"/>
              </a:lnSpc>
              <a:spcBef>
                <a:spcPts val="100"/>
              </a:spcBef>
              <a:buFont typeface="Arial MT"/>
              <a:buChar char="•"/>
              <a:tabLst>
                <a:tab pos="183515" algn="l"/>
              </a:tabLst>
            </a:pPr>
            <a:r>
              <a:rPr dirty="0" sz="1200" spc="-5">
                <a:latin typeface="Microsoft YaHei"/>
                <a:cs typeface="Microsoft YaHei"/>
              </a:rPr>
              <a:t>网络辅助方式，可有效降低</a:t>
            </a:r>
            <a:r>
              <a:rPr dirty="0" sz="1200" spc="-50">
                <a:latin typeface="Microsoft YaHei"/>
                <a:cs typeface="Microsoft YaHei"/>
              </a:rPr>
              <a:t> </a:t>
            </a:r>
            <a:r>
              <a:rPr dirty="0" sz="1200">
                <a:latin typeface="Microsoft YaHei"/>
                <a:cs typeface="Microsoft YaHei"/>
              </a:rPr>
              <a:t>单车高精度传感器（</a:t>
            </a:r>
            <a:r>
              <a:rPr dirty="0" sz="1200" spc="-15">
                <a:latin typeface="Microsoft YaHei"/>
                <a:cs typeface="Microsoft YaHei"/>
              </a:rPr>
              <a:t>高精度雷</a:t>
            </a:r>
            <a:r>
              <a:rPr dirty="0" sz="1200">
                <a:latin typeface="Microsoft YaHei"/>
                <a:cs typeface="Microsoft YaHei"/>
              </a:rPr>
              <a:t>达等）</a:t>
            </a:r>
            <a:r>
              <a:rPr dirty="0" sz="1200" spc="-5">
                <a:latin typeface="Microsoft YaHei"/>
                <a:cs typeface="Microsoft YaHei"/>
              </a:rPr>
              <a:t>的部署数量和成本，可降低非视距、恶劣环境下的感</a:t>
            </a:r>
            <a:r>
              <a:rPr dirty="0" sz="1200" spc="-20">
                <a:latin typeface="Microsoft YaHei"/>
                <a:cs typeface="Microsoft YaHei"/>
              </a:rPr>
              <a:t>知成本</a:t>
            </a:r>
            <a:endParaRPr sz="1200">
              <a:latin typeface="Microsoft YaHei"/>
              <a:cs typeface="Microsoft YaHei"/>
            </a:endParaRPr>
          </a:p>
        </p:txBody>
      </p:sp>
      <p:sp>
        <p:nvSpPr>
          <p:cNvPr id="53" name="object 53" descr=""/>
          <p:cNvSpPr txBox="1"/>
          <p:nvPr/>
        </p:nvSpPr>
        <p:spPr>
          <a:xfrm>
            <a:off x="883465" y="3278383"/>
            <a:ext cx="1957070" cy="1217930"/>
          </a:xfrm>
          <a:prstGeom prst="rect">
            <a:avLst/>
          </a:prstGeom>
        </p:spPr>
        <p:txBody>
          <a:bodyPr wrap="square" lIns="0" tIns="12700" rIns="0" bIns="0" rtlCol="0" vert="horz">
            <a:spAutoFit/>
          </a:bodyPr>
          <a:lstStyle/>
          <a:p>
            <a:pPr marL="111125">
              <a:lnSpc>
                <a:spcPct val="100000"/>
              </a:lnSpc>
              <a:spcBef>
                <a:spcPts val="100"/>
              </a:spcBef>
            </a:pPr>
            <a:r>
              <a:rPr dirty="0" sz="1600" b="1">
                <a:solidFill>
                  <a:srgbClr val="E87071"/>
                </a:solidFill>
                <a:latin typeface="Microsoft YaHei"/>
                <a:cs typeface="Microsoft YaHei"/>
              </a:rPr>
              <a:t>3</a:t>
            </a:r>
            <a:r>
              <a:rPr dirty="0" sz="1600" spc="-10" b="1">
                <a:solidFill>
                  <a:srgbClr val="E87071"/>
                </a:solidFill>
                <a:latin typeface="Microsoft YaHei"/>
                <a:cs typeface="Microsoft YaHei"/>
              </a:rPr>
              <a:t>：提升交通效率</a:t>
            </a:r>
            <a:endParaRPr sz="1600">
              <a:latin typeface="Microsoft YaHei"/>
              <a:cs typeface="Microsoft YaHei"/>
            </a:endParaRPr>
          </a:p>
          <a:p>
            <a:pPr algn="just" marL="184150" marR="5080" indent="-171450">
              <a:lnSpc>
                <a:spcPct val="100000"/>
              </a:lnSpc>
              <a:spcBef>
                <a:spcPts val="1710"/>
              </a:spcBef>
              <a:buFont typeface="Arial MT"/>
              <a:buChar char="•"/>
              <a:tabLst>
                <a:tab pos="184150" algn="l"/>
              </a:tabLst>
            </a:pPr>
            <a:r>
              <a:rPr dirty="0" sz="1200" spc="55">
                <a:latin typeface="Microsoft YaHei"/>
                <a:cs typeface="Microsoft YaHei"/>
              </a:rPr>
              <a:t>通过网络让车辆与道路实时联动，可以增强道路通</a:t>
            </a:r>
            <a:r>
              <a:rPr dirty="0" sz="1200" spc="50">
                <a:latin typeface="Microsoft YaHei"/>
                <a:cs typeface="Microsoft YaHei"/>
              </a:rPr>
              <a:t>行效率，缓解交通拥堵，</a:t>
            </a:r>
            <a:r>
              <a:rPr dirty="0" sz="1200" spc="-5">
                <a:latin typeface="Microsoft YaHei"/>
                <a:cs typeface="Microsoft YaHei"/>
              </a:rPr>
              <a:t>提升城市交通管理效率</a:t>
            </a:r>
            <a:endParaRPr sz="1200">
              <a:latin typeface="Microsoft YaHei"/>
              <a:cs typeface="Microsoft YaHei"/>
            </a:endParaRPr>
          </a:p>
        </p:txBody>
      </p:sp>
      <p:sp>
        <p:nvSpPr>
          <p:cNvPr id="54" name="object 54" descr=""/>
          <p:cNvSpPr txBox="1"/>
          <p:nvPr/>
        </p:nvSpPr>
        <p:spPr>
          <a:xfrm>
            <a:off x="6068039" y="3278383"/>
            <a:ext cx="2050414" cy="1162050"/>
          </a:xfrm>
          <a:prstGeom prst="rect">
            <a:avLst/>
          </a:prstGeom>
        </p:spPr>
        <p:txBody>
          <a:bodyPr wrap="square" lIns="0" tIns="12700" rIns="0" bIns="0" rtlCol="0" vert="horz">
            <a:spAutoFit/>
          </a:bodyPr>
          <a:lstStyle/>
          <a:p>
            <a:pPr marL="64135">
              <a:lnSpc>
                <a:spcPct val="100000"/>
              </a:lnSpc>
              <a:spcBef>
                <a:spcPts val="100"/>
              </a:spcBef>
            </a:pPr>
            <a:r>
              <a:rPr dirty="0" sz="1600" b="1">
                <a:solidFill>
                  <a:srgbClr val="663A77"/>
                </a:solidFill>
                <a:latin typeface="Microsoft YaHei"/>
                <a:cs typeface="Microsoft YaHei"/>
              </a:rPr>
              <a:t>4</a:t>
            </a:r>
            <a:r>
              <a:rPr dirty="0" sz="1600" spc="-10" b="1">
                <a:solidFill>
                  <a:srgbClr val="663A77"/>
                </a:solidFill>
                <a:latin typeface="Microsoft YaHei"/>
                <a:cs typeface="Microsoft YaHei"/>
              </a:rPr>
              <a:t>：丰富网联应用</a:t>
            </a:r>
            <a:endParaRPr sz="1600">
              <a:latin typeface="Microsoft YaHei"/>
              <a:cs typeface="Microsoft YaHei"/>
            </a:endParaRPr>
          </a:p>
          <a:p>
            <a:pPr marL="183515" marR="5080" indent="-171450">
              <a:lnSpc>
                <a:spcPct val="100000"/>
              </a:lnSpc>
              <a:spcBef>
                <a:spcPts val="1265"/>
              </a:spcBef>
              <a:buFont typeface="Arial MT"/>
              <a:buChar char="•"/>
              <a:tabLst>
                <a:tab pos="183515" algn="l"/>
              </a:tabLst>
            </a:pPr>
            <a:r>
              <a:rPr dirty="0" sz="1200" spc="-5">
                <a:latin typeface="Microsoft YaHei"/>
                <a:cs typeface="Microsoft YaHei"/>
              </a:rPr>
              <a:t>远程驾驶，编队行驶，自动</a:t>
            </a:r>
            <a:r>
              <a:rPr dirty="0" sz="1200" spc="-25">
                <a:latin typeface="Microsoft YaHei"/>
                <a:cs typeface="Microsoft YaHei"/>
              </a:rPr>
              <a:t>泊车</a:t>
            </a:r>
            <a:endParaRPr sz="1200">
              <a:latin typeface="Microsoft YaHei"/>
              <a:cs typeface="Microsoft YaHei"/>
            </a:endParaRPr>
          </a:p>
          <a:p>
            <a:pPr marL="184785" indent="-172085">
              <a:lnSpc>
                <a:spcPct val="100000"/>
              </a:lnSpc>
              <a:buFont typeface="Arial MT"/>
              <a:buChar char="•"/>
              <a:tabLst>
                <a:tab pos="184785" algn="l"/>
              </a:tabLst>
            </a:pPr>
            <a:r>
              <a:rPr dirty="0" sz="1200" spc="-5">
                <a:latin typeface="Microsoft YaHei"/>
                <a:cs typeface="Microsoft YaHei"/>
              </a:rPr>
              <a:t>车速引导、路况精准提醒</a:t>
            </a:r>
            <a:endParaRPr sz="1200">
              <a:latin typeface="Microsoft YaHei"/>
              <a:cs typeface="Microsoft YaHei"/>
            </a:endParaRPr>
          </a:p>
          <a:p>
            <a:pPr marL="184785" indent="-172085">
              <a:lnSpc>
                <a:spcPct val="100000"/>
              </a:lnSpc>
              <a:buFont typeface="Arial MT"/>
              <a:buChar char="•"/>
              <a:tabLst>
                <a:tab pos="184785" algn="l"/>
              </a:tabLst>
            </a:pPr>
            <a:r>
              <a:rPr dirty="0" sz="1200" spc="-5">
                <a:latin typeface="Microsoft YaHei"/>
                <a:cs typeface="Microsoft YaHei"/>
              </a:rPr>
              <a:t>车内高清视频实时分享</a:t>
            </a:r>
            <a:endParaRPr sz="1200">
              <a:latin typeface="Microsoft YaHei"/>
              <a:cs typeface="Microsoft YaHe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5892" y="179123"/>
            <a:ext cx="6530340" cy="513080"/>
          </a:xfrm>
          <a:prstGeom prst="rect"/>
        </p:spPr>
        <p:txBody>
          <a:bodyPr wrap="square" lIns="0" tIns="12065" rIns="0" bIns="0" rtlCol="0" vert="horz">
            <a:spAutoFit/>
          </a:bodyPr>
          <a:lstStyle/>
          <a:p>
            <a:pPr marL="12700">
              <a:lnSpc>
                <a:spcPct val="100000"/>
              </a:lnSpc>
              <a:spcBef>
                <a:spcPts val="95"/>
              </a:spcBef>
            </a:pPr>
            <a:r>
              <a:rPr dirty="0" spc="-45"/>
              <a:t>共赢之轮使能智能网联产业跨界合作</a:t>
            </a:r>
          </a:p>
        </p:txBody>
      </p:sp>
      <p:grpSp>
        <p:nvGrpSpPr>
          <p:cNvPr id="3" name="object 3" descr=""/>
          <p:cNvGrpSpPr/>
          <p:nvPr/>
        </p:nvGrpSpPr>
        <p:grpSpPr>
          <a:xfrm>
            <a:off x="3024377" y="613409"/>
            <a:ext cx="2851150" cy="3538854"/>
            <a:chOff x="3024377" y="613409"/>
            <a:chExt cx="2851150" cy="3538854"/>
          </a:xfrm>
        </p:grpSpPr>
        <p:pic>
          <p:nvPicPr>
            <p:cNvPr id="4" name="object 4" descr=""/>
            <p:cNvPicPr/>
            <p:nvPr/>
          </p:nvPicPr>
          <p:blipFill>
            <a:blip r:embed="rId2" cstate="print"/>
            <a:stretch>
              <a:fillRect/>
            </a:stretch>
          </p:blipFill>
          <p:spPr>
            <a:xfrm>
              <a:off x="3024377" y="1477517"/>
              <a:ext cx="2850641" cy="2674619"/>
            </a:xfrm>
            <a:prstGeom prst="rect">
              <a:avLst/>
            </a:prstGeom>
          </p:spPr>
        </p:pic>
        <p:pic>
          <p:nvPicPr>
            <p:cNvPr id="5" name="object 5" descr=""/>
            <p:cNvPicPr/>
            <p:nvPr/>
          </p:nvPicPr>
          <p:blipFill>
            <a:blip r:embed="rId3" cstate="print"/>
            <a:stretch>
              <a:fillRect/>
            </a:stretch>
          </p:blipFill>
          <p:spPr>
            <a:xfrm>
              <a:off x="3049481" y="1502465"/>
              <a:ext cx="2746501" cy="2570943"/>
            </a:xfrm>
            <a:prstGeom prst="rect">
              <a:avLst/>
            </a:prstGeom>
          </p:spPr>
        </p:pic>
        <p:pic>
          <p:nvPicPr>
            <p:cNvPr id="6" name="object 6" descr=""/>
            <p:cNvPicPr/>
            <p:nvPr/>
          </p:nvPicPr>
          <p:blipFill>
            <a:blip r:embed="rId4" cstate="print"/>
            <a:stretch>
              <a:fillRect/>
            </a:stretch>
          </p:blipFill>
          <p:spPr>
            <a:xfrm>
              <a:off x="3732275" y="613409"/>
              <a:ext cx="2047493" cy="1492757"/>
            </a:xfrm>
            <a:prstGeom prst="rect">
              <a:avLst/>
            </a:prstGeom>
          </p:spPr>
        </p:pic>
      </p:grpSp>
      <p:sp>
        <p:nvSpPr>
          <p:cNvPr id="7" name="object 7" descr=""/>
          <p:cNvSpPr txBox="1"/>
          <p:nvPr/>
        </p:nvSpPr>
        <p:spPr>
          <a:xfrm>
            <a:off x="4018271" y="818279"/>
            <a:ext cx="1201420" cy="629285"/>
          </a:xfrm>
          <a:prstGeom prst="rect">
            <a:avLst/>
          </a:prstGeom>
        </p:spPr>
        <p:txBody>
          <a:bodyPr wrap="square" lIns="0" tIns="12700" rIns="0" bIns="0" rtlCol="0" vert="horz">
            <a:spAutoFit/>
          </a:bodyPr>
          <a:lstStyle/>
          <a:p>
            <a:pPr algn="just" marL="12700" marR="5080">
              <a:lnSpc>
                <a:spcPct val="120000"/>
              </a:lnSpc>
              <a:spcBef>
                <a:spcPts val="100"/>
              </a:spcBef>
            </a:pPr>
            <a:r>
              <a:rPr dirty="0" sz="1100" spc="-25">
                <a:solidFill>
                  <a:srgbClr val="595958"/>
                </a:solidFill>
                <a:latin typeface="Microsoft YaHei"/>
                <a:cs typeface="Microsoft YaHei"/>
              </a:rPr>
              <a:t>自动驾驶-技术提升用户体验-商业价值技术革新-智车数据</a:t>
            </a:r>
            <a:endParaRPr sz="1100">
              <a:latin typeface="Microsoft YaHei"/>
              <a:cs typeface="Microsoft YaHei"/>
            </a:endParaRPr>
          </a:p>
        </p:txBody>
      </p:sp>
      <p:grpSp>
        <p:nvGrpSpPr>
          <p:cNvPr id="8" name="object 8" descr=""/>
          <p:cNvGrpSpPr/>
          <p:nvPr/>
        </p:nvGrpSpPr>
        <p:grpSpPr>
          <a:xfrm>
            <a:off x="3533393" y="1264158"/>
            <a:ext cx="4588510" cy="1470025"/>
            <a:chOff x="3533393" y="1264158"/>
            <a:chExt cx="4588510" cy="1470025"/>
          </a:xfrm>
        </p:grpSpPr>
        <p:sp>
          <p:nvSpPr>
            <p:cNvPr id="9" name="object 9" descr=""/>
            <p:cNvSpPr/>
            <p:nvPr/>
          </p:nvSpPr>
          <p:spPr>
            <a:xfrm>
              <a:off x="3553632" y="1277214"/>
              <a:ext cx="435609" cy="435609"/>
            </a:xfrm>
            <a:custGeom>
              <a:avLst/>
              <a:gdLst/>
              <a:ahLst/>
              <a:cxnLst/>
              <a:rect l="l" t="t" r="r" b="b"/>
              <a:pathLst>
                <a:path w="435610" h="435610">
                  <a:moveTo>
                    <a:pt x="217792" y="0"/>
                  </a:moveTo>
                  <a:lnTo>
                    <a:pt x="0" y="217792"/>
                  </a:lnTo>
                  <a:lnTo>
                    <a:pt x="217716" y="435495"/>
                  </a:lnTo>
                  <a:lnTo>
                    <a:pt x="435495" y="217703"/>
                  </a:lnTo>
                  <a:lnTo>
                    <a:pt x="217792" y="0"/>
                  </a:lnTo>
                  <a:close/>
                </a:path>
              </a:pathLst>
            </a:custGeom>
            <a:solidFill>
              <a:srgbClr val="666666"/>
            </a:solidFill>
          </p:spPr>
          <p:txBody>
            <a:bodyPr wrap="square" lIns="0" tIns="0" rIns="0" bIns="0" rtlCol="0"/>
            <a:lstStyle/>
            <a:p/>
          </p:txBody>
        </p:sp>
        <p:sp>
          <p:nvSpPr>
            <p:cNvPr id="10" name="object 10" descr=""/>
            <p:cNvSpPr/>
            <p:nvPr/>
          </p:nvSpPr>
          <p:spPr>
            <a:xfrm>
              <a:off x="3640476" y="1276351"/>
              <a:ext cx="261620" cy="130810"/>
            </a:xfrm>
            <a:custGeom>
              <a:avLst/>
              <a:gdLst/>
              <a:ahLst/>
              <a:cxnLst/>
              <a:rect l="l" t="t" r="r" b="b"/>
              <a:pathLst>
                <a:path w="261620" h="130809">
                  <a:moveTo>
                    <a:pt x="130683" y="0"/>
                  </a:moveTo>
                  <a:lnTo>
                    <a:pt x="0" y="130682"/>
                  </a:lnTo>
                  <a:lnTo>
                    <a:pt x="261315" y="130632"/>
                  </a:lnTo>
                  <a:lnTo>
                    <a:pt x="130683" y="0"/>
                  </a:lnTo>
                  <a:close/>
                </a:path>
              </a:pathLst>
            </a:custGeom>
            <a:solidFill>
              <a:srgbClr val="9A9A9A"/>
            </a:solidFill>
          </p:spPr>
          <p:txBody>
            <a:bodyPr wrap="square" lIns="0" tIns="0" rIns="0" bIns="0" rtlCol="0"/>
            <a:lstStyle/>
            <a:p/>
          </p:txBody>
        </p:sp>
        <p:pic>
          <p:nvPicPr>
            <p:cNvPr id="11" name="object 11"/>
            <p:cNvPicPr/>
            <p:nvPr/>
          </p:nvPicPr>
          <p:blipFill>
            <a:blip r:embed="rId5" cstate="print"/>
            <a:stretch>
              <a:fillRect/>
            </a:stretch>
          </p:blipFill>
          <p:spPr>
            <a:xfrm>
              <a:off x="3533393" y="1264158"/>
              <a:ext cx="529589" cy="530351"/>
            </a:xfrm>
            <a:prstGeom prst="rect">
              <a:avLst/>
            </a:prstGeom>
          </p:spPr>
        </p:pic>
        <p:sp>
          <p:nvSpPr>
            <p:cNvPr id="12" name="object 12" descr=""/>
            <p:cNvSpPr/>
            <p:nvPr/>
          </p:nvSpPr>
          <p:spPr>
            <a:xfrm>
              <a:off x="3570640" y="1301882"/>
              <a:ext cx="401320" cy="401320"/>
            </a:xfrm>
            <a:custGeom>
              <a:avLst/>
              <a:gdLst/>
              <a:ahLst/>
              <a:cxnLst/>
              <a:rect l="l" t="t" r="r" b="b"/>
              <a:pathLst>
                <a:path w="401320" h="401319">
                  <a:moveTo>
                    <a:pt x="200533" y="0"/>
                  </a:moveTo>
                  <a:lnTo>
                    <a:pt x="401002" y="200469"/>
                  </a:lnTo>
                  <a:lnTo>
                    <a:pt x="200456" y="401002"/>
                  </a:lnTo>
                  <a:lnTo>
                    <a:pt x="0" y="200533"/>
                  </a:lnTo>
                  <a:lnTo>
                    <a:pt x="200533" y="0"/>
                  </a:lnTo>
                  <a:close/>
                </a:path>
              </a:pathLst>
            </a:custGeom>
            <a:ln w="25400">
              <a:solidFill>
                <a:srgbClr val="FFFFFF"/>
              </a:solidFill>
            </a:ln>
          </p:spPr>
          <p:txBody>
            <a:bodyPr wrap="square" lIns="0" tIns="0" rIns="0" bIns="0" rtlCol="0"/>
            <a:lstStyle/>
            <a:p/>
          </p:txBody>
        </p:sp>
        <p:pic>
          <p:nvPicPr>
            <p:cNvPr id="13" name="object 13" descr=""/>
            <p:cNvPicPr/>
            <p:nvPr/>
          </p:nvPicPr>
          <p:blipFill>
            <a:blip r:embed="rId6" cstate="print"/>
            <a:stretch>
              <a:fillRect/>
            </a:stretch>
          </p:blipFill>
          <p:spPr>
            <a:xfrm>
              <a:off x="3688751" y="1430003"/>
              <a:ext cx="169202" cy="182016"/>
            </a:xfrm>
            <a:prstGeom prst="rect">
              <a:avLst/>
            </a:prstGeom>
          </p:spPr>
        </p:pic>
        <p:pic>
          <p:nvPicPr>
            <p:cNvPr id="14" name="object 14" descr=""/>
            <p:cNvPicPr/>
            <p:nvPr/>
          </p:nvPicPr>
          <p:blipFill>
            <a:blip r:embed="rId7" cstate="print"/>
            <a:stretch>
              <a:fillRect/>
            </a:stretch>
          </p:blipFill>
          <p:spPr>
            <a:xfrm>
              <a:off x="5869685" y="1499615"/>
              <a:ext cx="2251709" cy="1234439"/>
            </a:xfrm>
            <a:prstGeom prst="rect">
              <a:avLst/>
            </a:prstGeom>
          </p:spPr>
        </p:pic>
      </p:grpSp>
      <p:sp>
        <p:nvSpPr>
          <p:cNvPr id="15" name="object 15" descr=""/>
          <p:cNvSpPr txBox="1"/>
          <p:nvPr/>
        </p:nvSpPr>
        <p:spPr>
          <a:xfrm>
            <a:off x="6148081" y="1704181"/>
            <a:ext cx="1425575" cy="574040"/>
          </a:xfrm>
          <a:prstGeom prst="rect">
            <a:avLst/>
          </a:prstGeom>
        </p:spPr>
        <p:txBody>
          <a:bodyPr wrap="square" lIns="0" tIns="43180" rIns="0" bIns="0" rtlCol="0" vert="horz">
            <a:spAutoFit/>
          </a:bodyPr>
          <a:lstStyle/>
          <a:p>
            <a:pPr marL="12700">
              <a:lnSpc>
                <a:spcPct val="100000"/>
              </a:lnSpc>
              <a:spcBef>
                <a:spcPts val="340"/>
              </a:spcBef>
            </a:pPr>
            <a:r>
              <a:rPr dirty="0" sz="1000" spc="-10">
                <a:solidFill>
                  <a:srgbClr val="595958"/>
                </a:solidFill>
                <a:latin typeface="Microsoft YaHei"/>
                <a:cs typeface="Microsoft YaHei"/>
              </a:rPr>
              <a:t>公网提供专网服务</a:t>
            </a:r>
            <a:endParaRPr sz="1000">
              <a:latin typeface="Microsoft YaHei"/>
              <a:cs typeface="Microsoft YaHei"/>
            </a:endParaRPr>
          </a:p>
          <a:p>
            <a:pPr marL="12700">
              <a:lnSpc>
                <a:spcPct val="100000"/>
              </a:lnSpc>
              <a:spcBef>
                <a:spcPts val="240"/>
              </a:spcBef>
            </a:pPr>
            <a:r>
              <a:rPr dirty="0" sz="1000" spc="-5">
                <a:solidFill>
                  <a:srgbClr val="595958"/>
                </a:solidFill>
                <a:latin typeface="Microsoft YaHei"/>
                <a:cs typeface="Microsoft YaHei"/>
              </a:rPr>
              <a:t>流量经营到内容经营转型</a:t>
            </a:r>
            <a:endParaRPr sz="1000">
              <a:latin typeface="Microsoft YaHei"/>
              <a:cs typeface="Microsoft YaHei"/>
            </a:endParaRPr>
          </a:p>
          <a:p>
            <a:pPr marL="12700">
              <a:lnSpc>
                <a:spcPct val="100000"/>
              </a:lnSpc>
              <a:spcBef>
                <a:spcPts val="240"/>
              </a:spcBef>
            </a:pPr>
            <a:r>
              <a:rPr dirty="0" sz="1000">
                <a:solidFill>
                  <a:srgbClr val="595958"/>
                </a:solidFill>
                <a:latin typeface="Microsoft YaHei"/>
                <a:cs typeface="Microsoft YaHei"/>
              </a:rPr>
              <a:t>5G</a:t>
            </a:r>
            <a:r>
              <a:rPr dirty="0" sz="1000" spc="-15">
                <a:solidFill>
                  <a:srgbClr val="595958"/>
                </a:solidFill>
                <a:latin typeface="Microsoft YaHei"/>
                <a:cs typeface="Microsoft YaHei"/>
              </a:rPr>
              <a:t>技术革新</a:t>
            </a:r>
            <a:endParaRPr sz="1000">
              <a:latin typeface="Microsoft YaHei"/>
              <a:cs typeface="Microsoft YaHei"/>
            </a:endParaRPr>
          </a:p>
        </p:txBody>
      </p:sp>
      <p:grpSp>
        <p:nvGrpSpPr>
          <p:cNvPr id="16" name="object 16" descr=""/>
          <p:cNvGrpSpPr/>
          <p:nvPr/>
        </p:nvGrpSpPr>
        <p:grpSpPr>
          <a:xfrm>
            <a:off x="5444489" y="1799844"/>
            <a:ext cx="2329180" cy="2456180"/>
            <a:chOff x="5444489" y="1799844"/>
            <a:chExt cx="2329180" cy="2456180"/>
          </a:xfrm>
        </p:grpSpPr>
        <p:pic>
          <p:nvPicPr>
            <p:cNvPr id="17" name="object 17" descr=""/>
            <p:cNvPicPr/>
            <p:nvPr/>
          </p:nvPicPr>
          <p:blipFill>
            <a:blip r:embed="rId8" cstate="print"/>
            <a:stretch>
              <a:fillRect/>
            </a:stretch>
          </p:blipFill>
          <p:spPr>
            <a:xfrm>
              <a:off x="5525515" y="1820456"/>
              <a:ext cx="435584" cy="435495"/>
            </a:xfrm>
            <a:prstGeom prst="rect">
              <a:avLst/>
            </a:prstGeom>
          </p:spPr>
        </p:pic>
        <p:pic>
          <p:nvPicPr>
            <p:cNvPr id="18" name="object 18"/>
            <p:cNvPicPr/>
            <p:nvPr/>
          </p:nvPicPr>
          <p:blipFill>
            <a:blip r:embed="rId9" cstate="print"/>
            <a:stretch>
              <a:fillRect/>
            </a:stretch>
          </p:blipFill>
          <p:spPr>
            <a:xfrm>
              <a:off x="5505450" y="1799844"/>
              <a:ext cx="529589" cy="530351"/>
            </a:xfrm>
            <a:prstGeom prst="rect">
              <a:avLst/>
            </a:prstGeom>
          </p:spPr>
        </p:pic>
        <p:sp>
          <p:nvSpPr>
            <p:cNvPr id="19" name="object 19" descr=""/>
            <p:cNvSpPr/>
            <p:nvPr/>
          </p:nvSpPr>
          <p:spPr>
            <a:xfrm>
              <a:off x="5542768" y="1837702"/>
              <a:ext cx="401320" cy="401320"/>
            </a:xfrm>
            <a:custGeom>
              <a:avLst/>
              <a:gdLst/>
              <a:ahLst/>
              <a:cxnLst/>
              <a:rect l="l" t="t" r="r" b="b"/>
              <a:pathLst>
                <a:path w="401320" h="401319">
                  <a:moveTo>
                    <a:pt x="200533" y="0"/>
                  </a:moveTo>
                  <a:lnTo>
                    <a:pt x="0" y="200533"/>
                  </a:lnTo>
                  <a:lnTo>
                    <a:pt x="200456" y="401002"/>
                  </a:lnTo>
                  <a:lnTo>
                    <a:pt x="401002" y="200469"/>
                  </a:lnTo>
                  <a:lnTo>
                    <a:pt x="200533" y="0"/>
                  </a:lnTo>
                  <a:close/>
                </a:path>
              </a:pathLst>
            </a:custGeom>
            <a:solidFill>
              <a:srgbClr val="7030A0"/>
            </a:solidFill>
          </p:spPr>
          <p:txBody>
            <a:bodyPr wrap="square" lIns="0" tIns="0" rIns="0" bIns="0" rtlCol="0"/>
            <a:lstStyle/>
            <a:p/>
          </p:txBody>
        </p:sp>
        <p:sp>
          <p:nvSpPr>
            <p:cNvPr id="20" name="object 20" descr=""/>
            <p:cNvSpPr/>
            <p:nvPr/>
          </p:nvSpPr>
          <p:spPr>
            <a:xfrm>
              <a:off x="5542768" y="1837702"/>
              <a:ext cx="401320" cy="401320"/>
            </a:xfrm>
            <a:custGeom>
              <a:avLst/>
              <a:gdLst/>
              <a:ahLst/>
              <a:cxnLst/>
              <a:rect l="l" t="t" r="r" b="b"/>
              <a:pathLst>
                <a:path w="401320" h="401319">
                  <a:moveTo>
                    <a:pt x="200533" y="0"/>
                  </a:moveTo>
                  <a:lnTo>
                    <a:pt x="401002" y="200469"/>
                  </a:lnTo>
                  <a:lnTo>
                    <a:pt x="200456" y="401002"/>
                  </a:lnTo>
                  <a:lnTo>
                    <a:pt x="0" y="200533"/>
                  </a:lnTo>
                  <a:lnTo>
                    <a:pt x="200533" y="0"/>
                  </a:lnTo>
                  <a:close/>
                </a:path>
              </a:pathLst>
            </a:custGeom>
            <a:ln w="25400">
              <a:solidFill>
                <a:srgbClr val="FFFFFF"/>
              </a:solidFill>
            </a:ln>
          </p:spPr>
          <p:txBody>
            <a:bodyPr wrap="square" lIns="0" tIns="0" rIns="0" bIns="0" rtlCol="0"/>
            <a:lstStyle/>
            <a:p/>
          </p:txBody>
        </p:sp>
        <p:pic>
          <p:nvPicPr>
            <p:cNvPr id="21" name="object 21" descr=""/>
            <p:cNvPicPr/>
            <p:nvPr/>
          </p:nvPicPr>
          <p:blipFill>
            <a:blip r:embed="rId10" cstate="print"/>
            <a:stretch>
              <a:fillRect/>
            </a:stretch>
          </p:blipFill>
          <p:spPr>
            <a:xfrm>
              <a:off x="5656219" y="1967329"/>
              <a:ext cx="174091" cy="141744"/>
            </a:xfrm>
            <a:prstGeom prst="rect">
              <a:avLst/>
            </a:prstGeom>
          </p:spPr>
        </p:pic>
        <p:pic>
          <p:nvPicPr>
            <p:cNvPr id="22" name="object 22" descr=""/>
            <p:cNvPicPr/>
            <p:nvPr/>
          </p:nvPicPr>
          <p:blipFill>
            <a:blip r:embed="rId11" cstate="print"/>
            <a:stretch>
              <a:fillRect/>
            </a:stretch>
          </p:blipFill>
          <p:spPr>
            <a:xfrm>
              <a:off x="5444489" y="2937509"/>
              <a:ext cx="2328671" cy="1318259"/>
            </a:xfrm>
            <a:prstGeom prst="rect">
              <a:avLst/>
            </a:prstGeom>
          </p:spPr>
        </p:pic>
      </p:grpSp>
      <p:sp>
        <p:nvSpPr>
          <p:cNvPr id="23" name="object 23" descr=""/>
          <p:cNvSpPr txBox="1"/>
          <p:nvPr/>
        </p:nvSpPr>
        <p:spPr>
          <a:xfrm>
            <a:off x="5738119" y="3171288"/>
            <a:ext cx="1463675" cy="629285"/>
          </a:xfrm>
          <a:prstGeom prst="rect">
            <a:avLst/>
          </a:prstGeom>
        </p:spPr>
        <p:txBody>
          <a:bodyPr wrap="square" lIns="0" tIns="12700" rIns="0" bIns="0" rtlCol="0" vert="horz">
            <a:spAutoFit/>
          </a:bodyPr>
          <a:lstStyle/>
          <a:p>
            <a:pPr algn="r" marL="164465" marR="5080" indent="-152400">
              <a:lnSpc>
                <a:spcPct val="110000"/>
              </a:lnSpc>
              <a:spcBef>
                <a:spcPts val="100"/>
              </a:spcBef>
            </a:pPr>
            <a:r>
              <a:rPr dirty="0" sz="1200" spc="-10">
                <a:solidFill>
                  <a:srgbClr val="595958"/>
                </a:solidFill>
                <a:latin typeface="Microsoft YaHei"/>
                <a:cs typeface="Microsoft YaHei"/>
              </a:rPr>
              <a:t>AI</a:t>
            </a:r>
            <a:r>
              <a:rPr dirty="0" sz="1200">
                <a:solidFill>
                  <a:srgbClr val="595958"/>
                </a:solidFill>
                <a:latin typeface="SimSun"/>
                <a:cs typeface="SimSun"/>
              </a:rPr>
              <a:t>人工智能</a:t>
            </a:r>
            <a:r>
              <a:rPr dirty="0" sz="1200" spc="-20">
                <a:solidFill>
                  <a:srgbClr val="595958"/>
                </a:solidFill>
                <a:latin typeface="Microsoft YaHei"/>
                <a:cs typeface="Microsoft YaHei"/>
              </a:rPr>
              <a:t>-</a:t>
            </a:r>
            <a:r>
              <a:rPr dirty="0" sz="1200" spc="-15">
                <a:solidFill>
                  <a:srgbClr val="595958"/>
                </a:solidFill>
                <a:latin typeface="SimSun"/>
                <a:cs typeface="SimSun"/>
              </a:rPr>
              <a:t>技术革新</a:t>
            </a:r>
            <a:r>
              <a:rPr dirty="0" sz="1200">
                <a:solidFill>
                  <a:srgbClr val="595958"/>
                </a:solidFill>
                <a:latin typeface="SimSun"/>
                <a:cs typeface="SimSun"/>
              </a:rPr>
              <a:t>自动驾驶</a:t>
            </a:r>
            <a:r>
              <a:rPr dirty="0" sz="1200" spc="-20">
                <a:solidFill>
                  <a:srgbClr val="595958"/>
                </a:solidFill>
                <a:latin typeface="Microsoft YaHei"/>
                <a:cs typeface="Microsoft YaHei"/>
              </a:rPr>
              <a:t>-</a:t>
            </a:r>
            <a:r>
              <a:rPr dirty="0" sz="1200" spc="-15">
                <a:solidFill>
                  <a:srgbClr val="595958"/>
                </a:solidFill>
                <a:latin typeface="SimSun"/>
                <a:cs typeface="SimSun"/>
              </a:rPr>
              <a:t>商业价值</a:t>
            </a:r>
            <a:r>
              <a:rPr dirty="0" sz="1200" spc="-10">
                <a:solidFill>
                  <a:srgbClr val="595958"/>
                </a:solidFill>
                <a:latin typeface="SimSun"/>
                <a:cs typeface="SimSun"/>
              </a:rPr>
              <a:t>传感器产业发展</a:t>
            </a:r>
            <a:endParaRPr sz="1200">
              <a:latin typeface="SimSun"/>
              <a:cs typeface="SimSun"/>
            </a:endParaRPr>
          </a:p>
        </p:txBody>
      </p:sp>
      <p:grpSp>
        <p:nvGrpSpPr>
          <p:cNvPr id="24" name="object 24" descr=""/>
          <p:cNvGrpSpPr/>
          <p:nvPr/>
        </p:nvGrpSpPr>
        <p:grpSpPr>
          <a:xfrm>
            <a:off x="885443" y="1655826"/>
            <a:ext cx="5160645" cy="2220595"/>
            <a:chOff x="885443" y="1655826"/>
            <a:chExt cx="5160645" cy="2220595"/>
          </a:xfrm>
        </p:grpSpPr>
        <p:sp>
          <p:nvSpPr>
            <p:cNvPr id="25" name="object 25" descr=""/>
            <p:cNvSpPr/>
            <p:nvPr/>
          </p:nvSpPr>
          <p:spPr>
            <a:xfrm>
              <a:off x="5535659" y="3366382"/>
              <a:ext cx="435609" cy="435609"/>
            </a:xfrm>
            <a:custGeom>
              <a:avLst/>
              <a:gdLst/>
              <a:ahLst/>
              <a:cxnLst/>
              <a:rect l="l" t="t" r="r" b="b"/>
              <a:pathLst>
                <a:path w="435610" h="435610">
                  <a:moveTo>
                    <a:pt x="217792" y="0"/>
                  </a:moveTo>
                  <a:lnTo>
                    <a:pt x="0" y="217792"/>
                  </a:lnTo>
                  <a:lnTo>
                    <a:pt x="217716" y="435495"/>
                  </a:lnTo>
                  <a:lnTo>
                    <a:pt x="435495" y="217716"/>
                  </a:lnTo>
                  <a:lnTo>
                    <a:pt x="217792" y="0"/>
                  </a:lnTo>
                  <a:close/>
                </a:path>
              </a:pathLst>
            </a:custGeom>
            <a:solidFill>
              <a:srgbClr val="00B050"/>
            </a:solidFill>
          </p:spPr>
          <p:txBody>
            <a:bodyPr wrap="square" lIns="0" tIns="0" rIns="0" bIns="0" rtlCol="0"/>
            <a:lstStyle/>
            <a:p/>
          </p:txBody>
        </p:sp>
        <p:pic>
          <p:nvPicPr>
            <p:cNvPr id="26" name="object 26" descr=""/>
            <p:cNvPicPr/>
            <p:nvPr/>
          </p:nvPicPr>
          <p:blipFill>
            <a:blip r:embed="rId12" cstate="print"/>
            <a:stretch>
              <a:fillRect/>
            </a:stretch>
          </p:blipFill>
          <p:spPr>
            <a:xfrm>
              <a:off x="5616651" y="3372167"/>
              <a:ext cx="273583" cy="136791"/>
            </a:xfrm>
            <a:prstGeom prst="rect">
              <a:avLst/>
            </a:prstGeom>
          </p:spPr>
        </p:pic>
        <p:pic>
          <p:nvPicPr>
            <p:cNvPr id="27" name="object 27"/>
            <p:cNvPicPr/>
            <p:nvPr/>
          </p:nvPicPr>
          <p:blipFill>
            <a:blip r:embed="rId13" cstate="print"/>
            <a:stretch>
              <a:fillRect/>
            </a:stretch>
          </p:blipFill>
          <p:spPr>
            <a:xfrm>
              <a:off x="5515355" y="3345941"/>
              <a:ext cx="530351" cy="530351"/>
            </a:xfrm>
            <a:prstGeom prst="rect">
              <a:avLst/>
            </a:prstGeom>
          </p:spPr>
        </p:pic>
        <p:sp>
          <p:nvSpPr>
            <p:cNvPr id="28" name="object 28" descr=""/>
            <p:cNvSpPr/>
            <p:nvPr/>
          </p:nvSpPr>
          <p:spPr>
            <a:xfrm>
              <a:off x="5552914" y="3383629"/>
              <a:ext cx="401320" cy="401320"/>
            </a:xfrm>
            <a:custGeom>
              <a:avLst/>
              <a:gdLst/>
              <a:ahLst/>
              <a:cxnLst/>
              <a:rect l="l" t="t" r="r" b="b"/>
              <a:pathLst>
                <a:path w="401320" h="401320">
                  <a:moveTo>
                    <a:pt x="200533" y="0"/>
                  </a:moveTo>
                  <a:lnTo>
                    <a:pt x="401002" y="200469"/>
                  </a:lnTo>
                  <a:lnTo>
                    <a:pt x="200456" y="401002"/>
                  </a:lnTo>
                  <a:lnTo>
                    <a:pt x="0" y="200533"/>
                  </a:lnTo>
                  <a:lnTo>
                    <a:pt x="200533" y="0"/>
                  </a:lnTo>
                  <a:close/>
                </a:path>
              </a:pathLst>
            </a:custGeom>
            <a:ln w="25400">
              <a:solidFill>
                <a:srgbClr val="FFFFFF"/>
              </a:solidFill>
            </a:ln>
          </p:spPr>
          <p:txBody>
            <a:bodyPr wrap="square" lIns="0" tIns="0" rIns="0" bIns="0" rtlCol="0"/>
            <a:lstStyle/>
            <a:p/>
          </p:txBody>
        </p:sp>
        <p:pic>
          <p:nvPicPr>
            <p:cNvPr id="29" name="object 29" descr=""/>
            <p:cNvPicPr/>
            <p:nvPr/>
          </p:nvPicPr>
          <p:blipFill>
            <a:blip r:embed="rId14" cstate="print"/>
            <a:stretch>
              <a:fillRect/>
            </a:stretch>
          </p:blipFill>
          <p:spPr>
            <a:xfrm>
              <a:off x="5660443" y="3513260"/>
              <a:ext cx="185940" cy="141744"/>
            </a:xfrm>
            <a:prstGeom prst="rect">
              <a:avLst/>
            </a:prstGeom>
          </p:spPr>
        </p:pic>
        <p:pic>
          <p:nvPicPr>
            <p:cNvPr id="30" name="object 30" descr=""/>
            <p:cNvPicPr/>
            <p:nvPr/>
          </p:nvPicPr>
          <p:blipFill>
            <a:blip r:embed="rId15" cstate="print"/>
            <a:stretch>
              <a:fillRect/>
            </a:stretch>
          </p:blipFill>
          <p:spPr>
            <a:xfrm>
              <a:off x="885443" y="1655826"/>
              <a:ext cx="2186939" cy="1291589"/>
            </a:xfrm>
            <a:prstGeom prst="rect">
              <a:avLst/>
            </a:prstGeom>
          </p:spPr>
        </p:pic>
      </p:grpSp>
      <p:sp>
        <p:nvSpPr>
          <p:cNvPr id="31" name="object 31" descr=""/>
          <p:cNvSpPr txBox="1"/>
          <p:nvPr/>
        </p:nvSpPr>
        <p:spPr>
          <a:xfrm>
            <a:off x="1170993" y="1860816"/>
            <a:ext cx="1341120" cy="629285"/>
          </a:xfrm>
          <a:prstGeom prst="rect">
            <a:avLst/>
          </a:prstGeom>
        </p:spPr>
        <p:txBody>
          <a:bodyPr wrap="square" lIns="0" tIns="12700" rIns="0" bIns="0" rtlCol="0" vert="horz">
            <a:spAutoFit/>
          </a:bodyPr>
          <a:lstStyle/>
          <a:p>
            <a:pPr algn="just" marL="12700" marR="5080">
              <a:lnSpc>
                <a:spcPct val="120000"/>
              </a:lnSpc>
              <a:spcBef>
                <a:spcPts val="100"/>
              </a:spcBef>
            </a:pPr>
            <a:r>
              <a:rPr dirty="0" sz="1100" spc="-25">
                <a:solidFill>
                  <a:srgbClr val="595958"/>
                </a:solidFill>
                <a:latin typeface="Microsoft YaHei"/>
                <a:cs typeface="Microsoft YaHei"/>
              </a:rPr>
              <a:t>辅助驾驶-安全与效率自动驾驶-品牌与领先娱乐与应用-客户体验</a:t>
            </a:r>
            <a:endParaRPr sz="1100">
              <a:latin typeface="Microsoft YaHei"/>
              <a:cs typeface="Microsoft YaHei"/>
            </a:endParaRPr>
          </a:p>
        </p:txBody>
      </p:sp>
      <p:grpSp>
        <p:nvGrpSpPr>
          <p:cNvPr id="32" name="object 32" descr=""/>
          <p:cNvGrpSpPr/>
          <p:nvPr/>
        </p:nvGrpSpPr>
        <p:grpSpPr>
          <a:xfrm>
            <a:off x="1009649" y="1608581"/>
            <a:ext cx="2539365" cy="2689860"/>
            <a:chOff x="1009649" y="1608581"/>
            <a:chExt cx="2539365" cy="2689860"/>
          </a:xfrm>
        </p:grpSpPr>
        <p:pic>
          <p:nvPicPr>
            <p:cNvPr id="33" name="object 33"/>
            <p:cNvPicPr/>
            <p:nvPr/>
          </p:nvPicPr>
          <p:blipFill>
            <a:blip r:embed="rId16" cstate="print"/>
            <a:stretch>
              <a:fillRect/>
            </a:stretch>
          </p:blipFill>
          <p:spPr>
            <a:xfrm>
              <a:off x="2644139" y="1794509"/>
              <a:ext cx="538733" cy="538733"/>
            </a:xfrm>
            <a:prstGeom prst="rect">
              <a:avLst/>
            </a:prstGeom>
          </p:spPr>
        </p:pic>
        <p:sp>
          <p:nvSpPr>
            <p:cNvPr id="34" name="object 34" descr=""/>
            <p:cNvSpPr/>
            <p:nvPr/>
          </p:nvSpPr>
          <p:spPr>
            <a:xfrm>
              <a:off x="2668937" y="1819037"/>
              <a:ext cx="435609" cy="435609"/>
            </a:xfrm>
            <a:custGeom>
              <a:avLst/>
              <a:gdLst/>
              <a:ahLst/>
              <a:cxnLst/>
              <a:rect l="l" t="t" r="r" b="b"/>
              <a:pathLst>
                <a:path w="435610" h="435610">
                  <a:moveTo>
                    <a:pt x="218135" y="0"/>
                  </a:moveTo>
                  <a:lnTo>
                    <a:pt x="0" y="218135"/>
                  </a:lnTo>
                  <a:lnTo>
                    <a:pt x="217208" y="435343"/>
                  </a:lnTo>
                  <a:lnTo>
                    <a:pt x="435343" y="217208"/>
                  </a:lnTo>
                  <a:lnTo>
                    <a:pt x="218135" y="0"/>
                  </a:lnTo>
                  <a:close/>
                </a:path>
              </a:pathLst>
            </a:custGeom>
            <a:solidFill>
              <a:srgbClr val="FFC000"/>
            </a:solidFill>
          </p:spPr>
          <p:txBody>
            <a:bodyPr wrap="square" lIns="0" tIns="0" rIns="0" bIns="0" rtlCol="0"/>
            <a:lstStyle/>
            <a:p/>
          </p:txBody>
        </p:sp>
        <p:pic>
          <p:nvPicPr>
            <p:cNvPr id="35" name="object 35" descr=""/>
            <p:cNvPicPr/>
            <p:nvPr/>
          </p:nvPicPr>
          <p:blipFill>
            <a:blip r:embed="rId17" cstate="print"/>
            <a:stretch>
              <a:fillRect/>
            </a:stretch>
          </p:blipFill>
          <p:spPr>
            <a:xfrm>
              <a:off x="2827656" y="1971852"/>
              <a:ext cx="119100" cy="132573"/>
            </a:xfrm>
            <a:prstGeom prst="rect">
              <a:avLst/>
            </a:prstGeom>
          </p:spPr>
        </p:pic>
        <p:pic>
          <p:nvPicPr>
            <p:cNvPr id="36" name="object 36" descr=""/>
            <p:cNvPicPr/>
            <p:nvPr/>
          </p:nvPicPr>
          <p:blipFill>
            <a:blip r:embed="rId18" cstate="print"/>
            <a:stretch>
              <a:fillRect/>
            </a:stretch>
          </p:blipFill>
          <p:spPr>
            <a:xfrm>
              <a:off x="2750375" y="1815934"/>
              <a:ext cx="273672" cy="137236"/>
            </a:xfrm>
            <a:prstGeom prst="rect">
              <a:avLst/>
            </a:prstGeom>
          </p:spPr>
        </p:pic>
        <p:pic>
          <p:nvPicPr>
            <p:cNvPr id="37" name="object 37"/>
            <p:cNvPicPr/>
            <p:nvPr/>
          </p:nvPicPr>
          <p:blipFill>
            <a:blip r:embed="rId19" cstate="print"/>
            <a:stretch>
              <a:fillRect/>
            </a:stretch>
          </p:blipFill>
          <p:spPr>
            <a:xfrm>
              <a:off x="2459735" y="1608581"/>
              <a:ext cx="1088897" cy="1089659"/>
            </a:xfrm>
            <a:prstGeom prst="rect">
              <a:avLst/>
            </a:prstGeom>
          </p:spPr>
        </p:pic>
        <p:sp>
          <p:nvSpPr>
            <p:cNvPr id="38" name="object 38" descr=""/>
            <p:cNvSpPr/>
            <p:nvPr/>
          </p:nvSpPr>
          <p:spPr>
            <a:xfrm>
              <a:off x="2686800" y="1836299"/>
              <a:ext cx="401320" cy="401320"/>
            </a:xfrm>
            <a:custGeom>
              <a:avLst/>
              <a:gdLst/>
              <a:ahLst/>
              <a:cxnLst/>
              <a:rect l="l" t="t" r="r" b="b"/>
              <a:pathLst>
                <a:path w="401319" h="401319">
                  <a:moveTo>
                    <a:pt x="200444" y="0"/>
                  </a:moveTo>
                  <a:lnTo>
                    <a:pt x="400811" y="200367"/>
                  </a:lnTo>
                  <a:lnTo>
                    <a:pt x="200367" y="400812"/>
                  </a:lnTo>
                  <a:lnTo>
                    <a:pt x="0" y="200444"/>
                  </a:lnTo>
                  <a:lnTo>
                    <a:pt x="200444" y="0"/>
                  </a:lnTo>
                  <a:close/>
                </a:path>
              </a:pathLst>
            </a:custGeom>
            <a:ln w="25400">
              <a:solidFill>
                <a:srgbClr val="FFFFFF"/>
              </a:solidFill>
            </a:ln>
          </p:spPr>
          <p:txBody>
            <a:bodyPr wrap="square" lIns="0" tIns="0" rIns="0" bIns="0" rtlCol="0"/>
            <a:lstStyle/>
            <a:p/>
          </p:txBody>
        </p:sp>
        <p:pic>
          <p:nvPicPr>
            <p:cNvPr id="39" name="object 39" descr=""/>
            <p:cNvPicPr/>
            <p:nvPr/>
          </p:nvPicPr>
          <p:blipFill>
            <a:blip r:embed="rId20" cstate="print"/>
            <a:stretch>
              <a:fillRect/>
            </a:stretch>
          </p:blipFill>
          <p:spPr>
            <a:xfrm>
              <a:off x="1009649" y="3006851"/>
              <a:ext cx="2047493" cy="1291589"/>
            </a:xfrm>
            <a:prstGeom prst="rect">
              <a:avLst/>
            </a:prstGeom>
          </p:spPr>
        </p:pic>
      </p:grpSp>
      <p:sp>
        <p:nvSpPr>
          <p:cNvPr id="40" name="object 40" descr=""/>
          <p:cNvSpPr txBox="1"/>
          <p:nvPr/>
        </p:nvSpPr>
        <p:spPr>
          <a:xfrm>
            <a:off x="1295840" y="3211427"/>
            <a:ext cx="1201420" cy="629285"/>
          </a:xfrm>
          <a:prstGeom prst="rect">
            <a:avLst/>
          </a:prstGeom>
        </p:spPr>
        <p:txBody>
          <a:bodyPr wrap="square" lIns="0" tIns="12700" rIns="0" bIns="0" rtlCol="0" vert="horz">
            <a:spAutoFit/>
          </a:bodyPr>
          <a:lstStyle/>
          <a:p>
            <a:pPr algn="just" marL="12700" marR="5080">
              <a:lnSpc>
                <a:spcPct val="120000"/>
              </a:lnSpc>
              <a:spcBef>
                <a:spcPts val="100"/>
              </a:spcBef>
            </a:pPr>
            <a:r>
              <a:rPr dirty="0" sz="1100" spc="-25">
                <a:solidFill>
                  <a:srgbClr val="595958"/>
                </a:solidFill>
                <a:latin typeface="Microsoft YaHei"/>
                <a:cs typeface="Microsoft YaHei"/>
              </a:rPr>
              <a:t>多模交通-最优管理路权管理-最佳安全法律法规逐步健全</a:t>
            </a:r>
            <a:endParaRPr sz="1100">
              <a:latin typeface="Microsoft YaHei"/>
              <a:cs typeface="Microsoft YaHei"/>
            </a:endParaRPr>
          </a:p>
        </p:txBody>
      </p:sp>
      <p:grpSp>
        <p:nvGrpSpPr>
          <p:cNvPr id="41" name="object 41" descr=""/>
          <p:cNvGrpSpPr/>
          <p:nvPr/>
        </p:nvGrpSpPr>
        <p:grpSpPr>
          <a:xfrm>
            <a:off x="192024" y="3144773"/>
            <a:ext cx="8513445" cy="1823720"/>
            <a:chOff x="192024" y="3144773"/>
            <a:chExt cx="8513445" cy="1823720"/>
          </a:xfrm>
        </p:grpSpPr>
        <p:pic>
          <p:nvPicPr>
            <p:cNvPr id="42" name="object 42"/>
            <p:cNvPicPr/>
            <p:nvPr/>
          </p:nvPicPr>
          <p:blipFill>
            <a:blip r:embed="rId21" cstate="print"/>
            <a:stretch>
              <a:fillRect/>
            </a:stretch>
          </p:blipFill>
          <p:spPr>
            <a:xfrm>
              <a:off x="2629661" y="3144773"/>
              <a:ext cx="538733" cy="538733"/>
            </a:xfrm>
            <a:prstGeom prst="rect">
              <a:avLst/>
            </a:prstGeom>
          </p:spPr>
        </p:pic>
        <p:sp>
          <p:nvSpPr>
            <p:cNvPr id="43" name="object 43" descr=""/>
            <p:cNvSpPr/>
            <p:nvPr/>
          </p:nvSpPr>
          <p:spPr>
            <a:xfrm>
              <a:off x="2654339" y="3169648"/>
              <a:ext cx="435609" cy="435609"/>
            </a:xfrm>
            <a:custGeom>
              <a:avLst/>
              <a:gdLst/>
              <a:ahLst/>
              <a:cxnLst/>
              <a:rect l="l" t="t" r="r" b="b"/>
              <a:pathLst>
                <a:path w="435610" h="435610">
                  <a:moveTo>
                    <a:pt x="218135" y="0"/>
                  </a:moveTo>
                  <a:lnTo>
                    <a:pt x="0" y="218135"/>
                  </a:lnTo>
                  <a:lnTo>
                    <a:pt x="217208" y="435343"/>
                  </a:lnTo>
                  <a:lnTo>
                    <a:pt x="435343" y="217208"/>
                  </a:lnTo>
                  <a:lnTo>
                    <a:pt x="218135" y="0"/>
                  </a:lnTo>
                  <a:close/>
                </a:path>
              </a:pathLst>
            </a:custGeom>
            <a:solidFill>
              <a:srgbClr val="FF0000"/>
            </a:solidFill>
          </p:spPr>
          <p:txBody>
            <a:bodyPr wrap="square" lIns="0" tIns="0" rIns="0" bIns="0" rtlCol="0"/>
            <a:lstStyle/>
            <a:p/>
          </p:txBody>
        </p:sp>
        <p:pic>
          <p:nvPicPr>
            <p:cNvPr id="44" name="object 44" descr=""/>
            <p:cNvPicPr/>
            <p:nvPr/>
          </p:nvPicPr>
          <p:blipFill>
            <a:blip r:embed="rId22" cstate="print"/>
            <a:stretch>
              <a:fillRect/>
            </a:stretch>
          </p:blipFill>
          <p:spPr>
            <a:xfrm>
              <a:off x="2735783" y="3166541"/>
              <a:ext cx="273659" cy="137236"/>
            </a:xfrm>
            <a:prstGeom prst="rect">
              <a:avLst/>
            </a:prstGeom>
          </p:spPr>
        </p:pic>
        <p:sp>
          <p:nvSpPr>
            <p:cNvPr id="45" name="object 45" descr=""/>
            <p:cNvSpPr/>
            <p:nvPr/>
          </p:nvSpPr>
          <p:spPr>
            <a:xfrm>
              <a:off x="2672201" y="3186911"/>
              <a:ext cx="401320" cy="401320"/>
            </a:xfrm>
            <a:custGeom>
              <a:avLst/>
              <a:gdLst/>
              <a:ahLst/>
              <a:cxnLst/>
              <a:rect l="l" t="t" r="r" b="b"/>
              <a:pathLst>
                <a:path w="401319" h="401320">
                  <a:moveTo>
                    <a:pt x="200444" y="0"/>
                  </a:moveTo>
                  <a:lnTo>
                    <a:pt x="400811" y="200367"/>
                  </a:lnTo>
                  <a:lnTo>
                    <a:pt x="200367" y="400812"/>
                  </a:lnTo>
                  <a:lnTo>
                    <a:pt x="0" y="200444"/>
                  </a:lnTo>
                  <a:lnTo>
                    <a:pt x="200444" y="0"/>
                  </a:lnTo>
                  <a:close/>
                </a:path>
              </a:pathLst>
            </a:custGeom>
            <a:ln w="25400">
              <a:solidFill>
                <a:srgbClr val="FFFFFF"/>
              </a:solidFill>
            </a:ln>
          </p:spPr>
          <p:txBody>
            <a:bodyPr wrap="square" lIns="0" tIns="0" rIns="0" bIns="0" rtlCol="0"/>
            <a:lstStyle/>
            <a:p/>
          </p:txBody>
        </p:sp>
        <p:pic>
          <p:nvPicPr>
            <p:cNvPr id="46" name="object 46" descr=""/>
            <p:cNvPicPr/>
            <p:nvPr/>
          </p:nvPicPr>
          <p:blipFill>
            <a:blip r:embed="rId23" cstate="print"/>
            <a:stretch>
              <a:fillRect/>
            </a:stretch>
          </p:blipFill>
          <p:spPr>
            <a:xfrm>
              <a:off x="2743401" y="3278482"/>
              <a:ext cx="237655" cy="214985"/>
            </a:xfrm>
            <a:prstGeom prst="rect">
              <a:avLst/>
            </a:prstGeom>
          </p:spPr>
        </p:pic>
        <p:sp>
          <p:nvSpPr>
            <p:cNvPr id="47" name="object 47" descr=""/>
            <p:cNvSpPr/>
            <p:nvPr/>
          </p:nvSpPr>
          <p:spPr>
            <a:xfrm>
              <a:off x="2743401" y="3278482"/>
              <a:ext cx="238125" cy="215265"/>
            </a:xfrm>
            <a:custGeom>
              <a:avLst/>
              <a:gdLst/>
              <a:ahLst/>
              <a:cxnLst/>
              <a:rect l="l" t="t" r="r" b="b"/>
              <a:pathLst>
                <a:path w="238125" h="215264">
                  <a:moveTo>
                    <a:pt x="0" y="107492"/>
                  </a:moveTo>
                  <a:lnTo>
                    <a:pt x="48374" y="59118"/>
                  </a:lnTo>
                  <a:lnTo>
                    <a:pt x="48374" y="83312"/>
                  </a:lnTo>
                  <a:lnTo>
                    <a:pt x="94640" y="83312"/>
                  </a:lnTo>
                  <a:lnTo>
                    <a:pt x="94640" y="48374"/>
                  </a:lnTo>
                  <a:lnTo>
                    <a:pt x="70459" y="48374"/>
                  </a:lnTo>
                  <a:lnTo>
                    <a:pt x="118833" y="0"/>
                  </a:lnTo>
                  <a:lnTo>
                    <a:pt x="167195" y="48374"/>
                  </a:lnTo>
                  <a:lnTo>
                    <a:pt x="143014" y="48374"/>
                  </a:lnTo>
                  <a:lnTo>
                    <a:pt x="143014" y="83312"/>
                  </a:lnTo>
                  <a:lnTo>
                    <a:pt x="189280" y="83312"/>
                  </a:lnTo>
                  <a:lnTo>
                    <a:pt x="189280" y="59118"/>
                  </a:lnTo>
                  <a:lnTo>
                    <a:pt x="237655" y="107492"/>
                  </a:lnTo>
                  <a:lnTo>
                    <a:pt x="189280" y="155867"/>
                  </a:lnTo>
                  <a:lnTo>
                    <a:pt x="189280" y="131673"/>
                  </a:lnTo>
                  <a:lnTo>
                    <a:pt x="143014" y="131673"/>
                  </a:lnTo>
                  <a:lnTo>
                    <a:pt x="143014" y="166611"/>
                  </a:lnTo>
                  <a:lnTo>
                    <a:pt x="167195" y="166611"/>
                  </a:lnTo>
                  <a:lnTo>
                    <a:pt x="118833" y="214985"/>
                  </a:lnTo>
                  <a:lnTo>
                    <a:pt x="70459" y="166611"/>
                  </a:lnTo>
                  <a:lnTo>
                    <a:pt x="94640" y="166611"/>
                  </a:lnTo>
                  <a:lnTo>
                    <a:pt x="94640" y="131673"/>
                  </a:lnTo>
                  <a:lnTo>
                    <a:pt x="48374" y="131673"/>
                  </a:lnTo>
                  <a:lnTo>
                    <a:pt x="48374" y="155867"/>
                  </a:lnTo>
                  <a:lnTo>
                    <a:pt x="0" y="107492"/>
                  </a:lnTo>
                  <a:close/>
                </a:path>
              </a:pathLst>
            </a:custGeom>
            <a:ln w="25400">
              <a:solidFill>
                <a:srgbClr val="FFFFFF"/>
              </a:solidFill>
            </a:ln>
          </p:spPr>
          <p:txBody>
            <a:bodyPr wrap="square" lIns="0" tIns="0" rIns="0" bIns="0" rtlCol="0"/>
            <a:lstStyle/>
            <a:p/>
          </p:txBody>
        </p:sp>
        <p:pic>
          <p:nvPicPr>
            <p:cNvPr id="48" name="object 48" descr=""/>
            <p:cNvPicPr/>
            <p:nvPr/>
          </p:nvPicPr>
          <p:blipFill>
            <a:blip r:embed="rId24" cstate="print"/>
            <a:stretch>
              <a:fillRect/>
            </a:stretch>
          </p:blipFill>
          <p:spPr>
            <a:xfrm>
              <a:off x="222504" y="4170425"/>
              <a:ext cx="8482583" cy="797813"/>
            </a:xfrm>
            <a:prstGeom prst="rect">
              <a:avLst/>
            </a:prstGeom>
          </p:spPr>
        </p:pic>
        <p:pic>
          <p:nvPicPr>
            <p:cNvPr id="49" name="object 49" descr=""/>
            <p:cNvPicPr/>
            <p:nvPr/>
          </p:nvPicPr>
          <p:blipFill>
            <a:blip r:embed="rId25" cstate="print"/>
            <a:stretch>
              <a:fillRect/>
            </a:stretch>
          </p:blipFill>
          <p:spPr>
            <a:xfrm>
              <a:off x="192024" y="4142231"/>
              <a:ext cx="8398762" cy="784859"/>
            </a:xfrm>
            <a:prstGeom prst="rect">
              <a:avLst/>
            </a:prstGeom>
          </p:spPr>
        </p:pic>
      </p:grpSp>
      <p:sp>
        <p:nvSpPr>
          <p:cNvPr id="50" name="object 50" descr=""/>
          <p:cNvSpPr txBox="1"/>
          <p:nvPr/>
        </p:nvSpPr>
        <p:spPr>
          <a:xfrm>
            <a:off x="263537" y="4188498"/>
            <a:ext cx="8400415" cy="715645"/>
          </a:xfrm>
          <a:prstGeom prst="rect">
            <a:avLst/>
          </a:prstGeom>
          <a:solidFill>
            <a:srgbClr val="D6ECEE"/>
          </a:solidFill>
        </p:spPr>
        <p:txBody>
          <a:bodyPr wrap="square" lIns="0" tIns="29845" rIns="0" bIns="0" rtlCol="0" vert="horz">
            <a:spAutoFit/>
          </a:bodyPr>
          <a:lstStyle/>
          <a:p>
            <a:pPr marL="283210" indent="-215265">
              <a:lnSpc>
                <a:spcPct val="100000"/>
              </a:lnSpc>
              <a:spcBef>
                <a:spcPts val="235"/>
              </a:spcBef>
              <a:buFont typeface="Arial MT"/>
              <a:buChar char="•"/>
              <a:tabLst>
                <a:tab pos="283210" algn="l"/>
              </a:tabLst>
            </a:pPr>
            <a:r>
              <a:rPr dirty="0" sz="1400" spc="-25">
                <a:latin typeface="SimSun"/>
                <a:cs typeface="SimSun"/>
              </a:rPr>
              <a:t>共赢之轮，体现车联网业务模式的合作生态关系，可指导相关产业合作与项目工作开展</a:t>
            </a:r>
            <a:endParaRPr sz="1400">
              <a:latin typeface="SimSun"/>
              <a:cs typeface="SimSun"/>
            </a:endParaRPr>
          </a:p>
          <a:p>
            <a:pPr marL="283210" marR="212725" indent="-215265">
              <a:lnSpc>
                <a:spcPct val="100000"/>
              </a:lnSpc>
              <a:buFont typeface="Arial MT"/>
              <a:buChar char="•"/>
              <a:tabLst>
                <a:tab pos="283210" algn="l"/>
              </a:tabLst>
            </a:pPr>
            <a:r>
              <a:rPr dirty="0" sz="1400" spc="-20">
                <a:latin typeface="SimSun"/>
                <a:cs typeface="SimSun"/>
              </a:rPr>
              <a:t>具备完善的产业链，在车载</a:t>
            </a:r>
            <a:r>
              <a:rPr dirty="0" sz="1400" spc="-20">
                <a:latin typeface="Microsoft YaHei"/>
                <a:cs typeface="Microsoft YaHei"/>
              </a:rPr>
              <a:t>V2X</a:t>
            </a:r>
            <a:r>
              <a:rPr dirty="0" sz="1400" spc="-20">
                <a:latin typeface="SimSun"/>
                <a:cs typeface="SimSun"/>
              </a:rPr>
              <a:t>终端、</a:t>
            </a:r>
            <a:r>
              <a:rPr dirty="0" sz="1400" spc="-10">
                <a:latin typeface="Microsoft YaHei"/>
                <a:cs typeface="Microsoft YaHei"/>
              </a:rPr>
              <a:t>4G/5G</a:t>
            </a:r>
            <a:r>
              <a:rPr dirty="0" sz="1400" spc="-20">
                <a:latin typeface="SimSun"/>
                <a:cs typeface="SimSun"/>
              </a:rPr>
              <a:t>网络建设、安全</a:t>
            </a:r>
            <a:r>
              <a:rPr dirty="0" sz="1400" spc="-10">
                <a:latin typeface="Microsoft YaHei"/>
                <a:cs typeface="Microsoft YaHei"/>
              </a:rPr>
              <a:t>/</a:t>
            </a:r>
            <a:r>
              <a:rPr dirty="0" sz="1400" spc="-25">
                <a:latin typeface="SimSun"/>
                <a:cs typeface="SimSun"/>
              </a:rPr>
              <a:t>高效交通管理平台、应用大数据等方面提供产业支撑，并具有一定领先优势。</a:t>
            </a:r>
            <a:endParaRPr sz="1400">
              <a:latin typeface="SimSun"/>
              <a:cs typeface="SimSun"/>
            </a:endParaRPr>
          </a:p>
        </p:txBody>
      </p:sp>
      <p:pic>
        <p:nvPicPr>
          <p:cNvPr id="51" name="object 51"/>
          <p:cNvPicPr/>
          <p:nvPr/>
        </p:nvPicPr>
        <p:blipFill>
          <a:blip r:embed="rId26" cstate="print"/>
          <a:stretch>
            <a:fillRect/>
          </a:stretch>
        </p:blipFill>
        <p:spPr>
          <a:xfrm>
            <a:off x="4150207" y="2486355"/>
            <a:ext cx="609231" cy="72563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4762" y="-4762"/>
            <a:ext cx="9153525" cy="809625"/>
            <a:chOff x="-4762" y="-4762"/>
            <a:chExt cx="9153525" cy="809625"/>
          </a:xfrm>
        </p:grpSpPr>
        <p:sp>
          <p:nvSpPr>
            <p:cNvPr id="3" name="object 3" descr=""/>
            <p:cNvSpPr/>
            <p:nvPr/>
          </p:nvSpPr>
          <p:spPr>
            <a:xfrm>
              <a:off x="0" y="0"/>
              <a:ext cx="9144000" cy="800100"/>
            </a:xfrm>
            <a:custGeom>
              <a:avLst/>
              <a:gdLst/>
              <a:ahLst/>
              <a:cxnLst/>
              <a:rect l="l" t="t" r="r" b="b"/>
              <a:pathLst>
                <a:path w="9144000" h="800100">
                  <a:moveTo>
                    <a:pt x="9144000" y="0"/>
                  </a:moveTo>
                  <a:lnTo>
                    <a:pt x="0" y="0"/>
                  </a:lnTo>
                  <a:lnTo>
                    <a:pt x="0" y="800100"/>
                  </a:lnTo>
                  <a:lnTo>
                    <a:pt x="9144000" y="800100"/>
                  </a:lnTo>
                  <a:lnTo>
                    <a:pt x="9144000" y="0"/>
                  </a:lnTo>
                  <a:close/>
                </a:path>
              </a:pathLst>
            </a:custGeom>
            <a:solidFill>
              <a:srgbClr val="0056AC"/>
            </a:solidFill>
          </p:spPr>
          <p:txBody>
            <a:bodyPr wrap="square" lIns="0" tIns="0" rIns="0" bIns="0" rtlCol="0"/>
            <a:lstStyle/>
            <a:p/>
          </p:txBody>
        </p:sp>
        <p:sp>
          <p:nvSpPr>
            <p:cNvPr id="4" name="object 4" descr=""/>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sp>
          <p:nvSpPr>
            <p:cNvPr id="5" name="object 5" descr=""/>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grpSp>
      <p:pic>
        <p:nvPicPr>
          <p:cNvPr id="6" name="object 6" descr=""/>
          <p:cNvPicPr/>
          <p:nvPr/>
        </p:nvPicPr>
        <p:blipFill>
          <a:blip r:embed="rId2" cstate="print"/>
          <a:stretch>
            <a:fillRect/>
          </a:stretch>
        </p:blipFill>
        <p:spPr>
          <a:xfrm>
            <a:off x="152400" y="133350"/>
            <a:ext cx="804532" cy="576579"/>
          </a:xfrm>
          <a:prstGeom prst="rect">
            <a:avLst/>
          </a:prstGeom>
        </p:spPr>
      </p:pic>
      <p:pic>
        <p:nvPicPr>
          <p:cNvPr id="7" name="object 7" descr=""/>
          <p:cNvPicPr/>
          <p:nvPr/>
        </p:nvPicPr>
        <p:blipFill>
          <a:blip r:embed="rId3" cstate="print"/>
          <a:stretch>
            <a:fillRect/>
          </a:stretch>
        </p:blipFill>
        <p:spPr>
          <a:xfrm>
            <a:off x="0" y="3982720"/>
            <a:ext cx="9144000" cy="1160780"/>
          </a:xfrm>
          <a:prstGeom prst="rect">
            <a:avLst/>
          </a:prstGeom>
        </p:spPr>
      </p:pic>
      <p:grpSp>
        <p:nvGrpSpPr>
          <p:cNvPr id="8" name="object 8" descr=""/>
          <p:cNvGrpSpPr/>
          <p:nvPr/>
        </p:nvGrpSpPr>
        <p:grpSpPr>
          <a:xfrm>
            <a:off x="140779" y="3970018"/>
            <a:ext cx="2004695" cy="1111250"/>
            <a:chOff x="140779" y="3970018"/>
            <a:chExt cx="2004695" cy="1111250"/>
          </a:xfrm>
        </p:grpSpPr>
        <p:sp>
          <p:nvSpPr>
            <p:cNvPr id="9" name="object 9" descr=""/>
            <p:cNvSpPr/>
            <p:nvPr/>
          </p:nvSpPr>
          <p:spPr>
            <a:xfrm>
              <a:off x="153479" y="3982718"/>
              <a:ext cx="1979295" cy="1085850"/>
            </a:xfrm>
            <a:custGeom>
              <a:avLst/>
              <a:gdLst/>
              <a:ahLst/>
              <a:cxnLst/>
              <a:rect l="l" t="t" r="r" b="b"/>
              <a:pathLst>
                <a:path w="1979295" h="1085850">
                  <a:moveTo>
                    <a:pt x="0" y="0"/>
                  </a:moveTo>
                  <a:lnTo>
                    <a:pt x="1979155" y="0"/>
                  </a:lnTo>
                  <a:lnTo>
                    <a:pt x="1979155" y="1085354"/>
                  </a:lnTo>
                  <a:lnTo>
                    <a:pt x="0" y="1085354"/>
                  </a:lnTo>
                  <a:lnTo>
                    <a:pt x="0" y="0"/>
                  </a:lnTo>
                  <a:close/>
                </a:path>
              </a:pathLst>
            </a:custGeom>
            <a:ln w="25400">
              <a:solidFill>
                <a:srgbClr val="3C8C93"/>
              </a:solidFill>
            </a:ln>
          </p:spPr>
          <p:txBody>
            <a:bodyPr wrap="square" lIns="0" tIns="0" rIns="0" bIns="0" rtlCol="0"/>
            <a:lstStyle/>
            <a:p/>
          </p:txBody>
        </p:sp>
        <p:sp>
          <p:nvSpPr>
            <p:cNvPr id="10" name="object 10" descr=""/>
            <p:cNvSpPr/>
            <p:nvPr/>
          </p:nvSpPr>
          <p:spPr>
            <a:xfrm>
              <a:off x="246379" y="4050969"/>
              <a:ext cx="1793875" cy="932180"/>
            </a:xfrm>
            <a:custGeom>
              <a:avLst/>
              <a:gdLst/>
              <a:ahLst/>
              <a:cxnLst/>
              <a:rect l="l" t="t" r="r" b="b"/>
              <a:pathLst>
                <a:path w="1793875" h="932179">
                  <a:moveTo>
                    <a:pt x="1793367" y="0"/>
                  </a:moveTo>
                  <a:lnTo>
                    <a:pt x="0" y="0"/>
                  </a:lnTo>
                  <a:lnTo>
                    <a:pt x="0" y="932141"/>
                  </a:lnTo>
                  <a:lnTo>
                    <a:pt x="1793367" y="932141"/>
                  </a:lnTo>
                  <a:lnTo>
                    <a:pt x="1793367" y="0"/>
                  </a:lnTo>
                  <a:close/>
                </a:path>
              </a:pathLst>
            </a:custGeom>
            <a:solidFill>
              <a:srgbClr val="FFFFFF"/>
            </a:solidFill>
          </p:spPr>
          <p:txBody>
            <a:bodyPr wrap="square" lIns="0" tIns="0" rIns="0" bIns="0" rtlCol="0"/>
            <a:lstStyle/>
            <a:p/>
          </p:txBody>
        </p:sp>
        <p:sp>
          <p:nvSpPr>
            <p:cNvPr id="11" name="object 11" descr=""/>
            <p:cNvSpPr/>
            <p:nvPr/>
          </p:nvSpPr>
          <p:spPr>
            <a:xfrm>
              <a:off x="246379" y="4050969"/>
              <a:ext cx="1793875" cy="932180"/>
            </a:xfrm>
            <a:custGeom>
              <a:avLst/>
              <a:gdLst/>
              <a:ahLst/>
              <a:cxnLst/>
              <a:rect l="l" t="t" r="r" b="b"/>
              <a:pathLst>
                <a:path w="1793875" h="932179">
                  <a:moveTo>
                    <a:pt x="0" y="0"/>
                  </a:moveTo>
                  <a:lnTo>
                    <a:pt x="1793367" y="0"/>
                  </a:lnTo>
                  <a:lnTo>
                    <a:pt x="1793367" y="932141"/>
                  </a:lnTo>
                  <a:lnTo>
                    <a:pt x="0" y="932141"/>
                  </a:lnTo>
                  <a:lnTo>
                    <a:pt x="0" y="0"/>
                  </a:lnTo>
                  <a:close/>
                </a:path>
              </a:pathLst>
            </a:custGeom>
            <a:ln w="25400">
              <a:solidFill>
                <a:srgbClr val="3C8C93"/>
              </a:solidFill>
            </a:ln>
          </p:spPr>
          <p:txBody>
            <a:bodyPr wrap="square" lIns="0" tIns="0" rIns="0" bIns="0" rtlCol="0"/>
            <a:lstStyle/>
            <a:p/>
          </p:txBody>
        </p:sp>
      </p:grpSp>
      <p:sp>
        <p:nvSpPr>
          <p:cNvPr id="12" name="object 12" descr=""/>
          <p:cNvSpPr txBox="1"/>
          <p:nvPr/>
        </p:nvSpPr>
        <p:spPr>
          <a:xfrm>
            <a:off x="325114" y="4227732"/>
            <a:ext cx="1568450" cy="574040"/>
          </a:xfrm>
          <a:prstGeom prst="rect">
            <a:avLst/>
          </a:prstGeom>
        </p:spPr>
        <p:txBody>
          <a:bodyPr wrap="square" lIns="0" tIns="12700" rIns="0" bIns="0" rtlCol="0" vert="horz">
            <a:spAutoFit/>
          </a:bodyPr>
          <a:lstStyle/>
          <a:p>
            <a:pPr marL="184785" indent="-172085">
              <a:lnSpc>
                <a:spcPct val="100000"/>
              </a:lnSpc>
              <a:spcBef>
                <a:spcPts val="100"/>
              </a:spcBef>
              <a:buClr>
                <a:srgbClr val="3C8C93"/>
              </a:buClr>
              <a:buFont typeface="Arial MT"/>
              <a:buChar char="•"/>
              <a:tabLst>
                <a:tab pos="184785" algn="l"/>
              </a:tabLst>
            </a:pPr>
            <a:r>
              <a:rPr dirty="0" sz="1200" spc="-20">
                <a:solidFill>
                  <a:srgbClr val="3C8C93"/>
                </a:solidFill>
                <a:latin typeface="Arial MT"/>
                <a:cs typeface="Arial MT"/>
              </a:rPr>
              <a:t>ITS</a:t>
            </a:r>
            <a:r>
              <a:rPr dirty="0" sz="1200" spc="-15">
                <a:solidFill>
                  <a:srgbClr val="3C8C93"/>
                </a:solidFill>
                <a:latin typeface="SimSun"/>
                <a:cs typeface="SimSun"/>
              </a:rPr>
              <a:t>系统辅助</a:t>
            </a:r>
            <a:endParaRPr sz="1200">
              <a:latin typeface="SimSun"/>
              <a:cs typeface="SimSun"/>
            </a:endParaRPr>
          </a:p>
          <a:p>
            <a:pPr marL="184785" indent="-172085">
              <a:lnSpc>
                <a:spcPct val="100000"/>
              </a:lnSpc>
              <a:buFont typeface="Arial MT"/>
              <a:buChar char="•"/>
              <a:tabLst>
                <a:tab pos="184785" algn="l"/>
              </a:tabLst>
            </a:pPr>
            <a:r>
              <a:rPr dirty="0" sz="1200">
                <a:solidFill>
                  <a:srgbClr val="3C8C93"/>
                </a:solidFill>
                <a:latin typeface="SimSun"/>
                <a:cs typeface="SimSun"/>
              </a:rPr>
              <a:t>道路</a:t>
            </a:r>
            <a:r>
              <a:rPr dirty="0" sz="1200" spc="-10">
                <a:solidFill>
                  <a:srgbClr val="3C8C93"/>
                </a:solidFill>
                <a:latin typeface="Arial MT"/>
                <a:cs typeface="Arial MT"/>
              </a:rPr>
              <a:t>/</a:t>
            </a:r>
            <a:r>
              <a:rPr dirty="0" sz="1200" spc="-15">
                <a:solidFill>
                  <a:srgbClr val="3C8C93"/>
                </a:solidFill>
                <a:latin typeface="SimSun"/>
                <a:cs typeface="SimSun"/>
              </a:rPr>
              <a:t>行人安全</a:t>
            </a:r>
            <a:endParaRPr sz="1200">
              <a:latin typeface="SimSun"/>
              <a:cs typeface="SimSun"/>
            </a:endParaRPr>
          </a:p>
          <a:p>
            <a:pPr marL="184785" indent="-172085">
              <a:lnSpc>
                <a:spcPct val="100000"/>
              </a:lnSpc>
              <a:buFont typeface="Arial MT"/>
              <a:buChar char="•"/>
              <a:tabLst>
                <a:tab pos="184785" algn="l"/>
              </a:tabLst>
            </a:pPr>
            <a:r>
              <a:rPr dirty="0" sz="1200" spc="-10">
                <a:solidFill>
                  <a:srgbClr val="3C8C93"/>
                </a:solidFill>
                <a:latin typeface="SimSun"/>
                <a:cs typeface="SimSun"/>
              </a:rPr>
              <a:t>低时延、可靠性增强</a:t>
            </a:r>
            <a:endParaRPr sz="1200">
              <a:latin typeface="SimSun"/>
              <a:cs typeface="SimSun"/>
            </a:endParaRPr>
          </a:p>
        </p:txBody>
      </p:sp>
      <p:grpSp>
        <p:nvGrpSpPr>
          <p:cNvPr id="13" name="object 13" descr=""/>
          <p:cNvGrpSpPr/>
          <p:nvPr/>
        </p:nvGrpSpPr>
        <p:grpSpPr>
          <a:xfrm>
            <a:off x="7044638" y="3286111"/>
            <a:ext cx="2004695" cy="1111250"/>
            <a:chOff x="7044638" y="3286111"/>
            <a:chExt cx="2004695" cy="1111250"/>
          </a:xfrm>
        </p:grpSpPr>
        <p:pic>
          <p:nvPicPr>
            <p:cNvPr id="14" name="object 14" descr=""/>
            <p:cNvPicPr/>
            <p:nvPr/>
          </p:nvPicPr>
          <p:blipFill>
            <a:blip r:embed="rId4" cstate="print"/>
            <a:stretch>
              <a:fillRect/>
            </a:stretch>
          </p:blipFill>
          <p:spPr>
            <a:xfrm>
              <a:off x="7057338" y="3298812"/>
              <a:ext cx="1979155" cy="1085354"/>
            </a:xfrm>
            <a:prstGeom prst="rect">
              <a:avLst/>
            </a:prstGeom>
          </p:spPr>
        </p:pic>
        <p:sp>
          <p:nvSpPr>
            <p:cNvPr id="15" name="object 15" descr=""/>
            <p:cNvSpPr/>
            <p:nvPr/>
          </p:nvSpPr>
          <p:spPr>
            <a:xfrm>
              <a:off x="7057338" y="3298811"/>
              <a:ext cx="1979295" cy="1085850"/>
            </a:xfrm>
            <a:custGeom>
              <a:avLst/>
              <a:gdLst/>
              <a:ahLst/>
              <a:cxnLst/>
              <a:rect l="l" t="t" r="r" b="b"/>
              <a:pathLst>
                <a:path w="1979295" h="1085850">
                  <a:moveTo>
                    <a:pt x="0" y="0"/>
                  </a:moveTo>
                  <a:lnTo>
                    <a:pt x="1979155" y="0"/>
                  </a:lnTo>
                  <a:lnTo>
                    <a:pt x="1979155" y="1085354"/>
                  </a:lnTo>
                  <a:lnTo>
                    <a:pt x="0" y="1085354"/>
                  </a:lnTo>
                  <a:lnTo>
                    <a:pt x="0" y="0"/>
                  </a:lnTo>
                  <a:close/>
                </a:path>
              </a:pathLst>
            </a:custGeom>
            <a:ln w="25400">
              <a:solidFill>
                <a:srgbClr val="000000"/>
              </a:solidFill>
            </a:ln>
          </p:spPr>
          <p:txBody>
            <a:bodyPr wrap="square" lIns="0" tIns="0" rIns="0" bIns="0" rtlCol="0"/>
            <a:lstStyle/>
            <a:p/>
          </p:txBody>
        </p:sp>
        <p:sp>
          <p:nvSpPr>
            <p:cNvPr id="16" name="object 16" descr=""/>
            <p:cNvSpPr/>
            <p:nvPr/>
          </p:nvSpPr>
          <p:spPr>
            <a:xfrm>
              <a:off x="7150239" y="3367062"/>
              <a:ext cx="1793875" cy="932180"/>
            </a:xfrm>
            <a:custGeom>
              <a:avLst/>
              <a:gdLst/>
              <a:ahLst/>
              <a:cxnLst/>
              <a:rect l="l" t="t" r="r" b="b"/>
              <a:pathLst>
                <a:path w="1793875" h="932179">
                  <a:moveTo>
                    <a:pt x="1793367" y="0"/>
                  </a:moveTo>
                  <a:lnTo>
                    <a:pt x="0" y="0"/>
                  </a:lnTo>
                  <a:lnTo>
                    <a:pt x="0" y="932141"/>
                  </a:lnTo>
                  <a:lnTo>
                    <a:pt x="1793367" y="932141"/>
                  </a:lnTo>
                  <a:lnTo>
                    <a:pt x="1793367" y="0"/>
                  </a:lnTo>
                  <a:close/>
                </a:path>
              </a:pathLst>
            </a:custGeom>
            <a:solidFill>
              <a:srgbClr val="FFFFFF"/>
            </a:solidFill>
          </p:spPr>
          <p:txBody>
            <a:bodyPr wrap="square" lIns="0" tIns="0" rIns="0" bIns="0" rtlCol="0"/>
            <a:lstStyle/>
            <a:p/>
          </p:txBody>
        </p:sp>
        <p:sp>
          <p:nvSpPr>
            <p:cNvPr id="17" name="object 17" descr=""/>
            <p:cNvSpPr/>
            <p:nvPr/>
          </p:nvSpPr>
          <p:spPr>
            <a:xfrm>
              <a:off x="7150239" y="3367062"/>
              <a:ext cx="1793875" cy="932180"/>
            </a:xfrm>
            <a:custGeom>
              <a:avLst/>
              <a:gdLst/>
              <a:ahLst/>
              <a:cxnLst/>
              <a:rect l="l" t="t" r="r" b="b"/>
              <a:pathLst>
                <a:path w="1793875" h="932179">
                  <a:moveTo>
                    <a:pt x="0" y="0"/>
                  </a:moveTo>
                  <a:lnTo>
                    <a:pt x="1793367" y="0"/>
                  </a:lnTo>
                  <a:lnTo>
                    <a:pt x="1793367" y="932141"/>
                  </a:lnTo>
                  <a:lnTo>
                    <a:pt x="0" y="932141"/>
                  </a:lnTo>
                  <a:lnTo>
                    <a:pt x="0" y="0"/>
                  </a:lnTo>
                  <a:close/>
                </a:path>
              </a:pathLst>
            </a:custGeom>
            <a:ln w="25400">
              <a:solidFill>
                <a:srgbClr val="000000"/>
              </a:solidFill>
            </a:ln>
          </p:spPr>
          <p:txBody>
            <a:bodyPr wrap="square" lIns="0" tIns="0" rIns="0" bIns="0" rtlCol="0"/>
            <a:lstStyle/>
            <a:p/>
          </p:txBody>
        </p:sp>
      </p:grpSp>
      <p:sp>
        <p:nvSpPr>
          <p:cNvPr id="18" name="object 18" descr=""/>
          <p:cNvSpPr txBox="1"/>
          <p:nvPr/>
        </p:nvSpPr>
        <p:spPr>
          <a:xfrm>
            <a:off x="7228973" y="3543823"/>
            <a:ext cx="1568450" cy="57404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spc="-10">
                <a:solidFill>
                  <a:srgbClr val="3C8C93"/>
                </a:solidFill>
                <a:latin typeface="SimSun"/>
                <a:cs typeface="SimSun"/>
              </a:rPr>
              <a:t>单车智能融合策略</a:t>
            </a:r>
            <a:endParaRPr sz="1200">
              <a:latin typeface="SimSun"/>
              <a:cs typeface="SimSun"/>
            </a:endParaRPr>
          </a:p>
          <a:p>
            <a:pPr marL="184785" indent="-172085">
              <a:lnSpc>
                <a:spcPct val="100000"/>
              </a:lnSpc>
              <a:buFont typeface="Arial MT"/>
              <a:buChar char="•"/>
              <a:tabLst>
                <a:tab pos="184785" algn="l"/>
              </a:tabLst>
            </a:pPr>
            <a:r>
              <a:rPr dirty="0" sz="1200" spc="-10">
                <a:solidFill>
                  <a:srgbClr val="3C8C93"/>
                </a:solidFill>
                <a:latin typeface="SimSun"/>
                <a:cs typeface="SimSun"/>
              </a:rPr>
              <a:t>传感能力增强与降本</a:t>
            </a:r>
            <a:endParaRPr sz="1200">
              <a:latin typeface="SimSun"/>
              <a:cs typeface="SimSun"/>
            </a:endParaRPr>
          </a:p>
          <a:p>
            <a:pPr marL="184785" indent="-172085">
              <a:lnSpc>
                <a:spcPct val="100000"/>
              </a:lnSpc>
              <a:buFont typeface="Arial MT"/>
              <a:buChar char="•"/>
              <a:tabLst>
                <a:tab pos="184785" algn="l"/>
              </a:tabLst>
            </a:pPr>
            <a:r>
              <a:rPr dirty="0" sz="1200" spc="-10">
                <a:solidFill>
                  <a:srgbClr val="3C8C93"/>
                </a:solidFill>
                <a:latin typeface="SimSun"/>
                <a:cs typeface="SimSun"/>
              </a:rPr>
              <a:t>车内信息与娱乐增强</a:t>
            </a:r>
            <a:endParaRPr sz="1200">
              <a:latin typeface="SimSun"/>
              <a:cs typeface="SimSun"/>
            </a:endParaRPr>
          </a:p>
        </p:txBody>
      </p:sp>
      <p:grpSp>
        <p:nvGrpSpPr>
          <p:cNvPr id="19" name="object 19" descr=""/>
          <p:cNvGrpSpPr/>
          <p:nvPr/>
        </p:nvGrpSpPr>
        <p:grpSpPr>
          <a:xfrm>
            <a:off x="1181102" y="1333987"/>
            <a:ext cx="2004695" cy="1111250"/>
            <a:chOff x="1181102" y="1333987"/>
            <a:chExt cx="2004695" cy="1111250"/>
          </a:xfrm>
        </p:grpSpPr>
        <p:pic>
          <p:nvPicPr>
            <p:cNvPr id="20" name="object 20" descr=""/>
            <p:cNvPicPr/>
            <p:nvPr/>
          </p:nvPicPr>
          <p:blipFill>
            <a:blip r:embed="rId5" cstate="print"/>
            <a:stretch>
              <a:fillRect/>
            </a:stretch>
          </p:blipFill>
          <p:spPr>
            <a:xfrm>
              <a:off x="1193799" y="1346682"/>
              <a:ext cx="1979155" cy="1085354"/>
            </a:xfrm>
            <a:prstGeom prst="rect">
              <a:avLst/>
            </a:prstGeom>
          </p:spPr>
        </p:pic>
        <p:sp>
          <p:nvSpPr>
            <p:cNvPr id="21" name="object 21" descr=""/>
            <p:cNvSpPr/>
            <p:nvPr/>
          </p:nvSpPr>
          <p:spPr>
            <a:xfrm>
              <a:off x="1193802" y="1346687"/>
              <a:ext cx="1979295" cy="1085850"/>
            </a:xfrm>
            <a:custGeom>
              <a:avLst/>
              <a:gdLst/>
              <a:ahLst/>
              <a:cxnLst/>
              <a:rect l="l" t="t" r="r" b="b"/>
              <a:pathLst>
                <a:path w="1979295" h="1085850">
                  <a:moveTo>
                    <a:pt x="0" y="0"/>
                  </a:moveTo>
                  <a:lnTo>
                    <a:pt x="1979155" y="0"/>
                  </a:lnTo>
                  <a:lnTo>
                    <a:pt x="1979155" y="1085354"/>
                  </a:lnTo>
                  <a:lnTo>
                    <a:pt x="0" y="1085354"/>
                  </a:lnTo>
                  <a:lnTo>
                    <a:pt x="0" y="0"/>
                  </a:lnTo>
                  <a:close/>
                </a:path>
              </a:pathLst>
            </a:custGeom>
            <a:ln w="25400">
              <a:solidFill>
                <a:srgbClr val="161645"/>
              </a:solidFill>
            </a:ln>
          </p:spPr>
          <p:txBody>
            <a:bodyPr wrap="square" lIns="0" tIns="0" rIns="0" bIns="0" rtlCol="0"/>
            <a:lstStyle/>
            <a:p/>
          </p:txBody>
        </p:sp>
        <p:sp>
          <p:nvSpPr>
            <p:cNvPr id="22" name="object 22" descr=""/>
            <p:cNvSpPr/>
            <p:nvPr/>
          </p:nvSpPr>
          <p:spPr>
            <a:xfrm>
              <a:off x="1286700" y="1414945"/>
              <a:ext cx="1793875" cy="932180"/>
            </a:xfrm>
            <a:custGeom>
              <a:avLst/>
              <a:gdLst/>
              <a:ahLst/>
              <a:cxnLst/>
              <a:rect l="l" t="t" r="r" b="b"/>
              <a:pathLst>
                <a:path w="1793875" h="932180">
                  <a:moveTo>
                    <a:pt x="1793367" y="0"/>
                  </a:moveTo>
                  <a:lnTo>
                    <a:pt x="0" y="0"/>
                  </a:lnTo>
                  <a:lnTo>
                    <a:pt x="0" y="932141"/>
                  </a:lnTo>
                  <a:lnTo>
                    <a:pt x="1793367" y="932141"/>
                  </a:lnTo>
                  <a:lnTo>
                    <a:pt x="1793367" y="0"/>
                  </a:lnTo>
                  <a:close/>
                </a:path>
              </a:pathLst>
            </a:custGeom>
            <a:solidFill>
              <a:srgbClr val="FFFFFF"/>
            </a:solidFill>
          </p:spPr>
          <p:txBody>
            <a:bodyPr wrap="square" lIns="0" tIns="0" rIns="0" bIns="0" rtlCol="0"/>
            <a:lstStyle/>
            <a:p/>
          </p:txBody>
        </p:sp>
        <p:sp>
          <p:nvSpPr>
            <p:cNvPr id="23" name="object 23" descr=""/>
            <p:cNvSpPr/>
            <p:nvPr/>
          </p:nvSpPr>
          <p:spPr>
            <a:xfrm>
              <a:off x="1286700" y="1414945"/>
              <a:ext cx="1793875" cy="932180"/>
            </a:xfrm>
            <a:custGeom>
              <a:avLst/>
              <a:gdLst/>
              <a:ahLst/>
              <a:cxnLst/>
              <a:rect l="l" t="t" r="r" b="b"/>
              <a:pathLst>
                <a:path w="1793875" h="932180">
                  <a:moveTo>
                    <a:pt x="0" y="0"/>
                  </a:moveTo>
                  <a:lnTo>
                    <a:pt x="1793367" y="0"/>
                  </a:lnTo>
                  <a:lnTo>
                    <a:pt x="1793367" y="932141"/>
                  </a:lnTo>
                  <a:lnTo>
                    <a:pt x="0" y="932141"/>
                  </a:lnTo>
                  <a:lnTo>
                    <a:pt x="0" y="0"/>
                  </a:lnTo>
                  <a:close/>
                </a:path>
              </a:pathLst>
            </a:custGeom>
            <a:ln w="25400">
              <a:solidFill>
                <a:srgbClr val="161645"/>
              </a:solidFill>
            </a:ln>
          </p:spPr>
          <p:txBody>
            <a:bodyPr wrap="square" lIns="0" tIns="0" rIns="0" bIns="0" rtlCol="0"/>
            <a:lstStyle/>
            <a:p/>
          </p:txBody>
        </p:sp>
      </p:grpSp>
      <p:sp>
        <p:nvSpPr>
          <p:cNvPr id="24" name="object 24" descr=""/>
          <p:cNvSpPr txBox="1"/>
          <p:nvPr/>
        </p:nvSpPr>
        <p:spPr>
          <a:xfrm>
            <a:off x="1365437" y="1500261"/>
            <a:ext cx="1611630" cy="756920"/>
          </a:xfrm>
          <a:prstGeom prst="rect">
            <a:avLst/>
          </a:prstGeom>
        </p:spPr>
        <p:txBody>
          <a:bodyPr wrap="square" lIns="0" tIns="12700" rIns="0" bIns="0" rtlCol="0" vert="horz">
            <a:spAutoFit/>
          </a:bodyPr>
          <a:lstStyle/>
          <a:p>
            <a:pPr marL="184785" indent="-172085">
              <a:lnSpc>
                <a:spcPct val="100000"/>
              </a:lnSpc>
              <a:spcBef>
                <a:spcPts val="100"/>
              </a:spcBef>
              <a:buFont typeface="Arial MT"/>
              <a:buChar char="•"/>
              <a:tabLst>
                <a:tab pos="184785" algn="l"/>
              </a:tabLst>
            </a:pPr>
            <a:r>
              <a:rPr dirty="0" sz="1200" spc="-10">
                <a:solidFill>
                  <a:srgbClr val="3C8C93"/>
                </a:solidFill>
                <a:latin typeface="SimSun"/>
                <a:cs typeface="SimSun"/>
              </a:rPr>
              <a:t>边缘计算服务</a:t>
            </a:r>
            <a:endParaRPr sz="1200">
              <a:latin typeface="SimSun"/>
              <a:cs typeface="SimSun"/>
            </a:endParaRPr>
          </a:p>
          <a:p>
            <a:pPr marL="184785" indent="-172085">
              <a:lnSpc>
                <a:spcPct val="100000"/>
              </a:lnSpc>
              <a:buFont typeface="Arial MT"/>
              <a:buChar char="•"/>
              <a:tabLst>
                <a:tab pos="184785" algn="l"/>
              </a:tabLst>
            </a:pPr>
            <a:r>
              <a:rPr dirty="0" sz="1200" spc="-10">
                <a:solidFill>
                  <a:srgbClr val="3C8C93"/>
                </a:solidFill>
                <a:latin typeface="SimSun"/>
                <a:cs typeface="SimSun"/>
              </a:rPr>
              <a:t>行业专网平台</a:t>
            </a:r>
            <a:endParaRPr sz="1200">
              <a:latin typeface="SimSun"/>
              <a:cs typeface="SimSun"/>
            </a:endParaRPr>
          </a:p>
          <a:p>
            <a:pPr marL="184785" indent="-172085">
              <a:lnSpc>
                <a:spcPct val="100000"/>
              </a:lnSpc>
              <a:buFont typeface="Arial MT"/>
              <a:buChar char="•"/>
              <a:tabLst>
                <a:tab pos="184785" algn="l"/>
              </a:tabLst>
            </a:pPr>
            <a:r>
              <a:rPr dirty="0" sz="1200" spc="-10">
                <a:solidFill>
                  <a:srgbClr val="3C8C93"/>
                </a:solidFill>
                <a:latin typeface="SimSun"/>
                <a:cs typeface="SimSun"/>
              </a:rPr>
              <a:t>业务协同与管理</a:t>
            </a:r>
            <a:endParaRPr sz="1200">
              <a:latin typeface="SimSun"/>
              <a:cs typeface="SimSun"/>
            </a:endParaRPr>
          </a:p>
          <a:p>
            <a:pPr marL="184785" indent="-172085">
              <a:lnSpc>
                <a:spcPct val="100000"/>
              </a:lnSpc>
              <a:buFont typeface="Arial MT"/>
              <a:buChar char="•"/>
              <a:tabLst>
                <a:tab pos="184785" algn="l"/>
              </a:tabLst>
            </a:pPr>
            <a:r>
              <a:rPr dirty="0" sz="1200">
                <a:solidFill>
                  <a:srgbClr val="3C8C93"/>
                </a:solidFill>
                <a:latin typeface="SimSun"/>
                <a:cs typeface="SimSun"/>
              </a:rPr>
              <a:t>编队</a:t>
            </a:r>
            <a:r>
              <a:rPr dirty="0" sz="1200" spc="-10">
                <a:solidFill>
                  <a:srgbClr val="3C8C93"/>
                </a:solidFill>
                <a:latin typeface="Arial MT"/>
                <a:cs typeface="Arial MT"/>
              </a:rPr>
              <a:t>/</a:t>
            </a:r>
            <a:r>
              <a:rPr dirty="0" sz="1200" spc="-10">
                <a:solidFill>
                  <a:srgbClr val="3C8C93"/>
                </a:solidFill>
                <a:latin typeface="SimSun"/>
                <a:cs typeface="SimSun"/>
              </a:rPr>
              <a:t>远程与自动驾驶</a:t>
            </a:r>
            <a:endParaRPr sz="1200">
              <a:latin typeface="SimSun"/>
              <a:cs typeface="SimSun"/>
            </a:endParaRPr>
          </a:p>
        </p:txBody>
      </p:sp>
      <p:grpSp>
        <p:nvGrpSpPr>
          <p:cNvPr id="25" name="object 25" descr=""/>
          <p:cNvGrpSpPr/>
          <p:nvPr/>
        </p:nvGrpSpPr>
        <p:grpSpPr>
          <a:xfrm>
            <a:off x="1137132" y="1418358"/>
            <a:ext cx="6670675" cy="3542665"/>
            <a:chOff x="1137132" y="1418358"/>
            <a:chExt cx="6670675" cy="3542665"/>
          </a:xfrm>
        </p:grpSpPr>
        <p:pic>
          <p:nvPicPr>
            <p:cNvPr id="26" name="object 26"/>
            <p:cNvPicPr/>
            <p:nvPr/>
          </p:nvPicPr>
          <p:blipFill>
            <a:blip r:embed="rId6" cstate="print"/>
            <a:stretch>
              <a:fillRect/>
            </a:stretch>
          </p:blipFill>
          <p:spPr>
            <a:xfrm>
              <a:off x="2231364" y="2437638"/>
              <a:ext cx="4787366" cy="2523058"/>
            </a:xfrm>
            <a:prstGeom prst="rect">
              <a:avLst/>
            </a:prstGeom>
          </p:spPr>
        </p:pic>
        <p:pic>
          <p:nvPicPr>
            <p:cNvPr id="27" name="object 27" descr=""/>
            <p:cNvPicPr/>
            <p:nvPr/>
          </p:nvPicPr>
          <p:blipFill>
            <a:blip r:embed="rId7" cstate="print"/>
            <a:stretch>
              <a:fillRect/>
            </a:stretch>
          </p:blipFill>
          <p:spPr>
            <a:xfrm>
              <a:off x="3928059" y="3925626"/>
              <a:ext cx="201455" cy="384794"/>
            </a:xfrm>
            <a:prstGeom prst="rect">
              <a:avLst/>
            </a:prstGeom>
          </p:spPr>
        </p:pic>
        <p:pic>
          <p:nvPicPr>
            <p:cNvPr id="28" name="object 28" descr=""/>
            <p:cNvPicPr/>
            <p:nvPr/>
          </p:nvPicPr>
          <p:blipFill>
            <a:blip r:embed="rId8" cstate="print"/>
            <a:stretch>
              <a:fillRect/>
            </a:stretch>
          </p:blipFill>
          <p:spPr>
            <a:xfrm>
              <a:off x="1149832" y="2830893"/>
              <a:ext cx="3866972" cy="1811439"/>
            </a:xfrm>
            <a:prstGeom prst="rect">
              <a:avLst/>
            </a:prstGeom>
          </p:spPr>
        </p:pic>
        <p:sp>
          <p:nvSpPr>
            <p:cNvPr id="29" name="object 29" descr=""/>
            <p:cNvSpPr/>
            <p:nvPr/>
          </p:nvSpPr>
          <p:spPr>
            <a:xfrm>
              <a:off x="1149832" y="2830896"/>
              <a:ext cx="3867150" cy="1811655"/>
            </a:xfrm>
            <a:custGeom>
              <a:avLst/>
              <a:gdLst/>
              <a:ahLst/>
              <a:cxnLst/>
              <a:rect l="l" t="t" r="r" b="b"/>
              <a:pathLst>
                <a:path w="3867150" h="1811654">
                  <a:moveTo>
                    <a:pt x="0" y="905713"/>
                  </a:moveTo>
                  <a:lnTo>
                    <a:pt x="4112" y="846161"/>
                  </a:lnTo>
                  <a:lnTo>
                    <a:pt x="16280" y="787639"/>
                  </a:lnTo>
                  <a:lnTo>
                    <a:pt x="36249" y="730264"/>
                  </a:lnTo>
                  <a:lnTo>
                    <a:pt x="63764" y="674157"/>
                  </a:lnTo>
                  <a:lnTo>
                    <a:pt x="98570" y="619436"/>
                  </a:lnTo>
                  <a:lnTo>
                    <a:pt x="140413" y="566221"/>
                  </a:lnTo>
                  <a:lnTo>
                    <a:pt x="189037" y="514632"/>
                  </a:lnTo>
                  <a:lnTo>
                    <a:pt x="244188" y="464787"/>
                  </a:lnTo>
                  <a:lnTo>
                    <a:pt x="274132" y="440556"/>
                  </a:lnTo>
                  <a:lnTo>
                    <a:pt x="305611" y="416806"/>
                  </a:lnTo>
                  <a:lnTo>
                    <a:pt x="338595" y="393552"/>
                  </a:lnTo>
                  <a:lnTo>
                    <a:pt x="373052" y="370809"/>
                  </a:lnTo>
                  <a:lnTo>
                    <a:pt x="408949" y="348591"/>
                  </a:lnTo>
                  <a:lnTo>
                    <a:pt x="446255" y="326914"/>
                  </a:lnTo>
                  <a:lnTo>
                    <a:pt x="484938" y="305792"/>
                  </a:lnTo>
                  <a:lnTo>
                    <a:pt x="524966" y="285241"/>
                  </a:lnTo>
                  <a:lnTo>
                    <a:pt x="566307" y="265276"/>
                  </a:lnTo>
                  <a:lnTo>
                    <a:pt x="608929" y="245910"/>
                  </a:lnTo>
                  <a:lnTo>
                    <a:pt x="652801" y="227160"/>
                  </a:lnTo>
                  <a:lnTo>
                    <a:pt x="697891" y="209039"/>
                  </a:lnTo>
                  <a:lnTo>
                    <a:pt x="744167" y="191564"/>
                  </a:lnTo>
                  <a:lnTo>
                    <a:pt x="791596" y="174749"/>
                  </a:lnTo>
                  <a:lnTo>
                    <a:pt x="840148" y="158608"/>
                  </a:lnTo>
                  <a:lnTo>
                    <a:pt x="889790" y="143157"/>
                  </a:lnTo>
                  <a:lnTo>
                    <a:pt x="940491" y="128411"/>
                  </a:lnTo>
                  <a:lnTo>
                    <a:pt x="992218" y="114385"/>
                  </a:lnTo>
                  <a:lnTo>
                    <a:pt x="1044940" y="101093"/>
                  </a:lnTo>
                  <a:lnTo>
                    <a:pt x="1098625" y="88550"/>
                  </a:lnTo>
                  <a:lnTo>
                    <a:pt x="1153241" y="76772"/>
                  </a:lnTo>
                  <a:lnTo>
                    <a:pt x="1208756" y="65773"/>
                  </a:lnTo>
                  <a:lnTo>
                    <a:pt x="1265139" y="55569"/>
                  </a:lnTo>
                  <a:lnTo>
                    <a:pt x="1322357" y="46173"/>
                  </a:lnTo>
                  <a:lnTo>
                    <a:pt x="1380379" y="37601"/>
                  </a:lnTo>
                  <a:lnTo>
                    <a:pt x="1439172" y="29869"/>
                  </a:lnTo>
                  <a:lnTo>
                    <a:pt x="1498706" y="22990"/>
                  </a:lnTo>
                  <a:lnTo>
                    <a:pt x="1558948" y="16980"/>
                  </a:lnTo>
                  <a:lnTo>
                    <a:pt x="1619866" y="11854"/>
                  </a:lnTo>
                  <a:lnTo>
                    <a:pt x="1681428" y="7626"/>
                  </a:lnTo>
                  <a:lnTo>
                    <a:pt x="1743603" y="4312"/>
                  </a:lnTo>
                  <a:lnTo>
                    <a:pt x="1806359" y="1926"/>
                  </a:lnTo>
                  <a:lnTo>
                    <a:pt x="1869664" y="484"/>
                  </a:lnTo>
                  <a:lnTo>
                    <a:pt x="1933486" y="0"/>
                  </a:lnTo>
                  <a:lnTo>
                    <a:pt x="1997308" y="484"/>
                  </a:lnTo>
                  <a:lnTo>
                    <a:pt x="2060614" y="1926"/>
                  </a:lnTo>
                  <a:lnTo>
                    <a:pt x="2123370" y="4312"/>
                  </a:lnTo>
                  <a:lnTo>
                    <a:pt x="2185546" y="7626"/>
                  </a:lnTo>
                  <a:lnTo>
                    <a:pt x="2247109" y="11854"/>
                  </a:lnTo>
                  <a:lnTo>
                    <a:pt x="2308027" y="16980"/>
                  </a:lnTo>
                  <a:lnTo>
                    <a:pt x="2368269" y="22990"/>
                  </a:lnTo>
                  <a:lnTo>
                    <a:pt x="2427803" y="29869"/>
                  </a:lnTo>
                  <a:lnTo>
                    <a:pt x="2486597" y="37601"/>
                  </a:lnTo>
                  <a:lnTo>
                    <a:pt x="2544619" y="46173"/>
                  </a:lnTo>
                  <a:lnTo>
                    <a:pt x="2601838" y="55569"/>
                  </a:lnTo>
                  <a:lnTo>
                    <a:pt x="2658220" y="65773"/>
                  </a:lnTo>
                  <a:lnTo>
                    <a:pt x="2713736" y="76772"/>
                  </a:lnTo>
                  <a:lnTo>
                    <a:pt x="2768352" y="88550"/>
                  </a:lnTo>
                  <a:lnTo>
                    <a:pt x="2822037" y="101093"/>
                  </a:lnTo>
                  <a:lnTo>
                    <a:pt x="2874759" y="114385"/>
                  </a:lnTo>
                  <a:lnTo>
                    <a:pt x="2926486" y="128411"/>
                  </a:lnTo>
                  <a:lnTo>
                    <a:pt x="2977186" y="143157"/>
                  </a:lnTo>
                  <a:lnTo>
                    <a:pt x="3026828" y="158608"/>
                  </a:lnTo>
                  <a:lnTo>
                    <a:pt x="3075380" y="174749"/>
                  </a:lnTo>
                  <a:lnTo>
                    <a:pt x="3122810" y="191564"/>
                  </a:lnTo>
                  <a:lnTo>
                    <a:pt x="3169085" y="209039"/>
                  </a:lnTo>
                  <a:lnTo>
                    <a:pt x="3214175" y="227160"/>
                  </a:lnTo>
                  <a:lnTo>
                    <a:pt x="3258047" y="245910"/>
                  </a:lnTo>
                  <a:lnTo>
                    <a:pt x="3300669" y="265276"/>
                  </a:lnTo>
                  <a:lnTo>
                    <a:pt x="3342010" y="285241"/>
                  </a:lnTo>
                  <a:lnTo>
                    <a:pt x="3382038" y="305792"/>
                  </a:lnTo>
                  <a:lnTo>
                    <a:pt x="3420720" y="326914"/>
                  </a:lnTo>
                  <a:lnTo>
                    <a:pt x="3458026" y="348591"/>
                  </a:lnTo>
                  <a:lnTo>
                    <a:pt x="3493923" y="370809"/>
                  </a:lnTo>
                  <a:lnTo>
                    <a:pt x="3528379" y="393552"/>
                  </a:lnTo>
                  <a:lnTo>
                    <a:pt x="3561363" y="416806"/>
                  </a:lnTo>
                  <a:lnTo>
                    <a:pt x="3592842" y="440556"/>
                  </a:lnTo>
                  <a:lnTo>
                    <a:pt x="3622786" y="464787"/>
                  </a:lnTo>
                  <a:lnTo>
                    <a:pt x="3677936" y="514632"/>
                  </a:lnTo>
                  <a:lnTo>
                    <a:pt x="3726560" y="566221"/>
                  </a:lnTo>
                  <a:lnTo>
                    <a:pt x="3768402" y="619436"/>
                  </a:lnTo>
                  <a:lnTo>
                    <a:pt x="3803208" y="674157"/>
                  </a:lnTo>
                  <a:lnTo>
                    <a:pt x="3830722" y="730264"/>
                  </a:lnTo>
                  <a:lnTo>
                    <a:pt x="3850691" y="787639"/>
                  </a:lnTo>
                  <a:lnTo>
                    <a:pt x="3862859" y="846161"/>
                  </a:lnTo>
                  <a:lnTo>
                    <a:pt x="3866972" y="905713"/>
                  </a:lnTo>
                  <a:lnTo>
                    <a:pt x="3865938" y="935609"/>
                  </a:lnTo>
                  <a:lnTo>
                    <a:pt x="3857766" y="994661"/>
                  </a:lnTo>
                  <a:lnTo>
                    <a:pt x="3841666" y="1052625"/>
                  </a:lnTo>
                  <a:lnTo>
                    <a:pt x="3817892" y="1109381"/>
                  </a:lnTo>
                  <a:lnTo>
                    <a:pt x="3786700" y="1164810"/>
                  </a:lnTo>
                  <a:lnTo>
                    <a:pt x="3748344" y="1218792"/>
                  </a:lnTo>
                  <a:lnTo>
                    <a:pt x="3703080" y="1271209"/>
                  </a:lnTo>
                  <a:lnTo>
                    <a:pt x="3651161" y="1321942"/>
                  </a:lnTo>
                  <a:lnTo>
                    <a:pt x="3592842" y="1370869"/>
                  </a:lnTo>
                  <a:lnTo>
                    <a:pt x="3561363" y="1394619"/>
                  </a:lnTo>
                  <a:lnTo>
                    <a:pt x="3528379" y="1417873"/>
                  </a:lnTo>
                  <a:lnTo>
                    <a:pt x="3493923" y="1440617"/>
                  </a:lnTo>
                  <a:lnTo>
                    <a:pt x="3458026" y="1462834"/>
                  </a:lnTo>
                  <a:lnTo>
                    <a:pt x="3420720" y="1484511"/>
                  </a:lnTo>
                  <a:lnTo>
                    <a:pt x="3382038" y="1505633"/>
                  </a:lnTo>
                  <a:lnTo>
                    <a:pt x="3342010" y="1526184"/>
                  </a:lnTo>
                  <a:lnTo>
                    <a:pt x="3300669" y="1546150"/>
                  </a:lnTo>
                  <a:lnTo>
                    <a:pt x="3258047" y="1565515"/>
                  </a:lnTo>
                  <a:lnTo>
                    <a:pt x="3214175" y="1584266"/>
                  </a:lnTo>
                  <a:lnTo>
                    <a:pt x="3169085" y="1602386"/>
                  </a:lnTo>
                  <a:lnTo>
                    <a:pt x="3122810" y="1619861"/>
                  </a:lnTo>
                  <a:lnTo>
                    <a:pt x="3075380" y="1636677"/>
                  </a:lnTo>
                  <a:lnTo>
                    <a:pt x="3026828" y="1652817"/>
                  </a:lnTo>
                  <a:lnTo>
                    <a:pt x="2977186" y="1668268"/>
                  </a:lnTo>
                  <a:lnTo>
                    <a:pt x="2926486" y="1683014"/>
                  </a:lnTo>
                  <a:lnTo>
                    <a:pt x="2874759" y="1697041"/>
                  </a:lnTo>
                  <a:lnTo>
                    <a:pt x="2822037" y="1710332"/>
                  </a:lnTo>
                  <a:lnTo>
                    <a:pt x="2768352" y="1722875"/>
                  </a:lnTo>
                  <a:lnTo>
                    <a:pt x="2713736" y="1734653"/>
                  </a:lnTo>
                  <a:lnTo>
                    <a:pt x="2658220" y="1745652"/>
                  </a:lnTo>
                  <a:lnTo>
                    <a:pt x="2601838" y="1755857"/>
                  </a:lnTo>
                  <a:lnTo>
                    <a:pt x="2544619" y="1765252"/>
                  </a:lnTo>
                  <a:lnTo>
                    <a:pt x="2486597" y="1773824"/>
                  </a:lnTo>
                  <a:lnTo>
                    <a:pt x="2427803" y="1781557"/>
                  </a:lnTo>
                  <a:lnTo>
                    <a:pt x="2368269" y="1788435"/>
                  </a:lnTo>
                  <a:lnTo>
                    <a:pt x="2308027" y="1794445"/>
                  </a:lnTo>
                  <a:lnTo>
                    <a:pt x="2247109" y="1799572"/>
                  </a:lnTo>
                  <a:lnTo>
                    <a:pt x="2185546" y="1803799"/>
                  </a:lnTo>
                  <a:lnTo>
                    <a:pt x="2123370" y="1807114"/>
                  </a:lnTo>
                  <a:lnTo>
                    <a:pt x="2060614" y="1809499"/>
                  </a:lnTo>
                  <a:lnTo>
                    <a:pt x="1997308" y="1810942"/>
                  </a:lnTo>
                  <a:lnTo>
                    <a:pt x="1933486" y="1811426"/>
                  </a:lnTo>
                  <a:lnTo>
                    <a:pt x="1869664" y="1810942"/>
                  </a:lnTo>
                  <a:lnTo>
                    <a:pt x="1806359" y="1809499"/>
                  </a:lnTo>
                  <a:lnTo>
                    <a:pt x="1743603" y="1807114"/>
                  </a:lnTo>
                  <a:lnTo>
                    <a:pt x="1681428" y="1803799"/>
                  </a:lnTo>
                  <a:lnTo>
                    <a:pt x="1619866" y="1799572"/>
                  </a:lnTo>
                  <a:lnTo>
                    <a:pt x="1558948" y="1794445"/>
                  </a:lnTo>
                  <a:lnTo>
                    <a:pt x="1498706" y="1788435"/>
                  </a:lnTo>
                  <a:lnTo>
                    <a:pt x="1439172" y="1781557"/>
                  </a:lnTo>
                  <a:lnTo>
                    <a:pt x="1380379" y="1773824"/>
                  </a:lnTo>
                  <a:lnTo>
                    <a:pt x="1322357" y="1765252"/>
                  </a:lnTo>
                  <a:lnTo>
                    <a:pt x="1265139" y="1755857"/>
                  </a:lnTo>
                  <a:lnTo>
                    <a:pt x="1208756" y="1745652"/>
                  </a:lnTo>
                  <a:lnTo>
                    <a:pt x="1153241" y="1734653"/>
                  </a:lnTo>
                  <a:lnTo>
                    <a:pt x="1098625" y="1722875"/>
                  </a:lnTo>
                  <a:lnTo>
                    <a:pt x="1044940" y="1710332"/>
                  </a:lnTo>
                  <a:lnTo>
                    <a:pt x="992218" y="1697041"/>
                  </a:lnTo>
                  <a:lnTo>
                    <a:pt x="940491" y="1683014"/>
                  </a:lnTo>
                  <a:lnTo>
                    <a:pt x="889790" y="1668268"/>
                  </a:lnTo>
                  <a:lnTo>
                    <a:pt x="840148" y="1652817"/>
                  </a:lnTo>
                  <a:lnTo>
                    <a:pt x="791596" y="1636677"/>
                  </a:lnTo>
                  <a:lnTo>
                    <a:pt x="744167" y="1619861"/>
                  </a:lnTo>
                  <a:lnTo>
                    <a:pt x="697891" y="1602386"/>
                  </a:lnTo>
                  <a:lnTo>
                    <a:pt x="652801" y="1584266"/>
                  </a:lnTo>
                  <a:lnTo>
                    <a:pt x="608929" y="1565515"/>
                  </a:lnTo>
                  <a:lnTo>
                    <a:pt x="566307" y="1546150"/>
                  </a:lnTo>
                  <a:lnTo>
                    <a:pt x="524966" y="1526184"/>
                  </a:lnTo>
                  <a:lnTo>
                    <a:pt x="484938" y="1505633"/>
                  </a:lnTo>
                  <a:lnTo>
                    <a:pt x="446255" y="1484511"/>
                  </a:lnTo>
                  <a:lnTo>
                    <a:pt x="408949" y="1462834"/>
                  </a:lnTo>
                  <a:lnTo>
                    <a:pt x="373052" y="1440617"/>
                  </a:lnTo>
                  <a:lnTo>
                    <a:pt x="338595" y="1417873"/>
                  </a:lnTo>
                  <a:lnTo>
                    <a:pt x="305611" y="1394619"/>
                  </a:lnTo>
                  <a:lnTo>
                    <a:pt x="274132" y="1370869"/>
                  </a:lnTo>
                  <a:lnTo>
                    <a:pt x="244188" y="1346638"/>
                  </a:lnTo>
                  <a:lnTo>
                    <a:pt x="189037" y="1296794"/>
                  </a:lnTo>
                  <a:lnTo>
                    <a:pt x="140413" y="1245204"/>
                  </a:lnTo>
                  <a:lnTo>
                    <a:pt x="98570" y="1191989"/>
                  </a:lnTo>
                  <a:lnTo>
                    <a:pt x="63764" y="1137269"/>
                  </a:lnTo>
                  <a:lnTo>
                    <a:pt x="36249" y="1081161"/>
                  </a:lnTo>
                  <a:lnTo>
                    <a:pt x="16280" y="1023787"/>
                  </a:lnTo>
                  <a:lnTo>
                    <a:pt x="4112" y="965264"/>
                  </a:lnTo>
                  <a:lnTo>
                    <a:pt x="0" y="905713"/>
                  </a:lnTo>
                  <a:close/>
                </a:path>
              </a:pathLst>
            </a:custGeom>
            <a:ln w="25400">
              <a:solidFill>
                <a:srgbClr val="3C8C93"/>
              </a:solidFill>
              <a:prstDash val="lgDash"/>
            </a:ln>
          </p:spPr>
          <p:txBody>
            <a:bodyPr wrap="square" lIns="0" tIns="0" rIns="0" bIns="0" rtlCol="0"/>
            <a:lstStyle/>
            <a:p/>
          </p:txBody>
        </p:sp>
        <p:pic>
          <p:nvPicPr>
            <p:cNvPr id="30" name="object 30" descr=""/>
            <p:cNvPicPr/>
            <p:nvPr/>
          </p:nvPicPr>
          <p:blipFill>
            <a:blip r:embed="rId9" cstate="print"/>
            <a:stretch>
              <a:fillRect/>
            </a:stretch>
          </p:blipFill>
          <p:spPr>
            <a:xfrm>
              <a:off x="2782062" y="1431061"/>
              <a:ext cx="3866972" cy="1811426"/>
            </a:xfrm>
            <a:prstGeom prst="rect">
              <a:avLst/>
            </a:prstGeom>
          </p:spPr>
        </p:pic>
        <p:sp>
          <p:nvSpPr>
            <p:cNvPr id="31" name="object 31" descr=""/>
            <p:cNvSpPr/>
            <p:nvPr/>
          </p:nvSpPr>
          <p:spPr>
            <a:xfrm>
              <a:off x="2782065" y="1431058"/>
              <a:ext cx="3867150" cy="1811655"/>
            </a:xfrm>
            <a:custGeom>
              <a:avLst/>
              <a:gdLst/>
              <a:ahLst/>
              <a:cxnLst/>
              <a:rect l="l" t="t" r="r" b="b"/>
              <a:pathLst>
                <a:path w="3867150" h="1811655">
                  <a:moveTo>
                    <a:pt x="0" y="905713"/>
                  </a:moveTo>
                  <a:lnTo>
                    <a:pt x="4112" y="846161"/>
                  </a:lnTo>
                  <a:lnTo>
                    <a:pt x="16280" y="787639"/>
                  </a:lnTo>
                  <a:lnTo>
                    <a:pt x="36249" y="730264"/>
                  </a:lnTo>
                  <a:lnTo>
                    <a:pt x="63764" y="674157"/>
                  </a:lnTo>
                  <a:lnTo>
                    <a:pt x="98570" y="619436"/>
                  </a:lnTo>
                  <a:lnTo>
                    <a:pt x="140413" y="566221"/>
                  </a:lnTo>
                  <a:lnTo>
                    <a:pt x="189037" y="514632"/>
                  </a:lnTo>
                  <a:lnTo>
                    <a:pt x="244188" y="464787"/>
                  </a:lnTo>
                  <a:lnTo>
                    <a:pt x="274132" y="440556"/>
                  </a:lnTo>
                  <a:lnTo>
                    <a:pt x="305611" y="416806"/>
                  </a:lnTo>
                  <a:lnTo>
                    <a:pt x="338595" y="393552"/>
                  </a:lnTo>
                  <a:lnTo>
                    <a:pt x="373052" y="370809"/>
                  </a:lnTo>
                  <a:lnTo>
                    <a:pt x="408949" y="348591"/>
                  </a:lnTo>
                  <a:lnTo>
                    <a:pt x="446255" y="326914"/>
                  </a:lnTo>
                  <a:lnTo>
                    <a:pt x="484938" y="305792"/>
                  </a:lnTo>
                  <a:lnTo>
                    <a:pt x="524966" y="285241"/>
                  </a:lnTo>
                  <a:lnTo>
                    <a:pt x="566307" y="265276"/>
                  </a:lnTo>
                  <a:lnTo>
                    <a:pt x="608929" y="245910"/>
                  </a:lnTo>
                  <a:lnTo>
                    <a:pt x="652801" y="227160"/>
                  </a:lnTo>
                  <a:lnTo>
                    <a:pt x="697891" y="209039"/>
                  </a:lnTo>
                  <a:lnTo>
                    <a:pt x="744167" y="191564"/>
                  </a:lnTo>
                  <a:lnTo>
                    <a:pt x="791596" y="174749"/>
                  </a:lnTo>
                  <a:lnTo>
                    <a:pt x="840148" y="158608"/>
                  </a:lnTo>
                  <a:lnTo>
                    <a:pt x="889790" y="143157"/>
                  </a:lnTo>
                  <a:lnTo>
                    <a:pt x="940491" y="128411"/>
                  </a:lnTo>
                  <a:lnTo>
                    <a:pt x="992218" y="114385"/>
                  </a:lnTo>
                  <a:lnTo>
                    <a:pt x="1044940" y="101093"/>
                  </a:lnTo>
                  <a:lnTo>
                    <a:pt x="1098625" y="88550"/>
                  </a:lnTo>
                  <a:lnTo>
                    <a:pt x="1153241" y="76772"/>
                  </a:lnTo>
                  <a:lnTo>
                    <a:pt x="1208756" y="65773"/>
                  </a:lnTo>
                  <a:lnTo>
                    <a:pt x="1265139" y="55569"/>
                  </a:lnTo>
                  <a:lnTo>
                    <a:pt x="1322357" y="46173"/>
                  </a:lnTo>
                  <a:lnTo>
                    <a:pt x="1380379" y="37601"/>
                  </a:lnTo>
                  <a:lnTo>
                    <a:pt x="1439172" y="29869"/>
                  </a:lnTo>
                  <a:lnTo>
                    <a:pt x="1498706" y="22990"/>
                  </a:lnTo>
                  <a:lnTo>
                    <a:pt x="1558948" y="16980"/>
                  </a:lnTo>
                  <a:lnTo>
                    <a:pt x="1619866" y="11854"/>
                  </a:lnTo>
                  <a:lnTo>
                    <a:pt x="1681428" y="7626"/>
                  </a:lnTo>
                  <a:lnTo>
                    <a:pt x="1743603" y="4312"/>
                  </a:lnTo>
                  <a:lnTo>
                    <a:pt x="1806359" y="1926"/>
                  </a:lnTo>
                  <a:lnTo>
                    <a:pt x="1869664" y="484"/>
                  </a:lnTo>
                  <a:lnTo>
                    <a:pt x="1933486" y="0"/>
                  </a:lnTo>
                  <a:lnTo>
                    <a:pt x="1997308" y="484"/>
                  </a:lnTo>
                  <a:lnTo>
                    <a:pt x="2060614" y="1926"/>
                  </a:lnTo>
                  <a:lnTo>
                    <a:pt x="2123370" y="4312"/>
                  </a:lnTo>
                  <a:lnTo>
                    <a:pt x="2185546" y="7626"/>
                  </a:lnTo>
                  <a:lnTo>
                    <a:pt x="2247109" y="11854"/>
                  </a:lnTo>
                  <a:lnTo>
                    <a:pt x="2308027" y="16980"/>
                  </a:lnTo>
                  <a:lnTo>
                    <a:pt x="2368269" y="22990"/>
                  </a:lnTo>
                  <a:lnTo>
                    <a:pt x="2427803" y="29869"/>
                  </a:lnTo>
                  <a:lnTo>
                    <a:pt x="2486597" y="37601"/>
                  </a:lnTo>
                  <a:lnTo>
                    <a:pt x="2544619" y="46173"/>
                  </a:lnTo>
                  <a:lnTo>
                    <a:pt x="2601838" y="55569"/>
                  </a:lnTo>
                  <a:lnTo>
                    <a:pt x="2658220" y="65773"/>
                  </a:lnTo>
                  <a:lnTo>
                    <a:pt x="2713736" y="76772"/>
                  </a:lnTo>
                  <a:lnTo>
                    <a:pt x="2768352" y="88550"/>
                  </a:lnTo>
                  <a:lnTo>
                    <a:pt x="2822037" y="101093"/>
                  </a:lnTo>
                  <a:lnTo>
                    <a:pt x="2874759" y="114385"/>
                  </a:lnTo>
                  <a:lnTo>
                    <a:pt x="2926486" y="128411"/>
                  </a:lnTo>
                  <a:lnTo>
                    <a:pt x="2977186" y="143157"/>
                  </a:lnTo>
                  <a:lnTo>
                    <a:pt x="3026828" y="158608"/>
                  </a:lnTo>
                  <a:lnTo>
                    <a:pt x="3075380" y="174749"/>
                  </a:lnTo>
                  <a:lnTo>
                    <a:pt x="3122810" y="191564"/>
                  </a:lnTo>
                  <a:lnTo>
                    <a:pt x="3169085" y="209039"/>
                  </a:lnTo>
                  <a:lnTo>
                    <a:pt x="3214175" y="227160"/>
                  </a:lnTo>
                  <a:lnTo>
                    <a:pt x="3258047" y="245910"/>
                  </a:lnTo>
                  <a:lnTo>
                    <a:pt x="3300669" y="265276"/>
                  </a:lnTo>
                  <a:lnTo>
                    <a:pt x="3342010" y="285241"/>
                  </a:lnTo>
                  <a:lnTo>
                    <a:pt x="3382038" y="305792"/>
                  </a:lnTo>
                  <a:lnTo>
                    <a:pt x="3420720" y="326914"/>
                  </a:lnTo>
                  <a:lnTo>
                    <a:pt x="3458026" y="348591"/>
                  </a:lnTo>
                  <a:lnTo>
                    <a:pt x="3493923" y="370809"/>
                  </a:lnTo>
                  <a:lnTo>
                    <a:pt x="3528379" y="393552"/>
                  </a:lnTo>
                  <a:lnTo>
                    <a:pt x="3561363" y="416806"/>
                  </a:lnTo>
                  <a:lnTo>
                    <a:pt x="3592842" y="440556"/>
                  </a:lnTo>
                  <a:lnTo>
                    <a:pt x="3622786" y="464787"/>
                  </a:lnTo>
                  <a:lnTo>
                    <a:pt x="3677936" y="514632"/>
                  </a:lnTo>
                  <a:lnTo>
                    <a:pt x="3726560" y="566221"/>
                  </a:lnTo>
                  <a:lnTo>
                    <a:pt x="3768402" y="619436"/>
                  </a:lnTo>
                  <a:lnTo>
                    <a:pt x="3803208" y="674157"/>
                  </a:lnTo>
                  <a:lnTo>
                    <a:pt x="3830722" y="730264"/>
                  </a:lnTo>
                  <a:lnTo>
                    <a:pt x="3850691" y="787639"/>
                  </a:lnTo>
                  <a:lnTo>
                    <a:pt x="3862859" y="846161"/>
                  </a:lnTo>
                  <a:lnTo>
                    <a:pt x="3866972" y="905713"/>
                  </a:lnTo>
                  <a:lnTo>
                    <a:pt x="3865938" y="935609"/>
                  </a:lnTo>
                  <a:lnTo>
                    <a:pt x="3857766" y="994661"/>
                  </a:lnTo>
                  <a:lnTo>
                    <a:pt x="3841666" y="1052625"/>
                  </a:lnTo>
                  <a:lnTo>
                    <a:pt x="3817892" y="1109381"/>
                  </a:lnTo>
                  <a:lnTo>
                    <a:pt x="3786700" y="1164810"/>
                  </a:lnTo>
                  <a:lnTo>
                    <a:pt x="3748344" y="1218792"/>
                  </a:lnTo>
                  <a:lnTo>
                    <a:pt x="3703080" y="1271209"/>
                  </a:lnTo>
                  <a:lnTo>
                    <a:pt x="3651161" y="1321942"/>
                  </a:lnTo>
                  <a:lnTo>
                    <a:pt x="3592842" y="1370869"/>
                  </a:lnTo>
                  <a:lnTo>
                    <a:pt x="3561363" y="1394619"/>
                  </a:lnTo>
                  <a:lnTo>
                    <a:pt x="3528379" y="1417873"/>
                  </a:lnTo>
                  <a:lnTo>
                    <a:pt x="3493923" y="1440617"/>
                  </a:lnTo>
                  <a:lnTo>
                    <a:pt x="3458026" y="1462834"/>
                  </a:lnTo>
                  <a:lnTo>
                    <a:pt x="3420720" y="1484511"/>
                  </a:lnTo>
                  <a:lnTo>
                    <a:pt x="3382038" y="1505633"/>
                  </a:lnTo>
                  <a:lnTo>
                    <a:pt x="3342010" y="1526184"/>
                  </a:lnTo>
                  <a:lnTo>
                    <a:pt x="3300669" y="1546150"/>
                  </a:lnTo>
                  <a:lnTo>
                    <a:pt x="3258047" y="1565515"/>
                  </a:lnTo>
                  <a:lnTo>
                    <a:pt x="3214175" y="1584266"/>
                  </a:lnTo>
                  <a:lnTo>
                    <a:pt x="3169085" y="1602386"/>
                  </a:lnTo>
                  <a:lnTo>
                    <a:pt x="3122810" y="1619861"/>
                  </a:lnTo>
                  <a:lnTo>
                    <a:pt x="3075380" y="1636677"/>
                  </a:lnTo>
                  <a:lnTo>
                    <a:pt x="3026828" y="1652817"/>
                  </a:lnTo>
                  <a:lnTo>
                    <a:pt x="2977186" y="1668268"/>
                  </a:lnTo>
                  <a:lnTo>
                    <a:pt x="2926486" y="1683014"/>
                  </a:lnTo>
                  <a:lnTo>
                    <a:pt x="2874759" y="1697041"/>
                  </a:lnTo>
                  <a:lnTo>
                    <a:pt x="2822037" y="1710332"/>
                  </a:lnTo>
                  <a:lnTo>
                    <a:pt x="2768352" y="1722875"/>
                  </a:lnTo>
                  <a:lnTo>
                    <a:pt x="2713736" y="1734653"/>
                  </a:lnTo>
                  <a:lnTo>
                    <a:pt x="2658220" y="1745652"/>
                  </a:lnTo>
                  <a:lnTo>
                    <a:pt x="2601838" y="1755857"/>
                  </a:lnTo>
                  <a:lnTo>
                    <a:pt x="2544619" y="1765252"/>
                  </a:lnTo>
                  <a:lnTo>
                    <a:pt x="2486597" y="1773824"/>
                  </a:lnTo>
                  <a:lnTo>
                    <a:pt x="2427803" y="1781557"/>
                  </a:lnTo>
                  <a:lnTo>
                    <a:pt x="2368269" y="1788435"/>
                  </a:lnTo>
                  <a:lnTo>
                    <a:pt x="2308027" y="1794445"/>
                  </a:lnTo>
                  <a:lnTo>
                    <a:pt x="2247109" y="1799572"/>
                  </a:lnTo>
                  <a:lnTo>
                    <a:pt x="2185546" y="1803799"/>
                  </a:lnTo>
                  <a:lnTo>
                    <a:pt x="2123370" y="1807114"/>
                  </a:lnTo>
                  <a:lnTo>
                    <a:pt x="2060614" y="1809499"/>
                  </a:lnTo>
                  <a:lnTo>
                    <a:pt x="1997308" y="1810942"/>
                  </a:lnTo>
                  <a:lnTo>
                    <a:pt x="1933486" y="1811426"/>
                  </a:lnTo>
                  <a:lnTo>
                    <a:pt x="1869664" y="1810942"/>
                  </a:lnTo>
                  <a:lnTo>
                    <a:pt x="1806359" y="1809499"/>
                  </a:lnTo>
                  <a:lnTo>
                    <a:pt x="1743603" y="1807114"/>
                  </a:lnTo>
                  <a:lnTo>
                    <a:pt x="1681428" y="1803799"/>
                  </a:lnTo>
                  <a:lnTo>
                    <a:pt x="1619866" y="1799572"/>
                  </a:lnTo>
                  <a:lnTo>
                    <a:pt x="1558948" y="1794445"/>
                  </a:lnTo>
                  <a:lnTo>
                    <a:pt x="1498706" y="1788435"/>
                  </a:lnTo>
                  <a:lnTo>
                    <a:pt x="1439172" y="1781557"/>
                  </a:lnTo>
                  <a:lnTo>
                    <a:pt x="1380379" y="1773824"/>
                  </a:lnTo>
                  <a:lnTo>
                    <a:pt x="1322357" y="1765252"/>
                  </a:lnTo>
                  <a:lnTo>
                    <a:pt x="1265139" y="1755857"/>
                  </a:lnTo>
                  <a:lnTo>
                    <a:pt x="1208756" y="1745652"/>
                  </a:lnTo>
                  <a:lnTo>
                    <a:pt x="1153241" y="1734653"/>
                  </a:lnTo>
                  <a:lnTo>
                    <a:pt x="1098625" y="1722875"/>
                  </a:lnTo>
                  <a:lnTo>
                    <a:pt x="1044940" y="1710332"/>
                  </a:lnTo>
                  <a:lnTo>
                    <a:pt x="992218" y="1697041"/>
                  </a:lnTo>
                  <a:lnTo>
                    <a:pt x="940491" y="1683014"/>
                  </a:lnTo>
                  <a:lnTo>
                    <a:pt x="889790" y="1668268"/>
                  </a:lnTo>
                  <a:lnTo>
                    <a:pt x="840148" y="1652817"/>
                  </a:lnTo>
                  <a:lnTo>
                    <a:pt x="791596" y="1636677"/>
                  </a:lnTo>
                  <a:lnTo>
                    <a:pt x="744167" y="1619861"/>
                  </a:lnTo>
                  <a:lnTo>
                    <a:pt x="697891" y="1602386"/>
                  </a:lnTo>
                  <a:lnTo>
                    <a:pt x="652801" y="1584266"/>
                  </a:lnTo>
                  <a:lnTo>
                    <a:pt x="608929" y="1565515"/>
                  </a:lnTo>
                  <a:lnTo>
                    <a:pt x="566307" y="1546150"/>
                  </a:lnTo>
                  <a:lnTo>
                    <a:pt x="524966" y="1526184"/>
                  </a:lnTo>
                  <a:lnTo>
                    <a:pt x="484938" y="1505633"/>
                  </a:lnTo>
                  <a:lnTo>
                    <a:pt x="446255" y="1484511"/>
                  </a:lnTo>
                  <a:lnTo>
                    <a:pt x="408949" y="1462834"/>
                  </a:lnTo>
                  <a:lnTo>
                    <a:pt x="373052" y="1440617"/>
                  </a:lnTo>
                  <a:lnTo>
                    <a:pt x="338595" y="1417873"/>
                  </a:lnTo>
                  <a:lnTo>
                    <a:pt x="305611" y="1394619"/>
                  </a:lnTo>
                  <a:lnTo>
                    <a:pt x="274132" y="1370869"/>
                  </a:lnTo>
                  <a:lnTo>
                    <a:pt x="244188" y="1346638"/>
                  </a:lnTo>
                  <a:lnTo>
                    <a:pt x="189037" y="1296794"/>
                  </a:lnTo>
                  <a:lnTo>
                    <a:pt x="140413" y="1245204"/>
                  </a:lnTo>
                  <a:lnTo>
                    <a:pt x="98570" y="1191989"/>
                  </a:lnTo>
                  <a:lnTo>
                    <a:pt x="63764" y="1137269"/>
                  </a:lnTo>
                  <a:lnTo>
                    <a:pt x="36249" y="1081161"/>
                  </a:lnTo>
                  <a:lnTo>
                    <a:pt x="16280" y="1023787"/>
                  </a:lnTo>
                  <a:lnTo>
                    <a:pt x="4112" y="965264"/>
                  </a:lnTo>
                  <a:lnTo>
                    <a:pt x="0" y="905713"/>
                  </a:lnTo>
                  <a:close/>
                </a:path>
              </a:pathLst>
            </a:custGeom>
            <a:ln w="25400">
              <a:solidFill>
                <a:srgbClr val="161645"/>
              </a:solidFill>
              <a:prstDash val="lgDash"/>
            </a:ln>
          </p:spPr>
          <p:txBody>
            <a:bodyPr wrap="square" lIns="0" tIns="0" rIns="0" bIns="0" rtlCol="0"/>
            <a:lstStyle/>
            <a:p/>
          </p:txBody>
        </p:sp>
        <p:pic>
          <p:nvPicPr>
            <p:cNvPr id="32" name="object 32" descr=""/>
            <p:cNvPicPr/>
            <p:nvPr/>
          </p:nvPicPr>
          <p:blipFill>
            <a:blip r:embed="rId10" cstate="print"/>
            <a:stretch>
              <a:fillRect/>
            </a:stretch>
          </p:blipFill>
          <p:spPr>
            <a:xfrm>
              <a:off x="3927614" y="2572727"/>
              <a:ext cx="3866972" cy="1811426"/>
            </a:xfrm>
            <a:prstGeom prst="rect">
              <a:avLst/>
            </a:prstGeom>
          </p:spPr>
        </p:pic>
        <p:sp>
          <p:nvSpPr>
            <p:cNvPr id="33" name="object 33" descr=""/>
            <p:cNvSpPr/>
            <p:nvPr/>
          </p:nvSpPr>
          <p:spPr>
            <a:xfrm>
              <a:off x="3927612" y="2572734"/>
              <a:ext cx="3867150" cy="1811655"/>
            </a:xfrm>
            <a:custGeom>
              <a:avLst/>
              <a:gdLst/>
              <a:ahLst/>
              <a:cxnLst/>
              <a:rect l="l" t="t" r="r" b="b"/>
              <a:pathLst>
                <a:path w="3867150" h="1811654">
                  <a:moveTo>
                    <a:pt x="0" y="905713"/>
                  </a:moveTo>
                  <a:lnTo>
                    <a:pt x="4112" y="846161"/>
                  </a:lnTo>
                  <a:lnTo>
                    <a:pt x="16280" y="787639"/>
                  </a:lnTo>
                  <a:lnTo>
                    <a:pt x="36249" y="730264"/>
                  </a:lnTo>
                  <a:lnTo>
                    <a:pt x="63764" y="674157"/>
                  </a:lnTo>
                  <a:lnTo>
                    <a:pt x="98570" y="619436"/>
                  </a:lnTo>
                  <a:lnTo>
                    <a:pt x="140413" y="566221"/>
                  </a:lnTo>
                  <a:lnTo>
                    <a:pt x="189037" y="514632"/>
                  </a:lnTo>
                  <a:lnTo>
                    <a:pt x="244188" y="464787"/>
                  </a:lnTo>
                  <a:lnTo>
                    <a:pt x="274132" y="440556"/>
                  </a:lnTo>
                  <a:lnTo>
                    <a:pt x="305611" y="416806"/>
                  </a:lnTo>
                  <a:lnTo>
                    <a:pt x="338595" y="393552"/>
                  </a:lnTo>
                  <a:lnTo>
                    <a:pt x="373052" y="370809"/>
                  </a:lnTo>
                  <a:lnTo>
                    <a:pt x="408949" y="348591"/>
                  </a:lnTo>
                  <a:lnTo>
                    <a:pt x="446255" y="326914"/>
                  </a:lnTo>
                  <a:lnTo>
                    <a:pt x="484938" y="305792"/>
                  </a:lnTo>
                  <a:lnTo>
                    <a:pt x="524966" y="285241"/>
                  </a:lnTo>
                  <a:lnTo>
                    <a:pt x="566307" y="265276"/>
                  </a:lnTo>
                  <a:lnTo>
                    <a:pt x="608929" y="245910"/>
                  </a:lnTo>
                  <a:lnTo>
                    <a:pt x="652801" y="227160"/>
                  </a:lnTo>
                  <a:lnTo>
                    <a:pt x="697891" y="209039"/>
                  </a:lnTo>
                  <a:lnTo>
                    <a:pt x="744167" y="191564"/>
                  </a:lnTo>
                  <a:lnTo>
                    <a:pt x="791596" y="174749"/>
                  </a:lnTo>
                  <a:lnTo>
                    <a:pt x="840148" y="158608"/>
                  </a:lnTo>
                  <a:lnTo>
                    <a:pt x="889790" y="143157"/>
                  </a:lnTo>
                  <a:lnTo>
                    <a:pt x="940491" y="128411"/>
                  </a:lnTo>
                  <a:lnTo>
                    <a:pt x="992218" y="114385"/>
                  </a:lnTo>
                  <a:lnTo>
                    <a:pt x="1044940" y="101093"/>
                  </a:lnTo>
                  <a:lnTo>
                    <a:pt x="1098625" y="88550"/>
                  </a:lnTo>
                  <a:lnTo>
                    <a:pt x="1153241" y="76772"/>
                  </a:lnTo>
                  <a:lnTo>
                    <a:pt x="1208756" y="65773"/>
                  </a:lnTo>
                  <a:lnTo>
                    <a:pt x="1265139" y="55569"/>
                  </a:lnTo>
                  <a:lnTo>
                    <a:pt x="1322357" y="46173"/>
                  </a:lnTo>
                  <a:lnTo>
                    <a:pt x="1380379" y="37601"/>
                  </a:lnTo>
                  <a:lnTo>
                    <a:pt x="1439172" y="29869"/>
                  </a:lnTo>
                  <a:lnTo>
                    <a:pt x="1498706" y="22990"/>
                  </a:lnTo>
                  <a:lnTo>
                    <a:pt x="1558948" y="16980"/>
                  </a:lnTo>
                  <a:lnTo>
                    <a:pt x="1619866" y="11854"/>
                  </a:lnTo>
                  <a:lnTo>
                    <a:pt x="1681428" y="7626"/>
                  </a:lnTo>
                  <a:lnTo>
                    <a:pt x="1743603" y="4312"/>
                  </a:lnTo>
                  <a:lnTo>
                    <a:pt x="1806359" y="1926"/>
                  </a:lnTo>
                  <a:lnTo>
                    <a:pt x="1869664" y="484"/>
                  </a:lnTo>
                  <a:lnTo>
                    <a:pt x="1933486" y="0"/>
                  </a:lnTo>
                  <a:lnTo>
                    <a:pt x="1997308" y="484"/>
                  </a:lnTo>
                  <a:lnTo>
                    <a:pt x="2060614" y="1926"/>
                  </a:lnTo>
                  <a:lnTo>
                    <a:pt x="2123370" y="4312"/>
                  </a:lnTo>
                  <a:lnTo>
                    <a:pt x="2185546" y="7626"/>
                  </a:lnTo>
                  <a:lnTo>
                    <a:pt x="2247109" y="11854"/>
                  </a:lnTo>
                  <a:lnTo>
                    <a:pt x="2308027" y="16980"/>
                  </a:lnTo>
                  <a:lnTo>
                    <a:pt x="2368269" y="22990"/>
                  </a:lnTo>
                  <a:lnTo>
                    <a:pt x="2427803" y="29869"/>
                  </a:lnTo>
                  <a:lnTo>
                    <a:pt x="2486597" y="37601"/>
                  </a:lnTo>
                  <a:lnTo>
                    <a:pt x="2544619" y="46173"/>
                  </a:lnTo>
                  <a:lnTo>
                    <a:pt x="2601838" y="55569"/>
                  </a:lnTo>
                  <a:lnTo>
                    <a:pt x="2658220" y="65773"/>
                  </a:lnTo>
                  <a:lnTo>
                    <a:pt x="2713736" y="76772"/>
                  </a:lnTo>
                  <a:lnTo>
                    <a:pt x="2768352" y="88550"/>
                  </a:lnTo>
                  <a:lnTo>
                    <a:pt x="2822037" y="101093"/>
                  </a:lnTo>
                  <a:lnTo>
                    <a:pt x="2874759" y="114385"/>
                  </a:lnTo>
                  <a:lnTo>
                    <a:pt x="2926486" y="128411"/>
                  </a:lnTo>
                  <a:lnTo>
                    <a:pt x="2977186" y="143157"/>
                  </a:lnTo>
                  <a:lnTo>
                    <a:pt x="3026828" y="158608"/>
                  </a:lnTo>
                  <a:lnTo>
                    <a:pt x="3075380" y="174749"/>
                  </a:lnTo>
                  <a:lnTo>
                    <a:pt x="3122810" y="191564"/>
                  </a:lnTo>
                  <a:lnTo>
                    <a:pt x="3169085" y="209039"/>
                  </a:lnTo>
                  <a:lnTo>
                    <a:pt x="3214175" y="227160"/>
                  </a:lnTo>
                  <a:lnTo>
                    <a:pt x="3258047" y="245910"/>
                  </a:lnTo>
                  <a:lnTo>
                    <a:pt x="3300669" y="265276"/>
                  </a:lnTo>
                  <a:lnTo>
                    <a:pt x="3342010" y="285241"/>
                  </a:lnTo>
                  <a:lnTo>
                    <a:pt x="3382038" y="305792"/>
                  </a:lnTo>
                  <a:lnTo>
                    <a:pt x="3420720" y="326914"/>
                  </a:lnTo>
                  <a:lnTo>
                    <a:pt x="3458026" y="348591"/>
                  </a:lnTo>
                  <a:lnTo>
                    <a:pt x="3493923" y="370809"/>
                  </a:lnTo>
                  <a:lnTo>
                    <a:pt x="3528379" y="393552"/>
                  </a:lnTo>
                  <a:lnTo>
                    <a:pt x="3561363" y="416806"/>
                  </a:lnTo>
                  <a:lnTo>
                    <a:pt x="3592842" y="440556"/>
                  </a:lnTo>
                  <a:lnTo>
                    <a:pt x="3622786" y="464787"/>
                  </a:lnTo>
                  <a:lnTo>
                    <a:pt x="3677936" y="514632"/>
                  </a:lnTo>
                  <a:lnTo>
                    <a:pt x="3726560" y="566221"/>
                  </a:lnTo>
                  <a:lnTo>
                    <a:pt x="3768402" y="619436"/>
                  </a:lnTo>
                  <a:lnTo>
                    <a:pt x="3803208" y="674157"/>
                  </a:lnTo>
                  <a:lnTo>
                    <a:pt x="3830722" y="730264"/>
                  </a:lnTo>
                  <a:lnTo>
                    <a:pt x="3850691" y="787639"/>
                  </a:lnTo>
                  <a:lnTo>
                    <a:pt x="3862859" y="846161"/>
                  </a:lnTo>
                  <a:lnTo>
                    <a:pt x="3866972" y="905713"/>
                  </a:lnTo>
                  <a:lnTo>
                    <a:pt x="3865938" y="935609"/>
                  </a:lnTo>
                  <a:lnTo>
                    <a:pt x="3857766" y="994661"/>
                  </a:lnTo>
                  <a:lnTo>
                    <a:pt x="3841666" y="1052625"/>
                  </a:lnTo>
                  <a:lnTo>
                    <a:pt x="3817892" y="1109381"/>
                  </a:lnTo>
                  <a:lnTo>
                    <a:pt x="3786700" y="1164810"/>
                  </a:lnTo>
                  <a:lnTo>
                    <a:pt x="3748344" y="1218792"/>
                  </a:lnTo>
                  <a:lnTo>
                    <a:pt x="3703080" y="1271209"/>
                  </a:lnTo>
                  <a:lnTo>
                    <a:pt x="3651161" y="1321942"/>
                  </a:lnTo>
                  <a:lnTo>
                    <a:pt x="3592842" y="1370869"/>
                  </a:lnTo>
                  <a:lnTo>
                    <a:pt x="3561363" y="1394619"/>
                  </a:lnTo>
                  <a:lnTo>
                    <a:pt x="3528379" y="1417873"/>
                  </a:lnTo>
                  <a:lnTo>
                    <a:pt x="3493923" y="1440617"/>
                  </a:lnTo>
                  <a:lnTo>
                    <a:pt x="3458026" y="1462834"/>
                  </a:lnTo>
                  <a:lnTo>
                    <a:pt x="3420720" y="1484511"/>
                  </a:lnTo>
                  <a:lnTo>
                    <a:pt x="3382038" y="1505633"/>
                  </a:lnTo>
                  <a:lnTo>
                    <a:pt x="3342010" y="1526184"/>
                  </a:lnTo>
                  <a:lnTo>
                    <a:pt x="3300669" y="1546150"/>
                  </a:lnTo>
                  <a:lnTo>
                    <a:pt x="3258047" y="1565515"/>
                  </a:lnTo>
                  <a:lnTo>
                    <a:pt x="3214175" y="1584266"/>
                  </a:lnTo>
                  <a:lnTo>
                    <a:pt x="3169085" y="1602386"/>
                  </a:lnTo>
                  <a:lnTo>
                    <a:pt x="3122810" y="1619861"/>
                  </a:lnTo>
                  <a:lnTo>
                    <a:pt x="3075380" y="1636677"/>
                  </a:lnTo>
                  <a:lnTo>
                    <a:pt x="3026828" y="1652817"/>
                  </a:lnTo>
                  <a:lnTo>
                    <a:pt x="2977186" y="1668268"/>
                  </a:lnTo>
                  <a:lnTo>
                    <a:pt x="2926486" y="1683014"/>
                  </a:lnTo>
                  <a:lnTo>
                    <a:pt x="2874759" y="1697041"/>
                  </a:lnTo>
                  <a:lnTo>
                    <a:pt x="2822037" y="1710332"/>
                  </a:lnTo>
                  <a:lnTo>
                    <a:pt x="2768352" y="1722875"/>
                  </a:lnTo>
                  <a:lnTo>
                    <a:pt x="2713736" y="1734653"/>
                  </a:lnTo>
                  <a:lnTo>
                    <a:pt x="2658220" y="1745652"/>
                  </a:lnTo>
                  <a:lnTo>
                    <a:pt x="2601838" y="1755857"/>
                  </a:lnTo>
                  <a:lnTo>
                    <a:pt x="2544619" y="1765252"/>
                  </a:lnTo>
                  <a:lnTo>
                    <a:pt x="2486597" y="1773824"/>
                  </a:lnTo>
                  <a:lnTo>
                    <a:pt x="2427803" y="1781557"/>
                  </a:lnTo>
                  <a:lnTo>
                    <a:pt x="2368269" y="1788435"/>
                  </a:lnTo>
                  <a:lnTo>
                    <a:pt x="2308027" y="1794445"/>
                  </a:lnTo>
                  <a:lnTo>
                    <a:pt x="2247109" y="1799572"/>
                  </a:lnTo>
                  <a:lnTo>
                    <a:pt x="2185546" y="1803799"/>
                  </a:lnTo>
                  <a:lnTo>
                    <a:pt x="2123370" y="1807114"/>
                  </a:lnTo>
                  <a:lnTo>
                    <a:pt x="2060614" y="1809499"/>
                  </a:lnTo>
                  <a:lnTo>
                    <a:pt x="1997308" y="1810942"/>
                  </a:lnTo>
                  <a:lnTo>
                    <a:pt x="1933486" y="1811426"/>
                  </a:lnTo>
                  <a:lnTo>
                    <a:pt x="1869664" y="1810942"/>
                  </a:lnTo>
                  <a:lnTo>
                    <a:pt x="1806359" y="1809499"/>
                  </a:lnTo>
                  <a:lnTo>
                    <a:pt x="1743603" y="1807114"/>
                  </a:lnTo>
                  <a:lnTo>
                    <a:pt x="1681428" y="1803799"/>
                  </a:lnTo>
                  <a:lnTo>
                    <a:pt x="1619866" y="1799572"/>
                  </a:lnTo>
                  <a:lnTo>
                    <a:pt x="1558948" y="1794445"/>
                  </a:lnTo>
                  <a:lnTo>
                    <a:pt x="1498706" y="1788435"/>
                  </a:lnTo>
                  <a:lnTo>
                    <a:pt x="1439172" y="1781557"/>
                  </a:lnTo>
                  <a:lnTo>
                    <a:pt x="1380379" y="1773824"/>
                  </a:lnTo>
                  <a:lnTo>
                    <a:pt x="1322357" y="1765252"/>
                  </a:lnTo>
                  <a:lnTo>
                    <a:pt x="1265139" y="1755857"/>
                  </a:lnTo>
                  <a:lnTo>
                    <a:pt x="1208756" y="1745652"/>
                  </a:lnTo>
                  <a:lnTo>
                    <a:pt x="1153241" y="1734653"/>
                  </a:lnTo>
                  <a:lnTo>
                    <a:pt x="1098625" y="1722875"/>
                  </a:lnTo>
                  <a:lnTo>
                    <a:pt x="1044940" y="1710332"/>
                  </a:lnTo>
                  <a:lnTo>
                    <a:pt x="992218" y="1697041"/>
                  </a:lnTo>
                  <a:lnTo>
                    <a:pt x="940491" y="1683014"/>
                  </a:lnTo>
                  <a:lnTo>
                    <a:pt x="889790" y="1668268"/>
                  </a:lnTo>
                  <a:lnTo>
                    <a:pt x="840148" y="1652817"/>
                  </a:lnTo>
                  <a:lnTo>
                    <a:pt x="791596" y="1636677"/>
                  </a:lnTo>
                  <a:lnTo>
                    <a:pt x="744167" y="1619861"/>
                  </a:lnTo>
                  <a:lnTo>
                    <a:pt x="697891" y="1602386"/>
                  </a:lnTo>
                  <a:lnTo>
                    <a:pt x="652801" y="1584266"/>
                  </a:lnTo>
                  <a:lnTo>
                    <a:pt x="608929" y="1565515"/>
                  </a:lnTo>
                  <a:lnTo>
                    <a:pt x="566307" y="1546150"/>
                  </a:lnTo>
                  <a:lnTo>
                    <a:pt x="524966" y="1526184"/>
                  </a:lnTo>
                  <a:lnTo>
                    <a:pt x="484938" y="1505633"/>
                  </a:lnTo>
                  <a:lnTo>
                    <a:pt x="446255" y="1484511"/>
                  </a:lnTo>
                  <a:lnTo>
                    <a:pt x="408949" y="1462834"/>
                  </a:lnTo>
                  <a:lnTo>
                    <a:pt x="373052" y="1440617"/>
                  </a:lnTo>
                  <a:lnTo>
                    <a:pt x="338595" y="1417873"/>
                  </a:lnTo>
                  <a:lnTo>
                    <a:pt x="305611" y="1394619"/>
                  </a:lnTo>
                  <a:lnTo>
                    <a:pt x="274132" y="1370869"/>
                  </a:lnTo>
                  <a:lnTo>
                    <a:pt x="244188" y="1346638"/>
                  </a:lnTo>
                  <a:lnTo>
                    <a:pt x="189037" y="1296794"/>
                  </a:lnTo>
                  <a:lnTo>
                    <a:pt x="140413" y="1245204"/>
                  </a:lnTo>
                  <a:lnTo>
                    <a:pt x="98570" y="1191989"/>
                  </a:lnTo>
                  <a:lnTo>
                    <a:pt x="63764" y="1137269"/>
                  </a:lnTo>
                  <a:lnTo>
                    <a:pt x="36249" y="1081161"/>
                  </a:lnTo>
                  <a:lnTo>
                    <a:pt x="16280" y="1023787"/>
                  </a:lnTo>
                  <a:lnTo>
                    <a:pt x="4112" y="965264"/>
                  </a:lnTo>
                  <a:lnTo>
                    <a:pt x="0" y="905713"/>
                  </a:lnTo>
                  <a:close/>
                </a:path>
              </a:pathLst>
            </a:custGeom>
            <a:ln w="25400">
              <a:solidFill>
                <a:srgbClr val="000000"/>
              </a:solidFill>
              <a:prstDash val="lgDash"/>
            </a:ln>
          </p:spPr>
          <p:txBody>
            <a:bodyPr wrap="square" lIns="0" tIns="0" rIns="0" bIns="0" rtlCol="0"/>
            <a:lstStyle/>
            <a:p/>
          </p:txBody>
        </p:sp>
        <p:pic>
          <p:nvPicPr>
            <p:cNvPr id="34" name="object 34"/>
            <p:cNvPicPr/>
            <p:nvPr/>
          </p:nvPicPr>
          <p:blipFill>
            <a:blip r:embed="rId11" cstate="print"/>
            <a:stretch>
              <a:fillRect/>
            </a:stretch>
          </p:blipFill>
          <p:spPr>
            <a:xfrm>
              <a:off x="5081015" y="2480309"/>
              <a:ext cx="409955" cy="409193"/>
            </a:xfrm>
            <a:prstGeom prst="rect">
              <a:avLst/>
            </a:prstGeom>
          </p:spPr>
        </p:pic>
        <p:pic>
          <p:nvPicPr>
            <p:cNvPr id="35" name="object 35"/>
            <p:cNvPicPr/>
            <p:nvPr/>
          </p:nvPicPr>
          <p:blipFill>
            <a:blip r:embed="rId12" cstate="print"/>
            <a:stretch>
              <a:fillRect/>
            </a:stretch>
          </p:blipFill>
          <p:spPr>
            <a:xfrm>
              <a:off x="5103580" y="2480884"/>
              <a:ext cx="407859" cy="407859"/>
            </a:xfrm>
            <a:prstGeom prst="rect">
              <a:avLst/>
            </a:prstGeom>
          </p:spPr>
        </p:pic>
        <p:pic>
          <p:nvPicPr>
            <p:cNvPr id="36" name="object 36"/>
            <p:cNvPicPr/>
            <p:nvPr/>
          </p:nvPicPr>
          <p:blipFill>
            <a:blip r:embed="rId13" cstate="print"/>
            <a:stretch>
              <a:fillRect/>
            </a:stretch>
          </p:blipFill>
          <p:spPr>
            <a:xfrm>
              <a:off x="3262883" y="2604516"/>
              <a:ext cx="402335" cy="402335"/>
            </a:xfrm>
            <a:prstGeom prst="rect">
              <a:avLst/>
            </a:prstGeom>
          </p:spPr>
        </p:pic>
        <p:pic>
          <p:nvPicPr>
            <p:cNvPr id="37" name="object 37"/>
            <p:cNvPicPr/>
            <p:nvPr/>
          </p:nvPicPr>
          <p:blipFill>
            <a:blip r:embed="rId14" cstate="print"/>
            <a:stretch>
              <a:fillRect/>
            </a:stretch>
          </p:blipFill>
          <p:spPr>
            <a:xfrm>
              <a:off x="3263455" y="2626602"/>
              <a:ext cx="401146" cy="401147"/>
            </a:xfrm>
            <a:prstGeom prst="rect">
              <a:avLst/>
            </a:prstGeom>
          </p:spPr>
        </p:pic>
        <p:pic>
          <p:nvPicPr>
            <p:cNvPr id="38" name="object 38" descr=""/>
            <p:cNvPicPr/>
            <p:nvPr/>
          </p:nvPicPr>
          <p:blipFill>
            <a:blip r:embed="rId15" cstate="print"/>
            <a:stretch>
              <a:fillRect/>
            </a:stretch>
          </p:blipFill>
          <p:spPr>
            <a:xfrm>
              <a:off x="4191000" y="3038201"/>
              <a:ext cx="337369" cy="262019"/>
            </a:xfrm>
            <a:prstGeom prst="rect">
              <a:avLst/>
            </a:prstGeom>
          </p:spPr>
        </p:pic>
        <p:pic>
          <p:nvPicPr>
            <p:cNvPr id="39" name="object 39"/>
            <p:cNvPicPr/>
            <p:nvPr/>
          </p:nvPicPr>
          <p:blipFill>
            <a:blip r:embed="rId16" cstate="print"/>
            <a:stretch>
              <a:fillRect/>
            </a:stretch>
          </p:blipFill>
          <p:spPr>
            <a:xfrm>
              <a:off x="4166615" y="3827526"/>
              <a:ext cx="402335" cy="402335"/>
            </a:xfrm>
            <a:prstGeom prst="rect">
              <a:avLst/>
            </a:prstGeom>
          </p:spPr>
        </p:pic>
        <p:pic>
          <p:nvPicPr>
            <p:cNvPr id="40" name="object 40"/>
            <p:cNvPicPr/>
            <p:nvPr/>
          </p:nvPicPr>
          <p:blipFill>
            <a:blip r:embed="rId17" cstate="print"/>
            <a:stretch>
              <a:fillRect/>
            </a:stretch>
          </p:blipFill>
          <p:spPr>
            <a:xfrm>
              <a:off x="4167200" y="3806799"/>
              <a:ext cx="401129" cy="401142"/>
            </a:xfrm>
            <a:prstGeom prst="rect">
              <a:avLst/>
            </a:prstGeom>
          </p:spPr>
        </p:pic>
        <p:pic>
          <p:nvPicPr>
            <p:cNvPr id="41" name="object 41"/>
            <p:cNvPicPr/>
            <p:nvPr/>
          </p:nvPicPr>
          <p:blipFill>
            <a:blip r:embed="rId18" cstate="print"/>
            <a:stretch>
              <a:fillRect/>
            </a:stretch>
          </p:blipFill>
          <p:spPr>
            <a:xfrm>
              <a:off x="6144767" y="3204209"/>
              <a:ext cx="409193" cy="409193"/>
            </a:xfrm>
            <a:prstGeom prst="rect">
              <a:avLst/>
            </a:prstGeom>
          </p:spPr>
        </p:pic>
        <p:pic>
          <p:nvPicPr>
            <p:cNvPr id="42" name="object 42"/>
            <p:cNvPicPr/>
            <p:nvPr/>
          </p:nvPicPr>
          <p:blipFill>
            <a:blip r:embed="rId19" cstate="print"/>
            <a:stretch>
              <a:fillRect/>
            </a:stretch>
          </p:blipFill>
          <p:spPr>
            <a:xfrm>
              <a:off x="6123944" y="3204820"/>
              <a:ext cx="407855" cy="407859"/>
            </a:xfrm>
            <a:prstGeom prst="rect">
              <a:avLst/>
            </a:prstGeom>
          </p:spPr>
        </p:pic>
        <p:pic>
          <p:nvPicPr>
            <p:cNvPr id="43" name="object 43" descr=""/>
            <p:cNvPicPr/>
            <p:nvPr/>
          </p:nvPicPr>
          <p:blipFill>
            <a:blip r:embed="rId20" cstate="print"/>
            <a:stretch>
              <a:fillRect/>
            </a:stretch>
          </p:blipFill>
          <p:spPr>
            <a:xfrm>
              <a:off x="4809718" y="1876545"/>
              <a:ext cx="429792" cy="330206"/>
            </a:xfrm>
            <a:prstGeom prst="rect">
              <a:avLst/>
            </a:prstGeom>
          </p:spPr>
        </p:pic>
      </p:grpSp>
      <p:sp>
        <p:nvSpPr>
          <p:cNvPr id="44" name="object 44" descr=""/>
          <p:cNvSpPr txBox="1"/>
          <p:nvPr/>
        </p:nvSpPr>
        <p:spPr>
          <a:xfrm>
            <a:off x="4749599" y="2166336"/>
            <a:ext cx="534670" cy="330835"/>
          </a:xfrm>
          <a:prstGeom prst="rect">
            <a:avLst/>
          </a:prstGeom>
        </p:spPr>
        <p:txBody>
          <a:bodyPr wrap="square" lIns="0" tIns="12700" rIns="0" bIns="0" rtlCol="0" vert="horz">
            <a:spAutoFit/>
          </a:bodyPr>
          <a:lstStyle/>
          <a:p>
            <a:pPr marL="12700" marR="5080">
              <a:lnSpc>
                <a:spcPct val="100000"/>
              </a:lnSpc>
              <a:spcBef>
                <a:spcPts val="100"/>
              </a:spcBef>
            </a:pPr>
            <a:r>
              <a:rPr dirty="0" sz="1000" spc="-15">
                <a:solidFill>
                  <a:srgbClr val="2C2C2C"/>
                </a:solidFill>
                <a:latin typeface="Microsoft YaHei"/>
                <a:cs typeface="Microsoft YaHei"/>
              </a:rPr>
              <a:t>边缘计算业务平台</a:t>
            </a:r>
            <a:endParaRPr sz="1000">
              <a:latin typeface="Microsoft YaHei"/>
              <a:cs typeface="Microsoft YaHei"/>
            </a:endParaRPr>
          </a:p>
        </p:txBody>
      </p:sp>
      <p:grpSp>
        <p:nvGrpSpPr>
          <p:cNvPr id="45" name="object 45" descr=""/>
          <p:cNvGrpSpPr/>
          <p:nvPr/>
        </p:nvGrpSpPr>
        <p:grpSpPr>
          <a:xfrm>
            <a:off x="4227635" y="1769598"/>
            <a:ext cx="2239010" cy="431800"/>
            <a:chOff x="4227635" y="1769598"/>
            <a:chExt cx="2239010" cy="431800"/>
          </a:xfrm>
        </p:grpSpPr>
        <p:sp>
          <p:nvSpPr>
            <p:cNvPr id="46" name="object 46" descr=""/>
            <p:cNvSpPr/>
            <p:nvPr/>
          </p:nvSpPr>
          <p:spPr>
            <a:xfrm>
              <a:off x="4291134" y="2163076"/>
              <a:ext cx="437515" cy="0"/>
            </a:xfrm>
            <a:custGeom>
              <a:avLst/>
              <a:gdLst/>
              <a:ahLst/>
              <a:cxnLst/>
              <a:rect l="l" t="t" r="r" b="b"/>
              <a:pathLst>
                <a:path w="437514" h="0">
                  <a:moveTo>
                    <a:pt x="0" y="0"/>
                  </a:moveTo>
                  <a:lnTo>
                    <a:pt x="437045" y="0"/>
                  </a:lnTo>
                </a:path>
              </a:pathLst>
            </a:custGeom>
            <a:ln w="12700">
              <a:solidFill>
                <a:srgbClr val="6D6D6D"/>
              </a:solidFill>
            </a:ln>
          </p:spPr>
          <p:txBody>
            <a:bodyPr wrap="square" lIns="0" tIns="0" rIns="0" bIns="0" rtlCol="0"/>
            <a:lstStyle/>
            <a:p/>
          </p:txBody>
        </p:sp>
        <p:sp>
          <p:nvSpPr>
            <p:cNvPr id="47" name="object 47" descr=""/>
            <p:cNvSpPr/>
            <p:nvPr/>
          </p:nvSpPr>
          <p:spPr>
            <a:xfrm>
              <a:off x="4227627" y="2124976"/>
              <a:ext cx="564515" cy="76200"/>
            </a:xfrm>
            <a:custGeom>
              <a:avLst/>
              <a:gdLst/>
              <a:ahLst/>
              <a:cxnLst/>
              <a:rect l="l" t="t" r="r" b="b"/>
              <a:pathLst>
                <a:path w="564514" h="76200">
                  <a:moveTo>
                    <a:pt x="76200" y="0"/>
                  </a:moveTo>
                  <a:lnTo>
                    <a:pt x="0" y="38100"/>
                  </a:lnTo>
                  <a:lnTo>
                    <a:pt x="76200" y="76200"/>
                  </a:lnTo>
                  <a:lnTo>
                    <a:pt x="76200" y="0"/>
                  </a:lnTo>
                  <a:close/>
                </a:path>
                <a:path w="564514" h="76200">
                  <a:moveTo>
                    <a:pt x="564045" y="38100"/>
                  </a:moveTo>
                  <a:lnTo>
                    <a:pt x="487845" y="0"/>
                  </a:lnTo>
                  <a:lnTo>
                    <a:pt x="487845" y="76200"/>
                  </a:lnTo>
                  <a:lnTo>
                    <a:pt x="564045" y="38100"/>
                  </a:lnTo>
                  <a:close/>
                </a:path>
              </a:pathLst>
            </a:custGeom>
            <a:solidFill>
              <a:srgbClr val="6D6D6D"/>
            </a:solidFill>
          </p:spPr>
          <p:txBody>
            <a:bodyPr wrap="square" lIns="0" tIns="0" rIns="0" bIns="0" rtlCol="0"/>
            <a:lstStyle/>
            <a:p/>
          </p:txBody>
        </p:sp>
        <p:pic>
          <p:nvPicPr>
            <p:cNvPr id="48" name="object 48" descr=""/>
            <p:cNvPicPr/>
            <p:nvPr/>
          </p:nvPicPr>
          <p:blipFill>
            <a:blip r:embed="rId21" cstate="print"/>
            <a:stretch>
              <a:fillRect/>
            </a:stretch>
          </p:blipFill>
          <p:spPr>
            <a:xfrm>
              <a:off x="5203698" y="1975231"/>
              <a:ext cx="278879" cy="165160"/>
            </a:xfrm>
            <a:prstGeom prst="rect">
              <a:avLst/>
            </a:prstGeom>
          </p:spPr>
        </p:pic>
        <p:pic>
          <p:nvPicPr>
            <p:cNvPr id="49" name="object 49" descr=""/>
            <p:cNvPicPr/>
            <p:nvPr/>
          </p:nvPicPr>
          <p:blipFill>
            <a:blip r:embed="rId22" cstate="print"/>
            <a:stretch>
              <a:fillRect/>
            </a:stretch>
          </p:blipFill>
          <p:spPr>
            <a:xfrm>
              <a:off x="5482581" y="1769598"/>
              <a:ext cx="983750" cy="427246"/>
            </a:xfrm>
            <a:prstGeom prst="rect">
              <a:avLst/>
            </a:prstGeom>
          </p:spPr>
        </p:pic>
      </p:grpSp>
      <p:sp>
        <p:nvSpPr>
          <p:cNvPr id="50" name="object 50" descr=""/>
          <p:cNvSpPr txBox="1"/>
          <p:nvPr/>
        </p:nvSpPr>
        <p:spPr>
          <a:xfrm>
            <a:off x="5751379" y="1890141"/>
            <a:ext cx="407670" cy="178435"/>
          </a:xfrm>
          <a:prstGeom prst="rect">
            <a:avLst/>
          </a:prstGeom>
        </p:spPr>
        <p:txBody>
          <a:bodyPr wrap="square" lIns="0" tIns="12700" rIns="0" bIns="0" rtlCol="0" vert="horz">
            <a:spAutoFit/>
          </a:bodyPr>
          <a:lstStyle/>
          <a:p>
            <a:pPr marL="12700">
              <a:lnSpc>
                <a:spcPct val="100000"/>
              </a:lnSpc>
              <a:spcBef>
                <a:spcPts val="100"/>
              </a:spcBef>
            </a:pPr>
            <a:r>
              <a:rPr dirty="0" sz="1000" spc="-20">
                <a:solidFill>
                  <a:srgbClr val="2C2C2C"/>
                </a:solidFill>
                <a:latin typeface="SimSun"/>
                <a:cs typeface="SimSun"/>
              </a:rPr>
              <a:t>互联网</a:t>
            </a:r>
            <a:endParaRPr sz="1000">
              <a:latin typeface="SimSun"/>
              <a:cs typeface="SimSun"/>
            </a:endParaRPr>
          </a:p>
        </p:txBody>
      </p:sp>
      <p:sp>
        <p:nvSpPr>
          <p:cNvPr id="51" name="object 51" descr=""/>
          <p:cNvSpPr txBox="1"/>
          <p:nvPr/>
        </p:nvSpPr>
        <p:spPr>
          <a:xfrm>
            <a:off x="3811769" y="1611184"/>
            <a:ext cx="636270" cy="269875"/>
          </a:xfrm>
          <a:prstGeom prst="rect">
            <a:avLst/>
          </a:prstGeom>
        </p:spPr>
        <p:txBody>
          <a:bodyPr wrap="square" lIns="0" tIns="12700" rIns="0" bIns="0" rtlCol="0" vert="horz">
            <a:spAutoFit/>
          </a:bodyPr>
          <a:lstStyle/>
          <a:p>
            <a:pPr marL="12700">
              <a:lnSpc>
                <a:spcPct val="100000"/>
              </a:lnSpc>
              <a:spcBef>
                <a:spcPts val="100"/>
              </a:spcBef>
            </a:pPr>
            <a:r>
              <a:rPr dirty="0" sz="1600" spc="-20" b="1">
                <a:solidFill>
                  <a:srgbClr val="2C2C2C"/>
                </a:solidFill>
                <a:latin typeface="Microsoft YaHei"/>
                <a:cs typeface="Microsoft YaHei"/>
              </a:rPr>
              <a:t>车云网</a:t>
            </a:r>
            <a:endParaRPr sz="1600">
              <a:latin typeface="Microsoft YaHei"/>
              <a:cs typeface="Microsoft YaHei"/>
            </a:endParaRPr>
          </a:p>
        </p:txBody>
      </p:sp>
      <p:sp>
        <p:nvSpPr>
          <p:cNvPr id="52" name="object 52" descr=""/>
          <p:cNvSpPr txBox="1"/>
          <p:nvPr/>
        </p:nvSpPr>
        <p:spPr>
          <a:xfrm>
            <a:off x="1613448" y="3336270"/>
            <a:ext cx="636270" cy="269875"/>
          </a:xfrm>
          <a:prstGeom prst="rect">
            <a:avLst/>
          </a:prstGeom>
        </p:spPr>
        <p:txBody>
          <a:bodyPr wrap="square" lIns="0" tIns="12700" rIns="0" bIns="0" rtlCol="0" vert="horz">
            <a:spAutoFit/>
          </a:bodyPr>
          <a:lstStyle/>
          <a:p>
            <a:pPr marL="12700">
              <a:lnSpc>
                <a:spcPct val="100000"/>
              </a:lnSpc>
              <a:spcBef>
                <a:spcPts val="100"/>
              </a:spcBef>
            </a:pPr>
            <a:r>
              <a:rPr dirty="0" sz="1600" spc="-20" b="1">
                <a:solidFill>
                  <a:srgbClr val="2C2C2C"/>
                </a:solidFill>
                <a:latin typeface="Microsoft YaHei"/>
                <a:cs typeface="Microsoft YaHei"/>
              </a:rPr>
              <a:t>车际网</a:t>
            </a:r>
            <a:endParaRPr sz="1600">
              <a:latin typeface="Microsoft YaHei"/>
              <a:cs typeface="Microsoft YaHei"/>
            </a:endParaRPr>
          </a:p>
        </p:txBody>
      </p:sp>
      <p:grpSp>
        <p:nvGrpSpPr>
          <p:cNvPr id="53" name="object 53" descr=""/>
          <p:cNvGrpSpPr/>
          <p:nvPr/>
        </p:nvGrpSpPr>
        <p:grpSpPr>
          <a:xfrm>
            <a:off x="2782065" y="1753199"/>
            <a:ext cx="2141855" cy="2092325"/>
            <a:chOff x="2782065" y="1753199"/>
            <a:chExt cx="2141855" cy="2092325"/>
          </a:xfrm>
        </p:grpSpPr>
        <p:sp>
          <p:nvSpPr>
            <p:cNvPr id="54" name="object 54" descr=""/>
            <p:cNvSpPr/>
            <p:nvPr/>
          </p:nvSpPr>
          <p:spPr>
            <a:xfrm>
              <a:off x="4770497" y="3780322"/>
              <a:ext cx="58419" cy="30480"/>
            </a:xfrm>
            <a:custGeom>
              <a:avLst/>
              <a:gdLst/>
              <a:ahLst/>
              <a:cxnLst/>
              <a:rect l="l" t="t" r="r" b="b"/>
              <a:pathLst>
                <a:path w="58420" h="30479">
                  <a:moveTo>
                    <a:pt x="31508" y="0"/>
                  </a:moveTo>
                  <a:lnTo>
                    <a:pt x="0" y="6223"/>
                  </a:lnTo>
                  <a:lnTo>
                    <a:pt x="4075" y="20592"/>
                  </a:lnTo>
                  <a:lnTo>
                    <a:pt x="8223" y="27884"/>
                  </a:lnTo>
                  <a:lnTo>
                    <a:pt x="14951" y="30349"/>
                  </a:lnTo>
                  <a:lnTo>
                    <a:pt x="26771" y="30238"/>
                  </a:lnTo>
                  <a:lnTo>
                    <a:pt x="58178" y="29083"/>
                  </a:lnTo>
                  <a:lnTo>
                    <a:pt x="44253" y="23856"/>
                  </a:lnTo>
                  <a:lnTo>
                    <a:pt x="36833" y="19084"/>
                  </a:lnTo>
                  <a:lnTo>
                    <a:pt x="33418" y="12041"/>
                  </a:lnTo>
                  <a:lnTo>
                    <a:pt x="31508" y="0"/>
                  </a:lnTo>
                  <a:close/>
                </a:path>
              </a:pathLst>
            </a:custGeom>
            <a:solidFill>
              <a:srgbClr val="000000"/>
            </a:solidFill>
          </p:spPr>
          <p:txBody>
            <a:bodyPr wrap="square" lIns="0" tIns="0" rIns="0" bIns="0" rtlCol="0"/>
            <a:lstStyle/>
            <a:p/>
          </p:txBody>
        </p:sp>
        <p:sp>
          <p:nvSpPr>
            <p:cNvPr id="55" name="object 55" descr=""/>
            <p:cNvSpPr/>
            <p:nvPr/>
          </p:nvSpPr>
          <p:spPr>
            <a:xfrm>
              <a:off x="4770497" y="3780322"/>
              <a:ext cx="58419" cy="30480"/>
            </a:xfrm>
            <a:custGeom>
              <a:avLst/>
              <a:gdLst/>
              <a:ahLst/>
              <a:cxnLst/>
              <a:rect l="l" t="t" r="r" b="b"/>
              <a:pathLst>
                <a:path w="58420" h="30479">
                  <a:moveTo>
                    <a:pt x="58178" y="29083"/>
                  </a:moveTo>
                  <a:lnTo>
                    <a:pt x="26771" y="30238"/>
                  </a:lnTo>
                  <a:lnTo>
                    <a:pt x="14951" y="30349"/>
                  </a:lnTo>
                  <a:lnTo>
                    <a:pt x="8223" y="27884"/>
                  </a:lnTo>
                  <a:lnTo>
                    <a:pt x="4075" y="20592"/>
                  </a:lnTo>
                  <a:lnTo>
                    <a:pt x="0" y="6223"/>
                  </a:lnTo>
                  <a:lnTo>
                    <a:pt x="31508" y="0"/>
                  </a:lnTo>
                  <a:lnTo>
                    <a:pt x="33418" y="12041"/>
                  </a:lnTo>
                  <a:lnTo>
                    <a:pt x="36833" y="19084"/>
                  </a:lnTo>
                  <a:lnTo>
                    <a:pt x="44253" y="23856"/>
                  </a:lnTo>
                  <a:lnTo>
                    <a:pt x="58178" y="29083"/>
                  </a:lnTo>
                  <a:close/>
                </a:path>
              </a:pathLst>
            </a:custGeom>
            <a:ln w="7594">
              <a:solidFill>
                <a:srgbClr val="000000"/>
              </a:solidFill>
            </a:ln>
          </p:spPr>
          <p:txBody>
            <a:bodyPr wrap="square" lIns="0" tIns="0" rIns="0" bIns="0" rtlCol="0"/>
            <a:lstStyle/>
            <a:p/>
          </p:txBody>
        </p:sp>
        <p:pic>
          <p:nvPicPr>
            <p:cNvPr id="56" name="object 56" descr=""/>
            <p:cNvPicPr/>
            <p:nvPr/>
          </p:nvPicPr>
          <p:blipFill>
            <a:blip r:embed="rId23" cstate="print"/>
            <a:stretch>
              <a:fillRect/>
            </a:stretch>
          </p:blipFill>
          <p:spPr>
            <a:xfrm>
              <a:off x="4471116" y="3781317"/>
              <a:ext cx="93548" cy="63588"/>
            </a:xfrm>
            <a:prstGeom prst="rect">
              <a:avLst/>
            </a:prstGeom>
          </p:spPr>
        </p:pic>
        <p:sp>
          <p:nvSpPr>
            <p:cNvPr id="57" name="object 57" descr=""/>
            <p:cNvSpPr/>
            <p:nvPr/>
          </p:nvSpPr>
          <p:spPr>
            <a:xfrm>
              <a:off x="4309757" y="3515788"/>
              <a:ext cx="390525" cy="58419"/>
            </a:xfrm>
            <a:custGeom>
              <a:avLst/>
              <a:gdLst/>
              <a:ahLst/>
              <a:cxnLst/>
              <a:rect l="l" t="t" r="r" b="b"/>
              <a:pathLst>
                <a:path w="390525" h="58420">
                  <a:moveTo>
                    <a:pt x="117268" y="0"/>
                  </a:moveTo>
                  <a:lnTo>
                    <a:pt x="104928" y="1121"/>
                  </a:lnTo>
                  <a:lnTo>
                    <a:pt x="87388" y="4486"/>
                  </a:lnTo>
                  <a:lnTo>
                    <a:pt x="53061" y="10279"/>
                  </a:lnTo>
                  <a:lnTo>
                    <a:pt x="32516" y="14782"/>
                  </a:lnTo>
                  <a:lnTo>
                    <a:pt x="17560" y="20309"/>
                  </a:lnTo>
                  <a:lnTo>
                    <a:pt x="0" y="29175"/>
                  </a:lnTo>
                  <a:lnTo>
                    <a:pt x="92357" y="16827"/>
                  </a:lnTo>
                  <a:lnTo>
                    <a:pt x="103038" y="15596"/>
                  </a:lnTo>
                  <a:lnTo>
                    <a:pt x="107251" y="15420"/>
                  </a:lnTo>
                  <a:lnTo>
                    <a:pt x="125157" y="13624"/>
                  </a:lnTo>
                  <a:lnTo>
                    <a:pt x="139725" y="13381"/>
                  </a:lnTo>
                  <a:lnTo>
                    <a:pt x="158693" y="15011"/>
                  </a:lnTo>
                  <a:lnTo>
                    <a:pt x="189801" y="18837"/>
                  </a:lnTo>
                  <a:lnTo>
                    <a:pt x="379682" y="56343"/>
                  </a:lnTo>
                  <a:lnTo>
                    <a:pt x="390309" y="58194"/>
                  </a:lnTo>
                  <a:lnTo>
                    <a:pt x="388178" y="54950"/>
                  </a:lnTo>
                  <a:lnTo>
                    <a:pt x="382744" y="52436"/>
                  </a:lnTo>
                  <a:lnTo>
                    <a:pt x="369754" y="49363"/>
                  </a:lnTo>
                  <a:lnTo>
                    <a:pt x="344957" y="44440"/>
                  </a:lnTo>
                  <a:lnTo>
                    <a:pt x="188774" y="11995"/>
                  </a:lnTo>
                  <a:lnTo>
                    <a:pt x="163757" y="6996"/>
                  </a:lnTo>
                  <a:lnTo>
                    <a:pt x="130251" y="1121"/>
                  </a:lnTo>
                  <a:lnTo>
                    <a:pt x="117268" y="0"/>
                  </a:lnTo>
                  <a:close/>
                </a:path>
              </a:pathLst>
            </a:custGeom>
            <a:solidFill>
              <a:srgbClr val="5F7AAF"/>
            </a:solidFill>
          </p:spPr>
          <p:txBody>
            <a:bodyPr wrap="square" lIns="0" tIns="0" rIns="0" bIns="0" rtlCol="0"/>
            <a:lstStyle/>
            <a:p/>
          </p:txBody>
        </p:sp>
        <p:pic>
          <p:nvPicPr>
            <p:cNvPr id="58" name="object 58" descr=""/>
            <p:cNvPicPr/>
            <p:nvPr/>
          </p:nvPicPr>
          <p:blipFill>
            <a:blip r:embed="rId24" cstate="print"/>
            <a:stretch>
              <a:fillRect/>
            </a:stretch>
          </p:blipFill>
          <p:spPr>
            <a:xfrm>
              <a:off x="4131545" y="3562625"/>
              <a:ext cx="116122" cy="60760"/>
            </a:xfrm>
            <a:prstGeom prst="rect">
              <a:avLst/>
            </a:prstGeom>
          </p:spPr>
        </p:pic>
        <p:sp>
          <p:nvSpPr>
            <p:cNvPr id="59" name="object 59" descr=""/>
            <p:cNvSpPr/>
            <p:nvPr/>
          </p:nvSpPr>
          <p:spPr>
            <a:xfrm>
              <a:off x="4312967" y="3801972"/>
              <a:ext cx="82550" cy="26034"/>
            </a:xfrm>
            <a:custGeom>
              <a:avLst/>
              <a:gdLst/>
              <a:ahLst/>
              <a:cxnLst/>
              <a:rect l="l" t="t" r="r" b="b"/>
              <a:pathLst>
                <a:path w="82550" h="26035">
                  <a:moveTo>
                    <a:pt x="8506" y="0"/>
                  </a:moveTo>
                  <a:lnTo>
                    <a:pt x="0" y="853"/>
                  </a:lnTo>
                  <a:lnTo>
                    <a:pt x="2917" y="13482"/>
                  </a:lnTo>
                  <a:lnTo>
                    <a:pt x="7815" y="20309"/>
                  </a:lnTo>
                  <a:lnTo>
                    <a:pt x="18225" y="23688"/>
                  </a:lnTo>
                  <a:lnTo>
                    <a:pt x="37680" y="25973"/>
                  </a:lnTo>
                  <a:lnTo>
                    <a:pt x="55535" y="24683"/>
                  </a:lnTo>
                  <a:lnTo>
                    <a:pt x="69630" y="19318"/>
                  </a:lnTo>
                  <a:lnTo>
                    <a:pt x="78882" y="13468"/>
                  </a:lnTo>
                  <a:lnTo>
                    <a:pt x="82207" y="10720"/>
                  </a:lnTo>
                  <a:lnTo>
                    <a:pt x="41903" y="4008"/>
                  </a:lnTo>
                  <a:lnTo>
                    <a:pt x="19905" y="743"/>
                  </a:lnTo>
                  <a:lnTo>
                    <a:pt x="8506" y="0"/>
                  </a:lnTo>
                  <a:close/>
                </a:path>
              </a:pathLst>
            </a:custGeom>
            <a:solidFill>
              <a:srgbClr val="000000"/>
            </a:solidFill>
          </p:spPr>
          <p:txBody>
            <a:bodyPr wrap="square" lIns="0" tIns="0" rIns="0" bIns="0" rtlCol="0"/>
            <a:lstStyle/>
            <a:p/>
          </p:txBody>
        </p:sp>
        <p:sp>
          <p:nvSpPr>
            <p:cNvPr id="60" name="object 60" descr=""/>
            <p:cNvSpPr/>
            <p:nvPr/>
          </p:nvSpPr>
          <p:spPr>
            <a:xfrm>
              <a:off x="4312967" y="3801972"/>
              <a:ext cx="82550" cy="26034"/>
            </a:xfrm>
            <a:custGeom>
              <a:avLst/>
              <a:gdLst/>
              <a:ahLst/>
              <a:cxnLst/>
              <a:rect l="l" t="t" r="r" b="b"/>
              <a:pathLst>
                <a:path w="82550" h="26035">
                  <a:moveTo>
                    <a:pt x="0" y="853"/>
                  </a:moveTo>
                  <a:lnTo>
                    <a:pt x="2917" y="13482"/>
                  </a:lnTo>
                  <a:lnTo>
                    <a:pt x="7815" y="20309"/>
                  </a:lnTo>
                  <a:lnTo>
                    <a:pt x="18225" y="23688"/>
                  </a:lnTo>
                  <a:lnTo>
                    <a:pt x="37680" y="25973"/>
                  </a:lnTo>
                  <a:lnTo>
                    <a:pt x="55535" y="24683"/>
                  </a:lnTo>
                  <a:lnTo>
                    <a:pt x="69630" y="19318"/>
                  </a:lnTo>
                  <a:lnTo>
                    <a:pt x="78882" y="13468"/>
                  </a:lnTo>
                  <a:lnTo>
                    <a:pt x="82207" y="10720"/>
                  </a:lnTo>
                  <a:lnTo>
                    <a:pt x="41903" y="4008"/>
                  </a:lnTo>
                  <a:lnTo>
                    <a:pt x="19905" y="743"/>
                  </a:lnTo>
                  <a:lnTo>
                    <a:pt x="8506" y="0"/>
                  </a:lnTo>
                  <a:lnTo>
                    <a:pt x="0" y="853"/>
                  </a:lnTo>
                  <a:close/>
                </a:path>
              </a:pathLst>
            </a:custGeom>
            <a:ln w="7594">
              <a:solidFill>
                <a:srgbClr val="000000"/>
              </a:solidFill>
            </a:ln>
          </p:spPr>
          <p:txBody>
            <a:bodyPr wrap="square" lIns="0" tIns="0" rIns="0" bIns="0" rtlCol="0"/>
            <a:lstStyle/>
            <a:p/>
          </p:txBody>
        </p:sp>
        <p:pic>
          <p:nvPicPr>
            <p:cNvPr id="61" name="object 61" descr=""/>
            <p:cNvPicPr/>
            <p:nvPr/>
          </p:nvPicPr>
          <p:blipFill>
            <a:blip r:embed="rId25" cstate="print"/>
            <a:stretch>
              <a:fillRect/>
            </a:stretch>
          </p:blipFill>
          <p:spPr>
            <a:xfrm>
              <a:off x="4513503" y="3738232"/>
              <a:ext cx="93040" cy="102869"/>
            </a:xfrm>
            <a:prstGeom prst="rect">
              <a:avLst/>
            </a:prstGeom>
          </p:spPr>
        </p:pic>
        <p:pic>
          <p:nvPicPr>
            <p:cNvPr id="62" name="object 62" descr=""/>
            <p:cNvPicPr/>
            <p:nvPr/>
          </p:nvPicPr>
          <p:blipFill>
            <a:blip r:embed="rId26" cstate="print"/>
            <a:stretch>
              <a:fillRect/>
            </a:stretch>
          </p:blipFill>
          <p:spPr>
            <a:xfrm>
              <a:off x="4509705" y="3734436"/>
              <a:ext cx="100634" cy="110464"/>
            </a:xfrm>
            <a:prstGeom prst="rect">
              <a:avLst/>
            </a:prstGeom>
          </p:spPr>
        </p:pic>
        <p:pic>
          <p:nvPicPr>
            <p:cNvPr id="63" name="object 63" descr=""/>
            <p:cNvPicPr/>
            <p:nvPr/>
          </p:nvPicPr>
          <p:blipFill>
            <a:blip r:embed="rId27" cstate="print"/>
            <a:stretch>
              <a:fillRect/>
            </a:stretch>
          </p:blipFill>
          <p:spPr>
            <a:xfrm>
              <a:off x="4801057" y="3739718"/>
              <a:ext cx="55232" cy="69684"/>
            </a:xfrm>
            <a:prstGeom prst="rect">
              <a:avLst/>
            </a:prstGeom>
          </p:spPr>
        </p:pic>
        <p:sp>
          <p:nvSpPr>
            <p:cNvPr id="64" name="object 64" descr=""/>
            <p:cNvSpPr/>
            <p:nvPr/>
          </p:nvSpPr>
          <p:spPr>
            <a:xfrm>
              <a:off x="4801059" y="3739729"/>
              <a:ext cx="55244" cy="69850"/>
            </a:xfrm>
            <a:custGeom>
              <a:avLst/>
              <a:gdLst/>
              <a:ahLst/>
              <a:cxnLst/>
              <a:rect l="l" t="t" r="r" b="b"/>
              <a:pathLst>
                <a:path w="55245" h="69850">
                  <a:moveTo>
                    <a:pt x="0" y="34836"/>
                  </a:moveTo>
                  <a:lnTo>
                    <a:pt x="2170" y="21275"/>
                  </a:lnTo>
                  <a:lnTo>
                    <a:pt x="8089" y="10202"/>
                  </a:lnTo>
                  <a:lnTo>
                    <a:pt x="16866" y="2737"/>
                  </a:lnTo>
                  <a:lnTo>
                    <a:pt x="27609" y="0"/>
                  </a:lnTo>
                  <a:lnTo>
                    <a:pt x="38360" y="2737"/>
                  </a:lnTo>
                  <a:lnTo>
                    <a:pt x="47140" y="10202"/>
                  </a:lnTo>
                  <a:lnTo>
                    <a:pt x="53061" y="21275"/>
                  </a:lnTo>
                  <a:lnTo>
                    <a:pt x="55232" y="34836"/>
                  </a:lnTo>
                  <a:lnTo>
                    <a:pt x="53061" y="48396"/>
                  </a:lnTo>
                  <a:lnTo>
                    <a:pt x="47140" y="59469"/>
                  </a:lnTo>
                  <a:lnTo>
                    <a:pt x="38360" y="66934"/>
                  </a:lnTo>
                  <a:lnTo>
                    <a:pt x="27609" y="69672"/>
                  </a:lnTo>
                  <a:lnTo>
                    <a:pt x="16866" y="66934"/>
                  </a:lnTo>
                  <a:lnTo>
                    <a:pt x="8089" y="59469"/>
                  </a:lnTo>
                  <a:lnTo>
                    <a:pt x="2170" y="48396"/>
                  </a:lnTo>
                  <a:lnTo>
                    <a:pt x="0" y="34836"/>
                  </a:lnTo>
                  <a:close/>
                </a:path>
              </a:pathLst>
            </a:custGeom>
            <a:ln w="7594">
              <a:solidFill>
                <a:srgbClr val="000000"/>
              </a:solidFill>
            </a:ln>
          </p:spPr>
          <p:txBody>
            <a:bodyPr wrap="square" lIns="0" tIns="0" rIns="0" bIns="0" rtlCol="0"/>
            <a:lstStyle/>
            <a:p/>
          </p:txBody>
        </p:sp>
        <p:sp>
          <p:nvSpPr>
            <p:cNvPr id="65" name="object 65" descr=""/>
            <p:cNvSpPr/>
            <p:nvPr/>
          </p:nvSpPr>
          <p:spPr>
            <a:xfrm>
              <a:off x="4169853" y="3537109"/>
              <a:ext cx="287020" cy="276225"/>
            </a:xfrm>
            <a:custGeom>
              <a:avLst/>
              <a:gdLst/>
              <a:ahLst/>
              <a:cxnLst/>
              <a:rect l="l" t="t" r="r" b="b"/>
              <a:pathLst>
                <a:path w="287020" h="276225">
                  <a:moveTo>
                    <a:pt x="243516" y="259416"/>
                  </a:moveTo>
                  <a:lnTo>
                    <a:pt x="47236" y="259416"/>
                  </a:lnTo>
                  <a:lnTo>
                    <a:pt x="68330" y="259555"/>
                  </a:lnTo>
                  <a:lnTo>
                    <a:pt x="91732" y="261533"/>
                  </a:lnTo>
                  <a:lnTo>
                    <a:pt x="115270" y="264007"/>
                  </a:lnTo>
                  <a:lnTo>
                    <a:pt x="159288" y="266997"/>
                  </a:lnTo>
                  <a:lnTo>
                    <a:pt x="179933" y="269306"/>
                  </a:lnTo>
                  <a:lnTo>
                    <a:pt x="199906" y="272208"/>
                  </a:lnTo>
                  <a:lnTo>
                    <a:pt x="217879" y="274495"/>
                  </a:lnTo>
                  <a:lnTo>
                    <a:pt x="231631" y="275623"/>
                  </a:lnTo>
                  <a:lnTo>
                    <a:pt x="238937" y="275046"/>
                  </a:lnTo>
                  <a:lnTo>
                    <a:pt x="242302" y="266598"/>
                  </a:lnTo>
                  <a:lnTo>
                    <a:pt x="243362" y="260327"/>
                  </a:lnTo>
                  <a:lnTo>
                    <a:pt x="243411" y="260035"/>
                  </a:lnTo>
                  <a:lnTo>
                    <a:pt x="243516" y="259416"/>
                  </a:lnTo>
                  <a:close/>
                </a:path>
                <a:path w="287020" h="276225">
                  <a:moveTo>
                    <a:pt x="0" y="227358"/>
                  </a:moveTo>
                  <a:lnTo>
                    <a:pt x="380" y="230088"/>
                  </a:lnTo>
                  <a:lnTo>
                    <a:pt x="178" y="239706"/>
                  </a:lnTo>
                  <a:lnTo>
                    <a:pt x="574" y="245735"/>
                  </a:lnTo>
                  <a:lnTo>
                    <a:pt x="1984" y="250716"/>
                  </a:lnTo>
                  <a:lnTo>
                    <a:pt x="4825" y="257190"/>
                  </a:lnTo>
                  <a:lnTo>
                    <a:pt x="5322" y="259416"/>
                  </a:lnTo>
                  <a:lnTo>
                    <a:pt x="5353" y="259555"/>
                  </a:lnTo>
                  <a:lnTo>
                    <a:pt x="5460" y="260035"/>
                  </a:lnTo>
                  <a:lnTo>
                    <a:pt x="17665" y="260327"/>
                  </a:lnTo>
                  <a:lnTo>
                    <a:pt x="29806" y="260035"/>
                  </a:lnTo>
                  <a:lnTo>
                    <a:pt x="47236" y="259416"/>
                  </a:lnTo>
                  <a:lnTo>
                    <a:pt x="243516" y="259416"/>
                  </a:lnTo>
                  <a:lnTo>
                    <a:pt x="245503" y="247649"/>
                  </a:lnTo>
                  <a:lnTo>
                    <a:pt x="247600" y="228450"/>
                  </a:lnTo>
                  <a:lnTo>
                    <a:pt x="2844" y="228450"/>
                  </a:lnTo>
                  <a:lnTo>
                    <a:pt x="0" y="227358"/>
                  </a:lnTo>
                  <a:close/>
                </a:path>
                <a:path w="287020" h="276225">
                  <a:moveTo>
                    <a:pt x="286126" y="0"/>
                  </a:moveTo>
                  <a:lnTo>
                    <a:pt x="216331" y="5882"/>
                  </a:lnTo>
                  <a:lnTo>
                    <a:pt x="167337" y="11136"/>
                  </a:lnTo>
                  <a:lnTo>
                    <a:pt x="128336" y="16565"/>
                  </a:lnTo>
                  <a:lnTo>
                    <a:pt x="79908" y="26075"/>
                  </a:lnTo>
                  <a:lnTo>
                    <a:pt x="47137" y="60861"/>
                  </a:lnTo>
                  <a:lnTo>
                    <a:pt x="32289" y="98745"/>
                  </a:lnTo>
                  <a:lnTo>
                    <a:pt x="9690" y="168036"/>
                  </a:lnTo>
                  <a:lnTo>
                    <a:pt x="3580" y="209768"/>
                  </a:lnTo>
                  <a:lnTo>
                    <a:pt x="2887" y="227358"/>
                  </a:lnTo>
                  <a:lnTo>
                    <a:pt x="2844" y="228450"/>
                  </a:lnTo>
                  <a:lnTo>
                    <a:pt x="247600" y="228450"/>
                  </a:lnTo>
                  <a:lnTo>
                    <a:pt x="248199" y="222961"/>
                  </a:lnTo>
                  <a:lnTo>
                    <a:pt x="250050" y="197297"/>
                  </a:lnTo>
                  <a:lnTo>
                    <a:pt x="251483" y="164891"/>
                  </a:lnTo>
                  <a:lnTo>
                    <a:pt x="253087" y="145316"/>
                  </a:lnTo>
                  <a:lnTo>
                    <a:pt x="255874" y="130674"/>
                  </a:lnTo>
                  <a:lnTo>
                    <a:pt x="260857" y="113070"/>
                  </a:lnTo>
                  <a:lnTo>
                    <a:pt x="272822" y="57487"/>
                  </a:lnTo>
                  <a:lnTo>
                    <a:pt x="279517" y="27256"/>
                  </a:lnTo>
                  <a:lnTo>
                    <a:pt x="283378" y="11847"/>
                  </a:lnTo>
                  <a:lnTo>
                    <a:pt x="286842" y="726"/>
                  </a:lnTo>
                  <a:lnTo>
                    <a:pt x="286126" y="0"/>
                  </a:lnTo>
                  <a:close/>
                </a:path>
              </a:pathLst>
            </a:custGeom>
            <a:solidFill>
              <a:srgbClr val="4E699D"/>
            </a:solidFill>
          </p:spPr>
          <p:txBody>
            <a:bodyPr wrap="square" lIns="0" tIns="0" rIns="0" bIns="0" rtlCol="0"/>
            <a:lstStyle/>
            <a:p/>
          </p:txBody>
        </p:sp>
        <p:sp>
          <p:nvSpPr>
            <p:cNvPr id="66" name="object 66" descr=""/>
            <p:cNvSpPr/>
            <p:nvPr/>
          </p:nvSpPr>
          <p:spPr>
            <a:xfrm>
              <a:off x="4183425" y="3541628"/>
              <a:ext cx="267335" cy="170815"/>
            </a:xfrm>
            <a:custGeom>
              <a:avLst/>
              <a:gdLst/>
              <a:ahLst/>
              <a:cxnLst/>
              <a:rect l="l" t="t" r="r" b="b"/>
              <a:pathLst>
                <a:path w="267335" h="170814">
                  <a:moveTo>
                    <a:pt x="255657" y="0"/>
                  </a:moveTo>
                  <a:lnTo>
                    <a:pt x="185716" y="4881"/>
                  </a:lnTo>
                  <a:lnTo>
                    <a:pt x="127415" y="12172"/>
                  </a:lnTo>
                  <a:lnTo>
                    <a:pt x="71577" y="22683"/>
                  </a:lnTo>
                  <a:lnTo>
                    <a:pt x="68503" y="24829"/>
                  </a:lnTo>
                  <a:lnTo>
                    <a:pt x="62567" y="26282"/>
                  </a:lnTo>
                  <a:lnTo>
                    <a:pt x="34251" y="74829"/>
                  </a:lnTo>
                  <a:lnTo>
                    <a:pt x="7872" y="137035"/>
                  </a:lnTo>
                  <a:lnTo>
                    <a:pt x="0" y="162637"/>
                  </a:lnTo>
                  <a:lnTo>
                    <a:pt x="28432" y="168812"/>
                  </a:lnTo>
                  <a:lnTo>
                    <a:pt x="57959" y="170795"/>
                  </a:lnTo>
                  <a:lnTo>
                    <a:pt x="106627" y="168518"/>
                  </a:lnTo>
                  <a:lnTo>
                    <a:pt x="192481" y="161913"/>
                  </a:lnTo>
                  <a:lnTo>
                    <a:pt x="232659" y="149967"/>
                  </a:lnTo>
                  <a:lnTo>
                    <a:pt x="263626" y="16796"/>
                  </a:lnTo>
                  <a:lnTo>
                    <a:pt x="267102" y="4874"/>
                  </a:lnTo>
                  <a:lnTo>
                    <a:pt x="265393" y="1317"/>
                  </a:lnTo>
                  <a:lnTo>
                    <a:pt x="255657" y="0"/>
                  </a:lnTo>
                  <a:close/>
                </a:path>
              </a:pathLst>
            </a:custGeom>
            <a:solidFill>
              <a:srgbClr val="D7EEF8"/>
            </a:solidFill>
          </p:spPr>
          <p:txBody>
            <a:bodyPr wrap="square" lIns="0" tIns="0" rIns="0" bIns="0" rtlCol="0"/>
            <a:lstStyle/>
            <a:p/>
          </p:txBody>
        </p:sp>
        <p:sp>
          <p:nvSpPr>
            <p:cNvPr id="67" name="object 67" descr=""/>
            <p:cNvSpPr/>
            <p:nvPr/>
          </p:nvSpPr>
          <p:spPr>
            <a:xfrm>
              <a:off x="4172953" y="3740429"/>
              <a:ext cx="228600" cy="35560"/>
            </a:xfrm>
            <a:custGeom>
              <a:avLst/>
              <a:gdLst/>
              <a:ahLst/>
              <a:cxnLst/>
              <a:rect l="l" t="t" r="r" b="b"/>
              <a:pathLst>
                <a:path w="228600" h="35560">
                  <a:moveTo>
                    <a:pt x="35115" y="24320"/>
                  </a:moveTo>
                  <a:lnTo>
                    <a:pt x="3429" y="0"/>
                  </a:lnTo>
                  <a:lnTo>
                    <a:pt x="2286" y="1790"/>
                  </a:lnTo>
                  <a:lnTo>
                    <a:pt x="139" y="3289"/>
                  </a:lnTo>
                  <a:lnTo>
                    <a:pt x="114" y="6134"/>
                  </a:lnTo>
                  <a:lnTo>
                    <a:pt x="0" y="20535"/>
                  </a:lnTo>
                  <a:lnTo>
                    <a:pt x="7162" y="24320"/>
                  </a:lnTo>
                  <a:lnTo>
                    <a:pt x="19812" y="27813"/>
                  </a:lnTo>
                  <a:lnTo>
                    <a:pt x="31521" y="28663"/>
                  </a:lnTo>
                  <a:lnTo>
                    <a:pt x="35115" y="24320"/>
                  </a:lnTo>
                  <a:close/>
                </a:path>
                <a:path w="228600" h="35560">
                  <a:moveTo>
                    <a:pt x="228028" y="11887"/>
                  </a:moveTo>
                  <a:lnTo>
                    <a:pt x="226936" y="6858"/>
                  </a:lnTo>
                  <a:lnTo>
                    <a:pt x="216496" y="3136"/>
                  </a:lnTo>
                  <a:lnTo>
                    <a:pt x="190665" y="3390"/>
                  </a:lnTo>
                  <a:lnTo>
                    <a:pt x="163144" y="6108"/>
                  </a:lnTo>
                  <a:lnTo>
                    <a:pt x="148145" y="9474"/>
                  </a:lnTo>
                  <a:lnTo>
                    <a:pt x="140423" y="15671"/>
                  </a:lnTo>
                  <a:lnTo>
                    <a:pt x="134734" y="26911"/>
                  </a:lnTo>
                  <a:lnTo>
                    <a:pt x="135191" y="32080"/>
                  </a:lnTo>
                  <a:lnTo>
                    <a:pt x="138379" y="34569"/>
                  </a:lnTo>
                  <a:lnTo>
                    <a:pt x="147015" y="35077"/>
                  </a:lnTo>
                  <a:lnTo>
                    <a:pt x="163842" y="34290"/>
                  </a:lnTo>
                  <a:lnTo>
                    <a:pt x="209372" y="25298"/>
                  </a:lnTo>
                  <a:lnTo>
                    <a:pt x="228028" y="11887"/>
                  </a:lnTo>
                  <a:close/>
                </a:path>
              </a:pathLst>
            </a:custGeom>
            <a:solidFill>
              <a:srgbClr val="2A3854"/>
            </a:solidFill>
          </p:spPr>
          <p:txBody>
            <a:bodyPr wrap="square" lIns="0" tIns="0" rIns="0" bIns="0" rtlCol="0"/>
            <a:lstStyle/>
            <a:p/>
          </p:txBody>
        </p:sp>
        <p:sp>
          <p:nvSpPr>
            <p:cNvPr id="68" name="object 68" descr=""/>
            <p:cNvSpPr/>
            <p:nvPr/>
          </p:nvSpPr>
          <p:spPr>
            <a:xfrm>
              <a:off x="4249467" y="3528470"/>
              <a:ext cx="654050" cy="89535"/>
            </a:xfrm>
            <a:custGeom>
              <a:avLst/>
              <a:gdLst/>
              <a:ahLst/>
              <a:cxnLst/>
              <a:rect l="l" t="t" r="r" b="b"/>
              <a:pathLst>
                <a:path w="654050" h="89535">
                  <a:moveTo>
                    <a:pt x="267079" y="9516"/>
                  </a:moveTo>
                  <a:lnTo>
                    <a:pt x="242393" y="9516"/>
                  </a:lnTo>
                  <a:lnTo>
                    <a:pt x="255657" y="10045"/>
                  </a:lnTo>
                  <a:lnTo>
                    <a:pt x="271616" y="12818"/>
                  </a:lnTo>
                  <a:lnTo>
                    <a:pt x="297014" y="18595"/>
                  </a:lnTo>
                  <a:lnTo>
                    <a:pt x="643305" y="87023"/>
                  </a:lnTo>
                  <a:lnTo>
                    <a:pt x="652208" y="89169"/>
                  </a:lnTo>
                  <a:lnTo>
                    <a:pt x="653948" y="88153"/>
                  </a:lnTo>
                  <a:lnTo>
                    <a:pt x="652538" y="85994"/>
                  </a:lnTo>
                  <a:lnTo>
                    <a:pt x="647750" y="84534"/>
                  </a:lnTo>
                  <a:lnTo>
                    <a:pt x="646391" y="84153"/>
                  </a:lnTo>
                  <a:lnTo>
                    <a:pt x="452475" y="45634"/>
                  </a:lnTo>
                  <a:lnTo>
                    <a:pt x="435654" y="42595"/>
                  </a:lnTo>
                  <a:lnTo>
                    <a:pt x="267079" y="9516"/>
                  </a:lnTo>
                  <a:close/>
                </a:path>
                <a:path w="654050" h="89535">
                  <a:moveTo>
                    <a:pt x="200442" y="0"/>
                  </a:moveTo>
                  <a:lnTo>
                    <a:pt x="185021" y="440"/>
                  </a:lnTo>
                  <a:lnTo>
                    <a:pt x="165265" y="2809"/>
                  </a:lnTo>
                  <a:lnTo>
                    <a:pt x="157145" y="3425"/>
                  </a:lnTo>
                  <a:lnTo>
                    <a:pt x="145310" y="4732"/>
                  </a:lnTo>
                  <a:lnTo>
                    <a:pt x="77635" y="13388"/>
                  </a:lnTo>
                  <a:lnTo>
                    <a:pt x="66309" y="15174"/>
                  </a:lnTo>
                  <a:lnTo>
                    <a:pt x="51904" y="17241"/>
                  </a:lnTo>
                  <a:lnTo>
                    <a:pt x="14198" y="24372"/>
                  </a:lnTo>
                  <a:lnTo>
                    <a:pt x="0" y="35334"/>
                  </a:lnTo>
                  <a:lnTo>
                    <a:pt x="57044" y="23008"/>
                  </a:lnTo>
                  <a:lnTo>
                    <a:pt x="97645" y="16257"/>
                  </a:lnTo>
                  <a:lnTo>
                    <a:pt x="139840" y="12818"/>
                  </a:lnTo>
                  <a:lnTo>
                    <a:pt x="138493" y="12818"/>
                  </a:lnTo>
                  <a:lnTo>
                    <a:pt x="205462" y="10045"/>
                  </a:lnTo>
                  <a:lnTo>
                    <a:pt x="232763" y="10045"/>
                  </a:lnTo>
                  <a:lnTo>
                    <a:pt x="242393" y="9516"/>
                  </a:lnTo>
                  <a:lnTo>
                    <a:pt x="267079" y="9516"/>
                  </a:lnTo>
                  <a:lnTo>
                    <a:pt x="250088" y="6162"/>
                  </a:lnTo>
                  <a:lnTo>
                    <a:pt x="219480" y="1802"/>
                  </a:lnTo>
                  <a:lnTo>
                    <a:pt x="200442" y="0"/>
                  </a:lnTo>
                  <a:close/>
                </a:path>
                <a:path w="654050" h="89535">
                  <a:moveTo>
                    <a:pt x="232763" y="10045"/>
                  </a:moveTo>
                  <a:lnTo>
                    <a:pt x="209858" y="10045"/>
                  </a:lnTo>
                  <a:lnTo>
                    <a:pt x="225082" y="10467"/>
                  </a:lnTo>
                  <a:lnTo>
                    <a:pt x="232763" y="10045"/>
                  </a:lnTo>
                  <a:close/>
                </a:path>
              </a:pathLst>
            </a:custGeom>
            <a:solidFill>
              <a:srgbClr val="516CA2"/>
            </a:solidFill>
          </p:spPr>
          <p:txBody>
            <a:bodyPr wrap="square" lIns="0" tIns="0" rIns="0" bIns="0" rtlCol="0"/>
            <a:lstStyle/>
            <a:p/>
          </p:txBody>
        </p:sp>
        <p:pic>
          <p:nvPicPr>
            <p:cNvPr id="69" name="object 69" descr=""/>
            <p:cNvPicPr/>
            <p:nvPr/>
          </p:nvPicPr>
          <p:blipFill>
            <a:blip r:embed="rId28" cstate="print"/>
            <a:stretch>
              <a:fillRect/>
            </a:stretch>
          </p:blipFill>
          <p:spPr>
            <a:xfrm>
              <a:off x="4418723" y="3538435"/>
              <a:ext cx="47055" cy="195808"/>
            </a:xfrm>
            <a:prstGeom prst="rect">
              <a:avLst/>
            </a:prstGeom>
          </p:spPr>
        </p:pic>
        <p:sp>
          <p:nvSpPr>
            <p:cNvPr id="70" name="object 70" descr=""/>
            <p:cNvSpPr/>
            <p:nvPr/>
          </p:nvSpPr>
          <p:spPr>
            <a:xfrm>
              <a:off x="4408789" y="3730260"/>
              <a:ext cx="20955" cy="83820"/>
            </a:xfrm>
            <a:custGeom>
              <a:avLst/>
              <a:gdLst/>
              <a:ahLst/>
              <a:cxnLst/>
              <a:rect l="l" t="t" r="r" b="b"/>
              <a:pathLst>
                <a:path w="20954" h="83820">
                  <a:moveTo>
                    <a:pt x="20789" y="0"/>
                  </a:moveTo>
                  <a:lnTo>
                    <a:pt x="9931" y="3987"/>
                  </a:lnTo>
                  <a:lnTo>
                    <a:pt x="8426" y="39745"/>
                  </a:lnTo>
                  <a:lnTo>
                    <a:pt x="6889" y="59782"/>
                  </a:lnTo>
                  <a:lnTo>
                    <a:pt x="4391" y="71403"/>
                  </a:lnTo>
                  <a:lnTo>
                    <a:pt x="0" y="81914"/>
                  </a:lnTo>
                  <a:lnTo>
                    <a:pt x="4457" y="83807"/>
                  </a:lnTo>
                  <a:lnTo>
                    <a:pt x="7873" y="81419"/>
                  </a:lnTo>
                  <a:lnTo>
                    <a:pt x="11224" y="69124"/>
                  </a:lnTo>
                  <a:lnTo>
                    <a:pt x="15313" y="43638"/>
                  </a:lnTo>
                  <a:lnTo>
                    <a:pt x="18911" y="16688"/>
                  </a:lnTo>
                  <a:lnTo>
                    <a:pt x="20789" y="0"/>
                  </a:lnTo>
                  <a:close/>
                </a:path>
              </a:pathLst>
            </a:custGeom>
            <a:solidFill>
              <a:srgbClr val="4C6597"/>
            </a:solidFill>
          </p:spPr>
          <p:txBody>
            <a:bodyPr wrap="square" lIns="0" tIns="0" rIns="0" bIns="0" rtlCol="0"/>
            <a:lstStyle/>
            <a:p/>
          </p:txBody>
        </p:sp>
        <p:sp>
          <p:nvSpPr>
            <p:cNvPr id="71" name="object 71" descr=""/>
            <p:cNvSpPr/>
            <p:nvPr/>
          </p:nvSpPr>
          <p:spPr>
            <a:xfrm>
              <a:off x="4416686" y="3542948"/>
              <a:ext cx="89535" cy="273050"/>
            </a:xfrm>
            <a:custGeom>
              <a:avLst/>
              <a:gdLst/>
              <a:ahLst/>
              <a:cxnLst/>
              <a:rect l="l" t="t" r="r" b="b"/>
              <a:pathLst>
                <a:path w="89535" h="273050">
                  <a:moveTo>
                    <a:pt x="45707" y="0"/>
                  </a:moveTo>
                  <a:lnTo>
                    <a:pt x="47701" y="9067"/>
                  </a:lnTo>
                  <a:lnTo>
                    <a:pt x="48583" y="12995"/>
                  </a:lnTo>
                  <a:lnTo>
                    <a:pt x="47474" y="21340"/>
                  </a:lnTo>
                  <a:lnTo>
                    <a:pt x="43109" y="40437"/>
                  </a:lnTo>
                  <a:lnTo>
                    <a:pt x="34226" y="76619"/>
                  </a:lnTo>
                  <a:lnTo>
                    <a:pt x="22848" y="134105"/>
                  </a:lnTo>
                  <a:lnTo>
                    <a:pt x="16832" y="164798"/>
                  </a:lnTo>
                  <a:lnTo>
                    <a:pt x="14175" y="179074"/>
                  </a:lnTo>
                  <a:lnTo>
                    <a:pt x="12877" y="187312"/>
                  </a:lnTo>
                  <a:lnTo>
                    <a:pt x="8761" y="221645"/>
                  </a:lnTo>
                  <a:lnTo>
                    <a:pt x="6048" y="241571"/>
                  </a:lnTo>
                  <a:lnTo>
                    <a:pt x="3530" y="254722"/>
                  </a:lnTo>
                  <a:lnTo>
                    <a:pt x="0" y="268731"/>
                  </a:lnTo>
                  <a:lnTo>
                    <a:pt x="34306" y="271682"/>
                  </a:lnTo>
                  <a:lnTo>
                    <a:pt x="77393" y="266458"/>
                  </a:lnTo>
                  <a:lnTo>
                    <a:pt x="87822" y="207746"/>
                  </a:lnTo>
                  <a:lnTo>
                    <a:pt x="88925" y="143052"/>
                  </a:lnTo>
                  <a:lnTo>
                    <a:pt x="88219" y="114168"/>
                  </a:lnTo>
                  <a:lnTo>
                    <a:pt x="85869" y="73579"/>
                  </a:lnTo>
                  <a:lnTo>
                    <a:pt x="82697" y="32487"/>
                  </a:lnTo>
                  <a:lnTo>
                    <a:pt x="79527" y="2095"/>
                  </a:lnTo>
                  <a:lnTo>
                    <a:pt x="70535" y="1193"/>
                  </a:lnTo>
                  <a:lnTo>
                    <a:pt x="45707" y="0"/>
                  </a:lnTo>
                  <a:close/>
                </a:path>
              </a:pathLst>
            </a:custGeom>
            <a:solidFill>
              <a:srgbClr val="516CA2"/>
            </a:solidFill>
          </p:spPr>
          <p:txBody>
            <a:bodyPr wrap="square" lIns="0" tIns="0" rIns="0" bIns="0" rtlCol="0"/>
            <a:lstStyle/>
            <a:p/>
          </p:txBody>
        </p:sp>
        <p:sp>
          <p:nvSpPr>
            <p:cNvPr id="72" name="object 72" descr=""/>
            <p:cNvSpPr/>
            <p:nvPr/>
          </p:nvSpPr>
          <p:spPr>
            <a:xfrm>
              <a:off x="4505745" y="3545190"/>
              <a:ext cx="403225" cy="145415"/>
            </a:xfrm>
            <a:custGeom>
              <a:avLst/>
              <a:gdLst/>
              <a:ahLst/>
              <a:cxnLst/>
              <a:rect l="l" t="t" r="r" b="b"/>
              <a:pathLst>
                <a:path w="403225" h="145414">
                  <a:moveTo>
                    <a:pt x="402494" y="129643"/>
                  </a:moveTo>
                  <a:lnTo>
                    <a:pt x="108216" y="129643"/>
                  </a:lnTo>
                  <a:lnTo>
                    <a:pt x="146626" y="129942"/>
                  </a:lnTo>
                  <a:lnTo>
                    <a:pt x="189263" y="131642"/>
                  </a:lnTo>
                  <a:lnTo>
                    <a:pt x="381928" y="143527"/>
                  </a:lnTo>
                  <a:lnTo>
                    <a:pt x="401751" y="145188"/>
                  </a:lnTo>
                  <a:lnTo>
                    <a:pt x="402220" y="135383"/>
                  </a:lnTo>
                  <a:lnTo>
                    <a:pt x="402297" y="133777"/>
                  </a:lnTo>
                  <a:lnTo>
                    <a:pt x="402399" y="131642"/>
                  </a:lnTo>
                  <a:lnTo>
                    <a:pt x="402494" y="129643"/>
                  </a:lnTo>
                  <a:close/>
                </a:path>
                <a:path w="403225" h="145414">
                  <a:moveTo>
                    <a:pt x="4710" y="0"/>
                  </a:moveTo>
                  <a:lnTo>
                    <a:pt x="0" y="687"/>
                  </a:lnTo>
                  <a:lnTo>
                    <a:pt x="7238" y="72699"/>
                  </a:lnTo>
                  <a:lnTo>
                    <a:pt x="10469" y="111152"/>
                  </a:lnTo>
                  <a:lnTo>
                    <a:pt x="10431" y="129050"/>
                  </a:lnTo>
                  <a:lnTo>
                    <a:pt x="7861" y="139396"/>
                  </a:lnTo>
                  <a:lnTo>
                    <a:pt x="40640" y="134293"/>
                  </a:lnTo>
                  <a:lnTo>
                    <a:pt x="61508" y="131642"/>
                  </a:lnTo>
                  <a:lnTo>
                    <a:pt x="61007" y="131642"/>
                  </a:lnTo>
                  <a:lnTo>
                    <a:pt x="81409" y="130331"/>
                  </a:lnTo>
                  <a:lnTo>
                    <a:pt x="108216" y="129643"/>
                  </a:lnTo>
                  <a:lnTo>
                    <a:pt x="402494" y="129643"/>
                  </a:lnTo>
                  <a:lnTo>
                    <a:pt x="402780" y="123661"/>
                  </a:lnTo>
                  <a:lnTo>
                    <a:pt x="396620" y="80895"/>
                  </a:lnTo>
                  <a:lnTo>
                    <a:pt x="26689" y="3111"/>
                  </a:lnTo>
                  <a:lnTo>
                    <a:pt x="12607" y="687"/>
                  </a:lnTo>
                  <a:lnTo>
                    <a:pt x="13424" y="687"/>
                  </a:lnTo>
                  <a:lnTo>
                    <a:pt x="4710" y="0"/>
                  </a:lnTo>
                  <a:close/>
                </a:path>
              </a:pathLst>
            </a:custGeom>
            <a:solidFill>
              <a:srgbClr val="D7EEF8"/>
            </a:solidFill>
          </p:spPr>
          <p:txBody>
            <a:bodyPr wrap="square" lIns="0" tIns="0" rIns="0" bIns="0" rtlCol="0"/>
            <a:lstStyle/>
            <a:p/>
          </p:txBody>
        </p:sp>
        <p:sp>
          <p:nvSpPr>
            <p:cNvPr id="73" name="object 73" descr=""/>
            <p:cNvSpPr/>
            <p:nvPr/>
          </p:nvSpPr>
          <p:spPr>
            <a:xfrm>
              <a:off x="4496643" y="3616628"/>
              <a:ext cx="427355" cy="195580"/>
            </a:xfrm>
            <a:custGeom>
              <a:avLst/>
              <a:gdLst/>
              <a:ahLst/>
              <a:cxnLst/>
              <a:rect l="l" t="t" r="r" b="b"/>
              <a:pathLst>
                <a:path w="427354" h="195579">
                  <a:moveTo>
                    <a:pt x="117309" y="58204"/>
                  </a:moveTo>
                  <a:lnTo>
                    <a:pt x="72020" y="60023"/>
                  </a:lnTo>
                  <a:lnTo>
                    <a:pt x="16967" y="67957"/>
                  </a:lnTo>
                  <a:lnTo>
                    <a:pt x="11137" y="120205"/>
                  </a:lnTo>
                  <a:lnTo>
                    <a:pt x="11619" y="139052"/>
                  </a:lnTo>
                  <a:lnTo>
                    <a:pt x="11691" y="145907"/>
                  </a:lnTo>
                  <a:lnTo>
                    <a:pt x="11019" y="157152"/>
                  </a:lnTo>
                  <a:lnTo>
                    <a:pt x="10925" y="158734"/>
                  </a:lnTo>
                  <a:lnTo>
                    <a:pt x="10812" y="160628"/>
                  </a:lnTo>
                  <a:lnTo>
                    <a:pt x="7239" y="174996"/>
                  </a:lnTo>
                  <a:lnTo>
                    <a:pt x="0" y="194792"/>
                  </a:lnTo>
                  <a:lnTo>
                    <a:pt x="13690" y="195478"/>
                  </a:lnTo>
                  <a:lnTo>
                    <a:pt x="19767" y="149345"/>
                  </a:lnTo>
                  <a:lnTo>
                    <a:pt x="46075" y="127898"/>
                  </a:lnTo>
                  <a:lnTo>
                    <a:pt x="45902" y="127898"/>
                  </a:lnTo>
                  <a:lnTo>
                    <a:pt x="56575" y="124398"/>
                  </a:lnTo>
                  <a:lnTo>
                    <a:pt x="70029" y="124156"/>
                  </a:lnTo>
                  <a:lnTo>
                    <a:pt x="427131" y="124156"/>
                  </a:lnTo>
                  <a:lnTo>
                    <a:pt x="427089" y="120205"/>
                  </a:lnTo>
                  <a:lnTo>
                    <a:pt x="426069" y="102282"/>
                  </a:lnTo>
                  <a:lnTo>
                    <a:pt x="423826" y="73355"/>
                  </a:lnTo>
                  <a:lnTo>
                    <a:pt x="411886" y="73355"/>
                  </a:lnTo>
                  <a:lnTo>
                    <a:pt x="402031" y="73037"/>
                  </a:lnTo>
                  <a:lnTo>
                    <a:pt x="393854" y="72159"/>
                  </a:lnTo>
                  <a:lnTo>
                    <a:pt x="194736" y="60023"/>
                  </a:lnTo>
                  <a:lnTo>
                    <a:pt x="195195" y="60023"/>
                  </a:lnTo>
                  <a:lnTo>
                    <a:pt x="153612" y="58459"/>
                  </a:lnTo>
                  <a:lnTo>
                    <a:pt x="117309" y="58204"/>
                  </a:lnTo>
                  <a:close/>
                </a:path>
                <a:path w="427354" h="195579">
                  <a:moveTo>
                    <a:pt x="427131" y="124156"/>
                  </a:moveTo>
                  <a:lnTo>
                    <a:pt x="70029" y="124156"/>
                  </a:lnTo>
                  <a:lnTo>
                    <a:pt x="84561" y="128546"/>
                  </a:lnTo>
                  <a:lnTo>
                    <a:pt x="98132" y="139052"/>
                  </a:lnTo>
                  <a:lnTo>
                    <a:pt x="107614" y="150299"/>
                  </a:lnTo>
                  <a:lnTo>
                    <a:pt x="111880" y="158734"/>
                  </a:lnTo>
                  <a:lnTo>
                    <a:pt x="111927" y="168573"/>
                  </a:lnTo>
                  <a:lnTo>
                    <a:pt x="108750" y="184035"/>
                  </a:lnTo>
                  <a:lnTo>
                    <a:pt x="300278" y="167868"/>
                  </a:lnTo>
                  <a:lnTo>
                    <a:pt x="305130" y="166649"/>
                  </a:lnTo>
                  <a:lnTo>
                    <a:pt x="306552" y="164871"/>
                  </a:lnTo>
                  <a:lnTo>
                    <a:pt x="306668" y="160628"/>
                  </a:lnTo>
                  <a:lnTo>
                    <a:pt x="306763" y="157152"/>
                  </a:lnTo>
                  <a:lnTo>
                    <a:pt x="330353" y="124645"/>
                  </a:lnTo>
                  <a:lnTo>
                    <a:pt x="427117" y="124645"/>
                  </a:lnTo>
                  <a:lnTo>
                    <a:pt x="427131" y="124156"/>
                  </a:lnTo>
                  <a:close/>
                </a:path>
                <a:path w="427354" h="195579">
                  <a:moveTo>
                    <a:pt x="427117" y="124645"/>
                  </a:moveTo>
                  <a:lnTo>
                    <a:pt x="330353" y="124645"/>
                  </a:lnTo>
                  <a:lnTo>
                    <a:pt x="341152" y="125167"/>
                  </a:lnTo>
                  <a:lnTo>
                    <a:pt x="350799" y="131800"/>
                  </a:lnTo>
                  <a:lnTo>
                    <a:pt x="357042" y="140106"/>
                  </a:lnTo>
                  <a:lnTo>
                    <a:pt x="360075" y="145907"/>
                  </a:lnTo>
                  <a:lnTo>
                    <a:pt x="360413" y="148920"/>
                  </a:lnTo>
                  <a:lnTo>
                    <a:pt x="360461" y="149345"/>
                  </a:lnTo>
                  <a:lnTo>
                    <a:pt x="360568" y="150299"/>
                  </a:lnTo>
                  <a:lnTo>
                    <a:pt x="360639" y="153165"/>
                  </a:lnTo>
                  <a:lnTo>
                    <a:pt x="359956" y="160628"/>
                  </a:lnTo>
                  <a:lnTo>
                    <a:pt x="359930" y="160908"/>
                  </a:lnTo>
                  <a:lnTo>
                    <a:pt x="389081" y="157152"/>
                  </a:lnTo>
                  <a:lnTo>
                    <a:pt x="403805" y="154993"/>
                  </a:lnTo>
                  <a:lnTo>
                    <a:pt x="415023" y="152501"/>
                  </a:lnTo>
                  <a:lnTo>
                    <a:pt x="426199" y="148920"/>
                  </a:lnTo>
                  <a:lnTo>
                    <a:pt x="425297" y="142735"/>
                  </a:lnTo>
                  <a:lnTo>
                    <a:pt x="426873" y="133140"/>
                  </a:lnTo>
                  <a:lnTo>
                    <a:pt x="426912" y="131800"/>
                  </a:lnTo>
                  <a:lnTo>
                    <a:pt x="427024" y="127898"/>
                  </a:lnTo>
                  <a:lnTo>
                    <a:pt x="427117" y="124645"/>
                  </a:lnTo>
                  <a:close/>
                </a:path>
                <a:path w="427354" h="195579">
                  <a:moveTo>
                    <a:pt x="406742" y="0"/>
                  </a:moveTo>
                  <a:lnTo>
                    <a:pt x="403606" y="0"/>
                  </a:lnTo>
                  <a:lnTo>
                    <a:pt x="411886" y="52222"/>
                  </a:lnTo>
                  <a:lnTo>
                    <a:pt x="411886" y="73355"/>
                  </a:lnTo>
                  <a:lnTo>
                    <a:pt x="423826" y="73355"/>
                  </a:lnTo>
                  <a:lnTo>
                    <a:pt x="423485" y="68960"/>
                  </a:lnTo>
                  <a:lnTo>
                    <a:pt x="423407" y="67957"/>
                  </a:lnTo>
                  <a:lnTo>
                    <a:pt x="423316" y="66776"/>
                  </a:lnTo>
                  <a:lnTo>
                    <a:pt x="419192" y="32871"/>
                  </a:lnTo>
                  <a:lnTo>
                    <a:pt x="416091" y="14614"/>
                  </a:lnTo>
                  <a:lnTo>
                    <a:pt x="412459" y="5743"/>
                  </a:lnTo>
                  <a:lnTo>
                    <a:pt x="406742" y="0"/>
                  </a:lnTo>
                  <a:close/>
                </a:path>
              </a:pathLst>
            </a:custGeom>
            <a:solidFill>
              <a:srgbClr val="4E699D"/>
            </a:solidFill>
          </p:spPr>
          <p:txBody>
            <a:bodyPr wrap="square" lIns="0" tIns="0" rIns="0" bIns="0" rtlCol="0"/>
            <a:lstStyle/>
            <a:p/>
          </p:txBody>
        </p:sp>
        <p:pic>
          <p:nvPicPr>
            <p:cNvPr id="74" name="object 74" descr=""/>
            <p:cNvPicPr/>
            <p:nvPr/>
          </p:nvPicPr>
          <p:blipFill>
            <a:blip r:embed="rId29" cstate="print"/>
            <a:stretch>
              <a:fillRect/>
            </a:stretch>
          </p:blipFill>
          <p:spPr>
            <a:xfrm>
              <a:off x="4429584" y="3542549"/>
              <a:ext cx="75920" cy="187718"/>
            </a:xfrm>
            <a:prstGeom prst="rect">
              <a:avLst/>
            </a:prstGeom>
          </p:spPr>
        </p:pic>
        <p:pic>
          <p:nvPicPr>
            <p:cNvPr id="75" name="object 75" descr=""/>
            <p:cNvPicPr/>
            <p:nvPr/>
          </p:nvPicPr>
          <p:blipFill>
            <a:blip r:embed="rId30" cstate="print"/>
            <a:stretch>
              <a:fillRect/>
            </a:stretch>
          </p:blipFill>
          <p:spPr>
            <a:xfrm>
              <a:off x="4530979" y="3761015"/>
              <a:ext cx="59944" cy="62445"/>
            </a:xfrm>
            <a:prstGeom prst="rect">
              <a:avLst/>
            </a:prstGeom>
          </p:spPr>
        </p:pic>
        <p:pic>
          <p:nvPicPr>
            <p:cNvPr id="76" name="object 76" descr=""/>
            <p:cNvPicPr/>
            <p:nvPr/>
          </p:nvPicPr>
          <p:blipFill>
            <a:blip r:embed="rId31" cstate="print"/>
            <a:stretch>
              <a:fillRect/>
            </a:stretch>
          </p:blipFill>
          <p:spPr>
            <a:xfrm>
              <a:off x="4527185" y="3757226"/>
              <a:ext cx="67538" cy="70027"/>
            </a:xfrm>
            <a:prstGeom prst="rect">
              <a:avLst/>
            </a:prstGeom>
          </p:spPr>
        </p:pic>
        <p:pic>
          <p:nvPicPr>
            <p:cNvPr id="77" name="object 77" descr=""/>
            <p:cNvPicPr/>
            <p:nvPr/>
          </p:nvPicPr>
          <p:blipFill>
            <a:blip r:embed="rId32" cstate="print"/>
            <a:stretch>
              <a:fillRect/>
            </a:stretch>
          </p:blipFill>
          <p:spPr>
            <a:xfrm>
              <a:off x="4818329" y="3754183"/>
              <a:ext cx="28257" cy="43053"/>
            </a:xfrm>
            <a:prstGeom prst="rect">
              <a:avLst/>
            </a:prstGeom>
          </p:spPr>
        </p:pic>
        <p:sp>
          <p:nvSpPr>
            <p:cNvPr id="78" name="object 78" descr=""/>
            <p:cNvSpPr/>
            <p:nvPr/>
          </p:nvSpPr>
          <p:spPr>
            <a:xfrm>
              <a:off x="4820612" y="3755774"/>
              <a:ext cx="16510" cy="37465"/>
            </a:xfrm>
            <a:custGeom>
              <a:avLst/>
              <a:gdLst/>
              <a:ahLst/>
              <a:cxnLst/>
              <a:rect l="l" t="t" r="r" b="b"/>
              <a:pathLst>
                <a:path w="16510" h="37464">
                  <a:moveTo>
                    <a:pt x="12623" y="0"/>
                  </a:moveTo>
                  <a:lnTo>
                    <a:pt x="3632" y="0"/>
                  </a:lnTo>
                  <a:lnTo>
                    <a:pt x="0" y="8254"/>
                  </a:lnTo>
                  <a:lnTo>
                    <a:pt x="0" y="18440"/>
                  </a:lnTo>
                  <a:lnTo>
                    <a:pt x="0" y="28625"/>
                  </a:lnTo>
                  <a:lnTo>
                    <a:pt x="3632" y="36880"/>
                  </a:lnTo>
                  <a:lnTo>
                    <a:pt x="12623" y="36880"/>
                  </a:lnTo>
                  <a:lnTo>
                    <a:pt x="16268" y="28625"/>
                  </a:lnTo>
                  <a:lnTo>
                    <a:pt x="16268" y="8254"/>
                  </a:lnTo>
                  <a:lnTo>
                    <a:pt x="12623" y="0"/>
                  </a:lnTo>
                  <a:close/>
                </a:path>
              </a:pathLst>
            </a:custGeom>
            <a:solidFill>
              <a:srgbClr val="000000"/>
            </a:solidFill>
          </p:spPr>
          <p:txBody>
            <a:bodyPr wrap="square" lIns="0" tIns="0" rIns="0" bIns="0" rtlCol="0"/>
            <a:lstStyle/>
            <a:p/>
          </p:txBody>
        </p:sp>
        <p:sp>
          <p:nvSpPr>
            <p:cNvPr id="79" name="object 79" descr=""/>
            <p:cNvSpPr/>
            <p:nvPr/>
          </p:nvSpPr>
          <p:spPr>
            <a:xfrm>
              <a:off x="4820612" y="3755774"/>
              <a:ext cx="16510" cy="37465"/>
            </a:xfrm>
            <a:custGeom>
              <a:avLst/>
              <a:gdLst/>
              <a:ahLst/>
              <a:cxnLst/>
              <a:rect l="l" t="t" r="r" b="b"/>
              <a:pathLst>
                <a:path w="16510" h="37464">
                  <a:moveTo>
                    <a:pt x="0" y="18440"/>
                  </a:moveTo>
                  <a:lnTo>
                    <a:pt x="0" y="8254"/>
                  </a:lnTo>
                  <a:lnTo>
                    <a:pt x="3632" y="0"/>
                  </a:lnTo>
                  <a:lnTo>
                    <a:pt x="8140" y="0"/>
                  </a:lnTo>
                  <a:lnTo>
                    <a:pt x="12623" y="0"/>
                  </a:lnTo>
                  <a:lnTo>
                    <a:pt x="16268" y="8254"/>
                  </a:lnTo>
                  <a:lnTo>
                    <a:pt x="16268" y="18440"/>
                  </a:lnTo>
                  <a:lnTo>
                    <a:pt x="16268" y="28625"/>
                  </a:lnTo>
                  <a:lnTo>
                    <a:pt x="12623" y="36880"/>
                  </a:lnTo>
                  <a:lnTo>
                    <a:pt x="8140" y="36880"/>
                  </a:lnTo>
                  <a:lnTo>
                    <a:pt x="3632" y="36880"/>
                  </a:lnTo>
                  <a:lnTo>
                    <a:pt x="0" y="28625"/>
                  </a:lnTo>
                  <a:lnTo>
                    <a:pt x="0" y="18440"/>
                  </a:lnTo>
                  <a:close/>
                </a:path>
              </a:pathLst>
            </a:custGeom>
            <a:ln w="7594">
              <a:solidFill>
                <a:srgbClr val="000000"/>
              </a:solidFill>
            </a:ln>
          </p:spPr>
          <p:txBody>
            <a:bodyPr wrap="square" lIns="0" tIns="0" rIns="0" bIns="0" rtlCol="0"/>
            <a:lstStyle/>
            <a:p/>
          </p:txBody>
        </p:sp>
        <p:sp>
          <p:nvSpPr>
            <p:cNvPr id="80" name="object 80" descr=""/>
            <p:cNvSpPr/>
            <p:nvPr/>
          </p:nvSpPr>
          <p:spPr>
            <a:xfrm>
              <a:off x="4631513" y="3793258"/>
              <a:ext cx="62230" cy="22225"/>
            </a:xfrm>
            <a:custGeom>
              <a:avLst/>
              <a:gdLst/>
              <a:ahLst/>
              <a:cxnLst/>
              <a:rect l="l" t="t" r="r" b="b"/>
              <a:pathLst>
                <a:path w="62229" h="22225">
                  <a:moveTo>
                    <a:pt x="61658" y="0"/>
                  </a:moveTo>
                  <a:lnTo>
                    <a:pt x="0" y="4483"/>
                  </a:lnTo>
                  <a:lnTo>
                    <a:pt x="21437" y="17871"/>
                  </a:lnTo>
                  <a:lnTo>
                    <a:pt x="35005" y="21867"/>
                  </a:lnTo>
                  <a:lnTo>
                    <a:pt x="46486" y="16050"/>
                  </a:lnTo>
                  <a:lnTo>
                    <a:pt x="61658" y="0"/>
                  </a:lnTo>
                  <a:close/>
                </a:path>
              </a:pathLst>
            </a:custGeom>
            <a:solidFill>
              <a:srgbClr val="000000"/>
            </a:solidFill>
          </p:spPr>
          <p:txBody>
            <a:bodyPr wrap="square" lIns="0" tIns="0" rIns="0" bIns="0" rtlCol="0"/>
            <a:lstStyle/>
            <a:p/>
          </p:txBody>
        </p:sp>
        <p:sp>
          <p:nvSpPr>
            <p:cNvPr id="81" name="object 81" descr=""/>
            <p:cNvSpPr/>
            <p:nvPr/>
          </p:nvSpPr>
          <p:spPr>
            <a:xfrm>
              <a:off x="4631513" y="3793258"/>
              <a:ext cx="62230" cy="22225"/>
            </a:xfrm>
            <a:custGeom>
              <a:avLst/>
              <a:gdLst/>
              <a:ahLst/>
              <a:cxnLst/>
              <a:rect l="l" t="t" r="r" b="b"/>
              <a:pathLst>
                <a:path w="62229" h="22225">
                  <a:moveTo>
                    <a:pt x="0" y="4483"/>
                  </a:moveTo>
                  <a:lnTo>
                    <a:pt x="21437" y="17871"/>
                  </a:lnTo>
                  <a:lnTo>
                    <a:pt x="35005" y="21867"/>
                  </a:lnTo>
                  <a:lnTo>
                    <a:pt x="46486" y="16050"/>
                  </a:lnTo>
                  <a:lnTo>
                    <a:pt x="61658" y="0"/>
                  </a:lnTo>
                  <a:lnTo>
                    <a:pt x="0" y="4483"/>
                  </a:lnTo>
                  <a:close/>
                </a:path>
              </a:pathLst>
            </a:custGeom>
            <a:ln w="7594">
              <a:solidFill>
                <a:srgbClr val="000000"/>
              </a:solidFill>
            </a:ln>
          </p:spPr>
          <p:txBody>
            <a:bodyPr wrap="square" lIns="0" tIns="0" rIns="0" bIns="0" rtlCol="0"/>
            <a:lstStyle/>
            <a:p/>
          </p:txBody>
        </p:sp>
        <p:sp>
          <p:nvSpPr>
            <p:cNvPr id="82" name="object 82" descr=""/>
            <p:cNvSpPr/>
            <p:nvPr/>
          </p:nvSpPr>
          <p:spPr>
            <a:xfrm>
              <a:off x="4888826" y="3734638"/>
              <a:ext cx="13970" cy="28575"/>
            </a:xfrm>
            <a:custGeom>
              <a:avLst/>
              <a:gdLst/>
              <a:ahLst/>
              <a:cxnLst/>
              <a:rect l="l" t="t" r="r" b="b"/>
              <a:pathLst>
                <a:path w="13970" h="28575">
                  <a:moveTo>
                    <a:pt x="13703" y="0"/>
                  </a:moveTo>
                  <a:lnTo>
                    <a:pt x="0" y="0"/>
                  </a:lnTo>
                  <a:lnTo>
                    <a:pt x="0" y="28511"/>
                  </a:lnTo>
                  <a:lnTo>
                    <a:pt x="13703" y="28511"/>
                  </a:lnTo>
                  <a:lnTo>
                    <a:pt x="13703" y="0"/>
                  </a:lnTo>
                  <a:close/>
                </a:path>
              </a:pathLst>
            </a:custGeom>
            <a:solidFill>
              <a:srgbClr val="000000"/>
            </a:solidFill>
          </p:spPr>
          <p:txBody>
            <a:bodyPr wrap="square" lIns="0" tIns="0" rIns="0" bIns="0" rtlCol="0"/>
            <a:lstStyle/>
            <a:p/>
          </p:txBody>
        </p:sp>
        <p:sp>
          <p:nvSpPr>
            <p:cNvPr id="83" name="object 83" descr=""/>
            <p:cNvSpPr/>
            <p:nvPr/>
          </p:nvSpPr>
          <p:spPr>
            <a:xfrm>
              <a:off x="4636791" y="3777635"/>
              <a:ext cx="12065" cy="10160"/>
            </a:xfrm>
            <a:custGeom>
              <a:avLst/>
              <a:gdLst/>
              <a:ahLst/>
              <a:cxnLst/>
              <a:rect l="l" t="t" r="r" b="b"/>
              <a:pathLst>
                <a:path w="12064" h="10160">
                  <a:moveTo>
                    <a:pt x="11988" y="0"/>
                  </a:moveTo>
                  <a:lnTo>
                    <a:pt x="0" y="1066"/>
                  </a:lnTo>
                  <a:lnTo>
                    <a:pt x="0" y="9842"/>
                  </a:lnTo>
                  <a:lnTo>
                    <a:pt x="11988" y="8775"/>
                  </a:lnTo>
                  <a:lnTo>
                    <a:pt x="11988" y="0"/>
                  </a:lnTo>
                  <a:close/>
                </a:path>
              </a:pathLst>
            </a:custGeom>
            <a:solidFill>
              <a:srgbClr val="1A1A1A"/>
            </a:solidFill>
          </p:spPr>
          <p:txBody>
            <a:bodyPr wrap="square" lIns="0" tIns="0" rIns="0" bIns="0" rtlCol="0"/>
            <a:lstStyle/>
            <a:p/>
          </p:txBody>
        </p:sp>
        <p:sp>
          <p:nvSpPr>
            <p:cNvPr id="84" name="object 84" descr=""/>
            <p:cNvSpPr/>
            <p:nvPr/>
          </p:nvSpPr>
          <p:spPr>
            <a:xfrm>
              <a:off x="4511205" y="3728656"/>
              <a:ext cx="411480" cy="2540"/>
            </a:xfrm>
            <a:custGeom>
              <a:avLst/>
              <a:gdLst/>
              <a:ahLst/>
              <a:cxnLst/>
              <a:rect l="l" t="t" r="r" b="b"/>
              <a:pathLst>
                <a:path w="411479" h="2539">
                  <a:moveTo>
                    <a:pt x="411365" y="0"/>
                  </a:moveTo>
                  <a:lnTo>
                    <a:pt x="0" y="0"/>
                  </a:lnTo>
                  <a:lnTo>
                    <a:pt x="0" y="2158"/>
                  </a:lnTo>
                  <a:lnTo>
                    <a:pt x="411365" y="2158"/>
                  </a:lnTo>
                  <a:lnTo>
                    <a:pt x="411365" y="0"/>
                  </a:lnTo>
                  <a:close/>
                </a:path>
              </a:pathLst>
            </a:custGeom>
            <a:solidFill>
              <a:srgbClr val="9BACCD"/>
            </a:solidFill>
          </p:spPr>
          <p:txBody>
            <a:bodyPr wrap="square" lIns="0" tIns="0" rIns="0" bIns="0" rtlCol="0"/>
            <a:lstStyle/>
            <a:p/>
          </p:txBody>
        </p:sp>
        <p:sp>
          <p:nvSpPr>
            <p:cNvPr id="85" name="object 85" descr=""/>
            <p:cNvSpPr/>
            <p:nvPr/>
          </p:nvSpPr>
          <p:spPr>
            <a:xfrm>
              <a:off x="4493793" y="3709517"/>
              <a:ext cx="6350" cy="16510"/>
            </a:xfrm>
            <a:custGeom>
              <a:avLst/>
              <a:gdLst/>
              <a:ahLst/>
              <a:cxnLst/>
              <a:rect l="l" t="t" r="r" b="b"/>
              <a:pathLst>
                <a:path w="6350" h="16510">
                  <a:moveTo>
                    <a:pt x="6273" y="0"/>
                  </a:moveTo>
                  <a:lnTo>
                    <a:pt x="0" y="0"/>
                  </a:lnTo>
                  <a:lnTo>
                    <a:pt x="0" y="16154"/>
                  </a:lnTo>
                  <a:lnTo>
                    <a:pt x="6273" y="16154"/>
                  </a:lnTo>
                  <a:lnTo>
                    <a:pt x="6273" y="0"/>
                  </a:lnTo>
                  <a:close/>
                </a:path>
              </a:pathLst>
            </a:custGeom>
            <a:solidFill>
              <a:srgbClr val="000000"/>
            </a:solidFill>
          </p:spPr>
          <p:txBody>
            <a:bodyPr wrap="square" lIns="0" tIns="0" rIns="0" bIns="0" rtlCol="0"/>
            <a:lstStyle/>
            <a:p/>
          </p:txBody>
        </p:sp>
        <p:sp>
          <p:nvSpPr>
            <p:cNvPr id="86" name="object 86" descr=""/>
            <p:cNvSpPr/>
            <p:nvPr/>
          </p:nvSpPr>
          <p:spPr>
            <a:xfrm>
              <a:off x="4493793" y="3709517"/>
              <a:ext cx="6350" cy="16510"/>
            </a:xfrm>
            <a:custGeom>
              <a:avLst/>
              <a:gdLst/>
              <a:ahLst/>
              <a:cxnLst/>
              <a:rect l="l" t="t" r="r" b="b"/>
              <a:pathLst>
                <a:path w="6350" h="16510">
                  <a:moveTo>
                    <a:pt x="0" y="0"/>
                  </a:moveTo>
                  <a:lnTo>
                    <a:pt x="6273" y="0"/>
                  </a:lnTo>
                  <a:lnTo>
                    <a:pt x="6273" y="16154"/>
                  </a:lnTo>
                  <a:lnTo>
                    <a:pt x="0" y="16154"/>
                  </a:lnTo>
                  <a:lnTo>
                    <a:pt x="0" y="0"/>
                  </a:lnTo>
                  <a:close/>
                </a:path>
              </a:pathLst>
            </a:custGeom>
            <a:ln w="7594">
              <a:solidFill>
                <a:srgbClr val="000000"/>
              </a:solidFill>
            </a:ln>
          </p:spPr>
          <p:txBody>
            <a:bodyPr wrap="square" lIns="0" tIns="0" rIns="0" bIns="0" rtlCol="0"/>
            <a:lstStyle/>
            <a:p/>
          </p:txBody>
        </p:sp>
        <p:sp>
          <p:nvSpPr>
            <p:cNvPr id="87" name="object 87" descr=""/>
            <p:cNvSpPr/>
            <p:nvPr/>
          </p:nvSpPr>
          <p:spPr>
            <a:xfrm>
              <a:off x="4174675" y="3736640"/>
              <a:ext cx="244475" cy="9525"/>
            </a:xfrm>
            <a:custGeom>
              <a:avLst/>
              <a:gdLst/>
              <a:ahLst/>
              <a:cxnLst/>
              <a:rect l="l" t="t" r="r" b="b"/>
              <a:pathLst>
                <a:path w="244475" h="9525">
                  <a:moveTo>
                    <a:pt x="131385" y="8518"/>
                  </a:moveTo>
                  <a:lnTo>
                    <a:pt x="69361" y="8518"/>
                  </a:lnTo>
                  <a:lnTo>
                    <a:pt x="76960" y="8842"/>
                  </a:lnTo>
                  <a:lnTo>
                    <a:pt x="115801" y="9005"/>
                  </a:lnTo>
                  <a:lnTo>
                    <a:pt x="131385" y="8518"/>
                  </a:lnTo>
                  <a:close/>
                </a:path>
                <a:path w="244475" h="9525">
                  <a:moveTo>
                    <a:pt x="34922" y="7050"/>
                  </a:moveTo>
                  <a:lnTo>
                    <a:pt x="47705" y="8518"/>
                  </a:lnTo>
                  <a:lnTo>
                    <a:pt x="69361" y="8518"/>
                  </a:lnTo>
                  <a:lnTo>
                    <a:pt x="34922" y="7050"/>
                  </a:lnTo>
                  <a:close/>
                </a:path>
                <a:path w="244475" h="9525">
                  <a:moveTo>
                    <a:pt x="244043" y="467"/>
                  </a:moveTo>
                  <a:lnTo>
                    <a:pt x="240154" y="467"/>
                  </a:lnTo>
                  <a:lnTo>
                    <a:pt x="218036" y="1063"/>
                  </a:lnTo>
                  <a:lnTo>
                    <a:pt x="205803" y="1587"/>
                  </a:lnTo>
                  <a:lnTo>
                    <a:pt x="136740" y="5968"/>
                  </a:lnTo>
                  <a:lnTo>
                    <a:pt x="76613" y="8518"/>
                  </a:lnTo>
                  <a:lnTo>
                    <a:pt x="134528" y="8518"/>
                  </a:lnTo>
                  <a:lnTo>
                    <a:pt x="148351" y="7251"/>
                  </a:lnTo>
                  <a:lnTo>
                    <a:pt x="164883" y="5968"/>
                  </a:lnTo>
                  <a:lnTo>
                    <a:pt x="164499" y="5968"/>
                  </a:lnTo>
                  <a:lnTo>
                    <a:pt x="189015" y="4274"/>
                  </a:lnTo>
                  <a:lnTo>
                    <a:pt x="205232" y="3378"/>
                  </a:lnTo>
                  <a:lnTo>
                    <a:pt x="221856" y="2832"/>
                  </a:lnTo>
                  <a:lnTo>
                    <a:pt x="244043" y="2832"/>
                  </a:lnTo>
                  <a:lnTo>
                    <a:pt x="244043" y="467"/>
                  </a:lnTo>
                  <a:close/>
                </a:path>
                <a:path w="244475" h="9525">
                  <a:moveTo>
                    <a:pt x="28074" y="6264"/>
                  </a:moveTo>
                  <a:lnTo>
                    <a:pt x="34083" y="7050"/>
                  </a:lnTo>
                  <a:lnTo>
                    <a:pt x="34922" y="7050"/>
                  </a:lnTo>
                  <a:lnTo>
                    <a:pt x="28074" y="6264"/>
                  </a:lnTo>
                  <a:close/>
                </a:path>
                <a:path w="244475" h="9525">
                  <a:moveTo>
                    <a:pt x="25816" y="5968"/>
                  </a:moveTo>
                  <a:lnTo>
                    <a:pt x="25501" y="5968"/>
                  </a:lnTo>
                  <a:lnTo>
                    <a:pt x="28074" y="6264"/>
                  </a:lnTo>
                  <a:lnTo>
                    <a:pt x="25816" y="5968"/>
                  </a:lnTo>
                  <a:close/>
                </a:path>
                <a:path w="244475" h="9525">
                  <a:moveTo>
                    <a:pt x="0" y="0"/>
                  </a:moveTo>
                  <a:lnTo>
                    <a:pt x="0" y="2832"/>
                  </a:lnTo>
                  <a:lnTo>
                    <a:pt x="1844" y="2832"/>
                  </a:lnTo>
                  <a:lnTo>
                    <a:pt x="25816" y="5968"/>
                  </a:lnTo>
                  <a:lnTo>
                    <a:pt x="25293" y="5968"/>
                  </a:lnTo>
                  <a:lnTo>
                    <a:pt x="0" y="0"/>
                  </a:lnTo>
                  <a:close/>
                </a:path>
              </a:pathLst>
            </a:custGeom>
            <a:solidFill>
              <a:srgbClr val="3B4F77"/>
            </a:solidFill>
          </p:spPr>
          <p:txBody>
            <a:bodyPr wrap="square" lIns="0" tIns="0" rIns="0" bIns="0" rtlCol="0"/>
            <a:lstStyle/>
            <a:p/>
          </p:txBody>
        </p:sp>
        <p:sp>
          <p:nvSpPr>
            <p:cNvPr id="88" name="object 88" descr=""/>
            <p:cNvSpPr/>
            <p:nvPr/>
          </p:nvSpPr>
          <p:spPr>
            <a:xfrm>
              <a:off x="4226053" y="3780303"/>
              <a:ext cx="52069" cy="20955"/>
            </a:xfrm>
            <a:custGeom>
              <a:avLst/>
              <a:gdLst/>
              <a:ahLst/>
              <a:cxnLst/>
              <a:rect l="l" t="t" r="r" b="b"/>
              <a:pathLst>
                <a:path w="52070" h="20954">
                  <a:moveTo>
                    <a:pt x="34553" y="1587"/>
                  </a:moveTo>
                  <a:lnTo>
                    <a:pt x="4279" y="1587"/>
                  </a:lnTo>
                  <a:lnTo>
                    <a:pt x="50520" y="3606"/>
                  </a:lnTo>
                  <a:lnTo>
                    <a:pt x="50406" y="20129"/>
                  </a:lnTo>
                  <a:lnTo>
                    <a:pt x="51663" y="20370"/>
                  </a:lnTo>
                  <a:lnTo>
                    <a:pt x="51947" y="3606"/>
                  </a:lnTo>
                  <a:lnTo>
                    <a:pt x="51968" y="2387"/>
                  </a:lnTo>
                  <a:lnTo>
                    <a:pt x="34553" y="1587"/>
                  </a:lnTo>
                  <a:close/>
                </a:path>
                <a:path w="52070" h="20954">
                  <a:moveTo>
                    <a:pt x="0" y="0"/>
                  </a:moveTo>
                  <a:lnTo>
                    <a:pt x="36" y="3606"/>
                  </a:lnTo>
                  <a:lnTo>
                    <a:pt x="241" y="16205"/>
                  </a:lnTo>
                  <a:lnTo>
                    <a:pt x="4051" y="16205"/>
                  </a:lnTo>
                  <a:lnTo>
                    <a:pt x="4248" y="3606"/>
                  </a:lnTo>
                  <a:lnTo>
                    <a:pt x="4279" y="1587"/>
                  </a:lnTo>
                  <a:lnTo>
                    <a:pt x="34553" y="1587"/>
                  </a:lnTo>
                  <a:lnTo>
                    <a:pt x="0" y="0"/>
                  </a:lnTo>
                  <a:close/>
                </a:path>
              </a:pathLst>
            </a:custGeom>
            <a:solidFill>
              <a:srgbClr val="36486C"/>
            </a:solidFill>
          </p:spPr>
          <p:txBody>
            <a:bodyPr wrap="square" lIns="0" tIns="0" rIns="0" bIns="0" rtlCol="0"/>
            <a:lstStyle/>
            <a:p/>
          </p:txBody>
        </p:sp>
        <p:sp>
          <p:nvSpPr>
            <p:cNvPr id="89" name="object 89" descr=""/>
            <p:cNvSpPr/>
            <p:nvPr/>
          </p:nvSpPr>
          <p:spPr>
            <a:xfrm>
              <a:off x="4168148" y="3764972"/>
              <a:ext cx="248920" cy="15875"/>
            </a:xfrm>
            <a:custGeom>
              <a:avLst/>
              <a:gdLst/>
              <a:ahLst/>
              <a:cxnLst/>
              <a:rect l="l" t="t" r="r" b="b"/>
              <a:pathLst>
                <a:path w="248920" h="15875">
                  <a:moveTo>
                    <a:pt x="56889" y="12768"/>
                  </a:moveTo>
                  <a:lnTo>
                    <a:pt x="61841" y="13436"/>
                  </a:lnTo>
                  <a:lnTo>
                    <a:pt x="62453" y="13436"/>
                  </a:lnTo>
                  <a:lnTo>
                    <a:pt x="90621" y="15134"/>
                  </a:lnTo>
                  <a:lnTo>
                    <a:pt x="121843" y="15722"/>
                  </a:lnTo>
                  <a:lnTo>
                    <a:pt x="147682" y="15864"/>
                  </a:lnTo>
                  <a:lnTo>
                    <a:pt x="165869" y="15330"/>
                  </a:lnTo>
                  <a:lnTo>
                    <a:pt x="184536" y="13642"/>
                  </a:lnTo>
                  <a:lnTo>
                    <a:pt x="75762" y="13642"/>
                  </a:lnTo>
                  <a:lnTo>
                    <a:pt x="56889" y="12768"/>
                  </a:lnTo>
                  <a:close/>
                </a:path>
                <a:path w="248920" h="15875">
                  <a:moveTo>
                    <a:pt x="248539" y="4343"/>
                  </a:moveTo>
                  <a:lnTo>
                    <a:pt x="243742" y="4638"/>
                  </a:lnTo>
                  <a:lnTo>
                    <a:pt x="238501" y="5086"/>
                  </a:lnTo>
                  <a:lnTo>
                    <a:pt x="213575" y="7696"/>
                  </a:lnTo>
                  <a:lnTo>
                    <a:pt x="206935" y="8527"/>
                  </a:lnTo>
                  <a:lnTo>
                    <a:pt x="188190" y="10390"/>
                  </a:lnTo>
                  <a:lnTo>
                    <a:pt x="158632" y="12372"/>
                  </a:lnTo>
                  <a:lnTo>
                    <a:pt x="158017" y="12372"/>
                  </a:lnTo>
                  <a:lnTo>
                    <a:pt x="121437" y="13436"/>
                  </a:lnTo>
                  <a:lnTo>
                    <a:pt x="75762" y="13642"/>
                  </a:lnTo>
                  <a:lnTo>
                    <a:pt x="184656" y="13642"/>
                  </a:lnTo>
                  <a:lnTo>
                    <a:pt x="213753" y="10147"/>
                  </a:lnTo>
                  <a:lnTo>
                    <a:pt x="230070" y="8527"/>
                  </a:lnTo>
                  <a:lnTo>
                    <a:pt x="248196" y="7213"/>
                  </a:lnTo>
                  <a:lnTo>
                    <a:pt x="248340" y="6000"/>
                  </a:lnTo>
                  <a:lnTo>
                    <a:pt x="248450" y="5086"/>
                  </a:lnTo>
                  <a:lnTo>
                    <a:pt x="248539" y="4343"/>
                  </a:lnTo>
                  <a:close/>
                </a:path>
                <a:path w="248920" h="15875">
                  <a:moveTo>
                    <a:pt x="36119" y="9964"/>
                  </a:moveTo>
                  <a:lnTo>
                    <a:pt x="48361" y="12372"/>
                  </a:lnTo>
                  <a:lnTo>
                    <a:pt x="56889" y="12768"/>
                  </a:lnTo>
                  <a:lnTo>
                    <a:pt x="36119" y="9964"/>
                  </a:lnTo>
                  <a:close/>
                </a:path>
                <a:path w="248920" h="15875">
                  <a:moveTo>
                    <a:pt x="28811" y="8527"/>
                  </a:moveTo>
                  <a:lnTo>
                    <a:pt x="32996" y="9543"/>
                  </a:lnTo>
                  <a:lnTo>
                    <a:pt x="36119" y="9964"/>
                  </a:lnTo>
                  <a:lnTo>
                    <a:pt x="28811" y="8527"/>
                  </a:lnTo>
                  <a:close/>
                </a:path>
                <a:path w="248920" h="15875">
                  <a:moveTo>
                    <a:pt x="0" y="0"/>
                  </a:moveTo>
                  <a:lnTo>
                    <a:pt x="4546" y="2768"/>
                  </a:lnTo>
                  <a:lnTo>
                    <a:pt x="28729" y="8527"/>
                  </a:lnTo>
                  <a:lnTo>
                    <a:pt x="28594" y="8527"/>
                  </a:lnTo>
                  <a:lnTo>
                    <a:pt x="4546" y="584"/>
                  </a:lnTo>
                  <a:lnTo>
                    <a:pt x="0" y="0"/>
                  </a:lnTo>
                  <a:close/>
                </a:path>
              </a:pathLst>
            </a:custGeom>
            <a:solidFill>
              <a:srgbClr val="3B4F77"/>
            </a:solidFill>
          </p:spPr>
          <p:txBody>
            <a:bodyPr wrap="square" lIns="0" tIns="0" rIns="0" bIns="0" rtlCol="0"/>
            <a:lstStyle/>
            <a:p/>
          </p:txBody>
        </p:sp>
        <p:pic>
          <p:nvPicPr>
            <p:cNvPr id="90" name="object 90" descr=""/>
            <p:cNvPicPr/>
            <p:nvPr/>
          </p:nvPicPr>
          <p:blipFill>
            <a:blip r:embed="rId33" cstate="print"/>
            <a:stretch>
              <a:fillRect/>
            </a:stretch>
          </p:blipFill>
          <p:spPr>
            <a:xfrm>
              <a:off x="4183430" y="3539913"/>
              <a:ext cx="270389" cy="172506"/>
            </a:xfrm>
            <a:prstGeom prst="rect">
              <a:avLst/>
            </a:prstGeom>
          </p:spPr>
        </p:pic>
        <p:sp>
          <p:nvSpPr>
            <p:cNvPr id="91" name="object 91" descr=""/>
            <p:cNvSpPr/>
            <p:nvPr/>
          </p:nvSpPr>
          <p:spPr>
            <a:xfrm>
              <a:off x="4183420" y="3541626"/>
              <a:ext cx="267335" cy="170815"/>
            </a:xfrm>
            <a:custGeom>
              <a:avLst/>
              <a:gdLst/>
              <a:ahLst/>
              <a:cxnLst/>
              <a:rect l="l" t="t" r="r" b="b"/>
              <a:pathLst>
                <a:path w="267335" h="170814">
                  <a:moveTo>
                    <a:pt x="255664" y="0"/>
                  </a:moveTo>
                  <a:lnTo>
                    <a:pt x="233248" y="1379"/>
                  </a:lnTo>
                  <a:lnTo>
                    <a:pt x="185890" y="3890"/>
                  </a:lnTo>
                  <a:lnTo>
                    <a:pt x="155184" y="6416"/>
                  </a:lnTo>
                  <a:lnTo>
                    <a:pt x="127702" y="10479"/>
                  </a:lnTo>
                  <a:lnTo>
                    <a:pt x="90017" y="17597"/>
                  </a:lnTo>
                  <a:lnTo>
                    <a:pt x="73952" y="19832"/>
                  </a:lnTo>
                  <a:lnTo>
                    <a:pt x="70891" y="21979"/>
                  </a:lnTo>
                  <a:lnTo>
                    <a:pt x="63575" y="25076"/>
                  </a:lnTo>
                  <a:lnTo>
                    <a:pt x="57319" y="31613"/>
                  </a:lnTo>
                  <a:lnTo>
                    <a:pt x="34251" y="74823"/>
                  </a:lnTo>
                  <a:lnTo>
                    <a:pt x="7872" y="137036"/>
                  </a:lnTo>
                  <a:lnTo>
                    <a:pt x="0" y="162644"/>
                  </a:lnTo>
                  <a:lnTo>
                    <a:pt x="28432" y="168812"/>
                  </a:lnTo>
                  <a:lnTo>
                    <a:pt x="57959" y="170791"/>
                  </a:lnTo>
                  <a:lnTo>
                    <a:pt x="106627" y="168512"/>
                  </a:lnTo>
                  <a:lnTo>
                    <a:pt x="192481" y="161907"/>
                  </a:lnTo>
                  <a:lnTo>
                    <a:pt x="214608" y="160537"/>
                  </a:lnTo>
                  <a:lnTo>
                    <a:pt x="226480" y="157564"/>
                  </a:lnTo>
                  <a:lnTo>
                    <a:pt x="232145" y="150724"/>
                  </a:lnTo>
                  <a:lnTo>
                    <a:pt x="235648" y="137752"/>
                  </a:lnTo>
                  <a:lnTo>
                    <a:pt x="263626" y="16796"/>
                  </a:lnTo>
                  <a:lnTo>
                    <a:pt x="267107" y="4874"/>
                  </a:lnTo>
                  <a:lnTo>
                    <a:pt x="265399" y="1314"/>
                  </a:lnTo>
                  <a:lnTo>
                    <a:pt x="255664" y="0"/>
                  </a:lnTo>
                  <a:close/>
                </a:path>
              </a:pathLst>
            </a:custGeom>
            <a:solidFill>
              <a:srgbClr val="FFFFFF">
                <a:alpha val="14115"/>
              </a:srgbClr>
            </a:solidFill>
          </p:spPr>
          <p:txBody>
            <a:bodyPr wrap="square" lIns="0" tIns="0" rIns="0" bIns="0" rtlCol="0"/>
            <a:lstStyle/>
            <a:p/>
          </p:txBody>
        </p:sp>
        <p:sp>
          <p:nvSpPr>
            <p:cNvPr id="92" name="object 92" descr=""/>
            <p:cNvSpPr/>
            <p:nvPr/>
          </p:nvSpPr>
          <p:spPr>
            <a:xfrm>
              <a:off x="4493958" y="3685359"/>
              <a:ext cx="17780" cy="127000"/>
            </a:xfrm>
            <a:custGeom>
              <a:avLst/>
              <a:gdLst/>
              <a:ahLst/>
              <a:cxnLst/>
              <a:rect l="l" t="t" r="r" b="b"/>
              <a:pathLst>
                <a:path w="17779" h="127000">
                  <a:moveTo>
                    <a:pt x="17246" y="0"/>
                  </a:moveTo>
                  <a:lnTo>
                    <a:pt x="11544" y="2032"/>
                  </a:lnTo>
                  <a:lnTo>
                    <a:pt x="11129" y="35923"/>
                  </a:lnTo>
                  <a:lnTo>
                    <a:pt x="10799" y="54135"/>
                  </a:lnTo>
                  <a:lnTo>
                    <a:pt x="10381" y="62891"/>
                  </a:lnTo>
                  <a:lnTo>
                    <a:pt x="9702" y="68414"/>
                  </a:lnTo>
                  <a:lnTo>
                    <a:pt x="9052" y="77954"/>
                  </a:lnTo>
                  <a:lnTo>
                    <a:pt x="8018" y="92552"/>
                  </a:lnTo>
                  <a:lnTo>
                    <a:pt x="5429" y="109096"/>
                  </a:lnTo>
                  <a:lnTo>
                    <a:pt x="114" y="124472"/>
                  </a:lnTo>
                  <a:lnTo>
                    <a:pt x="0" y="126619"/>
                  </a:lnTo>
                  <a:lnTo>
                    <a:pt x="15874" y="70561"/>
                  </a:lnTo>
                  <a:lnTo>
                    <a:pt x="17207" y="2032"/>
                  </a:lnTo>
                  <a:lnTo>
                    <a:pt x="17246" y="0"/>
                  </a:lnTo>
                  <a:close/>
                </a:path>
              </a:pathLst>
            </a:custGeom>
            <a:solidFill>
              <a:srgbClr val="000000"/>
            </a:solidFill>
          </p:spPr>
          <p:txBody>
            <a:bodyPr wrap="square" lIns="0" tIns="0" rIns="0" bIns="0" rtlCol="0"/>
            <a:lstStyle/>
            <a:p/>
          </p:txBody>
        </p:sp>
        <p:sp>
          <p:nvSpPr>
            <p:cNvPr id="93" name="object 93" descr=""/>
            <p:cNvSpPr/>
            <p:nvPr/>
          </p:nvSpPr>
          <p:spPr>
            <a:xfrm>
              <a:off x="4418711" y="3681450"/>
              <a:ext cx="338455" cy="102235"/>
            </a:xfrm>
            <a:custGeom>
              <a:avLst/>
              <a:gdLst/>
              <a:ahLst/>
              <a:cxnLst/>
              <a:rect l="l" t="t" r="r" b="b"/>
              <a:pathLst>
                <a:path w="338454" h="102235">
                  <a:moveTo>
                    <a:pt x="87134" y="5943"/>
                  </a:moveTo>
                  <a:lnTo>
                    <a:pt x="86664" y="0"/>
                  </a:lnTo>
                  <a:lnTo>
                    <a:pt x="65239" y="15062"/>
                  </a:lnTo>
                  <a:lnTo>
                    <a:pt x="49136" y="25044"/>
                  </a:lnTo>
                  <a:lnTo>
                    <a:pt x="30289" y="34404"/>
                  </a:lnTo>
                  <a:lnTo>
                    <a:pt x="647" y="47586"/>
                  </a:lnTo>
                  <a:lnTo>
                    <a:pt x="0" y="52806"/>
                  </a:lnTo>
                  <a:lnTo>
                    <a:pt x="7861" y="51320"/>
                  </a:lnTo>
                  <a:lnTo>
                    <a:pt x="15290" y="48564"/>
                  </a:lnTo>
                  <a:lnTo>
                    <a:pt x="26644" y="42532"/>
                  </a:lnTo>
                  <a:lnTo>
                    <a:pt x="46240" y="31178"/>
                  </a:lnTo>
                  <a:lnTo>
                    <a:pt x="64719" y="20878"/>
                  </a:lnTo>
                  <a:lnTo>
                    <a:pt x="75145" y="14820"/>
                  </a:lnTo>
                  <a:lnTo>
                    <a:pt x="81330" y="10629"/>
                  </a:lnTo>
                  <a:lnTo>
                    <a:pt x="87134" y="5943"/>
                  </a:lnTo>
                  <a:close/>
                </a:path>
                <a:path w="338454" h="102235">
                  <a:moveTo>
                    <a:pt x="287375" y="92138"/>
                  </a:moveTo>
                  <a:lnTo>
                    <a:pt x="275386" y="93205"/>
                  </a:lnTo>
                  <a:lnTo>
                    <a:pt x="275386" y="101981"/>
                  </a:lnTo>
                  <a:lnTo>
                    <a:pt x="287375" y="100914"/>
                  </a:lnTo>
                  <a:lnTo>
                    <a:pt x="287375" y="92138"/>
                  </a:lnTo>
                  <a:close/>
                </a:path>
                <a:path w="338454" h="102235">
                  <a:moveTo>
                    <a:pt x="338328" y="87909"/>
                  </a:moveTo>
                  <a:lnTo>
                    <a:pt x="326339" y="88976"/>
                  </a:lnTo>
                  <a:lnTo>
                    <a:pt x="326339" y="97751"/>
                  </a:lnTo>
                  <a:lnTo>
                    <a:pt x="338328" y="96685"/>
                  </a:lnTo>
                  <a:lnTo>
                    <a:pt x="338328" y="87909"/>
                  </a:lnTo>
                  <a:close/>
                </a:path>
              </a:pathLst>
            </a:custGeom>
            <a:solidFill>
              <a:srgbClr val="1A1A1A"/>
            </a:solidFill>
          </p:spPr>
          <p:txBody>
            <a:bodyPr wrap="square" lIns="0" tIns="0" rIns="0" bIns="0" rtlCol="0"/>
            <a:lstStyle/>
            <a:p/>
          </p:txBody>
        </p:sp>
        <p:pic>
          <p:nvPicPr>
            <p:cNvPr id="94" name="object 94" descr=""/>
            <p:cNvPicPr/>
            <p:nvPr/>
          </p:nvPicPr>
          <p:blipFill>
            <a:blip r:embed="rId34" cstate="print"/>
            <a:stretch>
              <a:fillRect/>
            </a:stretch>
          </p:blipFill>
          <p:spPr>
            <a:xfrm>
              <a:off x="4136656" y="3563360"/>
              <a:ext cx="109943" cy="51885"/>
            </a:xfrm>
            <a:prstGeom prst="rect">
              <a:avLst/>
            </a:prstGeom>
          </p:spPr>
        </p:pic>
        <p:sp>
          <p:nvSpPr>
            <p:cNvPr id="95" name="object 95" descr=""/>
            <p:cNvSpPr/>
            <p:nvPr/>
          </p:nvSpPr>
          <p:spPr>
            <a:xfrm>
              <a:off x="4202083" y="3563821"/>
              <a:ext cx="212725" cy="132715"/>
            </a:xfrm>
            <a:custGeom>
              <a:avLst/>
              <a:gdLst/>
              <a:ahLst/>
              <a:cxnLst/>
              <a:rect l="l" t="t" r="r" b="b"/>
              <a:pathLst>
                <a:path w="212725" h="132714">
                  <a:moveTo>
                    <a:pt x="69354" y="0"/>
                  </a:moveTo>
                  <a:lnTo>
                    <a:pt x="29108" y="53212"/>
                  </a:lnTo>
                  <a:lnTo>
                    <a:pt x="5300" y="108148"/>
                  </a:lnTo>
                  <a:lnTo>
                    <a:pt x="0" y="126479"/>
                  </a:lnTo>
                  <a:lnTo>
                    <a:pt x="36483" y="131427"/>
                  </a:lnTo>
                  <a:lnTo>
                    <a:pt x="70319" y="132391"/>
                  </a:lnTo>
                  <a:lnTo>
                    <a:pt x="121015" y="128754"/>
                  </a:lnTo>
                  <a:lnTo>
                    <a:pt x="208076" y="119900"/>
                  </a:lnTo>
                  <a:lnTo>
                    <a:pt x="209219" y="116814"/>
                  </a:lnTo>
                  <a:lnTo>
                    <a:pt x="211023" y="110439"/>
                  </a:lnTo>
                  <a:lnTo>
                    <a:pt x="212332" y="100633"/>
                  </a:lnTo>
                  <a:lnTo>
                    <a:pt x="204730" y="93335"/>
                  </a:lnTo>
                  <a:lnTo>
                    <a:pt x="180983" y="84918"/>
                  </a:lnTo>
                  <a:lnTo>
                    <a:pt x="133857" y="71754"/>
                  </a:lnTo>
                  <a:lnTo>
                    <a:pt x="98604" y="52897"/>
                  </a:lnTo>
                  <a:lnTo>
                    <a:pt x="84508" y="29176"/>
                  </a:lnTo>
                  <a:lnTo>
                    <a:pt x="78961" y="8806"/>
                  </a:lnTo>
                  <a:lnTo>
                    <a:pt x="69354" y="0"/>
                  </a:lnTo>
                  <a:close/>
                </a:path>
              </a:pathLst>
            </a:custGeom>
            <a:solidFill>
              <a:srgbClr val="FFFFFF">
                <a:alpha val="52157"/>
              </a:srgbClr>
            </a:solidFill>
          </p:spPr>
          <p:txBody>
            <a:bodyPr wrap="square" lIns="0" tIns="0" rIns="0" bIns="0" rtlCol="0"/>
            <a:lstStyle/>
            <a:p/>
          </p:txBody>
        </p:sp>
        <p:sp>
          <p:nvSpPr>
            <p:cNvPr id="96" name="object 96" descr=""/>
            <p:cNvSpPr/>
            <p:nvPr/>
          </p:nvSpPr>
          <p:spPr>
            <a:xfrm>
              <a:off x="4505745" y="3545190"/>
              <a:ext cx="398145" cy="109855"/>
            </a:xfrm>
            <a:custGeom>
              <a:avLst/>
              <a:gdLst/>
              <a:ahLst/>
              <a:cxnLst/>
              <a:rect l="l" t="t" r="r" b="b"/>
              <a:pathLst>
                <a:path w="398145" h="109854">
                  <a:moveTo>
                    <a:pt x="4710" y="0"/>
                  </a:moveTo>
                  <a:lnTo>
                    <a:pt x="0" y="687"/>
                  </a:lnTo>
                  <a:lnTo>
                    <a:pt x="3332" y="27622"/>
                  </a:lnTo>
                  <a:lnTo>
                    <a:pt x="3870" y="35111"/>
                  </a:lnTo>
                  <a:lnTo>
                    <a:pt x="60999" y="68924"/>
                  </a:lnTo>
                  <a:lnTo>
                    <a:pt x="118567" y="87756"/>
                  </a:lnTo>
                  <a:lnTo>
                    <a:pt x="145884" y="90387"/>
                  </a:lnTo>
                  <a:lnTo>
                    <a:pt x="187085" y="90138"/>
                  </a:lnTo>
                  <a:lnTo>
                    <a:pt x="228647" y="86309"/>
                  </a:lnTo>
                  <a:lnTo>
                    <a:pt x="266614" y="83249"/>
                  </a:lnTo>
                  <a:lnTo>
                    <a:pt x="297027" y="85307"/>
                  </a:lnTo>
                  <a:lnTo>
                    <a:pt x="323979" y="93771"/>
                  </a:lnTo>
                  <a:lnTo>
                    <a:pt x="351967" y="103629"/>
                  </a:lnTo>
                  <a:lnTo>
                    <a:pt x="377641" y="109783"/>
                  </a:lnTo>
                  <a:lnTo>
                    <a:pt x="397649" y="107138"/>
                  </a:lnTo>
                  <a:lnTo>
                    <a:pt x="395806" y="88369"/>
                  </a:lnTo>
                  <a:lnTo>
                    <a:pt x="393192" y="73649"/>
                  </a:lnTo>
                  <a:lnTo>
                    <a:pt x="26689" y="3111"/>
                  </a:lnTo>
                  <a:lnTo>
                    <a:pt x="11915" y="568"/>
                  </a:lnTo>
                  <a:lnTo>
                    <a:pt x="4710" y="0"/>
                  </a:lnTo>
                  <a:close/>
                </a:path>
              </a:pathLst>
            </a:custGeom>
            <a:solidFill>
              <a:srgbClr val="FFFFFF">
                <a:alpha val="54901"/>
              </a:srgbClr>
            </a:solidFill>
          </p:spPr>
          <p:txBody>
            <a:bodyPr wrap="square" lIns="0" tIns="0" rIns="0" bIns="0" rtlCol="0"/>
            <a:lstStyle/>
            <a:p/>
          </p:txBody>
        </p:sp>
        <p:pic>
          <p:nvPicPr>
            <p:cNvPr id="97" name="object 97" descr=""/>
            <p:cNvPicPr/>
            <p:nvPr/>
          </p:nvPicPr>
          <p:blipFill>
            <a:blip r:embed="rId35" cstate="print"/>
            <a:stretch>
              <a:fillRect/>
            </a:stretch>
          </p:blipFill>
          <p:spPr>
            <a:xfrm>
              <a:off x="4620806" y="3564775"/>
              <a:ext cx="17551" cy="109867"/>
            </a:xfrm>
            <a:prstGeom prst="rect">
              <a:avLst/>
            </a:prstGeom>
          </p:spPr>
        </p:pic>
        <p:pic>
          <p:nvPicPr>
            <p:cNvPr id="98" name="object 98" descr=""/>
            <p:cNvPicPr/>
            <p:nvPr/>
          </p:nvPicPr>
          <p:blipFill>
            <a:blip r:embed="rId36" cstate="print"/>
            <a:stretch>
              <a:fillRect/>
            </a:stretch>
          </p:blipFill>
          <p:spPr>
            <a:xfrm>
              <a:off x="4714735" y="3583317"/>
              <a:ext cx="18249" cy="95504"/>
            </a:xfrm>
            <a:prstGeom prst="rect">
              <a:avLst/>
            </a:prstGeom>
          </p:spPr>
        </p:pic>
        <p:pic>
          <p:nvPicPr>
            <p:cNvPr id="99" name="object 99" descr=""/>
            <p:cNvPicPr/>
            <p:nvPr/>
          </p:nvPicPr>
          <p:blipFill>
            <a:blip r:embed="rId37" cstate="print"/>
            <a:stretch>
              <a:fillRect/>
            </a:stretch>
          </p:blipFill>
          <p:spPr>
            <a:xfrm>
              <a:off x="4790363" y="3597884"/>
              <a:ext cx="74777" cy="89115"/>
            </a:xfrm>
            <a:prstGeom prst="rect">
              <a:avLst/>
            </a:prstGeom>
          </p:spPr>
        </p:pic>
        <p:pic>
          <p:nvPicPr>
            <p:cNvPr id="100" name="object 100" descr=""/>
            <p:cNvPicPr/>
            <p:nvPr/>
          </p:nvPicPr>
          <p:blipFill>
            <a:blip r:embed="rId38" cstate="print"/>
            <a:stretch>
              <a:fillRect/>
            </a:stretch>
          </p:blipFill>
          <p:spPr>
            <a:xfrm>
              <a:off x="4496219" y="3545001"/>
              <a:ext cx="18982" cy="142379"/>
            </a:xfrm>
            <a:prstGeom prst="rect">
              <a:avLst/>
            </a:prstGeom>
          </p:spPr>
        </p:pic>
        <p:sp>
          <p:nvSpPr>
            <p:cNvPr id="101" name="object 101" descr=""/>
            <p:cNvSpPr/>
            <p:nvPr/>
          </p:nvSpPr>
          <p:spPr>
            <a:xfrm>
              <a:off x="4473943" y="3537673"/>
              <a:ext cx="437515" cy="152400"/>
            </a:xfrm>
            <a:custGeom>
              <a:avLst/>
              <a:gdLst/>
              <a:ahLst/>
              <a:cxnLst/>
              <a:rect l="l" t="t" r="r" b="b"/>
              <a:pathLst>
                <a:path w="437514" h="152400">
                  <a:moveTo>
                    <a:pt x="437222" y="151612"/>
                  </a:moveTo>
                  <a:lnTo>
                    <a:pt x="436333" y="142176"/>
                  </a:lnTo>
                  <a:lnTo>
                    <a:pt x="426466" y="79489"/>
                  </a:lnTo>
                  <a:lnTo>
                    <a:pt x="426808" y="79082"/>
                  </a:lnTo>
                  <a:lnTo>
                    <a:pt x="419823" y="77927"/>
                  </a:lnTo>
                  <a:lnTo>
                    <a:pt x="52882" y="5118"/>
                  </a:lnTo>
                  <a:lnTo>
                    <a:pt x="30861" y="1562"/>
                  </a:lnTo>
                  <a:lnTo>
                    <a:pt x="18199" y="0"/>
                  </a:lnTo>
                  <a:lnTo>
                    <a:pt x="9385" y="0"/>
                  </a:lnTo>
                  <a:lnTo>
                    <a:pt x="0" y="1270"/>
                  </a:lnTo>
                  <a:lnTo>
                    <a:pt x="0" y="5778"/>
                  </a:lnTo>
                  <a:lnTo>
                    <a:pt x="22263" y="7289"/>
                  </a:lnTo>
                  <a:lnTo>
                    <a:pt x="32308" y="8572"/>
                  </a:lnTo>
                  <a:lnTo>
                    <a:pt x="424154" y="81165"/>
                  </a:lnTo>
                  <a:lnTo>
                    <a:pt x="430695" y="120421"/>
                  </a:lnTo>
                  <a:lnTo>
                    <a:pt x="433933" y="149199"/>
                  </a:lnTo>
                  <a:lnTo>
                    <a:pt x="430403" y="149758"/>
                  </a:lnTo>
                  <a:lnTo>
                    <a:pt x="431126" y="147739"/>
                  </a:lnTo>
                  <a:lnTo>
                    <a:pt x="428205" y="147739"/>
                  </a:lnTo>
                  <a:lnTo>
                    <a:pt x="419836" y="147345"/>
                  </a:lnTo>
                  <a:lnTo>
                    <a:pt x="264414" y="137160"/>
                  </a:lnTo>
                  <a:lnTo>
                    <a:pt x="204406" y="133438"/>
                  </a:lnTo>
                  <a:lnTo>
                    <a:pt x="171386" y="132473"/>
                  </a:lnTo>
                  <a:lnTo>
                    <a:pt x="139319" y="132842"/>
                  </a:lnTo>
                  <a:lnTo>
                    <a:pt x="107353" y="134874"/>
                  </a:lnTo>
                  <a:lnTo>
                    <a:pt x="76708" y="137845"/>
                  </a:lnTo>
                  <a:lnTo>
                    <a:pt x="52984" y="140728"/>
                  </a:lnTo>
                  <a:lnTo>
                    <a:pt x="40462" y="142621"/>
                  </a:lnTo>
                  <a:lnTo>
                    <a:pt x="39662" y="146913"/>
                  </a:lnTo>
                  <a:lnTo>
                    <a:pt x="72428" y="141808"/>
                  </a:lnTo>
                  <a:lnTo>
                    <a:pt x="93256" y="139166"/>
                  </a:lnTo>
                  <a:lnTo>
                    <a:pt x="92722" y="139166"/>
                  </a:lnTo>
                  <a:lnTo>
                    <a:pt x="113195" y="137845"/>
                  </a:lnTo>
                  <a:lnTo>
                    <a:pt x="140004" y="137160"/>
                  </a:lnTo>
                  <a:lnTo>
                    <a:pt x="178422" y="137464"/>
                  </a:lnTo>
                  <a:lnTo>
                    <a:pt x="221056" y="139166"/>
                  </a:lnTo>
                  <a:lnTo>
                    <a:pt x="413727" y="151053"/>
                  </a:lnTo>
                  <a:lnTo>
                    <a:pt x="419138" y="151523"/>
                  </a:lnTo>
                  <a:lnTo>
                    <a:pt x="418528" y="151612"/>
                  </a:lnTo>
                  <a:lnTo>
                    <a:pt x="420255" y="151612"/>
                  </a:lnTo>
                  <a:lnTo>
                    <a:pt x="424865" y="152006"/>
                  </a:lnTo>
                  <a:lnTo>
                    <a:pt x="428663" y="151612"/>
                  </a:lnTo>
                  <a:lnTo>
                    <a:pt x="437222" y="151612"/>
                  </a:lnTo>
                  <a:close/>
                </a:path>
              </a:pathLst>
            </a:custGeom>
            <a:solidFill>
              <a:srgbClr val="1A1A1A"/>
            </a:solidFill>
          </p:spPr>
          <p:txBody>
            <a:bodyPr wrap="square" lIns="0" tIns="0" rIns="0" bIns="0" rtlCol="0"/>
            <a:lstStyle/>
            <a:p/>
          </p:txBody>
        </p:sp>
        <p:pic>
          <p:nvPicPr>
            <p:cNvPr id="102" name="object 102" descr=""/>
            <p:cNvPicPr/>
            <p:nvPr/>
          </p:nvPicPr>
          <p:blipFill>
            <a:blip r:embed="rId39" cstate="print"/>
            <a:stretch>
              <a:fillRect/>
            </a:stretch>
          </p:blipFill>
          <p:spPr>
            <a:xfrm>
              <a:off x="4375056" y="3532272"/>
              <a:ext cx="127134" cy="67720"/>
            </a:xfrm>
            <a:prstGeom prst="rect">
              <a:avLst/>
            </a:prstGeom>
          </p:spPr>
        </p:pic>
        <p:pic>
          <p:nvPicPr>
            <p:cNvPr id="103" name="object 103" descr=""/>
            <p:cNvPicPr/>
            <p:nvPr/>
          </p:nvPicPr>
          <p:blipFill>
            <a:blip r:embed="rId40" cstate="print"/>
            <a:stretch>
              <a:fillRect/>
            </a:stretch>
          </p:blipFill>
          <p:spPr>
            <a:xfrm>
              <a:off x="4377055" y="3537203"/>
              <a:ext cx="44602" cy="61887"/>
            </a:xfrm>
            <a:prstGeom prst="rect">
              <a:avLst/>
            </a:prstGeom>
          </p:spPr>
        </p:pic>
        <p:pic>
          <p:nvPicPr>
            <p:cNvPr id="104" name="object 104" descr=""/>
            <p:cNvPicPr/>
            <p:nvPr/>
          </p:nvPicPr>
          <p:blipFill>
            <a:blip r:embed="rId41" cstate="print"/>
            <a:stretch>
              <a:fillRect/>
            </a:stretch>
          </p:blipFill>
          <p:spPr>
            <a:xfrm>
              <a:off x="4820107" y="3764902"/>
              <a:ext cx="10350" cy="18719"/>
            </a:xfrm>
            <a:prstGeom prst="rect">
              <a:avLst/>
            </a:prstGeom>
          </p:spPr>
        </p:pic>
        <p:pic>
          <p:nvPicPr>
            <p:cNvPr id="105" name="object 105" descr=""/>
            <p:cNvPicPr/>
            <p:nvPr/>
          </p:nvPicPr>
          <p:blipFill>
            <a:blip r:embed="rId42" cstate="print"/>
            <a:stretch>
              <a:fillRect/>
            </a:stretch>
          </p:blipFill>
          <p:spPr>
            <a:xfrm>
              <a:off x="4564976" y="3782999"/>
              <a:ext cx="16014" cy="18719"/>
            </a:xfrm>
            <a:prstGeom prst="rect">
              <a:avLst/>
            </a:prstGeom>
          </p:spPr>
        </p:pic>
        <p:sp>
          <p:nvSpPr>
            <p:cNvPr id="106" name="object 106" descr=""/>
            <p:cNvSpPr/>
            <p:nvPr/>
          </p:nvSpPr>
          <p:spPr>
            <a:xfrm>
              <a:off x="4175099" y="3743782"/>
              <a:ext cx="222885" cy="31750"/>
            </a:xfrm>
            <a:custGeom>
              <a:avLst/>
              <a:gdLst/>
              <a:ahLst/>
              <a:cxnLst/>
              <a:rect l="l" t="t" r="r" b="b"/>
              <a:pathLst>
                <a:path w="222885" h="31750">
                  <a:moveTo>
                    <a:pt x="29768" y="20624"/>
                  </a:moveTo>
                  <a:lnTo>
                    <a:pt x="2895" y="0"/>
                  </a:lnTo>
                  <a:lnTo>
                    <a:pt x="1930" y="1524"/>
                  </a:lnTo>
                  <a:lnTo>
                    <a:pt x="114" y="2794"/>
                  </a:lnTo>
                  <a:lnTo>
                    <a:pt x="0" y="17411"/>
                  </a:lnTo>
                  <a:lnTo>
                    <a:pt x="6070" y="20624"/>
                  </a:lnTo>
                  <a:lnTo>
                    <a:pt x="16789" y="23583"/>
                  </a:lnTo>
                  <a:lnTo>
                    <a:pt x="26720" y="24307"/>
                  </a:lnTo>
                  <a:lnTo>
                    <a:pt x="29768" y="20624"/>
                  </a:lnTo>
                  <a:close/>
                </a:path>
                <a:path w="222885" h="31750">
                  <a:moveTo>
                    <a:pt x="222580" y="9601"/>
                  </a:moveTo>
                  <a:lnTo>
                    <a:pt x="221576" y="4927"/>
                  </a:lnTo>
                  <a:lnTo>
                    <a:pt x="211874" y="1473"/>
                  </a:lnTo>
                  <a:lnTo>
                    <a:pt x="187883" y="1701"/>
                  </a:lnTo>
                  <a:lnTo>
                    <a:pt x="162306" y="4241"/>
                  </a:lnTo>
                  <a:lnTo>
                    <a:pt x="148374" y="7353"/>
                  </a:lnTo>
                  <a:lnTo>
                    <a:pt x="141198" y="13119"/>
                  </a:lnTo>
                  <a:lnTo>
                    <a:pt x="135915" y="23558"/>
                  </a:lnTo>
                  <a:lnTo>
                    <a:pt x="136334" y="28359"/>
                  </a:lnTo>
                  <a:lnTo>
                    <a:pt x="139293" y="30670"/>
                  </a:lnTo>
                  <a:lnTo>
                    <a:pt x="147320" y="31140"/>
                  </a:lnTo>
                  <a:lnTo>
                    <a:pt x="162953" y="30416"/>
                  </a:lnTo>
                  <a:lnTo>
                    <a:pt x="205244" y="22059"/>
                  </a:lnTo>
                  <a:lnTo>
                    <a:pt x="222580" y="9601"/>
                  </a:lnTo>
                  <a:close/>
                </a:path>
              </a:pathLst>
            </a:custGeom>
            <a:solidFill>
              <a:srgbClr val="B2DEF1"/>
            </a:solidFill>
          </p:spPr>
          <p:txBody>
            <a:bodyPr wrap="square" lIns="0" tIns="0" rIns="0" bIns="0" rtlCol="0"/>
            <a:lstStyle/>
            <a:p/>
          </p:txBody>
        </p:sp>
        <p:sp>
          <p:nvSpPr>
            <p:cNvPr id="107" name="object 107" descr=""/>
            <p:cNvSpPr/>
            <p:nvPr/>
          </p:nvSpPr>
          <p:spPr>
            <a:xfrm>
              <a:off x="4363709" y="3744889"/>
              <a:ext cx="34290" cy="26670"/>
            </a:xfrm>
            <a:custGeom>
              <a:avLst/>
              <a:gdLst/>
              <a:ahLst/>
              <a:cxnLst/>
              <a:rect l="l" t="t" r="r" b="b"/>
              <a:pathLst>
                <a:path w="34289" h="26670">
                  <a:moveTo>
                    <a:pt x="12839" y="0"/>
                  </a:moveTo>
                  <a:lnTo>
                    <a:pt x="26483" y="4533"/>
                  </a:lnTo>
                  <a:lnTo>
                    <a:pt x="29694" y="8785"/>
                  </a:lnTo>
                  <a:lnTo>
                    <a:pt x="21267" y="15223"/>
                  </a:lnTo>
                  <a:lnTo>
                    <a:pt x="0" y="26314"/>
                  </a:lnTo>
                  <a:lnTo>
                    <a:pt x="14398" y="21458"/>
                  </a:lnTo>
                  <a:lnTo>
                    <a:pt x="23717" y="17438"/>
                  </a:lnTo>
                  <a:lnTo>
                    <a:pt x="29150" y="14250"/>
                  </a:lnTo>
                  <a:lnTo>
                    <a:pt x="31889" y="11887"/>
                  </a:lnTo>
                  <a:lnTo>
                    <a:pt x="33788" y="8813"/>
                  </a:lnTo>
                  <a:lnTo>
                    <a:pt x="33594" y="4643"/>
                  </a:lnTo>
                  <a:lnTo>
                    <a:pt x="27785" y="1123"/>
                  </a:lnTo>
                  <a:lnTo>
                    <a:pt x="12839" y="0"/>
                  </a:lnTo>
                  <a:close/>
                </a:path>
              </a:pathLst>
            </a:custGeom>
            <a:solidFill>
              <a:srgbClr val="FFFFFF">
                <a:alpha val="54116"/>
              </a:srgbClr>
            </a:solidFill>
          </p:spPr>
          <p:txBody>
            <a:bodyPr wrap="square" lIns="0" tIns="0" rIns="0" bIns="0" rtlCol="0"/>
            <a:lstStyle/>
            <a:p/>
          </p:txBody>
        </p:sp>
        <p:sp>
          <p:nvSpPr>
            <p:cNvPr id="108" name="object 108" descr=""/>
            <p:cNvSpPr/>
            <p:nvPr/>
          </p:nvSpPr>
          <p:spPr>
            <a:xfrm>
              <a:off x="4175103" y="3747897"/>
              <a:ext cx="29845" cy="20320"/>
            </a:xfrm>
            <a:custGeom>
              <a:avLst/>
              <a:gdLst/>
              <a:ahLst/>
              <a:cxnLst/>
              <a:rect l="l" t="t" r="r" b="b"/>
              <a:pathLst>
                <a:path w="29845" h="20320">
                  <a:moveTo>
                    <a:pt x="8228" y="0"/>
                  </a:moveTo>
                  <a:lnTo>
                    <a:pt x="4576" y="3869"/>
                  </a:lnTo>
                  <a:lnTo>
                    <a:pt x="0" y="13293"/>
                  </a:lnTo>
                  <a:lnTo>
                    <a:pt x="5987" y="16442"/>
                  </a:lnTo>
                  <a:lnTo>
                    <a:pt x="16998" y="19424"/>
                  </a:lnTo>
                  <a:lnTo>
                    <a:pt x="26953" y="20144"/>
                  </a:lnTo>
                  <a:lnTo>
                    <a:pt x="29768" y="16506"/>
                  </a:lnTo>
                  <a:lnTo>
                    <a:pt x="26682" y="9305"/>
                  </a:lnTo>
                  <a:lnTo>
                    <a:pt x="26073" y="10525"/>
                  </a:lnTo>
                  <a:lnTo>
                    <a:pt x="20408" y="6308"/>
                  </a:lnTo>
                  <a:lnTo>
                    <a:pt x="12867" y="1031"/>
                  </a:lnTo>
                  <a:lnTo>
                    <a:pt x="8228" y="0"/>
                  </a:lnTo>
                  <a:close/>
                </a:path>
              </a:pathLst>
            </a:custGeom>
            <a:solidFill>
              <a:srgbClr val="FFFFFF">
                <a:alpha val="36077"/>
              </a:srgbClr>
            </a:solidFill>
          </p:spPr>
          <p:txBody>
            <a:bodyPr wrap="square" lIns="0" tIns="0" rIns="0" bIns="0" rtlCol="0"/>
            <a:lstStyle/>
            <a:p/>
          </p:txBody>
        </p:sp>
        <p:sp>
          <p:nvSpPr>
            <p:cNvPr id="109" name="object 109" descr=""/>
            <p:cNvSpPr/>
            <p:nvPr/>
          </p:nvSpPr>
          <p:spPr>
            <a:xfrm>
              <a:off x="4311016" y="3748469"/>
              <a:ext cx="57785" cy="26670"/>
            </a:xfrm>
            <a:custGeom>
              <a:avLst/>
              <a:gdLst/>
              <a:ahLst/>
              <a:cxnLst/>
              <a:rect l="l" t="t" r="r" b="b"/>
              <a:pathLst>
                <a:path w="57785" h="26670">
                  <a:moveTo>
                    <a:pt x="32778" y="0"/>
                  </a:moveTo>
                  <a:lnTo>
                    <a:pt x="17693" y="3409"/>
                  </a:lnTo>
                  <a:lnTo>
                    <a:pt x="9250" y="6511"/>
                  </a:lnTo>
                  <a:lnTo>
                    <a:pt x="4376" y="11076"/>
                  </a:lnTo>
                  <a:lnTo>
                    <a:pt x="0" y="18872"/>
                  </a:lnTo>
                  <a:lnTo>
                    <a:pt x="422" y="23665"/>
                  </a:lnTo>
                  <a:lnTo>
                    <a:pt x="3379" y="25977"/>
                  </a:lnTo>
                  <a:lnTo>
                    <a:pt x="11406" y="26451"/>
                  </a:lnTo>
                  <a:lnTo>
                    <a:pt x="27038" y="25730"/>
                  </a:lnTo>
                  <a:lnTo>
                    <a:pt x="49036" y="20498"/>
                  </a:lnTo>
                  <a:lnTo>
                    <a:pt x="57335" y="10893"/>
                  </a:lnTo>
                  <a:lnTo>
                    <a:pt x="51921" y="2273"/>
                  </a:lnTo>
                  <a:lnTo>
                    <a:pt x="32778" y="0"/>
                  </a:lnTo>
                  <a:close/>
                </a:path>
              </a:pathLst>
            </a:custGeom>
            <a:solidFill>
              <a:srgbClr val="FFFFFF">
                <a:alpha val="30194"/>
              </a:srgbClr>
            </a:solidFill>
          </p:spPr>
          <p:txBody>
            <a:bodyPr wrap="square" lIns="0" tIns="0" rIns="0" bIns="0" rtlCol="0"/>
            <a:lstStyle/>
            <a:p/>
          </p:txBody>
        </p:sp>
        <p:pic>
          <p:nvPicPr>
            <p:cNvPr id="110" name="object 110" descr=""/>
            <p:cNvPicPr/>
            <p:nvPr/>
          </p:nvPicPr>
          <p:blipFill>
            <a:blip r:embed="rId41" cstate="print"/>
            <a:stretch>
              <a:fillRect/>
            </a:stretch>
          </p:blipFill>
          <p:spPr>
            <a:xfrm>
              <a:off x="4175353" y="3773500"/>
              <a:ext cx="9017" cy="13627"/>
            </a:xfrm>
            <a:prstGeom prst="rect">
              <a:avLst/>
            </a:prstGeom>
          </p:spPr>
        </p:pic>
        <p:sp>
          <p:nvSpPr>
            <p:cNvPr id="111" name="object 111" descr=""/>
            <p:cNvSpPr/>
            <p:nvPr/>
          </p:nvSpPr>
          <p:spPr>
            <a:xfrm>
              <a:off x="4177168" y="3774955"/>
              <a:ext cx="7620" cy="10795"/>
            </a:xfrm>
            <a:custGeom>
              <a:avLst/>
              <a:gdLst/>
              <a:ahLst/>
              <a:cxnLst/>
              <a:rect l="l" t="t" r="r" b="b"/>
              <a:pathLst>
                <a:path w="7620" h="10795">
                  <a:moveTo>
                    <a:pt x="5499" y="0"/>
                  </a:moveTo>
                  <a:lnTo>
                    <a:pt x="1587" y="0"/>
                  </a:lnTo>
                  <a:lnTo>
                    <a:pt x="0" y="2387"/>
                  </a:lnTo>
                  <a:lnTo>
                    <a:pt x="0" y="5359"/>
                  </a:lnTo>
                  <a:lnTo>
                    <a:pt x="0" y="8305"/>
                  </a:lnTo>
                  <a:lnTo>
                    <a:pt x="1587" y="10718"/>
                  </a:lnTo>
                  <a:lnTo>
                    <a:pt x="5499" y="10718"/>
                  </a:lnTo>
                  <a:lnTo>
                    <a:pt x="7099" y="8305"/>
                  </a:lnTo>
                  <a:lnTo>
                    <a:pt x="7099" y="2387"/>
                  </a:lnTo>
                  <a:lnTo>
                    <a:pt x="5499" y="0"/>
                  </a:lnTo>
                  <a:close/>
                </a:path>
              </a:pathLst>
            </a:custGeom>
            <a:solidFill>
              <a:srgbClr val="000000"/>
            </a:solidFill>
          </p:spPr>
          <p:txBody>
            <a:bodyPr wrap="square" lIns="0" tIns="0" rIns="0" bIns="0" rtlCol="0"/>
            <a:lstStyle/>
            <a:p/>
          </p:txBody>
        </p:sp>
        <p:pic>
          <p:nvPicPr>
            <p:cNvPr id="112" name="object 112" descr=""/>
            <p:cNvPicPr/>
            <p:nvPr/>
          </p:nvPicPr>
          <p:blipFill>
            <a:blip r:embed="rId43" cstate="print"/>
            <a:stretch>
              <a:fillRect/>
            </a:stretch>
          </p:blipFill>
          <p:spPr>
            <a:xfrm>
              <a:off x="4340288" y="3782199"/>
              <a:ext cx="18834" cy="14185"/>
            </a:xfrm>
            <a:prstGeom prst="rect">
              <a:avLst/>
            </a:prstGeom>
          </p:spPr>
        </p:pic>
        <p:sp>
          <p:nvSpPr>
            <p:cNvPr id="113" name="object 113" descr=""/>
            <p:cNvSpPr/>
            <p:nvPr/>
          </p:nvSpPr>
          <p:spPr>
            <a:xfrm>
              <a:off x="4344563" y="3785171"/>
              <a:ext cx="14604" cy="10795"/>
            </a:xfrm>
            <a:custGeom>
              <a:avLst/>
              <a:gdLst/>
              <a:ahLst/>
              <a:cxnLst/>
              <a:rect l="l" t="t" r="r" b="b"/>
              <a:pathLst>
                <a:path w="14604" h="10795">
                  <a:moveTo>
                    <a:pt x="11036" y="0"/>
                  </a:moveTo>
                  <a:lnTo>
                    <a:pt x="3187" y="0"/>
                  </a:lnTo>
                  <a:lnTo>
                    <a:pt x="0" y="2387"/>
                  </a:lnTo>
                  <a:lnTo>
                    <a:pt x="0" y="5359"/>
                  </a:lnTo>
                  <a:lnTo>
                    <a:pt x="0" y="8305"/>
                  </a:lnTo>
                  <a:lnTo>
                    <a:pt x="3187" y="10718"/>
                  </a:lnTo>
                  <a:lnTo>
                    <a:pt x="11036" y="10718"/>
                  </a:lnTo>
                  <a:lnTo>
                    <a:pt x="14224" y="8305"/>
                  </a:lnTo>
                  <a:lnTo>
                    <a:pt x="14224" y="2387"/>
                  </a:lnTo>
                  <a:lnTo>
                    <a:pt x="11036" y="0"/>
                  </a:lnTo>
                  <a:close/>
                </a:path>
              </a:pathLst>
            </a:custGeom>
            <a:solidFill>
              <a:srgbClr val="000000"/>
            </a:solidFill>
          </p:spPr>
          <p:txBody>
            <a:bodyPr wrap="square" lIns="0" tIns="0" rIns="0" bIns="0" rtlCol="0"/>
            <a:lstStyle/>
            <a:p/>
          </p:txBody>
        </p:sp>
        <p:sp>
          <p:nvSpPr>
            <p:cNvPr id="114" name="object 114" descr=""/>
            <p:cNvSpPr/>
            <p:nvPr/>
          </p:nvSpPr>
          <p:spPr>
            <a:xfrm>
              <a:off x="4496643" y="3674374"/>
              <a:ext cx="402590" cy="137795"/>
            </a:xfrm>
            <a:custGeom>
              <a:avLst/>
              <a:gdLst/>
              <a:ahLst/>
              <a:cxnLst/>
              <a:rect l="l" t="t" r="r" b="b"/>
              <a:pathLst>
                <a:path w="402589" h="137795">
                  <a:moveTo>
                    <a:pt x="117309" y="0"/>
                  </a:moveTo>
                  <a:lnTo>
                    <a:pt x="72020" y="2219"/>
                  </a:lnTo>
                  <a:lnTo>
                    <a:pt x="16967" y="10210"/>
                  </a:lnTo>
                  <a:lnTo>
                    <a:pt x="11309" y="52120"/>
                  </a:lnTo>
                  <a:lnTo>
                    <a:pt x="11351" y="70799"/>
                  </a:lnTo>
                  <a:lnTo>
                    <a:pt x="11763" y="86948"/>
                  </a:lnTo>
                  <a:lnTo>
                    <a:pt x="10812" y="102881"/>
                  </a:lnTo>
                  <a:lnTo>
                    <a:pt x="7239" y="117249"/>
                  </a:lnTo>
                  <a:lnTo>
                    <a:pt x="0" y="137045"/>
                  </a:lnTo>
                  <a:lnTo>
                    <a:pt x="13690" y="137731"/>
                  </a:lnTo>
                  <a:lnTo>
                    <a:pt x="19767" y="91598"/>
                  </a:lnTo>
                  <a:lnTo>
                    <a:pt x="56575" y="66651"/>
                  </a:lnTo>
                  <a:lnTo>
                    <a:pt x="70029" y="66409"/>
                  </a:lnTo>
                  <a:lnTo>
                    <a:pt x="169985" y="66409"/>
                  </a:lnTo>
                  <a:lnTo>
                    <a:pt x="238912" y="52120"/>
                  </a:lnTo>
                  <a:lnTo>
                    <a:pt x="402031" y="15290"/>
                  </a:lnTo>
                  <a:lnTo>
                    <a:pt x="393854" y="14412"/>
                  </a:lnTo>
                  <a:lnTo>
                    <a:pt x="194710" y="2219"/>
                  </a:lnTo>
                  <a:lnTo>
                    <a:pt x="195066" y="2219"/>
                  </a:lnTo>
                  <a:lnTo>
                    <a:pt x="153612" y="520"/>
                  </a:lnTo>
                  <a:lnTo>
                    <a:pt x="117309" y="0"/>
                  </a:lnTo>
                  <a:close/>
                </a:path>
                <a:path w="402589" h="137795">
                  <a:moveTo>
                    <a:pt x="169985" y="66409"/>
                  </a:moveTo>
                  <a:lnTo>
                    <a:pt x="70029" y="66409"/>
                  </a:lnTo>
                  <a:lnTo>
                    <a:pt x="84561" y="70799"/>
                  </a:lnTo>
                  <a:lnTo>
                    <a:pt x="98132" y="81305"/>
                  </a:lnTo>
                  <a:lnTo>
                    <a:pt x="169985" y="66409"/>
                  </a:lnTo>
                  <a:close/>
                </a:path>
              </a:pathLst>
            </a:custGeom>
            <a:solidFill>
              <a:srgbClr val="FFFFFF">
                <a:alpha val="7843"/>
              </a:srgbClr>
            </a:solidFill>
          </p:spPr>
          <p:txBody>
            <a:bodyPr wrap="square" lIns="0" tIns="0" rIns="0" bIns="0" rtlCol="0"/>
            <a:lstStyle/>
            <a:p/>
          </p:txBody>
        </p:sp>
        <p:pic>
          <p:nvPicPr>
            <p:cNvPr id="115" name="object 115" descr=""/>
            <p:cNvPicPr/>
            <p:nvPr/>
          </p:nvPicPr>
          <p:blipFill>
            <a:blip r:embed="rId44" cstate="print"/>
            <a:stretch>
              <a:fillRect/>
            </a:stretch>
          </p:blipFill>
          <p:spPr>
            <a:xfrm>
              <a:off x="4162924" y="3679008"/>
              <a:ext cx="342712" cy="133727"/>
            </a:xfrm>
            <a:prstGeom prst="rect">
              <a:avLst/>
            </a:prstGeom>
          </p:spPr>
        </p:pic>
        <p:pic>
          <p:nvPicPr>
            <p:cNvPr id="116" name="object 116"/>
            <p:cNvPicPr/>
            <p:nvPr/>
          </p:nvPicPr>
          <p:blipFill>
            <a:blip r:embed="rId45" cstate="print"/>
            <a:stretch>
              <a:fillRect/>
            </a:stretch>
          </p:blipFill>
          <p:spPr>
            <a:xfrm>
              <a:off x="3713226" y="3294887"/>
              <a:ext cx="402335" cy="374903"/>
            </a:xfrm>
            <a:prstGeom prst="rect">
              <a:avLst/>
            </a:prstGeom>
          </p:spPr>
        </p:pic>
        <p:pic>
          <p:nvPicPr>
            <p:cNvPr id="117" name="object 117"/>
            <p:cNvPicPr/>
            <p:nvPr/>
          </p:nvPicPr>
          <p:blipFill>
            <a:blip r:embed="rId46" cstate="print"/>
            <a:stretch>
              <a:fillRect/>
            </a:stretch>
          </p:blipFill>
          <p:spPr>
            <a:xfrm>
              <a:off x="3734663" y="3289799"/>
              <a:ext cx="401218" cy="373731"/>
            </a:xfrm>
            <a:prstGeom prst="rect">
              <a:avLst/>
            </a:prstGeom>
          </p:spPr>
        </p:pic>
        <p:pic>
          <p:nvPicPr>
            <p:cNvPr id="118" name="object 118" descr=""/>
            <p:cNvPicPr/>
            <p:nvPr/>
          </p:nvPicPr>
          <p:blipFill>
            <a:blip r:embed="rId47" cstate="print"/>
            <a:stretch>
              <a:fillRect/>
            </a:stretch>
          </p:blipFill>
          <p:spPr>
            <a:xfrm>
              <a:off x="3014647" y="3056334"/>
              <a:ext cx="99605" cy="105625"/>
            </a:xfrm>
            <a:prstGeom prst="rect">
              <a:avLst/>
            </a:prstGeom>
          </p:spPr>
        </p:pic>
        <p:sp>
          <p:nvSpPr>
            <p:cNvPr id="119" name="object 119" descr=""/>
            <p:cNvSpPr/>
            <p:nvPr/>
          </p:nvSpPr>
          <p:spPr>
            <a:xfrm>
              <a:off x="2804499" y="3014376"/>
              <a:ext cx="59055" cy="66675"/>
            </a:xfrm>
            <a:custGeom>
              <a:avLst/>
              <a:gdLst/>
              <a:ahLst/>
              <a:cxnLst/>
              <a:rect l="l" t="t" r="r" b="b"/>
              <a:pathLst>
                <a:path w="59055" h="66675">
                  <a:moveTo>
                    <a:pt x="37693" y="0"/>
                  </a:moveTo>
                  <a:lnTo>
                    <a:pt x="31332" y="233"/>
                  </a:lnTo>
                  <a:lnTo>
                    <a:pt x="18427" y="1441"/>
                  </a:lnTo>
                  <a:lnTo>
                    <a:pt x="0" y="3416"/>
                  </a:lnTo>
                  <a:lnTo>
                    <a:pt x="9702" y="63106"/>
                  </a:lnTo>
                  <a:lnTo>
                    <a:pt x="19405" y="66205"/>
                  </a:lnTo>
                  <a:lnTo>
                    <a:pt x="22758" y="65709"/>
                  </a:lnTo>
                  <a:lnTo>
                    <a:pt x="35606" y="64850"/>
                  </a:lnTo>
                  <a:lnTo>
                    <a:pt x="59004" y="37528"/>
                  </a:lnTo>
                  <a:lnTo>
                    <a:pt x="56426" y="23140"/>
                  </a:lnTo>
                  <a:lnTo>
                    <a:pt x="49296" y="11396"/>
                  </a:lnTo>
                  <a:lnTo>
                    <a:pt x="41693" y="3336"/>
                  </a:lnTo>
                  <a:lnTo>
                    <a:pt x="37693" y="0"/>
                  </a:lnTo>
                  <a:close/>
                </a:path>
              </a:pathLst>
            </a:custGeom>
            <a:solidFill>
              <a:srgbClr val="040404"/>
            </a:solidFill>
          </p:spPr>
          <p:txBody>
            <a:bodyPr wrap="square" lIns="0" tIns="0" rIns="0" bIns="0" rtlCol="0"/>
            <a:lstStyle/>
            <a:p/>
          </p:txBody>
        </p:sp>
        <p:sp>
          <p:nvSpPr>
            <p:cNvPr id="120" name="object 120" descr=""/>
            <p:cNvSpPr/>
            <p:nvPr/>
          </p:nvSpPr>
          <p:spPr>
            <a:xfrm>
              <a:off x="2782065" y="2908401"/>
              <a:ext cx="681990" cy="246379"/>
            </a:xfrm>
            <a:custGeom>
              <a:avLst/>
              <a:gdLst/>
              <a:ahLst/>
              <a:cxnLst/>
              <a:rect l="l" t="t" r="r" b="b"/>
              <a:pathLst>
                <a:path w="681989" h="246380">
                  <a:moveTo>
                    <a:pt x="17678" y="55320"/>
                  </a:moveTo>
                  <a:lnTo>
                    <a:pt x="8991" y="60705"/>
                  </a:lnTo>
                  <a:lnTo>
                    <a:pt x="0" y="66382"/>
                  </a:lnTo>
                  <a:lnTo>
                    <a:pt x="0" y="75653"/>
                  </a:lnTo>
                  <a:lnTo>
                    <a:pt x="861" y="86328"/>
                  </a:lnTo>
                  <a:lnTo>
                    <a:pt x="1939" y="102514"/>
                  </a:lnTo>
                  <a:lnTo>
                    <a:pt x="2014" y="103633"/>
                  </a:lnTo>
                  <a:lnTo>
                    <a:pt x="3398" y="119778"/>
                  </a:lnTo>
                  <a:lnTo>
                    <a:pt x="4953" y="126974"/>
                  </a:lnTo>
                  <a:lnTo>
                    <a:pt x="16118" y="130889"/>
                  </a:lnTo>
                  <a:lnTo>
                    <a:pt x="70548" y="151586"/>
                  </a:lnTo>
                  <a:lnTo>
                    <a:pt x="207071" y="198191"/>
                  </a:lnTo>
                  <a:lnTo>
                    <a:pt x="225026" y="203837"/>
                  </a:lnTo>
                  <a:lnTo>
                    <a:pt x="229285" y="204304"/>
                  </a:lnTo>
                  <a:lnTo>
                    <a:pt x="245318" y="209041"/>
                  </a:lnTo>
                  <a:lnTo>
                    <a:pt x="278458" y="220081"/>
                  </a:lnTo>
                  <a:lnTo>
                    <a:pt x="313358" y="231240"/>
                  </a:lnTo>
                  <a:lnTo>
                    <a:pt x="334670" y="236333"/>
                  </a:lnTo>
                  <a:lnTo>
                    <a:pt x="343191" y="236678"/>
                  </a:lnTo>
                  <a:lnTo>
                    <a:pt x="351491" y="237667"/>
                  </a:lnTo>
                  <a:lnTo>
                    <a:pt x="398352" y="243988"/>
                  </a:lnTo>
                  <a:lnTo>
                    <a:pt x="426237" y="246138"/>
                  </a:lnTo>
                  <a:lnTo>
                    <a:pt x="450843" y="244666"/>
                  </a:lnTo>
                  <a:lnTo>
                    <a:pt x="481728" y="242355"/>
                  </a:lnTo>
                  <a:lnTo>
                    <a:pt x="508724" y="239817"/>
                  </a:lnTo>
                  <a:lnTo>
                    <a:pt x="521665" y="237667"/>
                  </a:lnTo>
                  <a:lnTo>
                    <a:pt x="520141" y="235114"/>
                  </a:lnTo>
                  <a:lnTo>
                    <a:pt x="528904" y="232663"/>
                  </a:lnTo>
                  <a:lnTo>
                    <a:pt x="588769" y="220848"/>
                  </a:lnTo>
                  <a:lnTo>
                    <a:pt x="624108" y="210340"/>
                  </a:lnTo>
                  <a:lnTo>
                    <a:pt x="640852" y="203256"/>
                  </a:lnTo>
                  <a:lnTo>
                    <a:pt x="644931" y="201713"/>
                  </a:lnTo>
                  <a:lnTo>
                    <a:pt x="650145" y="201713"/>
                  </a:lnTo>
                  <a:lnTo>
                    <a:pt x="651357" y="200800"/>
                  </a:lnTo>
                  <a:lnTo>
                    <a:pt x="659738" y="192458"/>
                  </a:lnTo>
                  <a:lnTo>
                    <a:pt x="667010" y="183863"/>
                  </a:lnTo>
                  <a:lnTo>
                    <a:pt x="670115" y="178269"/>
                  </a:lnTo>
                  <a:lnTo>
                    <a:pt x="672095" y="170581"/>
                  </a:lnTo>
                  <a:lnTo>
                    <a:pt x="676382" y="157419"/>
                  </a:lnTo>
                  <a:lnTo>
                    <a:pt x="680498" y="144633"/>
                  </a:lnTo>
                  <a:lnTo>
                    <a:pt x="681964" y="138074"/>
                  </a:lnTo>
                  <a:lnTo>
                    <a:pt x="680733" y="137566"/>
                  </a:lnTo>
                  <a:lnTo>
                    <a:pt x="660311" y="137566"/>
                  </a:lnTo>
                  <a:lnTo>
                    <a:pt x="660781" y="134060"/>
                  </a:lnTo>
                  <a:lnTo>
                    <a:pt x="486968" y="70205"/>
                  </a:lnTo>
                  <a:lnTo>
                    <a:pt x="466088" y="66382"/>
                  </a:lnTo>
                  <a:lnTo>
                    <a:pt x="466508" y="66382"/>
                  </a:lnTo>
                  <a:lnTo>
                    <a:pt x="461911" y="66166"/>
                  </a:lnTo>
                  <a:lnTo>
                    <a:pt x="451443" y="60530"/>
                  </a:lnTo>
                  <a:lnTo>
                    <a:pt x="445944" y="57200"/>
                  </a:lnTo>
                  <a:lnTo>
                    <a:pt x="25120" y="57200"/>
                  </a:lnTo>
                  <a:lnTo>
                    <a:pt x="17678" y="55320"/>
                  </a:lnTo>
                  <a:close/>
                </a:path>
                <a:path w="681989" h="246380">
                  <a:moveTo>
                    <a:pt x="650145" y="201713"/>
                  </a:moveTo>
                  <a:lnTo>
                    <a:pt x="644931" y="201713"/>
                  </a:lnTo>
                  <a:lnTo>
                    <a:pt x="644719" y="203256"/>
                  </a:lnTo>
                  <a:lnTo>
                    <a:pt x="644639" y="203837"/>
                  </a:lnTo>
                  <a:lnTo>
                    <a:pt x="644575" y="204304"/>
                  </a:lnTo>
                  <a:lnTo>
                    <a:pt x="642886" y="204304"/>
                  </a:lnTo>
                  <a:lnTo>
                    <a:pt x="644931" y="205638"/>
                  </a:lnTo>
                  <a:lnTo>
                    <a:pt x="650145" y="201713"/>
                  </a:lnTo>
                  <a:close/>
                </a:path>
                <a:path w="681989" h="246380">
                  <a:moveTo>
                    <a:pt x="677100" y="136067"/>
                  </a:moveTo>
                  <a:lnTo>
                    <a:pt x="660311" y="137566"/>
                  </a:lnTo>
                  <a:lnTo>
                    <a:pt x="680733" y="137566"/>
                  </a:lnTo>
                  <a:lnTo>
                    <a:pt x="677100" y="136067"/>
                  </a:lnTo>
                  <a:close/>
                </a:path>
                <a:path w="681989" h="246380">
                  <a:moveTo>
                    <a:pt x="192562" y="0"/>
                  </a:moveTo>
                  <a:lnTo>
                    <a:pt x="150545" y="1383"/>
                  </a:lnTo>
                  <a:lnTo>
                    <a:pt x="133945" y="3050"/>
                  </a:lnTo>
                  <a:lnTo>
                    <a:pt x="113457" y="5430"/>
                  </a:lnTo>
                  <a:lnTo>
                    <a:pt x="93389" y="8546"/>
                  </a:lnTo>
                  <a:lnTo>
                    <a:pt x="93731" y="8546"/>
                  </a:lnTo>
                  <a:lnTo>
                    <a:pt x="81254" y="11924"/>
                  </a:lnTo>
                  <a:lnTo>
                    <a:pt x="48688" y="36907"/>
                  </a:lnTo>
                  <a:lnTo>
                    <a:pt x="43637" y="42719"/>
                  </a:lnTo>
                  <a:lnTo>
                    <a:pt x="38080" y="48430"/>
                  </a:lnTo>
                  <a:lnTo>
                    <a:pt x="31686" y="53263"/>
                  </a:lnTo>
                  <a:lnTo>
                    <a:pt x="25120" y="57200"/>
                  </a:lnTo>
                  <a:lnTo>
                    <a:pt x="445944" y="57200"/>
                  </a:lnTo>
                  <a:lnTo>
                    <a:pt x="403218" y="31562"/>
                  </a:lnTo>
                  <a:lnTo>
                    <a:pt x="364309" y="14237"/>
                  </a:lnTo>
                  <a:lnTo>
                    <a:pt x="317468" y="4556"/>
                  </a:lnTo>
                  <a:lnTo>
                    <a:pt x="237105" y="571"/>
                  </a:lnTo>
                  <a:lnTo>
                    <a:pt x="192562" y="0"/>
                  </a:lnTo>
                  <a:close/>
                </a:path>
              </a:pathLst>
            </a:custGeom>
            <a:solidFill>
              <a:srgbClr val="DADADA"/>
            </a:solidFill>
          </p:spPr>
          <p:txBody>
            <a:bodyPr wrap="square" lIns="0" tIns="0" rIns="0" bIns="0" rtlCol="0"/>
            <a:lstStyle/>
            <a:p/>
          </p:txBody>
        </p:sp>
        <p:sp>
          <p:nvSpPr>
            <p:cNvPr id="121" name="object 121" descr=""/>
            <p:cNvSpPr/>
            <p:nvPr/>
          </p:nvSpPr>
          <p:spPr>
            <a:xfrm>
              <a:off x="2964220" y="2917287"/>
              <a:ext cx="274320" cy="66675"/>
            </a:xfrm>
            <a:custGeom>
              <a:avLst/>
              <a:gdLst/>
              <a:ahLst/>
              <a:cxnLst/>
              <a:rect l="l" t="t" r="r" b="b"/>
              <a:pathLst>
                <a:path w="274319" h="66675">
                  <a:moveTo>
                    <a:pt x="35560" y="0"/>
                  </a:moveTo>
                  <a:lnTo>
                    <a:pt x="0" y="2401"/>
                  </a:lnTo>
                  <a:lnTo>
                    <a:pt x="25819" y="50007"/>
                  </a:lnTo>
                  <a:lnTo>
                    <a:pt x="32169" y="60618"/>
                  </a:lnTo>
                  <a:lnTo>
                    <a:pt x="37503" y="66092"/>
                  </a:lnTo>
                  <a:lnTo>
                    <a:pt x="45618" y="64123"/>
                  </a:lnTo>
                  <a:lnTo>
                    <a:pt x="50952" y="64123"/>
                  </a:lnTo>
                  <a:lnTo>
                    <a:pt x="173990" y="56414"/>
                  </a:lnTo>
                  <a:lnTo>
                    <a:pt x="191309" y="55632"/>
                  </a:lnTo>
                  <a:lnTo>
                    <a:pt x="207532" y="55392"/>
                  </a:lnTo>
                  <a:lnTo>
                    <a:pt x="232063" y="55714"/>
                  </a:lnTo>
                  <a:lnTo>
                    <a:pt x="274307" y="56617"/>
                  </a:lnTo>
                  <a:lnTo>
                    <a:pt x="233397" y="34232"/>
                  </a:lnTo>
                  <a:lnTo>
                    <a:pt x="200273" y="16964"/>
                  </a:lnTo>
                  <a:lnTo>
                    <a:pt x="174713" y="5170"/>
                  </a:lnTo>
                  <a:lnTo>
                    <a:pt x="137638" y="2249"/>
                  </a:lnTo>
                  <a:lnTo>
                    <a:pt x="86347" y="237"/>
                  </a:lnTo>
                  <a:lnTo>
                    <a:pt x="35560" y="0"/>
                  </a:lnTo>
                  <a:close/>
                </a:path>
              </a:pathLst>
            </a:custGeom>
            <a:solidFill>
              <a:srgbClr val="E5F3EA"/>
            </a:solidFill>
          </p:spPr>
          <p:txBody>
            <a:bodyPr wrap="square" lIns="0" tIns="0" rIns="0" bIns="0" rtlCol="0"/>
            <a:lstStyle/>
            <a:p/>
          </p:txBody>
        </p:sp>
        <p:sp>
          <p:nvSpPr>
            <p:cNvPr id="122" name="object 122" descr=""/>
            <p:cNvSpPr/>
            <p:nvPr/>
          </p:nvSpPr>
          <p:spPr>
            <a:xfrm>
              <a:off x="2817130" y="3039463"/>
              <a:ext cx="171450" cy="56515"/>
            </a:xfrm>
            <a:custGeom>
              <a:avLst/>
              <a:gdLst/>
              <a:ahLst/>
              <a:cxnLst/>
              <a:rect l="l" t="t" r="r" b="b"/>
              <a:pathLst>
                <a:path w="171450" h="56514">
                  <a:moveTo>
                    <a:pt x="1447" y="0"/>
                  </a:moveTo>
                  <a:lnTo>
                    <a:pt x="0" y="1003"/>
                  </a:lnTo>
                  <a:lnTo>
                    <a:pt x="169430" y="56388"/>
                  </a:lnTo>
                  <a:lnTo>
                    <a:pt x="171450" y="54978"/>
                  </a:lnTo>
                  <a:lnTo>
                    <a:pt x="1447" y="0"/>
                  </a:lnTo>
                  <a:close/>
                </a:path>
              </a:pathLst>
            </a:custGeom>
            <a:solidFill>
              <a:srgbClr val="565656"/>
            </a:solidFill>
          </p:spPr>
          <p:txBody>
            <a:bodyPr wrap="square" lIns="0" tIns="0" rIns="0" bIns="0" rtlCol="0"/>
            <a:lstStyle/>
            <a:p/>
          </p:txBody>
        </p:sp>
        <p:sp>
          <p:nvSpPr>
            <p:cNvPr id="123" name="object 123" descr=""/>
            <p:cNvSpPr/>
            <p:nvPr/>
          </p:nvSpPr>
          <p:spPr>
            <a:xfrm>
              <a:off x="2996446" y="2974912"/>
              <a:ext cx="438784" cy="65405"/>
            </a:xfrm>
            <a:custGeom>
              <a:avLst/>
              <a:gdLst/>
              <a:ahLst/>
              <a:cxnLst/>
              <a:rect l="l" t="t" r="r" b="b"/>
              <a:pathLst>
                <a:path w="438785" h="65405">
                  <a:moveTo>
                    <a:pt x="0" y="8587"/>
                  </a:moveTo>
                  <a:lnTo>
                    <a:pt x="42941" y="22831"/>
                  </a:lnTo>
                  <a:lnTo>
                    <a:pt x="121409" y="42023"/>
                  </a:lnTo>
                  <a:lnTo>
                    <a:pt x="177449" y="56514"/>
                  </a:lnTo>
                  <a:lnTo>
                    <a:pt x="189115" y="59222"/>
                  </a:lnTo>
                  <a:lnTo>
                    <a:pt x="288079" y="64926"/>
                  </a:lnTo>
                  <a:lnTo>
                    <a:pt x="308698" y="65318"/>
                  </a:lnTo>
                  <a:lnTo>
                    <a:pt x="318571" y="63192"/>
                  </a:lnTo>
                  <a:lnTo>
                    <a:pt x="336880" y="59826"/>
                  </a:lnTo>
                  <a:lnTo>
                    <a:pt x="358037" y="56368"/>
                  </a:lnTo>
                  <a:lnTo>
                    <a:pt x="376453" y="53964"/>
                  </a:lnTo>
                  <a:lnTo>
                    <a:pt x="392010" y="52667"/>
                  </a:lnTo>
                  <a:lnTo>
                    <a:pt x="418562" y="50912"/>
                  </a:lnTo>
                  <a:lnTo>
                    <a:pt x="425018" y="50179"/>
                  </a:lnTo>
                  <a:lnTo>
                    <a:pt x="426542" y="49811"/>
                  </a:lnTo>
                  <a:lnTo>
                    <a:pt x="429285" y="49544"/>
                  </a:lnTo>
                  <a:lnTo>
                    <a:pt x="432904" y="47042"/>
                  </a:lnTo>
                  <a:lnTo>
                    <a:pt x="436727" y="44540"/>
                  </a:lnTo>
                  <a:lnTo>
                    <a:pt x="435089" y="41518"/>
                  </a:lnTo>
                  <a:lnTo>
                    <a:pt x="438708" y="38508"/>
                  </a:lnTo>
                  <a:lnTo>
                    <a:pt x="435089" y="36006"/>
                  </a:lnTo>
                  <a:lnTo>
                    <a:pt x="405333" y="29321"/>
                  </a:lnTo>
                  <a:lnTo>
                    <a:pt x="305493" y="9755"/>
                  </a:lnTo>
                  <a:lnTo>
                    <a:pt x="4813" y="9755"/>
                  </a:lnTo>
                  <a:lnTo>
                    <a:pt x="0" y="8587"/>
                  </a:lnTo>
                  <a:close/>
                </a:path>
                <a:path w="438785" h="65405">
                  <a:moveTo>
                    <a:pt x="254516" y="0"/>
                  </a:moveTo>
                  <a:lnTo>
                    <a:pt x="208741" y="0"/>
                  </a:lnTo>
                  <a:lnTo>
                    <a:pt x="181929" y="163"/>
                  </a:lnTo>
                  <a:lnTo>
                    <a:pt x="163519" y="608"/>
                  </a:lnTo>
                  <a:lnTo>
                    <a:pt x="143078" y="1475"/>
                  </a:lnTo>
                  <a:lnTo>
                    <a:pt x="26799" y="8442"/>
                  </a:lnTo>
                  <a:lnTo>
                    <a:pt x="10807" y="8980"/>
                  </a:lnTo>
                  <a:lnTo>
                    <a:pt x="4813" y="9755"/>
                  </a:lnTo>
                  <a:lnTo>
                    <a:pt x="305493" y="9755"/>
                  </a:lnTo>
                  <a:lnTo>
                    <a:pt x="254516" y="0"/>
                  </a:lnTo>
                  <a:close/>
                </a:path>
              </a:pathLst>
            </a:custGeom>
            <a:solidFill>
              <a:srgbClr val="D8D8D8"/>
            </a:solidFill>
          </p:spPr>
          <p:txBody>
            <a:bodyPr wrap="square" lIns="0" tIns="0" rIns="0" bIns="0" rtlCol="0"/>
            <a:lstStyle/>
            <a:p/>
          </p:txBody>
        </p:sp>
        <p:sp>
          <p:nvSpPr>
            <p:cNvPr id="124" name="object 124" descr=""/>
            <p:cNvSpPr/>
            <p:nvPr/>
          </p:nvSpPr>
          <p:spPr>
            <a:xfrm>
              <a:off x="3072268" y="3035697"/>
              <a:ext cx="390525" cy="51435"/>
            </a:xfrm>
            <a:custGeom>
              <a:avLst/>
              <a:gdLst/>
              <a:ahLst/>
              <a:cxnLst/>
              <a:rect l="l" t="t" r="r" b="b"/>
              <a:pathLst>
                <a:path w="390525" h="51435">
                  <a:moveTo>
                    <a:pt x="0" y="18592"/>
                  </a:moveTo>
                  <a:lnTo>
                    <a:pt x="1714" y="19850"/>
                  </a:lnTo>
                  <a:lnTo>
                    <a:pt x="3276" y="25603"/>
                  </a:lnTo>
                  <a:lnTo>
                    <a:pt x="6883" y="26606"/>
                  </a:lnTo>
                  <a:lnTo>
                    <a:pt x="96498" y="46698"/>
                  </a:lnTo>
                  <a:lnTo>
                    <a:pt x="116306" y="50863"/>
                  </a:lnTo>
                  <a:lnTo>
                    <a:pt x="144480" y="51189"/>
                  </a:lnTo>
                  <a:lnTo>
                    <a:pt x="256497" y="49513"/>
                  </a:lnTo>
                  <a:lnTo>
                    <a:pt x="287693" y="48310"/>
                  </a:lnTo>
                  <a:lnTo>
                    <a:pt x="301999" y="46342"/>
                  </a:lnTo>
                  <a:lnTo>
                    <a:pt x="321930" y="43059"/>
                  </a:lnTo>
                  <a:lnTo>
                    <a:pt x="323178" y="42811"/>
                  </a:lnTo>
                  <a:lnTo>
                    <a:pt x="291299" y="42811"/>
                  </a:lnTo>
                  <a:lnTo>
                    <a:pt x="282230" y="41750"/>
                  </a:lnTo>
                  <a:lnTo>
                    <a:pt x="266326" y="39189"/>
                  </a:lnTo>
                  <a:lnTo>
                    <a:pt x="259176" y="37909"/>
                  </a:lnTo>
                  <a:lnTo>
                    <a:pt x="97586" y="37909"/>
                  </a:lnTo>
                  <a:lnTo>
                    <a:pt x="81920" y="35243"/>
                  </a:lnTo>
                  <a:lnTo>
                    <a:pt x="21309" y="22666"/>
                  </a:lnTo>
                  <a:lnTo>
                    <a:pt x="0" y="18592"/>
                  </a:lnTo>
                  <a:close/>
                </a:path>
                <a:path w="390525" h="51435">
                  <a:moveTo>
                    <a:pt x="366674" y="0"/>
                  </a:moveTo>
                  <a:lnTo>
                    <a:pt x="367461" y="5587"/>
                  </a:lnTo>
                  <a:lnTo>
                    <a:pt x="362051" y="11709"/>
                  </a:lnTo>
                  <a:lnTo>
                    <a:pt x="357022" y="15189"/>
                  </a:lnTo>
                  <a:lnTo>
                    <a:pt x="356677" y="22666"/>
                  </a:lnTo>
                  <a:lnTo>
                    <a:pt x="356667" y="22888"/>
                  </a:lnTo>
                  <a:lnTo>
                    <a:pt x="356542" y="25603"/>
                  </a:lnTo>
                  <a:lnTo>
                    <a:pt x="356496" y="26606"/>
                  </a:lnTo>
                  <a:lnTo>
                    <a:pt x="302497" y="41750"/>
                  </a:lnTo>
                  <a:lnTo>
                    <a:pt x="291299" y="42811"/>
                  </a:lnTo>
                  <a:lnTo>
                    <a:pt x="323178" y="42811"/>
                  </a:lnTo>
                  <a:lnTo>
                    <a:pt x="360547" y="33299"/>
                  </a:lnTo>
                  <a:lnTo>
                    <a:pt x="390169" y="6870"/>
                  </a:lnTo>
                  <a:lnTo>
                    <a:pt x="373214" y="4533"/>
                  </a:lnTo>
                  <a:lnTo>
                    <a:pt x="366674" y="0"/>
                  </a:lnTo>
                  <a:close/>
                </a:path>
                <a:path w="390525" h="51435">
                  <a:moveTo>
                    <a:pt x="243185" y="34860"/>
                  </a:moveTo>
                  <a:lnTo>
                    <a:pt x="219562" y="34860"/>
                  </a:lnTo>
                  <a:lnTo>
                    <a:pt x="167715" y="36060"/>
                  </a:lnTo>
                  <a:lnTo>
                    <a:pt x="168200" y="36060"/>
                  </a:lnTo>
                  <a:lnTo>
                    <a:pt x="97586" y="37909"/>
                  </a:lnTo>
                  <a:lnTo>
                    <a:pt x="259176" y="37909"/>
                  </a:lnTo>
                  <a:lnTo>
                    <a:pt x="251155" y="36473"/>
                  </a:lnTo>
                  <a:lnTo>
                    <a:pt x="243185" y="34860"/>
                  </a:lnTo>
                  <a:close/>
                </a:path>
              </a:pathLst>
            </a:custGeom>
            <a:solidFill>
              <a:srgbClr val="F5F5F5"/>
            </a:solidFill>
          </p:spPr>
          <p:txBody>
            <a:bodyPr wrap="square" lIns="0" tIns="0" rIns="0" bIns="0" rtlCol="0"/>
            <a:lstStyle/>
            <a:p/>
          </p:txBody>
        </p:sp>
        <p:pic>
          <p:nvPicPr>
            <p:cNvPr id="125" name="object 125" descr=""/>
            <p:cNvPicPr/>
            <p:nvPr/>
          </p:nvPicPr>
          <p:blipFill>
            <a:blip r:embed="rId48" cstate="print"/>
            <a:stretch>
              <a:fillRect/>
            </a:stretch>
          </p:blipFill>
          <p:spPr>
            <a:xfrm>
              <a:off x="2831933" y="2918027"/>
              <a:ext cx="145964" cy="66213"/>
            </a:xfrm>
            <a:prstGeom prst="rect">
              <a:avLst/>
            </a:prstGeom>
          </p:spPr>
        </p:pic>
        <p:sp>
          <p:nvSpPr>
            <p:cNvPr id="126" name="object 126" descr=""/>
            <p:cNvSpPr/>
            <p:nvPr/>
          </p:nvSpPr>
          <p:spPr>
            <a:xfrm>
              <a:off x="3185249" y="3068091"/>
              <a:ext cx="272415" cy="63500"/>
            </a:xfrm>
            <a:custGeom>
              <a:avLst/>
              <a:gdLst/>
              <a:ahLst/>
              <a:cxnLst/>
              <a:rect l="l" t="t" r="r" b="b"/>
              <a:pathLst>
                <a:path w="272414" h="63500">
                  <a:moveTo>
                    <a:pt x="269214" y="16103"/>
                  </a:moveTo>
                  <a:lnTo>
                    <a:pt x="268897" y="14312"/>
                  </a:lnTo>
                  <a:lnTo>
                    <a:pt x="266598" y="15697"/>
                  </a:lnTo>
                  <a:lnTo>
                    <a:pt x="256425" y="19926"/>
                  </a:lnTo>
                  <a:lnTo>
                    <a:pt x="192544" y="37439"/>
                  </a:lnTo>
                  <a:lnTo>
                    <a:pt x="135763" y="47117"/>
                  </a:lnTo>
                  <a:lnTo>
                    <a:pt x="77470" y="52895"/>
                  </a:lnTo>
                  <a:lnTo>
                    <a:pt x="31457" y="55676"/>
                  </a:lnTo>
                  <a:lnTo>
                    <a:pt x="11506" y="56400"/>
                  </a:lnTo>
                  <a:lnTo>
                    <a:pt x="6972" y="56934"/>
                  </a:lnTo>
                  <a:lnTo>
                    <a:pt x="3746" y="58762"/>
                  </a:lnTo>
                  <a:lnTo>
                    <a:pt x="1790" y="62738"/>
                  </a:lnTo>
                  <a:lnTo>
                    <a:pt x="8521" y="63119"/>
                  </a:lnTo>
                  <a:lnTo>
                    <a:pt x="63893" y="61341"/>
                  </a:lnTo>
                  <a:lnTo>
                    <a:pt x="128181" y="54470"/>
                  </a:lnTo>
                  <a:lnTo>
                    <a:pt x="211950" y="36296"/>
                  </a:lnTo>
                  <a:lnTo>
                    <a:pt x="260426" y="20802"/>
                  </a:lnTo>
                  <a:lnTo>
                    <a:pt x="267068" y="17589"/>
                  </a:lnTo>
                  <a:lnTo>
                    <a:pt x="269214" y="16103"/>
                  </a:lnTo>
                  <a:close/>
                </a:path>
                <a:path w="272414" h="63500">
                  <a:moveTo>
                    <a:pt x="271983" y="1790"/>
                  </a:moveTo>
                  <a:lnTo>
                    <a:pt x="271665" y="0"/>
                  </a:lnTo>
                  <a:lnTo>
                    <a:pt x="269367" y="1384"/>
                  </a:lnTo>
                  <a:lnTo>
                    <a:pt x="259194" y="5613"/>
                  </a:lnTo>
                  <a:lnTo>
                    <a:pt x="195313" y="23126"/>
                  </a:lnTo>
                  <a:lnTo>
                    <a:pt x="137820" y="32321"/>
                  </a:lnTo>
                  <a:lnTo>
                    <a:pt x="77965" y="37045"/>
                  </a:lnTo>
                  <a:lnTo>
                    <a:pt x="30378" y="38785"/>
                  </a:lnTo>
                  <a:lnTo>
                    <a:pt x="9715" y="39039"/>
                  </a:lnTo>
                  <a:lnTo>
                    <a:pt x="5181" y="39573"/>
                  </a:lnTo>
                  <a:lnTo>
                    <a:pt x="1955" y="41402"/>
                  </a:lnTo>
                  <a:lnTo>
                    <a:pt x="0" y="45377"/>
                  </a:lnTo>
                  <a:lnTo>
                    <a:pt x="6731" y="45745"/>
                  </a:lnTo>
                  <a:lnTo>
                    <a:pt x="62166" y="44018"/>
                  </a:lnTo>
                  <a:lnTo>
                    <a:pt x="128295" y="38379"/>
                  </a:lnTo>
                  <a:lnTo>
                    <a:pt x="169506" y="31889"/>
                  </a:lnTo>
                  <a:lnTo>
                    <a:pt x="214706" y="21983"/>
                  </a:lnTo>
                  <a:lnTo>
                    <a:pt x="263194" y="6502"/>
                  </a:lnTo>
                  <a:lnTo>
                    <a:pt x="269836" y="3276"/>
                  </a:lnTo>
                  <a:lnTo>
                    <a:pt x="271983" y="1790"/>
                  </a:lnTo>
                  <a:close/>
                </a:path>
              </a:pathLst>
            </a:custGeom>
            <a:solidFill>
              <a:srgbClr val="EDEDED"/>
            </a:solidFill>
          </p:spPr>
          <p:txBody>
            <a:bodyPr wrap="square" lIns="0" tIns="0" rIns="0" bIns="0" rtlCol="0"/>
            <a:lstStyle/>
            <a:p/>
          </p:txBody>
        </p:sp>
        <p:sp>
          <p:nvSpPr>
            <p:cNvPr id="127" name="object 127" descr=""/>
            <p:cNvSpPr/>
            <p:nvPr/>
          </p:nvSpPr>
          <p:spPr>
            <a:xfrm>
              <a:off x="2826307" y="2968891"/>
              <a:ext cx="149860" cy="90805"/>
            </a:xfrm>
            <a:custGeom>
              <a:avLst/>
              <a:gdLst/>
              <a:ahLst/>
              <a:cxnLst/>
              <a:rect l="l" t="t" r="r" b="b"/>
              <a:pathLst>
                <a:path w="149860" h="90805">
                  <a:moveTo>
                    <a:pt x="7321" y="0"/>
                  </a:moveTo>
                  <a:lnTo>
                    <a:pt x="2084" y="11250"/>
                  </a:lnTo>
                  <a:lnTo>
                    <a:pt x="0" y="19521"/>
                  </a:lnTo>
                  <a:lnTo>
                    <a:pt x="763" y="28880"/>
                  </a:lnTo>
                  <a:lnTo>
                    <a:pt x="4070" y="43395"/>
                  </a:lnTo>
                  <a:lnTo>
                    <a:pt x="9709" y="55041"/>
                  </a:lnTo>
                  <a:lnTo>
                    <a:pt x="15208" y="55384"/>
                  </a:lnTo>
                  <a:lnTo>
                    <a:pt x="21960" y="57687"/>
                  </a:lnTo>
                  <a:lnTo>
                    <a:pt x="37796" y="62142"/>
                  </a:lnTo>
                  <a:lnTo>
                    <a:pt x="145624" y="90779"/>
                  </a:lnTo>
                  <a:lnTo>
                    <a:pt x="141991" y="66922"/>
                  </a:lnTo>
                  <a:lnTo>
                    <a:pt x="141182" y="51130"/>
                  </a:lnTo>
                  <a:lnTo>
                    <a:pt x="143560" y="36347"/>
                  </a:lnTo>
                  <a:lnTo>
                    <a:pt x="149485" y="15519"/>
                  </a:lnTo>
                  <a:lnTo>
                    <a:pt x="74955" y="10904"/>
                  </a:lnTo>
                  <a:lnTo>
                    <a:pt x="35302" y="7750"/>
                  </a:lnTo>
                  <a:lnTo>
                    <a:pt x="17200" y="4600"/>
                  </a:lnTo>
                  <a:lnTo>
                    <a:pt x="7321" y="0"/>
                  </a:lnTo>
                  <a:close/>
                </a:path>
              </a:pathLst>
            </a:custGeom>
            <a:solidFill>
              <a:srgbClr val="E2E2E2"/>
            </a:solidFill>
          </p:spPr>
          <p:txBody>
            <a:bodyPr wrap="square" lIns="0" tIns="0" rIns="0" bIns="0" rtlCol="0"/>
            <a:lstStyle/>
            <a:p/>
          </p:txBody>
        </p:sp>
        <p:pic>
          <p:nvPicPr>
            <p:cNvPr id="128" name="object 128" descr=""/>
            <p:cNvPicPr/>
            <p:nvPr/>
          </p:nvPicPr>
          <p:blipFill>
            <a:blip r:embed="rId49" cstate="print"/>
            <a:stretch>
              <a:fillRect/>
            </a:stretch>
          </p:blipFill>
          <p:spPr>
            <a:xfrm>
              <a:off x="2836049" y="2988030"/>
              <a:ext cx="14820" cy="6477"/>
            </a:xfrm>
            <a:prstGeom prst="rect">
              <a:avLst/>
            </a:prstGeom>
          </p:spPr>
        </p:pic>
        <p:sp>
          <p:nvSpPr>
            <p:cNvPr id="129" name="object 129" descr=""/>
            <p:cNvSpPr/>
            <p:nvPr/>
          </p:nvSpPr>
          <p:spPr>
            <a:xfrm>
              <a:off x="2878001" y="2976180"/>
              <a:ext cx="8255" cy="60325"/>
            </a:xfrm>
            <a:custGeom>
              <a:avLst/>
              <a:gdLst/>
              <a:ahLst/>
              <a:cxnLst/>
              <a:rect l="l" t="t" r="r" b="b"/>
              <a:pathLst>
                <a:path w="8255" h="60325">
                  <a:moveTo>
                    <a:pt x="4125" y="0"/>
                  </a:moveTo>
                  <a:lnTo>
                    <a:pt x="1139" y="16439"/>
                  </a:lnTo>
                  <a:lnTo>
                    <a:pt x="0" y="28028"/>
                  </a:lnTo>
                  <a:lnTo>
                    <a:pt x="577" y="40265"/>
                  </a:lnTo>
                  <a:lnTo>
                    <a:pt x="2741" y="58648"/>
                  </a:lnTo>
                  <a:lnTo>
                    <a:pt x="7046" y="59817"/>
                  </a:lnTo>
                  <a:lnTo>
                    <a:pt x="3528" y="44240"/>
                  </a:lnTo>
                  <a:lnTo>
                    <a:pt x="2425" y="32883"/>
                  </a:lnTo>
                  <a:lnTo>
                    <a:pt x="3801" y="20197"/>
                  </a:lnTo>
                  <a:lnTo>
                    <a:pt x="7720" y="635"/>
                  </a:lnTo>
                  <a:lnTo>
                    <a:pt x="4125" y="0"/>
                  </a:lnTo>
                  <a:close/>
                </a:path>
              </a:pathLst>
            </a:custGeom>
            <a:solidFill>
              <a:srgbClr val="808080"/>
            </a:solidFill>
          </p:spPr>
          <p:txBody>
            <a:bodyPr wrap="square" lIns="0" tIns="0" rIns="0" bIns="0" rtlCol="0"/>
            <a:lstStyle/>
            <a:p/>
          </p:txBody>
        </p:sp>
        <p:pic>
          <p:nvPicPr>
            <p:cNvPr id="130" name="object 130" descr=""/>
            <p:cNvPicPr/>
            <p:nvPr/>
          </p:nvPicPr>
          <p:blipFill>
            <a:blip r:embed="rId49" cstate="print"/>
            <a:stretch>
              <a:fillRect/>
            </a:stretch>
          </p:blipFill>
          <p:spPr>
            <a:xfrm>
              <a:off x="2891434" y="2995028"/>
              <a:ext cx="18884" cy="7785"/>
            </a:xfrm>
            <a:prstGeom prst="rect">
              <a:avLst/>
            </a:prstGeom>
          </p:spPr>
        </p:pic>
        <p:sp>
          <p:nvSpPr>
            <p:cNvPr id="131" name="object 131" descr=""/>
            <p:cNvSpPr/>
            <p:nvPr/>
          </p:nvSpPr>
          <p:spPr>
            <a:xfrm>
              <a:off x="2825300" y="2968882"/>
              <a:ext cx="150495" cy="94615"/>
            </a:xfrm>
            <a:custGeom>
              <a:avLst/>
              <a:gdLst/>
              <a:ahLst/>
              <a:cxnLst/>
              <a:rect l="l" t="t" r="r" b="b"/>
              <a:pathLst>
                <a:path w="150494" h="94614">
                  <a:moveTo>
                    <a:pt x="6737" y="48193"/>
                  </a:moveTo>
                  <a:lnTo>
                    <a:pt x="9730" y="52908"/>
                  </a:lnTo>
                  <a:lnTo>
                    <a:pt x="11430" y="55219"/>
                  </a:lnTo>
                  <a:lnTo>
                    <a:pt x="131302" y="90319"/>
                  </a:lnTo>
                  <a:lnTo>
                    <a:pt x="146831" y="94538"/>
                  </a:lnTo>
                  <a:lnTo>
                    <a:pt x="149047" y="94538"/>
                  </a:lnTo>
                  <a:lnTo>
                    <a:pt x="149019" y="89547"/>
                  </a:lnTo>
                  <a:lnTo>
                    <a:pt x="144233" y="89547"/>
                  </a:lnTo>
                  <a:lnTo>
                    <a:pt x="13246" y="52908"/>
                  </a:lnTo>
                  <a:lnTo>
                    <a:pt x="6737" y="48193"/>
                  </a:lnTo>
                  <a:close/>
                </a:path>
                <a:path w="150494" h="94614">
                  <a:moveTo>
                    <a:pt x="146177" y="17183"/>
                  </a:moveTo>
                  <a:lnTo>
                    <a:pt x="144220" y="28272"/>
                  </a:lnTo>
                  <a:lnTo>
                    <a:pt x="143192" y="35172"/>
                  </a:lnTo>
                  <a:lnTo>
                    <a:pt x="142755" y="40768"/>
                  </a:lnTo>
                  <a:lnTo>
                    <a:pt x="142728" y="59538"/>
                  </a:lnTo>
                  <a:lnTo>
                    <a:pt x="143311" y="73274"/>
                  </a:lnTo>
                  <a:lnTo>
                    <a:pt x="143940" y="84745"/>
                  </a:lnTo>
                  <a:lnTo>
                    <a:pt x="144144" y="88078"/>
                  </a:lnTo>
                  <a:lnTo>
                    <a:pt x="144233" y="89547"/>
                  </a:lnTo>
                  <a:lnTo>
                    <a:pt x="149019" y="89547"/>
                  </a:lnTo>
                  <a:lnTo>
                    <a:pt x="149011" y="88078"/>
                  </a:lnTo>
                  <a:lnTo>
                    <a:pt x="148226" y="74225"/>
                  </a:lnTo>
                  <a:lnTo>
                    <a:pt x="147347" y="59538"/>
                  </a:lnTo>
                  <a:lnTo>
                    <a:pt x="146879" y="48193"/>
                  </a:lnTo>
                  <a:lnTo>
                    <a:pt x="150087" y="18195"/>
                  </a:lnTo>
                  <a:lnTo>
                    <a:pt x="146177" y="17183"/>
                  </a:lnTo>
                  <a:close/>
                </a:path>
                <a:path w="150494" h="94614">
                  <a:moveTo>
                    <a:pt x="5284" y="45657"/>
                  </a:moveTo>
                  <a:lnTo>
                    <a:pt x="5385" y="46577"/>
                  </a:lnTo>
                  <a:lnTo>
                    <a:pt x="5461" y="47269"/>
                  </a:lnTo>
                  <a:lnTo>
                    <a:pt x="6737" y="48193"/>
                  </a:lnTo>
                  <a:lnTo>
                    <a:pt x="5715" y="46577"/>
                  </a:lnTo>
                  <a:lnTo>
                    <a:pt x="5284" y="45657"/>
                  </a:lnTo>
                  <a:close/>
                </a:path>
                <a:path w="150494" h="94614">
                  <a:moveTo>
                    <a:pt x="8331" y="0"/>
                  </a:moveTo>
                  <a:lnTo>
                    <a:pt x="51" y="28272"/>
                  </a:lnTo>
                  <a:lnTo>
                    <a:pt x="0" y="29248"/>
                  </a:lnTo>
                  <a:lnTo>
                    <a:pt x="1785" y="38192"/>
                  </a:lnTo>
                  <a:lnTo>
                    <a:pt x="5284" y="45657"/>
                  </a:lnTo>
                  <a:lnTo>
                    <a:pt x="3649" y="30762"/>
                  </a:lnTo>
                  <a:lnTo>
                    <a:pt x="3525" y="18195"/>
                  </a:lnTo>
                  <a:lnTo>
                    <a:pt x="5253" y="8696"/>
                  </a:lnTo>
                  <a:lnTo>
                    <a:pt x="7326" y="2326"/>
                  </a:lnTo>
                  <a:lnTo>
                    <a:pt x="8331" y="0"/>
                  </a:lnTo>
                  <a:close/>
                </a:path>
              </a:pathLst>
            </a:custGeom>
            <a:solidFill>
              <a:srgbClr val="808080"/>
            </a:solidFill>
          </p:spPr>
          <p:txBody>
            <a:bodyPr wrap="square" lIns="0" tIns="0" rIns="0" bIns="0" rtlCol="0"/>
            <a:lstStyle/>
            <a:p/>
          </p:txBody>
        </p:sp>
        <p:sp>
          <p:nvSpPr>
            <p:cNvPr id="132" name="object 132" descr=""/>
            <p:cNvSpPr/>
            <p:nvPr/>
          </p:nvSpPr>
          <p:spPr>
            <a:xfrm>
              <a:off x="2994046" y="2984014"/>
              <a:ext cx="191770" cy="52705"/>
            </a:xfrm>
            <a:custGeom>
              <a:avLst/>
              <a:gdLst/>
              <a:ahLst/>
              <a:cxnLst/>
              <a:rect l="l" t="t" r="r" b="b"/>
              <a:pathLst>
                <a:path w="191769" h="52705">
                  <a:moveTo>
                    <a:pt x="0" y="0"/>
                  </a:moveTo>
                  <a:lnTo>
                    <a:pt x="58110" y="21372"/>
                  </a:lnTo>
                  <a:lnTo>
                    <a:pt x="94695" y="33200"/>
                  </a:lnTo>
                  <a:lnTo>
                    <a:pt x="167665" y="52362"/>
                  </a:lnTo>
                  <a:lnTo>
                    <a:pt x="179565" y="49288"/>
                  </a:lnTo>
                  <a:lnTo>
                    <a:pt x="188325" y="49288"/>
                  </a:lnTo>
                  <a:lnTo>
                    <a:pt x="19807" y="5574"/>
                  </a:lnTo>
                  <a:lnTo>
                    <a:pt x="5651" y="1739"/>
                  </a:lnTo>
                  <a:lnTo>
                    <a:pt x="0" y="0"/>
                  </a:lnTo>
                  <a:close/>
                </a:path>
                <a:path w="191769" h="52705">
                  <a:moveTo>
                    <a:pt x="188325" y="49288"/>
                  </a:moveTo>
                  <a:lnTo>
                    <a:pt x="179565" y="49288"/>
                  </a:lnTo>
                  <a:lnTo>
                    <a:pt x="191515" y="50114"/>
                  </a:lnTo>
                  <a:lnTo>
                    <a:pt x="188325" y="49288"/>
                  </a:lnTo>
                  <a:close/>
                </a:path>
              </a:pathLst>
            </a:custGeom>
            <a:solidFill>
              <a:srgbClr val="E2E2E2"/>
            </a:solidFill>
          </p:spPr>
          <p:txBody>
            <a:bodyPr wrap="square" lIns="0" tIns="0" rIns="0" bIns="0" rtlCol="0"/>
            <a:lstStyle/>
            <a:p/>
          </p:txBody>
        </p:sp>
        <p:pic>
          <p:nvPicPr>
            <p:cNvPr id="133" name="object 133" descr=""/>
            <p:cNvPicPr/>
            <p:nvPr/>
          </p:nvPicPr>
          <p:blipFill>
            <a:blip r:embed="rId50" cstate="print"/>
            <a:stretch>
              <a:fillRect/>
            </a:stretch>
          </p:blipFill>
          <p:spPr>
            <a:xfrm>
              <a:off x="3245241" y="2974900"/>
              <a:ext cx="187561" cy="104046"/>
            </a:xfrm>
            <a:prstGeom prst="rect">
              <a:avLst/>
            </a:prstGeom>
          </p:spPr>
        </p:pic>
        <p:sp>
          <p:nvSpPr>
            <p:cNvPr id="134" name="object 134" descr=""/>
            <p:cNvSpPr/>
            <p:nvPr/>
          </p:nvSpPr>
          <p:spPr>
            <a:xfrm>
              <a:off x="3077146" y="3062971"/>
              <a:ext cx="93345" cy="88265"/>
            </a:xfrm>
            <a:custGeom>
              <a:avLst/>
              <a:gdLst/>
              <a:ahLst/>
              <a:cxnLst/>
              <a:rect l="l" t="t" r="r" b="b"/>
              <a:pathLst>
                <a:path w="93344" h="88264">
                  <a:moveTo>
                    <a:pt x="91089" y="81457"/>
                  </a:moveTo>
                  <a:lnTo>
                    <a:pt x="52209" y="81457"/>
                  </a:lnTo>
                  <a:lnTo>
                    <a:pt x="60578" y="83959"/>
                  </a:lnTo>
                  <a:lnTo>
                    <a:pt x="73130" y="85974"/>
                  </a:lnTo>
                  <a:lnTo>
                    <a:pt x="80456" y="87074"/>
                  </a:lnTo>
                  <a:lnTo>
                    <a:pt x="85383" y="87645"/>
                  </a:lnTo>
                  <a:lnTo>
                    <a:pt x="90741" y="88074"/>
                  </a:lnTo>
                  <a:lnTo>
                    <a:pt x="90851" y="85974"/>
                  </a:lnTo>
                  <a:lnTo>
                    <a:pt x="90957" y="83959"/>
                  </a:lnTo>
                  <a:lnTo>
                    <a:pt x="91078" y="81661"/>
                  </a:lnTo>
                  <a:lnTo>
                    <a:pt x="91089" y="81457"/>
                  </a:lnTo>
                  <a:close/>
                </a:path>
                <a:path w="93344" h="88264">
                  <a:moveTo>
                    <a:pt x="0" y="0"/>
                  </a:moveTo>
                  <a:lnTo>
                    <a:pt x="18006" y="25371"/>
                  </a:lnTo>
                  <a:lnTo>
                    <a:pt x="25512" y="41709"/>
                  </a:lnTo>
                  <a:lnTo>
                    <a:pt x="23872" y="56110"/>
                  </a:lnTo>
                  <a:lnTo>
                    <a:pt x="14439" y="75666"/>
                  </a:lnTo>
                  <a:lnTo>
                    <a:pt x="38481" y="81661"/>
                  </a:lnTo>
                  <a:lnTo>
                    <a:pt x="52209" y="81457"/>
                  </a:lnTo>
                  <a:lnTo>
                    <a:pt x="91089" y="81457"/>
                  </a:lnTo>
                  <a:lnTo>
                    <a:pt x="92711" y="50620"/>
                  </a:lnTo>
                  <a:lnTo>
                    <a:pt x="43776" y="8686"/>
                  </a:lnTo>
                  <a:lnTo>
                    <a:pt x="7888" y="369"/>
                  </a:lnTo>
                  <a:lnTo>
                    <a:pt x="0" y="0"/>
                  </a:lnTo>
                  <a:close/>
                </a:path>
              </a:pathLst>
            </a:custGeom>
            <a:solidFill>
              <a:srgbClr val="D1D1D1"/>
            </a:solidFill>
          </p:spPr>
          <p:txBody>
            <a:bodyPr wrap="square" lIns="0" tIns="0" rIns="0" bIns="0" rtlCol="0"/>
            <a:lstStyle/>
            <a:p/>
          </p:txBody>
        </p:sp>
        <p:sp>
          <p:nvSpPr>
            <p:cNvPr id="135" name="object 135" descr=""/>
            <p:cNvSpPr/>
            <p:nvPr/>
          </p:nvSpPr>
          <p:spPr>
            <a:xfrm>
              <a:off x="2996446" y="2975180"/>
              <a:ext cx="309245" cy="65405"/>
            </a:xfrm>
            <a:custGeom>
              <a:avLst/>
              <a:gdLst/>
              <a:ahLst/>
              <a:cxnLst/>
              <a:rect l="l" t="t" r="r" b="b"/>
              <a:pathLst>
                <a:path w="309245" h="65405">
                  <a:moveTo>
                    <a:pt x="179252" y="84"/>
                  </a:moveTo>
                  <a:lnTo>
                    <a:pt x="173191" y="0"/>
                  </a:lnTo>
                  <a:lnTo>
                    <a:pt x="143078" y="1206"/>
                  </a:lnTo>
                  <a:lnTo>
                    <a:pt x="26799" y="8173"/>
                  </a:lnTo>
                  <a:lnTo>
                    <a:pt x="10807" y="8712"/>
                  </a:lnTo>
                  <a:lnTo>
                    <a:pt x="4813" y="9486"/>
                  </a:lnTo>
                  <a:lnTo>
                    <a:pt x="0" y="8318"/>
                  </a:lnTo>
                  <a:lnTo>
                    <a:pt x="3251" y="10579"/>
                  </a:lnTo>
                  <a:lnTo>
                    <a:pt x="16102" y="14903"/>
                  </a:lnTo>
                  <a:lnTo>
                    <a:pt x="42941" y="22563"/>
                  </a:lnTo>
                  <a:lnTo>
                    <a:pt x="73509" y="30644"/>
                  </a:lnTo>
                  <a:lnTo>
                    <a:pt x="121409" y="41754"/>
                  </a:lnTo>
                  <a:lnTo>
                    <a:pt x="177449" y="56246"/>
                  </a:lnTo>
                  <a:lnTo>
                    <a:pt x="189115" y="58953"/>
                  </a:lnTo>
                  <a:lnTo>
                    <a:pt x="207612" y="59902"/>
                  </a:lnTo>
                  <a:lnTo>
                    <a:pt x="288188" y="64657"/>
                  </a:lnTo>
                  <a:lnTo>
                    <a:pt x="309029" y="65049"/>
                  </a:lnTo>
                  <a:lnTo>
                    <a:pt x="291563" y="54338"/>
                  </a:lnTo>
                  <a:lnTo>
                    <a:pt x="248532" y="32235"/>
                  </a:lnTo>
                  <a:lnTo>
                    <a:pt x="184492" y="546"/>
                  </a:lnTo>
                  <a:lnTo>
                    <a:pt x="179252" y="84"/>
                  </a:lnTo>
                  <a:close/>
                </a:path>
              </a:pathLst>
            </a:custGeom>
            <a:solidFill>
              <a:srgbClr val="DEDEDE"/>
            </a:solidFill>
          </p:spPr>
          <p:txBody>
            <a:bodyPr wrap="square" lIns="0" tIns="0" rIns="0" bIns="0" rtlCol="0"/>
            <a:lstStyle/>
            <a:p/>
          </p:txBody>
        </p:sp>
        <p:sp>
          <p:nvSpPr>
            <p:cNvPr id="136" name="object 136" descr=""/>
            <p:cNvSpPr/>
            <p:nvPr/>
          </p:nvSpPr>
          <p:spPr>
            <a:xfrm>
              <a:off x="2942093" y="2911143"/>
              <a:ext cx="316230" cy="76200"/>
            </a:xfrm>
            <a:custGeom>
              <a:avLst/>
              <a:gdLst/>
              <a:ahLst/>
              <a:cxnLst/>
              <a:rect l="l" t="t" r="r" b="b"/>
              <a:pathLst>
                <a:path w="316229" h="76200">
                  <a:moveTo>
                    <a:pt x="2870" y="0"/>
                  </a:moveTo>
                  <a:lnTo>
                    <a:pt x="0" y="0"/>
                  </a:lnTo>
                  <a:lnTo>
                    <a:pt x="16700" y="6502"/>
                  </a:lnTo>
                  <a:lnTo>
                    <a:pt x="18872" y="9702"/>
                  </a:lnTo>
                  <a:lnTo>
                    <a:pt x="25421" y="21831"/>
                  </a:lnTo>
                  <a:lnTo>
                    <a:pt x="34412" y="40670"/>
                  </a:lnTo>
                  <a:lnTo>
                    <a:pt x="47790" y="69761"/>
                  </a:lnTo>
                  <a:lnTo>
                    <a:pt x="50673" y="75768"/>
                  </a:lnTo>
                  <a:lnTo>
                    <a:pt x="63690" y="73774"/>
                  </a:lnTo>
                  <a:lnTo>
                    <a:pt x="66573" y="73774"/>
                  </a:lnTo>
                  <a:lnTo>
                    <a:pt x="176456" y="67859"/>
                  </a:lnTo>
                  <a:lnTo>
                    <a:pt x="203187" y="66763"/>
                  </a:lnTo>
                  <a:lnTo>
                    <a:pt x="57175" y="66763"/>
                  </a:lnTo>
                  <a:lnTo>
                    <a:pt x="49216" y="57360"/>
                  </a:lnTo>
                  <a:lnTo>
                    <a:pt x="37757" y="37477"/>
                  </a:lnTo>
                  <a:lnTo>
                    <a:pt x="26793" y="17347"/>
                  </a:lnTo>
                  <a:lnTo>
                    <a:pt x="20320" y="7200"/>
                  </a:lnTo>
                  <a:lnTo>
                    <a:pt x="12153" y="2311"/>
                  </a:lnTo>
                  <a:lnTo>
                    <a:pt x="2870" y="0"/>
                  </a:lnTo>
                  <a:close/>
                </a:path>
                <a:path w="316229" h="76200">
                  <a:moveTo>
                    <a:pt x="176491" y="4787"/>
                  </a:moveTo>
                  <a:lnTo>
                    <a:pt x="178593" y="5739"/>
                  </a:lnTo>
                  <a:lnTo>
                    <a:pt x="187085" y="8304"/>
                  </a:lnTo>
                  <a:lnTo>
                    <a:pt x="198760" y="12047"/>
                  </a:lnTo>
                  <a:lnTo>
                    <a:pt x="210413" y="16535"/>
                  </a:lnTo>
                  <a:lnTo>
                    <a:pt x="224991" y="23987"/>
                  </a:lnTo>
                  <a:lnTo>
                    <a:pt x="280702" y="54165"/>
                  </a:lnTo>
                  <a:lnTo>
                    <a:pt x="294259" y="61760"/>
                  </a:lnTo>
                  <a:lnTo>
                    <a:pt x="279366" y="62515"/>
                  </a:lnTo>
                  <a:lnTo>
                    <a:pt x="199742" y="62515"/>
                  </a:lnTo>
                  <a:lnTo>
                    <a:pt x="183667" y="62763"/>
                  </a:lnTo>
                  <a:lnTo>
                    <a:pt x="160859" y="63947"/>
                  </a:lnTo>
                  <a:lnTo>
                    <a:pt x="76216" y="66763"/>
                  </a:lnTo>
                  <a:lnTo>
                    <a:pt x="203187" y="66763"/>
                  </a:lnTo>
                  <a:lnTo>
                    <a:pt x="310159" y="64757"/>
                  </a:lnTo>
                  <a:lnTo>
                    <a:pt x="315950" y="64757"/>
                  </a:lnTo>
                  <a:lnTo>
                    <a:pt x="305828" y="62763"/>
                  </a:lnTo>
                  <a:lnTo>
                    <a:pt x="300761" y="60756"/>
                  </a:lnTo>
                  <a:lnTo>
                    <a:pt x="288121" y="53938"/>
                  </a:lnTo>
                  <a:lnTo>
                    <a:pt x="263755" y="40312"/>
                  </a:lnTo>
                  <a:lnTo>
                    <a:pt x="236619" y="25605"/>
                  </a:lnTo>
                  <a:lnTo>
                    <a:pt x="215671" y="15544"/>
                  </a:lnTo>
                  <a:lnTo>
                    <a:pt x="206131" y="12363"/>
                  </a:lnTo>
                  <a:lnTo>
                    <a:pt x="193767" y="8832"/>
                  </a:lnTo>
                  <a:lnTo>
                    <a:pt x="182560" y="5968"/>
                  </a:lnTo>
                  <a:lnTo>
                    <a:pt x="176491" y="4787"/>
                  </a:lnTo>
                  <a:close/>
                </a:path>
              </a:pathLst>
            </a:custGeom>
            <a:solidFill>
              <a:srgbClr val="A3A3A3"/>
            </a:solidFill>
          </p:spPr>
          <p:txBody>
            <a:bodyPr wrap="square" lIns="0" tIns="0" rIns="0" bIns="0" rtlCol="0"/>
            <a:lstStyle/>
            <a:p/>
          </p:txBody>
        </p:sp>
        <p:sp>
          <p:nvSpPr>
            <p:cNvPr id="137" name="object 137" descr=""/>
            <p:cNvSpPr/>
            <p:nvPr/>
          </p:nvSpPr>
          <p:spPr>
            <a:xfrm>
              <a:off x="3275076" y="3018011"/>
              <a:ext cx="152400" cy="22860"/>
            </a:xfrm>
            <a:custGeom>
              <a:avLst/>
              <a:gdLst/>
              <a:ahLst/>
              <a:cxnLst/>
              <a:rect l="l" t="t" r="r" b="b"/>
              <a:pathLst>
                <a:path w="152400" h="22860">
                  <a:moveTo>
                    <a:pt x="151650" y="0"/>
                  </a:moveTo>
                  <a:lnTo>
                    <a:pt x="113279" y="2270"/>
                  </a:lnTo>
                  <a:lnTo>
                    <a:pt x="73756" y="7378"/>
                  </a:lnTo>
                  <a:lnTo>
                    <a:pt x="17756" y="16990"/>
                  </a:lnTo>
                  <a:lnTo>
                    <a:pt x="0" y="21640"/>
                  </a:lnTo>
                  <a:lnTo>
                    <a:pt x="30543" y="22479"/>
                  </a:lnTo>
                  <a:lnTo>
                    <a:pt x="58339" y="16990"/>
                  </a:lnTo>
                  <a:lnTo>
                    <a:pt x="74695" y="13954"/>
                  </a:lnTo>
                  <a:lnTo>
                    <a:pt x="85993" y="12284"/>
                  </a:lnTo>
                  <a:lnTo>
                    <a:pt x="98615" y="10896"/>
                  </a:lnTo>
                  <a:lnTo>
                    <a:pt x="114744" y="9390"/>
                  </a:lnTo>
                  <a:lnTo>
                    <a:pt x="151079" y="6769"/>
                  </a:lnTo>
                  <a:lnTo>
                    <a:pt x="151650" y="5765"/>
                  </a:lnTo>
                  <a:lnTo>
                    <a:pt x="151885" y="5270"/>
                  </a:lnTo>
                  <a:lnTo>
                    <a:pt x="148691" y="5270"/>
                  </a:lnTo>
                  <a:lnTo>
                    <a:pt x="151650" y="0"/>
                  </a:lnTo>
                  <a:close/>
                </a:path>
                <a:path w="152400" h="22860">
                  <a:moveTo>
                    <a:pt x="152120" y="4775"/>
                  </a:moveTo>
                  <a:lnTo>
                    <a:pt x="148691" y="5270"/>
                  </a:lnTo>
                  <a:lnTo>
                    <a:pt x="151885" y="5270"/>
                  </a:lnTo>
                  <a:lnTo>
                    <a:pt x="152120" y="4775"/>
                  </a:lnTo>
                  <a:close/>
                </a:path>
              </a:pathLst>
            </a:custGeom>
            <a:solidFill>
              <a:srgbClr val="EDEDED"/>
            </a:solidFill>
          </p:spPr>
          <p:txBody>
            <a:bodyPr wrap="square" lIns="0" tIns="0" rIns="0" bIns="0" rtlCol="0"/>
            <a:lstStyle/>
            <a:p/>
          </p:txBody>
        </p:sp>
        <p:sp>
          <p:nvSpPr>
            <p:cNvPr id="138" name="object 138" descr=""/>
            <p:cNvSpPr/>
            <p:nvPr/>
          </p:nvSpPr>
          <p:spPr>
            <a:xfrm>
              <a:off x="3423031" y="3009739"/>
              <a:ext cx="22860" cy="38735"/>
            </a:xfrm>
            <a:custGeom>
              <a:avLst/>
              <a:gdLst/>
              <a:ahLst/>
              <a:cxnLst/>
              <a:rect l="l" t="t" r="r" b="b"/>
              <a:pathLst>
                <a:path w="22860" h="38735">
                  <a:moveTo>
                    <a:pt x="13576" y="0"/>
                  </a:moveTo>
                  <a:lnTo>
                    <a:pt x="9182" y="596"/>
                  </a:lnTo>
                  <a:lnTo>
                    <a:pt x="3035" y="3924"/>
                  </a:lnTo>
                  <a:lnTo>
                    <a:pt x="0" y="11417"/>
                  </a:lnTo>
                  <a:lnTo>
                    <a:pt x="3632" y="13741"/>
                  </a:lnTo>
                  <a:lnTo>
                    <a:pt x="7593" y="20007"/>
                  </a:lnTo>
                  <a:lnTo>
                    <a:pt x="8574" y="28657"/>
                  </a:lnTo>
                  <a:lnTo>
                    <a:pt x="8366" y="36097"/>
                  </a:lnTo>
                  <a:lnTo>
                    <a:pt x="8763" y="38734"/>
                  </a:lnTo>
                  <a:lnTo>
                    <a:pt x="10502" y="37617"/>
                  </a:lnTo>
                  <a:lnTo>
                    <a:pt x="20332" y="34810"/>
                  </a:lnTo>
                  <a:lnTo>
                    <a:pt x="22745" y="26263"/>
                  </a:lnTo>
                  <a:lnTo>
                    <a:pt x="22199" y="18389"/>
                  </a:lnTo>
                  <a:lnTo>
                    <a:pt x="17513" y="9296"/>
                  </a:lnTo>
                  <a:lnTo>
                    <a:pt x="13576" y="0"/>
                  </a:lnTo>
                  <a:close/>
                </a:path>
              </a:pathLst>
            </a:custGeom>
            <a:solidFill>
              <a:srgbClr val="898989"/>
            </a:solidFill>
          </p:spPr>
          <p:txBody>
            <a:bodyPr wrap="square" lIns="0" tIns="0" rIns="0" bIns="0" rtlCol="0"/>
            <a:lstStyle/>
            <a:p/>
          </p:txBody>
        </p:sp>
        <p:sp>
          <p:nvSpPr>
            <p:cNvPr id="139" name="object 139" descr=""/>
            <p:cNvSpPr/>
            <p:nvPr/>
          </p:nvSpPr>
          <p:spPr>
            <a:xfrm>
              <a:off x="3424663" y="3012370"/>
              <a:ext cx="20320" cy="33655"/>
            </a:xfrm>
            <a:custGeom>
              <a:avLst/>
              <a:gdLst/>
              <a:ahLst/>
              <a:cxnLst/>
              <a:rect l="l" t="t" r="r" b="b"/>
              <a:pathLst>
                <a:path w="20320" h="33655">
                  <a:moveTo>
                    <a:pt x="11760" y="0"/>
                  </a:moveTo>
                  <a:lnTo>
                    <a:pt x="7950" y="507"/>
                  </a:lnTo>
                  <a:lnTo>
                    <a:pt x="2616" y="3390"/>
                  </a:lnTo>
                  <a:lnTo>
                    <a:pt x="0" y="9893"/>
                  </a:lnTo>
                  <a:lnTo>
                    <a:pt x="3136" y="11899"/>
                  </a:lnTo>
                  <a:lnTo>
                    <a:pt x="6567" y="17331"/>
                  </a:lnTo>
                  <a:lnTo>
                    <a:pt x="7418" y="24828"/>
                  </a:lnTo>
                  <a:lnTo>
                    <a:pt x="7242" y="31277"/>
                  </a:lnTo>
                  <a:lnTo>
                    <a:pt x="7594" y="33566"/>
                  </a:lnTo>
                  <a:lnTo>
                    <a:pt x="9093" y="32588"/>
                  </a:lnTo>
                  <a:lnTo>
                    <a:pt x="17614" y="30162"/>
                  </a:lnTo>
                  <a:lnTo>
                    <a:pt x="19710" y="22758"/>
                  </a:lnTo>
                  <a:lnTo>
                    <a:pt x="19227" y="15938"/>
                  </a:lnTo>
                  <a:lnTo>
                    <a:pt x="15176" y="8051"/>
                  </a:lnTo>
                  <a:lnTo>
                    <a:pt x="11760" y="0"/>
                  </a:lnTo>
                  <a:close/>
                </a:path>
              </a:pathLst>
            </a:custGeom>
            <a:solidFill>
              <a:srgbClr val="F9FDF9"/>
            </a:solidFill>
          </p:spPr>
          <p:txBody>
            <a:bodyPr wrap="square" lIns="0" tIns="0" rIns="0" bIns="0" rtlCol="0"/>
            <a:lstStyle/>
            <a:p/>
          </p:txBody>
        </p:sp>
        <p:sp>
          <p:nvSpPr>
            <p:cNvPr id="140" name="object 140" descr=""/>
            <p:cNvSpPr/>
            <p:nvPr/>
          </p:nvSpPr>
          <p:spPr>
            <a:xfrm>
              <a:off x="2795698" y="3019921"/>
              <a:ext cx="46355" cy="60325"/>
            </a:xfrm>
            <a:custGeom>
              <a:avLst/>
              <a:gdLst/>
              <a:ahLst/>
              <a:cxnLst/>
              <a:rect l="l" t="t" r="r" b="b"/>
              <a:pathLst>
                <a:path w="46355" h="60325">
                  <a:moveTo>
                    <a:pt x="19405" y="0"/>
                  </a:moveTo>
                  <a:lnTo>
                    <a:pt x="9083" y="3123"/>
                  </a:lnTo>
                  <a:lnTo>
                    <a:pt x="3321" y="10655"/>
                  </a:lnTo>
                  <a:lnTo>
                    <a:pt x="749" y="19834"/>
                  </a:lnTo>
                  <a:lnTo>
                    <a:pt x="0" y="27901"/>
                  </a:lnTo>
                  <a:lnTo>
                    <a:pt x="2405" y="38060"/>
                  </a:lnTo>
                  <a:lnTo>
                    <a:pt x="7889" y="48571"/>
                  </a:lnTo>
                  <a:lnTo>
                    <a:pt x="16427" y="56805"/>
                  </a:lnTo>
                  <a:lnTo>
                    <a:pt x="27990" y="60134"/>
                  </a:lnTo>
                  <a:lnTo>
                    <a:pt x="37243" y="58536"/>
                  </a:lnTo>
                  <a:lnTo>
                    <a:pt x="42691" y="52925"/>
                  </a:lnTo>
                  <a:lnTo>
                    <a:pt x="45271" y="43959"/>
                  </a:lnTo>
                  <a:lnTo>
                    <a:pt x="45923" y="32296"/>
                  </a:lnTo>
                  <a:lnTo>
                    <a:pt x="44217" y="21688"/>
                  </a:lnTo>
                  <a:lnTo>
                    <a:pt x="39184" y="11204"/>
                  </a:lnTo>
                  <a:lnTo>
                    <a:pt x="30890" y="3192"/>
                  </a:lnTo>
                  <a:lnTo>
                    <a:pt x="19405" y="0"/>
                  </a:lnTo>
                  <a:close/>
                </a:path>
              </a:pathLst>
            </a:custGeom>
            <a:solidFill>
              <a:srgbClr val="212121"/>
            </a:solidFill>
          </p:spPr>
          <p:txBody>
            <a:bodyPr wrap="square" lIns="0" tIns="0" rIns="0" bIns="0" rtlCol="0"/>
            <a:lstStyle/>
            <a:p/>
          </p:txBody>
        </p:sp>
        <p:sp>
          <p:nvSpPr>
            <p:cNvPr id="141" name="object 141" descr=""/>
            <p:cNvSpPr/>
            <p:nvPr/>
          </p:nvSpPr>
          <p:spPr>
            <a:xfrm>
              <a:off x="2792189" y="3012657"/>
              <a:ext cx="47625" cy="42545"/>
            </a:xfrm>
            <a:custGeom>
              <a:avLst/>
              <a:gdLst/>
              <a:ahLst/>
              <a:cxnLst/>
              <a:rect l="l" t="t" r="r" b="b"/>
              <a:pathLst>
                <a:path w="47625" h="42544">
                  <a:moveTo>
                    <a:pt x="16713" y="0"/>
                  </a:moveTo>
                  <a:lnTo>
                    <a:pt x="10401" y="965"/>
                  </a:lnTo>
                  <a:lnTo>
                    <a:pt x="0" y="2717"/>
                  </a:lnTo>
                  <a:lnTo>
                    <a:pt x="0" y="31750"/>
                  </a:lnTo>
                  <a:lnTo>
                    <a:pt x="4178" y="33667"/>
                  </a:lnTo>
                  <a:lnTo>
                    <a:pt x="4178" y="35166"/>
                  </a:lnTo>
                  <a:lnTo>
                    <a:pt x="42037" y="41960"/>
                  </a:lnTo>
                  <a:lnTo>
                    <a:pt x="47421" y="28117"/>
                  </a:lnTo>
                  <a:lnTo>
                    <a:pt x="44526" y="20104"/>
                  </a:lnTo>
                  <a:lnTo>
                    <a:pt x="40650" y="13328"/>
                  </a:lnTo>
                  <a:lnTo>
                    <a:pt x="34043" y="6370"/>
                  </a:lnTo>
                  <a:lnTo>
                    <a:pt x="25725" y="1253"/>
                  </a:lnTo>
                  <a:lnTo>
                    <a:pt x="16713" y="0"/>
                  </a:lnTo>
                  <a:close/>
                </a:path>
              </a:pathLst>
            </a:custGeom>
            <a:solidFill>
              <a:srgbClr val="171716"/>
            </a:solidFill>
          </p:spPr>
          <p:txBody>
            <a:bodyPr wrap="square" lIns="0" tIns="0" rIns="0" bIns="0" rtlCol="0"/>
            <a:lstStyle/>
            <a:p/>
          </p:txBody>
        </p:sp>
        <p:pic>
          <p:nvPicPr>
            <p:cNvPr id="142" name="object 142" descr=""/>
            <p:cNvPicPr/>
            <p:nvPr/>
          </p:nvPicPr>
          <p:blipFill>
            <a:blip r:embed="rId51" cstate="print"/>
            <a:stretch>
              <a:fillRect/>
            </a:stretch>
          </p:blipFill>
          <p:spPr>
            <a:xfrm>
              <a:off x="2803563" y="3029432"/>
              <a:ext cx="30187" cy="41186"/>
            </a:xfrm>
            <a:prstGeom prst="rect">
              <a:avLst/>
            </a:prstGeom>
          </p:spPr>
        </p:pic>
        <p:sp>
          <p:nvSpPr>
            <p:cNvPr id="143" name="object 143" descr=""/>
            <p:cNvSpPr/>
            <p:nvPr/>
          </p:nvSpPr>
          <p:spPr>
            <a:xfrm>
              <a:off x="2810567" y="3039029"/>
              <a:ext cx="16510" cy="22225"/>
            </a:xfrm>
            <a:custGeom>
              <a:avLst/>
              <a:gdLst/>
              <a:ahLst/>
              <a:cxnLst/>
              <a:rect l="l" t="t" r="r" b="b"/>
              <a:pathLst>
                <a:path w="16510" h="22225">
                  <a:moveTo>
                    <a:pt x="12776" y="0"/>
                  </a:moveTo>
                  <a:lnTo>
                    <a:pt x="50" y="0"/>
                  </a:lnTo>
                  <a:lnTo>
                    <a:pt x="139" y="7365"/>
                  </a:lnTo>
                  <a:lnTo>
                    <a:pt x="0" y="10579"/>
                  </a:lnTo>
                  <a:lnTo>
                    <a:pt x="419" y="15011"/>
                  </a:lnTo>
                  <a:lnTo>
                    <a:pt x="3187" y="21970"/>
                  </a:lnTo>
                  <a:lnTo>
                    <a:pt x="9550" y="21970"/>
                  </a:lnTo>
                  <a:lnTo>
                    <a:pt x="13804" y="21462"/>
                  </a:lnTo>
                  <a:lnTo>
                    <a:pt x="16103" y="18033"/>
                  </a:lnTo>
                  <a:lnTo>
                    <a:pt x="16103" y="6997"/>
                  </a:lnTo>
                  <a:lnTo>
                    <a:pt x="12776" y="0"/>
                  </a:lnTo>
                  <a:close/>
                </a:path>
              </a:pathLst>
            </a:custGeom>
            <a:solidFill>
              <a:srgbClr val="808080"/>
            </a:solidFill>
          </p:spPr>
          <p:txBody>
            <a:bodyPr wrap="square" lIns="0" tIns="0" rIns="0" bIns="0" rtlCol="0"/>
            <a:lstStyle/>
            <a:p/>
          </p:txBody>
        </p:sp>
        <p:sp>
          <p:nvSpPr>
            <p:cNvPr id="144" name="object 144" descr=""/>
            <p:cNvSpPr/>
            <p:nvPr/>
          </p:nvSpPr>
          <p:spPr>
            <a:xfrm>
              <a:off x="2788748" y="3009441"/>
              <a:ext cx="57785" cy="48260"/>
            </a:xfrm>
            <a:custGeom>
              <a:avLst/>
              <a:gdLst/>
              <a:ahLst/>
              <a:cxnLst/>
              <a:rect l="l" t="t" r="r" b="b"/>
              <a:pathLst>
                <a:path w="57785" h="48260">
                  <a:moveTo>
                    <a:pt x="41804" y="3098"/>
                  </a:moveTo>
                  <a:lnTo>
                    <a:pt x="23736" y="3098"/>
                  </a:lnTo>
                  <a:lnTo>
                    <a:pt x="39747" y="6013"/>
                  </a:lnTo>
                  <a:lnTo>
                    <a:pt x="39335" y="6013"/>
                  </a:lnTo>
                  <a:lnTo>
                    <a:pt x="47366" y="11349"/>
                  </a:lnTo>
                  <a:lnTo>
                    <a:pt x="50887" y="22992"/>
                  </a:lnTo>
                  <a:lnTo>
                    <a:pt x="50943" y="23177"/>
                  </a:lnTo>
                  <a:lnTo>
                    <a:pt x="51030" y="23467"/>
                  </a:lnTo>
                  <a:lnTo>
                    <a:pt x="52908" y="46316"/>
                  </a:lnTo>
                  <a:lnTo>
                    <a:pt x="57505" y="48183"/>
                  </a:lnTo>
                  <a:lnTo>
                    <a:pt x="57530" y="22992"/>
                  </a:lnTo>
                  <a:lnTo>
                    <a:pt x="53990" y="9575"/>
                  </a:lnTo>
                  <a:lnTo>
                    <a:pt x="43693" y="3417"/>
                  </a:lnTo>
                  <a:lnTo>
                    <a:pt x="41804" y="3098"/>
                  </a:lnTo>
                  <a:close/>
                </a:path>
                <a:path w="57785" h="48260">
                  <a:moveTo>
                    <a:pt x="23444" y="0"/>
                  </a:moveTo>
                  <a:lnTo>
                    <a:pt x="11258" y="0"/>
                  </a:lnTo>
                  <a:lnTo>
                    <a:pt x="4933" y="1482"/>
                  </a:lnTo>
                  <a:lnTo>
                    <a:pt x="0" y="26073"/>
                  </a:lnTo>
                  <a:lnTo>
                    <a:pt x="3797" y="27482"/>
                  </a:lnTo>
                  <a:lnTo>
                    <a:pt x="1287" y="13285"/>
                  </a:lnTo>
                  <a:lnTo>
                    <a:pt x="2527" y="6013"/>
                  </a:lnTo>
                  <a:lnTo>
                    <a:pt x="9289" y="3417"/>
                  </a:lnTo>
                  <a:lnTo>
                    <a:pt x="7461" y="3417"/>
                  </a:lnTo>
                  <a:lnTo>
                    <a:pt x="23736" y="3098"/>
                  </a:lnTo>
                  <a:lnTo>
                    <a:pt x="41804" y="3098"/>
                  </a:lnTo>
                  <a:lnTo>
                    <a:pt x="23444" y="0"/>
                  </a:lnTo>
                  <a:close/>
                </a:path>
              </a:pathLst>
            </a:custGeom>
            <a:solidFill>
              <a:srgbClr val="ACACAC"/>
            </a:solidFill>
          </p:spPr>
          <p:txBody>
            <a:bodyPr wrap="square" lIns="0" tIns="0" rIns="0" bIns="0" rtlCol="0"/>
            <a:lstStyle/>
            <a:p/>
          </p:txBody>
        </p:sp>
        <p:sp>
          <p:nvSpPr>
            <p:cNvPr id="145" name="object 145" descr=""/>
            <p:cNvSpPr/>
            <p:nvPr/>
          </p:nvSpPr>
          <p:spPr>
            <a:xfrm>
              <a:off x="2988298" y="3051271"/>
              <a:ext cx="105410" cy="90170"/>
            </a:xfrm>
            <a:custGeom>
              <a:avLst/>
              <a:gdLst/>
              <a:ahLst/>
              <a:cxnLst/>
              <a:rect l="l" t="t" r="r" b="b"/>
              <a:pathLst>
                <a:path w="105410" h="90169">
                  <a:moveTo>
                    <a:pt x="44562" y="0"/>
                  </a:moveTo>
                  <a:lnTo>
                    <a:pt x="34894" y="0"/>
                  </a:lnTo>
                  <a:lnTo>
                    <a:pt x="25325" y="1444"/>
                  </a:lnTo>
                  <a:lnTo>
                    <a:pt x="25678" y="1444"/>
                  </a:lnTo>
                  <a:lnTo>
                    <a:pt x="16691" y="4588"/>
                  </a:lnTo>
                  <a:lnTo>
                    <a:pt x="89" y="32947"/>
                  </a:lnTo>
                  <a:lnTo>
                    <a:pt x="0" y="35903"/>
                  </a:lnTo>
                  <a:lnTo>
                    <a:pt x="89220" y="84550"/>
                  </a:lnTo>
                  <a:lnTo>
                    <a:pt x="104997" y="89868"/>
                  </a:lnTo>
                  <a:lnTo>
                    <a:pt x="96920" y="79200"/>
                  </a:lnTo>
                  <a:lnTo>
                    <a:pt x="99218" y="69116"/>
                  </a:lnTo>
                  <a:lnTo>
                    <a:pt x="99421" y="65535"/>
                  </a:lnTo>
                  <a:lnTo>
                    <a:pt x="99357" y="63161"/>
                  </a:lnTo>
                  <a:lnTo>
                    <a:pt x="99262" y="59684"/>
                  </a:lnTo>
                  <a:lnTo>
                    <a:pt x="97964" y="52265"/>
                  </a:lnTo>
                  <a:lnTo>
                    <a:pt x="78928" y="15891"/>
                  </a:lnTo>
                  <a:lnTo>
                    <a:pt x="53870" y="1444"/>
                  </a:lnTo>
                  <a:lnTo>
                    <a:pt x="44562" y="0"/>
                  </a:lnTo>
                  <a:close/>
                </a:path>
              </a:pathLst>
            </a:custGeom>
            <a:solidFill>
              <a:srgbClr val="171716"/>
            </a:solidFill>
          </p:spPr>
          <p:txBody>
            <a:bodyPr wrap="square" lIns="0" tIns="0" rIns="0" bIns="0" rtlCol="0"/>
            <a:lstStyle/>
            <a:p/>
          </p:txBody>
        </p:sp>
        <p:sp>
          <p:nvSpPr>
            <p:cNvPr id="146" name="object 146" descr=""/>
            <p:cNvSpPr/>
            <p:nvPr/>
          </p:nvSpPr>
          <p:spPr>
            <a:xfrm>
              <a:off x="2997960" y="3059876"/>
              <a:ext cx="77470" cy="101600"/>
            </a:xfrm>
            <a:custGeom>
              <a:avLst/>
              <a:gdLst/>
              <a:ahLst/>
              <a:cxnLst/>
              <a:rect l="l" t="t" r="r" b="b"/>
              <a:pathLst>
                <a:path w="77469" h="101600">
                  <a:moveTo>
                    <a:pt x="32638" y="0"/>
                  </a:moveTo>
                  <a:lnTo>
                    <a:pt x="15276" y="5255"/>
                  </a:lnTo>
                  <a:lnTo>
                    <a:pt x="5584" y="17926"/>
                  </a:lnTo>
                  <a:lnTo>
                    <a:pt x="1260" y="33368"/>
                  </a:lnTo>
                  <a:lnTo>
                    <a:pt x="0" y="46939"/>
                  </a:lnTo>
                  <a:lnTo>
                    <a:pt x="4044" y="64025"/>
                  </a:lnTo>
                  <a:lnTo>
                    <a:pt x="13271" y="81705"/>
                  </a:lnTo>
                  <a:lnTo>
                    <a:pt x="27632" y="95555"/>
                  </a:lnTo>
                  <a:lnTo>
                    <a:pt x="47078" y="101155"/>
                  </a:lnTo>
                  <a:lnTo>
                    <a:pt x="62646" y="98471"/>
                  </a:lnTo>
                  <a:lnTo>
                    <a:pt x="71808" y="89030"/>
                  </a:lnTo>
                  <a:lnTo>
                    <a:pt x="76146" y="73944"/>
                  </a:lnTo>
                  <a:lnTo>
                    <a:pt x="77241" y="54330"/>
                  </a:lnTo>
                  <a:lnTo>
                    <a:pt x="74376" y="36486"/>
                  </a:lnTo>
                  <a:lnTo>
                    <a:pt x="65913" y="18849"/>
                  </a:lnTo>
                  <a:lnTo>
                    <a:pt x="51963" y="5370"/>
                  </a:lnTo>
                  <a:lnTo>
                    <a:pt x="32638" y="0"/>
                  </a:lnTo>
                  <a:close/>
                </a:path>
              </a:pathLst>
            </a:custGeom>
            <a:solidFill>
              <a:srgbClr val="212121"/>
            </a:solidFill>
          </p:spPr>
          <p:txBody>
            <a:bodyPr wrap="square" lIns="0" tIns="0" rIns="0" bIns="0" rtlCol="0"/>
            <a:lstStyle/>
            <a:p/>
          </p:txBody>
        </p:sp>
        <p:pic>
          <p:nvPicPr>
            <p:cNvPr id="147" name="object 147" descr=""/>
            <p:cNvPicPr/>
            <p:nvPr/>
          </p:nvPicPr>
          <p:blipFill>
            <a:blip r:embed="rId52" cstate="print"/>
            <a:stretch>
              <a:fillRect/>
            </a:stretch>
          </p:blipFill>
          <p:spPr>
            <a:xfrm>
              <a:off x="3011195" y="3075876"/>
              <a:ext cx="50774" cy="69265"/>
            </a:xfrm>
            <a:prstGeom prst="rect">
              <a:avLst/>
            </a:prstGeom>
          </p:spPr>
        </p:pic>
        <p:sp>
          <p:nvSpPr>
            <p:cNvPr id="148" name="object 148" descr=""/>
            <p:cNvSpPr/>
            <p:nvPr/>
          </p:nvSpPr>
          <p:spPr>
            <a:xfrm>
              <a:off x="3022973" y="3092027"/>
              <a:ext cx="27305" cy="37465"/>
            </a:xfrm>
            <a:custGeom>
              <a:avLst/>
              <a:gdLst/>
              <a:ahLst/>
              <a:cxnLst/>
              <a:rect l="l" t="t" r="r" b="b"/>
              <a:pathLst>
                <a:path w="27305" h="37464">
                  <a:moveTo>
                    <a:pt x="10795" y="0"/>
                  </a:moveTo>
                  <a:lnTo>
                    <a:pt x="88" y="0"/>
                  </a:lnTo>
                  <a:lnTo>
                    <a:pt x="241" y="12395"/>
                  </a:lnTo>
                  <a:lnTo>
                    <a:pt x="0" y="17792"/>
                  </a:lnTo>
                  <a:lnTo>
                    <a:pt x="698" y="25260"/>
                  </a:lnTo>
                  <a:lnTo>
                    <a:pt x="5359" y="36957"/>
                  </a:lnTo>
                  <a:lnTo>
                    <a:pt x="16065" y="36957"/>
                  </a:lnTo>
                  <a:lnTo>
                    <a:pt x="23228" y="36106"/>
                  </a:lnTo>
                  <a:lnTo>
                    <a:pt x="27089" y="30340"/>
                  </a:lnTo>
                  <a:lnTo>
                    <a:pt x="27089" y="19862"/>
                  </a:lnTo>
                  <a:lnTo>
                    <a:pt x="26043" y="13340"/>
                  </a:lnTo>
                  <a:lnTo>
                    <a:pt x="22952" y="6892"/>
                  </a:lnTo>
                  <a:lnTo>
                    <a:pt x="17855" y="1964"/>
                  </a:lnTo>
                  <a:lnTo>
                    <a:pt x="10795" y="0"/>
                  </a:lnTo>
                  <a:close/>
                </a:path>
              </a:pathLst>
            </a:custGeom>
            <a:solidFill>
              <a:srgbClr val="656565"/>
            </a:solidFill>
          </p:spPr>
          <p:txBody>
            <a:bodyPr wrap="square" lIns="0" tIns="0" rIns="0" bIns="0" rtlCol="0"/>
            <a:lstStyle/>
            <a:p/>
          </p:txBody>
        </p:sp>
        <p:sp>
          <p:nvSpPr>
            <p:cNvPr id="149" name="object 149" descr=""/>
            <p:cNvSpPr/>
            <p:nvPr/>
          </p:nvSpPr>
          <p:spPr>
            <a:xfrm>
              <a:off x="2977776" y="3042108"/>
              <a:ext cx="122555" cy="97155"/>
            </a:xfrm>
            <a:custGeom>
              <a:avLst/>
              <a:gdLst/>
              <a:ahLst/>
              <a:cxnLst/>
              <a:rect l="l" t="t" r="r" b="b"/>
              <a:pathLst>
                <a:path w="122555" h="97155">
                  <a:moveTo>
                    <a:pt x="39269" y="0"/>
                  </a:moveTo>
                  <a:lnTo>
                    <a:pt x="27485" y="851"/>
                  </a:lnTo>
                  <a:lnTo>
                    <a:pt x="19354" y="6098"/>
                  </a:lnTo>
                  <a:lnTo>
                    <a:pt x="2780" y="26183"/>
                  </a:lnTo>
                  <a:lnTo>
                    <a:pt x="0" y="33942"/>
                  </a:lnTo>
                  <a:lnTo>
                    <a:pt x="1686" y="44700"/>
                  </a:lnTo>
                  <a:lnTo>
                    <a:pt x="7588" y="62728"/>
                  </a:lnTo>
                  <a:lnTo>
                    <a:pt x="14751" y="67072"/>
                  </a:lnTo>
                  <a:lnTo>
                    <a:pt x="21024" y="68621"/>
                  </a:lnTo>
                  <a:lnTo>
                    <a:pt x="13969" y="66270"/>
                  </a:lnTo>
                  <a:lnTo>
                    <a:pt x="10734" y="61431"/>
                  </a:lnTo>
                  <a:lnTo>
                    <a:pt x="16483" y="16039"/>
                  </a:lnTo>
                  <a:lnTo>
                    <a:pt x="35031" y="7918"/>
                  </a:lnTo>
                  <a:lnTo>
                    <a:pt x="58197" y="9706"/>
                  </a:lnTo>
                  <a:lnTo>
                    <a:pt x="74447" y="12059"/>
                  </a:lnTo>
                  <a:lnTo>
                    <a:pt x="84085" y="15765"/>
                  </a:lnTo>
                  <a:lnTo>
                    <a:pt x="90910" y="23456"/>
                  </a:lnTo>
                  <a:lnTo>
                    <a:pt x="98723" y="37760"/>
                  </a:lnTo>
                  <a:lnTo>
                    <a:pt x="106760" y="51907"/>
                  </a:lnTo>
                  <a:lnTo>
                    <a:pt x="110347" y="61970"/>
                  </a:lnTo>
                  <a:lnTo>
                    <a:pt x="110299" y="72761"/>
                  </a:lnTo>
                  <a:lnTo>
                    <a:pt x="107435" y="89094"/>
                  </a:lnTo>
                  <a:lnTo>
                    <a:pt x="113734" y="96536"/>
                  </a:lnTo>
                  <a:lnTo>
                    <a:pt x="120651" y="80401"/>
                  </a:lnTo>
                  <a:lnTo>
                    <a:pt x="122300" y="68658"/>
                  </a:lnTo>
                  <a:lnTo>
                    <a:pt x="118092" y="55579"/>
                  </a:lnTo>
                  <a:lnTo>
                    <a:pt x="98618" y="19407"/>
                  </a:lnTo>
                  <a:lnTo>
                    <a:pt x="59302" y="2137"/>
                  </a:lnTo>
                  <a:lnTo>
                    <a:pt x="39269" y="0"/>
                  </a:lnTo>
                  <a:close/>
                </a:path>
              </a:pathLst>
            </a:custGeom>
            <a:solidFill>
              <a:srgbClr val="ACACAC"/>
            </a:solidFill>
          </p:spPr>
          <p:txBody>
            <a:bodyPr wrap="square" lIns="0" tIns="0" rIns="0" bIns="0" rtlCol="0"/>
            <a:lstStyle/>
            <a:p/>
          </p:txBody>
        </p:sp>
        <p:pic>
          <p:nvPicPr>
            <p:cNvPr id="150" name="object 150" descr=""/>
            <p:cNvPicPr/>
            <p:nvPr/>
          </p:nvPicPr>
          <p:blipFill>
            <a:blip r:embed="rId53" cstate="print"/>
            <a:stretch>
              <a:fillRect/>
            </a:stretch>
          </p:blipFill>
          <p:spPr>
            <a:xfrm>
              <a:off x="2835376" y="2908763"/>
              <a:ext cx="343485" cy="73140"/>
            </a:xfrm>
            <a:prstGeom prst="rect">
              <a:avLst/>
            </a:prstGeom>
          </p:spPr>
        </p:pic>
        <p:sp>
          <p:nvSpPr>
            <p:cNvPr id="151" name="object 151" descr=""/>
            <p:cNvSpPr/>
            <p:nvPr/>
          </p:nvSpPr>
          <p:spPr>
            <a:xfrm>
              <a:off x="3167813" y="3098942"/>
              <a:ext cx="276225" cy="56515"/>
            </a:xfrm>
            <a:custGeom>
              <a:avLst/>
              <a:gdLst/>
              <a:ahLst/>
              <a:cxnLst/>
              <a:rect l="l" t="t" r="r" b="b"/>
              <a:pathLst>
                <a:path w="276225" h="56514">
                  <a:moveTo>
                    <a:pt x="275882" y="0"/>
                  </a:moveTo>
                  <a:lnTo>
                    <a:pt x="246663" y="14794"/>
                  </a:lnTo>
                  <a:lnTo>
                    <a:pt x="222491" y="23775"/>
                  </a:lnTo>
                  <a:lnTo>
                    <a:pt x="190374" y="30587"/>
                  </a:lnTo>
                  <a:lnTo>
                    <a:pt x="137325" y="38874"/>
                  </a:lnTo>
                  <a:lnTo>
                    <a:pt x="100432" y="45118"/>
                  </a:lnTo>
                  <a:lnTo>
                    <a:pt x="73829" y="48534"/>
                  </a:lnTo>
                  <a:lnTo>
                    <a:pt x="44643" y="50324"/>
                  </a:lnTo>
                  <a:lnTo>
                    <a:pt x="0" y="51688"/>
                  </a:lnTo>
                  <a:lnTo>
                    <a:pt x="20462" y="54428"/>
                  </a:lnTo>
                  <a:lnTo>
                    <a:pt x="31635" y="55792"/>
                  </a:lnTo>
                  <a:lnTo>
                    <a:pt x="37436" y="56187"/>
                  </a:lnTo>
                  <a:lnTo>
                    <a:pt x="41783" y="56019"/>
                  </a:lnTo>
                  <a:lnTo>
                    <a:pt x="119178" y="49545"/>
                  </a:lnTo>
                  <a:lnTo>
                    <a:pt x="135864" y="47548"/>
                  </a:lnTo>
                  <a:lnTo>
                    <a:pt x="134340" y="44043"/>
                  </a:lnTo>
                  <a:lnTo>
                    <a:pt x="145999" y="41554"/>
                  </a:lnTo>
                  <a:lnTo>
                    <a:pt x="192256" y="34679"/>
                  </a:lnTo>
                  <a:lnTo>
                    <a:pt x="219449" y="29183"/>
                  </a:lnTo>
                  <a:lnTo>
                    <a:pt x="238175" y="22178"/>
                  </a:lnTo>
                  <a:lnTo>
                    <a:pt x="259029" y="10782"/>
                  </a:lnTo>
                  <a:lnTo>
                    <a:pt x="264482" y="10782"/>
                  </a:lnTo>
                  <a:lnTo>
                    <a:pt x="272580" y="4140"/>
                  </a:lnTo>
                  <a:lnTo>
                    <a:pt x="275882" y="0"/>
                  </a:lnTo>
                  <a:close/>
                </a:path>
                <a:path w="276225" h="56514">
                  <a:moveTo>
                    <a:pt x="264482" y="10782"/>
                  </a:moveTo>
                  <a:lnTo>
                    <a:pt x="259029" y="10782"/>
                  </a:lnTo>
                  <a:lnTo>
                    <a:pt x="255600" y="17437"/>
                  </a:lnTo>
                  <a:lnTo>
                    <a:pt x="260426" y="14109"/>
                  </a:lnTo>
                  <a:lnTo>
                    <a:pt x="264482" y="10782"/>
                  </a:lnTo>
                  <a:close/>
                </a:path>
              </a:pathLst>
            </a:custGeom>
            <a:solidFill>
              <a:srgbClr val="AAAAAA"/>
            </a:solidFill>
          </p:spPr>
          <p:txBody>
            <a:bodyPr wrap="square" lIns="0" tIns="0" rIns="0" bIns="0" rtlCol="0"/>
            <a:lstStyle/>
            <a:p/>
          </p:txBody>
        </p:sp>
        <p:sp>
          <p:nvSpPr>
            <p:cNvPr id="152" name="object 152" descr=""/>
            <p:cNvSpPr/>
            <p:nvPr/>
          </p:nvSpPr>
          <p:spPr>
            <a:xfrm>
              <a:off x="2905006" y="2956261"/>
              <a:ext cx="72390" cy="26034"/>
            </a:xfrm>
            <a:custGeom>
              <a:avLst/>
              <a:gdLst/>
              <a:ahLst/>
              <a:cxnLst/>
              <a:rect l="l" t="t" r="r" b="b"/>
              <a:pathLst>
                <a:path w="72389" h="26035">
                  <a:moveTo>
                    <a:pt x="67494" y="15367"/>
                  </a:moveTo>
                  <a:lnTo>
                    <a:pt x="56692" y="15367"/>
                  </a:lnTo>
                  <a:lnTo>
                    <a:pt x="63576" y="23126"/>
                  </a:lnTo>
                  <a:lnTo>
                    <a:pt x="63576" y="25628"/>
                  </a:lnTo>
                  <a:lnTo>
                    <a:pt x="72364" y="23672"/>
                  </a:lnTo>
                  <a:lnTo>
                    <a:pt x="67494" y="15367"/>
                  </a:lnTo>
                  <a:close/>
                </a:path>
                <a:path w="72389" h="26035">
                  <a:moveTo>
                    <a:pt x="42081" y="1139"/>
                  </a:moveTo>
                  <a:lnTo>
                    <a:pt x="39285" y="1139"/>
                  </a:lnTo>
                  <a:lnTo>
                    <a:pt x="29851" y="1468"/>
                  </a:lnTo>
                  <a:lnTo>
                    <a:pt x="17568" y="2362"/>
                  </a:lnTo>
                  <a:lnTo>
                    <a:pt x="6438" y="4102"/>
                  </a:lnTo>
                  <a:lnTo>
                    <a:pt x="0" y="5664"/>
                  </a:lnTo>
                  <a:lnTo>
                    <a:pt x="1828" y="20307"/>
                  </a:lnTo>
                  <a:lnTo>
                    <a:pt x="3543" y="21501"/>
                  </a:lnTo>
                  <a:lnTo>
                    <a:pt x="11636" y="22022"/>
                  </a:lnTo>
                  <a:lnTo>
                    <a:pt x="26337" y="22022"/>
                  </a:lnTo>
                  <a:lnTo>
                    <a:pt x="44128" y="21722"/>
                  </a:lnTo>
                  <a:lnTo>
                    <a:pt x="52171" y="21501"/>
                  </a:lnTo>
                  <a:lnTo>
                    <a:pt x="53809" y="21374"/>
                  </a:lnTo>
                  <a:lnTo>
                    <a:pt x="53085" y="17868"/>
                  </a:lnTo>
                  <a:lnTo>
                    <a:pt x="56692" y="15367"/>
                  </a:lnTo>
                  <a:lnTo>
                    <a:pt x="67494" y="15367"/>
                  </a:lnTo>
                  <a:lnTo>
                    <a:pt x="64999" y="11112"/>
                  </a:lnTo>
                  <a:lnTo>
                    <a:pt x="56337" y="11112"/>
                  </a:lnTo>
                  <a:lnTo>
                    <a:pt x="54190" y="10922"/>
                  </a:lnTo>
                  <a:lnTo>
                    <a:pt x="51295" y="10922"/>
                  </a:lnTo>
                  <a:lnTo>
                    <a:pt x="51637" y="5664"/>
                  </a:lnTo>
                  <a:lnTo>
                    <a:pt x="51739" y="4102"/>
                  </a:lnTo>
                  <a:lnTo>
                    <a:pt x="51790" y="3314"/>
                  </a:lnTo>
                  <a:lnTo>
                    <a:pt x="42081" y="1139"/>
                  </a:lnTo>
                  <a:close/>
                </a:path>
                <a:path w="72389" h="26035">
                  <a:moveTo>
                    <a:pt x="58483" y="0"/>
                  </a:moveTo>
                  <a:lnTo>
                    <a:pt x="57717" y="1139"/>
                  </a:lnTo>
                  <a:lnTo>
                    <a:pt x="54889" y="3098"/>
                  </a:lnTo>
                  <a:lnTo>
                    <a:pt x="56302" y="10922"/>
                  </a:lnTo>
                  <a:lnTo>
                    <a:pt x="56337" y="11112"/>
                  </a:lnTo>
                  <a:lnTo>
                    <a:pt x="64999" y="11112"/>
                  </a:lnTo>
                  <a:lnTo>
                    <a:pt x="58483" y="0"/>
                  </a:lnTo>
                  <a:close/>
                </a:path>
              </a:pathLst>
            </a:custGeom>
            <a:solidFill>
              <a:srgbClr val="B9B9B9"/>
            </a:solidFill>
          </p:spPr>
          <p:txBody>
            <a:bodyPr wrap="square" lIns="0" tIns="0" rIns="0" bIns="0" rtlCol="0"/>
            <a:lstStyle/>
            <a:p/>
          </p:txBody>
        </p:sp>
        <p:sp>
          <p:nvSpPr>
            <p:cNvPr id="153" name="object 153" descr=""/>
            <p:cNvSpPr/>
            <p:nvPr/>
          </p:nvSpPr>
          <p:spPr>
            <a:xfrm>
              <a:off x="2959376" y="2956294"/>
              <a:ext cx="17780" cy="25400"/>
            </a:xfrm>
            <a:custGeom>
              <a:avLst/>
              <a:gdLst/>
              <a:ahLst/>
              <a:cxnLst/>
              <a:rect l="l" t="t" r="r" b="b"/>
              <a:pathLst>
                <a:path w="17780" h="25400">
                  <a:moveTo>
                    <a:pt x="4102" y="0"/>
                  </a:moveTo>
                  <a:lnTo>
                    <a:pt x="2882" y="1092"/>
                  </a:lnTo>
                  <a:lnTo>
                    <a:pt x="0" y="3086"/>
                  </a:lnTo>
                  <a:lnTo>
                    <a:pt x="1435" y="11099"/>
                  </a:lnTo>
                  <a:lnTo>
                    <a:pt x="1803" y="14300"/>
                  </a:lnTo>
                  <a:lnTo>
                    <a:pt x="2730" y="18453"/>
                  </a:lnTo>
                  <a:lnTo>
                    <a:pt x="8648" y="22732"/>
                  </a:lnTo>
                  <a:lnTo>
                    <a:pt x="8648" y="25234"/>
                  </a:lnTo>
                  <a:lnTo>
                    <a:pt x="17360" y="23215"/>
                  </a:lnTo>
                  <a:lnTo>
                    <a:pt x="4102" y="0"/>
                  </a:lnTo>
                  <a:close/>
                </a:path>
              </a:pathLst>
            </a:custGeom>
            <a:solidFill>
              <a:srgbClr val="ACACAC"/>
            </a:solidFill>
          </p:spPr>
          <p:txBody>
            <a:bodyPr wrap="square" lIns="0" tIns="0" rIns="0" bIns="0" rtlCol="0"/>
            <a:lstStyle/>
            <a:p/>
          </p:txBody>
        </p:sp>
        <p:sp>
          <p:nvSpPr>
            <p:cNvPr id="154" name="object 154" descr=""/>
            <p:cNvSpPr/>
            <p:nvPr/>
          </p:nvSpPr>
          <p:spPr>
            <a:xfrm>
              <a:off x="2908307" y="2957282"/>
              <a:ext cx="44450" cy="5715"/>
            </a:xfrm>
            <a:custGeom>
              <a:avLst/>
              <a:gdLst/>
              <a:ahLst/>
              <a:cxnLst/>
              <a:rect l="l" t="t" r="r" b="b"/>
              <a:pathLst>
                <a:path w="44450" h="5714">
                  <a:moveTo>
                    <a:pt x="28676" y="0"/>
                  </a:moveTo>
                  <a:lnTo>
                    <a:pt x="21629" y="267"/>
                  </a:lnTo>
                  <a:lnTo>
                    <a:pt x="14070" y="1171"/>
                  </a:lnTo>
                  <a:lnTo>
                    <a:pt x="2628" y="2980"/>
                  </a:lnTo>
                  <a:lnTo>
                    <a:pt x="2095" y="2853"/>
                  </a:lnTo>
                  <a:lnTo>
                    <a:pt x="0" y="5711"/>
                  </a:lnTo>
                  <a:lnTo>
                    <a:pt x="11220" y="3851"/>
                  </a:lnTo>
                  <a:lnTo>
                    <a:pt x="19567" y="2929"/>
                  </a:lnTo>
                  <a:lnTo>
                    <a:pt x="29185" y="2675"/>
                  </a:lnTo>
                  <a:lnTo>
                    <a:pt x="44221" y="2815"/>
                  </a:lnTo>
                  <a:lnTo>
                    <a:pt x="38582" y="97"/>
                  </a:lnTo>
                  <a:lnTo>
                    <a:pt x="28676" y="0"/>
                  </a:lnTo>
                  <a:close/>
                </a:path>
              </a:pathLst>
            </a:custGeom>
            <a:solidFill>
              <a:srgbClr val="D8D8D8"/>
            </a:solidFill>
          </p:spPr>
          <p:txBody>
            <a:bodyPr wrap="square" lIns="0" tIns="0" rIns="0" bIns="0" rtlCol="0"/>
            <a:lstStyle/>
            <a:p/>
          </p:txBody>
        </p:sp>
        <p:sp>
          <p:nvSpPr>
            <p:cNvPr id="155" name="object 155" descr=""/>
            <p:cNvSpPr/>
            <p:nvPr/>
          </p:nvSpPr>
          <p:spPr>
            <a:xfrm>
              <a:off x="2957752" y="2967210"/>
              <a:ext cx="3810" cy="6350"/>
            </a:xfrm>
            <a:custGeom>
              <a:avLst/>
              <a:gdLst/>
              <a:ahLst/>
              <a:cxnLst/>
              <a:rect l="l" t="t" r="r" b="b"/>
              <a:pathLst>
                <a:path w="3810" h="6350">
                  <a:moveTo>
                    <a:pt x="0" y="0"/>
                  </a:moveTo>
                  <a:lnTo>
                    <a:pt x="1435" y="6286"/>
                  </a:lnTo>
                  <a:lnTo>
                    <a:pt x="2146" y="5689"/>
                  </a:lnTo>
                  <a:lnTo>
                    <a:pt x="3581" y="5689"/>
                  </a:lnTo>
                  <a:lnTo>
                    <a:pt x="3594" y="190"/>
                  </a:lnTo>
                  <a:lnTo>
                    <a:pt x="0" y="0"/>
                  </a:lnTo>
                  <a:close/>
                </a:path>
              </a:pathLst>
            </a:custGeom>
            <a:solidFill>
              <a:srgbClr val="8E8E8E"/>
            </a:solidFill>
          </p:spPr>
          <p:txBody>
            <a:bodyPr wrap="square" lIns="0" tIns="0" rIns="0" bIns="0" rtlCol="0"/>
            <a:lstStyle/>
            <a:p/>
          </p:txBody>
        </p:sp>
        <p:sp>
          <p:nvSpPr>
            <p:cNvPr id="156" name="object 156" descr=""/>
            <p:cNvSpPr/>
            <p:nvPr/>
          </p:nvSpPr>
          <p:spPr>
            <a:xfrm>
              <a:off x="2960819" y="2956294"/>
              <a:ext cx="16510" cy="24765"/>
            </a:xfrm>
            <a:custGeom>
              <a:avLst/>
              <a:gdLst/>
              <a:ahLst/>
              <a:cxnLst/>
              <a:rect l="l" t="t" r="r" b="b"/>
              <a:pathLst>
                <a:path w="16510" h="24764">
                  <a:moveTo>
                    <a:pt x="2667" y="0"/>
                  </a:moveTo>
                  <a:lnTo>
                    <a:pt x="0" y="2095"/>
                  </a:lnTo>
                  <a:lnTo>
                    <a:pt x="13411" y="24307"/>
                  </a:lnTo>
                  <a:lnTo>
                    <a:pt x="15913" y="23215"/>
                  </a:lnTo>
                  <a:lnTo>
                    <a:pt x="2667" y="0"/>
                  </a:lnTo>
                  <a:close/>
                </a:path>
              </a:pathLst>
            </a:custGeom>
            <a:solidFill>
              <a:srgbClr val="E1E1E1"/>
            </a:solidFill>
          </p:spPr>
          <p:txBody>
            <a:bodyPr wrap="square" lIns="0" tIns="0" rIns="0" bIns="0" rtlCol="0"/>
            <a:lstStyle/>
            <a:p/>
          </p:txBody>
        </p:sp>
        <p:sp>
          <p:nvSpPr>
            <p:cNvPr id="157" name="object 157" descr=""/>
            <p:cNvSpPr/>
            <p:nvPr/>
          </p:nvSpPr>
          <p:spPr>
            <a:xfrm>
              <a:off x="3156747" y="3034167"/>
              <a:ext cx="156210" cy="41910"/>
            </a:xfrm>
            <a:custGeom>
              <a:avLst/>
              <a:gdLst/>
              <a:ahLst/>
              <a:cxnLst/>
              <a:rect l="l" t="t" r="r" b="b"/>
              <a:pathLst>
                <a:path w="156210" h="41910">
                  <a:moveTo>
                    <a:pt x="40478" y="0"/>
                  </a:moveTo>
                  <a:lnTo>
                    <a:pt x="20147" y="275"/>
                  </a:lnTo>
                  <a:lnTo>
                    <a:pt x="4914" y="2200"/>
                  </a:lnTo>
                  <a:lnTo>
                    <a:pt x="5448" y="2200"/>
                  </a:lnTo>
                  <a:lnTo>
                    <a:pt x="0" y="9210"/>
                  </a:lnTo>
                  <a:lnTo>
                    <a:pt x="0" y="22825"/>
                  </a:lnTo>
                  <a:lnTo>
                    <a:pt x="4914" y="34636"/>
                  </a:lnTo>
                  <a:lnTo>
                    <a:pt x="7270" y="39528"/>
                  </a:lnTo>
                  <a:lnTo>
                    <a:pt x="7615" y="39528"/>
                  </a:lnTo>
                  <a:lnTo>
                    <a:pt x="16517" y="41636"/>
                  </a:lnTo>
                  <a:lnTo>
                    <a:pt x="34766" y="41636"/>
                  </a:lnTo>
                  <a:lnTo>
                    <a:pt x="67945" y="40236"/>
                  </a:lnTo>
                  <a:lnTo>
                    <a:pt x="85455" y="40083"/>
                  </a:lnTo>
                  <a:lnTo>
                    <a:pt x="114544" y="39528"/>
                  </a:lnTo>
                  <a:lnTo>
                    <a:pt x="142161" y="38425"/>
                  </a:lnTo>
                  <a:lnTo>
                    <a:pt x="155257" y="36629"/>
                  </a:lnTo>
                  <a:lnTo>
                    <a:pt x="155890" y="30288"/>
                  </a:lnTo>
                  <a:lnTo>
                    <a:pt x="152197" y="22825"/>
                  </a:lnTo>
                  <a:lnTo>
                    <a:pt x="107700" y="4103"/>
                  </a:lnTo>
                  <a:lnTo>
                    <a:pt x="60375" y="625"/>
                  </a:lnTo>
                  <a:lnTo>
                    <a:pt x="40478" y="0"/>
                  </a:lnTo>
                  <a:close/>
                </a:path>
                <a:path w="156210" h="41910">
                  <a:moveTo>
                    <a:pt x="6070" y="1400"/>
                  </a:moveTo>
                  <a:lnTo>
                    <a:pt x="4914" y="2200"/>
                  </a:lnTo>
                  <a:lnTo>
                    <a:pt x="5448" y="2200"/>
                  </a:lnTo>
                  <a:lnTo>
                    <a:pt x="6070" y="1400"/>
                  </a:lnTo>
                  <a:close/>
                </a:path>
              </a:pathLst>
            </a:custGeom>
            <a:solidFill>
              <a:srgbClr val="535353"/>
            </a:solidFill>
          </p:spPr>
          <p:txBody>
            <a:bodyPr wrap="square" lIns="0" tIns="0" rIns="0" bIns="0" rtlCol="0"/>
            <a:lstStyle/>
            <a:p/>
          </p:txBody>
        </p:sp>
        <p:sp>
          <p:nvSpPr>
            <p:cNvPr id="158" name="object 158" descr=""/>
            <p:cNvSpPr/>
            <p:nvPr/>
          </p:nvSpPr>
          <p:spPr>
            <a:xfrm>
              <a:off x="3161071" y="3035683"/>
              <a:ext cx="147320" cy="39370"/>
            </a:xfrm>
            <a:custGeom>
              <a:avLst/>
              <a:gdLst/>
              <a:ahLst/>
              <a:cxnLst/>
              <a:rect l="l" t="t" r="r" b="b"/>
              <a:pathLst>
                <a:path w="147320" h="39369">
                  <a:moveTo>
                    <a:pt x="38233" y="0"/>
                  </a:moveTo>
                  <a:lnTo>
                    <a:pt x="19034" y="260"/>
                  </a:lnTo>
                  <a:lnTo>
                    <a:pt x="4648" y="2081"/>
                  </a:lnTo>
                  <a:lnTo>
                    <a:pt x="5147" y="2081"/>
                  </a:lnTo>
                  <a:lnTo>
                    <a:pt x="0" y="8697"/>
                  </a:lnTo>
                  <a:lnTo>
                    <a:pt x="0" y="21550"/>
                  </a:lnTo>
                  <a:lnTo>
                    <a:pt x="4648" y="32713"/>
                  </a:lnTo>
                  <a:lnTo>
                    <a:pt x="6877" y="37341"/>
                  </a:lnTo>
                  <a:lnTo>
                    <a:pt x="7227" y="37341"/>
                  </a:lnTo>
                  <a:lnTo>
                    <a:pt x="15616" y="39328"/>
                  </a:lnTo>
                  <a:lnTo>
                    <a:pt x="32840" y="39328"/>
                  </a:lnTo>
                  <a:lnTo>
                    <a:pt x="64173" y="38009"/>
                  </a:lnTo>
                  <a:lnTo>
                    <a:pt x="80711" y="37865"/>
                  </a:lnTo>
                  <a:lnTo>
                    <a:pt x="108186" y="37341"/>
                  </a:lnTo>
                  <a:lnTo>
                    <a:pt x="134272" y="36300"/>
                  </a:lnTo>
                  <a:lnTo>
                    <a:pt x="146646" y="34605"/>
                  </a:lnTo>
                  <a:lnTo>
                    <a:pt x="147245" y="28616"/>
                  </a:lnTo>
                  <a:lnTo>
                    <a:pt x="143750" y="21550"/>
                  </a:lnTo>
                  <a:lnTo>
                    <a:pt x="101723" y="3875"/>
                  </a:lnTo>
                  <a:lnTo>
                    <a:pt x="57022" y="589"/>
                  </a:lnTo>
                  <a:lnTo>
                    <a:pt x="38233" y="0"/>
                  </a:lnTo>
                  <a:close/>
                </a:path>
                <a:path w="147320" h="39369">
                  <a:moveTo>
                    <a:pt x="5740" y="1319"/>
                  </a:moveTo>
                  <a:lnTo>
                    <a:pt x="4648" y="2081"/>
                  </a:lnTo>
                  <a:lnTo>
                    <a:pt x="5147" y="2081"/>
                  </a:lnTo>
                  <a:lnTo>
                    <a:pt x="5740" y="1319"/>
                  </a:lnTo>
                  <a:close/>
                </a:path>
              </a:pathLst>
            </a:custGeom>
            <a:solidFill>
              <a:srgbClr val="F9FDF9"/>
            </a:solidFill>
          </p:spPr>
          <p:txBody>
            <a:bodyPr wrap="square" lIns="0" tIns="0" rIns="0" bIns="0" rtlCol="0"/>
            <a:lstStyle/>
            <a:p/>
          </p:txBody>
        </p:sp>
        <p:sp>
          <p:nvSpPr>
            <p:cNvPr id="159" name="object 159" descr=""/>
            <p:cNvSpPr/>
            <p:nvPr/>
          </p:nvSpPr>
          <p:spPr>
            <a:xfrm>
              <a:off x="3167186" y="3036205"/>
              <a:ext cx="141605" cy="36830"/>
            </a:xfrm>
            <a:custGeom>
              <a:avLst/>
              <a:gdLst/>
              <a:ahLst/>
              <a:cxnLst/>
              <a:rect l="l" t="t" r="r" b="b"/>
              <a:pathLst>
                <a:path w="141604" h="36830">
                  <a:moveTo>
                    <a:pt x="32759" y="0"/>
                  </a:moveTo>
                  <a:lnTo>
                    <a:pt x="14050" y="182"/>
                  </a:lnTo>
                  <a:lnTo>
                    <a:pt x="0" y="1028"/>
                  </a:lnTo>
                  <a:lnTo>
                    <a:pt x="3154" y="7161"/>
                  </a:lnTo>
                  <a:lnTo>
                    <a:pt x="17784" y="20213"/>
                  </a:lnTo>
                  <a:lnTo>
                    <a:pt x="48157" y="32591"/>
                  </a:lnTo>
                  <a:lnTo>
                    <a:pt x="98539" y="36702"/>
                  </a:lnTo>
                  <a:lnTo>
                    <a:pt x="122304" y="36285"/>
                  </a:lnTo>
                  <a:lnTo>
                    <a:pt x="134475" y="35604"/>
                  </a:lnTo>
                  <a:lnTo>
                    <a:pt x="140525" y="34086"/>
                  </a:lnTo>
                  <a:lnTo>
                    <a:pt x="141124" y="28097"/>
                  </a:lnTo>
                  <a:lnTo>
                    <a:pt x="137526" y="20823"/>
                  </a:lnTo>
                  <a:lnTo>
                    <a:pt x="95608" y="3355"/>
                  </a:lnTo>
                  <a:lnTo>
                    <a:pt x="51106" y="275"/>
                  </a:lnTo>
                  <a:lnTo>
                    <a:pt x="32759" y="0"/>
                  </a:lnTo>
                  <a:close/>
                </a:path>
              </a:pathLst>
            </a:custGeom>
            <a:solidFill>
              <a:srgbClr val="FFFFFF">
                <a:alpha val="78039"/>
              </a:srgbClr>
            </a:solidFill>
          </p:spPr>
          <p:txBody>
            <a:bodyPr wrap="square" lIns="0" tIns="0" rIns="0" bIns="0" rtlCol="0"/>
            <a:lstStyle/>
            <a:p/>
          </p:txBody>
        </p:sp>
        <p:sp>
          <p:nvSpPr>
            <p:cNvPr id="160" name="object 160" descr=""/>
            <p:cNvSpPr/>
            <p:nvPr/>
          </p:nvSpPr>
          <p:spPr>
            <a:xfrm>
              <a:off x="3924687" y="2012947"/>
              <a:ext cx="111125" cy="433705"/>
            </a:xfrm>
            <a:custGeom>
              <a:avLst/>
              <a:gdLst/>
              <a:ahLst/>
              <a:cxnLst/>
              <a:rect l="l" t="t" r="r" b="b"/>
              <a:pathLst>
                <a:path w="111125" h="433705">
                  <a:moveTo>
                    <a:pt x="0" y="0"/>
                  </a:moveTo>
                  <a:lnTo>
                    <a:pt x="2502" y="146560"/>
                  </a:lnTo>
                  <a:lnTo>
                    <a:pt x="11969" y="240561"/>
                  </a:lnTo>
                  <a:lnTo>
                    <a:pt x="36172" y="322634"/>
                  </a:lnTo>
                  <a:lnTo>
                    <a:pt x="82880" y="433412"/>
                  </a:lnTo>
                  <a:lnTo>
                    <a:pt x="110604" y="423925"/>
                  </a:lnTo>
                  <a:lnTo>
                    <a:pt x="49502" y="296624"/>
                  </a:lnTo>
                  <a:lnTo>
                    <a:pt x="19743" y="210188"/>
                  </a:lnTo>
                  <a:lnTo>
                    <a:pt x="12876" y="125013"/>
                  </a:lnTo>
                  <a:lnTo>
                    <a:pt x="20447" y="1498"/>
                  </a:lnTo>
                  <a:lnTo>
                    <a:pt x="0" y="0"/>
                  </a:lnTo>
                  <a:close/>
                </a:path>
              </a:pathLst>
            </a:custGeom>
            <a:solidFill>
              <a:srgbClr val="9EB3C6"/>
            </a:solidFill>
          </p:spPr>
          <p:txBody>
            <a:bodyPr wrap="square" lIns="0" tIns="0" rIns="0" bIns="0" rtlCol="0"/>
            <a:lstStyle/>
            <a:p/>
          </p:txBody>
        </p:sp>
        <p:sp>
          <p:nvSpPr>
            <p:cNvPr id="161" name="object 161" descr=""/>
            <p:cNvSpPr/>
            <p:nvPr/>
          </p:nvSpPr>
          <p:spPr>
            <a:xfrm>
              <a:off x="3646284" y="2002751"/>
              <a:ext cx="405130" cy="478155"/>
            </a:xfrm>
            <a:custGeom>
              <a:avLst/>
              <a:gdLst/>
              <a:ahLst/>
              <a:cxnLst/>
              <a:rect l="l" t="t" r="r" b="b"/>
              <a:pathLst>
                <a:path w="405129" h="478155">
                  <a:moveTo>
                    <a:pt x="238302" y="4953"/>
                  </a:moveTo>
                  <a:lnTo>
                    <a:pt x="223901" y="0"/>
                  </a:lnTo>
                  <a:lnTo>
                    <a:pt x="217995" y="171945"/>
                  </a:lnTo>
                  <a:lnTo>
                    <a:pt x="192709" y="279057"/>
                  </a:lnTo>
                  <a:lnTo>
                    <a:pt x="127038" y="366153"/>
                  </a:lnTo>
                  <a:lnTo>
                    <a:pt x="0" y="478040"/>
                  </a:lnTo>
                  <a:lnTo>
                    <a:pt x="12915" y="478040"/>
                  </a:lnTo>
                  <a:lnTo>
                    <a:pt x="144780" y="367906"/>
                  </a:lnTo>
                  <a:lnTo>
                    <a:pt x="212217" y="281927"/>
                  </a:lnTo>
                  <a:lnTo>
                    <a:pt x="236347" y="175717"/>
                  </a:lnTo>
                  <a:lnTo>
                    <a:pt x="238302" y="4953"/>
                  </a:lnTo>
                  <a:close/>
                </a:path>
                <a:path w="405129" h="478155">
                  <a:moveTo>
                    <a:pt x="404749" y="452120"/>
                  </a:moveTo>
                  <a:lnTo>
                    <a:pt x="342303" y="320167"/>
                  </a:lnTo>
                  <a:lnTo>
                    <a:pt x="311264" y="229755"/>
                  </a:lnTo>
                  <a:lnTo>
                    <a:pt x="302399" y="139077"/>
                  </a:lnTo>
                  <a:lnTo>
                    <a:pt x="306514" y="6362"/>
                  </a:lnTo>
                  <a:lnTo>
                    <a:pt x="296557" y="9347"/>
                  </a:lnTo>
                  <a:lnTo>
                    <a:pt x="289331" y="122986"/>
                  </a:lnTo>
                  <a:lnTo>
                    <a:pt x="296100" y="205117"/>
                  </a:lnTo>
                  <a:lnTo>
                    <a:pt x="325107" y="295554"/>
                  </a:lnTo>
                  <a:lnTo>
                    <a:pt x="384606" y="434124"/>
                  </a:lnTo>
                  <a:lnTo>
                    <a:pt x="404749" y="452120"/>
                  </a:lnTo>
                  <a:close/>
                </a:path>
              </a:pathLst>
            </a:custGeom>
            <a:solidFill>
              <a:srgbClr val="D9DFE8"/>
            </a:solidFill>
          </p:spPr>
          <p:txBody>
            <a:bodyPr wrap="square" lIns="0" tIns="0" rIns="0" bIns="0" rtlCol="0"/>
            <a:lstStyle/>
            <a:p/>
          </p:txBody>
        </p:sp>
        <p:sp>
          <p:nvSpPr>
            <p:cNvPr id="162" name="object 162" descr=""/>
            <p:cNvSpPr/>
            <p:nvPr/>
          </p:nvSpPr>
          <p:spPr>
            <a:xfrm>
              <a:off x="3677640" y="2161400"/>
              <a:ext cx="478790" cy="353060"/>
            </a:xfrm>
            <a:custGeom>
              <a:avLst/>
              <a:gdLst/>
              <a:ahLst/>
              <a:cxnLst/>
              <a:rect l="l" t="t" r="r" b="b"/>
              <a:pathLst>
                <a:path w="478789" h="353060">
                  <a:moveTo>
                    <a:pt x="125044" y="330974"/>
                  </a:moveTo>
                  <a:lnTo>
                    <a:pt x="11938" y="273888"/>
                  </a:lnTo>
                  <a:lnTo>
                    <a:pt x="0" y="290576"/>
                  </a:lnTo>
                  <a:lnTo>
                    <a:pt x="118160" y="348945"/>
                  </a:lnTo>
                  <a:lnTo>
                    <a:pt x="125044" y="330974"/>
                  </a:lnTo>
                  <a:close/>
                </a:path>
                <a:path w="478789" h="353060">
                  <a:moveTo>
                    <a:pt x="148005" y="250520"/>
                  </a:moveTo>
                  <a:lnTo>
                    <a:pt x="65112" y="211594"/>
                  </a:lnTo>
                  <a:lnTo>
                    <a:pt x="52197" y="228066"/>
                  </a:lnTo>
                  <a:lnTo>
                    <a:pt x="141541" y="268490"/>
                  </a:lnTo>
                  <a:lnTo>
                    <a:pt x="148005" y="250520"/>
                  </a:lnTo>
                  <a:close/>
                </a:path>
                <a:path w="478789" h="353060">
                  <a:moveTo>
                    <a:pt x="171691" y="169926"/>
                  </a:moveTo>
                  <a:lnTo>
                    <a:pt x="107099" y="144221"/>
                  </a:lnTo>
                  <a:lnTo>
                    <a:pt x="95262" y="164439"/>
                  </a:lnTo>
                  <a:lnTo>
                    <a:pt x="165227" y="191630"/>
                  </a:lnTo>
                  <a:lnTo>
                    <a:pt x="171691" y="169926"/>
                  </a:lnTo>
                  <a:close/>
                </a:path>
                <a:path w="478789" h="353060">
                  <a:moveTo>
                    <a:pt x="186321" y="91033"/>
                  </a:moveTo>
                  <a:lnTo>
                    <a:pt x="142976" y="73863"/>
                  </a:lnTo>
                  <a:lnTo>
                    <a:pt x="133642" y="91325"/>
                  </a:lnTo>
                  <a:lnTo>
                    <a:pt x="184175" y="110985"/>
                  </a:lnTo>
                  <a:lnTo>
                    <a:pt x="186321" y="91033"/>
                  </a:lnTo>
                  <a:close/>
                </a:path>
                <a:path w="478789" h="353060">
                  <a:moveTo>
                    <a:pt x="196088" y="8991"/>
                  </a:moveTo>
                  <a:lnTo>
                    <a:pt x="168821" y="0"/>
                  </a:lnTo>
                  <a:lnTo>
                    <a:pt x="163791" y="17970"/>
                  </a:lnTo>
                  <a:lnTo>
                    <a:pt x="193217" y="30949"/>
                  </a:lnTo>
                  <a:lnTo>
                    <a:pt x="196088" y="8991"/>
                  </a:lnTo>
                  <a:close/>
                </a:path>
                <a:path w="478789" h="353060">
                  <a:moveTo>
                    <a:pt x="310045" y="29362"/>
                  </a:moveTo>
                  <a:lnTo>
                    <a:pt x="305739" y="12395"/>
                  </a:lnTo>
                  <a:lnTo>
                    <a:pt x="237705" y="14986"/>
                  </a:lnTo>
                  <a:lnTo>
                    <a:pt x="234835" y="32956"/>
                  </a:lnTo>
                  <a:lnTo>
                    <a:pt x="310045" y="29362"/>
                  </a:lnTo>
                  <a:close/>
                </a:path>
                <a:path w="478789" h="353060">
                  <a:moveTo>
                    <a:pt x="336880" y="103416"/>
                  </a:moveTo>
                  <a:lnTo>
                    <a:pt x="331139" y="86944"/>
                  </a:lnTo>
                  <a:lnTo>
                    <a:pt x="227660" y="91833"/>
                  </a:lnTo>
                  <a:lnTo>
                    <a:pt x="224790" y="110299"/>
                  </a:lnTo>
                  <a:lnTo>
                    <a:pt x="336880" y="103416"/>
                  </a:lnTo>
                  <a:close/>
                </a:path>
                <a:path w="478789" h="353060">
                  <a:moveTo>
                    <a:pt x="373049" y="181660"/>
                  </a:moveTo>
                  <a:lnTo>
                    <a:pt x="363359" y="162191"/>
                  </a:lnTo>
                  <a:lnTo>
                    <a:pt x="211734" y="176072"/>
                  </a:lnTo>
                  <a:lnTo>
                    <a:pt x="205270" y="197027"/>
                  </a:lnTo>
                  <a:lnTo>
                    <a:pt x="373049" y="181660"/>
                  </a:lnTo>
                  <a:close/>
                </a:path>
                <a:path w="478789" h="353060">
                  <a:moveTo>
                    <a:pt x="418414" y="255511"/>
                  </a:moveTo>
                  <a:lnTo>
                    <a:pt x="406577" y="238302"/>
                  </a:lnTo>
                  <a:lnTo>
                    <a:pt x="194652" y="254266"/>
                  </a:lnTo>
                  <a:lnTo>
                    <a:pt x="188912" y="272986"/>
                  </a:lnTo>
                  <a:lnTo>
                    <a:pt x="418414" y="255511"/>
                  </a:lnTo>
                  <a:close/>
                </a:path>
                <a:path w="478789" h="353060">
                  <a:moveTo>
                    <a:pt x="478688" y="327380"/>
                  </a:moveTo>
                  <a:lnTo>
                    <a:pt x="459752" y="309410"/>
                  </a:lnTo>
                  <a:lnTo>
                    <a:pt x="170395" y="334962"/>
                  </a:lnTo>
                  <a:lnTo>
                    <a:pt x="163499" y="352933"/>
                  </a:lnTo>
                  <a:lnTo>
                    <a:pt x="478688" y="327380"/>
                  </a:lnTo>
                  <a:close/>
                </a:path>
              </a:pathLst>
            </a:custGeom>
            <a:solidFill>
              <a:srgbClr val="C5CCD8"/>
            </a:solidFill>
          </p:spPr>
          <p:txBody>
            <a:bodyPr wrap="square" lIns="0" tIns="0" rIns="0" bIns="0" rtlCol="0"/>
            <a:lstStyle/>
            <a:p/>
          </p:txBody>
        </p:sp>
        <p:sp>
          <p:nvSpPr>
            <p:cNvPr id="163" name="object 163" descr=""/>
            <p:cNvSpPr/>
            <p:nvPr/>
          </p:nvSpPr>
          <p:spPr>
            <a:xfrm>
              <a:off x="3627577" y="1998725"/>
              <a:ext cx="267335" cy="567055"/>
            </a:xfrm>
            <a:custGeom>
              <a:avLst/>
              <a:gdLst/>
              <a:ahLst/>
              <a:cxnLst/>
              <a:rect l="l" t="t" r="r" b="b"/>
              <a:pathLst>
                <a:path w="267335" h="567055">
                  <a:moveTo>
                    <a:pt x="242608" y="3987"/>
                  </a:moveTo>
                  <a:lnTo>
                    <a:pt x="228206" y="0"/>
                  </a:lnTo>
                  <a:lnTo>
                    <a:pt x="225450" y="171361"/>
                  </a:lnTo>
                  <a:lnTo>
                    <a:pt x="200761" y="277977"/>
                  </a:lnTo>
                  <a:lnTo>
                    <a:pt x="132740" y="364388"/>
                  </a:lnTo>
                  <a:lnTo>
                    <a:pt x="0" y="475145"/>
                  </a:lnTo>
                  <a:lnTo>
                    <a:pt x="8610" y="492074"/>
                  </a:lnTo>
                  <a:lnTo>
                    <a:pt x="143891" y="378333"/>
                  </a:lnTo>
                  <a:lnTo>
                    <a:pt x="213360" y="289572"/>
                  </a:lnTo>
                  <a:lnTo>
                    <a:pt x="238950" y="180047"/>
                  </a:lnTo>
                  <a:lnTo>
                    <a:pt x="242608" y="3987"/>
                  </a:lnTo>
                  <a:close/>
                </a:path>
                <a:path w="267335" h="567055">
                  <a:moveTo>
                    <a:pt x="266954" y="8051"/>
                  </a:moveTo>
                  <a:lnTo>
                    <a:pt x="254038" y="5994"/>
                  </a:lnTo>
                  <a:lnTo>
                    <a:pt x="256374" y="175323"/>
                  </a:lnTo>
                  <a:lnTo>
                    <a:pt x="245795" y="290195"/>
                  </a:lnTo>
                  <a:lnTo>
                    <a:pt x="212102" y="403199"/>
                  </a:lnTo>
                  <a:lnTo>
                    <a:pt x="145046" y="566940"/>
                  </a:lnTo>
                  <a:lnTo>
                    <a:pt x="163614" y="563943"/>
                  </a:lnTo>
                  <a:lnTo>
                    <a:pt x="220941" y="432320"/>
                  </a:lnTo>
                  <a:lnTo>
                    <a:pt x="250812" y="330542"/>
                  </a:lnTo>
                  <a:lnTo>
                    <a:pt x="262928" y="206489"/>
                  </a:lnTo>
                  <a:lnTo>
                    <a:pt x="266954" y="8051"/>
                  </a:lnTo>
                  <a:close/>
                </a:path>
              </a:pathLst>
            </a:custGeom>
            <a:solidFill>
              <a:srgbClr val="9EB3C6"/>
            </a:solidFill>
          </p:spPr>
          <p:txBody>
            <a:bodyPr wrap="square" lIns="0" tIns="0" rIns="0" bIns="0" rtlCol="0"/>
            <a:lstStyle/>
            <a:p/>
          </p:txBody>
        </p:sp>
        <p:sp>
          <p:nvSpPr>
            <p:cNvPr id="164" name="object 164" descr=""/>
            <p:cNvSpPr/>
            <p:nvPr/>
          </p:nvSpPr>
          <p:spPr>
            <a:xfrm>
              <a:off x="3791204" y="1999754"/>
              <a:ext cx="436880" cy="573405"/>
            </a:xfrm>
            <a:custGeom>
              <a:avLst/>
              <a:gdLst/>
              <a:ahLst/>
              <a:cxnLst/>
              <a:rect l="l" t="t" r="r" b="b"/>
              <a:pathLst>
                <a:path w="436879" h="573405">
                  <a:moveTo>
                    <a:pt x="136436" y="8978"/>
                  </a:moveTo>
                  <a:lnTo>
                    <a:pt x="122948" y="10680"/>
                  </a:lnTo>
                  <a:lnTo>
                    <a:pt x="115011" y="11252"/>
                  </a:lnTo>
                  <a:lnTo>
                    <a:pt x="109499" y="10680"/>
                  </a:lnTo>
                  <a:lnTo>
                    <a:pt x="103339" y="8978"/>
                  </a:lnTo>
                  <a:lnTo>
                    <a:pt x="97688" y="209067"/>
                  </a:lnTo>
                  <a:lnTo>
                    <a:pt x="85039" y="333463"/>
                  </a:lnTo>
                  <a:lnTo>
                    <a:pt x="55702" y="434098"/>
                  </a:lnTo>
                  <a:lnTo>
                    <a:pt x="0" y="562914"/>
                  </a:lnTo>
                  <a:lnTo>
                    <a:pt x="30137" y="572922"/>
                  </a:lnTo>
                  <a:lnTo>
                    <a:pt x="89319" y="425272"/>
                  </a:lnTo>
                  <a:lnTo>
                    <a:pt x="120129" y="317309"/>
                  </a:lnTo>
                  <a:lnTo>
                    <a:pt x="132499" y="196164"/>
                  </a:lnTo>
                  <a:lnTo>
                    <a:pt x="136436" y="8978"/>
                  </a:lnTo>
                  <a:close/>
                </a:path>
                <a:path w="436879" h="573405">
                  <a:moveTo>
                    <a:pt x="436359" y="520954"/>
                  </a:moveTo>
                  <a:lnTo>
                    <a:pt x="308140" y="411200"/>
                  </a:lnTo>
                  <a:lnTo>
                    <a:pt x="239687" y="320357"/>
                  </a:lnTo>
                  <a:lnTo>
                    <a:pt x="207835" y="199567"/>
                  </a:lnTo>
                  <a:lnTo>
                    <a:pt x="189445" y="0"/>
                  </a:lnTo>
                  <a:lnTo>
                    <a:pt x="157962" y="7950"/>
                  </a:lnTo>
                  <a:lnTo>
                    <a:pt x="174752" y="200901"/>
                  </a:lnTo>
                  <a:lnTo>
                    <a:pt x="206502" y="320230"/>
                  </a:lnTo>
                  <a:lnTo>
                    <a:pt x="276758" y="415417"/>
                  </a:lnTo>
                  <a:lnTo>
                    <a:pt x="409041" y="535965"/>
                  </a:lnTo>
                  <a:lnTo>
                    <a:pt x="436359" y="520954"/>
                  </a:lnTo>
                  <a:close/>
                </a:path>
              </a:pathLst>
            </a:custGeom>
            <a:solidFill>
              <a:srgbClr val="D9DFE8"/>
            </a:solidFill>
          </p:spPr>
          <p:txBody>
            <a:bodyPr wrap="square" lIns="0" tIns="0" rIns="0" bIns="0" rtlCol="0"/>
            <a:lstStyle/>
            <a:p/>
          </p:txBody>
        </p:sp>
        <p:pic>
          <p:nvPicPr>
            <p:cNvPr id="165" name="object 165" descr=""/>
            <p:cNvPicPr/>
            <p:nvPr/>
          </p:nvPicPr>
          <p:blipFill>
            <a:blip r:embed="rId54" cstate="print"/>
            <a:stretch>
              <a:fillRect/>
            </a:stretch>
          </p:blipFill>
          <p:spPr>
            <a:xfrm>
              <a:off x="3806270" y="1784934"/>
              <a:ext cx="224184" cy="245224"/>
            </a:xfrm>
            <a:prstGeom prst="rect">
              <a:avLst/>
            </a:prstGeom>
          </p:spPr>
        </p:pic>
        <p:sp>
          <p:nvSpPr>
            <p:cNvPr id="166" name="object 166" descr=""/>
            <p:cNvSpPr/>
            <p:nvPr/>
          </p:nvSpPr>
          <p:spPr>
            <a:xfrm>
              <a:off x="3848087" y="2416936"/>
              <a:ext cx="289560" cy="80010"/>
            </a:xfrm>
            <a:custGeom>
              <a:avLst/>
              <a:gdLst/>
              <a:ahLst/>
              <a:cxnLst/>
              <a:rect l="l" t="t" r="r" b="b"/>
              <a:pathLst>
                <a:path w="289560" h="80010">
                  <a:moveTo>
                    <a:pt x="289306" y="53873"/>
                  </a:moveTo>
                  <a:lnTo>
                    <a:pt x="279984" y="42570"/>
                  </a:lnTo>
                  <a:lnTo>
                    <a:pt x="174561" y="32016"/>
                  </a:lnTo>
                  <a:lnTo>
                    <a:pt x="254406" y="10464"/>
                  </a:lnTo>
                  <a:lnTo>
                    <a:pt x="247967" y="0"/>
                  </a:lnTo>
                  <a:lnTo>
                    <a:pt x="140716" y="28625"/>
                  </a:lnTo>
                  <a:lnTo>
                    <a:pt x="18465" y="16383"/>
                  </a:lnTo>
                  <a:lnTo>
                    <a:pt x="15011" y="26263"/>
                  </a:lnTo>
                  <a:lnTo>
                    <a:pt x="112712" y="36106"/>
                  </a:lnTo>
                  <a:lnTo>
                    <a:pt x="6121" y="64554"/>
                  </a:lnTo>
                  <a:lnTo>
                    <a:pt x="0" y="79463"/>
                  </a:lnTo>
                  <a:lnTo>
                    <a:pt x="42329" y="67703"/>
                  </a:lnTo>
                  <a:lnTo>
                    <a:pt x="146735" y="39535"/>
                  </a:lnTo>
                  <a:lnTo>
                    <a:pt x="289306" y="53873"/>
                  </a:lnTo>
                  <a:close/>
                </a:path>
              </a:pathLst>
            </a:custGeom>
            <a:solidFill>
              <a:srgbClr val="C5CCD8"/>
            </a:solidFill>
          </p:spPr>
          <p:txBody>
            <a:bodyPr wrap="square" lIns="0" tIns="0" rIns="0" bIns="0" rtlCol="0"/>
            <a:lstStyle/>
            <a:p/>
          </p:txBody>
        </p:sp>
        <p:pic>
          <p:nvPicPr>
            <p:cNvPr id="167" name="object 167" descr=""/>
            <p:cNvPicPr/>
            <p:nvPr/>
          </p:nvPicPr>
          <p:blipFill>
            <a:blip r:embed="rId55" cstate="print"/>
            <a:stretch>
              <a:fillRect/>
            </a:stretch>
          </p:blipFill>
          <p:spPr>
            <a:xfrm>
              <a:off x="3691898" y="2179370"/>
              <a:ext cx="392320" cy="310755"/>
            </a:xfrm>
            <a:prstGeom prst="rect">
              <a:avLst/>
            </a:prstGeom>
          </p:spPr>
        </p:pic>
        <p:pic>
          <p:nvPicPr>
            <p:cNvPr id="168" name="object 168" descr=""/>
            <p:cNvPicPr/>
            <p:nvPr/>
          </p:nvPicPr>
          <p:blipFill>
            <a:blip r:embed="rId56" cstate="print"/>
            <a:stretch>
              <a:fillRect/>
            </a:stretch>
          </p:blipFill>
          <p:spPr>
            <a:xfrm>
              <a:off x="3742754" y="1753199"/>
              <a:ext cx="123201" cy="125855"/>
            </a:xfrm>
            <a:prstGeom prst="rect">
              <a:avLst/>
            </a:prstGeom>
          </p:spPr>
        </p:pic>
        <p:pic>
          <p:nvPicPr>
            <p:cNvPr id="169" name="object 169" descr=""/>
            <p:cNvPicPr/>
            <p:nvPr/>
          </p:nvPicPr>
          <p:blipFill>
            <a:blip r:embed="rId57" cstate="print"/>
            <a:stretch>
              <a:fillRect/>
            </a:stretch>
          </p:blipFill>
          <p:spPr>
            <a:xfrm>
              <a:off x="3942741" y="1753199"/>
              <a:ext cx="120891" cy="125855"/>
            </a:xfrm>
            <a:prstGeom prst="rect">
              <a:avLst/>
            </a:prstGeom>
          </p:spPr>
        </p:pic>
      </p:grpSp>
      <p:sp>
        <p:nvSpPr>
          <p:cNvPr id="170" name="object 170" descr=""/>
          <p:cNvSpPr txBox="1"/>
          <p:nvPr/>
        </p:nvSpPr>
        <p:spPr>
          <a:xfrm>
            <a:off x="6800191" y="2900944"/>
            <a:ext cx="636270" cy="269875"/>
          </a:xfrm>
          <a:prstGeom prst="rect">
            <a:avLst/>
          </a:prstGeom>
        </p:spPr>
        <p:txBody>
          <a:bodyPr wrap="square" lIns="0" tIns="12700" rIns="0" bIns="0" rtlCol="0" vert="horz">
            <a:spAutoFit/>
          </a:bodyPr>
          <a:lstStyle/>
          <a:p>
            <a:pPr marL="12700">
              <a:lnSpc>
                <a:spcPct val="100000"/>
              </a:lnSpc>
              <a:spcBef>
                <a:spcPts val="100"/>
              </a:spcBef>
            </a:pPr>
            <a:r>
              <a:rPr dirty="0" sz="1600" spc="-20" b="1">
                <a:solidFill>
                  <a:srgbClr val="2C2C2C"/>
                </a:solidFill>
                <a:latin typeface="Microsoft YaHei"/>
                <a:cs typeface="Microsoft YaHei"/>
              </a:rPr>
              <a:t>车内网</a:t>
            </a:r>
            <a:endParaRPr sz="1600">
              <a:latin typeface="Microsoft YaHei"/>
              <a:cs typeface="Microsoft YaHei"/>
            </a:endParaRPr>
          </a:p>
        </p:txBody>
      </p:sp>
      <p:sp>
        <p:nvSpPr>
          <p:cNvPr id="171" name="object 171" descr=""/>
          <p:cNvSpPr txBox="1"/>
          <p:nvPr/>
        </p:nvSpPr>
        <p:spPr>
          <a:xfrm>
            <a:off x="3655006" y="2457748"/>
            <a:ext cx="545465" cy="330835"/>
          </a:xfrm>
          <a:prstGeom prst="rect">
            <a:avLst/>
          </a:prstGeom>
        </p:spPr>
        <p:txBody>
          <a:bodyPr wrap="square" lIns="0" tIns="12700" rIns="0" bIns="0" rtlCol="0" vert="horz">
            <a:spAutoFit/>
          </a:bodyPr>
          <a:lstStyle/>
          <a:p>
            <a:pPr marL="208279" marR="5080" indent="-196215">
              <a:lnSpc>
                <a:spcPct val="100000"/>
              </a:lnSpc>
              <a:spcBef>
                <a:spcPts val="100"/>
              </a:spcBef>
            </a:pPr>
            <a:r>
              <a:rPr dirty="0" sz="1000" spc="-10">
                <a:solidFill>
                  <a:srgbClr val="2C2C2C"/>
                </a:solidFill>
                <a:latin typeface="Microsoft YaHei"/>
                <a:cs typeface="Microsoft YaHei"/>
              </a:rPr>
              <a:t>5G/4G</a:t>
            </a:r>
            <a:r>
              <a:rPr dirty="0" sz="1000" spc="-50">
                <a:solidFill>
                  <a:srgbClr val="2C2C2C"/>
                </a:solidFill>
                <a:latin typeface="Microsoft YaHei"/>
                <a:cs typeface="Microsoft YaHei"/>
              </a:rPr>
              <a:t>基站</a:t>
            </a:r>
            <a:endParaRPr sz="1000">
              <a:latin typeface="Microsoft YaHei"/>
              <a:cs typeface="Microsoft YaHei"/>
            </a:endParaRPr>
          </a:p>
        </p:txBody>
      </p:sp>
      <p:grpSp>
        <p:nvGrpSpPr>
          <p:cNvPr id="172" name="object 172" descr=""/>
          <p:cNvGrpSpPr/>
          <p:nvPr/>
        </p:nvGrpSpPr>
        <p:grpSpPr>
          <a:xfrm>
            <a:off x="5307467" y="2827147"/>
            <a:ext cx="1569720" cy="854710"/>
            <a:chOff x="5307467" y="2827147"/>
            <a:chExt cx="1569720" cy="854710"/>
          </a:xfrm>
        </p:grpSpPr>
        <p:sp>
          <p:nvSpPr>
            <p:cNvPr id="173" name="object 173" descr=""/>
            <p:cNvSpPr/>
            <p:nvPr/>
          </p:nvSpPr>
          <p:spPr>
            <a:xfrm>
              <a:off x="5314265" y="3045625"/>
              <a:ext cx="26034" cy="3810"/>
            </a:xfrm>
            <a:custGeom>
              <a:avLst/>
              <a:gdLst/>
              <a:ahLst/>
              <a:cxnLst/>
              <a:rect l="l" t="t" r="r" b="b"/>
              <a:pathLst>
                <a:path w="26035" h="3810">
                  <a:moveTo>
                    <a:pt x="25006" y="0"/>
                  </a:moveTo>
                  <a:lnTo>
                    <a:pt x="2070" y="0"/>
                  </a:lnTo>
                  <a:lnTo>
                    <a:pt x="927" y="0"/>
                  </a:lnTo>
                  <a:lnTo>
                    <a:pt x="0" y="660"/>
                  </a:lnTo>
                  <a:lnTo>
                    <a:pt x="0" y="2806"/>
                  </a:lnTo>
                  <a:lnTo>
                    <a:pt x="927" y="3467"/>
                  </a:lnTo>
                  <a:lnTo>
                    <a:pt x="25006" y="3467"/>
                  </a:lnTo>
                  <a:lnTo>
                    <a:pt x="25933" y="2806"/>
                  </a:lnTo>
                  <a:lnTo>
                    <a:pt x="25933" y="660"/>
                  </a:lnTo>
                  <a:lnTo>
                    <a:pt x="25006" y="0"/>
                  </a:lnTo>
                  <a:close/>
                </a:path>
              </a:pathLst>
            </a:custGeom>
            <a:solidFill>
              <a:srgbClr val="000000"/>
            </a:solidFill>
          </p:spPr>
          <p:txBody>
            <a:bodyPr wrap="square" lIns="0" tIns="0" rIns="0" bIns="0" rtlCol="0"/>
            <a:lstStyle/>
            <a:p/>
          </p:txBody>
        </p:sp>
        <p:sp>
          <p:nvSpPr>
            <p:cNvPr id="174" name="object 174" descr=""/>
            <p:cNvSpPr/>
            <p:nvPr/>
          </p:nvSpPr>
          <p:spPr>
            <a:xfrm>
              <a:off x="5314265" y="3045625"/>
              <a:ext cx="26034" cy="3810"/>
            </a:xfrm>
            <a:custGeom>
              <a:avLst/>
              <a:gdLst/>
              <a:ahLst/>
              <a:cxnLst/>
              <a:rect l="l" t="t" r="r" b="b"/>
              <a:pathLst>
                <a:path w="26035" h="3810">
                  <a:moveTo>
                    <a:pt x="2070" y="0"/>
                  </a:moveTo>
                  <a:lnTo>
                    <a:pt x="23876" y="0"/>
                  </a:lnTo>
                  <a:lnTo>
                    <a:pt x="25006" y="0"/>
                  </a:lnTo>
                  <a:lnTo>
                    <a:pt x="25933" y="660"/>
                  </a:lnTo>
                  <a:lnTo>
                    <a:pt x="25933" y="1460"/>
                  </a:lnTo>
                  <a:lnTo>
                    <a:pt x="25933" y="1993"/>
                  </a:lnTo>
                  <a:lnTo>
                    <a:pt x="25933" y="2806"/>
                  </a:lnTo>
                  <a:lnTo>
                    <a:pt x="25006" y="3467"/>
                  </a:lnTo>
                  <a:lnTo>
                    <a:pt x="23876" y="3467"/>
                  </a:lnTo>
                  <a:lnTo>
                    <a:pt x="2070" y="3467"/>
                  </a:lnTo>
                  <a:lnTo>
                    <a:pt x="927" y="3467"/>
                  </a:lnTo>
                  <a:lnTo>
                    <a:pt x="0" y="2806"/>
                  </a:lnTo>
                  <a:lnTo>
                    <a:pt x="0" y="1993"/>
                  </a:lnTo>
                  <a:lnTo>
                    <a:pt x="0" y="1460"/>
                  </a:lnTo>
                  <a:lnTo>
                    <a:pt x="0" y="660"/>
                  </a:lnTo>
                  <a:lnTo>
                    <a:pt x="927" y="0"/>
                  </a:lnTo>
                  <a:lnTo>
                    <a:pt x="2070" y="0"/>
                  </a:lnTo>
                  <a:close/>
                </a:path>
              </a:pathLst>
            </a:custGeom>
            <a:ln w="7594">
              <a:solidFill>
                <a:srgbClr val="000000"/>
              </a:solidFill>
            </a:ln>
          </p:spPr>
          <p:txBody>
            <a:bodyPr wrap="square" lIns="0" tIns="0" rIns="0" bIns="0" rtlCol="0"/>
            <a:lstStyle/>
            <a:p/>
          </p:txBody>
        </p:sp>
        <p:sp>
          <p:nvSpPr>
            <p:cNvPr id="175" name="object 175" descr=""/>
            <p:cNvSpPr/>
            <p:nvPr/>
          </p:nvSpPr>
          <p:spPr>
            <a:xfrm>
              <a:off x="5307473" y="2995469"/>
              <a:ext cx="26034" cy="38735"/>
            </a:xfrm>
            <a:custGeom>
              <a:avLst/>
              <a:gdLst/>
              <a:ahLst/>
              <a:cxnLst/>
              <a:rect l="l" t="t" r="r" b="b"/>
              <a:pathLst>
                <a:path w="26035" h="38735">
                  <a:moveTo>
                    <a:pt x="23698" y="0"/>
                  </a:moveTo>
                  <a:lnTo>
                    <a:pt x="4343" y="0"/>
                  </a:lnTo>
                  <a:lnTo>
                    <a:pt x="1943" y="0"/>
                  </a:lnTo>
                  <a:lnTo>
                    <a:pt x="0" y="1346"/>
                  </a:lnTo>
                  <a:lnTo>
                    <a:pt x="0" y="36944"/>
                  </a:lnTo>
                  <a:lnTo>
                    <a:pt x="1943" y="38290"/>
                  </a:lnTo>
                  <a:lnTo>
                    <a:pt x="23698" y="38290"/>
                  </a:lnTo>
                  <a:lnTo>
                    <a:pt x="25641" y="36944"/>
                  </a:lnTo>
                  <a:lnTo>
                    <a:pt x="25641" y="1346"/>
                  </a:lnTo>
                  <a:lnTo>
                    <a:pt x="23698" y="0"/>
                  </a:lnTo>
                  <a:close/>
                </a:path>
              </a:pathLst>
            </a:custGeom>
            <a:solidFill>
              <a:srgbClr val="000000"/>
            </a:solidFill>
          </p:spPr>
          <p:txBody>
            <a:bodyPr wrap="square" lIns="0" tIns="0" rIns="0" bIns="0" rtlCol="0"/>
            <a:lstStyle/>
            <a:p/>
          </p:txBody>
        </p:sp>
        <p:sp>
          <p:nvSpPr>
            <p:cNvPr id="176" name="object 176" descr=""/>
            <p:cNvSpPr/>
            <p:nvPr/>
          </p:nvSpPr>
          <p:spPr>
            <a:xfrm>
              <a:off x="5307467" y="2995673"/>
              <a:ext cx="21590" cy="38735"/>
            </a:xfrm>
            <a:custGeom>
              <a:avLst/>
              <a:gdLst/>
              <a:ahLst/>
              <a:cxnLst/>
              <a:rect l="l" t="t" r="r" b="b"/>
              <a:pathLst>
                <a:path w="21589" h="38735">
                  <a:moveTo>
                    <a:pt x="19380" y="0"/>
                  </a:moveTo>
                  <a:lnTo>
                    <a:pt x="3555" y="0"/>
                  </a:lnTo>
                  <a:lnTo>
                    <a:pt x="1600" y="0"/>
                  </a:lnTo>
                  <a:lnTo>
                    <a:pt x="0" y="1346"/>
                  </a:lnTo>
                  <a:lnTo>
                    <a:pt x="0" y="36944"/>
                  </a:lnTo>
                  <a:lnTo>
                    <a:pt x="1600" y="38290"/>
                  </a:lnTo>
                  <a:lnTo>
                    <a:pt x="19380" y="38290"/>
                  </a:lnTo>
                  <a:lnTo>
                    <a:pt x="20967" y="36944"/>
                  </a:lnTo>
                  <a:lnTo>
                    <a:pt x="20967" y="1346"/>
                  </a:lnTo>
                  <a:lnTo>
                    <a:pt x="19380" y="0"/>
                  </a:lnTo>
                  <a:close/>
                </a:path>
              </a:pathLst>
            </a:custGeom>
            <a:solidFill>
              <a:srgbClr val="313131"/>
            </a:solidFill>
          </p:spPr>
          <p:txBody>
            <a:bodyPr wrap="square" lIns="0" tIns="0" rIns="0" bIns="0" rtlCol="0"/>
            <a:lstStyle/>
            <a:p/>
          </p:txBody>
        </p:sp>
        <p:sp>
          <p:nvSpPr>
            <p:cNvPr id="177" name="object 177" descr=""/>
            <p:cNvSpPr/>
            <p:nvPr/>
          </p:nvSpPr>
          <p:spPr>
            <a:xfrm>
              <a:off x="5314575" y="3014969"/>
              <a:ext cx="4445" cy="33655"/>
            </a:xfrm>
            <a:custGeom>
              <a:avLst/>
              <a:gdLst/>
              <a:ahLst/>
              <a:cxnLst/>
              <a:rect l="l" t="t" r="r" b="b"/>
              <a:pathLst>
                <a:path w="4445" h="33655">
                  <a:moveTo>
                    <a:pt x="3276" y="0"/>
                  </a:moveTo>
                  <a:lnTo>
                    <a:pt x="2108" y="0"/>
                  </a:lnTo>
                  <a:lnTo>
                    <a:pt x="939" y="0"/>
                  </a:lnTo>
                  <a:lnTo>
                    <a:pt x="0" y="660"/>
                  </a:lnTo>
                  <a:lnTo>
                    <a:pt x="0" y="32638"/>
                  </a:lnTo>
                  <a:lnTo>
                    <a:pt x="939" y="33312"/>
                  </a:lnTo>
                  <a:lnTo>
                    <a:pt x="3276" y="33312"/>
                  </a:lnTo>
                  <a:lnTo>
                    <a:pt x="4216" y="32638"/>
                  </a:lnTo>
                  <a:lnTo>
                    <a:pt x="4216" y="660"/>
                  </a:lnTo>
                  <a:lnTo>
                    <a:pt x="3276" y="0"/>
                  </a:lnTo>
                  <a:close/>
                </a:path>
              </a:pathLst>
            </a:custGeom>
            <a:solidFill>
              <a:srgbClr val="000000"/>
            </a:solidFill>
          </p:spPr>
          <p:txBody>
            <a:bodyPr wrap="square" lIns="0" tIns="0" rIns="0" bIns="0" rtlCol="0"/>
            <a:lstStyle/>
            <a:p/>
          </p:txBody>
        </p:sp>
        <p:sp>
          <p:nvSpPr>
            <p:cNvPr id="178" name="object 178" descr=""/>
            <p:cNvSpPr/>
            <p:nvPr/>
          </p:nvSpPr>
          <p:spPr>
            <a:xfrm>
              <a:off x="5314575" y="3014969"/>
              <a:ext cx="4445" cy="33655"/>
            </a:xfrm>
            <a:custGeom>
              <a:avLst/>
              <a:gdLst/>
              <a:ahLst/>
              <a:cxnLst/>
              <a:rect l="l" t="t" r="r" b="b"/>
              <a:pathLst>
                <a:path w="4445" h="33655">
                  <a:moveTo>
                    <a:pt x="2108" y="0"/>
                  </a:moveTo>
                  <a:lnTo>
                    <a:pt x="3276" y="0"/>
                  </a:lnTo>
                  <a:lnTo>
                    <a:pt x="4216" y="660"/>
                  </a:lnTo>
                  <a:lnTo>
                    <a:pt x="4216" y="1460"/>
                  </a:lnTo>
                  <a:lnTo>
                    <a:pt x="4216" y="31826"/>
                  </a:lnTo>
                  <a:lnTo>
                    <a:pt x="4216" y="32638"/>
                  </a:lnTo>
                  <a:lnTo>
                    <a:pt x="3276" y="33312"/>
                  </a:lnTo>
                  <a:lnTo>
                    <a:pt x="2108" y="33312"/>
                  </a:lnTo>
                  <a:lnTo>
                    <a:pt x="939" y="33312"/>
                  </a:lnTo>
                  <a:lnTo>
                    <a:pt x="0" y="32638"/>
                  </a:lnTo>
                  <a:lnTo>
                    <a:pt x="0" y="31826"/>
                  </a:lnTo>
                  <a:lnTo>
                    <a:pt x="0" y="1460"/>
                  </a:lnTo>
                  <a:lnTo>
                    <a:pt x="0" y="660"/>
                  </a:lnTo>
                  <a:lnTo>
                    <a:pt x="939" y="0"/>
                  </a:lnTo>
                  <a:lnTo>
                    <a:pt x="2108" y="0"/>
                  </a:lnTo>
                  <a:close/>
                </a:path>
              </a:pathLst>
            </a:custGeom>
            <a:ln w="7594">
              <a:solidFill>
                <a:srgbClr val="000000"/>
              </a:solidFill>
            </a:ln>
          </p:spPr>
          <p:txBody>
            <a:bodyPr wrap="square" lIns="0" tIns="0" rIns="0" bIns="0" rtlCol="0"/>
            <a:lstStyle/>
            <a:p/>
          </p:txBody>
        </p:sp>
        <p:sp>
          <p:nvSpPr>
            <p:cNvPr id="179" name="object 179" descr=""/>
            <p:cNvSpPr/>
            <p:nvPr/>
          </p:nvSpPr>
          <p:spPr>
            <a:xfrm>
              <a:off x="5313667" y="3015805"/>
              <a:ext cx="25400" cy="34290"/>
            </a:xfrm>
            <a:custGeom>
              <a:avLst/>
              <a:gdLst/>
              <a:ahLst/>
              <a:cxnLst/>
              <a:rect l="l" t="t" r="r" b="b"/>
              <a:pathLst>
                <a:path w="25400" h="34289">
                  <a:moveTo>
                    <a:pt x="25298" y="31711"/>
                  </a:moveTo>
                  <a:lnTo>
                    <a:pt x="24409" y="31242"/>
                  </a:lnTo>
                  <a:lnTo>
                    <a:pt x="3708" y="31242"/>
                  </a:lnTo>
                  <a:lnTo>
                    <a:pt x="3708" y="660"/>
                  </a:lnTo>
                  <a:lnTo>
                    <a:pt x="2882" y="0"/>
                  </a:lnTo>
                  <a:lnTo>
                    <a:pt x="1854" y="0"/>
                  </a:lnTo>
                  <a:lnTo>
                    <a:pt x="825" y="0"/>
                  </a:lnTo>
                  <a:lnTo>
                    <a:pt x="0" y="660"/>
                  </a:lnTo>
                  <a:lnTo>
                    <a:pt x="0" y="32639"/>
                  </a:lnTo>
                  <a:lnTo>
                    <a:pt x="596" y="33134"/>
                  </a:lnTo>
                  <a:lnTo>
                    <a:pt x="1473" y="33718"/>
                  </a:lnTo>
                  <a:lnTo>
                    <a:pt x="24409" y="33718"/>
                  </a:lnTo>
                  <a:lnTo>
                    <a:pt x="25298" y="33248"/>
                  </a:lnTo>
                  <a:lnTo>
                    <a:pt x="25298" y="31711"/>
                  </a:lnTo>
                  <a:close/>
                </a:path>
              </a:pathLst>
            </a:custGeom>
            <a:solidFill>
              <a:srgbClr val="3E3E3E"/>
            </a:solidFill>
          </p:spPr>
          <p:txBody>
            <a:bodyPr wrap="square" lIns="0" tIns="0" rIns="0" bIns="0" rtlCol="0"/>
            <a:lstStyle/>
            <a:p/>
          </p:txBody>
        </p:sp>
        <p:sp>
          <p:nvSpPr>
            <p:cNvPr id="180" name="object 180" descr=""/>
            <p:cNvSpPr/>
            <p:nvPr/>
          </p:nvSpPr>
          <p:spPr>
            <a:xfrm>
              <a:off x="5630469" y="3110699"/>
              <a:ext cx="160655" cy="132080"/>
            </a:xfrm>
            <a:custGeom>
              <a:avLst/>
              <a:gdLst/>
              <a:ahLst/>
              <a:cxnLst/>
              <a:rect l="l" t="t" r="r" b="b"/>
              <a:pathLst>
                <a:path w="160654" h="132080">
                  <a:moveTo>
                    <a:pt x="160616" y="42545"/>
                  </a:moveTo>
                  <a:lnTo>
                    <a:pt x="158902" y="31788"/>
                  </a:lnTo>
                  <a:lnTo>
                    <a:pt x="155498" y="21018"/>
                  </a:lnTo>
                  <a:lnTo>
                    <a:pt x="154660" y="18351"/>
                  </a:lnTo>
                  <a:lnTo>
                    <a:pt x="150431" y="11303"/>
                  </a:lnTo>
                  <a:lnTo>
                    <a:pt x="140944" y="5638"/>
                  </a:lnTo>
                  <a:lnTo>
                    <a:pt x="134429" y="1346"/>
                  </a:lnTo>
                  <a:lnTo>
                    <a:pt x="126987" y="0"/>
                  </a:lnTo>
                  <a:lnTo>
                    <a:pt x="113880" y="1663"/>
                  </a:lnTo>
                  <a:lnTo>
                    <a:pt x="90360" y="6413"/>
                  </a:lnTo>
                  <a:lnTo>
                    <a:pt x="78460" y="8229"/>
                  </a:lnTo>
                  <a:lnTo>
                    <a:pt x="71551" y="10579"/>
                  </a:lnTo>
                  <a:lnTo>
                    <a:pt x="66967" y="15074"/>
                  </a:lnTo>
                  <a:lnTo>
                    <a:pt x="63881" y="20231"/>
                  </a:lnTo>
                  <a:lnTo>
                    <a:pt x="50355" y="21361"/>
                  </a:lnTo>
                  <a:lnTo>
                    <a:pt x="24498" y="31038"/>
                  </a:lnTo>
                  <a:lnTo>
                    <a:pt x="7861" y="46494"/>
                  </a:lnTo>
                  <a:lnTo>
                    <a:pt x="0" y="66865"/>
                  </a:lnTo>
                  <a:lnTo>
                    <a:pt x="1892" y="91376"/>
                  </a:lnTo>
                  <a:lnTo>
                    <a:pt x="14541" y="112382"/>
                  </a:lnTo>
                  <a:lnTo>
                    <a:pt x="41363" y="126847"/>
                  </a:lnTo>
                  <a:lnTo>
                    <a:pt x="85839" y="131749"/>
                  </a:lnTo>
                  <a:lnTo>
                    <a:pt x="106667" y="128549"/>
                  </a:lnTo>
                  <a:lnTo>
                    <a:pt x="123596" y="118783"/>
                  </a:lnTo>
                  <a:lnTo>
                    <a:pt x="136105" y="103124"/>
                  </a:lnTo>
                  <a:lnTo>
                    <a:pt x="143687" y="82257"/>
                  </a:lnTo>
                  <a:lnTo>
                    <a:pt x="142849" y="59817"/>
                  </a:lnTo>
                  <a:lnTo>
                    <a:pt x="131711" y="40322"/>
                  </a:lnTo>
                  <a:lnTo>
                    <a:pt x="112115" y="25831"/>
                  </a:lnTo>
                  <a:lnTo>
                    <a:pt x="97815" y="21767"/>
                  </a:lnTo>
                  <a:lnTo>
                    <a:pt x="115481" y="21018"/>
                  </a:lnTo>
                  <a:lnTo>
                    <a:pt x="142316" y="26047"/>
                  </a:lnTo>
                  <a:lnTo>
                    <a:pt x="150660" y="43535"/>
                  </a:lnTo>
                  <a:lnTo>
                    <a:pt x="148666" y="78689"/>
                  </a:lnTo>
                  <a:lnTo>
                    <a:pt x="157505" y="78689"/>
                  </a:lnTo>
                  <a:lnTo>
                    <a:pt x="160058" y="56299"/>
                  </a:lnTo>
                  <a:lnTo>
                    <a:pt x="160578" y="43535"/>
                  </a:lnTo>
                  <a:lnTo>
                    <a:pt x="160616" y="42545"/>
                  </a:lnTo>
                  <a:close/>
                </a:path>
              </a:pathLst>
            </a:custGeom>
            <a:solidFill>
              <a:srgbClr val="000000"/>
            </a:solidFill>
          </p:spPr>
          <p:txBody>
            <a:bodyPr wrap="square" lIns="0" tIns="0" rIns="0" bIns="0" rtlCol="0"/>
            <a:lstStyle/>
            <a:p/>
          </p:txBody>
        </p:sp>
        <p:sp>
          <p:nvSpPr>
            <p:cNvPr id="181" name="object 181" descr=""/>
            <p:cNvSpPr/>
            <p:nvPr/>
          </p:nvSpPr>
          <p:spPr>
            <a:xfrm>
              <a:off x="5630473" y="3129074"/>
              <a:ext cx="144145" cy="113664"/>
            </a:xfrm>
            <a:custGeom>
              <a:avLst/>
              <a:gdLst/>
              <a:ahLst/>
              <a:cxnLst/>
              <a:rect l="l" t="t" r="r" b="b"/>
              <a:pathLst>
                <a:path w="144145" h="113664">
                  <a:moveTo>
                    <a:pt x="0" y="48488"/>
                  </a:moveTo>
                  <a:lnTo>
                    <a:pt x="7868" y="28114"/>
                  </a:lnTo>
                  <a:lnTo>
                    <a:pt x="24496" y="12652"/>
                  </a:lnTo>
                  <a:lnTo>
                    <a:pt x="50361" y="2986"/>
                  </a:lnTo>
                  <a:lnTo>
                    <a:pt x="85940" y="0"/>
                  </a:lnTo>
                  <a:lnTo>
                    <a:pt x="112123" y="7450"/>
                  </a:lnTo>
                  <a:lnTo>
                    <a:pt x="131711" y="21944"/>
                  </a:lnTo>
                  <a:lnTo>
                    <a:pt x="142851" y="41435"/>
                  </a:lnTo>
                  <a:lnTo>
                    <a:pt x="143687" y="63881"/>
                  </a:lnTo>
                  <a:lnTo>
                    <a:pt x="136104" y="84744"/>
                  </a:lnTo>
                  <a:lnTo>
                    <a:pt x="123597" y="100399"/>
                  </a:lnTo>
                  <a:lnTo>
                    <a:pt x="106674" y="110168"/>
                  </a:lnTo>
                  <a:lnTo>
                    <a:pt x="85839" y="113372"/>
                  </a:lnTo>
                  <a:lnTo>
                    <a:pt x="41371" y="108472"/>
                  </a:lnTo>
                  <a:lnTo>
                    <a:pt x="14539" y="94003"/>
                  </a:lnTo>
                  <a:lnTo>
                    <a:pt x="1898" y="72998"/>
                  </a:lnTo>
                  <a:lnTo>
                    <a:pt x="0" y="48488"/>
                  </a:lnTo>
                  <a:close/>
                </a:path>
              </a:pathLst>
            </a:custGeom>
            <a:ln w="7594">
              <a:solidFill>
                <a:srgbClr val="000000"/>
              </a:solidFill>
            </a:ln>
          </p:spPr>
          <p:txBody>
            <a:bodyPr wrap="square" lIns="0" tIns="0" rIns="0" bIns="0" rtlCol="0"/>
            <a:lstStyle/>
            <a:p/>
          </p:txBody>
        </p:sp>
        <p:sp>
          <p:nvSpPr>
            <p:cNvPr id="182" name="object 182" descr=""/>
            <p:cNvSpPr/>
            <p:nvPr/>
          </p:nvSpPr>
          <p:spPr>
            <a:xfrm>
              <a:off x="5972503" y="3093657"/>
              <a:ext cx="162560" cy="57150"/>
            </a:xfrm>
            <a:custGeom>
              <a:avLst/>
              <a:gdLst/>
              <a:ahLst/>
              <a:cxnLst/>
              <a:rect l="l" t="t" r="r" b="b"/>
              <a:pathLst>
                <a:path w="162560" h="57150">
                  <a:moveTo>
                    <a:pt x="162267" y="0"/>
                  </a:moveTo>
                  <a:lnTo>
                    <a:pt x="0" y="13233"/>
                  </a:lnTo>
                  <a:lnTo>
                    <a:pt x="0" y="39700"/>
                  </a:lnTo>
                  <a:lnTo>
                    <a:pt x="50111" y="52730"/>
                  </a:lnTo>
                  <a:lnTo>
                    <a:pt x="107973" y="56609"/>
                  </a:lnTo>
                  <a:lnTo>
                    <a:pt x="125141" y="56238"/>
                  </a:lnTo>
                  <a:lnTo>
                    <a:pt x="140720" y="54215"/>
                  </a:lnTo>
                  <a:lnTo>
                    <a:pt x="162267" y="49987"/>
                  </a:lnTo>
                  <a:lnTo>
                    <a:pt x="162267" y="0"/>
                  </a:lnTo>
                  <a:close/>
                </a:path>
              </a:pathLst>
            </a:custGeom>
            <a:solidFill>
              <a:srgbClr val="1A1A1A"/>
            </a:solidFill>
          </p:spPr>
          <p:txBody>
            <a:bodyPr wrap="square" lIns="0" tIns="0" rIns="0" bIns="0" rtlCol="0"/>
            <a:lstStyle/>
            <a:p/>
          </p:txBody>
        </p:sp>
        <p:sp>
          <p:nvSpPr>
            <p:cNvPr id="183" name="object 183" descr=""/>
            <p:cNvSpPr/>
            <p:nvPr/>
          </p:nvSpPr>
          <p:spPr>
            <a:xfrm>
              <a:off x="5912149" y="3135169"/>
              <a:ext cx="113664" cy="57150"/>
            </a:xfrm>
            <a:custGeom>
              <a:avLst/>
              <a:gdLst/>
              <a:ahLst/>
              <a:cxnLst/>
              <a:rect l="l" t="t" r="r" b="b"/>
              <a:pathLst>
                <a:path w="113664" h="57150">
                  <a:moveTo>
                    <a:pt x="111683" y="0"/>
                  </a:moveTo>
                  <a:lnTo>
                    <a:pt x="0" y="9651"/>
                  </a:lnTo>
                  <a:lnTo>
                    <a:pt x="1320" y="34239"/>
                  </a:lnTo>
                  <a:lnTo>
                    <a:pt x="4635" y="41122"/>
                  </a:lnTo>
                  <a:lnTo>
                    <a:pt x="12255" y="44348"/>
                  </a:lnTo>
                  <a:lnTo>
                    <a:pt x="39167" y="53649"/>
                  </a:lnTo>
                  <a:lnTo>
                    <a:pt x="56010" y="56749"/>
                  </a:lnTo>
                  <a:lnTo>
                    <a:pt x="69866" y="53649"/>
                  </a:lnTo>
                  <a:lnTo>
                    <a:pt x="107008" y="29356"/>
                  </a:lnTo>
                  <a:lnTo>
                    <a:pt x="111023" y="14706"/>
                  </a:lnTo>
                  <a:lnTo>
                    <a:pt x="113347" y="7581"/>
                  </a:lnTo>
                  <a:lnTo>
                    <a:pt x="111683" y="0"/>
                  </a:lnTo>
                  <a:close/>
                </a:path>
              </a:pathLst>
            </a:custGeom>
            <a:solidFill>
              <a:srgbClr val="000000"/>
            </a:solidFill>
          </p:spPr>
          <p:txBody>
            <a:bodyPr wrap="square" lIns="0" tIns="0" rIns="0" bIns="0" rtlCol="0"/>
            <a:lstStyle/>
            <a:p/>
          </p:txBody>
        </p:sp>
        <p:sp>
          <p:nvSpPr>
            <p:cNvPr id="184" name="object 184" descr=""/>
            <p:cNvSpPr/>
            <p:nvPr/>
          </p:nvSpPr>
          <p:spPr>
            <a:xfrm>
              <a:off x="5912149" y="3135169"/>
              <a:ext cx="113664" cy="57150"/>
            </a:xfrm>
            <a:custGeom>
              <a:avLst/>
              <a:gdLst/>
              <a:ahLst/>
              <a:cxnLst/>
              <a:rect l="l" t="t" r="r" b="b"/>
              <a:pathLst>
                <a:path w="113664" h="57150">
                  <a:moveTo>
                    <a:pt x="111023" y="14706"/>
                  </a:moveTo>
                  <a:lnTo>
                    <a:pt x="69866" y="53649"/>
                  </a:lnTo>
                  <a:lnTo>
                    <a:pt x="56010" y="56749"/>
                  </a:lnTo>
                  <a:lnTo>
                    <a:pt x="39167" y="53649"/>
                  </a:lnTo>
                  <a:lnTo>
                    <a:pt x="12255" y="44348"/>
                  </a:lnTo>
                  <a:lnTo>
                    <a:pt x="4635" y="41122"/>
                  </a:lnTo>
                  <a:lnTo>
                    <a:pt x="1320" y="34239"/>
                  </a:lnTo>
                  <a:lnTo>
                    <a:pt x="0" y="9651"/>
                  </a:lnTo>
                  <a:lnTo>
                    <a:pt x="111683" y="0"/>
                  </a:lnTo>
                  <a:lnTo>
                    <a:pt x="113347" y="7581"/>
                  </a:lnTo>
                  <a:lnTo>
                    <a:pt x="111023" y="14706"/>
                  </a:lnTo>
                  <a:close/>
                </a:path>
              </a:pathLst>
            </a:custGeom>
            <a:ln w="7594">
              <a:solidFill>
                <a:srgbClr val="000000"/>
              </a:solidFill>
            </a:ln>
          </p:spPr>
          <p:txBody>
            <a:bodyPr wrap="square" lIns="0" tIns="0" rIns="0" bIns="0" rtlCol="0"/>
            <a:lstStyle/>
            <a:p/>
          </p:txBody>
        </p:sp>
        <p:sp>
          <p:nvSpPr>
            <p:cNvPr id="185" name="object 185" descr=""/>
            <p:cNvSpPr/>
            <p:nvPr/>
          </p:nvSpPr>
          <p:spPr>
            <a:xfrm>
              <a:off x="6098105" y="3091212"/>
              <a:ext cx="70485" cy="96520"/>
            </a:xfrm>
            <a:custGeom>
              <a:avLst/>
              <a:gdLst/>
              <a:ahLst/>
              <a:cxnLst/>
              <a:rect l="l" t="t" r="r" b="b"/>
              <a:pathLst>
                <a:path w="70485" h="96519">
                  <a:moveTo>
                    <a:pt x="23093" y="0"/>
                  </a:moveTo>
                  <a:lnTo>
                    <a:pt x="12274" y="4533"/>
                  </a:lnTo>
                  <a:lnTo>
                    <a:pt x="6382" y="18676"/>
                  </a:lnTo>
                  <a:lnTo>
                    <a:pt x="1560" y="46741"/>
                  </a:lnTo>
                  <a:lnTo>
                    <a:pt x="0" y="72102"/>
                  </a:lnTo>
                  <a:lnTo>
                    <a:pt x="2981" y="85701"/>
                  </a:lnTo>
                  <a:lnTo>
                    <a:pt x="13656" y="92172"/>
                  </a:lnTo>
                  <a:lnTo>
                    <a:pt x="35177" y="96144"/>
                  </a:lnTo>
                  <a:lnTo>
                    <a:pt x="62685" y="96017"/>
                  </a:lnTo>
                  <a:lnTo>
                    <a:pt x="70204" y="1262"/>
                  </a:lnTo>
                  <a:lnTo>
                    <a:pt x="42696" y="767"/>
                  </a:lnTo>
                  <a:lnTo>
                    <a:pt x="23093" y="0"/>
                  </a:lnTo>
                  <a:close/>
                </a:path>
              </a:pathLst>
            </a:custGeom>
            <a:solidFill>
              <a:srgbClr val="000000"/>
            </a:solidFill>
          </p:spPr>
          <p:txBody>
            <a:bodyPr wrap="square" lIns="0" tIns="0" rIns="0" bIns="0" rtlCol="0"/>
            <a:lstStyle/>
            <a:p/>
          </p:txBody>
        </p:sp>
        <p:sp>
          <p:nvSpPr>
            <p:cNvPr id="186" name="object 186" descr=""/>
            <p:cNvSpPr/>
            <p:nvPr/>
          </p:nvSpPr>
          <p:spPr>
            <a:xfrm>
              <a:off x="6098105" y="3091212"/>
              <a:ext cx="70485" cy="96520"/>
            </a:xfrm>
            <a:custGeom>
              <a:avLst/>
              <a:gdLst/>
              <a:ahLst/>
              <a:cxnLst/>
              <a:rect l="l" t="t" r="r" b="b"/>
              <a:pathLst>
                <a:path w="70485" h="96519">
                  <a:moveTo>
                    <a:pt x="42696" y="767"/>
                  </a:moveTo>
                  <a:lnTo>
                    <a:pt x="6382" y="18676"/>
                  </a:lnTo>
                  <a:lnTo>
                    <a:pt x="0" y="72102"/>
                  </a:lnTo>
                  <a:lnTo>
                    <a:pt x="2981" y="85701"/>
                  </a:lnTo>
                  <a:lnTo>
                    <a:pt x="13656" y="92172"/>
                  </a:lnTo>
                  <a:lnTo>
                    <a:pt x="35177" y="96144"/>
                  </a:lnTo>
                  <a:lnTo>
                    <a:pt x="62685" y="96017"/>
                  </a:lnTo>
                  <a:lnTo>
                    <a:pt x="70204" y="1262"/>
                  </a:lnTo>
                  <a:lnTo>
                    <a:pt x="42696" y="767"/>
                  </a:lnTo>
                  <a:close/>
                </a:path>
              </a:pathLst>
            </a:custGeom>
            <a:ln w="7594">
              <a:solidFill>
                <a:srgbClr val="000000"/>
              </a:solidFill>
            </a:ln>
          </p:spPr>
          <p:txBody>
            <a:bodyPr wrap="square" lIns="0" tIns="0" rIns="0" bIns="0" rtlCol="0"/>
            <a:lstStyle/>
            <a:p/>
          </p:txBody>
        </p:sp>
        <p:sp>
          <p:nvSpPr>
            <p:cNvPr id="187" name="object 187" descr=""/>
            <p:cNvSpPr/>
            <p:nvPr/>
          </p:nvSpPr>
          <p:spPr>
            <a:xfrm>
              <a:off x="6123232" y="3092500"/>
              <a:ext cx="74930" cy="95250"/>
            </a:xfrm>
            <a:custGeom>
              <a:avLst/>
              <a:gdLst/>
              <a:ahLst/>
              <a:cxnLst/>
              <a:rect l="l" t="t" r="r" b="b"/>
              <a:pathLst>
                <a:path w="74929" h="95250">
                  <a:moveTo>
                    <a:pt x="41440" y="0"/>
                  </a:moveTo>
                  <a:lnTo>
                    <a:pt x="26589" y="3222"/>
                  </a:lnTo>
                  <a:lnTo>
                    <a:pt x="13842" y="12965"/>
                  </a:lnTo>
                  <a:lnTo>
                    <a:pt x="4535" y="27744"/>
                  </a:lnTo>
                  <a:lnTo>
                    <a:pt x="0" y="46075"/>
                  </a:lnTo>
                  <a:lnTo>
                    <a:pt x="1333" y="64607"/>
                  </a:lnTo>
                  <a:lnTo>
                    <a:pt x="8029" y="79933"/>
                  </a:lnTo>
                  <a:lnTo>
                    <a:pt x="19016" y="90488"/>
                  </a:lnTo>
                  <a:lnTo>
                    <a:pt x="33223" y="94703"/>
                  </a:lnTo>
                  <a:lnTo>
                    <a:pt x="48081" y="91481"/>
                  </a:lnTo>
                  <a:lnTo>
                    <a:pt x="60829" y="81738"/>
                  </a:lnTo>
                  <a:lnTo>
                    <a:pt x="70134" y="66959"/>
                  </a:lnTo>
                  <a:lnTo>
                    <a:pt x="74663" y="48628"/>
                  </a:lnTo>
                  <a:lnTo>
                    <a:pt x="73331" y="30098"/>
                  </a:lnTo>
                  <a:lnTo>
                    <a:pt x="66638" y="14774"/>
                  </a:lnTo>
                  <a:lnTo>
                    <a:pt x="55651" y="4220"/>
                  </a:lnTo>
                  <a:lnTo>
                    <a:pt x="41440" y="0"/>
                  </a:lnTo>
                  <a:close/>
                </a:path>
              </a:pathLst>
            </a:custGeom>
            <a:solidFill>
              <a:srgbClr val="1A1A1A"/>
            </a:solidFill>
          </p:spPr>
          <p:txBody>
            <a:bodyPr wrap="square" lIns="0" tIns="0" rIns="0" bIns="0" rtlCol="0"/>
            <a:lstStyle/>
            <a:p/>
          </p:txBody>
        </p:sp>
        <p:sp>
          <p:nvSpPr>
            <p:cNvPr id="188" name="object 188" descr=""/>
            <p:cNvSpPr/>
            <p:nvPr/>
          </p:nvSpPr>
          <p:spPr>
            <a:xfrm>
              <a:off x="6123232" y="3092500"/>
              <a:ext cx="74930" cy="95250"/>
            </a:xfrm>
            <a:custGeom>
              <a:avLst/>
              <a:gdLst/>
              <a:ahLst/>
              <a:cxnLst/>
              <a:rect l="l" t="t" r="r" b="b"/>
              <a:pathLst>
                <a:path w="74929" h="95250">
                  <a:moveTo>
                    <a:pt x="0" y="46075"/>
                  </a:moveTo>
                  <a:lnTo>
                    <a:pt x="4535" y="27744"/>
                  </a:lnTo>
                  <a:lnTo>
                    <a:pt x="13842" y="12965"/>
                  </a:lnTo>
                  <a:lnTo>
                    <a:pt x="26589" y="3222"/>
                  </a:lnTo>
                  <a:lnTo>
                    <a:pt x="41440" y="0"/>
                  </a:lnTo>
                  <a:lnTo>
                    <a:pt x="55651" y="4220"/>
                  </a:lnTo>
                  <a:lnTo>
                    <a:pt x="66638" y="14774"/>
                  </a:lnTo>
                  <a:lnTo>
                    <a:pt x="73331" y="30098"/>
                  </a:lnTo>
                  <a:lnTo>
                    <a:pt x="74663" y="48628"/>
                  </a:lnTo>
                  <a:lnTo>
                    <a:pt x="70134" y="66959"/>
                  </a:lnTo>
                  <a:lnTo>
                    <a:pt x="60829" y="81738"/>
                  </a:lnTo>
                  <a:lnTo>
                    <a:pt x="48081" y="91481"/>
                  </a:lnTo>
                  <a:lnTo>
                    <a:pt x="33223" y="94703"/>
                  </a:lnTo>
                  <a:lnTo>
                    <a:pt x="19016" y="90488"/>
                  </a:lnTo>
                  <a:lnTo>
                    <a:pt x="8029" y="79933"/>
                  </a:lnTo>
                  <a:lnTo>
                    <a:pt x="1333" y="64607"/>
                  </a:lnTo>
                  <a:lnTo>
                    <a:pt x="0" y="46075"/>
                  </a:lnTo>
                  <a:close/>
                </a:path>
              </a:pathLst>
            </a:custGeom>
            <a:ln w="7594">
              <a:solidFill>
                <a:srgbClr val="000000"/>
              </a:solidFill>
            </a:ln>
          </p:spPr>
          <p:txBody>
            <a:bodyPr wrap="square" lIns="0" tIns="0" rIns="0" bIns="0" rtlCol="0"/>
            <a:lstStyle/>
            <a:p/>
          </p:txBody>
        </p:sp>
        <p:sp>
          <p:nvSpPr>
            <p:cNvPr id="189" name="object 189" descr=""/>
            <p:cNvSpPr/>
            <p:nvPr/>
          </p:nvSpPr>
          <p:spPr>
            <a:xfrm>
              <a:off x="5669875" y="3131894"/>
              <a:ext cx="110489" cy="110489"/>
            </a:xfrm>
            <a:custGeom>
              <a:avLst/>
              <a:gdLst/>
              <a:ahLst/>
              <a:cxnLst/>
              <a:rect l="l" t="t" r="r" b="b"/>
              <a:pathLst>
                <a:path w="110489" h="110489">
                  <a:moveTo>
                    <a:pt x="60299" y="0"/>
                  </a:moveTo>
                  <a:lnTo>
                    <a:pt x="38453" y="2915"/>
                  </a:lnTo>
                  <a:lnTo>
                    <a:pt x="19829" y="13525"/>
                  </a:lnTo>
                  <a:lnTo>
                    <a:pt x="6366" y="30193"/>
                  </a:lnTo>
                  <a:lnTo>
                    <a:pt x="0" y="51282"/>
                  </a:lnTo>
                  <a:lnTo>
                    <a:pt x="2287" y="72960"/>
                  </a:lnTo>
                  <a:lnTo>
                    <a:pt x="12423" y="91230"/>
                  </a:lnTo>
                  <a:lnTo>
                    <a:pt x="28803" y="104214"/>
                  </a:lnTo>
                  <a:lnTo>
                    <a:pt x="49822" y="110032"/>
                  </a:lnTo>
                  <a:lnTo>
                    <a:pt x="71663" y="107122"/>
                  </a:lnTo>
                  <a:lnTo>
                    <a:pt x="90285" y="96513"/>
                  </a:lnTo>
                  <a:lnTo>
                    <a:pt x="103748" y="79846"/>
                  </a:lnTo>
                  <a:lnTo>
                    <a:pt x="110109" y="58762"/>
                  </a:lnTo>
                  <a:lnTo>
                    <a:pt x="107823" y="37084"/>
                  </a:lnTo>
                  <a:lnTo>
                    <a:pt x="97691" y="18813"/>
                  </a:lnTo>
                  <a:lnTo>
                    <a:pt x="81316" y="5825"/>
                  </a:lnTo>
                  <a:lnTo>
                    <a:pt x="60299" y="0"/>
                  </a:lnTo>
                  <a:close/>
                </a:path>
              </a:pathLst>
            </a:custGeom>
            <a:solidFill>
              <a:srgbClr val="1A1A1A"/>
            </a:solidFill>
          </p:spPr>
          <p:txBody>
            <a:bodyPr wrap="square" lIns="0" tIns="0" rIns="0" bIns="0" rtlCol="0"/>
            <a:lstStyle/>
            <a:p/>
          </p:txBody>
        </p:sp>
        <p:sp>
          <p:nvSpPr>
            <p:cNvPr id="190" name="object 190" descr=""/>
            <p:cNvSpPr/>
            <p:nvPr/>
          </p:nvSpPr>
          <p:spPr>
            <a:xfrm>
              <a:off x="5669875" y="3131894"/>
              <a:ext cx="110489" cy="110489"/>
            </a:xfrm>
            <a:custGeom>
              <a:avLst/>
              <a:gdLst/>
              <a:ahLst/>
              <a:cxnLst/>
              <a:rect l="l" t="t" r="r" b="b"/>
              <a:pathLst>
                <a:path w="110489" h="110489">
                  <a:moveTo>
                    <a:pt x="0" y="51282"/>
                  </a:moveTo>
                  <a:lnTo>
                    <a:pt x="6366" y="30193"/>
                  </a:lnTo>
                  <a:lnTo>
                    <a:pt x="19829" y="13525"/>
                  </a:lnTo>
                  <a:lnTo>
                    <a:pt x="38453" y="2915"/>
                  </a:lnTo>
                  <a:lnTo>
                    <a:pt x="60299" y="0"/>
                  </a:lnTo>
                  <a:lnTo>
                    <a:pt x="81316" y="5825"/>
                  </a:lnTo>
                  <a:lnTo>
                    <a:pt x="97691" y="18813"/>
                  </a:lnTo>
                  <a:lnTo>
                    <a:pt x="107823" y="37084"/>
                  </a:lnTo>
                  <a:lnTo>
                    <a:pt x="110109" y="58762"/>
                  </a:lnTo>
                  <a:lnTo>
                    <a:pt x="103748" y="79846"/>
                  </a:lnTo>
                  <a:lnTo>
                    <a:pt x="90285" y="96513"/>
                  </a:lnTo>
                  <a:lnTo>
                    <a:pt x="71663" y="107122"/>
                  </a:lnTo>
                  <a:lnTo>
                    <a:pt x="49822" y="110032"/>
                  </a:lnTo>
                  <a:lnTo>
                    <a:pt x="28803" y="104214"/>
                  </a:lnTo>
                  <a:lnTo>
                    <a:pt x="12423" y="91230"/>
                  </a:lnTo>
                  <a:lnTo>
                    <a:pt x="2287" y="72960"/>
                  </a:lnTo>
                  <a:lnTo>
                    <a:pt x="0" y="51282"/>
                  </a:lnTo>
                  <a:close/>
                </a:path>
              </a:pathLst>
            </a:custGeom>
            <a:ln w="7594">
              <a:solidFill>
                <a:srgbClr val="000000"/>
              </a:solidFill>
            </a:ln>
          </p:spPr>
          <p:txBody>
            <a:bodyPr wrap="square" lIns="0" tIns="0" rIns="0" bIns="0" rtlCol="0"/>
            <a:lstStyle/>
            <a:p/>
          </p:txBody>
        </p:sp>
        <p:sp>
          <p:nvSpPr>
            <p:cNvPr id="191" name="object 191" descr=""/>
            <p:cNvSpPr/>
            <p:nvPr/>
          </p:nvSpPr>
          <p:spPr>
            <a:xfrm>
              <a:off x="6112992" y="3078366"/>
              <a:ext cx="177800" cy="88900"/>
            </a:xfrm>
            <a:custGeom>
              <a:avLst/>
              <a:gdLst/>
              <a:ahLst/>
              <a:cxnLst/>
              <a:rect l="l" t="t" r="r" b="b"/>
              <a:pathLst>
                <a:path w="177800" h="88900">
                  <a:moveTo>
                    <a:pt x="173659" y="0"/>
                  </a:moveTo>
                  <a:lnTo>
                    <a:pt x="0" y="13157"/>
                  </a:lnTo>
                  <a:lnTo>
                    <a:pt x="51320" y="14109"/>
                  </a:lnTo>
                  <a:lnTo>
                    <a:pt x="57238" y="14109"/>
                  </a:lnTo>
                  <a:lnTo>
                    <a:pt x="64084" y="17691"/>
                  </a:lnTo>
                  <a:lnTo>
                    <a:pt x="91592" y="17691"/>
                  </a:lnTo>
                  <a:lnTo>
                    <a:pt x="102528" y="18589"/>
                  </a:lnTo>
                  <a:lnTo>
                    <a:pt x="126639" y="50440"/>
                  </a:lnTo>
                  <a:lnTo>
                    <a:pt x="129344" y="60715"/>
                  </a:lnTo>
                  <a:lnTo>
                    <a:pt x="127222" y="71005"/>
                  </a:lnTo>
                  <a:lnTo>
                    <a:pt x="120408" y="86055"/>
                  </a:lnTo>
                  <a:lnTo>
                    <a:pt x="169024" y="88684"/>
                  </a:lnTo>
                  <a:lnTo>
                    <a:pt x="177190" y="88353"/>
                  </a:lnTo>
                  <a:lnTo>
                    <a:pt x="176390" y="81000"/>
                  </a:lnTo>
                  <a:lnTo>
                    <a:pt x="173659" y="0"/>
                  </a:lnTo>
                  <a:close/>
                </a:path>
              </a:pathLst>
            </a:custGeom>
            <a:solidFill>
              <a:srgbClr val="000000"/>
            </a:solidFill>
          </p:spPr>
          <p:txBody>
            <a:bodyPr wrap="square" lIns="0" tIns="0" rIns="0" bIns="0" rtlCol="0"/>
            <a:lstStyle/>
            <a:p/>
          </p:txBody>
        </p:sp>
        <p:sp>
          <p:nvSpPr>
            <p:cNvPr id="192" name="object 192" descr=""/>
            <p:cNvSpPr/>
            <p:nvPr/>
          </p:nvSpPr>
          <p:spPr>
            <a:xfrm>
              <a:off x="6112992" y="3078366"/>
              <a:ext cx="177800" cy="88900"/>
            </a:xfrm>
            <a:custGeom>
              <a:avLst/>
              <a:gdLst/>
              <a:ahLst/>
              <a:cxnLst/>
              <a:rect l="l" t="t" r="r" b="b"/>
              <a:pathLst>
                <a:path w="177800" h="88900">
                  <a:moveTo>
                    <a:pt x="173659" y="0"/>
                  </a:moveTo>
                  <a:lnTo>
                    <a:pt x="176390" y="81000"/>
                  </a:lnTo>
                  <a:lnTo>
                    <a:pt x="177190" y="88353"/>
                  </a:lnTo>
                  <a:lnTo>
                    <a:pt x="169024" y="88684"/>
                  </a:lnTo>
                  <a:lnTo>
                    <a:pt x="120408" y="86055"/>
                  </a:lnTo>
                  <a:lnTo>
                    <a:pt x="127222" y="71005"/>
                  </a:lnTo>
                  <a:lnTo>
                    <a:pt x="129344" y="60715"/>
                  </a:lnTo>
                  <a:lnTo>
                    <a:pt x="113652" y="25797"/>
                  </a:lnTo>
                  <a:lnTo>
                    <a:pt x="91592" y="17691"/>
                  </a:lnTo>
                  <a:lnTo>
                    <a:pt x="64084" y="17691"/>
                  </a:lnTo>
                  <a:lnTo>
                    <a:pt x="57238" y="14109"/>
                  </a:lnTo>
                  <a:lnTo>
                    <a:pt x="51320" y="14109"/>
                  </a:lnTo>
                  <a:lnTo>
                    <a:pt x="24193" y="13614"/>
                  </a:lnTo>
                  <a:lnTo>
                    <a:pt x="0" y="13157"/>
                  </a:lnTo>
                  <a:lnTo>
                    <a:pt x="173659" y="0"/>
                  </a:lnTo>
                  <a:close/>
                </a:path>
              </a:pathLst>
            </a:custGeom>
            <a:ln w="7594">
              <a:solidFill>
                <a:srgbClr val="000000"/>
              </a:solidFill>
            </a:ln>
          </p:spPr>
          <p:txBody>
            <a:bodyPr wrap="square" lIns="0" tIns="0" rIns="0" bIns="0" rtlCol="0"/>
            <a:lstStyle/>
            <a:p/>
          </p:txBody>
        </p:sp>
        <p:pic>
          <p:nvPicPr>
            <p:cNvPr id="193" name="object 193" descr=""/>
            <p:cNvPicPr/>
            <p:nvPr/>
          </p:nvPicPr>
          <p:blipFill>
            <a:blip r:embed="rId58" cstate="print"/>
            <a:stretch>
              <a:fillRect/>
            </a:stretch>
          </p:blipFill>
          <p:spPr>
            <a:xfrm>
              <a:off x="5809208" y="2827147"/>
              <a:ext cx="605459" cy="287985"/>
            </a:xfrm>
            <a:prstGeom prst="rect">
              <a:avLst/>
            </a:prstGeom>
          </p:spPr>
        </p:pic>
        <p:sp>
          <p:nvSpPr>
            <p:cNvPr id="194" name="object 194" descr=""/>
            <p:cNvSpPr/>
            <p:nvPr/>
          </p:nvSpPr>
          <p:spPr>
            <a:xfrm>
              <a:off x="5827490" y="2840009"/>
              <a:ext cx="573405" cy="264160"/>
            </a:xfrm>
            <a:custGeom>
              <a:avLst/>
              <a:gdLst/>
              <a:ahLst/>
              <a:cxnLst/>
              <a:rect l="l" t="t" r="r" b="b"/>
              <a:pathLst>
                <a:path w="573404" h="264160">
                  <a:moveTo>
                    <a:pt x="572947" y="0"/>
                  </a:moveTo>
                  <a:lnTo>
                    <a:pt x="0" y="4165"/>
                  </a:lnTo>
                  <a:lnTo>
                    <a:pt x="0" y="263575"/>
                  </a:lnTo>
                  <a:lnTo>
                    <a:pt x="572947" y="218465"/>
                  </a:lnTo>
                  <a:lnTo>
                    <a:pt x="572947" y="0"/>
                  </a:lnTo>
                  <a:close/>
                </a:path>
              </a:pathLst>
            </a:custGeom>
            <a:solidFill>
              <a:srgbClr val="5F9EA0"/>
            </a:solidFill>
          </p:spPr>
          <p:txBody>
            <a:bodyPr wrap="square" lIns="0" tIns="0" rIns="0" bIns="0" rtlCol="0"/>
            <a:lstStyle/>
            <a:p/>
          </p:txBody>
        </p:sp>
        <p:pic>
          <p:nvPicPr>
            <p:cNvPr id="195" name="object 195" descr=""/>
            <p:cNvPicPr/>
            <p:nvPr/>
          </p:nvPicPr>
          <p:blipFill>
            <a:blip r:embed="rId59" cstate="print"/>
            <a:stretch>
              <a:fillRect/>
            </a:stretch>
          </p:blipFill>
          <p:spPr>
            <a:xfrm>
              <a:off x="5523445" y="2830677"/>
              <a:ext cx="304215" cy="286435"/>
            </a:xfrm>
            <a:prstGeom prst="rect">
              <a:avLst/>
            </a:prstGeom>
          </p:spPr>
        </p:pic>
        <p:sp>
          <p:nvSpPr>
            <p:cNvPr id="196" name="object 196" descr=""/>
            <p:cNvSpPr/>
            <p:nvPr/>
          </p:nvSpPr>
          <p:spPr>
            <a:xfrm>
              <a:off x="5535735" y="2844157"/>
              <a:ext cx="249554" cy="271145"/>
            </a:xfrm>
            <a:custGeom>
              <a:avLst/>
              <a:gdLst/>
              <a:ahLst/>
              <a:cxnLst/>
              <a:rect l="l" t="t" r="r" b="b"/>
              <a:pathLst>
                <a:path w="249554" h="271144">
                  <a:moveTo>
                    <a:pt x="249389" y="0"/>
                  </a:moveTo>
                  <a:lnTo>
                    <a:pt x="0" y="558"/>
                  </a:lnTo>
                  <a:lnTo>
                    <a:pt x="0" y="89115"/>
                  </a:lnTo>
                  <a:lnTo>
                    <a:pt x="0" y="255206"/>
                  </a:lnTo>
                  <a:lnTo>
                    <a:pt x="249389" y="270979"/>
                  </a:lnTo>
                  <a:lnTo>
                    <a:pt x="249389" y="0"/>
                  </a:lnTo>
                  <a:close/>
                </a:path>
              </a:pathLst>
            </a:custGeom>
            <a:solidFill>
              <a:srgbClr val="5F9EA0"/>
            </a:solidFill>
          </p:spPr>
          <p:txBody>
            <a:bodyPr wrap="square" lIns="0" tIns="0" rIns="0" bIns="0" rtlCol="0"/>
            <a:lstStyle/>
            <a:p/>
          </p:txBody>
        </p:sp>
        <p:pic>
          <p:nvPicPr>
            <p:cNvPr id="197" name="object 197" descr=""/>
            <p:cNvPicPr/>
            <p:nvPr/>
          </p:nvPicPr>
          <p:blipFill>
            <a:blip r:embed="rId60" cstate="print"/>
            <a:stretch>
              <a:fillRect/>
            </a:stretch>
          </p:blipFill>
          <p:spPr>
            <a:xfrm>
              <a:off x="5382704" y="2933268"/>
              <a:ext cx="344932" cy="17830"/>
            </a:xfrm>
            <a:prstGeom prst="rect">
              <a:avLst/>
            </a:prstGeom>
          </p:spPr>
        </p:pic>
        <p:pic>
          <p:nvPicPr>
            <p:cNvPr id="198" name="object 198" descr=""/>
            <p:cNvPicPr/>
            <p:nvPr/>
          </p:nvPicPr>
          <p:blipFill>
            <a:blip r:embed="rId61" cstate="print"/>
            <a:stretch>
              <a:fillRect/>
            </a:stretch>
          </p:blipFill>
          <p:spPr>
            <a:xfrm>
              <a:off x="5586990" y="2957640"/>
              <a:ext cx="174193" cy="174574"/>
            </a:xfrm>
            <a:prstGeom prst="rect">
              <a:avLst/>
            </a:prstGeom>
          </p:spPr>
        </p:pic>
        <p:pic>
          <p:nvPicPr>
            <p:cNvPr id="199" name="object 199" descr=""/>
            <p:cNvPicPr/>
            <p:nvPr/>
          </p:nvPicPr>
          <p:blipFill>
            <a:blip r:embed="rId62" cstate="print"/>
            <a:stretch>
              <a:fillRect/>
            </a:stretch>
          </p:blipFill>
          <p:spPr>
            <a:xfrm>
              <a:off x="5653723" y="3099092"/>
              <a:ext cx="136422" cy="63411"/>
            </a:xfrm>
            <a:prstGeom prst="rect">
              <a:avLst/>
            </a:prstGeom>
          </p:spPr>
        </p:pic>
        <p:sp>
          <p:nvSpPr>
            <p:cNvPr id="200" name="object 200" descr=""/>
            <p:cNvSpPr/>
            <p:nvPr/>
          </p:nvSpPr>
          <p:spPr>
            <a:xfrm>
              <a:off x="5329778" y="3102104"/>
              <a:ext cx="260350" cy="38735"/>
            </a:xfrm>
            <a:custGeom>
              <a:avLst/>
              <a:gdLst/>
              <a:ahLst/>
              <a:cxnLst/>
              <a:rect l="l" t="t" r="r" b="b"/>
              <a:pathLst>
                <a:path w="260350" h="38735">
                  <a:moveTo>
                    <a:pt x="0" y="0"/>
                  </a:moveTo>
                  <a:lnTo>
                    <a:pt x="1765" y="25679"/>
                  </a:lnTo>
                  <a:lnTo>
                    <a:pt x="1447" y="26860"/>
                  </a:lnTo>
                  <a:lnTo>
                    <a:pt x="10706" y="27863"/>
                  </a:lnTo>
                  <a:lnTo>
                    <a:pt x="109553" y="34558"/>
                  </a:lnTo>
                  <a:lnTo>
                    <a:pt x="168262" y="37752"/>
                  </a:lnTo>
                  <a:lnTo>
                    <a:pt x="210016" y="38309"/>
                  </a:lnTo>
                  <a:lnTo>
                    <a:pt x="258000" y="37096"/>
                  </a:lnTo>
                  <a:lnTo>
                    <a:pt x="259829" y="35153"/>
                  </a:lnTo>
                  <a:lnTo>
                    <a:pt x="258610" y="30111"/>
                  </a:lnTo>
                  <a:lnTo>
                    <a:pt x="245808" y="30111"/>
                  </a:lnTo>
                  <a:lnTo>
                    <a:pt x="244944" y="5791"/>
                  </a:lnTo>
                  <a:lnTo>
                    <a:pt x="0" y="0"/>
                  </a:lnTo>
                  <a:close/>
                </a:path>
              </a:pathLst>
            </a:custGeom>
            <a:solidFill>
              <a:srgbClr val="000000"/>
            </a:solidFill>
          </p:spPr>
          <p:txBody>
            <a:bodyPr wrap="square" lIns="0" tIns="0" rIns="0" bIns="0" rtlCol="0"/>
            <a:lstStyle/>
            <a:p/>
          </p:txBody>
        </p:sp>
        <p:sp>
          <p:nvSpPr>
            <p:cNvPr id="201" name="object 201" descr=""/>
            <p:cNvSpPr/>
            <p:nvPr/>
          </p:nvSpPr>
          <p:spPr>
            <a:xfrm>
              <a:off x="5327265" y="3065340"/>
              <a:ext cx="229870" cy="59690"/>
            </a:xfrm>
            <a:custGeom>
              <a:avLst/>
              <a:gdLst/>
              <a:ahLst/>
              <a:cxnLst/>
              <a:rect l="l" t="t" r="r" b="b"/>
              <a:pathLst>
                <a:path w="229870" h="59689">
                  <a:moveTo>
                    <a:pt x="1356" y="0"/>
                  </a:moveTo>
                  <a:lnTo>
                    <a:pt x="237" y="4339"/>
                  </a:lnTo>
                  <a:lnTo>
                    <a:pt x="0" y="7327"/>
                  </a:lnTo>
                  <a:lnTo>
                    <a:pt x="5" y="14576"/>
                  </a:lnTo>
                  <a:lnTo>
                    <a:pt x="129" y="18363"/>
                  </a:lnTo>
                  <a:lnTo>
                    <a:pt x="1089" y="34518"/>
                  </a:lnTo>
                  <a:lnTo>
                    <a:pt x="1089" y="47371"/>
                  </a:lnTo>
                  <a:lnTo>
                    <a:pt x="3959" y="54394"/>
                  </a:lnTo>
                  <a:lnTo>
                    <a:pt x="5686" y="59613"/>
                  </a:lnTo>
                  <a:lnTo>
                    <a:pt x="10030" y="58610"/>
                  </a:lnTo>
                  <a:lnTo>
                    <a:pt x="10030" y="55016"/>
                  </a:lnTo>
                  <a:lnTo>
                    <a:pt x="7134" y="53594"/>
                  </a:lnTo>
                  <a:lnTo>
                    <a:pt x="5749" y="43802"/>
                  </a:lnTo>
                  <a:lnTo>
                    <a:pt x="5686" y="43357"/>
                  </a:lnTo>
                  <a:lnTo>
                    <a:pt x="3667" y="37731"/>
                  </a:lnTo>
                  <a:lnTo>
                    <a:pt x="6842" y="37325"/>
                  </a:lnTo>
                  <a:lnTo>
                    <a:pt x="229435" y="37325"/>
                  </a:lnTo>
                  <a:lnTo>
                    <a:pt x="229435" y="15411"/>
                  </a:lnTo>
                  <a:lnTo>
                    <a:pt x="206003" y="15411"/>
                  </a:lnTo>
                  <a:lnTo>
                    <a:pt x="184642" y="14884"/>
                  </a:lnTo>
                  <a:lnTo>
                    <a:pt x="140219" y="14576"/>
                  </a:lnTo>
                  <a:lnTo>
                    <a:pt x="89457" y="12984"/>
                  </a:lnTo>
                  <a:lnTo>
                    <a:pt x="44669" y="10903"/>
                  </a:lnTo>
                  <a:lnTo>
                    <a:pt x="403" y="7327"/>
                  </a:lnTo>
                  <a:lnTo>
                    <a:pt x="1356" y="0"/>
                  </a:lnTo>
                  <a:close/>
                </a:path>
                <a:path w="229870" h="59689">
                  <a:moveTo>
                    <a:pt x="229435" y="37325"/>
                  </a:moveTo>
                  <a:lnTo>
                    <a:pt x="6842" y="37325"/>
                  </a:lnTo>
                  <a:lnTo>
                    <a:pt x="48596" y="40722"/>
                  </a:lnTo>
                  <a:lnTo>
                    <a:pt x="85701" y="42645"/>
                  </a:lnTo>
                  <a:lnTo>
                    <a:pt x="229435" y="44907"/>
                  </a:lnTo>
                  <a:lnTo>
                    <a:pt x="229435" y="37325"/>
                  </a:lnTo>
                  <a:close/>
                </a:path>
                <a:path w="229870" h="59689">
                  <a:moveTo>
                    <a:pt x="229435" y="14576"/>
                  </a:moveTo>
                  <a:lnTo>
                    <a:pt x="227769" y="14576"/>
                  </a:lnTo>
                  <a:lnTo>
                    <a:pt x="220227" y="15138"/>
                  </a:lnTo>
                  <a:lnTo>
                    <a:pt x="212491" y="15411"/>
                  </a:lnTo>
                  <a:lnTo>
                    <a:pt x="229435" y="15411"/>
                  </a:lnTo>
                  <a:lnTo>
                    <a:pt x="229435" y="14576"/>
                  </a:lnTo>
                  <a:close/>
                </a:path>
              </a:pathLst>
            </a:custGeom>
            <a:solidFill>
              <a:srgbClr val="427272"/>
            </a:solidFill>
          </p:spPr>
          <p:txBody>
            <a:bodyPr wrap="square" lIns="0" tIns="0" rIns="0" bIns="0" rtlCol="0"/>
            <a:lstStyle/>
            <a:p/>
          </p:txBody>
        </p:sp>
        <p:sp>
          <p:nvSpPr>
            <p:cNvPr id="202" name="object 202" descr=""/>
            <p:cNvSpPr/>
            <p:nvPr/>
          </p:nvSpPr>
          <p:spPr>
            <a:xfrm>
              <a:off x="5339613" y="3107054"/>
              <a:ext cx="215900" cy="19050"/>
            </a:xfrm>
            <a:custGeom>
              <a:avLst/>
              <a:gdLst/>
              <a:ahLst/>
              <a:cxnLst/>
              <a:rect l="l" t="t" r="r" b="b"/>
              <a:pathLst>
                <a:path w="215900" h="19050">
                  <a:moveTo>
                    <a:pt x="19113" y="1663"/>
                  </a:moveTo>
                  <a:lnTo>
                    <a:pt x="18135" y="1003"/>
                  </a:lnTo>
                  <a:lnTo>
                    <a:pt x="16941" y="1003"/>
                  </a:lnTo>
                  <a:lnTo>
                    <a:pt x="2171" y="0"/>
                  </a:lnTo>
                  <a:lnTo>
                    <a:pt x="977" y="0"/>
                  </a:lnTo>
                  <a:lnTo>
                    <a:pt x="0" y="660"/>
                  </a:lnTo>
                  <a:lnTo>
                    <a:pt x="0" y="12014"/>
                  </a:lnTo>
                  <a:lnTo>
                    <a:pt x="977" y="12674"/>
                  </a:lnTo>
                  <a:lnTo>
                    <a:pt x="2171" y="12674"/>
                  </a:lnTo>
                  <a:lnTo>
                    <a:pt x="16941" y="13677"/>
                  </a:lnTo>
                  <a:lnTo>
                    <a:pt x="18135" y="13677"/>
                  </a:lnTo>
                  <a:lnTo>
                    <a:pt x="19113" y="13030"/>
                  </a:lnTo>
                  <a:lnTo>
                    <a:pt x="19113" y="1663"/>
                  </a:lnTo>
                  <a:close/>
                </a:path>
                <a:path w="215900" h="19050">
                  <a:moveTo>
                    <a:pt x="39382" y="2870"/>
                  </a:moveTo>
                  <a:lnTo>
                    <a:pt x="38404" y="2209"/>
                  </a:lnTo>
                  <a:lnTo>
                    <a:pt x="37211" y="2209"/>
                  </a:lnTo>
                  <a:lnTo>
                    <a:pt x="22440" y="1206"/>
                  </a:lnTo>
                  <a:lnTo>
                    <a:pt x="21247" y="1206"/>
                  </a:lnTo>
                  <a:lnTo>
                    <a:pt x="20269" y="1866"/>
                  </a:lnTo>
                  <a:lnTo>
                    <a:pt x="20269" y="13220"/>
                  </a:lnTo>
                  <a:lnTo>
                    <a:pt x="21247" y="13881"/>
                  </a:lnTo>
                  <a:lnTo>
                    <a:pt x="22440" y="13881"/>
                  </a:lnTo>
                  <a:lnTo>
                    <a:pt x="37211" y="14884"/>
                  </a:lnTo>
                  <a:lnTo>
                    <a:pt x="38404" y="14884"/>
                  </a:lnTo>
                  <a:lnTo>
                    <a:pt x="39382" y="14236"/>
                  </a:lnTo>
                  <a:lnTo>
                    <a:pt x="39382" y="2870"/>
                  </a:lnTo>
                  <a:close/>
                </a:path>
                <a:path w="215900" h="19050">
                  <a:moveTo>
                    <a:pt x="189649" y="7734"/>
                  </a:moveTo>
                  <a:lnTo>
                    <a:pt x="188683" y="7061"/>
                  </a:lnTo>
                  <a:lnTo>
                    <a:pt x="169240" y="7061"/>
                  </a:lnTo>
                  <a:lnTo>
                    <a:pt x="168046" y="7061"/>
                  </a:lnTo>
                  <a:lnTo>
                    <a:pt x="167081" y="7734"/>
                  </a:lnTo>
                  <a:lnTo>
                    <a:pt x="167081" y="18224"/>
                  </a:lnTo>
                  <a:lnTo>
                    <a:pt x="168046" y="18897"/>
                  </a:lnTo>
                  <a:lnTo>
                    <a:pt x="188683" y="18897"/>
                  </a:lnTo>
                  <a:lnTo>
                    <a:pt x="189649" y="18224"/>
                  </a:lnTo>
                  <a:lnTo>
                    <a:pt x="189649" y="7734"/>
                  </a:lnTo>
                  <a:close/>
                </a:path>
                <a:path w="215900" h="19050">
                  <a:moveTo>
                    <a:pt x="215328" y="7708"/>
                  </a:moveTo>
                  <a:lnTo>
                    <a:pt x="214363" y="7035"/>
                  </a:lnTo>
                  <a:lnTo>
                    <a:pt x="194919" y="7035"/>
                  </a:lnTo>
                  <a:lnTo>
                    <a:pt x="193713" y="7035"/>
                  </a:lnTo>
                  <a:lnTo>
                    <a:pt x="192760" y="7708"/>
                  </a:lnTo>
                  <a:lnTo>
                    <a:pt x="192760" y="18199"/>
                  </a:lnTo>
                  <a:lnTo>
                    <a:pt x="193713" y="18872"/>
                  </a:lnTo>
                  <a:lnTo>
                    <a:pt x="214363" y="18872"/>
                  </a:lnTo>
                  <a:lnTo>
                    <a:pt x="215328" y="18199"/>
                  </a:lnTo>
                  <a:lnTo>
                    <a:pt x="215328" y="7708"/>
                  </a:lnTo>
                  <a:close/>
                </a:path>
              </a:pathLst>
            </a:custGeom>
            <a:solidFill>
              <a:srgbClr val="FFFFFF"/>
            </a:solidFill>
          </p:spPr>
          <p:txBody>
            <a:bodyPr wrap="square" lIns="0" tIns="0" rIns="0" bIns="0" rtlCol="0"/>
            <a:lstStyle/>
            <a:p/>
          </p:txBody>
        </p:sp>
        <p:sp>
          <p:nvSpPr>
            <p:cNvPr id="203" name="object 203" descr=""/>
            <p:cNvSpPr/>
            <p:nvPr/>
          </p:nvSpPr>
          <p:spPr>
            <a:xfrm>
              <a:off x="5556700" y="2946350"/>
              <a:ext cx="181610" cy="186055"/>
            </a:xfrm>
            <a:custGeom>
              <a:avLst/>
              <a:gdLst/>
              <a:ahLst/>
              <a:cxnLst/>
              <a:rect l="l" t="t" r="r" b="b"/>
              <a:pathLst>
                <a:path w="181610" h="186055">
                  <a:moveTo>
                    <a:pt x="3682" y="182867"/>
                  </a:moveTo>
                  <a:lnTo>
                    <a:pt x="3682" y="185864"/>
                  </a:lnTo>
                  <a:lnTo>
                    <a:pt x="31686" y="185864"/>
                  </a:lnTo>
                  <a:lnTo>
                    <a:pt x="32808" y="184137"/>
                  </a:lnTo>
                  <a:lnTo>
                    <a:pt x="32843" y="183870"/>
                  </a:lnTo>
                  <a:lnTo>
                    <a:pt x="11290" y="183870"/>
                  </a:lnTo>
                  <a:lnTo>
                    <a:pt x="3682" y="182867"/>
                  </a:lnTo>
                  <a:close/>
                </a:path>
                <a:path w="181610" h="186055">
                  <a:moveTo>
                    <a:pt x="170941" y="0"/>
                  </a:moveTo>
                  <a:lnTo>
                    <a:pt x="31559" y="4749"/>
                  </a:lnTo>
                  <a:lnTo>
                    <a:pt x="31559" y="13766"/>
                  </a:lnTo>
                  <a:lnTo>
                    <a:pt x="36626" y="13766"/>
                  </a:lnTo>
                  <a:lnTo>
                    <a:pt x="35178" y="17030"/>
                  </a:lnTo>
                  <a:lnTo>
                    <a:pt x="34394" y="23868"/>
                  </a:lnTo>
                  <a:lnTo>
                    <a:pt x="33002" y="35058"/>
                  </a:lnTo>
                  <a:lnTo>
                    <a:pt x="24320" y="102577"/>
                  </a:lnTo>
                  <a:lnTo>
                    <a:pt x="22511" y="120276"/>
                  </a:lnTo>
                  <a:lnTo>
                    <a:pt x="19375" y="129390"/>
                  </a:lnTo>
                  <a:lnTo>
                    <a:pt x="12631" y="132813"/>
                  </a:lnTo>
                  <a:lnTo>
                    <a:pt x="0" y="133438"/>
                  </a:lnTo>
                  <a:lnTo>
                    <a:pt x="0" y="163868"/>
                  </a:lnTo>
                  <a:lnTo>
                    <a:pt x="11290" y="183870"/>
                  </a:lnTo>
                  <a:lnTo>
                    <a:pt x="32843" y="183870"/>
                  </a:lnTo>
                  <a:lnTo>
                    <a:pt x="33281" y="180479"/>
                  </a:lnTo>
                  <a:lnTo>
                    <a:pt x="33195" y="172116"/>
                  </a:lnTo>
                  <a:lnTo>
                    <a:pt x="32638" y="156273"/>
                  </a:lnTo>
                  <a:lnTo>
                    <a:pt x="30616" y="117222"/>
                  </a:lnTo>
                  <a:lnTo>
                    <a:pt x="30699" y="90852"/>
                  </a:lnTo>
                  <a:lnTo>
                    <a:pt x="33567" y="65144"/>
                  </a:lnTo>
                  <a:lnTo>
                    <a:pt x="39903" y="28079"/>
                  </a:lnTo>
                  <a:lnTo>
                    <a:pt x="41298" y="15519"/>
                  </a:lnTo>
                  <a:lnTo>
                    <a:pt x="41325" y="15278"/>
                  </a:lnTo>
                  <a:lnTo>
                    <a:pt x="58301" y="15278"/>
                  </a:lnTo>
                  <a:lnTo>
                    <a:pt x="72737" y="14188"/>
                  </a:lnTo>
                  <a:lnTo>
                    <a:pt x="91770" y="13300"/>
                  </a:lnTo>
                  <a:lnTo>
                    <a:pt x="181394" y="11252"/>
                  </a:lnTo>
                  <a:lnTo>
                    <a:pt x="179577" y="6743"/>
                  </a:lnTo>
                  <a:lnTo>
                    <a:pt x="170941" y="0"/>
                  </a:lnTo>
                  <a:close/>
                </a:path>
                <a:path w="181610" h="186055">
                  <a:moveTo>
                    <a:pt x="58301" y="15278"/>
                  </a:moveTo>
                  <a:lnTo>
                    <a:pt x="41325" y="15278"/>
                  </a:lnTo>
                  <a:lnTo>
                    <a:pt x="55105" y="15519"/>
                  </a:lnTo>
                  <a:lnTo>
                    <a:pt x="58301" y="15278"/>
                  </a:lnTo>
                  <a:close/>
                </a:path>
              </a:pathLst>
            </a:custGeom>
            <a:solidFill>
              <a:srgbClr val="427272"/>
            </a:solidFill>
          </p:spPr>
          <p:txBody>
            <a:bodyPr wrap="square" lIns="0" tIns="0" rIns="0" bIns="0" rtlCol="0"/>
            <a:lstStyle/>
            <a:p/>
          </p:txBody>
        </p:sp>
        <p:sp>
          <p:nvSpPr>
            <p:cNvPr id="204" name="object 204" descr=""/>
            <p:cNvSpPr/>
            <p:nvPr/>
          </p:nvSpPr>
          <p:spPr>
            <a:xfrm>
              <a:off x="5364220" y="2939726"/>
              <a:ext cx="224154" cy="20955"/>
            </a:xfrm>
            <a:custGeom>
              <a:avLst/>
              <a:gdLst/>
              <a:ahLst/>
              <a:cxnLst/>
              <a:rect l="l" t="t" r="r" b="b"/>
              <a:pathLst>
                <a:path w="224154" h="20955">
                  <a:moveTo>
                    <a:pt x="224053" y="15306"/>
                  </a:moveTo>
                  <a:lnTo>
                    <a:pt x="96959" y="15306"/>
                  </a:lnTo>
                  <a:lnTo>
                    <a:pt x="135023" y="16145"/>
                  </a:lnTo>
                  <a:lnTo>
                    <a:pt x="190855" y="17980"/>
                  </a:lnTo>
                  <a:lnTo>
                    <a:pt x="220591" y="20201"/>
                  </a:lnTo>
                  <a:lnTo>
                    <a:pt x="224053" y="20418"/>
                  </a:lnTo>
                  <a:lnTo>
                    <a:pt x="224053" y="15306"/>
                  </a:lnTo>
                  <a:close/>
                </a:path>
                <a:path w="224154" h="20955">
                  <a:moveTo>
                    <a:pt x="170068" y="0"/>
                  </a:moveTo>
                  <a:lnTo>
                    <a:pt x="116114" y="1110"/>
                  </a:lnTo>
                  <a:lnTo>
                    <a:pt x="18491" y="6092"/>
                  </a:lnTo>
                  <a:lnTo>
                    <a:pt x="5702" y="9001"/>
                  </a:lnTo>
                  <a:lnTo>
                    <a:pt x="0" y="17332"/>
                  </a:lnTo>
                  <a:lnTo>
                    <a:pt x="1066" y="17332"/>
                  </a:lnTo>
                  <a:lnTo>
                    <a:pt x="4102" y="15795"/>
                  </a:lnTo>
                  <a:lnTo>
                    <a:pt x="224053" y="15306"/>
                  </a:lnTo>
                  <a:lnTo>
                    <a:pt x="224053" y="11376"/>
                  </a:lnTo>
                  <a:lnTo>
                    <a:pt x="199624" y="3256"/>
                  </a:lnTo>
                  <a:lnTo>
                    <a:pt x="170068" y="0"/>
                  </a:lnTo>
                  <a:close/>
                </a:path>
              </a:pathLst>
            </a:custGeom>
            <a:solidFill>
              <a:srgbClr val="5B8484"/>
            </a:solidFill>
          </p:spPr>
          <p:txBody>
            <a:bodyPr wrap="square" lIns="0" tIns="0" rIns="0" bIns="0" rtlCol="0"/>
            <a:lstStyle/>
            <a:p/>
          </p:txBody>
        </p:sp>
        <p:sp>
          <p:nvSpPr>
            <p:cNvPr id="205" name="object 205" descr=""/>
            <p:cNvSpPr/>
            <p:nvPr/>
          </p:nvSpPr>
          <p:spPr>
            <a:xfrm>
              <a:off x="5671938" y="3054540"/>
              <a:ext cx="23495" cy="18415"/>
            </a:xfrm>
            <a:custGeom>
              <a:avLst/>
              <a:gdLst/>
              <a:ahLst/>
              <a:cxnLst/>
              <a:rect l="l" t="t" r="r" b="b"/>
              <a:pathLst>
                <a:path w="23495" h="18414">
                  <a:moveTo>
                    <a:pt x="22796" y="0"/>
                  </a:moveTo>
                  <a:lnTo>
                    <a:pt x="19278" y="622"/>
                  </a:lnTo>
                  <a:lnTo>
                    <a:pt x="11645" y="622"/>
                  </a:lnTo>
                  <a:lnTo>
                    <a:pt x="3175" y="2578"/>
                  </a:lnTo>
                  <a:lnTo>
                    <a:pt x="609" y="3378"/>
                  </a:lnTo>
                  <a:lnTo>
                    <a:pt x="520" y="5397"/>
                  </a:lnTo>
                  <a:lnTo>
                    <a:pt x="0" y="10668"/>
                  </a:lnTo>
                  <a:lnTo>
                    <a:pt x="997" y="14719"/>
                  </a:lnTo>
                  <a:lnTo>
                    <a:pt x="1054" y="14947"/>
                  </a:lnTo>
                  <a:lnTo>
                    <a:pt x="2641" y="18135"/>
                  </a:lnTo>
                  <a:lnTo>
                    <a:pt x="13068" y="16192"/>
                  </a:lnTo>
                  <a:lnTo>
                    <a:pt x="20497" y="15443"/>
                  </a:lnTo>
                  <a:lnTo>
                    <a:pt x="21564" y="14719"/>
                  </a:lnTo>
                  <a:lnTo>
                    <a:pt x="23329" y="13970"/>
                  </a:lnTo>
                  <a:lnTo>
                    <a:pt x="22804" y="5397"/>
                  </a:lnTo>
                  <a:lnTo>
                    <a:pt x="22796" y="0"/>
                  </a:lnTo>
                  <a:close/>
                </a:path>
              </a:pathLst>
            </a:custGeom>
            <a:solidFill>
              <a:srgbClr val="000000"/>
            </a:solidFill>
          </p:spPr>
          <p:txBody>
            <a:bodyPr wrap="square" lIns="0" tIns="0" rIns="0" bIns="0" rtlCol="0"/>
            <a:lstStyle/>
            <a:p/>
          </p:txBody>
        </p:sp>
        <p:sp>
          <p:nvSpPr>
            <p:cNvPr id="206" name="object 206" descr=""/>
            <p:cNvSpPr/>
            <p:nvPr/>
          </p:nvSpPr>
          <p:spPr>
            <a:xfrm>
              <a:off x="5676163" y="3055899"/>
              <a:ext cx="19685" cy="14604"/>
            </a:xfrm>
            <a:custGeom>
              <a:avLst/>
              <a:gdLst/>
              <a:ahLst/>
              <a:cxnLst/>
              <a:rect l="l" t="t" r="r" b="b"/>
              <a:pathLst>
                <a:path w="19685" h="14605">
                  <a:moveTo>
                    <a:pt x="17856" y="8458"/>
                  </a:moveTo>
                  <a:lnTo>
                    <a:pt x="16624" y="8458"/>
                  </a:lnTo>
                  <a:lnTo>
                    <a:pt x="7785" y="9067"/>
                  </a:lnTo>
                  <a:lnTo>
                    <a:pt x="5842" y="9067"/>
                  </a:lnTo>
                  <a:lnTo>
                    <a:pt x="533" y="10655"/>
                  </a:lnTo>
                  <a:lnTo>
                    <a:pt x="5308" y="12865"/>
                  </a:lnTo>
                  <a:lnTo>
                    <a:pt x="10617" y="14097"/>
                  </a:lnTo>
                  <a:lnTo>
                    <a:pt x="16624" y="12014"/>
                  </a:lnTo>
                  <a:lnTo>
                    <a:pt x="17856" y="8458"/>
                  </a:lnTo>
                  <a:close/>
                </a:path>
                <a:path w="19685" h="14605">
                  <a:moveTo>
                    <a:pt x="19443" y="0"/>
                  </a:moveTo>
                  <a:lnTo>
                    <a:pt x="14681" y="431"/>
                  </a:lnTo>
                  <a:lnTo>
                    <a:pt x="6096" y="431"/>
                  </a:lnTo>
                  <a:lnTo>
                    <a:pt x="2832" y="2692"/>
                  </a:lnTo>
                  <a:lnTo>
                    <a:pt x="0" y="6362"/>
                  </a:lnTo>
                  <a:lnTo>
                    <a:pt x="15913" y="5638"/>
                  </a:lnTo>
                  <a:lnTo>
                    <a:pt x="17691" y="5143"/>
                  </a:lnTo>
                  <a:lnTo>
                    <a:pt x="19443" y="0"/>
                  </a:lnTo>
                  <a:close/>
                </a:path>
              </a:pathLst>
            </a:custGeom>
            <a:solidFill>
              <a:srgbClr val="3E3E3E"/>
            </a:solidFill>
          </p:spPr>
          <p:txBody>
            <a:bodyPr wrap="square" lIns="0" tIns="0" rIns="0" bIns="0" rtlCol="0"/>
            <a:lstStyle/>
            <a:p/>
          </p:txBody>
        </p:sp>
        <p:sp>
          <p:nvSpPr>
            <p:cNvPr id="207" name="object 207" descr=""/>
            <p:cNvSpPr/>
            <p:nvPr/>
          </p:nvSpPr>
          <p:spPr>
            <a:xfrm>
              <a:off x="5655669" y="3063369"/>
              <a:ext cx="6350" cy="4445"/>
            </a:xfrm>
            <a:custGeom>
              <a:avLst/>
              <a:gdLst/>
              <a:ahLst/>
              <a:cxnLst/>
              <a:rect l="l" t="t" r="r" b="b"/>
              <a:pathLst>
                <a:path w="6350" h="4444">
                  <a:moveTo>
                    <a:pt x="4660" y="0"/>
                  </a:moveTo>
                  <a:lnTo>
                    <a:pt x="1346" y="0"/>
                  </a:lnTo>
                  <a:lnTo>
                    <a:pt x="0" y="927"/>
                  </a:lnTo>
                  <a:lnTo>
                    <a:pt x="0" y="2082"/>
                  </a:lnTo>
                  <a:lnTo>
                    <a:pt x="0" y="3238"/>
                  </a:lnTo>
                  <a:lnTo>
                    <a:pt x="1346" y="4165"/>
                  </a:lnTo>
                  <a:lnTo>
                    <a:pt x="4660" y="4165"/>
                  </a:lnTo>
                  <a:lnTo>
                    <a:pt x="6007" y="3238"/>
                  </a:lnTo>
                  <a:lnTo>
                    <a:pt x="6007" y="927"/>
                  </a:lnTo>
                  <a:lnTo>
                    <a:pt x="4660" y="0"/>
                  </a:lnTo>
                  <a:close/>
                </a:path>
              </a:pathLst>
            </a:custGeom>
            <a:solidFill>
              <a:srgbClr val="000000"/>
            </a:solidFill>
          </p:spPr>
          <p:txBody>
            <a:bodyPr wrap="square" lIns="0" tIns="0" rIns="0" bIns="0" rtlCol="0"/>
            <a:lstStyle/>
            <a:p/>
          </p:txBody>
        </p:sp>
        <p:sp>
          <p:nvSpPr>
            <p:cNvPr id="208" name="object 208" descr=""/>
            <p:cNvSpPr/>
            <p:nvPr/>
          </p:nvSpPr>
          <p:spPr>
            <a:xfrm>
              <a:off x="5688563" y="2957666"/>
              <a:ext cx="66675" cy="133985"/>
            </a:xfrm>
            <a:custGeom>
              <a:avLst/>
              <a:gdLst/>
              <a:ahLst/>
              <a:cxnLst/>
              <a:rect l="l" t="t" r="r" b="b"/>
              <a:pathLst>
                <a:path w="66675" h="133985">
                  <a:moveTo>
                    <a:pt x="49542" y="0"/>
                  </a:moveTo>
                  <a:lnTo>
                    <a:pt x="0" y="1066"/>
                  </a:lnTo>
                  <a:lnTo>
                    <a:pt x="7867" y="26568"/>
                  </a:lnTo>
                  <a:lnTo>
                    <a:pt x="11650" y="48871"/>
                  </a:lnTo>
                  <a:lnTo>
                    <a:pt x="12392" y="80396"/>
                  </a:lnTo>
                  <a:lnTo>
                    <a:pt x="11137" y="133565"/>
                  </a:lnTo>
                  <a:lnTo>
                    <a:pt x="65963" y="124371"/>
                  </a:lnTo>
                  <a:lnTo>
                    <a:pt x="66528" y="67806"/>
                  </a:lnTo>
                  <a:lnTo>
                    <a:pt x="65006" y="35996"/>
                  </a:lnTo>
                  <a:lnTo>
                    <a:pt x="59857" y="17280"/>
                  </a:lnTo>
                  <a:lnTo>
                    <a:pt x="49542" y="0"/>
                  </a:lnTo>
                  <a:close/>
                </a:path>
              </a:pathLst>
            </a:custGeom>
            <a:solidFill>
              <a:srgbClr val="598383"/>
            </a:solidFill>
          </p:spPr>
          <p:txBody>
            <a:bodyPr wrap="square" lIns="0" tIns="0" rIns="0" bIns="0" rtlCol="0"/>
            <a:lstStyle/>
            <a:p/>
          </p:txBody>
        </p:sp>
        <p:sp>
          <p:nvSpPr>
            <p:cNvPr id="209" name="object 209" descr=""/>
            <p:cNvSpPr/>
            <p:nvPr/>
          </p:nvSpPr>
          <p:spPr>
            <a:xfrm>
              <a:off x="5785129" y="3129053"/>
              <a:ext cx="8255" cy="60960"/>
            </a:xfrm>
            <a:custGeom>
              <a:avLst/>
              <a:gdLst/>
              <a:ahLst/>
              <a:cxnLst/>
              <a:rect l="l" t="t" r="r" b="b"/>
              <a:pathLst>
                <a:path w="8254" h="60960">
                  <a:moveTo>
                    <a:pt x="0" y="0"/>
                  </a:moveTo>
                  <a:lnTo>
                    <a:pt x="4357" y="14177"/>
                  </a:lnTo>
                  <a:lnTo>
                    <a:pt x="6097" y="25222"/>
                  </a:lnTo>
                  <a:lnTo>
                    <a:pt x="5477" y="38819"/>
                  </a:lnTo>
                  <a:lnTo>
                    <a:pt x="2755" y="60655"/>
                  </a:lnTo>
                  <a:lnTo>
                    <a:pt x="4521" y="59664"/>
                  </a:lnTo>
                  <a:lnTo>
                    <a:pt x="7036" y="39366"/>
                  </a:lnTo>
                  <a:lnTo>
                    <a:pt x="7691" y="26435"/>
                  </a:lnTo>
                  <a:lnTo>
                    <a:pt x="6319" y="15323"/>
                  </a:lnTo>
                  <a:lnTo>
                    <a:pt x="2755" y="482"/>
                  </a:lnTo>
                  <a:lnTo>
                    <a:pt x="0" y="0"/>
                  </a:lnTo>
                  <a:close/>
                </a:path>
              </a:pathLst>
            </a:custGeom>
            <a:solidFill>
              <a:srgbClr val="606060"/>
            </a:solidFill>
          </p:spPr>
          <p:txBody>
            <a:bodyPr wrap="square" lIns="0" tIns="0" rIns="0" bIns="0" rtlCol="0"/>
            <a:lstStyle/>
            <a:p/>
          </p:txBody>
        </p:sp>
        <p:pic>
          <p:nvPicPr>
            <p:cNvPr id="210" name="object 210" descr=""/>
            <p:cNvPicPr/>
            <p:nvPr/>
          </p:nvPicPr>
          <p:blipFill>
            <a:blip r:embed="rId63" cstate="print"/>
            <a:stretch>
              <a:fillRect/>
            </a:stretch>
          </p:blipFill>
          <p:spPr>
            <a:xfrm>
              <a:off x="5807646" y="3134715"/>
              <a:ext cx="162166" cy="44869"/>
            </a:xfrm>
            <a:prstGeom prst="rect">
              <a:avLst/>
            </a:prstGeom>
          </p:spPr>
        </p:pic>
        <p:sp>
          <p:nvSpPr>
            <p:cNvPr id="211" name="object 211" descr=""/>
            <p:cNvSpPr/>
            <p:nvPr/>
          </p:nvSpPr>
          <p:spPr>
            <a:xfrm>
              <a:off x="5788770" y="3129542"/>
              <a:ext cx="19050" cy="34925"/>
            </a:xfrm>
            <a:custGeom>
              <a:avLst/>
              <a:gdLst/>
              <a:ahLst/>
              <a:cxnLst/>
              <a:rect l="l" t="t" r="r" b="b"/>
              <a:pathLst>
                <a:path w="19050" h="34925">
                  <a:moveTo>
                    <a:pt x="0" y="0"/>
                  </a:moveTo>
                  <a:lnTo>
                    <a:pt x="0" y="3543"/>
                  </a:lnTo>
                  <a:lnTo>
                    <a:pt x="1421" y="12015"/>
                  </a:lnTo>
                  <a:lnTo>
                    <a:pt x="2135" y="18030"/>
                  </a:lnTo>
                  <a:lnTo>
                    <a:pt x="2355" y="24460"/>
                  </a:lnTo>
                  <a:lnTo>
                    <a:pt x="2298" y="34175"/>
                  </a:lnTo>
                  <a:lnTo>
                    <a:pt x="18440" y="34810"/>
                  </a:lnTo>
                  <a:lnTo>
                    <a:pt x="18440" y="1955"/>
                  </a:lnTo>
                  <a:lnTo>
                    <a:pt x="0" y="0"/>
                  </a:lnTo>
                  <a:close/>
                </a:path>
              </a:pathLst>
            </a:custGeom>
            <a:solidFill>
              <a:srgbClr val="000000"/>
            </a:solidFill>
          </p:spPr>
          <p:txBody>
            <a:bodyPr wrap="square" lIns="0" tIns="0" rIns="0" bIns="0" rtlCol="0"/>
            <a:lstStyle/>
            <a:p/>
          </p:txBody>
        </p:sp>
        <p:pic>
          <p:nvPicPr>
            <p:cNvPr id="212" name="object 212" descr=""/>
            <p:cNvPicPr/>
            <p:nvPr/>
          </p:nvPicPr>
          <p:blipFill>
            <a:blip r:embed="rId64" cstate="print"/>
            <a:stretch>
              <a:fillRect/>
            </a:stretch>
          </p:blipFill>
          <p:spPr>
            <a:xfrm>
              <a:off x="6130582" y="3091005"/>
              <a:ext cx="111361" cy="103739"/>
            </a:xfrm>
            <a:prstGeom prst="rect">
              <a:avLst/>
            </a:prstGeom>
          </p:spPr>
        </p:pic>
        <p:sp>
          <p:nvSpPr>
            <p:cNvPr id="213" name="object 213" descr=""/>
            <p:cNvSpPr/>
            <p:nvPr/>
          </p:nvSpPr>
          <p:spPr>
            <a:xfrm>
              <a:off x="6286652" y="3076588"/>
              <a:ext cx="16510" cy="46990"/>
            </a:xfrm>
            <a:custGeom>
              <a:avLst/>
              <a:gdLst/>
              <a:ahLst/>
              <a:cxnLst/>
              <a:rect l="l" t="t" r="r" b="b"/>
              <a:pathLst>
                <a:path w="16510" h="46989">
                  <a:moveTo>
                    <a:pt x="15240" y="0"/>
                  </a:moveTo>
                  <a:lnTo>
                    <a:pt x="0" y="1777"/>
                  </a:lnTo>
                  <a:lnTo>
                    <a:pt x="1320" y="46862"/>
                  </a:lnTo>
                  <a:lnTo>
                    <a:pt x="15913" y="46862"/>
                  </a:lnTo>
                  <a:lnTo>
                    <a:pt x="15240" y="0"/>
                  </a:lnTo>
                  <a:close/>
                </a:path>
              </a:pathLst>
            </a:custGeom>
            <a:solidFill>
              <a:srgbClr val="818181"/>
            </a:solidFill>
          </p:spPr>
          <p:txBody>
            <a:bodyPr wrap="square" lIns="0" tIns="0" rIns="0" bIns="0" rtlCol="0"/>
            <a:lstStyle/>
            <a:p/>
          </p:txBody>
        </p:sp>
        <p:sp>
          <p:nvSpPr>
            <p:cNvPr id="214" name="object 214" descr=""/>
            <p:cNvSpPr/>
            <p:nvPr/>
          </p:nvSpPr>
          <p:spPr>
            <a:xfrm>
              <a:off x="6302560" y="3089217"/>
              <a:ext cx="17780" cy="16510"/>
            </a:xfrm>
            <a:custGeom>
              <a:avLst/>
              <a:gdLst/>
              <a:ahLst/>
              <a:cxnLst/>
              <a:rect l="l" t="t" r="r" b="b"/>
              <a:pathLst>
                <a:path w="17779" h="16510">
                  <a:moveTo>
                    <a:pt x="3975" y="0"/>
                  </a:moveTo>
                  <a:lnTo>
                    <a:pt x="0" y="1612"/>
                  </a:lnTo>
                  <a:lnTo>
                    <a:pt x="0" y="14249"/>
                  </a:lnTo>
                  <a:lnTo>
                    <a:pt x="3314" y="15862"/>
                  </a:lnTo>
                  <a:lnTo>
                    <a:pt x="12928" y="15862"/>
                  </a:lnTo>
                  <a:lnTo>
                    <a:pt x="16573" y="16319"/>
                  </a:lnTo>
                  <a:lnTo>
                    <a:pt x="16243" y="12179"/>
                  </a:lnTo>
                  <a:lnTo>
                    <a:pt x="17564" y="2527"/>
                  </a:lnTo>
                  <a:lnTo>
                    <a:pt x="14909" y="469"/>
                  </a:lnTo>
                  <a:lnTo>
                    <a:pt x="3975" y="0"/>
                  </a:lnTo>
                  <a:close/>
                </a:path>
              </a:pathLst>
            </a:custGeom>
            <a:solidFill>
              <a:srgbClr val="606060"/>
            </a:solidFill>
          </p:spPr>
          <p:txBody>
            <a:bodyPr wrap="square" lIns="0" tIns="0" rIns="0" bIns="0" rtlCol="0"/>
            <a:lstStyle/>
            <a:p/>
          </p:txBody>
        </p:sp>
        <p:sp>
          <p:nvSpPr>
            <p:cNvPr id="215" name="object 215" descr=""/>
            <p:cNvSpPr/>
            <p:nvPr/>
          </p:nvSpPr>
          <p:spPr>
            <a:xfrm>
              <a:off x="5764327" y="3078365"/>
              <a:ext cx="522605" cy="53340"/>
            </a:xfrm>
            <a:custGeom>
              <a:avLst/>
              <a:gdLst/>
              <a:ahLst/>
              <a:cxnLst/>
              <a:rect l="l" t="t" r="r" b="b"/>
              <a:pathLst>
                <a:path w="522604" h="53339">
                  <a:moveTo>
                    <a:pt x="21539" y="36372"/>
                  </a:moveTo>
                  <a:lnTo>
                    <a:pt x="20878" y="25107"/>
                  </a:lnTo>
                  <a:lnTo>
                    <a:pt x="0" y="24650"/>
                  </a:lnTo>
                  <a:lnTo>
                    <a:pt x="6629" y="26492"/>
                  </a:lnTo>
                  <a:lnTo>
                    <a:pt x="13589" y="35902"/>
                  </a:lnTo>
                  <a:lnTo>
                    <a:pt x="21539" y="36372"/>
                  </a:lnTo>
                  <a:close/>
                </a:path>
                <a:path w="522604" h="53339">
                  <a:moveTo>
                    <a:pt x="522325" y="0"/>
                  </a:moveTo>
                  <a:lnTo>
                    <a:pt x="44907" y="36779"/>
                  </a:lnTo>
                  <a:lnTo>
                    <a:pt x="33743" y="38328"/>
                  </a:lnTo>
                  <a:lnTo>
                    <a:pt x="21539" y="36779"/>
                  </a:lnTo>
                  <a:lnTo>
                    <a:pt x="13589" y="35902"/>
                  </a:lnTo>
                  <a:lnTo>
                    <a:pt x="15240" y="36360"/>
                  </a:lnTo>
                  <a:lnTo>
                    <a:pt x="17564" y="42341"/>
                  </a:lnTo>
                  <a:lnTo>
                    <a:pt x="20980" y="49390"/>
                  </a:lnTo>
                  <a:lnTo>
                    <a:pt x="24434" y="51181"/>
                  </a:lnTo>
                  <a:lnTo>
                    <a:pt x="44907" y="53136"/>
                  </a:lnTo>
                  <a:lnTo>
                    <a:pt x="44907" y="42341"/>
                  </a:lnTo>
                  <a:lnTo>
                    <a:pt x="96291" y="38328"/>
                  </a:lnTo>
                  <a:lnTo>
                    <a:pt x="522325" y="5054"/>
                  </a:lnTo>
                  <a:lnTo>
                    <a:pt x="522325" y="0"/>
                  </a:lnTo>
                  <a:close/>
                </a:path>
              </a:pathLst>
            </a:custGeom>
            <a:solidFill>
              <a:srgbClr val="818181"/>
            </a:solidFill>
          </p:spPr>
          <p:txBody>
            <a:bodyPr wrap="square" lIns="0" tIns="0" rIns="0" bIns="0" rtlCol="0"/>
            <a:lstStyle/>
            <a:p/>
          </p:txBody>
        </p:sp>
        <p:pic>
          <p:nvPicPr>
            <p:cNvPr id="216" name="object 216" descr=""/>
            <p:cNvPicPr/>
            <p:nvPr/>
          </p:nvPicPr>
          <p:blipFill>
            <a:blip r:embed="rId65" cstate="print"/>
            <a:stretch>
              <a:fillRect/>
            </a:stretch>
          </p:blipFill>
          <p:spPr>
            <a:xfrm>
              <a:off x="5809246" y="3097834"/>
              <a:ext cx="298107" cy="54114"/>
            </a:xfrm>
            <a:prstGeom prst="rect">
              <a:avLst/>
            </a:prstGeom>
          </p:spPr>
        </p:pic>
        <p:sp>
          <p:nvSpPr>
            <p:cNvPr id="217" name="object 217" descr=""/>
            <p:cNvSpPr/>
            <p:nvPr/>
          </p:nvSpPr>
          <p:spPr>
            <a:xfrm>
              <a:off x="5690763" y="3153215"/>
              <a:ext cx="71120" cy="69215"/>
            </a:xfrm>
            <a:custGeom>
              <a:avLst/>
              <a:gdLst/>
              <a:ahLst/>
              <a:cxnLst/>
              <a:rect l="l" t="t" r="r" b="b"/>
              <a:pathLst>
                <a:path w="71120" h="69214">
                  <a:moveTo>
                    <a:pt x="35471" y="0"/>
                  </a:moveTo>
                  <a:lnTo>
                    <a:pt x="21666" y="2710"/>
                  </a:lnTo>
                  <a:lnTo>
                    <a:pt x="10391" y="10102"/>
                  </a:lnTo>
                  <a:lnTo>
                    <a:pt x="2788" y="21066"/>
                  </a:lnTo>
                  <a:lnTo>
                    <a:pt x="0" y="34493"/>
                  </a:lnTo>
                  <a:lnTo>
                    <a:pt x="2788" y="47919"/>
                  </a:lnTo>
                  <a:lnTo>
                    <a:pt x="10391" y="58883"/>
                  </a:lnTo>
                  <a:lnTo>
                    <a:pt x="21666" y="66275"/>
                  </a:lnTo>
                  <a:lnTo>
                    <a:pt x="35471" y="68986"/>
                  </a:lnTo>
                  <a:lnTo>
                    <a:pt x="49280" y="66275"/>
                  </a:lnTo>
                  <a:lnTo>
                    <a:pt x="60555" y="58883"/>
                  </a:lnTo>
                  <a:lnTo>
                    <a:pt x="68155" y="47919"/>
                  </a:lnTo>
                  <a:lnTo>
                    <a:pt x="70942" y="34493"/>
                  </a:lnTo>
                  <a:lnTo>
                    <a:pt x="68155" y="21066"/>
                  </a:lnTo>
                  <a:lnTo>
                    <a:pt x="60555" y="10102"/>
                  </a:lnTo>
                  <a:lnTo>
                    <a:pt x="49280" y="2710"/>
                  </a:lnTo>
                  <a:lnTo>
                    <a:pt x="35471" y="0"/>
                  </a:lnTo>
                  <a:close/>
                </a:path>
              </a:pathLst>
            </a:custGeom>
            <a:solidFill>
              <a:srgbClr val="818181"/>
            </a:solidFill>
          </p:spPr>
          <p:txBody>
            <a:bodyPr wrap="square" lIns="0" tIns="0" rIns="0" bIns="0" rtlCol="0"/>
            <a:lstStyle/>
            <a:p/>
          </p:txBody>
        </p:sp>
        <p:sp>
          <p:nvSpPr>
            <p:cNvPr id="218" name="object 218" descr=""/>
            <p:cNvSpPr/>
            <p:nvPr/>
          </p:nvSpPr>
          <p:spPr>
            <a:xfrm>
              <a:off x="5692255" y="3154602"/>
              <a:ext cx="66675" cy="66040"/>
            </a:xfrm>
            <a:custGeom>
              <a:avLst/>
              <a:gdLst/>
              <a:ahLst/>
              <a:cxnLst/>
              <a:rect l="l" t="t" r="r" b="b"/>
              <a:pathLst>
                <a:path w="66675" h="66039">
                  <a:moveTo>
                    <a:pt x="33261" y="0"/>
                  </a:moveTo>
                  <a:lnTo>
                    <a:pt x="20316" y="2592"/>
                  </a:lnTo>
                  <a:lnTo>
                    <a:pt x="9744" y="9661"/>
                  </a:lnTo>
                  <a:lnTo>
                    <a:pt x="2614" y="20145"/>
                  </a:lnTo>
                  <a:lnTo>
                    <a:pt x="0" y="32981"/>
                  </a:lnTo>
                  <a:lnTo>
                    <a:pt x="2614" y="45818"/>
                  </a:lnTo>
                  <a:lnTo>
                    <a:pt x="9744" y="56302"/>
                  </a:lnTo>
                  <a:lnTo>
                    <a:pt x="20316" y="63371"/>
                  </a:lnTo>
                  <a:lnTo>
                    <a:pt x="33261" y="65963"/>
                  </a:lnTo>
                  <a:lnTo>
                    <a:pt x="46211" y="63371"/>
                  </a:lnTo>
                  <a:lnTo>
                    <a:pt x="56783" y="56302"/>
                  </a:lnTo>
                  <a:lnTo>
                    <a:pt x="63909" y="45818"/>
                  </a:lnTo>
                  <a:lnTo>
                    <a:pt x="66522" y="32981"/>
                  </a:lnTo>
                  <a:lnTo>
                    <a:pt x="63909" y="20145"/>
                  </a:lnTo>
                  <a:lnTo>
                    <a:pt x="56783" y="9661"/>
                  </a:lnTo>
                  <a:lnTo>
                    <a:pt x="46211" y="2592"/>
                  </a:lnTo>
                  <a:lnTo>
                    <a:pt x="33261" y="0"/>
                  </a:lnTo>
                  <a:close/>
                </a:path>
              </a:pathLst>
            </a:custGeom>
            <a:solidFill>
              <a:srgbClr val="C1C1C1"/>
            </a:solidFill>
          </p:spPr>
          <p:txBody>
            <a:bodyPr wrap="square" lIns="0" tIns="0" rIns="0" bIns="0" rtlCol="0"/>
            <a:lstStyle/>
            <a:p/>
          </p:txBody>
        </p:sp>
        <p:pic>
          <p:nvPicPr>
            <p:cNvPr id="219" name="object 219" descr=""/>
            <p:cNvPicPr/>
            <p:nvPr/>
          </p:nvPicPr>
          <p:blipFill>
            <a:blip r:embed="rId66" cstate="print"/>
            <a:stretch>
              <a:fillRect/>
            </a:stretch>
          </p:blipFill>
          <p:spPr>
            <a:xfrm>
              <a:off x="5692406" y="3157308"/>
              <a:ext cx="63030" cy="61493"/>
            </a:xfrm>
            <a:prstGeom prst="rect">
              <a:avLst/>
            </a:prstGeom>
          </p:spPr>
        </p:pic>
        <p:sp>
          <p:nvSpPr>
            <p:cNvPr id="220" name="object 220" descr=""/>
            <p:cNvSpPr/>
            <p:nvPr/>
          </p:nvSpPr>
          <p:spPr>
            <a:xfrm>
              <a:off x="5705530" y="3166385"/>
              <a:ext cx="46355" cy="43815"/>
            </a:xfrm>
            <a:custGeom>
              <a:avLst/>
              <a:gdLst/>
              <a:ahLst/>
              <a:cxnLst/>
              <a:rect l="l" t="t" r="r" b="b"/>
              <a:pathLst>
                <a:path w="46354" h="43814">
                  <a:moveTo>
                    <a:pt x="22910" y="0"/>
                  </a:moveTo>
                  <a:lnTo>
                    <a:pt x="13994" y="1712"/>
                  </a:lnTo>
                  <a:lnTo>
                    <a:pt x="6711" y="6381"/>
                  </a:lnTo>
                  <a:lnTo>
                    <a:pt x="1801" y="13308"/>
                  </a:lnTo>
                  <a:lnTo>
                    <a:pt x="0" y="21793"/>
                  </a:lnTo>
                  <a:lnTo>
                    <a:pt x="1801" y="30277"/>
                  </a:lnTo>
                  <a:lnTo>
                    <a:pt x="6711" y="37204"/>
                  </a:lnTo>
                  <a:lnTo>
                    <a:pt x="13994" y="41874"/>
                  </a:lnTo>
                  <a:lnTo>
                    <a:pt x="22910" y="43586"/>
                  </a:lnTo>
                  <a:lnTo>
                    <a:pt x="31832" y="41874"/>
                  </a:lnTo>
                  <a:lnTo>
                    <a:pt x="39114" y="37204"/>
                  </a:lnTo>
                  <a:lnTo>
                    <a:pt x="44022" y="30277"/>
                  </a:lnTo>
                  <a:lnTo>
                    <a:pt x="45821" y="21793"/>
                  </a:lnTo>
                  <a:lnTo>
                    <a:pt x="44022" y="13308"/>
                  </a:lnTo>
                  <a:lnTo>
                    <a:pt x="39114" y="6381"/>
                  </a:lnTo>
                  <a:lnTo>
                    <a:pt x="31832" y="1712"/>
                  </a:lnTo>
                  <a:lnTo>
                    <a:pt x="22910" y="0"/>
                  </a:lnTo>
                  <a:close/>
                </a:path>
              </a:pathLst>
            </a:custGeom>
            <a:solidFill>
              <a:srgbClr val="A1A1A1"/>
            </a:solidFill>
          </p:spPr>
          <p:txBody>
            <a:bodyPr wrap="square" lIns="0" tIns="0" rIns="0" bIns="0" rtlCol="0"/>
            <a:lstStyle/>
            <a:p/>
          </p:txBody>
        </p:sp>
        <p:pic>
          <p:nvPicPr>
            <p:cNvPr id="221" name="object 221" descr=""/>
            <p:cNvPicPr/>
            <p:nvPr/>
          </p:nvPicPr>
          <p:blipFill>
            <a:blip r:embed="rId67" cstate="print"/>
            <a:stretch>
              <a:fillRect/>
            </a:stretch>
          </p:blipFill>
          <p:spPr>
            <a:xfrm>
              <a:off x="5707913" y="3167443"/>
              <a:ext cx="43408" cy="41287"/>
            </a:xfrm>
            <a:prstGeom prst="rect">
              <a:avLst/>
            </a:prstGeom>
          </p:spPr>
        </p:pic>
        <p:sp>
          <p:nvSpPr>
            <p:cNvPr id="222" name="object 222" descr=""/>
            <p:cNvSpPr/>
            <p:nvPr/>
          </p:nvSpPr>
          <p:spPr>
            <a:xfrm>
              <a:off x="5710682" y="3158832"/>
              <a:ext cx="40640" cy="57785"/>
            </a:xfrm>
            <a:custGeom>
              <a:avLst/>
              <a:gdLst/>
              <a:ahLst/>
              <a:cxnLst/>
              <a:rect l="l" t="t" r="r" b="b"/>
              <a:pathLst>
                <a:path w="40639" h="57785">
                  <a:moveTo>
                    <a:pt x="12484" y="53403"/>
                  </a:moveTo>
                  <a:lnTo>
                    <a:pt x="10363" y="51473"/>
                  </a:lnTo>
                  <a:lnTo>
                    <a:pt x="4076" y="50050"/>
                  </a:lnTo>
                  <a:lnTo>
                    <a:pt x="1104" y="50838"/>
                  </a:lnTo>
                  <a:lnTo>
                    <a:pt x="571" y="52514"/>
                  </a:lnTo>
                  <a:lnTo>
                    <a:pt x="38" y="54190"/>
                  </a:lnTo>
                  <a:lnTo>
                    <a:pt x="2146" y="56134"/>
                  </a:lnTo>
                  <a:lnTo>
                    <a:pt x="8432" y="57556"/>
                  </a:lnTo>
                  <a:lnTo>
                    <a:pt x="11417" y="56769"/>
                  </a:lnTo>
                  <a:lnTo>
                    <a:pt x="12484" y="53403"/>
                  </a:lnTo>
                  <a:close/>
                </a:path>
                <a:path w="40639" h="57785">
                  <a:moveTo>
                    <a:pt x="13843" y="4559"/>
                  </a:moveTo>
                  <a:lnTo>
                    <a:pt x="12674" y="850"/>
                  </a:lnTo>
                  <a:lnTo>
                    <a:pt x="9359" y="0"/>
                  </a:lnTo>
                  <a:lnTo>
                    <a:pt x="2349" y="1574"/>
                  </a:lnTo>
                  <a:lnTo>
                    <a:pt x="0" y="3721"/>
                  </a:lnTo>
                  <a:lnTo>
                    <a:pt x="584" y="5575"/>
                  </a:lnTo>
                  <a:lnTo>
                    <a:pt x="1168" y="7429"/>
                  </a:lnTo>
                  <a:lnTo>
                    <a:pt x="4483" y="8293"/>
                  </a:lnTo>
                  <a:lnTo>
                    <a:pt x="11493" y="6705"/>
                  </a:lnTo>
                  <a:lnTo>
                    <a:pt x="13843" y="4559"/>
                  </a:lnTo>
                  <a:close/>
                </a:path>
                <a:path w="40639" h="57785">
                  <a:moveTo>
                    <a:pt x="40119" y="16433"/>
                  </a:moveTo>
                  <a:lnTo>
                    <a:pt x="39497" y="14109"/>
                  </a:lnTo>
                  <a:lnTo>
                    <a:pt x="36169" y="9245"/>
                  </a:lnTo>
                  <a:lnTo>
                    <a:pt x="34112" y="7632"/>
                  </a:lnTo>
                  <a:lnTo>
                    <a:pt x="32334" y="8496"/>
                  </a:lnTo>
                  <a:lnTo>
                    <a:pt x="32956" y="10820"/>
                  </a:lnTo>
                  <a:lnTo>
                    <a:pt x="34620" y="13246"/>
                  </a:lnTo>
                  <a:lnTo>
                    <a:pt x="36283" y="15671"/>
                  </a:lnTo>
                  <a:lnTo>
                    <a:pt x="38354" y="17297"/>
                  </a:lnTo>
                  <a:lnTo>
                    <a:pt x="40119" y="16433"/>
                  </a:lnTo>
                  <a:close/>
                </a:path>
              </a:pathLst>
            </a:custGeom>
            <a:solidFill>
              <a:srgbClr val="000000"/>
            </a:solidFill>
          </p:spPr>
          <p:txBody>
            <a:bodyPr wrap="square" lIns="0" tIns="0" rIns="0" bIns="0" rtlCol="0"/>
            <a:lstStyle/>
            <a:p/>
          </p:txBody>
        </p:sp>
        <p:sp>
          <p:nvSpPr>
            <p:cNvPr id="223" name="object 223" descr=""/>
            <p:cNvSpPr/>
            <p:nvPr/>
          </p:nvSpPr>
          <p:spPr>
            <a:xfrm>
              <a:off x="5597457" y="2969188"/>
              <a:ext cx="90805" cy="136525"/>
            </a:xfrm>
            <a:custGeom>
              <a:avLst/>
              <a:gdLst/>
              <a:ahLst/>
              <a:cxnLst/>
              <a:rect l="l" t="t" r="r" b="b"/>
              <a:pathLst>
                <a:path w="90804" h="136525">
                  <a:moveTo>
                    <a:pt x="82953" y="0"/>
                  </a:moveTo>
                  <a:lnTo>
                    <a:pt x="64614" y="939"/>
                  </a:lnTo>
                  <a:lnTo>
                    <a:pt x="21618" y="939"/>
                  </a:lnTo>
                  <a:lnTo>
                    <a:pt x="17332" y="1993"/>
                  </a:lnTo>
                  <a:lnTo>
                    <a:pt x="8289" y="4635"/>
                  </a:lnTo>
                  <a:lnTo>
                    <a:pt x="6943" y="12103"/>
                  </a:lnTo>
                  <a:lnTo>
                    <a:pt x="1890" y="47307"/>
                  </a:lnTo>
                  <a:lnTo>
                    <a:pt x="0" y="70900"/>
                  </a:lnTo>
                  <a:lnTo>
                    <a:pt x="992" y="91613"/>
                  </a:lnTo>
                  <a:lnTo>
                    <a:pt x="1085" y="93556"/>
                  </a:lnTo>
                  <a:lnTo>
                    <a:pt x="4962" y="125945"/>
                  </a:lnTo>
                  <a:lnTo>
                    <a:pt x="3905" y="133160"/>
                  </a:lnTo>
                  <a:lnTo>
                    <a:pt x="5646" y="136183"/>
                  </a:lnTo>
                  <a:lnTo>
                    <a:pt x="12072" y="135570"/>
                  </a:lnTo>
                  <a:lnTo>
                    <a:pt x="25066" y="131876"/>
                  </a:lnTo>
                  <a:lnTo>
                    <a:pt x="43849" y="126822"/>
                  </a:lnTo>
                  <a:lnTo>
                    <a:pt x="43849" y="118859"/>
                  </a:lnTo>
                  <a:lnTo>
                    <a:pt x="45072" y="101308"/>
                  </a:lnTo>
                  <a:lnTo>
                    <a:pt x="47390" y="91613"/>
                  </a:lnTo>
                  <a:lnTo>
                    <a:pt x="52522" y="86310"/>
                  </a:lnTo>
                  <a:lnTo>
                    <a:pt x="62188" y="81940"/>
                  </a:lnTo>
                  <a:lnTo>
                    <a:pt x="78475" y="75868"/>
                  </a:lnTo>
                  <a:lnTo>
                    <a:pt x="86853" y="71562"/>
                  </a:lnTo>
                  <a:lnTo>
                    <a:pt x="89976" y="66968"/>
                  </a:lnTo>
                  <a:lnTo>
                    <a:pt x="90497" y="60032"/>
                  </a:lnTo>
                  <a:lnTo>
                    <a:pt x="87516" y="29601"/>
                  </a:lnTo>
                  <a:lnTo>
                    <a:pt x="85704" y="13560"/>
                  </a:lnTo>
                  <a:lnTo>
                    <a:pt x="84323" y="6601"/>
                  </a:lnTo>
                  <a:lnTo>
                    <a:pt x="82635" y="3416"/>
                  </a:lnTo>
                  <a:lnTo>
                    <a:pt x="82767" y="1993"/>
                  </a:lnTo>
                  <a:lnTo>
                    <a:pt x="82865" y="939"/>
                  </a:lnTo>
                  <a:lnTo>
                    <a:pt x="82953" y="0"/>
                  </a:lnTo>
                  <a:close/>
                </a:path>
                <a:path w="90804" h="136525">
                  <a:moveTo>
                    <a:pt x="40994" y="470"/>
                  </a:moveTo>
                  <a:lnTo>
                    <a:pt x="27566" y="470"/>
                  </a:lnTo>
                  <a:lnTo>
                    <a:pt x="21231" y="939"/>
                  </a:lnTo>
                  <a:lnTo>
                    <a:pt x="64614" y="939"/>
                  </a:lnTo>
                  <a:lnTo>
                    <a:pt x="40994" y="470"/>
                  </a:lnTo>
                  <a:close/>
                </a:path>
              </a:pathLst>
            </a:custGeom>
            <a:solidFill>
              <a:srgbClr val="DCF0F9"/>
            </a:solidFill>
          </p:spPr>
          <p:txBody>
            <a:bodyPr wrap="square" lIns="0" tIns="0" rIns="0" bIns="0" rtlCol="0"/>
            <a:lstStyle/>
            <a:p/>
          </p:txBody>
        </p:sp>
        <p:sp>
          <p:nvSpPr>
            <p:cNvPr id="224" name="object 224" descr=""/>
            <p:cNvSpPr/>
            <p:nvPr/>
          </p:nvSpPr>
          <p:spPr>
            <a:xfrm>
              <a:off x="5793313" y="3131493"/>
              <a:ext cx="27940" cy="33020"/>
            </a:xfrm>
            <a:custGeom>
              <a:avLst/>
              <a:gdLst/>
              <a:ahLst/>
              <a:cxnLst/>
              <a:rect l="l" t="t" r="r" b="b"/>
              <a:pathLst>
                <a:path w="27939" h="33019">
                  <a:moveTo>
                    <a:pt x="21577" y="0"/>
                  </a:moveTo>
                  <a:lnTo>
                    <a:pt x="6223" y="0"/>
                  </a:lnTo>
                  <a:lnTo>
                    <a:pt x="0" y="7340"/>
                  </a:lnTo>
                  <a:lnTo>
                    <a:pt x="0" y="16421"/>
                  </a:lnTo>
                  <a:lnTo>
                    <a:pt x="0" y="25476"/>
                  </a:lnTo>
                  <a:lnTo>
                    <a:pt x="6223" y="32842"/>
                  </a:lnTo>
                  <a:lnTo>
                    <a:pt x="21577" y="32842"/>
                  </a:lnTo>
                  <a:lnTo>
                    <a:pt x="27813" y="25476"/>
                  </a:lnTo>
                  <a:lnTo>
                    <a:pt x="27813" y="7340"/>
                  </a:lnTo>
                  <a:lnTo>
                    <a:pt x="21577" y="0"/>
                  </a:lnTo>
                  <a:close/>
                </a:path>
              </a:pathLst>
            </a:custGeom>
            <a:solidFill>
              <a:srgbClr val="1A1A1A"/>
            </a:solidFill>
          </p:spPr>
          <p:txBody>
            <a:bodyPr wrap="square" lIns="0" tIns="0" rIns="0" bIns="0" rtlCol="0"/>
            <a:lstStyle/>
            <a:p/>
          </p:txBody>
        </p:sp>
        <p:sp>
          <p:nvSpPr>
            <p:cNvPr id="225" name="object 225" descr=""/>
            <p:cNvSpPr/>
            <p:nvPr/>
          </p:nvSpPr>
          <p:spPr>
            <a:xfrm>
              <a:off x="5688558" y="2957448"/>
              <a:ext cx="66675" cy="133985"/>
            </a:xfrm>
            <a:custGeom>
              <a:avLst/>
              <a:gdLst/>
              <a:ahLst/>
              <a:cxnLst/>
              <a:rect l="l" t="t" r="r" b="b"/>
              <a:pathLst>
                <a:path w="66675" h="133985">
                  <a:moveTo>
                    <a:pt x="14338" y="82613"/>
                  </a:moveTo>
                  <a:lnTo>
                    <a:pt x="13716" y="51866"/>
                  </a:lnTo>
                  <a:lnTo>
                    <a:pt x="10109" y="28867"/>
                  </a:lnTo>
                  <a:lnTo>
                    <a:pt x="2540" y="1193"/>
                  </a:lnTo>
                  <a:lnTo>
                    <a:pt x="0" y="1193"/>
                  </a:lnTo>
                  <a:lnTo>
                    <a:pt x="7861" y="26758"/>
                  </a:lnTo>
                  <a:lnTo>
                    <a:pt x="11645" y="49085"/>
                  </a:lnTo>
                  <a:lnTo>
                    <a:pt x="12395" y="80619"/>
                  </a:lnTo>
                  <a:lnTo>
                    <a:pt x="11137" y="133781"/>
                  </a:lnTo>
                  <a:lnTo>
                    <a:pt x="12966" y="133502"/>
                  </a:lnTo>
                  <a:lnTo>
                    <a:pt x="14338" y="82613"/>
                  </a:lnTo>
                  <a:close/>
                </a:path>
                <a:path w="66675" h="133985">
                  <a:moveTo>
                    <a:pt x="66535" y="68033"/>
                  </a:moveTo>
                  <a:lnTo>
                    <a:pt x="65011" y="36220"/>
                  </a:lnTo>
                  <a:lnTo>
                    <a:pt x="59855" y="17500"/>
                  </a:lnTo>
                  <a:lnTo>
                    <a:pt x="49542" y="228"/>
                  </a:lnTo>
                  <a:lnTo>
                    <a:pt x="37363" y="0"/>
                  </a:lnTo>
                  <a:lnTo>
                    <a:pt x="49187" y="24980"/>
                  </a:lnTo>
                  <a:lnTo>
                    <a:pt x="54851" y="46532"/>
                  </a:lnTo>
                  <a:lnTo>
                    <a:pt x="55918" y="76568"/>
                  </a:lnTo>
                  <a:lnTo>
                    <a:pt x="53936" y="126987"/>
                  </a:lnTo>
                  <a:lnTo>
                    <a:pt x="65963" y="124612"/>
                  </a:lnTo>
                  <a:lnTo>
                    <a:pt x="66535" y="68033"/>
                  </a:lnTo>
                  <a:close/>
                </a:path>
              </a:pathLst>
            </a:custGeom>
            <a:solidFill>
              <a:srgbClr val="427272"/>
            </a:solidFill>
          </p:spPr>
          <p:txBody>
            <a:bodyPr wrap="square" lIns="0" tIns="0" rIns="0" bIns="0" rtlCol="0"/>
            <a:lstStyle/>
            <a:p/>
          </p:txBody>
        </p:sp>
        <p:pic>
          <p:nvPicPr>
            <p:cNvPr id="226" name="object 226" descr=""/>
            <p:cNvPicPr/>
            <p:nvPr/>
          </p:nvPicPr>
          <p:blipFill>
            <a:blip r:embed="rId68" cstate="print"/>
            <a:stretch>
              <a:fillRect/>
            </a:stretch>
          </p:blipFill>
          <p:spPr>
            <a:xfrm>
              <a:off x="5814415" y="2840012"/>
              <a:ext cx="586016" cy="344424"/>
            </a:xfrm>
            <a:prstGeom prst="rect">
              <a:avLst/>
            </a:prstGeom>
          </p:spPr>
        </p:pic>
        <p:sp>
          <p:nvSpPr>
            <p:cNvPr id="227" name="object 227" descr=""/>
            <p:cNvSpPr/>
            <p:nvPr/>
          </p:nvSpPr>
          <p:spPr>
            <a:xfrm>
              <a:off x="5693575" y="3181936"/>
              <a:ext cx="10160" cy="12700"/>
            </a:xfrm>
            <a:custGeom>
              <a:avLst/>
              <a:gdLst/>
              <a:ahLst/>
              <a:cxnLst/>
              <a:rect l="l" t="t" r="r" b="b"/>
              <a:pathLst>
                <a:path w="10160" h="12700">
                  <a:moveTo>
                    <a:pt x="7772" y="0"/>
                  </a:moveTo>
                  <a:lnTo>
                    <a:pt x="2247" y="0"/>
                  </a:lnTo>
                  <a:lnTo>
                    <a:pt x="0" y="2743"/>
                  </a:lnTo>
                  <a:lnTo>
                    <a:pt x="0" y="6159"/>
                  </a:lnTo>
                  <a:lnTo>
                    <a:pt x="0" y="9563"/>
                  </a:lnTo>
                  <a:lnTo>
                    <a:pt x="2247" y="12319"/>
                  </a:lnTo>
                  <a:lnTo>
                    <a:pt x="7772" y="12319"/>
                  </a:lnTo>
                  <a:lnTo>
                    <a:pt x="10020" y="9563"/>
                  </a:lnTo>
                  <a:lnTo>
                    <a:pt x="10020" y="2743"/>
                  </a:lnTo>
                  <a:lnTo>
                    <a:pt x="7772" y="0"/>
                  </a:lnTo>
                  <a:close/>
                </a:path>
              </a:pathLst>
            </a:custGeom>
            <a:solidFill>
              <a:srgbClr val="000000"/>
            </a:solidFill>
          </p:spPr>
          <p:txBody>
            <a:bodyPr wrap="square" lIns="0" tIns="0" rIns="0" bIns="0" rtlCol="0"/>
            <a:lstStyle/>
            <a:p/>
          </p:txBody>
        </p:sp>
        <p:sp>
          <p:nvSpPr>
            <p:cNvPr id="228" name="object 228" descr=""/>
            <p:cNvSpPr/>
            <p:nvPr/>
          </p:nvSpPr>
          <p:spPr>
            <a:xfrm>
              <a:off x="5596961" y="2972621"/>
              <a:ext cx="91440" cy="133350"/>
            </a:xfrm>
            <a:custGeom>
              <a:avLst/>
              <a:gdLst/>
              <a:ahLst/>
              <a:cxnLst/>
              <a:rect l="l" t="t" r="r" b="b"/>
              <a:pathLst>
                <a:path w="91439" h="133350">
                  <a:moveTo>
                    <a:pt x="710" y="71217"/>
                  </a:moveTo>
                  <a:lnTo>
                    <a:pt x="0" y="75565"/>
                  </a:lnTo>
                  <a:lnTo>
                    <a:pt x="1520" y="91132"/>
                  </a:lnTo>
                  <a:lnTo>
                    <a:pt x="5459" y="122516"/>
                  </a:lnTo>
                  <a:lnTo>
                    <a:pt x="4416" y="129731"/>
                  </a:lnTo>
                  <a:lnTo>
                    <a:pt x="6162" y="132753"/>
                  </a:lnTo>
                  <a:lnTo>
                    <a:pt x="12583" y="132135"/>
                  </a:lnTo>
                  <a:lnTo>
                    <a:pt x="25563" y="128435"/>
                  </a:lnTo>
                  <a:lnTo>
                    <a:pt x="44346" y="123380"/>
                  </a:lnTo>
                  <a:lnTo>
                    <a:pt x="44346" y="115417"/>
                  </a:lnTo>
                  <a:lnTo>
                    <a:pt x="45569" y="97867"/>
                  </a:lnTo>
                  <a:lnTo>
                    <a:pt x="47886" y="88172"/>
                  </a:lnTo>
                  <a:lnTo>
                    <a:pt x="53019" y="82874"/>
                  </a:lnTo>
                  <a:lnTo>
                    <a:pt x="62685" y="78511"/>
                  </a:lnTo>
                  <a:lnTo>
                    <a:pt x="76142" y="73494"/>
                  </a:lnTo>
                  <a:lnTo>
                    <a:pt x="3465" y="73494"/>
                  </a:lnTo>
                  <a:lnTo>
                    <a:pt x="710" y="71217"/>
                  </a:lnTo>
                  <a:close/>
                </a:path>
                <a:path w="91439" h="133350">
                  <a:moveTo>
                    <a:pt x="83132" y="0"/>
                  </a:moveTo>
                  <a:lnTo>
                    <a:pt x="63421" y="23193"/>
                  </a:lnTo>
                  <a:lnTo>
                    <a:pt x="48552" y="38581"/>
                  </a:lnTo>
                  <a:lnTo>
                    <a:pt x="31056" y="53051"/>
                  </a:lnTo>
                  <a:lnTo>
                    <a:pt x="3465" y="73494"/>
                  </a:lnTo>
                  <a:lnTo>
                    <a:pt x="76142" y="73494"/>
                  </a:lnTo>
                  <a:lnTo>
                    <a:pt x="78972" y="72439"/>
                  </a:lnTo>
                  <a:lnTo>
                    <a:pt x="87350" y="68133"/>
                  </a:lnTo>
                  <a:lnTo>
                    <a:pt x="90473" y="63539"/>
                  </a:lnTo>
                  <a:lnTo>
                    <a:pt x="90993" y="56603"/>
                  </a:lnTo>
                  <a:lnTo>
                    <a:pt x="88013" y="26172"/>
                  </a:lnTo>
                  <a:lnTo>
                    <a:pt x="86201" y="10133"/>
                  </a:lnTo>
                  <a:lnTo>
                    <a:pt x="84819" y="3177"/>
                  </a:lnTo>
                  <a:lnTo>
                    <a:pt x="83132" y="0"/>
                  </a:lnTo>
                  <a:close/>
                </a:path>
              </a:pathLst>
            </a:custGeom>
            <a:solidFill>
              <a:srgbClr val="FFFFFF">
                <a:alpha val="49018"/>
              </a:srgbClr>
            </a:solidFill>
          </p:spPr>
          <p:txBody>
            <a:bodyPr wrap="square" lIns="0" tIns="0" rIns="0" bIns="0" rtlCol="0"/>
            <a:lstStyle/>
            <a:p/>
          </p:txBody>
        </p:sp>
        <p:pic>
          <p:nvPicPr>
            <p:cNvPr id="229" name="object 229" descr=""/>
            <p:cNvPicPr/>
            <p:nvPr/>
          </p:nvPicPr>
          <p:blipFill>
            <a:blip r:embed="rId69" cstate="print"/>
            <a:stretch>
              <a:fillRect/>
            </a:stretch>
          </p:blipFill>
          <p:spPr>
            <a:xfrm>
              <a:off x="5535726" y="2844165"/>
              <a:ext cx="249402" cy="89103"/>
            </a:xfrm>
            <a:prstGeom prst="rect">
              <a:avLst/>
            </a:prstGeom>
          </p:spPr>
        </p:pic>
        <p:sp>
          <p:nvSpPr>
            <p:cNvPr id="230" name="object 230" descr=""/>
            <p:cNvSpPr/>
            <p:nvPr/>
          </p:nvSpPr>
          <p:spPr>
            <a:xfrm>
              <a:off x="5597665" y="3162901"/>
              <a:ext cx="34925" cy="34925"/>
            </a:xfrm>
            <a:custGeom>
              <a:avLst/>
              <a:gdLst/>
              <a:ahLst/>
              <a:cxnLst/>
              <a:rect l="l" t="t" r="r" b="b"/>
              <a:pathLst>
                <a:path w="34925" h="34925">
                  <a:moveTo>
                    <a:pt x="28587" y="0"/>
                  </a:moveTo>
                  <a:lnTo>
                    <a:pt x="0" y="1269"/>
                  </a:lnTo>
                  <a:lnTo>
                    <a:pt x="5257" y="34582"/>
                  </a:lnTo>
                  <a:lnTo>
                    <a:pt x="34582" y="34582"/>
                  </a:lnTo>
                  <a:lnTo>
                    <a:pt x="28587" y="0"/>
                  </a:lnTo>
                  <a:close/>
                </a:path>
              </a:pathLst>
            </a:custGeom>
            <a:solidFill>
              <a:srgbClr val="000000"/>
            </a:solidFill>
          </p:spPr>
          <p:txBody>
            <a:bodyPr wrap="square" lIns="0" tIns="0" rIns="0" bIns="0" rtlCol="0"/>
            <a:lstStyle/>
            <a:p/>
          </p:txBody>
        </p:sp>
        <p:sp>
          <p:nvSpPr>
            <p:cNvPr id="231" name="object 231" descr=""/>
            <p:cNvSpPr/>
            <p:nvPr/>
          </p:nvSpPr>
          <p:spPr>
            <a:xfrm>
              <a:off x="5597665" y="3162901"/>
              <a:ext cx="34925" cy="34925"/>
            </a:xfrm>
            <a:custGeom>
              <a:avLst/>
              <a:gdLst/>
              <a:ahLst/>
              <a:cxnLst/>
              <a:rect l="l" t="t" r="r" b="b"/>
              <a:pathLst>
                <a:path w="34925" h="34925">
                  <a:moveTo>
                    <a:pt x="0" y="1269"/>
                  </a:moveTo>
                  <a:lnTo>
                    <a:pt x="5257" y="34582"/>
                  </a:lnTo>
                  <a:lnTo>
                    <a:pt x="34582" y="34582"/>
                  </a:lnTo>
                  <a:lnTo>
                    <a:pt x="28587" y="0"/>
                  </a:lnTo>
                  <a:lnTo>
                    <a:pt x="0" y="1269"/>
                  </a:lnTo>
                  <a:close/>
                </a:path>
              </a:pathLst>
            </a:custGeom>
            <a:ln w="7594">
              <a:solidFill>
                <a:srgbClr val="000000"/>
              </a:solidFill>
            </a:ln>
          </p:spPr>
          <p:txBody>
            <a:bodyPr wrap="square" lIns="0" tIns="0" rIns="0" bIns="0" rtlCol="0"/>
            <a:lstStyle/>
            <a:p/>
          </p:txBody>
        </p:sp>
        <p:sp>
          <p:nvSpPr>
            <p:cNvPr id="232" name="object 232" descr=""/>
            <p:cNvSpPr/>
            <p:nvPr/>
          </p:nvSpPr>
          <p:spPr>
            <a:xfrm>
              <a:off x="5648514" y="3123946"/>
              <a:ext cx="38100" cy="4445"/>
            </a:xfrm>
            <a:custGeom>
              <a:avLst/>
              <a:gdLst/>
              <a:ahLst/>
              <a:cxnLst/>
              <a:rect l="l" t="t" r="r" b="b"/>
              <a:pathLst>
                <a:path w="38100" h="4444">
                  <a:moveTo>
                    <a:pt x="31889" y="0"/>
                  </a:moveTo>
                  <a:lnTo>
                    <a:pt x="4686" y="0"/>
                  </a:lnTo>
                  <a:lnTo>
                    <a:pt x="0" y="3886"/>
                  </a:lnTo>
                  <a:lnTo>
                    <a:pt x="35605" y="3886"/>
                  </a:lnTo>
                  <a:lnTo>
                    <a:pt x="37680" y="203"/>
                  </a:lnTo>
                  <a:lnTo>
                    <a:pt x="31889" y="0"/>
                  </a:lnTo>
                  <a:close/>
                </a:path>
              </a:pathLst>
            </a:custGeom>
            <a:solidFill>
              <a:srgbClr val="606060"/>
            </a:solidFill>
          </p:spPr>
          <p:txBody>
            <a:bodyPr wrap="square" lIns="0" tIns="0" rIns="0" bIns="0" rtlCol="0"/>
            <a:lstStyle/>
            <a:p/>
          </p:txBody>
        </p:sp>
        <p:sp>
          <p:nvSpPr>
            <p:cNvPr id="233" name="object 233" descr=""/>
            <p:cNvSpPr/>
            <p:nvPr/>
          </p:nvSpPr>
          <p:spPr>
            <a:xfrm>
              <a:off x="5626172" y="3127834"/>
              <a:ext cx="58419" cy="29845"/>
            </a:xfrm>
            <a:custGeom>
              <a:avLst/>
              <a:gdLst/>
              <a:ahLst/>
              <a:cxnLst/>
              <a:rect l="l" t="t" r="r" b="b"/>
              <a:pathLst>
                <a:path w="58420" h="29844">
                  <a:moveTo>
                    <a:pt x="58051" y="0"/>
                  </a:moveTo>
                  <a:lnTo>
                    <a:pt x="22351" y="0"/>
                  </a:lnTo>
                  <a:lnTo>
                    <a:pt x="11391" y="927"/>
                  </a:lnTo>
                  <a:lnTo>
                    <a:pt x="0" y="27025"/>
                  </a:lnTo>
                  <a:lnTo>
                    <a:pt x="39179" y="28829"/>
                  </a:lnTo>
                  <a:lnTo>
                    <a:pt x="44678" y="29425"/>
                  </a:lnTo>
                  <a:lnTo>
                    <a:pt x="45262" y="25819"/>
                  </a:lnTo>
                  <a:lnTo>
                    <a:pt x="58051" y="0"/>
                  </a:lnTo>
                  <a:close/>
                </a:path>
              </a:pathLst>
            </a:custGeom>
            <a:solidFill>
              <a:srgbClr val="222222"/>
            </a:solidFill>
          </p:spPr>
          <p:txBody>
            <a:bodyPr wrap="square" lIns="0" tIns="0" rIns="0" bIns="0" rtlCol="0"/>
            <a:lstStyle/>
            <a:p/>
          </p:txBody>
        </p:sp>
        <p:sp>
          <p:nvSpPr>
            <p:cNvPr id="234" name="object 234" descr=""/>
            <p:cNvSpPr/>
            <p:nvPr/>
          </p:nvSpPr>
          <p:spPr>
            <a:xfrm>
              <a:off x="5587780" y="3133998"/>
              <a:ext cx="48260" cy="22860"/>
            </a:xfrm>
            <a:custGeom>
              <a:avLst/>
              <a:gdLst/>
              <a:ahLst/>
              <a:cxnLst/>
              <a:rect l="l" t="t" r="r" b="b"/>
              <a:pathLst>
                <a:path w="48260" h="22860">
                  <a:moveTo>
                    <a:pt x="47777" y="0"/>
                  </a:moveTo>
                  <a:lnTo>
                    <a:pt x="1422" y="2997"/>
                  </a:lnTo>
                  <a:lnTo>
                    <a:pt x="0" y="5207"/>
                  </a:lnTo>
                  <a:lnTo>
                    <a:pt x="5778" y="5207"/>
                  </a:lnTo>
                  <a:lnTo>
                    <a:pt x="17056" y="8013"/>
                  </a:lnTo>
                  <a:lnTo>
                    <a:pt x="14452" y="22669"/>
                  </a:lnTo>
                  <a:lnTo>
                    <a:pt x="39090" y="20853"/>
                  </a:lnTo>
                  <a:lnTo>
                    <a:pt x="47777" y="0"/>
                  </a:lnTo>
                  <a:close/>
                </a:path>
              </a:pathLst>
            </a:custGeom>
            <a:solidFill>
              <a:srgbClr val="2A2A2A"/>
            </a:solidFill>
          </p:spPr>
          <p:txBody>
            <a:bodyPr wrap="square" lIns="0" tIns="0" rIns="0" bIns="0" rtlCol="0"/>
            <a:lstStyle/>
            <a:p/>
          </p:txBody>
        </p:sp>
        <p:sp>
          <p:nvSpPr>
            <p:cNvPr id="235" name="object 235" descr=""/>
            <p:cNvSpPr/>
            <p:nvPr/>
          </p:nvSpPr>
          <p:spPr>
            <a:xfrm>
              <a:off x="5602227" y="3154855"/>
              <a:ext cx="55244" cy="6350"/>
            </a:xfrm>
            <a:custGeom>
              <a:avLst/>
              <a:gdLst/>
              <a:ahLst/>
              <a:cxnLst/>
              <a:rect l="l" t="t" r="r" b="b"/>
              <a:pathLst>
                <a:path w="55245" h="6350">
                  <a:moveTo>
                    <a:pt x="24638" y="0"/>
                  </a:moveTo>
                  <a:lnTo>
                    <a:pt x="0" y="1816"/>
                  </a:lnTo>
                  <a:lnTo>
                    <a:pt x="0" y="6223"/>
                  </a:lnTo>
                  <a:lnTo>
                    <a:pt x="54724" y="3619"/>
                  </a:lnTo>
                  <a:lnTo>
                    <a:pt x="54724" y="1409"/>
                  </a:lnTo>
                  <a:lnTo>
                    <a:pt x="24638" y="0"/>
                  </a:lnTo>
                  <a:close/>
                </a:path>
              </a:pathLst>
            </a:custGeom>
            <a:solidFill>
              <a:srgbClr val="3E3E3E"/>
            </a:solidFill>
          </p:spPr>
          <p:txBody>
            <a:bodyPr wrap="square" lIns="0" tIns="0" rIns="0" bIns="0" rtlCol="0"/>
            <a:lstStyle/>
            <a:p/>
          </p:txBody>
        </p:sp>
        <p:pic>
          <p:nvPicPr>
            <p:cNvPr id="236" name="object 236" descr=""/>
            <p:cNvPicPr/>
            <p:nvPr/>
          </p:nvPicPr>
          <p:blipFill>
            <a:blip r:embed="rId70" cstate="print"/>
            <a:stretch>
              <a:fillRect/>
            </a:stretch>
          </p:blipFill>
          <p:spPr>
            <a:xfrm>
              <a:off x="5602236" y="3158464"/>
              <a:ext cx="54711" cy="8039"/>
            </a:xfrm>
            <a:prstGeom prst="rect">
              <a:avLst/>
            </a:prstGeom>
          </p:spPr>
        </p:pic>
        <p:sp>
          <p:nvSpPr>
            <p:cNvPr id="237" name="object 237" descr=""/>
            <p:cNvSpPr/>
            <p:nvPr/>
          </p:nvSpPr>
          <p:spPr>
            <a:xfrm>
              <a:off x="5600237" y="3192557"/>
              <a:ext cx="54610" cy="5715"/>
            </a:xfrm>
            <a:custGeom>
              <a:avLst/>
              <a:gdLst/>
              <a:ahLst/>
              <a:cxnLst/>
              <a:rect l="l" t="t" r="r" b="b"/>
              <a:pathLst>
                <a:path w="54610" h="5714">
                  <a:moveTo>
                    <a:pt x="19392" y="0"/>
                  </a:moveTo>
                  <a:lnTo>
                    <a:pt x="0" y="1003"/>
                  </a:lnTo>
                  <a:lnTo>
                    <a:pt x="584" y="4610"/>
                  </a:lnTo>
                  <a:lnTo>
                    <a:pt x="3759" y="5422"/>
                  </a:lnTo>
                  <a:lnTo>
                    <a:pt x="54432" y="1803"/>
                  </a:lnTo>
                  <a:lnTo>
                    <a:pt x="19392" y="0"/>
                  </a:lnTo>
                  <a:close/>
                </a:path>
              </a:pathLst>
            </a:custGeom>
            <a:solidFill>
              <a:srgbClr val="3E3E3E"/>
            </a:solidFill>
          </p:spPr>
          <p:txBody>
            <a:bodyPr wrap="square" lIns="0" tIns="0" rIns="0" bIns="0" rtlCol="0"/>
            <a:lstStyle/>
            <a:p/>
          </p:txBody>
        </p:sp>
        <p:pic>
          <p:nvPicPr>
            <p:cNvPr id="238" name="object 238" descr=""/>
            <p:cNvPicPr/>
            <p:nvPr/>
          </p:nvPicPr>
          <p:blipFill>
            <a:blip r:embed="rId71" cstate="print"/>
            <a:stretch>
              <a:fillRect/>
            </a:stretch>
          </p:blipFill>
          <p:spPr>
            <a:xfrm>
              <a:off x="5603138" y="3194367"/>
              <a:ext cx="51536" cy="8623"/>
            </a:xfrm>
            <a:prstGeom prst="rect">
              <a:avLst/>
            </a:prstGeom>
          </p:spPr>
        </p:pic>
        <p:sp>
          <p:nvSpPr>
            <p:cNvPr id="239" name="object 239" descr=""/>
            <p:cNvSpPr/>
            <p:nvPr/>
          </p:nvSpPr>
          <p:spPr>
            <a:xfrm>
              <a:off x="5656665" y="3156264"/>
              <a:ext cx="12065" cy="5715"/>
            </a:xfrm>
            <a:custGeom>
              <a:avLst/>
              <a:gdLst/>
              <a:ahLst/>
              <a:cxnLst/>
              <a:rect l="l" t="t" r="r" b="b"/>
              <a:pathLst>
                <a:path w="12064" h="5714">
                  <a:moveTo>
                    <a:pt x="292" y="0"/>
                  </a:moveTo>
                  <a:lnTo>
                    <a:pt x="0" y="5219"/>
                  </a:lnTo>
                  <a:lnTo>
                    <a:pt x="12014" y="5714"/>
                  </a:lnTo>
                  <a:lnTo>
                    <a:pt x="8686" y="393"/>
                  </a:lnTo>
                  <a:lnTo>
                    <a:pt x="292" y="0"/>
                  </a:lnTo>
                  <a:close/>
                </a:path>
              </a:pathLst>
            </a:custGeom>
            <a:solidFill>
              <a:srgbClr val="3E3E3E"/>
            </a:solidFill>
          </p:spPr>
          <p:txBody>
            <a:bodyPr wrap="square" lIns="0" tIns="0" rIns="0" bIns="0" rtlCol="0"/>
            <a:lstStyle/>
            <a:p/>
          </p:txBody>
        </p:sp>
        <p:pic>
          <p:nvPicPr>
            <p:cNvPr id="240" name="object 240" descr=""/>
            <p:cNvPicPr/>
            <p:nvPr/>
          </p:nvPicPr>
          <p:blipFill>
            <a:blip r:embed="rId72" cstate="print"/>
            <a:stretch>
              <a:fillRect/>
            </a:stretch>
          </p:blipFill>
          <p:spPr>
            <a:xfrm>
              <a:off x="5588393" y="3128772"/>
              <a:ext cx="49161" cy="8216"/>
            </a:xfrm>
            <a:prstGeom prst="rect">
              <a:avLst/>
            </a:prstGeom>
          </p:spPr>
        </p:pic>
        <p:pic>
          <p:nvPicPr>
            <p:cNvPr id="241" name="object 241" descr=""/>
            <p:cNvPicPr/>
            <p:nvPr/>
          </p:nvPicPr>
          <p:blipFill>
            <a:blip r:embed="rId73" cstate="print"/>
            <a:stretch>
              <a:fillRect/>
            </a:stretch>
          </p:blipFill>
          <p:spPr>
            <a:xfrm>
              <a:off x="5317010" y="3127781"/>
              <a:ext cx="288693" cy="97103"/>
            </a:xfrm>
            <a:prstGeom prst="rect">
              <a:avLst/>
            </a:prstGeom>
          </p:spPr>
        </p:pic>
        <p:sp>
          <p:nvSpPr>
            <p:cNvPr id="242" name="object 242" descr=""/>
            <p:cNvSpPr/>
            <p:nvPr/>
          </p:nvSpPr>
          <p:spPr>
            <a:xfrm>
              <a:off x="5374740" y="3145429"/>
              <a:ext cx="109220" cy="27940"/>
            </a:xfrm>
            <a:custGeom>
              <a:avLst/>
              <a:gdLst/>
              <a:ahLst/>
              <a:cxnLst/>
              <a:rect l="l" t="t" r="r" b="b"/>
              <a:pathLst>
                <a:path w="109220" h="27939">
                  <a:moveTo>
                    <a:pt x="5461" y="0"/>
                  </a:moveTo>
                  <a:lnTo>
                    <a:pt x="0" y="0"/>
                  </a:lnTo>
                  <a:lnTo>
                    <a:pt x="508" y="3103"/>
                  </a:lnTo>
                  <a:lnTo>
                    <a:pt x="508" y="22275"/>
                  </a:lnTo>
                  <a:lnTo>
                    <a:pt x="7734" y="23075"/>
                  </a:lnTo>
                  <a:lnTo>
                    <a:pt x="39512" y="25630"/>
                  </a:lnTo>
                  <a:lnTo>
                    <a:pt x="60026" y="26943"/>
                  </a:lnTo>
                  <a:lnTo>
                    <a:pt x="80804" y="27495"/>
                  </a:lnTo>
                  <a:lnTo>
                    <a:pt x="102984" y="27495"/>
                  </a:lnTo>
                  <a:lnTo>
                    <a:pt x="108775" y="26492"/>
                  </a:lnTo>
                  <a:lnTo>
                    <a:pt x="108775" y="15443"/>
                  </a:lnTo>
                  <a:lnTo>
                    <a:pt x="76933" y="3103"/>
                  </a:lnTo>
                  <a:lnTo>
                    <a:pt x="5461" y="0"/>
                  </a:lnTo>
                  <a:close/>
                </a:path>
              </a:pathLst>
            </a:custGeom>
            <a:solidFill>
              <a:srgbClr val="000000"/>
            </a:solidFill>
          </p:spPr>
          <p:txBody>
            <a:bodyPr wrap="square" lIns="0" tIns="0" rIns="0" bIns="0" rtlCol="0"/>
            <a:lstStyle/>
            <a:p/>
          </p:txBody>
        </p:sp>
        <p:sp>
          <p:nvSpPr>
            <p:cNvPr id="243" name="object 243" descr=""/>
            <p:cNvSpPr/>
            <p:nvPr/>
          </p:nvSpPr>
          <p:spPr>
            <a:xfrm>
              <a:off x="5383079" y="3145429"/>
              <a:ext cx="101600" cy="26034"/>
            </a:xfrm>
            <a:custGeom>
              <a:avLst/>
              <a:gdLst/>
              <a:ahLst/>
              <a:cxnLst/>
              <a:rect l="l" t="t" r="r" b="b"/>
              <a:pathLst>
                <a:path w="101600" h="26035">
                  <a:moveTo>
                    <a:pt x="100564" y="21475"/>
                  </a:moveTo>
                  <a:lnTo>
                    <a:pt x="7785" y="21475"/>
                  </a:lnTo>
                  <a:lnTo>
                    <a:pt x="14897" y="22780"/>
                  </a:lnTo>
                  <a:lnTo>
                    <a:pt x="26677" y="23674"/>
                  </a:lnTo>
                  <a:lnTo>
                    <a:pt x="98120" y="25882"/>
                  </a:lnTo>
                  <a:lnTo>
                    <a:pt x="100564" y="21475"/>
                  </a:lnTo>
                  <a:close/>
                </a:path>
                <a:path w="101600" h="26035">
                  <a:moveTo>
                    <a:pt x="5194" y="0"/>
                  </a:moveTo>
                  <a:lnTo>
                    <a:pt x="0" y="0"/>
                  </a:lnTo>
                  <a:lnTo>
                    <a:pt x="3162" y="17653"/>
                  </a:lnTo>
                  <a:lnTo>
                    <a:pt x="2764" y="20662"/>
                  </a:lnTo>
                  <a:lnTo>
                    <a:pt x="2657" y="21475"/>
                  </a:lnTo>
                  <a:lnTo>
                    <a:pt x="2578" y="22072"/>
                  </a:lnTo>
                  <a:lnTo>
                    <a:pt x="7785" y="21475"/>
                  </a:lnTo>
                  <a:lnTo>
                    <a:pt x="100564" y="21475"/>
                  </a:lnTo>
                  <a:lnTo>
                    <a:pt x="101015" y="20662"/>
                  </a:lnTo>
                  <a:lnTo>
                    <a:pt x="99313" y="10629"/>
                  </a:lnTo>
                  <a:lnTo>
                    <a:pt x="99313" y="5613"/>
                  </a:lnTo>
                  <a:lnTo>
                    <a:pt x="90309" y="5016"/>
                  </a:lnTo>
                  <a:lnTo>
                    <a:pt x="86245" y="4406"/>
                  </a:lnTo>
                  <a:lnTo>
                    <a:pt x="82700" y="4002"/>
                  </a:lnTo>
                  <a:lnTo>
                    <a:pt x="73075" y="3408"/>
                  </a:lnTo>
                  <a:lnTo>
                    <a:pt x="5194" y="0"/>
                  </a:lnTo>
                  <a:close/>
                </a:path>
              </a:pathLst>
            </a:custGeom>
            <a:solidFill>
              <a:srgbClr val="222222"/>
            </a:solidFill>
          </p:spPr>
          <p:txBody>
            <a:bodyPr wrap="square" lIns="0" tIns="0" rIns="0" bIns="0" rtlCol="0"/>
            <a:lstStyle/>
            <a:p/>
          </p:txBody>
        </p:sp>
        <p:sp>
          <p:nvSpPr>
            <p:cNvPr id="244" name="object 244" descr=""/>
            <p:cNvSpPr/>
            <p:nvPr/>
          </p:nvSpPr>
          <p:spPr>
            <a:xfrm>
              <a:off x="5345695" y="3143218"/>
              <a:ext cx="20955" cy="18415"/>
            </a:xfrm>
            <a:custGeom>
              <a:avLst/>
              <a:gdLst/>
              <a:ahLst/>
              <a:cxnLst/>
              <a:rect l="l" t="t" r="r" b="b"/>
              <a:pathLst>
                <a:path w="20954" h="18414">
                  <a:moveTo>
                    <a:pt x="0" y="0"/>
                  </a:moveTo>
                  <a:lnTo>
                    <a:pt x="0" y="16052"/>
                  </a:lnTo>
                  <a:lnTo>
                    <a:pt x="15062" y="17056"/>
                  </a:lnTo>
                  <a:lnTo>
                    <a:pt x="16573" y="17856"/>
                  </a:lnTo>
                  <a:lnTo>
                    <a:pt x="20586" y="15646"/>
                  </a:lnTo>
                  <a:lnTo>
                    <a:pt x="20561" y="1003"/>
                  </a:lnTo>
                  <a:lnTo>
                    <a:pt x="15341" y="1003"/>
                  </a:lnTo>
                  <a:lnTo>
                    <a:pt x="0" y="0"/>
                  </a:lnTo>
                  <a:close/>
                </a:path>
              </a:pathLst>
            </a:custGeom>
            <a:solidFill>
              <a:srgbClr val="000000"/>
            </a:solidFill>
          </p:spPr>
          <p:txBody>
            <a:bodyPr wrap="square" lIns="0" tIns="0" rIns="0" bIns="0" rtlCol="0"/>
            <a:lstStyle/>
            <a:p/>
          </p:txBody>
        </p:sp>
        <p:sp>
          <p:nvSpPr>
            <p:cNvPr id="245" name="object 245" descr=""/>
            <p:cNvSpPr/>
            <p:nvPr/>
          </p:nvSpPr>
          <p:spPr>
            <a:xfrm>
              <a:off x="5326879" y="3143218"/>
              <a:ext cx="16510" cy="16510"/>
            </a:xfrm>
            <a:custGeom>
              <a:avLst/>
              <a:gdLst/>
              <a:ahLst/>
              <a:cxnLst/>
              <a:rect l="l" t="t" r="r" b="b"/>
              <a:pathLst>
                <a:path w="16510" h="16510">
                  <a:moveTo>
                    <a:pt x="0" y="0"/>
                  </a:moveTo>
                  <a:lnTo>
                    <a:pt x="279" y="13843"/>
                  </a:lnTo>
                  <a:lnTo>
                    <a:pt x="292" y="14452"/>
                  </a:lnTo>
                  <a:lnTo>
                    <a:pt x="12166" y="15049"/>
                  </a:lnTo>
                  <a:lnTo>
                    <a:pt x="13893" y="16256"/>
                  </a:lnTo>
                  <a:lnTo>
                    <a:pt x="15925" y="13843"/>
                  </a:lnTo>
                  <a:lnTo>
                    <a:pt x="15925" y="1397"/>
                  </a:lnTo>
                  <a:lnTo>
                    <a:pt x="0" y="0"/>
                  </a:lnTo>
                  <a:close/>
                </a:path>
              </a:pathLst>
            </a:custGeom>
            <a:solidFill>
              <a:srgbClr val="D2691E"/>
            </a:solidFill>
          </p:spPr>
          <p:txBody>
            <a:bodyPr wrap="square" lIns="0" tIns="0" rIns="0" bIns="0" rtlCol="0"/>
            <a:lstStyle/>
            <a:p/>
          </p:txBody>
        </p:sp>
        <p:sp>
          <p:nvSpPr>
            <p:cNvPr id="246" name="object 246" descr=""/>
            <p:cNvSpPr/>
            <p:nvPr/>
          </p:nvSpPr>
          <p:spPr>
            <a:xfrm>
              <a:off x="5392894" y="3177134"/>
              <a:ext cx="75565" cy="21590"/>
            </a:xfrm>
            <a:custGeom>
              <a:avLst/>
              <a:gdLst/>
              <a:ahLst/>
              <a:cxnLst/>
              <a:rect l="l" t="t" r="r" b="b"/>
              <a:pathLst>
                <a:path w="75564" h="21589">
                  <a:moveTo>
                    <a:pt x="0" y="0"/>
                  </a:moveTo>
                  <a:lnTo>
                    <a:pt x="863" y="17056"/>
                  </a:lnTo>
                  <a:lnTo>
                    <a:pt x="75565" y="21272"/>
                  </a:lnTo>
                  <a:lnTo>
                    <a:pt x="75133" y="3911"/>
                  </a:lnTo>
                  <a:lnTo>
                    <a:pt x="0" y="0"/>
                  </a:lnTo>
                  <a:close/>
                </a:path>
              </a:pathLst>
            </a:custGeom>
            <a:solidFill>
              <a:srgbClr val="606060"/>
            </a:solidFill>
          </p:spPr>
          <p:txBody>
            <a:bodyPr wrap="square" lIns="0" tIns="0" rIns="0" bIns="0" rtlCol="0"/>
            <a:lstStyle/>
            <a:p/>
          </p:txBody>
        </p:sp>
        <p:sp>
          <p:nvSpPr>
            <p:cNvPr id="247" name="object 247" descr=""/>
            <p:cNvSpPr/>
            <p:nvPr/>
          </p:nvSpPr>
          <p:spPr>
            <a:xfrm>
              <a:off x="5487683" y="3150443"/>
              <a:ext cx="73660" cy="20320"/>
            </a:xfrm>
            <a:custGeom>
              <a:avLst/>
              <a:gdLst/>
              <a:ahLst/>
              <a:cxnLst/>
              <a:rect l="l" t="t" r="r" b="b"/>
              <a:pathLst>
                <a:path w="73660" h="20319">
                  <a:moveTo>
                    <a:pt x="73431" y="17462"/>
                  </a:moveTo>
                  <a:lnTo>
                    <a:pt x="10020" y="17462"/>
                  </a:lnTo>
                  <a:lnTo>
                    <a:pt x="34542" y="19392"/>
                  </a:lnTo>
                  <a:lnTo>
                    <a:pt x="48748" y="20140"/>
                  </a:lnTo>
                  <a:lnTo>
                    <a:pt x="58069" y="19800"/>
                  </a:lnTo>
                  <a:lnTo>
                    <a:pt x="67932" y="18465"/>
                  </a:lnTo>
                  <a:lnTo>
                    <a:pt x="73431" y="17462"/>
                  </a:lnTo>
                  <a:close/>
                </a:path>
                <a:path w="73660" h="20319">
                  <a:moveTo>
                    <a:pt x="0" y="0"/>
                  </a:moveTo>
                  <a:lnTo>
                    <a:pt x="3644" y="18465"/>
                  </a:lnTo>
                  <a:lnTo>
                    <a:pt x="10020" y="17462"/>
                  </a:lnTo>
                  <a:lnTo>
                    <a:pt x="73431" y="17462"/>
                  </a:lnTo>
                  <a:lnTo>
                    <a:pt x="71462" y="9029"/>
                  </a:lnTo>
                  <a:lnTo>
                    <a:pt x="72437" y="2400"/>
                  </a:lnTo>
                  <a:lnTo>
                    <a:pt x="56626" y="2400"/>
                  </a:lnTo>
                  <a:lnTo>
                    <a:pt x="7467" y="800"/>
                  </a:lnTo>
                  <a:lnTo>
                    <a:pt x="0" y="0"/>
                  </a:lnTo>
                  <a:close/>
                </a:path>
                <a:path w="73660" h="20319">
                  <a:moveTo>
                    <a:pt x="72555" y="1600"/>
                  </a:moveTo>
                  <a:lnTo>
                    <a:pt x="63296" y="2400"/>
                  </a:lnTo>
                  <a:lnTo>
                    <a:pt x="72437" y="2400"/>
                  </a:lnTo>
                  <a:lnTo>
                    <a:pt x="72555" y="1600"/>
                  </a:lnTo>
                  <a:close/>
                </a:path>
              </a:pathLst>
            </a:custGeom>
            <a:solidFill>
              <a:srgbClr val="000000"/>
            </a:solidFill>
          </p:spPr>
          <p:txBody>
            <a:bodyPr wrap="square" lIns="0" tIns="0" rIns="0" bIns="0" rtlCol="0"/>
            <a:lstStyle/>
            <a:p/>
          </p:txBody>
        </p:sp>
        <p:sp>
          <p:nvSpPr>
            <p:cNvPr id="248" name="object 248" descr=""/>
            <p:cNvSpPr/>
            <p:nvPr/>
          </p:nvSpPr>
          <p:spPr>
            <a:xfrm>
              <a:off x="5537367" y="3153653"/>
              <a:ext cx="17780" cy="15240"/>
            </a:xfrm>
            <a:custGeom>
              <a:avLst/>
              <a:gdLst/>
              <a:ahLst/>
              <a:cxnLst/>
              <a:rect l="l" t="t" r="r" b="b"/>
              <a:pathLst>
                <a:path w="17779" h="15239">
                  <a:moveTo>
                    <a:pt x="9855" y="0"/>
                  </a:moveTo>
                  <a:lnTo>
                    <a:pt x="584" y="800"/>
                  </a:lnTo>
                  <a:lnTo>
                    <a:pt x="0" y="11239"/>
                  </a:lnTo>
                  <a:lnTo>
                    <a:pt x="2324" y="14846"/>
                  </a:lnTo>
                  <a:lnTo>
                    <a:pt x="15354" y="14249"/>
                  </a:lnTo>
                  <a:lnTo>
                    <a:pt x="17373" y="1600"/>
                  </a:lnTo>
                  <a:lnTo>
                    <a:pt x="13322" y="1600"/>
                  </a:lnTo>
                  <a:lnTo>
                    <a:pt x="9855" y="0"/>
                  </a:lnTo>
                  <a:close/>
                </a:path>
              </a:pathLst>
            </a:custGeom>
            <a:solidFill>
              <a:srgbClr val="D2691E"/>
            </a:solidFill>
          </p:spPr>
          <p:txBody>
            <a:bodyPr wrap="square" lIns="0" tIns="0" rIns="0" bIns="0" rtlCol="0"/>
            <a:lstStyle/>
            <a:p/>
          </p:txBody>
        </p:sp>
        <p:sp>
          <p:nvSpPr>
            <p:cNvPr id="249" name="object 249" descr=""/>
            <p:cNvSpPr/>
            <p:nvPr/>
          </p:nvSpPr>
          <p:spPr>
            <a:xfrm>
              <a:off x="5529267" y="3152452"/>
              <a:ext cx="4445" cy="15875"/>
            </a:xfrm>
            <a:custGeom>
              <a:avLst/>
              <a:gdLst/>
              <a:ahLst/>
              <a:cxnLst/>
              <a:rect l="l" t="t" r="r" b="b"/>
              <a:pathLst>
                <a:path w="4445" h="15875">
                  <a:moveTo>
                    <a:pt x="4051" y="0"/>
                  </a:moveTo>
                  <a:lnTo>
                    <a:pt x="0" y="596"/>
                  </a:lnTo>
                  <a:lnTo>
                    <a:pt x="0" y="15646"/>
                  </a:lnTo>
                  <a:lnTo>
                    <a:pt x="4051" y="15646"/>
                  </a:lnTo>
                  <a:lnTo>
                    <a:pt x="4051" y="0"/>
                  </a:lnTo>
                  <a:close/>
                </a:path>
              </a:pathLst>
            </a:custGeom>
            <a:solidFill>
              <a:srgbClr val="3E3E3E"/>
            </a:solidFill>
          </p:spPr>
          <p:txBody>
            <a:bodyPr wrap="square" lIns="0" tIns="0" rIns="0" bIns="0" rtlCol="0"/>
            <a:lstStyle/>
            <a:p/>
          </p:txBody>
        </p:sp>
        <p:sp>
          <p:nvSpPr>
            <p:cNvPr id="250" name="object 250" descr=""/>
            <p:cNvSpPr/>
            <p:nvPr/>
          </p:nvSpPr>
          <p:spPr>
            <a:xfrm>
              <a:off x="5556705" y="3048880"/>
              <a:ext cx="24765" cy="83820"/>
            </a:xfrm>
            <a:custGeom>
              <a:avLst/>
              <a:gdLst/>
              <a:ahLst/>
              <a:cxnLst/>
              <a:rect l="l" t="t" r="r" b="b"/>
              <a:pathLst>
                <a:path w="24764" h="83819">
                  <a:moveTo>
                    <a:pt x="3682" y="80340"/>
                  </a:moveTo>
                  <a:lnTo>
                    <a:pt x="3682" y="83337"/>
                  </a:lnTo>
                  <a:lnTo>
                    <a:pt x="22072" y="83337"/>
                  </a:lnTo>
                  <a:lnTo>
                    <a:pt x="23807" y="81343"/>
                  </a:lnTo>
                  <a:lnTo>
                    <a:pt x="11290" y="81343"/>
                  </a:lnTo>
                  <a:lnTo>
                    <a:pt x="3682" y="80340"/>
                  </a:lnTo>
                  <a:close/>
                </a:path>
                <a:path w="24764" h="83819">
                  <a:moveTo>
                    <a:pt x="24320" y="0"/>
                  </a:moveTo>
                  <a:lnTo>
                    <a:pt x="22511" y="17728"/>
                  </a:lnTo>
                  <a:lnTo>
                    <a:pt x="19375" y="26857"/>
                  </a:lnTo>
                  <a:lnTo>
                    <a:pt x="12631" y="30285"/>
                  </a:lnTo>
                  <a:lnTo>
                    <a:pt x="0" y="30911"/>
                  </a:lnTo>
                  <a:lnTo>
                    <a:pt x="0" y="61340"/>
                  </a:lnTo>
                  <a:lnTo>
                    <a:pt x="11249" y="81089"/>
                  </a:lnTo>
                  <a:lnTo>
                    <a:pt x="11290" y="81343"/>
                  </a:lnTo>
                  <a:lnTo>
                    <a:pt x="23807" y="81343"/>
                  </a:lnTo>
                  <a:lnTo>
                    <a:pt x="24028" y="81089"/>
                  </a:lnTo>
                  <a:lnTo>
                    <a:pt x="23393" y="62331"/>
                  </a:lnTo>
                  <a:lnTo>
                    <a:pt x="23509" y="28346"/>
                  </a:lnTo>
                  <a:lnTo>
                    <a:pt x="23753" y="17728"/>
                  </a:lnTo>
                  <a:lnTo>
                    <a:pt x="24320" y="0"/>
                  </a:lnTo>
                  <a:close/>
                </a:path>
              </a:pathLst>
            </a:custGeom>
            <a:solidFill>
              <a:srgbClr val="427272"/>
            </a:solidFill>
          </p:spPr>
          <p:txBody>
            <a:bodyPr wrap="square" lIns="0" tIns="0" rIns="0" bIns="0" rtlCol="0"/>
            <a:lstStyle/>
            <a:p/>
          </p:txBody>
        </p:sp>
        <p:sp>
          <p:nvSpPr>
            <p:cNvPr id="251" name="object 251" descr=""/>
            <p:cNvSpPr/>
            <p:nvPr/>
          </p:nvSpPr>
          <p:spPr>
            <a:xfrm>
              <a:off x="5327200" y="3047486"/>
              <a:ext cx="254000" cy="34925"/>
            </a:xfrm>
            <a:custGeom>
              <a:avLst/>
              <a:gdLst/>
              <a:ahLst/>
              <a:cxnLst/>
              <a:rect l="l" t="t" r="r" b="b"/>
              <a:pathLst>
                <a:path w="254000" h="34925">
                  <a:moveTo>
                    <a:pt x="3735" y="0"/>
                  </a:moveTo>
                  <a:lnTo>
                    <a:pt x="1719" y="7270"/>
                  </a:lnTo>
                  <a:lnTo>
                    <a:pt x="0" y="13563"/>
                  </a:lnTo>
                  <a:lnTo>
                    <a:pt x="1423" y="19900"/>
                  </a:lnTo>
                  <a:lnTo>
                    <a:pt x="2566" y="25882"/>
                  </a:lnTo>
                  <a:lnTo>
                    <a:pt x="18213" y="27482"/>
                  </a:lnTo>
                  <a:lnTo>
                    <a:pt x="81468" y="32085"/>
                  </a:lnTo>
                  <a:lnTo>
                    <a:pt x="123637" y="34207"/>
                  </a:lnTo>
                  <a:lnTo>
                    <a:pt x="163693" y="34376"/>
                  </a:lnTo>
                  <a:lnTo>
                    <a:pt x="215095" y="33243"/>
                  </a:lnTo>
                  <a:lnTo>
                    <a:pt x="232368" y="33243"/>
                  </a:lnTo>
                  <a:lnTo>
                    <a:pt x="239029" y="32237"/>
                  </a:lnTo>
                  <a:lnTo>
                    <a:pt x="243064" y="29162"/>
                  </a:lnTo>
                  <a:lnTo>
                    <a:pt x="253023" y="13563"/>
                  </a:lnTo>
                  <a:lnTo>
                    <a:pt x="253554" y="7270"/>
                  </a:lnTo>
                  <a:lnTo>
                    <a:pt x="232457" y="7270"/>
                  </a:lnTo>
                  <a:lnTo>
                    <a:pt x="209119" y="6527"/>
                  </a:lnTo>
                  <a:lnTo>
                    <a:pt x="51506" y="3995"/>
                  </a:lnTo>
                  <a:lnTo>
                    <a:pt x="30537" y="3327"/>
                  </a:lnTo>
                  <a:lnTo>
                    <a:pt x="28701" y="3327"/>
                  </a:lnTo>
                  <a:lnTo>
                    <a:pt x="23531" y="2895"/>
                  </a:lnTo>
                  <a:lnTo>
                    <a:pt x="7926" y="2895"/>
                  </a:lnTo>
                  <a:lnTo>
                    <a:pt x="3735" y="0"/>
                  </a:lnTo>
                  <a:close/>
                </a:path>
                <a:path w="254000" h="34925">
                  <a:moveTo>
                    <a:pt x="253886" y="3327"/>
                  </a:moveTo>
                  <a:lnTo>
                    <a:pt x="250644" y="5970"/>
                  </a:lnTo>
                  <a:lnTo>
                    <a:pt x="244494" y="7270"/>
                  </a:lnTo>
                  <a:lnTo>
                    <a:pt x="253554" y="7270"/>
                  </a:lnTo>
                  <a:lnTo>
                    <a:pt x="253663" y="5970"/>
                  </a:lnTo>
                  <a:lnTo>
                    <a:pt x="253749" y="4961"/>
                  </a:lnTo>
                  <a:lnTo>
                    <a:pt x="253830" y="3995"/>
                  </a:lnTo>
                  <a:lnTo>
                    <a:pt x="253886" y="3327"/>
                  </a:lnTo>
                  <a:close/>
                </a:path>
                <a:path w="254000" h="34925">
                  <a:moveTo>
                    <a:pt x="16079" y="2273"/>
                  </a:moveTo>
                  <a:lnTo>
                    <a:pt x="7926" y="2895"/>
                  </a:lnTo>
                  <a:lnTo>
                    <a:pt x="23531" y="2895"/>
                  </a:lnTo>
                  <a:lnTo>
                    <a:pt x="16079" y="2273"/>
                  </a:lnTo>
                  <a:close/>
                </a:path>
              </a:pathLst>
            </a:custGeom>
            <a:solidFill>
              <a:srgbClr val="1A1A1A"/>
            </a:solidFill>
          </p:spPr>
          <p:txBody>
            <a:bodyPr wrap="square" lIns="0" tIns="0" rIns="0" bIns="0" rtlCol="0"/>
            <a:lstStyle/>
            <a:p/>
          </p:txBody>
        </p:sp>
        <p:sp>
          <p:nvSpPr>
            <p:cNvPr id="252" name="object 252" descr=""/>
            <p:cNvSpPr/>
            <p:nvPr/>
          </p:nvSpPr>
          <p:spPr>
            <a:xfrm>
              <a:off x="5330983" y="2953332"/>
              <a:ext cx="262255" cy="102235"/>
            </a:xfrm>
            <a:custGeom>
              <a:avLst/>
              <a:gdLst/>
              <a:ahLst/>
              <a:cxnLst/>
              <a:rect l="l" t="t" r="r" b="b"/>
              <a:pathLst>
                <a:path w="262254" h="102235">
                  <a:moveTo>
                    <a:pt x="250264" y="96356"/>
                  </a:moveTo>
                  <a:lnTo>
                    <a:pt x="8039" y="96356"/>
                  </a:lnTo>
                  <a:lnTo>
                    <a:pt x="21641" y="98141"/>
                  </a:lnTo>
                  <a:lnTo>
                    <a:pt x="49853" y="99345"/>
                  </a:lnTo>
                  <a:lnTo>
                    <a:pt x="235343" y="102211"/>
                  </a:lnTo>
                  <a:lnTo>
                    <a:pt x="249821" y="100166"/>
                  </a:lnTo>
                  <a:lnTo>
                    <a:pt x="250088" y="98363"/>
                  </a:lnTo>
                  <a:lnTo>
                    <a:pt x="250212" y="96953"/>
                  </a:lnTo>
                  <a:lnTo>
                    <a:pt x="250264" y="96356"/>
                  </a:lnTo>
                  <a:close/>
                </a:path>
                <a:path w="262254" h="102235">
                  <a:moveTo>
                    <a:pt x="154422" y="0"/>
                  </a:moveTo>
                  <a:lnTo>
                    <a:pt x="109363" y="394"/>
                  </a:lnTo>
                  <a:lnTo>
                    <a:pt x="37312" y="2185"/>
                  </a:lnTo>
                  <a:lnTo>
                    <a:pt x="29590" y="2185"/>
                  </a:lnTo>
                  <a:lnTo>
                    <a:pt x="22021" y="20499"/>
                  </a:lnTo>
                  <a:lnTo>
                    <a:pt x="12598" y="42381"/>
                  </a:lnTo>
                  <a:lnTo>
                    <a:pt x="7162" y="57348"/>
                  </a:lnTo>
                  <a:lnTo>
                    <a:pt x="3651" y="72305"/>
                  </a:lnTo>
                  <a:lnTo>
                    <a:pt x="0" y="94159"/>
                  </a:lnTo>
                  <a:lnTo>
                    <a:pt x="4292" y="96953"/>
                  </a:lnTo>
                  <a:lnTo>
                    <a:pt x="8039" y="96356"/>
                  </a:lnTo>
                  <a:lnTo>
                    <a:pt x="250264" y="96356"/>
                  </a:lnTo>
                  <a:lnTo>
                    <a:pt x="260857" y="9729"/>
                  </a:lnTo>
                  <a:lnTo>
                    <a:pt x="261988" y="4827"/>
                  </a:lnTo>
                  <a:lnTo>
                    <a:pt x="239318" y="4129"/>
                  </a:lnTo>
                  <a:lnTo>
                    <a:pt x="191428" y="1184"/>
                  </a:lnTo>
                  <a:lnTo>
                    <a:pt x="154422" y="0"/>
                  </a:lnTo>
                  <a:close/>
                </a:path>
              </a:pathLst>
            </a:custGeom>
            <a:solidFill>
              <a:srgbClr val="000000"/>
            </a:solidFill>
          </p:spPr>
          <p:txBody>
            <a:bodyPr wrap="square" lIns="0" tIns="0" rIns="0" bIns="0" rtlCol="0"/>
            <a:lstStyle/>
            <a:p/>
          </p:txBody>
        </p:sp>
        <p:pic>
          <p:nvPicPr>
            <p:cNvPr id="253" name="object 253" descr=""/>
            <p:cNvPicPr/>
            <p:nvPr/>
          </p:nvPicPr>
          <p:blipFill>
            <a:blip r:embed="rId74" cstate="print"/>
            <a:stretch>
              <a:fillRect/>
            </a:stretch>
          </p:blipFill>
          <p:spPr>
            <a:xfrm>
              <a:off x="5335001" y="2957734"/>
              <a:ext cx="253042" cy="95176"/>
            </a:xfrm>
            <a:prstGeom prst="rect">
              <a:avLst/>
            </a:prstGeom>
          </p:spPr>
        </p:pic>
        <p:sp>
          <p:nvSpPr>
            <p:cNvPr id="254" name="object 254" descr=""/>
            <p:cNvSpPr/>
            <p:nvPr/>
          </p:nvSpPr>
          <p:spPr>
            <a:xfrm>
              <a:off x="5319070" y="2943064"/>
              <a:ext cx="272415" cy="196850"/>
            </a:xfrm>
            <a:custGeom>
              <a:avLst/>
              <a:gdLst/>
              <a:ahLst/>
              <a:cxnLst/>
              <a:rect l="l" t="t" r="r" b="b"/>
              <a:pathLst>
                <a:path w="272414" h="196850">
                  <a:moveTo>
                    <a:pt x="194778" y="0"/>
                  </a:moveTo>
                  <a:lnTo>
                    <a:pt x="114376" y="3"/>
                  </a:lnTo>
                  <a:lnTo>
                    <a:pt x="66825" y="1397"/>
                  </a:lnTo>
                  <a:lnTo>
                    <a:pt x="33932" y="30772"/>
                  </a:lnTo>
                  <a:lnTo>
                    <a:pt x="24509" y="52647"/>
                  </a:lnTo>
                  <a:lnTo>
                    <a:pt x="19075" y="67611"/>
                  </a:lnTo>
                  <a:lnTo>
                    <a:pt x="15568" y="82571"/>
                  </a:lnTo>
                  <a:lnTo>
                    <a:pt x="11923" y="104432"/>
                  </a:lnTo>
                  <a:lnTo>
                    <a:pt x="2938" y="121479"/>
                  </a:lnTo>
                  <a:lnTo>
                    <a:pt x="12469" y="185953"/>
                  </a:lnTo>
                  <a:lnTo>
                    <a:pt x="106097" y="191596"/>
                  </a:lnTo>
                  <a:lnTo>
                    <a:pt x="174387" y="194921"/>
                  </a:lnTo>
                  <a:lnTo>
                    <a:pt x="221414" y="196392"/>
                  </a:lnTo>
                  <a:lnTo>
                    <a:pt x="251254" y="196473"/>
                  </a:lnTo>
                  <a:lnTo>
                    <a:pt x="267981" y="195630"/>
                  </a:lnTo>
                  <a:lnTo>
                    <a:pt x="268888" y="178085"/>
                  </a:lnTo>
                  <a:lnTo>
                    <a:pt x="269708" y="104051"/>
                  </a:lnTo>
                  <a:lnTo>
                    <a:pt x="271595" y="79554"/>
                  </a:lnTo>
                  <a:lnTo>
                    <a:pt x="272230" y="61525"/>
                  </a:lnTo>
                  <a:lnTo>
                    <a:pt x="271621" y="41086"/>
                  </a:lnTo>
                  <a:lnTo>
                    <a:pt x="269771" y="9359"/>
                  </a:lnTo>
                  <a:lnTo>
                    <a:pt x="268564" y="5391"/>
                  </a:lnTo>
                  <a:lnTo>
                    <a:pt x="260349" y="3094"/>
                  </a:lnTo>
                  <a:lnTo>
                    <a:pt x="238098" y="1589"/>
                  </a:lnTo>
                  <a:lnTo>
                    <a:pt x="194778" y="0"/>
                  </a:lnTo>
                  <a:close/>
                </a:path>
              </a:pathLst>
            </a:custGeom>
            <a:solidFill>
              <a:srgbClr val="FFFFFF">
                <a:alpha val="3921"/>
              </a:srgbClr>
            </a:solidFill>
          </p:spPr>
          <p:txBody>
            <a:bodyPr wrap="square" lIns="0" tIns="0" rIns="0" bIns="0" rtlCol="0"/>
            <a:lstStyle/>
            <a:p/>
          </p:txBody>
        </p:sp>
        <p:sp>
          <p:nvSpPr>
            <p:cNvPr id="255" name="object 255" descr=""/>
            <p:cNvSpPr/>
            <p:nvPr/>
          </p:nvSpPr>
          <p:spPr>
            <a:xfrm>
              <a:off x="5327016" y="2949300"/>
              <a:ext cx="264795" cy="139700"/>
            </a:xfrm>
            <a:custGeom>
              <a:avLst/>
              <a:gdLst/>
              <a:ahLst/>
              <a:cxnLst/>
              <a:rect l="l" t="t" r="r" b="b"/>
              <a:pathLst>
                <a:path w="264795" h="139700">
                  <a:moveTo>
                    <a:pt x="257973" y="0"/>
                  </a:moveTo>
                  <a:lnTo>
                    <a:pt x="158903" y="18068"/>
                  </a:lnTo>
                  <a:lnTo>
                    <a:pt x="17954" y="47602"/>
                  </a:lnTo>
                  <a:lnTo>
                    <a:pt x="1465" y="108093"/>
                  </a:lnTo>
                  <a:lnTo>
                    <a:pt x="0" y="124773"/>
                  </a:lnTo>
                  <a:lnTo>
                    <a:pt x="365" y="139245"/>
                  </a:lnTo>
                  <a:lnTo>
                    <a:pt x="95065" y="131186"/>
                  </a:lnTo>
                  <a:lnTo>
                    <a:pt x="168277" y="121093"/>
                  </a:lnTo>
                  <a:lnTo>
                    <a:pt x="220278" y="110886"/>
                  </a:lnTo>
                  <a:lnTo>
                    <a:pt x="261756" y="97818"/>
                  </a:lnTo>
                  <a:lnTo>
                    <a:pt x="264279" y="55292"/>
                  </a:lnTo>
                  <a:lnTo>
                    <a:pt x="263669" y="34853"/>
                  </a:lnTo>
                  <a:lnTo>
                    <a:pt x="261820" y="3126"/>
                  </a:lnTo>
                  <a:lnTo>
                    <a:pt x="257973" y="0"/>
                  </a:lnTo>
                  <a:close/>
                </a:path>
              </a:pathLst>
            </a:custGeom>
            <a:solidFill>
              <a:srgbClr val="FFFFFF">
                <a:alpha val="10194"/>
              </a:srgbClr>
            </a:solidFill>
          </p:spPr>
          <p:txBody>
            <a:bodyPr wrap="square" lIns="0" tIns="0" rIns="0" bIns="0" rtlCol="0"/>
            <a:lstStyle/>
            <a:p/>
          </p:txBody>
        </p:sp>
        <p:sp>
          <p:nvSpPr>
            <p:cNvPr id="256" name="object 256" descr=""/>
            <p:cNvSpPr/>
            <p:nvPr/>
          </p:nvSpPr>
          <p:spPr>
            <a:xfrm>
              <a:off x="5354129" y="3000857"/>
              <a:ext cx="277495" cy="54610"/>
            </a:xfrm>
            <a:custGeom>
              <a:avLst/>
              <a:gdLst/>
              <a:ahLst/>
              <a:cxnLst/>
              <a:rect l="l" t="t" r="r" b="b"/>
              <a:pathLst>
                <a:path w="277495" h="54610">
                  <a:moveTo>
                    <a:pt x="82778" y="52158"/>
                  </a:moveTo>
                  <a:lnTo>
                    <a:pt x="54127" y="44843"/>
                  </a:lnTo>
                  <a:lnTo>
                    <a:pt x="70446" y="44843"/>
                  </a:lnTo>
                  <a:lnTo>
                    <a:pt x="72275" y="43586"/>
                  </a:lnTo>
                  <a:lnTo>
                    <a:pt x="72275" y="40462"/>
                  </a:lnTo>
                  <a:lnTo>
                    <a:pt x="70446" y="39192"/>
                  </a:lnTo>
                  <a:lnTo>
                    <a:pt x="4076" y="39192"/>
                  </a:lnTo>
                  <a:lnTo>
                    <a:pt x="1828" y="39192"/>
                  </a:lnTo>
                  <a:lnTo>
                    <a:pt x="0" y="40462"/>
                  </a:lnTo>
                  <a:lnTo>
                    <a:pt x="0" y="43586"/>
                  </a:lnTo>
                  <a:lnTo>
                    <a:pt x="1828" y="44843"/>
                  </a:lnTo>
                  <a:lnTo>
                    <a:pt x="38608" y="44843"/>
                  </a:lnTo>
                  <a:lnTo>
                    <a:pt x="67614" y="52158"/>
                  </a:lnTo>
                  <a:lnTo>
                    <a:pt x="82778" y="52158"/>
                  </a:lnTo>
                  <a:close/>
                </a:path>
                <a:path w="277495" h="54610">
                  <a:moveTo>
                    <a:pt x="201853" y="43218"/>
                  </a:moveTo>
                  <a:lnTo>
                    <a:pt x="200939" y="43218"/>
                  </a:lnTo>
                  <a:lnTo>
                    <a:pt x="200939" y="41948"/>
                  </a:lnTo>
                  <a:lnTo>
                    <a:pt x="113004" y="41948"/>
                  </a:lnTo>
                  <a:lnTo>
                    <a:pt x="113004" y="43218"/>
                  </a:lnTo>
                  <a:lnTo>
                    <a:pt x="112090" y="43218"/>
                  </a:lnTo>
                  <a:lnTo>
                    <a:pt x="112090" y="45758"/>
                  </a:lnTo>
                  <a:lnTo>
                    <a:pt x="112166" y="47028"/>
                  </a:lnTo>
                  <a:lnTo>
                    <a:pt x="156946" y="47028"/>
                  </a:lnTo>
                  <a:lnTo>
                    <a:pt x="185000" y="54102"/>
                  </a:lnTo>
                  <a:lnTo>
                    <a:pt x="200164" y="54102"/>
                  </a:lnTo>
                  <a:lnTo>
                    <a:pt x="172453" y="47028"/>
                  </a:lnTo>
                  <a:lnTo>
                    <a:pt x="201777" y="47028"/>
                  </a:lnTo>
                  <a:lnTo>
                    <a:pt x="201777" y="45758"/>
                  </a:lnTo>
                  <a:lnTo>
                    <a:pt x="201853" y="43218"/>
                  </a:lnTo>
                  <a:close/>
                </a:path>
                <a:path w="277495" h="54610">
                  <a:moveTo>
                    <a:pt x="277202" y="1346"/>
                  </a:moveTo>
                  <a:lnTo>
                    <a:pt x="275259" y="0"/>
                  </a:lnTo>
                  <a:lnTo>
                    <a:pt x="255905" y="0"/>
                  </a:lnTo>
                  <a:lnTo>
                    <a:pt x="253504" y="0"/>
                  </a:lnTo>
                  <a:lnTo>
                    <a:pt x="251561" y="1346"/>
                  </a:lnTo>
                  <a:lnTo>
                    <a:pt x="251561" y="36944"/>
                  </a:lnTo>
                  <a:lnTo>
                    <a:pt x="253504" y="38290"/>
                  </a:lnTo>
                  <a:lnTo>
                    <a:pt x="275259" y="38290"/>
                  </a:lnTo>
                  <a:lnTo>
                    <a:pt x="277202" y="36944"/>
                  </a:lnTo>
                  <a:lnTo>
                    <a:pt x="277202" y="1346"/>
                  </a:lnTo>
                  <a:close/>
                </a:path>
              </a:pathLst>
            </a:custGeom>
            <a:solidFill>
              <a:srgbClr val="000000"/>
            </a:solidFill>
          </p:spPr>
          <p:txBody>
            <a:bodyPr wrap="square" lIns="0" tIns="0" rIns="0" bIns="0" rtlCol="0"/>
            <a:lstStyle/>
            <a:p/>
          </p:txBody>
        </p:sp>
        <p:sp>
          <p:nvSpPr>
            <p:cNvPr id="257" name="object 257" descr=""/>
            <p:cNvSpPr/>
            <p:nvPr/>
          </p:nvSpPr>
          <p:spPr>
            <a:xfrm>
              <a:off x="5605685" y="3001049"/>
              <a:ext cx="21590" cy="38735"/>
            </a:xfrm>
            <a:custGeom>
              <a:avLst/>
              <a:gdLst/>
              <a:ahLst/>
              <a:cxnLst/>
              <a:rect l="l" t="t" r="r" b="b"/>
              <a:pathLst>
                <a:path w="21589" h="38735">
                  <a:moveTo>
                    <a:pt x="19380" y="0"/>
                  </a:moveTo>
                  <a:lnTo>
                    <a:pt x="3555" y="0"/>
                  </a:lnTo>
                  <a:lnTo>
                    <a:pt x="1600" y="0"/>
                  </a:lnTo>
                  <a:lnTo>
                    <a:pt x="0" y="1346"/>
                  </a:lnTo>
                  <a:lnTo>
                    <a:pt x="0" y="36944"/>
                  </a:lnTo>
                  <a:lnTo>
                    <a:pt x="1600" y="38290"/>
                  </a:lnTo>
                  <a:lnTo>
                    <a:pt x="19380" y="38290"/>
                  </a:lnTo>
                  <a:lnTo>
                    <a:pt x="20967" y="36944"/>
                  </a:lnTo>
                  <a:lnTo>
                    <a:pt x="20967" y="1346"/>
                  </a:lnTo>
                  <a:lnTo>
                    <a:pt x="19380" y="0"/>
                  </a:lnTo>
                  <a:close/>
                </a:path>
              </a:pathLst>
            </a:custGeom>
            <a:solidFill>
              <a:srgbClr val="313131"/>
            </a:solidFill>
          </p:spPr>
          <p:txBody>
            <a:bodyPr wrap="square" lIns="0" tIns="0" rIns="0" bIns="0" rtlCol="0"/>
            <a:lstStyle/>
            <a:p/>
          </p:txBody>
        </p:sp>
        <p:sp>
          <p:nvSpPr>
            <p:cNvPr id="258" name="object 258" descr=""/>
            <p:cNvSpPr/>
            <p:nvPr/>
          </p:nvSpPr>
          <p:spPr>
            <a:xfrm>
              <a:off x="5612794" y="3020348"/>
              <a:ext cx="4445" cy="33655"/>
            </a:xfrm>
            <a:custGeom>
              <a:avLst/>
              <a:gdLst/>
              <a:ahLst/>
              <a:cxnLst/>
              <a:rect l="l" t="t" r="r" b="b"/>
              <a:pathLst>
                <a:path w="4445" h="33655">
                  <a:moveTo>
                    <a:pt x="3276" y="0"/>
                  </a:moveTo>
                  <a:lnTo>
                    <a:pt x="2108" y="0"/>
                  </a:lnTo>
                  <a:lnTo>
                    <a:pt x="939" y="0"/>
                  </a:lnTo>
                  <a:lnTo>
                    <a:pt x="0" y="660"/>
                  </a:lnTo>
                  <a:lnTo>
                    <a:pt x="0" y="32638"/>
                  </a:lnTo>
                  <a:lnTo>
                    <a:pt x="939" y="33312"/>
                  </a:lnTo>
                  <a:lnTo>
                    <a:pt x="3276" y="33312"/>
                  </a:lnTo>
                  <a:lnTo>
                    <a:pt x="4216" y="32638"/>
                  </a:lnTo>
                  <a:lnTo>
                    <a:pt x="4216" y="660"/>
                  </a:lnTo>
                  <a:lnTo>
                    <a:pt x="3276" y="0"/>
                  </a:lnTo>
                  <a:close/>
                </a:path>
              </a:pathLst>
            </a:custGeom>
            <a:solidFill>
              <a:srgbClr val="000000"/>
            </a:solidFill>
          </p:spPr>
          <p:txBody>
            <a:bodyPr wrap="square" lIns="0" tIns="0" rIns="0" bIns="0" rtlCol="0"/>
            <a:lstStyle/>
            <a:p/>
          </p:txBody>
        </p:sp>
        <p:sp>
          <p:nvSpPr>
            <p:cNvPr id="259" name="object 259" descr=""/>
            <p:cNvSpPr/>
            <p:nvPr/>
          </p:nvSpPr>
          <p:spPr>
            <a:xfrm>
              <a:off x="5612794" y="3020348"/>
              <a:ext cx="4445" cy="33655"/>
            </a:xfrm>
            <a:custGeom>
              <a:avLst/>
              <a:gdLst/>
              <a:ahLst/>
              <a:cxnLst/>
              <a:rect l="l" t="t" r="r" b="b"/>
              <a:pathLst>
                <a:path w="4445" h="33655">
                  <a:moveTo>
                    <a:pt x="2108" y="0"/>
                  </a:moveTo>
                  <a:lnTo>
                    <a:pt x="3276" y="0"/>
                  </a:lnTo>
                  <a:lnTo>
                    <a:pt x="4216" y="660"/>
                  </a:lnTo>
                  <a:lnTo>
                    <a:pt x="4216" y="1460"/>
                  </a:lnTo>
                  <a:lnTo>
                    <a:pt x="4216" y="31826"/>
                  </a:lnTo>
                  <a:lnTo>
                    <a:pt x="4216" y="32638"/>
                  </a:lnTo>
                  <a:lnTo>
                    <a:pt x="3276" y="33312"/>
                  </a:lnTo>
                  <a:lnTo>
                    <a:pt x="2108" y="33312"/>
                  </a:lnTo>
                  <a:lnTo>
                    <a:pt x="939" y="33312"/>
                  </a:lnTo>
                  <a:lnTo>
                    <a:pt x="0" y="32638"/>
                  </a:lnTo>
                  <a:lnTo>
                    <a:pt x="0" y="31826"/>
                  </a:lnTo>
                  <a:lnTo>
                    <a:pt x="0" y="1460"/>
                  </a:lnTo>
                  <a:lnTo>
                    <a:pt x="0" y="660"/>
                  </a:lnTo>
                  <a:lnTo>
                    <a:pt x="939" y="0"/>
                  </a:lnTo>
                  <a:lnTo>
                    <a:pt x="2108" y="0"/>
                  </a:lnTo>
                  <a:close/>
                </a:path>
              </a:pathLst>
            </a:custGeom>
            <a:ln w="7594">
              <a:solidFill>
                <a:srgbClr val="000000"/>
              </a:solidFill>
            </a:ln>
          </p:spPr>
          <p:txBody>
            <a:bodyPr wrap="square" lIns="0" tIns="0" rIns="0" bIns="0" rtlCol="0"/>
            <a:lstStyle/>
            <a:p/>
          </p:txBody>
        </p:sp>
        <p:sp>
          <p:nvSpPr>
            <p:cNvPr id="260" name="object 260" descr=""/>
            <p:cNvSpPr/>
            <p:nvPr/>
          </p:nvSpPr>
          <p:spPr>
            <a:xfrm>
              <a:off x="5590882" y="3050979"/>
              <a:ext cx="26034" cy="3810"/>
            </a:xfrm>
            <a:custGeom>
              <a:avLst/>
              <a:gdLst/>
              <a:ahLst/>
              <a:cxnLst/>
              <a:rect l="l" t="t" r="r" b="b"/>
              <a:pathLst>
                <a:path w="26035" h="3810">
                  <a:moveTo>
                    <a:pt x="25006" y="0"/>
                  </a:moveTo>
                  <a:lnTo>
                    <a:pt x="2070" y="0"/>
                  </a:lnTo>
                  <a:lnTo>
                    <a:pt x="927" y="0"/>
                  </a:lnTo>
                  <a:lnTo>
                    <a:pt x="0" y="660"/>
                  </a:lnTo>
                  <a:lnTo>
                    <a:pt x="0" y="2806"/>
                  </a:lnTo>
                  <a:lnTo>
                    <a:pt x="927" y="3467"/>
                  </a:lnTo>
                  <a:lnTo>
                    <a:pt x="25006" y="3467"/>
                  </a:lnTo>
                  <a:lnTo>
                    <a:pt x="25933" y="2806"/>
                  </a:lnTo>
                  <a:lnTo>
                    <a:pt x="25933" y="660"/>
                  </a:lnTo>
                  <a:lnTo>
                    <a:pt x="25006" y="0"/>
                  </a:lnTo>
                  <a:close/>
                </a:path>
              </a:pathLst>
            </a:custGeom>
            <a:solidFill>
              <a:srgbClr val="000000"/>
            </a:solidFill>
          </p:spPr>
          <p:txBody>
            <a:bodyPr wrap="square" lIns="0" tIns="0" rIns="0" bIns="0" rtlCol="0"/>
            <a:lstStyle/>
            <a:p/>
          </p:txBody>
        </p:sp>
        <p:sp>
          <p:nvSpPr>
            <p:cNvPr id="261" name="object 261" descr=""/>
            <p:cNvSpPr/>
            <p:nvPr/>
          </p:nvSpPr>
          <p:spPr>
            <a:xfrm>
              <a:off x="5590882" y="3050979"/>
              <a:ext cx="26034" cy="3810"/>
            </a:xfrm>
            <a:custGeom>
              <a:avLst/>
              <a:gdLst/>
              <a:ahLst/>
              <a:cxnLst/>
              <a:rect l="l" t="t" r="r" b="b"/>
              <a:pathLst>
                <a:path w="26035" h="3810">
                  <a:moveTo>
                    <a:pt x="2070" y="0"/>
                  </a:moveTo>
                  <a:lnTo>
                    <a:pt x="23863" y="0"/>
                  </a:lnTo>
                  <a:lnTo>
                    <a:pt x="25006" y="0"/>
                  </a:lnTo>
                  <a:lnTo>
                    <a:pt x="25933" y="660"/>
                  </a:lnTo>
                  <a:lnTo>
                    <a:pt x="25933" y="1460"/>
                  </a:lnTo>
                  <a:lnTo>
                    <a:pt x="25933" y="1993"/>
                  </a:lnTo>
                  <a:lnTo>
                    <a:pt x="25933" y="2806"/>
                  </a:lnTo>
                  <a:lnTo>
                    <a:pt x="25006" y="3467"/>
                  </a:lnTo>
                  <a:lnTo>
                    <a:pt x="23863" y="3467"/>
                  </a:lnTo>
                  <a:lnTo>
                    <a:pt x="2070" y="3467"/>
                  </a:lnTo>
                  <a:lnTo>
                    <a:pt x="927" y="3467"/>
                  </a:lnTo>
                  <a:lnTo>
                    <a:pt x="0" y="2806"/>
                  </a:lnTo>
                  <a:lnTo>
                    <a:pt x="0" y="1993"/>
                  </a:lnTo>
                  <a:lnTo>
                    <a:pt x="0" y="1460"/>
                  </a:lnTo>
                  <a:lnTo>
                    <a:pt x="0" y="660"/>
                  </a:lnTo>
                  <a:lnTo>
                    <a:pt x="927" y="0"/>
                  </a:lnTo>
                  <a:lnTo>
                    <a:pt x="2070" y="0"/>
                  </a:lnTo>
                  <a:close/>
                </a:path>
              </a:pathLst>
            </a:custGeom>
            <a:ln w="7594">
              <a:solidFill>
                <a:srgbClr val="000000"/>
              </a:solidFill>
            </a:ln>
          </p:spPr>
          <p:txBody>
            <a:bodyPr wrap="square" lIns="0" tIns="0" rIns="0" bIns="0" rtlCol="0"/>
            <a:lstStyle/>
            <a:p/>
          </p:txBody>
        </p:sp>
        <p:sp>
          <p:nvSpPr>
            <p:cNvPr id="262" name="object 262" descr=""/>
            <p:cNvSpPr/>
            <p:nvPr/>
          </p:nvSpPr>
          <p:spPr>
            <a:xfrm>
              <a:off x="5590883" y="3021177"/>
              <a:ext cx="24765" cy="34290"/>
            </a:xfrm>
            <a:custGeom>
              <a:avLst/>
              <a:gdLst/>
              <a:ahLst/>
              <a:cxnLst/>
              <a:rect l="l" t="t" r="r" b="b"/>
              <a:pathLst>
                <a:path w="24764" h="34289">
                  <a:moveTo>
                    <a:pt x="24714" y="660"/>
                  </a:moveTo>
                  <a:lnTo>
                    <a:pt x="23888" y="0"/>
                  </a:lnTo>
                  <a:lnTo>
                    <a:pt x="22860" y="0"/>
                  </a:lnTo>
                  <a:lnTo>
                    <a:pt x="21831" y="0"/>
                  </a:lnTo>
                  <a:lnTo>
                    <a:pt x="21005" y="660"/>
                  </a:lnTo>
                  <a:lnTo>
                    <a:pt x="21005" y="31229"/>
                  </a:lnTo>
                  <a:lnTo>
                    <a:pt x="1968" y="31229"/>
                  </a:lnTo>
                  <a:lnTo>
                    <a:pt x="876" y="31229"/>
                  </a:lnTo>
                  <a:lnTo>
                    <a:pt x="0" y="31699"/>
                  </a:lnTo>
                  <a:lnTo>
                    <a:pt x="0" y="33235"/>
                  </a:lnTo>
                  <a:lnTo>
                    <a:pt x="876" y="33705"/>
                  </a:lnTo>
                  <a:lnTo>
                    <a:pt x="23812" y="33705"/>
                  </a:lnTo>
                  <a:lnTo>
                    <a:pt x="24701" y="33235"/>
                  </a:lnTo>
                  <a:lnTo>
                    <a:pt x="24701" y="32651"/>
                  </a:lnTo>
                  <a:lnTo>
                    <a:pt x="24714" y="660"/>
                  </a:lnTo>
                  <a:close/>
                </a:path>
              </a:pathLst>
            </a:custGeom>
            <a:solidFill>
              <a:srgbClr val="3E3E3E"/>
            </a:solidFill>
          </p:spPr>
          <p:txBody>
            <a:bodyPr wrap="square" lIns="0" tIns="0" rIns="0" bIns="0" rtlCol="0"/>
            <a:lstStyle/>
            <a:p/>
          </p:txBody>
        </p:sp>
        <p:pic>
          <p:nvPicPr>
            <p:cNvPr id="263" name="object 263" descr=""/>
            <p:cNvPicPr/>
            <p:nvPr/>
          </p:nvPicPr>
          <p:blipFill>
            <a:blip r:embed="rId75" cstate="print"/>
            <a:stretch>
              <a:fillRect/>
            </a:stretch>
          </p:blipFill>
          <p:spPr>
            <a:xfrm>
              <a:off x="6422115" y="3474698"/>
              <a:ext cx="454293" cy="206877"/>
            </a:xfrm>
            <a:prstGeom prst="rect">
              <a:avLst/>
            </a:prstGeom>
          </p:spPr>
        </p:pic>
        <p:sp>
          <p:nvSpPr>
            <p:cNvPr id="264" name="object 264" descr=""/>
            <p:cNvSpPr/>
            <p:nvPr/>
          </p:nvSpPr>
          <p:spPr>
            <a:xfrm>
              <a:off x="6477101" y="3636690"/>
              <a:ext cx="33020" cy="16510"/>
            </a:xfrm>
            <a:custGeom>
              <a:avLst/>
              <a:gdLst/>
              <a:ahLst/>
              <a:cxnLst/>
              <a:rect l="l" t="t" r="r" b="b"/>
              <a:pathLst>
                <a:path w="33020" h="16510">
                  <a:moveTo>
                    <a:pt x="6388" y="0"/>
                  </a:moveTo>
                  <a:lnTo>
                    <a:pt x="4787" y="736"/>
                  </a:lnTo>
                  <a:lnTo>
                    <a:pt x="0" y="3022"/>
                  </a:lnTo>
                  <a:lnTo>
                    <a:pt x="4305" y="6019"/>
                  </a:lnTo>
                  <a:lnTo>
                    <a:pt x="21386" y="14579"/>
                  </a:lnTo>
                  <a:lnTo>
                    <a:pt x="25171" y="16167"/>
                  </a:lnTo>
                  <a:lnTo>
                    <a:pt x="27051" y="15671"/>
                  </a:lnTo>
                  <a:lnTo>
                    <a:pt x="32969" y="13309"/>
                  </a:lnTo>
                  <a:lnTo>
                    <a:pt x="27203" y="9969"/>
                  </a:lnTo>
                  <a:lnTo>
                    <a:pt x="7988" y="736"/>
                  </a:lnTo>
                  <a:lnTo>
                    <a:pt x="6388" y="0"/>
                  </a:lnTo>
                  <a:close/>
                </a:path>
              </a:pathLst>
            </a:custGeom>
            <a:solidFill>
              <a:srgbClr val="8A8A8A"/>
            </a:solidFill>
          </p:spPr>
          <p:txBody>
            <a:bodyPr wrap="square" lIns="0" tIns="0" rIns="0" bIns="0" rtlCol="0"/>
            <a:lstStyle/>
            <a:p/>
          </p:txBody>
        </p:sp>
        <p:sp>
          <p:nvSpPr>
            <p:cNvPr id="265" name="object 265" descr=""/>
            <p:cNvSpPr/>
            <p:nvPr/>
          </p:nvSpPr>
          <p:spPr>
            <a:xfrm>
              <a:off x="6432690" y="3612799"/>
              <a:ext cx="12700" cy="11430"/>
            </a:xfrm>
            <a:custGeom>
              <a:avLst/>
              <a:gdLst/>
              <a:ahLst/>
              <a:cxnLst/>
              <a:rect l="l" t="t" r="r" b="b"/>
              <a:pathLst>
                <a:path w="12700" h="11429">
                  <a:moveTo>
                    <a:pt x="7277" y="0"/>
                  </a:moveTo>
                  <a:lnTo>
                    <a:pt x="1485" y="1066"/>
                  </a:lnTo>
                  <a:lnTo>
                    <a:pt x="0" y="3721"/>
                  </a:lnTo>
                  <a:lnTo>
                    <a:pt x="1066" y="6464"/>
                  </a:lnTo>
                  <a:lnTo>
                    <a:pt x="2120" y="9207"/>
                  </a:lnTo>
                  <a:lnTo>
                    <a:pt x="5334" y="10985"/>
                  </a:lnTo>
                  <a:lnTo>
                    <a:pt x="11112" y="9918"/>
                  </a:lnTo>
                  <a:lnTo>
                    <a:pt x="12598" y="7264"/>
                  </a:lnTo>
                  <a:lnTo>
                    <a:pt x="10477" y="1790"/>
                  </a:lnTo>
                  <a:lnTo>
                    <a:pt x="7277" y="0"/>
                  </a:lnTo>
                  <a:close/>
                </a:path>
              </a:pathLst>
            </a:custGeom>
            <a:solidFill>
              <a:srgbClr val="A1A1A1"/>
            </a:solidFill>
          </p:spPr>
          <p:txBody>
            <a:bodyPr wrap="square" lIns="0" tIns="0" rIns="0" bIns="0" rtlCol="0"/>
            <a:lstStyle/>
            <a:p/>
          </p:txBody>
        </p:sp>
        <p:pic>
          <p:nvPicPr>
            <p:cNvPr id="266" name="object 266" descr=""/>
            <p:cNvPicPr/>
            <p:nvPr/>
          </p:nvPicPr>
          <p:blipFill>
            <a:blip r:embed="rId76" cstate="print"/>
            <a:stretch>
              <a:fillRect/>
            </a:stretch>
          </p:blipFill>
          <p:spPr>
            <a:xfrm>
              <a:off x="6422243" y="3525418"/>
              <a:ext cx="454359" cy="144599"/>
            </a:xfrm>
            <a:prstGeom prst="rect">
              <a:avLst/>
            </a:prstGeom>
          </p:spPr>
        </p:pic>
        <p:sp>
          <p:nvSpPr>
            <p:cNvPr id="267" name="object 267" descr=""/>
            <p:cNvSpPr/>
            <p:nvPr/>
          </p:nvSpPr>
          <p:spPr>
            <a:xfrm>
              <a:off x="6760223" y="3500132"/>
              <a:ext cx="43180" cy="19050"/>
            </a:xfrm>
            <a:custGeom>
              <a:avLst/>
              <a:gdLst/>
              <a:ahLst/>
              <a:cxnLst/>
              <a:rect l="l" t="t" r="r" b="b"/>
              <a:pathLst>
                <a:path w="43179" h="19050">
                  <a:moveTo>
                    <a:pt x="6565" y="685"/>
                  </a:moveTo>
                  <a:lnTo>
                    <a:pt x="5105" y="0"/>
                  </a:lnTo>
                  <a:lnTo>
                    <a:pt x="1473" y="0"/>
                  </a:lnTo>
                  <a:lnTo>
                    <a:pt x="0" y="685"/>
                  </a:lnTo>
                  <a:lnTo>
                    <a:pt x="0" y="1536"/>
                  </a:lnTo>
                  <a:lnTo>
                    <a:pt x="0" y="2387"/>
                  </a:lnTo>
                  <a:lnTo>
                    <a:pt x="1473" y="3073"/>
                  </a:lnTo>
                  <a:lnTo>
                    <a:pt x="5105" y="3073"/>
                  </a:lnTo>
                  <a:lnTo>
                    <a:pt x="6565" y="2387"/>
                  </a:lnTo>
                  <a:lnTo>
                    <a:pt x="6565" y="685"/>
                  </a:lnTo>
                  <a:close/>
                </a:path>
                <a:path w="43179" h="19050">
                  <a:moveTo>
                    <a:pt x="41300" y="18656"/>
                  </a:moveTo>
                  <a:lnTo>
                    <a:pt x="39420" y="16217"/>
                  </a:lnTo>
                  <a:lnTo>
                    <a:pt x="14541" y="5994"/>
                  </a:lnTo>
                  <a:lnTo>
                    <a:pt x="9613" y="5181"/>
                  </a:lnTo>
                  <a:lnTo>
                    <a:pt x="11963" y="7620"/>
                  </a:lnTo>
                  <a:lnTo>
                    <a:pt x="36601" y="18173"/>
                  </a:lnTo>
                  <a:lnTo>
                    <a:pt x="41300" y="18656"/>
                  </a:lnTo>
                  <a:close/>
                </a:path>
                <a:path w="43179" h="19050">
                  <a:moveTo>
                    <a:pt x="42710" y="4965"/>
                  </a:moveTo>
                  <a:lnTo>
                    <a:pt x="40449" y="4051"/>
                  </a:lnTo>
                  <a:lnTo>
                    <a:pt x="34874" y="4051"/>
                  </a:lnTo>
                  <a:lnTo>
                    <a:pt x="32613" y="4965"/>
                  </a:lnTo>
                  <a:lnTo>
                    <a:pt x="32613" y="6083"/>
                  </a:lnTo>
                  <a:lnTo>
                    <a:pt x="32613" y="7200"/>
                  </a:lnTo>
                  <a:lnTo>
                    <a:pt x="34874" y="8115"/>
                  </a:lnTo>
                  <a:lnTo>
                    <a:pt x="40449" y="8115"/>
                  </a:lnTo>
                  <a:lnTo>
                    <a:pt x="42710" y="7200"/>
                  </a:lnTo>
                  <a:lnTo>
                    <a:pt x="42710" y="4965"/>
                  </a:lnTo>
                  <a:close/>
                </a:path>
              </a:pathLst>
            </a:custGeom>
            <a:solidFill>
              <a:srgbClr val="1A1A1A"/>
            </a:solidFill>
          </p:spPr>
          <p:txBody>
            <a:bodyPr wrap="square" lIns="0" tIns="0" rIns="0" bIns="0" rtlCol="0"/>
            <a:lstStyle/>
            <a:p/>
          </p:txBody>
        </p:sp>
        <p:sp>
          <p:nvSpPr>
            <p:cNvPr id="268" name="object 268" descr=""/>
            <p:cNvSpPr/>
            <p:nvPr/>
          </p:nvSpPr>
          <p:spPr>
            <a:xfrm>
              <a:off x="6507549" y="3618857"/>
              <a:ext cx="20320" cy="10795"/>
            </a:xfrm>
            <a:custGeom>
              <a:avLst/>
              <a:gdLst/>
              <a:ahLst/>
              <a:cxnLst/>
              <a:rect l="l" t="t" r="r" b="b"/>
              <a:pathLst>
                <a:path w="20320" h="10795">
                  <a:moveTo>
                    <a:pt x="9512" y="0"/>
                  </a:moveTo>
                  <a:lnTo>
                    <a:pt x="7404" y="1308"/>
                  </a:lnTo>
                  <a:lnTo>
                    <a:pt x="3441" y="3327"/>
                  </a:lnTo>
                  <a:lnTo>
                    <a:pt x="0" y="5219"/>
                  </a:lnTo>
                  <a:lnTo>
                    <a:pt x="2438" y="6299"/>
                  </a:lnTo>
                  <a:lnTo>
                    <a:pt x="10172" y="10363"/>
                  </a:lnTo>
                  <a:lnTo>
                    <a:pt x="12039" y="9499"/>
                  </a:lnTo>
                  <a:lnTo>
                    <a:pt x="14947" y="8115"/>
                  </a:lnTo>
                  <a:lnTo>
                    <a:pt x="17487" y="6591"/>
                  </a:lnTo>
                  <a:lnTo>
                    <a:pt x="19850" y="5448"/>
                  </a:lnTo>
                  <a:lnTo>
                    <a:pt x="18478" y="4394"/>
                  </a:lnTo>
                  <a:lnTo>
                    <a:pt x="11112" y="596"/>
                  </a:lnTo>
                  <a:lnTo>
                    <a:pt x="9512" y="0"/>
                  </a:lnTo>
                  <a:close/>
                </a:path>
              </a:pathLst>
            </a:custGeom>
            <a:solidFill>
              <a:srgbClr val="D1D1D1"/>
            </a:solidFill>
          </p:spPr>
          <p:txBody>
            <a:bodyPr wrap="square" lIns="0" tIns="0" rIns="0" bIns="0" rtlCol="0"/>
            <a:lstStyle/>
            <a:p/>
          </p:txBody>
        </p:sp>
        <p:sp>
          <p:nvSpPr>
            <p:cNvPr id="269" name="object 269" descr=""/>
            <p:cNvSpPr/>
            <p:nvPr/>
          </p:nvSpPr>
          <p:spPr>
            <a:xfrm>
              <a:off x="6510347" y="3620245"/>
              <a:ext cx="14604" cy="7620"/>
            </a:xfrm>
            <a:custGeom>
              <a:avLst/>
              <a:gdLst/>
              <a:ahLst/>
              <a:cxnLst/>
              <a:rect l="l" t="t" r="r" b="b"/>
              <a:pathLst>
                <a:path w="14604" h="7620">
                  <a:moveTo>
                    <a:pt x="6908" y="0"/>
                  </a:moveTo>
                  <a:lnTo>
                    <a:pt x="5384" y="965"/>
                  </a:lnTo>
                  <a:lnTo>
                    <a:pt x="2501" y="2425"/>
                  </a:lnTo>
                  <a:lnTo>
                    <a:pt x="0" y="3797"/>
                  </a:lnTo>
                  <a:lnTo>
                    <a:pt x="1777" y="4584"/>
                  </a:lnTo>
                  <a:lnTo>
                    <a:pt x="7391" y="7543"/>
                  </a:lnTo>
                  <a:lnTo>
                    <a:pt x="10871" y="5918"/>
                  </a:lnTo>
                  <a:lnTo>
                    <a:pt x="12712" y="4800"/>
                  </a:lnTo>
                  <a:lnTo>
                    <a:pt x="14427" y="3975"/>
                  </a:lnTo>
                  <a:lnTo>
                    <a:pt x="13436" y="3213"/>
                  </a:lnTo>
                  <a:lnTo>
                    <a:pt x="8077" y="444"/>
                  </a:lnTo>
                  <a:lnTo>
                    <a:pt x="6908" y="0"/>
                  </a:lnTo>
                  <a:close/>
                </a:path>
              </a:pathLst>
            </a:custGeom>
            <a:solidFill>
              <a:srgbClr val="000000"/>
            </a:solidFill>
          </p:spPr>
          <p:txBody>
            <a:bodyPr wrap="square" lIns="0" tIns="0" rIns="0" bIns="0" rtlCol="0"/>
            <a:lstStyle/>
            <a:p/>
          </p:txBody>
        </p:sp>
        <p:sp>
          <p:nvSpPr>
            <p:cNvPr id="270" name="object 270" descr=""/>
            <p:cNvSpPr/>
            <p:nvPr/>
          </p:nvSpPr>
          <p:spPr>
            <a:xfrm>
              <a:off x="6447231" y="3619766"/>
              <a:ext cx="93345" cy="50800"/>
            </a:xfrm>
            <a:custGeom>
              <a:avLst/>
              <a:gdLst/>
              <a:ahLst/>
              <a:cxnLst/>
              <a:rect l="l" t="t" r="r" b="b"/>
              <a:pathLst>
                <a:path w="93345" h="50800">
                  <a:moveTo>
                    <a:pt x="27978" y="13246"/>
                  </a:moveTo>
                  <a:lnTo>
                    <a:pt x="1028" y="0"/>
                  </a:lnTo>
                  <a:lnTo>
                    <a:pt x="0" y="4876"/>
                  </a:lnTo>
                  <a:lnTo>
                    <a:pt x="26758" y="18249"/>
                  </a:lnTo>
                  <a:lnTo>
                    <a:pt x="27978" y="13246"/>
                  </a:lnTo>
                  <a:close/>
                </a:path>
                <a:path w="93345" h="50800">
                  <a:moveTo>
                    <a:pt x="92951" y="45491"/>
                  </a:moveTo>
                  <a:lnTo>
                    <a:pt x="66001" y="32245"/>
                  </a:lnTo>
                  <a:lnTo>
                    <a:pt x="64973" y="37122"/>
                  </a:lnTo>
                  <a:lnTo>
                    <a:pt x="91732" y="50495"/>
                  </a:lnTo>
                  <a:lnTo>
                    <a:pt x="92951" y="45491"/>
                  </a:lnTo>
                  <a:close/>
                </a:path>
              </a:pathLst>
            </a:custGeom>
            <a:solidFill>
              <a:srgbClr val="BDBDBD"/>
            </a:solidFill>
          </p:spPr>
          <p:txBody>
            <a:bodyPr wrap="square" lIns="0" tIns="0" rIns="0" bIns="0" rtlCol="0"/>
            <a:lstStyle/>
            <a:p/>
          </p:txBody>
        </p:sp>
        <p:sp>
          <p:nvSpPr>
            <p:cNvPr id="271" name="object 271" descr=""/>
            <p:cNvSpPr/>
            <p:nvPr/>
          </p:nvSpPr>
          <p:spPr>
            <a:xfrm>
              <a:off x="6478436" y="3637399"/>
              <a:ext cx="30480" cy="15240"/>
            </a:xfrm>
            <a:custGeom>
              <a:avLst/>
              <a:gdLst/>
              <a:ahLst/>
              <a:cxnLst/>
              <a:rect l="l" t="t" r="r" b="b"/>
              <a:pathLst>
                <a:path w="30479" h="15239">
                  <a:moveTo>
                    <a:pt x="5359" y="0"/>
                  </a:moveTo>
                  <a:lnTo>
                    <a:pt x="3822" y="558"/>
                  </a:lnTo>
                  <a:lnTo>
                    <a:pt x="0" y="2374"/>
                  </a:lnTo>
                  <a:lnTo>
                    <a:pt x="3759" y="5105"/>
                  </a:lnTo>
                  <a:lnTo>
                    <a:pt x="20167" y="13284"/>
                  </a:lnTo>
                  <a:lnTo>
                    <a:pt x="23520" y="14681"/>
                  </a:lnTo>
                  <a:lnTo>
                    <a:pt x="25146" y="14452"/>
                  </a:lnTo>
                  <a:lnTo>
                    <a:pt x="30480" y="12585"/>
                  </a:lnTo>
                  <a:lnTo>
                    <a:pt x="25374" y="9715"/>
                  </a:lnTo>
                  <a:lnTo>
                    <a:pt x="7073" y="952"/>
                  </a:lnTo>
                  <a:lnTo>
                    <a:pt x="5359" y="0"/>
                  </a:lnTo>
                  <a:close/>
                </a:path>
              </a:pathLst>
            </a:custGeom>
            <a:solidFill>
              <a:srgbClr val="A1A1A1"/>
            </a:solidFill>
          </p:spPr>
          <p:txBody>
            <a:bodyPr wrap="square" lIns="0" tIns="0" rIns="0" bIns="0" rtlCol="0"/>
            <a:lstStyle/>
            <a:p/>
          </p:txBody>
        </p:sp>
        <p:sp>
          <p:nvSpPr>
            <p:cNvPr id="272" name="object 272" descr=""/>
            <p:cNvSpPr/>
            <p:nvPr/>
          </p:nvSpPr>
          <p:spPr>
            <a:xfrm>
              <a:off x="6437122" y="3613365"/>
              <a:ext cx="69850" cy="37465"/>
            </a:xfrm>
            <a:custGeom>
              <a:avLst/>
              <a:gdLst/>
              <a:ahLst/>
              <a:cxnLst/>
              <a:rect l="l" t="t" r="r" b="b"/>
              <a:pathLst>
                <a:path w="69850" h="37464">
                  <a:moveTo>
                    <a:pt x="7480" y="5410"/>
                  </a:moveTo>
                  <a:lnTo>
                    <a:pt x="5537" y="977"/>
                  </a:lnTo>
                  <a:lnTo>
                    <a:pt x="2578" y="0"/>
                  </a:lnTo>
                  <a:lnTo>
                    <a:pt x="1117" y="723"/>
                  </a:lnTo>
                  <a:lnTo>
                    <a:pt x="0" y="1371"/>
                  </a:lnTo>
                  <a:lnTo>
                    <a:pt x="127" y="3479"/>
                  </a:lnTo>
                  <a:lnTo>
                    <a:pt x="1104" y="5689"/>
                  </a:lnTo>
                  <a:lnTo>
                    <a:pt x="2082" y="7899"/>
                  </a:lnTo>
                  <a:lnTo>
                    <a:pt x="4648" y="8547"/>
                  </a:lnTo>
                  <a:lnTo>
                    <a:pt x="5194" y="8521"/>
                  </a:lnTo>
                  <a:lnTo>
                    <a:pt x="6654" y="7797"/>
                  </a:lnTo>
                  <a:lnTo>
                    <a:pt x="7480" y="5410"/>
                  </a:lnTo>
                  <a:close/>
                </a:path>
                <a:path w="69850" h="37464">
                  <a:moveTo>
                    <a:pt x="69354" y="35217"/>
                  </a:moveTo>
                  <a:lnTo>
                    <a:pt x="66687" y="33743"/>
                  </a:lnTo>
                  <a:lnTo>
                    <a:pt x="50355" y="25806"/>
                  </a:lnTo>
                  <a:lnTo>
                    <a:pt x="46228" y="24091"/>
                  </a:lnTo>
                  <a:lnTo>
                    <a:pt x="45135" y="24599"/>
                  </a:lnTo>
                  <a:lnTo>
                    <a:pt x="44653" y="24790"/>
                  </a:lnTo>
                  <a:lnTo>
                    <a:pt x="43916" y="25552"/>
                  </a:lnTo>
                  <a:lnTo>
                    <a:pt x="68287" y="37388"/>
                  </a:lnTo>
                  <a:lnTo>
                    <a:pt x="68821" y="36830"/>
                  </a:lnTo>
                  <a:lnTo>
                    <a:pt x="69354" y="35217"/>
                  </a:lnTo>
                  <a:close/>
                </a:path>
              </a:pathLst>
            </a:custGeom>
            <a:solidFill>
              <a:srgbClr val="1A1A1A"/>
            </a:solidFill>
          </p:spPr>
          <p:txBody>
            <a:bodyPr wrap="square" lIns="0" tIns="0" rIns="0" bIns="0" rtlCol="0"/>
            <a:lstStyle/>
            <a:p/>
          </p:txBody>
        </p:sp>
        <p:pic>
          <p:nvPicPr>
            <p:cNvPr id="273" name="object 273" descr=""/>
            <p:cNvPicPr/>
            <p:nvPr/>
          </p:nvPicPr>
          <p:blipFill>
            <a:blip r:embed="rId77" cstate="print"/>
            <a:stretch>
              <a:fillRect/>
            </a:stretch>
          </p:blipFill>
          <p:spPr>
            <a:xfrm>
              <a:off x="6599656" y="3476637"/>
              <a:ext cx="267766" cy="178638"/>
            </a:xfrm>
            <a:prstGeom prst="rect">
              <a:avLst/>
            </a:prstGeom>
          </p:spPr>
        </p:pic>
        <p:sp>
          <p:nvSpPr>
            <p:cNvPr id="274" name="object 274" descr=""/>
            <p:cNvSpPr/>
            <p:nvPr/>
          </p:nvSpPr>
          <p:spPr>
            <a:xfrm>
              <a:off x="6841114" y="3549370"/>
              <a:ext cx="4445" cy="12700"/>
            </a:xfrm>
            <a:custGeom>
              <a:avLst/>
              <a:gdLst/>
              <a:ahLst/>
              <a:cxnLst/>
              <a:rect l="l" t="t" r="r" b="b"/>
              <a:pathLst>
                <a:path w="4445" h="12700">
                  <a:moveTo>
                    <a:pt x="3924" y="0"/>
                  </a:moveTo>
                  <a:lnTo>
                    <a:pt x="0" y="1689"/>
                  </a:lnTo>
                  <a:lnTo>
                    <a:pt x="0" y="12534"/>
                  </a:lnTo>
                  <a:lnTo>
                    <a:pt x="3924" y="10833"/>
                  </a:lnTo>
                  <a:lnTo>
                    <a:pt x="3924" y="0"/>
                  </a:lnTo>
                  <a:close/>
                </a:path>
              </a:pathLst>
            </a:custGeom>
            <a:solidFill>
              <a:srgbClr val="C9C9C9"/>
            </a:solidFill>
          </p:spPr>
          <p:txBody>
            <a:bodyPr wrap="square" lIns="0" tIns="0" rIns="0" bIns="0" rtlCol="0"/>
            <a:lstStyle/>
            <a:p/>
          </p:txBody>
        </p:sp>
      </p:grpSp>
      <p:sp>
        <p:nvSpPr>
          <p:cNvPr id="275" name="object 275" descr=""/>
          <p:cNvSpPr txBox="1"/>
          <p:nvPr/>
        </p:nvSpPr>
        <p:spPr>
          <a:xfrm>
            <a:off x="6407680" y="3626608"/>
            <a:ext cx="482600" cy="162560"/>
          </a:xfrm>
          <a:prstGeom prst="rect">
            <a:avLst/>
          </a:prstGeom>
        </p:spPr>
        <p:txBody>
          <a:bodyPr wrap="square" lIns="0" tIns="12700" rIns="0" bIns="0" rtlCol="0" vert="horz">
            <a:spAutoFit/>
          </a:bodyPr>
          <a:lstStyle/>
          <a:p>
            <a:pPr marL="12700">
              <a:lnSpc>
                <a:spcPct val="100000"/>
              </a:lnSpc>
              <a:spcBef>
                <a:spcPts val="100"/>
              </a:spcBef>
            </a:pPr>
            <a:r>
              <a:rPr dirty="0" sz="900" spc="-15">
                <a:solidFill>
                  <a:srgbClr val="2C2C2C"/>
                </a:solidFill>
                <a:latin typeface="Microsoft YaHei"/>
                <a:cs typeface="Microsoft YaHei"/>
              </a:rPr>
              <a:t>司乘终端</a:t>
            </a:r>
            <a:endParaRPr sz="900">
              <a:latin typeface="Microsoft YaHei"/>
              <a:cs typeface="Microsoft YaHei"/>
            </a:endParaRPr>
          </a:p>
        </p:txBody>
      </p:sp>
      <p:sp>
        <p:nvSpPr>
          <p:cNvPr id="276" name="object 276" descr=""/>
          <p:cNvSpPr txBox="1"/>
          <p:nvPr/>
        </p:nvSpPr>
        <p:spPr>
          <a:xfrm>
            <a:off x="6350530" y="3763768"/>
            <a:ext cx="596900" cy="16256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2C2C2C"/>
                </a:solidFill>
                <a:latin typeface="Microsoft YaHei"/>
                <a:cs typeface="Microsoft YaHei"/>
              </a:rPr>
              <a:t>车内传感器</a:t>
            </a:r>
            <a:endParaRPr sz="900">
              <a:latin typeface="Microsoft YaHei"/>
              <a:cs typeface="Microsoft YaHei"/>
            </a:endParaRPr>
          </a:p>
        </p:txBody>
      </p:sp>
      <p:sp>
        <p:nvSpPr>
          <p:cNvPr id="277" name="object 277" descr=""/>
          <p:cNvSpPr txBox="1"/>
          <p:nvPr/>
        </p:nvSpPr>
        <p:spPr>
          <a:xfrm>
            <a:off x="381000" y="895350"/>
            <a:ext cx="8569960" cy="365760"/>
          </a:xfrm>
          <a:prstGeom prst="rect">
            <a:avLst/>
          </a:prstGeom>
          <a:solidFill>
            <a:srgbClr val="F1F9F9"/>
          </a:solidFill>
        </p:spPr>
        <p:txBody>
          <a:bodyPr wrap="square" lIns="0" tIns="61594" rIns="0" bIns="0" rtlCol="0" vert="horz">
            <a:spAutoFit/>
          </a:bodyPr>
          <a:lstStyle/>
          <a:p>
            <a:pPr marL="90805">
              <a:lnSpc>
                <a:spcPct val="100000"/>
              </a:lnSpc>
              <a:spcBef>
                <a:spcPts val="484"/>
              </a:spcBef>
            </a:pPr>
            <a:r>
              <a:rPr dirty="0" sz="1500" b="1">
                <a:latin typeface="Microsoft YaHei"/>
                <a:cs typeface="Microsoft YaHei"/>
              </a:rPr>
              <a:t>三网融合的</a:t>
            </a:r>
            <a:r>
              <a:rPr dirty="0" sz="1500" spc="-25" b="1">
                <a:latin typeface="Microsoft YaHei"/>
                <a:cs typeface="Microsoft YaHei"/>
              </a:rPr>
              <a:t>5G</a:t>
            </a:r>
            <a:r>
              <a:rPr dirty="0" sz="1500" spc="-5" b="1">
                <a:latin typeface="Microsoft YaHei"/>
                <a:cs typeface="Microsoft YaHei"/>
              </a:rPr>
              <a:t>智能网联解决方案，是单车智能与网联智能融合的必经路径与产业趋势。</a:t>
            </a:r>
            <a:endParaRPr sz="1500">
              <a:latin typeface="Microsoft YaHei"/>
              <a:cs typeface="Microsoft YaHei"/>
            </a:endParaRPr>
          </a:p>
        </p:txBody>
      </p:sp>
      <p:grpSp>
        <p:nvGrpSpPr>
          <p:cNvPr id="278" name="object 278" descr=""/>
          <p:cNvGrpSpPr/>
          <p:nvPr/>
        </p:nvGrpSpPr>
        <p:grpSpPr>
          <a:xfrm>
            <a:off x="1386874" y="3348969"/>
            <a:ext cx="2364740" cy="1068070"/>
            <a:chOff x="1386874" y="3348969"/>
            <a:chExt cx="2364740" cy="1068070"/>
          </a:xfrm>
        </p:grpSpPr>
        <p:pic>
          <p:nvPicPr>
            <p:cNvPr id="279" name="object 279"/>
            <p:cNvPicPr/>
            <p:nvPr/>
          </p:nvPicPr>
          <p:blipFill>
            <a:blip r:embed="rId78" cstate="print"/>
            <a:stretch>
              <a:fillRect/>
            </a:stretch>
          </p:blipFill>
          <p:spPr>
            <a:xfrm>
              <a:off x="1896148" y="4013454"/>
              <a:ext cx="702042" cy="403491"/>
            </a:xfrm>
            <a:prstGeom prst="rect">
              <a:avLst/>
            </a:prstGeom>
          </p:spPr>
        </p:pic>
        <p:pic>
          <p:nvPicPr>
            <p:cNvPr id="280" name="object 280"/>
            <p:cNvPicPr/>
            <p:nvPr/>
          </p:nvPicPr>
          <p:blipFill>
            <a:blip r:embed="rId78" cstate="print"/>
            <a:stretch>
              <a:fillRect/>
            </a:stretch>
          </p:blipFill>
          <p:spPr>
            <a:xfrm>
              <a:off x="3048970" y="4013454"/>
              <a:ext cx="702037" cy="403491"/>
            </a:xfrm>
            <a:prstGeom prst="rect">
              <a:avLst/>
            </a:prstGeom>
          </p:spPr>
        </p:pic>
        <p:pic>
          <p:nvPicPr>
            <p:cNvPr id="281" name="object 281"/>
            <p:cNvPicPr/>
            <p:nvPr/>
          </p:nvPicPr>
          <p:blipFill>
            <a:blip r:embed="rId79" cstate="print"/>
            <a:stretch>
              <a:fillRect/>
            </a:stretch>
          </p:blipFill>
          <p:spPr>
            <a:xfrm>
              <a:off x="3076917" y="3348969"/>
              <a:ext cx="217078" cy="569347"/>
            </a:xfrm>
            <a:prstGeom prst="rect">
              <a:avLst/>
            </a:prstGeom>
          </p:spPr>
        </p:pic>
        <p:pic>
          <p:nvPicPr>
            <p:cNvPr id="282" name="object 282" descr=""/>
            <p:cNvPicPr/>
            <p:nvPr/>
          </p:nvPicPr>
          <p:blipFill>
            <a:blip r:embed="rId80" cstate="print"/>
            <a:stretch>
              <a:fillRect/>
            </a:stretch>
          </p:blipFill>
          <p:spPr>
            <a:xfrm>
              <a:off x="1386874" y="3775662"/>
              <a:ext cx="681284" cy="413432"/>
            </a:xfrm>
            <a:prstGeom prst="rect">
              <a:avLst/>
            </a:prstGeom>
          </p:spPr>
        </p:pic>
        <p:sp>
          <p:nvSpPr>
            <p:cNvPr id="283" name="object 283" descr=""/>
            <p:cNvSpPr/>
            <p:nvPr/>
          </p:nvSpPr>
          <p:spPr>
            <a:xfrm>
              <a:off x="2598191" y="4230673"/>
              <a:ext cx="450850" cy="0"/>
            </a:xfrm>
            <a:custGeom>
              <a:avLst/>
              <a:gdLst/>
              <a:ahLst/>
              <a:cxnLst/>
              <a:rect l="l" t="t" r="r" b="b"/>
              <a:pathLst>
                <a:path w="450850" h="0">
                  <a:moveTo>
                    <a:pt x="0" y="0"/>
                  </a:moveTo>
                  <a:lnTo>
                    <a:pt x="450786" y="0"/>
                  </a:lnTo>
                </a:path>
              </a:pathLst>
            </a:custGeom>
            <a:ln w="50800">
              <a:solidFill>
                <a:srgbClr val="FF0000"/>
              </a:solidFill>
            </a:ln>
          </p:spPr>
          <p:txBody>
            <a:bodyPr wrap="square" lIns="0" tIns="0" rIns="0" bIns="0" rtlCol="0"/>
            <a:lstStyle/>
            <a:p/>
          </p:txBody>
        </p:sp>
        <p:sp>
          <p:nvSpPr>
            <p:cNvPr id="284" name="object 284" descr=""/>
            <p:cNvSpPr/>
            <p:nvPr/>
          </p:nvSpPr>
          <p:spPr>
            <a:xfrm>
              <a:off x="3329250" y="3754182"/>
              <a:ext cx="6985" cy="280670"/>
            </a:xfrm>
            <a:custGeom>
              <a:avLst/>
              <a:gdLst/>
              <a:ahLst/>
              <a:cxnLst/>
              <a:rect l="l" t="t" r="r" b="b"/>
              <a:pathLst>
                <a:path w="6985" h="280670">
                  <a:moveTo>
                    <a:pt x="0" y="280466"/>
                  </a:moveTo>
                  <a:lnTo>
                    <a:pt x="6388" y="0"/>
                  </a:lnTo>
                </a:path>
              </a:pathLst>
            </a:custGeom>
            <a:ln w="50799">
              <a:solidFill>
                <a:srgbClr val="FF0000"/>
              </a:solidFill>
            </a:ln>
          </p:spPr>
          <p:txBody>
            <a:bodyPr wrap="square" lIns="0" tIns="0" rIns="0" bIns="0" rtlCol="0"/>
            <a:lstStyle/>
            <a:p/>
          </p:txBody>
        </p:sp>
      </p:grpSp>
      <p:sp>
        <p:nvSpPr>
          <p:cNvPr id="285" name="object 285" descr=""/>
          <p:cNvSpPr txBox="1"/>
          <p:nvPr/>
        </p:nvSpPr>
        <p:spPr>
          <a:xfrm>
            <a:off x="2565163" y="4010337"/>
            <a:ext cx="471805"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Arial"/>
                <a:cs typeface="Arial"/>
              </a:rPr>
              <a:t>V2V</a:t>
            </a:r>
            <a:r>
              <a:rPr dirty="0" sz="900" spc="-25">
                <a:latin typeface="SimSun"/>
                <a:cs typeface="SimSun"/>
              </a:rPr>
              <a:t>直通</a:t>
            </a:r>
            <a:endParaRPr sz="900">
              <a:latin typeface="SimSun"/>
              <a:cs typeface="SimSun"/>
            </a:endParaRPr>
          </a:p>
        </p:txBody>
      </p:sp>
      <p:sp>
        <p:nvSpPr>
          <p:cNvPr id="286" name="object 286" descr=""/>
          <p:cNvSpPr txBox="1"/>
          <p:nvPr/>
        </p:nvSpPr>
        <p:spPr>
          <a:xfrm>
            <a:off x="3371861" y="3829087"/>
            <a:ext cx="427355"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Arial"/>
                <a:cs typeface="Arial"/>
              </a:rPr>
              <a:t>V2I</a:t>
            </a:r>
            <a:r>
              <a:rPr dirty="0" sz="900" spc="-25">
                <a:latin typeface="SimSun"/>
                <a:cs typeface="SimSun"/>
              </a:rPr>
              <a:t>直通</a:t>
            </a:r>
            <a:endParaRPr sz="900">
              <a:latin typeface="SimSun"/>
              <a:cs typeface="SimSun"/>
            </a:endParaRPr>
          </a:p>
        </p:txBody>
      </p:sp>
      <p:sp>
        <p:nvSpPr>
          <p:cNvPr id="287" name="object 287"/>
          <p:cNvSpPr txBox="1">
            <a:spLocks noGrp="1"/>
          </p:cNvSpPr>
          <p:nvPr>
            <p:ph type="title"/>
          </p:nvPr>
        </p:nvSpPr>
        <p:spPr>
          <a:xfrm>
            <a:off x="1818701" y="170099"/>
            <a:ext cx="5829935"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智能网联解决方案：三网融合</a:t>
            </a:r>
          </a:p>
        </p:txBody>
      </p:sp>
      <p:grpSp>
        <p:nvGrpSpPr>
          <p:cNvPr id="288" name="object 288" descr=""/>
          <p:cNvGrpSpPr/>
          <p:nvPr/>
        </p:nvGrpSpPr>
        <p:grpSpPr>
          <a:xfrm>
            <a:off x="80772" y="3647694"/>
            <a:ext cx="1045844" cy="353060"/>
            <a:chOff x="80772" y="3647694"/>
            <a:chExt cx="1045844" cy="353060"/>
          </a:xfrm>
        </p:grpSpPr>
        <p:pic>
          <p:nvPicPr>
            <p:cNvPr id="289" name="object 289" descr=""/>
            <p:cNvPicPr/>
            <p:nvPr/>
          </p:nvPicPr>
          <p:blipFill>
            <a:blip r:embed="rId81" cstate="print"/>
            <a:stretch>
              <a:fillRect/>
            </a:stretch>
          </p:blipFill>
          <p:spPr>
            <a:xfrm>
              <a:off x="99060" y="3655314"/>
              <a:ext cx="1018019" cy="345185"/>
            </a:xfrm>
            <a:prstGeom prst="rect">
              <a:avLst/>
            </a:prstGeom>
          </p:spPr>
        </p:pic>
        <p:pic>
          <p:nvPicPr>
            <p:cNvPr id="290" name="object 290" descr=""/>
            <p:cNvPicPr/>
            <p:nvPr/>
          </p:nvPicPr>
          <p:blipFill>
            <a:blip r:embed="rId82" cstate="print"/>
            <a:stretch>
              <a:fillRect/>
            </a:stretch>
          </p:blipFill>
          <p:spPr>
            <a:xfrm>
              <a:off x="80772" y="3647694"/>
              <a:ext cx="1045451" cy="311657"/>
            </a:xfrm>
            <a:prstGeom prst="rect">
              <a:avLst/>
            </a:prstGeom>
          </p:spPr>
        </p:pic>
        <p:pic>
          <p:nvPicPr>
            <p:cNvPr id="291" name="object 291" descr=""/>
            <p:cNvPicPr/>
            <p:nvPr/>
          </p:nvPicPr>
          <p:blipFill>
            <a:blip r:embed="rId83" cstate="print"/>
            <a:stretch>
              <a:fillRect/>
            </a:stretch>
          </p:blipFill>
          <p:spPr>
            <a:xfrm>
              <a:off x="145034" y="3678072"/>
              <a:ext cx="926211" cy="253860"/>
            </a:xfrm>
            <a:prstGeom prst="rect">
              <a:avLst/>
            </a:prstGeom>
          </p:spPr>
        </p:pic>
        <p:sp>
          <p:nvSpPr>
            <p:cNvPr id="292" name="object 292" descr=""/>
            <p:cNvSpPr/>
            <p:nvPr/>
          </p:nvSpPr>
          <p:spPr>
            <a:xfrm>
              <a:off x="145031" y="3678066"/>
              <a:ext cx="926465" cy="254000"/>
            </a:xfrm>
            <a:custGeom>
              <a:avLst/>
              <a:gdLst/>
              <a:ahLst/>
              <a:cxnLst/>
              <a:rect l="l" t="t" r="r" b="b"/>
              <a:pathLst>
                <a:path w="926465" h="254000">
                  <a:moveTo>
                    <a:pt x="0" y="0"/>
                  </a:moveTo>
                  <a:lnTo>
                    <a:pt x="926211" y="0"/>
                  </a:lnTo>
                  <a:lnTo>
                    <a:pt x="926211" y="253860"/>
                  </a:lnTo>
                  <a:lnTo>
                    <a:pt x="0" y="253860"/>
                  </a:lnTo>
                  <a:lnTo>
                    <a:pt x="0" y="0"/>
                  </a:lnTo>
                  <a:close/>
                </a:path>
              </a:pathLst>
            </a:custGeom>
            <a:ln w="9525">
              <a:solidFill>
                <a:srgbClr val="B6DCDF"/>
              </a:solidFill>
            </a:ln>
          </p:spPr>
          <p:txBody>
            <a:bodyPr wrap="square" lIns="0" tIns="0" rIns="0" bIns="0" rtlCol="0"/>
            <a:lstStyle/>
            <a:p/>
          </p:txBody>
        </p:sp>
      </p:grpSp>
      <p:sp>
        <p:nvSpPr>
          <p:cNvPr id="293" name="object 293" descr=""/>
          <p:cNvSpPr txBox="1"/>
          <p:nvPr/>
        </p:nvSpPr>
        <p:spPr>
          <a:xfrm>
            <a:off x="157986" y="3693555"/>
            <a:ext cx="908685" cy="208279"/>
          </a:xfrm>
          <a:prstGeom prst="rect">
            <a:avLst/>
          </a:prstGeom>
        </p:spPr>
        <p:txBody>
          <a:bodyPr wrap="square" lIns="0" tIns="12700" rIns="0" bIns="0" rtlCol="0" vert="horz">
            <a:spAutoFit/>
          </a:bodyPr>
          <a:lstStyle/>
          <a:p>
            <a:pPr marL="55244">
              <a:lnSpc>
                <a:spcPct val="100000"/>
              </a:lnSpc>
              <a:spcBef>
                <a:spcPts val="100"/>
              </a:spcBef>
            </a:pPr>
            <a:r>
              <a:rPr dirty="0" sz="1200" spc="-40" b="1">
                <a:solidFill>
                  <a:srgbClr val="FFFFFF"/>
                </a:solidFill>
                <a:latin typeface="Microsoft YaHei"/>
                <a:cs typeface="Microsoft YaHei"/>
              </a:rPr>
              <a:t>LTE-</a:t>
            </a:r>
            <a:r>
              <a:rPr dirty="0" sz="1200" spc="-10" b="1">
                <a:solidFill>
                  <a:srgbClr val="FFFFFF"/>
                </a:solidFill>
                <a:latin typeface="Microsoft YaHei"/>
                <a:cs typeface="Microsoft YaHei"/>
              </a:rPr>
              <a:t>V</a:t>
            </a:r>
            <a:r>
              <a:rPr dirty="0" sz="1200" spc="-25" b="1">
                <a:solidFill>
                  <a:srgbClr val="FFFFFF"/>
                </a:solidFill>
                <a:latin typeface="Microsoft YaHei"/>
                <a:cs typeface="Microsoft YaHei"/>
              </a:rPr>
              <a:t>专网</a:t>
            </a:r>
            <a:endParaRPr sz="1200">
              <a:latin typeface="Microsoft YaHei"/>
              <a:cs typeface="Microsoft YaHei"/>
            </a:endParaRPr>
          </a:p>
        </p:txBody>
      </p:sp>
      <p:grpSp>
        <p:nvGrpSpPr>
          <p:cNvPr id="294" name="object 294" descr=""/>
          <p:cNvGrpSpPr/>
          <p:nvPr/>
        </p:nvGrpSpPr>
        <p:grpSpPr>
          <a:xfrm>
            <a:off x="146304" y="1340370"/>
            <a:ext cx="1035685" cy="353695"/>
            <a:chOff x="146304" y="1340370"/>
            <a:chExt cx="1035685" cy="353695"/>
          </a:xfrm>
        </p:grpSpPr>
        <p:pic>
          <p:nvPicPr>
            <p:cNvPr id="295" name="object 295" descr=""/>
            <p:cNvPicPr/>
            <p:nvPr/>
          </p:nvPicPr>
          <p:blipFill>
            <a:blip r:embed="rId84" cstate="print"/>
            <a:stretch>
              <a:fillRect/>
            </a:stretch>
          </p:blipFill>
          <p:spPr>
            <a:xfrm>
              <a:off x="163830" y="1347978"/>
              <a:ext cx="1018031" cy="345947"/>
            </a:xfrm>
            <a:prstGeom prst="rect">
              <a:avLst/>
            </a:prstGeom>
          </p:spPr>
        </p:pic>
        <p:pic>
          <p:nvPicPr>
            <p:cNvPr id="296" name="object 296" descr=""/>
            <p:cNvPicPr/>
            <p:nvPr/>
          </p:nvPicPr>
          <p:blipFill>
            <a:blip r:embed="rId85" cstate="print"/>
            <a:stretch>
              <a:fillRect/>
            </a:stretch>
          </p:blipFill>
          <p:spPr>
            <a:xfrm>
              <a:off x="146304" y="1340370"/>
              <a:ext cx="992123" cy="311644"/>
            </a:xfrm>
            <a:prstGeom prst="rect">
              <a:avLst/>
            </a:prstGeom>
          </p:spPr>
        </p:pic>
        <p:pic>
          <p:nvPicPr>
            <p:cNvPr id="297" name="object 297" descr=""/>
            <p:cNvPicPr/>
            <p:nvPr/>
          </p:nvPicPr>
          <p:blipFill>
            <a:blip r:embed="rId86" cstate="print"/>
            <a:stretch>
              <a:fillRect/>
            </a:stretch>
          </p:blipFill>
          <p:spPr>
            <a:xfrm>
              <a:off x="210019" y="1371028"/>
              <a:ext cx="926211" cy="253860"/>
            </a:xfrm>
            <a:prstGeom prst="rect">
              <a:avLst/>
            </a:prstGeom>
          </p:spPr>
        </p:pic>
      </p:grpSp>
      <p:sp>
        <p:nvSpPr>
          <p:cNvPr id="298" name="object 298" descr=""/>
          <p:cNvSpPr txBox="1"/>
          <p:nvPr/>
        </p:nvSpPr>
        <p:spPr>
          <a:xfrm>
            <a:off x="210017" y="1371029"/>
            <a:ext cx="926465" cy="254000"/>
          </a:xfrm>
          <a:prstGeom prst="rect">
            <a:avLst/>
          </a:prstGeom>
          <a:ln w="9525">
            <a:solidFill>
              <a:srgbClr val="B6DCDF"/>
            </a:solidFill>
          </a:ln>
        </p:spPr>
        <p:txBody>
          <a:bodyPr wrap="square" lIns="0" tIns="27940" rIns="0" bIns="0" rtlCol="0" vert="horz">
            <a:spAutoFit/>
          </a:bodyPr>
          <a:lstStyle/>
          <a:p>
            <a:pPr marL="67945">
              <a:lnSpc>
                <a:spcPct val="100000"/>
              </a:lnSpc>
              <a:spcBef>
                <a:spcPts val="220"/>
              </a:spcBef>
            </a:pPr>
            <a:r>
              <a:rPr dirty="0" sz="1200" spc="-10" b="1">
                <a:solidFill>
                  <a:srgbClr val="FFFFFF"/>
                </a:solidFill>
                <a:latin typeface="Microsoft YaHei"/>
                <a:cs typeface="Microsoft YaHei"/>
              </a:rPr>
              <a:t>4/5G</a:t>
            </a:r>
            <a:r>
              <a:rPr dirty="0" sz="1200" spc="-25" b="1">
                <a:solidFill>
                  <a:srgbClr val="FFFFFF"/>
                </a:solidFill>
                <a:latin typeface="Microsoft YaHei"/>
                <a:cs typeface="Microsoft YaHei"/>
              </a:rPr>
              <a:t>公网</a:t>
            </a:r>
            <a:endParaRPr sz="1200">
              <a:latin typeface="Microsoft YaHei"/>
              <a:cs typeface="Microsoft YaHei"/>
            </a:endParaRPr>
          </a:p>
        </p:txBody>
      </p:sp>
      <p:grpSp>
        <p:nvGrpSpPr>
          <p:cNvPr id="299" name="object 299" descr=""/>
          <p:cNvGrpSpPr/>
          <p:nvPr/>
        </p:nvGrpSpPr>
        <p:grpSpPr>
          <a:xfrm>
            <a:off x="7838693" y="2958083"/>
            <a:ext cx="1243965" cy="353060"/>
            <a:chOff x="7838693" y="2958083"/>
            <a:chExt cx="1243965" cy="353060"/>
          </a:xfrm>
        </p:grpSpPr>
        <p:pic>
          <p:nvPicPr>
            <p:cNvPr id="300" name="object 300" descr=""/>
            <p:cNvPicPr/>
            <p:nvPr/>
          </p:nvPicPr>
          <p:blipFill>
            <a:blip r:embed="rId87" cstate="print"/>
            <a:stretch>
              <a:fillRect/>
            </a:stretch>
          </p:blipFill>
          <p:spPr>
            <a:xfrm>
              <a:off x="7856981" y="2964941"/>
              <a:ext cx="1225295" cy="345947"/>
            </a:xfrm>
            <a:prstGeom prst="rect">
              <a:avLst/>
            </a:prstGeom>
          </p:spPr>
        </p:pic>
        <p:pic>
          <p:nvPicPr>
            <p:cNvPr id="301" name="object 301" descr=""/>
            <p:cNvPicPr/>
            <p:nvPr/>
          </p:nvPicPr>
          <p:blipFill>
            <a:blip r:embed="rId88" cstate="print"/>
            <a:stretch>
              <a:fillRect/>
            </a:stretch>
          </p:blipFill>
          <p:spPr>
            <a:xfrm>
              <a:off x="7838693" y="2958083"/>
              <a:ext cx="1225295" cy="311657"/>
            </a:xfrm>
            <a:prstGeom prst="rect">
              <a:avLst/>
            </a:prstGeom>
          </p:spPr>
        </p:pic>
        <p:pic>
          <p:nvPicPr>
            <p:cNvPr id="302" name="object 302" descr=""/>
            <p:cNvPicPr/>
            <p:nvPr/>
          </p:nvPicPr>
          <p:blipFill>
            <a:blip r:embed="rId89" cstate="print"/>
            <a:stretch>
              <a:fillRect/>
            </a:stretch>
          </p:blipFill>
          <p:spPr>
            <a:xfrm>
              <a:off x="7902587" y="2988094"/>
              <a:ext cx="1133906" cy="253860"/>
            </a:xfrm>
            <a:prstGeom prst="rect">
              <a:avLst/>
            </a:prstGeom>
          </p:spPr>
        </p:pic>
      </p:grpSp>
      <p:sp>
        <p:nvSpPr>
          <p:cNvPr id="303" name="object 303" descr=""/>
          <p:cNvSpPr txBox="1"/>
          <p:nvPr/>
        </p:nvSpPr>
        <p:spPr>
          <a:xfrm>
            <a:off x="7902592" y="2988094"/>
            <a:ext cx="1134110" cy="254000"/>
          </a:xfrm>
          <a:prstGeom prst="rect">
            <a:avLst/>
          </a:prstGeom>
          <a:ln w="9525">
            <a:solidFill>
              <a:srgbClr val="B6DCDF"/>
            </a:solidFill>
          </a:ln>
        </p:spPr>
        <p:txBody>
          <a:bodyPr wrap="square" lIns="0" tIns="27940" rIns="0" bIns="0" rtlCol="0" vert="horz">
            <a:spAutoFit/>
          </a:bodyPr>
          <a:lstStyle/>
          <a:p>
            <a:pPr marL="67945">
              <a:lnSpc>
                <a:spcPct val="100000"/>
              </a:lnSpc>
              <a:spcBef>
                <a:spcPts val="220"/>
              </a:spcBef>
            </a:pPr>
            <a:r>
              <a:rPr dirty="0" sz="1200" spc="-10" b="1">
                <a:solidFill>
                  <a:srgbClr val="FFFFFF"/>
                </a:solidFill>
                <a:latin typeface="Microsoft YaHei"/>
                <a:cs typeface="Microsoft YaHei"/>
              </a:rPr>
              <a:t>单车智能网联</a:t>
            </a:r>
            <a:endParaRPr sz="1200">
              <a:latin typeface="Microsoft YaHei"/>
              <a:cs typeface="Microsoft YaHe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34925" y="2798527"/>
            <a:ext cx="8994775" cy="452755"/>
            <a:chOff x="34925" y="2798527"/>
            <a:chExt cx="8994775" cy="452755"/>
          </a:xfrm>
        </p:grpSpPr>
        <p:sp>
          <p:nvSpPr>
            <p:cNvPr id="3" name="object 3" descr=""/>
            <p:cNvSpPr/>
            <p:nvPr/>
          </p:nvSpPr>
          <p:spPr>
            <a:xfrm>
              <a:off x="34925" y="2996896"/>
              <a:ext cx="8994775" cy="154305"/>
            </a:xfrm>
            <a:custGeom>
              <a:avLst/>
              <a:gdLst/>
              <a:ahLst/>
              <a:cxnLst/>
              <a:rect l="l" t="t" r="r" b="b"/>
              <a:pathLst>
                <a:path w="8994775" h="154305">
                  <a:moveTo>
                    <a:pt x="8862745" y="0"/>
                  </a:moveTo>
                  <a:lnTo>
                    <a:pt x="127761" y="0"/>
                  </a:lnTo>
                  <a:lnTo>
                    <a:pt x="77254" y="6613"/>
                  </a:lnTo>
                  <a:lnTo>
                    <a:pt x="36729" y="24050"/>
                  </a:lnTo>
                  <a:lnTo>
                    <a:pt x="9781" y="48702"/>
                  </a:lnTo>
                  <a:lnTo>
                    <a:pt x="0" y="76962"/>
                  </a:lnTo>
                  <a:lnTo>
                    <a:pt x="9781" y="107541"/>
                  </a:lnTo>
                  <a:lnTo>
                    <a:pt x="36729" y="131935"/>
                  </a:lnTo>
                  <a:lnTo>
                    <a:pt x="77254" y="148083"/>
                  </a:lnTo>
                  <a:lnTo>
                    <a:pt x="127761" y="153924"/>
                  </a:lnTo>
                  <a:lnTo>
                    <a:pt x="8862745" y="153924"/>
                  </a:lnTo>
                  <a:lnTo>
                    <a:pt x="8913920" y="148083"/>
                  </a:lnTo>
                  <a:lnTo>
                    <a:pt x="8955911" y="131935"/>
                  </a:lnTo>
                  <a:lnTo>
                    <a:pt x="8984327" y="107541"/>
                  </a:lnTo>
                  <a:lnTo>
                    <a:pt x="8994775" y="76962"/>
                  </a:lnTo>
                  <a:lnTo>
                    <a:pt x="8984327" y="48702"/>
                  </a:lnTo>
                  <a:lnTo>
                    <a:pt x="8955911" y="24050"/>
                  </a:lnTo>
                  <a:lnTo>
                    <a:pt x="8913920" y="6613"/>
                  </a:lnTo>
                  <a:lnTo>
                    <a:pt x="8862745" y="0"/>
                  </a:lnTo>
                  <a:close/>
                </a:path>
              </a:pathLst>
            </a:custGeom>
            <a:solidFill>
              <a:srgbClr val="000000"/>
            </a:solidFill>
          </p:spPr>
          <p:txBody>
            <a:bodyPr wrap="square" lIns="0" tIns="0" rIns="0" bIns="0" rtlCol="0"/>
            <a:lstStyle/>
            <a:p/>
          </p:txBody>
        </p:sp>
        <p:sp>
          <p:nvSpPr>
            <p:cNvPr id="4" name="object 4" descr=""/>
            <p:cNvSpPr/>
            <p:nvPr/>
          </p:nvSpPr>
          <p:spPr>
            <a:xfrm>
              <a:off x="513502" y="2798527"/>
              <a:ext cx="333375" cy="452755"/>
            </a:xfrm>
            <a:custGeom>
              <a:avLst/>
              <a:gdLst/>
              <a:ahLst/>
              <a:cxnLst/>
              <a:rect l="l" t="t" r="r" b="b"/>
              <a:pathLst>
                <a:path w="333375" h="452754">
                  <a:moveTo>
                    <a:pt x="166687" y="0"/>
                  </a:moveTo>
                  <a:lnTo>
                    <a:pt x="128466" y="5972"/>
                  </a:lnTo>
                  <a:lnTo>
                    <a:pt x="93381" y="22984"/>
                  </a:lnTo>
                  <a:lnTo>
                    <a:pt x="62431" y="49679"/>
                  </a:lnTo>
                  <a:lnTo>
                    <a:pt x="36618" y="84699"/>
                  </a:lnTo>
                  <a:lnTo>
                    <a:pt x="16941" y="126687"/>
                  </a:lnTo>
                  <a:lnTo>
                    <a:pt x="4402" y="174285"/>
                  </a:lnTo>
                  <a:lnTo>
                    <a:pt x="0" y="226136"/>
                  </a:lnTo>
                  <a:lnTo>
                    <a:pt x="4402" y="277987"/>
                  </a:lnTo>
                  <a:lnTo>
                    <a:pt x="16941" y="325585"/>
                  </a:lnTo>
                  <a:lnTo>
                    <a:pt x="36618" y="367572"/>
                  </a:lnTo>
                  <a:lnTo>
                    <a:pt x="62431" y="402592"/>
                  </a:lnTo>
                  <a:lnTo>
                    <a:pt x="93381" y="429287"/>
                  </a:lnTo>
                  <a:lnTo>
                    <a:pt x="128466" y="446299"/>
                  </a:lnTo>
                  <a:lnTo>
                    <a:pt x="166687" y="452272"/>
                  </a:lnTo>
                  <a:lnTo>
                    <a:pt x="204908" y="446299"/>
                  </a:lnTo>
                  <a:lnTo>
                    <a:pt x="239993" y="429287"/>
                  </a:lnTo>
                  <a:lnTo>
                    <a:pt x="270943" y="402592"/>
                  </a:lnTo>
                  <a:lnTo>
                    <a:pt x="296756" y="367572"/>
                  </a:lnTo>
                  <a:lnTo>
                    <a:pt x="316433" y="325585"/>
                  </a:lnTo>
                  <a:lnTo>
                    <a:pt x="328972" y="277987"/>
                  </a:lnTo>
                  <a:lnTo>
                    <a:pt x="333375" y="226136"/>
                  </a:lnTo>
                  <a:lnTo>
                    <a:pt x="328972" y="174285"/>
                  </a:lnTo>
                  <a:lnTo>
                    <a:pt x="316433" y="126687"/>
                  </a:lnTo>
                  <a:lnTo>
                    <a:pt x="296756" y="84699"/>
                  </a:lnTo>
                  <a:lnTo>
                    <a:pt x="270943" y="49679"/>
                  </a:lnTo>
                  <a:lnTo>
                    <a:pt x="239993" y="22984"/>
                  </a:lnTo>
                  <a:lnTo>
                    <a:pt x="204908" y="5972"/>
                  </a:lnTo>
                  <a:lnTo>
                    <a:pt x="166687" y="0"/>
                  </a:lnTo>
                  <a:close/>
                </a:path>
              </a:pathLst>
            </a:custGeom>
            <a:solidFill>
              <a:srgbClr val="242424"/>
            </a:solidFill>
          </p:spPr>
          <p:txBody>
            <a:bodyPr wrap="square" lIns="0" tIns="0" rIns="0" bIns="0" rtlCol="0"/>
            <a:lstStyle/>
            <a:p/>
          </p:txBody>
        </p:sp>
        <p:sp>
          <p:nvSpPr>
            <p:cNvPr id="5" name="object 5" descr=""/>
            <p:cNvSpPr/>
            <p:nvPr/>
          </p:nvSpPr>
          <p:spPr>
            <a:xfrm>
              <a:off x="561127" y="2866765"/>
              <a:ext cx="236854" cy="319405"/>
            </a:xfrm>
            <a:custGeom>
              <a:avLst/>
              <a:gdLst/>
              <a:ahLst/>
              <a:cxnLst/>
              <a:rect l="l" t="t" r="r" b="b"/>
              <a:pathLst>
                <a:path w="236854" h="319405">
                  <a:moveTo>
                    <a:pt x="118275" y="0"/>
                  </a:moveTo>
                  <a:lnTo>
                    <a:pt x="80888" y="8130"/>
                  </a:lnTo>
                  <a:lnTo>
                    <a:pt x="48420" y="30770"/>
                  </a:lnTo>
                  <a:lnTo>
                    <a:pt x="22818" y="65293"/>
                  </a:lnTo>
                  <a:lnTo>
                    <a:pt x="6029" y="109074"/>
                  </a:lnTo>
                  <a:lnTo>
                    <a:pt x="0" y="159486"/>
                  </a:lnTo>
                  <a:lnTo>
                    <a:pt x="6029" y="209898"/>
                  </a:lnTo>
                  <a:lnTo>
                    <a:pt x="22818" y="253679"/>
                  </a:lnTo>
                  <a:lnTo>
                    <a:pt x="48420" y="288203"/>
                  </a:lnTo>
                  <a:lnTo>
                    <a:pt x="80888" y="310842"/>
                  </a:lnTo>
                  <a:lnTo>
                    <a:pt x="118275" y="318973"/>
                  </a:lnTo>
                  <a:lnTo>
                    <a:pt x="155655" y="310842"/>
                  </a:lnTo>
                  <a:lnTo>
                    <a:pt x="188120" y="288203"/>
                  </a:lnTo>
                  <a:lnTo>
                    <a:pt x="213720" y="253679"/>
                  </a:lnTo>
                  <a:lnTo>
                    <a:pt x="230508" y="209898"/>
                  </a:lnTo>
                  <a:lnTo>
                    <a:pt x="236537" y="159486"/>
                  </a:lnTo>
                  <a:lnTo>
                    <a:pt x="230508" y="109074"/>
                  </a:lnTo>
                  <a:lnTo>
                    <a:pt x="213720" y="65293"/>
                  </a:lnTo>
                  <a:lnTo>
                    <a:pt x="188120" y="30770"/>
                  </a:lnTo>
                  <a:lnTo>
                    <a:pt x="155655" y="8130"/>
                  </a:lnTo>
                  <a:lnTo>
                    <a:pt x="118275" y="0"/>
                  </a:lnTo>
                  <a:close/>
                </a:path>
              </a:pathLst>
            </a:custGeom>
            <a:solidFill>
              <a:srgbClr val="E4F3F4"/>
            </a:solidFill>
          </p:spPr>
          <p:txBody>
            <a:bodyPr wrap="square" lIns="0" tIns="0" rIns="0" bIns="0" rtlCol="0"/>
            <a:lstStyle/>
            <a:p/>
          </p:txBody>
        </p:sp>
        <p:sp>
          <p:nvSpPr>
            <p:cNvPr id="6" name="object 6" descr=""/>
            <p:cNvSpPr/>
            <p:nvPr/>
          </p:nvSpPr>
          <p:spPr>
            <a:xfrm>
              <a:off x="2022773" y="2798527"/>
              <a:ext cx="336550" cy="452755"/>
            </a:xfrm>
            <a:custGeom>
              <a:avLst/>
              <a:gdLst/>
              <a:ahLst/>
              <a:cxnLst/>
              <a:rect l="l" t="t" r="r" b="b"/>
              <a:pathLst>
                <a:path w="336550" h="452754">
                  <a:moveTo>
                    <a:pt x="168275" y="0"/>
                  </a:moveTo>
                  <a:lnTo>
                    <a:pt x="129690" y="5972"/>
                  </a:lnTo>
                  <a:lnTo>
                    <a:pt x="94270" y="22984"/>
                  </a:lnTo>
                  <a:lnTo>
                    <a:pt x="63026" y="49679"/>
                  </a:lnTo>
                  <a:lnTo>
                    <a:pt x="36967" y="84699"/>
                  </a:lnTo>
                  <a:lnTo>
                    <a:pt x="17103" y="126687"/>
                  </a:lnTo>
                  <a:lnTo>
                    <a:pt x="4444" y="174285"/>
                  </a:lnTo>
                  <a:lnTo>
                    <a:pt x="0" y="226136"/>
                  </a:lnTo>
                  <a:lnTo>
                    <a:pt x="4444" y="277987"/>
                  </a:lnTo>
                  <a:lnTo>
                    <a:pt x="17103" y="325585"/>
                  </a:lnTo>
                  <a:lnTo>
                    <a:pt x="36967" y="367572"/>
                  </a:lnTo>
                  <a:lnTo>
                    <a:pt x="63026" y="402592"/>
                  </a:lnTo>
                  <a:lnTo>
                    <a:pt x="94270" y="429287"/>
                  </a:lnTo>
                  <a:lnTo>
                    <a:pt x="129690" y="446299"/>
                  </a:lnTo>
                  <a:lnTo>
                    <a:pt x="168275" y="452272"/>
                  </a:lnTo>
                  <a:lnTo>
                    <a:pt x="206859" y="446299"/>
                  </a:lnTo>
                  <a:lnTo>
                    <a:pt x="242279" y="429287"/>
                  </a:lnTo>
                  <a:lnTo>
                    <a:pt x="273523" y="402592"/>
                  </a:lnTo>
                  <a:lnTo>
                    <a:pt x="299582" y="367572"/>
                  </a:lnTo>
                  <a:lnTo>
                    <a:pt x="319446" y="325585"/>
                  </a:lnTo>
                  <a:lnTo>
                    <a:pt x="332105" y="277987"/>
                  </a:lnTo>
                  <a:lnTo>
                    <a:pt x="336550" y="226136"/>
                  </a:lnTo>
                  <a:lnTo>
                    <a:pt x="332105" y="174285"/>
                  </a:lnTo>
                  <a:lnTo>
                    <a:pt x="319446" y="126687"/>
                  </a:lnTo>
                  <a:lnTo>
                    <a:pt x="299582" y="84699"/>
                  </a:lnTo>
                  <a:lnTo>
                    <a:pt x="273523" y="49679"/>
                  </a:lnTo>
                  <a:lnTo>
                    <a:pt x="242279" y="22984"/>
                  </a:lnTo>
                  <a:lnTo>
                    <a:pt x="206859" y="5972"/>
                  </a:lnTo>
                  <a:lnTo>
                    <a:pt x="168275" y="0"/>
                  </a:lnTo>
                  <a:close/>
                </a:path>
              </a:pathLst>
            </a:custGeom>
            <a:solidFill>
              <a:srgbClr val="242424"/>
            </a:solidFill>
          </p:spPr>
          <p:txBody>
            <a:bodyPr wrap="square" lIns="0" tIns="0" rIns="0" bIns="0" rtlCol="0"/>
            <a:lstStyle/>
            <a:p/>
          </p:txBody>
        </p:sp>
        <p:sp>
          <p:nvSpPr>
            <p:cNvPr id="7" name="object 7" descr=""/>
            <p:cNvSpPr/>
            <p:nvPr/>
          </p:nvSpPr>
          <p:spPr>
            <a:xfrm>
              <a:off x="2070398" y="2866765"/>
              <a:ext cx="240029" cy="319405"/>
            </a:xfrm>
            <a:custGeom>
              <a:avLst/>
              <a:gdLst/>
              <a:ahLst/>
              <a:cxnLst/>
              <a:rect l="l" t="t" r="r" b="b"/>
              <a:pathLst>
                <a:path w="240030" h="319405">
                  <a:moveTo>
                    <a:pt x="119862" y="0"/>
                  </a:moveTo>
                  <a:lnTo>
                    <a:pt x="81974" y="8130"/>
                  </a:lnTo>
                  <a:lnTo>
                    <a:pt x="49070" y="30770"/>
                  </a:lnTo>
                  <a:lnTo>
                    <a:pt x="23124" y="65293"/>
                  </a:lnTo>
                  <a:lnTo>
                    <a:pt x="6110" y="109074"/>
                  </a:lnTo>
                  <a:lnTo>
                    <a:pt x="0" y="159486"/>
                  </a:lnTo>
                  <a:lnTo>
                    <a:pt x="6110" y="209898"/>
                  </a:lnTo>
                  <a:lnTo>
                    <a:pt x="23124" y="253679"/>
                  </a:lnTo>
                  <a:lnTo>
                    <a:pt x="49070" y="288203"/>
                  </a:lnTo>
                  <a:lnTo>
                    <a:pt x="81974" y="310842"/>
                  </a:lnTo>
                  <a:lnTo>
                    <a:pt x="119862" y="318973"/>
                  </a:lnTo>
                  <a:lnTo>
                    <a:pt x="157744" y="310842"/>
                  </a:lnTo>
                  <a:lnTo>
                    <a:pt x="190644" y="288203"/>
                  </a:lnTo>
                  <a:lnTo>
                    <a:pt x="216588" y="253679"/>
                  </a:lnTo>
                  <a:lnTo>
                    <a:pt x="233602" y="209898"/>
                  </a:lnTo>
                  <a:lnTo>
                    <a:pt x="239712" y="159486"/>
                  </a:lnTo>
                  <a:lnTo>
                    <a:pt x="233602" y="109074"/>
                  </a:lnTo>
                  <a:lnTo>
                    <a:pt x="216588" y="65293"/>
                  </a:lnTo>
                  <a:lnTo>
                    <a:pt x="190644" y="30770"/>
                  </a:lnTo>
                  <a:lnTo>
                    <a:pt x="157744" y="8130"/>
                  </a:lnTo>
                  <a:lnTo>
                    <a:pt x="119862" y="0"/>
                  </a:lnTo>
                  <a:close/>
                </a:path>
              </a:pathLst>
            </a:custGeom>
            <a:solidFill>
              <a:srgbClr val="E4F3F4"/>
            </a:solidFill>
          </p:spPr>
          <p:txBody>
            <a:bodyPr wrap="square" lIns="0" tIns="0" rIns="0" bIns="0" rtlCol="0"/>
            <a:lstStyle/>
            <a:p/>
          </p:txBody>
        </p:sp>
        <p:sp>
          <p:nvSpPr>
            <p:cNvPr id="8" name="object 8" descr=""/>
            <p:cNvSpPr/>
            <p:nvPr/>
          </p:nvSpPr>
          <p:spPr>
            <a:xfrm>
              <a:off x="3706938" y="2798527"/>
              <a:ext cx="335280" cy="452755"/>
            </a:xfrm>
            <a:custGeom>
              <a:avLst/>
              <a:gdLst/>
              <a:ahLst/>
              <a:cxnLst/>
              <a:rect l="l" t="t" r="r" b="b"/>
              <a:pathLst>
                <a:path w="335279" h="452754">
                  <a:moveTo>
                    <a:pt x="167474" y="0"/>
                  </a:moveTo>
                  <a:lnTo>
                    <a:pt x="129074" y="5972"/>
                  </a:lnTo>
                  <a:lnTo>
                    <a:pt x="93823" y="22984"/>
                  </a:lnTo>
                  <a:lnTo>
                    <a:pt x="62727" y="49679"/>
                  </a:lnTo>
                  <a:lnTo>
                    <a:pt x="36792" y="84699"/>
                  </a:lnTo>
                  <a:lnTo>
                    <a:pt x="17022" y="126687"/>
                  </a:lnTo>
                  <a:lnTo>
                    <a:pt x="4423" y="174285"/>
                  </a:lnTo>
                  <a:lnTo>
                    <a:pt x="0" y="226136"/>
                  </a:lnTo>
                  <a:lnTo>
                    <a:pt x="4423" y="277987"/>
                  </a:lnTo>
                  <a:lnTo>
                    <a:pt x="17022" y="325585"/>
                  </a:lnTo>
                  <a:lnTo>
                    <a:pt x="36792" y="367572"/>
                  </a:lnTo>
                  <a:lnTo>
                    <a:pt x="62727" y="402592"/>
                  </a:lnTo>
                  <a:lnTo>
                    <a:pt x="93823" y="429287"/>
                  </a:lnTo>
                  <a:lnTo>
                    <a:pt x="129074" y="446299"/>
                  </a:lnTo>
                  <a:lnTo>
                    <a:pt x="167487" y="452272"/>
                  </a:lnTo>
                  <a:lnTo>
                    <a:pt x="205888" y="446299"/>
                  </a:lnTo>
                  <a:lnTo>
                    <a:pt x="241138" y="429287"/>
                  </a:lnTo>
                  <a:lnTo>
                    <a:pt x="272234" y="402592"/>
                  </a:lnTo>
                  <a:lnTo>
                    <a:pt x="298170" y="367572"/>
                  </a:lnTo>
                  <a:lnTo>
                    <a:pt x="317940" y="325585"/>
                  </a:lnTo>
                  <a:lnTo>
                    <a:pt x="330539" y="277987"/>
                  </a:lnTo>
                  <a:lnTo>
                    <a:pt x="334962" y="226136"/>
                  </a:lnTo>
                  <a:lnTo>
                    <a:pt x="330539" y="174285"/>
                  </a:lnTo>
                  <a:lnTo>
                    <a:pt x="317940" y="126687"/>
                  </a:lnTo>
                  <a:lnTo>
                    <a:pt x="298170" y="84699"/>
                  </a:lnTo>
                  <a:lnTo>
                    <a:pt x="272234" y="49679"/>
                  </a:lnTo>
                  <a:lnTo>
                    <a:pt x="241138" y="22984"/>
                  </a:lnTo>
                  <a:lnTo>
                    <a:pt x="205888" y="5972"/>
                  </a:lnTo>
                  <a:lnTo>
                    <a:pt x="167474" y="0"/>
                  </a:lnTo>
                  <a:close/>
                </a:path>
              </a:pathLst>
            </a:custGeom>
            <a:solidFill>
              <a:srgbClr val="242424"/>
            </a:solidFill>
          </p:spPr>
          <p:txBody>
            <a:bodyPr wrap="square" lIns="0" tIns="0" rIns="0" bIns="0" rtlCol="0"/>
            <a:lstStyle/>
            <a:p/>
          </p:txBody>
        </p:sp>
        <p:sp>
          <p:nvSpPr>
            <p:cNvPr id="9" name="object 9" descr=""/>
            <p:cNvSpPr/>
            <p:nvPr/>
          </p:nvSpPr>
          <p:spPr>
            <a:xfrm>
              <a:off x="3754563" y="2866765"/>
              <a:ext cx="238125" cy="319405"/>
            </a:xfrm>
            <a:custGeom>
              <a:avLst/>
              <a:gdLst/>
              <a:ahLst/>
              <a:cxnLst/>
              <a:rect l="l" t="t" r="r" b="b"/>
              <a:pathLst>
                <a:path w="238125" h="319405">
                  <a:moveTo>
                    <a:pt x="119062" y="0"/>
                  </a:moveTo>
                  <a:lnTo>
                    <a:pt x="81427" y="8130"/>
                  </a:lnTo>
                  <a:lnTo>
                    <a:pt x="48743" y="30770"/>
                  </a:lnTo>
                  <a:lnTo>
                    <a:pt x="22970" y="65293"/>
                  </a:lnTo>
                  <a:lnTo>
                    <a:pt x="6069" y="109074"/>
                  </a:lnTo>
                  <a:lnTo>
                    <a:pt x="0" y="159486"/>
                  </a:lnTo>
                  <a:lnTo>
                    <a:pt x="6069" y="209898"/>
                  </a:lnTo>
                  <a:lnTo>
                    <a:pt x="22970" y="253679"/>
                  </a:lnTo>
                  <a:lnTo>
                    <a:pt x="48743" y="288203"/>
                  </a:lnTo>
                  <a:lnTo>
                    <a:pt x="81427" y="310842"/>
                  </a:lnTo>
                  <a:lnTo>
                    <a:pt x="119062" y="318973"/>
                  </a:lnTo>
                  <a:lnTo>
                    <a:pt x="156697" y="310842"/>
                  </a:lnTo>
                  <a:lnTo>
                    <a:pt x="189381" y="288203"/>
                  </a:lnTo>
                  <a:lnTo>
                    <a:pt x="215154" y="253679"/>
                  </a:lnTo>
                  <a:lnTo>
                    <a:pt x="232055" y="209898"/>
                  </a:lnTo>
                  <a:lnTo>
                    <a:pt x="238125" y="159486"/>
                  </a:lnTo>
                  <a:lnTo>
                    <a:pt x="232055" y="109074"/>
                  </a:lnTo>
                  <a:lnTo>
                    <a:pt x="215154" y="65293"/>
                  </a:lnTo>
                  <a:lnTo>
                    <a:pt x="189381" y="30770"/>
                  </a:lnTo>
                  <a:lnTo>
                    <a:pt x="156697" y="8130"/>
                  </a:lnTo>
                  <a:lnTo>
                    <a:pt x="119062" y="0"/>
                  </a:lnTo>
                  <a:close/>
                </a:path>
              </a:pathLst>
            </a:custGeom>
            <a:solidFill>
              <a:srgbClr val="E4F3F4"/>
            </a:solidFill>
          </p:spPr>
          <p:txBody>
            <a:bodyPr wrap="square" lIns="0" tIns="0" rIns="0" bIns="0" rtlCol="0"/>
            <a:lstStyle/>
            <a:p/>
          </p:txBody>
        </p:sp>
        <p:sp>
          <p:nvSpPr>
            <p:cNvPr id="10" name="object 10" descr=""/>
            <p:cNvSpPr/>
            <p:nvPr/>
          </p:nvSpPr>
          <p:spPr>
            <a:xfrm>
              <a:off x="5458941" y="2798527"/>
              <a:ext cx="333375" cy="452755"/>
            </a:xfrm>
            <a:custGeom>
              <a:avLst/>
              <a:gdLst/>
              <a:ahLst/>
              <a:cxnLst/>
              <a:rect l="l" t="t" r="r" b="b"/>
              <a:pathLst>
                <a:path w="333375" h="452754">
                  <a:moveTo>
                    <a:pt x="166687" y="0"/>
                  </a:moveTo>
                  <a:lnTo>
                    <a:pt x="128466" y="5972"/>
                  </a:lnTo>
                  <a:lnTo>
                    <a:pt x="93381" y="22984"/>
                  </a:lnTo>
                  <a:lnTo>
                    <a:pt x="62431" y="49679"/>
                  </a:lnTo>
                  <a:lnTo>
                    <a:pt x="36618" y="84699"/>
                  </a:lnTo>
                  <a:lnTo>
                    <a:pt x="16941" y="126687"/>
                  </a:lnTo>
                  <a:lnTo>
                    <a:pt x="4402" y="174285"/>
                  </a:lnTo>
                  <a:lnTo>
                    <a:pt x="0" y="226136"/>
                  </a:lnTo>
                  <a:lnTo>
                    <a:pt x="4402" y="277987"/>
                  </a:lnTo>
                  <a:lnTo>
                    <a:pt x="16941" y="325585"/>
                  </a:lnTo>
                  <a:lnTo>
                    <a:pt x="36618" y="367572"/>
                  </a:lnTo>
                  <a:lnTo>
                    <a:pt x="62431" y="402592"/>
                  </a:lnTo>
                  <a:lnTo>
                    <a:pt x="93381" y="429287"/>
                  </a:lnTo>
                  <a:lnTo>
                    <a:pt x="128466" y="446299"/>
                  </a:lnTo>
                  <a:lnTo>
                    <a:pt x="166687" y="452272"/>
                  </a:lnTo>
                  <a:lnTo>
                    <a:pt x="204908" y="446299"/>
                  </a:lnTo>
                  <a:lnTo>
                    <a:pt x="239993" y="429287"/>
                  </a:lnTo>
                  <a:lnTo>
                    <a:pt x="270943" y="402592"/>
                  </a:lnTo>
                  <a:lnTo>
                    <a:pt x="296756" y="367572"/>
                  </a:lnTo>
                  <a:lnTo>
                    <a:pt x="316433" y="325585"/>
                  </a:lnTo>
                  <a:lnTo>
                    <a:pt x="328972" y="277987"/>
                  </a:lnTo>
                  <a:lnTo>
                    <a:pt x="333375" y="226136"/>
                  </a:lnTo>
                  <a:lnTo>
                    <a:pt x="328972" y="174285"/>
                  </a:lnTo>
                  <a:lnTo>
                    <a:pt x="316433" y="126687"/>
                  </a:lnTo>
                  <a:lnTo>
                    <a:pt x="296756" y="84699"/>
                  </a:lnTo>
                  <a:lnTo>
                    <a:pt x="270943" y="49679"/>
                  </a:lnTo>
                  <a:lnTo>
                    <a:pt x="239993" y="22984"/>
                  </a:lnTo>
                  <a:lnTo>
                    <a:pt x="204908" y="5972"/>
                  </a:lnTo>
                  <a:lnTo>
                    <a:pt x="166687" y="0"/>
                  </a:lnTo>
                  <a:close/>
                </a:path>
              </a:pathLst>
            </a:custGeom>
            <a:solidFill>
              <a:srgbClr val="242424"/>
            </a:solidFill>
          </p:spPr>
          <p:txBody>
            <a:bodyPr wrap="square" lIns="0" tIns="0" rIns="0" bIns="0" rtlCol="0"/>
            <a:lstStyle/>
            <a:p/>
          </p:txBody>
        </p:sp>
        <p:sp>
          <p:nvSpPr>
            <p:cNvPr id="11" name="object 11" descr=""/>
            <p:cNvSpPr/>
            <p:nvPr/>
          </p:nvSpPr>
          <p:spPr>
            <a:xfrm>
              <a:off x="5506566" y="2866765"/>
              <a:ext cx="236854" cy="319405"/>
            </a:xfrm>
            <a:custGeom>
              <a:avLst/>
              <a:gdLst/>
              <a:ahLst/>
              <a:cxnLst/>
              <a:rect l="l" t="t" r="r" b="b"/>
              <a:pathLst>
                <a:path w="236854" h="319405">
                  <a:moveTo>
                    <a:pt x="118275" y="0"/>
                  </a:moveTo>
                  <a:lnTo>
                    <a:pt x="80888" y="8130"/>
                  </a:lnTo>
                  <a:lnTo>
                    <a:pt x="48420" y="30770"/>
                  </a:lnTo>
                  <a:lnTo>
                    <a:pt x="22818" y="65293"/>
                  </a:lnTo>
                  <a:lnTo>
                    <a:pt x="6029" y="109074"/>
                  </a:lnTo>
                  <a:lnTo>
                    <a:pt x="0" y="159486"/>
                  </a:lnTo>
                  <a:lnTo>
                    <a:pt x="6029" y="209898"/>
                  </a:lnTo>
                  <a:lnTo>
                    <a:pt x="22818" y="253679"/>
                  </a:lnTo>
                  <a:lnTo>
                    <a:pt x="48420" y="288203"/>
                  </a:lnTo>
                  <a:lnTo>
                    <a:pt x="80888" y="310842"/>
                  </a:lnTo>
                  <a:lnTo>
                    <a:pt x="118275" y="318973"/>
                  </a:lnTo>
                  <a:lnTo>
                    <a:pt x="155655" y="310842"/>
                  </a:lnTo>
                  <a:lnTo>
                    <a:pt x="188120" y="288203"/>
                  </a:lnTo>
                  <a:lnTo>
                    <a:pt x="213720" y="253679"/>
                  </a:lnTo>
                  <a:lnTo>
                    <a:pt x="230508" y="209898"/>
                  </a:lnTo>
                  <a:lnTo>
                    <a:pt x="236537" y="159486"/>
                  </a:lnTo>
                  <a:lnTo>
                    <a:pt x="230508" y="109074"/>
                  </a:lnTo>
                  <a:lnTo>
                    <a:pt x="213720" y="65293"/>
                  </a:lnTo>
                  <a:lnTo>
                    <a:pt x="188120" y="30770"/>
                  </a:lnTo>
                  <a:lnTo>
                    <a:pt x="155655" y="8130"/>
                  </a:lnTo>
                  <a:lnTo>
                    <a:pt x="118275" y="0"/>
                  </a:lnTo>
                  <a:close/>
                </a:path>
              </a:pathLst>
            </a:custGeom>
            <a:solidFill>
              <a:srgbClr val="E4F3F4"/>
            </a:solidFill>
          </p:spPr>
          <p:txBody>
            <a:bodyPr wrap="square" lIns="0" tIns="0" rIns="0" bIns="0" rtlCol="0"/>
            <a:lstStyle/>
            <a:p/>
          </p:txBody>
        </p:sp>
      </p:grpSp>
      <p:sp>
        <p:nvSpPr>
          <p:cNvPr id="12" name="object 12" descr=""/>
          <p:cNvSpPr txBox="1"/>
          <p:nvPr/>
        </p:nvSpPr>
        <p:spPr>
          <a:xfrm>
            <a:off x="394981" y="3221182"/>
            <a:ext cx="476250" cy="269875"/>
          </a:xfrm>
          <a:prstGeom prst="rect">
            <a:avLst/>
          </a:prstGeom>
        </p:spPr>
        <p:txBody>
          <a:bodyPr wrap="square" lIns="0" tIns="12700" rIns="0" bIns="0" rtlCol="0" vert="horz">
            <a:spAutoFit/>
          </a:bodyPr>
          <a:lstStyle/>
          <a:p>
            <a:pPr marL="12700">
              <a:lnSpc>
                <a:spcPct val="100000"/>
              </a:lnSpc>
              <a:spcBef>
                <a:spcPts val="100"/>
              </a:spcBef>
            </a:pPr>
            <a:r>
              <a:rPr dirty="0" sz="1600" spc="-20" b="1">
                <a:latin typeface="Arial"/>
                <a:cs typeface="Arial"/>
              </a:rPr>
              <a:t>2012</a:t>
            </a:r>
            <a:endParaRPr sz="1600">
              <a:latin typeface="Arial"/>
              <a:cs typeface="Arial"/>
            </a:endParaRPr>
          </a:p>
        </p:txBody>
      </p:sp>
      <p:sp>
        <p:nvSpPr>
          <p:cNvPr id="13" name="object 13" descr=""/>
          <p:cNvSpPr txBox="1"/>
          <p:nvPr/>
        </p:nvSpPr>
        <p:spPr>
          <a:xfrm>
            <a:off x="3575781" y="3246614"/>
            <a:ext cx="476250" cy="269875"/>
          </a:xfrm>
          <a:prstGeom prst="rect">
            <a:avLst/>
          </a:prstGeom>
        </p:spPr>
        <p:txBody>
          <a:bodyPr wrap="square" lIns="0" tIns="12700" rIns="0" bIns="0" rtlCol="0" vert="horz">
            <a:spAutoFit/>
          </a:bodyPr>
          <a:lstStyle/>
          <a:p>
            <a:pPr marL="12700">
              <a:lnSpc>
                <a:spcPct val="100000"/>
              </a:lnSpc>
              <a:spcBef>
                <a:spcPts val="100"/>
              </a:spcBef>
            </a:pPr>
            <a:r>
              <a:rPr dirty="0" sz="1600" spc="-20" b="1">
                <a:latin typeface="Arial"/>
                <a:cs typeface="Arial"/>
              </a:rPr>
              <a:t>2015</a:t>
            </a:r>
            <a:endParaRPr sz="1600">
              <a:latin typeface="Arial"/>
              <a:cs typeface="Arial"/>
            </a:endParaRPr>
          </a:p>
        </p:txBody>
      </p:sp>
      <p:sp>
        <p:nvSpPr>
          <p:cNvPr id="14" name="object 14" descr=""/>
          <p:cNvSpPr txBox="1"/>
          <p:nvPr/>
        </p:nvSpPr>
        <p:spPr>
          <a:xfrm>
            <a:off x="1923531" y="3206737"/>
            <a:ext cx="476250" cy="269875"/>
          </a:xfrm>
          <a:prstGeom prst="rect">
            <a:avLst/>
          </a:prstGeom>
        </p:spPr>
        <p:txBody>
          <a:bodyPr wrap="square" lIns="0" tIns="12700" rIns="0" bIns="0" rtlCol="0" vert="horz">
            <a:spAutoFit/>
          </a:bodyPr>
          <a:lstStyle/>
          <a:p>
            <a:pPr marL="12700">
              <a:lnSpc>
                <a:spcPct val="100000"/>
              </a:lnSpc>
              <a:spcBef>
                <a:spcPts val="100"/>
              </a:spcBef>
            </a:pPr>
            <a:r>
              <a:rPr dirty="0" sz="1600" spc="-20" b="1">
                <a:latin typeface="Arial"/>
                <a:cs typeface="Arial"/>
              </a:rPr>
              <a:t>2014</a:t>
            </a:r>
            <a:endParaRPr sz="1600">
              <a:latin typeface="Arial"/>
              <a:cs typeface="Arial"/>
            </a:endParaRPr>
          </a:p>
        </p:txBody>
      </p:sp>
      <p:sp>
        <p:nvSpPr>
          <p:cNvPr id="15" name="object 15" descr=""/>
          <p:cNvSpPr txBox="1"/>
          <p:nvPr/>
        </p:nvSpPr>
        <p:spPr>
          <a:xfrm>
            <a:off x="25074" y="2063772"/>
            <a:ext cx="1446530" cy="665480"/>
          </a:xfrm>
          <a:prstGeom prst="rect">
            <a:avLst/>
          </a:prstGeom>
        </p:spPr>
        <p:txBody>
          <a:bodyPr wrap="square" lIns="0" tIns="12065" rIns="0" bIns="0" rtlCol="0" vert="horz">
            <a:spAutoFit/>
          </a:bodyPr>
          <a:lstStyle/>
          <a:p>
            <a:pPr algn="just" marL="12700" marR="5080" indent="-635">
              <a:lnSpc>
                <a:spcPct val="100000"/>
              </a:lnSpc>
              <a:spcBef>
                <a:spcPts val="95"/>
              </a:spcBef>
            </a:pPr>
            <a:r>
              <a:rPr dirty="0" sz="1400" spc="-35">
                <a:latin typeface="Arial MT"/>
                <a:cs typeface="Arial MT"/>
              </a:rPr>
              <a:t>LTE-</a:t>
            </a:r>
            <a:r>
              <a:rPr dirty="0" sz="1400" spc="-20">
                <a:latin typeface="Arial MT"/>
                <a:cs typeface="Arial MT"/>
              </a:rPr>
              <a:t>V2X</a:t>
            </a:r>
            <a:r>
              <a:rPr dirty="0" sz="1400" spc="-30">
                <a:latin typeface="SimSun"/>
                <a:cs typeface="SimSun"/>
              </a:rPr>
              <a:t>是中国企</a:t>
            </a:r>
            <a:r>
              <a:rPr dirty="0" sz="1400" spc="-25">
                <a:latin typeface="SimSun"/>
                <a:cs typeface="SimSun"/>
              </a:rPr>
              <a:t>业具有自主知识产</a:t>
            </a:r>
            <a:r>
              <a:rPr dirty="0" sz="1400" spc="-20">
                <a:latin typeface="SimSun"/>
                <a:cs typeface="SimSun"/>
              </a:rPr>
              <a:t>权的</a:t>
            </a:r>
            <a:r>
              <a:rPr dirty="0" sz="1400" spc="-20">
                <a:latin typeface="Arial MT"/>
                <a:cs typeface="Arial MT"/>
              </a:rPr>
              <a:t>V2X</a:t>
            </a:r>
            <a:r>
              <a:rPr dirty="0" sz="1400" spc="-35">
                <a:latin typeface="SimSun"/>
                <a:cs typeface="SimSun"/>
              </a:rPr>
              <a:t>技术</a:t>
            </a:r>
            <a:endParaRPr sz="1400">
              <a:latin typeface="SimSun"/>
              <a:cs typeface="SimSun"/>
            </a:endParaRPr>
          </a:p>
        </p:txBody>
      </p:sp>
      <p:grpSp>
        <p:nvGrpSpPr>
          <p:cNvPr id="16" name="object 16" descr=""/>
          <p:cNvGrpSpPr/>
          <p:nvPr/>
        </p:nvGrpSpPr>
        <p:grpSpPr>
          <a:xfrm>
            <a:off x="1724992" y="1700949"/>
            <a:ext cx="920750" cy="1046480"/>
            <a:chOff x="1724992" y="1700949"/>
            <a:chExt cx="920750" cy="1046480"/>
          </a:xfrm>
        </p:grpSpPr>
        <p:pic>
          <p:nvPicPr>
            <p:cNvPr id="17" name="object 17"/>
            <p:cNvPicPr/>
            <p:nvPr/>
          </p:nvPicPr>
          <p:blipFill>
            <a:blip r:embed="rId2" cstate="print"/>
            <a:stretch>
              <a:fillRect/>
            </a:stretch>
          </p:blipFill>
          <p:spPr>
            <a:xfrm>
              <a:off x="1773415" y="1700949"/>
              <a:ext cx="823908" cy="523681"/>
            </a:xfrm>
            <a:prstGeom prst="rect">
              <a:avLst/>
            </a:prstGeom>
          </p:spPr>
        </p:pic>
        <p:pic>
          <p:nvPicPr>
            <p:cNvPr id="18" name="object 18"/>
            <p:cNvPicPr/>
            <p:nvPr/>
          </p:nvPicPr>
          <p:blipFill>
            <a:blip r:embed="rId3" cstate="print"/>
            <a:stretch>
              <a:fillRect/>
            </a:stretch>
          </p:blipFill>
          <p:spPr>
            <a:xfrm>
              <a:off x="1724992" y="2247557"/>
              <a:ext cx="920747" cy="499872"/>
            </a:xfrm>
            <a:prstGeom prst="rect">
              <a:avLst/>
            </a:prstGeom>
          </p:spPr>
        </p:pic>
      </p:grpSp>
      <p:grpSp>
        <p:nvGrpSpPr>
          <p:cNvPr id="19" name="object 19" descr=""/>
          <p:cNvGrpSpPr/>
          <p:nvPr/>
        </p:nvGrpSpPr>
        <p:grpSpPr>
          <a:xfrm>
            <a:off x="121157" y="3805422"/>
            <a:ext cx="1161415" cy="1338580"/>
            <a:chOff x="121157" y="3805422"/>
            <a:chExt cx="1161415" cy="1338580"/>
          </a:xfrm>
        </p:grpSpPr>
        <p:pic>
          <p:nvPicPr>
            <p:cNvPr id="20" name="object 20"/>
            <p:cNvPicPr/>
            <p:nvPr/>
          </p:nvPicPr>
          <p:blipFill>
            <a:blip r:embed="rId4" cstate="print"/>
            <a:stretch>
              <a:fillRect/>
            </a:stretch>
          </p:blipFill>
          <p:spPr>
            <a:xfrm>
              <a:off x="121157" y="4804409"/>
              <a:ext cx="1161287" cy="339090"/>
            </a:xfrm>
            <a:prstGeom prst="rect">
              <a:avLst/>
            </a:prstGeom>
          </p:spPr>
        </p:pic>
        <p:pic>
          <p:nvPicPr>
            <p:cNvPr id="21" name="object 21" descr=""/>
            <p:cNvPicPr/>
            <p:nvPr/>
          </p:nvPicPr>
          <p:blipFill>
            <a:blip r:embed="rId5" cstate="print"/>
            <a:stretch>
              <a:fillRect/>
            </a:stretch>
          </p:blipFill>
          <p:spPr>
            <a:xfrm>
              <a:off x="134797" y="3805422"/>
              <a:ext cx="1134046" cy="1007630"/>
            </a:xfrm>
            <a:prstGeom prst="rect">
              <a:avLst/>
            </a:prstGeom>
          </p:spPr>
        </p:pic>
      </p:grpSp>
      <p:pic>
        <p:nvPicPr>
          <p:cNvPr id="22" name="object 22"/>
          <p:cNvPicPr/>
          <p:nvPr/>
        </p:nvPicPr>
        <p:blipFill>
          <a:blip r:embed="rId6" cstate="print"/>
          <a:stretch>
            <a:fillRect/>
          </a:stretch>
        </p:blipFill>
        <p:spPr>
          <a:xfrm>
            <a:off x="3177604" y="3769724"/>
            <a:ext cx="1322387" cy="1023566"/>
          </a:xfrm>
          <a:prstGeom prst="rect">
            <a:avLst/>
          </a:prstGeom>
        </p:spPr>
      </p:pic>
      <p:grpSp>
        <p:nvGrpSpPr>
          <p:cNvPr id="23" name="object 23" descr=""/>
          <p:cNvGrpSpPr/>
          <p:nvPr/>
        </p:nvGrpSpPr>
        <p:grpSpPr>
          <a:xfrm>
            <a:off x="5163593" y="1134407"/>
            <a:ext cx="2128520" cy="2112010"/>
            <a:chOff x="5163593" y="1134407"/>
            <a:chExt cx="2128520" cy="2112010"/>
          </a:xfrm>
        </p:grpSpPr>
        <p:pic>
          <p:nvPicPr>
            <p:cNvPr id="24" name="object 24"/>
            <p:cNvPicPr/>
            <p:nvPr/>
          </p:nvPicPr>
          <p:blipFill>
            <a:blip r:embed="rId7" cstate="print"/>
            <a:stretch>
              <a:fillRect/>
            </a:stretch>
          </p:blipFill>
          <p:spPr>
            <a:xfrm>
              <a:off x="5163593" y="1134407"/>
              <a:ext cx="877885" cy="1009276"/>
            </a:xfrm>
            <a:prstGeom prst="rect">
              <a:avLst/>
            </a:prstGeom>
          </p:spPr>
        </p:pic>
        <p:pic>
          <p:nvPicPr>
            <p:cNvPr id="25" name="object 25"/>
            <p:cNvPicPr/>
            <p:nvPr/>
          </p:nvPicPr>
          <p:blipFill>
            <a:blip r:embed="rId8" cstate="print"/>
            <a:stretch>
              <a:fillRect/>
            </a:stretch>
          </p:blipFill>
          <p:spPr>
            <a:xfrm>
              <a:off x="5199384" y="2142519"/>
              <a:ext cx="795332" cy="645878"/>
            </a:xfrm>
            <a:prstGeom prst="rect">
              <a:avLst/>
            </a:prstGeom>
          </p:spPr>
        </p:pic>
        <p:pic>
          <p:nvPicPr>
            <p:cNvPr id="26" name="object 26"/>
            <p:cNvPicPr/>
            <p:nvPr/>
          </p:nvPicPr>
          <p:blipFill>
            <a:blip r:embed="rId9" cstate="print"/>
            <a:stretch>
              <a:fillRect/>
            </a:stretch>
          </p:blipFill>
          <p:spPr>
            <a:xfrm>
              <a:off x="5279567" y="2257426"/>
              <a:ext cx="645946" cy="446860"/>
            </a:xfrm>
            <a:prstGeom prst="rect">
              <a:avLst/>
            </a:prstGeom>
          </p:spPr>
        </p:pic>
        <p:sp>
          <p:nvSpPr>
            <p:cNvPr id="27" name="object 27" descr=""/>
            <p:cNvSpPr/>
            <p:nvPr/>
          </p:nvSpPr>
          <p:spPr>
            <a:xfrm>
              <a:off x="5274805" y="2252662"/>
              <a:ext cx="655955" cy="456565"/>
            </a:xfrm>
            <a:custGeom>
              <a:avLst/>
              <a:gdLst/>
              <a:ahLst/>
              <a:cxnLst/>
              <a:rect l="l" t="t" r="r" b="b"/>
              <a:pathLst>
                <a:path w="655954" h="456564">
                  <a:moveTo>
                    <a:pt x="0" y="0"/>
                  </a:moveTo>
                  <a:lnTo>
                    <a:pt x="655472" y="0"/>
                  </a:lnTo>
                  <a:lnTo>
                    <a:pt x="655472" y="456387"/>
                  </a:lnTo>
                  <a:lnTo>
                    <a:pt x="0" y="456387"/>
                  </a:lnTo>
                  <a:lnTo>
                    <a:pt x="0" y="0"/>
                  </a:lnTo>
                  <a:close/>
                </a:path>
              </a:pathLst>
            </a:custGeom>
            <a:ln w="9525">
              <a:solidFill>
                <a:srgbClr val="000000"/>
              </a:solidFill>
            </a:ln>
          </p:spPr>
          <p:txBody>
            <a:bodyPr wrap="square" lIns="0" tIns="0" rIns="0" bIns="0" rtlCol="0"/>
            <a:lstStyle/>
            <a:p/>
          </p:txBody>
        </p:sp>
        <p:sp>
          <p:nvSpPr>
            <p:cNvPr id="28" name="object 28" descr=""/>
            <p:cNvSpPr/>
            <p:nvPr/>
          </p:nvSpPr>
          <p:spPr>
            <a:xfrm>
              <a:off x="6957005" y="2796941"/>
              <a:ext cx="335280" cy="449580"/>
            </a:xfrm>
            <a:custGeom>
              <a:avLst/>
              <a:gdLst/>
              <a:ahLst/>
              <a:cxnLst/>
              <a:rect l="l" t="t" r="r" b="b"/>
              <a:pathLst>
                <a:path w="335279" h="449580">
                  <a:moveTo>
                    <a:pt x="167487" y="0"/>
                  </a:moveTo>
                  <a:lnTo>
                    <a:pt x="129082" y="5930"/>
                  </a:lnTo>
                  <a:lnTo>
                    <a:pt x="93828" y="22823"/>
                  </a:lnTo>
                  <a:lnTo>
                    <a:pt x="62730" y="49330"/>
                  </a:lnTo>
                  <a:lnTo>
                    <a:pt x="36793" y="84104"/>
                  </a:lnTo>
                  <a:lnTo>
                    <a:pt x="17022" y="125797"/>
                  </a:lnTo>
                  <a:lnTo>
                    <a:pt x="4423" y="173061"/>
                  </a:lnTo>
                  <a:lnTo>
                    <a:pt x="0" y="224548"/>
                  </a:lnTo>
                  <a:lnTo>
                    <a:pt x="4423" y="276035"/>
                  </a:lnTo>
                  <a:lnTo>
                    <a:pt x="17022" y="323299"/>
                  </a:lnTo>
                  <a:lnTo>
                    <a:pt x="36793" y="364992"/>
                  </a:lnTo>
                  <a:lnTo>
                    <a:pt x="62730" y="399766"/>
                  </a:lnTo>
                  <a:lnTo>
                    <a:pt x="93828" y="426274"/>
                  </a:lnTo>
                  <a:lnTo>
                    <a:pt x="129082" y="443166"/>
                  </a:lnTo>
                  <a:lnTo>
                    <a:pt x="167487" y="449097"/>
                  </a:lnTo>
                  <a:lnTo>
                    <a:pt x="205888" y="443166"/>
                  </a:lnTo>
                  <a:lnTo>
                    <a:pt x="241138" y="426274"/>
                  </a:lnTo>
                  <a:lnTo>
                    <a:pt x="272234" y="399766"/>
                  </a:lnTo>
                  <a:lnTo>
                    <a:pt x="298170" y="364992"/>
                  </a:lnTo>
                  <a:lnTo>
                    <a:pt x="317940" y="323299"/>
                  </a:lnTo>
                  <a:lnTo>
                    <a:pt x="330539" y="276035"/>
                  </a:lnTo>
                  <a:lnTo>
                    <a:pt x="334962" y="224548"/>
                  </a:lnTo>
                  <a:lnTo>
                    <a:pt x="330539" y="173061"/>
                  </a:lnTo>
                  <a:lnTo>
                    <a:pt x="317940" y="125797"/>
                  </a:lnTo>
                  <a:lnTo>
                    <a:pt x="298170" y="84104"/>
                  </a:lnTo>
                  <a:lnTo>
                    <a:pt x="272234" y="49330"/>
                  </a:lnTo>
                  <a:lnTo>
                    <a:pt x="241138" y="22823"/>
                  </a:lnTo>
                  <a:lnTo>
                    <a:pt x="205888" y="5930"/>
                  </a:lnTo>
                  <a:lnTo>
                    <a:pt x="167487" y="0"/>
                  </a:lnTo>
                  <a:close/>
                </a:path>
              </a:pathLst>
            </a:custGeom>
            <a:solidFill>
              <a:srgbClr val="242424"/>
            </a:solidFill>
          </p:spPr>
          <p:txBody>
            <a:bodyPr wrap="square" lIns="0" tIns="0" rIns="0" bIns="0" rtlCol="0"/>
            <a:lstStyle/>
            <a:p/>
          </p:txBody>
        </p:sp>
        <p:sp>
          <p:nvSpPr>
            <p:cNvPr id="29" name="object 29" descr=""/>
            <p:cNvSpPr/>
            <p:nvPr/>
          </p:nvSpPr>
          <p:spPr>
            <a:xfrm>
              <a:off x="7004630" y="2865178"/>
              <a:ext cx="238125" cy="316230"/>
            </a:xfrm>
            <a:custGeom>
              <a:avLst/>
              <a:gdLst/>
              <a:ahLst/>
              <a:cxnLst/>
              <a:rect l="l" t="t" r="r" b="b"/>
              <a:pathLst>
                <a:path w="238125" h="316230">
                  <a:moveTo>
                    <a:pt x="119062" y="0"/>
                  </a:moveTo>
                  <a:lnTo>
                    <a:pt x="81427" y="8049"/>
                  </a:lnTo>
                  <a:lnTo>
                    <a:pt x="48743" y="30463"/>
                  </a:lnTo>
                  <a:lnTo>
                    <a:pt x="22970" y="64643"/>
                  </a:lnTo>
                  <a:lnTo>
                    <a:pt x="6069" y="107988"/>
                  </a:lnTo>
                  <a:lnTo>
                    <a:pt x="0" y="157899"/>
                  </a:lnTo>
                  <a:lnTo>
                    <a:pt x="6069" y="207809"/>
                  </a:lnTo>
                  <a:lnTo>
                    <a:pt x="22970" y="251154"/>
                  </a:lnTo>
                  <a:lnTo>
                    <a:pt x="48743" y="285334"/>
                  </a:lnTo>
                  <a:lnTo>
                    <a:pt x="81427" y="307748"/>
                  </a:lnTo>
                  <a:lnTo>
                    <a:pt x="119062" y="315798"/>
                  </a:lnTo>
                  <a:lnTo>
                    <a:pt x="156697" y="307748"/>
                  </a:lnTo>
                  <a:lnTo>
                    <a:pt x="189381" y="285334"/>
                  </a:lnTo>
                  <a:lnTo>
                    <a:pt x="215154" y="251154"/>
                  </a:lnTo>
                  <a:lnTo>
                    <a:pt x="232055" y="207809"/>
                  </a:lnTo>
                  <a:lnTo>
                    <a:pt x="238125" y="157899"/>
                  </a:lnTo>
                  <a:lnTo>
                    <a:pt x="232055" y="107988"/>
                  </a:lnTo>
                  <a:lnTo>
                    <a:pt x="215154" y="64643"/>
                  </a:lnTo>
                  <a:lnTo>
                    <a:pt x="189381" y="30463"/>
                  </a:lnTo>
                  <a:lnTo>
                    <a:pt x="156697" y="8049"/>
                  </a:lnTo>
                  <a:lnTo>
                    <a:pt x="119062" y="0"/>
                  </a:lnTo>
                  <a:close/>
                </a:path>
              </a:pathLst>
            </a:custGeom>
            <a:solidFill>
              <a:srgbClr val="E4F3F4"/>
            </a:solidFill>
          </p:spPr>
          <p:txBody>
            <a:bodyPr wrap="square" lIns="0" tIns="0" rIns="0" bIns="0" rtlCol="0"/>
            <a:lstStyle/>
            <a:p/>
          </p:txBody>
        </p:sp>
      </p:grpSp>
      <p:sp>
        <p:nvSpPr>
          <p:cNvPr id="30" name="object 30" descr=""/>
          <p:cNvSpPr txBox="1"/>
          <p:nvPr/>
        </p:nvSpPr>
        <p:spPr>
          <a:xfrm>
            <a:off x="6836896" y="3241812"/>
            <a:ext cx="476250" cy="269875"/>
          </a:xfrm>
          <a:prstGeom prst="rect">
            <a:avLst/>
          </a:prstGeom>
        </p:spPr>
        <p:txBody>
          <a:bodyPr wrap="square" lIns="0" tIns="12700" rIns="0" bIns="0" rtlCol="0" vert="horz">
            <a:spAutoFit/>
          </a:bodyPr>
          <a:lstStyle/>
          <a:p>
            <a:pPr marL="12700">
              <a:lnSpc>
                <a:spcPct val="100000"/>
              </a:lnSpc>
              <a:spcBef>
                <a:spcPts val="100"/>
              </a:spcBef>
            </a:pPr>
            <a:r>
              <a:rPr dirty="0" sz="1600" spc="-20" b="1">
                <a:latin typeface="Arial"/>
                <a:cs typeface="Arial"/>
              </a:rPr>
              <a:t>2017</a:t>
            </a:r>
            <a:endParaRPr sz="1600">
              <a:latin typeface="Arial"/>
              <a:cs typeface="Arial"/>
            </a:endParaRPr>
          </a:p>
        </p:txBody>
      </p:sp>
      <p:sp>
        <p:nvSpPr>
          <p:cNvPr id="31" name="object 31" descr=""/>
          <p:cNvSpPr txBox="1"/>
          <p:nvPr/>
        </p:nvSpPr>
        <p:spPr>
          <a:xfrm>
            <a:off x="-325" y="1530388"/>
            <a:ext cx="2605405" cy="238760"/>
          </a:xfrm>
          <a:prstGeom prst="rect">
            <a:avLst/>
          </a:prstGeom>
        </p:spPr>
        <p:txBody>
          <a:bodyPr wrap="square" lIns="0" tIns="12065" rIns="0" bIns="0" rtlCol="0" vert="horz">
            <a:spAutoFit/>
          </a:bodyPr>
          <a:lstStyle/>
          <a:p>
            <a:pPr marL="38100">
              <a:lnSpc>
                <a:spcPct val="100000"/>
              </a:lnSpc>
              <a:spcBef>
                <a:spcPts val="95"/>
              </a:spcBef>
            </a:pPr>
            <a:r>
              <a:rPr dirty="0" sz="1400" spc="-10" b="1">
                <a:latin typeface="Arial"/>
                <a:cs typeface="Arial"/>
              </a:rPr>
              <a:t>LTE-</a:t>
            </a:r>
            <a:r>
              <a:rPr dirty="0" sz="1400" spc="-20" b="1">
                <a:latin typeface="Arial"/>
                <a:cs typeface="Arial"/>
              </a:rPr>
              <a:t>V</a:t>
            </a:r>
            <a:r>
              <a:rPr dirty="0" sz="1400" spc="35" b="1">
                <a:latin typeface="Microsoft JhengHei UI"/>
                <a:cs typeface="Microsoft JhengHei UI"/>
              </a:rPr>
              <a:t>概念的提出者 </a:t>
            </a:r>
            <a:r>
              <a:rPr dirty="0" baseline="27777" sz="2100" spc="-15" b="1">
                <a:solidFill>
                  <a:srgbClr val="137EEC"/>
                </a:solidFill>
                <a:latin typeface="Arial"/>
                <a:cs typeface="Arial"/>
              </a:rPr>
              <a:t>LTE-</a:t>
            </a:r>
            <a:r>
              <a:rPr dirty="0" baseline="27777" sz="2100" spc="-30" b="1">
                <a:solidFill>
                  <a:srgbClr val="137EEC"/>
                </a:solidFill>
                <a:latin typeface="Arial"/>
                <a:cs typeface="Arial"/>
              </a:rPr>
              <a:t>V</a:t>
            </a:r>
            <a:r>
              <a:rPr dirty="0" baseline="27777" sz="2100" spc="-44" b="1">
                <a:solidFill>
                  <a:srgbClr val="137EEC"/>
                </a:solidFill>
                <a:latin typeface="Microsoft JhengHei UI"/>
                <a:cs typeface="Microsoft JhengHei UI"/>
              </a:rPr>
              <a:t>样机</a:t>
            </a:r>
            <a:endParaRPr baseline="27777" sz="2100">
              <a:latin typeface="Microsoft JhengHei UI"/>
              <a:cs typeface="Microsoft JhengHei UI"/>
            </a:endParaRPr>
          </a:p>
        </p:txBody>
      </p:sp>
      <p:grpSp>
        <p:nvGrpSpPr>
          <p:cNvPr id="32" name="object 32" descr=""/>
          <p:cNvGrpSpPr/>
          <p:nvPr/>
        </p:nvGrpSpPr>
        <p:grpSpPr>
          <a:xfrm>
            <a:off x="6765797" y="3565397"/>
            <a:ext cx="828040" cy="1104265"/>
            <a:chOff x="6765797" y="3565397"/>
            <a:chExt cx="828040" cy="1104265"/>
          </a:xfrm>
        </p:grpSpPr>
        <p:pic>
          <p:nvPicPr>
            <p:cNvPr id="33" name="object 33"/>
            <p:cNvPicPr/>
            <p:nvPr/>
          </p:nvPicPr>
          <p:blipFill>
            <a:blip r:embed="rId10" cstate="print"/>
            <a:stretch>
              <a:fillRect/>
            </a:stretch>
          </p:blipFill>
          <p:spPr>
            <a:xfrm>
              <a:off x="6765797" y="3565397"/>
              <a:ext cx="827531" cy="1104137"/>
            </a:xfrm>
            <a:prstGeom prst="rect">
              <a:avLst/>
            </a:prstGeom>
          </p:spPr>
        </p:pic>
        <p:pic>
          <p:nvPicPr>
            <p:cNvPr id="34" name="object 34"/>
            <p:cNvPicPr/>
            <p:nvPr/>
          </p:nvPicPr>
          <p:blipFill>
            <a:blip r:embed="rId11" cstate="print"/>
            <a:stretch>
              <a:fillRect/>
            </a:stretch>
          </p:blipFill>
          <p:spPr>
            <a:xfrm>
              <a:off x="6790487" y="3590404"/>
              <a:ext cx="732230" cy="1009877"/>
            </a:xfrm>
            <a:prstGeom prst="rect">
              <a:avLst/>
            </a:prstGeom>
          </p:spPr>
        </p:pic>
      </p:grpSp>
      <p:sp>
        <p:nvSpPr>
          <p:cNvPr id="35" name="object 35" descr=""/>
          <p:cNvSpPr txBox="1"/>
          <p:nvPr/>
        </p:nvSpPr>
        <p:spPr>
          <a:xfrm>
            <a:off x="1410336" y="3778596"/>
            <a:ext cx="1535430" cy="1092200"/>
          </a:xfrm>
          <a:prstGeom prst="rect">
            <a:avLst/>
          </a:prstGeom>
        </p:spPr>
        <p:txBody>
          <a:bodyPr wrap="square" lIns="0" tIns="12065" rIns="0" bIns="0" rtlCol="0" vert="horz">
            <a:spAutoFit/>
          </a:bodyPr>
          <a:lstStyle/>
          <a:p>
            <a:pPr marL="100330" marR="5080" indent="-88265">
              <a:lnSpc>
                <a:spcPct val="100000"/>
              </a:lnSpc>
              <a:spcBef>
                <a:spcPts val="95"/>
              </a:spcBef>
              <a:buFont typeface="Arial MT"/>
              <a:buChar char="•"/>
              <a:tabLst>
                <a:tab pos="101600" algn="l"/>
              </a:tabLst>
            </a:pPr>
            <a:r>
              <a:rPr dirty="0" sz="1400" spc="-20">
                <a:latin typeface="SimSun"/>
                <a:cs typeface="SimSun"/>
              </a:rPr>
              <a:t>推动</a:t>
            </a:r>
            <a:r>
              <a:rPr dirty="0" sz="1400" spc="-35">
                <a:latin typeface="Arial MT"/>
                <a:cs typeface="Arial MT"/>
              </a:rPr>
              <a:t>LTE-</a:t>
            </a:r>
            <a:r>
              <a:rPr dirty="0" sz="1400" spc="-20">
                <a:latin typeface="Arial MT"/>
                <a:cs typeface="Arial MT"/>
              </a:rPr>
              <a:t>V</a:t>
            </a:r>
            <a:r>
              <a:rPr dirty="0" sz="1400" spc="-35">
                <a:latin typeface="SimSun"/>
                <a:cs typeface="SimSun"/>
              </a:rPr>
              <a:t>技术在</a:t>
            </a:r>
            <a:r>
              <a:rPr dirty="0" sz="1400" spc="-35">
                <a:latin typeface="SimSun"/>
                <a:cs typeface="SimSun"/>
              </a:rPr>
              <a:t>	</a:t>
            </a:r>
            <a:r>
              <a:rPr dirty="0" sz="1400" spc="-25">
                <a:latin typeface="SimSun"/>
                <a:cs typeface="SimSun"/>
              </a:rPr>
              <a:t>国际标准组织立项</a:t>
            </a:r>
            <a:endParaRPr sz="1400">
              <a:latin typeface="SimSun"/>
              <a:cs typeface="SimSun"/>
            </a:endParaRPr>
          </a:p>
          <a:p>
            <a:pPr marL="100330" indent="-88265">
              <a:lnSpc>
                <a:spcPts val="1660"/>
              </a:lnSpc>
              <a:buFont typeface="Arial MT"/>
              <a:buChar char="•"/>
              <a:tabLst>
                <a:tab pos="100330" algn="l"/>
                <a:tab pos="101600" algn="l"/>
              </a:tabLst>
            </a:pPr>
            <a:r>
              <a:rPr dirty="0" sz="1400" spc="-25">
                <a:latin typeface="SimSun"/>
                <a:cs typeface="SimSun"/>
              </a:rPr>
              <a:t>推动国内标准和联</a:t>
            </a:r>
            <a:endParaRPr sz="1400">
              <a:latin typeface="SimSun"/>
              <a:cs typeface="SimSun"/>
            </a:endParaRPr>
          </a:p>
          <a:p>
            <a:pPr marL="101600" marR="46990" indent="-635">
              <a:lnSpc>
                <a:spcPct val="100000"/>
              </a:lnSpc>
              <a:spcBef>
                <a:spcPts val="20"/>
              </a:spcBef>
            </a:pPr>
            <a:r>
              <a:rPr dirty="0" sz="1400" spc="-20">
                <a:latin typeface="SimSun"/>
                <a:cs typeface="SimSun"/>
              </a:rPr>
              <a:t>盟组织进行</a:t>
            </a:r>
            <a:r>
              <a:rPr dirty="0" sz="1400" spc="-35">
                <a:latin typeface="Arial MT"/>
                <a:cs typeface="Arial MT"/>
              </a:rPr>
              <a:t>LTE-</a:t>
            </a:r>
            <a:r>
              <a:rPr dirty="0" sz="1400" spc="-50">
                <a:latin typeface="Arial MT"/>
                <a:cs typeface="Arial MT"/>
              </a:rPr>
              <a:t>V</a:t>
            </a:r>
            <a:r>
              <a:rPr dirty="0" sz="1400" spc="-35">
                <a:latin typeface="SimSun"/>
                <a:cs typeface="SimSun"/>
              </a:rPr>
              <a:t>研究</a:t>
            </a:r>
            <a:endParaRPr sz="1400">
              <a:latin typeface="SimSun"/>
              <a:cs typeface="SimSun"/>
            </a:endParaRPr>
          </a:p>
        </p:txBody>
      </p:sp>
      <p:sp>
        <p:nvSpPr>
          <p:cNvPr id="36" name="object 36" descr=""/>
          <p:cNvSpPr txBox="1"/>
          <p:nvPr/>
        </p:nvSpPr>
        <p:spPr>
          <a:xfrm>
            <a:off x="6299467" y="1299990"/>
            <a:ext cx="1538605" cy="1092200"/>
          </a:xfrm>
          <a:prstGeom prst="rect">
            <a:avLst/>
          </a:prstGeom>
        </p:spPr>
        <p:txBody>
          <a:bodyPr wrap="square" lIns="0" tIns="12065" rIns="0" bIns="0" rtlCol="0" vert="horz">
            <a:spAutoFit/>
          </a:bodyPr>
          <a:lstStyle/>
          <a:p>
            <a:pPr marL="100330" marR="33655" indent="-88265">
              <a:lnSpc>
                <a:spcPct val="100000"/>
              </a:lnSpc>
              <a:spcBef>
                <a:spcPts val="95"/>
              </a:spcBef>
              <a:buFont typeface="Arial MT"/>
              <a:buChar char="•"/>
              <a:tabLst>
                <a:tab pos="101600" algn="l"/>
              </a:tabLst>
            </a:pPr>
            <a:r>
              <a:rPr dirty="0" sz="1400" spc="-10" b="1">
                <a:solidFill>
                  <a:srgbClr val="137EEC"/>
                </a:solidFill>
                <a:latin typeface="Microsoft JhengHei UI"/>
                <a:cs typeface="Microsoft JhengHei UI"/>
              </a:rPr>
              <a:t>推出支持</a:t>
            </a:r>
            <a:r>
              <a:rPr dirty="0" sz="1400" spc="-10" b="1">
                <a:solidFill>
                  <a:srgbClr val="137EEC"/>
                </a:solidFill>
                <a:latin typeface="Arial"/>
                <a:cs typeface="Arial"/>
              </a:rPr>
              <a:t>R14</a:t>
            </a:r>
            <a:r>
              <a:rPr dirty="0" sz="1400" spc="-30" b="1">
                <a:solidFill>
                  <a:srgbClr val="137EEC"/>
                </a:solidFill>
                <a:latin typeface="Microsoft JhengHei UI"/>
                <a:cs typeface="Microsoft JhengHei UI"/>
              </a:rPr>
              <a:t>的商</a:t>
            </a:r>
            <a:r>
              <a:rPr dirty="0" sz="1400" spc="-30" b="1">
                <a:solidFill>
                  <a:srgbClr val="137EEC"/>
                </a:solidFill>
                <a:latin typeface="Microsoft JhengHei UI"/>
                <a:cs typeface="Microsoft JhengHei UI"/>
              </a:rPr>
              <a:t>	</a:t>
            </a:r>
            <a:r>
              <a:rPr dirty="0" sz="1400" spc="-10" b="1">
                <a:solidFill>
                  <a:srgbClr val="137EEC"/>
                </a:solidFill>
                <a:latin typeface="Microsoft JhengHei UI"/>
                <a:cs typeface="Microsoft JhengHei UI"/>
              </a:rPr>
              <a:t>用产品</a:t>
            </a:r>
            <a:r>
              <a:rPr dirty="0" sz="1400" spc="-20" b="1">
                <a:solidFill>
                  <a:srgbClr val="137EEC"/>
                </a:solidFill>
                <a:latin typeface="Microsoft JhengHei UI"/>
                <a:cs typeface="Microsoft JhengHei UI"/>
              </a:rPr>
              <a:t>（</a:t>
            </a:r>
            <a:r>
              <a:rPr dirty="0" sz="1400" spc="-20" b="1">
                <a:solidFill>
                  <a:srgbClr val="137EEC"/>
                </a:solidFill>
                <a:latin typeface="Arial"/>
                <a:cs typeface="Arial"/>
              </a:rPr>
              <a:t>OBU</a:t>
            </a:r>
            <a:r>
              <a:rPr dirty="0" sz="1400" spc="-50" b="1">
                <a:solidFill>
                  <a:srgbClr val="137EEC"/>
                </a:solidFill>
                <a:latin typeface="Microsoft JhengHei UI"/>
                <a:cs typeface="Microsoft JhengHei UI"/>
              </a:rPr>
              <a:t>、 </a:t>
            </a:r>
            <a:r>
              <a:rPr dirty="0" sz="1400" spc="-50" b="1">
                <a:solidFill>
                  <a:srgbClr val="137EEC"/>
                </a:solidFill>
                <a:latin typeface="Microsoft JhengHei UI"/>
                <a:cs typeface="Microsoft JhengHei UI"/>
              </a:rPr>
              <a:t>	</a:t>
            </a:r>
            <a:r>
              <a:rPr dirty="0" sz="1400" spc="-20" b="1">
                <a:solidFill>
                  <a:srgbClr val="137EEC"/>
                </a:solidFill>
                <a:latin typeface="Arial"/>
                <a:cs typeface="Arial"/>
              </a:rPr>
              <a:t>RSU</a:t>
            </a:r>
            <a:r>
              <a:rPr dirty="0" sz="1400" spc="-20" b="1">
                <a:solidFill>
                  <a:srgbClr val="137EEC"/>
                </a:solidFill>
                <a:latin typeface="Microsoft JhengHei UI"/>
                <a:cs typeface="Microsoft JhengHei UI"/>
              </a:rPr>
              <a:t>）</a:t>
            </a:r>
            <a:endParaRPr sz="1400">
              <a:latin typeface="Microsoft JhengHei UI"/>
              <a:cs typeface="Microsoft JhengHei UI"/>
            </a:endParaRPr>
          </a:p>
          <a:p>
            <a:pPr marL="100965" indent="-88265">
              <a:lnSpc>
                <a:spcPts val="1660"/>
              </a:lnSpc>
              <a:buFont typeface="Arial MT"/>
              <a:buChar char="•"/>
              <a:tabLst>
                <a:tab pos="100965" algn="l"/>
              </a:tabLst>
            </a:pPr>
            <a:r>
              <a:rPr dirty="0" sz="1400" spc="-25" b="1">
                <a:solidFill>
                  <a:srgbClr val="137EEC"/>
                </a:solidFill>
                <a:latin typeface="Microsoft JhengHei UI"/>
                <a:cs typeface="Microsoft JhengHei UI"/>
              </a:rPr>
              <a:t>发布业界首款商用</a:t>
            </a:r>
            <a:endParaRPr sz="1400">
              <a:latin typeface="Microsoft JhengHei UI"/>
              <a:cs typeface="Microsoft JhengHei UI"/>
            </a:endParaRPr>
          </a:p>
          <a:p>
            <a:pPr marL="101600">
              <a:lnSpc>
                <a:spcPct val="100000"/>
              </a:lnSpc>
              <a:spcBef>
                <a:spcPts val="20"/>
              </a:spcBef>
            </a:pPr>
            <a:r>
              <a:rPr dirty="0" sz="1400" spc="-40" b="1">
                <a:solidFill>
                  <a:srgbClr val="137EEC"/>
                </a:solidFill>
                <a:latin typeface="Arial"/>
                <a:cs typeface="Arial"/>
              </a:rPr>
              <a:t>LTE-</a:t>
            </a:r>
            <a:r>
              <a:rPr dirty="0" sz="1400" spc="-20" b="1">
                <a:solidFill>
                  <a:srgbClr val="137EEC"/>
                </a:solidFill>
                <a:latin typeface="Arial"/>
                <a:cs typeface="Arial"/>
              </a:rPr>
              <a:t>V</a:t>
            </a:r>
            <a:r>
              <a:rPr dirty="0" sz="1400" spc="-20" b="1">
                <a:solidFill>
                  <a:srgbClr val="137EEC"/>
                </a:solidFill>
                <a:latin typeface="Microsoft JhengHei UI"/>
                <a:cs typeface="Microsoft JhengHei UI"/>
              </a:rPr>
              <a:t>通信模组</a:t>
            </a:r>
            <a:endParaRPr sz="1400">
              <a:latin typeface="Microsoft JhengHei UI"/>
              <a:cs typeface="Microsoft JhengHei UI"/>
            </a:endParaRPr>
          </a:p>
        </p:txBody>
      </p:sp>
      <p:sp>
        <p:nvSpPr>
          <p:cNvPr id="37" name="object 37" descr=""/>
          <p:cNvSpPr txBox="1"/>
          <p:nvPr/>
        </p:nvSpPr>
        <p:spPr>
          <a:xfrm>
            <a:off x="4597772" y="3176765"/>
            <a:ext cx="1775460" cy="1716405"/>
          </a:xfrm>
          <a:prstGeom prst="rect">
            <a:avLst/>
          </a:prstGeom>
        </p:spPr>
        <p:txBody>
          <a:bodyPr wrap="square" lIns="0" tIns="42545" rIns="0" bIns="0" rtlCol="0" vert="horz">
            <a:spAutoFit/>
          </a:bodyPr>
          <a:lstStyle/>
          <a:p>
            <a:pPr marL="742315">
              <a:lnSpc>
                <a:spcPct val="100000"/>
              </a:lnSpc>
              <a:spcBef>
                <a:spcPts val="335"/>
              </a:spcBef>
            </a:pPr>
            <a:r>
              <a:rPr dirty="0" sz="1600" spc="-20" b="1">
                <a:latin typeface="Arial"/>
                <a:cs typeface="Arial"/>
              </a:rPr>
              <a:t>2016</a:t>
            </a:r>
            <a:endParaRPr sz="1600">
              <a:latin typeface="Arial"/>
              <a:cs typeface="Arial"/>
            </a:endParaRPr>
          </a:p>
          <a:p>
            <a:pPr marL="12700">
              <a:lnSpc>
                <a:spcPct val="100000"/>
              </a:lnSpc>
              <a:spcBef>
                <a:spcPts val="204"/>
              </a:spcBef>
            </a:pPr>
            <a:r>
              <a:rPr dirty="0" sz="1400" b="1">
                <a:solidFill>
                  <a:srgbClr val="137EEC"/>
                </a:solidFill>
                <a:latin typeface="Arial"/>
                <a:cs typeface="Arial"/>
              </a:rPr>
              <a:t>3GPP</a:t>
            </a:r>
            <a:r>
              <a:rPr dirty="0" sz="1400" spc="-5" b="1">
                <a:solidFill>
                  <a:srgbClr val="137EEC"/>
                </a:solidFill>
                <a:latin typeface="Arial"/>
                <a:cs typeface="Arial"/>
              </a:rPr>
              <a:t> </a:t>
            </a:r>
            <a:r>
              <a:rPr dirty="0" sz="1400" spc="-20" b="1">
                <a:solidFill>
                  <a:srgbClr val="137EEC"/>
                </a:solidFill>
                <a:latin typeface="Arial"/>
                <a:cs typeface="Arial"/>
              </a:rPr>
              <a:t>V2V</a:t>
            </a:r>
            <a:r>
              <a:rPr dirty="0" sz="1400" spc="-20" b="1">
                <a:solidFill>
                  <a:srgbClr val="137EEC"/>
                </a:solidFill>
                <a:latin typeface="Microsoft JhengHei UI"/>
                <a:cs typeface="Microsoft JhengHei UI"/>
              </a:rPr>
              <a:t>标准化完成</a:t>
            </a:r>
            <a:endParaRPr sz="1400">
              <a:latin typeface="Microsoft JhengHei UI"/>
              <a:cs typeface="Microsoft JhengHei UI"/>
            </a:endParaRPr>
          </a:p>
          <a:p>
            <a:pPr algn="just" marL="154305" marR="8890" indent="-88265">
              <a:lnSpc>
                <a:spcPct val="100499"/>
              </a:lnSpc>
              <a:spcBef>
                <a:spcPts val="844"/>
              </a:spcBef>
              <a:buFont typeface="Arial MT"/>
              <a:buChar char="•"/>
              <a:tabLst>
                <a:tab pos="155575" algn="l"/>
              </a:tabLst>
            </a:pPr>
            <a:r>
              <a:rPr dirty="0" sz="1400" spc="-25" b="1">
                <a:solidFill>
                  <a:srgbClr val="137EEC"/>
                </a:solidFill>
                <a:latin typeface="Microsoft JhengHei UI"/>
                <a:cs typeface="Microsoft JhengHei UI"/>
              </a:rPr>
              <a:t>发布业界首款基于自</a:t>
            </a:r>
            <a:r>
              <a:rPr dirty="0" sz="1400" spc="-25" b="1">
                <a:solidFill>
                  <a:srgbClr val="137EEC"/>
                </a:solidFill>
                <a:latin typeface="Microsoft JhengHei UI"/>
                <a:cs typeface="Microsoft JhengHei UI"/>
              </a:rPr>
              <a:t>	</a:t>
            </a:r>
            <a:r>
              <a:rPr dirty="0" sz="1400" spc="-10" b="1">
                <a:solidFill>
                  <a:srgbClr val="137EEC"/>
                </a:solidFill>
                <a:latin typeface="Microsoft JhengHei UI"/>
                <a:cs typeface="Microsoft JhengHei UI"/>
              </a:rPr>
              <a:t>研芯片</a:t>
            </a:r>
            <a:r>
              <a:rPr dirty="0" sz="1400" spc="-40" b="1">
                <a:solidFill>
                  <a:srgbClr val="137EEC"/>
                </a:solidFill>
                <a:latin typeface="Arial"/>
                <a:cs typeface="Arial"/>
              </a:rPr>
              <a:t>LTE-</a:t>
            </a:r>
            <a:r>
              <a:rPr dirty="0" sz="1400" spc="-20" b="1">
                <a:solidFill>
                  <a:srgbClr val="137EEC"/>
                </a:solidFill>
                <a:latin typeface="Arial"/>
                <a:cs typeface="Arial"/>
              </a:rPr>
              <a:t>V</a:t>
            </a:r>
            <a:r>
              <a:rPr dirty="0" sz="1400" spc="-25" b="1">
                <a:solidFill>
                  <a:srgbClr val="137EEC"/>
                </a:solidFill>
                <a:latin typeface="Microsoft JhengHei UI"/>
                <a:cs typeface="Microsoft JhengHei UI"/>
              </a:rPr>
              <a:t>预商用</a:t>
            </a:r>
            <a:r>
              <a:rPr dirty="0" sz="1400" spc="-25" b="1">
                <a:solidFill>
                  <a:srgbClr val="137EEC"/>
                </a:solidFill>
                <a:latin typeface="Microsoft JhengHei UI"/>
                <a:cs typeface="Microsoft JhengHei UI"/>
              </a:rPr>
              <a:t>	</a:t>
            </a:r>
            <a:r>
              <a:rPr dirty="0" sz="1400" spc="-30" b="1">
                <a:solidFill>
                  <a:srgbClr val="137EEC"/>
                </a:solidFill>
                <a:latin typeface="Microsoft JhengHei UI"/>
                <a:cs typeface="Microsoft JhengHei UI"/>
              </a:rPr>
              <a:t>产品</a:t>
            </a:r>
            <a:endParaRPr sz="1400">
              <a:latin typeface="Microsoft JhengHei UI"/>
              <a:cs typeface="Microsoft JhengHei UI"/>
            </a:endParaRPr>
          </a:p>
          <a:p>
            <a:pPr marL="154305" marR="13970" indent="-88265">
              <a:lnSpc>
                <a:spcPts val="1700"/>
              </a:lnSpc>
              <a:spcBef>
                <a:spcPts val="20"/>
              </a:spcBef>
              <a:buFont typeface="Arial MT"/>
              <a:buChar char="•"/>
              <a:tabLst>
                <a:tab pos="155575" algn="l"/>
              </a:tabLst>
            </a:pPr>
            <a:r>
              <a:rPr dirty="0" sz="1400" spc="-25">
                <a:latin typeface="SimSun"/>
                <a:cs typeface="SimSun"/>
              </a:rPr>
              <a:t>参与上海、重庆等示</a:t>
            </a:r>
            <a:r>
              <a:rPr dirty="0" sz="1400" spc="-25">
                <a:latin typeface="SimSun"/>
                <a:cs typeface="SimSun"/>
              </a:rPr>
              <a:t>	</a:t>
            </a:r>
            <a:r>
              <a:rPr dirty="0" sz="1400" spc="-30">
                <a:latin typeface="SimSun"/>
                <a:cs typeface="SimSun"/>
              </a:rPr>
              <a:t>范区建设</a:t>
            </a:r>
            <a:endParaRPr sz="1400">
              <a:latin typeface="SimSun"/>
              <a:cs typeface="SimSun"/>
            </a:endParaRPr>
          </a:p>
        </p:txBody>
      </p:sp>
      <p:sp>
        <p:nvSpPr>
          <p:cNvPr id="38" name="object 38"/>
          <p:cNvSpPr txBox="1">
            <a:spLocks noGrp="1"/>
          </p:cNvSpPr>
          <p:nvPr>
            <p:ph type="title"/>
          </p:nvPr>
        </p:nvSpPr>
        <p:spPr>
          <a:xfrm>
            <a:off x="2499843" y="189680"/>
            <a:ext cx="4475480" cy="513080"/>
          </a:xfrm>
          <a:prstGeom prst="rect"/>
        </p:spPr>
        <p:txBody>
          <a:bodyPr wrap="square" lIns="0" tIns="12065" rIns="0" bIns="0" rtlCol="0" vert="horz">
            <a:spAutoFit/>
          </a:bodyPr>
          <a:lstStyle/>
          <a:p>
            <a:pPr marL="12700">
              <a:lnSpc>
                <a:spcPct val="100000"/>
              </a:lnSpc>
              <a:spcBef>
                <a:spcPts val="95"/>
              </a:spcBef>
            </a:pPr>
            <a:r>
              <a:rPr dirty="0" spc="-35"/>
              <a:t>车联网</a:t>
            </a:r>
            <a:r>
              <a:rPr dirty="0" spc="-30">
                <a:latin typeface="Times New Roman"/>
                <a:cs typeface="Times New Roman"/>
              </a:rPr>
              <a:t>V2X</a:t>
            </a:r>
            <a:r>
              <a:rPr dirty="0" spc="-45"/>
              <a:t>产品开发布局</a:t>
            </a:r>
          </a:p>
        </p:txBody>
      </p:sp>
      <p:sp>
        <p:nvSpPr>
          <p:cNvPr id="39" name="object 39" descr=""/>
          <p:cNvSpPr txBox="1"/>
          <p:nvPr/>
        </p:nvSpPr>
        <p:spPr>
          <a:xfrm>
            <a:off x="3008726" y="1494910"/>
            <a:ext cx="1637030" cy="1417320"/>
          </a:xfrm>
          <a:prstGeom prst="rect">
            <a:avLst/>
          </a:prstGeom>
        </p:spPr>
        <p:txBody>
          <a:bodyPr wrap="square" lIns="0" tIns="10160" rIns="0" bIns="0" rtlCol="0" vert="horz">
            <a:spAutoFit/>
          </a:bodyPr>
          <a:lstStyle/>
          <a:p>
            <a:pPr marL="102235" marR="13335" indent="-90170">
              <a:lnSpc>
                <a:spcPct val="101099"/>
              </a:lnSpc>
              <a:spcBef>
                <a:spcPts val="80"/>
              </a:spcBef>
            </a:pPr>
            <a:r>
              <a:rPr dirty="0" sz="1400" spc="-25" b="1">
                <a:solidFill>
                  <a:srgbClr val="137EEC"/>
                </a:solidFill>
                <a:latin typeface="Microsoft JhengHei UI"/>
                <a:cs typeface="Microsoft JhengHei UI"/>
              </a:rPr>
              <a:t>推出全球第一款实际</a:t>
            </a:r>
            <a:r>
              <a:rPr dirty="0" sz="1400" spc="-10" b="1">
                <a:solidFill>
                  <a:srgbClr val="137EEC"/>
                </a:solidFill>
                <a:latin typeface="Microsoft JhengHei UI"/>
                <a:cs typeface="Microsoft JhengHei UI"/>
              </a:rPr>
              <a:t>路测的</a:t>
            </a:r>
            <a:r>
              <a:rPr dirty="0" sz="1400" spc="-10" b="1">
                <a:solidFill>
                  <a:srgbClr val="137EEC"/>
                </a:solidFill>
                <a:latin typeface="Arial"/>
                <a:cs typeface="Arial"/>
              </a:rPr>
              <a:t>LTE-</a:t>
            </a:r>
            <a:r>
              <a:rPr dirty="0" sz="1400" spc="-20" b="1">
                <a:solidFill>
                  <a:srgbClr val="137EEC"/>
                </a:solidFill>
                <a:latin typeface="Arial"/>
                <a:cs typeface="Arial"/>
              </a:rPr>
              <a:t>V</a:t>
            </a:r>
            <a:r>
              <a:rPr dirty="0" sz="1400" spc="-30" b="1">
                <a:solidFill>
                  <a:srgbClr val="137EEC"/>
                </a:solidFill>
                <a:latin typeface="Microsoft JhengHei UI"/>
                <a:cs typeface="Microsoft JhengHei UI"/>
              </a:rPr>
              <a:t>设备</a:t>
            </a:r>
            <a:endParaRPr sz="1400">
              <a:latin typeface="Microsoft JhengHei UI"/>
              <a:cs typeface="Microsoft JhengHei UI"/>
            </a:endParaRPr>
          </a:p>
          <a:p>
            <a:pPr marL="144145" indent="-88265">
              <a:lnSpc>
                <a:spcPct val="100000"/>
              </a:lnSpc>
              <a:spcBef>
                <a:spcPts val="855"/>
              </a:spcBef>
              <a:buChar char="•"/>
              <a:tabLst>
                <a:tab pos="144145" algn="l"/>
              </a:tabLst>
            </a:pPr>
            <a:r>
              <a:rPr dirty="0" sz="1400" spc="-35">
                <a:latin typeface="Arial MT"/>
                <a:cs typeface="Arial MT"/>
              </a:rPr>
              <a:t>LTE-</a:t>
            </a:r>
            <a:r>
              <a:rPr dirty="0" sz="1400" spc="-20">
                <a:latin typeface="Arial MT"/>
                <a:cs typeface="Arial MT"/>
              </a:rPr>
              <a:t>V</a:t>
            </a:r>
            <a:r>
              <a:rPr dirty="0" sz="1400" spc="-30">
                <a:latin typeface="SimSun"/>
                <a:cs typeface="SimSun"/>
              </a:rPr>
              <a:t>第二代产品</a:t>
            </a:r>
            <a:endParaRPr sz="1400">
              <a:latin typeface="SimSun"/>
              <a:cs typeface="SimSun"/>
            </a:endParaRPr>
          </a:p>
          <a:p>
            <a:pPr marL="143510" marR="5080" indent="-88265">
              <a:lnSpc>
                <a:spcPct val="100000"/>
              </a:lnSpc>
              <a:buFont typeface="Arial MT"/>
              <a:buChar char="•"/>
              <a:tabLst>
                <a:tab pos="144780" algn="l"/>
              </a:tabLst>
            </a:pPr>
            <a:r>
              <a:rPr dirty="0" sz="1400" spc="-20">
                <a:latin typeface="SimSun"/>
                <a:cs typeface="SimSun"/>
              </a:rPr>
              <a:t>德国</a:t>
            </a:r>
            <a:r>
              <a:rPr dirty="0" sz="1400" spc="-20">
                <a:latin typeface="Arial MT"/>
                <a:cs typeface="Arial MT"/>
              </a:rPr>
              <a:t>CEBET</a:t>
            </a:r>
            <a:r>
              <a:rPr dirty="0" sz="1400" spc="-30">
                <a:latin typeface="SimSun"/>
                <a:cs typeface="SimSun"/>
              </a:rPr>
              <a:t>、南京</a:t>
            </a:r>
            <a:r>
              <a:rPr dirty="0" sz="1400" spc="-30">
                <a:latin typeface="SimSun"/>
                <a:cs typeface="SimSun"/>
              </a:rPr>
              <a:t>	</a:t>
            </a:r>
            <a:r>
              <a:rPr dirty="0" sz="1400" spc="-20">
                <a:latin typeface="SimSun"/>
                <a:cs typeface="SimSun"/>
              </a:rPr>
              <a:t>亚太、</a:t>
            </a:r>
            <a:r>
              <a:rPr dirty="0" sz="1400" spc="-20">
                <a:latin typeface="Arial MT"/>
                <a:cs typeface="Arial MT"/>
              </a:rPr>
              <a:t>SAE</a:t>
            </a:r>
            <a:r>
              <a:rPr dirty="0" sz="1400" spc="-30">
                <a:latin typeface="SimSun"/>
                <a:cs typeface="SimSun"/>
              </a:rPr>
              <a:t>展会外</a:t>
            </a:r>
            <a:r>
              <a:rPr dirty="0" sz="1400" spc="-30">
                <a:latin typeface="SimSun"/>
                <a:cs typeface="SimSun"/>
              </a:rPr>
              <a:t>	</a:t>
            </a:r>
            <a:r>
              <a:rPr dirty="0" sz="1400" spc="-35">
                <a:latin typeface="SimSun"/>
                <a:cs typeface="SimSun"/>
              </a:rPr>
              <a:t>场演示</a:t>
            </a:r>
            <a:endParaRPr sz="1400">
              <a:latin typeface="SimSun"/>
              <a:cs typeface="SimSun"/>
            </a:endParaRPr>
          </a:p>
        </p:txBody>
      </p:sp>
      <p:sp>
        <p:nvSpPr>
          <p:cNvPr id="40" name="object 40" descr=""/>
          <p:cNvSpPr txBox="1"/>
          <p:nvPr/>
        </p:nvSpPr>
        <p:spPr>
          <a:xfrm>
            <a:off x="513071" y="679104"/>
            <a:ext cx="7345680" cy="785495"/>
          </a:xfrm>
          <a:prstGeom prst="rect">
            <a:avLst/>
          </a:prstGeom>
        </p:spPr>
        <p:txBody>
          <a:bodyPr wrap="square" lIns="0" tIns="165735" rIns="0" bIns="0" rtlCol="0" vert="horz">
            <a:spAutoFit/>
          </a:bodyPr>
          <a:lstStyle/>
          <a:p>
            <a:pPr marL="12700">
              <a:lnSpc>
                <a:spcPct val="100000"/>
              </a:lnSpc>
              <a:spcBef>
                <a:spcPts val="1305"/>
              </a:spcBef>
            </a:pPr>
            <a:r>
              <a:rPr dirty="0" sz="1800" b="1">
                <a:solidFill>
                  <a:srgbClr val="FF0000"/>
                </a:solidFill>
                <a:latin typeface="Microsoft YaHei"/>
                <a:cs typeface="Microsoft YaHei"/>
              </a:rPr>
              <a:t>截止到目前为止，业内面向商用的</a:t>
            </a:r>
            <a:r>
              <a:rPr dirty="0" sz="1800" spc="-45" b="1">
                <a:solidFill>
                  <a:srgbClr val="FF0000"/>
                </a:solidFill>
                <a:latin typeface="Microsoft YaHei"/>
                <a:cs typeface="Microsoft YaHei"/>
              </a:rPr>
              <a:t>LTE-</a:t>
            </a:r>
            <a:r>
              <a:rPr dirty="0" sz="1800" spc="-25" b="1">
                <a:solidFill>
                  <a:srgbClr val="FF0000"/>
                </a:solidFill>
                <a:latin typeface="Microsoft YaHei"/>
                <a:cs typeface="Microsoft YaHei"/>
              </a:rPr>
              <a:t>V</a:t>
            </a:r>
            <a:r>
              <a:rPr dirty="0" sz="1800" b="1">
                <a:solidFill>
                  <a:srgbClr val="FF0000"/>
                </a:solidFill>
                <a:latin typeface="Microsoft YaHei"/>
                <a:cs typeface="Microsoft YaHei"/>
              </a:rPr>
              <a:t>示范</a:t>
            </a:r>
            <a:r>
              <a:rPr dirty="0" sz="1800" spc="-25" b="1">
                <a:solidFill>
                  <a:srgbClr val="FF0000"/>
                </a:solidFill>
                <a:latin typeface="Microsoft YaHei"/>
                <a:cs typeface="Microsoft YaHei"/>
              </a:rPr>
              <a:t>90%</a:t>
            </a:r>
            <a:r>
              <a:rPr dirty="0" sz="1800" b="1">
                <a:solidFill>
                  <a:srgbClr val="FF0000"/>
                </a:solidFill>
                <a:latin typeface="Microsoft YaHei"/>
                <a:cs typeface="Microsoft YaHei"/>
              </a:rPr>
              <a:t>以上采用</a:t>
            </a:r>
            <a:r>
              <a:rPr dirty="0" sz="1800" spc="-25" b="1">
                <a:solidFill>
                  <a:srgbClr val="FF0000"/>
                </a:solidFill>
                <a:latin typeface="Microsoft YaHei"/>
                <a:cs typeface="Microsoft YaHei"/>
              </a:rPr>
              <a:t>V2X</a:t>
            </a:r>
            <a:r>
              <a:rPr dirty="0" sz="1800" spc="-15" b="1">
                <a:solidFill>
                  <a:srgbClr val="FF0000"/>
                </a:solidFill>
                <a:latin typeface="Microsoft YaHei"/>
                <a:cs typeface="Microsoft YaHei"/>
              </a:rPr>
              <a:t>解决方案</a:t>
            </a:r>
            <a:endParaRPr sz="1800">
              <a:latin typeface="Microsoft YaHei"/>
              <a:cs typeface="Microsoft YaHei"/>
            </a:endParaRPr>
          </a:p>
          <a:p>
            <a:pPr marL="1128395">
              <a:lnSpc>
                <a:spcPct val="100000"/>
              </a:lnSpc>
              <a:spcBef>
                <a:spcPts val="935"/>
              </a:spcBef>
            </a:pPr>
            <a:r>
              <a:rPr dirty="0" sz="1400" spc="-20" b="1">
                <a:solidFill>
                  <a:srgbClr val="137EEC"/>
                </a:solidFill>
                <a:latin typeface="Microsoft JhengHei UI"/>
                <a:cs typeface="Microsoft JhengHei UI"/>
              </a:rPr>
              <a:t>全球第一台</a:t>
            </a:r>
            <a:endParaRPr sz="1400">
              <a:latin typeface="Microsoft JhengHei UI"/>
              <a:cs typeface="Microsoft JhengHei UI"/>
            </a:endParaRPr>
          </a:p>
        </p:txBody>
      </p:sp>
      <p:grpSp>
        <p:nvGrpSpPr>
          <p:cNvPr id="41" name="object 41" descr=""/>
          <p:cNvGrpSpPr/>
          <p:nvPr/>
        </p:nvGrpSpPr>
        <p:grpSpPr>
          <a:xfrm>
            <a:off x="8321695" y="2790592"/>
            <a:ext cx="335280" cy="449580"/>
            <a:chOff x="8321695" y="2790592"/>
            <a:chExt cx="335280" cy="449580"/>
          </a:xfrm>
        </p:grpSpPr>
        <p:sp>
          <p:nvSpPr>
            <p:cNvPr id="42" name="object 42" descr=""/>
            <p:cNvSpPr/>
            <p:nvPr/>
          </p:nvSpPr>
          <p:spPr>
            <a:xfrm>
              <a:off x="8321695" y="2790592"/>
              <a:ext cx="335280" cy="449580"/>
            </a:xfrm>
            <a:custGeom>
              <a:avLst/>
              <a:gdLst/>
              <a:ahLst/>
              <a:cxnLst/>
              <a:rect l="l" t="t" r="r" b="b"/>
              <a:pathLst>
                <a:path w="335279" h="449580">
                  <a:moveTo>
                    <a:pt x="167487" y="0"/>
                  </a:moveTo>
                  <a:lnTo>
                    <a:pt x="129082" y="5930"/>
                  </a:lnTo>
                  <a:lnTo>
                    <a:pt x="93828" y="22823"/>
                  </a:lnTo>
                  <a:lnTo>
                    <a:pt x="62730" y="49330"/>
                  </a:lnTo>
                  <a:lnTo>
                    <a:pt x="36793" y="84104"/>
                  </a:lnTo>
                  <a:lnTo>
                    <a:pt x="17022" y="125797"/>
                  </a:lnTo>
                  <a:lnTo>
                    <a:pt x="4423" y="173061"/>
                  </a:lnTo>
                  <a:lnTo>
                    <a:pt x="0" y="224548"/>
                  </a:lnTo>
                  <a:lnTo>
                    <a:pt x="4423" y="276035"/>
                  </a:lnTo>
                  <a:lnTo>
                    <a:pt x="17022" y="323299"/>
                  </a:lnTo>
                  <a:lnTo>
                    <a:pt x="36793" y="364992"/>
                  </a:lnTo>
                  <a:lnTo>
                    <a:pt x="62730" y="399766"/>
                  </a:lnTo>
                  <a:lnTo>
                    <a:pt x="93828" y="426274"/>
                  </a:lnTo>
                  <a:lnTo>
                    <a:pt x="129082" y="443166"/>
                  </a:lnTo>
                  <a:lnTo>
                    <a:pt x="167487" y="449097"/>
                  </a:lnTo>
                  <a:lnTo>
                    <a:pt x="205888" y="443166"/>
                  </a:lnTo>
                  <a:lnTo>
                    <a:pt x="241138" y="426274"/>
                  </a:lnTo>
                  <a:lnTo>
                    <a:pt x="272234" y="399766"/>
                  </a:lnTo>
                  <a:lnTo>
                    <a:pt x="298170" y="364992"/>
                  </a:lnTo>
                  <a:lnTo>
                    <a:pt x="317940" y="323299"/>
                  </a:lnTo>
                  <a:lnTo>
                    <a:pt x="330539" y="276035"/>
                  </a:lnTo>
                  <a:lnTo>
                    <a:pt x="334962" y="224548"/>
                  </a:lnTo>
                  <a:lnTo>
                    <a:pt x="330539" y="173061"/>
                  </a:lnTo>
                  <a:lnTo>
                    <a:pt x="317940" y="125797"/>
                  </a:lnTo>
                  <a:lnTo>
                    <a:pt x="298170" y="84104"/>
                  </a:lnTo>
                  <a:lnTo>
                    <a:pt x="272234" y="49330"/>
                  </a:lnTo>
                  <a:lnTo>
                    <a:pt x="241138" y="22823"/>
                  </a:lnTo>
                  <a:lnTo>
                    <a:pt x="205888" y="5930"/>
                  </a:lnTo>
                  <a:lnTo>
                    <a:pt x="167487" y="0"/>
                  </a:lnTo>
                  <a:close/>
                </a:path>
              </a:pathLst>
            </a:custGeom>
            <a:solidFill>
              <a:srgbClr val="242424"/>
            </a:solidFill>
          </p:spPr>
          <p:txBody>
            <a:bodyPr wrap="square" lIns="0" tIns="0" rIns="0" bIns="0" rtlCol="0"/>
            <a:lstStyle/>
            <a:p/>
          </p:txBody>
        </p:sp>
        <p:sp>
          <p:nvSpPr>
            <p:cNvPr id="43" name="object 43" descr=""/>
            <p:cNvSpPr/>
            <p:nvPr/>
          </p:nvSpPr>
          <p:spPr>
            <a:xfrm>
              <a:off x="8369320" y="2858828"/>
              <a:ext cx="238125" cy="316230"/>
            </a:xfrm>
            <a:custGeom>
              <a:avLst/>
              <a:gdLst/>
              <a:ahLst/>
              <a:cxnLst/>
              <a:rect l="l" t="t" r="r" b="b"/>
              <a:pathLst>
                <a:path w="238125" h="316230">
                  <a:moveTo>
                    <a:pt x="119062" y="0"/>
                  </a:moveTo>
                  <a:lnTo>
                    <a:pt x="81427" y="8049"/>
                  </a:lnTo>
                  <a:lnTo>
                    <a:pt x="48743" y="30463"/>
                  </a:lnTo>
                  <a:lnTo>
                    <a:pt x="22970" y="64643"/>
                  </a:lnTo>
                  <a:lnTo>
                    <a:pt x="6069" y="107988"/>
                  </a:lnTo>
                  <a:lnTo>
                    <a:pt x="0" y="157899"/>
                  </a:lnTo>
                  <a:lnTo>
                    <a:pt x="6069" y="207809"/>
                  </a:lnTo>
                  <a:lnTo>
                    <a:pt x="22970" y="251154"/>
                  </a:lnTo>
                  <a:lnTo>
                    <a:pt x="48743" y="285334"/>
                  </a:lnTo>
                  <a:lnTo>
                    <a:pt x="81427" y="307748"/>
                  </a:lnTo>
                  <a:lnTo>
                    <a:pt x="119062" y="315798"/>
                  </a:lnTo>
                  <a:lnTo>
                    <a:pt x="156697" y="307748"/>
                  </a:lnTo>
                  <a:lnTo>
                    <a:pt x="189381" y="285334"/>
                  </a:lnTo>
                  <a:lnTo>
                    <a:pt x="215154" y="251154"/>
                  </a:lnTo>
                  <a:lnTo>
                    <a:pt x="232055" y="207809"/>
                  </a:lnTo>
                  <a:lnTo>
                    <a:pt x="238125" y="157899"/>
                  </a:lnTo>
                  <a:lnTo>
                    <a:pt x="232055" y="107988"/>
                  </a:lnTo>
                  <a:lnTo>
                    <a:pt x="215154" y="64643"/>
                  </a:lnTo>
                  <a:lnTo>
                    <a:pt x="189381" y="30463"/>
                  </a:lnTo>
                  <a:lnTo>
                    <a:pt x="156697" y="8049"/>
                  </a:lnTo>
                  <a:lnTo>
                    <a:pt x="119062" y="0"/>
                  </a:lnTo>
                  <a:close/>
                </a:path>
              </a:pathLst>
            </a:custGeom>
            <a:solidFill>
              <a:srgbClr val="E4F3F4"/>
            </a:solidFill>
          </p:spPr>
          <p:txBody>
            <a:bodyPr wrap="square" lIns="0" tIns="0" rIns="0" bIns="0" rtlCol="0"/>
            <a:lstStyle/>
            <a:p/>
          </p:txBody>
        </p:sp>
      </p:grpSp>
      <p:sp>
        <p:nvSpPr>
          <p:cNvPr id="44" name="object 44" descr=""/>
          <p:cNvSpPr txBox="1"/>
          <p:nvPr/>
        </p:nvSpPr>
        <p:spPr>
          <a:xfrm>
            <a:off x="7920773" y="3129398"/>
            <a:ext cx="1073785" cy="1321435"/>
          </a:xfrm>
          <a:prstGeom prst="rect">
            <a:avLst/>
          </a:prstGeom>
        </p:spPr>
        <p:txBody>
          <a:bodyPr wrap="square" lIns="0" tIns="118745" rIns="0" bIns="0" rtlCol="0" vert="horz">
            <a:spAutoFit/>
          </a:bodyPr>
          <a:lstStyle/>
          <a:p>
            <a:pPr marL="293370">
              <a:lnSpc>
                <a:spcPct val="100000"/>
              </a:lnSpc>
              <a:spcBef>
                <a:spcPts val="935"/>
              </a:spcBef>
            </a:pPr>
            <a:r>
              <a:rPr dirty="0" sz="1600" spc="-20" b="1">
                <a:latin typeface="Arial"/>
                <a:cs typeface="Arial"/>
              </a:rPr>
              <a:t>2018</a:t>
            </a:r>
            <a:endParaRPr sz="1600">
              <a:latin typeface="Arial"/>
              <a:cs typeface="Arial"/>
            </a:endParaRPr>
          </a:p>
          <a:p>
            <a:pPr marL="12700" marR="5080">
              <a:lnSpc>
                <a:spcPct val="100000"/>
              </a:lnSpc>
              <a:spcBef>
                <a:spcPts val="730"/>
              </a:spcBef>
            </a:pPr>
            <a:r>
              <a:rPr dirty="0" sz="1400" b="1">
                <a:solidFill>
                  <a:srgbClr val="137EEC"/>
                </a:solidFill>
                <a:latin typeface="Arial"/>
                <a:cs typeface="Arial"/>
              </a:rPr>
              <a:t>6</a:t>
            </a:r>
            <a:r>
              <a:rPr dirty="0" sz="1400" spc="-20" b="1">
                <a:solidFill>
                  <a:srgbClr val="137EEC"/>
                </a:solidFill>
                <a:latin typeface="Microsoft JhengHei UI"/>
                <a:cs typeface="Microsoft JhengHei UI"/>
              </a:rPr>
              <a:t>月底完成业</a:t>
            </a:r>
            <a:r>
              <a:rPr dirty="0" sz="1400" spc="-10" b="1">
                <a:solidFill>
                  <a:srgbClr val="137EEC"/>
                </a:solidFill>
                <a:latin typeface="Microsoft JhengHei UI"/>
                <a:cs typeface="Microsoft JhengHei UI"/>
              </a:rPr>
              <a:t>界首家</a:t>
            </a:r>
            <a:r>
              <a:rPr dirty="0" sz="1400" spc="-20" b="1">
                <a:solidFill>
                  <a:srgbClr val="137EEC"/>
                </a:solidFill>
                <a:latin typeface="Arial"/>
                <a:cs typeface="Arial"/>
              </a:rPr>
              <a:t>LTE- V2X</a:t>
            </a:r>
            <a:r>
              <a:rPr dirty="0" sz="1400" spc="-20" b="1">
                <a:solidFill>
                  <a:srgbClr val="137EEC"/>
                </a:solidFill>
                <a:latin typeface="Microsoft JhengHei UI"/>
                <a:cs typeface="Microsoft JhengHei UI"/>
              </a:rPr>
              <a:t>模组小批</a:t>
            </a:r>
            <a:r>
              <a:rPr dirty="0" sz="1400" spc="-30" b="1">
                <a:solidFill>
                  <a:srgbClr val="137EEC"/>
                </a:solidFill>
                <a:latin typeface="Microsoft JhengHei UI"/>
                <a:cs typeface="Microsoft JhengHei UI"/>
              </a:rPr>
              <a:t>量供应</a:t>
            </a:r>
            <a:endParaRPr sz="1400">
              <a:latin typeface="Microsoft JhengHei UI"/>
              <a:cs typeface="Microsoft JhengHei U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78303" y="199136"/>
            <a:ext cx="5716905" cy="513080"/>
          </a:xfrm>
          <a:prstGeom prst="rect"/>
        </p:spPr>
        <p:txBody>
          <a:bodyPr wrap="square" lIns="0" tIns="12065" rIns="0" bIns="0" rtlCol="0" vert="horz">
            <a:spAutoFit/>
          </a:bodyPr>
          <a:lstStyle/>
          <a:p>
            <a:pPr marL="12700">
              <a:lnSpc>
                <a:spcPct val="100000"/>
              </a:lnSpc>
              <a:spcBef>
                <a:spcPts val="95"/>
              </a:spcBef>
            </a:pPr>
            <a:r>
              <a:rPr dirty="0" spc="-45"/>
              <a:t>多地共同开展智能网联测试验证</a:t>
            </a:r>
          </a:p>
        </p:txBody>
      </p:sp>
      <p:pic>
        <p:nvPicPr>
          <p:cNvPr id="3" name="object 3"/>
          <p:cNvPicPr/>
          <p:nvPr/>
        </p:nvPicPr>
        <p:blipFill>
          <a:blip r:embed="rId2" cstate="print"/>
          <a:stretch>
            <a:fillRect/>
          </a:stretch>
        </p:blipFill>
        <p:spPr>
          <a:xfrm>
            <a:off x="451180" y="1190955"/>
            <a:ext cx="3665021" cy="1760458"/>
          </a:xfrm>
          <a:prstGeom prst="rect">
            <a:avLst/>
          </a:prstGeom>
        </p:spPr>
      </p:pic>
      <p:sp>
        <p:nvSpPr>
          <p:cNvPr id="4" name="object 4" descr=""/>
          <p:cNvSpPr txBox="1"/>
          <p:nvPr/>
        </p:nvSpPr>
        <p:spPr>
          <a:xfrm>
            <a:off x="693891" y="884472"/>
            <a:ext cx="3121025" cy="238760"/>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3333FF"/>
                </a:solidFill>
                <a:latin typeface="Microsoft YaHei"/>
                <a:cs typeface="Microsoft YaHei"/>
              </a:rPr>
              <a:t>2016-18.</a:t>
            </a:r>
            <a:r>
              <a:rPr dirty="0" sz="1400" spc="-25" b="1">
                <a:solidFill>
                  <a:srgbClr val="3333FF"/>
                </a:solidFill>
                <a:latin typeface="Microsoft YaHei"/>
                <a:cs typeface="Microsoft YaHei"/>
              </a:rPr>
              <a:t>重庆示范区，中国汽研院合作</a:t>
            </a:r>
            <a:endParaRPr sz="1400">
              <a:latin typeface="Microsoft YaHei"/>
              <a:cs typeface="Microsoft YaHei"/>
            </a:endParaRPr>
          </a:p>
        </p:txBody>
      </p:sp>
      <p:sp>
        <p:nvSpPr>
          <p:cNvPr id="5" name="object 5" descr=""/>
          <p:cNvSpPr txBox="1"/>
          <p:nvPr/>
        </p:nvSpPr>
        <p:spPr>
          <a:xfrm>
            <a:off x="4788811" y="897433"/>
            <a:ext cx="3937000" cy="238760"/>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3333FF"/>
                </a:solidFill>
                <a:latin typeface="Microsoft YaHei"/>
                <a:cs typeface="Microsoft YaHei"/>
              </a:rPr>
              <a:t>2017.12</a:t>
            </a:r>
            <a:r>
              <a:rPr dirty="0" sz="1400" spc="-20" b="1">
                <a:solidFill>
                  <a:srgbClr val="3333FF"/>
                </a:solidFill>
                <a:latin typeface="Microsoft YaHei"/>
                <a:cs typeface="Microsoft YaHei"/>
              </a:rPr>
              <a:t>上海示范区，福特汽车联合开展</a:t>
            </a:r>
            <a:r>
              <a:rPr dirty="0" sz="1400" spc="-10" b="1">
                <a:solidFill>
                  <a:srgbClr val="3333FF"/>
                </a:solidFill>
                <a:latin typeface="Microsoft YaHei"/>
                <a:cs typeface="Microsoft YaHei"/>
              </a:rPr>
              <a:t>V2X</a:t>
            </a:r>
            <a:r>
              <a:rPr dirty="0" sz="1400" spc="-35" b="1">
                <a:solidFill>
                  <a:srgbClr val="3333FF"/>
                </a:solidFill>
                <a:latin typeface="Microsoft YaHei"/>
                <a:cs typeface="Microsoft YaHei"/>
              </a:rPr>
              <a:t>试验</a:t>
            </a:r>
            <a:endParaRPr sz="1400">
              <a:latin typeface="Microsoft YaHei"/>
              <a:cs typeface="Microsoft YaHei"/>
            </a:endParaRPr>
          </a:p>
        </p:txBody>
      </p:sp>
      <p:pic>
        <p:nvPicPr>
          <p:cNvPr id="6" name="object 6" descr=""/>
          <p:cNvPicPr/>
          <p:nvPr/>
        </p:nvPicPr>
        <p:blipFill>
          <a:blip r:embed="rId3" cstate="print"/>
          <a:stretch>
            <a:fillRect/>
          </a:stretch>
        </p:blipFill>
        <p:spPr>
          <a:xfrm>
            <a:off x="4672941" y="1438910"/>
            <a:ext cx="4028022" cy="1420871"/>
          </a:xfrm>
          <a:prstGeom prst="rect">
            <a:avLst/>
          </a:prstGeom>
        </p:spPr>
      </p:pic>
      <p:sp>
        <p:nvSpPr>
          <p:cNvPr id="7" name="object 7" descr=""/>
          <p:cNvSpPr txBox="1"/>
          <p:nvPr/>
        </p:nvSpPr>
        <p:spPr>
          <a:xfrm>
            <a:off x="1164151" y="3100579"/>
            <a:ext cx="2359025" cy="238760"/>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3333FF"/>
                </a:solidFill>
                <a:latin typeface="Microsoft YaHei"/>
                <a:cs typeface="Microsoft YaHei"/>
              </a:rPr>
              <a:t>2017.</a:t>
            </a:r>
            <a:r>
              <a:rPr dirty="0" sz="1400" spc="-20" b="1">
                <a:solidFill>
                  <a:srgbClr val="3333FF"/>
                </a:solidFill>
                <a:latin typeface="Microsoft YaHei"/>
                <a:cs typeface="Microsoft YaHei"/>
              </a:rPr>
              <a:t>怀柔</a:t>
            </a:r>
            <a:r>
              <a:rPr dirty="0" sz="1400" spc="-10" b="1">
                <a:solidFill>
                  <a:srgbClr val="3333FF"/>
                </a:solidFill>
                <a:latin typeface="Microsoft YaHei"/>
                <a:cs typeface="Microsoft YaHei"/>
              </a:rPr>
              <a:t>5G</a:t>
            </a:r>
            <a:r>
              <a:rPr dirty="0" sz="1400" spc="-25" b="1">
                <a:solidFill>
                  <a:srgbClr val="3333FF"/>
                </a:solidFill>
                <a:latin typeface="Microsoft YaHei"/>
                <a:cs typeface="Microsoft YaHei"/>
              </a:rPr>
              <a:t>车联网验证基地</a:t>
            </a:r>
            <a:endParaRPr sz="1400">
              <a:latin typeface="Microsoft YaHei"/>
              <a:cs typeface="Microsoft YaHei"/>
            </a:endParaRPr>
          </a:p>
        </p:txBody>
      </p:sp>
      <p:grpSp>
        <p:nvGrpSpPr>
          <p:cNvPr id="8" name="object 8" descr=""/>
          <p:cNvGrpSpPr/>
          <p:nvPr/>
        </p:nvGrpSpPr>
        <p:grpSpPr>
          <a:xfrm>
            <a:off x="865952" y="3369773"/>
            <a:ext cx="3049905" cy="1769110"/>
            <a:chOff x="865952" y="3369773"/>
            <a:chExt cx="3049905" cy="1769110"/>
          </a:xfrm>
        </p:grpSpPr>
        <p:pic>
          <p:nvPicPr>
            <p:cNvPr id="9" name="object 9"/>
            <p:cNvPicPr/>
            <p:nvPr/>
          </p:nvPicPr>
          <p:blipFill>
            <a:blip r:embed="rId4" cstate="print"/>
            <a:stretch>
              <a:fillRect/>
            </a:stretch>
          </p:blipFill>
          <p:spPr>
            <a:xfrm>
              <a:off x="865952" y="3369773"/>
              <a:ext cx="3049685" cy="1768862"/>
            </a:xfrm>
            <a:prstGeom prst="rect">
              <a:avLst/>
            </a:prstGeom>
          </p:spPr>
        </p:pic>
        <p:pic>
          <p:nvPicPr>
            <p:cNvPr id="10" name="object 10" descr=""/>
            <p:cNvPicPr/>
            <p:nvPr/>
          </p:nvPicPr>
          <p:blipFill>
            <a:blip r:embed="rId5" cstate="print"/>
            <a:stretch>
              <a:fillRect/>
            </a:stretch>
          </p:blipFill>
          <p:spPr>
            <a:xfrm>
              <a:off x="2888204" y="4831951"/>
              <a:ext cx="202869" cy="177647"/>
            </a:xfrm>
            <a:prstGeom prst="rect">
              <a:avLst/>
            </a:prstGeom>
          </p:spPr>
        </p:pic>
        <p:pic>
          <p:nvPicPr>
            <p:cNvPr id="11" name="object 11" descr=""/>
            <p:cNvPicPr/>
            <p:nvPr/>
          </p:nvPicPr>
          <p:blipFill>
            <a:blip r:embed="rId6" cstate="print"/>
            <a:stretch>
              <a:fillRect/>
            </a:stretch>
          </p:blipFill>
          <p:spPr>
            <a:xfrm>
              <a:off x="3386780" y="3496703"/>
              <a:ext cx="202869" cy="177647"/>
            </a:xfrm>
            <a:prstGeom prst="rect">
              <a:avLst/>
            </a:prstGeom>
          </p:spPr>
        </p:pic>
        <p:pic>
          <p:nvPicPr>
            <p:cNvPr id="12" name="object 12" descr=""/>
            <p:cNvPicPr/>
            <p:nvPr/>
          </p:nvPicPr>
          <p:blipFill>
            <a:blip r:embed="rId6" cstate="print"/>
            <a:stretch>
              <a:fillRect/>
            </a:stretch>
          </p:blipFill>
          <p:spPr>
            <a:xfrm>
              <a:off x="2411299" y="3496703"/>
              <a:ext cx="202869" cy="177647"/>
            </a:xfrm>
            <a:prstGeom prst="rect">
              <a:avLst/>
            </a:prstGeom>
          </p:spPr>
        </p:pic>
        <p:pic>
          <p:nvPicPr>
            <p:cNvPr id="13" name="object 13" descr=""/>
            <p:cNvPicPr/>
            <p:nvPr/>
          </p:nvPicPr>
          <p:blipFill>
            <a:blip r:embed="rId6" cstate="print"/>
            <a:stretch>
              <a:fillRect/>
            </a:stretch>
          </p:blipFill>
          <p:spPr>
            <a:xfrm>
              <a:off x="1414150" y="3496703"/>
              <a:ext cx="202869" cy="177647"/>
            </a:xfrm>
            <a:prstGeom prst="rect">
              <a:avLst/>
            </a:prstGeom>
          </p:spPr>
        </p:pic>
        <p:pic>
          <p:nvPicPr>
            <p:cNvPr id="14" name="object 14" descr=""/>
            <p:cNvPicPr/>
            <p:nvPr/>
          </p:nvPicPr>
          <p:blipFill>
            <a:blip r:embed="rId5" cstate="print"/>
            <a:stretch>
              <a:fillRect/>
            </a:stretch>
          </p:blipFill>
          <p:spPr>
            <a:xfrm>
              <a:off x="1414150" y="4089139"/>
              <a:ext cx="202869" cy="177647"/>
            </a:xfrm>
            <a:prstGeom prst="rect">
              <a:avLst/>
            </a:prstGeom>
          </p:spPr>
        </p:pic>
        <p:pic>
          <p:nvPicPr>
            <p:cNvPr id="15" name="object 15" descr=""/>
            <p:cNvPicPr/>
            <p:nvPr/>
          </p:nvPicPr>
          <p:blipFill>
            <a:blip r:embed="rId5" cstate="print"/>
            <a:stretch>
              <a:fillRect/>
            </a:stretch>
          </p:blipFill>
          <p:spPr>
            <a:xfrm>
              <a:off x="1414150" y="4679698"/>
              <a:ext cx="202869" cy="177647"/>
            </a:xfrm>
            <a:prstGeom prst="rect">
              <a:avLst/>
            </a:prstGeom>
          </p:spPr>
        </p:pic>
      </p:grpSp>
      <p:sp>
        <p:nvSpPr>
          <p:cNvPr id="16" name="object 16" descr=""/>
          <p:cNvSpPr txBox="1"/>
          <p:nvPr/>
        </p:nvSpPr>
        <p:spPr>
          <a:xfrm>
            <a:off x="3078378" y="4844643"/>
            <a:ext cx="836930" cy="220345"/>
          </a:xfrm>
          <a:prstGeom prst="rect">
            <a:avLst/>
          </a:prstGeom>
          <a:solidFill>
            <a:srgbClr val="FFFFFF"/>
          </a:solidFill>
          <a:ln w="25400">
            <a:solidFill>
              <a:srgbClr val="89A4A7"/>
            </a:solidFill>
          </a:ln>
        </p:spPr>
        <p:txBody>
          <a:bodyPr wrap="square" lIns="0" tIns="35560" rIns="0" bIns="0" rtlCol="0" vert="horz">
            <a:spAutoFit/>
          </a:bodyPr>
          <a:lstStyle/>
          <a:p>
            <a:pPr marL="91440" marR="100330">
              <a:lnSpc>
                <a:spcPct val="100000"/>
              </a:lnSpc>
              <a:spcBef>
                <a:spcPts val="280"/>
              </a:spcBef>
            </a:pPr>
            <a:r>
              <a:rPr dirty="0" sz="500">
                <a:solidFill>
                  <a:srgbClr val="0950A0"/>
                </a:solidFill>
                <a:latin typeface="SimSun"/>
                <a:cs typeface="SimSun"/>
              </a:rPr>
              <a:t>1</a:t>
            </a:r>
            <a:r>
              <a:rPr dirty="0" sz="500" spc="-10">
                <a:solidFill>
                  <a:srgbClr val="0950A0"/>
                </a:solidFill>
                <a:latin typeface="SimSun"/>
                <a:cs typeface="SimSun"/>
              </a:rPr>
              <a:t>、普通车辆变为VIP</a:t>
            </a:r>
            <a:r>
              <a:rPr dirty="0" sz="500" spc="-50">
                <a:solidFill>
                  <a:srgbClr val="0950A0"/>
                </a:solidFill>
                <a:latin typeface="SimSun"/>
                <a:cs typeface="SimSun"/>
              </a:rPr>
              <a:t>车辆</a:t>
            </a:r>
            <a:endParaRPr sz="500">
              <a:latin typeface="SimSun"/>
              <a:cs typeface="SimSun"/>
            </a:endParaRPr>
          </a:p>
        </p:txBody>
      </p:sp>
      <p:sp>
        <p:nvSpPr>
          <p:cNvPr id="17" name="object 17" descr=""/>
          <p:cNvSpPr/>
          <p:nvPr/>
        </p:nvSpPr>
        <p:spPr>
          <a:xfrm>
            <a:off x="3457054" y="3689172"/>
            <a:ext cx="899160" cy="275590"/>
          </a:xfrm>
          <a:custGeom>
            <a:avLst/>
            <a:gdLst/>
            <a:ahLst/>
            <a:cxnLst/>
            <a:rect l="l" t="t" r="r" b="b"/>
            <a:pathLst>
              <a:path w="899160" h="275589">
                <a:moveTo>
                  <a:pt x="898918" y="0"/>
                </a:moveTo>
                <a:lnTo>
                  <a:pt x="0" y="0"/>
                </a:lnTo>
                <a:lnTo>
                  <a:pt x="0" y="275120"/>
                </a:lnTo>
                <a:lnTo>
                  <a:pt x="898918" y="275120"/>
                </a:lnTo>
                <a:lnTo>
                  <a:pt x="898918" y="0"/>
                </a:lnTo>
                <a:close/>
              </a:path>
            </a:pathLst>
          </a:custGeom>
          <a:solidFill>
            <a:srgbClr val="FFFFFF"/>
          </a:solidFill>
        </p:spPr>
        <p:txBody>
          <a:bodyPr wrap="square" lIns="0" tIns="0" rIns="0" bIns="0" rtlCol="0"/>
          <a:lstStyle/>
          <a:p/>
        </p:txBody>
      </p:sp>
      <p:sp>
        <p:nvSpPr>
          <p:cNvPr id="18" name="object 18" descr=""/>
          <p:cNvSpPr txBox="1"/>
          <p:nvPr/>
        </p:nvSpPr>
        <p:spPr>
          <a:xfrm>
            <a:off x="3457054" y="3689172"/>
            <a:ext cx="899160" cy="275590"/>
          </a:xfrm>
          <a:prstGeom prst="rect">
            <a:avLst/>
          </a:prstGeom>
          <a:ln w="25400">
            <a:solidFill>
              <a:srgbClr val="89A4A7"/>
            </a:solidFill>
          </a:ln>
        </p:spPr>
        <p:txBody>
          <a:bodyPr wrap="square" lIns="0" tIns="63500" rIns="0" bIns="0" rtlCol="0" vert="horz">
            <a:spAutoFit/>
          </a:bodyPr>
          <a:lstStyle/>
          <a:p>
            <a:pPr marL="91440" marR="99060">
              <a:lnSpc>
                <a:spcPct val="100000"/>
              </a:lnSpc>
              <a:spcBef>
                <a:spcPts val="500"/>
              </a:spcBef>
            </a:pPr>
            <a:r>
              <a:rPr dirty="0" sz="500">
                <a:solidFill>
                  <a:srgbClr val="0950A0"/>
                </a:solidFill>
                <a:latin typeface="SimSun"/>
                <a:cs typeface="SimSun"/>
              </a:rPr>
              <a:t>2</a:t>
            </a:r>
            <a:r>
              <a:rPr dirty="0" sz="500" spc="-10">
                <a:solidFill>
                  <a:srgbClr val="0950A0"/>
                </a:solidFill>
                <a:latin typeface="SimSun"/>
                <a:cs typeface="SimSun"/>
              </a:rPr>
              <a:t>、车路协同：VIP</a:t>
            </a:r>
            <a:r>
              <a:rPr dirty="0" sz="500" spc="-25">
                <a:solidFill>
                  <a:srgbClr val="0950A0"/>
                </a:solidFill>
                <a:latin typeface="SimSun"/>
                <a:cs typeface="SimSun"/>
              </a:rPr>
              <a:t>车辆通</a:t>
            </a:r>
            <a:r>
              <a:rPr dirty="0" sz="500" spc="-15">
                <a:solidFill>
                  <a:srgbClr val="0950A0"/>
                </a:solidFill>
                <a:latin typeface="SimSun"/>
                <a:cs typeface="SimSun"/>
              </a:rPr>
              <a:t>过时红灯变为绿灯放行</a:t>
            </a:r>
            <a:endParaRPr sz="500">
              <a:latin typeface="SimSun"/>
              <a:cs typeface="SimSun"/>
            </a:endParaRPr>
          </a:p>
        </p:txBody>
      </p:sp>
      <p:sp>
        <p:nvSpPr>
          <p:cNvPr id="19" name="object 19" descr=""/>
          <p:cNvSpPr txBox="1"/>
          <p:nvPr/>
        </p:nvSpPr>
        <p:spPr>
          <a:xfrm>
            <a:off x="2174709" y="3588816"/>
            <a:ext cx="935355" cy="275590"/>
          </a:xfrm>
          <a:prstGeom prst="rect">
            <a:avLst/>
          </a:prstGeom>
          <a:solidFill>
            <a:srgbClr val="FFFFFF"/>
          </a:solidFill>
          <a:ln w="25400">
            <a:solidFill>
              <a:srgbClr val="89A4A7"/>
            </a:solidFill>
          </a:ln>
        </p:spPr>
        <p:txBody>
          <a:bodyPr wrap="square" lIns="0" tIns="63500" rIns="0" bIns="0" rtlCol="0" vert="horz">
            <a:spAutoFit/>
          </a:bodyPr>
          <a:lstStyle/>
          <a:p>
            <a:pPr marL="91440" marR="102870">
              <a:lnSpc>
                <a:spcPct val="100000"/>
              </a:lnSpc>
              <a:spcBef>
                <a:spcPts val="500"/>
              </a:spcBef>
            </a:pPr>
            <a:r>
              <a:rPr dirty="0" sz="500">
                <a:solidFill>
                  <a:srgbClr val="0950A0"/>
                </a:solidFill>
                <a:latin typeface="SimSun"/>
                <a:cs typeface="SimSun"/>
              </a:rPr>
              <a:t>3</a:t>
            </a:r>
            <a:r>
              <a:rPr dirty="0" sz="500" spc="-15">
                <a:solidFill>
                  <a:srgbClr val="0950A0"/>
                </a:solidFill>
                <a:latin typeface="SimSun"/>
                <a:cs typeface="SimSun"/>
              </a:rPr>
              <a:t>、车网通信：事故上报，通报前方有故障车辆</a:t>
            </a:r>
            <a:endParaRPr sz="500">
              <a:latin typeface="SimSun"/>
              <a:cs typeface="SimSun"/>
            </a:endParaRPr>
          </a:p>
        </p:txBody>
      </p:sp>
      <p:sp>
        <p:nvSpPr>
          <p:cNvPr id="20" name="object 20" descr=""/>
          <p:cNvSpPr/>
          <p:nvPr/>
        </p:nvSpPr>
        <p:spPr>
          <a:xfrm>
            <a:off x="527926" y="3516579"/>
            <a:ext cx="899160" cy="275590"/>
          </a:xfrm>
          <a:custGeom>
            <a:avLst/>
            <a:gdLst/>
            <a:ahLst/>
            <a:cxnLst/>
            <a:rect l="l" t="t" r="r" b="b"/>
            <a:pathLst>
              <a:path w="899160" h="275589">
                <a:moveTo>
                  <a:pt x="898918" y="0"/>
                </a:moveTo>
                <a:lnTo>
                  <a:pt x="0" y="0"/>
                </a:lnTo>
                <a:lnTo>
                  <a:pt x="0" y="275120"/>
                </a:lnTo>
                <a:lnTo>
                  <a:pt x="898918" y="275120"/>
                </a:lnTo>
                <a:lnTo>
                  <a:pt x="898918" y="0"/>
                </a:lnTo>
                <a:close/>
              </a:path>
            </a:pathLst>
          </a:custGeom>
          <a:solidFill>
            <a:srgbClr val="FFFFFF"/>
          </a:solidFill>
        </p:spPr>
        <p:txBody>
          <a:bodyPr wrap="square" lIns="0" tIns="0" rIns="0" bIns="0" rtlCol="0"/>
          <a:lstStyle/>
          <a:p/>
        </p:txBody>
      </p:sp>
      <p:sp>
        <p:nvSpPr>
          <p:cNvPr id="21" name="object 21" descr=""/>
          <p:cNvSpPr txBox="1"/>
          <p:nvPr/>
        </p:nvSpPr>
        <p:spPr>
          <a:xfrm>
            <a:off x="527926" y="3516579"/>
            <a:ext cx="899160" cy="275590"/>
          </a:xfrm>
          <a:prstGeom prst="rect">
            <a:avLst/>
          </a:prstGeom>
          <a:ln w="25400">
            <a:solidFill>
              <a:srgbClr val="89A4A7"/>
            </a:solidFill>
          </a:ln>
        </p:spPr>
        <p:txBody>
          <a:bodyPr wrap="square" lIns="0" tIns="63500" rIns="0" bIns="0" rtlCol="0" vert="horz">
            <a:spAutoFit/>
          </a:bodyPr>
          <a:lstStyle/>
          <a:p>
            <a:pPr marL="91440" marR="129539">
              <a:lnSpc>
                <a:spcPct val="100000"/>
              </a:lnSpc>
              <a:spcBef>
                <a:spcPts val="500"/>
              </a:spcBef>
            </a:pPr>
            <a:r>
              <a:rPr dirty="0" sz="500">
                <a:solidFill>
                  <a:srgbClr val="0950A0"/>
                </a:solidFill>
                <a:latin typeface="SimSun"/>
                <a:cs typeface="SimSun"/>
              </a:rPr>
              <a:t>4</a:t>
            </a:r>
            <a:r>
              <a:rPr dirty="0" sz="500" spc="-15">
                <a:solidFill>
                  <a:srgbClr val="0950A0"/>
                </a:solidFill>
                <a:latin typeface="SimSun"/>
                <a:cs typeface="SimSun"/>
              </a:rPr>
              <a:t>、车车通信：前方路口</a:t>
            </a:r>
            <a:r>
              <a:rPr dirty="0" sz="500" spc="-10">
                <a:solidFill>
                  <a:srgbClr val="0950A0"/>
                </a:solidFill>
                <a:latin typeface="SimSun"/>
                <a:cs typeface="SimSun"/>
              </a:rPr>
              <a:t>出现车辆会车</a:t>
            </a:r>
            <a:endParaRPr sz="500">
              <a:latin typeface="SimSun"/>
              <a:cs typeface="SimSun"/>
            </a:endParaRPr>
          </a:p>
        </p:txBody>
      </p:sp>
      <p:sp>
        <p:nvSpPr>
          <p:cNvPr id="22" name="object 22" descr=""/>
          <p:cNvSpPr/>
          <p:nvPr/>
        </p:nvSpPr>
        <p:spPr>
          <a:xfrm>
            <a:off x="527926" y="4046816"/>
            <a:ext cx="899160" cy="275590"/>
          </a:xfrm>
          <a:custGeom>
            <a:avLst/>
            <a:gdLst/>
            <a:ahLst/>
            <a:cxnLst/>
            <a:rect l="l" t="t" r="r" b="b"/>
            <a:pathLst>
              <a:path w="899160" h="275589">
                <a:moveTo>
                  <a:pt x="898918" y="0"/>
                </a:moveTo>
                <a:lnTo>
                  <a:pt x="0" y="0"/>
                </a:lnTo>
                <a:lnTo>
                  <a:pt x="0" y="275120"/>
                </a:lnTo>
                <a:lnTo>
                  <a:pt x="898918" y="275120"/>
                </a:lnTo>
                <a:lnTo>
                  <a:pt x="898918" y="0"/>
                </a:lnTo>
                <a:close/>
              </a:path>
            </a:pathLst>
          </a:custGeom>
          <a:solidFill>
            <a:srgbClr val="FFFFFF"/>
          </a:solidFill>
        </p:spPr>
        <p:txBody>
          <a:bodyPr wrap="square" lIns="0" tIns="0" rIns="0" bIns="0" rtlCol="0"/>
          <a:lstStyle/>
          <a:p/>
        </p:txBody>
      </p:sp>
      <p:sp>
        <p:nvSpPr>
          <p:cNvPr id="23" name="object 23" descr=""/>
          <p:cNvSpPr txBox="1"/>
          <p:nvPr/>
        </p:nvSpPr>
        <p:spPr>
          <a:xfrm>
            <a:off x="527926" y="4046816"/>
            <a:ext cx="899160" cy="275590"/>
          </a:xfrm>
          <a:prstGeom prst="rect">
            <a:avLst/>
          </a:prstGeom>
          <a:ln w="25400">
            <a:solidFill>
              <a:srgbClr val="89A4A7"/>
            </a:solidFill>
          </a:ln>
        </p:spPr>
        <p:txBody>
          <a:bodyPr wrap="square" lIns="0" tIns="63500" rIns="0" bIns="0" rtlCol="0" vert="horz">
            <a:spAutoFit/>
          </a:bodyPr>
          <a:lstStyle/>
          <a:p>
            <a:pPr marL="91440" marR="69850">
              <a:lnSpc>
                <a:spcPct val="100000"/>
              </a:lnSpc>
              <a:spcBef>
                <a:spcPts val="500"/>
              </a:spcBef>
            </a:pPr>
            <a:r>
              <a:rPr dirty="0" sz="500" spc="-10">
                <a:solidFill>
                  <a:srgbClr val="0950A0"/>
                </a:solidFill>
                <a:latin typeface="SimSun"/>
                <a:cs typeface="SimSun"/>
              </a:rPr>
              <a:t>5</a:t>
            </a:r>
            <a:r>
              <a:rPr dirty="0" sz="500" spc="-15">
                <a:solidFill>
                  <a:srgbClr val="0950A0"/>
                </a:solidFill>
                <a:latin typeface="SimSun"/>
                <a:cs typeface="SimSun"/>
              </a:rPr>
              <a:t>、车车通信：前车避让，</a:t>
            </a:r>
            <a:r>
              <a:rPr dirty="0" sz="500" spc="-10">
                <a:solidFill>
                  <a:srgbClr val="0950A0"/>
                </a:solidFill>
                <a:latin typeface="SimSun"/>
                <a:cs typeface="SimSun"/>
              </a:rPr>
              <a:t>后方有救护车</a:t>
            </a:r>
            <a:endParaRPr sz="500">
              <a:latin typeface="SimSun"/>
              <a:cs typeface="SimSun"/>
            </a:endParaRPr>
          </a:p>
        </p:txBody>
      </p:sp>
      <p:sp>
        <p:nvSpPr>
          <p:cNvPr id="24" name="object 24" descr=""/>
          <p:cNvSpPr/>
          <p:nvPr/>
        </p:nvSpPr>
        <p:spPr>
          <a:xfrm>
            <a:off x="523189" y="4734598"/>
            <a:ext cx="899160" cy="275590"/>
          </a:xfrm>
          <a:custGeom>
            <a:avLst/>
            <a:gdLst/>
            <a:ahLst/>
            <a:cxnLst/>
            <a:rect l="l" t="t" r="r" b="b"/>
            <a:pathLst>
              <a:path w="899160" h="275589">
                <a:moveTo>
                  <a:pt x="898918" y="0"/>
                </a:moveTo>
                <a:lnTo>
                  <a:pt x="0" y="0"/>
                </a:lnTo>
                <a:lnTo>
                  <a:pt x="0" y="275120"/>
                </a:lnTo>
                <a:lnTo>
                  <a:pt x="898918" y="275120"/>
                </a:lnTo>
                <a:lnTo>
                  <a:pt x="898918" y="0"/>
                </a:lnTo>
                <a:close/>
              </a:path>
            </a:pathLst>
          </a:custGeom>
          <a:solidFill>
            <a:srgbClr val="FFFFFF"/>
          </a:solidFill>
        </p:spPr>
        <p:txBody>
          <a:bodyPr wrap="square" lIns="0" tIns="0" rIns="0" bIns="0" rtlCol="0"/>
          <a:lstStyle/>
          <a:p/>
        </p:txBody>
      </p:sp>
      <p:sp>
        <p:nvSpPr>
          <p:cNvPr id="25" name="object 25" descr=""/>
          <p:cNvSpPr txBox="1"/>
          <p:nvPr/>
        </p:nvSpPr>
        <p:spPr>
          <a:xfrm>
            <a:off x="523189" y="4734598"/>
            <a:ext cx="899160" cy="275590"/>
          </a:xfrm>
          <a:prstGeom prst="rect">
            <a:avLst/>
          </a:prstGeom>
          <a:ln w="25400">
            <a:solidFill>
              <a:srgbClr val="89A4A7"/>
            </a:solidFill>
          </a:ln>
        </p:spPr>
        <p:txBody>
          <a:bodyPr wrap="square" lIns="0" tIns="63500" rIns="0" bIns="0" rtlCol="0" vert="horz">
            <a:spAutoFit/>
          </a:bodyPr>
          <a:lstStyle/>
          <a:p>
            <a:pPr marL="90805" marR="69850">
              <a:lnSpc>
                <a:spcPct val="100000"/>
              </a:lnSpc>
              <a:spcBef>
                <a:spcPts val="500"/>
              </a:spcBef>
            </a:pPr>
            <a:r>
              <a:rPr dirty="0" sz="500" spc="-10">
                <a:solidFill>
                  <a:srgbClr val="0950A0"/>
                </a:solidFill>
                <a:latin typeface="SimSun"/>
                <a:cs typeface="SimSun"/>
              </a:rPr>
              <a:t>6</a:t>
            </a:r>
            <a:r>
              <a:rPr dirty="0" sz="500" spc="-15">
                <a:solidFill>
                  <a:srgbClr val="0950A0"/>
                </a:solidFill>
                <a:latin typeface="SimSun"/>
                <a:cs typeface="SimSun"/>
              </a:rPr>
              <a:t>、车车通信：前车刹车，后车提示</a:t>
            </a:r>
            <a:endParaRPr sz="500">
              <a:latin typeface="SimSun"/>
              <a:cs typeface="SimSun"/>
            </a:endParaRPr>
          </a:p>
        </p:txBody>
      </p:sp>
      <p:grpSp>
        <p:nvGrpSpPr>
          <p:cNvPr id="26" name="object 26" descr=""/>
          <p:cNvGrpSpPr/>
          <p:nvPr/>
        </p:nvGrpSpPr>
        <p:grpSpPr>
          <a:xfrm>
            <a:off x="6443493" y="3507854"/>
            <a:ext cx="1081405" cy="1332865"/>
            <a:chOff x="6443493" y="3507854"/>
            <a:chExt cx="1081405" cy="1332865"/>
          </a:xfrm>
        </p:grpSpPr>
        <p:pic>
          <p:nvPicPr>
            <p:cNvPr id="27" name="object 27"/>
            <p:cNvPicPr/>
            <p:nvPr/>
          </p:nvPicPr>
          <p:blipFill>
            <a:blip r:embed="rId7" cstate="print"/>
            <a:stretch>
              <a:fillRect/>
            </a:stretch>
          </p:blipFill>
          <p:spPr>
            <a:xfrm>
              <a:off x="6443497" y="3507854"/>
              <a:ext cx="1080066" cy="551581"/>
            </a:xfrm>
            <a:prstGeom prst="rect">
              <a:avLst/>
            </a:prstGeom>
          </p:spPr>
        </p:pic>
        <p:pic>
          <p:nvPicPr>
            <p:cNvPr id="28" name="object 28"/>
            <p:cNvPicPr/>
            <p:nvPr/>
          </p:nvPicPr>
          <p:blipFill>
            <a:blip r:embed="rId8" cstate="print"/>
            <a:stretch>
              <a:fillRect/>
            </a:stretch>
          </p:blipFill>
          <p:spPr>
            <a:xfrm>
              <a:off x="6444259" y="4276953"/>
              <a:ext cx="1080067" cy="563139"/>
            </a:xfrm>
            <a:prstGeom prst="rect">
              <a:avLst/>
            </a:prstGeom>
          </p:spPr>
        </p:pic>
        <p:sp>
          <p:nvSpPr>
            <p:cNvPr id="29" name="object 29" descr=""/>
            <p:cNvSpPr/>
            <p:nvPr/>
          </p:nvSpPr>
          <p:spPr>
            <a:xfrm>
              <a:off x="6443493" y="4060166"/>
              <a:ext cx="1080135" cy="226695"/>
            </a:xfrm>
            <a:custGeom>
              <a:avLst/>
              <a:gdLst/>
              <a:ahLst/>
              <a:cxnLst/>
              <a:rect l="l" t="t" r="r" b="b"/>
              <a:pathLst>
                <a:path w="1080134" h="226695">
                  <a:moveTo>
                    <a:pt x="1042314" y="0"/>
                  </a:moveTo>
                  <a:lnTo>
                    <a:pt x="37757" y="0"/>
                  </a:lnTo>
                  <a:lnTo>
                    <a:pt x="23060" y="2967"/>
                  </a:lnTo>
                  <a:lnTo>
                    <a:pt x="11058" y="11058"/>
                  </a:lnTo>
                  <a:lnTo>
                    <a:pt x="2967" y="23060"/>
                  </a:lnTo>
                  <a:lnTo>
                    <a:pt x="0" y="37757"/>
                  </a:lnTo>
                  <a:lnTo>
                    <a:pt x="0" y="188772"/>
                  </a:lnTo>
                  <a:lnTo>
                    <a:pt x="2967" y="203469"/>
                  </a:lnTo>
                  <a:lnTo>
                    <a:pt x="11058" y="215471"/>
                  </a:lnTo>
                  <a:lnTo>
                    <a:pt x="23060" y="223562"/>
                  </a:lnTo>
                  <a:lnTo>
                    <a:pt x="37757" y="226529"/>
                  </a:lnTo>
                  <a:lnTo>
                    <a:pt x="1042314" y="226529"/>
                  </a:lnTo>
                  <a:lnTo>
                    <a:pt x="1057011" y="223562"/>
                  </a:lnTo>
                  <a:lnTo>
                    <a:pt x="1069012" y="215471"/>
                  </a:lnTo>
                  <a:lnTo>
                    <a:pt x="1077104" y="203469"/>
                  </a:lnTo>
                  <a:lnTo>
                    <a:pt x="1080071" y="188772"/>
                  </a:lnTo>
                  <a:lnTo>
                    <a:pt x="1080071" y="37757"/>
                  </a:lnTo>
                  <a:lnTo>
                    <a:pt x="1077104" y="23060"/>
                  </a:lnTo>
                  <a:lnTo>
                    <a:pt x="1069012" y="11058"/>
                  </a:lnTo>
                  <a:lnTo>
                    <a:pt x="1057011" y="2967"/>
                  </a:lnTo>
                  <a:lnTo>
                    <a:pt x="1042314" y="0"/>
                  </a:lnTo>
                  <a:close/>
                </a:path>
              </a:pathLst>
            </a:custGeom>
            <a:solidFill>
              <a:srgbClr val="D6ECEE">
                <a:alpha val="58039"/>
              </a:srgbClr>
            </a:solidFill>
          </p:spPr>
          <p:txBody>
            <a:bodyPr wrap="square" lIns="0" tIns="0" rIns="0" bIns="0" rtlCol="0"/>
            <a:lstStyle/>
            <a:p/>
          </p:txBody>
        </p:sp>
        <p:pic>
          <p:nvPicPr>
            <p:cNvPr id="30" name="object 30" descr=""/>
            <p:cNvPicPr/>
            <p:nvPr/>
          </p:nvPicPr>
          <p:blipFill>
            <a:blip r:embed="rId9" cstate="print"/>
            <a:stretch>
              <a:fillRect/>
            </a:stretch>
          </p:blipFill>
          <p:spPr>
            <a:xfrm>
              <a:off x="6547103" y="4044708"/>
              <a:ext cx="873251" cy="222491"/>
            </a:xfrm>
            <a:prstGeom prst="rect">
              <a:avLst/>
            </a:prstGeom>
          </p:spPr>
        </p:pic>
      </p:grpSp>
      <p:grpSp>
        <p:nvGrpSpPr>
          <p:cNvPr id="31" name="object 31" descr=""/>
          <p:cNvGrpSpPr/>
          <p:nvPr/>
        </p:nvGrpSpPr>
        <p:grpSpPr>
          <a:xfrm>
            <a:off x="7637012" y="3507858"/>
            <a:ext cx="1087755" cy="1339850"/>
            <a:chOff x="7637012" y="3507858"/>
            <a:chExt cx="1087755" cy="1339850"/>
          </a:xfrm>
        </p:grpSpPr>
        <p:pic>
          <p:nvPicPr>
            <p:cNvPr id="32" name="object 32"/>
            <p:cNvPicPr/>
            <p:nvPr/>
          </p:nvPicPr>
          <p:blipFill>
            <a:blip r:embed="rId10" cstate="print"/>
            <a:stretch>
              <a:fillRect/>
            </a:stretch>
          </p:blipFill>
          <p:spPr>
            <a:xfrm>
              <a:off x="7644643" y="4284093"/>
              <a:ext cx="1080066" cy="563140"/>
            </a:xfrm>
            <a:prstGeom prst="rect">
              <a:avLst/>
            </a:prstGeom>
          </p:spPr>
        </p:pic>
        <p:pic>
          <p:nvPicPr>
            <p:cNvPr id="33" name="object 33"/>
            <p:cNvPicPr/>
            <p:nvPr/>
          </p:nvPicPr>
          <p:blipFill>
            <a:blip r:embed="rId11" cstate="print"/>
            <a:stretch>
              <a:fillRect/>
            </a:stretch>
          </p:blipFill>
          <p:spPr>
            <a:xfrm>
              <a:off x="7637017" y="3507858"/>
              <a:ext cx="1080064" cy="551569"/>
            </a:xfrm>
            <a:prstGeom prst="rect">
              <a:avLst/>
            </a:prstGeom>
          </p:spPr>
        </p:pic>
        <p:sp>
          <p:nvSpPr>
            <p:cNvPr id="34" name="object 34" descr=""/>
            <p:cNvSpPr/>
            <p:nvPr/>
          </p:nvSpPr>
          <p:spPr>
            <a:xfrm>
              <a:off x="7637012" y="4060165"/>
              <a:ext cx="1080135" cy="226695"/>
            </a:xfrm>
            <a:custGeom>
              <a:avLst/>
              <a:gdLst/>
              <a:ahLst/>
              <a:cxnLst/>
              <a:rect l="l" t="t" r="r" b="b"/>
              <a:pathLst>
                <a:path w="1080134" h="226695">
                  <a:moveTo>
                    <a:pt x="1042314" y="0"/>
                  </a:moveTo>
                  <a:lnTo>
                    <a:pt x="37757" y="0"/>
                  </a:lnTo>
                  <a:lnTo>
                    <a:pt x="23060" y="2967"/>
                  </a:lnTo>
                  <a:lnTo>
                    <a:pt x="11058" y="11058"/>
                  </a:lnTo>
                  <a:lnTo>
                    <a:pt x="2967" y="23060"/>
                  </a:lnTo>
                  <a:lnTo>
                    <a:pt x="0" y="37757"/>
                  </a:lnTo>
                  <a:lnTo>
                    <a:pt x="0" y="188772"/>
                  </a:lnTo>
                  <a:lnTo>
                    <a:pt x="2967" y="203469"/>
                  </a:lnTo>
                  <a:lnTo>
                    <a:pt x="11058" y="215471"/>
                  </a:lnTo>
                  <a:lnTo>
                    <a:pt x="23060" y="223562"/>
                  </a:lnTo>
                  <a:lnTo>
                    <a:pt x="37757" y="226529"/>
                  </a:lnTo>
                  <a:lnTo>
                    <a:pt x="1042314" y="226529"/>
                  </a:lnTo>
                  <a:lnTo>
                    <a:pt x="1057011" y="223562"/>
                  </a:lnTo>
                  <a:lnTo>
                    <a:pt x="1069012" y="215471"/>
                  </a:lnTo>
                  <a:lnTo>
                    <a:pt x="1077104" y="203469"/>
                  </a:lnTo>
                  <a:lnTo>
                    <a:pt x="1080071" y="188772"/>
                  </a:lnTo>
                  <a:lnTo>
                    <a:pt x="1080071" y="37757"/>
                  </a:lnTo>
                  <a:lnTo>
                    <a:pt x="1077104" y="23060"/>
                  </a:lnTo>
                  <a:lnTo>
                    <a:pt x="1069012" y="11058"/>
                  </a:lnTo>
                  <a:lnTo>
                    <a:pt x="1057011" y="2967"/>
                  </a:lnTo>
                  <a:lnTo>
                    <a:pt x="1042314" y="0"/>
                  </a:lnTo>
                  <a:close/>
                </a:path>
              </a:pathLst>
            </a:custGeom>
            <a:solidFill>
              <a:srgbClr val="D6ECEE">
                <a:alpha val="58039"/>
              </a:srgbClr>
            </a:solidFill>
          </p:spPr>
          <p:txBody>
            <a:bodyPr wrap="square" lIns="0" tIns="0" rIns="0" bIns="0" rtlCol="0"/>
            <a:lstStyle/>
            <a:p/>
          </p:txBody>
        </p:sp>
        <p:pic>
          <p:nvPicPr>
            <p:cNvPr id="35" name="object 35" descr=""/>
            <p:cNvPicPr/>
            <p:nvPr/>
          </p:nvPicPr>
          <p:blipFill>
            <a:blip r:embed="rId12" cstate="print"/>
            <a:stretch>
              <a:fillRect/>
            </a:stretch>
          </p:blipFill>
          <p:spPr>
            <a:xfrm>
              <a:off x="7740395" y="4044708"/>
              <a:ext cx="873250" cy="222491"/>
            </a:xfrm>
            <a:prstGeom prst="rect">
              <a:avLst/>
            </a:prstGeom>
          </p:spPr>
        </p:pic>
      </p:grpSp>
      <p:sp>
        <p:nvSpPr>
          <p:cNvPr id="36" name="object 36" descr=""/>
          <p:cNvSpPr txBox="1"/>
          <p:nvPr/>
        </p:nvSpPr>
        <p:spPr>
          <a:xfrm>
            <a:off x="6627800" y="4087577"/>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超视距防碰撞</a:t>
            </a:r>
            <a:endParaRPr sz="900">
              <a:latin typeface="Microsoft YaHei"/>
              <a:cs typeface="Microsoft YaHei"/>
            </a:endParaRPr>
          </a:p>
        </p:txBody>
      </p:sp>
      <p:sp>
        <p:nvSpPr>
          <p:cNvPr id="37" name="object 37" descr=""/>
          <p:cNvSpPr txBox="1"/>
          <p:nvPr/>
        </p:nvSpPr>
        <p:spPr>
          <a:xfrm>
            <a:off x="7821320" y="4087577"/>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安全精准停靠</a:t>
            </a:r>
            <a:endParaRPr sz="900">
              <a:latin typeface="Microsoft YaHei"/>
              <a:cs typeface="Microsoft YaHei"/>
            </a:endParaRPr>
          </a:p>
        </p:txBody>
      </p:sp>
      <p:grpSp>
        <p:nvGrpSpPr>
          <p:cNvPr id="38" name="object 38" descr=""/>
          <p:cNvGrpSpPr/>
          <p:nvPr/>
        </p:nvGrpSpPr>
        <p:grpSpPr>
          <a:xfrm>
            <a:off x="6454067" y="4815090"/>
            <a:ext cx="1080135" cy="242570"/>
            <a:chOff x="6454067" y="4815090"/>
            <a:chExt cx="1080135" cy="242570"/>
          </a:xfrm>
        </p:grpSpPr>
        <p:sp>
          <p:nvSpPr>
            <p:cNvPr id="39" name="object 39" descr=""/>
            <p:cNvSpPr/>
            <p:nvPr/>
          </p:nvSpPr>
          <p:spPr>
            <a:xfrm>
              <a:off x="6454067" y="4830637"/>
              <a:ext cx="1080135" cy="226695"/>
            </a:xfrm>
            <a:custGeom>
              <a:avLst/>
              <a:gdLst/>
              <a:ahLst/>
              <a:cxnLst/>
              <a:rect l="l" t="t" r="r" b="b"/>
              <a:pathLst>
                <a:path w="1080134" h="226695">
                  <a:moveTo>
                    <a:pt x="1042314" y="0"/>
                  </a:moveTo>
                  <a:lnTo>
                    <a:pt x="37757" y="0"/>
                  </a:lnTo>
                  <a:lnTo>
                    <a:pt x="23060" y="2967"/>
                  </a:lnTo>
                  <a:lnTo>
                    <a:pt x="11058" y="11058"/>
                  </a:lnTo>
                  <a:lnTo>
                    <a:pt x="2967" y="23060"/>
                  </a:lnTo>
                  <a:lnTo>
                    <a:pt x="0" y="37757"/>
                  </a:lnTo>
                  <a:lnTo>
                    <a:pt x="0" y="188772"/>
                  </a:lnTo>
                  <a:lnTo>
                    <a:pt x="2967" y="203469"/>
                  </a:lnTo>
                  <a:lnTo>
                    <a:pt x="11058" y="215471"/>
                  </a:lnTo>
                  <a:lnTo>
                    <a:pt x="23060" y="223562"/>
                  </a:lnTo>
                  <a:lnTo>
                    <a:pt x="37757" y="226529"/>
                  </a:lnTo>
                  <a:lnTo>
                    <a:pt x="1042314" y="226529"/>
                  </a:lnTo>
                  <a:lnTo>
                    <a:pt x="1057011" y="223562"/>
                  </a:lnTo>
                  <a:lnTo>
                    <a:pt x="1069012" y="215471"/>
                  </a:lnTo>
                  <a:lnTo>
                    <a:pt x="1077104" y="203469"/>
                  </a:lnTo>
                  <a:lnTo>
                    <a:pt x="1080071" y="188772"/>
                  </a:lnTo>
                  <a:lnTo>
                    <a:pt x="1080071" y="37757"/>
                  </a:lnTo>
                  <a:lnTo>
                    <a:pt x="1077104" y="23060"/>
                  </a:lnTo>
                  <a:lnTo>
                    <a:pt x="1069012" y="11058"/>
                  </a:lnTo>
                  <a:lnTo>
                    <a:pt x="1057011" y="2967"/>
                  </a:lnTo>
                  <a:lnTo>
                    <a:pt x="1042314" y="0"/>
                  </a:lnTo>
                  <a:close/>
                </a:path>
              </a:pathLst>
            </a:custGeom>
            <a:solidFill>
              <a:srgbClr val="D6ECEE">
                <a:alpha val="58039"/>
              </a:srgbClr>
            </a:solidFill>
          </p:spPr>
          <p:txBody>
            <a:bodyPr wrap="square" lIns="0" tIns="0" rIns="0" bIns="0" rtlCol="0"/>
            <a:lstStyle/>
            <a:p/>
          </p:txBody>
        </p:sp>
        <p:pic>
          <p:nvPicPr>
            <p:cNvPr id="40" name="object 40" descr=""/>
            <p:cNvPicPr/>
            <p:nvPr/>
          </p:nvPicPr>
          <p:blipFill>
            <a:blip r:embed="rId13" cstate="print"/>
            <a:stretch>
              <a:fillRect/>
            </a:stretch>
          </p:blipFill>
          <p:spPr>
            <a:xfrm>
              <a:off x="6557010" y="4815090"/>
              <a:ext cx="873251" cy="222491"/>
            </a:xfrm>
            <a:prstGeom prst="rect">
              <a:avLst/>
            </a:prstGeom>
          </p:spPr>
        </p:pic>
      </p:grpSp>
      <p:sp>
        <p:nvSpPr>
          <p:cNvPr id="41" name="object 41" descr=""/>
          <p:cNvSpPr txBox="1"/>
          <p:nvPr/>
        </p:nvSpPr>
        <p:spPr>
          <a:xfrm>
            <a:off x="6638375" y="4858049"/>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实时车路协同</a:t>
            </a:r>
            <a:endParaRPr sz="900">
              <a:latin typeface="Microsoft YaHei"/>
              <a:cs typeface="Microsoft YaHei"/>
            </a:endParaRPr>
          </a:p>
        </p:txBody>
      </p:sp>
      <p:grpSp>
        <p:nvGrpSpPr>
          <p:cNvPr id="42" name="object 42" descr=""/>
          <p:cNvGrpSpPr/>
          <p:nvPr/>
        </p:nvGrpSpPr>
        <p:grpSpPr>
          <a:xfrm>
            <a:off x="7644644" y="4815090"/>
            <a:ext cx="1080135" cy="242570"/>
            <a:chOff x="7644644" y="4815090"/>
            <a:chExt cx="1080135" cy="242570"/>
          </a:xfrm>
        </p:grpSpPr>
        <p:sp>
          <p:nvSpPr>
            <p:cNvPr id="43" name="object 43" descr=""/>
            <p:cNvSpPr/>
            <p:nvPr/>
          </p:nvSpPr>
          <p:spPr>
            <a:xfrm>
              <a:off x="7644644" y="4830637"/>
              <a:ext cx="1080135" cy="226695"/>
            </a:xfrm>
            <a:custGeom>
              <a:avLst/>
              <a:gdLst/>
              <a:ahLst/>
              <a:cxnLst/>
              <a:rect l="l" t="t" r="r" b="b"/>
              <a:pathLst>
                <a:path w="1080134" h="226695">
                  <a:moveTo>
                    <a:pt x="1042314" y="0"/>
                  </a:moveTo>
                  <a:lnTo>
                    <a:pt x="37757" y="0"/>
                  </a:lnTo>
                  <a:lnTo>
                    <a:pt x="23060" y="2967"/>
                  </a:lnTo>
                  <a:lnTo>
                    <a:pt x="11058" y="11058"/>
                  </a:lnTo>
                  <a:lnTo>
                    <a:pt x="2967" y="23060"/>
                  </a:lnTo>
                  <a:lnTo>
                    <a:pt x="0" y="37757"/>
                  </a:lnTo>
                  <a:lnTo>
                    <a:pt x="0" y="188772"/>
                  </a:lnTo>
                  <a:lnTo>
                    <a:pt x="2967" y="203469"/>
                  </a:lnTo>
                  <a:lnTo>
                    <a:pt x="11058" y="215471"/>
                  </a:lnTo>
                  <a:lnTo>
                    <a:pt x="23060" y="223562"/>
                  </a:lnTo>
                  <a:lnTo>
                    <a:pt x="37757" y="226529"/>
                  </a:lnTo>
                  <a:lnTo>
                    <a:pt x="1042314" y="226529"/>
                  </a:lnTo>
                  <a:lnTo>
                    <a:pt x="1057011" y="223562"/>
                  </a:lnTo>
                  <a:lnTo>
                    <a:pt x="1069012" y="215471"/>
                  </a:lnTo>
                  <a:lnTo>
                    <a:pt x="1077104" y="203469"/>
                  </a:lnTo>
                  <a:lnTo>
                    <a:pt x="1080071" y="188772"/>
                  </a:lnTo>
                  <a:lnTo>
                    <a:pt x="1080071" y="37757"/>
                  </a:lnTo>
                  <a:lnTo>
                    <a:pt x="1077104" y="23060"/>
                  </a:lnTo>
                  <a:lnTo>
                    <a:pt x="1069012" y="11058"/>
                  </a:lnTo>
                  <a:lnTo>
                    <a:pt x="1057011" y="2967"/>
                  </a:lnTo>
                  <a:lnTo>
                    <a:pt x="1042314" y="0"/>
                  </a:lnTo>
                  <a:close/>
                </a:path>
              </a:pathLst>
            </a:custGeom>
            <a:solidFill>
              <a:srgbClr val="D6ECEE">
                <a:alpha val="58039"/>
              </a:srgbClr>
            </a:solidFill>
          </p:spPr>
          <p:txBody>
            <a:bodyPr wrap="square" lIns="0" tIns="0" rIns="0" bIns="0" rtlCol="0"/>
            <a:lstStyle/>
            <a:p/>
          </p:txBody>
        </p:sp>
        <p:pic>
          <p:nvPicPr>
            <p:cNvPr id="44" name="object 44" descr=""/>
            <p:cNvPicPr/>
            <p:nvPr/>
          </p:nvPicPr>
          <p:blipFill>
            <a:blip r:embed="rId14" cstate="print"/>
            <a:stretch>
              <a:fillRect/>
            </a:stretch>
          </p:blipFill>
          <p:spPr>
            <a:xfrm>
              <a:off x="7748015" y="4815090"/>
              <a:ext cx="873251" cy="222491"/>
            </a:xfrm>
            <a:prstGeom prst="rect">
              <a:avLst/>
            </a:prstGeom>
          </p:spPr>
        </p:pic>
      </p:grpSp>
      <p:sp>
        <p:nvSpPr>
          <p:cNvPr id="45" name="object 45" descr=""/>
          <p:cNvSpPr txBox="1"/>
          <p:nvPr/>
        </p:nvSpPr>
        <p:spPr>
          <a:xfrm>
            <a:off x="7828951" y="4858049"/>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latin typeface="Microsoft YaHei"/>
                <a:cs typeface="Microsoft YaHei"/>
              </a:rPr>
              <a:t>智能车速策略</a:t>
            </a:r>
            <a:endParaRPr sz="900">
              <a:latin typeface="Microsoft YaHei"/>
              <a:cs typeface="Microsoft YaHei"/>
            </a:endParaRPr>
          </a:p>
        </p:txBody>
      </p:sp>
      <p:sp>
        <p:nvSpPr>
          <p:cNvPr id="46" name="object 46" descr=""/>
          <p:cNvSpPr txBox="1"/>
          <p:nvPr/>
        </p:nvSpPr>
        <p:spPr>
          <a:xfrm>
            <a:off x="5720196" y="3091294"/>
            <a:ext cx="1933575" cy="238760"/>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3333FF"/>
                </a:solidFill>
                <a:latin typeface="Microsoft YaHei"/>
                <a:cs typeface="Microsoft YaHei"/>
              </a:rPr>
              <a:t>2018</a:t>
            </a:r>
            <a:r>
              <a:rPr dirty="0" sz="1400" spc="-20" b="1">
                <a:solidFill>
                  <a:srgbClr val="3333FF"/>
                </a:solidFill>
                <a:latin typeface="Microsoft YaHei"/>
                <a:cs typeface="Microsoft YaHei"/>
              </a:rPr>
              <a:t>.厦门BRT</a:t>
            </a:r>
            <a:r>
              <a:rPr dirty="0" sz="1400" spc="-30" b="1">
                <a:solidFill>
                  <a:srgbClr val="3333FF"/>
                </a:solidFill>
                <a:latin typeface="Microsoft YaHei"/>
                <a:cs typeface="Microsoft YaHei"/>
              </a:rPr>
              <a:t>智能网联</a:t>
            </a:r>
            <a:endParaRPr sz="1400">
              <a:latin typeface="Microsoft YaHei"/>
              <a:cs typeface="Microsoft YaHei"/>
            </a:endParaRPr>
          </a:p>
        </p:txBody>
      </p:sp>
      <p:grpSp>
        <p:nvGrpSpPr>
          <p:cNvPr id="47" name="object 47" descr=""/>
          <p:cNvGrpSpPr/>
          <p:nvPr/>
        </p:nvGrpSpPr>
        <p:grpSpPr>
          <a:xfrm>
            <a:off x="4694726" y="3486680"/>
            <a:ext cx="1533525" cy="1557655"/>
            <a:chOff x="4694726" y="3486680"/>
            <a:chExt cx="1533525" cy="1557655"/>
          </a:xfrm>
        </p:grpSpPr>
        <p:pic>
          <p:nvPicPr>
            <p:cNvPr id="48" name="object 48" descr=""/>
            <p:cNvPicPr/>
            <p:nvPr/>
          </p:nvPicPr>
          <p:blipFill>
            <a:blip r:embed="rId15" cstate="print"/>
            <a:stretch>
              <a:fillRect/>
            </a:stretch>
          </p:blipFill>
          <p:spPr>
            <a:xfrm>
              <a:off x="4707305" y="4298628"/>
              <a:ext cx="1520875" cy="745147"/>
            </a:xfrm>
            <a:prstGeom prst="rect">
              <a:avLst/>
            </a:prstGeom>
          </p:spPr>
        </p:pic>
        <p:pic>
          <p:nvPicPr>
            <p:cNvPr id="49" name="object 49" descr=""/>
            <p:cNvPicPr/>
            <p:nvPr/>
          </p:nvPicPr>
          <p:blipFill>
            <a:blip r:embed="rId16" cstate="print"/>
            <a:stretch>
              <a:fillRect/>
            </a:stretch>
          </p:blipFill>
          <p:spPr>
            <a:xfrm>
              <a:off x="4694726" y="3486680"/>
              <a:ext cx="1533461" cy="769302"/>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60830" y="627533"/>
            <a:ext cx="6269990" cy="4309110"/>
            <a:chOff x="1260830" y="627533"/>
            <a:chExt cx="6269990" cy="4309110"/>
          </a:xfrm>
        </p:grpSpPr>
        <p:pic>
          <p:nvPicPr>
            <p:cNvPr id="3" name="object 3"/>
            <p:cNvPicPr/>
            <p:nvPr/>
          </p:nvPicPr>
          <p:blipFill>
            <a:blip r:embed="rId2" cstate="print"/>
            <a:stretch>
              <a:fillRect/>
            </a:stretch>
          </p:blipFill>
          <p:spPr>
            <a:xfrm>
              <a:off x="1260830" y="1385443"/>
              <a:ext cx="5256003" cy="3550598"/>
            </a:xfrm>
            <a:prstGeom prst="rect">
              <a:avLst/>
            </a:prstGeom>
          </p:spPr>
        </p:pic>
        <p:pic>
          <p:nvPicPr>
            <p:cNvPr id="4" name="object 4"/>
            <p:cNvPicPr/>
            <p:nvPr/>
          </p:nvPicPr>
          <p:blipFill>
            <a:blip r:embed="rId3" cstate="print"/>
            <a:stretch>
              <a:fillRect/>
            </a:stretch>
          </p:blipFill>
          <p:spPr>
            <a:xfrm>
              <a:off x="6083630" y="3041625"/>
              <a:ext cx="238031" cy="590548"/>
            </a:xfrm>
            <a:prstGeom prst="rect">
              <a:avLst/>
            </a:prstGeom>
          </p:spPr>
        </p:pic>
        <p:pic>
          <p:nvPicPr>
            <p:cNvPr id="5" name="object 5"/>
            <p:cNvPicPr/>
            <p:nvPr/>
          </p:nvPicPr>
          <p:blipFill>
            <a:blip r:embed="rId3" cstate="print"/>
            <a:stretch>
              <a:fillRect/>
            </a:stretch>
          </p:blipFill>
          <p:spPr>
            <a:xfrm>
              <a:off x="3636238" y="1385443"/>
              <a:ext cx="238036" cy="590549"/>
            </a:xfrm>
            <a:prstGeom prst="rect">
              <a:avLst/>
            </a:prstGeom>
          </p:spPr>
        </p:pic>
        <p:pic>
          <p:nvPicPr>
            <p:cNvPr id="6" name="object 6"/>
            <p:cNvPicPr/>
            <p:nvPr/>
          </p:nvPicPr>
          <p:blipFill>
            <a:blip r:embed="rId3" cstate="print"/>
            <a:stretch>
              <a:fillRect/>
            </a:stretch>
          </p:blipFill>
          <p:spPr>
            <a:xfrm>
              <a:off x="6461772" y="993711"/>
              <a:ext cx="238036" cy="590537"/>
            </a:xfrm>
            <a:prstGeom prst="rect">
              <a:avLst/>
            </a:prstGeom>
          </p:spPr>
        </p:pic>
        <p:pic>
          <p:nvPicPr>
            <p:cNvPr id="7" name="object 7"/>
            <p:cNvPicPr/>
            <p:nvPr/>
          </p:nvPicPr>
          <p:blipFill>
            <a:blip r:embed="rId4" cstate="print"/>
            <a:stretch>
              <a:fillRect/>
            </a:stretch>
          </p:blipFill>
          <p:spPr>
            <a:xfrm>
              <a:off x="3420289" y="2249538"/>
              <a:ext cx="1068855" cy="794737"/>
            </a:xfrm>
            <a:prstGeom prst="rect">
              <a:avLst/>
            </a:prstGeom>
          </p:spPr>
        </p:pic>
        <p:pic>
          <p:nvPicPr>
            <p:cNvPr id="8" name="object 8"/>
            <p:cNvPicPr/>
            <p:nvPr/>
          </p:nvPicPr>
          <p:blipFill>
            <a:blip r:embed="rId4" cstate="print"/>
            <a:stretch>
              <a:fillRect/>
            </a:stretch>
          </p:blipFill>
          <p:spPr>
            <a:xfrm>
              <a:off x="6461772" y="627533"/>
              <a:ext cx="1068857" cy="794737"/>
            </a:xfrm>
            <a:prstGeom prst="rect">
              <a:avLst/>
            </a:prstGeom>
          </p:spPr>
        </p:pic>
      </p:grpSp>
      <p:sp>
        <p:nvSpPr>
          <p:cNvPr id="9" name="object 9" descr=""/>
          <p:cNvSpPr txBox="1"/>
          <p:nvPr/>
        </p:nvSpPr>
        <p:spPr>
          <a:xfrm>
            <a:off x="6918442" y="1031679"/>
            <a:ext cx="1496060" cy="514984"/>
          </a:xfrm>
          <a:prstGeom prst="rect">
            <a:avLst/>
          </a:prstGeom>
        </p:spPr>
        <p:txBody>
          <a:bodyPr wrap="square" lIns="0" tIns="12700" rIns="0" bIns="0" rtlCol="0" vert="horz">
            <a:spAutoFit/>
          </a:bodyPr>
          <a:lstStyle/>
          <a:p>
            <a:pPr marL="552450">
              <a:lnSpc>
                <a:spcPct val="100000"/>
              </a:lnSpc>
              <a:spcBef>
                <a:spcPts val="100"/>
              </a:spcBef>
            </a:pPr>
            <a:r>
              <a:rPr dirty="0" sz="1200" spc="-10">
                <a:latin typeface="Arial MT"/>
                <a:cs typeface="Arial MT"/>
              </a:rPr>
              <a:t>RSU</a:t>
            </a:r>
            <a:r>
              <a:rPr dirty="0" sz="1200" spc="-15">
                <a:latin typeface="SimSun"/>
                <a:cs typeface="SimSun"/>
              </a:rPr>
              <a:t>部署位置</a:t>
            </a:r>
            <a:endParaRPr sz="1200">
              <a:latin typeface="SimSun"/>
              <a:cs typeface="SimSun"/>
            </a:endParaRPr>
          </a:p>
          <a:p>
            <a:pPr marL="12700">
              <a:lnSpc>
                <a:spcPct val="100000"/>
              </a:lnSpc>
              <a:spcBef>
                <a:spcPts val="969"/>
              </a:spcBef>
            </a:pPr>
            <a:r>
              <a:rPr dirty="0" sz="1200" spc="-35">
                <a:latin typeface="Arial MT"/>
                <a:cs typeface="Arial MT"/>
              </a:rPr>
              <a:t>LTE-</a:t>
            </a:r>
            <a:r>
              <a:rPr dirty="0" sz="1200" spc="-10">
                <a:latin typeface="Arial MT"/>
                <a:cs typeface="Arial MT"/>
              </a:rPr>
              <a:t>V</a:t>
            </a:r>
            <a:r>
              <a:rPr dirty="0" sz="1200" spc="-10">
                <a:latin typeface="SimSun"/>
                <a:cs typeface="SimSun"/>
              </a:rPr>
              <a:t>基站部署位置</a:t>
            </a:r>
            <a:endParaRPr sz="1200">
              <a:latin typeface="SimSun"/>
              <a:cs typeface="SimSun"/>
            </a:endParaRPr>
          </a:p>
        </p:txBody>
      </p:sp>
      <p:grpSp>
        <p:nvGrpSpPr>
          <p:cNvPr id="10" name="object 10" descr=""/>
          <p:cNvGrpSpPr/>
          <p:nvPr/>
        </p:nvGrpSpPr>
        <p:grpSpPr>
          <a:xfrm>
            <a:off x="6009582" y="1675259"/>
            <a:ext cx="1099185" cy="473709"/>
            <a:chOff x="6009582" y="1675259"/>
            <a:chExt cx="1099185" cy="473709"/>
          </a:xfrm>
        </p:grpSpPr>
        <p:sp>
          <p:nvSpPr>
            <p:cNvPr id="11" name="object 11" descr=""/>
            <p:cNvSpPr/>
            <p:nvPr/>
          </p:nvSpPr>
          <p:spPr>
            <a:xfrm>
              <a:off x="6022282" y="1687959"/>
              <a:ext cx="1073785" cy="448309"/>
            </a:xfrm>
            <a:custGeom>
              <a:avLst/>
              <a:gdLst/>
              <a:ahLst/>
              <a:cxnLst/>
              <a:rect l="l" t="t" r="r" b="b"/>
              <a:pathLst>
                <a:path w="1073784" h="448310">
                  <a:moveTo>
                    <a:pt x="472236" y="288035"/>
                  </a:moveTo>
                  <a:lnTo>
                    <a:pt x="214655" y="288035"/>
                  </a:lnTo>
                  <a:lnTo>
                    <a:pt x="0" y="448297"/>
                  </a:lnTo>
                  <a:lnTo>
                    <a:pt x="472236" y="288035"/>
                  </a:lnTo>
                  <a:close/>
                </a:path>
                <a:path w="1073784" h="448310">
                  <a:moveTo>
                    <a:pt x="1025245" y="0"/>
                  </a:moveTo>
                  <a:lnTo>
                    <a:pt x="90944" y="0"/>
                  </a:lnTo>
                  <a:lnTo>
                    <a:pt x="72256" y="3771"/>
                  </a:lnTo>
                  <a:lnTo>
                    <a:pt x="56997" y="14058"/>
                  </a:lnTo>
                  <a:lnTo>
                    <a:pt x="46710" y="29317"/>
                  </a:lnTo>
                  <a:lnTo>
                    <a:pt x="42938" y="48005"/>
                  </a:lnTo>
                  <a:lnTo>
                    <a:pt x="42938" y="240029"/>
                  </a:lnTo>
                  <a:lnTo>
                    <a:pt x="46710" y="258712"/>
                  </a:lnTo>
                  <a:lnTo>
                    <a:pt x="56997" y="273972"/>
                  </a:lnTo>
                  <a:lnTo>
                    <a:pt x="72256" y="284262"/>
                  </a:lnTo>
                  <a:lnTo>
                    <a:pt x="90944" y="288035"/>
                  </a:lnTo>
                  <a:lnTo>
                    <a:pt x="1025245" y="288035"/>
                  </a:lnTo>
                  <a:lnTo>
                    <a:pt x="1043933" y="284262"/>
                  </a:lnTo>
                  <a:lnTo>
                    <a:pt x="1059192" y="273972"/>
                  </a:lnTo>
                  <a:lnTo>
                    <a:pt x="1069479" y="258712"/>
                  </a:lnTo>
                  <a:lnTo>
                    <a:pt x="1073251" y="240029"/>
                  </a:lnTo>
                  <a:lnTo>
                    <a:pt x="1073251" y="48005"/>
                  </a:lnTo>
                  <a:lnTo>
                    <a:pt x="1069479" y="29317"/>
                  </a:lnTo>
                  <a:lnTo>
                    <a:pt x="1059192" y="14058"/>
                  </a:lnTo>
                  <a:lnTo>
                    <a:pt x="1043933" y="3771"/>
                  </a:lnTo>
                  <a:lnTo>
                    <a:pt x="1025245" y="0"/>
                  </a:lnTo>
                  <a:close/>
                </a:path>
              </a:pathLst>
            </a:custGeom>
            <a:solidFill>
              <a:srgbClr val="FFFFFF"/>
            </a:solidFill>
          </p:spPr>
          <p:txBody>
            <a:bodyPr wrap="square" lIns="0" tIns="0" rIns="0" bIns="0" rtlCol="0"/>
            <a:lstStyle/>
            <a:p/>
          </p:txBody>
        </p:sp>
        <p:sp>
          <p:nvSpPr>
            <p:cNvPr id="12" name="object 12" descr=""/>
            <p:cNvSpPr/>
            <p:nvPr/>
          </p:nvSpPr>
          <p:spPr>
            <a:xfrm>
              <a:off x="6022282" y="1687959"/>
              <a:ext cx="1073785" cy="448309"/>
            </a:xfrm>
            <a:custGeom>
              <a:avLst/>
              <a:gdLst/>
              <a:ahLst/>
              <a:cxnLst/>
              <a:rect l="l" t="t" r="r" b="b"/>
              <a:pathLst>
                <a:path w="1073784" h="448310">
                  <a:moveTo>
                    <a:pt x="42938" y="48005"/>
                  </a:moveTo>
                  <a:lnTo>
                    <a:pt x="46710" y="29317"/>
                  </a:lnTo>
                  <a:lnTo>
                    <a:pt x="56997" y="14058"/>
                  </a:lnTo>
                  <a:lnTo>
                    <a:pt x="72256" y="3771"/>
                  </a:lnTo>
                  <a:lnTo>
                    <a:pt x="90944" y="0"/>
                  </a:lnTo>
                  <a:lnTo>
                    <a:pt x="214655" y="0"/>
                  </a:lnTo>
                  <a:lnTo>
                    <a:pt x="472236" y="0"/>
                  </a:lnTo>
                  <a:lnTo>
                    <a:pt x="1025245" y="0"/>
                  </a:lnTo>
                  <a:lnTo>
                    <a:pt x="1043933" y="3771"/>
                  </a:lnTo>
                  <a:lnTo>
                    <a:pt x="1059192" y="14058"/>
                  </a:lnTo>
                  <a:lnTo>
                    <a:pt x="1069479" y="29317"/>
                  </a:lnTo>
                  <a:lnTo>
                    <a:pt x="1073251" y="48005"/>
                  </a:lnTo>
                  <a:lnTo>
                    <a:pt x="1073251" y="168020"/>
                  </a:lnTo>
                  <a:lnTo>
                    <a:pt x="1073251" y="240029"/>
                  </a:lnTo>
                  <a:lnTo>
                    <a:pt x="1069479" y="258712"/>
                  </a:lnTo>
                  <a:lnTo>
                    <a:pt x="1059192" y="273972"/>
                  </a:lnTo>
                  <a:lnTo>
                    <a:pt x="1043933" y="284262"/>
                  </a:lnTo>
                  <a:lnTo>
                    <a:pt x="1025245" y="288035"/>
                  </a:lnTo>
                  <a:lnTo>
                    <a:pt x="472236" y="288035"/>
                  </a:lnTo>
                  <a:lnTo>
                    <a:pt x="0" y="448297"/>
                  </a:lnTo>
                  <a:lnTo>
                    <a:pt x="214655" y="288035"/>
                  </a:lnTo>
                  <a:lnTo>
                    <a:pt x="90944" y="288035"/>
                  </a:lnTo>
                  <a:lnTo>
                    <a:pt x="72256" y="284262"/>
                  </a:lnTo>
                  <a:lnTo>
                    <a:pt x="56997" y="273972"/>
                  </a:lnTo>
                  <a:lnTo>
                    <a:pt x="46710" y="258712"/>
                  </a:lnTo>
                  <a:lnTo>
                    <a:pt x="42938" y="240029"/>
                  </a:lnTo>
                  <a:lnTo>
                    <a:pt x="42938" y="168020"/>
                  </a:lnTo>
                  <a:lnTo>
                    <a:pt x="42938" y="48005"/>
                  </a:lnTo>
                  <a:close/>
                </a:path>
              </a:pathLst>
            </a:custGeom>
            <a:ln w="25400">
              <a:solidFill>
                <a:srgbClr val="2D2D8A"/>
              </a:solidFill>
            </a:ln>
          </p:spPr>
          <p:txBody>
            <a:bodyPr wrap="square" lIns="0" tIns="0" rIns="0" bIns="0" rtlCol="0"/>
            <a:lstStyle/>
            <a:p/>
          </p:txBody>
        </p:sp>
      </p:grpSp>
      <p:sp>
        <p:nvSpPr>
          <p:cNvPr id="13" name="object 13" descr=""/>
          <p:cNvSpPr txBox="1"/>
          <p:nvPr/>
        </p:nvSpPr>
        <p:spPr>
          <a:xfrm>
            <a:off x="6157998" y="1706881"/>
            <a:ext cx="751205" cy="243204"/>
          </a:xfrm>
          <a:prstGeom prst="rect">
            <a:avLst/>
          </a:prstGeom>
        </p:spPr>
        <p:txBody>
          <a:bodyPr wrap="square" lIns="0" tIns="15875" rIns="0" bIns="0" rtlCol="0" vert="horz">
            <a:spAutoFit/>
          </a:bodyPr>
          <a:lstStyle/>
          <a:p>
            <a:pPr marL="12700">
              <a:lnSpc>
                <a:spcPct val="100000"/>
              </a:lnSpc>
              <a:spcBef>
                <a:spcPts val="125"/>
              </a:spcBef>
            </a:pPr>
            <a:r>
              <a:rPr dirty="0" sz="1400" spc="-15">
                <a:solidFill>
                  <a:srgbClr val="17375E"/>
                </a:solidFill>
                <a:latin typeface="SimSun"/>
                <a:cs typeface="SimSun"/>
              </a:rPr>
              <a:t>弯道提醒</a:t>
            </a:r>
            <a:endParaRPr sz="1400">
              <a:latin typeface="SimSun"/>
              <a:cs typeface="SimSun"/>
            </a:endParaRPr>
          </a:p>
        </p:txBody>
      </p:sp>
      <p:grpSp>
        <p:nvGrpSpPr>
          <p:cNvPr id="14" name="object 14" descr=""/>
          <p:cNvGrpSpPr/>
          <p:nvPr/>
        </p:nvGrpSpPr>
        <p:grpSpPr>
          <a:xfrm>
            <a:off x="6015404" y="2524867"/>
            <a:ext cx="873125" cy="1057910"/>
            <a:chOff x="6015404" y="2524867"/>
            <a:chExt cx="873125" cy="1057910"/>
          </a:xfrm>
        </p:grpSpPr>
        <p:sp>
          <p:nvSpPr>
            <p:cNvPr id="15" name="object 15" descr=""/>
            <p:cNvSpPr/>
            <p:nvPr/>
          </p:nvSpPr>
          <p:spPr>
            <a:xfrm>
              <a:off x="6028104" y="2537567"/>
              <a:ext cx="847725" cy="1032510"/>
            </a:xfrm>
            <a:custGeom>
              <a:avLst/>
              <a:gdLst/>
              <a:ahLst/>
              <a:cxnLst/>
              <a:rect l="l" t="t" r="r" b="b"/>
              <a:pathLst>
                <a:path w="847725" h="1032510">
                  <a:moveTo>
                    <a:pt x="782701" y="0"/>
                  </a:moveTo>
                  <a:lnTo>
                    <a:pt x="524256" y="0"/>
                  </a:lnTo>
                  <a:lnTo>
                    <a:pt x="499104" y="5078"/>
                  </a:lnTo>
                  <a:lnTo>
                    <a:pt x="478564" y="18926"/>
                  </a:lnTo>
                  <a:lnTo>
                    <a:pt x="464716" y="39465"/>
                  </a:lnTo>
                  <a:lnTo>
                    <a:pt x="459638" y="64617"/>
                  </a:lnTo>
                  <a:lnTo>
                    <a:pt x="459638" y="172059"/>
                  </a:lnTo>
                  <a:lnTo>
                    <a:pt x="0" y="330276"/>
                  </a:lnTo>
                  <a:lnTo>
                    <a:pt x="459638" y="430148"/>
                  </a:lnTo>
                  <a:lnTo>
                    <a:pt x="459638" y="967727"/>
                  </a:lnTo>
                  <a:lnTo>
                    <a:pt x="464716" y="992879"/>
                  </a:lnTo>
                  <a:lnTo>
                    <a:pt x="478564" y="1013418"/>
                  </a:lnTo>
                  <a:lnTo>
                    <a:pt x="499104" y="1027266"/>
                  </a:lnTo>
                  <a:lnTo>
                    <a:pt x="524256" y="1032344"/>
                  </a:lnTo>
                  <a:lnTo>
                    <a:pt x="782701" y="1032344"/>
                  </a:lnTo>
                  <a:lnTo>
                    <a:pt x="807852" y="1027266"/>
                  </a:lnTo>
                  <a:lnTo>
                    <a:pt x="828392" y="1013418"/>
                  </a:lnTo>
                  <a:lnTo>
                    <a:pt x="842240" y="992879"/>
                  </a:lnTo>
                  <a:lnTo>
                    <a:pt x="847318" y="967727"/>
                  </a:lnTo>
                  <a:lnTo>
                    <a:pt x="847318" y="64617"/>
                  </a:lnTo>
                  <a:lnTo>
                    <a:pt x="842240" y="39465"/>
                  </a:lnTo>
                  <a:lnTo>
                    <a:pt x="828392" y="18926"/>
                  </a:lnTo>
                  <a:lnTo>
                    <a:pt x="807852" y="5078"/>
                  </a:lnTo>
                  <a:lnTo>
                    <a:pt x="782701" y="0"/>
                  </a:lnTo>
                  <a:close/>
                </a:path>
              </a:pathLst>
            </a:custGeom>
            <a:solidFill>
              <a:srgbClr val="FFFFFF"/>
            </a:solidFill>
          </p:spPr>
          <p:txBody>
            <a:bodyPr wrap="square" lIns="0" tIns="0" rIns="0" bIns="0" rtlCol="0"/>
            <a:lstStyle/>
            <a:p/>
          </p:txBody>
        </p:sp>
        <p:sp>
          <p:nvSpPr>
            <p:cNvPr id="16" name="object 16" descr=""/>
            <p:cNvSpPr/>
            <p:nvPr/>
          </p:nvSpPr>
          <p:spPr>
            <a:xfrm>
              <a:off x="6028104" y="2537567"/>
              <a:ext cx="847725" cy="1032510"/>
            </a:xfrm>
            <a:custGeom>
              <a:avLst/>
              <a:gdLst/>
              <a:ahLst/>
              <a:cxnLst/>
              <a:rect l="l" t="t" r="r" b="b"/>
              <a:pathLst>
                <a:path w="847725" h="1032510">
                  <a:moveTo>
                    <a:pt x="459638" y="64617"/>
                  </a:moveTo>
                  <a:lnTo>
                    <a:pt x="464716" y="39465"/>
                  </a:lnTo>
                  <a:lnTo>
                    <a:pt x="478564" y="18926"/>
                  </a:lnTo>
                  <a:lnTo>
                    <a:pt x="499104" y="5078"/>
                  </a:lnTo>
                  <a:lnTo>
                    <a:pt x="524256" y="0"/>
                  </a:lnTo>
                  <a:lnTo>
                    <a:pt x="621169" y="0"/>
                  </a:lnTo>
                  <a:lnTo>
                    <a:pt x="782701" y="0"/>
                  </a:lnTo>
                  <a:lnTo>
                    <a:pt x="807852" y="5078"/>
                  </a:lnTo>
                  <a:lnTo>
                    <a:pt x="828392" y="18926"/>
                  </a:lnTo>
                  <a:lnTo>
                    <a:pt x="842240" y="39465"/>
                  </a:lnTo>
                  <a:lnTo>
                    <a:pt x="847318" y="64617"/>
                  </a:lnTo>
                  <a:lnTo>
                    <a:pt x="847318" y="172059"/>
                  </a:lnTo>
                  <a:lnTo>
                    <a:pt x="847318" y="430148"/>
                  </a:lnTo>
                  <a:lnTo>
                    <a:pt x="847318" y="967727"/>
                  </a:lnTo>
                  <a:lnTo>
                    <a:pt x="842240" y="992879"/>
                  </a:lnTo>
                  <a:lnTo>
                    <a:pt x="828392" y="1013418"/>
                  </a:lnTo>
                  <a:lnTo>
                    <a:pt x="807852" y="1027266"/>
                  </a:lnTo>
                  <a:lnTo>
                    <a:pt x="782701" y="1032344"/>
                  </a:lnTo>
                  <a:lnTo>
                    <a:pt x="621169" y="1032344"/>
                  </a:lnTo>
                  <a:lnTo>
                    <a:pt x="524256" y="1032344"/>
                  </a:lnTo>
                  <a:lnTo>
                    <a:pt x="499104" y="1027266"/>
                  </a:lnTo>
                  <a:lnTo>
                    <a:pt x="478564" y="1013418"/>
                  </a:lnTo>
                  <a:lnTo>
                    <a:pt x="464716" y="992879"/>
                  </a:lnTo>
                  <a:lnTo>
                    <a:pt x="459638" y="967727"/>
                  </a:lnTo>
                  <a:lnTo>
                    <a:pt x="459638" y="430148"/>
                  </a:lnTo>
                  <a:lnTo>
                    <a:pt x="0" y="330276"/>
                  </a:lnTo>
                  <a:lnTo>
                    <a:pt x="459638" y="172059"/>
                  </a:lnTo>
                  <a:lnTo>
                    <a:pt x="459638" y="64617"/>
                  </a:lnTo>
                  <a:close/>
                </a:path>
              </a:pathLst>
            </a:custGeom>
            <a:ln w="25400">
              <a:solidFill>
                <a:srgbClr val="2D2D8A"/>
              </a:solidFill>
            </a:ln>
          </p:spPr>
          <p:txBody>
            <a:bodyPr wrap="square" lIns="0" tIns="0" rIns="0" bIns="0" rtlCol="0"/>
            <a:lstStyle/>
            <a:p/>
          </p:txBody>
        </p:sp>
      </p:grpSp>
      <p:sp>
        <p:nvSpPr>
          <p:cNvPr id="17" name="object 17" descr=""/>
          <p:cNvSpPr txBox="1"/>
          <p:nvPr/>
        </p:nvSpPr>
        <p:spPr>
          <a:xfrm>
            <a:off x="6585384" y="2612034"/>
            <a:ext cx="207010" cy="885825"/>
          </a:xfrm>
          <a:prstGeom prst="rect">
            <a:avLst/>
          </a:prstGeom>
        </p:spPr>
        <p:txBody>
          <a:bodyPr wrap="square" lIns="0" tIns="15240" rIns="0" bIns="0" rtlCol="0" vert="horz">
            <a:spAutoFit/>
          </a:bodyPr>
          <a:lstStyle/>
          <a:p>
            <a:pPr algn="just" marL="12700" marR="5080">
              <a:lnSpc>
                <a:spcPct val="100299"/>
              </a:lnSpc>
              <a:spcBef>
                <a:spcPts val="120"/>
              </a:spcBef>
            </a:pPr>
            <a:r>
              <a:rPr dirty="0" sz="1400" spc="-50">
                <a:solidFill>
                  <a:srgbClr val="17375E"/>
                </a:solidFill>
                <a:latin typeface="SimSun"/>
                <a:cs typeface="SimSun"/>
              </a:rPr>
              <a:t>车速引导</a:t>
            </a:r>
            <a:endParaRPr sz="1400">
              <a:latin typeface="SimSun"/>
              <a:cs typeface="SimSun"/>
            </a:endParaRPr>
          </a:p>
        </p:txBody>
      </p:sp>
      <p:grpSp>
        <p:nvGrpSpPr>
          <p:cNvPr id="18" name="object 18" descr=""/>
          <p:cNvGrpSpPr/>
          <p:nvPr/>
        </p:nvGrpSpPr>
        <p:grpSpPr>
          <a:xfrm>
            <a:off x="1836686" y="1067752"/>
            <a:ext cx="1609090" cy="810260"/>
            <a:chOff x="1836686" y="1067752"/>
            <a:chExt cx="1609090" cy="810260"/>
          </a:xfrm>
        </p:grpSpPr>
        <p:sp>
          <p:nvSpPr>
            <p:cNvPr id="19" name="object 19" descr=""/>
            <p:cNvSpPr/>
            <p:nvPr/>
          </p:nvSpPr>
          <p:spPr>
            <a:xfrm>
              <a:off x="1836686" y="1067752"/>
              <a:ext cx="1367790" cy="340360"/>
            </a:xfrm>
            <a:custGeom>
              <a:avLst/>
              <a:gdLst/>
              <a:ahLst/>
              <a:cxnLst/>
              <a:rect l="l" t="t" r="r" b="b"/>
              <a:pathLst>
                <a:path w="1367789" h="340359">
                  <a:moveTo>
                    <a:pt x="1367663" y="0"/>
                  </a:moveTo>
                  <a:lnTo>
                    <a:pt x="0" y="0"/>
                  </a:lnTo>
                  <a:lnTo>
                    <a:pt x="0" y="340042"/>
                  </a:lnTo>
                  <a:lnTo>
                    <a:pt x="1367663" y="340042"/>
                  </a:lnTo>
                  <a:lnTo>
                    <a:pt x="1367663" y="0"/>
                  </a:lnTo>
                  <a:close/>
                </a:path>
              </a:pathLst>
            </a:custGeom>
            <a:solidFill>
              <a:srgbClr val="FFFFFF"/>
            </a:solidFill>
          </p:spPr>
          <p:txBody>
            <a:bodyPr wrap="square" lIns="0" tIns="0" rIns="0" bIns="0" rtlCol="0"/>
            <a:lstStyle/>
            <a:p/>
          </p:txBody>
        </p:sp>
        <p:sp>
          <p:nvSpPr>
            <p:cNvPr id="20" name="object 20" descr=""/>
            <p:cNvSpPr/>
            <p:nvPr/>
          </p:nvSpPr>
          <p:spPr>
            <a:xfrm>
              <a:off x="2553803" y="1439851"/>
              <a:ext cx="879475" cy="425450"/>
            </a:xfrm>
            <a:custGeom>
              <a:avLst/>
              <a:gdLst/>
              <a:ahLst/>
              <a:cxnLst/>
              <a:rect l="l" t="t" r="r" b="b"/>
              <a:pathLst>
                <a:path w="879475" h="425450">
                  <a:moveTo>
                    <a:pt x="0" y="0"/>
                  </a:moveTo>
                  <a:lnTo>
                    <a:pt x="879043" y="425107"/>
                  </a:lnTo>
                </a:path>
              </a:pathLst>
            </a:custGeom>
            <a:ln w="25399">
              <a:solidFill>
                <a:srgbClr val="2D2D8A"/>
              </a:solidFill>
            </a:ln>
          </p:spPr>
          <p:txBody>
            <a:bodyPr wrap="square" lIns="0" tIns="0" rIns="0" bIns="0" rtlCol="0"/>
            <a:lstStyle/>
            <a:p/>
          </p:txBody>
        </p:sp>
      </p:grpSp>
      <p:sp>
        <p:nvSpPr>
          <p:cNvPr id="21" name="object 21" descr=""/>
          <p:cNvSpPr txBox="1"/>
          <p:nvPr/>
        </p:nvSpPr>
        <p:spPr>
          <a:xfrm>
            <a:off x="1836686" y="1067752"/>
            <a:ext cx="1367790" cy="340360"/>
          </a:xfrm>
          <a:prstGeom prst="rect">
            <a:avLst/>
          </a:prstGeom>
          <a:ln w="25400">
            <a:solidFill>
              <a:srgbClr val="2D2D8A"/>
            </a:solidFill>
          </a:ln>
        </p:spPr>
        <p:txBody>
          <a:bodyPr wrap="square" lIns="0" tIns="60960" rIns="0" bIns="0" rtlCol="0" vert="horz">
            <a:spAutoFit/>
          </a:bodyPr>
          <a:lstStyle/>
          <a:p>
            <a:pPr marL="139065">
              <a:lnSpc>
                <a:spcPct val="100000"/>
              </a:lnSpc>
              <a:spcBef>
                <a:spcPts val="480"/>
              </a:spcBef>
            </a:pPr>
            <a:r>
              <a:rPr dirty="0" sz="1400" spc="-10">
                <a:latin typeface="SimSun"/>
                <a:cs typeface="SimSun"/>
              </a:rPr>
              <a:t>路侧施工提醒</a:t>
            </a:r>
            <a:endParaRPr sz="1400">
              <a:latin typeface="SimSun"/>
              <a:cs typeface="SimSun"/>
            </a:endParaRPr>
          </a:p>
        </p:txBody>
      </p:sp>
      <p:sp>
        <p:nvSpPr>
          <p:cNvPr id="22" name="object 22" descr=""/>
          <p:cNvSpPr/>
          <p:nvPr/>
        </p:nvSpPr>
        <p:spPr>
          <a:xfrm>
            <a:off x="4004045" y="1417507"/>
            <a:ext cx="85090" cy="488950"/>
          </a:xfrm>
          <a:custGeom>
            <a:avLst/>
            <a:gdLst/>
            <a:ahLst/>
            <a:cxnLst/>
            <a:rect l="l" t="t" r="r" b="b"/>
            <a:pathLst>
              <a:path w="85089" h="488950">
                <a:moveTo>
                  <a:pt x="0" y="0"/>
                </a:moveTo>
                <a:lnTo>
                  <a:pt x="84836" y="488899"/>
                </a:lnTo>
              </a:path>
            </a:pathLst>
          </a:custGeom>
          <a:ln w="25400">
            <a:solidFill>
              <a:srgbClr val="2D2D8A"/>
            </a:solidFill>
          </a:ln>
        </p:spPr>
        <p:txBody>
          <a:bodyPr wrap="square" lIns="0" tIns="0" rIns="0" bIns="0" rtlCol="0"/>
          <a:lstStyle/>
          <a:p/>
        </p:txBody>
      </p:sp>
      <p:sp>
        <p:nvSpPr>
          <p:cNvPr id="23" name="object 23" descr=""/>
          <p:cNvSpPr txBox="1"/>
          <p:nvPr/>
        </p:nvSpPr>
        <p:spPr>
          <a:xfrm>
            <a:off x="3469297" y="1045400"/>
            <a:ext cx="1020444" cy="340360"/>
          </a:xfrm>
          <a:prstGeom prst="rect">
            <a:avLst/>
          </a:prstGeom>
          <a:ln w="25400">
            <a:solidFill>
              <a:srgbClr val="2D2D8A"/>
            </a:solidFill>
          </a:ln>
        </p:spPr>
        <p:txBody>
          <a:bodyPr wrap="square" lIns="0" tIns="60960" rIns="0" bIns="0" rtlCol="0" vert="horz">
            <a:spAutoFit/>
          </a:bodyPr>
          <a:lstStyle/>
          <a:p>
            <a:pPr marL="146685">
              <a:lnSpc>
                <a:spcPct val="100000"/>
              </a:lnSpc>
              <a:spcBef>
                <a:spcPts val="480"/>
              </a:spcBef>
            </a:pPr>
            <a:r>
              <a:rPr dirty="0" sz="1400" spc="-15">
                <a:latin typeface="SimSun"/>
                <a:cs typeface="SimSun"/>
              </a:rPr>
              <a:t>行人提醒</a:t>
            </a:r>
            <a:endParaRPr sz="1400">
              <a:latin typeface="SimSun"/>
              <a:cs typeface="SimSun"/>
            </a:endParaRPr>
          </a:p>
        </p:txBody>
      </p:sp>
      <p:sp>
        <p:nvSpPr>
          <p:cNvPr id="24" name="object 24" descr=""/>
          <p:cNvSpPr/>
          <p:nvPr/>
        </p:nvSpPr>
        <p:spPr>
          <a:xfrm>
            <a:off x="4816335" y="1417506"/>
            <a:ext cx="598805" cy="414655"/>
          </a:xfrm>
          <a:custGeom>
            <a:avLst/>
            <a:gdLst/>
            <a:ahLst/>
            <a:cxnLst/>
            <a:rect l="l" t="t" r="r" b="b"/>
            <a:pathLst>
              <a:path w="598804" h="414655">
                <a:moveTo>
                  <a:pt x="598347" y="0"/>
                </a:moveTo>
                <a:lnTo>
                  <a:pt x="0" y="414477"/>
                </a:lnTo>
              </a:path>
            </a:pathLst>
          </a:custGeom>
          <a:ln w="25400">
            <a:solidFill>
              <a:srgbClr val="2D2D8A"/>
            </a:solidFill>
          </a:ln>
        </p:spPr>
        <p:txBody>
          <a:bodyPr wrap="square" lIns="0" tIns="0" rIns="0" bIns="0" rtlCol="0"/>
          <a:lstStyle/>
          <a:p/>
        </p:txBody>
      </p:sp>
      <p:sp>
        <p:nvSpPr>
          <p:cNvPr id="25" name="object 25" descr=""/>
          <p:cNvSpPr txBox="1"/>
          <p:nvPr/>
        </p:nvSpPr>
        <p:spPr>
          <a:xfrm>
            <a:off x="4697564" y="1045400"/>
            <a:ext cx="1367790" cy="340360"/>
          </a:xfrm>
          <a:prstGeom prst="rect">
            <a:avLst/>
          </a:prstGeom>
          <a:ln w="25400">
            <a:solidFill>
              <a:srgbClr val="2D2D8A"/>
            </a:solidFill>
          </a:ln>
        </p:spPr>
        <p:txBody>
          <a:bodyPr wrap="square" lIns="0" tIns="60960" rIns="0" bIns="0" rtlCol="0" vert="horz">
            <a:spAutoFit/>
          </a:bodyPr>
          <a:lstStyle/>
          <a:p>
            <a:pPr marL="139065">
              <a:lnSpc>
                <a:spcPct val="100000"/>
              </a:lnSpc>
              <a:spcBef>
                <a:spcPts val="480"/>
              </a:spcBef>
            </a:pPr>
            <a:r>
              <a:rPr dirty="0" sz="1400" spc="-10">
                <a:latin typeface="SimSun"/>
                <a:cs typeface="SimSun"/>
              </a:rPr>
              <a:t>路侧施工提醒</a:t>
            </a:r>
            <a:endParaRPr sz="1400">
              <a:latin typeface="SimSun"/>
              <a:cs typeface="SimSun"/>
            </a:endParaRPr>
          </a:p>
        </p:txBody>
      </p:sp>
      <p:grpSp>
        <p:nvGrpSpPr>
          <p:cNvPr id="26" name="object 26" descr=""/>
          <p:cNvGrpSpPr/>
          <p:nvPr/>
        </p:nvGrpSpPr>
        <p:grpSpPr>
          <a:xfrm>
            <a:off x="3068003" y="3130552"/>
            <a:ext cx="5957570" cy="1592580"/>
            <a:chOff x="3068003" y="3130552"/>
            <a:chExt cx="5957570" cy="1592580"/>
          </a:xfrm>
        </p:grpSpPr>
        <p:sp>
          <p:nvSpPr>
            <p:cNvPr id="27" name="object 27" descr=""/>
            <p:cNvSpPr/>
            <p:nvPr/>
          </p:nvSpPr>
          <p:spPr>
            <a:xfrm>
              <a:off x="6433629" y="3833710"/>
              <a:ext cx="2591435" cy="889000"/>
            </a:xfrm>
            <a:custGeom>
              <a:avLst/>
              <a:gdLst/>
              <a:ahLst/>
              <a:cxnLst/>
              <a:rect l="l" t="t" r="r" b="b"/>
              <a:pathLst>
                <a:path w="2591434" h="889000">
                  <a:moveTo>
                    <a:pt x="2591346" y="0"/>
                  </a:moveTo>
                  <a:lnTo>
                    <a:pt x="0" y="0"/>
                  </a:lnTo>
                  <a:lnTo>
                    <a:pt x="0" y="888999"/>
                  </a:lnTo>
                  <a:lnTo>
                    <a:pt x="2591346" y="888999"/>
                  </a:lnTo>
                  <a:lnTo>
                    <a:pt x="2591346" y="0"/>
                  </a:lnTo>
                  <a:close/>
                </a:path>
              </a:pathLst>
            </a:custGeom>
            <a:solidFill>
              <a:srgbClr val="FFFFFF"/>
            </a:solidFill>
          </p:spPr>
          <p:txBody>
            <a:bodyPr wrap="square" lIns="0" tIns="0" rIns="0" bIns="0" rtlCol="0"/>
            <a:lstStyle/>
            <a:p/>
          </p:txBody>
        </p:sp>
        <p:sp>
          <p:nvSpPr>
            <p:cNvPr id="28" name="object 28" descr=""/>
            <p:cNvSpPr/>
            <p:nvPr/>
          </p:nvSpPr>
          <p:spPr>
            <a:xfrm>
              <a:off x="3080703" y="3143252"/>
              <a:ext cx="3137535" cy="857250"/>
            </a:xfrm>
            <a:custGeom>
              <a:avLst/>
              <a:gdLst/>
              <a:ahLst/>
              <a:cxnLst/>
              <a:rect l="l" t="t" r="r" b="b"/>
              <a:pathLst>
                <a:path w="3137535" h="857250">
                  <a:moveTo>
                    <a:pt x="3136988" y="857148"/>
                  </a:moveTo>
                  <a:lnTo>
                    <a:pt x="0" y="0"/>
                  </a:lnTo>
                </a:path>
              </a:pathLst>
            </a:custGeom>
            <a:ln w="25400">
              <a:solidFill>
                <a:srgbClr val="2D2D8A"/>
              </a:solidFill>
            </a:ln>
          </p:spPr>
          <p:txBody>
            <a:bodyPr wrap="square" lIns="0" tIns="0" rIns="0" bIns="0" rtlCol="0"/>
            <a:lstStyle/>
            <a:p/>
          </p:txBody>
        </p:sp>
      </p:grpSp>
      <p:sp>
        <p:nvSpPr>
          <p:cNvPr id="29" name="object 29" descr=""/>
          <p:cNvSpPr txBox="1"/>
          <p:nvPr/>
        </p:nvSpPr>
        <p:spPr>
          <a:xfrm>
            <a:off x="6433629" y="3833710"/>
            <a:ext cx="2591435" cy="889000"/>
          </a:xfrm>
          <a:prstGeom prst="rect">
            <a:avLst/>
          </a:prstGeom>
          <a:ln w="25400">
            <a:solidFill>
              <a:srgbClr val="2D2D8A"/>
            </a:solidFill>
          </a:ln>
        </p:spPr>
        <p:txBody>
          <a:bodyPr wrap="square" lIns="0" tIns="6350" rIns="0" bIns="0" rtlCol="0" vert="horz">
            <a:spAutoFit/>
          </a:bodyPr>
          <a:lstStyle/>
          <a:p>
            <a:pPr marL="90805" marR="1766570">
              <a:lnSpc>
                <a:spcPct val="101699"/>
              </a:lnSpc>
              <a:spcBef>
                <a:spcPts val="50"/>
              </a:spcBef>
            </a:pPr>
            <a:r>
              <a:rPr dirty="0" sz="1400" spc="-20">
                <a:solidFill>
                  <a:srgbClr val="17375E"/>
                </a:solidFill>
                <a:latin typeface="SimSun"/>
                <a:cs typeface="SimSun"/>
              </a:rPr>
              <a:t>全区：</a:t>
            </a:r>
            <a:r>
              <a:rPr dirty="0" sz="1400" spc="-50">
                <a:solidFill>
                  <a:srgbClr val="17375E"/>
                </a:solidFill>
                <a:latin typeface="SimSun"/>
                <a:cs typeface="SimSun"/>
              </a:rPr>
              <a:t> </a:t>
            </a:r>
            <a:r>
              <a:rPr dirty="0" sz="1400" spc="-15">
                <a:solidFill>
                  <a:srgbClr val="17375E"/>
                </a:solidFill>
                <a:latin typeface="SimSun"/>
                <a:cs typeface="SimSun"/>
              </a:rPr>
              <a:t>超速提醒</a:t>
            </a:r>
            <a:endParaRPr sz="1400">
              <a:latin typeface="SimSun"/>
              <a:cs typeface="SimSun"/>
            </a:endParaRPr>
          </a:p>
          <a:p>
            <a:pPr marL="90805">
              <a:lnSpc>
                <a:spcPct val="100000"/>
              </a:lnSpc>
              <a:spcBef>
                <a:spcPts val="25"/>
              </a:spcBef>
            </a:pPr>
            <a:r>
              <a:rPr dirty="0" sz="1400" spc="-10">
                <a:solidFill>
                  <a:srgbClr val="17375E"/>
                </a:solidFill>
                <a:latin typeface="SimSun"/>
                <a:cs typeface="SimSun"/>
              </a:rPr>
              <a:t>前车刹车提醒</a:t>
            </a:r>
            <a:endParaRPr sz="1400">
              <a:latin typeface="SimSun"/>
              <a:cs typeface="SimSun"/>
            </a:endParaRPr>
          </a:p>
          <a:p>
            <a:pPr marL="90805">
              <a:lnSpc>
                <a:spcPct val="100000"/>
              </a:lnSpc>
              <a:spcBef>
                <a:spcPts val="30"/>
              </a:spcBef>
            </a:pPr>
            <a:r>
              <a:rPr dirty="0" sz="1400" spc="-10">
                <a:solidFill>
                  <a:srgbClr val="17375E"/>
                </a:solidFill>
                <a:latin typeface="SimSun"/>
                <a:cs typeface="SimSun"/>
              </a:rPr>
              <a:t>交叉路口防撞提醒</a:t>
            </a:r>
            <a:endParaRPr sz="1400">
              <a:latin typeface="SimSun"/>
              <a:cs typeface="SimSun"/>
            </a:endParaRPr>
          </a:p>
        </p:txBody>
      </p:sp>
      <p:pic>
        <p:nvPicPr>
          <p:cNvPr id="30" name="object 30" descr=""/>
          <p:cNvPicPr/>
          <p:nvPr/>
        </p:nvPicPr>
        <p:blipFill>
          <a:blip r:embed="rId5" cstate="print"/>
          <a:stretch>
            <a:fillRect/>
          </a:stretch>
        </p:blipFill>
        <p:spPr>
          <a:xfrm>
            <a:off x="7095540" y="1641019"/>
            <a:ext cx="1441231" cy="2192690"/>
          </a:xfrm>
          <a:prstGeom prst="rect">
            <a:avLst/>
          </a:prstGeom>
        </p:spPr>
      </p:pic>
      <p:pic>
        <p:nvPicPr>
          <p:cNvPr id="31" name="object 31"/>
          <p:cNvPicPr/>
          <p:nvPr/>
        </p:nvPicPr>
        <p:blipFill>
          <a:blip r:embed="rId6" cstate="print"/>
          <a:stretch>
            <a:fillRect/>
          </a:stretch>
        </p:blipFill>
        <p:spPr>
          <a:xfrm>
            <a:off x="181102" y="1476654"/>
            <a:ext cx="1007744" cy="1608170"/>
          </a:xfrm>
          <a:prstGeom prst="rect">
            <a:avLst/>
          </a:prstGeom>
        </p:spPr>
      </p:pic>
      <p:pic>
        <p:nvPicPr>
          <p:cNvPr id="32" name="object 32"/>
          <p:cNvPicPr/>
          <p:nvPr/>
        </p:nvPicPr>
        <p:blipFill>
          <a:blip r:embed="rId7" cstate="print"/>
          <a:stretch>
            <a:fillRect/>
          </a:stretch>
        </p:blipFill>
        <p:spPr>
          <a:xfrm>
            <a:off x="181102" y="3292618"/>
            <a:ext cx="1007744" cy="1693223"/>
          </a:xfrm>
          <a:prstGeom prst="rect">
            <a:avLst/>
          </a:prstGeom>
        </p:spPr>
      </p:pic>
      <p:sp>
        <p:nvSpPr>
          <p:cNvPr id="33" name="object 33"/>
          <p:cNvSpPr txBox="1">
            <a:spLocks noGrp="1"/>
          </p:cNvSpPr>
          <p:nvPr>
            <p:ph type="title"/>
          </p:nvPr>
        </p:nvSpPr>
        <p:spPr>
          <a:xfrm>
            <a:off x="2489240" y="169251"/>
            <a:ext cx="4498340" cy="513080"/>
          </a:xfrm>
          <a:prstGeom prst="rect"/>
        </p:spPr>
        <p:txBody>
          <a:bodyPr wrap="square" lIns="0" tIns="12065" rIns="0" bIns="0" rtlCol="0" vert="horz">
            <a:spAutoFit/>
          </a:bodyPr>
          <a:lstStyle/>
          <a:p>
            <a:pPr marL="12700">
              <a:lnSpc>
                <a:spcPct val="100000"/>
              </a:lnSpc>
              <a:spcBef>
                <a:spcPts val="95"/>
              </a:spcBef>
            </a:pPr>
            <a:r>
              <a:rPr dirty="0" spc="-45"/>
              <a:t>中国汽研院车联网试验场</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490216" y="740664"/>
            <a:ext cx="6654165" cy="3870960"/>
            <a:chOff x="2490216" y="740664"/>
            <a:chExt cx="6654165" cy="3870960"/>
          </a:xfrm>
        </p:grpSpPr>
        <p:pic>
          <p:nvPicPr>
            <p:cNvPr id="3" name="object 3"/>
            <p:cNvPicPr/>
            <p:nvPr/>
          </p:nvPicPr>
          <p:blipFill>
            <a:blip r:embed="rId2" cstate="print"/>
            <a:stretch>
              <a:fillRect/>
            </a:stretch>
          </p:blipFill>
          <p:spPr>
            <a:xfrm>
              <a:off x="6323075" y="860297"/>
              <a:ext cx="2820923" cy="3700271"/>
            </a:xfrm>
            <a:prstGeom prst="rect">
              <a:avLst/>
            </a:prstGeom>
          </p:spPr>
        </p:pic>
        <p:pic>
          <p:nvPicPr>
            <p:cNvPr id="4" name="object 4" descr=""/>
            <p:cNvPicPr/>
            <p:nvPr/>
          </p:nvPicPr>
          <p:blipFill>
            <a:blip r:embed="rId3" cstate="print"/>
            <a:stretch>
              <a:fillRect/>
            </a:stretch>
          </p:blipFill>
          <p:spPr>
            <a:xfrm>
              <a:off x="6667451" y="1204348"/>
              <a:ext cx="2229586" cy="3011741"/>
            </a:xfrm>
            <a:prstGeom prst="rect">
              <a:avLst/>
            </a:prstGeom>
          </p:spPr>
        </p:pic>
        <p:sp>
          <p:nvSpPr>
            <p:cNvPr id="5" name="object 5" descr=""/>
            <p:cNvSpPr/>
            <p:nvPr/>
          </p:nvSpPr>
          <p:spPr>
            <a:xfrm>
              <a:off x="6623000" y="1159898"/>
              <a:ext cx="2319020" cy="3101340"/>
            </a:xfrm>
            <a:custGeom>
              <a:avLst/>
              <a:gdLst/>
              <a:ahLst/>
              <a:cxnLst/>
              <a:rect l="l" t="t" r="r" b="b"/>
              <a:pathLst>
                <a:path w="2319020" h="3101340">
                  <a:moveTo>
                    <a:pt x="415162" y="0"/>
                  </a:moveTo>
                  <a:lnTo>
                    <a:pt x="2318537" y="0"/>
                  </a:lnTo>
                  <a:lnTo>
                    <a:pt x="2318537" y="2686011"/>
                  </a:lnTo>
                  <a:lnTo>
                    <a:pt x="2316378" y="2727439"/>
                  </a:lnTo>
                  <a:lnTo>
                    <a:pt x="2310168" y="2768765"/>
                  </a:lnTo>
                  <a:lnTo>
                    <a:pt x="2299881" y="2808541"/>
                  </a:lnTo>
                  <a:lnTo>
                    <a:pt x="2285695" y="2846654"/>
                  </a:lnTo>
                  <a:lnTo>
                    <a:pt x="2268397" y="2883052"/>
                  </a:lnTo>
                  <a:lnTo>
                    <a:pt x="2247430" y="2917393"/>
                  </a:lnTo>
                  <a:lnTo>
                    <a:pt x="2223566" y="2949219"/>
                  </a:lnTo>
                  <a:lnTo>
                    <a:pt x="2196820" y="2979064"/>
                  </a:lnTo>
                  <a:lnTo>
                    <a:pt x="2166975" y="3005797"/>
                  </a:lnTo>
                  <a:lnTo>
                    <a:pt x="2135149" y="3029673"/>
                  </a:lnTo>
                  <a:lnTo>
                    <a:pt x="2100808" y="3050628"/>
                  </a:lnTo>
                  <a:lnTo>
                    <a:pt x="2064410" y="3067939"/>
                  </a:lnTo>
                  <a:lnTo>
                    <a:pt x="2026297" y="3082124"/>
                  </a:lnTo>
                  <a:lnTo>
                    <a:pt x="1986521" y="3092411"/>
                  </a:lnTo>
                  <a:lnTo>
                    <a:pt x="1945195" y="3098622"/>
                  </a:lnTo>
                  <a:lnTo>
                    <a:pt x="1903768" y="3100781"/>
                  </a:lnTo>
                  <a:lnTo>
                    <a:pt x="0" y="3100781"/>
                  </a:lnTo>
                  <a:lnTo>
                    <a:pt x="0" y="415163"/>
                  </a:lnTo>
                  <a:lnTo>
                    <a:pt x="2158" y="373748"/>
                  </a:lnTo>
                  <a:lnTo>
                    <a:pt x="8381" y="332422"/>
                  </a:lnTo>
                  <a:lnTo>
                    <a:pt x="18630" y="292722"/>
                  </a:lnTo>
                  <a:lnTo>
                    <a:pt x="32842" y="254114"/>
                  </a:lnTo>
                  <a:lnTo>
                    <a:pt x="50152" y="218160"/>
                  </a:lnTo>
                  <a:lnTo>
                    <a:pt x="71043" y="183489"/>
                  </a:lnTo>
                  <a:lnTo>
                    <a:pt x="95186" y="151295"/>
                  </a:lnTo>
                  <a:lnTo>
                    <a:pt x="122135" y="122135"/>
                  </a:lnTo>
                  <a:lnTo>
                    <a:pt x="151282" y="95186"/>
                  </a:lnTo>
                  <a:lnTo>
                    <a:pt x="183489" y="71043"/>
                  </a:lnTo>
                  <a:lnTo>
                    <a:pt x="218160" y="50152"/>
                  </a:lnTo>
                  <a:lnTo>
                    <a:pt x="254101" y="32842"/>
                  </a:lnTo>
                  <a:lnTo>
                    <a:pt x="292722" y="18630"/>
                  </a:lnTo>
                  <a:lnTo>
                    <a:pt x="332422" y="8382"/>
                  </a:lnTo>
                  <a:lnTo>
                    <a:pt x="373748" y="2159"/>
                  </a:lnTo>
                  <a:lnTo>
                    <a:pt x="415162" y="0"/>
                  </a:lnTo>
                  <a:close/>
                </a:path>
              </a:pathLst>
            </a:custGeom>
            <a:ln w="88900">
              <a:solidFill>
                <a:srgbClr val="FFFFFF"/>
              </a:solidFill>
            </a:ln>
          </p:spPr>
          <p:txBody>
            <a:bodyPr wrap="square" lIns="0" tIns="0" rIns="0" bIns="0" rtlCol="0"/>
            <a:lstStyle/>
            <a:p/>
          </p:txBody>
        </p:sp>
        <p:pic>
          <p:nvPicPr>
            <p:cNvPr id="6" name="object 6"/>
            <p:cNvPicPr/>
            <p:nvPr/>
          </p:nvPicPr>
          <p:blipFill>
            <a:blip r:embed="rId4" cstate="print"/>
            <a:stretch>
              <a:fillRect/>
            </a:stretch>
          </p:blipFill>
          <p:spPr>
            <a:xfrm>
              <a:off x="2944367" y="1813559"/>
              <a:ext cx="3934968" cy="2798064"/>
            </a:xfrm>
            <a:prstGeom prst="rect">
              <a:avLst/>
            </a:prstGeom>
          </p:spPr>
        </p:pic>
        <p:pic>
          <p:nvPicPr>
            <p:cNvPr id="7" name="object 7"/>
            <p:cNvPicPr/>
            <p:nvPr/>
          </p:nvPicPr>
          <p:blipFill>
            <a:blip r:embed="rId5" cstate="print"/>
            <a:stretch>
              <a:fillRect/>
            </a:stretch>
          </p:blipFill>
          <p:spPr>
            <a:xfrm>
              <a:off x="5983224" y="2837700"/>
              <a:ext cx="246887" cy="505955"/>
            </a:xfrm>
            <a:prstGeom prst="rect">
              <a:avLst/>
            </a:prstGeom>
          </p:spPr>
        </p:pic>
        <p:pic>
          <p:nvPicPr>
            <p:cNvPr id="8" name="object 8"/>
            <p:cNvPicPr/>
            <p:nvPr/>
          </p:nvPicPr>
          <p:blipFill>
            <a:blip r:embed="rId6" cstate="print"/>
            <a:stretch>
              <a:fillRect/>
            </a:stretch>
          </p:blipFill>
          <p:spPr>
            <a:xfrm>
              <a:off x="4468367" y="2401824"/>
              <a:ext cx="246888" cy="505968"/>
            </a:xfrm>
            <a:prstGeom prst="rect">
              <a:avLst/>
            </a:prstGeom>
          </p:spPr>
        </p:pic>
        <p:pic>
          <p:nvPicPr>
            <p:cNvPr id="9" name="object 9"/>
            <p:cNvPicPr/>
            <p:nvPr/>
          </p:nvPicPr>
          <p:blipFill>
            <a:blip r:embed="rId7" cstate="print"/>
            <a:stretch>
              <a:fillRect/>
            </a:stretch>
          </p:blipFill>
          <p:spPr>
            <a:xfrm>
              <a:off x="4642104" y="2340864"/>
              <a:ext cx="246888" cy="505968"/>
            </a:xfrm>
            <a:prstGeom prst="rect">
              <a:avLst/>
            </a:prstGeom>
          </p:spPr>
        </p:pic>
        <p:pic>
          <p:nvPicPr>
            <p:cNvPr id="10" name="object 10"/>
            <p:cNvPicPr/>
            <p:nvPr/>
          </p:nvPicPr>
          <p:blipFill>
            <a:blip r:embed="rId8" cstate="print"/>
            <a:stretch>
              <a:fillRect/>
            </a:stretch>
          </p:blipFill>
          <p:spPr>
            <a:xfrm>
              <a:off x="5330952" y="3340620"/>
              <a:ext cx="246887" cy="505955"/>
            </a:xfrm>
            <a:prstGeom prst="rect">
              <a:avLst/>
            </a:prstGeom>
          </p:spPr>
        </p:pic>
        <p:pic>
          <p:nvPicPr>
            <p:cNvPr id="11" name="object 11"/>
            <p:cNvPicPr/>
            <p:nvPr/>
          </p:nvPicPr>
          <p:blipFill>
            <a:blip r:embed="rId9" cstate="print"/>
            <a:stretch>
              <a:fillRect/>
            </a:stretch>
          </p:blipFill>
          <p:spPr>
            <a:xfrm>
              <a:off x="5141976" y="3386328"/>
              <a:ext cx="246888" cy="502920"/>
            </a:xfrm>
            <a:prstGeom prst="rect">
              <a:avLst/>
            </a:prstGeom>
          </p:spPr>
        </p:pic>
        <p:pic>
          <p:nvPicPr>
            <p:cNvPr id="12" name="object 12" descr=""/>
            <p:cNvPicPr/>
            <p:nvPr/>
          </p:nvPicPr>
          <p:blipFill>
            <a:blip r:embed="rId10" cstate="print"/>
            <a:stretch>
              <a:fillRect/>
            </a:stretch>
          </p:blipFill>
          <p:spPr>
            <a:xfrm>
              <a:off x="3967378" y="3119043"/>
              <a:ext cx="1427328" cy="1110938"/>
            </a:xfrm>
            <a:prstGeom prst="rect">
              <a:avLst/>
            </a:prstGeom>
          </p:spPr>
        </p:pic>
        <p:pic>
          <p:nvPicPr>
            <p:cNvPr id="13" name="object 13"/>
            <p:cNvPicPr/>
            <p:nvPr/>
          </p:nvPicPr>
          <p:blipFill>
            <a:blip r:embed="rId11" cstate="print"/>
            <a:stretch>
              <a:fillRect/>
            </a:stretch>
          </p:blipFill>
          <p:spPr>
            <a:xfrm>
              <a:off x="2490216" y="740664"/>
              <a:ext cx="2325611" cy="1962911"/>
            </a:xfrm>
            <a:prstGeom prst="rect">
              <a:avLst/>
            </a:prstGeom>
          </p:spPr>
        </p:pic>
        <p:sp>
          <p:nvSpPr>
            <p:cNvPr id="14" name="object 14" descr=""/>
            <p:cNvSpPr/>
            <p:nvPr/>
          </p:nvSpPr>
          <p:spPr>
            <a:xfrm>
              <a:off x="4664722" y="1955482"/>
              <a:ext cx="1131570" cy="277495"/>
            </a:xfrm>
            <a:custGeom>
              <a:avLst/>
              <a:gdLst/>
              <a:ahLst/>
              <a:cxnLst/>
              <a:rect l="l" t="t" r="r" b="b"/>
              <a:pathLst>
                <a:path w="1131570" h="277494">
                  <a:moveTo>
                    <a:pt x="1130960" y="0"/>
                  </a:moveTo>
                  <a:lnTo>
                    <a:pt x="0" y="0"/>
                  </a:lnTo>
                  <a:lnTo>
                    <a:pt x="0" y="276999"/>
                  </a:lnTo>
                  <a:lnTo>
                    <a:pt x="1130960" y="276999"/>
                  </a:lnTo>
                  <a:lnTo>
                    <a:pt x="1130960" y="0"/>
                  </a:lnTo>
                  <a:close/>
                </a:path>
              </a:pathLst>
            </a:custGeom>
            <a:solidFill>
              <a:srgbClr val="FFFFFF"/>
            </a:solidFill>
          </p:spPr>
          <p:txBody>
            <a:bodyPr wrap="square" lIns="0" tIns="0" rIns="0" bIns="0" rtlCol="0"/>
            <a:lstStyle/>
            <a:p/>
          </p:txBody>
        </p:sp>
        <p:sp>
          <p:nvSpPr>
            <p:cNvPr id="15" name="object 15" descr=""/>
            <p:cNvSpPr/>
            <p:nvPr/>
          </p:nvSpPr>
          <p:spPr>
            <a:xfrm>
              <a:off x="3666435" y="2303127"/>
              <a:ext cx="1503680" cy="1111250"/>
            </a:xfrm>
            <a:custGeom>
              <a:avLst/>
              <a:gdLst/>
              <a:ahLst/>
              <a:cxnLst/>
              <a:rect l="l" t="t" r="r" b="b"/>
              <a:pathLst>
                <a:path w="1503679" h="1111250">
                  <a:moveTo>
                    <a:pt x="0" y="0"/>
                  </a:moveTo>
                  <a:lnTo>
                    <a:pt x="538073" y="375983"/>
                  </a:lnTo>
                  <a:lnTo>
                    <a:pt x="340804" y="272757"/>
                  </a:lnTo>
                  <a:lnTo>
                    <a:pt x="850277" y="629107"/>
                  </a:lnTo>
                  <a:lnTo>
                    <a:pt x="682358" y="538911"/>
                  </a:lnTo>
                  <a:lnTo>
                    <a:pt x="1503387" y="1110665"/>
                  </a:lnTo>
                  <a:lnTo>
                    <a:pt x="1043863" y="732599"/>
                  </a:lnTo>
                  <a:lnTo>
                    <a:pt x="1181963" y="805522"/>
                  </a:lnTo>
                  <a:lnTo>
                    <a:pt x="800773" y="515518"/>
                  </a:lnTo>
                  <a:lnTo>
                    <a:pt x="938085" y="589749"/>
                  </a:lnTo>
                  <a:lnTo>
                    <a:pt x="645452" y="342874"/>
                  </a:lnTo>
                  <a:lnTo>
                    <a:pt x="0" y="0"/>
                  </a:lnTo>
                  <a:close/>
                </a:path>
              </a:pathLst>
            </a:custGeom>
            <a:solidFill>
              <a:srgbClr val="FFFF00"/>
            </a:solidFill>
          </p:spPr>
          <p:txBody>
            <a:bodyPr wrap="square" lIns="0" tIns="0" rIns="0" bIns="0" rtlCol="0"/>
            <a:lstStyle/>
            <a:p/>
          </p:txBody>
        </p:sp>
        <p:sp>
          <p:nvSpPr>
            <p:cNvPr id="16" name="object 16" descr=""/>
            <p:cNvSpPr/>
            <p:nvPr/>
          </p:nvSpPr>
          <p:spPr>
            <a:xfrm>
              <a:off x="3666435" y="2303127"/>
              <a:ext cx="1503680" cy="1111250"/>
            </a:xfrm>
            <a:custGeom>
              <a:avLst/>
              <a:gdLst/>
              <a:ahLst/>
              <a:cxnLst/>
              <a:rect l="l" t="t" r="r" b="b"/>
              <a:pathLst>
                <a:path w="1503679" h="1111250">
                  <a:moveTo>
                    <a:pt x="645452" y="342874"/>
                  </a:moveTo>
                  <a:lnTo>
                    <a:pt x="938085" y="589749"/>
                  </a:lnTo>
                  <a:lnTo>
                    <a:pt x="800773" y="515518"/>
                  </a:lnTo>
                  <a:lnTo>
                    <a:pt x="1181963" y="805522"/>
                  </a:lnTo>
                  <a:lnTo>
                    <a:pt x="1043863" y="732599"/>
                  </a:lnTo>
                  <a:lnTo>
                    <a:pt x="1503387" y="1110665"/>
                  </a:lnTo>
                  <a:lnTo>
                    <a:pt x="682358" y="538911"/>
                  </a:lnTo>
                  <a:lnTo>
                    <a:pt x="850277" y="629107"/>
                  </a:lnTo>
                  <a:lnTo>
                    <a:pt x="340804" y="272757"/>
                  </a:lnTo>
                  <a:lnTo>
                    <a:pt x="538073" y="375983"/>
                  </a:lnTo>
                  <a:lnTo>
                    <a:pt x="0" y="0"/>
                  </a:lnTo>
                  <a:lnTo>
                    <a:pt x="645452" y="342874"/>
                  </a:lnTo>
                  <a:close/>
                </a:path>
              </a:pathLst>
            </a:custGeom>
            <a:ln w="25400">
              <a:solidFill>
                <a:srgbClr val="89A4A7"/>
              </a:solidFill>
            </a:ln>
          </p:spPr>
          <p:txBody>
            <a:bodyPr wrap="square" lIns="0" tIns="0" rIns="0" bIns="0" rtlCol="0"/>
            <a:lstStyle/>
            <a:p/>
          </p:txBody>
        </p:sp>
        <p:sp>
          <p:nvSpPr>
            <p:cNvPr id="17" name="object 17" descr=""/>
            <p:cNvSpPr/>
            <p:nvPr/>
          </p:nvSpPr>
          <p:spPr>
            <a:xfrm>
              <a:off x="2846209" y="1340357"/>
              <a:ext cx="2372995" cy="2089150"/>
            </a:xfrm>
            <a:custGeom>
              <a:avLst/>
              <a:gdLst/>
              <a:ahLst/>
              <a:cxnLst/>
              <a:rect l="l" t="t" r="r" b="b"/>
              <a:pathLst>
                <a:path w="2372995" h="2089150">
                  <a:moveTo>
                    <a:pt x="954112" y="1811883"/>
                  </a:moveTo>
                  <a:lnTo>
                    <a:pt x="0" y="1811883"/>
                  </a:lnTo>
                  <a:lnTo>
                    <a:pt x="0" y="2088883"/>
                  </a:lnTo>
                  <a:lnTo>
                    <a:pt x="954112" y="2088883"/>
                  </a:lnTo>
                  <a:lnTo>
                    <a:pt x="954112" y="1811883"/>
                  </a:lnTo>
                  <a:close/>
                </a:path>
                <a:path w="2372995" h="2089150">
                  <a:moveTo>
                    <a:pt x="2372728" y="0"/>
                  </a:moveTo>
                  <a:lnTo>
                    <a:pt x="1110843" y="0"/>
                  </a:lnTo>
                  <a:lnTo>
                    <a:pt x="1110843" y="276999"/>
                  </a:lnTo>
                  <a:lnTo>
                    <a:pt x="2372728" y="276999"/>
                  </a:lnTo>
                  <a:lnTo>
                    <a:pt x="2372728" y="0"/>
                  </a:lnTo>
                  <a:close/>
                </a:path>
              </a:pathLst>
            </a:custGeom>
            <a:solidFill>
              <a:srgbClr val="FFFFFF"/>
            </a:solidFill>
          </p:spPr>
          <p:txBody>
            <a:bodyPr wrap="square" lIns="0" tIns="0" rIns="0" bIns="0" rtlCol="0"/>
            <a:lstStyle/>
            <a:p/>
          </p:txBody>
        </p:sp>
      </p:grpSp>
      <p:sp>
        <p:nvSpPr>
          <p:cNvPr id="18" name="object 18" descr=""/>
          <p:cNvSpPr txBox="1"/>
          <p:nvPr/>
        </p:nvSpPr>
        <p:spPr>
          <a:xfrm>
            <a:off x="2924945" y="3179161"/>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spc="-10" b="1">
                <a:solidFill>
                  <a:srgbClr val="CC3300"/>
                </a:solidFill>
                <a:latin typeface="Microsoft YaHei"/>
                <a:cs typeface="Microsoft YaHei"/>
              </a:rPr>
              <a:t>楼顶宏基站</a:t>
            </a:r>
            <a:endParaRPr sz="1200">
              <a:latin typeface="Microsoft YaHei"/>
              <a:cs typeface="Microsoft YaHei"/>
            </a:endParaRPr>
          </a:p>
        </p:txBody>
      </p:sp>
      <p:sp>
        <p:nvSpPr>
          <p:cNvPr id="19" name="object 19" descr=""/>
          <p:cNvSpPr txBox="1"/>
          <p:nvPr/>
        </p:nvSpPr>
        <p:spPr>
          <a:xfrm>
            <a:off x="4048493" y="1371124"/>
            <a:ext cx="4181475" cy="2803525"/>
          </a:xfrm>
          <a:prstGeom prst="rect">
            <a:avLst/>
          </a:prstGeom>
        </p:spPr>
        <p:txBody>
          <a:bodyPr wrap="square" lIns="0" tIns="8890" rIns="0" bIns="0" rtlCol="0" vert="horz">
            <a:spAutoFit/>
          </a:bodyPr>
          <a:lstStyle/>
          <a:p>
            <a:pPr>
              <a:lnSpc>
                <a:spcPct val="100000"/>
              </a:lnSpc>
              <a:spcBef>
                <a:spcPts val="70"/>
              </a:spcBef>
            </a:pPr>
            <a:r>
              <a:rPr dirty="0" sz="1200" spc="-10" b="1">
                <a:solidFill>
                  <a:srgbClr val="CC3300"/>
                </a:solidFill>
                <a:latin typeface="Microsoft YaHei"/>
                <a:cs typeface="Microsoft YaHei"/>
              </a:rPr>
              <a:t>地面立杆小基站</a:t>
            </a:r>
            <a:endParaRPr sz="1200">
              <a:latin typeface="Microsoft YaHei"/>
              <a:cs typeface="Microsoft YaHei"/>
            </a:endParaRPr>
          </a:p>
          <a:p>
            <a:pPr>
              <a:lnSpc>
                <a:spcPct val="100000"/>
              </a:lnSpc>
              <a:spcBef>
                <a:spcPts val="1190"/>
              </a:spcBef>
            </a:pPr>
            <a:endParaRPr sz="1200">
              <a:latin typeface="Microsoft YaHei"/>
              <a:cs typeface="Microsoft YaHei"/>
            </a:endParaRPr>
          </a:p>
          <a:p>
            <a:pPr marL="707390">
              <a:lnSpc>
                <a:spcPct val="100000"/>
              </a:lnSpc>
            </a:pPr>
            <a:r>
              <a:rPr dirty="0" sz="1200" spc="-10" b="1">
                <a:solidFill>
                  <a:srgbClr val="CC3300"/>
                </a:solidFill>
                <a:latin typeface="Microsoft YaHei"/>
                <a:cs typeface="Microsoft YaHei"/>
              </a:rPr>
              <a:t>宏微协同覆盖</a:t>
            </a: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pPr>
            <a:endParaRPr sz="1200">
              <a:latin typeface="Microsoft YaHei"/>
              <a:cs typeface="Microsoft YaHei"/>
            </a:endParaRPr>
          </a:p>
          <a:p>
            <a:pPr>
              <a:lnSpc>
                <a:spcPct val="100000"/>
              </a:lnSpc>
              <a:spcBef>
                <a:spcPts val="935"/>
              </a:spcBef>
            </a:pPr>
            <a:endParaRPr sz="1200">
              <a:latin typeface="Microsoft YaHei"/>
              <a:cs typeface="Microsoft YaHei"/>
            </a:endParaRPr>
          </a:p>
          <a:p>
            <a:pPr algn="r">
              <a:lnSpc>
                <a:spcPct val="100000"/>
              </a:lnSpc>
            </a:pPr>
            <a:r>
              <a:rPr dirty="0" sz="1200" spc="-10" b="1">
                <a:solidFill>
                  <a:srgbClr val="CC3300"/>
                </a:solidFill>
                <a:latin typeface="Microsoft YaHei"/>
                <a:cs typeface="Microsoft YaHei"/>
              </a:rPr>
              <a:t>5G覆盖能力路线，</a:t>
            </a:r>
            <a:endParaRPr sz="1200">
              <a:latin typeface="Microsoft YaHei"/>
              <a:cs typeface="Microsoft YaHei"/>
            </a:endParaRPr>
          </a:p>
        </p:txBody>
      </p:sp>
      <p:sp>
        <p:nvSpPr>
          <p:cNvPr id="20" name="object 20" descr=""/>
          <p:cNvSpPr/>
          <p:nvPr/>
        </p:nvSpPr>
        <p:spPr>
          <a:xfrm>
            <a:off x="6861061" y="3942422"/>
            <a:ext cx="2176780" cy="277495"/>
          </a:xfrm>
          <a:custGeom>
            <a:avLst/>
            <a:gdLst/>
            <a:ahLst/>
            <a:cxnLst/>
            <a:rect l="l" t="t" r="r" b="b"/>
            <a:pathLst>
              <a:path w="2176779" h="277495">
                <a:moveTo>
                  <a:pt x="2176602" y="0"/>
                </a:moveTo>
                <a:lnTo>
                  <a:pt x="0" y="0"/>
                </a:lnTo>
                <a:lnTo>
                  <a:pt x="0" y="276999"/>
                </a:lnTo>
                <a:lnTo>
                  <a:pt x="2176602" y="276999"/>
                </a:lnTo>
                <a:lnTo>
                  <a:pt x="2176602" y="0"/>
                </a:lnTo>
                <a:close/>
              </a:path>
            </a:pathLst>
          </a:custGeom>
          <a:solidFill>
            <a:srgbClr val="FFFFFF"/>
          </a:solidFill>
        </p:spPr>
        <p:txBody>
          <a:bodyPr wrap="square" lIns="0" tIns="0" rIns="0" bIns="0" rtlCol="0"/>
          <a:lstStyle/>
          <a:p/>
        </p:txBody>
      </p:sp>
      <p:sp>
        <p:nvSpPr>
          <p:cNvPr id="21" name="object 21" descr=""/>
          <p:cNvSpPr txBox="1"/>
          <p:nvPr/>
        </p:nvSpPr>
        <p:spPr>
          <a:xfrm>
            <a:off x="8229609" y="3973186"/>
            <a:ext cx="152400" cy="201295"/>
          </a:xfrm>
          <a:prstGeom prst="rect">
            <a:avLst/>
          </a:prstGeom>
        </p:spPr>
        <p:txBody>
          <a:bodyPr wrap="square" lIns="0" tIns="8890" rIns="0" bIns="0" rtlCol="0" vert="horz">
            <a:spAutoFit/>
          </a:bodyPr>
          <a:lstStyle/>
          <a:p>
            <a:pPr>
              <a:lnSpc>
                <a:spcPct val="100000"/>
              </a:lnSpc>
              <a:spcBef>
                <a:spcPts val="70"/>
              </a:spcBef>
            </a:pPr>
            <a:r>
              <a:rPr dirty="0" sz="1200" spc="-50" b="1">
                <a:solidFill>
                  <a:srgbClr val="CC3300"/>
                </a:solidFill>
                <a:latin typeface="Microsoft YaHei"/>
                <a:cs typeface="Microsoft YaHei"/>
              </a:rPr>
              <a:t>最</a:t>
            </a:r>
            <a:endParaRPr sz="1200">
              <a:latin typeface="Microsoft YaHei"/>
              <a:cs typeface="Microsoft YaHei"/>
            </a:endParaRPr>
          </a:p>
        </p:txBody>
      </p:sp>
      <p:sp>
        <p:nvSpPr>
          <p:cNvPr id="22" name="object 22" descr=""/>
          <p:cNvSpPr txBox="1"/>
          <p:nvPr/>
        </p:nvSpPr>
        <p:spPr>
          <a:xfrm>
            <a:off x="8369309" y="3969341"/>
            <a:ext cx="511809"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CC3300"/>
                </a:solidFill>
                <a:latin typeface="Microsoft YaHei"/>
                <a:cs typeface="Microsoft YaHei"/>
              </a:rPr>
              <a:t>长</a:t>
            </a:r>
            <a:r>
              <a:rPr dirty="0" sz="1200" spc="-25" b="1">
                <a:solidFill>
                  <a:srgbClr val="CC3300"/>
                </a:solidFill>
                <a:latin typeface="Microsoft YaHei"/>
                <a:cs typeface="Microsoft YaHei"/>
              </a:rPr>
              <a:t>3km</a:t>
            </a:r>
            <a:endParaRPr sz="1200">
              <a:latin typeface="Microsoft YaHei"/>
              <a:cs typeface="Microsoft YaHei"/>
            </a:endParaRPr>
          </a:p>
        </p:txBody>
      </p:sp>
      <p:grpSp>
        <p:nvGrpSpPr>
          <p:cNvPr id="23" name="object 23" descr=""/>
          <p:cNvGrpSpPr/>
          <p:nvPr/>
        </p:nvGrpSpPr>
        <p:grpSpPr>
          <a:xfrm>
            <a:off x="2863573" y="1380935"/>
            <a:ext cx="5413375" cy="3077210"/>
            <a:chOff x="2863573" y="1380935"/>
            <a:chExt cx="5413375" cy="3077210"/>
          </a:xfrm>
        </p:grpSpPr>
        <p:pic>
          <p:nvPicPr>
            <p:cNvPr id="24" name="object 24"/>
            <p:cNvPicPr/>
            <p:nvPr/>
          </p:nvPicPr>
          <p:blipFill>
            <a:blip r:embed="rId12" cstate="print"/>
            <a:stretch>
              <a:fillRect/>
            </a:stretch>
          </p:blipFill>
          <p:spPr>
            <a:xfrm>
              <a:off x="2863573" y="3500082"/>
              <a:ext cx="1057601" cy="881288"/>
            </a:xfrm>
            <a:prstGeom prst="rect">
              <a:avLst/>
            </a:prstGeom>
          </p:spPr>
        </p:pic>
        <p:sp>
          <p:nvSpPr>
            <p:cNvPr id="25" name="object 25" descr=""/>
            <p:cNvSpPr/>
            <p:nvPr/>
          </p:nvSpPr>
          <p:spPr>
            <a:xfrm>
              <a:off x="3728619" y="3680928"/>
              <a:ext cx="727075" cy="263525"/>
            </a:xfrm>
            <a:custGeom>
              <a:avLst/>
              <a:gdLst/>
              <a:ahLst/>
              <a:cxnLst/>
              <a:rect l="l" t="t" r="r" b="b"/>
              <a:pathLst>
                <a:path w="727075" h="263525">
                  <a:moveTo>
                    <a:pt x="726732" y="0"/>
                  </a:moveTo>
                  <a:lnTo>
                    <a:pt x="481342" y="58623"/>
                  </a:lnTo>
                  <a:lnTo>
                    <a:pt x="530555" y="18033"/>
                  </a:lnTo>
                  <a:lnTo>
                    <a:pt x="341236" y="79997"/>
                  </a:lnTo>
                  <a:lnTo>
                    <a:pt x="391210" y="40614"/>
                  </a:lnTo>
                  <a:lnTo>
                    <a:pt x="231254" y="74498"/>
                  </a:lnTo>
                  <a:lnTo>
                    <a:pt x="0" y="263016"/>
                  </a:lnTo>
                  <a:lnTo>
                    <a:pt x="247129" y="156730"/>
                  </a:lnTo>
                  <a:lnTo>
                    <a:pt x="177380" y="215239"/>
                  </a:lnTo>
                  <a:lnTo>
                    <a:pt x="411581" y="114795"/>
                  </a:lnTo>
                  <a:lnTo>
                    <a:pt x="350824" y="163283"/>
                  </a:lnTo>
                  <a:lnTo>
                    <a:pt x="726732" y="0"/>
                  </a:lnTo>
                  <a:close/>
                </a:path>
              </a:pathLst>
            </a:custGeom>
            <a:solidFill>
              <a:srgbClr val="FFFF00"/>
            </a:solidFill>
          </p:spPr>
          <p:txBody>
            <a:bodyPr wrap="square" lIns="0" tIns="0" rIns="0" bIns="0" rtlCol="0"/>
            <a:lstStyle/>
            <a:p/>
          </p:txBody>
        </p:sp>
        <p:sp>
          <p:nvSpPr>
            <p:cNvPr id="26" name="object 26" descr=""/>
            <p:cNvSpPr/>
            <p:nvPr/>
          </p:nvSpPr>
          <p:spPr>
            <a:xfrm>
              <a:off x="3728619" y="3680928"/>
              <a:ext cx="727075" cy="263525"/>
            </a:xfrm>
            <a:custGeom>
              <a:avLst/>
              <a:gdLst/>
              <a:ahLst/>
              <a:cxnLst/>
              <a:rect l="l" t="t" r="r" b="b"/>
              <a:pathLst>
                <a:path w="727075" h="263525">
                  <a:moveTo>
                    <a:pt x="231254" y="74498"/>
                  </a:moveTo>
                  <a:lnTo>
                    <a:pt x="391210" y="40614"/>
                  </a:lnTo>
                  <a:lnTo>
                    <a:pt x="341236" y="79997"/>
                  </a:lnTo>
                  <a:lnTo>
                    <a:pt x="530555" y="18033"/>
                  </a:lnTo>
                  <a:lnTo>
                    <a:pt x="481342" y="58623"/>
                  </a:lnTo>
                  <a:lnTo>
                    <a:pt x="726732" y="0"/>
                  </a:lnTo>
                  <a:lnTo>
                    <a:pt x="350824" y="163283"/>
                  </a:lnTo>
                  <a:lnTo>
                    <a:pt x="411581" y="114795"/>
                  </a:lnTo>
                  <a:lnTo>
                    <a:pt x="177380" y="215239"/>
                  </a:lnTo>
                  <a:lnTo>
                    <a:pt x="247129" y="156730"/>
                  </a:lnTo>
                  <a:lnTo>
                    <a:pt x="0" y="263016"/>
                  </a:lnTo>
                  <a:lnTo>
                    <a:pt x="231254" y="74498"/>
                  </a:lnTo>
                  <a:close/>
                </a:path>
              </a:pathLst>
            </a:custGeom>
            <a:ln w="25399">
              <a:solidFill>
                <a:srgbClr val="89A4A7"/>
              </a:solidFill>
            </a:ln>
          </p:spPr>
          <p:txBody>
            <a:bodyPr wrap="square" lIns="0" tIns="0" rIns="0" bIns="0" rtlCol="0"/>
            <a:lstStyle/>
            <a:p/>
          </p:txBody>
        </p:sp>
        <p:pic>
          <p:nvPicPr>
            <p:cNvPr id="27" name="object 27"/>
            <p:cNvPicPr/>
            <p:nvPr/>
          </p:nvPicPr>
          <p:blipFill>
            <a:blip r:embed="rId13" cstate="print"/>
            <a:stretch>
              <a:fillRect/>
            </a:stretch>
          </p:blipFill>
          <p:spPr>
            <a:xfrm>
              <a:off x="3679814" y="1380935"/>
              <a:ext cx="4596902" cy="3077031"/>
            </a:xfrm>
            <a:prstGeom prst="rect">
              <a:avLst/>
            </a:prstGeom>
          </p:spPr>
        </p:pic>
        <p:sp>
          <p:nvSpPr>
            <p:cNvPr id="28" name="object 28" descr=""/>
            <p:cNvSpPr/>
            <p:nvPr/>
          </p:nvSpPr>
          <p:spPr>
            <a:xfrm>
              <a:off x="6747170" y="3946555"/>
              <a:ext cx="267970" cy="265430"/>
            </a:xfrm>
            <a:custGeom>
              <a:avLst/>
              <a:gdLst/>
              <a:ahLst/>
              <a:cxnLst/>
              <a:rect l="l" t="t" r="r" b="b"/>
              <a:pathLst>
                <a:path w="267970" h="265429">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29" name="object 29" descr=""/>
            <p:cNvSpPr/>
            <p:nvPr/>
          </p:nvSpPr>
          <p:spPr>
            <a:xfrm>
              <a:off x="6747170" y="3946555"/>
              <a:ext cx="267970" cy="265430"/>
            </a:xfrm>
            <a:custGeom>
              <a:avLst/>
              <a:gdLst/>
              <a:ahLst/>
              <a:cxnLst/>
              <a:rect l="l" t="t" r="r" b="b"/>
              <a:pathLst>
                <a:path w="267970" h="265429">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sp>
          <p:nvSpPr>
            <p:cNvPr id="30" name="object 30" descr=""/>
            <p:cNvSpPr/>
            <p:nvPr/>
          </p:nvSpPr>
          <p:spPr>
            <a:xfrm>
              <a:off x="7498690" y="1623820"/>
              <a:ext cx="267970" cy="265430"/>
            </a:xfrm>
            <a:custGeom>
              <a:avLst/>
              <a:gdLst/>
              <a:ahLst/>
              <a:cxnLst/>
              <a:rect l="l" t="t" r="r" b="b"/>
              <a:pathLst>
                <a:path w="267970" h="265430">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31" name="object 31" descr=""/>
            <p:cNvSpPr/>
            <p:nvPr/>
          </p:nvSpPr>
          <p:spPr>
            <a:xfrm>
              <a:off x="7498690" y="1623820"/>
              <a:ext cx="267970" cy="265430"/>
            </a:xfrm>
            <a:custGeom>
              <a:avLst/>
              <a:gdLst/>
              <a:ahLst/>
              <a:cxnLst/>
              <a:rect l="l" t="t" r="r" b="b"/>
              <a:pathLst>
                <a:path w="267970" h="265430">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sp>
          <p:nvSpPr>
            <p:cNvPr id="32" name="object 32" descr=""/>
            <p:cNvSpPr/>
            <p:nvPr/>
          </p:nvSpPr>
          <p:spPr>
            <a:xfrm>
              <a:off x="6028312" y="1623820"/>
              <a:ext cx="267970" cy="265430"/>
            </a:xfrm>
            <a:custGeom>
              <a:avLst/>
              <a:gdLst/>
              <a:ahLst/>
              <a:cxnLst/>
              <a:rect l="l" t="t" r="r" b="b"/>
              <a:pathLst>
                <a:path w="267970" h="265430">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33" name="object 33" descr=""/>
            <p:cNvSpPr/>
            <p:nvPr/>
          </p:nvSpPr>
          <p:spPr>
            <a:xfrm>
              <a:off x="6028312" y="1623820"/>
              <a:ext cx="267970" cy="265430"/>
            </a:xfrm>
            <a:custGeom>
              <a:avLst/>
              <a:gdLst/>
              <a:ahLst/>
              <a:cxnLst/>
              <a:rect l="l" t="t" r="r" b="b"/>
              <a:pathLst>
                <a:path w="267970" h="265430">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sp>
          <p:nvSpPr>
            <p:cNvPr id="34" name="object 34" descr=""/>
            <p:cNvSpPr/>
            <p:nvPr/>
          </p:nvSpPr>
          <p:spPr>
            <a:xfrm>
              <a:off x="4525274" y="1623820"/>
              <a:ext cx="267970" cy="265430"/>
            </a:xfrm>
            <a:custGeom>
              <a:avLst/>
              <a:gdLst/>
              <a:ahLst/>
              <a:cxnLst/>
              <a:rect l="l" t="t" r="r" b="b"/>
              <a:pathLst>
                <a:path w="267970" h="265430">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35" name="object 35" descr=""/>
            <p:cNvSpPr/>
            <p:nvPr/>
          </p:nvSpPr>
          <p:spPr>
            <a:xfrm>
              <a:off x="4525274" y="1623820"/>
              <a:ext cx="267970" cy="265430"/>
            </a:xfrm>
            <a:custGeom>
              <a:avLst/>
              <a:gdLst/>
              <a:ahLst/>
              <a:cxnLst/>
              <a:rect l="l" t="t" r="r" b="b"/>
              <a:pathLst>
                <a:path w="267970" h="265430">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sp>
          <p:nvSpPr>
            <p:cNvPr id="36" name="object 36" descr=""/>
            <p:cNvSpPr/>
            <p:nvPr/>
          </p:nvSpPr>
          <p:spPr>
            <a:xfrm>
              <a:off x="4525274" y="2654395"/>
              <a:ext cx="267970" cy="265430"/>
            </a:xfrm>
            <a:custGeom>
              <a:avLst/>
              <a:gdLst/>
              <a:ahLst/>
              <a:cxnLst/>
              <a:rect l="l" t="t" r="r" b="b"/>
              <a:pathLst>
                <a:path w="267970" h="265430">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37" name="object 37" descr=""/>
            <p:cNvSpPr/>
            <p:nvPr/>
          </p:nvSpPr>
          <p:spPr>
            <a:xfrm>
              <a:off x="4525274" y="2654395"/>
              <a:ext cx="267970" cy="265430"/>
            </a:xfrm>
            <a:custGeom>
              <a:avLst/>
              <a:gdLst/>
              <a:ahLst/>
              <a:cxnLst/>
              <a:rect l="l" t="t" r="r" b="b"/>
              <a:pathLst>
                <a:path w="267970" h="265430">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sp>
          <p:nvSpPr>
            <p:cNvPr id="38" name="object 38" descr=""/>
            <p:cNvSpPr/>
            <p:nvPr/>
          </p:nvSpPr>
          <p:spPr>
            <a:xfrm>
              <a:off x="4525274" y="3681704"/>
              <a:ext cx="267970" cy="265430"/>
            </a:xfrm>
            <a:custGeom>
              <a:avLst/>
              <a:gdLst/>
              <a:ahLst/>
              <a:cxnLst/>
              <a:rect l="l" t="t" r="r" b="b"/>
              <a:pathLst>
                <a:path w="267970" h="265429">
                  <a:moveTo>
                    <a:pt x="133756" y="0"/>
                  </a:moveTo>
                  <a:lnTo>
                    <a:pt x="102184" y="101168"/>
                  </a:lnTo>
                  <a:lnTo>
                    <a:pt x="0" y="101168"/>
                  </a:lnTo>
                  <a:lnTo>
                    <a:pt x="82664" y="163690"/>
                  </a:lnTo>
                  <a:lnTo>
                    <a:pt x="51092" y="264858"/>
                  </a:lnTo>
                  <a:lnTo>
                    <a:pt x="133756" y="202336"/>
                  </a:lnTo>
                  <a:lnTo>
                    <a:pt x="216420" y="264858"/>
                  </a:lnTo>
                  <a:lnTo>
                    <a:pt x="184848" y="163690"/>
                  </a:lnTo>
                  <a:lnTo>
                    <a:pt x="267512" y="101168"/>
                  </a:lnTo>
                  <a:lnTo>
                    <a:pt x="165328" y="101168"/>
                  </a:lnTo>
                  <a:lnTo>
                    <a:pt x="133756" y="0"/>
                  </a:lnTo>
                  <a:close/>
                </a:path>
              </a:pathLst>
            </a:custGeom>
            <a:solidFill>
              <a:srgbClr val="FFFF00"/>
            </a:solidFill>
          </p:spPr>
          <p:txBody>
            <a:bodyPr wrap="square" lIns="0" tIns="0" rIns="0" bIns="0" rtlCol="0"/>
            <a:lstStyle/>
            <a:p/>
          </p:txBody>
        </p:sp>
        <p:sp>
          <p:nvSpPr>
            <p:cNvPr id="39" name="object 39" descr=""/>
            <p:cNvSpPr/>
            <p:nvPr/>
          </p:nvSpPr>
          <p:spPr>
            <a:xfrm>
              <a:off x="4525274" y="3681704"/>
              <a:ext cx="267970" cy="265430"/>
            </a:xfrm>
            <a:custGeom>
              <a:avLst/>
              <a:gdLst/>
              <a:ahLst/>
              <a:cxnLst/>
              <a:rect l="l" t="t" r="r" b="b"/>
              <a:pathLst>
                <a:path w="267970" h="265429">
                  <a:moveTo>
                    <a:pt x="0" y="101168"/>
                  </a:moveTo>
                  <a:lnTo>
                    <a:pt x="102184" y="101168"/>
                  </a:lnTo>
                  <a:lnTo>
                    <a:pt x="133756" y="0"/>
                  </a:lnTo>
                  <a:lnTo>
                    <a:pt x="165328" y="101168"/>
                  </a:lnTo>
                  <a:lnTo>
                    <a:pt x="267512" y="101168"/>
                  </a:lnTo>
                  <a:lnTo>
                    <a:pt x="184848" y="163690"/>
                  </a:lnTo>
                  <a:lnTo>
                    <a:pt x="216420" y="264858"/>
                  </a:lnTo>
                  <a:lnTo>
                    <a:pt x="133756" y="202336"/>
                  </a:lnTo>
                  <a:lnTo>
                    <a:pt x="51092" y="264858"/>
                  </a:lnTo>
                  <a:lnTo>
                    <a:pt x="82664" y="163690"/>
                  </a:lnTo>
                  <a:lnTo>
                    <a:pt x="0" y="101168"/>
                  </a:lnTo>
                  <a:close/>
                </a:path>
              </a:pathLst>
            </a:custGeom>
            <a:ln w="25400">
              <a:solidFill>
                <a:srgbClr val="FF0000"/>
              </a:solidFill>
            </a:ln>
          </p:spPr>
          <p:txBody>
            <a:bodyPr wrap="square" lIns="0" tIns="0" rIns="0" bIns="0" rtlCol="0"/>
            <a:lstStyle/>
            <a:p/>
          </p:txBody>
        </p:sp>
      </p:grpSp>
      <p:sp>
        <p:nvSpPr>
          <p:cNvPr id="40" name="object 40" descr=""/>
          <p:cNvSpPr txBox="1"/>
          <p:nvPr/>
        </p:nvSpPr>
        <p:spPr>
          <a:xfrm>
            <a:off x="146392" y="921539"/>
            <a:ext cx="2538730" cy="1325245"/>
          </a:xfrm>
          <a:prstGeom prst="rect">
            <a:avLst/>
          </a:prstGeom>
        </p:spPr>
        <p:txBody>
          <a:bodyPr wrap="square" lIns="0" tIns="107315" rIns="0" bIns="0" rtlCol="0" vert="horz">
            <a:spAutoFit/>
          </a:bodyPr>
          <a:lstStyle/>
          <a:p>
            <a:pPr marL="297815" indent="-285115">
              <a:lnSpc>
                <a:spcPct val="100000"/>
              </a:lnSpc>
              <a:spcBef>
                <a:spcPts val="845"/>
              </a:spcBef>
              <a:buFont typeface="Wingdings"/>
              <a:buChar char=""/>
              <a:tabLst>
                <a:tab pos="297815" algn="l"/>
              </a:tabLst>
            </a:pPr>
            <a:r>
              <a:rPr dirty="0" sz="1400" spc="-10" b="1">
                <a:solidFill>
                  <a:srgbClr val="1F22AF"/>
                </a:solidFill>
                <a:latin typeface="Microsoft YaHei"/>
                <a:cs typeface="Microsoft YaHei"/>
              </a:rPr>
              <a:t>试验网建设情况</a:t>
            </a:r>
            <a:endParaRPr sz="1400">
              <a:latin typeface="Microsoft YaHei"/>
              <a:cs typeface="Microsoft YaHei"/>
            </a:endParaRPr>
          </a:p>
          <a:p>
            <a:pPr lvl="1" marL="544195" marR="5080" indent="-265430">
              <a:lnSpc>
                <a:spcPct val="100000"/>
              </a:lnSpc>
              <a:spcBef>
                <a:spcPts val="605"/>
              </a:spcBef>
              <a:buFont typeface="Arial MT"/>
              <a:buChar char="•"/>
              <a:tabLst>
                <a:tab pos="544195" algn="l"/>
              </a:tabLst>
            </a:pPr>
            <a:r>
              <a:rPr dirty="0" sz="1200" spc="-5">
                <a:solidFill>
                  <a:srgbClr val="1F22AF"/>
                </a:solidFill>
                <a:latin typeface="Microsoft YaHei"/>
                <a:cs typeface="Microsoft YaHei"/>
              </a:rPr>
              <a:t>核心网采用统一的虚拟化云平</a:t>
            </a:r>
            <a:r>
              <a:rPr dirty="0" sz="1200">
                <a:solidFill>
                  <a:srgbClr val="1F22AF"/>
                </a:solidFill>
                <a:latin typeface="Microsoft YaHei"/>
                <a:cs typeface="Microsoft YaHei"/>
              </a:rPr>
              <a:t>台，可满足</a:t>
            </a:r>
            <a:r>
              <a:rPr dirty="0" sz="1200" spc="-10">
                <a:solidFill>
                  <a:srgbClr val="1F22AF"/>
                </a:solidFill>
                <a:latin typeface="Microsoft YaHei"/>
                <a:cs typeface="Microsoft YaHei"/>
              </a:rPr>
              <a:t>5G多样化场景，</a:t>
            </a:r>
            <a:r>
              <a:rPr dirty="0" sz="1200" spc="-5">
                <a:solidFill>
                  <a:srgbClr val="1F22AF"/>
                </a:solidFill>
                <a:latin typeface="Microsoft YaHei"/>
                <a:cs typeface="Microsoft YaHei"/>
              </a:rPr>
              <a:t>支持核心网功能及本地化业务</a:t>
            </a:r>
            <a:r>
              <a:rPr dirty="0" sz="1200">
                <a:solidFill>
                  <a:srgbClr val="1F22AF"/>
                </a:solidFill>
                <a:latin typeface="Microsoft YaHei"/>
                <a:cs typeface="Microsoft YaHei"/>
              </a:rPr>
              <a:t>部署，具备了</a:t>
            </a:r>
            <a:r>
              <a:rPr dirty="0" sz="1200" spc="-10">
                <a:solidFill>
                  <a:srgbClr val="1F22AF"/>
                </a:solidFill>
                <a:latin typeface="Microsoft YaHei"/>
                <a:cs typeface="Microsoft YaHei"/>
              </a:rPr>
              <a:t>5G立体组网的典型验证环境</a:t>
            </a:r>
            <a:endParaRPr sz="1200">
              <a:latin typeface="Microsoft YaHei"/>
              <a:cs typeface="Microsoft YaHei"/>
            </a:endParaRPr>
          </a:p>
        </p:txBody>
      </p:sp>
      <p:sp>
        <p:nvSpPr>
          <p:cNvPr id="41" name="object 41" descr=""/>
          <p:cNvSpPr txBox="1"/>
          <p:nvPr/>
        </p:nvSpPr>
        <p:spPr>
          <a:xfrm>
            <a:off x="146392" y="2555629"/>
            <a:ext cx="1762125" cy="243204"/>
          </a:xfrm>
          <a:prstGeom prst="rect">
            <a:avLst/>
          </a:prstGeom>
        </p:spPr>
        <p:txBody>
          <a:bodyPr wrap="square" lIns="0" tIns="15875" rIns="0" bIns="0" rtlCol="0" vert="horz">
            <a:spAutoFit/>
          </a:bodyPr>
          <a:lstStyle/>
          <a:p>
            <a:pPr marL="297815" indent="-285115">
              <a:lnSpc>
                <a:spcPct val="100000"/>
              </a:lnSpc>
              <a:spcBef>
                <a:spcPts val="125"/>
              </a:spcBef>
              <a:buFont typeface="Wingdings"/>
              <a:buChar char=""/>
              <a:tabLst>
                <a:tab pos="297815" algn="l"/>
              </a:tabLst>
            </a:pPr>
            <a:r>
              <a:rPr dirty="0" sz="1400" spc="-10" b="1">
                <a:solidFill>
                  <a:srgbClr val="1F22AF"/>
                </a:solidFill>
                <a:latin typeface="Microsoft YaHei"/>
                <a:cs typeface="Microsoft YaHei"/>
              </a:rPr>
              <a:t>初步测试验证情况</a:t>
            </a:r>
            <a:endParaRPr sz="1400">
              <a:latin typeface="Microsoft YaHei"/>
              <a:cs typeface="Microsoft YaHei"/>
            </a:endParaRPr>
          </a:p>
        </p:txBody>
      </p:sp>
      <p:sp>
        <p:nvSpPr>
          <p:cNvPr id="42" name="object 42" descr=""/>
          <p:cNvSpPr txBox="1"/>
          <p:nvPr/>
        </p:nvSpPr>
        <p:spPr>
          <a:xfrm>
            <a:off x="413092" y="2849761"/>
            <a:ext cx="2272030" cy="1930400"/>
          </a:xfrm>
          <a:prstGeom prst="rect">
            <a:avLst/>
          </a:prstGeom>
        </p:spPr>
        <p:txBody>
          <a:bodyPr wrap="square" lIns="0" tIns="12700" rIns="0" bIns="0" rtlCol="0" vert="horz">
            <a:spAutoFit/>
          </a:bodyPr>
          <a:lstStyle/>
          <a:p>
            <a:pPr marL="277495" marR="5080" indent="-265430">
              <a:lnSpc>
                <a:spcPct val="100000"/>
              </a:lnSpc>
              <a:spcBef>
                <a:spcPts val="100"/>
              </a:spcBef>
              <a:buFont typeface="Arial MT"/>
              <a:buChar char="•"/>
              <a:tabLst>
                <a:tab pos="277495" algn="l"/>
              </a:tabLst>
            </a:pPr>
            <a:r>
              <a:rPr dirty="0" sz="1200">
                <a:solidFill>
                  <a:srgbClr val="1F22AF"/>
                </a:solidFill>
                <a:latin typeface="Microsoft YaHei"/>
                <a:cs typeface="Microsoft YaHei"/>
              </a:rPr>
              <a:t>进行了</a:t>
            </a:r>
            <a:r>
              <a:rPr dirty="0" sz="1200" spc="-10">
                <a:solidFill>
                  <a:srgbClr val="1F22AF"/>
                </a:solidFill>
                <a:latin typeface="Microsoft YaHei"/>
                <a:cs typeface="Microsoft YaHei"/>
              </a:rPr>
              <a:t>3.5GHz</a:t>
            </a:r>
            <a:r>
              <a:rPr dirty="0" sz="1200">
                <a:solidFill>
                  <a:srgbClr val="1F22AF"/>
                </a:solidFill>
                <a:latin typeface="Microsoft YaHei"/>
                <a:cs typeface="Microsoft YaHei"/>
              </a:rPr>
              <a:t>频段</a:t>
            </a:r>
            <a:r>
              <a:rPr dirty="0" sz="1200" spc="-10">
                <a:solidFill>
                  <a:srgbClr val="1F22AF"/>
                </a:solidFill>
                <a:latin typeface="Microsoft YaHei"/>
                <a:cs typeface="Microsoft YaHei"/>
              </a:rPr>
              <a:t>5G</a:t>
            </a:r>
            <a:r>
              <a:rPr dirty="0" sz="1200" spc="-20">
                <a:solidFill>
                  <a:srgbClr val="1F22AF"/>
                </a:solidFill>
                <a:latin typeface="Microsoft YaHei"/>
                <a:cs typeface="Microsoft YaHei"/>
              </a:rPr>
              <a:t>外场速</a:t>
            </a:r>
            <a:r>
              <a:rPr dirty="0" sz="1200" spc="-5">
                <a:solidFill>
                  <a:srgbClr val="1F22AF"/>
                </a:solidFill>
                <a:latin typeface="Microsoft YaHei"/>
                <a:cs typeface="Microsoft YaHei"/>
              </a:rPr>
              <a:t>率与覆盖能力测试、针对未来</a:t>
            </a:r>
            <a:r>
              <a:rPr dirty="0" sz="1200">
                <a:solidFill>
                  <a:srgbClr val="1F22AF"/>
                </a:solidFill>
                <a:latin typeface="Microsoft YaHei"/>
                <a:cs typeface="Microsoft YaHei"/>
              </a:rPr>
              <a:t>融合组网的</a:t>
            </a:r>
            <a:r>
              <a:rPr dirty="0" sz="1200" spc="-10">
                <a:solidFill>
                  <a:srgbClr val="1F22AF"/>
                </a:solidFill>
                <a:latin typeface="Microsoft YaHei"/>
                <a:cs typeface="Microsoft YaHei"/>
              </a:rPr>
              <a:t>4/5G覆盖对比测</a:t>
            </a:r>
            <a:r>
              <a:rPr dirty="0" sz="1200">
                <a:solidFill>
                  <a:srgbClr val="1F22AF"/>
                </a:solidFill>
                <a:latin typeface="Microsoft YaHei"/>
                <a:cs typeface="Microsoft YaHei"/>
              </a:rPr>
              <a:t>试。在</a:t>
            </a:r>
            <a:r>
              <a:rPr dirty="0" sz="1200" spc="-10">
                <a:solidFill>
                  <a:srgbClr val="1F22AF"/>
                </a:solidFill>
                <a:latin typeface="Microsoft YaHei"/>
                <a:cs typeface="Microsoft YaHei"/>
              </a:rPr>
              <a:t>3.5G频段下保持</a:t>
            </a:r>
            <a:r>
              <a:rPr dirty="0" sz="1200" spc="-50">
                <a:solidFill>
                  <a:srgbClr val="1F22AF"/>
                </a:solidFill>
                <a:latin typeface="Microsoft YaHei"/>
                <a:cs typeface="Microsoft YaHei"/>
              </a:rPr>
              <a:t> </a:t>
            </a:r>
            <a:r>
              <a:rPr dirty="0" sz="1200" spc="-10">
                <a:solidFill>
                  <a:srgbClr val="1F22AF"/>
                </a:solidFill>
                <a:latin typeface="Microsoft YaHei"/>
                <a:cs typeface="Microsoft YaHei"/>
              </a:rPr>
              <a:t>100Mbps下载速率下覆盖距</a:t>
            </a:r>
            <a:r>
              <a:rPr dirty="0" sz="1200">
                <a:solidFill>
                  <a:srgbClr val="1F22AF"/>
                </a:solidFill>
                <a:latin typeface="Microsoft YaHei"/>
                <a:cs typeface="Microsoft YaHei"/>
              </a:rPr>
              <a:t>离超过</a:t>
            </a:r>
            <a:r>
              <a:rPr dirty="0" sz="1200" spc="-25">
                <a:solidFill>
                  <a:srgbClr val="1F22AF"/>
                </a:solidFill>
                <a:latin typeface="Microsoft YaHei"/>
                <a:cs typeface="Microsoft YaHei"/>
              </a:rPr>
              <a:t>2km</a:t>
            </a:r>
            <a:endParaRPr sz="1200">
              <a:latin typeface="Microsoft YaHei"/>
              <a:cs typeface="Microsoft YaHei"/>
            </a:endParaRPr>
          </a:p>
          <a:p>
            <a:pPr marL="277495" marR="5080" indent="-265430">
              <a:lnSpc>
                <a:spcPct val="100000"/>
              </a:lnSpc>
              <a:spcBef>
                <a:spcPts val="600"/>
              </a:spcBef>
              <a:buFont typeface="Arial MT"/>
              <a:buChar char="•"/>
              <a:tabLst>
                <a:tab pos="277495" algn="l"/>
              </a:tabLst>
            </a:pPr>
            <a:r>
              <a:rPr dirty="0" sz="1200" spc="-5">
                <a:solidFill>
                  <a:srgbClr val="1F22AF"/>
                </a:solidFill>
                <a:latin typeface="Microsoft YaHei"/>
                <a:cs typeface="Microsoft YaHei"/>
              </a:rPr>
              <a:t>宏微基站切换测试验证了宏微协同组网和双连接，验证试验</a:t>
            </a:r>
            <a:r>
              <a:rPr dirty="0" sz="1200">
                <a:solidFill>
                  <a:srgbClr val="1F22AF"/>
                </a:solidFill>
                <a:latin typeface="Microsoft YaHei"/>
                <a:cs typeface="Microsoft YaHei"/>
              </a:rPr>
              <a:t>网已具备</a:t>
            </a:r>
            <a:r>
              <a:rPr dirty="0" sz="1200" spc="-10">
                <a:solidFill>
                  <a:srgbClr val="1F22AF"/>
                </a:solidFill>
                <a:latin typeface="Microsoft YaHei"/>
                <a:cs typeface="Microsoft YaHei"/>
              </a:rPr>
              <a:t>5G立体组网典型验</a:t>
            </a:r>
            <a:r>
              <a:rPr dirty="0" sz="1200" spc="-20">
                <a:solidFill>
                  <a:srgbClr val="1F22AF"/>
                </a:solidFill>
                <a:latin typeface="Microsoft YaHei"/>
                <a:cs typeface="Microsoft YaHei"/>
              </a:rPr>
              <a:t>证要求</a:t>
            </a:r>
            <a:endParaRPr sz="1200">
              <a:latin typeface="Microsoft YaHei"/>
              <a:cs typeface="Microsoft YaHei"/>
            </a:endParaRPr>
          </a:p>
        </p:txBody>
      </p:sp>
      <p:sp>
        <p:nvSpPr>
          <p:cNvPr id="43" name="object 43" descr=""/>
          <p:cNvSpPr txBox="1"/>
          <p:nvPr/>
        </p:nvSpPr>
        <p:spPr>
          <a:xfrm>
            <a:off x="4460849" y="4653422"/>
            <a:ext cx="3154045" cy="269875"/>
          </a:xfrm>
          <a:prstGeom prst="rect">
            <a:avLst/>
          </a:prstGeom>
        </p:spPr>
        <p:txBody>
          <a:bodyPr wrap="square" lIns="0" tIns="12700" rIns="0" bIns="0" rtlCol="0" vert="horz">
            <a:spAutoFit/>
          </a:bodyPr>
          <a:lstStyle/>
          <a:p>
            <a:pPr marL="12700">
              <a:lnSpc>
                <a:spcPct val="100000"/>
              </a:lnSpc>
              <a:spcBef>
                <a:spcPts val="100"/>
              </a:spcBef>
            </a:pPr>
            <a:r>
              <a:rPr dirty="0" sz="1600" spc="-20" b="1">
                <a:solidFill>
                  <a:srgbClr val="C00000"/>
                </a:solidFill>
                <a:latin typeface="Times New Roman"/>
                <a:cs typeface="Times New Roman"/>
              </a:rPr>
              <a:t>5G</a:t>
            </a:r>
            <a:r>
              <a:rPr dirty="0" sz="1600" spc="-5" b="1">
                <a:solidFill>
                  <a:srgbClr val="C00000"/>
                </a:solidFill>
                <a:latin typeface="Microsoft JhengHei"/>
                <a:cs typeface="Microsoft JhengHei"/>
              </a:rPr>
              <a:t>中科院网络信息中心站试验环境</a:t>
            </a:r>
            <a:endParaRPr sz="1600">
              <a:latin typeface="Microsoft JhengHei"/>
              <a:cs typeface="Microsoft JhengHei"/>
            </a:endParaRPr>
          </a:p>
        </p:txBody>
      </p:sp>
      <p:sp>
        <p:nvSpPr>
          <p:cNvPr id="44" name="object 44"/>
          <p:cNvSpPr txBox="1">
            <a:spLocks noGrp="1"/>
          </p:cNvSpPr>
          <p:nvPr>
            <p:ph type="title"/>
          </p:nvPr>
        </p:nvSpPr>
        <p:spPr>
          <a:xfrm>
            <a:off x="2636338" y="179123"/>
            <a:ext cx="4204335" cy="513080"/>
          </a:xfrm>
          <a:prstGeom prst="rect"/>
        </p:spPr>
        <p:txBody>
          <a:bodyPr wrap="square" lIns="0" tIns="12065" rIns="0" bIns="0" rtlCol="0" vert="horz">
            <a:spAutoFit/>
          </a:bodyPr>
          <a:lstStyle/>
          <a:p>
            <a:pPr marL="12700">
              <a:lnSpc>
                <a:spcPct val="100000"/>
              </a:lnSpc>
              <a:spcBef>
                <a:spcPts val="95"/>
              </a:spcBef>
            </a:pPr>
            <a:r>
              <a:rPr dirty="0" spc="-35"/>
              <a:t>怀柔</a:t>
            </a:r>
            <a:r>
              <a:rPr dirty="0" spc="-30">
                <a:latin typeface="Times New Roman"/>
                <a:cs typeface="Times New Roman"/>
              </a:rPr>
              <a:t>5G</a:t>
            </a:r>
            <a:r>
              <a:rPr dirty="0" spc="-45"/>
              <a:t>实验网最新成果</a:t>
            </a:r>
          </a:p>
        </p:txBody>
      </p:sp>
      <p:sp>
        <p:nvSpPr>
          <p:cNvPr id="45" name="object 45" descr=""/>
          <p:cNvSpPr txBox="1"/>
          <p:nvPr/>
        </p:nvSpPr>
        <p:spPr>
          <a:xfrm>
            <a:off x="7014679" y="3946562"/>
            <a:ext cx="1261110" cy="382905"/>
          </a:xfrm>
          <a:prstGeom prst="rect">
            <a:avLst/>
          </a:prstGeom>
          <a:solidFill>
            <a:srgbClr val="FFFFFF"/>
          </a:solidFill>
          <a:ln w="25400">
            <a:solidFill>
              <a:srgbClr val="89A4A7"/>
            </a:solidFill>
          </a:ln>
        </p:spPr>
        <p:txBody>
          <a:bodyPr wrap="square" lIns="0" tIns="26034" rIns="0" bIns="0" rtlCol="0" vert="horz">
            <a:spAutoFit/>
          </a:bodyPr>
          <a:lstStyle/>
          <a:p>
            <a:pPr marL="91440" marR="146050">
              <a:lnSpc>
                <a:spcPct val="100000"/>
              </a:lnSpc>
              <a:spcBef>
                <a:spcPts val="204"/>
              </a:spcBef>
            </a:pPr>
            <a:r>
              <a:rPr dirty="0" sz="1050" spc="-10" b="1">
                <a:solidFill>
                  <a:srgbClr val="0950A0"/>
                </a:solidFill>
                <a:latin typeface="Microsoft YaHei"/>
                <a:cs typeface="Microsoft YaHei"/>
              </a:rPr>
              <a:t>1、普通车辆变为</a:t>
            </a:r>
            <a:r>
              <a:rPr dirty="0" sz="1050" spc="-50" b="1">
                <a:solidFill>
                  <a:srgbClr val="0950A0"/>
                </a:solidFill>
                <a:latin typeface="Microsoft YaHei"/>
                <a:cs typeface="Microsoft YaHei"/>
              </a:rPr>
              <a:t> </a:t>
            </a:r>
            <a:r>
              <a:rPr dirty="0" sz="1050" spc="-10" b="1">
                <a:solidFill>
                  <a:srgbClr val="0950A0"/>
                </a:solidFill>
                <a:latin typeface="Microsoft YaHei"/>
                <a:cs typeface="Microsoft YaHei"/>
              </a:rPr>
              <a:t>VIP</a:t>
            </a:r>
            <a:r>
              <a:rPr dirty="0" sz="1050" spc="-25" b="1">
                <a:solidFill>
                  <a:srgbClr val="0950A0"/>
                </a:solidFill>
                <a:latin typeface="Microsoft YaHei"/>
                <a:cs typeface="Microsoft YaHei"/>
              </a:rPr>
              <a:t>车辆</a:t>
            </a:r>
            <a:endParaRPr sz="1050">
              <a:latin typeface="Microsoft YaHei"/>
              <a:cs typeface="Microsoft YaHei"/>
            </a:endParaRPr>
          </a:p>
        </p:txBody>
      </p:sp>
      <p:sp>
        <p:nvSpPr>
          <p:cNvPr id="46" name="object 46" descr=""/>
          <p:cNvSpPr txBox="1"/>
          <p:nvPr/>
        </p:nvSpPr>
        <p:spPr>
          <a:xfrm>
            <a:off x="7585468" y="1936534"/>
            <a:ext cx="1355090" cy="478790"/>
          </a:xfrm>
          <a:prstGeom prst="rect">
            <a:avLst/>
          </a:prstGeom>
          <a:solidFill>
            <a:srgbClr val="FFFFFF"/>
          </a:solidFill>
          <a:ln w="25400">
            <a:solidFill>
              <a:srgbClr val="89A4A7"/>
            </a:solidFill>
          </a:ln>
        </p:spPr>
        <p:txBody>
          <a:bodyPr wrap="square" lIns="0" tIns="0" rIns="0" bIns="0" rtlCol="0" vert="horz">
            <a:spAutoFit/>
          </a:bodyPr>
          <a:lstStyle/>
          <a:p>
            <a:pPr marL="91440">
              <a:lnSpc>
                <a:spcPts val="1210"/>
              </a:lnSpc>
            </a:pPr>
            <a:r>
              <a:rPr dirty="0" sz="1050" spc="-10" b="1">
                <a:solidFill>
                  <a:srgbClr val="0950A0"/>
                </a:solidFill>
                <a:latin typeface="Microsoft YaHei"/>
                <a:cs typeface="Microsoft YaHei"/>
              </a:rPr>
              <a:t>2</a:t>
            </a:r>
            <a:r>
              <a:rPr dirty="0" sz="1050" spc="-5" b="1">
                <a:solidFill>
                  <a:srgbClr val="0950A0"/>
                </a:solidFill>
                <a:latin typeface="Microsoft YaHei"/>
                <a:cs typeface="Microsoft YaHei"/>
              </a:rPr>
              <a:t>、车路协同：</a:t>
            </a:r>
            <a:r>
              <a:rPr dirty="0" sz="1050" spc="-20" b="1">
                <a:solidFill>
                  <a:srgbClr val="0950A0"/>
                </a:solidFill>
                <a:latin typeface="Microsoft YaHei"/>
                <a:cs typeface="Microsoft YaHei"/>
              </a:rPr>
              <a:t>VIP</a:t>
            </a:r>
            <a:endParaRPr sz="1050">
              <a:latin typeface="Microsoft YaHei"/>
              <a:cs typeface="Microsoft YaHei"/>
            </a:endParaRPr>
          </a:p>
          <a:p>
            <a:pPr marL="91440" marR="188595">
              <a:lnSpc>
                <a:spcPct val="100000"/>
              </a:lnSpc>
            </a:pPr>
            <a:r>
              <a:rPr dirty="0" sz="1050" spc="-10" b="1">
                <a:solidFill>
                  <a:srgbClr val="0950A0"/>
                </a:solidFill>
                <a:latin typeface="Microsoft YaHei"/>
                <a:cs typeface="Microsoft YaHei"/>
              </a:rPr>
              <a:t>车辆通过时红灯变为绿灯放行</a:t>
            </a:r>
            <a:endParaRPr sz="1050">
              <a:latin typeface="Microsoft YaHei"/>
              <a:cs typeface="Microsoft YaHei"/>
            </a:endParaRPr>
          </a:p>
        </p:txBody>
      </p:sp>
      <p:sp>
        <p:nvSpPr>
          <p:cNvPr id="47" name="object 47" descr=""/>
          <p:cNvSpPr/>
          <p:nvPr/>
        </p:nvSpPr>
        <p:spPr>
          <a:xfrm>
            <a:off x="5652554" y="1122946"/>
            <a:ext cx="1409700" cy="478790"/>
          </a:xfrm>
          <a:custGeom>
            <a:avLst/>
            <a:gdLst/>
            <a:ahLst/>
            <a:cxnLst/>
            <a:rect l="l" t="t" r="r" b="b"/>
            <a:pathLst>
              <a:path w="1409700" h="478790">
                <a:moveTo>
                  <a:pt x="1409103" y="0"/>
                </a:moveTo>
                <a:lnTo>
                  <a:pt x="0" y="0"/>
                </a:lnTo>
                <a:lnTo>
                  <a:pt x="0" y="478574"/>
                </a:lnTo>
                <a:lnTo>
                  <a:pt x="1409103" y="478574"/>
                </a:lnTo>
                <a:lnTo>
                  <a:pt x="1409103" y="0"/>
                </a:lnTo>
                <a:close/>
              </a:path>
            </a:pathLst>
          </a:custGeom>
          <a:solidFill>
            <a:srgbClr val="FFFFFF"/>
          </a:solidFill>
        </p:spPr>
        <p:txBody>
          <a:bodyPr wrap="square" lIns="0" tIns="0" rIns="0" bIns="0" rtlCol="0"/>
          <a:lstStyle/>
          <a:p/>
        </p:txBody>
      </p:sp>
      <p:sp>
        <p:nvSpPr>
          <p:cNvPr id="48" name="object 48" descr=""/>
          <p:cNvSpPr txBox="1"/>
          <p:nvPr/>
        </p:nvSpPr>
        <p:spPr>
          <a:xfrm>
            <a:off x="5652554" y="1122946"/>
            <a:ext cx="1409700" cy="478790"/>
          </a:xfrm>
          <a:prstGeom prst="rect">
            <a:avLst/>
          </a:prstGeom>
          <a:ln w="25400">
            <a:solidFill>
              <a:srgbClr val="89A4A7"/>
            </a:solidFill>
          </a:ln>
        </p:spPr>
        <p:txBody>
          <a:bodyPr wrap="square" lIns="0" tIns="0" rIns="0" bIns="0" rtlCol="0" vert="horz">
            <a:spAutoFit/>
          </a:bodyPr>
          <a:lstStyle/>
          <a:p>
            <a:pPr marL="90805">
              <a:lnSpc>
                <a:spcPts val="1210"/>
              </a:lnSpc>
            </a:pPr>
            <a:r>
              <a:rPr dirty="0" sz="1050" spc="-10" b="1">
                <a:solidFill>
                  <a:srgbClr val="0950A0"/>
                </a:solidFill>
                <a:latin typeface="Microsoft YaHei"/>
                <a:cs typeface="Microsoft YaHei"/>
              </a:rPr>
              <a:t>3、车网通信：事故</a:t>
            </a:r>
            <a:endParaRPr sz="1050">
              <a:latin typeface="Microsoft YaHei"/>
              <a:cs typeface="Microsoft YaHei"/>
            </a:endParaRPr>
          </a:p>
          <a:p>
            <a:pPr marL="90805" marR="109855">
              <a:lnSpc>
                <a:spcPct val="100000"/>
              </a:lnSpc>
            </a:pPr>
            <a:r>
              <a:rPr dirty="0" sz="1050" spc="-10" b="1">
                <a:solidFill>
                  <a:srgbClr val="0950A0"/>
                </a:solidFill>
                <a:latin typeface="Microsoft YaHei"/>
                <a:cs typeface="Microsoft YaHei"/>
              </a:rPr>
              <a:t>上报，通报前方有故</a:t>
            </a:r>
            <a:r>
              <a:rPr dirty="0" sz="1050" spc="-20" b="1">
                <a:solidFill>
                  <a:srgbClr val="0950A0"/>
                </a:solidFill>
                <a:latin typeface="Microsoft YaHei"/>
                <a:cs typeface="Microsoft YaHei"/>
              </a:rPr>
              <a:t>障车辆</a:t>
            </a:r>
            <a:endParaRPr sz="1050">
              <a:latin typeface="Microsoft YaHei"/>
              <a:cs typeface="Microsoft YaHei"/>
            </a:endParaRPr>
          </a:p>
        </p:txBody>
      </p:sp>
      <p:sp>
        <p:nvSpPr>
          <p:cNvPr id="49" name="object 49" descr=""/>
          <p:cNvSpPr txBox="1"/>
          <p:nvPr/>
        </p:nvSpPr>
        <p:spPr>
          <a:xfrm>
            <a:off x="3170301" y="1410093"/>
            <a:ext cx="1355090" cy="478790"/>
          </a:xfrm>
          <a:prstGeom prst="rect">
            <a:avLst/>
          </a:prstGeom>
          <a:solidFill>
            <a:srgbClr val="FFFFFF"/>
          </a:solidFill>
          <a:ln w="25400">
            <a:solidFill>
              <a:srgbClr val="89A4A7"/>
            </a:solidFill>
          </a:ln>
        </p:spPr>
        <p:txBody>
          <a:bodyPr wrap="square" lIns="0" tIns="73660" rIns="0" bIns="0" rtlCol="0" vert="horz">
            <a:spAutoFit/>
          </a:bodyPr>
          <a:lstStyle/>
          <a:p>
            <a:pPr marL="90805" marR="106680">
              <a:lnSpc>
                <a:spcPct val="100000"/>
              </a:lnSpc>
              <a:spcBef>
                <a:spcPts val="580"/>
              </a:spcBef>
            </a:pPr>
            <a:r>
              <a:rPr dirty="0" sz="1050" spc="-10" b="1">
                <a:solidFill>
                  <a:srgbClr val="0950A0"/>
                </a:solidFill>
                <a:latin typeface="Microsoft YaHei"/>
                <a:cs typeface="Microsoft YaHei"/>
              </a:rPr>
              <a:t>4、车车通信：前方路口出现车辆会车</a:t>
            </a:r>
            <a:endParaRPr sz="1050">
              <a:latin typeface="Microsoft YaHei"/>
              <a:cs typeface="Microsoft YaHei"/>
            </a:endParaRPr>
          </a:p>
        </p:txBody>
      </p:sp>
      <p:sp>
        <p:nvSpPr>
          <p:cNvPr id="50" name="object 50" descr=""/>
          <p:cNvSpPr txBox="1"/>
          <p:nvPr/>
        </p:nvSpPr>
        <p:spPr>
          <a:xfrm>
            <a:off x="3170301" y="2558681"/>
            <a:ext cx="1355090" cy="478790"/>
          </a:xfrm>
          <a:prstGeom prst="rect">
            <a:avLst/>
          </a:prstGeom>
          <a:solidFill>
            <a:srgbClr val="FFFFFF"/>
          </a:solidFill>
          <a:ln w="25400">
            <a:solidFill>
              <a:srgbClr val="89A4A7"/>
            </a:solidFill>
          </a:ln>
        </p:spPr>
        <p:txBody>
          <a:bodyPr wrap="square" lIns="0" tIns="0" rIns="0" bIns="0" rtlCol="0" vert="horz">
            <a:spAutoFit/>
          </a:bodyPr>
          <a:lstStyle/>
          <a:p>
            <a:pPr marL="90805">
              <a:lnSpc>
                <a:spcPts val="1210"/>
              </a:lnSpc>
            </a:pPr>
            <a:r>
              <a:rPr dirty="0" sz="1050" spc="-10" b="1">
                <a:solidFill>
                  <a:srgbClr val="0950A0"/>
                </a:solidFill>
                <a:latin typeface="Microsoft YaHei"/>
                <a:cs typeface="Microsoft YaHei"/>
              </a:rPr>
              <a:t>5、车车通信：前车</a:t>
            </a:r>
            <a:endParaRPr sz="1050">
              <a:latin typeface="Microsoft YaHei"/>
              <a:cs typeface="Microsoft YaHei"/>
            </a:endParaRPr>
          </a:p>
          <a:p>
            <a:pPr marL="90805" marR="188595">
              <a:lnSpc>
                <a:spcPct val="100000"/>
              </a:lnSpc>
            </a:pPr>
            <a:r>
              <a:rPr dirty="0" sz="1050" spc="-10" b="1">
                <a:solidFill>
                  <a:srgbClr val="0950A0"/>
                </a:solidFill>
                <a:latin typeface="Microsoft YaHei"/>
                <a:cs typeface="Microsoft YaHei"/>
              </a:rPr>
              <a:t>避让，后方有救护</a:t>
            </a:r>
            <a:r>
              <a:rPr dirty="0" sz="1050" spc="-50" b="1">
                <a:solidFill>
                  <a:srgbClr val="0950A0"/>
                </a:solidFill>
                <a:latin typeface="Microsoft YaHei"/>
                <a:cs typeface="Microsoft YaHei"/>
              </a:rPr>
              <a:t>车</a:t>
            </a:r>
            <a:endParaRPr sz="1050">
              <a:latin typeface="Microsoft YaHei"/>
              <a:cs typeface="Microsoft YaHei"/>
            </a:endParaRPr>
          </a:p>
        </p:txBody>
      </p:sp>
      <p:sp>
        <p:nvSpPr>
          <p:cNvPr id="51" name="object 51" descr=""/>
          <p:cNvSpPr txBox="1"/>
          <p:nvPr/>
        </p:nvSpPr>
        <p:spPr>
          <a:xfrm>
            <a:off x="3163150" y="3755123"/>
            <a:ext cx="1355090" cy="478790"/>
          </a:xfrm>
          <a:prstGeom prst="rect">
            <a:avLst/>
          </a:prstGeom>
          <a:solidFill>
            <a:srgbClr val="FFFFFF"/>
          </a:solidFill>
          <a:ln w="25400">
            <a:solidFill>
              <a:srgbClr val="89A4A7"/>
            </a:solidFill>
          </a:ln>
        </p:spPr>
        <p:txBody>
          <a:bodyPr wrap="square" lIns="0" tIns="73660" rIns="0" bIns="0" rtlCol="0" vert="horz">
            <a:spAutoFit/>
          </a:bodyPr>
          <a:lstStyle/>
          <a:p>
            <a:pPr marL="90805" marR="106680">
              <a:lnSpc>
                <a:spcPct val="100000"/>
              </a:lnSpc>
              <a:spcBef>
                <a:spcPts val="580"/>
              </a:spcBef>
            </a:pPr>
            <a:r>
              <a:rPr dirty="0" sz="1050" spc="-10" b="1">
                <a:solidFill>
                  <a:srgbClr val="0950A0"/>
                </a:solidFill>
                <a:latin typeface="Microsoft YaHei"/>
                <a:cs typeface="Microsoft YaHei"/>
              </a:rPr>
              <a:t>6、车车通信：前车刹车，后车提示</a:t>
            </a:r>
            <a:endParaRPr sz="1050">
              <a:latin typeface="Microsoft YaHei"/>
              <a:cs typeface="Microsoft YaHe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2722740" y="963189"/>
            <a:ext cx="6421755" cy="2846070"/>
            <a:chOff x="2722740" y="963189"/>
            <a:chExt cx="6421755" cy="2846070"/>
          </a:xfrm>
        </p:grpSpPr>
        <p:pic>
          <p:nvPicPr>
            <p:cNvPr id="3" name="object 3" descr=""/>
            <p:cNvPicPr/>
            <p:nvPr/>
          </p:nvPicPr>
          <p:blipFill>
            <a:blip r:embed="rId2" cstate="print"/>
            <a:stretch>
              <a:fillRect/>
            </a:stretch>
          </p:blipFill>
          <p:spPr>
            <a:xfrm>
              <a:off x="8956785" y="963189"/>
              <a:ext cx="187215" cy="263004"/>
            </a:xfrm>
            <a:prstGeom prst="rect">
              <a:avLst/>
            </a:prstGeom>
          </p:spPr>
        </p:pic>
        <p:pic>
          <p:nvPicPr>
            <p:cNvPr id="4" name="object 4"/>
            <p:cNvPicPr/>
            <p:nvPr/>
          </p:nvPicPr>
          <p:blipFill>
            <a:blip r:embed="rId3" cstate="print"/>
            <a:stretch>
              <a:fillRect/>
            </a:stretch>
          </p:blipFill>
          <p:spPr>
            <a:xfrm>
              <a:off x="3424381" y="1345285"/>
              <a:ext cx="1080067" cy="700264"/>
            </a:xfrm>
            <a:prstGeom prst="rect">
              <a:avLst/>
            </a:prstGeom>
          </p:spPr>
        </p:pic>
        <p:pic>
          <p:nvPicPr>
            <p:cNvPr id="5" name="object 5"/>
            <p:cNvPicPr/>
            <p:nvPr/>
          </p:nvPicPr>
          <p:blipFill>
            <a:blip r:embed="rId4" cstate="print"/>
            <a:stretch>
              <a:fillRect/>
            </a:stretch>
          </p:blipFill>
          <p:spPr>
            <a:xfrm>
              <a:off x="2895185" y="2484424"/>
              <a:ext cx="1080066" cy="714944"/>
            </a:xfrm>
            <a:prstGeom prst="rect">
              <a:avLst/>
            </a:prstGeom>
          </p:spPr>
        </p:pic>
        <p:pic>
          <p:nvPicPr>
            <p:cNvPr id="6" name="object 6"/>
            <p:cNvPicPr/>
            <p:nvPr/>
          </p:nvPicPr>
          <p:blipFill>
            <a:blip r:embed="rId5" cstate="print"/>
            <a:stretch>
              <a:fillRect/>
            </a:stretch>
          </p:blipFill>
          <p:spPr>
            <a:xfrm>
              <a:off x="4286326" y="2491564"/>
              <a:ext cx="1080067" cy="714943"/>
            </a:xfrm>
            <a:prstGeom prst="rect">
              <a:avLst/>
            </a:prstGeom>
          </p:spPr>
        </p:pic>
        <p:pic>
          <p:nvPicPr>
            <p:cNvPr id="7" name="object 7"/>
            <p:cNvPicPr/>
            <p:nvPr/>
          </p:nvPicPr>
          <p:blipFill>
            <a:blip r:embed="rId6" cstate="print"/>
            <a:stretch>
              <a:fillRect/>
            </a:stretch>
          </p:blipFill>
          <p:spPr>
            <a:xfrm>
              <a:off x="4852454" y="1345286"/>
              <a:ext cx="1080066" cy="700264"/>
            </a:xfrm>
            <a:prstGeom prst="rect">
              <a:avLst/>
            </a:prstGeom>
          </p:spPr>
        </p:pic>
        <p:pic>
          <p:nvPicPr>
            <p:cNvPr id="8" name="object 8"/>
            <p:cNvPicPr/>
            <p:nvPr/>
          </p:nvPicPr>
          <p:blipFill>
            <a:blip r:embed="rId7" cstate="print"/>
            <a:stretch>
              <a:fillRect/>
            </a:stretch>
          </p:blipFill>
          <p:spPr>
            <a:xfrm>
              <a:off x="5624321" y="2426969"/>
              <a:ext cx="1309115" cy="844295"/>
            </a:xfrm>
            <a:prstGeom prst="rect">
              <a:avLst/>
            </a:prstGeom>
          </p:spPr>
        </p:pic>
        <p:pic>
          <p:nvPicPr>
            <p:cNvPr id="9" name="object 9"/>
            <p:cNvPicPr/>
            <p:nvPr/>
          </p:nvPicPr>
          <p:blipFill>
            <a:blip r:embed="rId8" cstate="print"/>
            <a:stretch>
              <a:fillRect/>
            </a:stretch>
          </p:blipFill>
          <p:spPr>
            <a:xfrm>
              <a:off x="5689130" y="2491564"/>
              <a:ext cx="1179677" cy="714943"/>
            </a:xfrm>
            <a:prstGeom prst="rect">
              <a:avLst/>
            </a:prstGeom>
          </p:spPr>
        </p:pic>
        <p:pic>
          <p:nvPicPr>
            <p:cNvPr id="10" name="object 10"/>
            <p:cNvPicPr/>
            <p:nvPr/>
          </p:nvPicPr>
          <p:blipFill>
            <a:blip r:embed="rId9" cstate="print"/>
            <a:stretch>
              <a:fillRect/>
            </a:stretch>
          </p:blipFill>
          <p:spPr>
            <a:xfrm>
              <a:off x="6500621" y="2935986"/>
              <a:ext cx="372617" cy="316991"/>
            </a:xfrm>
            <a:prstGeom prst="rect">
              <a:avLst/>
            </a:prstGeom>
          </p:spPr>
        </p:pic>
        <p:pic>
          <p:nvPicPr>
            <p:cNvPr id="11" name="object 11"/>
            <p:cNvPicPr/>
            <p:nvPr/>
          </p:nvPicPr>
          <p:blipFill>
            <a:blip r:embed="rId10" cstate="print"/>
            <a:stretch>
              <a:fillRect/>
            </a:stretch>
          </p:blipFill>
          <p:spPr>
            <a:xfrm>
              <a:off x="6565475" y="3000502"/>
              <a:ext cx="242880" cy="188009"/>
            </a:xfrm>
            <a:prstGeom prst="rect">
              <a:avLst/>
            </a:prstGeom>
          </p:spPr>
        </p:pic>
        <p:pic>
          <p:nvPicPr>
            <p:cNvPr id="12" name="object 12" descr=""/>
            <p:cNvPicPr/>
            <p:nvPr/>
          </p:nvPicPr>
          <p:blipFill>
            <a:blip r:embed="rId11" cstate="print"/>
            <a:stretch>
              <a:fillRect/>
            </a:stretch>
          </p:blipFill>
          <p:spPr>
            <a:xfrm>
              <a:off x="6166103" y="3082290"/>
              <a:ext cx="483869" cy="170687"/>
            </a:xfrm>
            <a:prstGeom prst="rect">
              <a:avLst/>
            </a:prstGeom>
          </p:spPr>
        </p:pic>
        <p:pic>
          <p:nvPicPr>
            <p:cNvPr id="13" name="object 13"/>
            <p:cNvPicPr/>
            <p:nvPr/>
          </p:nvPicPr>
          <p:blipFill>
            <a:blip r:embed="rId12" cstate="print"/>
            <a:stretch>
              <a:fillRect/>
            </a:stretch>
          </p:blipFill>
          <p:spPr>
            <a:xfrm>
              <a:off x="6406894" y="2426969"/>
              <a:ext cx="526541" cy="193547"/>
            </a:xfrm>
            <a:prstGeom prst="rect">
              <a:avLst/>
            </a:prstGeom>
          </p:spPr>
        </p:pic>
        <p:pic>
          <p:nvPicPr>
            <p:cNvPr id="14" name="object 14"/>
            <p:cNvPicPr/>
            <p:nvPr/>
          </p:nvPicPr>
          <p:blipFill>
            <a:blip r:embed="rId13" cstate="print"/>
            <a:stretch>
              <a:fillRect/>
            </a:stretch>
          </p:blipFill>
          <p:spPr>
            <a:xfrm>
              <a:off x="6471354" y="2491574"/>
              <a:ext cx="397452" cy="64091"/>
            </a:xfrm>
            <a:prstGeom prst="rect">
              <a:avLst/>
            </a:prstGeom>
          </p:spPr>
        </p:pic>
        <p:pic>
          <p:nvPicPr>
            <p:cNvPr id="15" name="object 15"/>
            <p:cNvPicPr/>
            <p:nvPr/>
          </p:nvPicPr>
          <p:blipFill>
            <a:blip r:embed="rId14" cstate="print"/>
            <a:stretch>
              <a:fillRect/>
            </a:stretch>
          </p:blipFill>
          <p:spPr>
            <a:xfrm>
              <a:off x="6406894" y="2487167"/>
              <a:ext cx="526541" cy="193547"/>
            </a:xfrm>
            <a:prstGeom prst="rect">
              <a:avLst/>
            </a:prstGeom>
          </p:spPr>
        </p:pic>
        <p:pic>
          <p:nvPicPr>
            <p:cNvPr id="16" name="object 16"/>
            <p:cNvPicPr/>
            <p:nvPr/>
          </p:nvPicPr>
          <p:blipFill>
            <a:blip r:embed="rId13" cstate="print"/>
            <a:stretch>
              <a:fillRect/>
            </a:stretch>
          </p:blipFill>
          <p:spPr>
            <a:xfrm>
              <a:off x="6471354" y="2552217"/>
              <a:ext cx="397452" cy="64095"/>
            </a:xfrm>
            <a:prstGeom prst="rect">
              <a:avLst/>
            </a:prstGeom>
          </p:spPr>
        </p:pic>
        <p:pic>
          <p:nvPicPr>
            <p:cNvPr id="17" name="object 17"/>
            <p:cNvPicPr/>
            <p:nvPr/>
          </p:nvPicPr>
          <p:blipFill>
            <a:blip r:embed="rId15" cstate="print"/>
            <a:stretch>
              <a:fillRect/>
            </a:stretch>
          </p:blipFill>
          <p:spPr>
            <a:xfrm>
              <a:off x="6236716" y="1345290"/>
              <a:ext cx="1080069" cy="700260"/>
            </a:xfrm>
            <a:prstGeom prst="rect">
              <a:avLst/>
            </a:prstGeom>
          </p:spPr>
        </p:pic>
        <p:pic>
          <p:nvPicPr>
            <p:cNvPr id="18" name="object 18"/>
            <p:cNvPicPr/>
            <p:nvPr/>
          </p:nvPicPr>
          <p:blipFill>
            <a:blip r:embed="rId16" cstate="print"/>
            <a:stretch>
              <a:fillRect/>
            </a:stretch>
          </p:blipFill>
          <p:spPr>
            <a:xfrm>
              <a:off x="7640332" y="2104113"/>
              <a:ext cx="1080065" cy="640496"/>
            </a:xfrm>
            <a:prstGeom prst="rect">
              <a:avLst/>
            </a:prstGeom>
          </p:spPr>
        </p:pic>
        <p:sp>
          <p:nvSpPr>
            <p:cNvPr id="19" name="object 19" descr=""/>
            <p:cNvSpPr/>
            <p:nvPr/>
          </p:nvSpPr>
          <p:spPr>
            <a:xfrm>
              <a:off x="2729090" y="1087120"/>
              <a:ext cx="6257925" cy="2715895"/>
            </a:xfrm>
            <a:custGeom>
              <a:avLst/>
              <a:gdLst/>
              <a:ahLst/>
              <a:cxnLst/>
              <a:rect l="l" t="t" r="r" b="b"/>
              <a:pathLst>
                <a:path w="6257925" h="2715895">
                  <a:moveTo>
                    <a:pt x="0" y="0"/>
                  </a:moveTo>
                  <a:lnTo>
                    <a:pt x="6257734" y="0"/>
                  </a:lnTo>
                  <a:lnTo>
                    <a:pt x="6257734" y="2715475"/>
                  </a:lnTo>
                  <a:lnTo>
                    <a:pt x="0" y="2715475"/>
                  </a:lnTo>
                  <a:lnTo>
                    <a:pt x="0" y="0"/>
                  </a:lnTo>
                  <a:close/>
                </a:path>
              </a:pathLst>
            </a:custGeom>
            <a:ln w="12700">
              <a:solidFill>
                <a:srgbClr val="D6ECEE"/>
              </a:solidFill>
            </a:ln>
          </p:spPr>
          <p:txBody>
            <a:bodyPr wrap="square" lIns="0" tIns="0" rIns="0" bIns="0" rtlCol="0"/>
            <a:lstStyle/>
            <a:p/>
          </p:txBody>
        </p:sp>
        <p:pic>
          <p:nvPicPr>
            <p:cNvPr id="20" name="object 20" descr=""/>
            <p:cNvPicPr/>
            <p:nvPr/>
          </p:nvPicPr>
          <p:blipFill>
            <a:blip r:embed="rId17" cstate="print"/>
            <a:stretch>
              <a:fillRect/>
            </a:stretch>
          </p:blipFill>
          <p:spPr>
            <a:xfrm>
              <a:off x="3387851" y="2090165"/>
              <a:ext cx="1153667" cy="309651"/>
            </a:xfrm>
            <a:prstGeom prst="rect">
              <a:avLst/>
            </a:prstGeom>
          </p:spPr>
        </p:pic>
      </p:grpSp>
      <p:sp>
        <p:nvSpPr>
          <p:cNvPr id="21" name="object 21"/>
          <p:cNvSpPr txBox="1">
            <a:spLocks noGrp="1"/>
          </p:cNvSpPr>
          <p:nvPr>
            <p:ph type="title"/>
          </p:nvPr>
        </p:nvSpPr>
        <p:spPr>
          <a:xfrm>
            <a:off x="2378039" y="179123"/>
            <a:ext cx="4714240" cy="513080"/>
          </a:xfrm>
          <a:prstGeom prst="rect"/>
        </p:spPr>
        <p:txBody>
          <a:bodyPr wrap="square" lIns="0" tIns="12065" rIns="0" bIns="0" rtlCol="0" vert="horz">
            <a:spAutoFit/>
          </a:bodyPr>
          <a:lstStyle/>
          <a:p>
            <a:pPr marL="12700">
              <a:lnSpc>
                <a:spcPct val="100000"/>
              </a:lnSpc>
              <a:spcBef>
                <a:spcPts val="95"/>
              </a:spcBef>
            </a:pPr>
            <a:r>
              <a:rPr dirty="0" spc="-35"/>
              <a:t>厦门</a:t>
            </a:r>
            <a:r>
              <a:rPr dirty="0" spc="-25">
                <a:latin typeface="Times New Roman"/>
                <a:cs typeface="Times New Roman"/>
              </a:rPr>
              <a:t>BRT</a:t>
            </a:r>
            <a:r>
              <a:rPr dirty="0" spc="-100">
                <a:latin typeface="Times New Roman"/>
                <a:cs typeface="Times New Roman"/>
              </a:rPr>
              <a:t> </a:t>
            </a:r>
            <a:r>
              <a:rPr dirty="0" spc="-30">
                <a:latin typeface="Times New Roman"/>
                <a:cs typeface="Times New Roman"/>
              </a:rPr>
              <a:t>5G</a:t>
            </a:r>
            <a:r>
              <a:rPr dirty="0" spc="-45"/>
              <a:t>智能网联系统</a:t>
            </a:r>
          </a:p>
        </p:txBody>
      </p:sp>
      <p:pic>
        <p:nvPicPr>
          <p:cNvPr id="22" name="object 22" descr=""/>
          <p:cNvPicPr/>
          <p:nvPr/>
        </p:nvPicPr>
        <p:blipFill>
          <a:blip r:embed="rId18" cstate="print"/>
          <a:stretch>
            <a:fillRect/>
          </a:stretch>
        </p:blipFill>
        <p:spPr>
          <a:xfrm>
            <a:off x="198301" y="2657599"/>
            <a:ext cx="2336965" cy="1144981"/>
          </a:xfrm>
          <a:prstGeom prst="rect">
            <a:avLst/>
          </a:prstGeom>
        </p:spPr>
      </p:pic>
      <p:grpSp>
        <p:nvGrpSpPr>
          <p:cNvPr id="23" name="object 23" descr=""/>
          <p:cNvGrpSpPr/>
          <p:nvPr/>
        </p:nvGrpSpPr>
        <p:grpSpPr>
          <a:xfrm>
            <a:off x="131826" y="3898404"/>
            <a:ext cx="8896350" cy="1134110"/>
            <a:chOff x="131826" y="3898404"/>
            <a:chExt cx="8896350" cy="1134110"/>
          </a:xfrm>
        </p:grpSpPr>
        <p:pic>
          <p:nvPicPr>
            <p:cNvPr id="24" name="object 24" descr=""/>
            <p:cNvPicPr/>
            <p:nvPr/>
          </p:nvPicPr>
          <p:blipFill>
            <a:blip r:embed="rId19" cstate="print"/>
            <a:stretch>
              <a:fillRect/>
            </a:stretch>
          </p:blipFill>
          <p:spPr>
            <a:xfrm>
              <a:off x="147828" y="3910583"/>
              <a:ext cx="8880346" cy="1121663"/>
            </a:xfrm>
            <a:prstGeom prst="rect">
              <a:avLst/>
            </a:prstGeom>
          </p:spPr>
        </p:pic>
        <p:pic>
          <p:nvPicPr>
            <p:cNvPr id="25" name="object 25" descr=""/>
            <p:cNvPicPr/>
            <p:nvPr/>
          </p:nvPicPr>
          <p:blipFill>
            <a:blip r:embed="rId20" cstate="print"/>
            <a:stretch>
              <a:fillRect/>
            </a:stretch>
          </p:blipFill>
          <p:spPr>
            <a:xfrm>
              <a:off x="131826" y="3898404"/>
              <a:ext cx="8748519" cy="1088884"/>
            </a:xfrm>
            <a:prstGeom prst="rect">
              <a:avLst/>
            </a:prstGeom>
          </p:spPr>
        </p:pic>
      </p:grpSp>
      <p:sp>
        <p:nvSpPr>
          <p:cNvPr id="26" name="object 26" descr=""/>
          <p:cNvSpPr txBox="1"/>
          <p:nvPr/>
        </p:nvSpPr>
        <p:spPr>
          <a:xfrm>
            <a:off x="188633" y="3929011"/>
            <a:ext cx="8798560" cy="1038860"/>
          </a:xfrm>
          <a:prstGeom prst="rect">
            <a:avLst/>
          </a:prstGeom>
          <a:solidFill>
            <a:srgbClr val="00B0F0"/>
          </a:solidFill>
        </p:spPr>
        <p:txBody>
          <a:bodyPr wrap="square" lIns="0" tIns="27940" rIns="0" bIns="0" rtlCol="0" vert="horz">
            <a:spAutoFit/>
          </a:bodyPr>
          <a:lstStyle/>
          <a:p>
            <a:pPr marL="283210" indent="-215265">
              <a:lnSpc>
                <a:spcPct val="100000"/>
              </a:lnSpc>
              <a:spcBef>
                <a:spcPts val="220"/>
              </a:spcBef>
              <a:buFont typeface="Arial MT"/>
              <a:buChar char="•"/>
              <a:tabLst>
                <a:tab pos="283210" algn="l"/>
              </a:tabLst>
            </a:pPr>
            <a:r>
              <a:rPr dirty="0" sz="1200" b="1">
                <a:solidFill>
                  <a:srgbClr val="C00000"/>
                </a:solidFill>
                <a:latin typeface="Microsoft YaHei"/>
                <a:cs typeface="Microsoft YaHei"/>
              </a:rPr>
              <a:t>独特的应用环境：全国领先的封闭、专有路权快速公交</a:t>
            </a:r>
            <a:r>
              <a:rPr dirty="0" sz="1200" spc="-10" b="1">
                <a:solidFill>
                  <a:srgbClr val="C00000"/>
                </a:solidFill>
                <a:latin typeface="Microsoft YaHei"/>
                <a:cs typeface="Microsoft YaHei"/>
              </a:rPr>
              <a:t>BRT</a:t>
            </a:r>
            <a:r>
              <a:rPr dirty="0" sz="1200" spc="-5" b="1">
                <a:solidFill>
                  <a:srgbClr val="C00000"/>
                </a:solidFill>
                <a:latin typeface="Microsoft YaHei"/>
                <a:cs typeface="Microsoft YaHei"/>
              </a:rPr>
              <a:t>，适合</a:t>
            </a:r>
            <a:r>
              <a:rPr dirty="0" sz="1200" spc="-10" b="1">
                <a:solidFill>
                  <a:srgbClr val="C00000"/>
                </a:solidFill>
                <a:latin typeface="Microsoft YaHei"/>
                <a:cs typeface="Microsoft YaHei"/>
              </a:rPr>
              <a:t>5G</a:t>
            </a:r>
            <a:r>
              <a:rPr dirty="0" sz="1200" spc="-5" b="1">
                <a:solidFill>
                  <a:srgbClr val="C00000"/>
                </a:solidFill>
                <a:latin typeface="Microsoft YaHei"/>
                <a:cs typeface="Microsoft YaHei"/>
              </a:rPr>
              <a:t>智能网联驾驶快速应用，具备全国商用示范效应。</a:t>
            </a:r>
            <a:endParaRPr sz="1200">
              <a:latin typeface="Microsoft YaHei"/>
              <a:cs typeface="Microsoft YaHei"/>
            </a:endParaRPr>
          </a:p>
          <a:p>
            <a:pPr marL="283210" indent="-215265">
              <a:lnSpc>
                <a:spcPct val="100000"/>
              </a:lnSpc>
              <a:spcBef>
                <a:spcPts val="600"/>
              </a:spcBef>
              <a:buFont typeface="Arial MT"/>
              <a:buChar char="•"/>
              <a:tabLst>
                <a:tab pos="283210" algn="l"/>
              </a:tabLst>
            </a:pPr>
            <a:r>
              <a:rPr dirty="0" sz="1200" spc="-5" b="1">
                <a:solidFill>
                  <a:srgbClr val="C00000"/>
                </a:solidFill>
                <a:latin typeface="Microsoft YaHei"/>
                <a:cs typeface="Microsoft YaHei"/>
              </a:rPr>
              <a:t>共赢产业模式：本项目依托先进的智能网联整体解决方案，得到交通部门，运营商，应用，车企以及合作伙伴等大力支持。</a:t>
            </a:r>
            <a:endParaRPr sz="1200">
              <a:latin typeface="Microsoft YaHei"/>
              <a:cs typeface="Microsoft YaHei"/>
            </a:endParaRPr>
          </a:p>
          <a:p>
            <a:pPr marL="283210" indent="-215265">
              <a:lnSpc>
                <a:spcPct val="100000"/>
              </a:lnSpc>
              <a:spcBef>
                <a:spcPts val="600"/>
              </a:spcBef>
              <a:buFont typeface="Arial MT"/>
              <a:buChar char="•"/>
              <a:tabLst>
                <a:tab pos="283210" algn="l"/>
              </a:tabLst>
            </a:pPr>
            <a:r>
              <a:rPr dirty="0" sz="1200" spc="-5" b="1">
                <a:solidFill>
                  <a:srgbClr val="C00000"/>
                </a:solidFill>
                <a:latin typeface="Microsoft YaHei"/>
                <a:cs typeface="Microsoft YaHei"/>
              </a:rPr>
              <a:t>成型的商业模式：为行业业主带来安全提升、能耗降低，具备实际的商业价值。</a:t>
            </a:r>
            <a:endParaRPr sz="1200">
              <a:latin typeface="Microsoft YaHei"/>
              <a:cs typeface="Microsoft YaHei"/>
            </a:endParaRPr>
          </a:p>
          <a:p>
            <a:pPr marL="283210" indent="-215265">
              <a:lnSpc>
                <a:spcPct val="100000"/>
              </a:lnSpc>
              <a:spcBef>
                <a:spcPts val="600"/>
              </a:spcBef>
              <a:buFont typeface="Arial MT"/>
              <a:buChar char="•"/>
              <a:tabLst>
                <a:tab pos="283210" algn="l"/>
              </a:tabLst>
            </a:pPr>
            <a:r>
              <a:rPr dirty="0" sz="1200" b="1">
                <a:solidFill>
                  <a:srgbClr val="C00000"/>
                </a:solidFill>
                <a:latin typeface="Microsoft YaHei"/>
                <a:cs typeface="Microsoft YaHei"/>
              </a:rPr>
              <a:t>先进的解决方案：项目以先进的</a:t>
            </a:r>
            <a:r>
              <a:rPr dirty="0" sz="1200" spc="-10" b="1">
                <a:solidFill>
                  <a:srgbClr val="C00000"/>
                </a:solidFill>
                <a:latin typeface="Microsoft YaHei"/>
                <a:cs typeface="Microsoft YaHei"/>
              </a:rPr>
              <a:t>C-V2X/5G</a:t>
            </a:r>
            <a:r>
              <a:rPr dirty="0" sz="1200" spc="-5" b="1">
                <a:solidFill>
                  <a:srgbClr val="C00000"/>
                </a:solidFill>
                <a:latin typeface="Microsoft YaHei"/>
                <a:cs typeface="Microsoft YaHei"/>
              </a:rPr>
              <a:t>和边缘计算服务平台为基础，结合运营商等产业合作伙伴的共同发展需求。</a:t>
            </a:r>
            <a:endParaRPr sz="1200">
              <a:latin typeface="Microsoft YaHei"/>
              <a:cs typeface="Microsoft YaHei"/>
            </a:endParaRPr>
          </a:p>
        </p:txBody>
      </p:sp>
      <p:pic>
        <p:nvPicPr>
          <p:cNvPr id="27" name="object 27" descr=""/>
          <p:cNvPicPr/>
          <p:nvPr/>
        </p:nvPicPr>
        <p:blipFill>
          <a:blip r:embed="rId21" cstate="print"/>
          <a:stretch>
            <a:fillRect/>
          </a:stretch>
        </p:blipFill>
        <p:spPr>
          <a:xfrm>
            <a:off x="188638" y="1399419"/>
            <a:ext cx="2356294" cy="1182103"/>
          </a:xfrm>
          <a:prstGeom prst="rect">
            <a:avLst/>
          </a:prstGeom>
        </p:spPr>
      </p:pic>
      <p:sp>
        <p:nvSpPr>
          <p:cNvPr id="28" name="object 28" descr=""/>
          <p:cNvSpPr txBox="1"/>
          <p:nvPr/>
        </p:nvSpPr>
        <p:spPr>
          <a:xfrm>
            <a:off x="3507215" y="2145793"/>
            <a:ext cx="927100" cy="208279"/>
          </a:xfrm>
          <a:prstGeom prst="rect">
            <a:avLst/>
          </a:prstGeom>
        </p:spPr>
        <p:txBody>
          <a:bodyPr wrap="square" lIns="0" tIns="12700" rIns="0" bIns="0" rtlCol="0" vert="horz">
            <a:spAutoFit/>
          </a:bodyPr>
          <a:lstStyle/>
          <a:p>
            <a:pPr>
              <a:lnSpc>
                <a:spcPct val="100000"/>
              </a:lnSpc>
              <a:spcBef>
                <a:spcPts val="100"/>
              </a:spcBef>
            </a:pPr>
            <a:r>
              <a:rPr dirty="0" sz="1200" spc="-10" b="1">
                <a:latin typeface="Microsoft YaHei"/>
                <a:cs typeface="Microsoft YaHei"/>
              </a:rPr>
              <a:t>超视距防碰撞</a:t>
            </a:r>
            <a:endParaRPr sz="1200">
              <a:latin typeface="Microsoft YaHei"/>
              <a:cs typeface="Microsoft YaHei"/>
            </a:endParaRPr>
          </a:p>
        </p:txBody>
      </p:sp>
      <p:pic>
        <p:nvPicPr>
          <p:cNvPr id="29" name="object 29" descr=""/>
          <p:cNvPicPr/>
          <p:nvPr/>
        </p:nvPicPr>
        <p:blipFill>
          <a:blip r:embed="rId22" cstate="print"/>
          <a:stretch>
            <a:fillRect/>
          </a:stretch>
        </p:blipFill>
        <p:spPr>
          <a:xfrm>
            <a:off x="4815839" y="2090165"/>
            <a:ext cx="1153667" cy="309651"/>
          </a:xfrm>
          <a:prstGeom prst="rect">
            <a:avLst/>
          </a:prstGeom>
        </p:spPr>
      </p:pic>
      <p:sp>
        <p:nvSpPr>
          <p:cNvPr id="30" name="object 30" descr=""/>
          <p:cNvSpPr txBox="1"/>
          <p:nvPr/>
        </p:nvSpPr>
        <p:spPr>
          <a:xfrm>
            <a:off x="4935285" y="2145793"/>
            <a:ext cx="927100" cy="208279"/>
          </a:xfrm>
          <a:prstGeom prst="rect">
            <a:avLst/>
          </a:prstGeom>
        </p:spPr>
        <p:txBody>
          <a:bodyPr wrap="square" lIns="0" tIns="12700" rIns="0" bIns="0" rtlCol="0" vert="horz">
            <a:spAutoFit/>
          </a:bodyPr>
          <a:lstStyle/>
          <a:p>
            <a:pPr>
              <a:lnSpc>
                <a:spcPct val="100000"/>
              </a:lnSpc>
              <a:spcBef>
                <a:spcPts val="100"/>
              </a:spcBef>
            </a:pPr>
            <a:r>
              <a:rPr dirty="0" sz="1200" spc="-10" b="1">
                <a:latin typeface="Microsoft YaHei"/>
                <a:cs typeface="Microsoft YaHei"/>
              </a:rPr>
              <a:t>安全精准停靠</a:t>
            </a:r>
            <a:endParaRPr sz="1200">
              <a:latin typeface="Microsoft YaHei"/>
              <a:cs typeface="Microsoft YaHei"/>
            </a:endParaRPr>
          </a:p>
        </p:txBody>
      </p:sp>
      <p:pic>
        <p:nvPicPr>
          <p:cNvPr id="31" name="object 31" descr=""/>
          <p:cNvPicPr/>
          <p:nvPr/>
        </p:nvPicPr>
        <p:blipFill>
          <a:blip r:embed="rId23" cstate="print"/>
          <a:stretch>
            <a:fillRect/>
          </a:stretch>
        </p:blipFill>
        <p:spPr>
          <a:xfrm>
            <a:off x="6194297" y="2090165"/>
            <a:ext cx="1153667" cy="309651"/>
          </a:xfrm>
          <a:prstGeom prst="rect">
            <a:avLst/>
          </a:prstGeom>
        </p:spPr>
      </p:pic>
      <p:sp>
        <p:nvSpPr>
          <p:cNvPr id="32" name="object 32" descr=""/>
          <p:cNvSpPr txBox="1"/>
          <p:nvPr/>
        </p:nvSpPr>
        <p:spPr>
          <a:xfrm>
            <a:off x="6313666" y="2145793"/>
            <a:ext cx="927100" cy="208279"/>
          </a:xfrm>
          <a:prstGeom prst="rect">
            <a:avLst/>
          </a:prstGeom>
        </p:spPr>
        <p:txBody>
          <a:bodyPr wrap="square" lIns="0" tIns="12700" rIns="0" bIns="0" rtlCol="0" vert="horz">
            <a:spAutoFit/>
          </a:bodyPr>
          <a:lstStyle/>
          <a:p>
            <a:pPr>
              <a:lnSpc>
                <a:spcPct val="100000"/>
              </a:lnSpc>
              <a:spcBef>
                <a:spcPts val="100"/>
              </a:spcBef>
            </a:pPr>
            <a:r>
              <a:rPr dirty="0" sz="1200" spc="-10" b="1">
                <a:latin typeface="Microsoft YaHei"/>
                <a:cs typeface="Microsoft YaHei"/>
              </a:rPr>
              <a:t>运力调度优化</a:t>
            </a:r>
            <a:endParaRPr sz="1200">
              <a:latin typeface="Microsoft YaHei"/>
              <a:cs typeface="Microsoft YaHei"/>
            </a:endParaRPr>
          </a:p>
        </p:txBody>
      </p:sp>
      <p:pic>
        <p:nvPicPr>
          <p:cNvPr id="33" name="object 33" descr=""/>
          <p:cNvPicPr/>
          <p:nvPr/>
        </p:nvPicPr>
        <p:blipFill>
          <a:blip r:embed="rId24" cstate="print"/>
          <a:stretch>
            <a:fillRect/>
          </a:stretch>
        </p:blipFill>
        <p:spPr>
          <a:xfrm>
            <a:off x="2844545" y="3224783"/>
            <a:ext cx="1153667" cy="309912"/>
          </a:xfrm>
          <a:prstGeom prst="rect">
            <a:avLst/>
          </a:prstGeom>
        </p:spPr>
      </p:pic>
      <p:sp>
        <p:nvSpPr>
          <p:cNvPr id="34" name="object 34" descr=""/>
          <p:cNvSpPr txBox="1"/>
          <p:nvPr/>
        </p:nvSpPr>
        <p:spPr>
          <a:xfrm>
            <a:off x="2964080" y="3280671"/>
            <a:ext cx="927100" cy="208279"/>
          </a:xfrm>
          <a:prstGeom prst="rect">
            <a:avLst/>
          </a:prstGeom>
        </p:spPr>
        <p:txBody>
          <a:bodyPr wrap="square" lIns="0" tIns="12700" rIns="0" bIns="0" rtlCol="0" vert="horz">
            <a:spAutoFit/>
          </a:bodyPr>
          <a:lstStyle/>
          <a:p>
            <a:pPr>
              <a:lnSpc>
                <a:spcPct val="100000"/>
              </a:lnSpc>
              <a:spcBef>
                <a:spcPts val="100"/>
              </a:spcBef>
            </a:pPr>
            <a:r>
              <a:rPr dirty="0" sz="1200" spc="-10" b="1">
                <a:latin typeface="Microsoft YaHei"/>
                <a:cs typeface="Microsoft YaHei"/>
              </a:rPr>
              <a:t>实时车路协同</a:t>
            </a:r>
            <a:endParaRPr sz="1200">
              <a:latin typeface="Microsoft YaHei"/>
              <a:cs typeface="Microsoft YaHei"/>
            </a:endParaRPr>
          </a:p>
        </p:txBody>
      </p:sp>
      <p:grpSp>
        <p:nvGrpSpPr>
          <p:cNvPr id="35" name="object 35" descr=""/>
          <p:cNvGrpSpPr/>
          <p:nvPr/>
        </p:nvGrpSpPr>
        <p:grpSpPr>
          <a:xfrm>
            <a:off x="4249673" y="3224783"/>
            <a:ext cx="1153795" cy="310515"/>
            <a:chOff x="4249673" y="3224783"/>
            <a:chExt cx="1153795" cy="310515"/>
          </a:xfrm>
        </p:grpSpPr>
        <p:sp>
          <p:nvSpPr>
            <p:cNvPr id="36" name="object 36" descr=""/>
            <p:cNvSpPr/>
            <p:nvPr/>
          </p:nvSpPr>
          <p:spPr>
            <a:xfrm>
              <a:off x="4286323" y="3247116"/>
              <a:ext cx="1080135" cy="287655"/>
            </a:xfrm>
            <a:custGeom>
              <a:avLst/>
              <a:gdLst/>
              <a:ahLst/>
              <a:cxnLst/>
              <a:rect l="l" t="t" r="r" b="b"/>
              <a:pathLst>
                <a:path w="1080135" h="287654">
                  <a:moveTo>
                    <a:pt x="1032141" y="0"/>
                  </a:moveTo>
                  <a:lnTo>
                    <a:pt x="47929" y="0"/>
                  </a:lnTo>
                  <a:lnTo>
                    <a:pt x="29275" y="3767"/>
                  </a:lnTo>
                  <a:lnTo>
                    <a:pt x="14039" y="14039"/>
                  </a:lnTo>
                  <a:lnTo>
                    <a:pt x="3767" y="29275"/>
                  </a:lnTo>
                  <a:lnTo>
                    <a:pt x="0" y="47929"/>
                  </a:lnTo>
                  <a:lnTo>
                    <a:pt x="0" y="239649"/>
                  </a:lnTo>
                  <a:lnTo>
                    <a:pt x="3767" y="258309"/>
                  </a:lnTo>
                  <a:lnTo>
                    <a:pt x="14039" y="273543"/>
                  </a:lnTo>
                  <a:lnTo>
                    <a:pt x="29275" y="283813"/>
                  </a:lnTo>
                  <a:lnTo>
                    <a:pt x="47929" y="287578"/>
                  </a:lnTo>
                  <a:lnTo>
                    <a:pt x="1032141" y="287578"/>
                  </a:lnTo>
                  <a:lnTo>
                    <a:pt x="1050796" y="283813"/>
                  </a:lnTo>
                  <a:lnTo>
                    <a:pt x="1066031" y="273543"/>
                  </a:lnTo>
                  <a:lnTo>
                    <a:pt x="1076304" y="258309"/>
                  </a:lnTo>
                  <a:lnTo>
                    <a:pt x="1080071" y="239649"/>
                  </a:lnTo>
                  <a:lnTo>
                    <a:pt x="1080071" y="47929"/>
                  </a:lnTo>
                  <a:lnTo>
                    <a:pt x="1076304" y="29275"/>
                  </a:lnTo>
                  <a:lnTo>
                    <a:pt x="1066031" y="14039"/>
                  </a:lnTo>
                  <a:lnTo>
                    <a:pt x="1050796" y="3767"/>
                  </a:lnTo>
                  <a:lnTo>
                    <a:pt x="1032141" y="0"/>
                  </a:lnTo>
                  <a:close/>
                </a:path>
              </a:pathLst>
            </a:custGeom>
            <a:solidFill>
              <a:srgbClr val="D6ECEE">
                <a:alpha val="58039"/>
              </a:srgbClr>
            </a:solidFill>
          </p:spPr>
          <p:txBody>
            <a:bodyPr wrap="square" lIns="0" tIns="0" rIns="0" bIns="0" rtlCol="0"/>
            <a:lstStyle/>
            <a:p/>
          </p:txBody>
        </p:sp>
        <p:pic>
          <p:nvPicPr>
            <p:cNvPr id="37" name="object 37" descr=""/>
            <p:cNvPicPr/>
            <p:nvPr/>
          </p:nvPicPr>
          <p:blipFill>
            <a:blip r:embed="rId25" cstate="print"/>
            <a:stretch>
              <a:fillRect/>
            </a:stretch>
          </p:blipFill>
          <p:spPr>
            <a:xfrm>
              <a:off x="4249673" y="3224783"/>
              <a:ext cx="848867" cy="285749"/>
            </a:xfrm>
            <a:prstGeom prst="rect">
              <a:avLst/>
            </a:prstGeom>
          </p:spPr>
        </p:pic>
        <p:pic>
          <p:nvPicPr>
            <p:cNvPr id="38" name="object 38" descr=""/>
            <p:cNvPicPr/>
            <p:nvPr/>
          </p:nvPicPr>
          <p:blipFill>
            <a:blip r:embed="rId26" cstate="print"/>
            <a:stretch>
              <a:fillRect/>
            </a:stretch>
          </p:blipFill>
          <p:spPr>
            <a:xfrm>
              <a:off x="4859273" y="3224783"/>
              <a:ext cx="544067" cy="285749"/>
            </a:xfrm>
            <a:prstGeom prst="rect">
              <a:avLst/>
            </a:prstGeom>
          </p:spPr>
        </p:pic>
      </p:grpSp>
      <p:sp>
        <p:nvSpPr>
          <p:cNvPr id="39" name="object 39" descr=""/>
          <p:cNvSpPr txBox="1"/>
          <p:nvPr/>
        </p:nvSpPr>
        <p:spPr>
          <a:xfrm>
            <a:off x="4369159" y="3280671"/>
            <a:ext cx="927100" cy="208279"/>
          </a:xfrm>
          <a:prstGeom prst="rect">
            <a:avLst/>
          </a:prstGeom>
        </p:spPr>
        <p:txBody>
          <a:bodyPr wrap="square" lIns="0" tIns="12700" rIns="0" bIns="0" rtlCol="0" vert="horz">
            <a:spAutoFit/>
          </a:bodyPr>
          <a:lstStyle/>
          <a:p>
            <a:pPr>
              <a:lnSpc>
                <a:spcPct val="100000"/>
              </a:lnSpc>
              <a:spcBef>
                <a:spcPts val="100"/>
              </a:spcBef>
            </a:pPr>
            <a:r>
              <a:rPr dirty="0" sz="1200" spc="-10" b="1">
                <a:latin typeface="Microsoft YaHei"/>
                <a:cs typeface="Microsoft YaHei"/>
              </a:rPr>
              <a:t>智能车速策略</a:t>
            </a:r>
            <a:endParaRPr sz="1200">
              <a:latin typeface="Microsoft YaHei"/>
              <a:cs typeface="Microsoft YaHei"/>
            </a:endParaRPr>
          </a:p>
        </p:txBody>
      </p:sp>
      <p:pic>
        <p:nvPicPr>
          <p:cNvPr id="40" name="object 40" descr=""/>
          <p:cNvPicPr/>
          <p:nvPr/>
        </p:nvPicPr>
        <p:blipFill>
          <a:blip r:embed="rId27" cstate="print"/>
          <a:stretch>
            <a:fillRect/>
          </a:stretch>
        </p:blipFill>
        <p:spPr>
          <a:xfrm>
            <a:off x="5638800" y="3244595"/>
            <a:ext cx="1280159" cy="290099"/>
          </a:xfrm>
          <a:prstGeom prst="rect">
            <a:avLst/>
          </a:prstGeom>
        </p:spPr>
      </p:pic>
      <p:sp>
        <p:nvSpPr>
          <p:cNvPr id="41" name="object 41" descr=""/>
          <p:cNvSpPr txBox="1"/>
          <p:nvPr/>
        </p:nvSpPr>
        <p:spPr>
          <a:xfrm>
            <a:off x="5745314" y="3292864"/>
            <a:ext cx="1079500" cy="185420"/>
          </a:xfrm>
          <a:prstGeom prst="rect">
            <a:avLst/>
          </a:prstGeom>
        </p:spPr>
        <p:txBody>
          <a:bodyPr wrap="square" lIns="0" tIns="12700" rIns="0" bIns="0" rtlCol="0" vert="horz">
            <a:spAutoFit/>
          </a:bodyPr>
          <a:lstStyle/>
          <a:p>
            <a:pPr>
              <a:lnSpc>
                <a:spcPct val="100000"/>
              </a:lnSpc>
              <a:spcBef>
                <a:spcPts val="100"/>
              </a:spcBef>
            </a:pPr>
            <a:r>
              <a:rPr dirty="0" sz="1050" spc="-10" b="1">
                <a:latin typeface="Microsoft YaHei"/>
                <a:cs typeface="Microsoft YaHei"/>
              </a:rPr>
              <a:t>最优行驶策略规划</a:t>
            </a:r>
            <a:endParaRPr sz="1050">
              <a:latin typeface="Microsoft YaHei"/>
              <a:cs typeface="Microsoft YaHei"/>
            </a:endParaRPr>
          </a:p>
        </p:txBody>
      </p:sp>
      <p:grpSp>
        <p:nvGrpSpPr>
          <p:cNvPr id="42" name="object 42" descr=""/>
          <p:cNvGrpSpPr/>
          <p:nvPr/>
        </p:nvGrpSpPr>
        <p:grpSpPr>
          <a:xfrm>
            <a:off x="7640328" y="2793491"/>
            <a:ext cx="1080135" cy="309880"/>
            <a:chOff x="7640328" y="2793491"/>
            <a:chExt cx="1080135" cy="309880"/>
          </a:xfrm>
        </p:grpSpPr>
        <p:sp>
          <p:nvSpPr>
            <p:cNvPr id="43" name="object 43" descr=""/>
            <p:cNvSpPr/>
            <p:nvPr/>
          </p:nvSpPr>
          <p:spPr>
            <a:xfrm>
              <a:off x="7640328" y="2815724"/>
              <a:ext cx="1080135" cy="287655"/>
            </a:xfrm>
            <a:custGeom>
              <a:avLst/>
              <a:gdLst/>
              <a:ahLst/>
              <a:cxnLst/>
              <a:rect l="l" t="t" r="r" b="b"/>
              <a:pathLst>
                <a:path w="1080134" h="287655">
                  <a:moveTo>
                    <a:pt x="1032141" y="0"/>
                  </a:moveTo>
                  <a:lnTo>
                    <a:pt x="47929" y="0"/>
                  </a:lnTo>
                  <a:lnTo>
                    <a:pt x="29275" y="3767"/>
                  </a:lnTo>
                  <a:lnTo>
                    <a:pt x="14039" y="14039"/>
                  </a:lnTo>
                  <a:lnTo>
                    <a:pt x="3767" y="29275"/>
                  </a:lnTo>
                  <a:lnTo>
                    <a:pt x="0" y="47929"/>
                  </a:lnTo>
                  <a:lnTo>
                    <a:pt x="0" y="239649"/>
                  </a:lnTo>
                  <a:lnTo>
                    <a:pt x="3767" y="258309"/>
                  </a:lnTo>
                  <a:lnTo>
                    <a:pt x="14039" y="273543"/>
                  </a:lnTo>
                  <a:lnTo>
                    <a:pt x="29275" y="283813"/>
                  </a:lnTo>
                  <a:lnTo>
                    <a:pt x="47929" y="287578"/>
                  </a:lnTo>
                  <a:lnTo>
                    <a:pt x="1032141" y="287578"/>
                  </a:lnTo>
                  <a:lnTo>
                    <a:pt x="1050796" y="283813"/>
                  </a:lnTo>
                  <a:lnTo>
                    <a:pt x="1066031" y="273543"/>
                  </a:lnTo>
                  <a:lnTo>
                    <a:pt x="1076304" y="258309"/>
                  </a:lnTo>
                  <a:lnTo>
                    <a:pt x="1080071" y="239649"/>
                  </a:lnTo>
                  <a:lnTo>
                    <a:pt x="1080071" y="47929"/>
                  </a:lnTo>
                  <a:lnTo>
                    <a:pt x="1076304" y="29275"/>
                  </a:lnTo>
                  <a:lnTo>
                    <a:pt x="1066031" y="14039"/>
                  </a:lnTo>
                  <a:lnTo>
                    <a:pt x="1050796" y="3767"/>
                  </a:lnTo>
                  <a:lnTo>
                    <a:pt x="1032141" y="0"/>
                  </a:lnTo>
                  <a:close/>
                </a:path>
              </a:pathLst>
            </a:custGeom>
            <a:solidFill>
              <a:srgbClr val="D6ECEE">
                <a:alpha val="58039"/>
              </a:srgbClr>
            </a:solidFill>
          </p:spPr>
          <p:txBody>
            <a:bodyPr wrap="square" lIns="0" tIns="0" rIns="0" bIns="0" rtlCol="0"/>
            <a:lstStyle/>
            <a:p/>
          </p:txBody>
        </p:sp>
        <p:pic>
          <p:nvPicPr>
            <p:cNvPr id="44" name="object 44" descr=""/>
            <p:cNvPicPr/>
            <p:nvPr/>
          </p:nvPicPr>
          <p:blipFill>
            <a:blip r:embed="rId28" cstate="print"/>
            <a:stretch>
              <a:fillRect/>
            </a:stretch>
          </p:blipFill>
          <p:spPr>
            <a:xfrm>
              <a:off x="7755635" y="2793491"/>
              <a:ext cx="848867" cy="285749"/>
            </a:xfrm>
            <a:prstGeom prst="rect">
              <a:avLst/>
            </a:prstGeom>
          </p:spPr>
        </p:pic>
      </p:grpSp>
      <p:sp>
        <p:nvSpPr>
          <p:cNvPr id="45" name="object 45" descr=""/>
          <p:cNvSpPr txBox="1"/>
          <p:nvPr/>
        </p:nvSpPr>
        <p:spPr>
          <a:xfrm>
            <a:off x="7875565" y="2849279"/>
            <a:ext cx="622300" cy="208279"/>
          </a:xfrm>
          <a:prstGeom prst="rect">
            <a:avLst/>
          </a:prstGeom>
        </p:spPr>
        <p:txBody>
          <a:bodyPr wrap="square" lIns="0" tIns="12700" rIns="0" bIns="0" rtlCol="0" vert="horz">
            <a:spAutoFit/>
          </a:bodyPr>
          <a:lstStyle/>
          <a:p>
            <a:pPr>
              <a:lnSpc>
                <a:spcPct val="100000"/>
              </a:lnSpc>
              <a:spcBef>
                <a:spcPts val="100"/>
              </a:spcBef>
            </a:pPr>
            <a:r>
              <a:rPr dirty="0" sz="1200" spc="-15" b="1">
                <a:latin typeface="Microsoft YaHei"/>
                <a:cs typeface="Microsoft YaHei"/>
              </a:rPr>
              <a:t>智能驾驶</a:t>
            </a:r>
            <a:endParaRPr sz="1200">
              <a:latin typeface="Microsoft YaHei"/>
              <a:cs typeface="Microsoft YaHei"/>
            </a:endParaRPr>
          </a:p>
        </p:txBody>
      </p:sp>
      <p:pic>
        <p:nvPicPr>
          <p:cNvPr id="46" name="object 46" descr=""/>
          <p:cNvPicPr/>
          <p:nvPr/>
        </p:nvPicPr>
        <p:blipFill>
          <a:blip r:embed="rId29" cstate="print"/>
          <a:stretch>
            <a:fillRect/>
          </a:stretch>
        </p:blipFill>
        <p:spPr>
          <a:xfrm>
            <a:off x="244602" y="842771"/>
            <a:ext cx="1225295" cy="378713"/>
          </a:xfrm>
          <a:prstGeom prst="rect">
            <a:avLst/>
          </a:prstGeom>
        </p:spPr>
      </p:pic>
      <p:sp>
        <p:nvSpPr>
          <p:cNvPr id="47" name="object 47" descr=""/>
          <p:cNvSpPr txBox="1"/>
          <p:nvPr/>
        </p:nvSpPr>
        <p:spPr>
          <a:xfrm>
            <a:off x="374665" y="895403"/>
            <a:ext cx="939800" cy="299720"/>
          </a:xfrm>
          <a:prstGeom prst="rect">
            <a:avLst/>
          </a:prstGeom>
        </p:spPr>
        <p:txBody>
          <a:bodyPr wrap="square" lIns="0" tIns="12700" rIns="0" bIns="0" rtlCol="0" vert="horz">
            <a:spAutoFit/>
          </a:bodyPr>
          <a:lstStyle/>
          <a:p>
            <a:pPr marL="12700">
              <a:lnSpc>
                <a:spcPct val="100000"/>
              </a:lnSpc>
              <a:spcBef>
                <a:spcPts val="100"/>
              </a:spcBef>
            </a:pPr>
            <a:r>
              <a:rPr dirty="0" sz="1800" spc="-15" b="1">
                <a:latin typeface="Microsoft YaHei"/>
                <a:cs typeface="Microsoft YaHei"/>
              </a:rPr>
              <a:t>美好厦门</a:t>
            </a:r>
            <a:endParaRPr sz="1800">
              <a:latin typeface="Microsoft YaHei"/>
              <a:cs typeface="Microsoft YaHei"/>
            </a:endParaRPr>
          </a:p>
        </p:txBody>
      </p:sp>
      <p:pic>
        <p:nvPicPr>
          <p:cNvPr id="48" name="object 48" descr=""/>
          <p:cNvPicPr/>
          <p:nvPr/>
        </p:nvPicPr>
        <p:blipFill>
          <a:blip r:embed="rId30" cstate="print"/>
          <a:stretch>
            <a:fillRect/>
          </a:stretch>
        </p:blipFill>
        <p:spPr>
          <a:xfrm>
            <a:off x="1750313" y="842771"/>
            <a:ext cx="768095" cy="378713"/>
          </a:xfrm>
          <a:prstGeom prst="rect">
            <a:avLst/>
          </a:prstGeom>
        </p:spPr>
      </p:pic>
      <p:sp>
        <p:nvSpPr>
          <p:cNvPr id="49" name="object 49" descr=""/>
          <p:cNvSpPr txBox="1"/>
          <p:nvPr/>
        </p:nvSpPr>
        <p:spPr>
          <a:xfrm>
            <a:off x="1880464" y="895403"/>
            <a:ext cx="482600" cy="299720"/>
          </a:xfrm>
          <a:prstGeom prst="rect">
            <a:avLst/>
          </a:prstGeom>
        </p:spPr>
        <p:txBody>
          <a:bodyPr wrap="square" lIns="0" tIns="12700" rIns="0" bIns="0" rtlCol="0" vert="horz">
            <a:spAutoFit/>
          </a:bodyPr>
          <a:lstStyle/>
          <a:p>
            <a:pPr marL="12700">
              <a:lnSpc>
                <a:spcPct val="100000"/>
              </a:lnSpc>
              <a:spcBef>
                <a:spcPts val="100"/>
              </a:spcBef>
            </a:pPr>
            <a:r>
              <a:rPr dirty="0" sz="1800" spc="-25" b="1">
                <a:latin typeface="Microsoft YaHei"/>
                <a:cs typeface="Microsoft YaHei"/>
              </a:rPr>
              <a:t>驶达</a:t>
            </a:r>
            <a:endParaRPr sz="1800">
              <a:latin typeface="Microsoft YaHei"/>
              <a:cs typeface="Microsoft YaHei"/>
            </a:endParaRPr>
          </a:p>
        </p:txBody>
      </p:sp>
      <p:pic>
        <p:nvPicPr>
          <p:cNvPr id="50" name="object 50"/>
          <p:cNvPicPr/>
          <p:nvPr/>
        </p:nvPicPr>
        <p:blipFill>
          <a:blip r:embed="rId31" cstate="print"/>
          <a:stretch>
            <a:fillRect/>
          </a:stretch>
        </p:blipFill>
        <p:spPr>
          <a:xfrm>
            <a:off x="1369682" y="829683"/>
            <a:ext cx="471982" cy="44591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20624" y="1795424"/>
            <a:ext cx="3766185" cy="1601470"/>
          </a:xfrm>
          <a:custGeom>
            <a:avLst/>
            <a:gdLst/>
            <a:ahLst/>
            <a:cxnLst/>
            <a:rect l="l" t="t" r="r" b="b"/>
            <a:pathLst>
              <a:path w="3766185" h="1601470">
                <a:moveTo>
                  <a:pt x="3765778" y="0"/>
                </a:moveTo>
                <a:lnTo>
                  <a:pt x="0" y="0"/>
                </a:lnTo>
                <a:lnTo>
                  <a:pt x="0" y="1601203"/>
                </a:lnTo>
                <a:lnTo>
                  <a:pt x="3765778" y="1601203"/>
                </a:lnTo>
                <a:lnTo>
                  <a:pt x="3765778" y="0"/>
                </a:lnTo>
                <a:close/>
              </a:path>
            </a:pathLst>
          </a:custGeom>
          <a:solidFill>
            <a:srgbClr val="CDCDCD"/>
          </a:solidFill>
        </p:spPr>
        <p:txBody>
          <a:bodyPr wrap="square" lIns="0" tIns="0" rIns="0" bIns="0" rtlCol="0"/>
          <a:lstStyle/>
          <a:p/>
        </p:txBody>
      </p:sp>
      <p:sp>
        <p:nvSpPr>
          <p:cNvPr id="3" name="object 3" descr=""/>
          <p:cNvSpPr txBox="1"/>
          <p:nvPr/>
        </p:nvSpPr>
        <p:spPr>
          <a:xfrm>
            <a:off x="412013" y="1834516"/>
            <a:ext cx="3604895" cy="1348105"/>
          </a:xfrm>
          <a:prstGeom prst="rect">
            <a:avLst/>
          </a:prstGeom>
        </p:spPr>
        <p:txBody>
          <a:bodyPr wrap="square" lIns="0" tIns="12065" rIns="0" bIns="0" rtlCol="0" vert="horz">
            <a:spAutoFit/>
          </a:bodyPr>
          <a:lstStyle/>
          <a:p>
            <a:pPr algn="just" marL="342900" marR="10795" indent="-342900">
              <a:lnSpc>
                <a:spcPct val="100000"/>
              </a:lnSpc>
              <a:spcBef>
                <a:spcPts val="95"/>
              </a:spcBef>
              <a:buFont typeface="SimSun"/>
              <a:buChar char="•"/>
              <a:tabLst>
                <a:tab pos="342900" algn="l"/>
              </a:tabLst>
            </a:pPr>
            <a:r>
              <a:rPr dirty="0" sz="1400" spc="-5">
                <a:latin typeface="SimSun"/>
                <a:cs typeface="SimSun"/>
              </a:rPr>
              <a:t>与合作伙伴联合在汽车博览公园社会道路</a:t>
            </a:r>
            <a:r>
              <a:rPr dirty="0" sz="1400" spc="-25">
                <a:latin typeface="SimSun"/>
                <a:cs typeface="SimSun"/>
              </a:rPr>
              <a:t>进行车联网业务应用演示。</a:t>
            </a:r>
            <a:endParaRPr sz="1400">
              <a:latin typeface="SimSun"/>
              <a:cs typeface="SimSun"/>
            </a:endParaRPr>
          </a:p>
          <a:p>
            <a:pPr algn="just" marL="342265" marR="5080" indent="-342900">
              <a:lnSpc>
                <a:spcPct val="100000"/>
              </a:lnSpc>
              <a:spcBef>
                <a:spcPts val="340"/>
              </a:spcBef>
              <a:buChar char="•"/>
              <a:tabLst>
                <a:tab pos="342265" algn="l"/>
              </a:tabLst>
            </a:pPr>
            <a:r>
              <a:rPr dirty="0" sz="1400">
                <a:latin typeface="SimSun"/>
                <a:cs typeface="SimSun"/>
              </a:rPr>
              <a:t>共计2辆车载节点，5个路测节点安装</a:t>
            </a:r>
            <a:r>
              <a:rPr dirty="0" sz="1400" spc="-20">
                <a:latin typeface="SimSun"/>
                <a:cs typeface="SimSun"/>
              </a:rPr>
              <a:t>LTE- </a:t>
            </a:r>
            <a:r>
              <a:rPr dirty="0" sz="1400" spc="55">
                <a:latin typeface="SimSun"/>
                <a:cs typeface="SimSun"/>
              </a:rPr>
              <a:t>V</a:t>
            </a:r>
            <a:r>
              <a:rPr dirty="0" sz="1400" spc="50">
                <a:latin typeface="SimSun"/>
                <a:cs typeface="SimSun"/>
              </a:rPr>
              <a:t>设备。</a:t>
            </a:r>
            <a:r>
              <a:rPr dirty="0" sz="1400">
                <a:latin typeface="SimSun"/>
                <a:cs typeface="SimSun"/>
              </a:rPr>
              <a:t>Demo</a:t>
            </a:r>
            <a:r>
              <a:rPr dirty="0" sz="1400" spc="20">
                <a:latin typeface="SimSun"/>
                <a:cs typeface="SimSun"/>
              </a:rPr>
              <a:t>展示车车安全告警，最佳速</a:t>
            </a:r>
            <a:r>
              <a:rPr dirty="0" sz="1400" spc="-5">
                <a:latin typeface="SimSun"/>
                <a:cs typeface="SimSun"/>
              </a:rPr>
              <a:t>度引导，交叉路口行人检测、绿波带通行</a:t>
            </a:r>
            <a:r>
              <a:rPr dirty="0" sz="1400" spc="-30">
                <a:latin typeface="SimSun"/>
                <a:cs typeface="SimSun"/>
              </a:rPr>
              <a:t>等用例。</a:t>
            </a:r>
            <a:endParaRPr sz="1400">
              <a:latin typeface="SimSun"/>
              <a:cs typeface="SimSun"/>
            </a:endParaRPr>
          </a:p>
        </p:txBody>
      </p:sp>
      <p:sp>
        <p:nvSpPr>
          <p:cNvPr id="4" name="object 4" descr=""/>
          <p:cNvSpPr/>
          <p:nvPr/>
        </p:nvSpPr>
        <p:spPr>
          <a:xfrm>
            <a:off x="598341" y="1011260"/>
            <a:ext cx="638175" cy="534670"/>
          </a:xfrm>
          <a:custGeom>
            <a:avLst/>
            <a:gdLst/>
            <a:ahLst/>
            <a:cxnLst/>
            <a:rect l="l" t="t" r="r" b="b"/>
            <a:pathLst>
              <a:path w="638175" h="534669">
                <a:moveTo>
                  <a:pt x="415328" y="374230"/>
                </a:moveTo>
                <a:lnTo>
                  <a:pt x="215963" y="374230"/>
                </a:lnTo>
                <a:lnTo>
                  <a:pt x="194677" y="374805"/>
                </a:lnTo>
                <a:lnTo>
                  <a:pt x="182737" y="378825"/>
                </a:lnTo>
                <a:lnTo>
                  <a:pt x="175783" y="389736"/>
                </a:lnTo>
                <a:lnTo>
                  <a:pt x="169456" y="410984"/>
                </a:lnTo>
                <a:lnTo>
                  <a:pt x="119608" y="534619"/>
                </a:lnTo>
                <a:lnTo>
                  <a:pt x="505040" y="534619"/>
                </a:lnTo>
                <a:lnTo>
                  <a:pt x="465162" y="410984"/>
                </a:lnTo>
                <a:lnTo>
                  <a:pt x="462516" y="405241"/>
                </a:lnTo>
                <a:lnTo>
                  <a:pt x="453951" y="392607"/>
                </a:lnTo>
                <a:lnTo>
                  <a:pt x="438534" y="379973"/>
                </a:lnTo>
                <a:lnTo>
                  <a:pt x="415328" y="374230"/>
                </a:lnTo>
                <a:close/>
              </a:path>
              <a:path w="638175" h="534669">
                <a:moveTo>
                  <a:pt x="166128" y="280670"/>
                </a:moveTo>
                <a:lnTo>
                  <a:pt x="76415" y="280670"/>
                </a:lnTo>
                <a:lnTo>
                  <a:pt x="58976" y="281139"/>
                </a:lnTo>
                <a:lnTo>
                  <a:pt x="49010" y="284429"/>
                </a:lnTo>
                <a:lnTo>
                  <a:pt x="42781" y="293357"/>
                </a:lnTo>
                <a:lnTo>
                  <a:pt x="36550" y="310743"/>
                </a:lnTo>
                <a:lnTo>
                  <a:pt x="0" y="414324"/>
                </a:lnTo>
                <a:lnTo>
                  <a:pt x="132905" y="414324"/>
                </a:lnTo>
                <a:lnTo>
                  <a:pt x="137574" y="403152"/>
                </a:lnTo>
                <a:lnTo>
                  <a:pt x="147853" y="385086"/>
                </a:lnTo>
                <a:lnTo>
                  <a:pt x="165609" y="368272"/>
                </a:lnTo>
                <a:lnTo>
                  <a:pt x="192709" y="360857"/>
                </a:lnTo>
                <a:lnTo>
                  <a:pt x="272453" y="360857"/>
                </a:lnTo>
                <a:lnTo>
                  <a:pt x="265811" y="334137"/>
                </a:lnTo>
                <a:lnTo>
                  <a:pt x="234815" y="328127"/>
                </a:lnTo>
                <a:lnTo>
                  <a:pt x="209740" y="318676"/>
                </a:lnTo>
                <a:lnTo>
                  <a:pt x="187779" y="303588"/>
                </a:lnTo>
                <a:lnTo>
                  <a:pt x="166128" y="280670"/>
                </a:lnTo>
                <a:close/>
              </a:path>
              <a:path w="638175" h="534669">
                <a:moveTo>
                  <a:pt x="568159" y="280670"/>
                </a:moveTo>
                <a:lnTo>
                  <a:pt x="458520" y="280670"/>
                </a:lnTo>
                <a:lnTo>
                  <a:pt x="437339" y="299778"/>
                </a:lnTo>
                <a:lnTo>
                  <a:pt x="413665" y="313248"/>
                </a:lnTo>
                <a:lnTo>
                  <a:pt x="387499" y="322961"/>
                </a:lnTo>
                <a:lnTo>
                  <a:pt x="358838" y="330796"/>
                </a:lnTo>
                <a:lnTo>
                  <a:pt x="348869" y="360857"/>
                </a:lnTo>
                <a:lnTo>
                  <a:pt x="438581" y="360857"/>
                </a:lnTo>
                <a:lnTo>
                  <a:pt x="466200" y="368272"/>
                </a:lnTo>
                <a:lnTo>
                  <a:pt x="485097" y="385086"/>
                </a:lnTo>
                <a:lnTo>
                  <a:pt x="496519" y="403152"/>
                </a:lnTo>
                <a:lnTo>
                  <a:pt x="501713" y="414324"/>
                </a:lnTo>
                <a:lnTo>
                  <a:pt x="637946" y="414324"/>
                </a:lnTo>
                <a:lnTo>
                  <a:pt x="603205" y="306044"/>
                </a:lnTo>
                <a:lnTo>
                  <a:pt x="597650" y="295706"/>
                </a:lnTo>
                <a:lnTo>
                  <a:pt x="586488" y="285369"/>
                </a:lnTo>
                <a:lnTo>
                  <a:pt x="568159" y="280670"/>
                </a:lnTo>
                <a:close/>
              </a:path>
              <a:path w="638175" h="534669">
                <a:moveTo>
                  <a:pt x="360329" y="8079"/>
                </a:moveTo>
                <a:lnTo>
                  <a:pt x="263035" y="8079"/>
                </a:lnTo>
                <a:lnTo>
                  <a:pt x="221203" y="30044"/>
                </a:lnTo>
                <a:lnTo>
                  <a:pt x="188404" y="63510"/>
                </a:lnTo>
                <a:lnTo>
                  <a:pt x="167088" y="105636"/>
                </a:lnTo>
                <a:lnTo>
                  <a:pt x="159486" y="153695"/>
                </a:lnTo>
                <a:lnTo>
                  <a:pt x="167088" y="203043"/>
                </a:lnTo>
                <a:lnTo>
                  <a:pt x="188404" y="245333"/>
                </a:lnTo>
                <a:lnTo>
                  <a:pt x="221203" y="278319"/>
                </a:lnTo>
                <a:lnTo>
                  <a:pt x="263382" y="299778"/>
                </a:lnTo>
                <a:lnTo>
                  <a:pt x="312318" y="307403"/>
                </a:lnTo>
                <a:lnTo>
                  <a:pt x="359986" y="299778"/>
                </a:lnTo>
                <a:lnTo>
                  <a:pt x="402006" y="278319"/>
                </a:lnTo>
                <a:lnTo>
                  <a:pt x="406374" y="273989"/>
                </a:lnTo>
                <a:lnTo>
                  <a:pt x="312318" y="273989"/>
                </a:lnTo>
                <a:lnTo>
                  <a:pt x="265597" y="264591"/>
                </a:lnTo>
                <a:lnTo>
                  <a:pt x="227596" y="238902"/>
                </a:lnTo>
                <a:lnTo>
                  <a:pt x="202054" y="200684"/>
                </a:lnTo>
                <a:lnTo>
                  <a:pt x="192709" y="153695"/>
                </a:lnTo>
                <a:lnTo>
                  <a:pt x="237470" y="131000"/>
                </a:lnTo>
                <a:lnTo>
                  <a:pt x="256556" y="105258"/>
                </a:lnTo>
                <a:lnTo>
                  <a:pt x="262563" y="79837"/>
                </a:lnTo>
                <a:lnTo>
                  <a:pt x="268091" y="58106"/>
                </a:lnTo>
                <a:lnTo>
                  <a:pt x="285737" y="43434"/>
                </a:lnTo>
                <a:lnTo>
                  <a:pt x="415321" y="43434"/>
                </a:lnTo>
                <a:lnTo>
                  <a:pt x="402006" y="30044"/>
                </a:lnTo>
                <a:lnTo>
                  <a:pt x="360329" y="8079"/>
                </a:lnTo>
                <a:close/>
              </a:path>
              <a:path w="638175" h="534669">
                <a:moveTo>
                  <a:pt x="415321" y="43434"/>
                </a:moveTo>
                <a:lnTo>
                  <a:pt x="285737" y="43434"/>
                </a:lnTo>
                <a:lnTo>
                  <a:pt x="288476" y="82485"/>
                </a:lnTo>
                <a:lnTo>
                  <a:pt x="311629" y="104859"/>
                </a:lnTo>
                <a:lnTo>
                  <a:pt x="347700" y="118733"/>
                </a:lnTo>
                <a:lnTo>
                  <a:pt x="389193" y="132285"/>
                </a:lnTo>
                <a:lnTo>
                  <a:pt x="428612" y="153695"/>
                </a:lnTo>
                <a:lnTo>
                  <a:pt x="419319" y="200684"/>
                </a:lnTo>
                <a:lnTo>
                  <a:pt x="394139" y="238902"/>
                </a:lnTo>
                <a:lnTo>
                  <a:pt x="357123" y="264591"/>
                </a:lnTo>
                <a:lnTo>
                  <a:pt x="312318" y="273989"/>
                </a:lnTo>
                <a:lnTo>
                  <a:pt x="406374" y="273989"/>
                </a:lnTo>
                <a:lnTo>
                  <a:pt x="435285" y="245333"/>
                </a:lnTo>
                <a:lnTo>
                  <a:pt x="457241" y="203043"/>
                </a:lnTo>
                <a:lnTo>
                  <a:pt x="465162" y="153695"/>
                </a:lnTo>
                <a:lnTo>
                  <a:pt x="457241" y="105636"/>
                </a:lnTo>
                <a:lnTo>
                  <a:pt x="435285" y="63510"/>
                </a:lnTo>
                <a:lnTo>
                  <a:pt x="415321" y="43434"/>
                </a:lnTo>
                <a:close/>
              </a:path>
              <a:path w="638175" h="534669">
                <a:moveTo>
                  <a:pt x="166587" y="6859"/>
                </a:moveTo>
                <a:lnTo>
                  <a:pt x="105985" y="16560"/>
                </a:lnTo>
                <a:lnTo>
                  <a:pt x="52752" y="53132"/>
                </a:lnTo>
                <a:lnTo>
                  <a:pt x="29895" y="130314"/>
                </a:lnTo>
                <a:lnTo>
                  <a:pt x="39760" y="179912"/>
                </a:lnTo>
                <a:lnTo>
                  <a:pt x="66446" y="223872"/>
                </a:lnTo>
                <a:lnTo>
                  <a:pt x="105590" y="255301"/>
                </a:lnTo>
                <a:lnTo>
                  <a:pt x="152831" y="267309"/>
                </a:lnTo>
                <a:lnTo>
                  <a:pt x="139234" y="239533"/>
                </a:lnTo>
                <a:lnTo>
                  <a:pt x="128747" y="207997"/>
                </a:lnTo>
                <a:lnTo>
                  <a:pt x="121997" y="175208"/>
                </a:lnTo>
                <a:lnTo>
                  <a:pt x="119608" y="143675"/>
                </a:lnTo>
                <a:lnTo>
                  <a:pt x="127396" y="96479"/>
                </a:lnTo>
                <a:lnTo>
                  <a:pt x="147021" y="61812"/>
                </a:lnTo>
                <a:lnTo>
                  <a:pt x="172875" y="34663"/>
                </a:lnTo>
                <a:lnTo>
                  <a:pt x="199351" y="10020"/>
                </a:lnTo>
                <a:lnTo>
                  <a:pt x="209464" y="10020"/>
                </a:lnTo>
                <a:lnTo>
                  <a:pt x="192462" y="7793"/>
                </a:lnTo>
                <a:lnTo>
                  <a:pt x="166587" y="6859"/>
                </a:lnTo>
                <a:close/>
              </a:path>
              <a:path w="638175" h="534669">
                <a:moveTo>
                  <a:pt x="521593" y="13360"/>
                </a:moveTo>
                <a:lnTo>
                  <a:pt x="428612" y="13360"/>
                </a:lnTo>
                <a:lnTo>
                  <a:pt x="454055" y="36070"/>
                </a:lnTo>
                <a:lnTo>
                  <a:pt x="477626" y="59720"/>
                </a:lnTo>
                <a:lnTo>
                  <a:pt x="494965" y="92768"/>
                </a:lnTo>
                <a:lnTo>
                  <a:pt x="501713" y="143675"/>
                </a:lnTo>
                <a:lnTo>
                  <a:pt x="499324" y="173067"/>
                </a:lnTo>
                <a:lnTo>
                  <a:pt x="492624" y="200684"/>
                </a:lnTo>
                <a:lnTo>
                  <a:pt x="492574" y="200893"/>
                </a:lnTo>
                <a:lnTo>
                  <a:pt x="482087" y="226840"/>
                </a:lnTo>
                <a:lnTo>
                  <a:pt x="468490" y="250596"/>
                </a:lnTo>
                <a:lnTo>
                  <a:pt x="475132" y="250596"/>
                </a:lnTo>
                <a:lnTo>
                  <a:pt x="478459" y="253936"/>
                </a:lnTo>
                <a:lnTo>
                  <a:pt x="485101" y="253936"/>
                </a:lnTo>
                <a:lnTo>
                  <a:pt x="531822" y="244018"/>
                </a:lnTo>
                <a:lnTo>
                  <a:pt x="569823" y="217185"/>
                </a:lnTo>
                <a:lnTo>
                  <a:pt x="595365" y="177823"/>
                </a:lnTo>
                <a:lnTo>
                  <a:pt x="604710" y="130314"/>
                </a:lnTo>
                <a:lnTo>
                  <a:pt x="598586" y="83758"/>
                </a:lnTo>
                <a:lnTo>
                  <a:pt x="582083" y="50306"/>
                </a:lnTo>
                <a:lnTo>
                  <a:pt x="558001" y="27986"/>
                </a:lnTo>
                <a:lnTo>
                  <a:pt x="529141" y="14823"/>
                </a:lnTo>
                <a:lnTo>
                  <a:pt x="521593" y="13360"/>
                </a:lnTo>
                <a:close/>
              </a:path>
              <a:path w="638175" h="534669">
                <a:moveTo>
                  <a:pt x="468290" y="8079"/>
                </a:moveTo>
                <a:lnTo>
                  <a:pt x="441901" y="10551"/>
                </a:lnTo>
                <a:lnTo>
                  <a:pt x="421938" y="14288"/>
                </a:lnTo>
                <a:lnTo>
                  <a:pt x="411202" y="17318"/>
                </a:lnTo>
                <a:lnTo>
                  <a:pt x="412492" y="17666"/>
                </a:lnTo>
                <a:lnTo>
                  <a:pt x="428612" y="13360"/>
                </a:lnTo>
                <a:lnTo>
                  <a:pt x="521593" y="13360"/>
                </a:lnTo>
                <a:lnTo>
                  <a:pt x="498303" y="8845"/>
                </a:lnTo>
                <a:lnTo>
                  <a:pt x="468290" y="8079"/>
                </a:lnTo>
                <a:close/>
              </a:path>
              <a:path w="638175" h="534669">
                <a:moveTo>
                  <a:pt x="209464" y="10020"/>
                </a:moveTo>
                <a:lnTo>
                  <a:pt x="199351" y="10020"/>
                </a:lnTo>
                <a:lnTo>
                  <a:pt x="217872" y="13124"/>
                </a:lnTo>
                <a:lnTo>
                  <a:pt x="220981" y="12643"/>
                </a:lnTo>
                <a:lnTo>
                  <a:pt x="211552" y="10293"/>
                </a:lnTo>
                <a:lnTo>
                  <a:pt x="209464" y="10020"/>
                </a:lnTo>
                <a:close/>
              </a:path>
              <a:path w="638175" h="534669">
                <a:moveTo>
                  <a:pt x="312318" y="0"/>
                </a:moveTo>
                <a:lnTo>
                  <a:pt x="262551" y="8079"/>
                </a:lnTo>
                <a:lnTo>
                  <a:pt x="360795" y="8079"/>
                </a:lnTo>
                <a:lnTo>
                  <a:pt x="312318" y="0"/>
                </a:lnTo>
                <a:close/>
              </a:path>
            </a:pathLst>
          </a:custGeom>
          <a:solidFill>
            <a:srgbClr val="666666"/>
          </a:solidFill>
        </p:spPr>
        <p:txBody>
          <a:bodyPr wrap="square" lIns="0" tIns="0" rIns="0" bIns="0" rtlCol="0"/>
          <a:lstStyle/>
          <a:p/>
        </p:txBody>
      </p:sp>
      <p:sp>
        <p:nvSpPr>
          <p:cNvPr id="5" name="object 5" descr=""/>
          <p:cNvSpPr txBox="1"/>
          <p:nvPr/>
        </p:nvSpPr>
        <p:spPr>
          <a:xfrm>
            <a:off x="7124710" y="4024914"/>
            <a:ext cx="1264920" cy="871855"/>
          </a:xfrm>
          <a:prstGeom prst="rect">
            <a:avLst/>
          </a:prstGeom>
        </p:spPr>
        <p:txBody>
          <a:bodyPr wrap="square" lIns="0" tIns="12065" rIns="0" bIns="0" rtlCol="0" vert="horz">
            <a:spAutoFit/>
          </a:bodyPr>
          <a:lstStyle/>
          <a:p>
            <a:pPr marL="328930">
              <a:lnSpc>
                <a:spcPct val="100000"/>
              </a:lnSpc>
              <a:spcBef>
                <a:spcPts val="95"/>
              </a:spcBef>
            </a:pPr>
            <a:r>
              <a:rPr dirty="0" sz="1400" spc="-35">
                <a:latin typeface="Arial MT"/>
                <a:cs typeface="Arial MT"/>
              </a:rPr>
              <a:t>LTE-</a:t>
            </a:r>
            <a:r>
              <a:rPr dirty="0" sz="1400">
                <a:latin typeface="Arial MT"/>
                <a:cs typeface="Arial MT"/>
              </a:rPr>
              <a:t>V </a:t>
            </a:r>
            <a:r>
              <a:rPr dirty="0" sz="1400" spc="-25">
                <a:latin typeface="Arial MT"/>
                <a:cs typeface="Arial MT"/>
              </a:rPr>
              <a:t>OBU</a:t>
            </a:r>
            <a:endParaRPr sz="1400">
              <a:latin typeface="Arial MT"/>
              <a:cs typeface="Arial MT"/>
            </a:endParaRPr>
          </a:p>
          <a:p>
            <a:pPr>
              <a:lnSpc>
                <a:spcPct val="100000"/>
              </a:lnSpc>
            </a:pPr>
            <a:endParaRPr sz="1400">
              <a:latin typeface="Arial MT"/>
              <a:cs typeface="Arial MT"/>
            </a:endParaRPr>
          </a:p>
          <a:p>
            <a:pPr>
              <a:lnSpc>
                <a:spcPct val="100000"/>
              </a:lnSpc>
              <a:spcBef>
                <a:spcPts val="85"/>
              </a:spcBef>
            </a:pPr>
            <a:endParaRPr sz="1400">
              <a:latin typeface="Arial MT"/>
              <a:cs typeface="Arial MT"/>
            </a:endParaRPr>
          </a:p>
          <a:p>
            <a:pPr marL="12700">
              <a:lnSpc>
                <a:spcPct val="100000"/>
              </a:lnSpc>
            </a:pPr>
            <a:r>
              <a:rPr dirty="0" sz="1400">
                <a:latin typeface="Arial MT"/>
                <a:cs typeface="Arial MT"/>
              </a:rPr>
              <a:t>Real</a:t>
            </a:r>
            <a:r>
              <a:rPr dirty="0" sz="1400" spc="-30">
                <a:latin typeface="Arial MT"/>
                <a:cs typeface="Arial MT"/>
              </a:rPr>
              <a:t> </a:t>
            </a:r>
            <a:r>
              <a:rPr dirty="0" sz="1400">
                <a:latin typeface="Arial MT"/>
                <a:cs typeface="Arial MT"/>
              </a:rPr>
              <a:t>Road</a:t>
            </a:r>
            <a:r>
              <a:rPr dirty="0" sz="1400" spc="-55">
                <a:latin typeface="Arial MT"/>
                <a:cs typeface="Arial MT"/>
              </a:rPr>
              <a:t> </a:t>
            </a:r>
            <a:r>
              <a:rPr dirty="0" sz="1400" spc="-20">
                <a:latin typeface="Arial MT"/>
                <a:cs typeface="Arial MT"/>
              </a:rPr>
              <a:t>Test</a:t>
            </a:r>
            <a:endParaRPr sz="1400">
              <a:latin typeface="Arial MT"/>
              <a:cs typeface="Arial MT"/>
            </a:endParaRPr>
          </a:p>
        </p:txBody>
      </p:sp>
      <p:sp>
        <p:nvSpPr>
          <p:cNvPr id="6" name="object 6" descr=""/>
          <p:cNvSpPr txBox="1"/>
          <p:nvPr/>
        </p:nvSpPr>
        <p:spPr>
          <a:xfrm>
            <a:off x="7451928" y="2311063"/>
            <a:ext cx="938530" cy="238760"/>
          </a:xfrm>
          <a:prstGeom prst="rect">
            <a:avLst/>
          </a:prstGeom>
        </p:spPr>
        <p:txBody>
          <a:bodyPr wrap="square" lIns="0" tIns="12065" rIns="0" bIns="0" rtlCol="0" vert="horz">
            <a:spAutoFit/>
          </a:bodyPr>
          <a:lstStyle/>
          <a:p>
            <a:pPr marL="12700">
              <a:lnSpc>
                <a:spcPct val="100000"/>
              </a:lnSpc>
              <a:spcBef>
                <a:spcPts val="95"/>
              </a:spcBef>
            </a:pPr>
            <a:r>
              <a:rPr dirty="0" sz="1400" spc="-35">
                <a:latin typeface="Arial MT"/>
                <a:cs typeface="Arial MT"/>
              </a:rPr>
              <a:t>LTE-</a:t>
            </a:r>
            <a:r>
              <a:rPr dirty="0" sz="1400">
                <a:latin typeface="Arial MT"/>
                <a:cs typeface="Arial MT"/>
              </a:rPr>
              <a:t>V </a:t>
            </a:r>
            <a:r>
              <a:rPr dirty="0" sz="1400" spc="-25">
                <a:latin typeface="Arial MT"/>
                <a:cs typeface="Arial MT"/>
              </a:rPr>
              <a:t>RSU</a:t>
            </a:r>
            <a:endParaRPr sz="1400">
              <a:latin typeface="Arial MT"/>
              <a:cs typeface="Arial MT"/>
            </a:endParaRPr>
          </a:p>
        </p:txBody>
      </p:sp>
      <p:pic>
        <p:nvPicPr>
          <p:cNvPr id="7" name="object 7"/>
          <p:cNvPicPr/>
          <p:nvPr/>
        </p:nvPicPr>
        <p:blipFill>
          <a:blip r:embed="rId2" cstate="print"/>
          <a:stretch>
            <a:fillRect/>
          </a:stretch>
        </p:blipFill>
        <p:spPr>
          <a:xfrm>
            <a:off x="319038" y="3742588"/>
            <a:ext cx="1907484" cy="1258428"/>
          </a:xfrm>
          <a:prstGeom prst="rect">
            <a:avLst/>
          </a:prstGeom>
        </p:spPr>
      </p:pic>
      <p:grpSp>
        <p:nvGrpSpPr>
          <p:cNvPr id="8" name="object 8" descr=""/>
          <p:cNvGrpSpPr/>
          <p:nvPr/>
        </p:nvGrpSpPr>
        <p:grpSpPr>
          <a:xfrm>
            <a:off x="2654998" y="1014657"/>
            <a:ext cx="4226560" cy="3986529"/>
            <a:chOff x="2654998" y="1014657"/>
            <a:chExt cx="4226560" cy="3986529"/>
          </a:xfrm>
        </p:grpSpPr>
        <p:pic>
          <p:nvPicPr>
            <p:cNvPr id="9" name="object 9"/>
            <p:cNvPicPr/>
            <p:nvPr/>
          </p:nvPicPr>
          <p:blipFill>
            <a:blip r:embed="rId3" cstate="print"/>
            <a:stretch>
              <a:fillRect/>
            </a:stretch>
          </p:blipFill>
          <p:spPr>
            <a:xfrm>
              <a:off x="4973497" y="3741000"/>
              <a:ext cx="1907476" cy="1260016"/>
            </a:xfrm>
            <a:prstGeom prst="rect">
              <a:avLst/>
            </a:prstGeom>
          </p:spPr>
        </p:pic>
        <p:pic>
          <p:nvPicPr>
            <p:cNvPr id="10" name="object 10"/>
            <p:cNvPicPr/>
            <p:nvPr/>
          </p:nvPicPr>
          <p:blipFill>
            <a:blip r:embed="rId4" cstate="print"/>
            <a:stretch>
              <a:fillRect/>
            </a:stretch>
          </p:blipFill>
          <p:spPr>
            <a:xfrm>
              <a:off x="4356178" y="1014657"/>
              <a:ext cx="2348647" cy="2710468"/>
            </a:xfrm>
            <a:prstGeom prst="rect">
              <a:avLst/>
            </a:prstGeom>
          </p:spPr>
        </p:pic>
        <p:pic>
          <p:nvPicPr>
            <p:cNvPr id="11" name="object 11"/>
            <p:cNvPicPr/>
            <p:nvPr/>
          </p:nvPicPr>
          <p:blipFill>
            <a:blip r:embed="rId5" cstate="print"/>
            <a:stretch>
              <a:fillRect/>
            </a:stretch>
          </p:blipFill>
          <p:spPr>
            <a:xfrm>
              <a:off x="2654998" y="3742588"/>
              <a:ext cx="1909067" cy="1258428"/>
            </a:xfrm>
            <a:prstGeom prst="rect">
              <a:avLst/>
            </a:prstGeom>
          </p:spPr>
        </p:pic>
      </p:grpSp>
      <p:pic>
        <p:nvPicPr>
          <p:cNvPr id="12" name="object 12"/>
          <p:cNvPicPr/>
          <p:nvPr/>
        </p:nvPicPr>
        <p:blipFill>
          <a:blip r:embed="rId6" cstate="print"/>
          <a:stretch>
            <a:fillRect/>
          </a:stretch>
        </p:blipFill>
        <p:spPr>
          <a:xfrm>
            <a:off x="6990474" y="1017832"/>
            <a:ext cx="1907475" cy="1260014"/>
          </a:xfrm>
          <a:prstGeom prst="rect">
            <a:avLst/>
          </a:prstGeom>
        </p:spPr>
      </p:pic>
      <p:pic>
        <p:nvPicPr>
          <p:cNvPr id="13" name="object 13"/>
          <p:cNvPicPr/>
          <p:nvPr/>
        </p:nvPicPr>
        <p:blipFill>
          <a:blip r:embed="rId7" cstate="print"/>
          <a:stretch>
            <a:fillRect/>
          </a:stretch>
        </p:blipFill>
        <p:spPr>
          <a:xfrm>
            <a:off x="6990474" y="2704736"/>
            <a:ext cx="1907475" cy="1260013"/>
          </a:xfrm>
          <a:prstGeom prst="rect">
            <a:avLst/>
          </a:prstGeom>
        </p:spPr>
      </p:pic>
      <p:sp>
        <p:nvSpPr>
          <p:cNvPr id="14" name="object 14"/>
          <p:cNvSpPr txBox="1">
            <a:spLocks noGrp="1"/>
          </p:cNvSpPr>
          <p:nvPr>
            <p:ph type="title"/>
          </p:nvPr>
        </p:nvSpPr>
        <p:spPr>
          <a:xfrm>
            <a:off x="2453864" y="179123"/>
            <a:ext cx="4497705" cy="513080"/>
          </a:xfrm>
          <a:prstGeom prst="rect"/>
        </p:spPr>
        <p:txBody>
          <a:bodyPr wrap="square" lIns="0" tIns="12065" rIns="0" bIns="0" rtlCol="0" vert="horz">
            <a:spAutoFit/>
          </a:bodyPr>
          <a:lstStyle/>
          <a:p>
            <a:pPr marL="12700">
              <a:lnSpc>
                <a:spcPct val="100000"/>
              </a:lnSpc>
              <a:spcBef>
                <a:spcPts val="95"/>
              </a:spcBef>
            </a:pPr>
            <a:r>
              <a:rPr dirty="0" spc="-40"/>
              <a:t>上海示范区</a:t>
            </a:r>
            <a:r>
              <a:rPr dirty="0" spc="-25">
                <a:latin typeface="Times New Roman"/>
                <a:cs typeface="Times New Roman"/>
              </a:rPr>
              <a:t>2017</a:t>
            </a:r>
            <a:r>
              <a:rPr dirty="0" spc="-45"/>
              <a:t>年周年庆</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228600" y="895350"/>
            <a:ext cx="8620125" cy="720090"/>
          </a:xfrm>
          <a:prstGeom prst="rect">
            <a:avLst/>
          </a:prstGeom>
          <a:solidFill>
            <a:srgbClr val="00B0F0"/>
          </a:solidFill>
        </p:spPr>
        <p:txBody>
          <a:bodyPr wrap="square" lIns="0" tIns="33655" rIns="0" bIns="0" rtlCol="0" vert="horz">
            <a:spAutoFit/>
          </a:bodyPr>
          <a:lstStyle/>
          <a:p>
            <a:pPr algn="just" marL="90805" marR="120014">
              <a:lnSpc>
                <a:spcPct val="100000"/>
              </a:lnSpc>
              <a:spcBef>
                <a:spcPts val="265"/>
              </a:spcBef>
            </a:pPr>
            <a:r>
              <a:rPr dirty="0" sz="1400" spc="-20" b="1">
                <a:solidFill>
                  <a:srgbClr val="FFFFFF"/>
                </a:solidFill>
                <a:latin typeface="Microsoft YaHei"/>
                <a:cs typeface="Microsoft YaHei"/>
              </a:rPr>
              <a:t>基于三网融合解决方案，提供客户整体解决方案，重点在路侧智能网联系统设备，业务通过</a:t>
            </a:r>
            <a:r>
              <a:rPr dirty="0" sz="1400" spc="-10" b="1">
                <a:solidFill>
                  <a:srgbClr val="FFFFFF"/>
                </a:solidFill>
                <a:latin typeface="Microsoft YaHei"/>
                <a:cs typeface="Microsoft YaHei"/>
              </a:rPr>
              <a:t>MEC</a:t>
            </a:r>
            <a:r>
              <a:rPr dirty="0" sz="1400" spc="-30" b="1">
                <a:solidFill>
                  <a:srgbClr val="FFFFFF"/>
                </a:solidFill>
                <a:latin typeface="Microsoft YaHei"/>
                <a:cs typeface="Microsoft YaHei"/>
              </a:rPr>
              <a:t>平台提供行</a:t>
            </a:r>
            <a:r>
              <a:rPr dirty="0" sz="1400" spc="-25" b="1">
                <a:solidFill>
                  <a:srgbClr val="FFFFFF"/>
                </a:solidFill>
                <a:latin typeface="Microsoft YaHei"/>
                <a:cs typeface="Microsoft YaHei"/>
              </a:rPr>
              <a:t>业数据分流，重点开发行业数据中心平台，重点服务公交，商用车，两客一危等专用应用行业客户，并配合未来的运营商，打造运营平台。</a:t>
            </a:r>
            <a:endParaRPr sz="1400">
              <a:latin typeface="Microsoft YaHei"/>
              <a:cs typeface="Microsoft YaHei"/>
            </a:endParaRPr>
          </a:p>
        </p:txBody>
      </p:sp>
      <p:sp>
        <p:nvSpPr>
          <p:cNvPr id="3" name="object 3"/>
          <p:cNvSpPr txBox="1">
            <a:spLocks noGrp="1"/>
          </p:cNvSpPr>
          <p:nvPr>
            <p:ph type="title"/>
          </p:nvPr>
        </p:nvSpPr>
        <p:spPr>
          <a:xfrm>
            <a:off x="1166749" y="165519"/>
            <a:ext cx="7495540" cy="452755"/>
          </a:xfrm>
          <a:prstGeom prst="rect"/>
        </p:spPr>
        <p:txBody>
          <a:bodyPr wrap="square" lIns="0" tIns="12700" rIns="0" bIns="0" rtlCol="0" vert="horz">
            <a:spAutoFit/>
          </a:bodyPr>
          <a:lstStyle/>
          <a:p>
            <a:pPr marL="12700">
              <a:lnSpc>
                <a:spcPct val="100000"/>
              </a:lnSpc>
              <a:spcBef>
                <a:spcPts val="100"/>
              </a:spcBef>
            </a:pPr>
            <a:r>
              <a:rPr dirty="0" sz="2800" spc="-15"/>
              <a:t>面向公网与交通网，提供三网融合系统解决方案</a:t>
            </a:r>
            <a:endParaRPr sz="2800"/>
          </a:p>
        </p:txBody>
      </p:sp>
      <p:pic>
        <p:nvPicPr>
          <p:cNvPr id="4" name="object 4"/>
          <p:cNvPicPr/>
          <p:nvPr/>
        </p:nvPicPr>
        <p:blipFill>
          <a:blip r:embed="rId2" cstate="print"/>
          <a:stretch>
            <a:fillRect/>
          </a:stretch>
        </p:blipFill>
        <p:spPr>
          <a:xfrm>
            <a:off x="152400" y="1654990"/>
            <a:ext cx="8740762" cy="327895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3094" y="142961"/>
            <a:ext cx="4199890" cy="513080"/>
          </a:xfrm>
          <a:prstGeom prst="rect">
            <a:avLst/>
          </a:prstGeom>
        </p:spPr>
        <p:txBody>
          <a:bodyPr wrap="square" lIns="0" tIns="12065" rIns="0" bIns="0" rtlCol="0" vert="horz">
            <a:spAutoFit/>
          </a:bodyPr>
          <a:lstStyle/>
          <a:p>
            <a:pPr marL="12700">
              <a:lnSpc>
                <a:spcPct val="100000"/>
              </a:lnSpc>
              <a:spcBef>
                <a:spcPts val="95"/>
              </a:spcBef>
            </a:pPr>
            <a:r>
              <a:rPr dirty="0" sz="3200" spc="-35" b="1">
                <a:solidFill>
                  <a:srgbClr val="FFFFFF"/>
                </a:solidFill>
                <a:latin typeface="Microsoft JhengHei"/>
                <a:cs typeface="Microsoft JhengHei"/>
              </a:rPr>
              <a:t>厦门</a:t>
            </a:r>
            <a:r>
              <a:rPr dirty="0" sz="3200" spc="-130" b="1">
                <a:solidFill>
                  <a:srgbClr val="FFFFFF"/>
                </a:solidFill>
                <a:latin typeface="Times New Roman"/>
                <a:cs typeface="Times New Roman"/>
              </a:rPr>
              <a:t>BRT-</a:t>
            </a:r>
            <a:r>
              <a:rPr dirty="0" sz="3200" spc="-40" b="1">
                <a:solidFill>
                  <a:srgbClr val="FFFFFF"/>
                </a:solidFill>
                <a:latin typeface="Microsoft JhengHei"/>
                <a:cs typeface="Microsoft JhengHei"/>
              </a:rPr>
              <a:t>业务应用区域</a:t>
            </a:r>
            <a:endParaRPr sz="3200">
              <a:latin typeface="Microsoft JhengHei"/>
              <a:cs typeface="Microsoft JhengHei"/>
            </a:endParaRPr>
          </a:p>
        </p:txBody>
      </p:sp>
      <p:sp>
        <p:nvSpPr>
          <p:cNvPr id="3" name="object 3" descr=""/>
          <p:cNvSpPr txBox="1"/>
          <p:nvPr/>
        </p:nvSpPr>
        <p:spPr>
          <a:xfrm>
            <a:off x="326383" y="779015"/>
            <a:ext cx="8376284" cy="666115"/>
          </a:xfrm>
          <a:prstGeom prst="rect">
            <a:avLst/>
          </a:prstGeom>
        </p:spPr>
        <p:txBody>
          <a:bodyPr wrap="square" lIns="0" tIns="12700" rIns="0" bIns="0" rtlCol="0" vert="horz">
            <a:spAutoFit/>
          </a:bodyPr>
          <a:lstStyle/>
          <a:p>
            <a:pPr marL="12700" marR="5080">
              <a:lnSpc>
                <a:spcPct val="150000"/>
              </a:lnSpc>
              <a:spcBef>
                <a:spcPts val="100"/>
              </a:spcBef>
            </a:pPr>
            <a:r>
              <a:rPr dirty="0" sz="1400" spc="-20" b="1">
                <a:latin typeface="Microsoft YaHei"/>
                <a:cs typeface="Microsoft YaHei"/>
              </a:rPr>
              <a:t>基于三网融合解决方案，根据厦门BRT</a:t>
            </a:r>
            <a:r>
              <a:rPr dirty="0" sz="1400" spc="-25" b="1">
                <a:latin typeface="Microsoft YaHei"/>
                <a:cs typeface="Microsoft YaHei"/>
              </a:rPr>
              <a:t>道路场景，灵活部署安全精准停靠、最优车速策略、实时车路协同、超视距防碰撞 等业务应用</a:t>
            </a:r>
            <a:endParaRPr sz="1400">
              <a:latin typeface="Microsoft YaHei"/>
              <a:cs typeface="Microsoft YaHei"/>
            </a:endParaRPr>
          </a:p>
        </p:txBody>
      </p:sp>
      <p:pic>
        <p:nvPicPr>
          <p:cNvPr id="4" name="object 4"/>
          <p:cNvPicPr/>
          <p:nvPr/>
        </p:nvPicPr>
        <p:blipFill>
          <a:blip r:embed="rId2" cstate="print"/>
          <a:stretch>
            <a:fillRect/>
          </a:stretch>
        </p:blipFill>
        <p:spPr>
          <a:xfrm>
            <a:off x="152400" y="1428750"/>
            <a:ext cx="4343399" cy="3505199"/>
          </a:xfrm>
          <a:prstGeom prst="rect">
            <a:avLst/>
          </a:prstGeom>
        </p:spPr>
      </p:pic>
      <p:pic>
        <p:nvPicPr>
          <p:cNvPr id="5" name="object 5"/>
          <p:cNvPicPr/>
          <p:nvPr/>
        </p:nvPicPr>
        <p:blipFill>
          <a:blip r:embed="rId3" cstate="print"/>
          <a:stretch>
            <a:fillRect/>
          </a:stretch>
        </p:blipFill>
        <p:spPr>
          <a:xfrm>
            <a:off x="4648200" y="1203599"/>
            <a:ext cx="4267199" cy="3730338"/>
          </a:xfrm>
          <a:prstGeom prst="rect">
            <a:avLst/>
          </a:prstGeom>
        </p:spPr>
      </p:pic>
    </p:spTree>
  </p:cSld>
  <p:clrMapOvr>
    <a:masterClrMapping/>
  </p:clrMapOvr>
  <p:transition spd="slow">
    <p:fade thruBlk="0"/>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78865" y="179119"/>
            <a:ext cx="2467610" cy="513080"/>
          </a:xfrm>
          <a:prstGeom prst="rect"/>
        </p:spPr>
        <p:txBody>
          <a:bodyPr wrap="square" lIns="0" tIns="12065" rIns="0" bIns="0" rtlCol="0" vert="horz">
            <a:spAutoFit/>
          </a:bodyPr>
          <a:lstStyle/>
          <a:p>
            <a:pPr marL="12700">
              <a:lnSpc>
                <a:spcPct val="100000"/>
              </a:lnSpc>
              <a:spcBef>
                <a:spcPts val="95"/>
              </a:spcBef>
            </a:pPr>
            <a:r>
              <a:rPr dirty="0" spc="-40"/>
              <a:t>最优车速策略</a:t>
            </a:r>
          </a:p>
        </p:txBody>
      </p:sp>
      <p:grpSp>
        <p:nvGrpSpPr>
          <p:cNvPr id="3" name="object 3" descr=""/>
          <p:cNvGrpSpPr/>
          <p:nvPr/>
        </p:nvGrpSpPr>
        <p:grpSpPr>
          <a:xfrm>
            <a:off x="42321" y="894308"/>
            <a:ext cx="9066530" cy="4053840"/>
            <a:chOff x="42321" y="894308"/>
            <a:chExt cx="9066530" cy="4053840"/>
          </a:xfrm>
        </p:grpSpPr>
        <p:pic>
          <p:nvPicPr>
            <p:cNvPr id="4" name="object 4"/>
            <p:cNvPicPr/>
            <p:nvPr/>
          </p:nvPicPr>
          <p:blipFill>
            <a:blip r:embed="rId2" cstate="print"/>
            <a:stretch>
              <a:fillRect/>
            </a:stretch>
          </p:blipFill>
          <p:spPr>
            <a:xfrm>
              <a:off x="42321" y="894308"/>
              <a:ext cx="5617306" cy="4053700"/>
            </a:xfrm>
            <a:prstGeom prst="rect">
              <a:avLst/>
            </a:prstGeom>
          </p:spPr>
        </p:pic>
        <p:pic>
          <p:nvPicPr>
            <p:cNvPr id="5" name="object 5"/>
            <p:cNvPicPr/>
            <p:nvPr/>
          </p:nvPicPr>
          <p:blipFill>
            <a:blip r:embed="rId3" cstate="print"/>
            <a:stretch>
              <a:fillRect/>
            </a:stretch>
          </p:blipFill>
          <p:spPr>
            <a:xfrm>
              <a:off x="3851922" y="3219822"/>
              <a:ext cx="5256580" cy="1714127"/>
            </a:xfrm>
            <a:prstGeom prst="rect">
              <a:avLst/>
            </a:prstGeom>
          </p:spPr>
        </p:pic>
      </p:grpSp>
      <p:grpSp>
        <p:nvGrpSpPr>
          <p:cNvPr id="6" name="object 6" descr=""/>
          <p:cNvGrpSpPr/>
          <p:nvPr/>
        </p:nvGrpSpPr>
        <p:grpSpPr>
          <a:xfrm>
            <a:off x="5719571" y="1120139"/>
            <a:ext cx="3203575" cy="1614805"/>
            <a:chOff x="5719571" y="1120139"/>
            <a:chExt cx="3203575" cy="1614805"/>
          </a:xfrm>
        </p:grpSpPr>
        <p:pic>
          <p:nvPicPr>
            <p:cNvPr id="7" name="object 7" descr=""/>
            <p:cNvPicPr/>
            <p:nvPr/>
          </p:nvPicPr>
          <p:blipFill>
            <a:blip r:embed="rId4" cstate="print"/>
            <a:stretch>
              <a:fillRect/>
            </a:stretch>
          </p:blipFill>
          <p:spPr>
            <a:xfrm>
              <a:off x="5735573" y="1136903"/>
              <a:ext cx="3163823" cy="1597913"/>
            </a:xfrm>
            <a:prstGeom prst="rect">
              <a:avLst/>
            </a:prstGeom>
          </p:spPr>
        </p:pic>
        <p:pic>
          <p:nvPicPr>
            <p:cNvPr id="8" name="object 8" descr=""/>
            <p:cNvPicPr/>
            <p:nvPr/>
          </p:nvPicPr>
          <p:blipFill>
            <a:blip r:embed="rId5" cstate="print"/>
            <a:stretch>
              <a:fillRect/>
            </a:stretch>
          </p:blipFill>
          <p:spPr>
            <a:xfrm>
              <a:off x="5719571" y="1120139"/>
              <a:ext cx="3203447" cy="1535429"/>
            </a:xfrm>
            <a:prstGeom prst="rect">
              <a:avLst/>
            </a:prstGeom>
          </p:spPr>
        </p:pic>
        <p:pic>
          <p:nvPicPr>
            <p:cNvPr id="9" name="object 9" descr=""/>
            <p:cNvPicPr/>
            <p:nvPr/>
          </p:nvPicPr>
          <p:blipFill>
            <a:blip r:embed="rId6" cstate="print"/>
            <a:stretch>
              <a:fillRect/>
            </a:stretch>
          </p:blipFill>
          <p:spPr>
            <a:xfrm>
              <a:off x="5796140" y="1177480"/>
              <a:ext cx="3043059" cy="1477314"/>
            </a:xfrm>
            <a:prstGeom prst="rect">
              <a:avLst/>
            </a:prstGeom>
          </p:spPr>
        </p:pic>
      </p:grpSp>
      <p:sp>
        <p:nvSpPr>
          <p:cNvPr id="10" name="object 10" descr=""/>
          <p:cNvSpPr txBox="1"/>
          <p:nvPr/>
        </p:nvSpPr>
        <p:spPr>
          <a:xfrm>
            <a:off x="5796136" y="1177476"/>
            <a:ext cx="3043555" cy="1477645"/>
          </a:xfrm>
          <a:prstGeom prst="rect">
            <a:avLst/>
          </a:prstGeom>
          <a:ln w="38100">
            <a:solidFill>
              <a:srgbClr val="FFC000"/>
            </a:solidFill>
          </a:ln>
        </p:spPr>
        <p:txBody>
          <a:bodyPr wrap="square" lIns="0" tIns="40005" rIns="0" bIns="0" rtlCol="0" vert="horz">
            <a:spAutoFit/>
          </a:bodyPr>
          <a:lstStyle/>
          <a:p>
            <a:pPr marL="376555" marR="105410" indent="-285750">
              <a:lnSpc>
                <a:spcPct val="100000"/>
              </a:lnSpc>
              <a:spcBef>
                <a:spcPts val="315"/>
              </a:spcBef>
              <a:buFont typeface="Wingdings"/>
              <a:buChar char=""/>
              <a:tabLst>
                <a:tab pos="376555" algn="l"/>
              </a:tabLst>
            </a:pPr>
            <a:r>
              <a:rPr dirty="0" sz="1800">
                <a:solidFill>
                  <a:srgbClr val="C00000"/>
                </a:solidFill>
                <a:latin typeface="SimSun"/>
                <a:cs typeface="SimSun"/>
              </a:rPr>
              <a:t>利用</a:t>
            </a:r>
            <a:r>
              <a:rPr dirty="0" sz="1800" spc="-10">
                <a:solidFill>
                  <a:srgbClr val="C00000"/>
                </a:solidFill>
                <a:latin typeface="Times New Roman"/>
                <a:cs typeface="Times New Roman"/>
              </a:rPr>
              <a:t>MEC</a:t>
            </a:r>
            <a:r>
              <a:rPr dirty="0" sz="1800" spc="-10">
                <a:solidFill>
                  <a:srgbClr val="C00000"/>
                </a:solidFill>
                <a:latin typeface="SimSun"/>
                <a:cs typeface="SimSun"/>
              </a:rPr>
              <a:t>边缘计算能力，</a:t>
            </a:r>
            <a:r>
              <a:rPr dirty="0" sz="1800" spc="-5">
                <a:solidFill>
                  <a:srgbClr val="C00000"/>
                </a:solidFill>
                <a:latin typeface="SimSun"/>
                <a:cs typeface="SimSun"/>
              </a:rPr>
              <a:t>实时下发最优行驶策略</a:t>
            </a:r>
            <a:endParaRPr sz="1800">
              <a:latin typeface="SimSun"/>
              <a:cs typeface="SimSun"/>
            </a:endParaRPr>
          </a:p>
          <a:p>
            <a:pPr marL="375920" indent="-285115">
              <a:lnSpc>
                <a:spcPct val="100000"/>
              </a:lnSpc>
              <a:buFont typeface="Wingdings"/>
              <a:buChar char=""/>
              <a:tabLst>
                <a:tab pos="375920" algn="l"/>
              </a:tabLst>
            </a:pPr>
            <a:r>
              <a:rPr dirty="0" sz="1800" spc="-5">
                <a:solidFill>
                  <a:srgbClr val="C00000"/>
                </a:solidFill>
                <a:latin typeface="SimSun"/>
                <a:cs typeface="SimSun"/>
              </a:rPr>
              <a:t>得出最优的节能减排驾驶</a:t>
            </a:r>
            <a:endParaRPr sz="1800">
              <a:latin typeface="SimSun"/>
              <a:cs typeface="SimSun"/>
            </a:endParaRPr>
          </a:p>
          <a:p>
            <a:pPr marL="376555" marR="143510" indent="-285750">
              <a:lnSpc>
                <a:spcPts val="2060"/>
              </a:lnSpc>
              <a:spcBef>
                <a:spcPts val="250"/>
              </a:spcBef>
              <a:buFont typeface="Wingdings"/>
              <a:buChar char=""/>
              <a:tabLst>
                <a:tab pos="376555" algn="l"/>
              </a:tabLst>
            </a:pPr>
            <a:r>
              <a:rPr dirty="0" sz="1800" spc="-5">
                <a:solidFill>
                  <a:srgbClr val="C00000"/>
                </a:solidFill>
                <a:latin typeface="SimSun"/>
                <a:cs typeface="SimSun"/>
              </a:rPr>
              <a:t>大数据分析，通过回传的</a:t>
            </a:r>
            <a:r>
              <a:rPr dirty="0" sz="1800" spc="-10">
                <a:solidFill>
                  <a:srgbClr val="C00000"/>
                </a:solidFill>
                <a:latin typeface="SimSun"/>
                <a:cs typeface="SimSun"/>
              </a:rPr>
              <a:t>大数据进行迭代优化</a:t>
            </a:r>
            <a:endParaRPr sz="1800">
              <a:latin typeface="SimSun"/>
              <a:cs typeface="SimSu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338621" y="708611"/>
            <a:ext cx="3274830" cy="1341626"/>
          </a:xfrm>
          <a:prstGeom prst="rect">
            <a:avLst/>
          </a:prstGeom>
        </p:spPr>
      </p:pic>
      <p:sp>
        <p:nvSpPr>
          <p:cNvPr id="3" name="object 3" descr=""/>
          <p:cNvSpPr txBox="1"/>
          <p:nvPr/>
        </p:nvSpPr>
        <p:spPr>
          <a:xfrm>
            <a:off x="1605395" y="1588414"/>
            <a:ext cx="140335" cy="81915"/>
          </a:xfrm>
          <a:prstGeom prst="rect">
            <a:avLst/>
          </a:prstGeom>
        </p:spPr>
        <p:txBody>
          <a:bodyPr wrap="square" lIns="0" tIns="14604" rIns="0" bIns="0" rtlCol="0" vert="horz">
            <a:spAutoFit/>
          </a:bodyPr>
          <a:lstStyle/>
          <a:p>
            <a:pPr marL="12700">
              <a:lnSpc>
                <a:spcPct val="100000"/>
              </a:lnSpc>
              <a:spcBef>
                <a:spcPts val="114"/>
              </a:spcBef>
            </a:pPr>
            <a:r>
              <a:rPr dirty="0" sz="350" spc="95">
                <a:latin typeface="SimSun"/>
                <a:cs typeface="SimSun"/>
              </a:rPr>
              <a:t>RSU</a:t>
            </a:r>
            <a:endParaRPr sz="350">
              <a:latin typeface="SimSun"/>
              <a:cs typeface="SimSun"/>
            </a:endParaRPr>
          </a:p>
        </p:txBody>
      </p:sp>
      <p:sp>
        <p:nvSpPr>
          <p:cNvPr id="4" name="object 4" descr=""/>
          <p:cNvSpPr txBox="1"/>
          <p:nvPr/>
        </p:nvSpPr>
        <p:spPr>
          <a:xfrm>
            <a:off x="1572659" y="1765403"/>
            <a:ext cx="261620" cy="81915"/>
          </a:xfrm>
          <a:prstGeom prst="rect">
            <a:avLst/>
          </a:prstGeom>
        </p:spPr>
        <p:txBody>
          <a:bodyPr wrap="square" lIns="0" tIns="14604" rIns="0" bIns="0" rtlCol="0" vert="horz">
            <a:spAutoFit/>
          </a:bodyPr>
          <a:lstStyle/>
          <a:p>
            <a:pPr marL="12700">
              <a:lnSpc>
                <a:spcPct val="100000"/>
              </a:lnSpc>
              <a:spcBef>
                <a:spcPts val="114"/>
              </a:spcBef>
            </a:pPr>
            <a:r>
              <a:rPr dirty="0" sz="350" spc="245">
                <a:latin typeface="SimSun"/>
                <a:cs typeface="SimSun"/>
              </a:rPr>
              <a:t>信号机</a:t>
            </a:r>
            <a:endParaRPr sz="350">
              <a:latin typeface="SimSun"/>
              <a:cs typeface="SimSun"/>
            </a:endParaRPr>
          </a:p>
        </p:txBody>
      </p:sp>
      <p:sp>
        <p:nvSpPr>
          <p:cNvPr id="5" name="object 5" descr=""/>
          <p:cNvSpPr txBox="1"/>
          <p:nvPr/>
        </p:nvSpPr>
        <p:spPr>
          <a:xfrm>
            <a:off x="167703" y="2121141"/>
            <a:ext cx="4044315" cy="739140"/>
          </a:xfrm>
          <a:prstGeom prst="rect">
            <a:avLst/>
          </a:prstGeom>
          <a:ln w="19050">
            <a:solidFill>
              <a:srgbClr val="66CCFF"/>
            </a:solidFill>
          </a:ln>
        </p:spPr>
        <p:txBody>
          <a:bodyPr wrap="square" lIns="0" tIns="39369" rIns="0" bIns="0" rtlCol="0" vert="horz">
            <a:spAutoFit/>
          </a:bodyPr>
          <a:lstStyle/>
          <a:p>
            <a:pPr algn="just" marL="90805" marR="113664">
              <a:lnSpc>
                <a:spcPct val="100000"/>
              </a:lnSpc>
              <a:spcBef>
                <a:spcPts val="309"/>
              </a:spcBef>
            </a:pPr>
            <a:r>
              <a:rPr dirty="0" sz="1400" spc="-20">
                <a:latin typeface="Microsoft YaHei"/>
                <a:cs typeface="Microsoft YaHei"/>
              </a:rPr>
              <a:t>1）路测单元RSU</a:t>
            </a:r>
            <a:r>
              <a:rPr dirty="0" sz="1400" spc="-25">
                <a:latin typeface="Microsoft YaHei"/>
                <a:cs typeface="Microsoft YaHei"/>
              </a:rPr>
              <a:t>实时读取红绿灯信息，具有调整</a:t>
            </a:r>
            <a:r>
              <a:rPr dirty="0" sz="1400" spc="-20">
                <a:latin typeface="Microsoft YaHei"/>
                <a:cs typeface="Microsoft YaHei"/>
              </a:rPr>
              <a:t>控制红绿灯功能，通过</a:t>
            </a:r>
            <a:r>
              <a:rPr dirty="0" sz="1400" spc="-10">
                <a:latin typeface="Microsoft YaHei"/>
                <a:cs typeface="Microsoft YaHei"/>
              </a:rPr>
              <a:t>V2I</a:t>
            </a:r>
            <a:r>
              <a:rPr dirty="0" sz="1400" spc="-20">
                <a:latin typeface="Microsoft YaHei"/>
                <a:cs typeface="Microsoft YaHei"/>
              </a:rPr>
              <a:t>通信，实现</a:t>
            </a:r>
            <a:r>
              <a:rPr dirty="0" sz="1400" spc="-20" b="1">
                <a:solidFill>
                  <a:srgbClr val="FF0000"/>
                </a:solidFill>
                <a:latin typeface="Microsoft YaHei"/>
                <a:cs typeface="Microsoft YaHei"/>
              </a:rPr>
              <a:t>绿波通行</a:t>
            </a:r>
            <a:r>
              <a:rPr dirty="0" sz="1400" spc="-50">
                <a:latin typeface="Microsoft YaHei"/>
                <a:cs typeface="Microsoft YaHei"/>
              </a:rPr>
              <a:t>，</a:t>
            </a:r>
            <a:r>
              <a:rPr dirty="0" sz="1400" spc="-25">
                <a:latin typeface="Microsoft YaHei"/>
                <a:cs typeface="Microsoft YaHei"/>
              </a:rPr>
              <a:t>提高路口通行效率。</a:t>
            </a:r>
            <a:endParaRPr sz="1400">
              <a:latin typeface="Microsoft YaHei"/>
              <a:cs typeface="Microsoft YaHei"/>
            </a:endParaRPr>
          </a:p>
        </p:txBody>
      </p:sp>
      <p:sp>
        <p:nvSpPr>
          <p:cNvPr id="6" name="object 6"/>
          <p:cNvSpPr txBox="1">
            <a:spLocks noGrp="1"/>
          </p:cNvSpPr>
          <p:nvPr>
            <p:ph type="title"/>
          </p:nvPr>
        </p:nvSpPr>
        <p:spPr>
          <a:xfrm>
            <a:off x="3543122" y="127817"/>
            <a:ext cx="2467610" cy="513080"/>
          </a:xfrm>
          <a:prstGeom prst="rect"/>
        </p:spPr>
        <p:txBody>
          <a:bodyPr wrap="square" lIns="0" tIns="12065" rIns="0" bIns="0" rtlCol="0" vert="horz">
            <a:spAutoFit/>
          </a:bodyPr>
          <a:lstStyle/>
          <a:p>
            <a:pPr marL="12700">
              <a:lnSpc>
                <a:spcPct val="100000"/>
              </a:lnSpc>
              <a:spcBef>
                <a:spcPts val="95"/>
              </a:spcBef>
            </a:pPr>
            <a:r>
              <a:rPr dirty="0" spc="-40"/>
              <a:t>实时车路协同</a:t>
            </a:r>
          </a:p>
        </p:txBody>
      </p:sp>
      <p:sp>
        <p:nvSpPr>
          <p:cNvPr id="7" name="object 7" descr=""/>
          <p:cNvSpPr txBox="1"/>
          <p:nvPr/>
        </p:nvSpPr>
        <p:spPr>
          <a:xfrm>
            <a:off x="4427982" y="897013"/>
            <a:ext cx="4537075" cy="739140"/>
          </a:xfrm>
          <a:prstGeom prst="rect">
            <a:avLst/>
          </a:prstGeom>
          <a:ln w="19050">
            <a:solidFill>
              <a:srgbClr val="FF0000"/>
            </a:solidFill>
          </a:ln>
        </p:spPr>
        <p:txBody>
          <a:bodyPr wrap="square" lIns="0" tIns="39369" rIns="0" bIns="0" rtlCol="0" vert="horz">
            <a:spAutoFit/>
          </a:bodyPr>
          <a:lstStyle/>
          <a:p>
            <a:pPr marL="90805">
              <a:lnSpc>
                <a:spcPct val="100000"/>
              </a:lnSpc>
              <a:spcBef>
                <a:spcPts val="309"/>
              </a:spcBef>
            </a:pPr>
            <a:r>
              <a:rPr dirty="0" sz="1400" spc="-20">
                <a:latin typeface="Microsoft YaHei"/>
                <a:cs typeface="Microsoft YaHei"/>
              </a:rPr>
              <a:t>2）</a:t>
            </a:r>
            <a:r>
              <a:rPr dirty="0" sz="1400" spc="-25">
                <a:latin typeface="Microsoft YaHei"/>
                <a:cs typeface="Microsoft YaHei"/>
              </a:rPr>
              <a:t>路口障碍物信息实时显示在高精度地图，同时语音</a:t>
            </a:r>
            <a:endParaRPr sz="1400">
              <a:latin typeface="Microsoft YaHei"/>
              <a:cs typeface="Microsoft YaHei"/>
            </a:endParaRPr>
          </a:p>
          <a:p>
            <a:pPr marL="90805">
              <a:lnSpc>
                <a:spcPct val="100000"/>
              </a:lnSpc>
            </a:pPr>
            <a:r>
              <a:rPr dirty="0" sz="1400" spc="-20">
                <a:latin typeface="Microsoft YaHei"/>
                <a:cs typeface="Microsoft YaHei"/>
              </a:rPr>
              <a:t>提示，使得司机提前获取路口信息，采取</a:t>
            </a:r>
            <a:r>
              <a:rPr dirty="0" sz="1400" spc="-20" b="1">
                <a:solidFill>
                  <a:srgbClr val="FF0000"/>
                </a:solidFill>
                <a:latin typeface="Microsoft YaHei"/>
                <a:cs typeface="Microsoft YaHei"/>
              </a:rPr>
              <a:t>安全驾驶操作</a:t>
            </a:r>
            <a:r>
              <a:rPr dirty="0" sz="1400" spc="-50">
                <a:latin typeface="Microsoft YaHei"/>
                <a:cs typeface="Microsoft YaHei"/>
              </a:rPr>
              <a:t>，</a:t>
            </a:r>
            <a:r>
              <a:rPr dirty="0" sz="1400" spc="-25">
                <a:latin typeface="Microsoft YaHei"/>
                <a:cs typeface="Microsoft YaHei"/>
              </a:rPr>
              <a:t>或主动触发刹车。</a:t>
            </a:r>
            <a:endParaRPr sz="1400">
              <a:latin typeface="Microsoft YaHei"/>
              <a:cs typeface="Microsoft YaHei"/>
            </a:endParaRPr>
          </a:p>
        </p:txBody>
      </p:sp>
      <p:sp>
        <p:nvSpPr>
          <p:cNvPr id="8" name="object 8" descr=""/>
          <p:cNvSpPr/>
          <p:nvPr/>
        </p:nvSpPr>
        <p:spPr>
          <a:xfrm>
            <a:off x="4474019" y="4026890"/>
            <a:ext cx="4634865" cy="777240"/>
          </a:xfrm>
          <a:custGeom>
            <a:avLst/>
            <a:gdLst/>
            <a:ahLst/>
            <a:cxnLst/>
            <a:rect l="l" t="t" r="r" b="b"/>
            <a:pathLst>
              <a:path w="4634865" h="777239">
                <a:moveTo>
                  <a:pt x="0" y="0"/>
                </a:moveTo>
                <a:lnTo>
                  <a:pt x="4634484" y="0"/>
                </a:lnTo>
                <a:lnTo>
                  <a:pt x="4634484" y="777113"/>
                </a:lnTo>
                <a:lnTo>
                  <a:pt x="0" y="777113"/>
                </a:lnTo>
                <a:lnTo>
                  <a:pt x="0" y="0"/>
                </a:lnTo>
                <a:close/>
              </a:path>
            </a:pathLst>
          </a:custGeom>
          <a:ln w="19050">
            <a:solidFill>
              <a:srgbClr val="FDB812"/>
            </a:solidFill>
            <a:prstDash val="lgDashDot"/>
          </a:ln>
        </p:spPr>
        <p:txBody>
          <a:bodyPr wrap="square" lIns="0" tIns="0" rIns="0" bIns="0" rtlCol="0"/>
          <a:lstStyle/>
          <a:p/>
        </p:txBody>
      </p:sp>
      <p:sp>
        <p:nvSpPr>
          <p:cNvPr id="9" name="object 9" descr=""/>
          <p:cNvSpPr txBox="1"/>
          <p:nvPr/>
        </p:nvSpPr>
        <p:spPr>
          <a:xfrm>
            <a:off x="4552727" y="4053799"/>
            <a:ext cx="4646295" cy="703580"/>
          </a:xfrm>
          <a:prstGeom prst="rect">
            <a:avLst/>
          </a:prstGeom>
        </p:spPr>
        <p:txBody>
          <a:bodyPr wrap="square" lIns="0" tIns="12065" rIns="0" bIns="0" rtlCol="0" vert="horz">
            <a:spAutoFit/>
          </a:bodyPr>
          <a:lstStyle/>
          <a:p>
            <a:pPr marL="294005" indent="-281305">
              <a:lnSpc>
                <a:spcPct val="100000"/>
              </a:lnSpc>
              <a:spcBef>
                <a:spcPts val="95"/>
              </a:spcBef>
              <a:buSzPct val="92857"/>
              <a:buAutoNum type="arabicPlain" startAt="3"/>
              <a:tabLst>
                <a:tab pos="294005" algn="l"/>
              </a:tabLst>
            </a:pPr>
            <a:r>
              <a:rPr dirty="0" sz="1400" spc="-25">
                <a:latin typeface="Microsoft YaHei"/>
                <a:cs typeface="Microsoft YaHei"/>
              </a:rPr>
              <a:t>红绿灯信息，实时映射到车载地图上，便于司机提前</a:t>
            </a:r>
            <a:endParaRPr sz="1400">
              <a:latin typeface="Microsoft YaHei"/>
              <a:cs typeface="Microsoft YaHei"/>
            </a:endParaRPr>
          </a:p>
          <a:p>
            <a:pPr marL="12700">
              <a:lnSpc>
                <a:spcPct val="100000"/>
              </a:lnSpc>
            </a:pPr>
            <a:r>
              <a:rPr dirty="0" sz="1400" spc="-20">
                <a:latin typeface="Microsoft YaHei"/>
                <a:cs typeface="Microsoft YaHei"/>
              </a:rPr>
              <a:t>了解路况信息，选择进行避让，实现</a:t>
            </a:r>
            <a:r>
              <a:rPr dirty="0" sz="1400" spc="-20" b="1">
                <a:solidFill>
                  <a:srgbClr val="FF0000"/>
                </a:solidFill>
                <a:latin typeface="Microsoft YaHei"/>
                <a:cs typeface="Microsoft YaHei"/>
              </a:rPr>
              <a:t>路口信息数字化映射</a:t>
            </a:r>
            <a:r>
              <a:rPr dirty="0" sz="1400" spc="-50">
                <a:latin typeface="Microsoft YaHei"/>
                <a:cs typeface="Microsoft YaHei"/>
              </a:rPr>
              <a:t>。</a:t>
            </a:r>
            <a:endParaRPr sz="1400">
              <a:latin typeface="Microsoft YaHei"/>
              <a:cs typeface="Microsoft YaHei"/>
            </a:endParaRPr>
          </a:p>
          <a:p>
            <a:pPr marL="294005" indent="-281305">
              <a:lnSpc>
                <a:spcPct val="100000"/>
              </a:lnSpc>
              <a:spcBef>
                <a:spcPts val="300"/>
              </a:spcBef>
              <a:buSzPct val="92857"/>
              <a:buAutoNum type="arabicPlain" startAt="4"/>
              <a:tabLst>
                <a:tab pos="294005" algn="l"/>
              </a:tabLst>
            </a:pPr>
            <a:r>
              <a:rPr dirty="0" sz="1400" spc="-20">
                <a:latin typeface="Microsoft YaHei"/>
                <a:cs typeface="Microsoft YaHei"/>
              </a:rPr>
              <a:t>到达时间实时秒级显示，乘客</a:t>
            </a:r>
            <a:r>
              <a:rPr dirty="0" sz="1400" spc="-20" b="1">
                <a:solidFill>
                  <a:srgbClr val="FF0000"/>
                </a:solidFill>
                <a:latin typeface="Microsoft YaHei"/>
                <a:cs typeface="Microsoft YaHei"/>
              </a:rPr>
              <a:t>地铁式</a:t>
            </a:r>
            <a:r>
              <a:rPr dirty="0" sz="1400" spc="-30">
                <a:latin typeface="Microsoft YaHei"/>
                <a:cs typeface="Microsoft YaHei"/>
              </a:rPr>
              <a:t>体验感知。</a:t>
            </a:r>
            <a:endParaRPr sz="1400">
              <a:latin typeface="Microsoft YaHei"/>
              <a:cs typeface="Microsoft YaHei"/>
            </a:endParaRPr>
          </a:p>
        </p:txBody>
      </p:sp>
      <p:pic>
        <p:nvPicPr>
          <p:cNvPr id="10" name="object 10"/>
          <p:cNvPicPr/>
          <p:nvPr/>
        </p:nvPicPr>
        <p:blipFill>
          <a:blip r:embed="rId3" cstate="print"/>
          <a:stretch>
            <a:fillRect/>
          </a:stretch>
        </p:blipFill>
        <p:spPr>
          <a:xfrm>
            <a:off x="4496323" y="1904245"/>
            <a:ext cx="4540171" cy="1819633"/>
          </a:xfrm>
          <a:prstGeom prst="rect">
            <a:avLst/>
          </a:prstGeom>
        </p:spPr>
      </p:pic>
      <p:pic>
        <p:nvPicPr>
          <p:cNvPr id="11" name="object 11"/>
          <p:cNvPicPr/>
          <p:nvPr/>
        </p:nvPicPr>
        <p:blipFill>
          <a:blip r:embed="rId4" cstate="print"/>
          <a:stretch>
            <a:fillRect/>
          </a:stretch>
        </p:blipFill>
        <p:spPr>
          <a:xfrm>
            <a:off x="35496" y="2931795"/>
            <a:ext cx="4328617" cy="200215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2861" y="130556"/>
            <a:ext cx="2466975" cy="513080"/>
          </a:xfrm>
          <a:prstGeom prst="rect"/>
        </p:spPr>
        <p:txBody>
          <a:bodyPr wrap="square" lIns="0" tIns="12065" rIns="0" bIns="0" rtlCol="0" vert="horz">
            <a:spAutoFit/>
          </a:bodyPr>
          <a:lstStyle/>
          <a:p>
            <a:pPr marL="12700">
              <a:lnSpc>
                <a:spcPct val="100000"/>
              </a:lnSpc>
              <a:spcBef>
                <a:spcPts val="95"/>
              </a:spcBef>
            </a:pPr>
            <a:r>
              <a:rPr dirty="0" spc="-45"/>
              <a:t>超视距防碰撞</a:t>
            </a:r>
          </a:p>
        </p:txBody>
      </p:sp>
      <p:grpSp>
        <p:nvGrpSpPr>
          <p:cNvPr id="3" name="object 3" descr=""/>
          <p:cNvGrpSpPr/>
          <p:nvPr/>
        </p:nvGrpSpPr>
        <p:grpSpPr>
          <a:xfrm>
            <a:off x="3924300" y="3515867"/>
            <a:ext cx="5219700" cy="1431290"/>
            <a:chOff x="3924300" y="3515867"/>
            <a:chExt cx="5219700" cy="1431290"/>
          </a:xfrm>
        </p:grpSpPr>
        <p:pic>
          <p:nvPicPr>
            <p:cNvPr id="4" name="object 4" descr=""/>
            <p:cNvPicPr/>
            <p:nvPr/>
          </p:nvPicPr>
          <p:blipFill>
            <a:blip r:embed="rId2" cstate="print"/>
            <a:stretch>
              <a:fillRect/>
            </a:stretch>
          </p:blipFill>
          <p:spPr>
            <a:xfrm>
              <a:off x="3945635" y="3521963"/>
              <a:ext cx="5198362" cy="1424939"/>
            </a:xfrm>
            <a:prstGeom prst="rect">
              <a:avLst/>
            </a:prstGeom>
          </p:spPr>
        </p:pic>
        <p:pic>
          <p:nvPicPr>
            <p:cNvPr id="5" name="object 5" descr=""/>
            <p:cNvPicPr/>
            <p:nvPr/>
          </p:nvPicPr>
          <p:blipFill>
            <a:blip r:embed="rId3" cstate="print"/>
            <a:stretch>
              <a:fillRect/>
            </a:stretch>
          </p:blipFill>
          <p:spPr>
            <a:xfrm>
              <a:off x="3924300" y="3515867"/>
              <a:ext cx="5219698" cy="1362455"/>
            </a:xfrm>
            <a:prstGeom prst="rect">
              <a:avLst/>
            </a:prstGeom>
          </p:spPr>
        </p:pic>
        <p:pic>
          <p:nvPicPr>
            <p:cNvPr id="6" name="object 6" descr=""/>
            <p:cNvPicPr/>
            <p:nvPr/>
          </p:nvPicPr>
          <p:blipFill>
            <a:blip r:embed="rId4" cstate="print"/>
            <a:stretch>
              <a:fillRect/>
            </a:stretch>
          </p:blipFill>
          <p:spPr>
            <a:xfrm>
              <a:off x="3995940" y="3552583"/>
              <a:ext cx="5112562" cy="1323428"/>
            </a:xfrm>
            <a:prstGeom prst="rect">
              <a:avLst/>
            </a:prstGeom>
          </p:spPr>
        </p:pic>
        <p:sp>
          <p:nvSpPr>
            <p:cNvPr id="7" name="object 7" descr=""/>
            <p:cNvSpPr/>
            <p:nvPr/>
          </p:nvSpPr>
          <p:spPr>
            <a:xfrm>
              <a:off x="3995935" y="3552578"/>
              <a:ext cx="5113020" cy="1323975"/>
            </a:xfrm>
            <a:custGeom>
              <a:avLst/>
              <a:gdLst/>
              <a:ahLst/>
              <a:cxnLst/>
              <a:rect l="l" t="t" r="r" b="b"/>
              <a:pathLst>
                <a:path w="5113020" h="1323975">
                  <a:moveTo>
                    <a:pt x="0" y="0"/>
                  </a:moveTo>
                  <a:lnTo>
                    <a:pt x="5112562" y="0"/>
                  </a:lnTo>
                  <a:lnTo>
                    <a:pt x="5112562" y="1323428"/>
                  </a:lnTo>
                  <a:lnTo>
                    <a:pt x="0" y="1323428"/>
                  </a:lnTo>
                  <a:lnTo>
                    <a:pt x="0" y="0"/>
                  </a:lnTo>
                  <a:close/>
                </a:path>
              </a:pathLst>
            </a:custGeom>
            <a:ln w="19050">
              <a:solidFill>
                <a:srgbClr val="7030A0"/>
              </a:solidFill>
              <a:prstDash val="sysDash"/>
            </a:ln>
          </p:spPr>
          <p:txBody>
            <a:bodyPr wrap="square" lIns="0" tIns="0" rIns="0" bIns="0" rtlCol="0"/>
            <a:lstStyle/>
            <a:p/>
          </p:txBody>
        </p:sp>
      </p:grpSp>
      <p:sp>
        <p:nvSpPr>
          <p:cNvPr id="8" name="object 8" descr=""/>
          <p:cNvSpPr txBox="1"/>
          <p:nvPr/>
        </p:nvSpPr>
        <p:spPr>
          <a:xfrm>
            <a:off x="4074664" y="3577973"/>
            <a:ext cx="5095240" cy="1245235"/>
          </a:xfrm>
          <a:prstGeom prst="rect">
            <a:avLst/>
          </a:prstGeom>
        </p:spPr>
        <p:txBody>
          <a:bodyPr wrap="square" lIns="0" tIns="12700" rIns="0" bIns="0" rtlCol="0" vert="horz">
            <a:spAutoFit/>
          </a:bodyPr>
          <a:lstStyle/>
          <a:p>
            <a:pPr marL="12700" marR="195580">
              <a:lnSpc>
                <a:spcPct val="100000"/>
              </a:lnSpc>
              <a:spcBef>
                <a:spcPts val="100"/>
              </a:spcBef>
            </a:pPr>
            <a:r>
              <a:rPr dirty="0" sz="1600" spc="-15">
                <a:latin typeface="Microsoft YaHei"/>
                <a:cs typeface="Microsoft YaHei"/>
              </a:rPr>
              <a:t>通过雷达传感器、视觉传感器和定位传感器，对目标车</a:t>
            </a:r>
            <a:r>
              <a:rPr dirty="0" sz="1600" spc="-5">
                <a:latin typeface="Microsoft YaHei"/>
                <a:cs typeface="Microsoft YaHei"/>
              </a:rPr>
              <a:t>辆进行实时精准探测。</a:t>
            </a:r>
            <a:endParaRPr sz="1600">
              <a:latin typeface="Microsoft YaHei"/>
              <a:cs typeface="Microsoft YaHei"/>
            </a:endParaRPr>
          </a:p>
          <a:p>
            <a:pPr marL="12700" marR="5080">
              <a:lnSpc>
                <a:spcPct val="100000"/>
              </a:lnSpc>
            </a:pPr>
            <a:r>
              <a:rPr dirty="0" sz="1600" spc="-10">
                <a:latin typeface="Microsoft YaHei"/>
                <a:cs typeface="Microsoft YaHei"/>
              </a:rPr>
              <a:t>上述场景，车与车之间通过车载</a:t>
            </a:r>
            <a:r>
              <a:rPr dirty="0" sz="1600" spc="-20">
                <a:latin typeface="Microsoft YaHei"/>
                <a:cs typeface="Microsoft YaHei"/>
              </a:rPr>
              <a:t>V2V</a:t>
            </a:r>
            <a:r>
              <a:rPr dirty="0" sz="1600" spc="-15">
                <a:latin typeface="Microsoft YaHei"/>
                <a:cs typeface="Microsoft YaHei"/>
              </a:rPr>
              <a:t>通信模块相互感知，</a:t>
            </a:r>
            <a:r>
              <a:rPr dirty="0" sz="1600">
                <a:latin typeface="Microsoft YaHei"/>
                <a:cs typeface="Microsoft YaHei"/>
              </a:rPr>
              <a:t>实时计算</a:t>
            </a:r>
            <a:r>
              <a:rPr dirty="0" sz="1600" spc="-30">
                <a:latin typeface="Microsoft YaHei"/>
                <a:cs typeface="Microsoft YaHei"/>
              </a:rPr>
              <a:t>TTC</a:t>
            </a:r>
            <a:r>
              <a:rPr dirty="0" sz="1600" spc="-15">
                <a:latin typeface="Microsoft YaHei"/>
                <a:cs typeface="Microsoft YaHei"/>
              </a:rPr>
              <a:t>时间，主动触发对车辆的速度限制，主动</a:t>
            </a:r>
            <a:r>
              <a:rPr dirty="0" sz="1600" spc="500">
                <a:latin typeface="Microsoft YaHei"/>
                <a:cs typeface="Microsoft YaHei"/>
              </a:rPr>
              <a:t> </a:t>
            </a:r>
            <a:r>
              <a:rPr dirty="0" sz="1600" spc="-15">
                <a:latin typeface="Microsoft YaHei"/>
                <a:cs typeface="Microsoft YaHei"/>
              </a:rPr>
              <a:t>式安全防护，保障车辆的安全行驶。</a:t>
            </a:r>
            <a:endParaRPr sz="1600">
              <a:latin typeface="Microsoft YaHei"/>
              <a:cs typeface="Microsoft YaHei"/>
            </a:endParaRPr>
          </a:p>
        </p:txBody>
      </p:sp>
      <p:grpSp>
        <p:nvGrpSpPr>
          <p:cNvPr id="9" name="object 9" descr=""/>
          <p:cNvGrpSpPr/>
          <p:nvPr/>
        </p:nvGrpSpPr>
        <p:grpSpPr>
          <a:xfrm>
            <a:off x="0" y="819150"/>
            <a:ext cx="9144000" cy="4114800"/>
            <a:chOff x="0" y="819150"/>
            <a:chExt cx="9144000" cy="4114800"/>
          </a:xfrm>
        </p:grpSpPr>
        <p:pic>
          <p:nvPicPr>
            <p:cNvPr id="10" name="object 10"/>
            <p:cNvPicPr/>
            <p:nvPr/>
          </p:nvPicPr>
          <p:blipFill>
            <a:blip r:embed="rId5" cstate="print"/>
            <a:stretch>
              <a:fillRect/>
            </a:stretch>
          </p:blipFill>
          <p:spPr>
            <a:xfrm>
              <a:off x="3959425" y="819150"/>
              <a:ext cx="5184574" cy="2795735"/>
            </a:xfrm>
            <a:prstGeom prst="rect">
              <a:avLst/>
            </a:prstGeom>
          </p:spPr>
        </p:pic>
        <p:pic>
          <p:nvPicPr>
            <p:cNvPr id="11" name="object 11"/>
            <p:cNvPicPr/>
            <p:nvPr/>
          </p:nvPicPr>
          <p:blipFill>
            <a:blip r:embed="rId6" cstate="print"/>
            <a:stretch>
              <a:fillRect/>
            </a:stretch>
          </p:blipFill>
          <p:spPr>
            <a:xfrm>
              <a:off x="0" y="895350"/>
              <a:ext cx="3886200" cy="2076449"/>
            </a:xfrm>
            <a:prstGeom prst="rect">
              <a:avLst/>
            </a:prstGeom>
          </p:spPr>
        </p:pic>
        <p:pic>
          <p:nvPicPr>
            <p:cNvPr id="12" name="object 12"/>
            <p:cNvPicPr/>
            <p:nvPr/>
          </p:nvPicPr>
          <p:blipFill>
            <a:blip r:embed="rId7" cstate="print"/>
            <a:stretch>
              <a:fillRect/>
            </a:stretch>
          </p:blipFill>
          <p:spPr>
            <a:xfrm>
              <a:off x="0" y="2952750"/>
              <a:ext cx="3933825" cy="1981199"/>
            </a:xfrm>
            <a:prstGeom prst="rect">
              <a:avLst/>
            </a:prstGeom>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8390" y="179119"/>
            <a:ext cx="2467610" cy="513080"/>
          </a:xfrm>
          <a:prstGeom prst="rect"/>
        </p:spPr>
        <p:txBody>
          <a:bodyPr wrap="square" lIns="0" tIns="12065" rIns="0" bIns="0" rtlCol="0" vert="horz">
            <a:spAutoFit/>
          </a:bodyPr>
          <a:lstStyle/>
          <a:p>
            <a:pPr marL="12700">
              <a:lnSpc>
                <a:spcPct val="100000"/>
              </a:lnSpc>
              <a:spcBef>
                <a:spcPts val="95"/>
              </a:spcBef>
            </a:pPr>
            <a:r>
              <a:rPr dirty="0" spc="-40"/>
              <a:t>安全精准停靠</a:t>
            </a:r>
          </a:p>
        </p:txBody>
      </p:sp>
      <p:grpSp>
        <p:nvGrpSpPr>
          <p:cNvPr id="3" name="object 3" descr=""/>
          <p:cNvGrpSpPr/>
          <p:nvPr/>
        </p:nvGrpSpPr>
        <p:grpSpPr>
          <a:xfrm>
            <a:off x="395535" y="1203604"/>
            <a:ext cx="3248660" cy="1920875"/>
            <a:chOff x="395535" y="1203604"/>
            <a:chExt cx="3248660" cy="1920875"/>
          </a:xfrm>
        </p:grpSpPr>
        <p:pic>
          <p:nvPicPr>
            <p:cNvPr id="4" name="object 4" descr=""/>
            <p:cNvPicPr/>
            <p:nvPr/>
          </p:nvPicPr>
          <p:blipFill>
            <a:blip r:embed="rId2" cstate="print"/>
            <a:stretch>
              <a:fillRect/>
            </a:stretch>
          </p:blipFill>
          <p:spPr>
            <a:xfrm>
              <a:off x="395535" y="1203604"/>
              <a:ext cx="3248131" cy="1920497"/>
            </a:xfrm>
            <a:prstGeom prst="rect">
              <a:avLst/>
            </a:prstGeom>
          </p:spPr>
        </p:pic>
        <p:sp>
          <p:nvSpPr>
            <p:cNvPr id="5" name="object 5" descr=""/>
            <p:cNvSpPr/>
            <p:nvPr/>
          </p:nvSpPr>
          <p:spPr>
            <a:xfrm>
              <a:off x="2790659" y="2185471"/>
              <a:ext cx="232410" cy="0"/>
            </a:xfrm>
            <a:custGeom>
              <a:avLst/>
              <a:gdLst/>
              <a:ahLst/>
              <a:cxnLst/>
              <a:rect l="l" t="t" r="r" b="b"/>
              <a:pathLst>
                <a:path w="232410" h="0">
                  <a:moveTo>
                    <a:pt x="0" y="0"/>
                  </a:moveTo>
                  <a:lnTo>
                    <a:pt x="232308" y="0"/>
                  </a:lnTo>
                </a:path>
              </a:pathLst>
            </a:custGeom>
            <a:ln w="19050">
              <a:solidFill>
                <a:srgbClr val="FF0000"/>
              </a:solidFill>
            </a:ln>
          </p:spPr>
          <p:txBody>
            <a:bodyPr wrap="square" lIns="0" tIns="0" rIns="0" bIns="0" rtlCol="0"/>
            <a:lstStyle/>
            <a:p/>
          </p:txBody>
        </p:sp>
        <p:sp>
          <p:nvSpPr>
            <p:cNvPr id="6" name="object 6" descr=""/>
            <p:cNvSpPr/>
            <p:nvPr/>
          </p:nvSpPr>
          <p:spPr>
            <a:xfrm>
              <a:off x="2946772" y="2141018"/>
              <a:ext cx="76200" cy="88900"/>
            </a:xfrm>
            <a:custGeom>
              <a:avLst/>
              <a:gdLst/>
              <a:ahLst/>
              <a:cxnLst/>
              <a:rect l="l" t="t" r="r" b="b"/>
              <a:pathLst>
                <a:path w="76200" h="88900">
                  <a:moveTo>
                    <a:pt x="0" y="0"/>
                  </a:moveTo>
                  <a:lnTo>
                    <a:pt x="76200" y="44450"/>
                  </a:lnTo>
                  <a:lnTo>
                    <a:pt x="0" y="88900"/>
                  </a:lnTo>
                </a:path>
              </a:pathLst>
            </a:custGeom>
            <a:ln w="19050">
              <a:solidFill>
                <a:srgbClr val="FF0000"/>
              </a:solidFill>
            </a:ln>
          </p:spPr>
          <p:txBody>
            <a:bodyPr wrap="square" lIns="0" tIns="0" rIns="0" bIns="0" rtlCol="0"/>
            <a:lstStyle/>
            <a:p/>
          </p:txBody>
        </p:sp>
        <p:sp>
          <p:nvSpPr>
            <p:cNvPr id="7" name="object 7" descr=""/>
            <p:cNvSpPr/>
            <p:nvPr/>
          </p:nvSpPr>
          <p:spPr>
            <a:xfrm>
              <a:off x="2790661" y="2141018"/>
              <a:ext cx="76200" cy="88900"/>
            </a:xfrm>
            <a:custGeom>
              <a:avLst/>
              <a:gdLst/>
              <a:ahLst/>
              <a:cxnLst/>
              <a:rect l="l" t="t" r="r" b="b"/>
              <a:pathLst>
                <a:path w="76200" h="88900">
                  <a:moveTo>
                    <a:pt x="76200" y="88900"/>
                  </a:moveTo>
                  <a:lnTo>
                    <a:pt x="0" y="44450"/>
                  </a:lnTo>
                  <a:lnTo>
                    <a:pt x="76200" y="0"/>
                  </a:lnTo>
                </a:path>
              </a:pathLst>
            </a:custGeom>
            <a:ln w="19050">
              <a:solidFill>
                <a:srgbClr val="FF0000"/>
              </a:solidFill>
            </a:ln>
          </p:spPr>
          <p:txBody>
            <a:bodyPr wrap="square" lIns="0" tIns="0" rIns="0" bIns="0" rtlCol="0"/>
            <a:lstStyle/>
            <a:p/>
          </p:txBody>
        </p:sp>
      </p:grpSp>
      <p:pic>
        <p:nvPicPr>
          <p:cNvPr id="8" name="object 8"/>
          <p:cNvPicPr/>
          <p:nvPr/>
        </p:nvPicPr>
        <p:blipFill>
          <a:blip r:embed="rId3" cstate="print"/>
          <a:stretch>
            <a:fillRect/>
          </a:stretch>
        </p:blipFill>
        <p:spPr>
          <a:xfrm>
            <a:off x="539559" y="3171561"/>
            <a:ext cx="2271913" cy="1696385"/>
          </a:xfrm>
          <a:prstGeom prst="rect">
            <a:avLst/>
          </a:prstGeom>
        </p:spPr>
      </p:pic>
      <p:sp>
        <p:nvSpPr>
          <p:cNvPr id="9" name="object 9" descr=""/>
          <p:cNvSpPr txBox="1"/>
          <p:nvPr/>
        </p:nvSpPr>
        <p:spPr>
          <a:xfrm>
            <a:off x="2886543" y="3545578"/>
            <a:ext cx="2082800" cy="1319530"/>
          </a:xfrm>
          <a:prstGeom prst="rect">
            <a:avLst/>
          </a:prstGeom>
        </p:spPr>
        <p:txBody>
          <a:bodyPr wrap="square" lIns="0" tIns="12700" rIns="0" bIns="0" rtlCol="0" vert="horz">
            <a:spAutoFit/>
          </a:bodyPr>
          <a:lstStyle/>
          <a:p>
            <a:pPr marL="12700">
              <a:lnSpc>
                <a:spcPct val="100000"/>
              </a:lnSpc>
              <a:spcBef>
                <a:spcPts val="100"/>
              </a:spcBef>
            </a:pPr>
            <a:r>
              <a:rPr dirty="0" sz="1800" spc="-10">
                <a:latin typeface="Microsoft YaHei"/>
                <a:cs typeface="Microsoft YaHei"/>
              </a:rPr>
              <a:t>车辆与站台间距：</a:t>
            </a:r>
            <a:endParaRPr sz="1800">
              <a:latin typeface="Microsoft YaHei"/>
              <a:cs typeface="Microsoft YaHei"/>
            </a:endParaRPr>
          </a:p>
          <a:p>
            <a:pPr marL="12700">
              <a:lnSpc>
                <a:spcPct val="100000"/>
              </a:lnSpc>
            </a:pPr>
            <a:r>
              <a:rPr dirty="0" sz="1800" spc="-10">
                <a:solidFill>
                  <a:srgbClr val="FF0000"/>
                </a:solidFill>
                <a:latin typeface="Microsoft YaHei"/>
                <a:cs typeface="Microsoft YaHei"/>
              </a:rPr>
              <a:t>20～30</a:t>
            </a:r>
            <a:r>
              <a:rPr dirty="0" sz="1800" spc="-20">
                <a:latin typeface="Microsoft YaHei"/>
                <a:cs typeface="Microsoft YaHei"/>
              </a:rPr>
              <a:t>+厘米</a:t>
            </a:r>
            <a:endParaRPr sz="1800">
              <a:latin typeface="Microsoft YaHei"/>
              <a:cs typeface="Microsoft YaHei"/>
            </a:endParaRPr>
          </a:p>
          <a:p>
            <a:pPr marL="12700" marR="5080">
              <a:lnSpc>
                <a:spcPct val="100000"/>
              </a:lnSpc>
              <a:spcBef>
                <a:spcPts val="1545"/>
              </a:spcBef>
            </a:pPr>
            <a:r>
              <a:rPr dirty="0" sz="1800" spc="-10">
                <a:latin typeface="Microsoft YaHei"/>
                <a:cs typeface="Microsoft YaHei"/>
              </a:rPr>
              <a:t>乘客上下车易发生踩空摔倒事故</a:t>
            </a:r>
            <a:endParaRPr sz="1800">
              <a:latin typeface="Microsoft YaHei"/>
              <a:cs typeface="Microsoft YaHei"/>
            </a:endParaRPr>
          </a:p>
        </p:txBody>
      </p:sp>
      <p:grpSp>
        <p:nvGrpSpPr>
          <p:cNvPr id="10" name="object 10"/>
          <p:cNvGrpSpPr/>
          <p:nvPr/>
        </p:nvGrpSpPr>
        <p:grpSpPr>
          <a:xfrm>
            <a:off x="3954779" y="2299716"/>
            <a:ext cx="925194" cy="984885"/>
            <a:chOff x="3954779" y="2299716"/>
            <a:chExt cx="925194" cy="984885"/>
          </a:xfrm>
        </p:grpSpPr>
        <p:pic>
          <p:nvPicPr>
            <p:cNvPr id="11" name="object 11"/>
            <p:cNvPicPr/>
            <p:nvPr/>
          </p:nvPicPr>
          <p:blipFill>
            <a:blip r:embed="rId4" cstate="print"/>
            <a:stretch>
              <a:fillRect/>
            </a:stretch>
          </p:blipFill>
          <p:spPr>
            <a:xfrm>
              <a:off x="3954779" y="2299716"/>
              <a:ext cx="925067" cy="984503"/>
            </a:xfrm>
            <a:prstGeom prst="rect">
              <a:avLst/>
            </a:prstGeom>
          </p:spPr>
        </p:pic>
        <p:sp>
          <p:nvSpPr>
            <p:cNvPr id="12" name="object 12" descr=""/>
            <p:cNvSpPr/>
            <p:nvPr/>
          </p:nvSpPr>
          <p:spPr>
            <a:xfrm>
              <a:off x="3995935" y="2317813"/>
              <a:ext cx="842644" cy="902335"/>
            </a:xfrm>
            <a:custGeom>
              <a:avLst/>
              <a:gdLst/>
              <a:ahLst/>
              <a:cxnLst/>
              <a:rect l="l" t="t" r="r" b="b"/>
              <a:pathLst>
                <a:path w="842645" h="902335">
                  <a:moveTo>
                    <a:pt x="421208" y="0"/>
                  </a:moveTo>
                  <a:lnTo>
                    <a:pt x="421208" y="225501"/>
                  </a:lnTo>
                  <a:lnTo>
                    <a:pt x="0" y="225501"/>
                  </a:lnTo>
                  <a:lnTo>
                    <a:pt x="0" y="676503"/>
                  </a:lnTo>
                  <a:lnTo>
                    <a:pt x="421208" y="676503"/>
                  </a:lnTo>
                  <a:lnTo>
                    <a:pt x="421208" y="902004"/>
                  </a:lnTo>
                  <a:lnTo>
                    <a:pt x="842416" y="451002"/>
                  </a:lnTo>
                  <a:lnTo>
                    <a:pt x="421208" y="0"/>
                  </a:lnTo>
                  <a:close/>
                </a:path>
              </a:pathLst>
            </a:custGeom>
            <a:solidFill>
              <a:srgbClr val="BBE0E3"/>
            </a:solidFill>
          </p:spPr>
          <p:txBody>
            <a:bodyPr wrap="square" lIns="0" tIns="0" rIns="0" bIns="0" rtlCol="0"/>
            <a:lstStyle/>
            <a:p/>
          </p:txBody>
        </p:sp>
      </p:grpSp>
      <p:pic>
        <p:nvPicPr>
          <p:cNvPr id="13" name="object 13"/>
          <p:cNvPicPr/>
          <p:nvPr/>
        </p:nvPicPr>
        <p:blipFill>
          <a:blip r:embed="rId5" cstate="print"/>
          <a:stretch>
            <a:fillRect/>
          </a:stretch>
        </p:blipFill>
        <p:spPr>
          <a:xfrm>
            <a:off x="5364087" y="2379878"/>
            <a:ext cx="2808311" cy="2712151"/>
          </a:xfrm>
          <a:prstGeom prst="rect">
            <a:avLst/>
          </a:prstGeom>
        </p:spPr>
      </p:pic>
      <p:sp>
        <p:nvSpPr>
          <p:cNvPr id="14" name="object 14" descr=""/>
          <p:cNvSpPr txBox="1"/>
          <p:nvPr/>
        </p:nvSpPr>
        <p:spPr>
          <a:xfrm>
            <a:off x="8223990" y="3678249"/>
            <a:ext cx="482600" cy="574040"/>
          </a:xfrm>
          <a:prstGeom prst="rect">
            <a:avLst/>
          </a:prstGeom>
        </p:spPr>
        <p:txBody>
          <a:bodyPr wrap="square" lIns="0" tIns="12700" rIns="0" bIns="0" rtlCol="0" vert="horz">
            <a:spAutoFit/>
          </a:bodyPr>
          <a:lstStyle/>
          <a:p>
            <a:pPr marL="21590">
              <a:lnSpc>
                <a:spcPct val="100000"/>
              </a:lnSpc>
              <a:spcBef>
                <a:spcPts val="100"/>
              </a:spcBef>
            </a:pPr>
            <a:r>
              <a:rPr dirty="0" sz="1800" spc="-25">
                <a:solidFill>
                  <a:srgbClr val="92D050"/>
                </a:solidFill>
                <a:latin typeface="Microsoft YaHei"/>
                <a:cs typeface="Microsoft YaHei"/>
              </a:rPr>
              <a:t>&lt;10</a:t>
            </a:r>
            <a:endParaRPr sz="1800">
              <a:latin typeface="Microsoft YaHei"/>
              <a:cs typeface="Microsoft YaHei"/>
            </a:endParaRPr>
          </a:p>
          <a:p>
            <a:pPr marL="12700">
              <a:lnSpc>
                <a:spcPct val="100000"/>
              </a:lnSpc>
            </a:pPr>
            <a:r>
              <a:rPr dirty="0" sz="1800" spc="-25">
                <a:solidFill>
                  <a:srgbClr val="92D050"/>
                </a:solidFill>
                <a:latin typeface="Microsoft YaHei"/>
                <a:cs typeface="Microsoft YaHei"/>
              </a:rPr>
              <a:t>厘米</a:t>
            </a:r>
            <a:endParaRPr sz="1800">
              <a:latin typeface="Microsoft YaHei"/>
              <a:cs typeface="Microsoft YaHei"/>
            </a:endParaRPr>
          </a:p>
        </p:txBody>
      </p:sp>
      <p:sp>
        <p:nvSpPr>
          <p:cNvPr id="15" name="object 15" descr=""/>
          <p:cNvSpPr txBox="1"/>
          <p:nvPr/>
        </p:nvSpPr>
        <p:spPr>
          <a:xfrm>
            <a:off x="5105400" y="895350"/>
            <a:ext cx="3825240" cy="1385570"/>
          </a:xfrm>
          <a:prstGeom prst="rect">
            <a:avLst/>
          </a:prstGeom>
          <a:ln w="25400">
            <a:solidFill>
              <a:srgbClr val="FFC000"/>
            </a:solidFill>
          </a:ln>
        </p:spPr>
        <p:txBody>
          <a:bodyPr wrap="square" lIns="0" tIns="39370" rIns="0" bIns="0" rtlCol="0" vert="horz">
            <a:spAutoFit/>
          </a:bodyPr>
          <a:lstStyle/>
          <a:p>
            <a:pPr marL="376555" marR="95250" indent="-285750">
              <a:lnSpc>
                <a:spcPct val="100000"/>
              </a:lnSpc>
              <a:spcBef>
                <a:spcPts val="310"/>
              </a:spcBef>
              <a:buFont typeface="Wingdings"/>
              <a:buChar char=""/>
              <a:tabLst>
                <a:tab pos="376555" algn="l"/>
              </a:tabLst>
            </a:pPr>
            <a:r>
              <a:rPr dirty="0" sz="1400" spc="-20">
                <a:latin typeface="Microsoft YaHei"/>
                <a:cs typeface="Microsoft YaHei"/>
              </a:rPr>
              <a:t>利用车辆传感器、高精度地图、惯导、</a:t>
            </a:r>
            <a:r>
              <a:rPr dirty="0" sz="1400" spc="-25">
                <a:latin typeface="Microsoft YaHei"/>
                <a:cs typeface="Microsoft YaHei"/>
              </a:rPr>
              <a:t>RTK</a:t>
            </a:r>
            <a:r>
              <a:rPr dirty="0" sz="1400" spc="-30">
                <a:latin typeface="Microsoft YaHei"/>
                <a:cs typeface="Microsoft YaHei"/>
              </a:rPr>
              <a:t>等信息融合</a:t>
            </a:r>
            <a:endParaRPr sz="1400">
              <a:latin typeface="Microsoft YaHei"/>
              <a:cs typeface="Microsoft YaHei"/>
            </a:endParaRPr>
          </a:p>
          <a:p>
            <a:pPr marL="376555" marR="243204" indent="-285750">
              <a:lnSpc>
                <a:spcPct val="100000"/>
              </a:lnSpc>
              <a:buFont typeface="Wingdings"/>
              <a:buChar char=""/>
              <a:tabLst>
                <a:tab pos="376555" algn="l"/>
              </a:tabLst>
            </a:pPr>
            <a:r>
              <a:rPr dirty="0" sz="1400" spc="-25">
                <a:latin typeface="Microsoft YaHei"/>
                <a:cs typeface="Microsoft YaHei"/>
              </a:rPr>
              <a:t>进站前主动触发降速，进站中语音提示辅助，实现车辆的精确定位，安全停靠。</a:t>
            </a:r>
            <a:endParaRPr sz="1400">
              <a:latin typeface="Microsoft YaHei"/>
              <a:cs typeface="Microsoft YaHei"/>
            </a:endParaRPr>
          </a:p>
          <a:p>
            <a:pPr marL="375920" indent="-285115">
              <a:lnSpc>
                <a:spcPct val="100000"/>
              </a:lnSpc>
              <a:buFont typeface="Wingdings"/>
              <a:buChar char=""/>
              <a:tabLst>
                <a:tab pos="375920" algn="l"/>
              </a:tabLst>
            </a:pPr>
            <a:r>
              <a:rPr dirty="0" sz="1400" spc="-20">
                <a:latin typeface="Microsoft YaHei"/>
                <a:cs typeface="Microsoft YaHei"/>
              </a:rPr>
              <a:t>停靠误差在</a:t>
            </a:r>
            <a:r>
              <a:rPr dirty="0" sz="1400" spc="-20">
                <a:solidFill>
                  <a:srgbClr val="FF0000"/>
                </a:solidFill>
                <a:latin typeface="Microsoft YaHei"/>
                <a:cs typeface="Microsoft YaHei"/>
              </a:rPr>
              <a:t>5cm</a:t>
            </a:r>
            <a:r>
              <a:rPr dirty="0" sz="1400" spc="-35">
                <a:latin typeface="Microsoft YaHei"/>
                <a:cs typeface="Microsoft YaHei"/>
              </a:rPr>
              <a:t>范围内</a:t>
            </a:r>
            <a:endParaRPr sz="1400">
              <a:latin typeface="Microsoft YaHei"/>
              <a:cs typeface="Microsoft YaHei"/>
            </a:endParaRPr>
          </a:p>
          <a:p>
            <a:pPr marL="375920" indent="-285115">
              <a:lnSpc>
                <a:spcPct val="100000"/>
              </a:lnSpc>
              <a:buFont typeface="Wingdings"/>
              <a:buChar char=""/>
              <a:tabLst>
                <a:tab pos="375920" algn="l"/>
              </a:tabLst>
            </a:pPr>
            <a:r>
              <a:rPr dirty="0" sz="1400" spc="-25">
                <a:latin typeface="Microsoft YaHei"/>
                <a:cs typeface="Microsoft YaHei"/>
              </a:rPr>
              <a:t>保障乘客安全、提升通行效率</a:t>
            </a:r>
            <a:endParaRPr sz="1400">
              <a:latin typeface="Microsoft YaHei"/>
              <a:cs typeface="Microsoft YaHei"/>
            </a:endParaRPr>
          </a:p>
        </p:txBody>
      </p:sp>
      <p:sp>
        <p:nvSpPr>
          <p:cNvPr id="16" name="object 16" descr=""/>
          <p:cNvSpPr txBox="1"/>
          <p:nvPr/>
        </p:nvSpPr>
        <p:spPr>
          <a:xfrm>
            <a:off x="1367331" y="872768"/>
            <a:ext cx="534670" cy="330200"/>
          </a:xfrm>
          <a:prstGeom prst="rect">
            <a:avLst/>
          </a:prstGeom>
        </p:spPr>
        <p:txBody>
          <a:bodyPr wrap="square" lIns="0" tIns="12065" rIns="0" bIns="0" rtlCol="0" vert="horz">
            <a:spAutoFit/>
          </a:bodyPr>
          <a:lstStyle/>
          <a:p>
            <a:pPr marL="12700">
              <a:lnSpc>
                <a:spcPct val="100000"/>
              </a:lnSpc>
              <a:spcBef>
                <a:spcPts val="95"/>
              </a:spcBef>
            </a:pPr>
            <a:r>
              <a:rPr dirty="0" sz="2000" spc="-35">
                <a:solidFill>
                  <a:srgbClr val="FF0000"/>
                </a:solidFill>
                <a:latin typeface="SimSun"/>
                <a:cs typeface="SimSun"/>
              </a:rPr>
              <a:t>现状</a:t>
            </a:r>
            <a:endParaRPr sz="2000">
              <a:latin typeface="SimSun"/>
              <a:cs typeface="SimSun"/>
            </a:endParaRPr>
          </a:p>
        </p:txBody>
      </p:sp>
      <p:sp>
        <p:nvSpPr>
          <p:cNvPr id="17" name="object 17" descr=""/>
          <p:cNvSpPr txBox="1"/>
          <p:nvPr/>
        </p:nvSpPr>
        <p:spPr>
          <a:xfrm>
            <a:off x="2490500" y="2457706"/>
            <a:ext cx="1095375" cy="238760"/>
          </a:xfrm>
          <a:prstGeom prst="rect">
            <a:avLst/>
          </a:prstGeom>
        </p:spPr>
        <p:txBody>
          <a:bodyPr wrap="square" lIns="0" tIns="12065" rIns="0" bIns="0" rtlCol="0" vert="horz">
            <a:spAutoFit/>
          </a:bodyPr>
          <a:lstStyle/>
          <a:p>
            <a:pPr marL="12700">
              <a:lnSpc>
                <a:spcPct val="100000"/>
              </a:lnSpc>
              <a:spcBef>
                <a:spcPts val="95"/>
              </a:spcBef>
            </a:pPr>
            <a:r>
              <a:rPr dirty="0" sz="1400" spc="-20">
                <a:solidFill>
                  <a:srgbClr val="FF0000"/>
                </a:solidFill>
                <a:latin typeface="SimSun"/>
                <a:cs typeface="SimSun"/>
              </a:rPr>
              <a:t>停靠间距过大</a:t>
            </a:r>
            <a:endParaRPr sz="1400">
              <a:latin typeface="SimSun"/>
              <a:cs typeface="SimSu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742950"/>
            <a:ext cx="8898890" cy="466090"/>
          </a:xfrm>
          <a:custGeom>
            <a:avLst/>
            <a:gdLst/>
            <a:ahLst/>
            <a:cxnLst/>
            <a:rect l="l" t="t" r="r" b="b"/>
            <a:pathLst>
              <a:path w="8898890" h="466090">
                <a:moveTo>
                  <a:pt x="8898407" y="0"/>
                </a:moveTo>
                <a:lnTo>
                  <a:pt x="0" y="0"/>
                </a:lnTo>
                <a:lnTo>
                  <a:pt x="0" y="465505"/>
                </a:lnTo>
                <a:lnTo>
                  <a:pt x="8898407" y="465505"/>
                </a:lnTo>
                <a:lnTo>
                  <a:pt x="8898407" y="0"/>
                </a:lnTo>
                <a:close/>
              </a:path>
            </a:pathLst>
          </a:custGeom>
          <a:solidFill>
            <a:srgbClr val="FFFFFF"/>
          </a:solidFill>
        </p:spPr>
        <p:txBody>
          <a:bodyPr wrap="square" lIns="0" tIns="0" rIns="0" bIns="0" rtlCol="0"/>
          <a:lstStyle/>
          <a:p/>
        </p:txBody>
      </p:sp>
      <p:sp>
        <p:nvSpPr>
          <p:cNvPr id="3" name="object 3"/>
          <p:cNvSpPr txBox="1">
            <a:spLocks noGrp="1"/>
          </p:cNvSpPr>
          <p:nvPr>
            <p:ph type="title"/>
          </p:nvPr>
        </p:nvSpPr>
        <p:spPr>
          <a:xfrm>
            <a:off x="2759221" y="144119"/>
            <a:ext cx="3820795" cy="513080"/>
          </a:xfrm>
          <a:prstGeom prst="rect"/>
        </p:spPr>
        <p:txBody>
          <a:bodyPr wrap="square" lIns="0" tIns="12065" rIns="0" bIns="0" rtlCol="0" vert="horz">
            <a:spAutoFit/>
          </a:bodyPr>
          <a:lstStyle/>
          <a:p>
            <a:pPr marL="12700">
              <a:lnSpc>
                <a:spcPct val="100000"/>
              </a:lnSpc>
              <a:spcBef>
                <a:spcPts val="95"/>
              </a:spcBef>
            </a:pPr>
            <a:r>
              <a:rPr dirty="0" spc="-40"/>
              <a:t>北汽、东风</a:t>
            </a:r>
            <a:r>
              <a:rPr dirty="0" spc="-10">
                <a:latin typeface="Times New Roman"/>
                <a:cs typeface="Times New Roman"/>
              </a:rPr>
              <a:t>-</a:t>
            </a:r>
            <a:r>
              <a:rPr dirty="0" spc="-45"/>
              <a:t>编队行驶</a:t>
            </a:r>
          </a:p>
        </p:txBody>
      </p:sp>
      <p:sp>
        <p:nvSpPr>
          <p:cNvPr id="4" name="object 4" descr=""/>
          <p:cNvSpPr txBox="1"/>
          <p:nvPr/>
        </p:nvSpPr>
        <p:spPr>
          <a:xfrm>
            <a:off x="21583" y="744344"/>
            <a:ext cx="8798560" cy="452120"/>
          </a:xfrm>
          <a:prstGeom prst="rect">
            <a:avLst/>
          </a:prstGeom>
        </p:spPr>
        <p:txBody>
          <a:bodyPr wrap="square" lIns="0" tIns="12065" rIns="0" bIns="0" rtlCol="0" vert="horz">
            <a:spAutoFit/>
          </a:bodyPr>
          <a:lstStyle/>
          <a:p>
            <a:pPr marL="12700" marR="5080">
              <a:lnSpc>
                <a:spcPct val="100000"/>
              </a:lnSpc>
              <a:spcBef>
                <a:spcPts val="95"/>
              </a:spcBef>
            </a:pPr>
            <a:r>
              <a:rPr dirty="0" sz="1400" spc="-25">
                <a:latin typeface="SimSun"/>
                <a:cs typeface="SimSun"/>
              </a:rPr>
              <a:t>车辆编队、远程驾驶和自动泊车被认为是目前与</a:t>
            </a:r>
            <a:r>
              <a:rPr dirty="0" sz="1400" spc="-10" b="1">
                <a:latin typeface="Arial"/>
                <a:cs typeface="Arial"/>
              </a:rPr>
              <a:t>5G</a:t>
            </a:r>
            <a:r>
              <a:rPr dirty="0" sz="1400" spc="-25">
                <a:latin typeface="SimSun"/>
                <a:cs typeface="SimSun"/>
              </a:rPr>
              <a:t>最靠近的三种车辆网应用场景。</a:t>
            </a:r>
            <a:r>
              <a:rPr dirty="0" sz="1400" spc="-20">
                <a:solidFill>
                  <a:srgbClr val="FF0000"/>
                </a:solidFill>
                <a:latin typeface="SimSun"/>
                <a:cs typeface="SimSun"/>
              </a:rPr>
              <a:t>车辆编队技术</a:t>
            </a:r>
            <a:r>
              <a:rPr dirty="0" sz="1400" spc="-25">
                <a:latin typeface="SimSun"/>
                <a:cs typeface="SimSun"/>
              </a:rPr>
              <a:t>在公共交通、特种车队、物流等行业前景广阔。</a:t>
            </a:r>
            <a:endParaRPr sz="1400">
              <a:latin typeface="SimSun"/>
              <a:cs typeface="SimSun"/>
            </a:endParaRPr>
          </a:p>
        </p:txBody>
      </p:sp>
      <p:pic>
        <p:nvPicPr>
          <p:cNvPr id="5" name="object 5"/>
          <p:cNvPicPr/>
          <p:nvPr/>
        </p:nvPicPr>
        <p:blipFill>
          <a:blip r:embed="rId2" cstate="print"/>
          <a:stretch>
            <a:fillRect/>
          </a:stretch>
        </p:blipFill>
        <p:spPr>
          <a:xfrm>
            <a:off x="207379" y="1242217"/>
            <a:ext cx="8683191" cy="1531043"/>
          </a:xfrm>
          <a:prstGeom prst="rect">
            <a:avLst/>
          </a:prstGeom>
        </p:spPr>
      </p:pic>
      <p:grpSp>
        <p:nvGrpSpPr>
          <p:cNvPr id="6" name="object 6" descr=""/>
          <p:cNvGrpSpPr/>
          <p:nvPr/>
        </p:nvGrpSpPr>
        <p:grpSpPr>
          <a:xfrm>
            <a:off x="172313" y="3444557"/>
            <a:ext cx="8690610" cy="1699260"/>
            <a:chOff x="172313" y="3444557"/>
            <a:chExt cx="8690610" cy="1699260"/>
          </a:xfrm>
        </p:grpSpPr>
        <p:pic>
          <p:nvPicPr>
            <p:cNvPr id="7" name="object 7"/>
            <p:cNvPicPr/>
            <p:nvPr/>
          </p:nvPicPr>
          <p:blipFill>
            <a:blip r:embed="rId3" cstate="print"/>
            <a:stretch>
              <a:fillRect/>
            </a:stretch>
          </p:blipFill>
          <p:spPr>
            <a:xfrm>
              <a:off x="6012159" y="3444558"/>
              <a:ext cx="2850535" cy="1698940"/>
            </a:xfrm>
            <a:prstGeom prst="rect">
              <a:avLst/>
            </a:prstGeom>
          </p:spPr>
        </p:pic>
        <p:pic>
          <p:nvPicPr>
            <p:cNvPr id="8" name="object 8" descr=""/>
            <p:cNvPicPr/>
            <p:nvPr/>
          </p:nvPicPr>
          <p:blipFill>
            <a:blip r:embed="rId4" cstate="print"/>
            <a:stretch>
              <a:fillRect/>
            </a:stretch>
          </p:blipFill>
          <p:spPr>
            <a:xfrm>
              <a:off x="172313" y="3444557"/>
              <a:ext cx="5817768" cy="1698942"/>
            </a:xfrm>
            <a:prstGeom prst="rect">
              <a:avLst/>
            </a:prstGeom>
          </p:spPr>
        </p:pic>
      </p:grpSp>
      <p:sp>
        <p:nvSpPr>
          <p:cNvPr id="9" name="object 9" descr=""/>
          <p:cNvSpPr txBox="1"/>
          <p:nvPr/>
        </p:nvSpPr>
        <p:spPr>
          <a:xfrm>
            <a:off x="467537" y="2859785"/>
            <a:ext cx="8137525" cy="584835"/>
          </a:xfrm>
          <a:prstGeom prst="rect">
            <a:avLst/>
          </a:prstGeom>
          <a:ln w="25400">
            <a:solidFill>
              <a:srgbClr val="BBE0E3"/>
            </a:solidFill>
          </a:ln>
        </p:spPr>
        <p:txBody>
          <a:bodyPr wrap="square" lIns="0" tIns="52069" rIns="0" bIns="0" rtlCol="0" vert="horz">
            <a:spAutoFit/>
          </a:bodyPr>
          <a:lstStyle/>
          <a:p>
            <a:pPr marL="91440">
              <a:lnSpc>
                <a:spcPts val="1880"/>
              </a:lnSpc>
              <a:spcBef>
                <a:spcPts val="409"/>
              </a:spcBef>
            </a:pPr>
            <a:r>
              <a:rPr dirty="0" sz="1600">
                <a:latin typeface="SimSun"/>
                <a:cs typeface="SimSun"/>
              </a:rPr>
              <a:t>已经完成</a:t>
            </a:r>
            <a:r>
              <a:rPr dirty="0" sz="1600">
                <a:solidFill>
                  <a:srgbClr val="FF0000"/>
                </a:solidFill>
                <a:latin typeface="SimSun"/>
                <a:cs typeface="SimSun"/>
              </a:rPr>
              <a:t>北汽乘用车、东风商用卡车</a:t>
            </a:r>
            <a:r>
              <a:rPr dirty="0" sz="1600" spc="-5">
                <a:latin typeface="SimSun"/>
                <a:cs typeface="SimSun"/>
              </a:rPr>
              <a:t>编队行驶业务，可满足录像需求，体现应用部署可在</a:t>
            </a:r>
            <a:endParaRPr sz="1600">
              <a:latin typeface="SimSun"/>
              <a:cs typeface="SimSun"/>
            </a:endParaRPr>
          </a:p>
          <a:p>
            <a:pPr marL="91440">
              <a:lnSpc>
                <a:spcPts val="1880"/>
              </a:lnSpc>
            </a:pPr>
            <a:r>
              <a:rPr dirty="0" sz="1600" spc="-10">
                <a:latin typeface="Arial MT"/>
                <a:cs typeface="Arial MT"/>
              </a:rPr>
              <a:t>MEC</a:t>
            </a:r>
            <a:r>
              <a:rPr dirty="0" sz="1600" spc="45">
                <a:latin typeface="SimSun"/>
                <a:cs typeface="SimSun"/>
              </a:rPr>
              <a:t>上，实现车辆监控和车队状态数据分析。</a:t>
            </a:r>
            <a:endParaRPr sz="1600">
              <a:latin typeface="SimSun"/>
              <a:cs typeface="SimSu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72855" y="169246"/>
            <a:ext cx="2467610" cy="513080"/>
          </a:xfrm>
          <a:prstGeom prst="rect"/>
        </p:spPr>
        <p:txBody>
          <a:bodyPr wrap="square" lIns="0" tIns="12065" rIns="0" bIns="0" rtlCol="0" vert="horz">
            <a:spAutoFit/>
          </a:bodyPr>
          <a:lstStyle/>
          <a:p>
            <a:pPr marL="12700">
              <a:lnSpc>
                <a:spcPct val="100000"/>
              </a:lnSpc>
              <a:spcBef>
                <a:spcPts val="95"/>
              </a:spcBef>
            </a:pPr>
            <a:r>
              <a:rPr dirty="0" spc="-40"/>
              <a:t>智慧远程驾驶</a:t>
            </a:r>
          </a:p>
        </p:txBody>
      </p:sp>
      <p:pic>
        <p:nvPicPr>
          <p:cNvPr id="3" name="object 3"/>
          <p:cNvPicPr/>
          <p:nvPr/>
        </p:nvPicPr>
        <p:blipFill>
          <a:blip r:embed="rId2" cstate="print"/>
          <a:stretch>
            <a:fillRect/>
          </a:stretch>
        </p:blipFill>
        <p:spPr>
          <a:xfrm>
            <a:off x="152400" y="819150"/>
            <a:ext cx="8784975" cy="414884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3581400" y="1047750"/>
            <a:ext cx="40005" cy="3782060"/>
          </a:xfrm>
          <a:custGeom>
            <a:avLst/>
            <a:gdLst/>
            <a:ahLst/>
            <a:cxnLst/>
            <a:rect l="l" t="t" r="r" b="b"/>
            <a:pathLst>
              <a:path w="40004" h="3782060">
                <a:moveTo>
                  <a:pt x="0" y="0"/>
                </a:moveTo>
                <a:lnTo>
                  <a:pt x="39624" y="3781437"/>
                </a:lnTo>
              </a:path>
            </a:pathLst>
          </a:custGeom>
          <a:ln w="34925">
            <a:solidFill>
              <a:srgbClr val="000000"/>
            </a:solidFill>
          </a:ln>
        </p:spPr>
        <p:txBody>
          <a:bodyPr wrap="square" lIns="0" tIns="0" rIns="0" bIns="0" rtlCol="0"/>
          <a:lstStyle/>
          <a:p/>
        </p:txBody>
      </p:sp>
      <p:grpSp>
        <p:nvGrpSpPr>
          <p:cNvPr id="3" name="object 3" descr=""/>
          <p:cNvGrpSpPr/>
          <p:nvPr/>
        </p:nvGrpSpPr>
        <p:grpSpPr>
          <a:xfrm>
            <a:off x="3879850" y="1642654"/>
            <a:ext cx="4889500" cy="498475"/>
            <a:chOff x="3879850" y="1642654"/>
            <a:chExt cx="4889500" cy="498475"/>
          </a:xfrm>
        </p:grpSpPr>
        <p:pic>
          <p:nvPicPr>
            <p:cNvPr id="4" name="object 4" descr=""/>
            <p:cNvPicPr/>
            <p:nvPr/>
          </p:nvPicPr>
          <p:blipFill>
            <a:blip r:embed="rId2" cstate="print"/>
            <a:stretch>
              <a:fillRect/>
            </a:stretch>
          </p:blipFill>
          <p:spPr>
            <a:xfrm>
              <a:off x="3886200" y="1649004"/>
              <a:ext cx="4876800" cy="485775"/>
            </a:xfrm>
            <a:prstGeom prst="rect">
              <a:avLst/>
            </a:prstGeom>
          </p:spPr>
        </p:pic>
        <p:sp>
          <p:nvSpPr>
            <p:cNvPr id="5" name="object 5" descr=""/>
            <p:cNvSpPr/>
            <p:nvPr/>
          </p:nvSpPr>
          <p:spPr>
            <a:xfrm>
              <a:off x="3886200" y="16490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6" name="object 6" descr=""/>
          <p:cNvGrpSpPr/>
          <p:nvPr/>
        </p:nvGrpSpPr>
        <p:grpSpPr>
          <a:xfrm>
            <a:off x="3879850" y="2290354"/>
            <a:ext cx="4889500" cy="498475"/>
            <a:chOff x="3879850" y="2290354"/>
            <a:chExt cx="4889500" cy="498475"/>
          </a:xfrm>
        </p:grpSpPr>
        <p:pic>
          <p:nvPicPr>
            <p:cNvPr id="7" name="object 7" descr=""/>
            <p:cNvPicPr/>
            <p:nvPr/>
          </p:nvPicPr>
          <p:blipFill>
            <a:blip r:embed="rId2" cstate="print"/>
            <a:stretch>
              <a:fillRect/>
            </a:stretch>
          </p:blipFill>
          <p:spPr>
            <a:xfrm>
              <a:off x="3886200" y="2296704"/>
              <a:ext cx="4876800" cy="485775"/>
            </a:xfrm>
            <a:prstGeom prst="rect">
              <a:avLst/>
            </a:prstGeom>
          </p:spPr>
        </p:pic>
        <p:sp>
          <p:nvSpPr>
            <p:cNvPr id="8" name="object 8" descr=""/>
            <p:cNvSpPr/>
            <p:nvPr/>
          </p:nvSpPr>
          <p:spPr>
            <a:xfrm>
              <a:off x="3886200" y="22967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9" name="object 9" descr=""/>
          <p:cNvGrpSpPr/>
          <p:nvPr/>
        </p:nvGrpSpPr>
        <p:grpSpPr>
          <a:xfrm>
            <a:off x="3879850" y="993764"/>
            <a:ext cx="4889500" cy="498475"/>
            <a:chOff x="3879850" y="993764"/>
            <a:chExt cx="4889500" cy="498475"/>
          </a:xfrm>
        </p:grpSpPr>
        <p:pic>
          <p:nvPicPr>
            <p:cNvPr id="10" name="object 10" descr=""/>
            <p:cNvPicPr/>
            <p:nvPr/>
          </p:nvPicPr>
          <p:blipFill>
            <a:blip r:embed="rId3" cstate="print"/>
            <a:stretch>
              <a:fillRect/>
            </a:stretch>
          </p:blipFill>
          <p:spPr>
            <a:xfrm>
              <a:off x="3886200" y="1000114"/>
              <a:ext cx="4876800" cy="485775"/>
            </a:xfrm>
            <a:prstGeom prst="rect">
              <a:avLst/>
            </a:prstGeom>
          </p:spPr>
        </p:pic>
        <p:sp>
          <p:nvSpPr>
            <p:cNvPr id="11" name="object 11" descr=""/>
            <p:cNvSpPr/>
            <p:nvPr/>
          </p:nvSpPr>
          <p:spPr>
            <a:xfrm>
              <a:off x="3886200" y="100011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12" name="object 12"/>
          <p:cNvSpPr txBox="1">
            <a:spLocks noGrp="1"/>
          </p:cNvSpPr>
          <p:nvPr>
            <p:ph type="title"/>
          </p:nvPr>
        </p:nvSpPr>
        <p:spPr>
          <a:xfrm>
            <a:off x="3231769" y="39229"/>
            <a:ext cx="2679065" cy="695960"/>
          </a:xfrm>
          <a:prstGeom prst="rect"/>
        </p:spPr>
        <p:txBody>
          <a:bodyPr wrap="square" lIns="0" tIns="12065" rIns="0" bIns="0" rtlCol="0" vert="horz">
            <a:spAutoFit/>
          </a:bodyPr>
          <a:lstStyle/>
          <a:p>
            <a:pPr marL="12700">
              <a:lnSpc>
                <a:spcPct val="100000"/>
              </a:lnSpc>
              <a:spcBef>
                <a:spcPts val="95"/>
              </a:spcBef>
            </a:pPr>
            <a:r>
              <a:rPr dirty="0" sz="4400" spc="-35"/>
              <a:t>主 要 内 容</a:t>
            </a:r>
            <a:endParaRPr sz="4400"/>
          </a:p>
        </p:txBody>
      </p:sp>
      <p:grpSp>
        <p:nvGrpSpPr>
          <p:cNvPr id="13" name="object 13" descr=""/>
          <p:cNvGrpSpPr/>
          <p:nvPr/>
        </p:nvGrpSpPr>
        <p:grpSpPr>
          <a:xfrm>
            <a:off x="3879850" y="2938054"/>
            <a:ext cx="4889500" cy="498475"/>
            <a:chOff x="3879850" y="2938054"/>
            <a:chExt cx="4889500" cy="498475"/>
          </a:xfrm>
        </p:grpSpPr>
        <p:pic>
          <p:nvPicPr>
            <p:cNvPr id="14" name="object 14" descr=""/>
            <p:cNvPicPr/>
            <p:nvPr/>
          </p:nvPicPr>
          <p:blipFill>
            <a:blip r:embed="rId2" cstate="print"/>
            <a:stretch>
              <a:fillRect/>
            </a:stretch>
          </p:blipFill>
          <p:spPr>
            <a:xfrm>
              <a:off x="3886200" y="2944404"/>
              <a:ext cx="4876800" cy="485775"/>
            </a:xfrm>
            <a:prstGeom prst="rect">
              <a:avLst/>
            </a:prstGeom>
          </p:spPr>
        </p:pic>
        <p:sp>
          <p:nvSpPr>
            <p:cNvPr id="15" name="object 15" descr=""/>
            <p:cNvSpPr/>
            <p:nvPr/>
          </p:nvSpPr>
          <p:spPr>
            <a:xfrm>
              <a:off x="3886200" y="29444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6" name="object 16" descr=""/>
          <p:cNvGrpSpPr/>
          <p:nvPr/>
        </p:nvGrpSpPr>
        <p:grpSpPr>
          <a:xfrm>
            <a:off x="3879850" y="3585754"/>
            <a:ext cx="4889500" cy="498475"/>
            <a:chOff x="3879850" y="3585754"/>
            <a:chExt cx="4889500" cy="498475"/>
          </a:xfrm>
        </p:grpSpPr>
        <p:pic>
          <p:nvPicPr>
            <p:cNvPr id="17" name="object 17" descr=""/>
            <p:cNvPicPr/>
            <p:nvPr/>
          </p:nvPicPr>
          <p:blipFill>
            <a:blip r:embed="rId4" cstate="print"/>
            <a:stretch>
              <a:fillRect/>
            </a:stretch>
          </p:blipFill>
          <p:spPr>
            <a:xfrm>
              <a:off x="3886200" y="3592104"/>
              <a:ext cx="4876800" cy="485775"/>
            </a:xfrm>
            <a:prstGeom prst="rect">
              <a:avLst/>
            </a:prstGeom>
          </p:spPr>
        </p:pic>
        <p:sp>
          <p:nvSpPr>
            <p:cNvPr id="18" name="object 18" descr=""/>
            <p:cNvSpPr/>
            <p:nvPr/>
          </p:nvSpPr>
          <p:spPr>
            <a:xfrm>
              <a:off x="3886200" y="3592104"/>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grpSp>
        <p:nvGrpSpPr>
          <p:cNvPr id="19" name="object 19" descr=""/>
          <p:cNvGrpSpPr/>
          <p:nvPr/>
        </p:nvGrpSpPr>
        <p:grpSpPr>
          <a:xfrm>
            <a:off x="3879850" y="4266792"/>
            <a:ext cx="4889500" cy="498475"/>
            <a:chOff x="3879850" y="4266792"/>
            <a:chExt cx="4889500" cy="498475"/>
          </a:xfrm>
        </p:grpSpPr>
        <p:pic>
          <p:nvPicPr>
            <p:cNvPr id="20" name="object 20" descr=""/>
            <p:cNvPicPr/>
            <p:nvPr/>
          </p:nvPicPr>
          <p:blipFill>
            <a:blip r:embed="rId5" cstate="print"/>
            <a:stretch>
              <a:fillRect/>
            </a:stretch>
          </p:blipFill>
          <p:spPr>
            <a:xfrm>
              <a:off x="3886200" y="4273142"/>
              <a:ext cx="4876800" cy="485775"/>
            </a:xfrm>
            <a:prstGeom prst="rect">
              <a:avLst/>
            </a:prstGeom>
          </p:spPr>
        </p:pic>
        <p:sp>
          <p:nvSpPr>
            <p:cNvPr id="21" name="object 21" descr=""/>
            <p:cNvSpPr/>
            <p:nvPr/>
          </p:nvSpPr>
          <p:spPr>
            <a:xfrm>
              <a:off x="3886200" y="4273142"/>
              <a:ext cx="4876800" cy="485775"/>
            </a:xfrm>
            <a:custGeom>
              <a:avLst/>
              <a:gdLst/>
              <a:ahLst/>
              <a:cxnLst/>
              <a:rect l="l" t="t" r="r" b="b"/>
              <a:pathLst>
                <a:path w="4876800" h="485775">
                  <a:moveTo>
                    <a:pt x="0" y="80962"/>
                  </a:moveTo>
                  <a:lnTo>
                    <a:pt x="6362" y="49447"/>
                  </a:lnTo>
                  <a:lnTo>
                    <a:pt x="23712" y="23712"/>
                  </a:lnTo>
                  <a:lnTo>
                    <a:pt x="49447" y="6362"/>
                  </a:lnTo>
                  <a:lnTo>
                    <a:pt x="80962" y="0"/>
                  </a:lnTo>
                  <a:lnTo>
                    <a:pt x="4795837" y="0"/>
                  </a:lnTo>
                  <a:lnTo>
                    <a:pt x="4827352" y="6362"/>
                  </a:lnTo>
                  <a:lnTo>
                    <a:pt x="4853087" y="23712"/>
                  </a:lnTo>
                  <a:lnTo>
                    <a:pt x="4870437" y="49447"/>
                  </a:lnTo>
                  <a:lnTo>
                    <a:pt x="4876800" y="80962"/>
                  </a:lnTo>
                  <a:lnTo>
                    <a:pt x="4876800" y="404812"/>
                  </a:lnTo>
                  <a:lnTo>
                    <a:pt x="4870437" y="436327"/>
                  </a:lnTo>
                  <a:lnTo>
                    <a:pt x="4853087" y="462062"/>
                  </a:lnTo>
                  <a:lnTo>
                    <a:pt x="4827352" y="479412"/>
                  </a:lnTo>
                  <a:lnTo>
                    <a:pt x="4795837" y="485775"/>
                  </a:lnTo>
                  <a:lnTo>
                    <a:pt x="80962" y="485775"/>
                  </a:lnTo>
                  <a:lnTo>
                    <a:pt x="49447" y="479412"/>
                  </a:lnTo>
                  <a:lnTo>
                    <a:pt x="23712" y="462062"/>
                  </a:lnTo>
                  <a:lnTo>
                    <a:pt x="6362" y="436327"/>
                  </a:lnTo>
                  <a:lnTo>
                    <a:pt x="0" y="404812"/>
                  </a:lnTo>
                  <a:lnTo>
                    <a:pt x="0" y="80962"/>
                  </a:lnTo>
                  <a:close/>
                </a:path>
              </a:pathLst>
            </a:custGeom>
            <a:ln w="12700">
              <a:solidFill>
                <a:srgbClr val="000000"/>
              </a:solidFill>
            </a:ln>
          </p:spPr>
          <p:txBody>
            <a:bodyPr wrap="square" lIns="0" tIns="0" rIns="0" bIns="0" rtlCol="0"/>
            <a:lstStyle/>
            <a:p/>
          </p:txBody>
        </p:sp>
      </p:grpSp>
      <p:sp>
        <p:nvSpPr>
          <p:cNvPr id="22" name="object 22" descr=""/>
          <p:cNvSpPr txBox="1"/>
          <p:nvPr/>
        </p:nvSpPr>
        <p:spPr>
          <a:xfrm>
            <a:off x="3988653" y="1035991"/>
            <a:ext cx="4453255" cy="3664585"/>
          </a:xfrm>
          <a:prstGeom prst="rect">
            <a:avLst/>
          </a:prstGeom>
        </p:spPr>
        <p:txBody>
          <a:bodyPr wrap="square" lIns="0" tIns="12700" rIns="0" bIns="0" rtlCol="0" vert="horz">
            <a:spAutoFit/>
          </a:bodyPr>
          <a:lstStyle/>
          <a:p>
            <a:pPr algn="just" marL="12700">
              <a:lnSpc>
                <a:spcPct val="100000"/>
              </a:lnSpc>
              <a:spcBef>
                <a:spcPts val="100"/>
              </a:spcBef>
            </a:pPr>
            <a:r>
              <a:rPr dirty="0" sz="2400" spc="-40">
                <a:latin typeface="Microsoft YaHei"/>
                <a:cs typeface="Microsoft YaHei"/>
              </a:rPr>
              <a:t>一、 </a:t>
            </a:r>
            <a:r>
              <a:rPr dirty="0" sz="2400" spc="-20">
                <a:latin typeface="Times New Roman"/>
                <a:cs typeface="Times New Roman"/>
              </a:rPr>
              <a:t>5G</a:t>
            </a:r>
            <a:r>
              <a:rPr dirty="0" sz="2400" spc="-5">
                <a:latin typeface="Microsoft YaHei"/>
                <a:cs typeface="Microsoft YaHei"/>
              </a:rPr>
              <a:t>系统与网络典型业务概述</a:t>
            </a:r>
            <a:endParaRPr sz="2400">
              <a:latin typeface="Microsoft YaHei"/>
              <a:cs typeface="Microsoft YaHei"/>
            </a:endParaRPr>
          </a:p>
          <a:p>
            <a:pPr algn="just" marL="12700" marR="21590">
              <a:lnSpc>
                <a:spcPct val="177100"/>
              </a:lnSpc>
              <a:spcBef>
                <a:spcPts val="5"/>
              </a:spcBef>
            </a:pPr>
            <a:r>
              <a:rPr dirty="0" sz="2400" spc="-65">
                <a:latin typeface="Microsoft YaHei"/>
                <a:cs typeface="Microsoft YaHei"/>
              </a:rPr>
              <a:t>二、 </a:t>
            </a:r>
            <a:r>
              <a:rPr dirty="0" sz="2400" spc="-20">
                <a:latin typeface="Times New Roman"/>
                <a:cs typeface="Times New Roman"/>
              </a:rPr>
              <a:t>5G</a:t>
            </a:r>
            <a:r>
              <a:rPr dirty="0" sz="2400" spc="-5">
                <a:latin typeface="Microsoft YaHei"/>
                <a:cs typeface="Microsoft YaHei"/>
              </a:rPr>
              <a:t>系统与网络业务场景分类</a:t>
            </a:r>
            <a:r>
              <a:rPr dirty="0" sz="2400" spc="-65">
                <a:latin typeface="Microsoft YaHei"/>
                <a:cs typeface="Microsoft YaHei"/>
              </a:rPr>
              <a:t>三、 </a:t>
            </a:r>
            <a:r>
              <a:rPr dirty="0" sz="2400" spc="-20">
                <a:latin typeface="Times New Roman"/>
                <a:cs typeface="Times New Roman"/>
              </a:rPr>
              <a:t>5G</a:t>
            </a:r>
            <a:r>
              <a:rPr dirty="0" sz="2400" spc="-5">
                <a:latin typeface="Microsoft YaHei"/>
                <a:cs typeface="Microsoft YaHei"/>
              </a:rPr>
              <a:t>系统与网络典型业务模型</a:t>
            </a:r>
            <a:r>
              <a:rPr dirty="0" sz="2400" spc="-65">
                <a:latin typeface="Microsoft YaHei"/>
                <a:cs typeface="Microsoft YaHei"/>
              </a:rPr>
              <a:t>四、 </a:t>
            </a:r>
            <a:r>
              <a:rPr dirty="0" sz="2400" spc="-20">
                <a:latin typeface="Times New Roman"/>
                <a:cs typeface="Times New Roman"/>
              </a:rPr>
              <a:t>5G</a:t>
            </a:r>
            <a:r>
              <a:rPr dirty="0" sz="2400" spc="-5">
                <a:latin typeface="Microsoft YaHei"/>
                <a:cs typeface="Microsoft YaHei"/>
              </a:rPr>
              <a:t>系统与网络大带宽新业务</a:t>
            </a:r>
            <a:r>
              <a:rPr dirty="0" sz="2400" spc="-40">
                <a:latin typeface="Microsoft YaHei"/>
                <a:cs typeface="Microsoft YaHei"/>
              </a:rPr>
              <a:t>五、 </a:t>
            </a:r>
            <a:r>
              <a:rPr dirty="0" sz="2400" spc="-20">
                <a:latin typeface="Times New Roman"/>
                <a:cs typeface="Times New Roman"/>
              </a:rPr>
              <a:t>5G</a:t>
            </a:r>
            <a:r>
              <a:rPr dirty="0" sz="2400" spc="-5">
                <a:latin typeface="Microsoft YaHei"/>
                <a:cs typeface="Microsoft YaHei"/>
              </a:rPr>
              <a:t>系统与网络低时延新业务</a:t>
            </a:r>
            <a:endParaRPr sz="2400">
              <a:latin typeface="Microsoft YaHei"/>
              <a:cs typeface="Microsoft YaHei"/>
            </a:endParaRPr>
          </a:p>
          <a:p>
            <a:pPr algn="just" marL="12700">
              <a:lnSpc>
                <a:spcPct val="100000"/>
              </a:lnSpc>
              <a:spcBef>
                <a:spcPts val="2485"/>
              </a:spcBef>
            </a:pPr>
            <a:r>
              <a:rPr dirty="0" sz="2400" spc="-40" b="1">
                <a:solidFill>
                  <a:srgbClr val="FF0000"/>
                </a:solidFill>
                <a:latin typeface="Microsoft YaHei"/>
                <a:cs typeface="Microsoft YaHei"/>
              </a:rPr>
              <a:t>六、 </a:t>
            </a:r>
            <a:r>
              <a:rPr dirty="0" sz="2400" b="1">
                <a:solidFill>
                  <a:srgbClr val="FF0000"/>
                </a:solidFill>
                <a:latin typeface="Times New Roman"/>
                <a:cs typeface="Times New Roman"/>
              </a:rPr>
              <a:t>5G</a:t>
            </a:r>
            <a:r>
              <a:rPr dirty="0" sz="2400" spc="-5" b="1">
                <a:solidFill>
                  <a:srgbClr val="FF0000"/>
                </a:solidFill>
                <a:latin typeface="Microsoft YaHei"/>
                <a:cs typeface="Microsoft YaHei"/>
              </a:rPr>
              <a:t>系统与网络大连接新业务</a:t>
            </a:r>
            <a:endParaRPr sz="2400">
              <a:latin typeface="Microsoft YaHei"/>
              <a:cs typeface="Microsoft YaHei"/>
            </a:endParaRPr>
          </a:p>
        </p:txBody>
      </p:sp>
      <p:pic>
        <p:nvPicPr>
          <p:cNvPr id="23" name="object 23"/>
          <p:cNvPicPr/>
          <p:nvPr/>
        </p:nvPicPr>
        <p:blipFill>
          <a:blip r:embed="rId6" cstate="print"/>
          <a:stretch>
            <a:fillRect/>
          </a:stretch>
        </p:blipFill>
        <p:spPr>
          <a:xfrm>
            <a:off x="304800" y="1000114"/>
            <a:ext cx="3047999" cy="378621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6952" y="1222975"/>
            <a:ext cx="1619999" cy="1007995"/>
          </a:xfrm>
          <a:prstGeom prst="rect">
            <a:avLst/>
          </a:prstGeom>
        </p:spPr>
      </p:pic>
      <p:pic>
        <p:nvPicPr>
          <p:cNvPr id="3" name="object 3"/>
          <p:cNvPicPr/>
          <p:nvPr/>
        </p:nvPicPr>
        <p:blipFill>
          <a:blip r:embed="rId3" cstate="print"/>
          <a:stretch>
            <a:fillRect/>
          </a:stretch>
        </p:blipFill>
        <p:spPr>
          <a:xfrm>
            <a:off x="2654783" y="1222975"/>
            <a:ext cx="1619998" cy="1007995"/>
          </a:xfrm>
          <a:prstGeom prst="rect">
            <a:avLst/>
          </a:prstGeom>
        </p:spPr>
      </p:pic>
      <p:pic>
        <p:nvPicPr>
          <p:cNvPr id="4" name="object 4"/>
          <p:cNvPicPr/>
          <p:nvPr/>
        </p:nvPicPr>
        <p:blipFill>
          <a:blip r:embed="rId4" cstate="print"/>
          <a:stretch>
            <a:fillRect/>
          </a:stretch>
        </p:blipFill>
        <p:spPr>
          <a:xfrm>
            <a:off x="4535894" y="1222975"/>
            <a:ext cx="1619999" cy="1007995"/>
          </a:xfrm>
          <a:prstGeom prst="rect">
            <a:avLst/>
          </a:prstGeom>
        </p:spPr>
      </p:pic>
      <p:pic>
        <p:nvPicPr>
          <p:cNvPr id="5" name="object 5"/>
          <p:cNvPicPr/>
          <p:nvPr/>
        </p:nvPicPr>
        <p:blipFill>
          <a:blip r:embed="rId5" cstate="print"/>
          <a:stretch>
            <a:fillRect/>
          </a:stretch>
        </p:blipFill>
        <p:spPr>
          <a:xfrm>
            <a:off x="6227120" y="1222975"/>
            <a:ext cx="1619993" cy="1007995"/>
          </a:xfrm>
          <a:prstGeom prst="rect">
            <a:avLst/>
          </a:prstGeom>
        </p:spPr>
      </p:pic>
      <p:pic>
        <p:nvPicPr>
          <p:cNvPr id="6" name="object 6"/>
          <p:cNvPicPr/>
          <p:nvPr/>
        </p:nvPicPr>
        <p:blipFill>
          <a:blip r:embed="rId6" cstate="print"/>
          <a:stretch>
            <a:fillRect/>
          </a:stretch>
        </p:blipFill>
        <p:spPr>
          <a:xfrm>
            <a:off x="966952" y="2283716"/>
            <a:ext cx="1619999" cy="1007996"/>
          </a:xfrm>
          <a:prstGeom prst="rect">
            <a:avLst/>
          </a:prstGeom>
        </p:spPr>
      </p:pic>
      <p:pic>
        <p:nvPicPr>
          <p:cNvPr id="7" name="object 7"/>
          <p:cNvPicPr/>
          <p:nvPr/>
        </p:nvPicPr>
        <p:blipFill>
          <a:blip r:embed="rId7" cstate="print"/>
          <a:stretch>
            <a:fillRect/>
          </a:stretch>
        </p:blipFill>
        <p:spPr>
          <a:xfrm>
            <a:off x="2654782" y="2283716"/>
            <a:ext cx="1619999" cy="1007996"/>
          </a:xfrm>
          <a:prstGeom prst="rect">
            <a:avLst/>
          </a:prstGeom>
        </p:spPr>
      </p:pic>
      <p:pic>
        <p:nvPicPr>
          <p:cNvPr id="8" name="object 8"/>
          <p:cNvPicPr/>
          <p:nvPr/>
        </p:nvPicPr>
        <p:blipFill>
          <a:blip r:embed="rId8" cstate="print"/>
          <a:stretch>
            <a:fillRect/>
          </a:stretch>
        </p:blipFill>
        <p:spPr>
          <a:xfrm>
            <a:off x="6227121" y="2283716"/>
            <a:ext cx="1619999" cy="1007996"/>
          </a:xfrm>
          <a:prstGeom prst="rect">
            <a:avLst/>
          </a:prstGeom>
        </p:spPr>
      </p:pic>
      <p:pic>
        <p:nvPicPr>
          <p:cNvPr id="9" name="object 9"/>
          <p:cNvPicPr/>
          <p:nvPr/>
        </p:nvPicPr>
        <p:blipFill>
          <a:blip r:embed="rId9" cstate="print"/>
          <a:stretch>
            <a:fillRect/>
          </a:stretch>
        </p:blipFill>
        <p:spPr>
          <a:xfrm>
            <a:off x="4535894" y="2283716"/>
            <a:ext cx="1619999" cy="1007996"/>
          </a:xfrm>
          <a:prstGeom prst="rect">
            <a:avLst/>
          </a:prstGeom>
        </p:spPr>
      </p:pic>
      <p:sp>
        <p:nvSpPr>
          <p:cNvPr id="10" name="object 10" descr=""/>
          <p:cNvSpPr txBox="1">
            <a:spLocks noGrp="1"/>
          </p:cNvSpPr>
          <p:nvPr>
            <p:ph type="body" idx="1"/>
          </p:nvPr>
        </p:nvSpPr>
        <p:spPr>
          <a:prstGeom prst="rect"/>
        </p:spPr>
        <p:txBody>
          <a:bodyPr wrap="square" lIns="0" tIns="12700" rIns="0" bIns="0" rtlCol="0" vert="horz">
            <a:spAutoFit/>
          </a:bodyPr>
          <a:lstStyle/>
          <a:p>
            <a:pPr algn="just" marL="7435215" marR="5080">
              <a:lnSpc>
                <a:spcPct val="100000"/>
              </a:lnSpc>
              <a:spcBef>
                <a:spcPts val="100"/>
              </a:spcBef>
            </a:pPr>
            <a:r>
              <a:rPr dirty="0" spc="-30"/>
              <a:t>mMTC</a:t>
            </a:r>
            <a:r>
              <a:rPr dirty="0" spc="-50"/>
              <a:t>海</a:t>
            </a:r>
            <a:r>
              <a:rPr dirty="0" spc="-15"/>
              <a:t>量机器类</a:t>
            </a:r>
            <a:r>
              <a:rPr dirty="0" spc="-25"/>
              <a:t>通信</a:t>
            </a:r>
          </a:p>
          <a:p>
            <a:pPr marL="292735" indent="-280035">
              <a:lnSpc>
                <a:spcPct val="100000"/>
              </a:lnSpc>
              <a:spcBef>
                <a:spcPts val="2165"/>
              </a:spcBef>
              <a:buFont typeface="Wingdings"/>
              <a:buChar char=""/>
              <a:tabLst>
                <a:tab pos="292735" algn="l"/>
              </a:tabLst>
            </a:pPr>
            <a:r>
              <a:rPr dirty="0" sz="1400" spc="-20">
                <a:solidFill>
                  <a:srgbClr val="000000"/>
                </a:solidFill>
              </a:rPr>
              <a:t>5G时代，流量密度、连接密度、时延、峰值速率等</a:t>
            </a:r>
            <a:r>
              <a:rPr dirty="0" sz="1400" spc="-10">
                <a:solidFill>
                  <a:srgbClr val="000000"/>
                </a:solidFill>
              </a:rPr>
              <a:t>8</a:t>
            </a:r>
            <a:r>
              <a:rPr dirty="0" sz="1400" spc="-25">
                <a:solidFill>
                  <a:srgbClr val="000000"/>
                </a:solidFill>
              </a:rPr>
              <a:t>项关键技术指标都有较大幅度的提升</a:t>
            </a:r>
            <a:endParaRPr sz="1400"/>
          </a:p>
        </p:txBody>
      </p:sp>
      <p:sp>
        <p:nvSpPr>
          <p:cNvPr id="11" name="object 11" descr=""/>
          <p:cNvSpPr txBox="1"/>
          <p:nvPr/>
        </p:nvSpPr>
        <p:spPr>
          <a:xfrm>
            <a:off x="394009" y="1963060"/>
            <a:ext cx="482600" cy="574040"/>
          </a:xfrm>
          <a:prstGeom prst="rect">
            <a:avLst/>
          </a:prstGeom>
        </p:spPr>
        <p:txBody>
          <a:bodyPr wrap="square" lIns="0" tIns="12700" rIns="0" bIns="0" rtlCol="0" vert="horz">
            <a:spAutoFit/>
          </a:bodyPr>
          <a:lstStyle/>
          <a:p>
            <a:pPr marL="12700">
              <a:lnSpc>
                <a:spcPct val="100000"/>
              </a:lnSpc>
              <a:spcBef>
                <a:spcPts val="100"/>
              </a:spcBef>
            </a:pPr>
            <a:r>
              <a:rPr dirty="0" sz="1200" spc="-20" b="1">
                <a:solidFill>
                  <a:srgbClr val="00B050"/>
                </a:solidFill>
                <a:latin typeface="Microsoft YaHei"/>
                <a:cs typeface="Microsoft YaHei"/>
              </a:rPr>
              <a:t>eMBB</a:t>
            </a:r>
            <a:endParaRPr sz="1200">
              <a:latin typeface="Microsoft YaHei"/>
              <a:cs typeface="Microsoft YaHei"/>
            </a:endParaRPr>
          </a:p>
          <a:p>
            <a:pPr marL="12700" marR="5080">
              <a:lnSpc>
                <a:spcPct val="100000"/>
              </a:lnSpc>
            </a:pPr>
            <a:r>
              <a:rPr dirty="0" sz="1200" spc="-20" b="1">
                <a:solidFill>
                  <a:srgbClr val="00B050"/>
                </a:solidFill>
                <a:latin typeface="Microsoft YaHei"/>
                <a:cs typeface="Microsoft YaHei"/>
              </a:rPr>
              <a:t>增强移动宽带</a:t>
            </a:r>
            <a:endParaRPr sz="1200">
              <a:latin typeface="Microsoft YaHei"/>
              <a:cs typeface="Microsoft YaHei"/>
            </a:endParaRPr>
          </a:p>
        </p:txBody>
      </p:sp>
      <p:sp>
        <p:nvSpPr>
          <p:cNvPr id="12" name="object 12" descr=""/>
          <p:cNvSpPr txBox="1"/>
          <p:nvPr/>
        </p:nvSpPr>
        <p:spPr>
          <a:xfrm>
            <a:off x="966952" y="909015"/>
            <a:ext cx="3308350" cy="300990"/>
          </a:xfrm>
          <a:prstGeom prst="rect">
            <a:avLst/>
          </a:prstGeom>
          <a:solidFill>
            <a:srgbClr val="000000">
              <a:alpha val="25097"/>
            </a:srgbClr>
          </a:solidFill>
        </p:spPr>
        <p:txBody>
          <a:bodyPr wrap="square" lIns="0" tIns="28575" rIns="0" bIns="0" rtlCol="0" vert="horz">
            <a:spAutoFit/>
          </a:bodyPr>
          <a:lstStyle/>
          <a:p>
            <a:pPr marL="986790">
              <a:lnSpc>
                <a:spcPct val="100000"/>
              </a:lnSpc>
              <a:spcBef>
                <a:spcPts val="225"/>
              </a:spcBef>
            </a:pPr>
            <a:r>
              <a:rPr dirty="0" sz="1500" spc="-10">
                <a:latin typeface="Microsoft YaHei"/>
                <a:cs typeface="Microsoft YaHei"/>
              </a:rPr>
              <a:t>面向移动互联网</a:t>
            </a:r>
            <a:endParaRPr sz="1500">
              <a:latin typeface="Microsoft YaHei"/>
              <a:cs typeface="Microsoft YaHei"/>
            </a:endParaRPr>
          </a:p>
        </p:txBody>
      </p:sp>
      <p:sp>
        <p:nvSpPr>
          <p:cNvPr id="13" name="object 13" descr=""/>
          <p:cNvSpPr txBox="1"/>
          <p:nvPr/>
        </p:nvSpPr>
        <p:spPr>
          <a:xfrm>
            <a:off x="4501794" y="909015"/>
            <a:ext cx="3345815" cy="300990"/>
          </a:xfrm>
          <a:prstGeom prst="rect">
            <a:avLst/>
          </a:prstGeom>
          <a:solidFill>
            <a:srgbClr val="000000">
              <a:alpha val="25097"/>
            </a:srgbClr>
          </a:solidFill>
        </p:spPr>
        <p:txBody>
          <a:bodyPr wrap="square" lIns="0" tIns="28575" rIns="0" bIns="0" rtlCol="0" vert="horz">
            <a:spAutoFit/>
          </a:bodyPr>
          <a:lstStyle/>
          <a:p>
            <a:pPr algn="ctr">
              <a:lnSpc>
                <a:spcPct val="100000"/>
              </a:lnSpc>
              <a:spcBef>
                <a:spcPts val="225"/>
              </a:spcBef>
            </a:pPr>
            <a:r>
              <a:rPr dirty="0" sz="1500" spc="-10">
                <a:latin typeface="Microsoft YaHei"/>
                <a:cs typeface="Microsoft YaHei"/>
              </a:rPr>
              <a:t>面向物联网</a:t>
            </a:r>
            <a:endParaRPr sz="1500">
              <a:latin typeface="Microsoft YaHei"/>
              <a:cs typeface="Microsoft YaHei"/>
            </a:endParaRPr>
          </a:p>
        </p:txBody>
      </p:sp>
      <p:graphicFrame>
        <p:nvGraphicFramePr>
          <p:cNvPr id="14" name="object 14" descr=""/>
          <p:cNvGraphicFramePr>
            <a:graphicFrameLocks noGrp="1"/>
          </p:cNvGraphicFramePr>
          <p:nvPr/>
        </p:nvGraphicFramePr>
        <p:xfrm>
          <a:off x="461965" y="3668752"/>
          <a:ext cx="7773034" cy="1240789"/>
        </p:xfrm>
        <a:graphic>
          <a:graphicData uri="http://schemas.openxmlformats.org/drawingml/2006/table">
            <a:tbl>
              <a:tblPr firstRow="1" bandRow="1">
                <a:tableStyleId>{2D5ABB26-0587-4C30-8999-92F81FD0307C}</a:tableStyleId>
              </a:tblPr>
              <a:tblGrid>
                <a:gridCol w="836294"/>
                <a:gridCol w="1261745"/>
                <a:gridCol w="816610"/>
                <a:gridCol w="1167764"/>
                <a:gridCol w="865505"/>
                <a:gridCol w="1138554"/>
                <a:gridCol w="890904"/>
                <a:gridCol w="706754"/>
              </a:tblGrid>
              <a:tr h="314325">
                <a:tc>
                  <a:txBody>
                    <a:bodyPr/>
                    <a:lstStyle/>
                    <a:p>
                      <a:pPr algn="ctr">
                        <a:lnSpc>
                          <a:spcPct val="100000"/>
                        </a:lnSpc>
                        <a:spcBef>
                          <a:spcPts val="470"/>
                        </a:spcBef>
                      </a:pPr>
                      <a:r>
                        <a:rPr dirty="0" sz="1200" spc="-15" b="1">
                          <a:solidFill>
                            <a:srgbClr val="FFFFFF"/>
                          </a:solidFill>
                          <a:latin typeface="Microsoft YaHei"/>
                          <a:cs typeface="Microsoft YaHei"/>
                        </a:rPr>
                        <a:t>关键指标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流量密度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连接密度</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峰值速率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5" b="1">
                          <a:solidFill>
                            <a:srgbClr val="FFFFFF"/>
                          </a:solidFill>
                          <a:latin typeface="Microsoft YaHei"/>
                          <a:cs typeface="Microsoft YaHei"/>
                        </a:rPr>
                        <a:t>网络能效</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10" b="1">
                          <a:solidFill>
                            <a:srgbClr val="FFFFFF"/>
                          </a:solidFill>
                          <a:latin typeface="Microsoft YaHei"/>
                          <a:cs typeface="Microsoft YaHei"/>
                        </a:rPr>
                        <a:t>用户体验速率</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0" b="1">
                          <a:solidFill>
                            <a:srgbClr val="FFFFFF"/>
                          </a:solidFill>
                          <a:latin typeface="Microsoft YaHei"/>
                          <a:cs typeface="Microsoft YaHei"/>
                        </a:rPr>
                        <a:t>移动性</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c>
                  <a:txBody>
                    <a:bodyPr/>
                    <a:lstStyle/>
                    <a:p>
                      <a:pPr algn="ctr">
                        <a:lnSpc>
                          <a:spcPct val="100000"/>
                        </a:lnSpc>
                        <a:spcBef>
                          <a:spcPts val="470"/>
                        </a:spcBef>
                      </a:pPr>
                      <a:r>
                        <a:rPr dirty="0" sz="1200" spc="-25" b="1">
                          <a:solidFill>
                            <a:srgbClr val="FFFFFF"/>
                          </a:solidFill>
                          <a:latin typeface="Microsoft YaHei"/>
                          <a:cs typeface="Microsoft YaHei"/>
                        </a:rPr>
                        <a:t>时延</a:t>
                      </a:r>
                      <a:endParaRPr sz="1200">
                        <a:latin typeface="Microsoft YaHei"/>
                        <a:cs typeface="Microsoft YaHei"/>
                      </a:endParaRPr>
                    </a:p>
                  </a:txBody>
                  <a:tcPr marL="0" marR="0" marB="0" marT="5969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2060">
                        <a:alpha val="74900"/>
                      </a:srgbClr>
                    </a:solidFill>
                  </a:tcPr>
                </a:tc>
              </a:tr>
              <a:tr h="311785">
                <a:tc>
                  <a:txBody>
                    <a:bodyPr/>
                    <a:lstStyle/>
                    <a:p>
                      <a:pPr algn="ctr">
                        <a:lnSpc>
                          <a:spcPct val="100000"/>
                        </a:lnSpc>
                        <a:spcBef>
                          <a:spcPts val="459"/>
                        </a:spcBef>
                      </a:pPr>
                      <a:r>
                        <a:rPr dirty="0" sz="1200" spc="-25">
                          <a:latin typeface="Microsoft YaHei"/>
                          <a:cs typeface="Microsoft YaHei"/>
                        </a:rPr>
                        <a:t>5G</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10Tbps/Km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1M/Km</a:t>
                      </a:r>
                      <a:r>
                        <a:rPr dirty="0" baseline="24305" sz="1200" spc="-15">
                          <a:latin typeface="Microsoft YaHei"/>
                          <a:cs typeface="Microsoft YaHei"/>
                        </a:rPr>
                        <a:t>2</a:t>
                      </a:r>
                      <a:endParaRPr baseline="24305"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10[20]Gbps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0">
                          <a:latin typeface="Microsoft YaHei"/>
                          <a:cs typeface="Microsoft YaHei"/>
                        </a:rPr>
                        <a:t>100x</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100Mbps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10">
                          <a:latin typeface="Microsoft YaHei"/>
                          <a:cs typeface="Microsoft YaHei"/>
                        </a:rPr>
                        <a:t>500km/h</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59"/>
                        </a:spcBef>
                      </a:pPr>
                      <a:r>
                        <a:rPr dirty="0" sz="1200" spc="-25">
                          <a:latin typeface="Microsoft YaHei"/>
                          <a:cs typeface="Microsoft YaHei"/>
                        </a:rPr>
                        <a:t>1ms</a:t>
                      </a:r>
                      <a:endParaRPr sz="1200">
                        <a:latin typeface="Microsoft YaHei"/>
                        <a:cs typeface="Microsoft YaHei"/>
                      </a:endParaRPr>
                    </a:p>
                  </a:txBody>
                  <a:tcPr marL="0" marR="0" marB="0" marT="58419">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8610">
                <a:tc>
                  <a:txBody>
                    <a:bodyPr/>
                    <a:lstStyle/>
                    <a:p>
                      <a:pPr algn="ctr">
                        <a:lnSpc>
                          <a:spcPct val="100000"/>
                        </a:lnSpc>
                        <a:spcBef>
                          <a:spcPts val="445"/>
                        </a:spcBef>
                      </a:pPr>
                      <a:r>
                        <a:rPr dirty="0" sz="1200" spc="-25">
                          <a:latin typeface="Microsoft YaHei"/>
                          <a:cs typeface="Microsoft YaHei"/>
                        </a:rPr>
                        <a:t>4G</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10Gbps/Km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1K/Km</a:t>
                      </a:r>
                      <a:r>
                        <a:rPr dirty="0" baseline="24305" sz="1200" spc="-15">
                          <a:latin typeface="Microsoft YaHei"/>
                          <a:cs typeface="Microsoft YaHei"/>
                        </a:rPr>
                        <a:t>2</a:t>
                      </a:r>
                      <a:endParaRPr baseline="24305"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25">
                          <a:latin typeface="Microsoft YaHei"/>
                          <a:cs typeface="Microsoft YaHei"/>
                        </a:rPr>
                        <a:t>1x</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&lt;10Mbps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120km/h</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c>
                  <a:txBody>
                    <a:bodyPr/>
                    <a:lstStyle/>
                    <a:p>
                      <a:pPr algn="ctr">
                        <a:lnSpc>
                          <a:spcPct val="100000"/>
                        </a:lnSpc>
                        <a:spcBef>
                          <a:spcPts val="445"/>
                        </a:spcBef>
                      </a:pPr>
                      <a:r>
                        <a:rPr dirty="0" sz="1200" spc="-10">
                          <a:latin typeface="Microsoft YaHei"/>
                          <a:cs typeface="Microsoft YaHei"/>
                        </a:rPr>
                        <a:t>100ms</a:t>
                      </a:r>
                      <a:endParaRPr sz="1200">
                        <a:latin typeface="Microsoft YaHei"/>
                        <a:cs typeface="Microsoft YaHei"/>
                      </a:endParaRPr>
                    </a:p>
                  </a:txBody>
                  <a:tcPr marL="0" marR="0" marB="0" marT="56515">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21A4C1">
                        <a:alpha val="23135"/>
                      </a:srgbClr>
                    </a:solidFill>
                  </a:tcPr>
                </a:tc>
              </a:tr>
              <a:tr h="306070">
                <a:tc>
                  <a:txBody>
                    <a:bodyPr/>
                    <a:lstStyle/>
                    <a:p>
                      <a:pPr algn="ctr">
                        <a:lnSpc>
                          <a:spcPct val="100000"/>
                        </a:lnSpc>
                        <a:spcBef>
                          <a:spcPts val="434"/>
                        </a:spcBef>
                      </a:pPr>
                      <a:r>
                        <a:rPr dirty="0" sz="1200">
                          <a:solidFill>
                            <a:srgbClr val="FF0000"/>
                          </a:solidFill>
                          <a:latin typeface="Microsoft YaHei"/>
                          <a:cs typeface="Microsoft YaHei"/>
                        </a:rPr>
                        <a:t>5G</a:t>
                      </a:r>
                      <a:r>
                        <a:rPr dirty="0" sz="1200" spc="-25">
                          <a:solidFill>
                            <a:srgbClr val="FF0000"/>
                          </a:solidFill>
                          <a:latin typeface="Microsoft YaHei"/>
                          <a:cs typeface="Microsoft YaHei"/>
                        </a:rPr>
                        <a:t> </a:t>
                      </a:r>
                      <a:r>
                        <a:rPr dirty="0" sz="1200">
                          <a:solidFill>
                            <a:srgbClr val="FF0000"/>
                          </a:solidFill>
                          <a:latin typeface="Microsoft YaHei"/>
                          <a:cs typeface="Microsoft YaHei"/>
                        </a:rPr>
                        <a:t>vs</a:t>
                      </a:r>
                      <a:r>
                        <a:rPr dirty="0" sz="1200" spc="-20">
                          <a:solidFill>
                            <a:srgbClr val="FF0000"/>
                          </a:solidFill>
                          <a:latin typeface="Microsoft YaHei"/>
                          <a:cs typeface="Microsoft YaHei"/>
                        </a:rPr>
                        <a:t> </a:t>
                      </a:r>
                      <a:r>
                        <a:rPr dirty="0" sz="1200" spc="-25">
                          <a:solidFill>
                            <a:srgbClr val="FF0000"/>
                          </a:solidFill>
                          <a:latin typeface="Microsoft YaHei"/>
                          <a:cs typeface="Microsoft YaHei"/>
                        </a:rPr>
                        <a:t>4G</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↑100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↑&gt;10</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10">
                          <a:solidFill>
                            <a:srgbClr val="FF0000"/>
                          </a:solidFill>
                          <a:latin typeface="Microsoft YaHei"/>
                          <a:cs typeface="Microsoft YaHei"/>
                        </a:rPr>
                        <a:t>↑&gt;4</a:t>
                      </a:r>
                      <a:r>
                        <a:rPr dirty="0" sz="1200" spc="-50">
                          <a:solidFill>
                            <a:srgbClr val="FF0000"/>
                          </a:solidFill>
                          <a:latin typeface="Microsoft YaHei"/>
                          <a:cs typeface="Microsoft YaHei"/>
                        </a:rPr>
                        <a:t>倍</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c>
                  <a:txBody>
                    <a:bodyPr/>
                    <a:lstStyle/>
                    <a:p>
                      <a:pPr algn="ctr">
                        <a:lnSpc>
                          <a:spcPct val="100000"/>
                        </a:lnSpc>
                        <a:spcBef>
                          <a:spcPts val="434"/>
                        </a:spcBef>
                      </a:pPr>
                      <a:r>
                        <a:rPr dirty="0" sz="1200" spc="-20">
                          <a:solidFill>
                            <a:srgbClr val="FF0000"/>
                          </a:solidFill>
                          <a:latin typeface="Microsoft YaHei"/>
                          <a:cs typeface="Microsoft YaHei"/>
                        </a:rPr>
                        <a:t>↓&gt;0.1</a:t>
                      </a:r>
                      <a:endParaRPr sz="1200">
                        <a:latin typeface="Microsoft YaHei"/>
                        <a:cs typeface="Microsoft YaHei"/>
                      </a:endParaRPr>
                    </a:p>
                  </a:txBody>
                  <a:tcPr marL="0" marR="0" marB="0" marT="55244">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21A4C1">
                        <a:alpha val="23135"/>
                      </a:srgbClr>
                    </a:solidFill>
                  </a:tcPr>
                </a:tc>
              </a:tr>
            </a:tbl>
          </a:graphicData>
        </a:graphic>
      </p:graphicFrame>
      <p:sp>
        <p:nvSpPr>
          <p:cNvPr id="15" name="object 15" descr=""/>
          <p:cNvSpPr txBox="1"/>
          <p:nvPr/>
        </p:nvSpPr>
        <p:spPr>
          <a:xfrm>
            <a:off x="7972761" y="1461496"/>
            <a:ext cx="648335" cy="574040"/>
          </a:xfrm>
          <a:prstGeom prst="rect">
            <a:avLst/>
          </a:prstGeom>
        </p:spPr>
        <p:txBody>
          <a:bodyPr wrap="square" lIns="0" tIns="12700" rIns="0" bIns="0" rtlCol="0" vert="horz">
            <a:spAutoFit/>
          </a:bodyPr>
          <a:lstStyle/>
          <a:p>
            <a:pPr algn="just" marL="12700" marR="5080">
              <a:lnSpc>
                <a:spcPct val="100000"/>
              </a:lnSpc>
              <a:spcBef>
                <a:spcPts val="100"/>
              </a:spcBef>
            </a:pPr>
            <a:r>
              <a:rPr dirty="0" sz="1200" spc="-25" b="1">
                <a:solidFill>
                  <a:srgbClr val="00B050"/>
                </a:solidFill>
                <a:latin typeface="Microsoft YaHei"/>
                <a:cs typeface="Microsoft YaHei"/>
              </a:rPr>
              <a:t>uRLLC</a:t>
            </a:r>
            <a:r>
              <a:rPr dirty="0" sz="1200" spc="-50" b="1">
                <a:solidFill>
                  <a:srgbClr val="00B050"/>
                </a:solidFill>
                <a:latin typeface="Microsoft YaHei"/>
                <a:cs typeface="Microsoft YaHei"/>
              </a:rPr>
              <a:t>超</a:t>
            </a:r>
            <a:r>
              <a:rPr dirty="0" sz="1200" spc="-15" b="1">
                <a:solidFill>
                  <a:srgbClr val="00B050"/>
                </a:solidFill>
                <a:latin typeface="Microsoft YaHei"/>
                <a:cs typeface="Microsoft YaHei"/>
              </a:rPr>
              <a:t>高可靠低时延通信</a:t>
            </a:r>
            <a:endParaRPr sz="1200">
              <a:latin typeface="Microsoft YaHei"/>
              <a:cs typeface="Microsoft YaHei"/>
            </a:endParaRPr>
          </a:p>
        </p:txBody>
      </p:sp>
      <p:sp>
        <p:nvSpPr>
          <p:cNvPr id="16" name="object 16"/>
          <p:cNvSpPr txBox="1">
            <a:spLocks noGrp="1"/>
          </p:cNvSpPr>
          <p:nvPr>
            <p:ph type="title"/>
          </p:nvPr>
        </p:nvSpPr>
        <p:spPr>
          <a:xfrm>
            <a:off x="3241227" y="129232"/>
            <a:ext cx="2985770" cy="513080"/>
          </a:xfrm>
          <a:prstGeom prst="rect"/>
        </p:spPr>
        <p:txBody>
          <a:bodyPr wrap="square" lIns="0" tIns="12065" rIns="0" bIns="0" rtlCol="0" vert="horz">
            <a:spAutoFit/>
          </a:bodyPr>
          <a:lstStyle/>
          <a:p>
            <a:pPr marL="12700">
              <a:lnSpc>
                <a:spcPct val="100000"/>
              </a:lnSpc>
              <a:spcBef>
                <a:spcPts val="95"/>
              </a:spcBef>
            </a:pPr>
            <a:r>
              <a:rPr dirty="0" spc="-30">
                <a:latin typeface="Times New Roman"/>
                <a:cs typeface="Times New Roman"/>
              </a:rPr>
              <a:t>5G</a:t>
            </a:r>
            <a:r>
              <a:rPr dirty="0" spc="-45"/>
              <a:t>网络应用优势</a:t>
            </a:r>
          </a:p>
        </p:txBody>
      </p:sp>
      <p:sp>
        <p:nvSpPr>
          <p:cNvPr id="17" name="object 17" descr=""/>
          <p:cNvSpPr/>
          <p:nvPr/>
        </p:nvSpPr>
        <p:spPr>
          <a:xfrm>
            <a:off x="7740353" y="2355720"/>
            <a:ext cx="1082675" cy="991869"/>
          </a:xfrm>
          <a:custGeom>
            <a:avLst/>
            <a:gdLst/>
            <a:ahLst/>
            <a:cxnLst/>
            <a:rect l="l" t="t" r="r" b="b"/>
            <a:pathLst>
              <a:path w="1082675" h="991870">
                <a:moveTo>
                  <a:pt x="0" y="495782"/>
                </a:moveTo>
                <a:lnTo>
                  <a:pt x="2211" y="450656"/>
                </a:lnTo>
                <a:lnTo>
                  <a:pt x="8720" y="406665"/>
                </a:lnTo>
                <a:lnTo>
                  <a:pt x="19334" y="363984"/>
                </a:lnTo>
                <a:lnTo>
                  <a:pt x="33862" y="322788"/>
                </a:lnTo>
                <a:lnTo>
                  <a:pt x="52113" y="283252"/>
                </a:lnTo>
                <a:lnTo>
                  <a:pt x="73897" y="245552"/>
                </a:lnTo>
                <a:lnTo>
                  <a:pt x="99022" y="209861"/>
                </a:lnTo>
                <a:lnTo>
                  <a:pt x="127297" y="176356"/>
                </a:lnTo>
                <a:lnTo>
                  <a:pt x="158530" y="145211"/>
                </a:lnTo>
                <a:lnTo>
                  <a:pt x="192532" y="116602"/>
                </a:lnTo>
                <a:lnTo>
                  <a:pt x="229111" y="90702"/>
                </a:lnTo>
                <a:lnTo>
                  <a:pt x="268075" y="67689"/>
                </a:lnTo>
                <a:lnTo>
                  <a:pt x="309234" y="47735"/>
                </a:lnTo>
                <a:lnTo>
                  <a:pt x="352396" y="31017"/>
                </a:lnTo>
                <a:lnTo>
                  <a:pt x="397371" y="17709"/>
                </a:lnTo>
                <a:lnTo>
                  <a:pt x="443968" y="7987"/>
                </a:lnTo>
                <a:lnTo>
                  <a:pt x="491995" y="2026"/>
                </a:lnTo>
                <a:lnTo>
                  <a:pt x="541261" y="0"/>
                </a:lnTo>
                <a:lnTo>
                  <a:pt x="590525" y="2026"/>
                </a:lnTo>
                <a:lnTo>
                  <a:pt x="638550" y="7987"/>
                </a:lnTo>
                <a:lnTo>
                  <a:pt x="685145" y="17709"/>
                </a:lnTo>
                <a:lnTo>
                  <a:pt x="730119" y="31017"/>
                </a:lnTo>
                <a:lnTo>
                  <a:pt x="773280" y="47735"/>
                </a:lnTo>
                <a:lnTo>
                  <a:pt x="814438" y="67689"/>
                </a:lnTo>
                <a:lnTo>
                  <a:pt x="853401" y="90702"/>
                </a:lnTo>
                <a:lnTo>
                  <a:pt x="889979" y="116602"/>
                </a:lnTo>
                <a:lnTo>
                  <a:pt x="923980" y="145211"/>
                </a:lnTo>
                <a:lnTo>
                  <a:pt x="955213" y="176356"/>
                </a:lnTo>
                <a:lnTo>
                  <a:pt x="983488" y="209861"/>
                </a:lnTo>
                <a:lnTo>
                  <a:pt x="1008612" y="245552"/>
                </a:lnTo>
                <a:lnTo>
                  <a:pt x="1030396" y="283252"/>
                </a:lnTo>
                <a:lnTo>
                  <a:pt x="1048647" y="322788"/>
                </a:lnTo>
                <a:lnTo>
                  <a:pt x="1063175" y="363984"/>
                </a:lnTo>
                <a:lnTo>
                  <a:pt x="1073789" y="406665"/>
                </a:lnTo>
                <a:lnTo>
                  <a:pt x="1080297" y="450656"/>
                </a:lnTo>
                <a:lnTo>
                  <a:pt x="1082509" y="495782"/>
                </a:lnTo>
                <a:lnTo>
                  <a:pt x="1080297" y="540908"/>
                </a:lnTo>
                <a:lnTo>
                  <a:pt x="1073789" y="584899"/>
                </a:lnTo>
                <a:lnTo>
                  <a:pt x="1063175" y="627580"/>
                </a:lnTo>
                <a:lnTo>
                  <a:pt x="1048647" y="668776"/>
                </a:lnTo>
                <a:lnTo>
                  <a:pt x="1030396" y="708312"/>
                </a:lnTo>
                <a:lnTo>
                  <a:pt x="1008612" y="746013"/>
                </a:lnTo>
                <a:lnTo>
                  <a:pt x="983488" y="781703"/>
                </a:lnTo>
                <a:lnTo>
                  <a:pt x="955213" y="815208"/>
                </a:lnTo>
                <a:lnTo>
                  <a:pt x="923980" y="846353"/>
                </a:lnTo>
                <a:lnTo>
                  <a:pt x="889979" y="874962"/>
                </a:lnTo>
                <a:lnTo>
                  <a:pt x="853401" y="900862"/>
                </a:lnTo>
                <a:lnTo>
                  <a:pt x="814438" y="923876"/>
                </a:lnTo>
                <a:lnTo>
                  <a:pt x="773280" y="943829"/>
                </a:lnTo>
                <a:lnTo>
                  <a:pt x="730119" y="960547"/>
                </a:lnTo>
                <a:lnTo>
                  <a:pt x="685145" y="973855"/>
                </a:lnTo>
                <a:lnTo>
                  <a:pt x="638550" y="983577"/>
                </a:lnTo>
                <a:lnTo>
                  <a:pt x="590525" y="989539"/>
                </a:lnTo>
                <a:lnTo>
                  <a:pt x="541261" y="991565"/>
                </a:lnTo>
                <a:lnTo>
                  <a:pt x="491995" y="989539"/>
                </a:lnTo>
                <a:lnTo>
                  <a:pt x="443968" y="983577"/>
                </a:lnTo>
                <a:lnTo>
                  <a:pt x="397371" y="973855"/>
                </a:lnTo>
                <a:lnTo>
                  <a:pt x="352396" y="960547"/>
                </a:lnTo>
                <a:lnTo>
                  <a:pt x="309234" y="943829"/>
                </a:lnTo>
                <a:lnTo>
                  <a:pt x="268075" y="923876"/>
                </a:lnTo>
                <a:lnTo>
                  <a:pt x="229111" y="900862"/>
                </a:lnTo>
                <a:lnTo>
                  <a:pt x="192532" y="874962"/>
                </a:lnTo>
                <a:lnTo>
                  <a:pt x="158530" y="846353"/>
                </a:lnTo>
                <a:lnTo>
                  <a:pt x="127297" y="815208"/>
                </a:lnTo>
                <a:lnTo>
                  <a:pt x="99022" y="781703"/>
                </a:lnTo>
                <a:lnTo>
                  <a:pt x="73897" y="746013"/>
                </a:lnTo>
                <a:lnTo>
                  <a:pt x="52113" y="708312"/>
                </a:lnTo>
                <a:lnTo>
                  <a:pt x="33862" y="668776"/>
                </a:lnTo>
                <a:lnTo>
                  <a:pt x="19334" y="627580"/>
                </a:lnTo>
                <a:lnTo>
                  <a:pt x="8720" y="584899"/>
                </a:lnTo>
                <a:lnTo>
                  <a:pt x="2211" y="540908"/>
                </a:lnTo>
                <a:lnTo>
                  <a:pt x="0" y="495782"/>
                </a:lnTo>
                <a:close/>
              </a:path>
            </a:pathLst>
          </a:custGeom>
          <a:ln w="28575">
            <a:solidFill>
              <a:srgbClr val="FF0000"/>
            </a:solidFill>
          </a:ln>
        </p:spPr>
        <p:txBody>
          <a:bodyPr wrap="square" lIns="0" tIns="0" rIns="0" bIns="0" rtlCol="0"/>
          <a:lstStyle/>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1352" y="104216"/>
            <a:ext cx="3393440" cy="513080"/>
          </a:xfrm>
          <a:prstGeom prst="rect"/>
        </p:spPr>
        <p:txBody>
          <a:bodyPr wrap="square" lIns="0" tIns="12065" rIns="0" bIns="0" rtlCol="0" vert="horz">
            <a:spAutoFit/>
          </a:bodyPr>
          <a:lstStyle/>
          <a:p>
            <a:pPr marL="12700">
              <a:lnSpc>
                <a:spcPct val="100000"/>
              </a:lnSpc>
              <a:spcBef>
                <a:spcPts val="95"/>
              </a:spcBef>
            </a:pPr>
            <a:r>
              <a:rPr dirty="0" spc="-25">
                <a:latin typeface="Times New Roman"/>
                <a:cs typeface="Times New Roman"/>
              </a:rPr>
              <a:t>AI</a:t>
            </a:r>
            <a:r>
              <a:rPr dirty="0" spc="-25" b="0">
                <a:latin typeface="Times New Roman"/>
                <a:cs typeface="Times New Roman"/>
              </a:rPr>
              <a:t>o</a:t>
            </a:r>
            <a:r>
              <a:rPr dirty="0" spc="-25">
                <a:latin typeface="Times New Roman"/>
                <a:cs typeface="Times New Roman"/>
              </a:rPr>
              <a:t>T</a:t>
            </a:r>
            <a:r>
              <a:rPr dirty="0" spc="-40"/>
              <a:t>赋能未来园区</a:t>
            </a:r>
          </a:p>
        </p:txBody>
      </p:sp>
      <p:grpSp>
        <p:nvGrpSpPr>
          <p:cNvPr id="3" name="object 3" descr=""/>
          <p:cNvGrpSpPr/>
          <p:nvPr/>
        </p:nvGrpSpPr>
        <p:grpSpPr>
          <a:xfrm>
            <a:off x="160020" y="636282"/>
            <a:ext cx="2314575" cy="2010410"/>
            <a:chOff x="160020" y="636282"/>
            <a:chExt cx="2314575" cy="2010410"/>
          </a:xfrm>
        </p:grpSpPr>
        <p:pic>
          <p:nvPicPr>
            <p:cNvPr id="4" name="object 4"/>
            <p:cNvPicPr/>
            <p:nvPr/>
          </p:nvPicPr>
          <p:blipFill>
            <a:blip r:embed="rId2" cstate="print"/>
            <a:stretch>
              <a:fillRect/>
            </a:stretch>
          </p:blipFill>
          <p:spPr>
            <a:xfrm>
              <a:off x="160020" y="636282"/>
              <a:ext cx="2314193" cy="2010142"/>
            </a:xfrm>
            <a:prstGeom prst="rect">
              <a:avLst/>
            </a:prstGeom>
          </p:spPr>
        </p:pic>
        <p:pic>
          <p:nvPicPr>
            <p:cNvPr id="5" name="object 5" descr=""/>
            <p:cNvPicPr/>
            <p:nvPr/>
          </p:nvPicPr>
          <p:blipFill>
            <a:blip r:embed="rId3" cstate="print"/>
            <a:stretch>
              <a:fillRect/>
            </a:stretch>
          </p:blipFill>
          <p:spPr>
            <a:xfrm>
              <a:off x="349757" y="826769"/>
              <a:ext cx="1754885" cy="1450085"/>
            </a:xfrm>
            <a:prstGeom prst="rect">
              <a:avLst/>
            </a:prstGeom>
          </p:spPr>
        </p:pic>
        <p:pic>
          <p:nvPicPr>
            <p:cNvPr id="6" name="object 6" descr=""/>
            <p:cNvPicPr/>
            <p:nvPr/>
          </p:nvPicPr>
          <p:blipFill>
            <a:blip r:embed="rId4" cstate="print"/>
            <a:stretch>
              <a:fillRect/>
            </a:stretch>
          </p:blipFill>
          <p:spPr>
            <a:xfrm>
              <a:off x="470154" y="925829"/>
              <a:ext cx="1514093" cy="1251203"/>
            </a:xfrm>
            <a:prstGeom prst="rect">
              <a:avLst/>
            </a:prstGeom>
          </p:spPr>
        </p:pic>
        <p:pic>
          <p:nvPicPr>
            <p:cNvPr id="7" name="object 7" descr=""/>
            <p:cNvPicPr/>
            <p:nvPr/>
          </p:nvPicPr>
          <p:blipFill>
            <a:blip r:embed="rId5" cstate="print"/>
            <a:stretch>
              <a:fillRect/>
            </a:stretch>
          </p:blipFill>
          <p:spPr>
            <a:xfrm>
              <a:off x="456679" y="920800"/>
              <a:ext cx="1540725" cy="1269999"/>
            </a:xfrm>
            <a:prstGeom prst="rect">
              <a:avLst/>
            </a:prstGeom>
          </p:spPr>
        </p:pic>
        <p:sp>
          <p:nvSpPr>
            <p:cNvPr id="8" name="object 8" descr=""/>
            <p:cNvSpPr/>
            <p:nvPr/>
          </p:nvSpPr>
          <p:spPr>
            <a:xfrm>
              <a:off x="555317" y="996349"/>
              <a:ext cx="1344295" cy="1110615"/>
            </a:xfrm>
            <a:custGeom>
              <a:avLst/>
              <a:gdLst/>
              <a:ahLst/>
              <a:cxnLst/>
              <a:rect l="l" t="t" r="r" b="b"/>
              <a:pathLst>
                <a:path w="1344295" h="1110614">
                  <a:moveTo>
                    <a:pt x="671868" y="0"/>
                  </a:moveTo>
                  <a:lnTo>
                    <a:pt x="671855" y="555256"/>
                  </a:lnTo>
                  <a:lnTo>
                    <a:pt x="0" y="555256"/>
                  </a:lnTo>
                  <a:lnTo>
                    <a:pt x="2021" y="598648"/>
                  </a:lnTo>
                  <a:lnTo>
                    <a:pt x="7985" y="641127"/>
                  </a:lnTo>
                  <a:lnTo>
                    <a:pt x="17744" y="682570"/>
                  </a:lnTo>
                  <a:lnTo>
                    <a:pt x="31146" y="722852"/>
                  </a:lnTo>
                  <a:lnTo>
                    <a:pt x="48044" y="761850"/>
                  </a:lnTo>
                  <a:lnTo>
                    <a:pt x="68288" y="799442"/>
                  </a:lnTo>
                  <a:lnTo>
                    <a:pt x="91727" y="835502"/>
                  </a:lnTo>
                  <a:lnTo>
                    <a:pt x="118214" y="869909"/>
                  </a:lnTo>
                  <a:lnTo>
                    <a:pt x="147598" y="902539"/>
                  </a:lnTo>
                  <a:lnTo>
                    <a:pt x="179731" y="933267"/>
                  </a:lnTo>
                  <a:lnTo>
                    <a:pt x="214462" y="961971"/>
                  </a:lnTo>
                  <a:lnTo>
                    <a:pt x="251643" y="988527"/>
                  </a:lnTo>
                  <a:lnTo>
                    <a:pt x="291125" y="1012813"/>
                  </a:lnTo>
                  <a:lnTo>
                    <a:pt x="332756" y="1034703"/>
                  </a:lnTo>
                  <a:lnTo>
                    <a:pt x="376390" y="1054075"/>
                  </a:lnTo>
                  <a:lnTo>
                    <a:pt x="421875" y="1070806"/>
                  </a:lnTo>
                  <a:lnTo>
                    <a:pt x="469063" y="1084771"/>
                  </a:lnTo>
                  <a:lnTo>
                    <a:pt x="517804" y="1095848"/>
                  </a:lnTo>
                  <a:lnTo>
                    <a:pt x="567950" y="1103913"/>
                  </a:lnTo>
                  <a:lnTo>
                    <a:pt x="619350" y="1108842"/>
                  </a:lnTo>
                  <a:lnTo>
                    <a:pt x="671855" y="1110513"/>
                  </a:lnTo>
                  <a:lnTo>
                    <a:pt x="724362" y="1108842"/>
                  </a:lnTo>
                  <a:lnTo>
                    <a:pt x="775763" y="1103913"/>
                  </a:lnTo>
                  <a:lnTo>
                    <a:pt x="825910" y="1095848"/>
                  </a:lnTo>
                  <a:lnTo>
                    <a:pt x="874653" y="1084771"/>
                  </a:lnTo>
                  <a:lnTo>
                    <a:pt x="921842" y="1070806"/>
                  </a:lnTo>
                  <a:lnTo>
                    <a:pt x="967328" y="1054075"/>
                  </a:lnTo>
                  <a:lnTo>
                    <a:pt x="1010962" y="1034703"/>
                  </a:lnTo>
                  <a:lnTo>
                    <a:pt x="1052595" y="1012813"/>
                  </a:lnTo>
                  <a:lnTo>
                    <a:pt x="1092077" y="988527"/>
                  </a:lnTo>
                  <a:lnTo>
                    <a:pt x="1129258" y="961971"/>
                  </a:lnTo>
                  <a:lnTo>
                    <a:pt x="1163990" y="933267"/>
                  </a:lnTo>
                  <a:lnTo>
                    <a:pt x="1196123" y="902539"/>
                  </a:lnTo>
                  <a:lnTo>
                    <a:pt x="1225508" y="869909"/>
                  </a:lnTo>
                  <a:lnTo>
                    <a:pt x="1251995" y="835502"/>
                  </a:lnTo>
                  <a:lnTo>
                    <a:pt x="1275435" y="799442"/>
                  </a:lnTo>
                  <a:lnTo>
                    <a:pt x="1295678" y="761850"/>
                  </a:lnTo>
                  <a:lnTo>
                    <a:pt x="1312576" y="722852"/>
                  </a:lnTo>
                  <a:lnTo>
                    <a:pt x="1325979" y="682570"/>
                  </a:lnTo>
                  <a:lnTo>
                    <a:pt x="1335737" y="641127"/>
                  </a:lnTo>
                  <a:lnTo>
                    <a:pt x="1341702" y="598648"/>
                  </a:lnTo>
                  <a:lnTo>
                    <a:pt x="1343723" y="555256"/>
                  </a:lnTo>
                  <a:lnTo>
                    <a:pt x="1341702" y="511864"/>
                  </a:lnTo>
                  <a:lnTo>
                    <a:pt x="1335737" y="469385"/>
                  </a:lnTo>
                  <a:lnTo>
                    <a:pt x="1325979" y="427943"/>
                  </a:lnTo>
                  <a:lnTo>
                    <a:pt x="1312576" y="387661"/>
                  </a:lnTo>
                  <a:lnTo>
                    <a:pt x="1295678" y="348662"/>
                  </a:lnTo>
                  <a:lnTo>
                    <a:pt x="1275435" y="311071"/>
                  </a:lnTo>
                  <a:lnTo>
                    <a:pt x="1251995" y="275010"/>
                  </a:lnTo>
                  <a:lnTo>
                    <a:pt x="1225508" y="240603"/>
                  </a:lnTo>
                  <a:lnTo>
                    <a:pt x="1196124" y="207974"/>
                  </a:lnTo>
                  <a:lnTo>
                    <a:pt x="1163991" y="177245"/>
                  </a:lnTo>
                  <a:lnTo>
                    <a:pt x="1129260" y="148541"/>
                  </a:lnTo>
                  <a:lnTo>
                    <a:pt x="1092079" y="121985"/>
                  </a:lnTo>
                  <a:lnTo>
                    <a:pt x="1052598" y="97700"/>
                  </a:lnTo>
                  <a:lnTo>
                    <a:pt x="1010966" y="75810"/>
                  </a:lnTo>
                  <a:lnTo>
                    <a:pt x="967333" y="56437"/>
                  </a:lnTo>
                  <a:lnTo>
                    <a:pt x="921847" y="39707"/>
                  </a:lnTo>
                  <a:lnTo>
                    <a:pt x="874659" y="25741"/>
                  </a:lnTo>
                  <a:lnTo>
                    <a:pt x="825918" y="14665"/>
                  </a:lnTo>
                  <a:lnTo>
                    <a:pt x="775773" y="6600"/>
                  </a:lnTo>
                  <a:lnTo>
                    <a:pt x="724373" y="1670"/>
                  </a:lnTo>
                  <a:lnTo>
                    <a:pt x="671868" y="0"/>
                  </a:lnTo>
                  <a:close/>
                </a:path>
              </a:pathLst>
            </a:custGeom>
            <a:solidFill>
              <a:srgbClr val="F7F7F7"/>
            </a:solidFill>
          </p:spPr>
          <p:txBody>
            <a:bodyPr wrap="square" lIns="0" tIns="0" rIns="0" bIns="0" rtlCol="0"/>
            <a:lstStyle/>
            <a:p/>
          </p:txBody>
        </p:sp>
        <p:sp>
          <p:nvSpPr>
            <p:cNvPr id="9" name="object 9" descr=""/>
            <p:cNvSpPr/>
            <p:nvPr/>
          </p:nvSpPr>
          <p:spPr>
            <a:xfrm>
              <a:off x="1419063" y="1342289"/>
              <a:ext cx="282575" cy="93345"/>
            </a:xfrm>
            <a:custGeom>
              <a:avLst/>
              <a:gdLst/>
              <a:ahLst/>
              <a:cxnLst/>
              <a:rect l="l" t="t" r="r" b="b"/>
              <a:pathLst>
                <a:path w="282575" h="93344">
                  <a:moveTo>
                    <a:pt x="242443" y="0"/>
                  </a:moveTo>
                  <a:lnTo>
                    <a:pt x="242443" y="11175"/>
                  </a:lnTo>
                  <a:lnTo>
                    <a:pt x="213652" y="11175"/>
                  </a:lnTo>
                  <a:lnTo>
                    <a:pt x="209143" y="14617"/>
                  </a:lnTo>
                  <a:lnTo>
                    <a:pt x="209143" y="43002"/>
                  </a:lnTo>
                  <a:lnTo>
                    <a:pt x="94691" y="43002"/>
                  </a:lnTo>
                  <a:lnTo>
                    <a:pt x="90170" y="46443"/>
                  </a:lnTo>
                  <a:lnTo>
                    <a:pt x="90170" y="76542"/>
                  </a:lnTo>
                  <a:lnTo>
                    <a:pt x="51676" y="76542"/>
                  </a:lnTo>
                  <a:lnTo>
                    <a:pt x="51676" y="45580"/>
                  </a:lnTo>
                  <a:lnTo>
                    <a:pt x="47167" y="42138"/>
                  </a:lnTo>
                  <a:lnTo>
                    <a:pt x="0" y="42138"/>
                  </a:lnTo>
                  <a:lnTo>
                    <a:pt x="0" y="58483"/>
                  </a:lnTo>
                  <a:lnTo>
                    <a:pt x="31902" y="58483"/>
                  </a:lnTo>
                  <a:lnTo>
                    <a:pt x="31902" y="89446"/>
                  </a:lnTo>
                  <a:lnTo>
                    <a:pt x="36410" y="92875"/>
                  </a:lnTo>
                  <a:lnTo>
                    <a:pt x="105778" y="92875"/>
                  </a:lnTo>
                  <a:lnTo>
                    <a:pt x="109943" y="89446"/>
                  </a:lnTo>
                  <a:lnTo>
                    <a:pt x="109943" y="59347"/>
                  </a:lnTo>
                  <a:lnTo>
                    <a:pt x="224751" y="59347"/>
                  </a:lnTo>
                  <a:lnTo>
                    <a:pt x="229260" y="55613"/>
                  </a:lnTo>
                  <a:lnTo>
                    <a:pt x="229260" y="27520"/>
                  </a:lnTo>
                  <a:lnTo>
                    <a:pt x="242443" y="27520"/>
                  </a:lnTo>
                  <a:lnTo>
                    <a:pt x="242443" y="38417"/>
                  </a:lnTo>
                  <a:lnTo>
                    <a:pt x="281978" y="19202"/>
                  </a:lnTo>
                  <a:lnTo>
                    <a:pt x="242443" y="0"/>
                  </a:lnTo>
                  <a:close/>
                </a:path>
              </a:pathLst>
            </a:custGeom>
            <a:solidFill>
              <a:srgbClr val="00B0F0"/>
            </a:solidFill>
          </p:spPr>
          <p:txBody>
            <a:bodyPr wrap="square" lIns="0" tIns="0" rIns="0" bIns="0" rtlCol="0"/>
            <a:lstStyle/>
            <a:p/>
          </p:txBody>
        </p:sp>
        <p:sp>
          <p:nvSpPr>
            <p:cNvPr id="10" name="object 10" descr=""/>
            <p:cNvSpPr/>
            <p:nvPr/>
          </p:nvSpPr>
          <p:spPr>
            <a:xfrm>
              <a:off x="1419054" y="1268691"/>
              <a:ext cx="262255" cy="224154"/>
            </a:xfrm>
            <a:custGeom>
              <a:avLst/>
              <a:gdLst/>
              <a:ahLst/>
              <a:cxnLst/>
              <a:rect l="l" t="t" r="r" b="b"/>
              <a:pathLst>
                <a:path w="262255" h="224155">
                  <a:moveTo>
                    <a:pt x="19773" y="142989"/>
                  </a:moveTo>
                  <a:lnTo>
                    <a:pt x="0" y="142989"/>
                  </a:lnTo>
                  <a:lnTo>
                    <a:pt x="0" y="220345"/>
                  </a:lnTo>
                  <a:lnTo>
                    <a:pt x="4165" y="224078"/>
                  </a:lnTo>
                  <a:lnTo>
                    <a:pt x="257682" y="224078"/>
                  </a:lnTo>
                  <a:lnTo>
                    <a:pt x="262191" y="220345"/>
                  </a:lnTo>
                  <a:lnTo>
                    <a:pt x="262191" y="207746"/>
                  </a:lnTo>
                  <a:lnTo>
                    <a:pt x="19773" y="207746"/>
                  </a:lnTo>
                  <a:lnTo>
                    <a:pt x="19773" y="142989"/>
                  </a:lnTo>
                  <a:close/>
                </a:path>
                <a:path w="262255" h="224155">
                  <a:moveTo>
                    <a:pt x="94678" y="187680"/>
                  </a:moveTo>
                  <a:lnTo>
                    <a:pt x="81495" y="187680"/>
                  </a:lnTo>
                  <a:lnTo>
                    <a:pt x="81495" y="207746"/>
                  </a:lnTo>
                  <a:lnTo>
                    <a:pt x="94678" y="207746"/>
                  </a:lnTo>
                  <a:lnTo>
                    <a:pt x="94678" y="187680"/>
                  </a:lnTo>
                  <a:close/>
                </a:path>
                <a:path w="262255" h="224155">
                  <a:moveTo>
                    <a:pt x="213639" y="143840"/>
                  </a:moveTo>
                  <a:lnTo>
                    <a:pt x="160921" y="143840"/>
                  </a:lnTo>
                  <a:lnTo>
                    <a:pt x="160921" y="154736"/>
                  </a:lnTo>
                  <a:lnTo>
                    <a:pt x="200456" y="154736"/>
                  </a:lnTo>
                  <a:lnTo>
                    <a:pt x="200456" y="176504"/>
                  </a:lnTo>
                  <a:lnTo>
                    <a:pt x="160921" y="176504"/>
                  </a:lnTo>
                  <a:lnTo>
                    <a:pt x="160921" y="207746"/>
                  </a:lnTo>
                  <a:lnTo>
                    <a:pt x="174091" y="207746"/>
                  </a:lnTo>
                  <a:lnTo>
                    <a:pt x="174091" y="187680"/>
                  </a:lnTo>
                  <a:lnTo>
                    <a:pt x="213639" y="187680"/>
                  </a:lnTo>
                  <a:lnTo>
                    <a:pt x="213639" y="143840"/>
                  </a:lnTo>
                  <a:close/>
                </a:path>
                <a:path w="262255" h="224155">
                  <a:moveTo>
                    <a:pt x="262191" y="115189"/>
                  </a:moveTo>
                  <a:lnTo>
                    <a:pt x="242417" y="124650"/>
                  </a:lnTo>
                  <a:lnTo>
                    <a:pt x="242417" y="207746"/>
                  </a:lnTo>
                  <a:lnTo>
                    <a:pt x="262191" y="207746"/>
                  </a:lnTo>
                  <a:lnTo>
                    <a:pt x="262191" y="115189"/>
                  </a:lnTo>
                  <a:close/>
                </a:path>
                <a:path w="262255" h="224155">
                  <a:moveTo>
                    <a:pt x="135597" y="143840"/>
                  </a:moveTo>
                  <a:lnTo>
                    <a:pt x="122072" y="143840"/>
                  </a:lnTo>
                  <a:lnTo>
                    <a:pt x="122072" y="176504"/>
                  </a:lnTo>
                  <a:lnTo>
                    <a:pt x="51676" y="176504"/>
                  </a:lnTo>
                  <a:lnTo>
                    <a:pt x="51676" y="187680"/>
                  </a:lnTo>
                  <a:lnTo>
                    <a:pt x="135597" y="187680"/>
                  </a:lnTo>
                  <a:lnTo>
                    <a:pt x="135597" y="143840"/>
                  </a:lnTo>
                  <a:close/>
                </a:path>
                <a:path w="262255" h="224155">
                  <a:moveTo>
                    <a:pt x="132130" y="74498"/>
                  </a:moveTo>
                  <a:lnTo>
                    <a:pt x="118960" y="74498"/>
                  </a:lnTo>
                  <a:lnTo>
                    <a:pt x="118960" y="94843"/>
                  </a:lnTo>
                  <a:lnTo>
                    <a:pt x="64858" y="94843"/>
                  </a:lnTo>
                  <a:lnTo>
                    <a:pt x="64858" y="139255"/>
                  </a:lnTo>
                  <a:lnTo>
                    <a:pt x="78028" y="139255"/>
                  </a:lnTo>
                  <a:lnTo>
                    <a:pt x="78028" y="105727"/>
                  </a:lnTo>
                  <a:lnTo>
                    <a:pt x="132130" y="105727"/>
                  </a:lnTo>
                  <a:lnTo>
                    <a:pt x="132130" y="74498"/>
                  </a:lnTo>
                  <a:close/>
                </a:path>
                <a:path w="262255" h="224155">
                  <a:moveTo>
                    <a:pt x="174091" y="16332"/>
                  </a:moveTo>
                  <a:lnTo>
                    <a:pt x="160921" y="16332"/>
                  </a:lnTo>
                  <a:lnTo>
                    <a:pt x="160921" y="105727"/>
                  </a:lnTo>
                  <a:lnTo>
                    <a:pt x="197332" y="105727"/>
                  </a:lnTo>
                  <a:lnTo>
                    <a:pt x="197332" y="94843"/>
                  </a:lnTo>
                  <a:lnTo>
                    <a:pt x="174091" y="94843"/>
                  </a:lnTo>
                  <a:lnTo>
                    <a:pt x="174091" y="16332"/>
                  </a:lnTo>
                  <a:close/>
                </a:path>
                <a:path w="262255" h="224155">
                  <a:moveTo>
                    <a:pt x="257682" y="0"/>
                  </a:moveTo>
                  <a:lnTo>
                    <a:pt x="4165" y="0"/>
                  </a:lnTo>
                  <a:lnTo>
                    <a:pt x="0" y="3721"/>
                  </a:lnTo>
                  <a:lnTo>
                    <a:pt x="0" y="104584"/>
                  </a:lnTo>
                  <a:lnTo>
                    <a:pt x="19773" y="104584"/>
                  </a:lnTo>
                  <a:lnTo>
                    <a:pt x="19773" y="74498"/>
                  </a:lnTo>
                  <a:lnTo>
                    <a:pt x="132130" y="74498"/>
                  </a:lnTo>
                  <a:lnTo>
                    <a:pt x="132130" y="63614"/>
                  </a:lnTo>
                  <a:lnTo>
                    <a:pt x="19773" y="63614"/>
                  </a:lnTo>
                  <a:lnTo>
                    <a:pt x="19773" y="16332"/>
                  </a:lnTo>
                  <a:lnTo>
                    <a:pt x="262191" y="16332"/>
                  </a:lnTo>
                  <a:lnTo>
                    <a:pt x="262191" y="3721"/>
                  </a:lnTo>
                  <a:lnTo>
                    <a:pt x="257682" y="0"/>
                  </a:lnTo>
                  <a:close/>
                </a:path>
                <a:path w="262255" h="224155">
                  <a:moveTo>
                    <a:pt x="262191" y="16332"/>
                  </a:moveTo>
                  <a:lnTo>
                    <a:pt x="242417" y="16332"/>
                  </a:lnTo>
                  <a:lnTo>
                    <a:pt x="242417" y="30949"/>
                  </a:lnTo>
                  <a:lnTo>
                    <a:pt x="200456" y="30949"/>
                  </a:lnTo>
                  <a:lnTo>
                    <a:pt x="200456" y="74790"/>
                  </a:lnTo>
                  <a:lnTo>
                    <a:pt x="213639" y="74790"/>
                  </a:lnTo>
                  <a:lnTo>
                    <a:pt x="213639" y="41833"/>
                  </a:lnTo>
                  <a:lnTo>
                    <a:pt x="262191" y="41833"/>
                  </a:lnTo>
                  <a:lnTo>
                    <a:pt x="262191" y="16332"/>
                  </a:lnTo>
                  <a:close/>
                </a:path>
                <a:path w="262255" h="224155">
                  <a:moveTo>
                    <a:pt x="262191" y="41833"/>
                  </a:moveTo>
                  <a:lnTo>
                    <a:pt x="242417" y="41833"/>
                  </a:lnTo>
                  <a:lnTo>
                    <a:pt x="242417" y="61036"/>
                  </a:lnTo>
                  <a:lnTo>
                    <a:pt x="262191" y="70777"/>
                  </a:lnTo>
                  <a:lnTo>
                    <a:pt x="262191" y="41833"/>
                  </a:lnTo>
                  <a:close/>
                </a:path>
                <a:path w="262255" h="224155">
                  <a:moveTo>
                    <a:pt x="94678" y="29222"/>
                  </a:moveTo>
                  <a:lnTo>
                    <a:pt x="81495" y="29222"/>
                  </a:lnTo>
                  <a:lnTo>
                    <a:pt x="81495" y="63614"/>
                  </a:lnTo>
                  <a:lnTo>
                    <a:pt x="94678" y="63614"/>
                  </a:lnTo>
                  <a:lnTo>
                    <a:pt x="94678" y="29222"/>
                  </a:lnTo>
                  <a:close/>
                </a:path>
                <a:path w="262255" h="224155">
                  <a:moveTo>
                    <a:pt x="57226" y="16332"/>
                  </a:moveTo>
                  <a:lnTo>
                    <a:pt x="44043" y="16332"/>
                  </a:lnTo>
                  <a:lnTo>
                    <a:pt x="44043" y="41833"/>
                  </a:lnTo>
                  <a:lnTo>
                    <a:pt x="57226" y="41833"/>
                  </a:lnTo>
                  <a:lnTo>
                    <a:pt x="57226" y="16332"/>
                  </a:lnTo>
                  <a:close/>
                </a:path>
                <a:path w="262255" h="224155">
                  <a:moveTo>
                    <a:pt x="132130" y="16332"/>
                  </a:moveTo>
                  <a:lnTo>
                    <a:pt x="118960" y="16332"/>
                  </a:lnTo>
                  <a:lnTo>
                    <a:pt x="118960" y="41833"/>
                  </a:lnTo>
                  <a:lnTo>
                    <a:pt x="132130" y="41833"/>
                  </a:lnTo>
                  <a:lnTo>
                    <a:pt x="132130" y="16332"/>
                  </a:lnTo>
                  <a:close/>
                </a:path>
              </a:pathLst>
            </a:custGeom>
            <a:solidFill>
              <a:srgbClr val="808080"/>
            </a:solidFill>
          </p:spPr>
          <p:txBody>
            <a:bodyPr wrap="square" lIns="0" tIns="0" rIns="0" bIns="0" rtlCol="0"/>
            <a:lstStyle/>
            <a:p/>
          </p:txBody>
        </p:sp>
      </p:grpSp>
      <p:sp>
        <p:nvSpPr>
          <p:cNvPr id="11" name="object 11" descr=""/>
          <p:cNvSpPr txBox="1"/>
          <p:nvPr/>
        </p:nvSpPr>
        <p:spPr>
          <a:xfrm>
            <a:off x="197223" y="1056529"/>
            <a:ext cx="2519045" cy="1692275"/>
          </a:xfrm>
          <a:prstGeom prst="rect">
            <a:avLst/>
          </a:prstGeom>
        </p:spPr>
        <p:txBody>
          <a:bodyPr wrap="square" lIns="0" tIns="53340" rIns="0" bIns="0" rtlCol="0" vert="horz">
            <a:spAutoFit/>
          </a:bodyPr>
          <a:lstStyle/>
          <a:p>
            <a:pPr algn="ctr" marR="436880">
              <a:lnSpc>
                <a:spcPct val="100000"/>
              </a:lnSpc>
              <a:spcBef>
                <a:spcPts val="420"/>
              </a:spcBef>
              <a:tabLst>
                <a:tab pos="651510" algn="l"/>
                <a:tab pos="1073150" algn="l"/>
              </a:tabLst>
            </a:pPr>
            <a:r>
              <a:rPr dirty="0" sz="2800" spc="-25">
                <a:solidFill>
                  <a:srgbClr val="FFFFFF"/>
                </a:solidFill>
                <a:latin typeface="Microsoft YaHei"/>
                <a:cs typeface="Microsoft YaHei"/>
              </a:rPr>
              <a:t>01</a:t>
            </a:r>
            <a:r>
              <a:rPr dirty="0" sz="2800">
                <a:solidFill>
                  <a:srgbClr val="FFFFFF"/>
                </a:solidFill>
                <a:latin typeface="Microsoft YaHei"/>
                <a:cs typeface="Microsoft YaHei"/>
              </a:rPr>
              <a:t>	</a:t>
            </a:r>
            <a:r>
              <a:rPr dirty="0" u="sng" sz="2800">
                <a:solidFill>
                  <a:srgbClr val="FFFFFF"/>
                </a:solidFill>
                <a:uFill>
                  <a:solidFill>
                    <a:srgbClr val="00B0F0"/>
                  </a:solidFill>
                </a:uFill>
                <a:latin typeface="Microsoft YaHei"/>
                <a:cs typeface="Microsoft YaHei"/>
              </a:rPr>
              <a:t>	</a:t>
            </a:r>
            <a:endParaRPr sz="2800">
              <a:latin typeface="Microsoft YaHei"/>
              <a:cs typeface="Microsoft YaHei"/>
            </a:endParaRPr>
          </a:p>
          <a:p>
            <a:pPr algn="ctr" marL="675005" marR="1149350">
              <a:lnSpc>
                <a:spcPct val="100000"/>
              </a:lnSpc>
              <a:spcBef>
                <a:spcPts val="204"/>
              </a:spcBef>
            </a:pPr>
            <a:r>
              <a:rPr dirty="0" sz="1800" spc="-20" b="1">
                <a:solidFill>
                  <a:srgbClr val="00B0F0"/>
                </a:solidFill>
                <a:latin typeface="Microsoft YaHei"/>
                <a:cs typeface="Microsoft YaHei"/>
              </a:rPr>
              <a:t>智能化</a:t>
            </a:r>
            <a:r>
              <a:rPr dirty="0" sz="1800" spc="-25" b="1">
                <a:solidFill>
                  <a:srgbClr val="00B0F0"/>
                </a:solidFill>
                <a:latin typeface="Microsoft YaHei"/>
                <a:cs typeface="Microsoft YaHei"/>
              </a:rPr>
              <a:t>管理</a:t>
            </a:r>
            <a:endParaRPr sz="1800">
              <a:latin typeface="Microsoft YaHei"/>
              <a:cs typeface="Microsoft YaHei"/>
            </a:endParaRPr>
          </a:p>
          <a:p>
            <a:pPr algn="ctr">
              <a:lnSpc>
                <a:spcPct val="100000"/>
              </a:lnSpc>
              <a:spcBef>
                <a:spcPts val="2145"/>
              </a:spcBef>
            </a:pPr>
            <a:r>
              <a:rPr dirty="0" sz="1400" spc="-25" b="1">
                <a:solidFill>
                  <a:srgbClr val="C00000"/>
                </a:solidFill>
                <a:latin typeface="Microsoft YaHei"/>
                <a:cs typeface="Microsoft YaHei"/>
              </a:rPr>
              <a:t>云端存储、大数据分析</a:t>
            </a:r>
            <a:endParaRPr sz="1400">
              <a:latin typeface="Microsoft YaHei"/>
              <a:cs typeface="Microsoft YaHei"/>
            </a:endParaRPr>
          </a:p>
          <a:p>
            <a:pPr algn="ctr">
              <a:lnSpc>
                <a:spcPct val="100000"/>
              </a:lnSpc>
              <a:spcBef>
                <a:spcPts val="10"/>
              </a:spcBef>
            </a:pPr>
            <a:r>
              <a:rPr dirty="0" sz="900">
                <a:latin typeface="Microsoft YaHei"/>
                <a:cs typeface="Microsoft YaHei"/>
              </a:rPr>
              <a:t>（</a:t>
            </a:r>
            <a:r>
              <a:rPr dirty="0" sz="900" spc="-5">
                <a:latin typeface="Microsoft YaHei"/>
                <a:cs typeface="Microsoft YaHei"/>
              </a:rPr>
              <a:t>门户管理、物业管理、产业分析、移动办公…</a:t>
            </a:r>
            <a:r>
              <a:rPr dirty="0" sz="900" spc="-25">
                <a:latin typeface="Microsoft YaHei"/>
                <a:cs typeface="Microsoft YaHei"/>
              </a:rPr>
              <a:t>）</a:t>
            </a:r>
            <a:endParaRPr sz="900">
              <a:latin typeface="Microsoft YaHei"/>
              <a:cs typeface="Microsoft YaHei"/>
            </a:endParaRPr>
          </a:p>
        </p:txBody>
      </p:sp>
      <p:grpSp>
        <p:nvGrpSpPr>
          <p:cNvPr id="12" name="object 12" descr=""/>
          <p:cNvGrpSpPr/>
          <p:nvPr/>
        </p:nvGrpSpPr>
        <p:grpSpPr>
          <a:xfrm>
            <a:off x="3467099" y="628650"/>
            <a:ext cx="2314575" cy="2009775"/>
            <a:chOff x="3467099" y="628650"/>
            <a:chExt cx="2314575" cy="2009775"/>
          </a:xfrm>
        </p:grpSpPr>
        <p:pic>
          <p:nvPicPr>
            <p:cNvPr id="13" name="object 13"/>
            <p:cNvPicPr/>
            <p:nvPr/>
          </p:nvPicPr>
          <p:blipFill>
            <a:blip r:embed="rId6" cstate="print"/>
            <a:stretch>
              <a:fillRect/>
            </a:stretch>
          </p:blipFill>
          <p:spPr>
            <a:xfrm>
              <a:off x="3467099" y="628650"/>
              <a:ext cx="2314193" cy="2009393"/>
            </a:xfrm>
            <a:prstGeom prst="rect">
              <a:avLst/>
            </a:prstGeom>
          </p:spPr>
        </p:pic>
        <p:pic>
          <p:nvPicPr>
            <p:cNvPr id="14" name="object 14" descr=""/>
            <p:cNvPicPr/>
            <p:nvPr/>
          </p:nvPicPr>
          <p:blipFill>
            <a:blip r:embed="rId7" cstate="print"/>
            <a:stretch>
              <a:fillRect/>
            </a:stretch>
          </p:blipFill>
          <p:spPr>
            <a:xfrm>
              <a:off x="3656837" y="818388"/>
              <a:ext cx="1754885" cy="1450085"/>
            </a:xfrm>
            <a:prstGeom prst="rect">
              <a:avLst/>
            </a:prstGeom>
          </p:spPr>
        </p:pic>
        <p:pic>
          <p:nvPicPr>
            <p:cNvPr id="15" name="object 15" descr=""/>
            <p:cNvPicPr/>
            <p:nvPr/>
          </p:nvPicPr>
          <p:blipFill>
            <a:blip r:embed="rId8" cstate="print"/>
            <a:stretch>
              <a:fillRect/>
            </a:stretch>
          </p:blipFill>
          <p:spPr>
            <a:xfrm>
              <a:off x="3777234" y="918209"/>
              <a:ext cx="1514081" cy="1251203"/>
            </a:xfrm>
            <a:prstGeom prst="rect">
              <a:avLst/>
            </a:prstGeom>
          </p:spPr>
        </p:pic>
        <p:pic>
          <p:nvPicPr>
            <p:cNvPr id="16" name="object 16" descr=""/>
            <p:cNvPicPr/>
            <p:nvPr/>
          </p:nvPicPr>
          <p:blipFill>
            <a:blip r:embed="rId9" cstate="print"/>
            <a:stretch>
              <a:fillRect/>
            </a:stretch>
          </p:blipFill>
          <p:spPr>
            <a:xfrm>
              <a:off x="3763657" y="912672"/>
              <a:ext cx="1540738" cy="1269999"/>
            </a:xfrm>
            <a:prstGeom prst="rect">
              <a:avLst/>
            </a:prstGeom>
          </p:spPr>
        </p:pic>
        <p:sp>
          <p:nvSpPr>
            <p:cNvPr id="17" name="object 17" descr=""/>
            <p:cNvSpPr/>
            <p:nvPr/>
          </p:nvSpPr>
          <p:spPr>
            <a:xfrm>
              <a:off x="3862294" y="988320"/>
              <a:ext cx="1344295" cy="1110615"/>
            </a:xfrm>
            <a:custGeom>
              <a:avLst/>
              <a:gdLst/>
              <a:ahLst/>
              <a:cxnLst/>
              <a:rect l="l" t="t" r="r" b="b"/>
              <a:pathLst>
                <a:path w="1344295" h="1110614">
                  <a:moveTo>
                    <a:pt x="671868" y="0"/>
                  </a:moveTo>
                  <a:lnTo>
                    <a:pt x="671855" y="555256"/>
                  </a:lnTo>
                  <a:lnTo>
                    <a:pt x="0" y="555256"/>
                  </a:lnTo>
                  <a:lnTo>
                    <a:pt x="2021" y="598648"/>
                  </a:lnTo>
                  <a:lnTo>
                    <a:pt x="7985" y="641127"/>
                  </a:lnTo>
                  <a:lnTo>
                    <a:pt x="17744" y="682570"/>
                  </a:lnTo>
                  <a:lnTo>
                    <a:pt x="31146" y="722852"/>
                  </a:lnTo>
                  <a:lnTo>
                    <a:pt x="48044" y="761850"/>
                  </a:lnTo>
                  <a:lnTo>
                    <a:pt x="68288" y="799442"/>
                  </a:lnTo>
                  <a:lnTo>
                    <a:pt x="91728" y="835502"/>
                  </a:lnTo>
                  <a:lnTo>
                    <a:pt x="118215" y="869909"/>
                  </a:lnTo>
                  <a:lnTo>
                    <a:pt x="147599" y="902539"/>
                  </a:lnTo>
                  <a:lnTo>
                    <a:pt x="179732" y="933267"/>
                  </a:lnTo>
                  <a:lnTo>
                    <a:pt x="214464" y="961971"/>
                  </a:lnTo>
                  <a:lnTo>
                    <a:pt x="251646" y="988527"/>
                  </a:lnTo>
                  <a:lnTo>
                    <a:pt x="291128" y="1012813"/>
                  </a:lnTo>
                  <a:lnTo>
                    <a:pt x="332760" y="1034703"/>
                  </a:lnTo>
                  <a:lnTo>
                    <a:pt x="376394" y="1054075"/>
                  </a:lnTo>
                  <a:lnTo>
                    <a:pt x="421881" y="1070806"/>
                  </a:lnTo>
                  <a:lnTo>
                    <a:pt x="469070" y="1084771"/>
                  </a:lnTo>
                  <a:lnTo>
                    <a:pt x="517812" y="1095848"/>
                  </a:lnTo>
                  <a:lnTo>
                    <a:pt x="567959" y="1103913"/>
                  </a:lnTo>
                  <a:lnTo>
                    <a:pt x="619361" y="1108842"/>
                  </a:lnTo>
                  <a:lnTo>
                    <a:pt x="671868" y="1110513"/>
                  </a:lnTo>
                  <a:lnTo>
                    <a:pt x="724373" y="1108842"/>
                  </a:lnTo>
                  <a:lnTo>
                    <a:pt x="775773" y="1103913"/>
                  </a:lnTo>
                  <a:lnTo>
                    <a:pt x="825918" y="1095848"/>
                  </a:lnTo>
                  <a:lnTo>
                    <a:pt x="874659" y="1084771"/>
                  </a:lnTo>
                  <a:lnTo>
                    <a:pt x="921847" y="1070806"/>
                  </a:lnTo>
                  <a:lnTo>
                    <a:pt x="967333" y="1054075"/>
                  </a:lnTo>
                  <a:lnTo>
                    <a:pt x="1010966" y="1034703"/>
                  </a:lnTo>
                  <a:lnTo>
                    <a:pt x="1052598" y="1012813"/>
                  </a:lnTo>
                  <a:lnTo>
                    <a:pt x="1092079" y="988527"/>
                  </a:lnTo>
                  <a:lnTo>
                    <a:pt x="1129260" y="961971"/>
                  </a:lnTo>
                  <a:lnTo>
                    <a:pt x="1163991" y="933267"/>
                  </a:lnTo>
                  <a:lnTo>
                    <a:pt x="1196124" y="902539"/>
                  </a:lnTo>
                  <a:lnTo>
                    <a:pt x="1225508" y="869909"/>
                  </a:lnTo>
                  <a:lnTo>
                    <a:pt x="1251995" y="835502"/>
                  </a:lnTo>
                  <a:lnTo>
                    <a:pt x="1275435" y="799442"/>
                  </a:lnTo>
                  <a:lnTo>
                    <a:pt x="1295678" y="761850"/>
                  </a:lnTo>
                  <a:lnTo>
                    <a:pt x="1312576" y="722852"/>
                  </a:lnTo>
                  <a:lnTo>
                    <a:pt x="1325979" y="682570"/>
                  </a:lnTo>
                  <a:lnTo>
                    <a:pt x="1335737" y="641127"/>
                  </a:lnTo>
                  <a:lnTo>
                    <a:pt x="1341702" y="598648"/>
                  </a:lnTo>
                  <a:lnTo>
                    <a:pt x="1343723" y="555256"/>
                  </a:lnTo>
                  <a:lnTo>
                    <a:pt x="1341702" y="511864"/>
                  </a:lnTo>
                  <a:lnTo>
                    <a:pt x="1335737" y="469385"/>
                  </a:lnTo>
                  <a:lnTo>
                    <a:pt x="1325979" y="427943"/>
                  </a:lnTo>
                  <a:lnTo>
                    <a:pt x="1312576" y="387661"/>
                  </a:lnTo>
                  <a:lnTo>
                    <a:pt x="1295678" y="348662"/>
                  </a:lnTo>
                  <a:lnTo>
                    <a:pt x="1275435" y="311071"/>
                  </a:lnTo>
                  <a:lnTo>
                    <a:pt x="1251995" y="275010"/>
                  </a:lnTo>
                  <a:lnTo>
                    <a:pt x="1225508" y="240603"/>
                  </a:lnTo>
                  <a:lnTo>
                    <a:pt x="1196124" y="207974"/>
                  </a:lnTo>
                  <a:lnTo>
                    <a:pt x="1163991" y="177245"/>
                  </a:lnTo>
                  <a:lnTo>
                    <a:pt x="1129260" y="148541"/>
                  </a:lnTo>
                  <a:lnTo>
                    <a:pt x="1092079" y="121985"/>
                  </a:lnTo>
                  <a:lnTo>
                    <a:pt x="1052598" y="97700"/>
                  </a:lnTo>
                  <a:lnTo>
                    <a:pt x="1010966" y="75810"/>
                  </a:lnTo>
                  <a:lnTo>
                    <a:pt x="967333" y="56437"/>
                  </a:lnTo>
                  <a:lnTo>
                    <a:pt x="921847" y="39707"/>
                  </a:lnTo>
                  <a:lnTo>
                    <a:pt x="874659" y="25741"/>
                  </a:lnTo>
                  <a:lnTo>
                    <a:pt x="825918" y="14665"/>
                  </a:lnTo>
                  <a:lnTo>
                    <a:pt x="775773" y="6600"/>
                  </a:lnTo>
                  <a:lnTo>
                    <a:pt x="724373" y="1670"/>
                  </a:lnTo>
                  <a:lnTo>
                    <a:pt x="671868" y="0"/>
                  </a:lnTo>
                  <a:close/>
                </a:path>
              </a:pathLst>
            </a:custGeom>
            <a:solidFill>
              <a:srgbClr val="F7F7F7"/>
            </a:solidFill>
          </p:spPr>
          <p:txBody>
            <a:bodyPr wrap="square" lIns="0" tIns="0" rIns="0" bIns="0" rtlCol="0"/>
            <a:lstStyle/>
            <a:p/>
          </p:txBody>
        </p:sp>
        <p:pic>
          <p:nvPicPr>
            <p:cNvPr id="18" name="object 18" descr=""/>
            <p:cNvPicPr/>
            <p:nvPr/>
          </p:nvPicPr>
          <p:blipFill>
            <a:blip r:embed="rId10" cstate="print"/>
            <a:stretch>
              <a:fillRect/>
            </a:stretch>
          </p:blipFill>
          <p:spPr>
            <a:xfrm>
              <a:off x="4728730" y="1268691"/>
              <a:ext cx="276599" cy="228594"/>
            </a:xfrm>
            <a:prstGeom prst="rect">
              <a:avLst/>
            </a:prstGeom>
          </p:spPr>
        </p:pic>
      </p:grpSp>
      <p:sp>
        <p:nvSpPr>
          <p:cNvPr id="19" name="object 19" descr=""/>
          <p:cNvSpPr txBox="1"/>
          <p:nvPr/>
        </p:nvSpPr>
        <p:spPr>
          <a:xfrm>
            <a:off x="3231400" y="1096149"/>
            <a:ext cx="2688590" cy="1580515"/>
          </a:xfrm>
          <a:prstGeom prst="rect">
            <a:avLst/>
          </a:prstGeom>
        </p:spPr>
        <p:txBody>
          <a:bodyPr wrap="square" lIns="0" tIns="12700" rIns="0" bIns="0" rtlCol="0" vert="horz">
            <a:spAutoFit/>
          </a:bodyPr>
          <a:lstStyle/>
          <a:p>
            <a:pPr algn="ctr" marR="38100">
              <a:lnSpc>
                <a:spcPct val="100000"/>
              </a:lnSpc>
              <a:spcBef>
                <a:spcPts val="100"/>
              </a:spcBef>
              <a:tabLst>
                <a:tab pos="628650" algn="l"/>
                <a:tab pos="1050290" algn="l"/>
              </a:tabLst>
            </a:pPr>
            <a:r>
              <a:rPr dirty="0" sz="2800" spc="-25">
                <a:solidFill>
                  <a:srgbClr val="FFFFFF"/>
                </a:solidFill>
                <a:latin typeface="Microsoft YaHei"/>
                <a:cs typeface="Microsoft YaHei"/>
              </a:rPr>
              <a:t>02</a:t>
            </a:r>
            <a:r>
              <a:rPr dirty="0" sz="2800">
                <a:solidFill>
                  <a:srgbClr val="FFFFFF"/>
                </a:solidFill>
                <a:latin typeface="Microsoft YaHei"/>
                <a:cs typeface="Microsoft YaHei"/>
              </a:rPr>
              <a:t>	</a:t>
            </a:r>
            <a:r>
              <a:rPr dirty="0" u="sng" sz="2800">
                <a:solidFill>
                  <a:srgbClr val="FFFFFF"/>
                </a:solidFill>
                <a:uFill>
                  <a:solidFill>
                    <a:srgbClr val="0065B0"/>
                  </a:solidFill>
                </a:uFill>
                <a:latin typeface="Microsoft YaHei"/>
                <a:cs typeface="Microsoft YaHei"/>
              </a:rPr>
              <a:t>	</a:t>
            </a:r>
            <a:endParaRPr sz="2800">
              <a:latin typeface="Microsoft YaHei"/>
              <a:cs typeface="Microsoft YaHei"/>
            </a:endParaRPr>
          </a:p>
          <a:p>
            <a:pPr algn="ctr" marL="849630" marR="916305">
              <a:lnSpc>
                <a:spcPct val="100000"/>
              </a:lnSpc>
              <a:spcBef>
                <a:spcPts val="100"/>
              </a:spcBef>
            </a:pPr>
            <a:r>
              <a:rPr dirty="0" sz="1800" spc="-15" b="1">
                <a:solidFill>
                  <a:srgbClr val="0065B0"/>
                </a:solidFill>
                <a:latin typeface="Microsoft YaHei"/>
                <a:cs typeface="Microsoft YaHei"/>
              </a:rPr>
              <a:t>集约共享</a:t>
            </a:r>
            <a:r>
              <a:rPr dirty="0" sz="1800" spc="-25" b="1">
                <a:solidFill>
                  <a:srgbClr val="0065B0"/>
                </a:solidFill>
                <a:latin typeface="Microsoft YaHei"/>
                <a:cs typeface="Microsoft YaHei"/>
              </a:rPr>
              <a:t>平台</a:t>
            </a:r>
            <a:endParaRPr sz="1800">
              <a:latin typeface="Microsoft YaHei"/>
              <a:cs typeface="Microsoft YaHei"/>
            </a:endParaRPr>
          </a:p>
          <a:p>
            <a:pPr algn="ctr">
              <a:lnSpc>
                <a:spcPct val="100000"/>
              </a:lnSpc>
              <a:spcBef>
                <a:spcPts val="1689"/>
              </a:spcBef>
            </a:pPr>
            <a:r>
              <a:rPr dirty="0" sz="1400" spc="-25" b="1">
                <a:solidFill>
                  <a:srgbClr val="C00000"/>
                </a:solidFill>
                <a:latin typeface="Microsoft YaHei"/>
                <a:cs typeface="Microsoft YaHei"/>
              </a:rPr>
              <a:t>云端存储、大数据分析、信息共享</a:t>
            </a:r>
            <a:endParaRPr sz="1400">
              <a:latin typeface="Microsoft YaHei"/>
              <a:cs typeface="Microsoft YaHei"/>
            </a:endParaRPr>
          </a:p>
          <a:p>
            <a:pPr algn="ctr" marL="635">
              <a:lnSpc>
                <a:spcPct val="100000"/>
              </a:lnSpc>
              <a:spcBef>
                <a:spcPts val="15"/>
              </a:spcBef>
            </a:pPr>
            <a:r>
              <a:rPr dirty="0" sz="900">
                <a:latin typeface="Microsoft YaHei"/>
                <a:cs typeface="Microsoft YaHei"/>
              </a:rPr>
              <a:t>（</a:t>
            </a:r>
            <a:r>
              <a:rPr dirty="0" sz="900" spc="-5">
                <a:latin typeface="Microsoft YaHei"/>
                <a:cs typeface="Microsoft YaHei"/>
              </a:rPr>
              <a:t>政务服务、招商引资、创新孵化、资源共享…</a:t>
            </a:r>
            <a:r>
              <a:rPr dirty="0" sz="900" spc="-25">
                <a:latin typeface="Microsoft YaHei"/>
                <a:cs typeface="Microsoft YaHei"/>
              </a:rPr>
              <a:t>）</a:t>
            </a:r>
            <a:endParaRPr sz="900">
              <a:latin typeface="Microsoft YaHei"/>
              <a:cs typeface="Microsoft YaHei"/>
            </a:endParaRPr>
          </a:p>
        </p:txBody>
      </p:sp>
      <p:grpSp>
        <p:nvGrpSpPr>
          <p:cNvPr id="20" name="object 20" descr=""/>
          <p:cNvGrpSpPr/>
          <p:nvPr/>
        </p:nvGrpSpPr>
        <p:grpSpPr>
          <a:xfrm>
            <a:off x="6743699" y="628650"/>
            <a:ext cx="2314575" cy="2009775"/>
            <a:chOff x="6743699" y="628650"/>
            <a:chExt cx="2314575" cy="2009775"/>
          </a:xfrm>
        </p:grpSpPr>
        <p:pic>
          <p:nvPicPr>
            <p:cNvPr id="21" name="object 21"/>
            <p:cNvPicPr/>
            <p:nvPr/>
          </p:nvPicPr>
          <p:blipFill>
            <a:blip r:embed="rId6" cstate="print"/>
            <a:stretch>
              <a:fillRect/>
            </a:stretch>
          </p:blipFill>
          <p:spPr>
            <a:xfrm>
              <a:off x="6743699" y="628650"/>
              <a:ext cx="2314193" cy="2009393"/>
            </a:xfrm>
            <a:prstGeom prst="rect">
              <a:avLst/>
            </a:prstGeom>
          </p:spPr>
        </p:pic>
        <p:pic>
          <p:nvPicPr>
            <p:cNvPr id="22" name="object 22" descr=""/>
            <p:cNvPicPr/>
            <p:nvPr/>
          </p:nvPicPr>
          <p:blipFill>
            <a:blip r:embed="rId7" cstate="print"/>
            <a:stretch>
              <a:fillRect/>
            </a:stretch>
          </p:blipFill>
          <p:spPr>
            <a:xfrm>
              <a:off x="6933437" y="818388"/>
              <a:ext cx="1754885" cy="1450085"/>
            </a:xfrm>
            <a:prstGeom prst="rect">
              <a:avLst/>
            </a:prstGeom>
          </p:spPr>
        </p:pic>
        <p:pic>
          <p:nvPicPr>
            <p:cNvPr id="23" name="object 23" descr=""/>
            <p:cNvPicPr/>
            <p:nvPr/>
          </p:nvPicPr>
          <p:blipFill>
            <a:blip r:embed="rId11" cstate="print"/>
            <a:stretch>
              <a:fillRect/>
            </a:stretch>
          </p:blipFill>
          <p:spPr>
            <a:xfrm>
              <a:off x="7053833" y="918209"/>
              <a:ext cx="1514093" cy="1251203"/>
            </a:xfrm>
            <a:prstGeom prst="rect">
              <a:avLst/>
            </a:prstGeom>
          </p:spPr>
        </p:pic>
        <p:pic>
          <p:nvPicPr>
            <p:cNvPr id="24" name="object 24" descr=""/>
            <p:cNvPicPr/>
            <p:nvPr/>
          </p:nvPicPr>
          <p:blipFill>
            <a:blip r:embed="rId12" cstate="print"/>
            <a:stretch>
              <a:fillRect/>
            </a:stretch>
          </p:blipFill>
          <p:spPr>
            <a:xfrm>
              <a:off x="7040257" y="912672"/>
              <a:ext cx="1540725" cy="1269999"/>
            </a:xfrm>
            <a:prstGeom prst="rect">
              <a:avLst/>
            </a:prstGeom>
          </p:spPr>
        </p:pic>
        <p:sp>
          <p:nvSpPr>
            <p:cNvPr id="25" name="object 25" descr=""/>
            <p:cNvSpPr/>
            <p:nvPr/>
          </p:nvSpPr>
          <p:spPr>
            <a:xfrm>
              <a:off x="7138894" y="988320"/>
              <a:ext cx="1344295" cy="1110615"/>
            </a:xfrm>
            <a:custGeom>
              <a:avLst/>
              <a:gdLst/>
              <a:ahLst/>
              <a:cxnLst/>
              <a:rect l="l" t="t" r="r" b="b"/>
              <a:pathLst>
                <a:path w="1344295" h="1110614">
                  <a:moveTo>
                    <a:pt x="671868" y="0"/>
                  </a:moveTo>
                  <a:lnTo>
                    <a:pt x="671855" y="555256"/>
                  </a:lnTo>
                  <a:lnTo>
                    <a:pt x="0" y="555256"/>
                  </a:lnTo>
                  <a:lnTo>
                    <a:pt x="2021" y="598648"/>
                  </a:lnTo>
                  <a:lnTo>
                    <a:pt x="7985" y="641127"/>
                  </a:lnTo>
                  <a:lnTo>
                    <a:pt x="17744" y="682570"/>
                  </a:lnTo>
                  <a:lnTo>
                    <a:pt x="31146" y="722852"/>
                  </a:lnTo>
                  <a:lnTo>
                    <a:pt x="48044" y="761850"/>
                  </a:lnTo>
                  <a:lnTo>
                    <a:pt x="68288" y="799442"/>
                  </a:lnTo>
                  <a:lnTo>
                    <a:pt x="91728" y="835502"/>
                  </a:lnTo>
                  <a:lnTo>
                    <a:pt x="118215" y="869909"/>
                  </a:lnTo>
                  <a:lnTo>
                    <a:pt x="147599" y="902539"/>
                  </a:lnTo>
                  <a:lnTo>
                    <a:pt x="179732" y="933267"/>
                  </a:lnTo>
                  <a:lnTo>
                    <a:pt x="214464" y="961971"/>
                  </a:lnTo>
                  <a:lnTo>
                    <a:pt x="251646" y="988527"/>
                  </a:lnTo>
                  <a:lnTo>
                    <a:pt x="291128" y="1012813"/>
                  </a:lnTo>
                  <a:lnTo>
                    <a:pt x="332760" y="1034703"/>
                  </a:lnTo>
                  <a:lnTo>
                    <a:pt x="376394" y="1054075"/>
                  </a:lnTo>
                  <a:lnTo>
                    <a:pt x="421881" y="1070806"/>
                  </a:lnTo>
                  <a:lnTo>
                    <a:pt x="469070" y="1084771"/>
                  </a:lnTo>
                  <a:lnTo>
                    <a:pt x="517812" y="1095848"/>
                  </a:lnTo>
                  <a:lnTo>
                    <a:pt x="567959" y="1103913"/>
                  </a:lnTo>
                  <a:lnTo>
                    <a:pt x="619361" y="1108842"/>
                  </a:lnTo>
                  <a:lnTo>
                    <a:pt x="671868" y="1110513"/>
                  </a:lnTo>
                  <a:lnTo>
                    <a:pt x="724373" y="1108842"/>
                  </a:lnTo>
                  <a:lnTo>
                    <a:pt x="775773" y="1103913"/>
                  </a:lnTo>
                  <a:lnTo>
                    <a:pt x="825918" y="1095848"/>
                  </a:lnTo>
                  <a:lnTo>
                    <a:pt x="874659" y="1084771"/>
                  </a:lnTo>
                  <a:lnTo>
                    <a:pt x="921847" y="1070806"/>
                  </a:lnTo>
                  <a:lnTo>
                    <a:pt x="967333" y="1054075"/>
                  </a:lnTo>
                  <a:lnTo>
                    <a:pt x="1010966" y="1034703"/>
                  </a:lnTo>
                  <a:lnTo>
                    <a:pt x="1052598" y="1012813"/>
                  </a:lnTo>
                  <a:lnTo>
                    <a:pt x="1092079" y="988527"/>
                  </a:lnTo>
                  <a:lnTo>
                    <a:pt x="1129260" y="961971"/>
                  </a:lnTo>
                  <a:lnTo>
                    <a:pt x="1163991" y="933267"/>
                  </a:lnTo>
                  <a:lnTo>
                    <a:pt x="1196124" y="902539"/>
                  </a:lnTo>
                  <a:lnTo>
                    <a:pt x="1225508" y="869909"/>
                  </a:lnTo>
                  <a:lnTo>
                    <a:pt x="1251995" y="835502"/>
                  </a:lnTo>
                  <a:lnTo>
                    <a:pt x="1275435" y="799442"/>
                  </a:lnTo>
                  <a:lnTo>
                    <a:pt x="1295678" y="761850"/>
                  </a:lnTo>
                  <a:lnTo>
                    <a:pt x="1312576" y="722852"/>
                  </a:lnTo>
                  <a:lnTo>
                    <a:pt x="1325979" y="682570"/>
                  </a:lnTo>
                  <a:lnTo>
                    <a:pt x="1335737" y="641127"/>
                  </a:lnTo>
                  <a:lnTo>
                    <a:pt x="1341702" y="598648"/>
                  </a:lnTo>
                  <a:lnTo>
                    <a:pt x="1343723" y="555256"/>
                  </a:lnTo>
                  <a:lnTo>
                    <a:pt x="1341702" y="511864"/>
                  </a:lnTo>
                  <a:lnTo>
                    <a:pt x="1335737" y="469385"/>
                  </a:lnTo>
                  <a:lnTo>
                    <a:pt x="1325979" y="427943"/>
                  </a:lnTo>
                  <a:lnTo>
                    <a:pt x="1312576" y="387661"/>
                  </a:lnTo>
                  <a:lnTo>
                    <a:pt x="1295678" y="348662"/>
                  </a:lnTo>
                  <a:lnTo>
                    <a:pt x="1275435" y="311071"/>
                  </a:lnTo>
                  <a:lnTo>
                    <a:pt x="1251995" y="275010"/>
                  </a:lnTo>
                  <a:lnTo>
                    <a:pt x="1225508" y="240603"/>
                  </a:lnTo>
                  <a:lnTo>
                    <a:pt x="1196124" y="207974"/>
                  </a:lnTo>
                  <a:lnTo>
                    <a:pt x="1163991" y="177245"/>
                  </a:lnTo>
                  <a:lnTo>
                    <a:pt x="1129260" y="148541"/>
                  </a:lnTo>
                  <a:lnTo>
                    <a:pt x="1092079" y="121985"/>
                  </a:lnTo>
                  <a:lnTo>
                    <a:pt x="1052598" y="97700"/>
                  </a:lnTo>
                  <a:lnTo>
                    <a:pt x="1010966" y="75810"/>
                  </a:lnTo>
                  <a:lnTo>
                    <a:pt x="967333" y="56437"/>
                  </a:lnTo>
                  <a:lnTo>
                    <a:pt x="921847" y="39707"/>
                  </a:lnTo>
                  <a:lnTo>
                    <a:pt x="874659" y="25741"/>
                  </a:lnTo>
                  <a:lnTo>
                    <a:pt x="825918" y="14665"/>
                  </a:lnTo>
                  <a:lnTo>
                    <a:pt x="775773" y="6600"/>
                  </a:lnTo>
                  <a:lnTo>
                    <a:pt x="724373" y="1670"/>
                  </a:lnTo>
                  <a:lnTo>
                    <a:pt x="671868" y="0"/>
                  </a:lnTo>
                  <a:close/>
                </a:path>
              </a:pathLst>
            </a:custGeom>
            <a:solidFill>
              <a:srgbClr val="F7F7F7"/>
            </a:solidFill>
          </p:spPr>
          <p:txBody>
            <a:bodyPr wrap="square" lIns="0" tIns="0" rIns="0" bIns="0" rtlCol="0"/>
            <a:lstStyle/>
            <a:p/>
          </p:txBody>
        </p:sp>
        <p:sp>
          <p:nvSpPr>
            <p:cNvPr id="26" name="object 26" descr=""/>
            <p:cNvSpPr/>
            <p:nvPr/>
          </p:nvSpPr>
          <p:spPr>
            <a:xfrm>
              <a:off x="8002639" y="1334260"/>
              <a:ext cx="282575" cy="93345"/>
            </a:xfrm>
            <a:custGeom>
              <a:avLst/>
              <a:gdLst/>
              <a:ahLst/>
              <a:cxnLst/>
              <a:rect l="l" t="t" r="r" b="b"/>
              <a:pathLst>
                <a:path w="282575" h="93344">
                  <a:moveTo>
                    <a:pt x="242443" y="0"/>
                  </a:moveTo>
                  <a:lnTo>
                    <a:pt x="242443" y="11175"/>
                  </a:lnTo>
                  <a:lnTo>
                    <a:pt x="213652" y="11175"/>
                  </a:lnTo>
                  <a:lnTo>
                    <a:pt x="209143" y="14617"/>
                  </a:lnTo>
                  <a:lnTo>
                    <a:pt x="209143" y="43002"/>
                  </a:lnTo>
                  <a:lnTo>
                    <a:pt x="94691" y="43002"/>
                  </a:lnTo>
                  <a:lnTo>
                    <a:pt x="90170" y="46443"/>
                  </a:lnTo>
                  <a:lnTo>
                    <a:pt x="90170" y="76542"/>
                  </a:lnTo>
                  <a:lnTo>
                    <a:pt x="51676" y="76542"/>
                  </a:lnTo>
                  <a:lnTo>
                    <a:pt x="51676" y="45580"/>
                  </a:lnTo>
                  <a:lnTo>
                    <a:pt x="47167" y="42138"/>
                  </a:lnTo>
                  <a:lnTo>
                    <a:pt x="0" y="42138"/>
                  </a:lnTo>
                  <a:lnTo>
                    <a:pt x="0" y="58483"/>
                  </a:lnTo>
                  <a:lnTo>
                    <a:pt x="31902" y="58483"/>
                  </a:lnTo>
                  <a:lnTo>
                    <a:pt x="31902" y="89446"/>
                  </a:lnTo>
                  <a:lnTo>
                    <a:pt x="36410" y="92875"/>
                  </a:lnTo>
                  <a:lnTo>
                    <a:pt x="105791" y="92875"/>
                  </a:lnTo>
                  <a:lnTo>
                    <a:pt x="109943" y="89446"/>
                  </a:lnTo>
                  <a:lnTo>
                    <a:pt x="109943" y="59347"/>
                  </a:lnTo>
                  <a:lnTo>
                    <a:pt x="224751" y="59347"/>
                  </a:lnTo>
                  <a:lnTo>
                    <a:pt x="229260" y="55613"/>
                  </a:lnTo>
                  <a:lnTo>
                    <a:pt x="229260" y="27520"/>
                  </a:lnTo>
                  <a:lnTo>
                    <a:pt x="242443" y="27520"/>
                  </a:lnTo>
                  <a:lnTo>
                    <a:pt x="242443" y="38417"/>
                  </a:lnTo>
                  <a:lnTo>
                    <a:pt x="281978" y="19202"/>
                  </a:lnTo>
                  <a:lnTo>
                    <a:pt x="242443" y="0"/>
                  </a:lnTo>
                  <a:close/>
                </a:path>
              </a:pathLst>
            </a:custGeom>
            <a:solidFill>
              <a:srgbClr val="00B0F0"/>
            </a:solidFill>
          </p:spPr>
          <p:txBody>
            <a:bodyPr wrap="square" lIns="0" tIns="0" rIns="0" bIns="0" rtlCol="0"/>
            <a:lstStyle/>
            <a:p/>
          </p:txBody>
        </p:sp>
        <p:sp>
          <p:nvSpPr>
            <p:cNvPr id="27" name="object 27" descr=""/>
            <p:cNvSpPr/>
            <p:nvPr/>
          </p:nvSpPr>
          <p:spPr>
            <a:xfrm>
              <a:off x="8002631" y="1260662"/>
              <a:ext cx="262255" cy="224154"/>
            </a:xfrm>
            <a:custGeom>
              <a:avLst/>
              <a:gdLst/>
              <a:ahLst/>
              <a:cxnLst/>
              <a:rect l="l" t="t" r="r" b="b"/>
              <a:pathLst>
                <a:path w="262254" h="224155">
                  <a:moveTo>
                    <a:pt x="19773" y="142989"/>
                  </a:moveTo>
                  <a:lnTo>
                    <a:pt x="0" y="142989"/>
                  </a:lnTo>
                  <a:lnTo>
                    <a:pt x="0" y="220345"/>
                  </a:lnTo>
                  <a:lnTo>
                    <a:pt x="4165" y="224078"/>
                  </a:lnTo>
                  <a:lnTo>
                    <a:pt x="257682" y="224078"/>
                  </a:lnTo>
                  <a:lnTo>
                    <a:pt x="262191" y="220345"/>
                  </a:lnTo>
                  <a:lnTo>
                    <a:pt x="262191" y="207746"/>
                  </a:lnTo>
                  <a:lnTo>
                    <a:pt x="19773" y="207746"/>
                  </a:lnTo>
                  <a:lnTo>
                    <a:pt x="19773" y="142989"/>
                  </a:lnTo>
                  <a:close/>
                </a:path>
                <a:path w="262254" h="224155">
                  <a:moveTo>
                    <a:pt x="94678" y="187680"/>
                  </a:moveTo>
                  <a:lnTo>
                    <a:pt x="81495" y="187680"/>
                  </a:lnTo>
                  <a:lnTo>
                    <a:pt x="81495" y="207746"/>
                  </a:lnTo>
                  <a:lnTo>
                    <a:pt x="94678" y="207746"/>
                  </a:lnTo>
                  <a:lnTo>
                    <a:pt x="94678" y="187680"/>
                  </a:lnTo>
                  <a:close/>
                </a:path>
                <a:path w="262254" h="224155">
                  <a:moveTo>
                    <a:pt x="213639" y="143840"/>
                  </a:moveTo>
                  <a:lnTo>
                    <a:pt x="160921" y="143840"/>
                  </a:lnTo>
                  <a:lnTo>
                    <a:pt x="160921" y="154736"/>
                  </a:lnTo>
                  <a:lnTo>
                    <a:pt x="200456" y="154736"/>
                  </a:lnTo>
                  <a:lnTo>
                    <a:pt x="200456" y="176504"/>
                  </a:lnTo>
                  <a:lnTo>
                    <a:pt x="160921" y="176504"/>
                  </a:lnTo>
                  <a:lnTo>
                    <a:pt x="160921" y="207746"/>
                  </a:lnTo>
                  <a:lnTo>
                    <a:pt x="174091" y="207746"/>
                  </a:lnTo>
                  <a:lnTo>
                    <a:pt x="174091" y="187680"/>
                  </a:lnTo>
                  <a:lnTo>
                    <a:pt x="213639" y="187680"/>
                  </a:lnTo>
                  <a:lnTo>
                    <a:pt x="213639" y="143840"/>
                  </a:lnTo>
                  <a:close/>
                </a:path>
                <a:path w="262254" h="224155">
                  <a:moveTo>
                    <a:pt x="262191" y="115189"/>
                  </a:moveTo>
                  <a:lnTo>
                    <a:pt x="242417" y="124650"/>
                  </a:lnTo>
                  <a:lnTo>
                    <a:pt x="242417" y="207746"/>
                  </a:lnTo>
                  <a:lnTo>
                    <a:pt x="262191" y="207746"/>
                  </a:lnTo>
                  <a:lnTo>
                    <a:pt x="262191" y="115189"/>
                  </a:lnTo>
                  <a:close/>
                </a:path>
                <a:path w="262254" h="224155">
                  <a:moveTo>
                    <a:pt x="135597" y="143840"/>
                  </a:moveTo>
                  <a:lnTo>
                    <a:pt x="122072" y="143840"/>
                  </a:lnTo>
                  <a:lnTo>
                    <a:pt x="122072" y="176504"/>
                  </a:lnTo>
                  <a:lnTo>
                    <a:pt x="51676" y="176504"/>
                  </a:lnTo>
                  <a:lnTo>
                    <a:pt x="51676" y="187680"/>
                  </a:lnTo>
                  <a:lnTo>
                    <a:pt x="135597" y="187680"/>
                  </a:lnTo>
                  <a:lnTo>
                    <a:pt x="135597" y="143840"/>
                  </a:lnTo>
                  <a:close/>
                </a:path>
                <a:path w="262254" h="224155">
                  <a:moveTo>
                    <a:pt x="132130" y="74498"/>
                  </a:moveTo>
                  <a:lnTo>
                    <a:pt x="118960" y="74498"/>
                  </a:lnTo>
                  <a:lnTo>
                    <a:pt x="118960" y="94843"/>
                  </a:lnTo>
                  <a:lnTo>
                    <a:pt x="64858" y="94843"/>
                  </a:lnTo>
                  <a:lnTo>
                    <a:pt x="64858" y="139255"/>
                  </a:lnTo>
                  <a:lnTo>
                    <a:pt x="78028" y="139255"/>
                  </a:lnTo>
                  <a:lnTo>
                    <a:pt x="78028" y="105727"/>
                  </a:lnTo>
                  <a:lnTo>
                    <a:pt x="132130" y="105727"/>
                  </a:lnTo>
                  <a:lnTo>
                    <a:pt x="132130" y="74498"/>
                  </a:lnTo>
                  <a:close/>
                </a:path>
                <a:path w="262254" h="224155">
                  <a:moveTo>
                    <a:pt x="174091" y="16332"/>
                  </a:moveTo>
                  <a:lnTo>
                    <a:pt x="160921" y="16332"/>
                  </a:lnTo>
                  <a:lnTo>
                    <a:pt x="160921" y="105727"/>
                  </a:lnTo>
                  <a:lnTo>
                    <a:pt x="197332" y="105727"/>
                  </a:lnTo>
                  <a:lnTo>
                    <a:pt x="197332" y="94843"/>
                  </a:lnTo>
                  <a:lnTo>
                    <a:pt x="174091" y="94843"/>
                  </a:lnTo>
                  <a:lnTo>
                    <a:pt x="174091" y="16332"/>
                  </a:lnTo>
                  <a:close/>
                </a:path>
                <a:path w="262254" h="224155">
                  <a:moveTo>
                    <a:pt x="257682" y="0"/>
                  </a:moveTo>
                  <a:lnTo>
                    <a:pt x="4165" y="0"/>
                  </a:lnTo>
                  <a:lnTo>
                    <a:pt x="0" y="3721"/>
                  </a:lnTo>
                  <a:lnTo>
                    <a:pt x="0" y="104584"/>
                  </a:lnTo>
                  <a:lnTo>
                    <a:pt x="19773" y="104584"/>
                  </a:lnTo>
                  <a:lnTo>
                    <a:pt x="19773" y="74498"/>
                  </a:lnTo>
                  <a:lnTo>
                    <a:pt x="132130" y="74498"/>
                  </a:lnTo>
                  <a:lnTo>
                    <a:pt x="132130" y="63614"/>
                  </a:lnTo>
                  <a:lnTo>
                    <a:pt x="19773" y="63614"/>
                  </a:lnTo>
                  <a:lnTo>
                    <a:pt x="19773" y="16332"/>
                  </a:lnTo>
                  <a:lnTo>
                    <a:pt x="262191" y="16332"/>
                  </a:lnTo>
                  <a:lnTo>
                    <a:pt x="262191" y="3721"/>
                  </a:lnTo>
                  <a:lnTo>
                    <a:pt x="257682" y="0"/>
                  </a:lnTo>
                  <a:close/>
                </a:path>
                <a:path w="262254" h="224155">
                  <a:moveTo>
                    <a:pt x="262191" y="16332"/>
                  </a:moveTo>
                  <a:lnTo>
                    <a:pt x="242417" y="16332"/>
                  </a:lnTo>
                  <a:lnTo>
                    <a:pt x="242417" y="30949"/>
                  </a:lnTo>
                  <a:lnTo>
                    <a:pt x="200456" y="30949"/>
                  </a:lnTo>
                  <a:lnTo>
                    <a:pt x="200456" y="74790"/>
                  </a:lnTo>
                  <a:lnTo>
                    <a:pt x="213639" y="74790"/>
                  </a:lnTo>
                  <a:lnTo>
                    <a:pt x="213639" y="41833"/>
                  </a:lnTo>
                  <a:lnTo>
                    <a:pt x="262191" y="41833"/>
                  </a:lnTo>
                  <a:lnTo>
                    <a:pt x="262191" y="16332"/>
                  </a:lnTo>
                  <a:close/>
                </a:path>
                <a:path w="262254" h="224155">
                  <a:moveTo>
                    <a:pt x="262191" y="41833"/>
                  </a:moveTo>
                  <a:lnTo>
                    <a:pt x="242417" y="41833"/>
                  </a:lnTo>
                  <a:lnTo>
                    <a:pt x="242417" y="61036"/>
                  </a:lnTo>
                  <a:lnTo>
                    <a:pt x="262191" y="70777"/>
                  </a:lnTo>
                  <a:lnTo>
                    <a:pt x="262191" y="41833"/>
                  </a:lnTo>
                  <a:close/>
                </a:path>
                <a:path w="262254" h="224155">
                  <a:moveTo>
                    <a:pt x="94678" y="29222"/>
                  </a:moveTo>
                  <a:lnTo>
                    <a:pt x="81495" y="29222"/>
                  </a:lnTo>
                  <a:lnTo>
                    <a:pt x="81495" y="63614"/>
                  </a:lnTo>
                  <a:lnTo>
                    <a:pt x="94678" y="63614"/>
                  </a:lnTo>
                  <a:lnTo>
                    <a:pt x="94678" y="29222"/>
                  </a:lnTo>
                  <a:close/>
                </a:path>
                <a:path w="262254" h="224155">
                  <a:moveTo>
                    <a:pt x="57226" y="16332"/>
                  </a:moveTo>
                  <a:lnTo>
                    <a:pt x="44043" y="16332"/>
                  </a:lnTo>
                  <a:lnTo>
                    <a:pt x="44043" y="41833"/>
                  </a:lnTo>
                  <a:lnTo>
                    <a:pt x="57226" y="41833"/>
                  </a:lnTo>
                  <a:lnTo>
                    <a:pt x="57226" y="16332"/>
                  </a:lnTo>
                  <a:close/>
                </a:path>
                <a:path w="262254" h="224155">
                  <a:moveTo>
                    <a:pt x="132130" y="16332"/>
                  </a:moveTo>
                  <a:lnTo>
                    <a:pt x="118960" y="16332"/>
                  </a:lnTo>
                  <a:lnTo>
                    <a:pt x="118960" y="41833"/>
                  </a:lnTo>
                  <a:lnTo>
                    <a:pt x="132130" y="41833"/>
                  </a:lnTo>
                  <a:lnTo>
                    <a:pt x="132130" y="16332"/>
                  </a:lnTo>
                  <a:close/>
                </a:path>
              </a:pathLst>
            </a:custGeom>
            <a:solidFill>
              <a:srgbClr val="808080"/>
            </a:solidFill>
          </p:spPr>
          <p:txBody>
            <a:bodyPr wrap="square" lIns="0" tIns="0" rIns="0" bIns="0" rtlCol="0"/>
            <a:lstStyle/>
            <a:p/>
          </p:txBody>
        </p:sp>
      </p:grpSp>
      <p:sp>
        <p:nvSpPr>
          <p:cNvPr id="28" name="object 28" descr=""/>
          <p:cNvSpPr txBox="1"/>
          <p:nvPr/>
        </p:nvSpPr>
        <p:spPr>
          <a:xfrm>
            <a:off x="6598212" y="1046933"/>
            <a:ext cx="2542540" cy="1644650"/>
          </a:xfrm>
          <a:prstGeom prst="rect">
            <a:avLst/>
          </a:prstGeom>
        </p:spPr>
        <p:txBody>
          <a:bodyPr wrap="square" lIns="0" tIns="41275" rIns="0" bIns="0" rtlCol="0" vert="horz">
            <a:spAutoFit/>
          </a:bodyPr>
          <a:lstStyle/>
          <a:p>
            <a:pPr algn="ctr" marR="67945">
              <a:lnSpc>
                <a:spcPct val="100000"/>
              </a:lnSpc>
              <a:spcBef>
                <a:spcPts val="325"/>
              </a:spcBef>
              <a:tabLst>
                <a:tab pos="623570" algn="l"/>
                <a:tab pos="1045844" algn="l"/>
              </a:tabLst>
            </a:pPr>
            <a:r>
              <a:rPr dirty="0" sz="2800" spc="-25">
                <a:solidFill>
                  <a:srgbClr val="FFFFFF"/>
                </a:solidFill>
                <a:latin typeface="Microsoft YaHei"/>
                <a:cs typeface="Microsoft YaHei"/>
              </a:rPr>
              <a:t>03</a:t>
            </a:r>
            <a:r>
              <a:rPr dirty="0" sz="2800">
                <a:solidFill>
                  <a:srgbClr val="FFFFFF"/>
                </a:solidFill>
                <a:latin typeface="Microsoft YaHei"/>
                <a:cs typeface="Microsoft YaHei"/>
              </a:rPr>
              <a:t>	</a:t>
            </a:r>
            <a:r>
              <a:rPr dirty="0" u="sng" sz="2800">
                <a:solidFill>
                  <a:srgbClr val="FFFFFF"/>
                </a:solidFill>
                <a:uFill>
                  <a:solidFill>
                    <a:srgbClr val="00B0F0"/>
                  </a:solidFill>
                </a:uFill>
                <a:latin typeface="Microsoft YaHei"/>
                <a:cs typeface="Microsoft YaHei"/>
              </a:rPr>
              <a:t>	</a:t>
            </a:r>
            <a:endParaRPr sz="2800">
              <a:latin typeface="Microsoft YaHei"/>
              <a:cs typeface="Microsoft YaHei"/>
            </a:endParaRPr>
          </a:p>
          <a:p>
            <a:pPr algn="ctr" marL="916940" marR="931544">
              <a:lnSpc>
                <a:spcPct val="100000"/>
              </a:lnSpc>
              <a:spcBef>
                <a:spcPts val="145"/>
              </a:spcBef>
            </a:pPr>
            <a:r>
              <a:rPr dirty="0" sz="1800" spc="-20" b="1">
                <a:solidFill>
                  <a:srgbClr val="00B0F0"/>
                </a:solidFill>
                <a:latin typeface="Microsoft YaHei"/>
                <a:cs typeface="Microsoft YaHei"/>
              </a:rPr>
              <a:t>智能化</a:t>
            </a:r>
            <a:r>
              <a:rPr dirty="0" sz="1800" spc="-25" b="1">
                <a:solidFill>
                  <a:srgbClr val="00B0F0"/>
                </a:solidFill>
                <a:latin typeface="Microsoft YaHei"/>
                <a:cs typeface="Microsoft YaHei"/>
              </a:rPr>
              <a:t>应用</a:t>
            </a:r>
            <a:endParaRPr sz="1800">
              <a:latin typeface="Microsoft YaHei"/>
              <a:cs typeface="Microsoft YaHei"/>
            </a:endParaRPr>
          </a:p>
          <a:p>
            <a:pPr algn="ctr" marR="46355">
              <a:lnSpc>
                <a:spcPct val="100000"/>
              </a:lnSpc>
              <a:spcBef>
                <a:spcPts val="1805"/>
              </a:spcBef>
            </a:pPr>
            <a:r>
              <a:rPr dirty="0" sz="1400" spc="-25" b="1">
                <a:solidFill>
                  <a:srgbClr val="C00000"/>
                </a:solidFill>
                <a:latin typeface="Microsoft YaHei"/>
                <a:cs typeface="Microsoft YaHei"/>
              </a:rPr>
              <a:t>人工智能芯片、物联网</a:t>
            </a:r>
            <a:endParaRPr sz="1400">
              <a:latin typeface="Microsoft YaHei"/>
              <a:cs typeface="Microsoft YaHei"/>
            </a:endParaRPr>
          </a:p>
          <a:p>
            <a:pPr algn="ctr">
              <a:lnSpc>
                <a:spcPct val="100000"/>
              </a:lnSpc>
              <a:spcBef>
                <a:spcPts val="10"/>
              </a:spcBef>
            </a:pPr>
            <a:r>
              <a:rPr dirty="0" sz="1000" spc="-10">
                <a:latin typeface="Microsoft YaHei"/>
                <a:cs typeface="Microsoft YaHei"/>
              </a:rPr>
              <a:t>助阵智慧应用</a:t>
            </a:r>
            <a:r>
              <a:rPr dirty="0" sz="1000">
                <a:latin typeface="Microsoft YaHei"/>
                <a:cs typeface="Microsoft YaHei"/>
              </a:rPr>
              <a:t>（</a:t>
            </a:r>
            <a:r>
              <a:rPr dirty="0" sz="1000" spc="-15">
                <a:latin typeface="Microsoft YaHei"/>
                <a:cs typeface="Microsoft YaHei"/>
              </a:rPr>
              <a:t>智慧消防、智慧环境监控…</a:t>
            </a:r>
            <a:r>
              <a:rPr dirty="0" sz="1000" spc="-25">
                <a:latin typeface="Microsoft YaHei"/>
                <a:cs typeface="Microsoft YaHei"/>
              </a:rPr>
              <a:t>）</a:t>
            </a:r>
            <a:endParaRPr sz="1000">
              <a:latin typeface="Microsoft YaHei"/>
              <a:cs typeface="Microsoft YaHei"/>
            </a:endParaRPr>
          </a:p>
        </p:txBody>
      </p:sp>
      <p:grpSp>
        <p:nvGrpSpPr>
          <p:cNvPr id="29" name="object 29" descr=""/>
          <p:cNvGrpSpPr/>
          <p:nvPr/>
        </p:nvGrpSpPr>
        <p:grpSpPr>
          <a:xfrm>
            <a:off x="1683257" y="4569713"/>
            <a:ext cx="6026150" cy="427990"/>
            <a:chOff x="1683257" y="4569713"/>
            <a:chExt cx="6026150" cy="427990"/>
          </a:xfrm>
        </p:grpSpPr>
        <p:pic>
          <p:nvPicPr>
            <p:cNvPr id="30" name="object 30" descr=""/>
            <p:cNvPicPr/>
            <p:nvPr/>
          </p:nvPicPr>
          <p:blipFill>
            <a:blip r:embed="rId13" cstate="print"/>
            <a:stretch>
              <a:fillRect/>
            </a:stretch>
          </p:blipFill>
          <p:spPr>
            <a:xfrm>
              <a:off x="1683257" y="4569713"/>
              <a:ext cx="4425695" cy="427482"/>
            </a:xfrm>
            <a:prstGeom prst="rect">
              <a:avLst/>
            </a:prstGeom>
          </p:spPr>
        </p:pic>
        <p:pic>
          <p:nvPicPr>
            <p:cNvPr id="31" name="object 31" descr=""/>
            <p:cNvPicPr/>
            <p:nvPr/>
          </p:nvPicPr>
          <p:blipFill>
            <a:blip r:embed="rId14" cstate="print"/>
            <a:stretch>
              <a:fillRect/>
            </a:stretch>
          </p:blipFill>
          <p:spPr>
            <a:xfrm>
              <a:off x="5798057" y="4569713"/>
              <a:ext cx="1225295" cy="427482"/>
            </a:xfrm>
            <a:prstGeom prst="rect">
              <a:avLst/>
            </a:prstGeom>
          </p:spPr>
        </p:pic>
        <p:pic>
          <p:nvPicPr>
            <p:cNvPr id="32" name="object 32" descr=""/>
            <p:cNvPicPr/>
            <p:nvPr/>
          </p:nvPicPr>
          <p:blipFill>
            <a:blip r:embed="rId15" cstate="print"/>
            <a:stretch>
              <a:fillRect/>
            </a:stretch>
          </p:blipFill>
          <p:spPr>
            <a:xfrm>
              <a:off x="6712457" y="4569713"/>
              <a:ext cx="996695" cy="427482"/>
            </a:xfrm>
            <a:prstGeom prst="rect">
              <a:avLst/>
            </a:prstGeom>
          </p:spPr>
        </p:pic>
      </p:grpSp>
      <p:sp>
        <p:nvSpPr>
          <p:cNvPr id="33" name="object 33" descr=""/>
          <p:cNvSpPr txBox="1"/>
          <p:nvPr/>
        </p:nvSpPr>
        <p:spPr>
          <a:xfrm>
            <a:off x="1813703" y="4622267"/>
            <a:ext cx="5740400" cy="299720"/>
          </a:xfrm>
          <a:prstGeom prst="rect">
            <a:avLst/>
          </a:prstGeom>
        </p:spPr>
        <p:txBody>
          <a:bodyPr wrap="square" lIns="0" tIns="12700" rIns="0" bIns="0" rtlCol="0" vert="horz">
            <a:spAutoFit/>
          </a:bodyPr>
          <a:lstStyle/>
          <a:p>
            <a:pPr marL="12700">
              <a:lnSpc>
                <a:spcPct val="100000"/>
              </a:lnSpc>
              <a:spcBef>
                <a:spcPts val="100"/>
              </a:spcBef>
            </a:pPr>
            <a:r>
              <a:rPr dirty="0" sz="1800" spc="-5" b="1">
                <a:solidFill>
                  <a:srgbClr val="C00000"/>
                </a:solidFill>
                <a:latin typeface="Microsoft YaHei"/>
                <a:cs typeface="Microsoft YaHei"/>
              </a:rPr>
              <a:t>互联、低碳、高效、安全、可持续，打造智慧园区生态圈</a:t>
            </a:r>
            <a:endParaRPr sz="1800">
              <a:latin typeface="Microsoft YaHei"/>
              <a:cs typeface="Microsoft YaHei"/>
            </a:endParaRPr>
          </a:p>
        </p:txBody>
      </p:sp>
      <p:sp>
        <p:nvSpPr>
          <p:cNvPr id="34" name="object 34" descr=""/>
          <p:cNvSpPr txBox="1"/>
          <p:nvPr/>
        </p:nvSpPr>
        <p:spPr>
          <a:xfrm>
            <a:off x="1603554" y="4281537"/>
            <a:ext cx="2859405" cy="238760"/>
          </a:xfrm>
          <a:prstGeom prst="rect">
            <a:avLst/>
          </a:prstGeom>
        </p:spPr>
        <p:txBody>
          <a:bodyPr wrap="square" lIns="0" tIns="12065" rIns="0" bIns="0" rtlCol="0" vert="horz">
            <a:spAutoFit/>
          </a:bodyPr>
          <a:lstStyle/>
          <a:p>
            <a:pPr marL="12700">
              <a:lnSpc>
                <a:spcPct val="100000"/>
              </a:lnSpc>
              <a:spcBef>
                <a:spcPts val="95"/>
              </a:spcBef>
            </a:pPr>
            <a:r>
              <a:rPr dirty="0" sz="1400" spc="-10" b="1">
                <a:solidFill>
                  <a:srgbClr val="C00000"/>
                </a:solidFill>
                <a:latin typeface="Microsoft YaHei"/>
                <a:cs typeface="Microsoft YaHei"/>
              </a:rPr>
              <a:t>360</a:t>
            </a:r>
            <a:r>
              <a:rPr dirty="0" sz="1400" spc="-25" b="1">
                <a:solidFill>
                  <a:srgbClr val="C00000"/>
                </a:solidFill>
                <a:latin typeface="Microsoft YaHei"/>
                <a:cs typeface="Microsoft YaHei"/>
              </a:rPr>
              <a:t>°全景视频监控、机器智能巡检</a:t>
            </a:r>
            <a:r>
              <a:rPr dirty="0" sz="1200" spc="-50">
                <a:latin typeface="Microsoft YaHei"/>
                <a:cs typeface="Microsoft YaHei"/>
              </a:rPr>
              <a:t>…</a:t>
            </a:r>
            <a:endParaRPr sz="1200">
              <a:latin typeface="Microsoft YaHei"/>
              <a:cs typeface="Microsoft YaHei"/>
            </a:endParaRPr>
          </a:p>
        </p:txBody>
      </p:sp>
      <p:grpSp>
        <p:nvGrpSpPr>
          <p:cNvPr id="35" name="object 35" descr=""/>
          <p:cNvGrpSpPr/>
          <p:nvPr/>
        </p:nvGrpSpPr>
        <p:grpSpPr>
          <a:xfrm>
            <a:off x="2004059" y="2563367"/>
            <a:ext cx="2314575" cy="2009775"/>
            <a:chOff x="2004059" y="2563367"/>
            <a:chExt cx="2314575" cy="2009775"/>
          </a:xfrm>
        </p:grpSpPr>
        <p:pic>
          <p:nvPicPr>
            <p:cNvPr id="36" name="object 36"/>
            <p:cNvPicPr/>
            <p:nvPr/>
          </p:nvPicPr>
          <p:blipFill>
            <a:blip r:embed="rId16" cstate="print"/>
            <a:stretch>
              <a:fillRect/>
            </a:stretch>
          </p:blipFill>
          <p:spPr>
            <a:xfrm>
              <a:off x="2004059" y="2563367"/>
              <a:ext cx="2314193" cy="2009393"/>
            </a:xfrm>
            <a:prstGeom prst="rect">
              <a:avLst/>
            </a:prstGeom>
          </p:spPr>
        </p:pic>
        <p:pic>
          <p:nvPicPr>
            <p:cNvPr id="37" name="object 37" descr=""/>
            <p:cNvPicPr/>
            <p:nvPr/>
          </p:nvPicPr>
          <p:blipFill>
            <a:blip r:embed="rId17" cstate="print"/>
            <a:stretch>
              <a:fillRect/>
            </a:stretch>
          </p:blipFill>
          <p:spPr>
            <a:xfrm>
              <a:off x="2193797" y="2753118"/>
              <a:ext cx="1754885" cy="1450072"/>
            </a:xfrm>
            <a:prstGeom prst="rect">
              <a:avLst/>
            </a:prstGeom>
          </p:spPr>
        </p:pic>
        <p:pic>
          <p:nvPicPr>
            <p:cNvPr id="38" name="object 38" descr=""/>
            <p:cNvPicPr/>
            <p:nvPr/>
          </p:nvPicPr>
          <p:blipFill>
            <a:blip r:embed="rId18" cstate="print"/>
            <a:stretch>
              <a:fillRect/>
            </a:stretch>
          </p:blipFill>
          <p:spPr>
            <a:xfrm>
              <a:off x="2314955" y="2852927"/>
              <a:ext cx="1513331" cy="1251203"/>
            </a:xfrm>
            <a:prstGeom prst="rect">
              <a:avLst/>
            </a:prstGeom>
          </p:spPr>
        </p:pic>
        <p:pic>
          <p:nvPicPr>
            <p:cNvPr id="39" name="object 39" descr=""/>
            <p:cNvPicPr/>
            <p:nvPr/>
          </p:nvPicPr>
          <p:blipFill>
            <a:blip r:embed="rId19" cstate="print"/>
            <a:stretch>
              <a:fillRect/>
            </a:stretch>
          </p:blipFill>
          <p:spPr>
            <a:xfrm>
              <a:off x="2300947" y="2847378"/>
              <a:ext cx="1540738" cy="1270000"/>
            </a:xfrm>
            <a:prstGeom prst="rect">
              <a:avLst/>
            </a:prstGeom>
          </p:spPr>
        </p:pic>
        <p:sp>
          <p:nvSpPr>
            <p:cNvPr id="40" name="object 40" descr=""/>
            <p:cNvSpPr/>
            <p:nvPr/>
          </p:nvSpPr>
          <p:spPr>
            <a:xfrm>
              <a:off x="2399588" y="2923044"/>
              <a:ext cx="1344295" cy="1110615"/>
            </a:xfrm>
            <a:custGeom>
              <a:avLst/>
              <a:gdLst/>
              <a:ahLst/>
              <a:cxnLst/>
              <a:rect l="l" t="t" r="r" b="b"/>
              <a:pathLst>
                <a:path w="1344295" h="1110614">
                  <a:moveTo>
                    <a:pt x="671868" y="0"/>
                  </a:moveTo>
                  <a:lnTo>
                    <a:pt x="671855" y="555256"/>
                  </a:lnTo>
                  <a:lnTo>
                    <a:pt x="0" y="555256"/>
                  </a:lnTo>
                  <a:lnTo>
                    <a:pt x="2021" y="598648"/>
                  </a:lnTo>
                  <a:lnTo>
                    <a:pt x="7985" y="641127"/>
                  </a:lnTo>
                  <a:lnTo>
                    <a:pt x="17744" y="682570"/>
                  </a:lnTo>
                  <a:lnTo>
                    <a:pt x="31146" y="722852"/>
                  </a:lnTo>
                  <a:lnTo>
                    <a:pt x="48044" y="761850"/>
                  </a:lnTo>
                  <a:lnTo>
                    <a:pt x="68288" y="799442"/>
                  </a:lnTo>
                  <a:lnTo>
                    <a:pt x="91728" y="835502"/>
                  </a:lnTo>
                  <a:lnTo>
                    <a:pt x="118215" y="869909"/>
                  </a:lnTo>
                  <a:lnTo>
                    <a:pt x="147599" y="902539"/>
                  </a:lnTo>
                  <a:lnTo>
                    <a:pt x="179732" y="933267"/>
                  </a:lnTo>
                  <a:lnTo>
                    <a:pt x="214464" y="961971"/>
                  </a:lnTo>
                  <a:lnTo>
                    <a:pt x="251646" y="988527"/>
                  </a:lnTo>
                  <a:lnTo>
                    <a:pt x="291128" y="1012813"/>
                  </a:lnTo>
                  <a:lnTo>
                    <a:pt x="332760" y="1034703"/>
                  </a:lnTo>
                  <a:lnTo>
                    <a:pt x="376394" y="1054075"/>
                  </a:lnTo>
                  <a:lnTo>
                    <a:pt x="421881" y="1070806"/>
                  </a:lnTo>
                  <a:lnTo>
                    <a:pt x="469070" y="1084771"/>
                  </a:lnTo>
                  <a:lnTo>
                    <a:pt x="517812" y="1095848"/>
                  </a:lnTo>
                  <a:lnTo>
                    <a:pt x="567959" y="1103913"/>
                  </a:lnTo>
                  <a:lnTo>
                    <a:pt x="619361" y="1108842"/>
                  </a:lnTo>
                  <a:lnTo>
                    <a:pt x="671868" y="1110513"/>
                  </a:lnTo>
                  <a:lnTo>
                    <a:pt x="724373" y="1108842"/>
                  </a:lnTo>
                  <a:lnTo>
                    <a:pt x="775773" y="1103913"/>
                  </a:lnTo>
                  <a:lnTo>
                    <a:pt x="825918" y="1095848"/>
                  </a:lnTo>
                  <a:lnTo>
                    <a:pt x="874659" y="1084771"/>
                  </a:lnTo>
                  <a:lnTo>
                    <a:pt x="921847" y="1070806"/>
                  </a:lnTo>
                  <a:lnTo>
                    <a:pt x="967333" y="1054075"/>
                  </a:lnTo>
                  <a:lnTo>
                    <a:pt x="1010966" y="1034703"/>
                  </a:lnTo>
                  <a:lnTo>
                    <a:pt x="1052598" y="1012813"/>
                  </a:lnTo>
                  <a:lnTo>
                    <a:pt x="1092079" y="988527"/>
                  </a:lnTo>
                  <a:lnTo>
                    <a:pt x="1129260" y="961971"/>
                  </a:lnTo>
                  <a:lnTo>
                    <a:pt x="1163991" y="933267"/>
                  </a:lnTo>
                  <a:lnTo>
                    <a:pt x="1196124" y="902539"/>
                  </a:lnTo>
                  <a:lnTo>
                    <a:pt x="1225508" y="869909"/>
                  </a:lnTo>
                  <a:lnTo>
                    <a:pt x="1251995" y="835502"/>
                  </a:lnTo>
                  <a:lnTo>
                    <a:pt x="1275435" y="799442"/>
                  </a:lnTo>
                  <a:lnTo>
                    <a:pt x="1295678" y="761850"/>
                  </a:lnTo>
                  <a:lnTo>
                    <a:pt x="1312576" y="722852"/>
                  </a:lnTo>
                  <a:lnTo>
                    <a:pt x="1325979" y="682570"/>
                  </a:lnTo>
                  <a:lnTo>
                    <a:pt x="1335737" y="641127"/>
                  </a:lnTo>
                  <a:lnTo>
                    <a:pt x="1341702" y="598648"/>
                  </a:lnTo>
                  <a:lnTo>
                    <a:pt x="1343723" y="555256"/>
                  </a:lnTo>
                  <a:lnTo>
                    <a:pt x="1341702" y="511864"/>
                  </a:lnTo>
                  <a:lnTo>
                    <a:pt x="1335737" y="469385"/>
                  </a:lnTo>
                  <a:lnTo>
                    <a:pt x="1325979" y="427943"/>
                  </a:lnTo>
                  <a:lnTo>
                    <a:pt x="1312576" y="387661"/>
                  </a:lnTo>
                  <a:lnTo>
                    <a:pt x="1295678" y="348662"/>
                  </a:lnTo>
                  <a:lnTo>
                    <a:pt x="1275435" y="311071"/>
                  </a:lnTo>
                  <a:lnTo>
                    <a:pt x="1251995" y="275010"/>
                  </a:lnTo>
                  <a:lnTo>
                    <a:pt x="1225508" y="240603"/>
                  </a:lnTo>
                  <a:lnTo>
                    <a:pt x="1196124" y="207974"/>
                  </a:lnTo>
                  <a:lnTo>
                    <a:pt x="1163991" y="177245"/>
                  </a:lnTo>
                  <a:lnTo>
                    <a:pt x="1129260" y="148541"/>
                  </a:lnTo>
                  <a:lnTo>
                    <a:pt x="1092079" y="121985"/>
                  </a:lnTo>
                  <a:lnTo>
                    <a:pt x="1052598" y="97700"/>
                  </a:lnTo>
                  <a:lnTo>
                    <a:pt x="1010966" y="75810"/>
                  </a:lnTo>
                  <a:lnTo>
                    <a:pt x="967333" y="56437"/>
                  </a:lnTo>
                  <a:lnTo>
                    <a:pt x="921847" y="39707"/>
                  </a:lnTo>
                  <a:lnTo>
                    <a:pt x="874659" y="25741"/>
                  </a:lnTo>
                  <a:lnTo>
                    <a:pt x="825918" y="14665"/>
                  </a:lnTo>
                  <a:lnTo>
                    <a:pt x="775773" y="6600"/>
                  </a:lnTo>
                  <a:lnTo>
                    <a:pt x="724373" y="1670"/>
                  </a:lnTo>
                  <a:lnTo>
                    <a:pt x="671868" y="0"/>
                  </a:lnTo>
                  <a:close/>
                </a:path>
              </a:pathLst>
            </a:custGeom>
            <a:solidFill>
              <a:srgbClr val="F7F7F7"/>
            </a:solidFill>
          </p:spPr>
          <p:txBody>
            <a:bodyPr wrap="square" lIns="0" tIns="0" rIns="0" bIns="0" rtlCol="0"/>
            <a:lstStyle/>
            <a:p/>
          </p:txBody>
        </p:sp>
      </p:grpSp>
      <p:sp>
        <p:nvSpPr>
          <p:cNvPr id="41" name="object 41" descr=""/>
          <p:cNvSpPr txBox="1"/>
          <p:nvPr/>
        </p:nvSpPr>
        <p:spPr>
          <a:xfrm>
            <a:off x="2558585" y="3025852"/>
            <a:ext cx="38354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FFFF"/>
                </a:solidFill>
                <a:latin typeface="Microsoft YaHei"/>
                <a:cs typeface="Microsoft YaHei"/>
              </a:rPr>
              <a:t>04</a:t>
            </a:r>
            <a:endParaRPr sz="2400">
              <a:latin typeface="Microsoft YaHei"/>
              <a:cs typeface="Microsoft YaHei"/>
            </a:endParaRPr>
          </a:p>
        </p:txBody>
      </p:sp>
      <p:grpSp>
        <p:nvGrpSpPr>
          <p:cNvPr id="42" name="object 42" descr=""/>
          <p:cNvGrpSpPr/>
          <p:nvPr/>
        </p:nvGrpSpPr>
        <p:grpSpPr>
          <a:xfrm>
            <a:off x="3185485" y="3195387"/>
            <a:ext cx="438150" cy="280670"/>
            <a:chOff x="3185485" y="3195387"/>
            <a:chExt cx="438150" cy="280670"/>
          </a:xfrm>
        </p:grpSpPr>
        <p:sp>
          <p:nvSpPr>
            <p:cNvPr id="43" name="object 43" descr=""/>
            <p:cNvSpPr/>
            <p:nvPr/>
          </p:nvSpPr>
          <p:spPr>
            <a:xfrm>
              <a:off x="3193422" y="3467926"/>
              <a:ext cx="422275" cy="0"/>
            </a:xfrm>
            <a:custGeom>
              <a:avLst/>
              <a:gdLst/>
              <a:ahLst/>
              <a:cxnLst/>
              <a:rect l="l" t="t" r="r" b="b"/>
              <a:pathLst>
                <a:path w="422275" h="0">
                  <a:moveTo>
                    <a:pt x="0" y="0"/>
                  </a:moveTo>
                  <a:lnTo>
                    <a:pt x="421805" y="0"/>
                  </a:lnTo>
                </a:path>
              </a:pathLst>
            </a:custGeom>
            <a:ln w="15875">
              <a:solidFill>
                <a:srgbClr val="00B0F0"/>
              </a:solidFill>
            </a:ln>
          </p:spPr>
          <p:txBody>
            <a:bodyPr wrap="square" lIns="0" tIns="0" rIns="0" bIns="0" rtlCol="0"/>
            <a:lstStyle/>
            <a:p/>
          </p:txBody>
        </p:sp>
        <p:sp>
          <p:nvSpPr>
            <p:cNvPr id="44" name="object 44" descr=""/>
            <p:cNvSpPr/>
            <p:nvPr/>
          </p:nvSpPr>
          <p:spPr>
            <a:xfrm>
              <a:off x="3263333" y="3268986"/>
              <a:ext cx="282575" cy="93345"/>
            </a:xfrm>
            <a:custGeom>
              <a:avLst/>
              <a:gdLst/>
              <a:ahLst/>
              <a:cxnLst/>
              <a:rect l="l" t="t" r="r" b="b"/>
              <a:pathLst>
                <a:path w="282575" h="93345">
                  <a:moveTo>
                    <a:pt x="242442" y="0"/>
                  </a:moveTo>
                  <a:lnTo>
                    <a:pt x="242442" y="11176"/>
                  </a:lnTo>
                  <a:lnTo>
                    <a:pt x="213652" y="11176"/>
                  </a:lnTo>
                  <a:lnTo>
                    <a:pt x="209143" y="14617"/>
                  </a:lnTo>
                  <a:lnTo>
                    <a:pt x="209143" y="43002"/>
                  </a:lnTo>
                  <a:lnTo>
                    <a:pt x="94691" y="43002"/>
                  </a:lnTo>
                  <a:lnTo>
                    <a:pt x="90169" y="46443"/>
                  </a:lnTo>
                  <a:lnTo>
                    <a:pt x="90169" y="76542"/>
                  </a:lnTo>
                  <a:lnTo>
                    <a:pt x="51676" y="76542"/>
                  </a:lnTo>
                  <a:lnTo>
                    <a:pt x="51676" y="45580"/>
                  </a:lnTo>
                  <a:lnTo>
                    <a:pt x="47167" y="42138"/>
                  </a:lnTo>
                  <a:lnTo>
                    <a:pt x="0" y="42138"/>
                  </a:lnTo>
                  <a:lnTo>
                    <a:pt x="0" y="58483"/>
                  </a:lnTo>
                  <a:lnTo>
                    <a:pt x="31902" y="58483"/>
                  </a:lnTo>
                  <a:lnTo>
                    <a:pt x="31902" y="89446"/>
                  </a:lnTo>
                  <a:lnTo>
                    <a:pt x="36410" y="92875"/>
                  </a:lnTo>
                  <a:lnTo>
                    <a:pt x="105778" y="92875"/>
                  </a:lnTo>
                  <a:lnTo>
                    <a:pt x="109943" y="89446"/>
                  </a:lnTo>
                  <a:lnTo>
                    <a:pt x="109943" y="59347"/>
                  </a:lnTo>
                  <a:lnTo>
                    <a:pt x="224751" y="59347"/>
                  </a:lnTo>
                  <a:lnTo>
                    <a:pt x="229260" y="55613"/>
                  </a:lnTo>
                  <a:lnTo>
                    <a:pt x="229260" y="27520"/>
                  </a:lnTo>
                  <a:lnTo>
                    <a:pt x="242442" y="27520"/>
                  </a:lnTo>
                  <a:lnTo>
                    <a:pt x="242442" y="38417"/>
                  </a:lnTo>
                  <a:lnTo>
                    <a:pt x="281978" y="19202"/>
                  </a:lnTo>
                  <a:lnTo>
                    <a:pt x="242442" y="0"/>
                  </a:lnTo>
                  <a:close/>
                </a:path>
              </a:pathLst>
            </a:custGeom>
            <a:solidFill>
              <a:srgbClr val="00B0F0"/>
            </a:solidFill>
          </p:spPr>
          <p:txBody>
            <a:bodyPr wrap="square" lIns="0" tIns="0" rIns="0" bIns="0" rtlCol="0"/>
            <a:lstStyle/>
            <a:p/>
          </p:txBody>
        </p:sp>
        <p:sp>
          <p:nvSpPr>
            <p:cNvPr id="45" name="object 45" descr=""/>
            <p:cNvSpPr/>
            <p:nvPr/>
          </p:nvSpPr>
          <p:spPr>
            <a:xfrm>
              <a:off x="3263326" y="3195387"/>
              <a:ext cx="262255" cy="224154"/>
            </a:xfrm>
            <a:custGeom>
              <a:avLst/>
              <a:gdLst/>
              <a:ahLst/>
              <a:cxnLst/>
              <a:rect l="l" t="t" r="r" b="b"/>
              <a:pathLst>
                <a:path w="262254" h="224154">
                  <a:moveTo>
                    <a:pt x="19773" y="142989"/>
                  </a:moveTo>
                  <a:lnTo>
                    <a:pt x="0" y="142989"/>
                  </a:lnTo>
                  <a:lnTo>
                    <a:pt x="0" y="220345"/>
                  </a:lnTo>
                  <a:lnTo>
                    <a:pt x="4165" y="224078"/>
                  </a:lnTo>
                  <a:lnTo>
                    <a:pt x="257683" y="224078"/>
                  </a:lnTo>
                  <a:lnTo>
                    <a:pt x="262191" y="220345"/>
                  </a:lnTo>
                  <a:lnTo>
                    <a:pt x="262191" y="207746"/>
                  </a:lnTo>
                  <a:lnTo>
                    <a:pt x="19773" y="207746"/>
                  </a:lnTo>
                  <a:lnTo>
                    <a:pt x="19773" y="142989"/>
                  </a:lnTo>
                  <a:close/>
                </a:path>
                <a:path w="262254" h="224154">
                  <a:moveTo>
                    <a:pt x="94678" y="187680"/>
                  </a:moveTo>
                  <a:lnTo>
                    <a:pt x="81495" y="187680"/>
                  </a:lnTo>
                  <a:lnTo>
                    <a:pt x="81495" y="207746"/>
                  </a:lnTo>
                  <a:lnTo>
                    <a:pt x="94678" y="207746"/>
                  </a:lnTo>
                  <a:lnTo>
                    <a:pt x="94678" y="187680"/>
                  </a:lnTo>
                  <a:close/>
                </a:path>
                <a:path w="262254" h="224154">
                  <a:moveTo>
                    <a:pt x="213626" y="143840"/>
                  </a:moveTo>
                  <a:lnTo>
                    <a:pt x="160921" y="143840"/>
                  </a:lnTo>
                  <a:lnTo>
                    <a:pt x="160921" y="154736"/>
                  </a:lnTo>
                  <a:lnTo>
                    <a:pt x="200456" y="154736"/>
                  </a:lnTo>
                  <a:lnTo>
                    <a:pt x="200456" y="176504"/>
                  </a:lnTo>
                  <a:lnTo>
                    <a:pt x="160921" y="176504"/>
                  </a:lnTo>
                  <a:lnTo>
                    <a:pt x="160921" y="207746"/>
                  </a:lnTo>
                  <a:lnTo>
                    <a:pt x="174091" y="207746"/>
                  </a:lnTo>
                  <a:lnTo>
                    <a:pt x="174091" y="187680"/>
                  </a:lnTo>
                  <a:lnTo>
                    <a:pt x="213626" y="187680"/>
                  </a:lnTo>
                  <a:lnTo>
                    <a:pt x="213626" y="143840"/>
                  </a:lnTo>
                  <a:close/>
                </a:path>
                <a:path w="262254" h="224154">
                  <a:moveTo>
                    <a:pt x="262191" y="115189"/>
                  </a:moveTo>
                  <a:lnTo>
                    <a:pt x="242417" y="124650"/>
                  </a:lnTo>
                  <a:lnTo>
                    <a:pt x="242417" y="207746"/>
                  </a:lnTo>
                  <a:lnTo>
                    <a:pt x="262191" y="207746"/>
                  </a:lnTo>
                  <a:lnTo>
                    <a:pt x="262191" y="115189"/>
                  </a:lnTo>
                  <a:close/>
                </a:path>
                <a:path w="262254" h="224154">
                  <a:moveTo>
                    <a:pt x="135597" y="143840"/>
                  </a:moveTo>
                  <a:lnTo>
                    <a:pt x="122072" y="143840"/>
                  </a:lnTo>
                  <a:lnTo>
                    <a:pt x="122072" y="176504"/>
                  </a:lnTo>
                  <a:lnTo>
                    <a:pt x="51676" y="176504"/>
                  </a:lnTo>
                  <a:lnTo>
                    <a:pt x="51676" y="187680"/>
                  </a:lnTo>
                  <a:lnTo>
                    <a:pt x="135597" y="187680"/>
                  </a:lnTo>
                  <a:lnTo>
                    <a:pt x="135597" y="143840"/>
                  </a:lnTo>
                  <a:close/>
                </a:path>
                <a:path w="262254" h="224154">
                  <a:moveTo>
                    <a:pt x="132130" y="74498"/>
                  </a:moveTo>
                  <a:lnTo>
                    <a:pt x="118960" y="74498"/>
                  </a:lnTo>
                  <a:lnTo>
                    <a:pt x="118960" y="94843"/>
                  </a:lnTo>
                  <a:lnTo>
                    <a:pt x="64858" y="94843"/>
                  </a:lnTo>
                  <a:lnTo>
                    <a:pt x="64858" y="139255"/>
                  </a:lnTo>
                  <a:lnTo>
                    <a:pt x="78028" y="139255"/>
                  </a:lnTo>
                  <a:lnTo>
                    <a:pt x="78028" y="105727"/>
                  </a:lnTo>
                  <a:lnTo>
                    <a:pt x="132130" y="105727"/>
                  </a:lnTo>
                  <a:lnTo>
                    <a:pt x="132130" y="74498"/>
                  </a:lnTo>
                  <a:close/>
                </a:path>
                <a:path w="262254" h="224154">
                  <a:moveTo>
                    <a:pt x="174091" y="16332"/>
                  </a:moveTo>
                  <a:lnTo>
                    <a:pt x="160921" y="16332"/>
                  </a:lnTo>
                  <a:lnTo>
                    <a:pt x="160921" y="105727"/>
                  </a:lnTo>
                  <a:lnTo>
                    <a:pt x="197332" y="105727"/>
                  </a:lnTo>
                  <a:lnTo>
                    <a:pt x="197332" y="94843"/>
                  </a:lnTo>
                  <a:lnTo>
                    <a:pt x="174091" y="94843"/>
                  </a:lnTo>
                  <a:lnTo>
                    <a:pt x="174091" y="16332"/>
                  </a:lnTo>
                  <a:close/>
                </a:path>
                <a:path w="262254" h="224154">
                  <a:moveTo>
                    <a:pt x="257683" y="0"/>
                  </a:moveTo>
                  <a:lnTo>
                    <a:pt x="4165" y="0"/>
                  </a:lnTo>
                  <a:lnTo>
                    <a:pt x="0" y="3721"/>
                  </a:lnTo>
                  <a:lnTo>
                    <a:pt x="0" y="104584"/>
                  </a:lnTo>
                  <a:lnTo>
                    <a:pt x="19773" y="104584"/>
                  </a:lnTo>
                  <a:lnTo>
                    <a:pt x="19773" y="74498"/>
                  </a:lnTo>
                  <a:lnTo>
                    <a:pt x="132130" y="74498"/>
                  </a:lnTo>
                  <a:lnTo>
                    <a:pt x="132130" y="63614"/>
                  </a:lnTo>
                  <a:lnTo>
                    <a:pt x="19773" y="63614"/>
                  </a:lnTo>
                  <a:lnTo>
                    <a:pt x="19773" y="16332"/>
                  </a:lnTo>
                  <a:lnTo>
                    <a:pt x="262191" y="16332"/>
                  </a:lnTo>
                  <a:lnTo>
                    <a:pt x="262191" y="3721"/>
                  </a:lnTo>
                  <a:lnTo>
                    <a:pt x="257683" y="0"/>
                  </a:lnTo>
                  <a:close/>
                </a:path>
                <a:path w="262254" h="224154">
                  <a:moveTo>
                    <a:pt x="262191" y="16332"/>
                  </a:moveTo>
                  <a:lnTo>
                    <a:pt x="242417" y="16332"/>
                  </a:lnTo>
                  <a:lnTo>
                    <a:pt x="242417" y="30949"/>
                  </a:lnTo>
                  <a:lnTo>
                    <a:pt x="200456" y="30949"/>
                  </a:lnTo>
                  <a:lnTo>
                    <a:pt x="200456" y="74790"/>
                  </a:lnTo>
                  <a:lnTo>
                    <a:pt x="213626" y="74790"/>
                  </a:lnTo>
                  <a:lnTo>
                    <a:pt x="213626" y="41833"/>
                  </a:lnTo>
                  <a:lnTo>
                    <a:pt x="262191" y="41833"/>
                  </a:lnTo>
                  <a:lnTo>
                    <a:pt x="262191" y="16332"/>
                  </a:lnTo>
                  <a:close/>
                </a:path>
                <a:path w="262254" h="224154">
                  <a:moveTo>
                    <a:pt x="262191" y="41833"/>
                  </a:moveTo>
                  <a:lnTo>
                    <a:pt x="242417" y="41833"/>
                  </a:lnTo>
                  <a:lnTo>
                    <a:pt x="242417" y="61036"/>
                  </a:lnTo>
                  <a:lnTo>
                    <a:pt x="262191" y="70777"/>
                  </a:lnTo>
                  <a:lnTo>
                    <a:pt x="262191" y="41833"/>
                  </a:lnTo>
                  <a:close/>
                </a:path>
                <a:path w="262254" h="224154">
                  <a:moveTo>
                    <a:pt x="94678" y="29222"/>
                  </a:moveTo>
                  <a:lnTo>
                    <a:pt x="81495" y="29222"/>
                  </a:lnTo>
                  <a:lnTo>
                    <a:pt x="81495" y="63614"/>
                  </a:lnTo>
                  <a:lnTo>
                    <a:pt x="94678" y="63614"/>
                  </a:lnTo>
                  <a:lnTo>
                    <a:pt x="94678" y="29222"/>
                  </a:lnTo>
                  <a:close/>
                </a:path>
                <a:path w="262254" h="224154">
                  <a:moveTo>
                    <a:pt x="57226" y="16332"/>
                  </a:moveTo>
                  <a:lnTo>
                    <a:pt x="44043" y="16332"/>
                  </a:lnTo>
                  <a:lnTo>
                    <a:pt x="44043" y="41833"/>
                  </a:lnTo>
                  <a:lnTo>
                    <a:pt x="57226" y="41833"/>
                  </a:lnTo>
                  <a:lnTo>
                    <a:pt x="57226" y="16332"/>
                  </a:lnTo>
                  <a:close/>
                </a:path>
                <a:path w="262254" h="224154">
                  <a:moveTo>
                    <a:pt x="132130" y="16332"/>
                  </a:moveTo>
                  <a:lnTo>
                    <a:pt x="118960" y="16332"/>
                  </a:lnTo>
                  <a:lnTo>
                    <a:pt x="118960" y="41833"/>
                  </a:lnTo>
                  <a:lnTo>
                    <a:pt x="132130" y="41833"/>
                  </a:lnTo>
                  <a:lnTo>
                    <a:pt x="132130" y="16332"/>
                  </a:lnTo>
                  <a:close/>
                </a:path>
              </a:pathLst>
            </a:custGeom>
            <a:solidFill>
              <a:srgbClr val="808080"/>
            </a:solidFill>
          </p:spPr>
          <p:txBody>
            <a:bodyPr wrap="square" lIns="0" tIns="0" rIns="0" bIns="0" rtlCol="0"/>
            <a:lstStyle/>
            <a:p/>
          </p:txBody>
        </p:sp>
      </p:grpSp>
      <p:sp>
        <p:nvSpPr>
          <p:cNvPr id="46" name="object 46" descr=""/>
          <p:cNvSpPr txBox="1"/>
          <p:nvPr/>
        </p:nvSpPr>
        <p:spPr>
          <a:xfrm>
            <a:off x="2649580" y="3462297"/>
            <a:ext cx="839469" cy="513715"/>
          </a:xfrm>
          <a:prstGeom prst="rect">
            <a:avLst/>
          </a:prstGeom>
        </p:spPr>
        <p:txBody>
          <a:bodyPr wrap="square" lIns="0" tIns="12700" rIns="0" bIns="0" rtlCol="0" vert="horz">
            <a:spAutoFit/>
          </a:bodyPr>
          <a:lstStyle/>
          <a:p>
            <a:pPr marL="12700" marR="5080" indent="203200">
              <a:lnSpc>
                <a:spcPct val="100000"/>
              </a:lnSpc>
              <a:spcBef>
                <a:spcPts val="100"/>
              </a:spcBef>
            </a:pPr>
            <a:r>
              <a:rPr dirty="0" sz="1600" spc="-25" b="1">
                <a:solidFill>
                  <a:srgbClr val="00B0F0"/>
                </a:solidFill>
                <a:latin typeface="Microsoft YaHei"/>
                <a:cs typeface="Microsoft YaHei"/>
              </a:rPr>
              <a:t>园区</a:t>
            </a:r>
            <a:r>
              <a:rPr dirty="0" sz="1600" spc="-50" b="1">
                <a:solidFill>
                  <a:srgbClr val="00B0F0"/>
                </a:solidFill>
                <a:latin typeface="Microsoft YaHei"/>
                <a:cs typeface="Microsoft YaHei"/>
              </a:rPr>
              <a:t> </a:t>
            </a:r>
            <a:r>
              <a:rPr dirty="0" sz="1600" spc="-15" b="1">
                <a:solidFill>
                  <a:srgbClr val="00B0F0"/>
                </a:solidFill>
                <a:latin typeface="Microsoft YaHei"/>
                <a:cs typeface="Microsoft YaHei"/>
              </a:rPr>
              <a:t>安全体系</a:t>
            </a:r>
            <a:endParaRPr sz="1600">
              <a:latin typeface="Microsoft YaHei"/>
              <a:cs typeface="Microsoft YaHei"/>
            </a:endParaRPr>
          </a:p>
        </p:txBody>
      </p:sp>
      <p:sp>
        <p:nvSpPr>
          <p:cNvPr id="47" name="object 47" descr=""/>
          <p:cNvSpPr txBox="1"/>
          <p:nvPr/>
        </p:nvSpPr>
        <p:spPr>
          <a:xfrm>
            <a:off x="5713469" y="4264916"/>
            <a:ext cx="2495550" cy="238760"/>
          </a:xfrm>
          <a:prstGeom prst="rect">
            <a:avLst/>
          </a:prstGeom>
        </p:spPr>
        <p:txBody>
          <a:bodyPr wrap="square" lIns="0" tIns="12065" rIns="0" bIns="0" rtlCol="0" vert="horz">
            <a:spAutoFit/>
          </a:bodyPr>
          <a:lstStyle/>
          <a:p>
            <a:pPr marL="12700">
              <a:lnSpc>
                <a:spcPct val="100000"/>
              </a:lnSpc>
              <a:spcBef>
                <a:spcPts val="95"/>
              </a:spcBef>
            </a:pPr>
            <a:r>
              <a:rPr dirty="0" sz="1400" spc="-20" b="1">
                <a:solidFill>
                  <a:srgbClr val="C00000"/>
                </a:solidFill>
                <a:latin typeface="Microsoft YaHei"/>
                <a:cs typeface="Microsoft YaHei"/>
              </a:rPr>
              <a:t>NB-IoT/5G</a:t>
            </a:r>
            <a:r>
              <a:rPr dirty="0" sz="1000" spc="-5">
                <a:latin typeface="Microsoft YaHei"/>
                <a:cs typeface="Microsoft YaHei"/>
              </a:rPr>
              <a:t>新一代网络提供网络通道…</a:t>
            </a:r>
            <a:endParaRPr sz="1000">
              <a:latin typeface="Microsoft YaHei"/>
              <a:cs typeface="Microsoft YaHei"/>
            </a:endParaRPr>
          </a:p>
        </p:txBody>
      </p:sp>
      <p:grpSp>
        <p:nvGrpSpPr>
          <p:cNvPr id="48" name="object 48" descr=""/>
          <p:cNvGrpSpPr/>
          <p:nvPr/>
        </p:nvGrpSpPr>
        <p:grpSpPr>
          <a:xfrm>
            <a:off x="5317235" y="2570987"/>
            <a:ext cx="2314575" cy="2010410"/>
            <a:chOff x="5317235" y="2570987"/>
            <a:chExt cx="2314575" cy="2010410"/>
          </a:xfrm>
        </p:grpSpPr>
        <p:pic>
          <p:nvPicPr>
            <p:cNvPr id="49" name="object 49"/>
            <p:cNvPicPr/>
            <p:nvPr/>
          </p:nvPicPr>
          <p:blipFill>
            <a:blip r:embed="rId20" cstate="print"/>
            <a:stretch>
              <a:fillRect/>
            </a:stretch>
          </p:blipFill>
          <p:spPr>
            <a:xfrm>
              <a:off x="5317235" y="2570987"/>
              <a:ext cx="2314193" cy="2010155"/>
            </a:xfrm>
            <a:prstGeom prst="rect">
              <a:avLst/>
            </a:prstGeom>
          </p:spPr>
        </p:pic>
        <p:pic>
          <p:nvPicPr>
            <p:cNvPr id="50" name="object 50" descr=""/>
            <p:cNvPicPr/>
            <p:nvPr/>
          </p:nvPicPr>
          <p:blipFill>
            <a:blip r:embed="rId21" cstate="print"/>
            <a:stretch>
              <a:fillRect/>
            </a:stretch>
          </p:blipFill>
          <p:spPr>
            <a:xfrm>
              <a:off x="5506973" y="2761487"/>
              <a:ext cx="1754885" cy="1450085"/>
            </a:xfrm>
            <a:prstGeom prst="rect">
              <a:avLst/>
            </a:prstGeom>
          </p:spPr>
        </p:pic>
        <p:pic>
          <p:nvPicPr>
            <p:cNvPr id="51" name="object 51" descr=""/>
            <p:cNvPicPr/>
            <p:nvPr/>
          </p:nvPicPr>
          <p:blipFill>
            <a:blip r:embed="rId22" cstate="print"/>
            <a:stretch>
              <a:fillRect/>
            </a:stretch>
          </p:blipFill>
          <p:spPr>
            <a:xfrm>
              <a:off x="5628131" y="2860560"/>
              <a:ext cx="1513331" cy="1251190"/>
            </a:xfrm>
            <a:prstGeom prst="rect">
              <a:avLst/>
            </a:prstGeom>
          </p:spPr>
        </p:pic>
        <p:pic>
          <p:nvPicPr>
            <p:cNvPr id="52" name="object 52" descr=""/>
            <p:cNvPicPr/>
            <p:nvPr/>
          </p:nvPicPr>
          <p:blipFill>
            <a:blip r:embed="rId23" cstate="print"/>
            <a:stretch>
              <a:fillRect/>
            </a:stretch>
          </p:blipFill>
          <p:spPr>
            <a:xfrm>
              <a:off x="5614136" y="2855480"/>
              <a:ext cx="1540725" cy="1269999"/>
            </a:xfrm>
            <a:prstGeom prst="rect">
              <a:avLst/>
            </a:prstGeom>
          </p:spPr>
        </p:pic>
        <p:sp>
          <p:nvSpPr>
            <p:cNvPr id="53" name="object 53" descr=""/>
            <p:cNvSpPr/>
            <p:nvPr/>
          </p:nvSpPr>
          <p:spPr>
            <a:xfrm>
              <a:off x="5712771" y="2931140"/>
              <a:ext cx="1344295" cy="1110615"/>
            </a:xfrm>
            <a:custGeom>
              <a:avLst/>
              <a:gdLst/>
              <a:ahLst/>
              <a:cxnLst/>
              <a:rect l="l" t="t" r="r" b="b"/>
              <a:pathLst>
                <a:path w="1344295" h="1110614">
                  <a:moveTo>
                    <a:pt x="671868" y="0"/>
                  </a:moveTo>
                  <a:lnTo>
                    <a:pt x="671855" y="555256"/>
                  </a:lnTo>
                  <a:lnTo>
                    <a:pt x="0" y="555256"/>
                  </a:lnTo>
                  <a:lnTo>
                    <a:pt x="2021" y="598648"/>
                  </a:lnTo>
                  <a:lnTo>
                    <a:pt x="7985" y="641127"/>
                  </a:lnTo>
                  <a:lnTo>
                    <a:pt x="17744" y="682570"/>
                  </a:lnTo>
                  <a:lnTo>
                    <a:pt x="31146" y="722852"/>
                  </a:lnTo>
                  <a:lnTo>
                    <a:pt x="48044" y="761850"/>
                  </a:lnTo>
                  <a:lnTo>
                    <a:pt x="68288" y="799442"/>
                  </a:lnTo>
                  <a:lnTo>
                    <a:pt x="91728" y="835502"/>
                  </a:lnTo>
                  <a:lnTo>
                    <a:pt x="118215" y="869909"/>
                  </a:lnTo>
                  <a:lnTo>
                    <a:pt x="147599" y="902539"/>
                  </a:lnTo>
                  <a:lnTo>
                    <a:pt x="179732" y="933267"/>
                  </a:lnTo>
                  <a:lnTo>
                    <a:pt x="214464" y="961971"/>
                  </a:lnTo>
                  <a:lnTo>
                    <a:pt x="251646" y="988527"/>
                  </a:lnTo>
                  <a:lnTo>
                    <a:pt x="291128" y="1012813"/>
                  </a:lnTo>
                  <a:lnTo>
                    <a:pt x="332760" y="1034703"/>
                  </a:lnTo>
                  <a:lnTo>
                    <a:pt x="376394" y="1054075"/>
                  </a:lnTo>
                  <a:lnTo>
                    <a:pt x="421881" y="1070806"/>
                  </a:lnTo>
                  <a:lnTo>
                    <a:pt x="469070" y="1084771"/>
                  </a:lnTo>
                  <a:lnTo>
                    <a:pt x="517812" y="1095848"/>
                  </a:lnTo>
                  <a:lnTo>
                    <a:pt x="567959" y="1103913"/>
                  </a:lnTo>
                  <a:lnTo>
                    <a:pt x="619361" y="1108842"/>
                  </a:lnTo>
                  <a:lnTo>
                    <a:pt x="671868" y="1110513"/>
                  </a:lnTo>
                  <a:lnTo>
                    <a:pt x="724373" y="1108842"/>
                  </a:lnTo>
                  <a:lnTo>
                    <a:pt x="775773" y="1103913"/>
                  </a:lnTo>
                  <a:lnTo>
                    <a:pt x="825918" y="1095848"/>
                  </a:lnTo>
                  <a:lnTo>
                    <a:pt x="874659" y="1084771"/>
                  </a:lnTo>
                  <a:lnTo>
                    <a:pt x="921847" y="1070806"/>
                  </a:lnTo>
                  <a:lnTo>
                    <a:pt x="967333" y="1054075"/>
                  </a:lnTo>
                  <a:lnTo>
                    <a:pt x="1010966" y="1034703"/>
                  </a:lnTo>
                  <a:lnTo>
                    <a:pt x="1052598" y="1012813"/>
                  </a:lnTo>
                  <a:lnTo>
                    <a:pt x="1092079" y="988527"/>
                  </a:lnTo>
                  <a:lnTo>
                    <a:pt x="1129260" y="961971"/>
                  </a:lnTo>
                  <a:lnTo>
                    <a:pt x="1163991" y="933267"/>
                  </a:lnTo>
                  <a:lnTo>
                    <a:pt x="1196124" y="902539"/>
                  </a:lnTo>
                  <a:lnTo>
                    <a:pt x="1225508" y="869909"/>
                  </a:lnTo>
                  <a:lnTo>
                    <a:pt x="1251995" y="835502"/>
                  </a:lnTo>
                  <a:lnTo>
                    <a:pt x="1275435" y="799442"/>
                  </a:lnTo>
                  <a:lnTo>
                    <a:pt x="1295678" y="761850"/>
                  </a:lnTo>
                  <a:lnTo>
                    <a:pt x="1312576" y="722852"/>
                  </a:lnTo>
                  <a:lnTo>
                    <a:pt x="1325979" y="682570"/>
                  </a:lnTo>
                  <a:lnTo>
                    <a:pt x="1335737" y="641127"/>
                  </a:lnTo>
                  <a:lnTo>
                    <a:pt x="1341702" y="598648"/>
                  </a:lnTo>
                  <a:lnTo>
                    <a:pt x="1343723" y="555256"/>
                  </a:lnTo>
                  <a:lnTo>
                    <a:pt x="1341702" y="511864"/>
                  </a:lnTo>
                  <a:lnTo>
                    <a:pt x="1335737" y="469385"/>
                  </a:lnTo>
                  <a:lnTo>
                    <a:pt x="1325979" y="427943"/>
                  </a:lnTo>
                  <a:lnTo>
                    <a:pt x="1312576" y="387661"/>
                  </a:lnTo>
                  <a:lnTo>
                    <a:pt x="1295678" y="348662"/>
                  </a:lnTo>
                  <a:lnTo>
                    <a:pt x="1275435" y="311071"/>
                  </a:lnTo>
                  <a:lnTo>
                    <a:pt x="1251995" y="275010"/>
                  </a:lnTo>
                  <a:lnTo>
                    <a:pt x="1225508" y="240603"/>
                  </a:lnTo>
                  <a:lnTo>
                    <a:pt x="1196124" y="207974"/>
                  </a:lnTo>
                  <a:lnTo>
                    <a:pt x="1163991" y="177245"/>
                  </a:lnTo>
                  <a:lnTo>
                    <a:pt x="1129260" y="148541"/>
                  </a:lnTo>
                  <a:lnTo>
                    <a:pt x="1092079" y="121985"/>
                  </a:lnTo>
                  <a:lnTo>
                    <a:pt x="1052598" y="97700"/>
                  </a:lnTo>
                  <a:lnTo>
                    <a:pt x="1010966" y="75810"/>
                  </a:lnTo>
                  <a:lnTo>
                    <a:pt x="967333" y="56437"/>
                  </a:lnTo>
                  <a:lnTo>
                    <a:pt x="921847" y="39707"/>
                  </a:lnTo>
                  <a:lnTo>
                    <a:pt x="874659" y="25741"/>
                  </a:lnTo>
                  <a:lnTo>
                    <a:pt x="825918" y="14665"/>
                  </a:lnTo>
                  <a:lnTo>
                    <a:pt x="775773" y="6600"/>
                  </a:lnTo>
                  <a:lnTo>
                    <a:pt x="724373" y="1670"/>
                  </a:lnTo>
                  <a:lnTo>
                    <a:pt x="671868" y="0"/>
                  </a:lnTo>
                  <a:close/>
                </a:path>
              </a:pathLst>
            </a:custGeom>
            <a:solidFill>
              <a:srgbClr val="F7F7F7"/>
            </a:solidFill>
          </p:spPr>
          <p:txBody>
            <a:bodyPr wrap="square" lIns="0" tIns="0" rIns="0" bIns="0" rtlCol="0"/>
            <a:lstStyle/>
            <a:p/>
          </p:txBody>
        </p:sp>
      </p:grpSp>
      <p:sp>
        <p:nvSpPr>
          <p:cNvPr id="54" name="object 54" descr=""/>
          <p:cNvSpPr txBox="1"/>
          <p:nvPr/>
        </p:nvSpPr>
        <p:spPr>
          <a:xfrm>
            <a:off x="5871766" y="3033948"/>
            <a:ext cx="383540" cy="391160"/>
          </a:xfrm>
          <a:prstGeom prst="rect">
            <a:avLst/>
          </a:prstGeom>
        </p:spPr>
        <p:txBody>
          <a:bodyPr wrap="square" lIns="0" tIns="12700" rIns="0" bIns="0" rtlCol="0" vert="horz">
            <a:spAutoFit/>
          </a:bodyPr>
          <a:lstStyle/>
          <a:p>
            <a:pPr marL="12700">
              <a:lnSpc>
                <a:spcPct val="100000"/>
              </a:lnSpc>
              <a:spcBef>
                <a:spcPts val="100"/>
              </a:spcBef>
            </a:pPr>
            <a:r>
              <a:rPr dirty="0" sz="2400" spc="-25">
                <a:solidFill>
                  <a:srgbClr val="FFFFFF"/>
                </a:solidFill>
                <a:latin typeface="Microsoft YaHei"/>
                <a:cs typeface="Microsoft YaHei"/>
              </a:rPr>
              <a:t>05</a:t>
            </a:r>
            <a:endParaRPr sz="2400">
              <a:latin typeface="Microsoft YaHei"/>
              <a:cs typeface="Microsoft YaHei"/>
            </a:endParaRPr>
          </a:p>
        </p:txBody>
      </p:sp>
      <p:grpSp>
        <p:nvGrpSpPr>
          <p:cNvPr id="55" name="object 55" descr=""/>
          <p:cNvGrpSpPr/>
          <p:nvPr/>
        </p:nvGrpSpPr>
        <p:grpSpPr>
          <a:xfrm>
            <a:off x="6506605" y="3203483"/>
            <a:ext cx="422275" cy="280670"/>
            <a:chOff x="6506605" y="3203483"/>
            <a:chExt cx="422275" cy="280670"/>
          </a:xfrm>
        </p:grpSpPr>
        <p:sp>
          <p:nvSpPr>
            <p:cNvPr id="56" name="object 56" descr=""/>
            <p:cNvSpPr/>
            <p:nvPr/>
          </p:nvSpPr>
          <p:spPr>
            <a:xfrm>
              <a:off x="6506605" y="3476023"/>
              <a:ext cx="422275" cy="0"/>
            </a:xfrm>
            <a:custGeom>
              <a:avLst/>
              <a:gdLst/>
              <a:ahLst/>
              <a:cxnLst/>
              <a:rect l="l" t="t" r="r" b="b"/>
              <a:pathLst>
                <a:path w="422275" h="0">
                  <a:moveTo>
                    <a:pt x="0" y="0"/>
                  </a:moveTo>
                  <a:lnTo>
                    <a:pt x="421805" y="0"/>
                  </a:lnTo>
                </a:path>
              </a:pathLst>
            </a:custGeom>
            <a:ln w="15875">
              <a:solidFill>
                <a:srgbClr val="00B0F0"/>
              </a:solidFill>
            </a:ln>
          </p:spPr>
          <p:txBody>
            <a:bodyPr wrap="square" lIns="0" tIns="0" rIns="0" bIns="0" rtlCol="0"/>
            <a:lstStyle/>
            <a:p/>
          </p:txBody>
        </p:sp>
        <p:sp>
          <p:nvSpPr>
            <p:cNvPr id="57" name="object 57" descr=""/>
            <p:cNvSpPr/>
            <p:nvPr/>
          </p:nvSpPr>
          <p:spPr>
            <a:xfrm>
              <a:off x="6576516" y="3277082"/>
              <a:ext cx="282575" cy="93345"/>
            </a:xfrm>
            <a:custGeom>
              <a:avLst/>
              <a:gdLst/>
              <a:ahLst/>
              <a:cxnLst/>
              <a:rect l="l" t="t" r="r" b="b"/>
              <a:pathLst>
                <a:path w="282575" h="93345">
                  <a:moveTo>
                    <a:pt x="242443" y="0"/>
                  </a:moveTo>
                  <a:lnTo>
                    <a:pt x="242443" y="11176"/>
                  </a:lnTo>
                  <a:lnTo>
                    <a:pt x="213652" y="11176"/>
                  </a:lnTo>
                  <a:lnTo>
                    <a:pt x="209143" y="14617"/>
                  </a:lnTo>
                  <a:lnTo>
                    <a:pt x="209143" y="43002"/>
                  </a:lnTo>
                  <a:lnTo>
                    <a:pt x="94691" y="43002"/>
                  </a:lnTo>
                  <a:lnTo>
                    <a:pt x="90170" y="46443"/>
                  </a:lnTo>
                  <a:lnTo>
                    <a:pt x="90170" y="76542"/>
                  </a:lnTo>
                  <a:lnTo>
                    <a:pt x="51676" y="76542"/>
                  </a:lnTo>
                  <a:lnTo>
                    <a:pt x="51676" y="45580"/>
                  </a:lnTo>
                  <a:lnTo>
                    <a:pt x="47167" y="42138"/>
                  </a:lnTo>
                  <a:lnTo>
                    <a:pt x="0" y="42138"/>
                  </a:lnTo>
                  <a:lnTo>
                    <a:pt x="0" y="58483"/>
                  </a:lnTo>
                  <a:lnTo>
                    <a:pt x="31902" y="58483"/>
                  </a:lnTo>
                  <a:lnTo>
                    <a:pt x="31902" y="89446"/>
                  </a:lnTo>
                  <a:lnTo>
                    <a:pt x="36410" y="92875"/>
                  </a:lnTo>
                  <a:lnTo>
                    <a:pt x="105778" y="92875"/>
                  </a:lnTo>
                  <a:lnTo>
                    <a:pt x="109943" y="89446"/>
                  </a:lnTo>
                  <a:lnTo>
                    <a:pt x="109943" y="59347"/>
                  </a:lnTo>
                  <a:lnTo>
                    <a:pt x="224751" y="59347"/>
                  </a:lnTo>
                  <a:lnTo>
                    <a:pt x="229260" y="55613"/>
                  </a:lnTo>
                  <a:lnTo>
                    <a:pt x="229260" y="27520"/>
                  </a:lnTo>
                  <a:lnTo>
                    <a:pt x="242443" y="27520"/>
                  </a:lnTo>
                  <a:lnTo>
                    <a:pt x="242443" y="38417"/>
                  </a:lnTo>
                  <a:lnTo>
                    <a:pt x="281978" y="19202"/>
                  </a:lnTo>
                  <a:lnTo>
                    <a:pt x="242443" y="0"/>
                  </a:lnTo>
                  <a:close/>
                </a:path>
              </a:pathLst>
            </a:custGeom>
            <a:solidFill>
              <a:srgbClr val="00B0F0"/>
            </a:solidFill>
          </p:spPr>
          <p:txBody>
            <a:bodyPr wrap="square" lIns="0" tIns="0" rIns="0" bIns="0" rtlCol="0"/>
            <a:lstStyle/>
            <a:p/>
          </p:txBody>
        </p:sp>
        <p:sp>
          <p:nvSpPr>
            <p:cNvPr id="58" name="object 58" descr=""/>
            <p:cNvSpPr/>
            <p:nvPr/>
          </p:nvSpPr>
          <p:spPr>
            <a:xfrm>
              <a:off x="6576508" y="3203483"/>
              <a:ext cx="262255" cy="224154"/>
            </a:xfrm>
            <a:custGeom>
              <a:avLst/>
              <a:gdLst/>
              <a:ahLst/>
              <a:cxnLst/>
              <a:rect l="l" t="t" r="r" b="b"/>
              <a:pathLst>
                <a:path w="262254" h="224154">
                  <a:moveTo>
                    <a:pt x="19773" y="142989"/>
                  </a:moveTo>
                  <a:lnTo>
                    <a:pt x="0" y="142989"/>
                  </a:lnTo>
                  <a:lnTo>
                    <a:pt x="0" y="220345"/>
                  </a:lnTo>
                  <a:lnTo>
                    <a:pt x="4165" y="224078"/>
                  </a:lnTo>
                  <a:lnTo>
                    <a:pt x="257670" y="224078"/>
                  </a:lnTo>
                  <a:lnTo>
                    <a:pt x="262191" y="220345"/>
                  </a:lnTo>
                  <a:lnTo>
                    <a:pt x="262191" y="207746"/>
                  </a:lnTo>
                  <a:lnTo>
                    <a:pt x="19773" y="207746"/>
                  </a:lnTo>
                  <a:lnTo>
                    <a:pt x="19773" y="142989"/>
                  </a:lnTo>
                  <a:close/>
                </a:path>
                <a:path w="262254" h="224154">
                  <a:moveTo>
                    <a:pt x="94678" y="187680"/>
                  </a:moveTo>
                  <a:lnTo>
                    <a:pt x="81495" y="187680"/>
                  </a:lnTo>
                  <a:lnTo>
                    <a:pt x="81495" y="207746"/>
                  </a:lnTo>
                  <a:lnTo>
                    <a:pt x="94678" y="207746"/>
                  </a:lnTo>
                  <a:lnTo>
                    <a:pt x="94678" y="187680"/>
                  </a:lnTo>
                  <a:close/>
                </a:path>
                <a:path w="262254" h="224154">
                  <a:moveTo>
                    <a:pt x="213639" y="143840"/>
                  </a:moveTo>
                  <a:lnTo>
                    <a:pt x="160921" y="143840"/>
                  </a:lnTo>
                  <a:lnTo>
                    <a:pt x="160921" y="154736"/>
                  </a:lnTo>
                  <a:lnTo>
                    <a:pt x="200456" y="154736"/>
                  </a:lnTo>
                  <a:lnTo>
                    <a:pt x="200456" y="176504"/>
                  </a:lnTo>
                  <a:lnTo>
                    <a:pt x="160921" y="176504"/>
                  </a:lnTo>
                  <a:lnTo>
                    <a:pt x="160921" y="207746"/>
                  </a:lnTo>
                  <a:lnTo>
                    <a:pt x="174091" y="207746"/>
                  </a:lnTo>
                  <a:lnTo>
                    <a:pt x="174091" y="187680"/>
                  </a:lnTo>
                  <a:lnTo>
                    <a:pt x="213639" y="187680"/>
                  </a:lnTo>
                  <a:lnTo>
                    <a:pt x="213639" y="143840"/>
                  </a:lnTo>
                  <a:close/>
                </a:path>
                <a:path w="262254" h="224154">
                  <a:moveTo>
                    <a:pt x="262191" y="115189"/>
                  </a:moveTo>
                  <a:lnTo>
                    <a:pt x="242417" y="124650"/>
                  </a:lnTo>
                  <a:lnTo>
                    <a:pt x="242417" y="207746"/>
                  </a:lnTo>
                  <a:lnTo>
                    <a:pt x="262191" y="207746"/>
                  </a:lnTo>
                  <a:lnTo>
                    <a:pt x="262191" y="115189"/>
                  </a:lnTo>
                  <a:close/>
                </a:path>
                <a:path w="262254" h="224154">
                  <a:moveTo>
                    <a:pt x="135597" y="143840"/>
                  </a:moveTo>
                  <a:lnTo>
                    <a:pt x="122072" y="143840"/>
                  </a:lnTo>
                  <a:lnTo>
                    <a:pt x="122072" y="176504"/>
                  </a:lnTo>
                  <a:lnTo>
                    <a:pt x="51676" y="176504"/>
                  </a:lnTo>
                  <a:lnTo>
                    <a:pt x="51676" y="187680"/>
                  </a:lnTo>
                  <a:lnTo>
                    <a:pt x="135597" y="187680"/>
                  </a:lnTo>
                  <a:lnTo>
                    <a:pt x="135597" y="143840"/>
                  </a:lnTo>
                  <a:close/>
                </a:path>
                <a:path w="262254" h="224154">
                  <a:moveTo>
                    <a:pt x="132130" y="74498"/>
                  </a:moveTo>
                  <a:lnTo>
                    <a:pt x="118960" y="74498"/>
                  </a:lnTo>
                  <a:lnTo>
                    <a:pt x="118960" y="94843"/>
                  </a:lnTo>
                  <a:lnTo>
                    <a:pt x="64858" y="94843"/>
                  </a:lnTo>
                  <a:lnTo>
                    <a:pt x="64858" y="139255"/>
                  </a:lnTo>
                  <a:lnTo>
                    <a:pt x="78028" y="139255"/>
                  </a:lnTo>
                  <a:lnTo>
                    <a:pt x="78028" y="105727"/>
                  </a:lnTo>
                  <a:lnTo>
                    <a:pt x="132130" y="105727"/>
                  </a:lnTo>
                  <a:lnTo>
                    <a:pt x="132130" y="74498"/>
                  </a:lnTo>
                  <a:close/>
                </a:path>
                <a:path w="262254" h="224154">
                  <a:moveTo>
                    <a:pt x="174091" y="16332"/>
                  </a:moveTo>
                  <a:lnTo>
                    <a:pt x="160921" y="16332"/>
                  </a:lnTo>
                  <a:lnTo>
                    <a:pt x="160921" y="105727"/>
                  </a:lnTo>
                  <a:lnTo>
                    <a:pt x="197332" y="105727"/>
                  </a:lnTo>
                  <a:lnTo>
                    <a:pt x="197332" y="94843"/>
                  </a:lnTo>
                  <a:lnTo>
                    <a:pt x="174091" y="94843"/>
                  </a:lnTo>
                  <a:lnTo>
                    <a:pt x="174091" y="16332"/>
                  </a:lnTo>
                  <a:close/>
                </a:path>
                <a:path w="262254" h="224154">
                  <a:moveTo>
                    <a:pt x="257670" y="0"/>
                  </a:moveTo>
                  <a:lnTo>
                    <a:pt x="4165" y="0"/>
                  </a:lnTo>
                  <a:lnTo>
                    <a:pt x="0" y="3721"/>
                  </a:lnTo>
                  <a:lnTo>
                    <a:pt x="0" y="104584"/>
                  </a:lnTo>
                  <a:lnTo>
                    <a:pt x="19773" y="104584"/>
                  </a:lnTo>
                  <a:lnTo>
                    <a:pt x="19773" y="74498"/>
                  </a:lnTo>
                  <a:lnTo>
                    <a:pt x="132130" y="74498"/>
                  </a:lnTo>
                  <a:lnTo>
                    <a:pt x="132130" y="63614"/>
                  </a:lnTo>
                  <a:lnTo>
                    <a:pt x="19773" y="63614"/>
                  </a:lnTo>
                  <a:lnTo>
                    <a:pt x="19773" y="16332"/>
                  </a:lnTo>
                  <a:lnTo>
                    <a:pt x="262191" y="16332"/>
                  </a:lnTo>
                  <a:lnTo>
                    <a:pt x="262191" y="3721"/>
                  </a:lnTo>
                  <a:lnTo>
                    <a:pt x="257670" y="0"/>
                  </a:lnTo>
                  <a:close/>
                </a:path>
                <a:path w="262254" h="224154">
                  <a:moveTo>
                    <a:pt x="262191" y="16332"/>
                  </a:moveTo>
                  <a:lnTo>
                    <a:pt x="242417" y="16332"/>
                  </a:lnTo>
                  <a:lnTo>
                    <a:pt x="242417" y="30949"/>
                  </a:lnTo>
                  <a:lnTo>
                    <a:pt x="200456" y="30949"/>
                  </a:lnTo>
                  <a:lnTo>
                    <a:pt x="200456" y="74790"/>
                  </a:lnTo>
                  <a:lnTo>
                    <a:pt x="213639" y="74790"/>
                  </a:lnTo>
                  <a:lnTo>
                    <a:pt x="213639" y="41833"/>
                  </a:lnTo>
                  <a:lnTo>
                    <a:pt x="262191" y="41833"/>
                  </a:lnTo>
                  <a:lnTo>
                    <a:pt x="262191" y="16332"/>
                  </a:lnTo>
                  <a:close/>
                </a:path>
                <a:path w="262254" h="224154">
                  <a:moveTo>
                    <a:pt x="262191" y="41833"/>
                  </a:moveTo>
                  <a:lnTo>
                    <a:pt x="242417" y="41833"/>
                  </a:lnTo>
                  <a:lnTo>
                    <a:pt x="242417" y="61036"/>
                  </a:lnTo>
                  <a:lnTo>
                    <a:pt x="262191" y="70777"/>
                  </a:lnTo>
                  <a:lnTo>
                    <a:pt x="262191" y="41833"/>
                  </a:lnTo>
                  <a:close/>
                </a:path>
                <a:path w="262254" h="224154">
                  <a:moveTo>
                    <a:pt x="94678" y="29222"/>
                  </a:moveTo>
                  <a:lnTo>
                    <a:pt x="81495" y="29222"/>
                  </a:lnTo>
                  <a:lnTo>
                    <a:pt x="81495" y="63614"/>
                  </a:lnTo>
                  <a:lnTo>
                    <a:pt x="94678" y="63614"/>
                  </a:lnTo>
                  <a:lnTo>
                    <a:pt x="94678" y="29222"/>
                  </a:lnTo>
                  <a:close/>
                </a:path>
                <a:path w="262254" h="224154">
                  <a:moveTo>
                    <a:pt x="57226" y="16332"/>
                  </a:moveTo>
                  <a:lnTo>
                    <a:pt x="44043" y="16332"/>
                  </a:lnTo>
                  <a:lnTo>
                    <a:pt x="44043" y="41833"/>
                  </a:lnTo>
                  <a:lnTo>
                    <a:pt x="57226" y="41833"/>
                  </a:lnTo>
                  <a:lnTo>
                    <a:pt x="57226" y="16332"/>
                  </a:lnTo>
                  <a:close/>
                </a:path>
                <a:path w="262254" h="224154">
                  <a:moveTo>
                    <a:pt x="132130" y="16332"/>
                  </a:moveTo>
                  <a:lnTo>
                    <a:pt x="118960" y="16332"/>
                  </a:lnTo>
                  <a:lnTo>
                    <a:pt x="118960" y="41833"/>
                  </a:lnTo>
                  <a:lnTo>
                    <a:pt x="132130" y="41833"/>
                  </a:lnTo>
                  <a:lnTo>
                    <a:pt x="132130" y="16332"/>
                  </a:lnTo>
                  <a:close/>
                </a:path>
              </a:pathLst>
            </a:custGeom>
            <a:solidFill>
              <a:srgbClr val="808080"/>
            </a:solidFill>
          </p:spPr>
          <p:txBody>
            <a:bodyPr wrap="square" lIns="0" tIns="0" rIns="0" bIns="0" rtlCol="0"/>
            <a:lstStyle/>
            <a:p/>
          </p:txBody>
        </p:sp>
      </p:grpSp>
      <p:sp>
        <p:nvSpPr>
          <p:cNvPr id="59" name="object 59" descr=""/>
          <p:cNvSpPr txBox="1"/>
          <p:nvPr/>
        </p:nvSpPr>
        <p:spPr>
          <a:xfrm>
            <a:off x="5974727" y="3465441"/>
            <a:ext cx="839469" cy="513715"/>
          </a:xfrm>
          <a:prstGeom prst="rect">
            <a:avLst/>
          </a:prstGeom>
        </p:spPr>
        <p:txBody>
          <a:bodyPr wrap="square" lIns="0" tIns="12700" rIns="0" bIns="0" rtlCol="0" vert="horz">
            <a:spAutoFit/>
          </a:bodyPr>
          <a:lstStyle/>
          <a:p>
            <a:pPr marL="12700" marR="5080" indent="101600">
              <a:lnSpc>
                <a:spcPct val="100000"/>
              </a:lnSpc>
              <a:spcBef>
                <a:spcPts val="100"/>
              </a:spcBef>
            </a:pPr>
            <a:r>
              <a:rPr dirty="0" sz="1600" spc="-20" b="1">
                <a:solidFill>
                  <a:srgbClr val="00B0F0"/>
                </a:solidFill>
                <a:latin typeface="Microsoft YaHei"/>
                <a:cs typeface="Microsoft YaHei"/>
              </a:rPr>
              <a:t>新一代</a:t>
            </a:r>
            <a:r>
              <a:rPr dirty="0" sz="1600" spc="-15" b="1">
                <a:solidFill>
                  <a:srgbClr val="00B0F0"/>
                </a:solidFill>
                <a:latin typeface="Microsoft YaHei"/>
                <a:cs typeface="Microsoft YaHei"/>
              </a:rPr>
              <a:t>网络设施</a:t>
            </a:r>
            <a:endParaRPr sz="1600">
              <a:latin typeface="Microsoft YaHei"/>
              <a:cs typeface="Microsoft YaHe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2700" y="806450"/>
            <a:ext cx="9169400" cy="4349750"/>
            <a:chOff x="-12700" y="806450"/>
            <a:chExt cx="9169400" cy="4349750"/>
          </a:xfrm>
        </p:grpSpPr>
        <p:sp>
          <p:nvSpPr>
            <p:cNvPr id="3" name="object 3" descr=""/>
            <p:cNvSpPr/>
            <p:nvPr/>
          </p:nvSpPr>
          <p:spPr>
            <a:xfrm>
              <a:off x="0" y="819150"/>
              <a:ext cx="9144000" cy="4324350"/>
            </a:xfrm>
            <a:custGeom>
              <a:avLst/>
              <a:gdLst/>
              <a:ahLst/>
              <a:cxnLst/>
              <a:rect l="l" t="t" r="r" b="b"/>
              <a:pathLst>
                <a:path w="9144000" h="4324350">
                  <a:moveTo>
                    <a:pt x="9144000" y="0"/>
                  </a:moveTo>
                  <a:lnTo>
                    <a:pt x="0" y="0"/>
                  </a:lnTo>
                  <a:lnTo>
                    <a:pt x="0" y="4324350"/>
                  </a:lnTo>
                  <a:lnTo>
                    <a:pt x="9144000" y="4324350"/>
                  </a:lnTo>
                  <a:lnTo>
                    <a:pt x="9144000" y="0"/>
                  </a:lnTo>
                  <a:close/>
                </a:path>
              </a:pathLst>
            </a:custGeom>
            <a:solidFill>
              <a:srgbClr val="162964"/>
            </a:solidFill>
          </p:spPr>
          <p:txBody>
            <a:bodyPr wrap="square" lIns="0" tIns="0" rIns="0" bIns="0" rtlCol="0"/>
            <a:lstStyle/>
            <a:p/>
          </p:txBody>
        </p:sp>
        <p:sp>
          <p:nvSpPr>
            <p:cNvPr id="4" name="object 4" descr=""/>
            <p:cNvSpPr/>
            <p:nvPr/>
          </p:nvSpPr>
          <p:spPr>
            <a:xfrm>
              <a:off x="0" y="819150"/>
              <a:ext cx="9144000" cy="4324350"/>
            </a:xfrm>
            <a:custGeom>
              <a:avLst/>
              <a:gdLst/>
              <a:ahLst/>
              <a:cxnLst/>
              <a:rect l="l" t="t" r="r" b="b"/>
              <a:pathLst>
                <a:path w="9144000" h="4324350">
                  <a:moveTo>
                    <a:pt x="0" y="0"/>
                  </a:moveTo>
                  <a:lnTo>
                    <a:pt x="9144000" y="0"/>
                  </a:lnTo>
                  <a:lnTo>
                    <a:pt x="9144000" y="4324350"/>
                  </a:lnTo>
                  <a:lnTo>
                    <a:pt x="0" y="4324350"/>
                  </a:lnTo>
                  <a:lnTo>
                    <a:pt x="0" y="0"/>
                  </a:lnTo>
                  <a:close/>
                </a:path>
              </a:pathLst>
            </a:custGeom>
            <a:ln w="25400">
              <a:solidFill>
                <a:srgbClr val="89A4A7"/>
              </a:solidFill>
            </a:ln>
          </p:spPr>
          <p:txBody>
            <a:bodyPr wrap="square" lIns="0" tIns="0" rIns="0" bIns="0" rtlCol="0"/>
            <a:lstStyle/>
            <a:p/>
          </p:txBody>
        </p:sp>
        <p:sp>
          <p:nvSpPr>
            <p:cNvPr id="5" name="object 5" descr=""/>
            <p:cNvSpPr/>
            <p:nvPr/>
          </p:nvSpPr>
          <p:spPr>
            <a:xfrm>
              <a:off x="1540253" y="1367063"/>
              <a:ext cx="403860" cy="358140"/>
            </a:xfrm>
            <a:custGeom>
              <a:avLst/>
              <a:gdLst/>
              <a:ahLst/>
              <a:cxnLst/>
              <a:rect l="l" t="t" r="r" b="b"/>
              <a:pathLst>
                <a:path w="403860" h="358139">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6" name="object 6" descr=""/>
            <p:cNvSpPr/>
            <p:nvPr/>
          </p:nvSpPr>
          <p:spPr>
            <a:xfrm>
              <a:off x="1540253"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7" name="object 7" descr=""/>
            <p:cNvSpPr/>
            <p:nvPr/>
          </p:nvSpPr>
          <p:spPr>
            <a:xfrm>
              <a:off x="2131822" y="1367063"/>
              <a:ext cx="403860" cy="358140"/>
            </a:xfrm>
            <a:custGeom>
              <a:avLst/>
              <a:gdLst/>
              <a:ahLst/>
              <a:cxnLst/>
              <a:rect l="l" t="t" r="r" b="b"/>
              <a:pathLst>
                <a:path w="403860" h="358139">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8" name="object 8" descr=""/>
            <p:cNvSpPr/>
            <p:nvPr/>
          </p:nvSpPr>
          <p:spPr>
            <a:xfrm>
              <a:off x="2131822"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9" name="object 9" descr=""/>
            <p:cNvSpPr/>
            <p:nvPr/>
          </p:nvSpPr>
          <p:spPr>
            <a:xfrm>
              <a:off x="2724278" y="1367063"/>
              <a:ext cx="403860" cy="358140"/>
            </a:xfrm>
            <a:custGeom>
              <a:avLst/>
              <a:gdLst/>
              <a:ahLst/>
              <a:cxnLst/>
              <a:rect l="l" t="t" r="r" b="b"/>
              <a:pathLst>
                <a:path w="403860" h="358139">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10" name="object 10" descr=""/>
            <p:cNvSpPr/>
            <p:nvPr/>
          </p:nvSpPr>
          <p:spPr>
            <a:xfrm>
              <a:off x="2724278"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11" name="object 11" descr=""/>
            <p:cNvSpPr/>
            <p:nvPr/>
          </p:nvSpPr>
          <p:spPr>
            <a:xfrm>
              <a:off x="3316660" y="1367063"/>
              <a:ext cx="403860" cy="358140"/>
            </a:xfrm>
            <a:custGeom>
              <a:avLst/>
              <a:gdLst/>
              <a:ahLst/>
              <a:cxnLst/>
              <a:rect l="l" t="t" r="r" b="b"/>
              <a:pathLst>
                <a:path w="403860" h="358139">
                  <a:moveTo>
                    <a:pt x="360489" y="0"/>
                  </a:moveTo>
                  <a:lnTo>
                    <a:pt x="42964" y="0"/>
                  </a:lnTo>
                  <a:lnTo>
                    <a:pt x="26237" y="3377"/>
                  </a:lnTo>
                  <a:lnTo>
                    <a:pt x="12580" y="12585"/>
                  </a:lnTo>
                  <a:lnTo>
                    <a:pt x="3375" y="26242"/>
                  </a:lnTo>
                  <a:lnTo>
                    <a:pt x="0" y="42964"/>
                  </a:lnTo>
                  <a:lnTo>
                    <a:pt x="0" y="314782"/>
                  </a:lnTo>
                  <a:lnTo>
                    <a:pt x="3375" y="331503"/>
                  </a:lnTo>
                  <a:lnTo>
                    <a:pt x="12580" y="345160"/>
                  </a:lnTo>
                  <a:lnTo>
                    <a:pt x="26237"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2" name="object 12" descr=""/>
            <p:cNvSpPr/>
            <p:nvPr/>
          </p:nvSpPr>
          <p:spPr>
            <a:xfrm>
              <a:off x="3316660" y="1367063"/>
              <a:ext cx="403860" cy="358140"/>
            </a:xfrm>
            <a:custGeom>
              <a:avLst/>
              <a:gdLst/>
              <a:ahLst/>
              <a:cxnLst/>
              <a:rect l="l" t="t" r="r" b="b"/>
              <a:pathLst>
                <a:path w="403860" h="358139">
                  <a:moveTo>
                    <a:pt x="0" y="42964"/>
                  </a:moveTo>
                  <a:lnTo>
                    <a:pt x="3375" y="26242"/>
                  </a:lnTo>
                  <a:lnTo>
                    <a:pt x="12580" y="12585"/>
                  </a:lnTo>
                  <a:lnTo>
                    <a:pt x="26237"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37" y="354369"/>
                  </a:lnTo>
                  <a:lnTo>
                    <a:pt x="12580" y="345160"/>
                  </a:lnTo>
                  <a:lnTo>
                    <a:pt x="3375"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13" name="object 13" descr=""/>
            <p:cNvSpPr/>
            <p:nvPr/>
          </p:nvSpPr>
          <p:spPr>
            <a:xfrm>
              <a:off x="3909043" y="1367063"/>
              <a:ext cx="403860" cy="358140"/>
            </a:xfrm>
            <a:custGeom>
              <a:avLst/>
              <a:gdLst/>
              <a:ahLst/>
              <a:cxnLst/>
              <a:rect l="l" t="t" r="r" b="b"/>
              <a:pathLst>
                <a:path w="403860" h="358139">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14" name="object 14" descr=""/>
            <p:cNvSpPr/>
            <p:nvPr/>
          </p:nvSpPr>
          <p:spPr>
            <a:xfrm>
              <a:off x="3909043"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15" name="object 15" descr=""/>
            <p:cNvSpPr/>
            <p:nvPr/>
          </p:nvSpPr>
          <p:spPr>
            <a:xfrm>
              <a:off x="4501427" y="1367063"/>
              <a:ext cx="403860" cy="358140"/>
            </a:xfrm>
            <a:custGeom>
              <a:avLst/>
              <a:gdLst/>
              <a:ahLst/>
              <a:cxnLst/>
              <a:rect l="l" t="t" r="r" b="b"/>
              <a:pathLst>
                <a:path w="403860" h="358139">
                  <a:moveTo>
                    <a:pt x="360489"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6" name="object 16" descr=""/>
            <p:cNvSpPr/>
            <p:nvPr/>
          </p:nvSpPr>
          <p:spPr>
            <a:xfrm>
              <a:off x="4501427"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17" name="object 17" descr=""/>
            <p:cNvSpPr/>
            <p:nvPr/>
          </p:nvSpPr>
          <p:spPr>
            <a:xfrm>
              <a:off x="5098178" y="1367063"/>
              <a:ext cx="403860" cy="358140"/>
            </a:xfrm>
            <a:custGeom>
              <a:avLst/>
              <a:gdLst/>
              <a:ahLst/>
              <a:cxnLst/>
              <a:rect l="l" t="t" r="r" b="b"/>
              <a:pathLst>
                <a:path w="403860" h="358139">
                  <a:moveTo>
                    <a:pt x="360489"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8" name="object 18" descr=""/>
            <p:cNvSpPr/>
            <p:nvPr/>
          </p:nvSpPr>
          <p:spPr>
            <a:xfrm>
              <a:off x="5098178"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19" name="object 19" descr=""/>
            <p:cNvSpPr/>
            <p:nvPr/>
          </p:nvSpPr>
          <p:spPr>
            <a:xfrm>
              <a:off x="5691520" y="1367063"/>
              <a:ext cx="403860" cy="358140"/>
            </a:xfrm>
            <a:custGeom>
              <a:avLst/>
              <a:gdLst/>
              <a:ahLst/>
              <a:cxnLst/>
              <a:rect l="l" t="t" r="r" b="b"/>
              <a:pathLst>
                <a:path w="403860" h="358139">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20" name="object 20" descr=""/>
            <p:cNvSpPr/>
            <p:nvPr/>
          </p:nvSpPr>
          <p:spPr>
            <a:xfrm>
              <a:off x="5691520" y="1367063"/>
              <a:ext cx="403860" cy="358140"/>
            </a:xfrm>
            <a:custGeom>
              <a:avLst/>
              <a:gdLst/>
              <a:ahLst/>
              <a:cxnLst/>
              <a:rect l="l" t="t" r="r" b="b"/>
              <a:pathLst>
                <a:path w="403860" h="358139">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sp>
          <p:nvSpPr>
            <p:cNvPr id="21" name="object 21" descr=""/>
            <p:cNvSpPr/>
            <p:nvPr/>
          </p:nvSpPr>
          <p:spPr>
            <a:xfrm>
              <a:off x="698237" y="866415"/>
              <a:ext cx="631825" cy="901700"/>
            </a:xfrm>
            <a:custGeom>
              <a:avLst/>
              <a:gdLst/>
              <a:ahLst/>
              <a:cxnLst/>
              <a:rect l="l" t="t" r="r" b="b"/>
              <a:pathLst>
                <a:path w="631825" h="901700">
                  <a:moveTo>
                    <a:pt x="555510" y="0"/>
                  </a:moveTo>
                  <a:lnTo>
                    <a:pt x="75819" y="0"/>
                  </a:lnTo>
                  <a:lnTo>
                    <a:pt x="46307" y="5958"/>
                  </a:lnTo>
                  <a:lnTo>
                    <a:pt x="22207" y="22207"/>
                  </a:lnTo>
                  <a:lnTo>
                    <a:pt x="5958" y="46307"/>
                  </a:lnTo>
                  <a:lnTo>
                    <a:pt x="0" y="75819"/>
                  </a:lnTo>
                  <a:lnTo>
                    <a:pt x="0" y="825728"/>
                  </a:lnTo>
                  <a:lnTo>
                    <a:pt x="5958" y="855240"/>
                  </a:lnTo>
                  <a:lnTo>
                    <a:pt x="22207" y="879340"/>
                  </a:lnTo>
                  <a:lnTo>
                    <a:pt x="46307" y="895589"/>
                  </a:lnTo>
                  <a:lnTo>
                    <a:pt x="75819" y="901547"/>
                  </a:lnTo>
                  <a:lnTo>
                    <a:pt x="555510" y="901547"/>
                  </a:lnTo>
                  <a:lnTo>
                    <a:pt x="585020" y="895589"/>
                  </a:lnTo>
                  <a:lnTo>
                    <a:pt x="609115" y="879340"/>
                  </a:lnTo>
                  <a:lnTo>
                    <a:pt x="625360" y="855240"/>
                  </a:lnTo>
                  <a:lnTo>
                    <a:pt x="631317" y="825728"/>
                  </a:lnTo>
                  <a:lnTo>
                    <a:pt x="631317" y="75819"/>
                  </a:lnTo>
                  <a:lnTo>
                    <a:pt x="625360" y="46307"/>
                  </a:lnTo>
                  <a:lnTo>
                    <a:pt x="609115" y="22207"/>
                  </a:lnTo>
                  <a:lnTo>
                    <a:pt x="585020" y="5958"/>
                  </a:lnTo>
                  <a:lnTo>
                    <a:pt x="555510" y="0"/>
                  </a:lnTo>
                  <a:close/>
                </a:path>
              </a:pathLst>
            </a:custGeom>
            <a:solidFill>
              <a:srgbClr val="00B0F0">
                <a:alpha val="10194"/>
              </a:srgbClr>
            </a:solidFill>
          </p:spPr>
          <p:txBody>
            <a:bodyPr wrap="square" lIns="0" tIns="0" rIns="0" bIns="0" rtlCol="0"/>
            <a:lstStyle/>
            <a:p/>
          </p:txBody>
        </p:sp>
        <p:sp>
          <p:nvSpPr>
            <p:cNvPr id="22" name="object 22" descr=""/>
            <p:cNvSpPr/>
            <p:nvPr/>
          </p:nvSpPr>
          <p:spPr>
            <a:xfrm>
              <a:off x="698237" y="866415"/>
              <a:ext cx="631825" cy="901700"/>
            </a:xfrm>
            <a:custGeom>
              <a:avLst/>
              <a:gdLst/>
              <a:ahLst/>
              <a:cxnLst/>
              <a:rect l="l" t="t" r="r" b="b"/>
              <a:pathLst>
                <a:path w="631825" h="901700">
                  <a:moveTo>
                    <a:pt x="0" y="75819"/>
                  </a:moveTo>
                  <a:lnTo>
                    <a:pt x="5958" y="46307"/>
                  </a:lnTo>
                  <a:lnTo>
                    <a:pt x="22207" y="22207"/>
                  </a:lnTo>
                  <a:lnTo>
                    <a:pt x="46307" y="5958"/>
                  </a:lnTo>
                  <a:lnTo>
                    <a:pt x="75819" y="0"/>
                  </a:lnTo>
                  <a:lnTo>
                    <a:pt x="555510" y="0"/>
                  </a:lnTo>
                  <a:lnTo>
                    <a:pt x="585020" y="5958"/>
                  </a:lnTo>
                  <a:lnTo>
                    <a:pt x="609115" y="22207"/>
                  </a:lnTo>
                  <a:lnTo>
                    <a:pt x="625360" y="46307"/>
                  </a:lnTo>
                  <a:lnTo>
                    <a:pt x="631317" y="75819"/>
                  </a:lnTo>
                  <a:lnTo>
                    <a:pt x="631317" y="825728"/>
                  </a:lnTo>
                  <a:lnTo>
                    <a:pt x="625360" y="855240"/>
                  </a:lnTo>
                  <a:lnTo>
                    <a:pt x="609115" y="879340"/>
                  </a:lnTo>
                  <a:lnTo>
                    <a:pt x="585020" y="895589"/>
                  </a:lnTo>
                  <a:lnTo>
                    <a:pt x="555510" y="901547"/>
                  </a:lnTo>
                  <a:lnTo>
                    <a:pt x="75819" y="901547"/>
                  </a:lnTo>
                  <a:lnTo>
                    <a:pt x="46307" y="895589"/>
                  </a:lnTo>
                  <a:lnTo>
                    <a:pt x="22207" y="879340"/>
                  </a:lnTo>
                  <a:lnTo>
                    <a:pt x="5958" y="855240"/>
                  </a:lnTo>
                  <a:lnTo>
                    <a:pt x="0" y="825728"/>
                  </a:lnTo>
                  <a:lnTo>
                    <a:pt x="0" y="75819"/>
                  </a:lnTo>
                  <a:close/>
                </a:path>
              </a:pathLst>
            </a:custGeom>
            <a:ln w="12700">
              <a:solidFill>
                <a:srgbClr val="45D8FF"/>
              </a:solidFill>
              <a:prstDash val="lgDash"/>
            </a:ln>
          </p:spPr>
          <p:txBody>
            <a:bodyPr wrap="square" lIns="0" tIns="0" rIns="0" bIns="0" rtlCol="0"/>
            <a:lstStyle/>
            <a:p/>
          </p:txBody>
        </p:sp>
      </p:grpSp>
      <p:sp>
        <p:nvSpPr>
          <p:cNvPr id="23" name="object 23" descr=""/>
          <p:cNvSpPr txBox="1"/>
          <p:nvPr/>
        </p:nvSpPr>
        <p:spPr>
          <a:xfrm>
            <a:off x="848798" y="1206953"/>
            <a:ext cx="330200" cy="208279"/>
          </a:xfrm>
          <a:prstGeom prst="rect">
            <a:avLst/>
          </a:prstGeom>
        </p:spPr>
        <p:txBody>
          <a:bodyPr wrap="square" lIns="0" tIns="12700" rIns="0" bIns="0" rtlCol="0" vert="horz">
            <a:spAutoFit/>
          </a:bodyPr>
          <a:lstStyle/>
          <a:p>
            <a:pPr marL="12700">
              <a:lnSpc>
                <a:spcPct val="100000"/>
              </a:lnSpc>
              <a:spcBef>
                <a:spcPts val="100"/>
              </a:spcBef>
            </a:pPr>
            <a:r>
              <a:rPr dirty="0" sz="1200" spc="-25" b="1">
                <a:solidFill>
                  <a:srgbClr val="BBE0E3"/>
                </a:solidFill>
                <a:latin typeface="Microsoft YaHei"/>
                <a:cs typeface="Microsoft YaHei"/>
              </a:rPr>
              <a:t>应用</a:t>
            </a:r>
            <a:endParaRPr sz="1200">
              <a:latin typeface="Microsoft YaHei"/>
              <a:cs typeface="Microsoft YaHei"/>
            </a:endParaRPr>
          </a:p>
        </p:txBody>
      </p:sp>
      <p:grpSp>
        <p:nvGrpSpPr>
          <p:cNvPr id="24" name="object 24" descr=""/>
          <p:cNvGrpSpPr/>
          <p:nvPr/>
        </p:nvGrpSpPr>
        <p:grpSpPr>
          <a:xfrm>
            <a:off x="3786606" y="864107"/>
            <a:ext cx="4814570" cy="4279900"/>
            <a:chOff x="3786606" y="864107"/>
            <a:chExt cx="4814570" cy="4279900"/>
          </a:xfrm>
        </p:grpSpPr>
        <p:pic>
          <p:nvPicPr>
            <p:cNvPr id="25" name="object 25"/>
            <p:cNvPicPr/>
            <p:nvPr/>
          </p:nvPicPr>
          <p:blipFill>
            <a:blip r:embed="rId2" cstate="print"/>
            <a:stretch>
              <a:fillRect/>
            </a:stretch>
          </p:blipFill>
          <p:spPr>
            <a:xfrm>
              <a:off x="6841234" y="864107"/>
              <a:ext cx="1759457" cy="1011173"/>
            </a:xfrm>
            <a:prstGeom prst="rect">
              <a:avLst/>
            </a:prstGeom>
          </p:spPr>
        </p:pic>
        <p:pic>
          <p:nvPicPr>
            <p:cNvPr id="26" name="object 26" descr=""/>
            <p:cNvPicPr/>
            <p:nvPr/>
          </p:nvPicPr>
          <p:blipFill>
            <a:blip r:embed="rId3" cstate="print"/>
            <a:stretch>
              <a:fillRect/>
            </a:stretch>
          </p:blipFill>
          <p:spPr>
            <a:xfrm>
              <a:off x="6869201" y="889215"/>
              <a:ext cx="1650022" cy="909515"/>
            </a:xfrm>
            <a:prstGeom prst="rect">
              <a:avLst/>
            </a:prstGeom>
          </p:spPr>
        </p:pic>
        <p:sp>
          <p:nvSpPr>
            <p:cNvPr id="27" name="object 27" descr=""/>
            <p:cNvSpPr/>
            <p:nvPr/>
          </p:nvSpPr>
          <p:spPr>
            <a:xfrm>
              <a:off x="6854512" y="895611"/>
              <a:ext cx="1677035" cy="901065"/>
            </a:xfrm>
            <a:custGeom>
              <a:avLst/>
              <a:gdLst/>
              <a:ahLst/>
              <a:cxnLst/>
              <a:rect l="l" t="t" r="r" b="b"/>
              <a:pathLst>
                <a:path w="1677034" h="901064">
                  <a:moveTo>
                    <a:pt x="1428771" y="900760"/>
                  </a:moveTo>
                  <a:lnTo>
                    <a:pt x="206549" y="895108"/>
                  </a:lnTo>
                  <a:lnTo>
                    <a:pt x="77942" y="869166"/>
                  </a:lnTo>
                  <a:lnTo>
                    <a:pt x="15088" y="833212"/>
                  </a:lnTo>
                  <a:lnTo>
                    <a:pt x="0" y="762667"/>
                  </a:lnTo>
                  <a:lnTo>
                    <a:pt x="14690" y="632955"/>
                  </a:lnTo>
                  <a:lnTo>
                    <a:pt x="67625" y="489605"/>
                  </a:lnTo>
                  <a:lnTo>
                    <a:pt x="149448" y="410321"/>
                  </a:lnTo>
                  <a:lnTo>
                    <a:pt x="224611" y="376437"/>
                  </a:lnTo>
                  <a:lnTo>
                    <a:pt x="257564" y="369290"/>
                  </a:lnTo>
                  <a:lnTo>
                    <a:pt x="273260" y="184619"/>
                  </a:lnTo>
                  <a:lnTo>
                    <a:pt x="316646" y="84594"/>
                  </a:lnTo>
                  <a:lnTo>
                    <a:pt x="422062" y="34595"/>
                  </a:lnTo>
                  <a:lnTo>
                    <a:pt x="623845" y="0"/>
                  </a:lnTo>
                  <a:lnTo>
                    <a:pt x="848400" y="13027"/>
                  </a:lnTo>
                  <a:lnTo>
                    <a:pt x="1002262" y="91640"/>
                  </a:lnTo>
                  <a:lnTo>
                    <a:pt x="1090709" y="179858"/>
                  </a:lnTo>
                  <a:lnTo>
                    <a:pt x="1119018" y="221703"/>
                  </a:lnTo>
                  <a:lnTo>
                    <a:pt x="1224017" y="143005"/>
                  </a:lnTo>
                  <a:lnTo>
                    <a:pt x="1293494" y="115608"/>
                  </a:lnTo>
                  <a:lnTo>
                    <a:pt x="1358480" y="138464"/>
                  </a:lnTo>
                  <a:lnTo>
                    <a:pt x="1450006" y="210527"/>
                  </a:lnTo>
                  <a:lnTo>
                    <a:pt x="1516208" y="298173"/>
                  </a:lnTo>
                  <a:lnTo>
                    <a:pt x="1536827" y="388453"/>
                  </a:lnTo>
                  <a:lnTo>
                    <a:pt x="1533403" y="459014"/>
                  </a:lnTo>
                  <a:lnTo>
                    <a:pt x="1527476" y="487502"/>
                  </a:lnTo>
                  <a:lnTo>
                    <a:pt x="1621031" y="527067"/>
                  </a:lnTo>
                  <a:lnTo>
                    <a:pt x="1666512" y="564710"/>
                  </a:lnTo>
                  <a:lnTo>
                    <a:pt x="1676783" y="622438"/>
                  </a:lnTo>
                  <a:lnTo>
                    <a:pt x="1664712" y="722261"/>
                  </a:lnTo>
                  <a:lnTo>
                    <a:pt x="1616359" y="829313"/>
                  </a:lnTo>
                  <a:lnTo>
                    <a:pt x="1536531" y="881876"/>
                  </a:lnTo>
                  <a:lnTo>
                    <a:pt x="1461808" y="899257"/>
                  </a:lnTo>
                  <a:lnTo>
                    <a:pt x="1428771" y="900760"/>
                  </a:lnTo>
                  <a:close/>
                </a:path>
              </a:pathLst>
            </a:custGeom>
            <a:ln w="3175">
              <a:solidFill>
                <a:srgbClr val="45D8FF"/>
              </a:solidFill>
            </a:ln>
          </p:spPr>
          <p:txBody>
            <a:bodyPr wrap="square" lIns="0" tIns="0" rIns="0" bIns="0" rtlCol="0"/>
            <a:lstStyle/>
            <a:p/>
          </p:txBody>
        </p:sp>
        <p:pic>
          <p:nvPicPr>
            <p:cNvPr id="28" name="object 28"/>
            <p:cNvPicPr/>
            <p:nvPr/>
          </p:nvPicPr>
          <p:blipFill>
            <a:blip r:embed="rId4" cstate="print"/>
            <a:stretch>
              <a:fillRect/>
            </a:stretch>
          </p:blipFill>
          <p:spPr>
            <a:xfrm>
              <a:off x="6900051" y="1022205"/>
              <a:ext cx="1434951" cy="684140"/>
            </a:xfrm>
            <a:prstGeom prst="rect">
              <a:avLst/>
            </a:prstGeom>
          </p:spPr>
        </p:pic>
        <p:pic>
          <p:nvPicPr>
            <p:cNvPr id="29" name="object 29" descr=""/>
            <p:cNvPicPr/>
            <p:nvPr/>
          </p:nvPicPr>
          <p:blipFill>
            <a:blip r:embed="rId5" cstate="print"/>
            <a:stretch>
              <a:fillRect/>
            </a:stretch>
          </p:blipFill>
          <p:spPr>
            <a:xfrm>
              <a:off x="7915875" y="1197029"/>
              <a:ext cx="258953" cy="196295"/>
            </a:xfrm>
            <a:prstGeom prst="rect">
              <a:avLst/>
            </a:prstGeom>
          </p:spPr>
        </p:pic>
        <p:pic>
          <p:nvPicPr>
            <p:cNvPr id="30" name="object 30" descr=""/>
            <p:cNvPicPr/>
            <p:nvPr/>
          </p:nvPicPr>
          <p:blipFill>
            <a:blip r:embed="rId6" cstate="print"/>
            <a:stretch>
              <a:fillRect/>
            </a:stretch>
          </p:blipFill>
          <p:spPr>
            <a:xfrm>
              <a:off x="7593376" y="1197023"/>
              <a:ext cx="220120" cy="438431"/>
            </a:xfrm>
            <a:prstGeom prst="rect">
              <a:avLst/>
            </a:prstGeom>
          </p:spPr>
        </p:pic>
        <p:pic>
          <p:nvPicPr>
            <p:cNvPr id="31" name="object 31" descr=""/>
            <p:cNvPicPr/>
            <p:nvPr/>
          </p:nvPicPr>
          <p:blipFill>
            <a:blip r:embed="rId7" cstate="print"/>
            <a:stretch>
              <a:fillRect/>
            </a:stretch>
          </p:blipFill>
          <p:spPr>
            <a:xfrm>
              <a:off x="7203037" y="1457177"/>
              <a:ext cx="289968" cy="172727"/>
            </a:xfrm>
            <a:prstGeom prst="rect">
              <a:avLst/>
            </a:prstGeom>
          </p:spPr>
        </p:pic>
        <p:pic>
          <p:nvPicPr>
            <p:cNvPr id="32" name="object 32" descr=""/>
            <p:cNvPicPr/>
            <p:nvPr/>
          </p:nvPicPr>
          <p:blipFill>
            <a:blip r:embed="rId8" cstate="print"/>
            <a:stretch>
              <a:fillRect/>
            </a:stretch>
          </p:blipFill>
          <p:spPr>
            <a:xfrm>
              <a:off x="7944163" y="1480065"/>
              <a:ext cx="194906" cy="151358"/>
            </a:xfrm>
            <a:prstGeom prst="rect">
              <a:avLst/>
            </a:prstGeom>
          </p:spPr>
        </p:pic>
        <p:pic>
          <p:nvPicPr>
            <p:cNvPr id="33" name="object 33" descr=""/>
            <p:cNvPicPr/>
            <p:nvPr/>
          </p:nvPicPr>
          <p:blipFill>
            <a:blip r:embed="rId9" cstate="print"/>
            <a:stretch>
              <a:fillRect/>
            </a:stretch>
          </p:blipFill>
          <p:spPr>
            <a:xfrm>
              <a:off x="7256887" y="1199248"/>
              <a:ext cx="177379" cy="192081"/>
            </a:xfrm>
            <a:prstGeom prst="rect">
              <a:avLst/>
            </a:prstGeom>
          </p:spPr>
        </p:pic>
        <p:pic>
          <p:nvPicPr>
            <p:cNvPr id="34" name="object 34"/>
            <p:cNvPicPr/>
            <p:nvPr/>
          </p:nvPicPr>
          <p:blipFill>
            <a:blip r:embed="rId10" cstate="print"/>
            <a:stretch>
              <a:fillRect/>
            </a:stretch>
          </p:blipFill>
          <p:spPr>
            <a:xfrm>
              <a:off x="5524372" y="4470501"/>
              <a:ext cx="696099" cy="522145"/>
            </a:xfrm>
            <a:prstGeom prst="rect">
              <a:avLst/>
            </a:prstGeom>
          </p:spPr>
        </p:pic>
        <p:pic>
          <p:nvPicPr>
            <p:cNvPr id="35" name="object 35"/>
            <p:cNvPicPr/>
            <p:nvPr/>
          </p:nvPicPr>
          <p:blipFill>
            <a:blip r:embed="rId11" cstate="print"/>
            <a:stretch>
              <a:fillRect/>
            </a:stretch>
          </p:blipFill>
          <p:spPr>
            <a:xfrm>
              <a:off x="3786606" y="4528177"/>
              <a:ext cx="850059" cy="505581"/>
            </a:xfrm>
            <a:prstGeom prst="rect">
              <a:avLst/>
            </a:prstGeom>
          </p:spPr>
        </p:pic>
        <p:pic>
          <p:nvPicPr>
            <p:cNvPr id="36" name="object 36"/>
            <p:cNvPicPr/>
            <p:nvPr/>
          </p:nvPicPr>
          <p:blipFill>
            <a:blip r:embed="rId12" cstate="print"/>
            <a:stretch>
              <a:fillRect/>
            </a:stretch>
          </p:blipFill>
          <p:spPr>
            <a:xfrm>
              <a:off x="6398907" y="4101974"/>
              <a:ext cx="738911" cy="1041525"/>
            </a:xfrm>
            <a:prstGeom prst="rect">
              <a:avLst/>
            </a:prstGeom>
          </p:spPr>
        </p:pic>
        <p:pic>
          <p:nvPicPr>
            <p:cNvPr id="37" name="object 37"/>
            <p:cNvPicPr/>
            <p:nvPr/>
          </p:nvPicPr>
          <p:blipFill>
            <a:blip r:embed="rId13" cstate="print"/>
            <a:stretch>
              <a:fillRect/>
            </a:stretch>
          </p:blipFill>
          <p:spPr>
            <a:xfrm>
              <a:off x="4840642" y="4546000"/>
              <a:ext cx="427640" cy="427640"/>
            </a:xfrm>
            <a:prstGeom prst="rect">
              <a:avLst/>
            </a:prstGeom>
          </p:spPr>
        </p:pic>
        <p:pic>
          <p:nvPicPr>
            <p:cNvPr id="38" name="object 38"/>
            <p:cNvPicPr/>
            <p:nvPr/>
          </p:nvPicPr>
          <p:blipFill>
            <a:blip r:embed="rId14" cstate="print"/>
            <a:stretch>
              <a:fillRect/>
            </a:stretch>
          </p:blipFill>
          <p:spPr>
            <a:xfrm>
              <a:off x="6984313" y="1635328"/>
              <a:ext cx="823652" cy="1384846"/>
            </a:xfrm>
            <a:prstGeom prst="rect">
              <a:avLst/>
            </a:prstGeom>
          </p:spPr>
        </p:pic>
        <p:sp>
          <p:nvSpPr>
            <p:cNvPr id="39" name="object 39" descr=""/>
            <p:cNvSpPr/>
            <p:nvPr/>
          </p:nvSpPr>
          <p:spPr>
            <a:xfrm>
              <a:off x="4689369" y="3545006"/>
              <a:ext cx="513080" cy="333375"/>
            </a:xfrm>
            <a:custGeom>
              <a:avLst/>
              <a:gdLst/>
              <a:ahLst/>
              <a:cxnLst/>
              <a:rect l="l" t="t" r="r" b="b"/>
              <a:pathLst>
                <a:path w="513079" h="333375">
                  <a:moveTo>
                    <a:pt x="0" y="333222"/>
                  </a:moveTo>
                  <a:lnTo>
                    <a:pt x="256387" y="333222"/>
                  </a:lnTo>
                  <a:lnTo>
                    <a:pt x="256387" y="0"/>
                  </a:lnTo>
                  <a:lnTo>
                    <a:pt x="512775" y="0"/>
                  </a:lnTo>
                </a:path>
              </a:pathLst>
            </a:custGeom>
            <a:ln w="12699">
              <a:solidFill>
                <a:srgbClr val="72BFC5"/>
              </a:solidFill>
            </a:ln>
          </p:spPr>
          <p:txBody>
            <a:bodyPr wrap="square" lIns="0" tIns="0" rIns="0" bIns="0" rtlCol="0"/>
            <a:lstStyle/>
            <a:p/>
          </p:txBody>
        </p:sp>
        <p:sp>
          <p:nvSpPr>
            <p:cNvPr id="40" name="object 40" descr=""/>
            <p:cNvSpPr/>
            <p:nvPr/>
          </p:nvSpPr>
          <p:spPr>
            <a:xfrm>
              <a:off x="4162960" y="3559257"/>
              <a:ext cx="3526790" cy="419100"/>
            </a:xfrm>
            <a:custGeom>
              <a:avLst/>
              <a:gdLst/>
              <a:ahLst/>
              <a:cxnLst/>
              <a:rect l="l" t="t" r="r" b="b"/>
              <a:pathLst>
                <a:path w="3526790" h="419100">
                  <a:moveTo>
                    <a:pt x="0" y="418655"/>
                  </a:moveTo>
                  <a:lnTo>
                    <a:pt x="2720479" y="418655"/>
                  </a:lnTo>
                  <a:lnTo>
                    <a:pt x="2720479" y="0"/>
                  </a:lnTo>
                  <a:lnTo>
                    <a:pt x="3526447" y="0"/>
                  </a:lnTo>
                </a:path>
              </a:pathLst>
            </a:custGeom>
            <a:ln w="9525">
              <a:solidFill>
                <a:srgbClr val="72BFC5"/>
              </a:solidFill>
              <a:prstDash val="sysDash"/>
            </a:ln>
          </p:spPr>
          <p:txBody>
            <a:bodyPr wrap="square" lIns="0" tIns="0" rIns="0" bIns="0" rtlCol="0"/>
            <a:lstStyle/>
            <a:p/>
          </p:txBody>
        </p:sp>
        <p:sp>
          <p:nvSpPr>
            <p:cNvPr id="41" name="object 41" descr=""/>
            <p:cNvSpPr/>
            <p:nvPr/>
          </p:nvSpPr>
          <p:spPr>
            <a:xfrm>
              <a:off x="5434049" y="3559255"/>
              <a:ext cx="2255520" cy="356870"/>
            </a:xfrm>
            <a:custGeom>
              <a:avLst/>
              <a:gdLst/>
              <a:ahLst/>
              <a:cxnLst/>
              <a:rect l="l" t="t" r="r" b="b"/>
              <a:pathLst>
                <a:path w="2255520" h="356870">
                  <a:moveTo>
                    <a:pt x="0" y="356590"/>
                  </a:moveTo>
                  <a:lnTo>
                    <a:pt x="1456283" y="356590"/>
                  </a:lnTo>
                  <a:lnTo>
                    <a:pt x="1456283" y="0"/>
                  </a:lnTo>
                  <a:lnTo>
                    <a:pt x="2255354" y="0"/>
                  </a:lnTo>
                </a:path>
              </a:pathLst>
            </a:custGeom>
            <a:ln w="9525">
              <a:solidFill>
                <a:srgbClr val="72BFC5"/>
              </a:solidFill>
              <a:prstDash val="sysDash"/>
            </a:ln>
          </p:spPr>
          <p:txBody>
            <a:bodyPr wrap="square" lIns="0" tIns="0" rIns="0" bIns="0" rtlCol="0"/>
            <a:lstStyle/>
            <a:p/>
          </p:txBody>
        </p:sp>
      </p:grpSp>
      <p:sp>
        <p:nvSpPr>
          <p:cNvPr id="42" name="object 42" descr=""/>
          <p:cNvSpPr txBox="1"/>
          <p:nvPr/>
        </p:nvSpPr>
        <p:spPr>
          <a:xfrm>
            <a:off x="6875998" y="2883248"/>
            <a:ext cx="344170" cy="101600"/>
          </a:xfrm>
          <a:prstGeom prst="rect">
            <a:avLst/>
          </a:prstGeom>
        </p:spPr>
        <p:txBody>
          <a:bodyPr wrap="square" lIns="0" tIns="12065" rIns="0" bIns="0" rtlCol="0" vert="horz">
            <a:spAutoFit/>
          </a:bodyPr>
          <a:lstStyle/>
          <a:p>
            <a:pPr marL="12700">
              <a:lnSpc>
                <a:spcPct val="100000"/>
              </a:lnSpc>
              <a:spcBef>
                <a:spcPts val="95"/>
              </a:spcBef>
            </a:pPr>
            <a:r>
              <a:rPr dirty="0" sz="500">
                <a:solidFill>
                  <a:srgbClr val="BBE0E3"/>
                </a:solidFill>
                <a:latin typeface="Arial MT"/>
                <a:cs typeface="Arial MT"/>
              </a:rPr>
              <a:t>OMC</a:t>
            </a:r>
            <a:r>
              <a:rPr dirty="0" sz="500" spc="-30">
                <a:solidFill>
                  <a:srgbClr val="BBE0E3"/>
                </a:solidFill>
                <a:latin typeface="Arial MT"/>
                <a:cs typeface="Arial MT"/>
              </a:rPr>
              <a:t> </a:t>
            </a:r>
            <a:r>
              <a:rPr dirty="0" sz="500" spc="-20">
                <a:solidFill>
                  <a:srgbClr val="BBE0E3"/>
                </a:solidFill>
                <a:latin typeface="Arial MT"/>
                <a:cs typeface="Arial MT"/>
              </a:rPr>
              <a:t>/EMS</a:t>
            </a:r>
            <a:endParaRPr sz="500">
              <a:latin typeface="Arial MT"/>
              <a:cs typeface="Arial MT"/>
            </a:endParaRPr>
          </a:p>
        </p:txBody>
      </p:sp>
      <p:grpSp>
        <p:nvGrpSpPr>
          <p:cNvPr id="43" name="object 43" descr=""/>
          <p:cNvGrpSpPr/>
          <p:nvPr/>
        </p:nvGrpSpPr>
        <p:grpSpPr>
          <a:xfrm>
            <a:off x="1755190" y="1805782"/>
            <a:ext cx="5826125" cy="2815590"/>
            <a:chOff x="1755190" y="1805782"/>
            <a:chExt cx="5826125" cy="2815590"/>
          </a:xfrm>
        </p:grpSpPr>
        <p:sp>
          <p:nvSpPr>
            <p:cNvPr id="44" name="object 44" descr=""/>
            <p:cNvSpPr/>
            <p:nvPr/>
          </p:nvSpPr>
          <p:spPr>
            <a:xfrm>
              <a:off x="1759953" y="3958964"/>
              <a:ext cx="3271520" cy="657860"/>
            </a:xfrm>
            <a:custGeom>
              <a:avLst/>
              <a:gdLst/>
              <a:ahLst/>
              <a:cxnLst/>
              <a:rect l="l" t="t" r="r" b="b"/>
              <a:pathLst>
                <a:path w="3271520" h="657860">
                  <a:moveTo>
                    <a:pt x="1026820" y="0"/>
                  </a:moveTo>
                  <a:lnTo>
                    <a:pt x="0" y="657491"/>
                  </a:lnTo>
                </a:path>
                <a:path w="3271520" h="657860">
                  <a:moveTo>
                    <a:pt x="1026820" y="0"/>
                  </a:moveTo>
                  <a:lnTo>
                    <a:pt x="678497" y="561047"/>
                  </a:lnTo>
                </a:path>
                <a:path w="3271520" h="657860">
                  <a:moveTo>
                    <a:pt x="1026820" y="0"/>
                  </a:moveTo>
                  <a:lnTo>
                    <a:pt x="1448739" y="593991"/>
                  </a:lnTo>
                </a:path>
                <a:path w="3271520" h="657860">
                  <a:moveTo>
                    <a:pt x="1026820" y="0"/>
                  </a:moveTo>
                  <a:lnTo>
                    <a:pt x="2464739" y="657491"/>
                  </a:lnTo>
                </a:path>
                <a:path w="3271520" h="657860">
                  <a:moveTo>
                    <a:pt x="1026820" y="0"/>
                  </a:moveTo>
                  <a:lnTo>
                    <a:pt x="3271189" y="562241"/>
                  </a:lnTo>
                </a:path>
              </a:pathLst>
            </a:custGeom>
            <a:ln w="9525">
              <a:solidFill>
                <a:srgbClr val="72BFC5"/>
              </a:solidFill>
            </a:ln>
          </p:spPr>
          <p:txBody>
            <a:bodyPr wrap="square" lIns="0" tIns="0" rIns="0" bIns="0" rtlCol="0"/>
            <a:lstStyle/>
            <a:p/>
          </p:txBody>
        </p:sp>
        <p:sp>
          <p:nvSpPr>
            <p:cNvPr id="45" name="object 45" descr=""/>
            <p:cNvSpPr/>
            <p:nvPr/>
          </p:nvSpPr>
          <p:spPr>
            <a:xfrm>
              <a:off x="7380608" y="1812132"/>
              <a:ext cx="194310" cy="225425"/>
            </a:xfrm>
            <a:custGeom>
              <a:avLst/>
              <a:gdLst/>
              <a:ahLst/>
              <a:cxnLst/>
              <a:rect l="l" t="t" r="r" b="b"/>
              <a:pathLst>
                <a:path w="194309" h="225425">
                  <a:moveTo>
                    <a:pt x="0" y="225196"/>
                  </a:moveTo>
                  <a:lnTo>
                    <a:pt x="0" y="112598"/>
                  </a:lnTo>
                  <a:lnTo>
                    <a:pt x="194221" y="112598"/>
                  </a:lnTo>
                  <a:lnTo>
                    <a:pt x="194221" y="0"/>
                  </a:lnTo>
                </a:path>
              </a:pathLst>
            </a:custGeom>
            <a:ln w="12700">
              <a:solidFill>
                <a:srgbClr val="72BFC5"/>
              </a:solidFill>
            </a:ln>
          </p:spPr>
          <p:txBody>
            <a:bodyPr wrap="square" lIns="0" tIns="0" rIns="0" bIns="0" rtlCol="0"/>
            <a:lstStyle/>
            <a:p/>
          </p:txBody>
        </p:sp>
        <p:sp>
          <p:nvSpPr>
            <p:cNvPr id="46" name="object 46" descr=""/>
            <p:cNvSpPr/>
            <p:nvPr/>
          </p:nvSpPr>
          <p:spPr>
            <a:xfrm>
              <a:off x="5784980" y="2768394"/>
              <a:ext cx="1553210" cy="774065"/>
            </a:xfrm>
            <a:custGeom>
              <a:avLst/>
              <a:gdLst/>
              <a:ahLst/>
              <a:cxnLst/>
              <a:rect l="l" t="t" r="r" b="b"/>
              <a:pathLst>
                <a:path w="1553209" h="774064">
                  <a:moveTo>
                    <a:pt x="0" y="773633"/>
                  </a:moveTo>
                  <a:lnTo>
                    <a:pt x="747776" y="773633"/>
                  </a:lnTo>
                  <a:lnTo>
                    <a:pt x="747776" y="0"/>
                  </a:lnTo>
                  <a:lnTo>
                    <a:pt x="1552689" y="0"/>
                  </a:lnTo>
                </a:path>
              </a:pathLst>
            </a:custGeom>
            <a:ln w="12700">
              <a:solidFill>
                <a:srgbClr val="72BFC5"/>
              </a:solidFill>
            </a:ln>
          </p:spPr>
          <p:txBody>
            <a:bodyPr wrap="square" lIns="0" tIns="0" rIns="0" bIns="0" rtlCol="0"/>
            <a:lstStyle/>
            <a:p/>
          </p:txBody>
        </p:sp>
      </p:grpSp>
      <p:sp>
        <p:nvSpPr>
          <p:cNvPr id="47" name="object 47" descr=""/>
          <p:cNvSpPr txBox="1"/>
          <p:nvPr/>
        </p:nvSpPr>
        <p:spPr>
          <a:xfrm>
            <a:off x="5897148" y="3429356"/>
            <a:ext cx="341630" cy="101600"/>
          </a:xfrm>
          <a:prstGeom prst="rect">
            <a:avLst/>
          </a:prstGeom>
        </p:spPr>
        <p:txBody>
          <a:bodyPr wrap="square" lIns="0" tIns="12065" rIns="0" bIns="0" rtlCol="0" vert="horz">
            <a:spAutoFit/>
          </a:bodyPr>
          <a:lstStyle/>
          <a:p>
            <a:pPr marL="12700">
              <a:lnSpc>
                <a:spcPct val="100000"/>
              </a:lnSpc>
              <a:spcBef>
                <a:spcPts val="95"/>
              </a:spcBef>
            </a:pPr>
            <a:r>
              <a:rPr dirty="0" sz="500" spc="-20">
                <a:solidFill>
                  <a:srgbClr val="BBE0E3"/>
                </a:solidFill>
                <a:latin typeface="Microsoft YaHei"/>
                <a:cs typeface="Microsoft YaHei"/>
              </a:rPr>
              <a:t>网络服务器</a:t>
            </a:r>
            <a:endParaRPr sz="500">
              <a:latin typeface="Microsoft YaHei"/>
              <a:cs typeface="Microsoft YaHei"/>
            </a:endParaRPr>
          </a:p>
        </p:txBody>
      </p:sp>
      <p:sp>
        <p:nvSpPr>
          <p:cNvPr id="48" name="object 48" descr=""/>
          <p:cNvSpPr txBox="1"/>
          <p:nvPr/>
        </p:nvSpPr>
        <p:spPr>
          <a:xfrm>
            <a:off x="3151667" y="3867715"/>
            <a:ext cx="642620" cy="162560"/>
          </a:xfrm>
          <a:prstGeom prst="rect">
            <a:avLst/>
          </a:prstGeom>
        </p:spPr>
        <p:txBody>
          <a:bodyPr wrap="square" lIns="0" tIns="12700" rIns="0" bIns="0" rtlCol="0" vert="horz">
            <a:spAutoFit/>
          </a:bodyPr>
          <a:lstStyle/>
          <a:p>
            <a:pPr marL="12700">
              <a:lnSpc>
                <a:spcPct val="100000"/>
              </a:lnSpc>
              <a:spcBef>
                <a:spcPts val="100"/>
              </a:spcBef>
            </a:pPr>
            <a:r>
              <a:rPr dirty="0" sz="900" spc="-10">
                <a:solidFill>
                  <a:srgbClr val="BBE0E3"/>
                </a:solidFill>
                <a:latin typeface="Arial MT"/>
                <a:cs typeface="Arial MT"/>
              </a:rPr>
              <a:t>NB-</a:t>
            </a:r>
            <a:r>
              <a:rPr dirty="0" sz="900">
                <a:solidFill>
                  <a:srgbClr val="BBE0E3"/>
                </a:solidFill>
                <a:latin typeface="Arial MT"/>
                <a:cs typeface="Arial MT"/>
              </a:rPr>
              <a:t>IOT</a:t>
            </a:r>
            <a:r>
              <a:rPr dirty="0" sz="900" spc="-25">
                <a:solidFill>
                  <a:srgbClr val="BBE0E3"/>
                </a:solidFill>
                <a:latin typeface="SimSun"/>
                <a:cs typeface="SimSun"/>
              </a:rPr>
              <a:t>基站</a:t>
            </a:r>
            <a:endParaRPr sz="900">
              <a:latin typeface="SimSun"/>
              <a:cs typeface="SimSun"/>
            </a:endParaRPr>
          </a:p>
        </p:txBody>
      </p:sp>
      <p:grpSp>
        <p:nvGrpSpPr>
          <p:cNvPr id="49" name="object 49" descr=""/>
          <p:cNvGrpSpPr/>
          <p:nvPr/>
        </p:nvGrpSpPr>
        <p:grpSpPr>
          <a:xfrm>
            <a:off x="558185" y="1206950"/>
            <a:ext cx="8101965" cy="3924300"/>
            <a:chOff x="558185" y="1206950"/>
            <a:chExt cx="8101965" cy="3924300"/>
          </a:xfrm>
        </p:grpSpPr>
        <p:sp>
          <p:nvSpPr>
            <p:cNvPr id="50" name="object 50" descr=""/>
            <p:cNvSpPr/>
            <p:nvPr/>
          </p:nvSpPr>
          <p:spPr>
            <a:xfrm>
              <a:off x="564535" y="1257754"/>
              <a:ext cx="144145" cy="3289300"/>
            </a:xfrm>
            <a:custGeom>
              <a:avLst/>
              <a:gdLst/>
              <a:ahLst/>
              <a:cxnLst/>
              <a:rect l="l" t="t" r="r" b="b"/>
              <a:pathLst>
                <a:path w="144145" h="3289300">
                  <a:moveTo>
                    <a:pt x="144043" y="0"/>
                  </a:moveTo>
                  <a:lnTo>
                    <a:pt x="0" y="0"/>
                  </a:lnTo>
                  <a:lnTo>
                    <a:pt x="0" y="3289300"/>
                  </a:lnTo>
                  <a:lnTo>
                    <a:pt x="143446" y="3289300"/>
                  </a:lnTo>
                </a:path>
              </a:pathLst>
            </a:custGeom>
            <a:ln w="12700">
              <a:solidFill>
                <a:srgbClr val="72BFC5"/>
              </a:solidFill>
            </a:ln>
          </p:spPr>
          <p:txBody>
            <a:bodyPr wrap="square" lIns="0" tIns="0" rIns="0" bIns="0" rtlCol="0"/>
            <a:lstStyle/>
            <a:p/>
          </p:txBody>
        </p:sp>
        <p:sp>
          <p:nvSpPr>
            <p:cNvPr id="51" name="object 51" descr=""/>
            <p:cNvSpPr/>
            <p:nvPr/>
          </p:nvSpPr>
          <p:spPr>
            <a:xfrm>
              <a:off x="631785" y="4502602"/>
              <a:ext cx="76200" cy="88900"/>
            </a:xfrm>
            <a:custGeom>
              <a:avLst/>
              <a:gdLst/>
              <a:ahLst/>
              <a:cxnLst/>
              <a:rect l="l" t="t" r="r" b="b"/>
              <a:pathLst>
                <a:path w="76200" h="88900">
                  <a:moveTo>
                    <a:pt x="0" y="0"/>
                  </a:moveTo>
                  <a:lnTo>
                    <a:pt x="76200" y="44450"/>
                  </a:lnTo>
                  <a:lnTo>
                    <a:pt x="0" y="88900"/>
                  </a:lnTo>
                </a:path>
              </a:pathLst>
            </a:custGeom>
            <a:ln w="12700">
              <a:solidFill>
                <a:srgbClr val="72BFC5"/>
              </a:solidFill>
            </a:ln>
          </p:spPr>
          <p:txBody>
            <a:bodyPr wrap="square" lIns="0" tIns="0" rIns="0" bIns="0" rtlCol="0"/>
            <a:lstStyle/>
            <a:p/>
          </p:txBody>
        </p:sp>
        <p:sp>
          <p:nvSpPr>
            <p:cNvPr id="52" name="object 52" descr=""/>
            <p:cNvSpPr/>
            <p:nvPr/>
          </p:nvSpPr>
          <p:spPr>
            <a:xfrm>
              <a:off x="632381" y="1213300"/>
              <a:ext cx="76200" cy="88900"/>
            </a:xfrm>
            <a:custGeom>
              <a:avLst/>
              <a:gdLst/>
              <a:ahLst/>
              <a:cxnLst/>
              <a:rect l="l" t="t" r="r" b="b"/>
              <a:pathLst>
                <a:path w="76200" h="88900">
                  <a:moveTo>
                    <a:pt x="0" y="0"/>
                  </a:moveTo>
                  <a:lnTo>
                    <a:pt x="76200" y="44450"/>
                  </a:lnTo>
                  <a:lnTo>
                    <a:pt x="0" y="88900"/>
                  </a:lnTo>
                </a:path>
              </a:pathLst>
            </a:custGeom>
            <a:ln w="12700">
              <a:solidFill>
                <a:srgbClr val="72BFC5"/>
              </a:solidFill>
            </a:ln>
          </p:spPr>
          <p:txBody>
            <a:bodyPr wrap="square" lIns="0" tIns="0" rIns="0" bIns="0" rtlCol="0"/>
            <a:lstStyle/>
            <a:p/>
          </p:txBody>
        </p:sp>
        <p:pic>
          <p:nvPicPr>
            <p:cNvPr id="53" name="object 53"/>
            <p:cNvPicPr/>
            <p:nvPr/>
          </p:nvPicPr>
          <p:blipFill>
            <a:blip r:embed="rId15" cstate="print"/>
            <a:stretch>
              <a:fillRect/>
            </a:stretch>
          </p:blipFill>
          <p:spPr>
            <a:xfrm>
              <a:off x="1815845" y="3637025"/>
              <a:ext cx="107441" cy="110489"/>
            </a:xfrm>
            <a:prstGeom prst="rect">
              <a:avLst/>
            </a:prstGeom>
          </p:spPr>
        </p:pic>
        <p:pic>
          <p:nvPicPr>
            <p:cNvPr id="54" name="object 54"/>
            <p:cNvPicPr/>
            <p:nvPr/>
          </p:nvPicPr>
          <p:blipFill>
            <a:blip r:embed="rId16" cstate="print"/>
            <a:stretch>
              <a:fillRect/>
            </a:stretch>
          </p:blipFill>
          <p:spPr>
            <a:xfrm>
              <a:off x="1610309" y="3342096"/>
              <a:ext cx="416694" cy="700414"/>
            </a:xfrm>
            <a:prstGeom prst="rect">
              <a:avLst/>
            </a:prstGeom>
          </p:spPr>
        </p:pic>
        <p:pic>
          <p:nvPicPr>
            <p:cNvPr id="55" name="object 55"/>
            <p:cNvPicPr/>
            <p:nvPr/>
          </p:nvPicPr>
          <p:blipFill>
            <a:blip r:embed="rId17" cstate="print"/>
            <a:stretch>
              <a:fillRect/>
            </a:stretch>
          </p:blipFill>
          <p:spPr>
            <a:xfrm>
              <a:off x="5184482" y="3037205"/>
              <a:ext cx="600494" cy="1009645"/>
            </a:xfrm>
            <a:prstGeom prst="rect">
              <a:avLst/>
            </a:prstGeom>
          </p:spPr>
        </p:pic>
        <p:pic>
          <p:nvPicPr>
            <p:cNvPr id="56" name="object 56"/>
            <p:cNvPicPr/>
            <p:nvPr/>
          </p:nvPicPr>
          <p:blipFill>
            <a:blip r:embed="rId18" cstate="print"/>
            <a:stretch>
              <a:fillRect/>
            </a:stretch>
          </p:blipFill>
          <p:spPr>
            <a:xfrm>
              <a:off x="7689407" y="2743288"/>
              <a:ext cx="970608" cy="1631937"/>
            </a:xfrm>
            <a:prstGeom prst="rect">
              <a:avLst/>
            </a:prstGeom>
          </p:spPr>
        </p:pic>
        <p:pic>
          <p:nvPicPr>
            <p:cNvPr id="57" name="object 57"/>
            <p:cNvPicPr/>
            <p:nvPr/>
          </p:nvPicPr>
          <p:blipFill>
            <a:blip r:embed="rId19" cstate="print"/>
            <a:stretch>
              <a:fillRect/>
            </a:stretch>
          </p:blipFill>
          <p:spPr>
            <a:xfrm>
              <a:off x="3678594" y="2928344"/>
              <a:ext cx="1023257" cy="1720451"/>
            </a:xfrm>
            <a:prstGeom prst="rect">
              <a:avLst/>
            </a:prstGeom>
          </p:spPr>
        </p:pic>
        <p:pic>
          <p:nvPicPr>
            <p:cNvPr id="58" name="object 58"/>
            <p:cNvPicPr/>
            <p:nvPr/>
          </p:nvPicPr>
          <p:blipFill>
            <a:blip r:embed="rId20" cstate="print"/>
            <a:stretch>
              <a:fillRect/>
            </a:stretch>
          </p:blipFill>
          <p:spPr>
            <a:xfrm>
              <a:off x="4263580" y="3135607"/>
              <a:ext cx="253807" cy="426741"/>
            </a:xfrm>
            <a:prstGeom prst="rect">
              <a:avLst/>
            </a:prstGeom>
          </p:spPr>
        </p:pic>
        <p:sp>
          <p:nvSpPr>
            <p:cNvPr id="59" name="object 59" descr=""/>
            <p:cNvSpPr/>
            <p:nvPr/>
          </p:nvSpPr>
          <p:spPr>
            <a:xfrm>
              <a:off x="4279121" y="3549658"/>
              <a:ext cx="124460" cy="136525"/>
            </a:xfrm>
            <a:custGeom>
              <a:avLst/>
              <a:gdLst/>
              <a:ahLst/>
              <a:cxnLst/>
              <a:rect l="l" t="t" r="r" b="b"/>
              <a:pathLst>
                <a:path w="124460" h="136525">
                  <a:moveTo>
                    <a:pt x="0" y="136067"/>
                  </a:moveTo>
                  <a:lnTo>
                    <a:pt x="124066" y="0"/>
                  </a:lnTo>
                </a:path>
              </a:pathLst>
            </a:custGeom>
            <a:ln w="9525">
              <a:solidFill>
                <a:srgbClr val="F1F9F9"/>
              </a:solidFill>
            </a:ln>
          </p:spPr>
          <p:txBody>
            <a:bodyPr wrap="square" lIns="0" tIns="0" rIns="0" bIns="0" rtlCol="0"/>
            <a:lstStyle/>
            <a:p/>
          </p:txBody>
        </p:sp>
        <p:pic>
          <p:nvPicPr>
            <p:cNvPr id="60" name="object 60"/>
            <p:cNvPicPr/>
            <p:nvPr/>
          </p:nvPicPr>
          <p:blipFill>
            <a:blip r:embed="rId21" cstate="print"/>
            <a:stretch>
              <a:fillRect/>
            </a:stretch>
          </p:blipFill>
          <p:spPr>
            <a:xfrm>
              <a:off x="5793892" y="1443253"/>
              <a:ext cx="209460" cy="209454"/>
            </a:xfrm>
            <a:prstGeom prst="rect">
              <a:avLst/>
            </a:prstGeom>
          </p:spPr>
        </p:pic>
        <p:pic>
          <p:nvPicPr>
            <p:cNvPr id="61" name="object 61"/>
            <p:cNvPicPr/>
            <p:nvPr/>
          </p:nvPicPr>
          <p:blipFill>
            <a:blip r:embed="rId22" cstate="print"/>
            <a:stretch>
              <a:fillRect/>
            </a:stretch>
          </p:blipFill>
          <p:spPr>
            <a:xfrm>
              <a:off x="4570503" y="1411844"/>
              <a:ext cx="272264" cy="272264"/>
            </a:xfrm>
            <a:prstGeom prst="rect">
              <a:avLst/>
            </a:prstGeom>
          </p:spPr>
        </p:pic>
        <p:pic>
          <p:nvPicPr>
            <p:cNvPr id="62" name="object 62"/>
            <p:cNvPicPr/>
            <p:nvPr/>
          </p:nvPicPr>
          <p:blipFill>
            <a:blip r:embed="rId23" cstate="print"/>
            <a:stretch>
              <a:fillRect/>
            </a:stretch>
          </p:blipFill>
          <p:spPr>
            <a:xfrm>
              <a:off x="1616659" y="1430795"/>
              <a:ext cx="272640" cy="221661"/>
            </a:xfrm>
            <a:prstGeom prst="rect">
              <a:avLst/>
            </a:prstGeom>
          </p:spPr>
        </p:pic>
        <p:pic>
          <p:nvPicPr>
            <p:cNvPr id="63" name="object 63"/>
            <p:cNvPicPr/>
            <p:nvPr/>
          </p:nvPicPr>
          <p:blipFill>
            <a:blip r:embed="rId24" cstate="print"/>
            <a:stretch>
              <a:fillRect/>
            </a:stretch>
          </p:blipFill>
          <p:spPr>
            <a:xfrm>
              <a:off x="3975518" y="1410131"/>
              <a:ext cx="275693" cy="275691"/>
            </a:xfrm>
            <a:prstGeom prst="rect">
              <a:avLst/>
            </a:prstGeom>
          </p:spPr>
        </p:pic>
        <p:pic>
          <p:nvPicPr>
            <p:cNvPr id="64" name="object 64"/>
            <p:cNvPicPr/>
            <p:nvPr/>
          </p:nvPicPr>
          <p:blipFill>
            <a:blip r:embed="rId25" cstate="print"/>
            <a:stretch>
              <a:fillRect/>
            </a:stretch>
          </p:blipFill>
          <p:spPr>
            <a:xfrm>
              <a:off x="5159362" y="1407433"/>
              <a:ext cx="281087" cy="281087"/>
            </a:xfrm>
            <a:prstGeom prst="rect">
              <a:avLst/>
            </a:prstGeom>
          </p:spPr>
        </p:pic>
        <p:pic>
          <p:nvPicPr>
            <p:cNvPr id="65" name="object 65"/>
            <p:cNvPicPr/>
            <p:nvPr/>
          </p:nvPicPr>
          <p:blipFill>
            <a:blip r:embed="rId26" cstate="print"/>
            <a:stretch>
              <a:fillRect/>
            </a:stretch>
          </p:blipFill>
          <p:spPr>
            <a:xfrm>
              <a:off x="3383960" y="1411846"/>
              <a:ext cx="272264" cy="272262"/>
            </a:xfrm>
            <a:prstGeom prst="rect">
              <a:avLst/>
            </a:prstGeom>
          </p:spPr>
        </p:pic>
        <p:pic>
          <p:nvPicPr>
            <p:cNvPr id="66" name="object 66"/>
            <p:cNvPicPr/>
            <p:nvPr/>
          </p:nvPicPr>
          <p:blipFill>
            <a:blip r:embed="rId27" cstate="print"/>
            <a:stretch>
              <a:fillRect/>
            </a:stretch>
          </p:blipFill>
          <p:spPr>
            <a:xfrm>
              <a:off x="2815991" y="1426756"/>
              <a:ext cx="257458" cy="257450"/>
            </a:xfrm>
            <a:prstGeom prst="rect">
              <a:avLst/>
            </a:prstGeom>
          </p:spPr>
        </p:pic>
        <p:pic>
          <p:nvPicPr>
            <p:cNvPr id="67" name="object 67"/>
            <p:cNvPicPr/>
            <p:nvPr/>
          </p:nvPicPr>
          <p:blipFill>
            <a:blip r:embed="rId28" cstate="print"/>
            <a:stretch>
              <a:fillRect/>
            </a:stretch>
          </p:blipFill>
          <p:spPr>
            <a:xfrm>
              <a:off x="2192815" y="1407248"/>
              <a:ext cx="281461" cy="281463"/>
            </a:xfrm>
            <a:prstGeom prst="rect">
              <a:avLst/>
            </a:prstGeom>
          </p:spPr>
        </p:pic>
        <p:pic>
          <p:nvPicPr>
            <p:cNvPr id="68" name="object 68"/>
            <p:cNvPicPr/>
            <p:nvPr/>
          </p:nvPicPr>
          <p:blipFill>
            <a:blip r:embed="rId29" cstate="print"/>
            <a:stretch>
              <a:fillRect/>
            </a:stretch>
          </p:blipFill>
          <p:spPr>
            <a:xfrm>
              <a:off x="2560993" y="3511481"/>
              <a:ext cx="446157" cy="446157"/>
            </a:xfrm>
            <a:prstGeom prst="rect">
              <a:avLst/>
            </a:prstGeom>
          </p:spPr>
        </p:pic>
        <p:pic>
          <p:nvPicPr>
            <p:cNvPr id="69" name="object 69"/>
            <p:cNvPicPr/>
            <p:nvPr/>
          </p:nvPicPr>
          <p:blipFill>
            <a:blip r:embed="rId30" cstate="print"/>
            <a:stretch>
              <a:fillRect/>
            </a:stretch>
          </p:blipFill>
          <p:spPr>
            <a:xfrm>
              <a:off x="2931674" y="4416428"/>
              <a:ext cx="714368" cy="714371"/>
            </a:xfrm>
            <a:prstGeom prst="rect">
              <a:avLst/>
            </a:prstGeom>
          </p:spPr>
        </p:pic>
        <p:pic>
          <p:nvPicPr>
            <p:cNvPr id="70" name="object 70" descr=""/>
            <p:cNvPicPr/>
            <p:nvPr/>
          </p:nvPicPr>
          <p:blipFill>
            <a:blip r:embed="rId31" cstate="print"/>
            <a:stretch>
              <a:fillRect/>
            </a:stretch>
          </p:blipFill>
          <p:spPr>
            <a:xfrm>
              <a:off x="3238550" y="3123462"/>
              <a:ext cx="126726" cy="251777"/>
            </a:xfrm>
            <a:prstGeom prst="rect">
              <a:avLst/>
            </a:prstGeom>
          </p:spPr>
        </p:pic>
        <p:pic>
          <p:nvPicPr>
            <p:cNvPr id="71" name="object 71" descr=""/>
            <p:cNvPicPr/>
            <p:nvPr/>
          </p:nvPicPr>
          <p:blipFill>
            <a:blip r:embed="rId32" cstate="print"/>
            <a:stretch>
              <a:fillRect/>
            </a:stretch>
          </p:blipFill>
          <p:spPr>
            <a:xfrm>
              <a:off x="3482785" y="3123462"/>
              <a:ext cx="129242" cy="251777"/>
            </a:xfrm>
            <a:prstGeom prst="rect">
              <a:avLst/>
            </a:prstGeom>
          </p:spPr>
        </p:pic>
        <p:sp>
          <p:nvSpPr>
            <p:cNvPr id="72" name="object 72" descr=""/>
            <p:cNvSpPr/>
            <p:nvPr/>
          </p:nvSpPr>
          <p:spPr>
            <a:xfrm>
              <a:off x="3334633" y="3548424"/>
              <a:ext cx="176530" cy="58419"/>
            </a:xfrm>
            <a:custGeom>
              <a:avLst/>
              <a:gdLst/>
              <a:ahLst/>
              <a:cxnLst/>
              <a:rect l="l" t="t" r="r" b="b"/>
              <a:pathLst>
                <a:path w="176529" h="58420">
                  <a:moveTo>
                    <a:pt x="173989" y="0"/>
                  </a:moveTo>
                  <a:lnTo>
                    <a:pt x="90373" y="54051"/>
                  </a:lnTo>
                  <a:lnTo>
                    <a:pt x="2527" y="1689"/>
                  </a:lnTo>
                  <a:lnTo>
                    <a:pt x="0" y="4229"/>
                  </a:lnTo>
                  <a:lnTo>
                    <a:pt x="90373" y="58280"/>
                  </a:lnTo>
                  <a:lnTo>
                    <a:pt x="176529" y="4229"/>
                  </a:lnTo>
                  <a:lnTo>
                    <a:pt x="173989" y="0"/>
                  </a:lnTo>
                  <a:close/>
                </a:path>
              </a:pathLst>
            </a:custGeom>
            <a:solidFill>
              <a:srgbClr val="45D8FF"/>
            </a:solidFill>
          </p:spPr>
          <p:txBody>
            <a:bodyPr wrap="square" lIns="0" tIns="0" rIns="0" bIns="0" rtlCol="0"/>
            <a:lstStyle/>
            <a:p/>
          </p:txBody>
        </p:sp>
        <p:pic>
          <p:nvPicPr>
            <p:cNvPr id="73" name="object 73" descr=""/>
            <p:cNvPicPr/>
            <p:nvPr/>
          </p:nvPicPr>
          <p:blipFill>
            <a:blip r:embed="rId33" cstate="print"/>
            <a:stretch>
              <a:fillRect/>
            </a:stretch>
          </p:blipFill>
          <p:spPr>
            <a:xfrm>
              <a:off x="3391221" y="3215650"/>
              <a:ext cx="69265" cy="70103"/>
            </a:xfrm>
            <a:prstGeom prst="rect">
              <a:avLst/>
            </a:prstGeom>
          </p:spPr>
        </p:pic>
        <p:sp>
          <p:nvSpPr>
            <p:cNvPr id="74" name="object 74" descr=""/>
            <p:cNvSpPr/>
            <p:nvPr/>
          </p:nvSpPr>
          <p:spPr>
            <a:xfrm>
              <a:off x="3255238" y="3271405"/>
              <a:ext cx="334010" cy="560070"/>
            </a:xfrm>
            <a:custGeom>
              <a:avLst/>
              <a:gdLst/>
              <a:ahLst/>
              <a:cxnLst/>
              <a:rect l="l" t="t" r="r" b="b"/>
              <a:pathLst>
                <a:path w="334010" h="560070">
                  <a:moveTo>
                    <a:pt x="333616" y="527875"/>
                  </a:moveTo>
                  <a:lnTo>
                    <a:pt x="294119" y="391401"/>
                  </a:lnTo>
                  <a:lnTo>
                    <a:pt x="294119" y="449834"/>
                  </a:lnTo>
                  <a:lnTo>
                    <a:pt x="175475" y="495274"/>
                  </a:lnTo>
                  <a:lnTo>
                    <a:pt x="175221" y="410806"/>
                  </a:lnTo>
                  <a:lnTo>
                    <a:pt x="293471" y="447382"/>
                  </a:lnTo>
                  <a:lnTo>
                    <a:pt x="294119" y="449834"/>
                  </a:lnTo>
                  <a:lnTo>
                    <a:pt x="294119" y="391401"/>
                  </a:lnTo>
                  <a:lnTo>
                    <a:pt x="292506" y="385826"/>
                  </a:lnTo>
                  <a:lnTo>
                    <a:pt x="292506" y="443649"/>
                  </a:lnTo>
                  <a:lnTo>
                    <a:pt x="178041" y="407504"/>
                  </a:lnTo>
                  <a:lnTo>
                    <a:pt x="274218" y="373519"/>
                  </a:lnTo>
                  <a:lnTo>
                    <a:pt x="292506" y="443649"/>
                  </a:lnTo>
                  <a:lnTo>
                    <a:pt x="292506" y="385826"/>
                  </a:lnTo>
                  <a:lnTo>
                    <a:pt x="273202" y="319125"/>
                  </a:lnTo>
                  <a:lnTo>
                    <a:pt x="273202" y="369658"/>
                  </a:lnTo>
                  <a:lnTo>
                    <a:pt x="175196" y="404266"/>
                  </a:lnTo>
                  <a:lnTo>
                    <a:pt x="174993" y="334810"/>
                  </a:lnTo>
                  <a:lnTo>
                    <a:pt x="272605" y="367347"/>
                  </a:lnTo>
                  <a:lnTo>
                    <a:pt x="273202" y="369658"/>
                  </a:lnTo>
                  <a:lnTo>
                    <a:pt x="273202" y="319125"/>
                  </a:lnTo>
                  <a:lnTo>
                    <a:pt x="271475" y="313156"/>
                  </a:lnTo>
                  <a:lnTo>
                    <a:pt x="271475" y="363016"/>
                  </a:lnTo>
                  <a:lnTo>
                    <a:pt x="174980" y="330581"/>
                  </a:lnTo>
                  <a:lnTo>
                    <a:pt x="174726" y="248323"/>
                  </a:lnTo>
                  <a:lnTo>
                    <a:pt x="250444" y="282397"/>
                  </a:lnTo>
                  <a:lnTo>
                    <a:pt x="271475" y="363016"/>
                  </a:lnTo>
                  <a:lnTo>
                    <a:pt x="271475" y="313156"/>
                  </a:lnTo>
                  <a:lnTo>
                    <a:pt x="248970" y="235394"/>
                  </a:lnTo>
                  <a:lnTo>
                    <a:pt x="248970" y="276733"/>
                  </a:lnTo>
                  <a:lnTo>
                    <a:pt x="174713" y="242976"/>
                  </a:lnTo>
                  <a:lnTo>
                    <a:pt x="174701" y="240728"/>
                  </a:lnTo>
                  <a:lnTo>
                    <a:pt x="227825" y="195618"/>
                  </a:lnTo>
                  <a:lnTo>
                    <a:pt x="248970" y="276733"/>
                  </a:lnTo>
                  <a:lnTo>
                    <a:pt x="248970" y="235394"/>
                  </a:lnTo>
                  <a:lnTo>
                    <a:pt x="226796" y="158775"/>
                  </a:lnTo>
                  <a:lnTo>
                    <a:pt x="226796" y="191719"/>
                  </a:lnTo>
                  <a:lnTo>
                    <a:pt x="174688" y="236474"/>
                  </a:lnTo>
                  <a:lnTo>
                    <a:pt x="174447" y="156438"/>
                  </a:lnTo>
                  <a:lnTo>
                    <a:pt x="225983" y="188582"/>
                  </a:lnTo>
                  <a:lnTo>
                    <a:pt x="226796" y="191719"/>
                  </a:lnTo>
                  <a:lnTo>
                    <a:pt x="226796" y="158775"/>
                  </a:lnTo>
                  <a:lnTo>
                    <a:pt x="225018" y="152628"/>
                  </a:lnTo>
                  <a:lnTo>
                    <a:pt x="225018" y="184886"/>
                  </a:lnTo>
                  <a:lnTo>
                    <a:pt x="175006" y="151066"/>
                  </a:lnTo>
                  <a:lnTo>
                    <a:pt x="207822" y="118935"/>
                  </a:lnTo>
                  <a:lnTo>
                    <a:pt x="225018" y="184886"/>
                  </a:lnTo>
                  <a:lnTo>
                    <a:pt x="225018" y="152628"/>
                  </a:lnTo>
                  <a:lnTo>
                    <a:pt x="181584" y="2540"/>
                  </a:lnTo>
                  <a:lnTo>
                    <a:pt x="177368" y="2540"/>
                  </a:lnTo>
                  <a:lnTo>
                    <a:pt x="180200" y="13030"/>
                  </a:lnTo>
                  <a:lnTo>
                    <a:pt x="206768" y="114896"/>
                  </a:lnTo>
                  <a:lnTo>
                    <a:pt x="174421" y="145808"/>
                  </a:lnTo>
                  <a:lnTo>
                    <a:pt x="173990" y="2527"/>
                  </a:lnTo>
                  <a:lnTo>
                    <a:pt x="169760" y="2527"/>
                  </a:lnTo>
                  <a:lnTo>
                    <a:pt x="167157" y="145681"/>
                  </a:lnTo>
                  <a:lnTo>
                    <a:pt x="167043" y="151472"/>
                  </a:lnTo>
                  <a:lnTo>
                    <a:pt x="166941" y="157213"/>
                  </a:lnTo>
                  <a:lnTo>
                    <a:pt x="165493" y="237045"/>
                  </a:lnTo>
                  <a:lnTo>
                    <a:pt x="165417" y="241261"/>
                  </a:lnTo>
                  <a:lnTo>
                    <a:pt x="165392" y="242747"/>
                  </a:lnTo>
                  <a:lnTo>
                    <a:pt x="165303" y="247599"/>
                  </a:lnTo>
                  <a:lnTo>
                    <a:pt x="163766" y="331838"/>
                  </a:lnTo>
                  <a:lnTo>
                    <a:pt x="163690" y="336029"/>
                  </a:lnTo>
                  <a:lnTo>
                    <a:pt x="162433" y="405384"/>
                  </a:lnTo>
                  <a:lnTo>
                    <a:pt x="162306" y="405345"/>
                  </a:lnTo>
                  <a:lnTo>
                    <a:pt x="162306" y="412140"/>
                  </a:lnTo>
                  <a:lnTo>
                    <a:pt x="160807" y="494614"/>
                  </a:lnTo>
                  <a:lnTo>
                    <a:pt x="39179" y="455841"/>
                  </a:lnTo>
                  <a:lnTo>
                    <a:pt x="39903" y="453199"/>
                  </a:lnTo>
                  <a:lnTo>
                    <a:pt x="162306" y="412140"/>
                  </a:lnTo>
                  <a:lnTo>
                    <a:pt x="162306" y="405345"/>
                  </a:lnTo>
                  <a:lnTo>
                    <a:pt x="158724" y="404075"/>
                  </a:lnTo>
                  <a:lnTo>
                    <a:pt x="158724" y="408343"/>
                  </a:lnTo>
                  <a:lnTo>
                    <a:pt x="41122" y="448767"/>
                  </a:lnTo>
                  <a:lnTo>
                    <a:pt x="61607" y="374294"/>
                  </a:lnTo>
                  <a:lnTo>
                    <a:pt x="158724" y="408343"/>
                  </a:lnTo>
                  <a:lnTo>
                    <a:pt x="158724" y="404075"/>
                  </a:lnTo>
                  <a:lnTo>
                    <a:pt x="62814" y="369938"/>
                  </a:lnTo>
                  <a:lnTo>
                    <a:pt x="63106" y="368846"/>
                  </a:lnTo>
                  <a:lnTo>
                    <a:pt x="63563" y="367195"/>
                  </a:lnTo>
                  <a:lnTo>
                    <a:pt x="163690" y="336029"/>
                  </a:lnTo>
                  <a:lnTo>
                    <a:pt x="163690" y="331863"/>
                  </a:lnTo>
                  <a:lnTo>
                    <a:pt x="64592" y="363435"/>
                  </a:lnTo>
                  <a:lnTo>
                    <a:pt x="87160" y="281419"/>
                  </a:lnTo>
                  <a:lnTo>
                    <a:pt x="165303" y="247599"/>
                  </a:lnTo>
                  <a:lnTo>
                    <a:pt x="165303" y="242798"/>
                  </a:lnTo>
                  <a:lnTo>
                    <a:pt x="87960" y="278485"/>
                  </a:lnTo>
                  <a:lnTo>
                    <a:pt x="110921" y="195008"/>
                  </a:lnTo>
                  <a:lnTo>
                    <a:pt x="165417" y="241261"/>
                  </a:lnTo>
                  <a:lnTo>
                    <a:pt x="165417" y="236982"/>
                  </a:lnTo>
                  <a:lnTo>
                    <a:pt x="112001" y="191109"/>
                  </a:lnTo>
                  <a:lnTo>
                    <a:pt x="112496" y="189280"/>
                  </a:lnTo>
                  <a:lnTo>
                    <a:pt x="166941" y="157213"/>
                  </a:lnTo>
                  <a:lnTo>
                    <a:pt x="166941" y="151549"/>
                  </a:lnTo>
                  <a:lnTo>
                    <a:pt x="113461" y="185762"/>
                  </a:lnTo>
                  <a:lnTo>
                    <a:pt x="130060" y="125463"/>
                  </a:lnTo>
                  <a:lnTo>
                    <a:pt x="167043" y="151472"/>
                  </a:lnTo>
                  <a:lnTo>
                    <a:pt x="167043" y="145605"/>
                  </a:lnTo>
                  <a:lnTo>
                    <a:pt x="131318" y="120891"/>
                  </a:lnTo>
                  <a:lnTo>
                    <a:pt x="161315" y="11823"/>
                  </a:lnTo>
                  <a:lnTo>
                    <a:pt x="157708" y="23901"/>
                  </a:lnTo>
                  <a:lnTo>
                    <a:pt x="163855" y="2527"/>
                  </a:lnTo>
                  <a:lnTo>
                    <a:pt x="159626" y="0"/>
                  </a:lnTo>
                  <a:lnTo>
                    <a:pt x="0" y="526186"/>
                  </a:lnTo>
                  <a:lnTo>
                    <a:pt x="11823" y="532104"/>
                  </a:lnTo>
                  <a:lnTo>
                    <a:pt x="17741" y="533793"/>
                  </a:lnTo>
                  <a:lnTo>
                    <a:pt x="38493" y="458330"/>
                  </a:lnTo>
                  <a:lnTo>
                    <a:pt x="160705" y="500278"/>
                  </a:lnTo>
                  <a:lnTo>
                    <a:pt x="159626" y="559968"/>
                  </a:lnTo>
                  <a:lnTo>
                    <a:pt x="175679" y="559968"/>
                  </a:lnTo>
                  <a:lnTo>
                    <a:pt x="175488" y="501142"/>
                  </a:lnTo>
                  <a:lnTo>
                    <a:pt x="295275" y="454304"/>
                  </a:lnTo>
                  <a:lnTo>
                    <a:pt x="317563" y="539711"/>
                  </a:lnTo>
                  <a:lnTo>
                    <a:pt x="321792" y="535482"/>
                  </a:lnTo>
                  <a:lnTo>
                    <a:pt x="333616" y="527875"/>
                  </a:lnTo>
                  <a:close/>
                </a:path>
              </a:pathLst>
            </a:custGeom>
            <a:solidFill>
              <a:srgbClr val="45D8FF"/>
            </a:solidFill>
          </p:spPr>
          <p:txBody>
            <a:bodyPr wrap="square" lIns="0" tIns="0" rIns="0" bIns="0" rtlCol="0"/>
            <a:lstStyle/>
            <a:p/>
          </p:txBody>
        </p:sp>
        <p:sp>
          <p:nvSpPr>
            <p:cNvPr id="75" name="object 75" descr=""/>
            <p:cNvSpPr/>
            <p:nvPr/>
          </p:nvSpPr>
          <p:spPr>
            <a:xfrm>
              <a:off x="698237" y="1920547"/>
              <a:ext cx="631825" cy="982980"/>
            </a:xfrm>
            <a:custGeom>
              <a:avLst/>
              <a:gdLst/>
              <a:ahLst/>
              <a:cxnLst/>
              <a:rect l="l" t="t" r="r" b="b"/>
              <a:pathLst>
                <a:path w="631825" h="982980">
                  <a:moveTo>
                    <a:pt x="555510" y="0"/>
                  </a:moveTo>
                  <a:lnTo>
                    <a:pt x="75819" y="0"/>
                  </a:lnTo>
                  <a:lnTo>
                    <a:pt x="46307" y="5958"/>
                  </a:lnTo>
                  <a:lnTo>
                    <a:pt x="22207" y="22207"/>
                  </a:lnTo>
                  <a:lnTo>
                    <a:pt x="5958" y="46307"/>
                  </a:lnTo>
                  <a:lnTo>
                    <a:pt x="0" y="75818"/>
                  </a:lnTo>
                  <a:lnTo>
                    <a:pt x="0" y="906678"/>
                  </a:lnTo>
                  <a:lnTo>
                    <a:pt x="5958" y="936187"/>
                  </a:lnTo>
                  <a:lnTo>
                    <a:pt x="22207" y="960283"/>
                  </a:lnTo>
                  <a:lnTo>
                    <a:pt x="46307" y="976528"/>
                  </a:lnTo>
                  <a:lnTo>
                    <a:pt x="75819" y="982484"/>
                  </a:lnTo>
                  <a:lnTo>
                    <a:pt x="555510" y="982484"/>
                  </a:lnTo>
                  <a:lnTo>
                    <a:pt x="585020" y="976528"/>
                  </a:lnTo>
                  <a:lnTo>
                    <a:pt x="609115" y="960283"/>
                  </a:lnTo>
                  <a:lnTo>
                    <a:pt x="625360" y="936187"/>
                  </a:lnTo>
                  <a:lnTo>
                    <a:pt x="631317" y="906678"/>
                  </a:lnTo>
                  <a:lnTo>
                    <a:pt x="631317" y="75818"/>
                  </a:lnTo>
                  <a:lnTo>
                    <a:pt x="625360" y="46307"/>
                  </a:lnTo>
                  <a:lnTo>
                    <a:pt x="609115" y="22207"/>
                  </a:lnTo>
                  <a:lnTo>
                    <a:pt x="585020" y="5958"/>
                  </a:lnTo>
                  <a:lnTo>
                    <a:pt x="555510" y="0"/>
                  </a:lnTo>
                  <a:close/>
                </a:path>
              </a:pathLst>
            </a:custGeom>
            <a:solidFill>
              <a:srgbClr val="00B0F0">
                <a:alpha val="10194"/>
              </a:srgbClr>
            </a:solidFill>
          </p:spPr>
          <p:txBody>
            <a:bodyPr wrap="square" lIns="0" tIns="0" rIns="0" bIns="0" rtlCol="0"/>
            <a:lstStyle/>
            <a:p/>
          </p:txBody>
        </p:sp>
        <p:sp>
          <p:nvSpPr>
            <p:cNvPr id="76" name="object 76" descr=""/>
            <p:cNvSpPr/>
            <p:nvPr/>
          </p:nvSpPr>
          <p:spPr>
            <a:xfrm>
              <a:off x="698237" y="1920547"/>
              <a:ext cx="631825" cy="982980"/>
            </a:xfrm>
            <a:custGeom>
              <a:avLst/>
              <a:gdLst/>
              <a:ahLst/>
              <a:cxnLst/>
              <a:rect l="l" t="t" r="r" b="b"/>
              <a:pathLst>
                <a:path w="631825" h="982980">
                  <a:moveTo>
                    <a:pt x="0" y="75818"/>
                  </a:moveTo>
                  <a:lnTo>
                    <a:pt x="5958" y="46307"/>
                  </a:lnTo>
                  <a:lnTo>
                    <a:pt x="22207" y="22207"/>
                  </a:lnTo>
                  <a:lnTo>
                    <a:pt x="46307" y="5958"/>
                  </a:lnTo>
                  <a:lnTo>
                    <a:pt x="75819" y="0"/>
                  </a:lnTo>
                  <a:lnTo>
                    <a:pt x="555510" y="0"/>
                  </a:lnTo>
                  <a:lnTo>
                    <a:pt x="585020" y="5958"/>
                  </a:lnTo>
                  <a:lnTo>
                    <a:pt x="609115" y="22207"/>
                  </a:lnTo>
                  <a:lnTo>
                    <a:pt x="625360" y="46307"/>
                  </a:lnTo>
                  <a:lnTo>
                    <a:pt x="631317" y="75818"/>
                  </a:lnTo>
                  <a:lnTo>
                    <a:pt x="631317" y="906678"/>
                  </a:lnTo>
                  <a:lnTo>
                    <a:pt x="625360" y="936187"/>
                  </a:lnTo>
                  <a:lnTo>
                    <a:pt x="609115" y="960283"/>
                  </a:lnTo>
                  <a:lnTo>
                    <a:pt x="585020" y="976528"/>
                  </a:lnTo>
                  <a:lnTo>
                    <a:pt x="555510" y="982484"/>
                  </a:lnTo>
                  <a:lnTo>
                    <a:pt x="75819" y="982484"/>
                  </a:lnTo>
                  <a:lnTo>
                    <a:pt x="46307" y="976528"/>
                  </a:lnTo>
                  <a:lnTo>
                    <a:pt x="22207" y="960283"/>
                  </a:lnTo>
                  <a:lnTo>
                    <a:pt x="5958" y="936187"/>
                  </a:lnTo>
                  <a:lnTo>
                    <a:pt x="0" y="906678"/>
                  </a:lnTo>
                  <a:lnTo>
                    <a:pt x="0" y="75818"/>
                  </a:lnTo>
                  <a:close/>
                </a:path>
              </a:pathLst>
            </a:custGeom>
            <a:ln w="12699">
              <a:solidFill>
                <a:srgbClr val="45D8FF"/>
              </a:solidFill>
              <a:prstDash val="lgDash"/>
            </a:ln>
          </p:spPr>
          <p:txBody>
            <a:bodyPr wrap="square" lIns="0" tIns="0" rIns="0" bIns="0" rtlCol="0"/>
            <a:lstStyle/>
            <a:p/>
          </p:txBody>
        </p:sp>
      </p:grpSp>
      <p:sp>
        <p:nvSpPr>
          <p:cNvPr id="77" name="object 77" descr=""/>
          <p:cNvSpPr txBox="1"/>
          <p:nvPr/>
        </p:nvSpPr>
        <p:spPr>
          <a:xfrm>
            <a:off x="848798" y="2301557"/>
            <a:ext cx="330200" cy="208279"/>
          </a:xfrm>
          <a:prstGeom prst="rect">
            <a:avLst/>
          </a:prstGeom>
        </p:spPr>
        <p:txBody>
          <a:bodyPr wrap="square" lIns="0" tIns="12700" rIns="0" bIns="0" rtlCol="0" vert="horz">
            <a:spAutoFit/>
          </a:bodyPr>
          <a:lstStyle/>
          <a:p>
            <a:pPr marL="12700">
              <a:lnSpc>
                <a:spcPct val="100000"/>
              </a:lnSpc>
              <a:spcBef>
                <a:spcPts val="100"/>
              </a:spcBef>
            </a:pPr>
            <a:r>
              <a:rPr dirty="0" sz="1200" spc="-25" b="1">
                <a:solidFill>
                  <a:srgbClr val="BBE0E3"/>
                </a:solidFill>
                <a:latin typeface="Microsoft YaHei"/>
                <a:cs typeface="Microsoft YaHei"/>
              </a:rPr>
              <a:t>平台</a:t>
            </a:r>
            <a:endParaRPr sz="1200">
              <a:latin typeface="Microsoft YaHei"/>
              <a:cs typeface="Microsoft YaHei"/>
            </a:endParaRPr>
          </a:p>
        </p:txBody>
      </p:sp>
      <p:grpSp>
        <p:nvGrpSpPr>
          <p:cNvPr id="78" name="object 78" descr=""/>
          <p:cNvGrpSpPr/>
          <p:nvPr/>
        </p:nvGrpSpPr>
        <p:grpSpPr>
          <a:xfrm>
            <a:off x="691887" y="3013886"/>
            <a:ext cx="644525" cy="918210"/>
            <a:chOff x="691887" y="3013886"/>
            <a:chExt cx="644525" cy="918210"/>
          </a:xfrm>
        </p:grpSpPr>
        <p:sp>
          <p:nvSpPr>
            <p:cNvPr id="79" name="object 79" descr=""/>
            <p:cNvSpPr/>
            <p:nvPr/>
          </p:nvSpPr>
          <p:spPr>
            <a:xfrm>
              <a:off x="698237" y="3020236"/>
              <a:ext cx="631825" cy="905510"/>
            </a:xfrm>
            <a:custGeom>
              <a:avLst/>
              <a:gdLst/>
              <a:ahLst/>
              <a:cxnLst/>
              <a:rect l="l" t="t" r="r" b="b"/>
              <a:pathLst>
                <a:path w="631825" h="905510">
                  <a:moveTo>
                    <a:pt x="555510" y="0"/>
                  </a:moveTo>
                  <a:lnTo>
                    <a:pt x="75819" y="0"/>
                  </a:lnTo>
                  <a:lnTo>
                    <a:pt x="46307" y="5958"/>
                  </a:lnTo>
                  <a:lnTo>
                    <a:pt x="22207" y="22207"/>
                  </a:lnTo>
                  <a:lnTo>
                    <a:pt x="5958" y="46307"/>
                  </a:lnTo>
                  <a:lnTo>
                    <a:pt x="0" y="75818"/>
                  </a:lnTo>
                  <a:lnTo>
                    <a:pt x="0" y="829246"/>
                  </a:lnTo>
                  <a:lnTo>
                    <a:pt x="5958" y="858757"/>
                  </a:lnTo>
                  <a:lnTo>
                    <a:pt x="22207" y="882857"/>
                  </a:lnTo>
                  <a:lnTo>
                    <a:pt x="46307" y="899107"/>
                  </a:lnTo>
                  <a:lnTo>
                    <a:pt x="75819" y="905065"/>
                  </a:lnTo>
                  <a:lnTo>
                    <a:pt x="555510" y="905065"/>
                  </a:lnTo>
                  <a:lnTo>
                    <a:pt x="585020" y="899107"/>
                  </a:lnTo>
                  <a:lnTo>
                    <a:pt x="609115" y="882857"/>
                  </a:lnTo>
                  <a:lnTo>
                    <a:pt x="625360" y="858757"/>
                  </a:lnTo>
                  <a:lnTo>
                    <a:pt x="631317" y="829246"/>
                  </a:lnTo>
                  <a:lnTo>
                    <a:pt x="631317" y="75818"/>
                  </a:lnTo>
                  <a:lnTo>
                    <a:pt x="625360" y="46307"/>
                  </a:lnTo>
                  <a:lnTo>
                    <a:pt x="609115" y="22207"/>
                  </a:lnTo>
                  <a:lnTo>
                    <a:pt x="585020" y="5958"/>
                  </a:lnTo>
                  <a:lnTo>
                    <a:pt x="555510" y="0"/>
                  </a:lnTo>
                  <a:close/>
                </a:path>
              </a:pathLst>
            </a:custGeom>
            <a:solidFill>
              <a:srgbClr val="45D8FF">
                <a:alpha val="10194"/>
              </a:srgbClr>
            </a:solidFill>
          </p:spPr>
          <p:txBody>
            <a:bodyPr wrap="square" lIns="0" tIns="0" rIns="0" bIns="0" rtlCol="0"/>
            <a:lstStyle/>
            <a:p/>
          </p:txBody>
        </p:sp>
        <p:sp>
          <p:nvSpPr>
            <p:cNvPr id="80" name="object 80" descr=""/>
            <p:cNvSpPr/>
            <p:nvPr/>
          </p:nvSpPr>
          <p:spPr>
            <a:xfrm>
              <a:off x="698237" y="3020236"/>
              <a:ext cx="631825" cy="905510"/>
            </a:xfrm>
            <a:custGeom>
              <a:avLst/>
              <a:gdLst/>
              <a:ahLst/>
              <a:cxnLst/>
              <a:rect l="l" t="t" r="r" b="b"/>
              <a:pathLst>
                <a:path w="631825" h="905510">
                  <a:moveTo>
                    <a:pt x="0" y="75818"/>
                  </a:moveTo>
                  <a:lnTo>
                    <a:pt x="5958" y="46307"/>
                  </a:lnTo>
                  <a:lnTo>
                    <a:pt x="22207" y="22207"/>
                  </a:lnTo>
                  <a:lnTo>
                    <a:pt x="46307" y="5958"/>
                  </a:lnTo>
                  <a:lnTo>
                    <a:pt x="75819" y="0"/>
                  </a:lnTo>
                  <a:lnTo>
                    <a:pt x="555510" y="0"/>
                  </a:lnTo>
                  <a:lnTo>
                    <a:pt x="585020" y="5958"/>
                  </a:lnTo>
                  <a:lnTo>
                    <a:pt x="609115" y="22207"/>
                  </a:lnTo>
                  <a:lnTo>
                    <a:pt x="625360" y="46307"/>
                  </a:lnTo>
                  <a:lnTo>
                    <a:pt x="631317" y="75818"/>
                  </a:lnTo>
                  <a:lnTo>
                    <a:pt x="631317" y="829246"/>
                  </a:lnTo>
                  <a:lnTo>
                    <a:pt x="625360" y="858757"/>
                  </a:lnTo>
                  <a:lnTo>
                    <a:pt x="609115" y="882857"/>
                  </a:lnTo>
                  <a:lnTo>
                    <a:pt x="585020" y="899107"/>
                  </a:lnTo>
                  <a:lnTo>
                    <a:pt x="555510" y="905065"/>
                  </a:lnTo>
                  <a:lnTo>
                    <a:pt x="75819" y="905065"/>
                  </a:lnTo>
                  <a:lnTo>
                    <a:pt x="46307" y="899107"/>
                  </a:lnTo>
                  <a:lnTo>
                    <a:pt x="22207" y="882857"/>
                  </a:lnTo>
                  <a:lnTo>
                    <a:pt x="5958" y="858757"/>
                  </a:lnTo>
                  <a:lnTo>
                    <a:pt x="0" y="829246"/>
                  </a:lnTo>
                  <a:lnTo>
                    <a:pt x="0" y="75818"/>
                  </a:lnTo>
                  <a:close/>
                </a:path>
              </a:pathLst>
            </a:custGeom>
            <a:ln w="12700">
              <a:solidFill>
                <a:srgbClr val="45D8FF"/>
              </a:solidFill>
              <a:prstDash val="lgDash"/>
            </a:ln>
          </p:spPr>
          <p:txBody>
            <a:bodyPr wrap="square" lIns="0" tIns="0" rIns="0" bIns="0" rtlCol="0"/>
            <a:lstStyle/>
            <a:p/>
          </p:txBody>
        </p:sp>
      </p:grpSp>
      <p:sp>
        <p:nvSpPr>
          <p:cNvPr id="81" name="object 81" descr=""/>
          <p:cNvSpPr txBox="1"/>
          <p:nvPr/>
        </p:nvSpPr>
        <p:spPr>
          <a:xfrm>
            <a:off x="800761" y="3188035"/>
            <a:ext cx="426084" cy="558165"/>
          </a:xfrm>
          <a:prstGeom prst="rect">
            <a:avLst/>
          </a:prstGeom>
        </p:spPr>
        <p:txBody>
          <a:bodyPr wrap="square" lIns="0" tIns="12065" rIns="0" bIns="0" rtlCol="0" vert="horz">
            <a:spAutoFit/>
          </a:bodyPr>
          <a:lstStyle/>
          <a:p>
            <a:pPr algn="ctr" marL="12700" marR="5080" indent="635">
              <a:lnSpc>
                <a:spcPct val="100000"/>
              </a:lnSpc>
              <a:spcBef>
                <a:spcPts val="95"/>
              </a:spcBef>
            </a:pPr>
            <a:r>
              <a:rPr dirty="0" sz="1100" spc="-25" b="1">
                <a:solidFill>
                  <a:srgbClr val="BBE0E3"/>
                </a:solidFill>
                <a:latin typeface="Microsoft YaHei"/>
                <a:cs typeface="Microsoft YaHei"/>
              </a:rPr>
              <a:t>NB- </a:t>
            </a:r>
            <a:r>
              <a:rPr dirty="0" sz="1100" spc="-10" b="1">
                <a:solidFill>
                  <a:srgbClr val="BBE0E3"/>
                </a:solidFill>
                <a:latin typeface="Microsoft YaHei"/>
                <a:cs typeface="Microsoft YaHei"/>
              </a:rPr>
              <a:t>IOT</a:t>
            </a:r>
            <a:r>
              <a:rPr dirty="0" sz="1200" spc="-50" b="1">
                <a:solidFill>
                  <a:srgbClr val="BBE0E3"/>
                </a:solidFill>
                <a:latin typeface="Microsoft YaHei"/>
                <a:cs typeface="Microsoft YaHei"/>
              </a:rPr>
              <a:t>网</a:t>
            </a:r>
            <a:endParaRPr sz="1200">
              <a:latin typeface="Microsoft YaHei"/>
              <a:cs typeface="Microsoft YaHei"/>
            </a:endParaRPr>
          </a:p>
          <a:p>
            <a:pPr algn="ctr" marL="635">
              <a:lnSpc>
                <a:spcPts val="1435"/>
              </a:lnSpc>
            </a:pPr>
            <a:r>
              <a:rPr dirty="0" sz="1200" spc="-50" b="1">
                <a:solidFill>
                  <a:srgbClr val="BBE0E3"/>
                </a:solidFill>
                <a:latin typeface="Microsoft YaHei"/>
                <a:cs typeface="Microsoft YaHei"/>
              </a:rPr>
              <a:t>络</a:t>
            </a:r>
            <a:endParaRPr sz="1200">
              <a:latin typeface="Microsoft YaHei"/>
              <a:cs typeface="Microsoft YaHei"/>
            </a:endParaRPr>
          </a:p>
        </p:txBody>
      </p:sp>
      <p:grpSp>
        <p:nvGrpSpPr>
          <p:cNvPr id="82" name="object 82" descr=""/>
          <p:cNvGrpSpPr/>
          <p:nvPr/>
        </p:nvGrpSpPr>
        <p:grpSpPr>
          <a:xfrm>
            <a:off x="691887" y="4095620"/>
            <a:ext cx="644525" cy="918210"/>
            <a:chOff x="691887" y="4095620"/>
            <a:chExt cx="644525" cy="918210"/>
          </a:xfrm>
        </p:grpSpPr>
        <p:sp>
          <p:nvSpPr>
            <p:cNvPr id="83" name="object 83" descr=""/>
            <p:cNvSpPr/>
            <p:nvPr/>
          </p:nvSpPr>
          <p:spPr>
            <a:xfrm>
              <a:off x="698237" y="4101970"/>
              <a:ext cx="631825" cy="905510"/>
            </a:xfrm>
            <a:custGeom>
              <a:avLst/>
              <a:gdLst/>
              <a:ahLst/>
              <a:cxnLst/>
              <a:rect l="l" t="t" r="r" b="b"/>
              <a:pathLst>
                <a:path w="631825" h="905510">
                  <a:moveTo>
                    <a:pt x="555510" y="0"/>
                  </a:moveTo>
                  <a:lnTo>
                    <a:pt x="75819" y="0"/>
                  </a:lnTo>
                  <a:lnTo>
                    <a:pt x="46307" y="5958"/>
                  </a:lnTo>
                  <a:lnTo>
                    <a:pt x="22207" y="22207"/>
                  </a:lnTo>
                  <a:lnTo>
                    <a:pt x="5958" y="46307"/>
                  </a:lnTo>
                  <a:lnTo>
                    <a:pt x="0" y="75818"/>
                  </a:lnTo>
                  <a:lnTo>
                    <a:pt x="0" y="829246"/>
                  </a:lnTo>
                  <a:lnTo>
                    <a:pt x="5958" y="858757"/>
                  </a:lnTo>
                  <a:lnTo>
                    <a:pt x="22207" y="882857"/>
                  </a:lnTo>
                  <a:lnTo>
                    <a:pt x="46307" y="899107"/>
                  </a:lnTo>
                  <a:lnTo>
                    <a:pt x="75819" y="905065"/>
                  </a:lnTo>
                  <a:lnTo>
                    <a:pt x="555510" y="905065"/>
                  </a:lnTo>
                  <a:lnTo>
                    <a:pt x="585020" y="899107"/>
                  </a:lnTo>
                  <a:lnTo>
                    <a:pt x="609115" y="882857"/>
                  </a:lnTo>
                  <a:lnTo>
                    <a:pt x="625360" y="858757"/>
                  </a:lnTo>
                  <a:lnTo>
                    <a:pt x="631317" y="829246"/>
                  </a:lnTo>
                  <a:lnTo>
                    <a:pt x="631317" y="75818"/>
                  </a:lnTo>
                  <a:lnTo>
                    <a:pt x="625360" y="46307"/>
                  </a:lnTo>
                  <a:lnTo>
                    <a:pt x="609115" y="22207"/>
                  </a:lnTo>
                  <a:lnTo>
                    <a:pt x="585020" y="5958"/>
                  </a:lnTo>
                  <a:lnTo>
                    <a:pt x="555510" y="0"/>
                  </a:lnTo>
                  <a:close/>
                </a:path>
              </a:pathLst>
            </a:custGeom>
            <a:solidFill>
              <a:srgbClr val="45D8FF">
                <a:alpha val="10194"/>
              </a:srgbClr>
            </a:solidFill>
          </p:spPr>
          <p:txBody>
            <a:bodyPr wrap="square" lIns="0" tIns="0" rIns="0" bIns="0" rtlCol="0"/>
            <a:lstStyle/>
            <a:p/>
          </p:txBody>
        </p:sp>
        <p:sp>
          <p:nvSpPr>
            <p:cNvPr id="84" name="object 84" descr=""/>
            <p:cNvSpPr/>
            <p:nvPr/>
          </p:nvSpPr>
          <p:spPr>
            <a:xfrm>
              <a:off x="698237" y="4101970"/>
              <a:ext cx="631825" cy="905510"/>
            </a:xfrm>
            <a:custGeom>
              <a:avLst/>
              <a:gdLst/>
              <a:ahLst/>
              <a:cxnLst/>
              <a:rect l="l" t="t" r="r" b="b"/>
              <a:pathLst>
                <a:path w="631825" h="905510">
                  <a:moveTo>
                    <a:pt x="0" y="75818"/>
                  </a:moveTo>
                  <a:lnTo>
                    <a:pt x="5958" y="46307"/>
                  </a:lnTo>
                  <a:lnTo>
                    <a:pt x="22207" y="22207"/>
                  </a:lnTo>
                  <a:lnTo>
                    <a:pt x="46307" y="5958"/>
                  </a:lnTo>
                  <a:lnTo>
                    <a:pt x="75819" y="0"/>
                  </a:lnTo>
                  <a:lnTo>
                    <a:pt x="555510" y="0"/>
                  </a:lnTo>
                  <a:lnTo>
                    <a:pt x="585020" y="5958"/>
                  </a:lnTo>
                  <a:lnTo>
                    <a:pt x="609115" y="22207"/>
                  </a:lnTo>
                  <a:lnTo>
                    <a:pt x="625360" y="46307"/>
                  </a:lnTo>
                  <a:lnTo>
                    <a:pt x="631317" y="75818"/>
                  </a:lnTo>
                  <a:lnTo>
                    <a:pt x="631317" y="829246"/>
                  </a:lnTo>
                  <a:lnTo>
                    <a:pt x="625360" y="858757"/>
                  </a:lnTo>
                  <a:lnTo>
                    <a:pt x="609115" y="882857"/>
                  </a:lnTo>
                  <a:lnTo>
                    <a:pt x="585020" y="899107"/>
                  </a:lnTo>
                  <a:lnTo>
                    <a:pt x="555510" y="905065"/>
                  </a:lnTo>
                  <a:lnTo>
                    <a:pt x="75819" y="905065"/>
                  </a:lnTo>
                  <a:lnTo>
                    <a:pt x="46307" y="899107"/>
                  </a:lnTo>
                  <a:lnTo>
                    <a:pt x="22207" y="882857"/>
                  </a:lnTo>
                  <a:lnTo>
                    <a:pt x="5958" y="858757"/>
                  </a:lnTo>
                  <a:lnTo>
                    <a:pt x="0" y="829246"/>
                  </a:lnTo>
                  <a:lnTo>
                    <a:pt x="0" y="75818"/>
                  </a:lnTo>
                  <a:close/>
                </a:path>
              </a:pathLst>
            </a:custGeom>
            <a:ln w="12700">
              <a:solidFill>
                <a:srgbClr val="45D8FF"/>
              </a:solidFill>
              <a:prstDash val="lgDash"/>
            </a:ln>
          </p:spPr>
          <p:txBody>
            <a:bodyPr wrap="square" lIns="0" tIns="0" rIns="0" bIns="0" rtlCol="0"/>
            <a:lstStyle/>
            <a:p/>
          </p:txBody>
        </p:sp>
      </p:grpSp>
      <p:sp>
        <p:nvSpPr>
          <p:cNvPr id="85" name="object 85" descr=""/>
          <p:cNvSpPr txBox="1"/>
          <p:nvPr/>
        </p:nvSpPr>
        <p:spPr>
          <a:xfrm>
            <a:off x="800761" y="4269769"/>
            <a:ext cx="426084" cy="558165"/>
          </a:xfrm>
          <a:prstGeom prst="rect">
            <a:avLst/>
          </a:prstGeom>
        </p:spPr>
        <p:txBody>
          <a:bodyPr wrap="square" lIns="0" tIns="12065" rIns="0" bIns="0" rtlCol="0" vert="horz">
            <a:spAutoFit/>
          </a:bodyPr>
          <a:lstStyle/>
          <a:p>
            <a:pPr algn="ctr" marL="12700" marR="5080" indent="635">
              <a:lnSpc>
                <a:spcPct val="100000"/>
              </a:lnSpc>
              <a:spcBef>
                <a:spcPts val="95"/>
              </a:spcBef>
            </a:pPr>
            <a:r>
              <a:rPr dirty="0" sz="1100" spc="-25" b="1">
                <a:solidFill>
                  <a:srgbClr val="BBE0E3"/>
                </a:solidFill>
                <a:latin typeface="Microsoft YaHei"/>
                <a:cs typeface="Microsoft YaHei"/>
              </a:rPr>
              <a:t>NB- </a:t>
            </a:r>
            <a:r>
              <a:rPr dirty="0" sz="1100" spc="-10" b="1">
                <a:solidFill>
                  <a:srgbClr val="BBE0E3"/>
                </a:solidFill>
                <a:latin typeface="Microsoft YaHei"/>
                <a:cs typeface="Microsoft YaHei"/>
              </a:rPr>
              <a:t>IOT</a:t>
            </a:r>
            <a:r>
              <a:rPr dirty="0" sz="1200" spc="-50" b="1">
                <a:solidFill>
                  <a:srgbClr val="BBE0E3"/>
                </a:solidFill>
                <a:latin typeface="Microsoft YaHei"/>
                <a:cs typeface="Microsoft YaHei"/>
              </a:rPr>
              <a:t>终</a:t>
            </a:r>
            <a:endParaRPr sz="1200">
              <a:latin typeface="Microsoft YaHei"/>
              <a:cs typeface="Microsoft YaHei"/>
            </a:endParaRPr>
          </a:p>
          <a:p>
            <a:pPr algn="ctr" marL="635">
              <a:lnSpc>
                <a:spcPts val="1435"/>
              </a:lnSpc>
            </a:pPr>
            <a:r>
              <a:rPr dirty="0" sz="1200" spc="-50" b="1">
                <a:solidFill>
                  <a:srgbClr val="BBE0E3"/>
                </a:solidFill>
                <a:latin typeface="Microsoft YaHei"/>
                <a:cs typeface="Microsoft YaHei"/>
              </a:rPr>
              <a:t>端</a:t>
            </a:r>
            <a:endParaRPr sz="1200">
              <a:latin typeface="Microsoft YaHei"/>
              <a:cs typeface="Microsoft YaHei"/>
            </a:endParaRPr>
          </a:p>
        </p:txBody>
      </p:sp>
      <p:grpSp>
        <p:nvGrpSpPr>
          <p:cNvPr id="86" name="object 86" descr=""/>
          <p:cNvGrpSpPr/>
          <p:nvPr/>
        </p:nvGrpSpPr>
        <p:grpSpPr>
          <a:xfrm>
            <a:off x="1533903" y="905268"/>
            <a:ext cx="416559" cy="370840"/>
            <a:chOff x="1533903" y="905268"/>
            <a:chExt cx="416559" cy="370840"/>
          </a:xfrm>
        </p:grpSpPr>
        <p:sp>
          <p:nvSpPr>
            <p:cNvPr id="87" name="object 87" descr=""/>
            <p:cNvSpPr/>
            <p:nvPr/>
          </p:nvSpPr>
          <p:spPr>
            <a:xfrm>
              <a:off x="1540253" y="911618"/>
              <a:ext cx="403860" cy="358140"/>
            </a:xfrm>
            <a:custGeom>
              <a:avLst/>
              <a:gdLst/>
              <a:ahLst/>
              <a:cxnLst/>
              <a:rect l="l" t="t" r="r" b="b"/>
              <a:pathLst>
                <a:path w="403860" h="358140">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88" name="object 88" descr=""/>
            <p:cNvSpPr/>
            <p:nvPr/>
          </p:nvSpPr>
          <p:spPr>
            <a:xfrm>
              <a:off x="1540253"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89" name="object 89" descr=""/>
          <p:cNvSpPr txBox="1"/>
          <p:nvPr/>
        </p:nvSpPr>
        <p:spPr>
          <a:xfrm>
            <a:off x="1614601"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智能安防</a:t>
            </a:r>
            <a:endParaRPr sz="900">
              <a:latin typeface="Microsoft YaHei"/>
              <a:cs typeface="Microsoft YaHei"/>
            </a:endParaRPr>
          </a:p>
        </p:txBody>
      </p:sp>
      <p:grpSp>
        <p:nvGrpSpPr>
          <p:cNvPr id="90" name="object 90" descr=""/>
          <p:cNvGrpSpPr/>
          <p:nvPr/>
        </p:nvGrpSpPr>
        <p:grpSpPr>
          <a:xfrm>
            <a:off x="2125472" y="905268"/>
            <a:ext cx="416559" cy="370840"/>
            <a:chOff x="2125472" y="905268"/>
            <a:chExt cx="416559" cy="370840"/>
          </a:xfrm>
        </p:grpSpPr>
        <p:sp>
          <p:nvSpPr>
            <p:cNvPr id="91" name="object 91" descr=""/>
            <p:cNvSpPr/>
            <p:nvPr/>
          </p:nvSpPr>
          <p:spPr>
            <a:xfrm>
              <a:off x="2131822" y="911618"/>
              <a:ext cx="403860" cy="358140"/>
            </a:xfrm>
            <a:custGeom>
              <a:avLst/>
              <a:gdLst/>
              <a:ahLst/>
              <a:cxnLst/>
              <a:rect l="l" t="t" r="r" b="b"/>
              <a:pathLst>
                <a:path w="403860" h="358140">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92" name="object 92" descr=""/>
            <p:cNvSpPr/>
            <p:nvPr/>
          </p:nvSpPr>
          <p:spPr>
            <a:xfrm>
              <a:off x="2131822"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93" name="object 93" descr=""/>
          <p:cNvSpPr txBox="1"/>
          <p:nvPr/>
        </p:nvSpPr>
        <p:spPr>
          <a:xfrm>
            <a:off x="2206169"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智能停车</a:t>
            </a:r>
            <a:endParaRPr sz="900">
              <a:latin typeface="Microsoft YaHei"/>
              <a:cs typeface="Microsoft YaHei"/>
            </a:endParaRPr>
          </a:p>
        </p:txBody>
      </p:sp>
      <p:grpSp>
        <p:nvGrpSpPr>
          <p:cNvPr id="94" name="object 94" descr=""/>
          <p:cNvGrpSpPr/>
          <p:nvPr/>
        </p:nvGrpSpPr>
        <p:grpSpPr>
          <a:xfrm>
            <a:off x="2717928" y="905268"/>
            <a:ext cx="416559" cy="370840"/>
            <a:chOff x="2717928" y="905268"/>
            <a:chExt cx="416559" cy="370840"/>
          </a:xfrm>
        </p:grpSpPr>
        <p:sp>
          <p:nvSpPr>
            <p:cNvPr id="95" name="object 95" descr=""/>
            <p:cNvSpPr/>
            <p:nvPr/>
          </p:nvSpPr>
          <p:spPr>
            <a:xfrm>
              <a:off x="2724278" y="911618"/>
              <a:ext cx="403860" cy="358140"/>
            </a:xfrm>
            <a:custGeom>
              <a:avLst/>
              <a:gdLst/>
              <a:ahLst/>
              <a:cxnLst/>
              <a:rect l="l" t="t" r="r" b="b"/>
              <a:pathLst>
                <a:path w="403860" h="358140">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96" name="object 96" descr=""/>
            <p:cNvSpPr/>
            <p:nvPr/>
          </p:nvSpPr>
          <p:spPr>
            <a:xfrm>
              <a:off x="2724278"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97" name="object 97" descr=""/>
          <p:cNvSpPr txBox="1"/>
          <p:nvPr/>
        </p:nvSpPr>
        <p:spPr>
          <a:xfrm>
            <a:off x="2798625"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智能路灯</a:t>
            </a:r>
            <a:endParaRPr sz="900">
              <a:latin typeface="Microsoft YaHei"/>
              <a:cs typeface="Microsoft YaHei"/>
            </a:endParaRPr>
          </a:p>
        </p:txBody>
      </p:sp>
      <p:grpSp>
        <p:nvGrpSpPr>
          <p:cNvPr id="98" name="object 98" descr=""/>
          <p:cNvGrpSpPr/>
          <p:nvPr/>
        </p:nvGrpSpPr>
        <p:grpSpPr>
          <a:xfrm>
            <a:off x="3310310" y="905268"/>
            <a:ext cx="416559" cy="370840"/>
            <a:chOff x="3310310" y="905268"/>
            <a:chExt cx="416559" cy="370840"/>
          </a:xfrm>
        </p:grpSpPr>
        <p:sp>
          <p:nvSpPr>
            <p:cNvPr id="99" name="object 99" descr=""/>
            <p:cNvSpPr/>
            <p:nvPr/>
          </p:nvSpPr>
          <p:spPr>
            <a:xfrm>
              <a:off x="3316660" y="911618"/>
              <a:ext cx="403860" cy="358140"/>
            </a:xfrm>
            <a:custGeom>
              <a:avLst/>
              <a:gdLst/>
              <a:ahLst/>
              <a:cxnLst/>
              <a:rect l="l" t="t" r="r" b="b"/>
              <a:pathLst>
                <a:path w="403860" h="358140">
                  <a:moveTo>
                    <a:pt x="360489" y="0"/>
                  </a:moveTo>
                  <a:lnTo>
                    <a:pt x="42964" y="0"/>
                  </a:lnTo>
                  <a:lnTo>
                    <a:pt x="26237" y="3377"/>
                  </a:lnTo>
                  <a:lnTo>
                    <a:pt x="12580" y="12585"/>
                  </a:lnTo>
                  <a:lnTo>
                    <a:pt x="3375" y="26242"/>
                  </a:lnTo>
                  <a:lnTo>
                    <a:pt x="0" y="42964"/>
                  </a:lnTo>
                  <a:lnTo>
                    <a:pt x="0" y="314782"/>
                  </a:lnTo>
                  <a:lnTo>
                    <a:pt x="3375" y="331503"/>
                  </a:lnTo>
                  <a:lnTo>
                    <a:pt x="12580" y="345160"/>
                  </a:lnTo>
                  <a:lnTo>
                    <a:pt x="26237"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00" name="object 100" descr=""/>
            <p:cNvSpPr/>
            <p:nvPr/>
          </p:nvSpPr>
          <p:spPr>
            <a:xfrm>
              <a:off x="3316660" y="911618"/>
              <a:ext cx="403860" cy="358140"/>
            </a:xfrm>
            <a:custGeom>
              <a:avLst/>
              <a:gdLst/>
              <a:ahLst/>
              <a:cxnLst/>
              <a:rect l="l" t="t" r="r" b="b"/>
              <a:pathLst>
                <a:path w="403860" h="358140">
                  <a:moveTo>
                    <a:pt x="0" y="42964"/>
                  </a:moveTo>
                  <a:lnTo>
                    <a:pt x="3375" y="26242"/>
                  </a:lnTo>
                  <a:lnTo>
                    <a:pt x="12580" y="12585"/>
                  </a:lnTo>
                  <a:lnTo>
                    <a:pt x="26237"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37" y="354369"/>
                  </a:lnTo>
                  <a:lnTo>
                    <a:pt x="12580" y="345160"/>
                  </a:lnTo>
                  <a:lnTo>
                    <a:pt x="3375"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101" name="object 101" descr=""/>
          <p:cNvSpPr txBox="1"/>
          <p:nvPr/>
        </p:nvSpPr>
        <p:spPr>
          <a:xfrm>
            <a:off x="3391008"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智能井盖</a:t>
            </a:r>
            <a:endParaRPr sz="900">
              <a:latin typeface="Microsoft YaHei"/>
              <a:cs typeface="Microsoft YaHei"/>
            </a:endParaRPr>
          </a:p>
        </p:txBody>
      </p:sp>
      <p:grpSp>
        <p:nvGrpSpPr>
          <p:cNvPr id="102" name="object 102" descr=""/>
          <p:cNvGrpSpPr/>
          <p:nvPr/>
        </p:nvGrpSpPr>
        <p:grpSpPr>
          <a:xfrm>
            <a:off x="3902693" y="905268"/>
            <a:ext cx="416559" cy="370840"/>
            <a:chOff x="3902693" y="905268"/>
            <a:chExt cx="416559" cy="370840"/>
          </a:xfrm>
        </p:grpSpPr>
        <p:sp>
          <p:nvSpPr>
            <p:cNvPr id="103" name="object 103" descr=""/>
            <p:cNvSpPr/>
            <p:nvPr/>
          </p:nvSpPr>
          <p:spPr>
            <a:xfrm>
              <a:off x="3909043" y="911618"/>
              <a:ext cx="403860" cy="358140"/>
            </a:xfrm>
            <a:custGeom>
              <a:avLst/>
              <a:gdLst/>
              <a:ahLst/>
              <a:cxnLst/>
              <a:rect l="l" t="t" r="r" b="b"/>
              <a:pathLst>
                <a:path w="403860" h="358140">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45D8FF">
                <a:alpha val="10194"/>
              </a:srgbClr>
            </a:solidFill>
          </p:spPr>
          <p:txBody>
            <a:bodyPr wrap="square" lIns="0" tIns="0" rIns="0" bIns="0" rtlCol="0"/>
            <a:lstStyle/>
            <a:p/>
          </p:txBody>
        </p:sp>
        <p:sp>
          <p:nvSpPr>
            <p:cNvPr id="104" name="object 104" descr=""/>
            <p:cNvSpPr/>
            <p:nvPr/>
          </p:nvSpPr>
          <p:spPr>
            <a:xfrm>
              <a:off x="3909043"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105" name="object 105" descr=""/>
          <p:cNvSpPr txBox="1"/>
          <p:nvPr/>
        </p:nvSpPr>
        <p:spPr>
          <a:xfrm>
            <a:off x="3983391"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环境监测</a:t>
            </a:r>
            <a:endParaRPr sz="900">
              <a:latin typeface="Microsoft YaHei"/>
              <a:cs typeface="Microsoft YaHei"/>
            </a:endParaRPr>
          </a:p>
        </p:txBody>
      </p:sp>
      <p:grpSp>
        <p:nvGrpSpPr>
          <p:cNvPr id="106" name="object 106" descr=""/>
          <p:cNvGrpSpPr/>
          <p:nvPr/>
        </p:nvGrpSpPr>
        <p:grpSpPr>
          <a:xfrm>
            <a:off x="4495077" y="905268"/>
            <a:ext cx="416559" cy="370840"/>
            <a:chOff x="4495077" y="905268"/>
            <a:chExt cx="416559" cy="370840"/>
          </a:xfrm>
        </p:grpSpPr>
        <p:sp>
          <p:nvSpPr>
            <p:cNvPr id="107" name="object 107" descr=""/>
            <p:cNvSpPr/>
            <p:nvPr/>
          </p:nvSpPr>
          <p:spPr>
            <a:xfrm>
              <a:off x="4501427" y="911618"/>
              <a:ext cx="403860" cy="358140"/>
            </a:xfrm>
            <a:custGeom>
              <a:avLst/>
              <a:gdLst/>
              <a:ahLst/>
              <a:cxnLst/>
              <a:rect l="l" t="t" r="r" b="b"/>
              <a:pathLst>
                <a:path w="403860" h="358140">
                  <a:moveTo>
                    <a:pt x="360489"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08" name="object 108" descr=""/>
            <p:cNvSpPr/>
            <p:nvPr/>
          </p:nvSpPr>
          <p:spPr>
            <a:xfrm>
              <a:off x="4501427"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109" name="object 109" descr=""/>
          <p:cNvSpPr txBox="1"/>
          <p:nvPr/>
        </p:nvSpPr>
        <p:spPr>
          <a:xfrm>
            <a:off x="4575774"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水质监测</a:t>
            </a:r>
            <a:endParaRPr sz="900">
              <a:latin typeface="Microsoft YaHei"/>
              <a:cs typeface="Microsoft YaHei"/>
            </a:endParaRPr>
          </a:p>
        </p:txBody>
      </p:sp>
      <p:grpSp>
        <p:nvGrpSpPr>
          <p:cNvPr id="110" name="object 110" descr=""/>
          <p:cNvGrpSpPr/>
          <p:nvPr/>
        </p:nvGrpSpPr>
        <p:grpSpPr>
          <a:xfrm>
            <a:off x="5091828" y="905268"/>
            <a:ext cx="416559" cy="370840"/>
            <a:chOff x="5091828" y="905268"/>
            <a:chExt cx="416559" cy="370840"/>
          </a:xfrm>
        </p:grpSpPr>
        <p:sp>
          <p:nvSpPr>
            <p:cNvPr id="111" name="object 111" descr=""/>
            <p:cNvSpPr/>
            <p:nvPr/>
          </p:nvSpPr>
          <p:spPr>
            <a:xfrm>
              <a:off x="5098178" y="911618"/>
              <a:ext cx="403860" cy="358140"/>
            </a:xfrm>
            <a:custGeom>
              <a:avLst/>
              <a:gdLst/>
              <a:ahLst/>
              <a:cxnLst/>
              <a:rect l="l" t="t" r="r" b="b"/>
              <a:pathLst>
                <a:path w="403860" h="358140">
                  <a:moveTo>
                    <a:pt x="360489"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489" y="357746"/>
                  </a:lnTo>
                  <a:lnTo>
                    <a:pt x="377216" y="354369"/>
                  </a:lnTo>
                  <a:lnTo>
                    <a:pt x="390872" y="345160"/>
                  </a:lnTo>
                  <a:lnTo>
                    <a:pt x="400078" y="331503"/>
                  </a:lnTo>
                  <a:lnTo>
                    <a:pt x="403453" y="314782"/>
                  </a:lnTo>
                  <a:lnTo>
                    <a:pt x="403453" y="42964"/>
                  </a:lnTo>
                  <a:lnTo>
                    <a:pt x="400078" y="26242"/>
                  </a:lnTo>
                  <a:lnTo>
                    <a:pt x="390872" y="12585"/>
                  </a:lnTo>
                  <a:lnTo>
                    <a:pt x="377216" y="3377"/>
                  </a:lnTo>
                  <a:lnTo>
                    <a:pt x="360489" y="0"/>
                  </a:lnTo>
                  <a:close/>
                </a:path>
              </a:pathLst>
            </a:custGeom>
            <a:solidFill>
              <a:srgbClr val="45D8FF">
                <a:alpha val="10194"/>
              </a:srgbClr>
            </a:solidFill>
          </p:spPr>
          <p:txBody>
            <a:bodyPr wrap="square" lIns="0" tIns="0" rIns="0" bIns="0" rtlCol="0"/>
            <a:lstStyle/>
            <a:p/>
          </p:txBody>
        </p:sp>
        <p:sp>
          <p:nvSpPr>
            <p:cNvPr id="112" name="object 112" descr=""/>
            <p:cNvSpPr/>
            <p:nvPr/>
          </p:nvSpPr>
          <p:spPr>
            <a:xfrm>
              <a:off x="5098178"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489" y="0"/>
                  </a:lnTo>
                  <a:lnTo>
                    <a:pt x="377216" y="3377"/>
                  </a:lnTo>
                  <a:lnTo>
                    <a:pt x="390872" y="12585"/>
                  </a:lnTo>
                  <a:lnTo>
                    <a:pt x="400078" y="26242"/>
                  </a:lnTo>
                  <a:lnTo>
                    <a:pt x="403453" y="42964"/>
                  </a:lnTo>
                  <a:lnTo>
                    <a:pt x="403453" y="314782"/>
                  </a:lnTo>
                  <a:lnTo>
                    <a:pt x="400078" y="331503"/>
                  </a:lnTo>
                  <a:lnTo>
                    <a:pt x="390872" y="345160"/>
                  </a:lnTo>
                  <a:lnTo>
                    <a:pt x="377216" y="354369"/>
                  </a:lnTo>
                  <a:lnTo>
                    <a:pt x="360489"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113" name="object 113" descr=""/>
          <p:cNvSpPr txBox="1"/>
          <p:nvPr/>
        </p:nvSpPr>
        <p:spPr>
          <a:xfrm>
            <a:off x="5172527" y="936058"/>
            <a:ext cx="254000" cy="299720"/>
          </a:xfrm>
          <a:prstGeom prst="rect">
            <a:avLst/>
          </a:prstGeom>
        </p:spPr>
        <p:txBody>
          <a:bodyPr wrap="square" lIns="0" tIns="12700" rIns="0" bIns="0" rtlCol="0" vert="horz">
            <a:spAutoFit/>
          </a:bodyPr>
          <a:lstStyle/>
          <a:p>
            <a:pPr marL="12700" marR="5080">
              <a:lnSpc>
                <a:spcPct val="100000"/>
              </a:lnSpc>
              <a:spcBef>
                <a:spcPts val="100"/>
              </a:spcBef>
            </a:pPr>
            <a:r>
              <a:rPr dirty="0" sz="900" spc="-25" b="1">
                <a:solidFill>
                  <a:srgbClr val="BBE0E3"/>
                </a:solidFill>
                <a:latin typeface="Microsoft YaHei"/>
                <a:cs typeface="Microsoft YaHei"/>
              </a:rPr>
              <a:t>无线覆盖</a:t>
            </a:r>
            <a:endParaRPr sz="900">
              <a:latin typeface="Microsoft YaHei"/>
              <a:cs typeface="Microsoft YaHei"/>
            </a:endParaRPr>
          </a:p>
        </p:txBody>
      </p:sp>
      <p:grpSp>
        <p:nvGrpSpPr>
          <p:cNvPr id="114" name="object 114" descr=""/>
          <p:cNvGrpSpPr/>
          <p:nvPr/>
        </p:nvGrpSpPr>
        <p:grpSpPr>
          <a:xfrm>
            <a:off x="5685170" y="905268"/>
            <a:ext cx="416559" cy="370840"/>
            <a:chOff x="5685170" y="905268"/>
            <a:chExt cx="416559" cy="370840"/>
          </a:xfrm>
        </p:grpSpPr>
        <p:sp>
          <p:nvSpPr>
            <p:cNvPr id="115" name="object 115" descr=""/>
            <p:cNvSpPr/>
            <p:nvPr/>
          </p:nvSpPr>
          <p:spPr>
            <a:xfrm>
              <a:off x="5691520" y="911618"/>
              <a:ext cx="403860" cy="358140"/>
            </a:xfrm>
            <a:custGeom>
              <a:avLst/>
              <a:gdLst/>
              <a:ahLst/>
              <a:cxnLst/>
              <a:rect l="l" t="t" r="r" b="b"/>
              <a:pathLst>
                <a:path w="403860" h="358140">
                  <a:moveTo>
                    <a:pt x="360502" y="0"/>
                  </a:moveTo>
                  <a:lnTo>
                    <a:pt x="42964" y="0"/>
                  </a:lnTo>
                  <a:lnTo>
                    <a:pt x="26242" y="3377"/>
                  </a:lnTo>
                  <a:lnTo>
                    <a:pt x="12585" y="12585"/>
                  </a:lnTo>
                  <a:lnTo>
                    <a:pt x="3377" y="26242"/>
                  </a:lnTo>
                  <a:lnTo>
                    <a:pt x="0" y="42964"/>
                  </a:lnTo>
                  <a:lnTo>
                    <a:pt x="0" y="314782"/>
                  </a:lnTo>
                  <a:lnTo>
                    <a:pt x="3377" y="331503"/>
                  </a:lnTo>
                  <a:lnTo>
                    <a:pt x="12585" y="345160"/>
                  </a:lnTo>
                  <a:lnTo>
                    <a:pt x="26242" y="354369"/>
                  </a:lnTo>
                  <a:lnTo>
                    <a:pt x="42964" y="357746"/>
                  </a:lnTo>
                  <a:lnTo>
                    <a:pt x="360502" y="357746"/>
                  </a:lnTo>
                  <a:lnTo>
                    <a:pt x="377221" y="354369"/>
                  </a:lnTo>
                  <a:lnTo>
                    <a:pt x="390874" y="345160"/>
                  </a:lnTo>
                  <a:lnTo>
                    <a:pt x="400078" y="331503"/>
                  </a:lnTo>
                  <a:lnTo>
                    <a:pt x="403453" y="314782"/>
                  </a:lnTo>
                  <a:lnTo>
                    <a:pt x="403453" y="42964"/>
                  </a:lnTo>
                  <a:lnTo>
                    <a:pt x="400078" y="26242"/>
                  </a:lnTo>
                  <a:lnTo>
                    <a:pt x="390874" y="12585"/>
                  </a:lnTo>
                  <a:lnTo>
                    <a:pt x="377221" y="3377"/>
                  </a:lnTo>
                  <a:lnTo>
                    <a:pt x="360502" y="0"/>
                  </a:lnTo>
                  <a:close/>
                </a:path>
              </a:pathLst>
            </a:custGeom>
            <a:solidFill>
              <a:srgbClr val="00B0F0">
                <a:alpha val="10194"/>
              </a:srgbClr>
            </a:solidFill>
          </p:spPr>
          <p:txBody>
            <a:bodyPr wrap="square" lIns="0" tIns="0" rIns="0" bIns="0" rtlCol="0"/>
            <a:lstStyle/>
            <a:p/>
          </p:txBody>
        </p:sp>
        <p:sp>
          <p:nvSpPr>
            <p:cNvPr id="116" name="object 116" descr=""/>
            <p:cNvSpPr/>
            <p:nvPr/>
          </p:nvSpPr>
          <p:spPr>
            <a:xfrm>
              <a:off x="5691520" y="911618"/>
              <a:ext cx="403860" cy="358140"/>
            </a:xfrm>
            <a:custGeom>
              <a:avLst/>
              <a:gdLst/>
              <a:ahLst/>
              <a:cxnLst/>
              <a:rect l="l" t="t" r="r" b="b"/>
              <a:pathLst>
                <a:path w="403860" h="358140">
                  <a:moveTo>
                    <a:pt x="0" y="42964"/>
                  </a:moveTo>
                  <a:lnTo>
                    <a:pt x="3377" y="26242"/>
                  </a:lnTo>
                  <a:lnTo>
                    <a:pt x="12585" y="12585"/>
                  </a:lnTo>
                  <a:lnTo>
                    <a:pt x="26242" y="3377"/>
                  </a:lnTo>
                  <a:lnTo>
                    <a:pt x="42964" y="0"/>
                  </a:lnTo>
                  <a:lnTo>
                    <a:pt x="360502" y="0"/>
                  </a:lnTo>
                  <a:lnTo>
                    <a:pt x="377221" y="3377"/>
                  </a:lnTo>
                  <a:lnTo>
                    <a:pt x="390874" y="12585"/>
                  </a:lnTo>
                  <a:lnTo>
                    <a:pt x="400078" y="26242"/>
                  </a:lnTo>
                  <a:lnTo>
                    <a:pt x="403453" y="42964"/>
                  </a:lnTo>
                  <a:lnTo>
                    <a:pt x="403453" y="314782"/>
                  </a:lnTo>
                  <a:lnTo>
                    <a:pt x="400078" y="331503"/>
                  </a:lnTo>
                  <a:lnTo>
                    <a:pt x="390874" y="345160"/>
                  </a:lnTo>
                  <a:lnTo>
                    <a:pt x="377221" y="354369"/>
                  </a:lnTo>
                  <a:lnTo>
                    <a:pt x="360502" y="357746"/>
                  </a:lnTo>
                  <a:lnTo>
                    <a:pt x="42964" y="357746"/>
                  </a:lnTo>
                  <a:lnTo>
                    <a:pt x="26242" y="354369"/>
                  </a:lnTo>
                  <a:lnTo>
                    <a:pt x="12585" y="345160"/>
                  </a:lnTo>
                  <a:lnTo>
                    <a:pt x="3377" y="331503"/>
                  </a:lnTo>
                  <a:lnTo>
                    <a:pt x="0" y="314782"/>
                  </a:lnTo>
                  <a:lnTo>
                    <a:pt x="0" y="42964"/>
                  </a:lnTo>
                  <a:close/>
                </a:path>
              </a:pathLst>
            </a:custGeom>
            <a:ln w="12699">
              <a:solidFill>
                <a:srgbClr val="45D8FF"/>
              </a:solidFill>
              <a:prstDash val="lgDash"/>
            </a:ln>
          </p:spPr>
          <p:txBody>
            <a:bodyPr wrap="square" lIns="0" tIns="0" rIns="0" bIns="0" rtlCol="0"/>
            <a:lstStyle/>
            <a:p/>
          </p:txBody>
        </p:sp>
      </p:grpSp>
      <p:sp>
        <p:nvSpPr>
          <p:cNvPr id="117" name="object 117" descr=""/>
          <p:cNvSpPr txBox="1"/>
          <p:nvPr/>
        </p:nvSpPr>
        <p:spPr>
          <a:xfrm>
            <a:off x="5770439" y="1004639"/>
            <a:ext cx="245110" cy="162560"/>
          </a:xfrm>
          <a:prstGeom prst="rect">
            <a:avLst/>
          </a:prstGeom>
        </p:spPr>
        <p:txBody>
          <a:bodyPr wrap="square" lIns="0" tIns="12700" rIns="0" bIns="0" rtlCol="0" vert="horz">
            <a:spAutoFit/>
          </a:bodyPr>
          <a:lstStyle/>
          <a:p>
            <a:pPr marL="12700">
              <a:lnSpc>
                <a:spcPct val="100000"/>
              </a:lnSpc>
              <a:spcBef>
                <a:spcPts val="100"/>
              </a:spcBef>
            </a:pPr>
            <a:r>
              <a:rPr dirty="0" sz="900" spc="-25" b="1">
                <a:solidFill>
                  <a:srgbClr val="BBE0E3"/>
                </a:solidFill>
                <a:latin typeface="Microsoft YaHei"/>
                <a:cs typeface="Microsoft YaHei"/>
              </a:rPr>
              <a:t>……</a:t>
            </a:r>
            <a:endParaRPr sz="900">
              <a:latin typeface="Microsoft YaHei"/>
              <a:cs typeface="Microsoft YaHei"/>
            </a:endParaRPr>
          </a:p>
        </p:txBody>
      </p:sp>
      <p:grpSp>
        <p:nvGrpSpPr>
          <p:cNvPr id="118" name="object 118" descr=""/>
          <p:cNvGrpSpPr/>
          <p:nvPr/>
        </p:nvGrpSpPr>
        <p:grpSpPr>
          <a:xfrm>
            <a:off x="1533903" y="1938007"/>
            <a:ext cx="516255" cy="981075"/>
            <a:chOff x="1533903" y="1938007"/>
            <a:chExt cx="516255" cy="981075"/>
          </a:xfrm>
        </p:grpSpPr>
        <p:sp>
          <p:nvSpPr>
            <p:cNvPr id="119" name="object 119" descr=""/>
            <p:cNvSpPr/>
            <p:nvPr/>
          </p:nvSpPr>
          <p:spPr>
            <a:xfrm>
              <a:off x="1540253" y="1944357"/>
              <a:ext cx="503555" cy="440055"/>
            </a:xfrm>
            <a:custGeom>
              <a:avLst/>
              <a:gdLst/>
              <a:ahLst/>
              <a:cxnLst/>
              <a:rect l="l" t="t" r="r" b="b"/>
              <a:pathLst>
                <a:path w="503555" h="440055">
                  <a:moveTo>
                    <a:pt x="450240" y="0"/>
                  </a:moveTo>
                  <a:lnTo>
                    <a:pt x="52832" y="0"/>
                  </a:lnTo>
                  <a:lnTo>
                    <a:pt x="32264" y="4152"/>
                  </a:lnTo>
                  <a:lnTo>
                    <a:pt x="15471" y="15476"/>
                  </a:lnTo>
                  <a:lnTo>
                    <a:pt x="4150" y="32270"/>
                  </a:lnTo>
                  <a:lnTo>
                    <a:pt x="0" y="52831"/>
                  </a:lnTo>
                  <a:lnTo>
                    <a:pt x="0" y="387083"/>
                  </a:lnTo>
                  <a:lnTo>
                    <a:pt x="4150" y="407645"/>
                  </a:lnTo>
                  <a:lnTo>
                    <a:pt x="15471" y="424438"/>
                  </a:lnTo>
                  <a:lnTo>
                    <a:pt x="32264" y="435762"/>
                  </a:lnTo>
                  <a:lnTo>
                    <a:pt x="52832" y="439915"/>
                  </a:lnTo>
                  <a:lnTo>
                    <a:pt x="450240" y="439915"/>
                  </a:lnTo>
                  <a:lnTo>
                    <a:pt x="470802" y="435762"/>
                  </a:lnTo>
                  <a:lnTo>
                    <a:pt x="487595" y="424438"/>
                  </a:lnTo>
                  <a:lnTo>
                    <a:pt x="498919" y="407645"/>
                  </a:lnTo>
                  <a:lnTo>
                    <a:pt x="503072" y="387083"/>
                  </a:lnTo>
                  <a:lnTo>
                    <a:pt x="503072" y="52831"/>
                  </a:lnTo>
                  <a:lnTo>
                    <a:pt x="498919" y="32270"/>
                  </a:lnTo>
                  <a:lnTo>
                    <a:pt x="487595" y="15476"/>
                  </a:lnTo>
                  <a:lnTo>
                    <a:pt x="470802" y="4152"/>
                  </a:lnTo>
                  <a:lnTo>
                    <a:pt x="450240" y="0"/>
                  </a:lnTo>
                  <a:close/>
                </a:path>
              </a:pathLst>
            </a:custGeom>
            <a:solidFill>
              <a:srgbClr val="45D8FF">
                <a:alpha val="10194"/>
              </a:srgbClr>
            </a:solidFill>
          </p:spPr>
          <p:txBody>
            <a:bodyPr wrap="square" lIns="0" tIns="0" rIns="0" bIns="0" rtlCol="0"/>
            <a:lstStyle/>
            <a:p/>
          </p:txBody>
        </p:sp>
        <p:sp>
          <p:nvSpPr>
            <p:cNvPr id="120" name="object 120" descr=""/>
            <p:cNvSpPr/>
            <p:nvPr/>
          </p:nvSpPr>
          <p:spPr>
            <a:xfrm>
              <a:off x="1540253" y="1944357"/>
              <a:ext cx="503555" cy="440055"/>
            </a:xfrm>
            <a:custGeom>
              <a:avLst/>
              <a:gdLst/>
              <a:ahLst/>
              <a:cxnLst/>
              <a:rect l="l" t="t" r="r" b="b"/>
              <a:pathLst>
                <a:path w="503555" h="440055">
                  <a:moveTo>
                    <a:pt x="0" y="52831"/>
                  </a:moveTo>
                  <a:lnTo>
                    <a:pt x="4150" y="32270"/>
                  </a:lnTo>
                  <a:lnTo>
                    <a:pt x="15471" y="15476"/>
                  </a:lnTo>
                  <a:lnTo>
                    <a:pt x="32264" y="4152"/>
                  </a:lnTo>
                  <a:lnTo>
                    <a:pt x="52832" y="0"/>
                  </a:lnTo>
                  <a:lnTo>
                    <a:pt x="450240" y="0"/>
                  </a:lnTo>
                  <a:lnTo>
                    <a:pt x="470802" y="4152"/>
                  </a:lnTo>
                  <a:lnTo>
                    <a:pt x="487595" y="15476"/>
                  </a:lnTo>
                  <a:lnTo>
                    <a:pt x="498919" y="32270"/>
                  </a:lnTo>
                  <a:lnTo>
                    <a:pt x="503072" y="52831"/>
                  </a:lnTo>
                  <a:lnTo>
                    <a:pt x="503072" y="387083"/>
                  </a:lnTo>
                  <a:lnTo>
                    <a:pt x="498919" y="407645"/>
                  </a:lnTo>
                  <a:lnTo>
                    <a:pt x="487595" y="424438"/>
                  </a:lnTo>
                  <a:lnTo>
                    <a:pt x="470802" y="435762"/>
                  </a:lnTo>
                  <a:lnTo>
                    <a:pt x="450240" y="439915"/>
                  </a:lnTo>
                  <a:lnTo>
                    <a:pt x="52832" y="439915"/>
                  </a:lnTo>
                  <a:lnTo>
                    <a:pt x="32264" y="435762"/>
                  </a:lnTo>
                  <a:lnTo>
                    <a:pt x="15471" y="424438"/>
                  </a:lnTo>
                  <a:lnTo>
                    <a:pt x="4150" y="407645"/>
                  </a:lnTo>
                  <a:lnTo>
                    <a:pt x="0" y="387083"/>
                  </a:lnTo>
                  <a:lnTo>
                    <a:pt x="0" y="52831"/>
                  </a:lnTo>
                  <a:close/>
                </a:path>
              </a:pathLst>
            </a:custGeom>
            <a:ln w="12700">
              <a:solidFill>
                <a:srgbClr val="45D8FF"/>
              </a:solidFill>
              <a:prstDash val="lgDash"/>
            </a:ln>
          </p:spPr>
          <p:txBody>
            <a:bodyPr wrap="square" lIns="0" tIns="0" rIns="0" bIns="0" rtlCol="0"/>
            <a:lstStyle/>
            <a:p/>
          </p:txBody>
        </p:sp>
        <p:sp>
          <p:nvSpPr>
            <p:cNvPr id="121" name="object 121" descr=""/>
            <p:cNvSpPr/>
            <p:nvPr/>
          </p:nvSpPr>
          <p:spPr>
            <a:xfrm>
              <a:off x="1540253" y="2472385"/>
              <a:ext cx="503555" cy="440055"/>
            </a:xfrm>
            <a:custGeom>
              <a:avLst/>
              <a:gdLst/>
              <a:ahLst/>
              <a:cxnLst/>
              <a:rect l="l" t="t" r="r" b="b"/>
              <a:pathLst>
                <a:path w="503555" h="440055">
                  <a:moveTo>
                    <a:pt x="450240" y="0"/>
                  </a:moveTo>
                  <a:lnTo>
                    <a:pt x="52832" y="0"/>
                  </a:lnTo>
                  <a:lnTo>
                    <a:pt x="32264" y="4152"/>
                  </a:lnTo>
                  <a:lnTo>
                    <a:pt x="15471" y="15476"/>
                  </a:lnTo>
                  <a:lnTo>
                    <a:pt x="4150" y="32270"/>
                  </a:lnTo>
                  <a:lnTo>
                    <a:pt x="0" y="52831"/>
                  </a:lnTo>
                  <a:lnTo>
                    <a:pt x="0" y="387083"/>
                  </a:lnTo>
                  <a:lnTo>
                    <a:pt x="4150" y="407645"/>
                  </a:lnTo>
                  <a:lnTo>
                    <a:pt x="15471" y="424438"/>
                  </a:lnTo>
                  <a:lnTo>
                    <a:pt x="32264" y="435762"/>
                  </a:lnTo>
                  <a:lnTo>
                    <a:pt x="52832" y="439915"/>
                  </a:lnTo>
                  <a:lnTo>
                    <a:pt x="450240" y="439915"/>
                  </a:lnTo>
                  <a:lnTo>
                    <a:pt x="470802" y="435762"/>
                  </a:lnTo>
                  <a:lnTo>
                    <a:pt x="487595" y="424438"/>
                  </a:lnTo>
                  <a:lnTo>
                    <a:pt x="498919" y="407645"/>
                  </a:lnTo>
                  <a:lnTo>
                    <a:pt x="503072" y="387083"/>
                  </a:lnTo>
                  <a:lnTo>
                    <a:pt x="503072" y="52831"/>
                  </a:lnTo>
                  <a:lnTo>
                    <a:pt x="498919" y="32270"/>
                  </a:lnTo>
                  <a:lnTo>
                    <a:pt x="487595" y="15476"/>
                  </a:lnTo>
                  <a:lnTo>
                    <a:pt x="470802" y="4152"/>
                  </a:lnTo>
                  <a:lnTo>
                    <a:pt x="450240" y="0"/>
                  </a:lnTo>
                  <a:close/>
                </a:path>
              </a:pathLst>
            </a:custGeom>
            <a:solidFill>
              <a:srgbClr val="45D8FF">
                <a:alpha val="10194"/>
              </a:srgbClr>
            </a:solidFill>
          </p:spPr>
          <p:txBody>
            <a:bodyPr wrap="square" lIns="0" tIns="0" rIns="0" bIns="0" rtlCol="0"/>
            <a:lstStyle/>
            <a:p/>
          </p:txBody>
        </p:sp>
        <p:sp>
          <p:nvSpPr>
            <p:cNvPr id="122" name="object 122" descr=""/>
            <p:cNvSpPr/>
            <p:nvPr/>
          </p:nvSpPr>
          <p:spPr>
            <a:xfrm>
              <a:off x="1540253" y="2472385"/>
              <a:ext cx="503555" cy="440055"/>
            </a:xfrm>
            <a:custGeom>
              <a:avLst/>
              <a:gdLst/>
              <a:ahLst/>
              <a:cxnLst/>
              <a:rect l="l" t="t" r="r" b="b"/>
              <a:pathLst>
                <a:path w="503555" h="440055">
                  <a:moveTo>
                    <a:pt x="0" y="52831"/>
                  </a:moveTo>
                  <a:lnTo>
                    <a:pt x="4150" y="32270"/>
                  </a:lnTo>
                  <a:lnTo>
                    <a:pt x="15471" y="15476"/>
                  </a:lnTo>
                  <a:lnTo>
                    <a:pt x="32264" y="4152"/>
                  </a:lnTo>
                  <a:lnTo>
                    <a:pt x="52832" y="0"/>
                  </a:lnTo>
                  <a:lnTo>
                    <a:pt x="450240" y="0"/>
                  </a:lnTo>
                  <a:lnTo>
                    <a:pt x="470802" y="4152"/>
                  </a:lnTo>
                  <a:lnTo>
                    <a:pt x="487595" y="15476"/>
                  </a:lnTo>
                  <a:lnTo>
                    <a:pt x="498919" y="32270"/>
                  </a:lnTo>
                  <a:lnTo>
                    <a:pt x="503072" y="52831"/>
                  </a:lnTo>
                  <a:lnTo>
                    <a:pt x="503072" y="387083"/>
                  </a:lnTo>
                  <a:lnTo>
                    <a:pt x="498919" y="407645"/>
                  </a:lnTo>
                  <a:lnTo>
                    <a:pt x="487595" y="424438"/>
                  </a:lnTo>
                  <a:lnTo>
                    <a:pt x="470802" y="435762"/>
                  </a:lnTo>
                  <a:lnTo>
                    <a:pt x="450240" y="439915"/>
                  </a:lnTo>
                  <a:lnTo>
                    <a:pt x="52832" y="439915"/>
                  </a:lnTo>
                  <a:lnTo>
                    <a:pt x="32264" y="435762"/>
                  </a:lnTo>
                  <a:lnTo>
                    <a:pt x="15471" y="424438"/>
                  </a:lnTo>
                  <a:lnTo>
                    <a:pt x="4150" y="407645"/>
                  </a:lnTo>
                  <a:lnTo>
                    <a:pt x="0" y="387083"/>
                  </a:lnTo>
                  <a:lnTo>
                    <a:pt x="0" y="52831"/>
                  </a:lnTo>
                  <a:close/>
                </a:path>
              </a:pathLst>
            </a:custGeom>
            <a:ln w="12700">
              <a:solidFill>
                <a:srgbClr val="45D8FF"/>
              </a:solidFill>
              <a:prstDash val="lgDash"/>
            </a:ln>
          </p:spPr>
          <p:txBody>
            <a:bodyPr wrap="square" lIns="0" tIns="0" rIns="0" bIns="0" rtlCol="0"/>
            <a:lstStyle/>
            <a:p/>
          </p:txBody>
        </p:sp>
      </p:grpSp>
      <p:sp>
        <p:nvSpPr>
          <p:cNvPr id="123" name="object 123" descr=""/>
          <p:cNvSpPr txBox="1"/>
          <p:nvPr/>
        </p:nvSpPr>
        <p:spPr>
          <a:xfrm>
            <a:off x="1637604" y="1941303"/>
            <a:ext cx="308610" cy="1094740"/>
          </a:xfrm>
          <a:prstGeom prst="rect">
            <a:avLst/>
          </a:prstGeom>
        </p:spPr>
        <p:txBody>
          <a:bodyPr wrap="square" lIns="0" tIns="15875" rIns="0" bIns="0" rtlCol="0" vert="horz">
            <a:spAutoFit/>
          </a:bodyPr>
          <a:lstStyle/>
          <a:p>
            <a:pPr algn="just" marL="12700" marR="5080" indent="27305">
              <a:lnSpc>
                <a:spcPct val="97600"/>
              </a:lnSpc>
              <a:spcBef>
                <a:spcPts val="125"/>
              </a:spcBef>
            </a:pPr>
            <a:r>
              <a:rPr dirty="0" sz="900" spc="-25" b="1">
                <a:solidFill>
                  <a:srgbClr val="BBE0E3"/>
                </a:solidFill>
                <a:latin typeface="Microsoft YaHei"/>
                <a:cs typeface="Microsoft YaHei"/>
              </a:rPr>
              <a:t>业务基础平台</a:t>
            </a:r>
            <a:r>
              <a:rPr dirty="0" sz="900" spc="-50" b="1">
                <a:solidFill>
                  <a:srgbClr val="BBE0E3"/>
                </a:solidFill>
                <a:latin typeface="Microsoft YaHei"/>
                <a:cs typeface="Microsoft YaHei"/>
              </a:rPr>
              <a:t> </a:t>
            </a:r>
            <a:r>
              <a:rPr dirty="0" sz="800" spc="-25" b="1">
                <a:solidFill>
                  <a:srgbClr val="BBE0E3"/>
                </a:solidFill>
                <a:latin typeface="Arial"/>
                <a:cs typeface="Arial"/>
              </a:rPr>
              <a:t>NB-</a:t>
            </a:r>
            <a:r>
              <a:rPr dirty="0" sz="800" spc="-10" b="1">
                <a:solidFill>
                  <a:srgbClr val="BBE0E3"/>
                </a:solidFill>
                <a:latin typeface="Arial"/>
                <a:cs typeface="Arial"/>
              </a:rPr>
              <a:t> IOT</a:t>
            </a:r>
            <a:r>
              <a:rPr dirty="0" sz="900" spc="-60" b="1">
                <a:solidFill>
                  <a:srgbClr val="BBE0E3"/>
                </a:solidFill>
                <a:latin typeface="Microsoft YaHei"/>
                <a:cs typeface="Microsoft YaHei"/>
              </a:rPr>
              <a:t>连</a:t>
            </a:r>
            <a:endParaRPr sz="900">
              <a:latin typeface="Microsoft YaHei"/>
              <a:cs typeface="Microsoft YaHei"/>
            </a:endParaRPr>
          </a:p>
          <a:p>
            <a:pPr algn="just" marL="40005" marR="31115">
              <a:lnSpc>
                <a:spcPct val="100000"/>
              </a:lnSpc>
            </a:pPr>
            <a:r>
              <a:rPr dirty="0" sz="900" spc="-25" b="1">
                <a:solidFill>
                  <a:srgbClr val="BBE0E3"/>
                </a:solidFill>
                <a:latin typeface="Microsoft YaHei"/>
                <a:cs typeface="Microsoft YaHei"/>
              </a:rPr>
              <a:t>接管理平</a:t>
            </a:r>
            <a:r>
              <a:rPr dirty="0" sz="900" spc="-50" b="1">
                <a:solidFill>
                  <a:srgbClr val="BBE0E3"/>
                </a:solidFill>
                <a:latin typeface="Microsoft YaHei"/>
                <a:cs typeface="Microsoft YaHei"/>
              </a:rPr>
              <a:t>台</a:t>
            </a:r>
            <a:endParaRPr sz="900">
              <a:latin typeface="Microsoft YaHei"/>
              <a:cs typeface="Microsoft YaHei"/>
            </a:endParaRPr>
          </a:p>
        </p:txBody>
      </p:sp>
      <p:grpSp>
        <p:nvGrpSpPr>
          <p:cNvPr id="124" name="object 124" descr=""/>
          <p:cNvGrpSpPr/>
          <p:nvPr/>
        </p:nvGrpSpPr>
        <p:grpSpPr>
          <a:xfrm>
            <a:off x="2147303" y="2014472"/>
            <a:ext cx="1155700" cy="290830"/>
            <a:chOff x="2147303" y="2014472"/>
            <a:chExt cx="1155700" cy="290830"/>
          </a:xfrm>
        </p:grpSpPr>
        <p:sp>
          <p:nvSpPr>
            <p:cNvPr id="125" name="object 125" descr=""/>
            <p:cNvSpPr/>
            <p:nvPr/>
          </p:nvSpPr>
          <p:spPr>
            <a:xfrm>
              <a:off x="2153653" y="2020822"/>
              <a:ext cx="1143000" cy="278130"/>
            </a:xfrm>
            <a:custGeom>
              <a:avLst/>
              <a:gdLst/>
              <a:ahLst/>
              <a:cxnLst/>
              <a:rect l="l" t="t" r="r" b="b"/>
              <a:pathLst>
                <a:path w="1143000" h="278130">
                  <a:moveTo>
                    <a:pt x="1109522"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1109522" y="277901"/>
                  </a:lnTo>
                  <a:lnTo>
                    <a:pt x="1122509" y="275279"/>
                  </a:lnTo>
                  <a:lnTo>
                    <a:pt x="1133114" y="268130"/>
                  </a:lnTo>
                  <a:lnTo>
                    <a:pt x="1140264" y="257525"/>
                  </a:lnTo>
                  <a:lnTo>
                    <a:pt x="1142885" y="244538"/>
                  </a:lnTo>
                  <a:lnTo>
                    <a:pt x="1142885" y="33375"/>
                  </a:lnTo>
                  <a:lnTo>
                    <a:pt x="1140264" y="20386"/>
                  </a:lnTo>
                  <a:lnTo>
                    <a:pt x="1133114" y="9777"/>
                  </a:lnTo>
                  <a:lnTo>
                    <a:pt x="1122509" y="2623"/>
                  </a:lnTo>
                  <a:lnTo>
                    <a:pt x="1109522" y="0"/>
                  </a:lnTo>
                  <a:close/>
                </a:path>
              </a:pathLst>
            </a:custGeom>
            <a:solidFill>
              <a:srgbClr val="45D8FF">
                <a:alpha val="10194"/>
              </a:srgbClr>
            </a:solidFill>
          </p:spPr>
          <p:txBody>
            <a:bodyPr wrap="square" lIns="0" tIns="0" rIns="0" bIns="0" rtlCol="0"/>
            <a:lstStyle/>
            <a:p/>
          </p:txBody>
        </p:sp>
        <p:sp>
          <p:nvSpPr>
            <p:cNvPr id="126" name="object 126" descr=""/>
            <p:cNvSpPr/>
            <p:nvPr/>
          </p:nvSpPr>
          <p:spPr>
            <a:xfrm>
              <a:off x="2153653" y="2020822"/>
              <a:ext cx="1143000" cy="278130"/>
            </a:xfrm>
            <a:custGeom>
              <a:avLst/>
              <a:gdLst/>
              <a:ahLst/>
              <a:cxnLst/>
              <a:rect l="l" t="t" r="r" b="b"/>
              <a:pathLst>
                <a:path w="1143000" h="278130">
                  <a:moveTo>
                    <a:pt x="0" y="33375"/>
                  </a:moveTo>
                  <a:lnTo>
                    <a:pt x="2623" y="20386"/>
                  </a:lnTo>
                  <a:lnTo>
                    <a:pt x="9777" y="9777"/>
                  </a:lnTo>
                  <a:lnTo>
                    <a:pt x="20386" y="2623"/>
                  </a:lnTo>
                  <a:lnTo>
                    <a:pt x="33375" y="0"/>
                  </a:lnTo>
                  <a:lnTo>
                    <a:pt x="1109522" y="0"/>
                  </a:lnTo>
                  <a:lnTo>
                    <a:pt x="1122509" y="2623"/>
                  </a:lnTo>
                  <a:lnTo>
                    <a:pt x="1133114" y="9777"/>
                  </a:lnTo>
                  <a:lnTo>
                    <a:pt x="1140264" y="20386"/>
                  </a:lnTo>
                  <a:lnTo>
                    <a:pt x="1142885" y="33375"/>
                  </a:lnTo>
                  <a:lnTo>
                    <a:pt x="1142885" y="244538"/>
                  </a:lnTo>
                  <a:lnTo>
                    <a:pt x="1140264" y="257525"/>
                  </a:lnTo>
                  <a:lnTo>
                    <a:pt x="1133114" y="268130"/>
                  </a:lnTo>
                  <a:lnTo>
                    <a:pt x="1122509" y="275279"/>
                  </a:lnTo>
                  <a:lnTo>
                    <a:pt x="1109522" y="277901"/>
                  </a:lnTo>
                  <a:lnTo>
                    <a:pt x="33375" y="277901"/>
                  </a:lnTo>
                  <a:lnTo>
                    <a:pt x="20386" y="275279"/>
                  </a:lnTo>
                  <a:lnTo>
                    <a:pt x="9777" y="268130"/>
                  </a:lnTo>
                  <a:lnTo>
                    <a:pt x="2623" y="257525"/>
                  </a:lnTo>
                  <a:lnTo>
                    <a:pt x="0" y="244538"/>
                  </a:lnTo>
                  <a:lnTo>
                    <a:pt x="0" y="33375"/>
                  </a:lnTo>
                  <a:close/>
                </a:path>
              </a:pathLst>
            </a:custGeom>
            <a:ln w="12700">
              <a:solidFill>
                <a:srgbClr val="45D8FF"/>
              </a:solidFill>
              <a:prstDash val="lgDash"/>
            </a:ln>
          </p:spPr>
          <p:txBody>
            <a:bodyPr wrap="square" lIns="0" tIns="0" rIns="0" bIns="0" rtlCol="0"/>
            <a:lstStyle/>
            <a:p/>
          </p:txBody>
        </p:sp>
      </p:grpSp>
      <p:sp>
        <p:nvSpPr>
          <p:cNvPr id="127" name="object 127" descr=""/>
          <p:cNvSpPr txBox="1"/>
          <p:nvPr/>
        </p:nvSpPr>
        <p:spPr>
          <a:xfrm>
            <a:off x="2326794" y="2073925"/>
            <a:ext cx="796925"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BBE0E3"/>
                </a:solidFill>
                <a:latin typeface="Microsoft YaHei"/>
                <a:cs typeface="Microsoft YaHei"/>
              </a:rPr>
              <a:t>API管理和开放</a:t>
            </a:r>
            <a:endParaRPr sz="900">
              <a:latin typeface="Microsoft YaHei"/>
              <a:cs typeface="Microsoft YaHei"/>
            </a:endParaRPr>
          </a:p>
        </p:txBody>
      </p:sp>
      <p:sp>
        <p:nvSpPr>
          <p:cNvPr id="128" name="object 128" descr=""/>
          <p:cNvSpPr/>
          <p:nvPr/>
        </p:nvSpPr>
        <p:spPr>
          <a:xfrm>
            <a:off x="3336715" y="2020822"/>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29" name="object 129" descr=""/>
          <p:cNvSpPr txBox="1"/>
          <p:nvPr/>
        </p:nvSpPr>
        <p:spPr>
          <a:xfrm>
            <a:off x="3336715" y="2020822"/>
            <a:ext cx="755015" cy="278130"/>
          </a:xfrm>
          <a:prstGeom prst="rect">
            <a:avLst/>
          </a:prstGeom>
          <a:ln w="15321">
            <a:solidFill>
              <a:srgbClr val="45D8FF"/>
            </a:solidFill>
          </a:ln>
        </p:spPr>
        <p:txBody>
          <a:bodyPr wrap="square" lIns="0" tIns="65405" rIns="0" bIns="0" rtlCol="0" vert="horz">
            <a:spAutoFit/>
          </a:bodyPr>
          <a:lstStyle/>
          <a:p>
            <a:pPr marL="147955">
              <a:lnSpc>
                <a:spcPct val="100000"/>
              </a:lnSpc>
              <a:spcBef>
                <a:spcPts val="515"/>
              </a:spcBef>
            </a:pPr>
            <a:r>
              <a:rPr dirty="0" sz="900" spc="-15" b="1">
                <a:solidFill>
                  <a:srgbClr val="BBE0E3"/>
                </a:solidFill>
                <a:latin typeface="Microsoft YaHei"/>
                <a:cs typeface="Microsoft YaHei"/>
              </a:rPr>
              <a:t>数据管理</a:t>
            </a:r>
            <a:endParaRPr sz="900">
              <a:latin typeface="Microsoft YaHei"/>
              <a:cs typeface="Microsoft YaHei"/>
            </a:endParaRPr>
          </a:p>
        </p:txBody>
      </p:sp>
      <p:grpSp>
        <p:nvGrpSpPr>
          <p:cNvPr id="130" name="object 130" descr=""/>
          <p:cNvGrpSpPr/>
          <p:nvPr/>
        </p:nvGrpSpPr>
        <p:grpSpPr>
          <a:xfrm>
            <a:off x="4128650" y="2014472"/>
            <a:ext cx="767715" cy="290830"/>
            <a:chOff x="4128650" y="2014472"/>
            <a:chExt cx="767715" cy="290830"/>
          </a:xfrm>
        </p:grpSpPr>
        <p:sp>
          <p:nvSpPr>
            <p:cNvPr id="131" name="object 131" descr=""/>
            <p:cNvSpPr/>
            <p:nvPr/>
          </p:nvSpPr>
          <p:spPr>
            <a:xfrm>
              <a:off x="4135000" y="2020822"/>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32" name="object 132" descr=""/>
            <p:cNvSpPr/>
            <p:nvPr/>
          </p:nvSpPr>
          <p:spPr>
            <a:xfrm>
              <a:off x="4135000" y="2020822"/>
              <a:ext cx="755015" cy="278130"/>
            </a:xfrm>
            <a:custGeom>
              <a:avLst/>
              <a:gdLst/>
              <a:ahLst/>
              <a:cxnLst/>
              <a:rect l="l" t="t" r="r" b="b"/>
              <a:pathLst>
                <a:path w="755014" h="278130">
                  <a:moveTo>
                    <a:pt x="0" y="33375"/>
                  </a:moveTo>
                  <a:lnTo>
                    <a:pt x="2623" y="20386"/>
                  </a:lnTo>
                  <a:lnTo>
                    <a:pt x="9777" y="9777"/>
                  </a:lnTo>
                  <a:lnTo>
                    <a:pt x="20386" y="2623"/>
                  </a:lnTo>
                  <a:lnTo>
                    <a:pt x="33375" y="0"/>
                  </a:lnTo>
                  <a:lnTo>
                    <a:pt x="721271" y="0"/>
                  </a:lnTo>
                  <a:lnTo>
                    <a:pt x="734265" y="2623"/>
                  </a:lnTo>
                  <a:lnTo>
                    <a:pt x="744874" y="9777"/>
                  </a:lnTo>
                  <a:lnTo>
                    <a:pt x="752024" y="20386"/>
                  </a:lnTo>
                  <a:lnTo>
                    <a:pt x="754646" y="33375"/>
                  </a:lnTo>
                  <a:lnTo>
                    <a:pt x="754646" y="244538"/>
                  </a:lnTo>
                  <a:lnTo>
                    <a:pt x="752024" y="257525"/>
                  </a:lnTo>
                  <a:lnTo>
                    <a:pt x="744874" y="268130"/>
                  </a:lnTo>
                  <a:lnTo>
                    <a:pt x="734265" y="275279"/>
                  </a:lnTo>
                  <a:lnTo>
                    <a:pt x="721271" y="277901"/>
                  </a:lnTo>
                  <a:lnTo>
                    <a:pt x="33375" y="277901"/>
                  </a:lnTo>
                  <a:lnTo>
                    <a:pt x="20386" y="275279"/>
                  </a:lnTo>
                  <a:lnTo>
                    <a:pt x="9777" y="268130"/>
                  </a:lnTo>
                  <a:lnTo>
                    <a:pt x="2623" y="257525"/>
                  </a:lnTo>
                  <a:lnTo>
                    <a:pt x="0" y="244538"/>
                  </a:lnTo>
                  <a:lnTo>
                    <a:pt x="0" y="33375"/>
                  </a:lnTo>
                  <a:close/>
                </a:path>
              </a:pathLst>
            </a:custGeom>
            <a:ln w="12699">
              <a:solidFill>
                <a:srgbClr val="45D8FF"/>
              </a:solidFill>
              <a:prstDash val="lgDash"/>
            </a:ln>
          </p:spPr>
          <p:txBody>
            <a:bodyPr wrap="square" lIns="0" tIns="0" rIns="0" bIns="0" rtlCol="0"/>
            <a:lstStyle/>
            <a:p/>
          </p:txBody>
        </p:sp>
      </p:grpSp>
      <p:sp>
        <p:nvSpPr>
          <p:cNvPr id="133" name="object 133" descr=""/>
          <p:cNvSpPr txBox="1"/>
          <p:nvPr/>
        </p:nvSpPr>
        <p:spPr>
          <a:xfrm>
            <a:off x="4142662" y="2073925"/>
            <a:ext cx="743585" cy="162560"/>
          </a:xfrm>
          <a:prstGeom prst="rect">
            <a:avLst/>
          </a:prstGeom>
        </p:spPr>
        <p:txBody>
          <a:bodyPr wrap="square" lIns="0" tIns="12700" rIns="0" bIns="0" rtlCol="0" vert="horz">
            <a:spAutoFit/>
          </a:bodyPr>
          <a:lstStyle/>
          <a:p>
            <a:pPr marL="140335">
              <a:lnSpc>
                <a:spcPct val="100000"/>
              </a:lnSpc>
              <a:spcBef>
                <a:spcPts val="100"/>
              </a:spcBef>
            </a:pPr>
            <a:r>
              <a:rPr dirty="0" sz="900" spc="-15" b="1">
                <a:solidFill>
                  <a:srgbClr val="BBE0E3"/>
                </a:solidFill>
                <a:latin typeface="Microsoft YaHei"/>
                <a:cs typeface="Microsoft YaHei"/>
              </a:rPr>
              <a:t>应用鉴权</a:t>
            </a:r>
            <a:endParaRPr sz="900">
              <a:latin typeface="Microsoft YaHei"/>
              <a:cs typeface="Microsoft YaHei"/>
            </a:endParaRPr>
          </a:p>
        </p:txBody>
      </p:sp>
      <p:grpSp>
        <p:nvGrpSpPr>
          <p:cNvPr id="134" name="object 134" descr=""/>
          <p:cNvGrpSpPr/>
          <p:nvPr/>
        </p:nvGrpSpPr>
        <p:grpSpPr>
          <a:xfrm>
            <a:off x="4921788" y="2014472"/>
            <a:ext cx="767715" cy="290830"/>
            <a:chOff x="4921788" y="2014472"/>
            <a:chExt cx="767715" cy="290830"/>
          </a:xfrm>
        </p:grpSpPr>
        <p:sp>
          <p:nvSpPr>
            <p:cNvPr id="135" name="object 135" descr=""/>
            <p:cNvSpPr/>
            <p:nvPr/>
          </p:nvSpPr>
          <p:spPr>
            <a:xfrm>
              <a:off x="4928138" y="2020822"/>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36" name="object 136" descr=""/>
            <p:cNvSpPr/>
            <p:nvPr/>
          </p:nvSpPr>
          <p:spPr>
            <a:xfrm>
              <a:off x="4928138" y="2020822"/>
              <a:ext cx="755015" cy="278130"/>
            </a:xfrm>
            <a:custGeom>
              <a:avLst/>
              <a:gdLst/>
              <a:ahLst/>
              <a:cxnLst/>
              <a:rect l="l" t="t" r="r" b="b"/>
              <a:pathLst>
                <a:path w="755014" h="278130">
                  <a:moveTo>
                    <a:pt x="0" y="33375"/>
                  </a:moveTo>
                  <a:lnTo>
                    <a:pt x="2623" y="20386"/>
                  </a:lnTo>
                  <a:lnTo>
                    <a:pt x="9777" y="9777"/>
                  </a:lnTo>
                  <a:lnTo>
                    <a:pt x="20386" y="2623"/>
                  </a:lnTo>
                  <a:lnTo>
                    <a:pt x="33375" y="0"/>
                  </a:lnTo>
                  <a:lnTo>
                    <a:pt x="721271" y="0"/>
                  </a:lnTo>
                  <a:lnTo>
                    <a:pt x="734265" y="2623"/>
                  </a:lnTo>
                  <a:lnTo>
                    <a:pt x="744874" y="9777"/>
                  </a:lnTo>
                  <a:lnTo>
                    <a:pt x="752024" y="20386"/>
                  </a:lnTo>
                  <a:lnTo>
                    <a:pt x="754646" y="33375"/>
                  </a:lnTo>
                  <a:lnTo>
                    <a:pt x="754646" y="244538"/>
                  </a:lnTo>
                  <a:lnTo>
                    <a:pt x="752024" y="257525"/>
                  </a:lnTo>
                  <a:lnTo>
                    <a:pt x="744874" y="268130"/>
                  </a:lnTo>
                  <a:lnTo>
                    <a:pt x="734265" y="275279"/>
                  </a:lnTo>
                  <a:lnTo>
                    <a:pt x="721271" y="277901"/>
                  </a:lnTo>
                  <a:lnTo>
                    <a:pt x="33375" y="277901"/>
                  </a:lnTo>
                  <a:lnTo>
                    <a:pt x="20386" y="275279"/>
                  </a:lnTo>
                  <a:lnTo>
                    <a:pt x="9777" y="268130"/>
                  </a:lnTo>
                  <a:lnTo>
                    <a:pt x="2623" y="257525"/>
                  </a:lnTo>
                  <a:lnTo>
                    <a:pt x="0" y="244538"/>
                  </a:lnTo>
                  <a:lnTo>
                    <a:pt x="0" y="33375"/>
                  </a:lnTo>
                  <a:close/>
                </a:path>
              </a:pathLst>
            </a:custGeom>
            <a:ln w="12699">
              <a:solidFill>
                <a:srgbClr val="45D8FF"/>
              </a:solidFill>
              <a:prstDash val="lgDash"/>
            </a:ln>
          </p:spPr>
          <p:txBody>
            <a:bodyPr wrap="square" lIns="0" tIns="0" rIns="0" bIns="0" rtlCol="0"/>
            <a:lstStyle/>
            <a:p/>
          </p:txBody>
        </p:sp>
      </p:grpSp>
      <p:sp>
        <p:nvSpPr>
          <p:cNvPr id="137" name="object 137" descr=""/>
          <p:cNvSpPr txBox="1"/>
          <p:nvPr/>
        </p:nvSpPr>
        <p:spPr>
          <a:xfrm>
            <a:off x="4948525" y="2073925"/>
            <a:ext cx="727075" cy="162560"/>
          </a:xfrm>
          <a:prstGeom prst="rect">
            <a:avLst/>
          </a:prstGeom>
        </p:spPr>
        <p:txBody>
          <a:bodyPr wrap="square" lIns="0" tIns="12700" rIns="0" bIns="0" rtlCol="0" vert="horz">
            <a:spAutoFit/>
          </a:bodyPr>
          <a:lstStyle/>
          <a:p>
            <a:pPr marL="184785">
              <a:lnSpc>
                <a:spcPct val="100000"/>
              </a:lnSpc>
              <a:spcBef>
                <a:spcPts val="100"/>
              </a:spcBef>
            </a:pPr>
            <a:r>
              <a:rPr dirty="0" sz="900" spc="-20" b="1">
                <a:solidFill>
                  <a:srgbClr val="BBE0E3"/>
                </a:solidFill>
                <a:latin typeface="Microsoft YaHei"/>
                <a:cs typeface="Microsoft YaHei"/>
              </a:rPr>
              <a:t>大数据</a:t>
            </a:r>
            <a:endParaRPr sz="900">
              <a:latin typeface="Microsoft YaHei"/>
              <a:cs typeface="Microsoft YaHei"/>
            </a:endParaRPr>
          </a:p>
        </p:txBody>
      </p:sp>
      <p:grpSp>
        <p:nvGrpSpPr>
          <p:cNvPr id="138" name="object 138" descr=""/>
          <p:cNvGrpSpPr/>
          <p:nvPr/>
        </p:nvGrpSpPr>
        <p:grpSpPr>
          <a:xfrm>
            <a:off x="5713098" y="2014472"/>
            <a:ext cx="523240" cy="290830"/>
            <a:chOff x="5713098" y="2014472"/>
            <a:chExt cx="523240" cy="290830"/>
          </a:xfrm>
        </p:grpSpPr>
        <p:sp>
          <p:nvSpPr>
            <p:cNvPr id="139" name="object 139" descr=""/>
            <p:cNvSpPr/>
            <p:nvPr/>
          </p:nvSpPr>
          <p:spPr>
            <a:xfrm>
              <a:off x="5719448" y="2020822"/>
              <a:ext cx="510540" cy="278130"/>
            </a:xfrm>
            <a:custGeom>
              <a:avLst/>
              <a:gdLst/>
              <a:ahLst/>
              <a:cxnLst/>
              <a:rect l="l" t="t" r="r" b="b"/>
              <a:pathLst>
                <a:path w="510539" h="278130">
                  <a:moveTo>
                    <a:pt x="476643"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476643" y="277901"/>
                  </a:lnTo>
                  <a:lnTo>
                    <a:pt x="489630" y="275279"/>
                  </a:lnTo>
                  <a:lnTo>
                    <a:pt x="500235" y="268130"/>
                  </a:lnTo>
                  <a:lnTo>
                    <a:pt x="507385" y="257525"/>
                  </a:lnTo>
                  <a:lnTo>
                    <a:pt x="510006" y="244538"/>
                  </a:lnTo>
                  <a:lnTo>
                    <a:pt x="510006" y="33375"/>
                  </a:lnTo>
                  <a:lnTo>
                    <a:pt x="507385" y="20386"/>
                  </a:lnTo>
                  <a:lnTo>
                    <a:pt x="500235" y="9777"/>
                  </a:lnTo>
                  <a:lnTo>
                    <a:pt x="489630" y="2623"/>
                  </a:lnTo>
                  <a:lnTo>
                    <a:pt x="476643" y="0"/>
                  </a:lnTo>
                  <a:close/>
                </a:path>
              </a:pathLst>
            </a:custGeom>
            <a:solidFill>
              <a:srgbClr val="45D8FF">
                <a:alpha val="10194"/>
              </a:srgbClr>
            </a:solidFill>
          </p:spPr>
          <p:txBody>
            <a:bodyPr wrap="square" lIns="0" tIns="0" rIns="0" bIns="0" rtlCol="0"/>
            <a:lstStyle/>
            <a:p/>
          </p:txBody>
        </p:sp>
        <p:sp>
          <p:nvSpPr>
            <p:cNvPr id="140" name="object 140" descr=""/>
            <p:cNvSpPr/>
            <p:nvPr/>
          </p:nvSpPr>
          <p:spPr>
            <a:xfrm>
              <a:off x="5719448" y="2020822"/>
              <a:ext cx="510540" cy="278130"/>
            </a:xfrm>
            <a:custGeom>
              <a:avLst/>
              <a:gdLst/>
              <a:ahLst/>
              <a:cxnLst/>
              <a:rect l="l" t="t" r="r" b="b"/>
              <a:pathLst>
                <a:path w="510539" h="278130">
                  <a:moveTo>
                    <a:pt x="0" y="33375"/>
                  </a:moveTo>
                  <a:lnTo>
                    <a:pt x="2623" y="20386"/>
                  </a:lnTo>
                  <a:lnTo>
                    <a:pt x="9777" y="9777"/>
                  </a:lnTo>
                  <a:lnTo>
                    <a:pt x="20386" y="2623"/>
                  </a:lnTo>
                  <a:lnTo>
                    <a:pt x="33375" y="0"/>
                  </a:lnTo>
                  <a:lnTo>
                    <a:pt x="476643" y="0"/>
                  </a:lnTo>
                  <a:lnTo>
                    <a:pt x="489630" y="2623"/>
                  </a:lnTo>
                  <a:lnTo>
                    <a:pt x="500235" y="9777"/>
                  </a:lnTo>
                  <a:lnTo>
                    <a:pt x="507385" y="20386"/>
                  </a:lnTo>
                  <a:lnTo>
                    <a:pt x="510006" y="33375"/>
                  </a:lnTo>
                  <a:lnTo>
                    <a:pt x="510006" y="244538"/>
                  </a:lnTo>
                  <a:lnTo>
                    <a:pt x="507385" y="257525"/>
                  </a:lnTo>
                  <a:lnTo>
                    <a:pt x="500235" y="268130"/>
                  </a:lnTo>
                  <a:lnTo>
                    <a:pt x="489630" y="275279"/>
                  </a:lnTo>
                  <a:lnTo>
                    <a:pt x="476643" y="277901"/>
                  </a:lnTo>
                  <a:lnTo>
                    <a:pt x="33375" y="277901"/>
                  </a:lnTo>
                  <a:lnTo>
                    <a:pt x="20386" y="275279"/>
                  </a:lnTo>
                  <a:lnTo>
                    <a:pt x="9777" y="268130"/>
                  </a:lnTo>
                  <a:lnTo>
                    <a:pt x="2623" y="257525"/>
                  </a:lnTo>
                  <a:lnTo>
                    <a:pt x="0" y="244538"/>
                  </a:lnTo>
                  <a:lnTo>
                    <a:pt x="0" y="33375"/>
                  </a:lnTo>
                  <a:close/>
                </a:path>
              </a:pathLst>
            </a:custGeom>
            <a:ln w="12699">
              <a:solidFill>
                <a:srgbClr val="45D8FF"/>
              </a:solidFill>
              <a:prstDash val="lgDash"/>
            </a:ln>
          </p:spPr>
          <p:txBody>
            <a:bodyPr wrap="square" lIns="0" tIns="0" rIns="0" bIns="0" rtlCol="0"/>
            <a:lstStyle/>
            <a:p/>
          </p:txBody>
        </p:sp>
      </p:grpSp>
      <p:sp>
        <p:nvSpPr>
          <p:cNvPr id="141" name="object 141" descr=""/>
          <p:cNvSpPr txBox="1"/>
          <p:nvPr/>
        </p:nvSpPr>
        <p:spPr>
          <a:xfrm>
            <a:off x="5864790" y="2073925"/>
            <a:ext cx="220345" cy="162560"/>
          </a:xfrm>
          <a:prstGeom prst="rect">
            <a:avLst/>
          </a:prstGeom>
        </p:spPr>
        <p:txBody>
          <a:bodyPr wrap="square" lIns="0" tIns="12700" rIns="0" bIns="0" rtlCol="0" vert="horz">
            <a:spAutoFit/>
          </a:bodyPr>
          <a:lstStyle/>
          <a:p>
            <a:pPr marL="12700">
              <a:lnSpc>
                <a:spcPct val="100000"/>
              </a:lnSpc>
              <a:spcBef>
                <a:spcPts val="100"/>
              </a:spcBef>
            </a:pPr>
            <a:r>
              <a:rPr dirty="0" sz="900" spc="-25" b="1">
                <a:solidFill>
                  <a:srgbClr val="BBE0E3"/>
                </a:solidFill>
                <a:latin typeface="Microsoft YaHei"/>
                <a:cs typeface="Microsoft YaHei"/>
              </a:rPr>
              <a:t>GIS</a:t>
            </a:r>
            <a:endParaRPr sz="900">
              <a:latin typeface="Microsoft YaHei"/>
              <a:cs typeface="Microsoft YaHei"/>
            </a:endParaRPr>
          </a:p>
        </p:txBody>
      </p:sp>
      <p:sp>
        <p:nvSpPr>
          <p:cNvPr id="142" name="object 142" descr=""/>
          <p:cNvSpPr/>
          <p:nvPr/>
        </p:nvSpPr>
        <p:spPr>
          <a:xfrm>
            <a:off x="2153653" y="2551327"/>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43" name="object 143" descr=""/>
          <p:cNvSpPr txBox="1"/>
          <p:nvPr/>
        </p:nvSpPr>
        <p:spPr>
          <a:xfrm>
            <a:off x="2153653" y="2551327"/>
            <a:ext cx="755015" cy="278130"/>
          </a:xfrm>
          <a:prstGeom prst="rect">
            <a:avLst/>
          </a:prstGeom>
          <a:ln w="15321">
            <a:solidFill>
              <a:srgbClr val="45D8FF"/>
            </a:solidFill>
          </a:ln>
        </p:spPr>
        <p:txBody>
          <a:bodyPr wrap="square" lIns="0" tIns="65405" rIns="0" bIns="0" rtlCol="0" vert="horz">
            <a:spAutoFit/>
          </a:bodyPr>
          <a:lstStyle/>
          <a:p>
            <a:pPr marL="147955">
              <a:lnSpc>
                <a:spcPct val="100000"/>
              </a:lnSpc>
              <a:spcBef>
                <a:spcPts val="515"/>
              </a:spcBef>
            </a:pPr>
            <a:r>
              <a:rPr dirty="0" sz="900" spc="-15" b="1">
                <a:solidFill>
                  <a:srgbClr val="BBE0E3"/>
                </a:solidFill>
                <a:latin typeface="Microsoft YaHei"/>
                <a:cs typeface="Microsoft YaHei"/>
              </a:rPr>
              <a:t>协议转换</a:t>
            </a:r>
            <a:endParaRPr sz="900">
              <a:latin typeface="Microsoft YaHei"/>
              <a:cs typeface="Microsoft YaHei"/>
            </a:endParaRPr>
          </a:p>
        </p:txBody>
      </p:sp>
      <p:sp>
        <p:nvSpPr>
          <p:cNvPr id="144" name="object 144" descr=""/>
          <p:cNvSpPr/>
          <p:nvPr/>
        </p:nvSpPr>
        <p:spPr>
          <a:xfrm>
            <a:off x="2989548" y="2551327"/>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45" name="object 145" descr=""/>
          <p:cNvSpPr txBox="1"/>
          <p:nvPr/>
        </p:nvSpPr>
        <p:spPr>
          <a:xfrm>
            <a:off x="2989548" y="2551327"/>
            <a:ext cx="755015" cy="278130"/>
          </a:xfrm>
          <a:prstGeom prst="rect">
            <a:avLst/>
          </a:prstGeom>
          <a:ln w="15321">
            <a:solidFill>
              <a:srgbClr val="45D8FF"/>
            </a:solidFill>
          </a:ln>
        </p:spPr>
        <p:txBody>
          <a:bodyPr wrap="square" lIns="0" tIns="65405" rIns="0" bIns="0" rtlCol="0" vert="horz">
            <a:spAutoFit/>
          </a:bodyPr>
          <a:lstStyle/>
          <a:p>
            <a:pPr marL="147955">
              <a:lnSpc>
                <a:spcPct val="100000"/>
              </a:lnSpc>
              <a:spcBef>
                <a:spcPts val="515"/>
              </a:spcBef>
            </a:pPr>
            <a:r>
              <a:rPr dirty="0" sz="900" spc="-15" b="1">
                <a:solidFill>
                  <a:srgbClr val="BBE0E3"/>
                </a:solidFill>
                <a:latin typeface="Microsoft YaHei"/>
                <a:cs typeface="Microsoft YaHei"/>
              </a:rPr>
              <a:t>连接管理</a:t>
            </a:r>
            <a:endParaRPr sz="900">
              <a:latin typeface="Microsoft YaHei"/>
              <a:cs typeface="Microsoft YaHei"/>
            </a:endParaRPr>
          </a:p>
        </p:txBody>
      </p:sp>
      <p:sp>
        <p:nvSpPr>
          <p:cNvPr id="146" name="object 146" descr=""/>
          <p:cNvSpPr/>
          <p:nvPr/>
        </p:nvSpPr>
        <p:spPr>
          <a:xfrm>
            <a:off x="3814131" y="2551327"/>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47" name="object 147" descr=""/>
          <p:cNvSpPr txBox="1"/>
          <p:nvPr/>
        </p:nvSpPr>
        <p:spPr>
          <a:xfrm>
            <a:off x="3814131" y="2551327"/>
            <a:ext cx="755015" cy="278130"/>
          </a:xfrm>
          <a:prstGeom prst="rect">
            <a:avLst/>
          </a:prstGeom>
          <a:ln w="15321">
            <a:solidFill>
              <a:srgbClr val="45D8FF"/>
            </a:solidFill>
          </a:ln>
        </p:spPr>
        <p:txBody>
          <a:bodyPr wrap="square" lIns="0" tIns="65405" rIns="0" bIns="0" rtlCol="0" vert="horz">
            <a:spAutoFit/>
          </a:bodyPr>
          <a:lstStyle/>
          <a:p>
            <a:pPr marL="147955">
              <a:lnSpc>
                <a:spcPct val="100000"/>
              </a:lnSpc>
              <a:spcBef>
                <a:spcPts val="515"/>
              </a:spcBef>
            </a:pPr>
            <a:r>
              <a:rPr dirty="0" sz="900" spc="-15" b="1">
                <a:solidFill>
                  <a:srgbClr val="BBE0E3"/>
                </a:solidFill>
                <a:latin typeface="Microsoft YaHei"/>
                <a:cs typeface="Microsoft YaHei"/>
              </a:rPr>
              <a:t>设备管理</a:t>
            </a:r>
            <a:endParaRPr sz="900">
              <a:latin typeface="Microsoft YaHei"/>
              <a:cs typeface="Microsoft YaHei"/>
            </a:endParaRPr>
          </a:p>
        </p:txBody>
      </p:sp>
      <p:sp>
        <p:nvSpPr>
          <p:cNvPr id="148" name="object 148" descr=""/>
          <p:cNvSpPr/>
          <p:nvPr/>
        </p:nvSpPr>
        <p:spPr>
          <a:xfrm>
            <a:off x="4649325" y="2551327"/>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49" name="object 149" descr=""/>
          <p:cNvSpPr txBox="1"/>
          <p:nvPr/>
        </p:nvSpPr>
        <p:spPr>
          <a:xfrm>
            <a:off x="4649325" y="2551327"/>
            <a:ext cx="755015" cy="278130"/>
          </a:xfrm>
          <a:prstGeom prst="rect">
            <a:avLst/>
          </a:prstGeom>
          <a:ln w="15321">
            <a:solidFill>
              <a:srgbClr val="45D8FF"/>
            </a:solidFill>
          </a:ln>
        </p:spPr>
        <p:txBody>
          <a:bodyPr wrap="square" lIns="0" tIns="65405" rIns="0" bIns="0" rtlCol="0" vert="horz">
            <a:spAutoFit/>
          </a:bodyPr>
          <a:lstStyle/>
          <a:p>
            <a:pPr marL="147955">
              <a:lnSpc>
                <a:spcPct val="100000"/>
              </a:lnSpc>
              <a:spcBef>
                <a:spcPts val="515"/>
              </a:spcBef>
            </a:pPr>
            <a:r>
              <a:rPr dirty="0" sz="900" spc="-15" b="1">
                <a:solidFill>
                  <a:srgbClr val="BBE0E3"/>
                </a:solidFill>
                <a:latin typeface="Microsoft YaHei"/>
                <a:cs typeface="Microsoft YaHei"/>
              </a:rPr>
              <a:t>安全加密</a:t>
            </a:r>
            <a:endParaRPr sz="900">
              <a:latin typeface="Microsoft YaHei"/>
              <a:cs typeface="Microsoft YaHei"/>
            </a:endParaRPr>
          </a:p>
        </p:txBody>
      </p:sp>
      <p:grpSp>
        <p:nvGrpSpPr>
          <p:cNvPr id="150" name="object 150" descr=""/>
          <p:cNvGrpSpPr/>
          <p:nvPr/>
        </p:nvGrpSpPr>
        <p:grpSpPr>
          <a:xfrm>
            <a:off x="5471934" y="2544977"/>
            <a:ext cx="767715" cy="290830"/>
            <a:chOff x="5471934" y="2544977"/>
            <a:chExt cx="767715" cy="290830"/>
          </a:xfrm>
        </p:grpSpPr>
        <p:sp>
          <p:nvSpPr>
            <p:cNvPr id="151" name="object 151" descr=""/>
            <p:cNvSpPr/>
            <p:nvPr/>
          </p:nvSpPr>
          <p:spPr>
            <a:xfrm>
              <a:off x="5478284" y="2551327"/>
              <a:ext cx="755015" cy="278130"/>
            </a:xfrm>
            <a:custGeom>
              <a:avLst/>
              <a:gdLst/>
              <a:ahLst/>
              <a:cxnLst/>
              <a:rect l="l" t="t" r="r" b="b"/>
              <a:pathLst>
                <a:path w="755014" h="278130">
                  <a:moveTo>
                    <a:pt x="721271" y="0"/>
                  </a:moveTo>
                  <a:lnTo>
                    <a:pt x="33375" y="0"/>
                  </a:lnTo>
                  <a:lnTo>
                    <a:pt x="20386" y="2623"/>
                  </a:lnTo>
                  <a:lnTo>
                    <a:pt x="9777" y="9777"/>
                  </a:lnTo>
                  <a:lnTo>
                    <a:pt x="2623" y="20386"/>
                  </a:lnTo>
                  <a:lnTo>
                    <a:pt x="0" y="33375"/>
                  </a:lnTo>
                  <a:lnTo>
                    <a:pt x="0" y="244538"/>
                  </a:lnTo>
                  <a:lnTo>
                    <a:pt x="2623" y="257525"/>
                  </a:lnTo>
                  <a:lnTo>
                    <a:pt x="9777" y="268130"/>
                  </a:lnTo>
                  <a:lnTo>
                    <a:pt x="20386" y="275279"/>
                  </a:lnTo>
                  <a:lnTo>
                    <a:pt x="33375" y="277901"/>
                  </a:lnTo>
                  <a:lnTo>
                    <a:pt x="721271" y="277901"/>
                  </a:lnTo>
                  <a:lnTo>
                    <a:pt x="734265" y="275279"/>
                  </a:lnTo>
                  <a:lnTo>
                    <a:pt x="744874" y="268130"/>
                  </a:lnTo>
                  <a:lnTo>
                    <a:pt x="752024" y="257525"/>
                  </a:lnTo>
                  <a:lnTo>
                    <a:pt x="754646" y="244538"/>
                  </a:lnTo>
                  <a:lnTo>
                    <a:pt x="754646" y="33375"/>
                  </a:lnTo>
                  <a:lnTo>
                    <a:pt x="752024" y="20386"/>
                  </a:lnTo>
                  <a:lnTo>
                    <a:pt x="744874" y="9777"/>
                  </a:lnTo>
                  <a:lnTo>
                    <a:pt x="734265" y="2623"/>
                  </a:lnTo>
                  <a:lnTo>
                    <a:pt x="721271" y="0"/>
                  </a:lnTo>
                  <a:close/>
                </a:path>
              </a:pathLst>
            </a:custGeom>
            <a:solidFill>
              <a:srgbClr val="45D8FF">
                <a:alpha val="10194"/>
              </a:srgbClr>
            </a:solidFill>
          </p:spPr>
          <p:txBody>
            <a:bodyPr wrap="square" lIns="0" tIns="0" rIns="0" bIns="0" rtlCol="0"/>
            <a:lstStyle/>
            <a:p/>
          </p:txBody>
        </p:sp>
        <p:sp>
          <p:nvSpPr>
            <p:cNvPr id="152" name="object 152" descr=""/>
            <p:cNvSpPr/>
            <p:nvPr/>
          </p:nvSpPr>
          <p:spPr>
            <a:xfrm>
              <a:off x="5478284" y="2551327"/>
              <a:ext cx="755015" cy="278130"/>
            </a:xfrm>
            <a:custGeom>
              <a:avLst/>
              <a:gdLst/>
              <a:ahLst/>
              <a:cxnLst/>
              <a:rect l="l" t="t" r="r" b="b"/>
              <a:pathLst>
                <a:path w="755014" h="278130">
                  <a:moveTo>
                    <a:pt x="0" y="33375"/>
                  </a:moveTo>
                  <a:lnTo>
                    <a:pt x="2623" y="20386"/>
                  </a:lnTo>
                  <a:lnTo>
                    <a:pt x="9777" y="9777"/>
                  </a:lnTo>
                  <a:lnTo>
                    <a:pt x="20386" y="2623"/>
                  </a:lnTo>
                  <a:lnTo>
                    <a:pt x="33375" y="0"/>
                  </a:lnTo>
                  <a:lnTo>
                    <a:pt x="721271" y="0"/>
                  </a:lnTo>
                  <a:lnTo>
                    <a:pt x="734265" y="2623"/>
                  </a:lnTo>
                  <a:lnTo>
                    <a:pt x="744874" y="9777"/>
                  </a:lnTo>
                  <a:lnTo>
                    <a:pt x="752024" y="20386"/>
                  </a:lnTo>
                  <a:lnTo>
                    <a:pt x="754646" y="33375"/>
                  </a:lnTo>
                  <a:lnTo>
                    <a:pt x="754646" y="244538"/>
                  </a:lnTo>
                  <a:lnTo>
                    <a:pt x="752024" y="257525"/>
                  </a:lnTo>
                  <a:lnTo>
                    <a:pt x="744874" y="268130"/>
                  </a:lnTo>
                  <a:lnTo>
                    <a:pt x="734265" y="275279"/>
                  </a:lnTo>
                  <a:lnTo>
                    <a:pt x="721271" y="277901"/>
                  </a:lnTo>
                  <a:lnTo>
                    <a:pt x="33375" y="277901"/>
                  </a:lnTo>
                  <a:lnTo>
                    <a:pt x="20386" y="275279"/>
                  </a:lnTo>
                  <a:lnTo>
                    <a:pt x="9777" y="268130"/>
                  </a:lnTo>
                  <a:lnTo>
                    <a:pt x="2623" y="257525"/>
                  </a:lnTo>
                  <a:lnTo>
                    <a:pt x="0" y="244538"/>
                  </a:lnTo>
                  <a:lnTo>
                    <a:pt x="0" y="33375"/>
                  </a:lnTo>
                  <a:close/>
                </a:path>
              </a:pathLst>
            </a:custGeom>
            <a:ln w="12699">
              <a:solidFill>
                <a:srgbClr val="45D8FF"/>
              </a:solidFill>
              <a:prstDash val="lgDash"/>
            </a:ln>
          </p:spPr>
          <p:txBody>
            <a:bodyPr wrap="square" lIns="0" tIns="0" rIns="0" bIns="0" rtlCol="0"/>
            <a:lstStyle/>
            <a:p/>
          </p:txBody>
        </p:sp>
      </p:grpSp>
      <p:sp>
        <p:nvSpPr>
          <p:cNvPr id="153" name="object 153" descr=""/>
          <p:cNvSpPr txBox="1"/>
          <p:nvPr/>
        </p:nvSpPr>
        <p:spPr>
          <a:xfrm>
            <a:off x="5616117" y="2604429"/>
            <a:ext cx="478155"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BBE0E3"/>
                </a:solidFill>
                <a:latin typeface="Microsoft YaHei"/>
                <a:cs typeface="Microsoft YaHei"/>
              </a:rPr>
              <a:t>SIM</a:t>
            </a:r>
            <a:r>
              <a:rPr dirty="0" sz="900" spc="-25" b="1">
                <a:solidFill>
                  <a:srgbClr val="BBE0E3"/>
                </a:solidFill>
                <a:latin typeface="Microsoft YaHei"/>
                <a:cs typeface="Microsoft YaHei"/>
              </a:rPr>
              <a:t>管理</a:t>
            </a:r>
            <a:endParaRPr sz="900">
              <a:latin typeface="Microsoft YaHei"/>
              <a:cs typeface="Microsoft YaHei"/>
            </a:endParaRPr>
          </a:p>
        </p:txBody>
      </p:sp>
      <p:grpSp>
        <p:nvGrpSpPr>
          <p:cNvPr id="154" name="object 154" descr=""/>
          <p:cNvGrpSpPr/>
          <p:nvPr/>
        </p:nvGrpSpPr>
        <p:grpSpPr>
          <a:xfrm>
            <a:off x="1521888" y="3174589"/>
            <a:ext cx="1403350" cy="1818639"/>
            <a:chOff x="1521888" y="3174589"/>
            <a:chExt cx="1403350" cy="1818639"/>
          </a:xfrm>
        </p:grpSpPr>
        <p:sp>
          <p:nvSpPr>
            <p:cNvPr id="155" name="object 155" descr=""/>
            <p:cNvSpPr/>
            <p:nvPr/>
          </p:nvSpPr>
          <p:spPr>
            <a:xfrm>
              <a:off x="1521888" y="4691564"/>
              <a:ext cx="454659" cy="266065"/>
            </a:xfrm>
            <a:custGeom>
              <a:avLst/>
              <a:gdLst/>
              <a:ahLst/>
              <a:cxnLst/>
              <a:rect l="l" t="t" r="r" b="b"/>
              <a:pathLst>
                <a:path w="454660" h="266064">
                  <a:moveTo>
                    <a:pt x="448322" y="129336"/>
                  </a:moveTo>
                  <a:lnTo>
                    <a:pt x="7150" y="129336"/>
                  </a:lnTo>
                  <a:lnTo>
                    <a:pt x="0" y="135623"/>
                  </a:lnTo>
                  <a:lnTo>
                    <a:pt x="0" y="258673"/>
                  </a:lnTo>
                  <a:lnTo>
                    <a:pt x="7150" y="265849"/>
                  </a:lnTo>
                  <a:lnTo>
                    <a:pt x="448322" y="265849"/>
                  </a:lnTo>
                  <a:lnTo>
                    <a:pt x="454583" y="258673"/>
                  </a:lnTo>
                  <a:lnTo>
                    <a:pt x="454583" y="243395"/>
                  </a:lnTo>
                  <a:lnTo>
                    <a:pt x="36690" y="243395"/>
                  </a:lnTo>
                  <a:lnTo>
                    <a:pt x="36690" y="229019"/>
                  </a:lnTo>
                  <a:lnTo>
                    <a:pt x="308724" y="229019"/>
                  </a:lnTo>
                  <a:lnTo>
                    <a:pt x="308724" y="226339"/>
                  </a:lnTo>
                  <a:lnTo>
                    <a:pt x="36690" y="226339"/>
                  </a:lnTo>
                  <a:lnTo>
                    <a:pt x="36690" y="211963"/>
                  </a:lnTo>
                  <a:lnTo>
                    <a:pt x="308724" y="211963"/>
                  </a:lnTo>
                  <a:lnTo>
                    <a:pt x="308724" y="209270"/>
                  </a:lnTo>
                  <a:lnTo>
                    <a:pt x="36690" y="209270"/>
                  </a:lnTo>
                  <a:lnTo>
                    <a:pt x="36690" y="194894"/>
                  </a:lnTo>
                  <a:lnTo>
                    <a:pt x="454583" y="194894"/>
                  </a:lnTo>
                  <a:lnTo>
                    <a:pt x="454583" y="135623"/>
                  </a:lnTo>
                  <a:lnTo>
                    <a:pt x="448322" y="129336"/>
                  </a:lnTo>
                  <a:close/>
                </a:path>
                <a:path w="454660" h="266064">
                  <a:moveTo>
                    <a:pt x="54584" y="229019"/>
                  </a:moveTo>
                  <a:lnTo>
                    <a:pt x="51003" y="229019"/>
                  </a:lnTo>
                  <a:lnTo>
                    <a:pt x="51003" y="243395"/>
                  </a:lnTo>
                  <a:lnTo>
                    <a:pt x="54584" y="243395"/>
                  </a:lnTo>
                  <a:lnTo>
                    <a:pt x="54584" y="229019"/>
                  </a:lnTo>
                  <a:close/>
                </a:path>
                <a:path w="454660" h="266064">
                  <a:moveTo>
                    <a:pt x="71589" y="229019"/>
                  </a:moveTo>
                  <a:lnTo>
                    <a:pt x="68008" y="229019"/>
                  </a:lnTo>
                  <a:lnTo>
                    <a:pt x="68008" y="243395"/>
                  </a:lnTo>
                  <a:lnTo>
                    <a:pt x="71589" y="243395"/>
                  </a:lnTo>
                  <a:lnTo>
                    <a:pt x="71589" y="229019"/>
                  </a:lnTo>
                  <a:close/>
                </a:path>
                <a:path w="454660" h="266064">
                  <a:moveTo>
                    <a:pt x="89484" y="229019"/>
                  </a:moveTo>
                  <a:lnTo>
                    <a:pt x="85902" y="229019"/>
                  </a:lnTo>
                  <a:lnTo>
                    <a:pt x="85902" y="243395"/>
                  </a:lnTo>
                  <a:lnTo>
                    <a:pt x="89484" y="243395"/>
                  </a:lnTo>
                  <a:lnTo>
                    <a:pt x="89484" y="229019"/>
                  </a:lnTo>
                  <a:close/>
                </a:path>
                <a:path w="454660" h="266064">
                  <a:moveTo>
                    <a:pt x="106489" y="229019"/>
                  </a:moveTo>
                  <a:lnTo>
                    <a:pt x="102908" y="229019"/>
                  </a:lnTo>
                  <a:lnTo>
                    <a:pt x="102908" y="243395"/>
                  </a:lnTo>
                  <a:lnTo>
                    <a:pt x="106489" y="243395"/>
                  </a:lnTo>
                  <a:lnTo>
                    <a:pt x="106489" y="229019"/>
                  </a:lnTo>
                  <a:close/>
                </a:path>
                <a:path w="454660" h="266064">
                  <a:moveTo>
                    <a:pt x="124383" y="229019"/>
                  </a:moveTo>
                  <a:lnTo>
                    <a:pt x="120802" y="229019"/>
                  </a:lnTo>
                  <a:lnTo>
                    <a:pt x="120802" y="243395"/>
                  </a:lnTo>
                  <a:lnTo>
                    <a:pt x="124383" y="243395"/>
                  </a:lnTo>
                  <a:lnTo>
                    <a:pt x="124383" y="229019"/>
                  </a:lnTo>
                  <a:close/>
                </a:path>
                <a:path w="454660" h="266064">
                  <a:moveTo>
                    <a:pt x="308724" y="229019"/>
                  </a:moveTo>
                  <a:lnTo>
                    <a:pt x="138696" y="229019"/>
                  </a:lnTo>
                  <a:lnTo>
                    <a:pt x="138696" y="243395"/>
                  </a:lnTo>
                  <a:lnTo>
                    <a:pt x="308724" y="243395"/>
                  </a:lnTo>
                  <a:lnTo>
                    <a:pt x="308724" y="229019"/>
                  </a:lnTo>
                  <a:close/>
                </a:path>
                <a:path w="454660" h="266064">
                  <a:moveTo>
                    <a:pt x="374040" y="194894"/>
                  </a:moveTo>
                  <a:lnTo>
                    <a:pt x="357047" y="194894"/>
                  </a:lnTo>
                  <a:lnTo>
                    <a:pt x="357047" y="243395"/>
                  </a:lnTo>
                  <a:lnTo>
                    <a:pt x="374040" y="243395"/>
                  </a:lnTo>
                  <a:lnTo>
                    <a:pt x="374040" y="194894"/>
                  </a:lnTo>
                  <a:close/>
                </a:path>
                <a:path w="454660" h="266064">
                  <a:moveTo>
                    <a:pt x="454583" y="194894"/>
                  </a:moveTo>
                  <a:lnTo>
                    <a:pt x="422363" y="194894"/>
                  </a:lnTo>
                  <a:lnTo>
                    <a:pt x="422363" y="243395"/>
                  </a:lnTo>
                  <a:lnTo>
                    <a:pt x="454583" y="243395"/>
                  </a:lnTo>
                  <a:lnTo>
                    <a:pt x="454583" y="194894"/>
                  </a:lnTo>
                  <a:close/>
                </a:path>
                <a:path w="454660" h="266064">
                  <a:moveTo>
                    <a:pt x="54584" y="211963"/>
                  </a:moveTo>
                  <a:lnTo>
                    <a:pt x="51003" y="211963"/>
                  </a:lnTo>
                  <a:lnTo>
                    <a:pt x="51003" y="226339"/>
                  </a:lnTo>
                  <a:lnTo>
                    <a:pt x="54584" y="226339"/>
                  </a:lnTo>
                  <a:lnTo>
                    <a:pt x="54584" y="211963"/>
                  </a:lnTo>
                  <a:close/>
                </a:path>
                <a:path w="454660" h="266064">
                  <a:moveTo>
                    <a:pt x="71589" y="211963"/>
                  </a:moveTo>
                  <a:lnTo>
                    <a:pt x="68008" y="211963"/>
                  </a:lnTo>
                  <a:lnTo>
                    <a:pt x="68008" y="226339"/>
                  </a:lnTo>
                  <a:lnTo>
                    <a:pt x="71589" y="226339"/>
                  </a:lnTo>
                  <a:lnTo>
                    <a:pt x="71589" y="211963"/>
                  </a:lnTo>
                  <a:close/>
                </a:path>
                <a:path w="454660" h="266064">
                  <a:moveTo>
                    <a:pt x="89484" y="211963"/>
                  </a:moveTo>
                  <a:lnTo>
                    <a:pt x="85902" y="211963"/>
                  </a:lnTo>
                  <a:lnTo>
                    <a:pt x="85902" y="226339"/>
                  </a:lnTo>
                  <a:lnTo>
                    <a:pt x="89484" y="226339"/>
                  </a:lnTo>
                  <a:lnTo>
                    <a:pt x="89484" y="211963"/>
                  </a:lnTo>
                  <a:close/>
                </a:path>
                <a:path w="454660" h="266064">
                  <a:moveTo>
                    <a:pt x="106489" y="211963"/>
                  </a:moveTo>
                  <a:lnTo>
                    <a:pt x="102908" y="211963"/>
                  </a:lnTo>
                  <a:lnTo>
                    <a:pt x="102908" y="226339"/>
                  </a:lnTo>
                  <a:lnTo>
                    <a:pt x="106489" y="226339"/>
                  </a:lnTo>
                  <a:lnTo>
                    <a:pt x="106489" y="211963"/>
                  </a:lnTo>
                  <a:close/>
                </a:path>
                <a:path w="454660" h="266064">
                  <a:moveTo>
                    <a:pt x="124383" y="211963"/>
                  </a:moveTo>
                  <a:lnTo>
                    <a:pt x="120802" y="211963"/>
                  </a:lnTo>
                  <a:lnTo>
                    <a:pt x="120802" y="226339"/>
                  </a:lnTo>
                  <a:lnTo>
                    <a:pt x="124383" y="226339"/>
                  </a:lnTo>
                  <a:lnTo>
                    <a:pt x="124383" y="211963"/>
                  </a:lnTo>
                  <a:close/>
                </a:path>
                <a:path w="454660" h="266064">
                  <a:moveTo>
                    <a:pt x="308724" y="211963"/>
                  </a:moveTo>
                  <a:lnTo>
                    <a:pt x="138696" y="211963"/>
                  </a:lnTo>
                  <a:lnTo>
                    <a:pt x="138696" y="226339"/>
                  </a:lnTo>
                  <a:lnTo>
                    <a:pt x="308724" y="226339"/>
                  </a:lnTo>
                  <a:lnTo>
                    <a:pt x="308724" y="211963"/>
                  </a:lnTo>
                  <a:close/>
                </a:path>
                <a:path w="454660" h="266064">
                  <a:moveTo>
                    <a:pt x="54584" y="194894"/>
                  </a:moveTo>
                  <a:lnTo>
                    <a:pt x="51003" y="194894"/>
                  </a:lnTo>
                  <a:lnTo>
                    <a:pt x="51003" y="209270"/>
                  </a:lnTo>
                  <a:lnTo>
                    <a:pt x="54584" y="209270"/>
                  </a:lnTo>
                  <a:lnTo>
                    <a:pt x="54584" y="194894"/>
                  </a:lnTo>
                  <a:close/>
                </a:path>
                <a:path w="454660" h="266064">
                  <a:moveTo>
                    <a:pt x="71589" y="194894"/>
                  </a:moveTo>
                  <a:lnTo>
                    <a:pt x="68008" y="194894"/>
                  </a:lnTo>
                  <a:lnTo>
                    <a:pt x="68008" y="209270"/>
                  </a:lnTo>
                  <a:lnTo>
                    <a:pt x="71589" y="209270"/>
                  </a:lnTo>
                  <a:lnTo>
                    <a:pt x="71589" y="194894"/>
                  </a:lnTo>
                  <a:close/>
                </a:path>
                <a:path w="454660" h="266064">
                  <a:moveTo>
                    <a:pt x="89484" y="194894"/>
                  </a:moveTo>
                  <a:lnTo>
                    <a:pt x="85902" y="194894"/>
                  </a:lnTo>
                  <a:lnTo>
                    <a:pt x="85902" y="209270"/>
                  </a:lnTo>
                  <a:lnTo>
                    <a:pt x="89484" y="209270"/>
                  </a:lnTo>
                  <a:lnTo>
                    <a:pt x="89484" y="194894"/>
                  </a:lnTo>
                  <a:close/>
                </a:path>
                <a:path w="454660" h="266064">
                  <a:moveTo>
                    <a:pt x="106489" y="194894"/>
                  </a:moveTo>
                  <a:lnTo>
                    <a:pt x="102908" y="194894"/>
                  </a:lnTo>
                  <a:lnTo>
                    <a:pt x="102908" y="209270"/>
                  </a:lnTo>
                  <a:lnTo>
                    <a:pt x="106489" y="209270"/>
                  </a:lnTo>
                  <a:lnTo>
                    <a:pt x="106489" y="194894"/>
                  </a:lnTo>
                  <a:close/>
                </a:path>
                <a:path w="454660" h="266064">
                  <a:moveTo>
                    <a:pt x="124383" y="194894"/>
                  </a:moveTo>
                  <a:lnTo>
                    <a:pt x="120802" y="194894"/>
                  </a:lnTo>
                  <a:lnTo>
                    <a:pt x="120802" y="209270"/>
                  </a:lnTo>
                  <a:lnTo>
                    <a:pt x="124383" y="209270"/>
                  </a:lnTo>
                  <a:lnTo>
                    <a:pt x="124383" y="194894"/>
                  </a:lnTo>
                  <a:close/>
                </a:path>
                <a:path w="454660" h="266064">
                  <a:moveTo>
                    <a:pt x="308724" y="194894"/>
                  </a:moveTo>
                  <a:lnTo>
                    <a:pt x="138696" y="194894"/>
                  </a:lnTo>
                  <a:lnTo>
                    <a:pt x="138696" y="209270"/>
                  </a:lnTo>
                  <a:lnTo>
                    <a:pt x="308724" y="209270"/>
                  </a:lnTo>
                  <a:lnTo>
                    <a:pt x="308724" y="194894"/>
                  </a:lnTo>
                  <a:close/>
                </a:path>
                <a:path w="454660" h="266064">
                  <a:moveTo>
                    <a:pt x="68008" y="0"/>
                  </a:moveTo>
                  <a:lnTo>
                    <a:pt x="49212" y="0"/>
                  </a:lnTo>
                  <a:lnTo>
                    <a:pt x="42049" y="8089"/>
                  </a:lnTo>
                  <a:lnTo>
                    <a:pt x="42049" y="24257"/>
                  </a:lnTo>
                  <a:lnTo>
                    <a:pt x="46532" y="30543"/>
                  </a:lnTo>
                  <a:lnTo>
                    <a:pt x="52793" y="32334"/>
                  </a:lnTo>
                  <a:lnTo>
                    <a:pt x="52793" y="129336"/>
                  </a:lnTo>
                  <a:lnTo>
                    <a:pt x="64427" y="129336"/>
                  </a:lnTo>
                  <a:lnTo>
                    <a:pt x="64427" y="32334"/>
                  </a:lnTo>
                  <a:lnTo>
                    <a:pt x="70688" y="30543"/>
                  </a:lnTo>
                  <a:lnTo>
                    <a:pt x="75158" y="24257"/>
                  </a:lnTo>
                  <a:lnTo>
                    <a:pt x="75158" y="8089"/>
                  </a:lnTo>
                  <a:lnTo>
                    <a:pt x="68008" y="0"/>
                  </a:lnTo>
                  <a:close/>
                </a:path>
                <a:path w="454660" h="266064">
                  <a:moveTo>
                    <a:pt x="153009" y="0"/>
                  </a:moveTo>
                  <a:lnTo>
                    <a:pt x="134226" y="0"/>
                  </a:lnTo>
                  <a:lnTo>
                    <a:pt x="127063" y="8089"/>
                  </a:lnTo>
                  <a:lnTo>
                    <a:pt x="127063" y="24257"/>
                  </a:lnTo>
                  <a:lnTo>
                    <a:pt x="131533" y="30543"/>
                  </a:lnTo>
                  <a:lnTo>
                    <a:pt x="137807" y="32334"/>
                  </a:lnTo>
                  <a:lnTo>
                    <a:pt x="137807" y="129336"/>
                  </a:lnTo>
                  <a:lnTo>
                    <a:pt x="149440" y="129336"/>
                  </a:lnTo>
                  <a:lnTo>
                    <a:pt x="149440" y="32334"/>
                  </a:lnTo>
                  <a:lnTo>
                    <a:pt x="155702" y="30543"/>
                  </a:lnTo>
                  <a:lnTo>
                    <a:pt x="160172" y="24257"/>
                  </a:lnTo>
                  <a:lnTo>
                    <a:pt x="160172" y="8089"/>
                  </a:lnTo>
                  <a:lnTo>
                    <a:pt x="153009" y="0"/>
                  </a:lnTo>
                  <a:close/>
                </a:path>
                <a:path w="454660" h="266064">
                  <a:moveTo>
                    <a:pt x="237134" y="0"/>
                  </a:moveTo>
                  <a:lnTo>
                    <a:pt x="219240" y="0"/>
                  </a:lnTo>
                  <a:lnTo>
                    <a:pt x="211175" y="8089"/>
                  </a:lnTo>
                  <a:lnTo>
                    <a:pt x="211175" y="24257"/>
                  </a:lnTo>
                  <a:lnTo>
                    <a:pt x="215658" y="30543"/>
                  </a:lnTo>
                  <a:lnTo>
                    <a:pt x="222808" y="32334"/>
                  </a:lnTo>
                  <a:lnTo>
                    <a:pt x="222808" y="129336"/>
                  </a:lnTo>
                  <a:lnTo>
                    <a:pt x="233553" y="129336"/>
                  </a:lnTo>
                  <a:lnTo>
                    <a:pt x="233553" y="32334"/>
                  </a:lnTo>
                  <a:lnTo>
                    <a:pt x="240715" y="30543"/>
                  </a:lnTo>
                  <a:lnTo>
                    <a:pt x="245186" y="24257"/>
                  </a:lnTo>
                  <a:lnTo>
                    <a:pt x="245186" y="8089"/>
                  </a:lnTo>
                  <a:lnTo>
                    <a:pt x="237134" y="0"/>
                  </a:lnTo>
                  <a:close/>
                </a:path>
                <a:path w="454660" h="266064">
                  <a:moveTo>
                    <a:pt x="322148" y="0"/>
                  </a:moveTo>
                  <a:lnTo>
                    <a:pt x="303352" y="0"/>
                  </a:lnTo>
                  <a:lnTo>
                    <a:pt x="296189" y="8089"/>
                  </a:lnTo>
                  <a:lnTo>
                    <a:pt x="296189" y="24257"/>
                  </a:lnTo>
                  <a:lnTo>
                    <a:pt x="300672" y="30543"/>
                  </a:lnTo>
                  <a:lnTo>
                    <a:pt x="306933" y="32334"/>
                  </a:lnTo>
                  <a:lnTo>
                    <a:pt x="306933" y="129336"/>
                  </a:lnTo>
                  <a:lnTo>
                    <a:pt x="318566" y="129336"/>
                  </a:lnTo>
                  <a:lnTo>
                    <a:pt x="318566" y="32334"/>
                  </a:lnTo>
                  <a:lnTo>
                    <a:pt x="324827" y="30543"/>
                  </a:lnTo>
                  <a:lnTo>
                    <a:pt x="329298" y="24257"/>
                  </a:lnTo>
                  <a:lnTo>
                    <a:pt x="329298" y="8089"/>
                  </a:lnTo>
                  <a:lnTo>
                    <a:pt x="322148" y="0"/>
                  </a:lnTo>
                  <a:close/>
                </a:path>
                <a:path w="454660" h="266064">
                  <a:moveTo>
                    <a:pt x="407149" y="0"/>
                  </a:moveTo>
                  <a:lnTo>
                    <a:pt x="388366" y="0"/>
                  </a:lnTo>
                  <a:lnTo>
                    <a:pt x="381203" y="7188"/>
                  </a:lnTo>
                  <a:lnTo>
                    <a:pt x="381203" y="24257"/>
                  </a:lnTo>
                  <a:lnTo>
                    <a:pt x="385673" y="30543"/>
                  </a:lnTo>
                  <a:lnTo>
                    <a:pt x="391947" y="32334"/>
                  </a:lnTo>
                  <a:lnTo>
                    <a:pt x="391947" y="129336"/>
                  </a:lnTo>
                  <a:lnTo>
                    <a:pt x="403580" y="129336"/>
                  </a:lnTo>
                  <a:lnTo>
                    <a:pt x="403580" y="32334"/>
                  </a:lnTo>
                  <a:lnTo>
                    <a:pt x="409841" y="30543"/>
                  </a:lnTo>
                  <a:lnTo>
                    <a:pt x="414312" y="24257"/>
                  </a:lnTo>
                  <a:lnTo>
                    <a:pt x="414312" y="7188"/>
                  </a:lnTo>
                  <a:lnTo>
                    <a:pt x="407149" y="0"/>
                  </a:lnTo>
                  <a:close/>
                </a:path>
              </a:pathLst>
            </a:custGeom>
            <a:solidFill>
              <a:srgbClr val="FFC000"/>
            </a:solidFill>
          </p:spPr>
          <p:txBody>
            <a:bodyPr wrap="square" lIns="0" tIns="0" rIns="0" bIns="0" rtlCol="0"/>
            <a:lstStyle/>
            <a:p/>
          </p:txBody>
        </p:sp>
        <p:pic>
          <p:nvPicPr>
            <p:cNvPr id="156" name="object 156" descr=""/>
            <p:cNvPicPr/>
            <p:nvPr/>
          </p:nvPicPr>
          <p:blipFill>
            <a:blip r:embed="rId34" cstate="print"/>
            <a:stretch>
              <a:fillRect/>
            </a:stretch>
          </p:blipFill>
          <p:spPr>
            <a:xfrm>
              <a:off x="2189916" y="3210518"/>
              <a:ext cx="120853" cy="102396"/>
            </a:xfrm>
            <a:prstGeom prst="rect">
              <a:avLst/>
            </a:prstGeom>
          </p:spPr>
        </p:pic>
        <p:pic>
          <p:nvPicPr>
            <p:cNvPr id="157" name="object 157" descr=""/>
            <p:cNvPicPr/>
            <p:nvPr/>
          </p:nvPicPr>
          <p:blipFill>
            <a:blip r:embed="rId35" cstate="print"/>
            <a:stretch>
              <a:fillRect/>
            </a:stretch>
          </p:blipFill>
          <p:spPr>
            <a:xfrm>
              <a:off x="2107759" y="3621878"/>
              <a:ext cx="235153" cy="76796"/>
            </a:xfrm>
            <a:prstGeom prst="rect">
              <a:avLst/>
            </a:prstGeom>
          </p:spPr>
        </p:pic>
        <p:sp>
          <p:nvSpPr>
            <p:cNvPr id="158" name="object 158" descr=""/>
            <p:cNvSpPr/>
            <p:nvPr/>
          </p:nvSpPr>
          <p:spPr>
            <a:xfrm>
              <a:off x="2142286" y="3174593"/>
              <a:ext cx="782955" cy="1818639"/>
            </a:xfrm>
            <a:custGeom>
              <a:avLst/>
              <a:gdLst/>
              <a:ahLst/>
              <a:cxnLst/>
              <a:rect l="l" t="t" r="r" b="b"/>
              <a:pathLst>
                <a:path w="782955" h="1818639">
                  <a:moveTo>
                    <a:pt x="200025" y="189623"/>
                  </a:moveTo>
                  <a:lnTo>
                    <a:pt x="197446" y="183235"/>
                  </a:lnTo>
                  <a:lnTo>
                    <a:pt x="189992" y="162788"/>
                  </a:lnTo>
                  <a:lnTo>
                    <a:pt x="182524" y="142328"/>
                  </a:lnTo>
                  <a:lnTo>
                    <a:pt x="162712" y="88011"/>
                  </a:lnTo>
                  <a:lnTo>
                    <a:pt x="148424" y="77406"/>
                  </a:lnTo>
                  <a:lnTo>
                    <a:pt x="142138" y="78422"/>
                  </a:lnTo>
                  <a:lnTo>
                    <a:pt x="136652" y="81534"/>
                  </a:lnTo>
                  <a:lnTo>
                    <a:pt x="132969" y="86487"/>
                  </a:lnTo>
                  <a:lnTo>
                    <a:pt x="131470" y="92532"/>
                  </a:lnTo>
                  <a:lnTo>
                    <a:pt x="132486" y="98869"/>
                  </a:lnTo>
                  <a:lnTo>
                    <a:pt x="145999" y="135940"/>
                  </a:lnTo>
                  <a:lnTo>
                    <a:pt x="135064" y="126352"/>
                  </a:lnTo>
                  <a:lnTo>
                    <a:pt x="131838" y="123799"/>
                  </a:lnTo>
                  <a:lnTo>
                    <a:pt x="127990" y="122516"/>
                  </a:lnTo>
                  <a:lnTo>
                    <a:pt x="124129" y="122516"/>
                  </a:lnTo>
                  <a:lnTo>
                    <a:pt x="120904" y="121881"/>
                  </a:lnTo>
                  <a:lnTo>
                    <a:pt x="104190" y="121881"/>
                  </a:lnTo>
                  <a:lnTo>
                    <a:pt x="101612" y="126987"/>
                  </a:lnTo>
                  <a:lnTo>
                    <a:pt x="90678" y="142328"/>
                  </a:lnTo>
                  <a:lnTo>
                    <a:pt x="88747" y="139776"/>
                  </a:lnTo>
                  <a:lnTo>
                    <a:pt x="85534" y="144246"/>
                  </a:lnTo>
                  <a:lnTo>
                    <a:pt x="93141" y="229247"/>
                  </a:lnTo>
                  <a:lnTo>
                    <a:pt x="93256" y="230530"/>
                  </a:lnTo>
                  <a:lnTo>
                    <a:pt x="82969" y="251625"/>
                  </a:lnTo>
                  <a:lnTo>
                    <a:pt x="72669" y="229247"/>
                  </a:lnTo>
                  <a:lnTo>
                    <a:pt x="77203" y="179400"/>
                  </a:lnTo>
                  <a:lnTo>
                    <a:pt x="77317" y="178117"/>
                  </a:lnTo>
                  <a:lnTo>
                    <a:pt x="80391" y="144246"/>
                  </a:lnTo>
                  <a:lnTo>
                    <a:pt x="78740" y="142328"/>
                  </a:lnTo>
                  <a:lnTo>
                    <a:pt x="76530" y="139776"/>
                  </a:lnTo>
                  <a:lnTo>
                    <a:pt x="73964" y="142328"/>
                  </a:lnTo>
                  <a:lnTo>
                    <a:pt x="61099" y="121881"/>
                  </a:lnTo>
                  <a:lnTo>
                    <a:pt x="53378" y="121881"/>
                  </a:lnTo>
                  <a:lnTo>
                    <a:pt x="32562" y="126034"/>
                  </a:lnTo>
                  <a:lnTo>
                    <a:pt x="15595" y="137388"/>
                  </a:lnTo>
                  <a:lnTo>
                    <a:pt x="4178" y="154241"/>
                  </a:lnTo>
                  <a:lnTo>
                    <a:pt x="0" y="174929"/>
                  </a:lnTo>
                  <a:lnTo>
                    <a:pt x="0" y="289966"/>
                  </a:lnTo>
                  <a:lnTo>
                    <a:pt x="5143" y="296367"/>
                  </a:lnTo>
                  <a:lnTo>
                    <a:pt x="12217" y="298284"/>
                  </a:lnTo>
                  <a:lnTo>
                    <a:pt x="12217" y="306590"/>
                  </a:lnTo>
                  <a:lnTo>
                    <a:pt x="6426" y="306590"/>
                  </a:lnTo>
                  <a:lnTo>
                    <a:pt x="2565" y="309778"/>
                  </a:lnTo>
                  <a:lnTo>
                    <a:pt x="2565" y="391591"/>
                  </a:lnTo>
                  <a:lnTo>
                    <a:pt x="6426" y="395427"/>
                  </a:lnTo>
                  <a:lnTo>
                    <a:pt x="26365" y="395427"/>
                  </a:lnTo>
                  <a:lnTo>
                    <a:pt x="29578" y="391591"/>
                  </a:lnTo>
                  <a:lnTo>
                    <a:pt x="29578" y="309778"/>
                  </a:lnTo>
                  <a:lnTo>
                    <a:pt x="26365" y="306590"/>
                  </a:lnTo>
                  <a:lnTo>
                    <a:pt x="19939" y="306590"/>
                  </a:lnTo>
                  <a:lnTo>
                    <a:pt x="19939" y="298284"/>
                  </a:lnTo>
                  <a:lnTo>
                    <a:pt x="27647" y="297002"/>
                  </a:lnTo>
                  <a:lnTo>
                    <a:pt x="34086" y="290614"/>
                  </a:lnTo>
                  <a:lnTo>
                    <a:pt x="34086" y="179400"/>
                  </a:lnTo>
                  <a:lnTo>
                    <a:pt x="35369" y="178117"/>
                  </a:lnTo>
                  <a:lnTo>
                    <a:pt x="39230" y="178117"/>
                  </a:lnTo>
                  <a:lnTo>
                    <a:pt x="40513" y="179400"/>
                  </a:lnTo>
                  <a:lnTo>
                    <a:pt x="40513" y="322567"/>
                  </a:lnTo>
                  <a:lnTo>
                    <a:pt x="41160" y="322567"/>
                  </a:lnTo>
                  <a:lnTo>
                    <a:pt x="41795" y="458698"/>
                  </a:lnTo>
                  <a:lnTo>
                    <a:pt x="41795" y="467652"/>
                  </a:lnTo>
                  <a:lnTo>
                    <a:pt x="48869" y="474675"/>
                  </a:lnTo>
                  <a:lnTo>
                    <a:pt x="72669" y="474675"/>
                  </a:lnTo>
                  <a:lnTo>
                    <a:pt x="79743" y="467652"/>
                  </a:lnTo>
                  <a:lnTo>
                    <a:pt x="79743" y="458698"/>
                  </a:lnTo>
                  <a:lnTo>
                    <a:pt x="79146" y="323850"/>
                  </a:lnTo>
                  <a:lnTo>
                    <a:pt x="79108" y="317449"/>
                  </a:lnTo>
                  <a:lnTo>
                    <a:pt x="79743" y="314261"/>
                  </a:lnTo>
                  <a:lnTo>
                    <a:pt x="81673" y="312343"/>
                  </a:lnTo>
                  <a:lnTo>
                    <a:pt x="86817" y="312343"/>
                  </a:lnTo>
                  <a:lnTo>
                    <a:pt x="89395" y="315531"/>
                  </a:lnTo>
                  <a:lnTo>
                    <a:pt x="89395" y="323850"/>
                  </a:lnTo>
                  <a:lnTo>
                    <a:pt x="90678" y="458698"/>
                  </a:lnTo>
                  <a:lnTo>
                    <a:pt x="90678" y="467652"/>
                  </a:lnTo>
                  <a:lnTo>
                    <a:pt x="97751" y="474675"/>
                  </a:lnTo>
                  <a:lnTo>
                    <a:pt x="121551" y="474675"/>
                  </a:lnTo>
                  <a:lnTo>
                    <a:pt x="128625" y="467652"/>
                  </a:lnTo>
                  <a:lnTo>
                    <a:pt x="128625" y="458698"/>
                  </a:lnTo>
                  <a:lnTo>
                    <a:pt x="127546" y="323850"/>
                  </a:lnTo>
                  <a:lnTo>
                    <a:pt x="127457" y="312343"/>
                  </a:lnTo>
                  <a:lnTo>
                    <a:pt x="127342" y="251625"/>
                  </a:lnTo>
                  <a:lnTo>
                    <a:pt x="127342" y="162788"/>
                  </a:lnTo>
                  <a:lnTo>
                    <a:pt x="171716" y="200494"/>
                  </a:lnTo>
                  <a:lnTo>
                    <a:pt x="174942" y="203047"/>
                  </a:lnTo>
                  <a:lnTo>
                    <a:pt x="178790" y="204330"/>
                  </a:lnTo>
                  <a:lnTo>
                    <a:pt x="185864" y="204330"/>
                  </a:lnTo>
                  <a:lnTo>
                    <a:pt x="189090" y="203682"/>
                  </a:lnTo>
                  <a:lnTo>
                    <a:pt x="191655" y="201764"/>
                  </a:lnTo>
                  <a:lnTo>
                    <a:pt x="197446" y="197294"/>
                  </a:lnTo>
                  <a:lnTo>
                    <a:pt x="200025" y="189623"/>
                  </a:lnTo>
                  <a:close/>
                </a:path>
                <a:path w="782955" h="1818639">
                  <a:moveTo>
                    <a:pt x="296418" y="1383436"/>
                  </a:moveTo>
                  <a:lnTo>
                    <a:pt x="290880" y="1377772"/>
                  </a:lnTo>
                  <a:lnTo>
                    <a:pt x="213537" y="1377772"/>
                  </a:lnTo>
                  <a:lnTo>
                    <a:pt x="207873" y="1383436"/>
                  </a:lnTo>
                  <a:lnTo>
                    <a:pt x="207873" y="1417434"/>
                  </a:lnTo>
                  <a:lnTo>
                    <a:pt x="296418" y="1417434"/>
                  </a:lnTo>
                  <a:lnTo>
                    <a:pt x="296418" y="1383436"/>
                  </a:lnTo>
                  <a:close/>
                </a:path>
                <a:path w="782955" h="1818639">
                  <a:moveTo>
                    <a:pt x="488226" y="1592707"/>
                  </a:moveTo>
                  <a:lnTo>
                    <a:pt x="472300" y="1557489"/>
                  </a:lnTo>
                  <a:lnTo>
                    <a:pt x="444436" y="1536039"/>
                  </a:lnTo>
                  <a:lnTo>
                    <a:pt x="444436" y="1590192"/>
                  </a:lnTo>
                  <a:lnTo>
                    <a:pt x="443953" y="1597545"/>
                  </a:lnTo>
                  <a:lnTo>
                    <a:pt x="440575" y="1604441"/>
                  </a:lnTo>
                  <a:lnTo>
                    <a:pt x="436803" y="1609305"/>
                  </a:lnTo>
                  <a:lnTo>
                    <a:pt x="431126" y="1611871"/>
                  </a:lnTo>
                  <a:lnTo>
                    <a:pt x="421271" y="1611871"/>
                  </a:lnTo>
                  <a:lnTo>
                    <a:pt x="417093" y="1610652"/>
                  </a:lnTo>
                  <a:lnTo>
                    <a:pt x="310324" y="1528343"/>
                  </a:lnTo>
                  <a:lnTo>
                    <a:pt x="305282" y="1522564"/>
                  </a:lnTo>
                  <a:lnTo>
                    <a:pt x="302945" y="1515554"/>
                  </a:lnTo>
                  <a:lnTo>
                    <a:pt x="303428" y="1508188"/>
                  </a:lnTo>
                  <a:lnTo>
                    <a:pt x="306806" y="1501368"/>
                  </a:lnTo>
                  <a:lnTo>
                    <a:pt x="312585" y="1496314"/>
                  </a:lnTo>
                  <a:lnTo>
                    <a:pt x="319595" y="1493989"/>
                  </a:lnTo>
                  <a:lnTo>
                    <a:pt x="326974" y="1494472"/>
                  </a:lnTo>
                  <a:lnTo>
                    <a:pt x="333806" y="1497850"/>
                  </a:lnTo>
                  <a:lnTo>
                    <a:pt x="437070" y="1577467"/>
                  </a:lnTo>
                  <a:lnTo>
                    <a:pt x="442112" y="1583220"/>
                  </a:lnTo>
                  <a:lnTo>
                    <a:pt x="444436" y="1590192"/>
                  </a:lnTo>
                  <a:lnTo>
                    <a:pt x="444436" y="1536039"/>
                  </a:lnTo>
                  <a:lnTo>
                    <a:pt x="389839" y="1493989"/>
                  </a:lnTo>
                  <a:lnTo>
                    <a:pt x="322199" y="1441856"/>
                  </a:lnTo>
                  <a:lnTo>
                    <a:pt x="315582" y="1439697"/>
                  </a:lnTo>
                  <a:lnTo>
                    <a:pt x="289394" y="1439697"/>
                  </a:lnTo>
                  <a:lnTo>
                    <a:pt x="289394" y="1693760"/>
                  </a:lnTo>
                  <a:lnTo>
                    <a:pt x="287121" y="1704987"/>
                  </a:lnTo>
                  <a:lnTo>
                    <a:pt x="280936" y="1714169"/>
                  </a:lnTo>
                  <a:lnTo>
                    <a:pt x="271754" y="1720367"/>
                  </a:lnTo>
                  <a:lnTo>
                    <a:pt x="260515" y="1722640"/>
                  </a:lnTo>
                  <a:lnTo>
                    <a:pt x="249288" y="1720367"/>
                  </a:lnTo>
                  <a:lnTo>
                    <a:pt x="240106" y="1714169"/>
                  </a:lnTo>
                  <a:lnTo>
                    <a:pt x="233895" y="1704987"/>
                  </a:lnTo>
                  <a:lnTo>
                    <a:pt x="231622" y="1693760"/>
                  </a:lnTo>
                  <a:lnTo>
                    <a:pt x="232930" y="1683143"/>
                  </a:lnTo>
                  <a:lnTo>
                    <a:pt x="237515" y="1668462"/>
                  </a:lnTo>
                  <a:lnTo>
                    <a:pt x="246380" y="1646897"/>
                  </a:lnTo>
                  <a:lnTo>
                    <a:pt x="260515" y="1615643"/>
                  </a:lnTo>
                  <a:lnTo>
                    <a:pt x="274713" y="1646897"/>
                  </a:lnTo>
                  <a:lnTo>
                    <a:pt x="283565" y="1668462"/>
                  </a:lnTo>
                  <a:lnTo>
                    <a:pt x="288112" y="1683143"/>
                  </a:lnTo>
                  <a:lnTo>
                    <a:pt x="289394" y="1693760"/>
                  </a:lnTo>
                  <a:lnTo>
                    <a:pt x="289394" y="1439697"/>
                  </a:lnTo>
                  <a:lnTo>
                    <a:pt x="197612" y="1439697"/>
                  </a:lnTo>
                  <a:lnTo>
                    <a:pt x="189509" y="1447800"/>
                  </a:lnTo>
                  <a:lnTo>
                    <a:pt x="189509" y="1784565"/>
                  </a:lnTo>
                  <a:lnTo>
                    <a:pt x="192163" y="1797697"/>
                  </a:lnTo>
                  <a:lnTo>
                    <a:pt x="199402" y="1808416"/>
                  </a:lnTo>
                  <a:lnTo>
                    <a:pt x="210121" y="1815642"/>
                  </a:lnTo>
                  <a:lnTo>
                    <a:pt x="223253" y="1818297"/>
                  </a:lnTo>
                  <a:lnTo>
                    <a:pt x="454482" y="1818297"/>
                  </a:lnTo>
                  <a:lnTo>
                    <a:pt x="467614" y="1815642"/>
                  </a:lnTo>
                  <a:lnTo>
                    <a:pt x="478345" y="1808416"/>
                  </a:lnTo>
                  <a:lnTo>
                    <a:pt x="485571" y="1797697"/>
                  </a:lnTo>
                  <a:lnTo>
                    <a:pt x="488226" y="1784565"/>
                  </a:lnTo>
                  <a:lnTo>
                    <a:pt x="488226" y="1722640"/>
                  </a:lnTo>
                  <a:lnTo>
                    <a:pt x="488226" y="1615643"/>
                  </a:lnTo>
                  <a:lnTo>
                    <a:pt x="488226" y="1611871"/>
                  </a:lnTo>
                  <a:lnTo>
                    <a:pt x="488226" y="1592707"/>
                  </a:lnTo>
                  <a:close/>
                </a:path>
                <a:path w="782955" h="1818639">
                  <a:moveTo>
                    <a:pt x="782878" y="0"/>
                  </a:moveTo>
                  <a:lnTo>
                    <a:pt x="629297" y="202819"/>
                  </a:lnTo>
                  <a:lnTo>
                    <a:pt x="689889" y="193560"/>
                  </a:lnTo>
                  <a:lnTo>
                    <a:pt x="604050" y="339153"/>
                  </a:lnTo>
                  <a:lnTo>
                    <a:pt x="755535" y="152742"/>
                  </a:lnTo>
                  <a:lnTo>
                    <a:pt x="691159" y="150647"/>
                  </a:lnTo>
                  <a:lnTo>
                    <a:pt x="782878" y="0"/>
                  </a:lnTo>
                  <a:close/>
                </a:path>
              </a:pathLst>
            </a:custGeom>
            <a:solidFill>
              <a:srgbClr val="FFC000"/>
            </a:solidFill>
          </p:spPr>
          <p:txBody>
            <a:bodyPr wrap="square" lIns="0" tIns="0" rIns="0" bIns="0" rtlCol="0"/>
            <a:lstStyle/>
            <a:p/>
          </p:txBody>
        </p:sp>
      </p:grpSp>
      <p:sp>
        <p:nvSpPr>
          <p:cNvPr id="159" name="object 159"/>
          <p:cNvSpPr txBox="1">
            <a:spLocks noGrp="1"/>
          </p:cNvSpPr>
          <p:nvPr>
            <p:ph type="title"/>
          </p:nvPr>
        </p:nvSpPr>
        <p:spPr>
          <a:xfrm>
            <a:off x="2863437" y="141224"/>
            <a:ext cx="3442335" cy="513080"/>
          </a:xfrm>
          <a:prstGeom prst="rect"/>
        </p:spPr>
        <p:txBody>
          <a:bodyPr wrap="square" lIns="0" tIns="12065" rIns="0" bIns="0" rtlCol="0" vert="horz">
            <a:spAutoFit/>
          </a:bodyPr>
          <a:lstStyle/>
          <a:p>
            <a:pPr marL="12700">
              <a:lnSpc>
                <a:spcPct val="100000"/>
              </a:lnSpc>
              <a:spcBef>
                <a:spcPts val="95"/>
              </a:spcBef>
            </a:pPr>
            <a:r>
              <a:rPr dirty="0" spc="-325">
                <a:latin typeface="Times New Roman"/>
                <a:cs typeface="Times New Roman"/>
              </a:rPr>
              <a:t>5G</a:t>
            </a:r>
            <a:r>
              <a:rPr dirty="0" spc="-345"/>
              <a:t>提升智慧城市建设</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1175727" y="1084084"/>
            <a:ext cx="2051685" cy="572770"/>
          </a:xfrm>
          <a:prstGeom prst="rect">
            <a:avLst/>
          </a:prstGeom>
          <a:solidFill>
            <a:srgbClr val="333399"/>
          </a:solidFill>
        </p:spPr>
        <p:txBody>
          <a:bodyPr wrap="square" lIns="0" tIns="132080" rIns="0" bIns="0" rtlCol="0" vert="horz">
            <a:spAutoFit/>
          </a:bodyPr>
          <a:lstStyle/>
          <a:p>
            <a:pPr marL="540385">
              <a:lnSpc>
                <a:spcPct val="100000"/>
              </a:lnSpc>
              <a:spcBef>
                <a:spcPts val="1040"/>
              </a:spcBef>
            </a:pPr>
            <a:r>
              <a:rPr dirty="0" sz="1900" spc="-15">
                <a:solidFill>
                  <a:srgbClr val="FFFFFF"/>
                </a:solidFill>
                <a:latin typeface="SimSun"/>
                <a:cs typeface="SimSun"/>
              </a:rPr>
              <a:t>公共安全</a:t>
            </a:r>
            <a:endParaRPr sz="1900">
              <a:latin typeface="SimSun"/>
              <a:cs typeface="SimSun"/>
            </a:endParaRPr>
          </a:p>
        </p:txBody>
      </p:sp>
      <p:sp>
        <p:nvSpPr>
          <p:cNvPr id="3" name="object 3" descr=""/>
          <p:cNvSpPr/>
          <p:nvPr/>
        </p:nvSpPr>
        <p:spPr>
          <a:xfrm>
            <a:off x="1188427" y="1643976"/>
            <a:ext cx="2026285" cy="2764790"/>
          </a:xfrm>
          <a:custGeom>
            <a:avLst/>
            <a:gdLst/>
            <a:ahLst/>
            <a:cxnLst/>
            <a:rect l="l" t="t" r="r" b="b"/>
            <a:pathLst>
              <a:path w="2026285" h="2764790">
                <a:moveTo>
                  <a:pt x="0" y="0"/>
                </a:moveTo>
                <a:lnTo>
                  <a:pt x="2025700" y="0"/>
                </a:lnTo>
                <a:lnTo>
                  <a:pt x="2025700" y="2764218"/>
                </a:lnTo>
                <a:lnTo>
                  <a:pt x="0" y="2764218"/>
                </a:lnTo>
                <a:lnTo>
                  <a:pt x="0" y="0"/>
                </a:lnTo>
                <a:close/>
              </a:path>
            </a:pathLst>
          </a:custGeom>
          <a:ln w="25400">
            <a:solidFill>
              <a:srgbClr val="CDCDDE"/>
            </a:solidFill>
          </a:ln>
        </p:spPr>
        <p:txBody>
          <a:bodyPr wrap="square" lIns="0" tIns="0" rIns="0" bIns="0" rtlCol="0"/>
          <a:lstStyle/>
          <a:p/>
        </p:txBody>
      </p:sp>
      <p:sp>
        <p:nvSpPr>
          <p:cNvPr id="4" name="object 4" descr=""/>
          <p:cNvSpPr txBox="1"/>
          <p:nvPr/>
        </p:nvSpPr>
        <p:spPr>
          <a:xfrm>
            <a:off x="1188427" y="1631276"/>
            <a:ext cx="2026285" cy="2790190"/>
          </a:xfrm>
          <a:prstGeom prst="rect">
            <a:avLst/>
          </a:prstGeom>
          <a:solidFill>
            <a:srgbClr val="CDCDDE">
              <a:alpha val="90194"/>
            </a:srgbClr>
          </a:solidFill>
        </p:spPr>
        <p:txBody>
          <a:bodyPr wrap="square" lIns="0" tIns="116205" rIns="0" bIns="0" rtlCol="0" vert="horz">
            <a:spAutoFit/>
          </a:bodyPr>
          <a:lstStyle/>
          <a:p>
            <a:pPr marL="271780" indent="-170815">
              <a:lnSpc>
                <a:spcPct val="100000"/>
              </a:lnSpc>
              <a:spcBef>
                <a:spcPts val="915"/>
              </a:spcBef>
              <a:buFont typeface="Arial MT"/>
              <a:buChar char="•"/>
              <a:tabLst>
                <a:tab pos="271780" algn="l"/>
              </a:tabLst>
            </a:pPr>
            <a:r>
              <a:rPr dirty="0" sz="1900" spc="-15">
                <a:latin typeface="SimSun"/>
                <a:cs typeface="SimSun"/>
              </a:rPr>
              <a:t>视频监控</a:t>
            </a:r>
            <a:endParaRPr sz="1900">
              <a:latin typeface="SimSun"/>
              <a:cs typeface="SimSun"/>
            </a:endParaRPr>
          </a:p>
          <a:p>
            <a:pPr marL="271780" indent="-170815">
              <a:lnSpc>
                <a:spcPct val="100000"/>
              </a:lnSpc>
              <a:spcBef>
                <a:spcPts val="560"/>
              </a:spcBef>
              <a:buFont typeface="Arial MT"/>
              <a:buChar char="•"/>
              <a:tabLst>
                <a:tab pos="271780" algn="l"/>
              </a:tabLst>
            </a:pPr>
            <a:r>
              <a:rPr dirty="0" sz="1900">
                <a:latin typeface="SimSun"/>
                <a:cs typeface="SimSun"/>
              </a:rPr>
              <a:t>门禁</a:t>
            </a:r>
            <a:r>
              <a:rPr dirty="0" sz="1900">
                <a:latin typeface="Arial MT"/>
                <a:cs typeface="Arial MT"/>
              </a:rPr>
              <a:t>/</a:t>
            </a:r>
            <a:r>
              <a:rPr dirty="0" sz="1900" spc="-15">
                <a:latin typeface="SimSun"/>
                <a:cs typeface="SimSun"/>
              </a:rPr>
              <a:t>可视对讲</a:t>
            </a:r>
            <a:endParaRPr sz="1900">
              <a:latin typeface="SimSun"/>
              <a:cs typeface="SimSun"/>
            </a:endParaRPr>
          </a:p>
          <a:p>
            <a:pPr marL="271780" indent="-170815">
              <a:lnSpc>
                <a:spcPct val="100000"/>
              </a:lnSpc>
              <a:spcBef>
                <a:spcPts val="565"/>
              </a:spcBef>
              <a:buFont typeface="Arial MT"/>
              <a:buChar char="•"/>
              <a:tabLst>
                <a:tab pos="271780" algn="l"/>
              </a:tabLst>
            </a:pPr>
            <a:r>
              <a:rPr dirty="0" sz="1900" spc="-15">
                <a:latin typeface="SimSun"/>
                <a:cs typeface="SimSun"/>
              </a:rPr>
              <a:t>电梯监控</a:t>
            </a:r>
            <a:endParaRPr sz="1900">
              <a:latin typeface="SimSun"/>
              <a:cs typeface="SimSun"/>
            </a:endParaRPr>
          </a:p>
          <a:p>
            <a:pPr marL="271780" indent="-170815">
              <a:lnSpc>
                <a:spcPct val="100000"/>
              </a:lnSpc>
              <a:spcBef>
                <a:spcPts val="555"/>
              </a:spcBef>
              <a:buFont typeface="Arial MT"/>
              <a:buChar char="•"/>
              <a:tabLst>
                <a:tab pos="271780" algn="l"/>
              </a:tabLst>
            </a:pPr>
            <a:r>
              <a:rPr dirty="0" sz="1900" spc="-15">
                <a:latin typeface="SimSun"/>
                <a:cs typeface="SimSun"/>
              </a:rPr>
              <a:t>楼宇消防</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5">
                <a:latin typeface="SimSun"/>
                <a:cs typeface="SimSun"/>
              </a:rPr>
              <a:t>应急广播</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5">
                <a:latin typeface="SimSun"/>
                <a:cs typeface="SimSun"/>
              </a:rPr>
              <a:t>智慧井盖</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25">
                <a:latin typeface="SimSun"/>
                <a:cs typeface="SimSun"/>
              </a:rPr>
              <a:t>巡更</a:t>
            </a:r>
            <a:endParaRPr sz="1900">
              <a:latin typeface="SimSun"/>
              <a:cs typeface="SimSun"/>
            </a:endParaRPr>
          </a:p>
        </p:txBody>
      </p:sp>
      <p:sp>
        <p:nvSpPr>
          <p:cNvPr id="5" name="object 5" descr=""/>
          <p:cNvSpPr txBox="1"/>
          <p:nvPr/>
        </p:nvSpPr>
        <p:spPr>
          <a:xfrm>
            <a:off x="3497732" y="1096784"/>
            <a:ext cx="2026285" cy="547370"/>
          </a:xfrm>
          <a:prstGeom prst="rect">
            <a:avLst/>
          </a:prstGeom>
          <a:solidFill>
            <a:srgbClr val="92D050"/>
          </a:solidFill>
        </p:spPr>
        <p:txBody>
          <a:bodyPr wrap="square" lIns="0" tIns="119380" rIns="0" bIns="0" rtlCol="0" vert="horz">
            <a:spAutoFit/>
          </a:bodyPr>
          <a:lstStyle/>
          <a:p>
            <a:pPr marL="527685">
              <a:lnSpc>
                <a:spcPct val="100000"/>
              </a:lnSpc>
              <a:spcBef>
                <a:spcPts val="940"/>
              </a:spcBef>
            </a:pPr>
            <a:r>
              <a:rPr dirty="0" sz="1900" spc="-15">
                <a:solidFill>
                  <a:srgbClr val="FFFFFF"/>
                </a:solidFill>
                <a:latin typeface="SimSun"/>
                <a:cs typeface="SimSun"/>
              </a:rPr>
              <a:t>公共管理</a:t>
            </a:r>
            <a:endParaRPr sz="1900">
              <a:latin typeface="SimSun"/>
              <a:cs typeface="SimSun"/>
            </a:endParaRPr>
          </a:p>
        </p:txBody>
      </p:sp>
      <p:sp>
        <p:nvSpPr>
          <p:cNvPr id="6" name="object 6" descr=""/>
          <p:cNvSpPr txBox="1"/>
          <p:nvPr/>
        </p:nvSpPr>
        <p:spPr>
          <a:xfrm>
            <a:off x="3497732" y="1643976"/>
            <a:ext cx="2026285" cy="2764790"/>
          </a:xfrm>
          <a:prstGeom prst="rect">
            <a:avLst/>
          </a:prstGeom>
          <a:ln w="25400">
            <a:solidFill>
              <a:srgbClr val="FFFFFF"/>
            </a:solidFill>
          </a:ln>
        </p:spPr>
        <p:txBody>
          <a:bodyPr wrap="square" lIns="0" tIns="103505" rIns="0" bIns="0" rtlCol="0" vert="horz">
            <a:spAutoFit/>
          </a:bodyPr>
          <a:lstStyle/>
          <a:p>
            <a:pPr marL="271780" indent="-170815">
              <a:lnSpc>
                <a:spcPct val="100000"/>
              </a:lnSpc>
              <a:spcBef>
                <a:spcPts val="815"/>
              </a:spcBef>
              <a:buFont typeface="Arial MT"/>
              <a:buChar char="•"/>
              <a:tabLst>
                <a:tab pos="271780" algn="l"/>
              </a:tabLst>
            </a:pPr>
            <a:r>
              <a:rPr dirty="0" sz="1900" spc="-10">
                <a:latin typeface="SimSun"/>
                <a:cs typeface="SimSun"/>
              </a:rPr>
              <a:t>楼宇设备监控</a:t>
            </a:r>
            <a:endParaRPr sz="1900">
              <a:latin typeface="SimSun"/>
              <a:cs typeface="SimSun"/>
            </a:endParaRPr>
          </a:p>
          <a:p>
            <a:pPr marL="271145" marR="296545" indent="-170815">
              <a:lnSpc>
                <a:spcPct val="108400"/>
              </a:lnSpc>
              <a:spcBef>
                <a:spcPts val="370"/>
              </a:spcBef>
              <a:buFont typeface="Arial MT"/>
              <a:buChar char="•"/>
              <a:tabLst>
                <a:tab pos="272415" algn="l"/>
              </a:tabLst>
            </a:pPr>
            <a:r>
              <a:rPr dirty="0" sz="1900" spc="-10">
                <a:latin typeface="SimSun"/>
                <a:cs typeface="SimSun"/>
              </a:rPr>
              <a:t>智能垃圾桶监</a:t>
            </a:r>
            <a:r>
              <a:rPr dirty="0" sz="1900" spc="-10">
                <a:latin typeface="SimSun"/>
                <a:cs typeface="SimSun"/>
              </a:rPr>
              <a:t>	</a:t>
            </a:r>
            <a:r>
              <a:rPr dirty="0" sz="1900" spc="-50">
                <a:latin typeface="SimSun"/>
                <a:cs typeface="SimSun"/>
              </a:rPr>
              <a:t>测</a:t>
            </a:r>
            <a:endParaRPr sz="1900">
              <a:latin typeface="SimSun"/>
              <a:cs typeface="SimSun"/>
            </a:endParaRPr>
          </a:p>
          <a:p>
            <a:pPr marL="271780" indent="-170815">
              <a:lnSpc>
                <a:spcPct val="100000"/>
              </a:lnSpc>
              <a:spcBef>
                <a:spcPts val="555"/>
              </a:spcBef>
              <a:buFont typeface="Arial MT"/>
              <a:buChar char="•"/>
              <a:tabLst>
                <a:tab pos="271780" algn="l"/>
              </a:tabLst>
            </a:pPr>
            <a:r>
              <a:rPr dirty="0" sz="1900" spc="-15">
                <a:latin typeface="SimSun"/>
                <a:cs typeface="SimSun"/>
              </a:rPr>
              <a:t>能源管理</a:t>
            </a:r>
            <a:endParaRPr sz="1900">
              <a:latin typeface="SimSun"/>
              <a:cs typeface="SimSun"/>
            </a:endParaRPr>
          </a:p>
          <a:p>
            <a:pPr marL="271780" indent="-170815">
              <a:lnSpc>
                <a:spcPct val="100000"/>
              </a:lnSpc>
              <a:spcBef>
                <a:spcPts val="565"/>
              </a:spcBef>
              <a:buFont typeface="Arial MT"/>
              <a:buChar char="•"/>
              <a:tabLst>
                <a:tab pos="271780" algn="l"/>
              </a:tabLst>
            </a:pPr>
            <a:r>
              <a:rPr dirty="0" sz="1900" spc="-15">
                <a:latin typeface="SimSun"/>
                <a:cs typeface="SimSun"/>
              </a:rPr>
              <a:t>智慧照明</a:t>
            </a:r>
            <a:endParaRPr sz="1900">
              <a:latin typeface="SimSun"/>
              <a:cs typeface="SimSun"/>
            </a:endParaRPr>
          </a:p>
          <a:p>
            <a:pPr marL="271780" indent="-170815">
              <a:lnSpc>
                <a:spcPct val="100000"/>
              </a:lnSpc>
              <a:spcBef>
                <a:spcPts val="555"/>
              </a:spcBef>
              <a:buFont typeface="Arial MT"/>
              <a:buChar char="•"/>
              <a:tabLst>
                <a:tab pos="271780" algn="l"/>
              </a:tabLst>
            </a:pPr>
            <a:r>
              <a:rPr dirty="0" sz="1900" spc="-15">
                <a:latin typeface="SimSun"/>
                <a:cs typeface="SimSun"/>
              </a:rPr>
              <a:t>环境监控</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5">
                <a:latin typeface="SimSun"/>
                <a:cs typeface="SimSun"/>
              </a:rPr>
              <a:t>智慧绿化</a:t>
            </a:r>
            <a:endParaRPr sz="1900">
              <a:latin typeface="SimSun"/>
              <a:cs typeface="SimSun"/>
            </a:endParaRPr>
          </a:p>
        </p:txBody>
      </p:sp>
      <p:sp>
        <p:nvSpPr>
          <p:cNvPr id="7" name="object 7" descr=""/>
          <p:cNvSpPr/>
          <p:nvPr/>
        </p:nvSpPr>
        <p:spPr>
          <a:xfrm>
            <a:off x="5807024" y="1096784"/>
            <a:ext cx="2026285" cy="547370"/>
          </a:xfrm>
          <a:custGeom>
            <a:avLst/>
            <a:gdLst/>
            <a:ahLst/>
            <a:cxnLst/>
            <a:rect l="l" t="t" r="r" b="b"/>
            <a:pathLst>
              <a:path w="2026284" h="547369">
                <a:moveTo>
                  <a:pt x="0" y="0"/>
                </a:moveTo>
                <a:lnTo>
                  <a:pt x="2025700" y="0"/>
                </a:lnTo>
                <a:lnTo>
                  <a:pt x="2025700" y="547204"/>
                </a:lnTo>
                <a:lnTo>
                  <a:pt x="0" y="547204"/>
                </a:lnTo>
                <a:lnTo>
                  <a:pt x="0" y="0"/>
                </a:lnTo>
                <a:close/>
              </a:path>
            </a:pathLst>
          </a:custGeom>
          <a:ln w="25400">
            <a:solidFill>
              <a:srgbClr val="000000"/>
            </a:solidFill>
          </a:ln>
        </p:spPr>
        <p:txBody>
          <a:bodyPr wrap="square" lIns="0" tIns="0" rIns="0" bIns="0" rtlCol="0"/>
          <a:lstStyle/>
          <a:p/>
        </p:txBody>
      </p:sp>
      <p:sp>
        <p:nvSpPr>
          <p:cNvPr id="8" name="object 8" descr=""/>
          <p:cNvSpPr txBox="1"/>
          <p:nvPr/>
        </p:nvSpPr>
        <p:spPr>
          <a:xfrm>
            <a:off x="5807024" y="1096784"/>
            <a:ext cx="2026285" cy="547370"/>
          </a:xfrm>
          <a:prstGeom prst="rect">
            <a:avLst/>
          </a:prstGeom>
          <a:solidFill>
            <a:srgbClr val="00B0F0"/>
          </a:solidFill>
        </p:spPr>
        <p:txBody>
          <a:bodyPr wrap="square" lIns="0" tIns="119380" rIns="0" bIns="0" rtlCol="0" vert="horz">
            <a:spAutoFit/>
          </a:bodyPr>
          <a:lstStyle/>
          <a:p>
            <a:pPr marL="527685">
              <a:lnSpc>
                <a:spcPct val="100000"/>
              </a:lnSpc>
              <a:spcBef>
                <a:spcPts val="940"/>
              </a:spcBef>
            </a:pPr>
            <a:r>
              <a:rPr dirty="0" sz="1900" spc="-15">
                <a:solidFill>
                  <a:srgbClr val="FFFFFF"/>
                </a:solidFill>
                <a:latin typeface="SimSun"/>
                <a:cs typeface="SimSun"/>
              </a:rPr>
              <a:t>公共服务</a:t>
            </a:r>
            <a:endParaRPr sz="1900">
              <a:latin typeface="SimSun"/>
              <a:cs typeface="SimSun"/>
            </a:endParaRPr>
          </a:p>
        </p:txBody>
      </p:sp>
      <p:sp>
        <p:nvSpPr>
          <p:cNvPr id="9" name="object 9" descr=""/>
          <p:cNvSpPr/>
          <p:nvPr/>
        </p:nvSpPr>
        <p:spPr>
          <a:xfrm>
            <a:off x="5807024" y="1643976"/>
            <a:ext cx="2026285" cy="2764790"/>
          </a:xfrm>
          <a:custGeom>
            <a:avLst/>
            <a:gdLst/>
            <a:ahLst/>
            <a:cxnLst/>
            <a:rect l="l" t="t" r="r" b="b"/>
            <a:pathLst>
              <a:path w="2026284" h="2764790">
                <a:moveTo>
                  <a:pt x="0" y="0"/>
                </a:moveTo>
                <a:lnTo>
                  <a:pt x="2025700" y="0"/>
                </a:lnTo>
                <a:lnTo>
                  <a:pt x="2025700" y="2764218"/>
                </a:lnTo>
                <a:lnTo>
                  <a:pt x="0" y="2764218"/>
                </a:lnTo>
                <a:lnTo>
                  <a:pt x="0" y="0"/>
                </a:lnTo>
                <a:close/>
              </a:path>
            </a:pathLst>
          </a:custGeom>
          <a:ln w="25399">
            <a:solidFill>
              <a:srgbClr val="CCCCCC"/>
            </a:solidFill>
          </a:ln>
        </p:spPr>
        <p:txBody>
          <a:bodyPr wrap="square" lIns="0" tIns="0" rIns="0" bIns="0" rtlCol="0"/>
          <a:lstStyle/>
          <a:p/>
        </p:txBody>
      </p:sp>
      <p:sp>
        <p:nvSpPr>
          <p:cNvPr id="10" name="object 10" descr=""/>
          <p:cNvSpPr txBox="1"/>
          <p:nvPr/>
        </p:nvSpPr>
        <p:spPr>
          <a:xfrm>
            <a:off x="5807024" y="1631276"/>
            <a:ext cx="2026285" cy="2790190"/>
          </a:xfrm>
          <a:prstGeom prst="rect">
            <a:avLst/>
          </a:prstGeom>
          <a:solidFill>
            <a:srgbClr val="CCCCCC">
              <a:alpha val="90194"/>
            </a:srgbClr>
          </a:solidFill>
        </p:spPr>
        <p:txBody>
          <a:bodyPr wrap="square" lIns="0" tIns="116205" rIns="0" bIns="0" rtlCol="0" vert="horz">
            <a:spAutoFit/>
          </a:bodyPr>
          <a:lstStyle/>
          <a:p>
            <a:pPr marL="271780" indent="-170815">
              <a:lnSpc>
                <a:spcPct val="100000"/>
              </a:lnSpc>
              <a:spcBef>
                <a:spcPts val="915"/>
              </a:spcBef>
              <a:buFont typeface="Arial MT"/>
              <a:buChar char="•"/>
              <a:tabLst>
                <a:tab pos="271780" algn="l"/>
              </a:tabLst>
            </a:pPr>
            <a:r>
              <a:rPr dirty="0" sz="1900" spc="-15">
                <a:latin typeface="SimSun"/>
                <a:cs typeface="SimSun"/>
              </a:rPr>
              <a:t>智能停车</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5">
                <a:latin typeface="SimSun"/>
                <a:cs typeface="SimSun"/>
              </a:rPr>
              <a:t>远程抄表</a:t>
            </a:r>
            <a:endParaRPr sz="1900">
              <a:latin typeface="SimSun"/>
              <a:cs typeface="SimSun"/>
            </a:endParaRPr>
          </a:p>
          <a:p>
            <a:pPr marL="271780" indent="-170815">
              <a:lnSpc>
                <a:spcPct val="100000"/>
              </a:lnSpc>
              <a:spcBef>
                <a:spcPts val="565"/>
              </a:spcBef>
              <a:buFont typeface="Arial MT"/>
              <a:buChar char="•"/>
              <a:tabLst>
                <a:tab pos="271780" algn="l"/>
              </a:tabLst>
            </a:pPr>
            <a:r>
              <a:rPr dirty="0" sz="1900" spc="-10">
                <a:latin typeface="SimSun"/>
                <a:cs typeface="SimSun"/>
              </a:rPr>
              <a:t>无线信号覆盖</a:t>
            </a:r>
            <a:endParaRPr sz="1900">
              <a:latin typeface="SimSun"/>
              <a:cs typeface="SimSun"/>
            </a:endParaRPr>
          </a:p>
          <a:p>
            <a:pPr marL="271780" indent="-170815">
              <a:lnSpc>
                <a:spcPct val="100000"/>
              </a:lnSpc>
              <a:spcBef>
                <a:spcPts val="555"/>
              </a:spcBef>
              <a:buFont typeface="Arial MT"/>
              <a:buChar char="•"/>
              <a:tabLst>
                <a:tab pos="271780" algn="l"/>
              </a:tabLst>
            </a:pPr>
            <a:r>
              <a:rPr dirty="0" sz="1900" spc="-15">
                <a:latin typeface="SimSun"/>
                <a:cs typeface="SimSun"/>
              </a:rPr>
              <a:t>信息发布</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0">
                <a:latin typeface="SimSun"/>
                <a:cs typeface="SimSun"/>
              </a:rPr>
              <a:t>智能充电插排</a:t>
            </a:r>
            <a:endParaRPr sz="1900">
              <a:latin typeface="SimSun"/>
              <a:cs typeface="SimSun"/>
            </a:endParaRPr>
          </a:p>
          <a:p>
            <a:pPr marL="271780" indent="-170815">
              <a:lnSpc>
                <a:spcPct val="100000"/>
              </a:lnSpc>
              <a:spcBef>
                <a:spcPts val="560"/>
              </a:spcBef>
              <a:buFont typeface="Arial MT"/>
              <a:buChar char="•"/>
              <a:tabLst>
                <a:tab pos="271780" algn="l"/>
              </a:tabLst>
            </a:pPr>
            <a:r>
              <a:rPr dirty="0" sz="1900" spc="-15">
                <a:latin typeface="SimSun"/>
                <a:cs typeface="SimSun"/>
              </a:rPr>
              <a:t>智慧路灯</a:t>
            </a:r>
            <a:endParaRPr sz="1900">
              <a:latin typeface="SimSun"/>
              <a:cs typeface="SimSun"/>
            </a:endParaRPr>
          </a:p>
        </p:txBody>
      </p:sp>
      <p:sp>
        <p:nvSpPr>
          <p:cNvPr id="11" name="object 11"/>
          <p:cNvSpPr txBox="1">
            <a:spLocks noGrp="1"/>
          </p:cNvSpPr>
          <p:nvPr>
            <p:ph type="title"/>
          </p:nvPr>
        </p:nvSpPr>
        <p:spPr>
          <a:xfrm>
            <a:off x="1617852" y="164917"/>
            <a:ext cx="6313170" cy="513080"/>
          </a:xfrm>
          <a:prstGeom prst="rect"/>
        </p:spPr>
        <p:txBody>
          <a:bodyPr wrap="square" lIns="0" tIns="12065" rIns="0" bIns="0" rtlCol="0" vert="horz">
            <a:spAutoFit/>
          </a:bodyPr>
          <a:lstStyle/>
          <a:p>
            <a:pPr marL="12700">
              <a:lnSpc>
                <a:spcPct val="100000"/>
              </a:lnSpc>
              <a:spcBef>
                <a:spcPts val="95"/>
              </a:spcBef>
            </a:pPr>
            <a:r>
              <a:rPr dirty="0" spc="-345"/>
              <a:t>三大领域十九个功能赋能智慧园区应用</a:t>
            </a:r>
          </a:p>
        </p:txBody>
      </p:sp>
      <p:sp>
        <p:nvSpPr>
          <p:cNvPr id="12" name="object 12" descr=""/>
          <p:cNvSpPr txBox="1"/>
          <p:nvPr/>
        </p:nvSpPr>
        <p:spPr>
          <a:xfrm>
            <a:off x="1050298" y="4574970"/>
            <a:ext cx="6997065" cy="269875"/>
          </a:xfrm>
          <a:prstGeom prst="rect">
            <a:avLst/>
          </a:prstGeom>
        </p:spPr>
        <p:txBody>
          <a:bodyPr wrap="square" lIns="0" tIns="12700" rIns="0" bIns="0" rtlCol="0" vert="horz">
            <a:spAutoFit/>
          </a:bodyPr>
          <a:lstStyle/>
          <a:p>
            <a:pPr marL="12700">
              <a:lnSpc>
                <a:spcPct val="100000"/>
              </a:lnSpc>
              <a:spcBef>
                <a:spcPts val="100"/>
              </a:spcBef>
            </a:pPr>
            <a:r>
              <a:rPr dirty="0" sz="1600" spc="-5" b="1">
                <a:latin typeface="Microsoft YaHei"/>
                <a:cs typeface="Microsoft YaHei"/>
              </a:rPr>
              <a:t>全方位提供涵盖 </a:t>
            </a:r>
            <a:r>
              <a:rPr dirty="0" sz="1600" spc="-5" b="1">
                <a:solidFill>
                  <a:srgbClr val="FF0000"/>
                </a:solidFill>
                <a:latin typeface="Microsoft YaHei"/>
                <a:cs typeface="Microsoft YaHei"/>
              </a:rPr>
              <a:t>公共安全、公共管理、公共服务等</a:t>
            </a:r>
            <a:r>
              <a:rPr dirty="0" sz="1600" spc="-15" b="1">
                <a:latin typeface="Microsoft YaHei"/>
                <a:cs typeface="Microsoft YaHei"/>
              </a:rPr>
              <a:t>园区服务的十九大功能架构</a:t>
            </a:r>
            <a:endParaRPr sz="1600">
              <a:latin typeface="Microsoft YaHei"/>
              <a:cs typeface="Microsoft YaHe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8898" y="187472"/>
            <a:ext cx="3228340" cy="513080"/>
          </a:xfrm>
          <a:prstGeom prst="rect"/>
        </p:spPr>
        <p:txBody>
          <a:bodyPr wrap="square" lIns="0" tIns="12065" rIns="0" bIns="0" rtlCol="0" vert="horz">
            <a:spAutoFit/>
          </a:bodyPr>
          <a:lstStyle/>
          <a:p>
            <a:pPr marL="12700">
              <a:lnSpc>
                <a:spcPct val="100000"/>
              </a:lnSpc>
              <a:spcBef>
                <a:spcPts val="95"/>
              </a:spcBef>
            </a:pPr>
            <a:r>
              <a:rPr dirty="0" spc="-330"/>
              <a:t>视频监控</a:t>
            </a:r>
            <a:r>
              <a:rPr dirty="0" sz="2000" spc="-315" b="0">
                <a:solidFill>
                  <a:srgbClr val="FF0000"/>
                </a:solidFill>
                <a:latin typeface="SimSun"/>
                <a:cs typeface="SimSun"/>
              </a:rPr>
              <a:t>●</a:t>
            </a:r>
            <a:r>
              <a:rPr dirty="0" spc="-270"/>
              <a:t>功能特点</a:t>
            </a:r>
            <a:endParaRPr sz="2000">
              <a:latin typeface="SimSun"/>
              <a:cs typeface="SimSun"/>
            </a:endParaRPr>
          </a:p>
        </p:txBody>
      </p:sp>
      <p:sp>
        <p:nvSpPr>
          <p:cNvPr id="3" name="object 3" descr=""/>
          <p:cNvSpPr txBox="1"/>
          <p:nvPr/>
        </p:nvSpPr>
        <p:spPr>
          <a:xfrm>
            <a:off x="665481" y="844066"/>
            <a:ext cx="8283575" cy="580390"/>
          </a:xfrm>
          <a:prstGeom prst="rect">
            <a:avLst/>
          </a:prstGeom>
        </p:spPr>
        <p:txBody>
          <a:bodyPr wrap="square" lIns="0" tIns="12700" rIns="0" bIns="0" rtlCol="0" vert="horz">
            <a:spAutoFit/>
          </a:bodyPr>
          <a:lstStyle/>
          <a:p>
            <a:pPr marL="12700" marR="5080">
              <a:lnSpc>
                <a:spcPct val="140000"/>
              </a:lnSpc>
              <a:spcBef>
                <a:spcPts val="100"/>
              </a:spcBef>
            </a:pPr>
            <a:r>
              <a:rPr dirty="0" sz="1300" spc="-15">
                <a:latin typeface="SimSun"/>
                <a:cs typeface="SimSun"/>
              </a:rPr>
              <a:t>主要对园区的周界及出入口、室外公共区域、楼内公共区域、业主入户门、地下停车库等进行监控，对周界入侵告警、非法徘徊告警、危险区域告警、视频上墙、电子地图告警弹窗。</a:t>
            </a:r>
            <a:endParaRPr sz="1300">
              <a:latin typeface="SimSun"/>
              <a:cs typeface="SimSun"/>
            </a:endParaRPr>
          </a:p>
        </p:txBody>
      </p:sp>
      <p:grpSp>
        <p:nvGrpSpPr>
          <p:cNvPr id="4" name="object 4" descr=""/>
          <p:cNvGrpSpPr/>
          <p:nvPr/>
        </p:nvGrpSpPr>
        <p:grpSpPr>
          <a:xfrm>
            <a:off x="6162294" y="1577339"/>
            <a:ext cx="2824480" cy="1543050"/>
            <a:chOff x="6162294" y="1577339"/>
            <a:chExt cx="2824480" cy="1543050"/>
          </a:xfrm>
        </p:grpSpPr>
        <p:pic>
          <p:nvPicPr>
            <p:cNvPr id="5" name="object 5"/>
            <p:cNvPicPr/>
            <p:nvPr/>
          </p:nvPicPr>
          <p:blipFill>
            <a:blip r:embed="rId2" cstate="print"/>
            <a:stretch>
              <a:fillRect/>
            </a:stretch>
          </p:blipFill>
          <p:spPr>
            <a:xfrm>
              <a:off x="6162294" y="1577339"/>
              <a:ext cx="2712719" cy="1543049"/>
            </a:xfrm>
            <a:prstGeom prst="rect">
              <a:avLst/>
            </a:prstGeom>
          </p:spPr>
        </p:pic>
        <p:sp>
          <p:nvSpPr>
            <p:cNvPr id="6" name="object 6" descr=""/>
            <p:cNvSpPr/>
            <p:nvPr/>
          </p:nvSpPr>
          <p:spPr>
            <a:xfrm>
              <a:off x="6239751" y="1648790"/>
              <a:ext cx="2557780" cy="1400175"/>
            </a:xfrm>
            <a:custGeom>
              <a:avLst/>
              <a:gdLst/>
              <a:ahLst/>
              <a:cxnLst/>
              <a:rect l="l" t="t" r="r" b="b"/>
              <a:pathLst>
                <a:path w="2557779" h="1400175">
                  <a:moveTo>
                    <a:pt x="2557462" y="0"/>
                  </a:moveTo>
                  <a:lnTo>
                    <a:pt x="0" y="0"/>
                  </a:lnTo>
                  <a:lnTo>
                    <a:pt x="0" y="1400175"/>
                  </a:lnTo>
                  <a:lnTo>
                    <a:pt x="2557462" y="1400175"/>
                  </a:lnTo>
                  <a:lnTo>
                    <a:pt x="2557462" y="0"/>
                  </a:lnTo>
                  <a:close/>
                </a:path>
              </a:pathLst>
            </a:custGeom>
            <a:solidFill>
              <a:srgbClr val="F9F9F9"/>
            </a:solidFill>
          </p:spPr>
          <p:txBody>
            <a:bodyPr wrap="square" lIns="0" tIns="0" rIns="0" bIns="0" rtlCol="0"/>
            <a:lstStyle/>
            <a:p/>
          </p:txBody>
        </p:sp>
        <p:pic>
          <p:nvPicPr>
            <p:cNvPr id="7" name="object 7"/>
            <p:cNvPicPr/>
            <p:nvPr/>
          </p:nvPicPr>
          <p:blipFill>
            <a:blip r:embed="rId3" cstate="print"/>
            <a:stretch>
              <a:fillRect/>
            </a:stretch>
          </p:blipFill>
          <p:spPr>
            <a:xfrm>
              <a:off x="8519159" y="1577340"/>
              <a:ext cx="467105" cy="1536191"/>
            </a:xfrm>
            <a:prstGeom prst="rect">
              <a:avLst/>
            </a:prstGeom>
          </p:spPr>
        </p:pic>
        <p:sp>
          <p:nvSpPr>
            <p:cNvPr id="8" name="object 8" descr=""/>
            <p:cNvSpPr/>
            <p:nvPr/>
          </p:nvSpPr>
          <p:spPr>
            <a:xfrm>
              <a:off x="8585276" y="1648790"/>
              <a:ext cx="334645" cy="1393190"/>
            </a:xfrm>
            <a:custGeom>
              <a:avLst/>
              <a:gdLst/>
              <a:ahLst/>
              <a:cxnLst/>
              <a:rect l="l" t="t" r="r" b="b"/>
              <a:pathLst>
                <a:path w="334645" h="1393189">
                  <a:moveTo>
                    <a:pt x="334568" y="0"/>
                  </a:moveTo>
                  <a:lnTo>
                    <a:pt x="0" y="0"/>
                  </a:lnTo>
                  <a:lnTo>
                    <a:pt x="0" y="1393024"/>
                  </a:lnTo>
                  <a:lnTo>
                    <a:pt x="334568" y="1393024"/>
                  </a:lnTo>
                  <a:lnTo>
                    <a:pt x="334568" y="0"/>
                  </a:lnTo>
                  <a:close/>
                </a:path>
              </a:pathLst>
            </a:custGeom>
            <a:solidFill>
              <a:srgbClr val="C00000"/>
            </a:solidFill>
          </p:spPr>
          <p:txBody>
            <a:bodyPr wrap="square" lIns="0" tIns="0" rIns="0" bIns="0" rtlCol="0"/>
            <a:lstStyle/>
            <a:p/>
          </p:txBody>
        </p:sp>
        <p:pic>
          <p:nvPicPr>
            <p:cNvPr id="9" name="object 9" descr=""/>
            <p:cNvPicPr/>
            <p:nvPr/>
          </p:nvPicPr>
          <p:blipFill>
            <a:blip r:embed="rId4" cstate="print"/>
            <a:stretch>
              <a:fillRect/>
            </a:stretch>
          </p:blipFill>
          <p:spPr>
            <a:xfrm>
              <a:off x="8675368" y="2043683"/>
              <a:ext cx="198881" cy="621791"/>
            </a:xfrm>
            <a:prstGeom prst="rect">
              <a:avLst/>
            </a:prstGeom>
          </p:spPr>
        </p:pic>
      </p:grpSp>
      <p:sp>
        <p:nvSpPr>
          <p:cNvPr id="10" name="object 10" descr=""/>
          <p:cNvSpPr txBox="1"/>
          <p:nvPr/>
        </p:nvSpPr>
        <p:spPr>
          <a:xfrm>
            <a:off x="8696793" y="2103751"/>
            <a:ext cx="139700" cy="4826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高清监控</a:t>
            </a:r>
            <a:endParaRPr sz="900">
              <a:latin typeface="Microsoft YaHei"/>
              <a:cs typeface="Microsoft YaHei"/>
            </a:endParaRPr>
          </a:p>
        </p:txBody>
      </p:sp>
      <p:grpSp>
        <p:nvGrpSpPr>
          <p:cNvPr id="11" name="object 11" descr=""/>
          <p:cNvGrpSpPr/>
          <p:nvPr/>
        </p:nvGrpSpPr>
        <p:grpSpPr>
          <a:xfrm>
            <a:off x="3387851" y="1591830"/>
            <a:ext cx="2777490" cy="1558290"/>
            <a:chOff x="3387851" y="1591830"/>
            <a:chExt cx="2777490" cy="1558290"/>
          </a:xfrm>
        </p:grpSpPr>
        <p:pic>
          <p:nvPicPr>
            <p:cNvPr id="12" name="object 12"/>
            <p:cNvPicPr/>
            <p:nvPr/>
          </p:nvPicPr>
          <p:blipFill>
            <a:blip r:embed="rId5" cstate="print"/>
            <a:stretch>
              <a:fillRect/>
            </a:stretch>
          </p:blipFill>
          <p:spPr>
            <a:xfrm>
              <a:off x="3390138" y="1591830"/>
              <a:ext cx="2775202" cy="1543798"/>
            </a:xfrm>
            <a:prstGeom prst="rect">
              <a:avLst/>
            </a:prstGeom>
          </p:spPr>
        </p:pic>
        <p:sp>
          <p:nvSpPr>
            <p:cNvPr id="13" name="object 13" descr=""/>
            <p:cNvSpPr/>
            <p:nvPr/>
          </p:nvSpPr>
          <p:spPr>
            <a:xfrm>
              <a:off x="3467722" y="1663903"/>
              <a:ext cx="2619375" cy="1400175"/>
            </a:xfrm>
            <a:custGeom>
              <a:avLst/>
              <a:gdLst/>
              <a:ahLst/>
              <a:cxnLst/>
              <a:rect l="l" t="t" r="r" b="b"/>
              <a:pathLst>
                <a:path w="2619375" h="1400175">
                  <a:moveTo>
                    <a:pt x="2619375" y="0"/>
                  </a:moveTo>
                  <a:lnTo>
                    <a:pt x="0" y="0"/>
                  </a:lnTo>
                  <a:lnTo>
                    <a:pt x="0" y="1400175"/>
                  </a:lnTo>
                  <a:lnTo>
                    <a:pt x="2619375" y="1400175"/>
                  </a:lnTo>
                  <a:lnTo>
                    <a:pt x="2619375" y="0"/>
                  </a:lnTo>
                  <a:close/>
                </a:path>
              </a:pathLst>
            </a:custGeom>
            <a:solidFill>
              <a:srgbClr val="F9F9F9"/>
            </a:solidFill>
          </p:spPr>
          <p:txBody>
            <a:bodyPr wrap="square" lIns="0" tIns="0" rIns="0" bIns="0" rtlCol="0"/>
            <a:lstStyle/>
            <a:p/>
          </p:txBody>
        </p:sp>
        <p:pic>
          <p:nvPicPr>
            <p:cNvPr id="14" name="object 14"/>
            <p:cNvPicPr/>
            <p:nvPr/>
          </p:nvPicPr>
          <p:blipFill>
            <a:blip r:embed="rId6" cstate="print"/>
            <a:stretch>
              <a:fillRect/>
            </a:stretch>
          </p:blipFill>
          <p:spPr>
            <a:xfrm>
              <a:off x="3387851" y="1599437"/>
              <a:ext cx="467867" cy="1550669"/>
            </a:xfrm>
            <a:prstGeom prst="rect">
              <a:avLst/>
            </a:prstGeom>
          </p:spPr>
        </p:pic>
        <p:sp>
          <p:nvSpPr>
            <p:cNvPr id="15" name="object 15" descr=""/>
            <p:cNvSpPr/>
            <p:nvPr/>
          </p:nvSpPr>
          <p:spPr>
            <a:xfrm>
              <a:off x="3454628" y="1671053"/>
              <a:ext cx="334645" cy="1407795"/>
            </a:xfrm>
            <a:custGeom>
              <a:avLst/>
              <a:gdLst/>
              <a:ahLst/>
              <a:cxnLst/>
              <a:rect l="l" t="t" r="r" b="b"/>
              <a:pathLst>
                <a:path w="334645" h="1407795">
                  <a:moveTo>
                    <a:pt x="334568" y="0"/>
                  </a:moveTo>
                  <a:lnTo>
                    <a:pt x="0" y="0"/>
                  </a:lnTo>
                  <a:lnTo>
                    <a:pt x="0" y="1407325"/>
                  </a:lnTo>
                  <a:lnTo>
                    <a:pt x="334568" y="1407325"/>
                  </a:lnTo>
                  <a:lnTo>
                    <a:pt x="334568" y="0"/>
                  </a:lnTo>
                  <a:close/>
                </a:path>
              </a:pathLst>
            </a:custGeom>
            <a:solidFill>
              <a:srgbClr val="C00000"/>
            </a:solidFill>
          </p:spPr>
          <p:txBody>
            <a:bodyPr wrap="square" lIns="0" tIns="0" rIns="0" bIns="0" rtlCol="0"/>
            <a:lstStyle/>
            <a:p/>
          </p:txBody>
        </p:sp>
        <p:pic>
          <p:nvPicPr>
            <p:cNvPr id="16" name="object 16" descr=""/>
            <p:cNvPicPr/>
            <p:nvPr/>
          </p:nvPicPr>
          <p:blipFill>
            <a:blip r:embed="rId7" cstate="print"/>
            <a:stretch>
              <a:fillRect/>
            </a:stretch>
          </p:blipFill>
          <p:spPr>
            <a:xfrm>
              <a:off x="3544823" y="2072640"/>
              <a:ext cx="198881" cy="621791"/>
            </a:xfrm>
            <a:prstGeom prst="rect">
              <a:avLst/>
            </a:prstGeom>
          </p:spPr>
        </p:pic>
      </p:grpSp>
      <p:sp>
        <p:nvSpPr>
          <p:cNvPr id="17" name="object 17" descr=""/>
          <p:cNvSpPr txBox="1"/>
          <p:nvPr/>
        </p:nvSpPr>
        <p:spPr>
          <a:xfrm>
            <a:off x="3566143" y="2133028"/>
            <a:ext cx="139700" cy="4826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鱼眼监控</a:t>
            </a:r>
            <a:endParaRPr sz="900">
              <a:latin typeface="Microsoft YaHei"/>
              <a:cs typeface="Microsoft YaHei"/>
            </a:endParaRPr>
          </a:p>
        </p:txBody>
      </p:sp>
      <p:grpSp>
        <p:nvGrpSpPr>
          <p:cNvPr id="18" name="object 18" descr=""/>
          <p:cNvGrpSpPr/>
          <p:nvPr/>
        </p:nvGrpSpPr>
        <p:grpSpPr>
          <a:xfrm>
            <a:off x="605028" y="1597151"/>
            <a:ext cx="2681605" cy="1544320"/>
            <a:chOff x="605028" y="1597151"/>
            <a:chExt cx="2681605" cy="1544320"/>
          </a:xfrm>
        </p:grpSpPr>
        <p:pic>
          <p:nvPicPr>
            <p:cNvPr id="19" name="object 19"/>
            <p:cNvPicPr/>
            <p:nvPr/>
          </p:nvPicPr>
          <p:blipFill>
            <a:blip r:embed="rId8" cstate="print"/>
            <a:stretch>
              <a:fillRect/>
            </a:stretch>
          </p:blipFill>
          <p:spPr>
            <a:xfrm>
              <a:off x="605028" y="1597151"/>
              <a:ext cx="2681477" cy="1543811"/>
            </a:xfrm>
            <a:prstGeom prst="rect">
              <a:avLst/>
            </a:prstGeom>
          </p:spPr>
        </p:pic>
        <p:sp>
          <p:nvSpPr>
            <p:cNvPr id="20" name="object 20" descr=""/>
            <p:cNvSpPr/>
            <p:nvPr/>
          </p:nvSpPr>
          <p:spPr>
            <a:xfrm>
              <a:off x="682536" y="1668792"/>
              <a:ext cx="2526665" cy="1400175"/>
            </a:xfrm>
            <a:custGeom>
              <a:avLst/>
              <a:gdLst/>
              <a:ahLst/>
              <a:cxnLst/>
              <a:rect l="l" t="t" r="r" b="b"/>
              <a:pathLst>
                <a:path w="2526665" h="1400175">
                  <a:moveTo>
                    <a:pt x="2526499" y="0"/>
                  </a:moveTo>
                  <a:lnTo>
                    <a:pt x="0" y="0"/>
                  </a:lnTo>
                  <a:lnTo>
                    <a:pt x="0" y="1400175"/>
                  </a:lnTo>
                  <a:lnTo>
                    <a:pt x="2526499" y="1400175"/>
                  </a:lnTo>
                  <a:lnTo>
                    <a:pt x="2526499" y="0"/>
                  </a:lnTo>
                  <a:close/>
                </a:path>
              </a:pathLst>
            </a:custGeom>
            <a:solidFill>
              <a:srgbClr val="F9F9F9"/>
            </a:solidFill>
          </p:spPr>
          <p:txBody>
            <a:bodyPr wrap="square" lIns="0" tIns="0" rIns="0" bIns="0" rtlCol="0"/>
            <a:lstStyle/>
            <a:p/>
          </p:txBody>
        </p:sp>
        <p:pic>
          <p:nvPicPr>
            <p:cNvPr id="21" name="object 21"/>
            <p:cNvPicPr/>
            <p:nvPr/>
          </p:nvPicPr>
          <p:blipFill>
            <a:blip r:embed="rId9" cstate="print"/>
            <a:stretch>
              <a:fillRect/>
            </a:stretch>
          </p:blipFill>
          <p:spPr>
            <a:xfrm>
              <a:off x="908761" y="1875956"/>
              <a:ext cx="2143122" cy="1171573"/>
            </a:xfrm>
            <a:prstGeom prst="rect">
              <a:avLst/>
            </a:prstGeom>
          </p:spPr>
        </p:pic>
        <p:pic>
          <p:nvPicPr>
            <p:cNvPr id="22" name="object 22"/>
            <p:cNvPicPr/>
            <p:nvPr/>
          </p:nvPicPr>
          <p:blipFill>
            <a:blip r:embed="rId10" cstate="print"/>
            <a:stretch>
              <a:fillRect/>
            </a:stretch>
          </p:blipFill>
          <p:spPr>
            <a:xfrm>
              <a:off x="908761" y="1876349"/>
              <a:ext cx="1624173" cy="414826"/>
            </a:xfrm>
            <a:prstGeom prst="rect">
              <a:avLst/>
            </a:prstGeom>
          </p:spPr>
        </p:pic>
        <p:sp>
          <p:nvSpPr>
            <p:cNvPr id="23" name="object 23" descr=""/>
            <p:cNvSpPr/>
            <p:nvPr/>
          </p:nvSpPr>
          <p:spPr>
            <a:xfrm>
              <a:off x="2036279" y="2199805"/>
              <a:ext cx="496570" cy="92075"/>
            </a:xfrm>
            <a:custGeom>
              <a:avLst/>
              <a:gdLst/>
              <a:ahLst/>
              <a:cxnLst/>
              <a:rect l="l" t="t" r="r" b="b"/>
              <a:pathLst>
                <a:path w="496569" h="92075">
                  <a:moveTo>
                    <a:pt x="496493" y="0"/>
                  </a:moveTo>
                  <a:lnTo>
                    <a:pt x="0" y="0"/>
                  </a:lnTo>
                  <a:lnTo>
                    <a:pt x="0" y="91681"/>
                  </a:lnTo>
                  <a:lnTo>
                    <a:pt x="496493" y="91681"/>
                  </a:lnTo>
                  <a:lnTo>
                    <a:pt x="496493" y="0"/>
                  </a:lnTo>
                  <a:close/>
                </a:path>
              </a:pathLst>
            </a:custGeom>
            <a:solidFill>
              <a:srgbClr val="222268"/>
            </a:solidFill>
          </p:spPr>
          <p:txBody>
            <a:bodyPr wrap="square" lIns="0" tIns="0" rIns="0" bIns="0" rtlCol="0"/>
            <a:lstStyle/>
            <a:p/>
          </p:txBody>
        </p:sp>
      </p:grpSp>
      <p:sp>
        <p:nvSpPr>
          <p:cNvPr id="24" name="object 24" descr=""/>
          <p:cNvSpPr txBox="1"/>
          <p:nvPr/>
        </p:nvSpPr>
        <p:spPr>
          <a:xfrm>
            <a:off x="2137396" y="2128551"/>
            <a:ext cx="294640" cy="132715"/>
          </a:xfrm>
          <a:prstGeom prst="rect">
            <a:avLst/>
          </a:prstGeom>
        </p:spPr>
        <p:txBody>
          <a:bodyPr wrap="square" lIns="0" tIns="12700" rIns="0" bIns="0" rtlCol="0" vert="horz">
            <a:spAutoFit/>
          </a:bodyPr>
          <a:lstStyle/>
          <a:p>
            <a:pPr marL="12700">
              <a:lnSpc>
                <a:spcPct val="100000"/>
              </a:lnSpc>
              <a:spcBef>
                <a:spcPts val="100"/>
              </a:spcBef>
            </a:pPr>
            <a:r>
              <a:rPr dirty="0" sz="700" spc="-20">
                <a:solidFill>
                  <a:srgbClr val="FFFFFF"/>
                </a:solidFill>
                <a:latin typeface="SimSun"/>
                <a:cs typeface="SimSun"/>
              </a:rPr>
              <a:t>全景画</a:t>
            </a:r>
            <a:endParaRPr sz="700">
              <a:latin typeface="SimSun"/>
              <a:cs typeface="SimSun"/>
            </a:endParaRPr>
          </a:p>
        </p:txBody>
      </p:sp>
      <p:sp>
        <p:nvSpPr>
          <p:cNvPr id="25" name="object 25" descr=""/>
          <p:cNvSpPr txBox="1"/>
          <p:nvPr/>
        </p:nvSpPr>
        <p:spPr>
          <a:xfrm>
            <a:off x="2226549" y="2231421"/>
            <a:ext cx="114935" cy="132715"/>
          </a:xfrm>
          <a:prstGeom prst="rect">
            <a:avLst/>
          </a:prstGeom>
        </p:spPr>
        <p:txBody>
          <a:bodyPr wrap="square" lIns="0" tIns="12700" rIns="0" bIns="0" rtlCol="0" vert="horz">
            <a:spAutoFit/>
          </a:bodyPr>
          <a:lstStyle/>
          <a:p>
            <a:pPr marL="12700">
              <a:lnSpc>
                <a:spcPct val="100000"/>
              </a:lnSpc>
              <a:spcBef>
                <a:spcPts val="100"/>
              </a:spcBef>
            </a:pPr>
            <a:r>
              <a:rPr dirty="0" sz="700" spc="-50">
                <a:solidFill>
                  <a:srgbClr val="FFFFFF"/>
                </a:solidFill>
                <a:latin typeface="SimSun"/>
                <a:cs typeface="SimSun"/>
              </a:rPr>
              <a:t>面</a:t>
            </a:r>
            <a:endParaRPr sz="700">
              <a:latin typeface="SimSun"/>
              <a:cs typeface="SimSun"/>
            </a:endParaRPr>
          </a:p>
        </p:txBody>
      </p:sp>
      <p:sp>
        <p:nvSpPr>
          <p:cNvPr id="26" name="object 26" descr=""/>
          <p:cNvSpPr/>
          <p:nvPr/>
        </p:nvSpPr>
        <p:spPr>
          <a:xfrm>
            <a:off x="2555392" y="2955848"/>
            <a:ext cx="496570" cy="92075"/>
          </a:xfrm>
          <a:custGeom>
            <a:avLst/>
            <a:gdLst/>
            <a:ahLst/>
            <a:cxnLst/>
            <a:rect l="l" t="t" r="r" b="b"/>
            <a:pathLst>
              <a:path w="496569" h="92075">
                <a:moveTo>
                  <a:pt x="496493" y="0"/>
                </a:moveTo>
                <a:lnTo>
                  <a:pt x="0" y="0"/>
                </a:lnTo>
                <a:lnTo>
                  <a:pt x="0" y="91681"/>
                </a:lnTo>
                <a:lnTo>
                  <a:pt x="496493" y="91681"/>
                </a:lnTo>
                <a:lnTo>
                  <a:pt x="496493" y="0"/>
                </a:lnTo>
                <a:close/>
              </a:path>
            </a:pathLst>
          </a:custGeom>
          <a:solidFill>
            <a:srgbClr val="222268"/>
          </a:solidFill>
        </p:spPr>
        <p:txBody>
          <a:bodyPr wrap="square" lIns="0" tIns="0" rIns="0" bIns="0" rtlCol="0"/>
          <a:lstStyle/>
          <a:p/>
        </p:txBody>
      </p:sp>
      <p:sp>
        <p:nvSpPr>
          <p:cNvPr id="27" name="object 27" descr=""/>
          <p:cNvSpPr txBox="1"/>
          <p:nvPr/>
        </p:nvSpPr>
        <p:spPr>
          <a:xfrm>
            <a:off x="2656508" y="2884599"/>
            <a:ext cx="294640" cy="132715"/>
          </a:xfrm>
          <a:prstGeom prst="rect">
            <a:avLst/>
          </a:prstGeom>
        </p:spPr>
        <p:txBody>
          <a:bodyPr wrap="square" lIns="0" tIns="12700" rIns="0" bIns="0" rtlCol="0" vert="horz">
            <a:spAutoFit/>
          </a:bodyPr>
          <a:lstStyle/>
          <a:p>
            <a:pPr marL="12700">
              <a:lnSpc>
                <a:spcPct val="100000"/>
              </a:lnSpc>
              <a:spcBef>
                <a:spcPts val="100"/>
              </a:spcBef>
            </a:pPr>
            <a:r>
              <a:rPr dirty="0" sz="700" spc="-20">
                <a:solidFill>
                  <a:srgbClr val="FFFFFF"/>
                </a:solidFill>
                <a:latin typeface="SimSun"/>
                <a:cs typeface="SimSun"/>
              </a:rPr>
              <a:t>局部画</a:t>
            </a:r>
            <a:endParaRPr sz="700">
              <a:latin typeface="SimSun"/>
              <a:cs typeface="SimSun"/>
            </a:endParaRPr>
          </a:p>
        </p:txBody>
      </p:sp>
      <p:sp>
        <p:nvSpPr>
          <p:cNvPr id="28" name="object 28" descr=""/>
          <p:cNvSpPr txBox="1"/>
          <p:nvPr/>
        </p:nvSpPr>
        <p:spPr>
          <a:xfrm>
            <a:off x="2745662" y="2987469"/>
            <a:ext cx="114935" cy="132715"/>
          </a:xfrm>
          <a:prstGeom prst="rect">
            <a:avLst/>
          </a:prstGeom>
        </p:spPr>
        <p:txBody>
          <a:bodyPr wrap="square" lIns="0" tIns="12700" rIns="0" bIns="0" rtlCol="0" vert="horz">
            <a:spAutoFit/>
          </a:bodyPr>
          <a:lstStyle/>
          <a:p>
            <a:pPr marL="12700">
              <a:lnSpc>
                <a:spcPct val="100000"/>
              </a:lnSpc>
              <a:spcBef>
                <a:spcPts val="100"/>
              </a:spcBef>
            </a:pPr>
            <a:r>
              <a:rPr dirty="0" sz="700" spc="-50">
                <a:solidFill>
                  <a:srgbClr val="FFFFFF"/>
                </a:solidFill>
                <a:latin typeface="SimSun"/>
                <a:cs typeface="SimSun"/>
              </a:rPr>
              <a:t>面</a:t>
            </a:r>
            <a:endParaRPr sz="700">
              <a:latin typeface="SimSun"/>
              <a:cs typeface="SimSun"/>
            </a:endParaRPr>
          </a:p>
        </p:txBody>
      </p:sp>
      <p:grpSp>
        <p:nvGrpSpPr>
          <p:cNvPr id="29" name="object 29" descr=""/>
          <p:cNvGrpSpPr/>
          <p:nvPr/>
        </p:nvGrpSpPr>
        <p:grpSpPr>
          <a:xfrm>
            <a:off x="517398" y="1604010"/>
            <a:ext cx="5419725" cy="1537335"/>
            <a:chOff x="517398" y="1604010"/>
            <a:chExt cx="5419725" cy="1537335"/>
          </a:xfrm>
        </p:grpSpPr>
        <p:sp>
          <p:nvSpPr>
            <p:cNvPr id="30" name="object 30" descr=""/>
            <p:cNvSpPr/>
            <p:nvPr/>
          </p:nvSpPr>
          <p:spPr>
            <a:xfrm>
              <a:off x="1262380" y="2036686"/>
              <a:ext cx="458470" cy="255270"/>
            </a:xfrm>
            <a:custGeom>
              <a:avLst/>
              <a:gdLst/>
              <a:ahLst/>
              <a:cxnLst/>
              <a:rect l="l" t="t" r="r" b="b"/>
              <a:pathLst>
                <a:path w="458469" h="255269">
                  <a:moveTo>
                    <a:pt x="0" y="0"/>
                  </a:moveTo>
                  <a:lnTo>
                    <a:pt x="458393" y="0"/>
                  </a:lnTo>
                  <a:lnTo>
                    <a:pt x="458393" y="254800"/>
                  </a:lnTo>
                  <a:lnTo>
                    <a:pt x="0" y="254800"/>
                  </a:lnTo>
                  <a:lnTo>
                    <a:pt x="0" y="0"/>
                  </a:lnTo>
                  <a:close/>
                </a:path>
              </a:pathLst>
            </a:custGeom>
            <a:ln w="25400">
              <a:solidFill>
                <a:srgbClr val="FFFFFF"/>
              </a:solidFill>
            </a:ln>
          </p:spPr>
          <p:txBody>
            <a:bodyPr wrap="square" lIns="0" tIns="0" rIns="0" bIns="0" rtlCol="0"/>
            <a:lstStyle/>
            <a:p/>
          </p:txBody>
        </p:sp>
        <p:pic>
          <p:nvPicPr>
            <p:cNvPr id="31" name="object 31"/>
            <p:cNvPicPr/>
            <p:nvPr/>
          </p:nvPicPr>
          <p:blipFill>
            <a:blip r:embed="rId11" cstate="print"/>
            <a:stretch>
              <a:fillRect/>
            </a:stretch>
          </p:blipFill>
          <p:spPr>
            <a:xfrm>
              <a:off x="3793960" y="1885365"/>
              <a:ext cx="2143121" cy="1162045"/>
            </a:xfrm>
            <a:prstGeom prst="rect">
              <a:avLst/>
            </a:prstGeom>
          </p:spPr>
        </p:pic>
        <p:pic>
          <p:nvPicPr>
            <p:cNvPr id="32" name="object 32"/>
            <p:cNvPicPr/>
            <p:nvPr/>
          </p:nvPicPr>
          <p:blipFill>
            <a:blip r:embed="rId12" cstate="print"/>
            <a:stretch>
              <a:fillRect/>
            </a:stretch>
          </p:blipFill>
          <p:spPr>
            <a:xfrm>
              <a:off x="517398" y="1604010"/>
              <a:ext cx="467093" cy="1536953"/>
            </a:xfrm>
            <a:prstGeom prst="rect">
              <a:avLst/>
            </a:prstGeom>
          </p:spPr>
        </p:pic>
        <p:sp>
          <p:nvSpPr>
            <p:cNvPr id="33" name="object 33" descr=""/>
            <p:cNvSpPr/>
            <p:nvPr/>
          </p:nvSpPr>
          <p:spPr>
            <a:xfrm>
              <a:off x="583717" y="1675930"/>
              <a:ext cx="334645" cy="1393190"/>
            </a:xfrm>
            <a:custGeom>
              <a:avLst/>
              <a:gdLst/>
              <a:ahLst/>
              <a:cxnLst/>
              <a:rect l="l" t="t" r="r" b="b"/>
              <a:pathLst>
                <a:path w="334644" h="1393189">
                  <a:moveTo>
                    <a:pt x="334568" y="0"/>
                  </a:moveTo>
                  <a:lnTo>
                    <a:pt x="0" y="0"/>
                  </a:lnTo>
                  <a:lnTo>
                    <a:pt x="0" y="1393024"/>
                  </a:lnTo>
                  <a:lnTo>
                    <a:pt x="334568" y="1393024"/>
                  </a:lnTo>
                  <a:lnTo>
                    <a:pt x="334568" y="0"/>
                  </a:lnTo>
                  <a:close/>
                </a:path>
              </a:pathLst>
            </a:custGeom>
            <a:solidFill>
              <a:srgbClr val="C00000"/>
            </a:solidFill>
          </p:spPr>
          <p:txBody>
            <a:bodyPr wrap="square" lIns="0" tIns="0" rIns="0" bIns="0" rtlCol="0"/>
            <a:lstStyle/>
            <a:p/>
          </p:txBody>
        </p:sp>
        <p:pic>
          <p:nvPicPr>
            <p:cNvPr id="34" name="object 34" descr=""/>
            <p:cNvPicPr/>
            <p:nvPr/>
          </p:nvPicPr>
          <p:blipFill>
            <a:blip r:embed="rId13" cstate="print"/>
            <a:stretch>
              <a:fillRect/>
            </a:stretch>
          </p:blipFill>
          <p:spPr>
            <a:xfrm>
              <a:off x="673607" y="2070353"/>
              <a:ext cx="198881" cy="621791"/>
            </a:xfrm>
            <a:prstGeom prst="rect">
              <a:avLst/>
            </a:prstGeom>
          </p:spPr>
        </p:pic>
      </p:grpSp>
      <p:sp>
        <p:nvSpPr>
          <p:cNvPr id="35" name="object 35" descr=""/>
          <p:cNvSpPr txBox="1"/>
          <p:nvPr/>
        </p:nvSpPr>
        <p:spPr>
          <a:xfrm>
            <a:off x="695233" y="2130894"/>
            <a:ext cx="139700" cy="4826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全景监控</a:t>
            </a:r>
            <a:endParaRPr sz="900">
              <a:latin typeface="Microsoft YaHei"/>
              <a:cs typeface="Microsoft YaHei"/>
            </a:endParaRPr>
          </a:p>
        </p:txBody>
      </p:sp>
      <p:sp>
        <p:nvSpPr>
          <p:cNvPr id="36" name="object 36" descr=""/>
          <p:cNvSpPr txBox="1"/>
          <p:nvPr/>
        </p:nvSpPr>
        <p:spPr>
          <a:xfrm>
            <a:off x="946781" y="1693711"/>
            <a:ext cx="1444625" cy="147320"/>
          </a:xfrm>
          <a:prstGeom prst="rect">
            <a:avLst/>
          </a:prstGeom>
        </p:spPr>
        <p:txBody>
          <a:bodyPr wrap="square" lIns="0" tIns="12065" rIns="0" bIns="0" rtlCol="0" vert="horz">
            <a:spAutoFit/>
          </a:bodyPr>
          <a:lstStyle/>
          <a:p>
            <a:pPr marL="12700">
              <a:lnSpc>
                <a:spcPct val="100000"/>
              </a:lnSpc>
              <a:spcBef>
                <a:spcPts val="95"/>
              </a:spcBef>
            </a:pPr>
            <a:r>
              <a:rPr dirty="0" sz="800" spc="-15">
                <a:latin typeface="Microsoft YaHei"/>
                <a:cs typeface="Microsoft YaHei"/>
              </a:rPr>
              <a:t>室外广场、中心花园：全景监控</a:t>
            </a:r>
            <a:endParaRPr sz="800">
              <a:latin typeface="Microsoft YaHei"/>
              <a:cs typeface="Microsoft YaHei"/>
            </a:endParaRPr>
          </a:p>
        </p:txBody>
      </p:sp>
      <p:sp>
        <p:nvSpPr>
          <p:cNvPr id="37" name="object 37" descr=""/>
          <p:cNvSpPr txBox="1"/>
          <p:nvPr/>
        </p:nvSpPr>
        <p:spPr>
          <a:xfrm>
            <a:off x="3467722" y="1663903"/>
            <a:ext cx="2619375" cy="1400175"/>
          </a:xfrm>
          <a:prstGeom prst="rect">
            <a:avLst/>
          </a:prstGeom>
        </p:spPr>
        <p:txBody>
          <a:bodyPr wrap="square" lIns="0" tIns="37465" rIns="0" bIns="0" rtlCol="0" vert="horz">
            <a:spAutoFit/>
          </a:bodyPr>
          <a:lstStyle/>
          <a:p>
            <a:pPr marL="382905">
              <a:lnSpc>
                <a:spcPct val="100000"/>
              </a:lnSpc>
              <a:spcBef>
                <a:spcPts val="295"/>
              </a:spcBef>
            </a:pPr>
            <a:r>
              <a:rPr dirty="0" sz="800" spc="-15">
                <a:latin typeface="Microsoft YaHei"/>
                <a:cs typeface="Microsoft YaHei"/>
              </a:rPr>
              <a:t>十字路口、中庭：鱼眼全景监控</a:t>
            </a:r>
            <a:endParaRPr sz="800">
              <a:latin typeface="Microsoft YaHei"/>
              <a:cs typeface="Microsoft YaHei"/>
            </a:endParaRPr>
          </a:p>
        </p:txBody>
      </p:sp>
      <p:sp>
        <p:nvSpPr>
          <p:cNvPr id="38" name="object 38" descr=""/>
          <p:cNvSpPr txBox="1"/>
          <p:nvPr/>
        </p:nvSpPr>
        <p:spPr>
          <a:xfrm>
            <a:off x="6509966" y="1680840"/>
            <a:ext cx="1038860" cy="147320"/>
          </a:xfrm>
          <a:prstGeom prst="rect">
            <a:avLst/>
          </a:prstGeom>
        </p:spPr>
        <p:txBody>
          <a:bodyPr wrap="square" lIns="0" tIns="12065" rIns="0" bIns="0" rtlCol="0" vert="horz">
            <a:spAutoFit/>
          </a:bodyPr>
          <a:lstStyle/>
          <a:p>
            <a:pPr marL="12700">
              <a:lnSpc>
                <a:spcPct val="100000"/>
              </a:lnSpc>
              <a:spcBef>
                <a:spcPts val="95"/>
              </a:spcBef>
            </a:pPr>
            <a:r>
              <a:rPr dirty="0" sz="800" spc="-15">
                <a:latin typeface="Microsoft YaHei"/>
                <a:cs typeface="Microsoft YaHei"/>
              </a:rPr>
              <a:t>地下停车库：高清监控</a:t>
            </a:r>
            <a:endParaRPr sz="800">
              <a:latin typeface="Microsoft YaHei"/>
              <a:cs typeface="Microsoft YaHei"/>
            </a:endParaRPr>
          </a:p>
        </p:txBody>
      </p:sp>
      <p:grpSp>
        <p:nvGrpSpPr>
          <p:cNvPr id="39" name="object 39" descr=""/>
          <p:cNvGrpSpPr/>
          <p:nvPr/>
        </p:nvGrpSpPr>
        <p:grpSpPr>
          <a:xfrm>
            <a:off x="5943599" y="3262883"/>
            <a:ext cx="2395220" cy="1428115"/>
            <a:chOff x="5943599" y="3262883"/>
            <a:chExt cx="2395220" cy="1428115"/>
          </a:xfrm>
        </p:grpSpPr>
        <p:pic>
          <p:nvPicPr>
            <p:cNvPr id="40" name="object 40"/>
            <p:cNvPicPr/>
            <p:nvPr/>
          </p:nvPicPr>
          <p:blipFill>
            <a:blip r:embed="rId14" cstate="print"/>
            <a:stretch>
              <a:fillRect/>
            </a:stretch>
          </p:blipFill>
          <p:spPr>
            <a:xfrm>
              <a:off x="5943599" y="3262883"/>
              <a:ext cx="2394965" cy="1427987"/>
            </a:xfrm>
            <a:prstGeom prst="rect">
              <a:avLst/>
            </a:prstGeom>
          </p:spPr>
        </p:pic>
        <p:sp>
          <p:nvSpPr>
            <p:cNvPr id="41" name="object 41" descr=""/>
            <p:cNvSpPr/>
            <p:nvPr/>
          </p:nvSpPr>
          <p:spPr>
            <a:xfrm>
              <a:off x="6019800" y="3333750"/>
              <a:ext cx="2243455" cy="1285875"/>
            </a:xfrm>
            <a:custGeom>
              <a:avLst/>
              <a:gdLst/>
              <a:ahLst/>
              <a:cxnLst/>
              <a:rect l="l" t="t" r="r" b="b"/>
              <a:pathLst>
                <a:path w="2243454" h="1285875">
                  <a:moveTo>
                    <a:pt x="2243137" y="0"/>
                  </a:moveTo>
                  <a:lnTo>
                    <a:pt x="0" y="0"/>
                  </a:lnTo>
                  <a:lnTo>
                    <a:pt x="0" y="1285875"/>
                  </a:lnTo>
                  <a:lnTo>
                    <a:pt x="2243137" y="1285875"/>
                  </a:lnTo>
                  <a:lnTo>
                    <a:pt x="2243137" y="0"/>
                  </a:lnTo>
                  <a:close/>
                </a:path>
              </a:pathLst>
            </a:custGeom>
            <a:solidFill>
              <a:srgbClr val="F9F9F9"/>
            </a:solidFill>
          </p:spPr>
          <p:txBody>
            <a:bodyPr wrap="square" lIns="0" tIns="0" rIns="0" bIns="0" rtlCol="0"/>
            <a:lstStyle/>
            <a:p/>
          </p:txBody>
        </p:sp>
        <p:pic>
          <p:nvPicPr>
            <p:cNvPr id="42" name="object 42"/>
            <p:cNvPicPr/>
            <p:nvPr/>
          </p:nvPicPr>
          <p:blipFill>
            <a:blip r:embed="rId15" cstate="print"/>
            <a:stretch>
              <a:fillRect/>
            </a:stretch>
          </p:blipFill>
          <p:spPr>
            <a:xfrm>
              <a:off x="5961125" y="3269741"/>
              <a:ext cx="397763" cy="1421129"/>
            </a:xfrm>
            <a:prstGeom prst="rect">
              <a:avLst/>
            </a:prstGeom>
          </p:spPr>
        </p:pic>
        <p:sp>
          <p:nvSpPr>
            <p:cNvPr id="43" name="object 43" descr=""/>
            <p:cNvSpPr/>
            <p:nvPr/>
          </p:nvSpPr>
          <p:spPr>
            <a:xfrm>
              <a:off x="6026937" y="3340900"/>
              <a:ext cx="266065" cy="1278890"/>
            </a:xfrm>
            <a:custGeom>
              <a:avLst/>
              <a:gdLst/>
              <a:ahLst/>
              <a:cxnLst/>
              <a:rect l="l" t="t" r="r" b="b"/>
              <a:pathLst>
                <a:path w="266064" h="1278889">
                  <a:moveTo>
                    <a:pt x="265506" y="0"/>
                  </a:moveTo>
                  <a:lnTo>
                    <a:pt x="0" y="0"/>
                  </a:lnTo>
                  <a:lnTo>
                    <a:pt x="0" y="1278724"/>
                  </a:lnTo>
                  <a:lnTo>
                    <a:pt x="265506" y="1278724"/>
                  </a:lnTo>
                  <a:lnTo>
                    <a:pt x="265506" y="0"/>
                  </a:lnTo>
                  <a:close/>
                </a:path>
              </a:pathLst>
            </a:custGeom>
            <a:solidFill>
              <a:srgbClr val="C00000"/>
            </a:solidFill>
          </p:spPr>
          <p:txBody>
            <a:bodyPr wrap="square" lIns="0" tIns="0" rIns="0" bIns="0" rtlCol="0"/>
            <a:lstStyle/>
            <a:p/>
          </p:txBody>
        </p:sp>
        <p:pic>
          <p:nvPicPr>
            <p:cNvPr id="44" name="object 44" descr=""/>
            <p:cNvPicPr/>
            <p:nvPr/>
          </p:nvPicPr>
          <p:blipFill>
            <a:blip r:embed="rId16" cstate="print"/>
            <a:stretch>
              <a:fillRect/>
            </a:stretch>
          </p:blipFill>
          <p:spPr>
            <a:xfrm>
              <a:off x="6079235" y="3678173"/>
              <a:ext cx="198881" cy="621791"/>
            </a:xfrm>
            <a:prstGeom prst="rect">
              <a:avLst/>
            </a:prstGeom>
          </p:spPr>
        </p:pic>
      </p:grpSp>
      <p:grpSp>
        <p:nvGrpSpPr>
          <p:cNvPr id="45" name="object 45" descr=""/>
          <p:cNvGrpSpPr/>
          <p:nvPr/>
        </p:nvGrpSpPr>
        <p:grpSpPr>
          <a:xfrm>
            <a:off x="1520220" y="1858340"/>
            <a:ext cx="7061834" cy="2635885"/>
            <a:chOff x="1520220" y="1858340"/>
            <a:chExt cx="7061834" cy="2635885"/>
          </a:xfrm>
        </p:grpSpPr>
        <p:pic>
          <p:nvPicPr>
            <p:cNvPr id="46" name="object 46"/>
            <p:cNvPicPr/>
            <p:nvPr/>
          </p:nvPicPr>
          <p:blipFill>
            <a:blip r:embed="rId17" cstate="print"/>
            <a:stretch>
              <a:fillRect/>
            </a:stretch>
          </p:blipFill>
          <p:spPr>
            <a:xfrm>
              <a:off x="6437392" y="1858340"/>
              <a:ext cx="2144315" cy="1172763"/>
            </a:xfrm>
            <a:prstGeom prst="rect">
              <a:avLst/>
            </a:prstGeom>
          </p:spPr>
        </p:pic>
        <p:pic>
          <p:nvPicPr>
            <p:cNvPr id="47" name="object 47" descr=""/>
            <p:cNvPicPr/>
            <p:nvPr/>
          </p:nvPicPr>
          <p:blipFill>
            <a:blip r:embed="rId18" cstate="print"/>
            <a:stretch>
              <a:fillRect/>
            </a:stretch>
          </p:blipFill>
          <p:spPr>
            <a:xfrm>
              <a:off x="2899162" y="3605550"/>
              <a:ext cx="814743" cy="823112"/>
            </a:xfrm>
            <a:prstGeom prst="rect">
              <a:avLst/>
            </a:prstGeom>
          </p:spPr>
        </p:pic>
        <p:sp>
          <p:nvSpPr>
            <p:cNvPr id="48" name="object 48" descr=""/>
            <p:cNvSpPr/>
            <p:nvPr/>
          </p:nvSpPr>
          <p:spPr>
            <a:xfrm>
              <a:off x="2880095" y="3586474"/>
              <a:ext cx="853440" cy="861694"/>
            </a:xfrm>
            <a:custGeom>
              <a:avLst/>
              <a:gdLst/>
              <a:ahLst/>
              <a:cxnLst/>
              <a:rect l="l" t="t" r="r" b="b"/>
              <a:pathLst>
                <a:path w="853439" h="861695">
                  <a:moveTo>
                    <a:pt x="426656" y="0"/>
                  </a:moveTo>
                  <a:lnTo>
                    <a:pt x="470268" y="2082"/>
                  </a:lnTo>
                  <a:lnTo>
                    <a:pt x="512737" y="8737"/>
                  </a:lnTo>
                  <a:lnTo>
                    <a:pt x="553453" y="19545"/>
                  </a:lnTo>
                  <a:lnTo>
                    <a:pt x="592861" y="34061"/>
                  </a:lnTo>
                  <a:lnTo>
                    <a:pt x="629869" y="51942"/>
                  </a:lnTo>
                  <a:lnTo>
                    <a:pt x="665226" y="73571"/>
                  </a:lnTo>
                  <a:lnTo>
                    <a:pt x="698042" y="98501"/>
                  </a:lnTo>
                  <a:lnTo>
                    <a:pt x="728370" y="126326"/>
                  </a:lnTo>
                  <a:lnTo>
                    <a:pt x="755789" y="157073"/>
                  </a:lnTo>
                  <a:lnTo>
                    <a:pt x="780262" y="190258"/>
                  </a:lnTo>
                  <a:lnTo>
                    <a:pt x="801458" y="225577"/>
                  </a:lnTo>
                  <a:lnTo>
                    <a:pt x="819289" y="263309"/>
                  </a:lnTo>
                  <a:lnTo>
                    <a:pt x="833818" y="302755"/>
                  </a:lnTo>
                  <a:lnTo>
                    <a:pt x="844207" y="343877"/>
                  </a:lnTo>
                  <a:lnTo>
                    <a:pt x="850849" y="386651"/>
                  </a:lnTo>
                  <a:lnTo>
                    <a:pt x="852919" y="430631"/>
                  </a:lnTo>
                  <a:lnTo>
                    <a:pt x="850849" y="474611"/>
                  </a:lnTo>
                  <a:lnTo>
                    <a:pt x="844207" y="517385"/>
                  </a:lnTo>
                  <a:lnTo>
                    <a:pt x="833831" y="558482"/>
                  </a:lnTo>
                  <a:lnTo>
                    <a:pt x="819289" y="598360"/>
                  </a:lnTo>
                  <a:lnTo>
                    <a:pt x="801458" y="635673"/>
                  </a:lnTo>
                  <a:lnTo>
                    <a:pt x="780300" y="671360"/>
                  </a:lnTo>
                  <a:lnTo>
                    <a:pt x="755751" y="704634"/>
                  </a:lnTo>
                  <a:lnTo>
                    <a:pt x="728319" y="734974"/>
                  </a:lnTo>
                  <a:lnTo>
                    <a:pt x="698042" y="762761"/>
                  </a:lnTo>
                  <a:lnTo>
                    <a:pt x="665226" y="787692"/>
                  </a:lnTo>
                  <a:lnTo>
                    <a:pt x="629945" y="809282"/>
                  </a:lnTo>
                  <a:lnTo>
                    <a:pt x="592861" y="827608"/>
                  </a:lnTo>
                  <a:lnTo>
                    <a:pt x="553364" y="841743"/>
                  </a:lnTo>
                  <a:lnTo>
                    <a:pt x="512737" y="852525"/>
                  </a:lnTo>
                  <a:lnTo>
                    <a:pt x="470268" y="859180"/>
                  </a:lnTo>
                  <a:lnTo>
                    <a:pt x="426656" y="861263"/>
                  </a:lnTo>
                  <a:lnTo>
                    <a:pt x="383044" y="859180"/>
                  </a:lnTo>
                  <a:lnTo>
                    <a:pt x="340575" y="852525"/>
                  </a:lnTo>
                  <a:lnTo>
                    <a:pt x="299948" y="841743"/>
                  </a:lnTo>
                  <a:lnTo>
                    <a:pt x="260451" y="827608"/>
                  </a:lnTo>
                  <a:lnTo>
                    <a:pt x="223380" y="809282"/>
                  </a:lnTo>
                  <a:lnTo>
                    <a:pt x="188086" y="787692"/>
                  </a:lnTo>
                  <a:lnTo>
                    <a:pt x="155270" y="762761"/>
                  </a:lnTo>
                  <a:lnTo>
                    <a:pt x="124993" y="734974"/>
                  </a:lnTo>
                  <a:lnTo>
                    <a:pt x="97612" y="704697"/>
                  </a:lnTo>
                  <a:lnTo>
                    <a:pt x="72656" y="671423"/>
                  </a:lnTo>
                  <a:lnTo>
                    <a:pt x="51460" y="635673"/>
                  </a:lnTo>
                  <a:lnTo>
                    <a:pt x="33629" y="598360"/>
                  </a:lnTo>
                  <a:lnTo>
                    <a:pt x="19088" y="558482"/>
                  </a:lnTo>
                  <a:lnTo>
                    <a:pt x="8712" y="517385"/>
                  </a:lnTo>
                  <a:lnTo>
                    <a:pt x="2070" y="474611"/>
                  </a:lnTo>
                  <a:lnTo>
                    <a:pt x="0" y="430631"/>
                  </a:lnTo>
                  <a:lnTo>
                    <a:pt x="2070" y="386651"/>
                  </a:lnTo>
                  <a:lnTo>
                    <a:pt x="8712" y="343877"/>
                  </a:lnTo>
                  <a:lnTo>
                    <a:pt x="19100" y="302755"/>
                  </a:lnTo>
                  <a:lnTo>
                    <a:pt x="33629" y="263309"/>
                  </a:lnTo>
                  <a:lnTo>
                    <a:pt x="51460" y="225577"/>
                  </a:lnTo>
                  <a:lnTo>
                    <a:pt x="72694" y="190195"/>
                  </a:lnTo>
                  <a:lnTo>
                    <a:pt x="97574" y="157010"/>
                  </a:lnTo>
                  <a:lnTo>
                    <a:pt x="124942" y="126326"/>
                  </a:lnTo>
                  <a:lnTo>
                    <a:pt x="155270" y="98501"/>
                  </a:lnTo>
                  <a:lnTo>
                    <a:pt x="188086" y="73571"/>
                  </a:lnTo>
                  <a:lnTo>
                    <a:pt x="223443" y="51942"/>
                  </a:lnTo>
                  <a:lnTo>
                    <a:pt x="260451" y="34061"/>
                  </a:lnTo>
                  <a:lnTo>
                    <a:pt x="299859" y="19545"/>
                  </a:lnTo>
                  <a:lnTo>
                    <a:pt x="340575" y="8737"/>
                  </a:lnTo>
                  <a:lnTo>
                    <a:pt x="383044" y="2082"/>
                  </a:lnTo>
                  <a:lnTo>
                    <a:pt x="426656" y="0"/>
                  </a:lnTo>
                  <a:close/>
                </a:path>
              </a:pathLst>
            </a:custGeom>
            <a:ln w="38100">
              <a:solidFill>
                <a:srgbClr val="0091FE"/>
              </a:solidFill>
            </a:ln>
          </p:spPr>
          <p:txBody>
            <a:bodyPr wrap="square" lIns="0" tIns="0" rIns="0" bIns="0" rtlCol="0"/>
            <a:lstStyle/>
            <a:p/>
          </p:txBody>
        </p:sp>
        <p:pic>
          <p:nvPicPr>
            <p:cNvPr id="49" name="object 49" descr=""/>
            <p:cNvPicPr/>
            <p:nvPr/>
          </p:nvPicPr>
          <p:blipFill>
            <a:blip r:embed="rId19" cstate="print"/>
            <a:stretch>
              <a:fillRect/>
            </a:stretch>
          </p:blipFill>
          <p:spPr>
            <a:xfrm>
              <a:off x="4179032" y="3632958"/>
              <a:ext cx="823125" cy="823112"/>
            </a:xfrm>
            <a:prstGeom prst="rect">
              <a:avLst/>
            </a:prstGeom>
          </p:spPr>
        </p:pic>
        <p:sp>
          <p:nvSpPr>
            <p:cNvPr id="50" name="object 50" descr=""/>
            <p:cNvSpPr/>
            <p:nvPr/>
          </p:nvSpPr>
          <p:spPr>
            <a:xfrm>
              <a:off x="4159961" y="3613881"/>
              <a:ext cx="861694" cy="861694"/>
            </a:xfrm>
            <a:custGeom>
              <a:avLst/>
              <a:gdLst/>
              <a:ahLst/>
              <a:cxnLst/>
              <a:rect l="l" t="t" r="r" b="b"/>
              <a:pathLst>
                <a:path w="861695" h="861695">
                  <a:moveTo>
                    <a:pt x="430631" y="0"/>
                  </a:moveTo>
                  <a:lnTo>
                    <a:pt x="474611" y="2070"/>
                  </a:lnTo>
                  <a:lnTo>
                    <a:pt x="517474" y="8737"/>
                  </a:lnTo>
                  <a:lnTo>
                    <a:pt x="558558" y="19519"/>
                  </a:lnTo>
                  <a:lnTo>
                    <a:pt x="598360" y="34036"/>
                  </a:lnTo>
                  <a:lnTo>
                    <a:pt x="635749" y="51892"/>
                  </a:lnTo>
                  <a:lnTo>
                    <a:pt x="671487" y="73507"/>
                  </a:lnTo>
                  <a:lnTo>
                    <a:pt x="704748" y="98463"/>
                  </a:lnTo>
                  <a:lnTo>
                    <a:pt x="735076" y="126276"/>
                  </a:lnTo>
                  <a:lnTo>
                    <a:pt x="762838" y="156959"/>
                  </a:lnTo>
                  <a:lnTo>
                    <a:pt x="787730" y="190131"/>
                  </a:lnTo>
                  <a:lnTo>
                    <a:pt x="809320" y="225437"/>
                  </a:lnTo>
                  <a:lnTo>
                    <a:pt x="827633" y="263309"/>
                  </a:lnTo>
                  <a:lnTo>
                    <a:pt x="841756" y="302755"/>
                  </a:lnTo>
                  <a:lnTo>
                    <a:pt x="852525" y="343789"/>
                  </a:lnTo>
                  <a:lnTo>
                    <a:pt x="859193" y="386651"/>
                  </a:lnTo>
                  <a:lnTo>
                    <a:pt x="861263" y="430631"/>
                  </a:lnTo>
                  <a:lnTo>
                    <a:pt x="859193" y="474611"/>
                  </a:lnTo>
                  <a:lnTo>
                    <a:pt x="852525" y="517474"/>
                  </a:lnTo>
                  <a:lnTo>
                    <a:pt x="841756" y="558482"/>
                  </a:lnTo>
                  <a:lnTo>
                    <a:pt x="827633" y="598360"/>
                  </a:lnTo>
                  <a:lnTo>
                    <a:pt x="809320" y="635812"/>
                  </a:lnTo>
                  <a:lnTo>
                    <a:pt x="787755" y="671487"/>
                  </a:lnTo>
                  <a:lnTo>
                    <a:pt x="762800" y="704748"/>
                  </a:lnTo>
                  <a:lnTo>
                    <a:pt x="735025" y="735025"/>
                  </a:lnTo>
                  <a:lnTo>
                    <a:pt x="704748" y="762800"/>
                  </a:lnTo>
                  <a:lnTo>
                    <a:pt x="671487" y="787755"/>
                  </a:lnTo>
                  <a:lnTo>
                    <a:pt x="635812" y="809320"/>
                  </a:lnTo>
                  <a:lnTo>
                    <a:pt x="598360" y="827633"/>
                  </a:lnTo>
                  <a:lnTo>
                    <a:pt x="558482" y="841756"/>
                  </a:lnTo>
                  <a:lnTo>
                    <a:pt x="517474" y="852525"/>
                  </a:lnTo>
                  <a:lnTo>
                    <a:pt x="474611" y="859180"/>
                  </a:lnTo>
                  <a:lnTo>
                    <a:pt x="430631" y="861263"/>
                  </a:lnTo>
                  <a:lnTo>
                    <a:pt x="386651" y="859180"/>
                  </a:lnTo>
                  <a:lnTo>
                    <a:pt x="343789" y="852525"/>
                  </a:lnTo>
                  <a:lnTo>
                    <a:pt x="302755" y="841756"/>
                  </a:lnTo>
                  <a:lnTo>
                    <a:pt x="263309" y="827633"/>
                  </a:lnTo>
                  <a:lnTo>
                    <a:pt x="225437" y="809320"/>
                  </a:lnTo>
                  <a:lnTo>
                    <a:pt x="190131" y="787717"/>
                  </a:lnTo>
                  <a:lnTo>
                    <a:pt x="156959" y="762838"/>
                  </a:lnTo>
                  <a:lnTo>
                    <a:pt x="126288" y="735076"/>
                  </a:lnTo>
                  <a:lnTo>
                    <a:pt x="98463" y="704748"/>
                  </a:lnTo>
                  <a:lnTo>
                    <a:pt x="73507" y="671487"/>
                  </a:lnTo>
                  <a:lnTo>
                    <a:pt x="51892" y="635749"/>
                  </a:lnTo>
                  <a:lnTo>
                    <a:pt x="34036" y="598347"/>
                  </a:lnTo>
                  <a:lnTo>
                    <a:pt x="19519" y="558558"/>
                  </a:lnTo>
                  <a:lnTo>
                    <a:pt x="8737" y="517474"/>
                  </a:lnTo>
                  <a:lnTo>
                    <a:pt x="2070" y="474611"/>
                  </a:lnTo>
                  <a:lnTo>
                    <a:pt x="0" y="430631"/>
                  </a:lnTo>
                  <a:lnTo>
                    <a:pt x="2070" y="386651"/>
                  </a:lnTo>
                  <a:lnTo>
                    <a:pt x="8737" y="343789"/>
                  </a:lnTo>
                  <a:lnTo>
                    <a:pt x="19532" y="302666"/>
                  </a:lnTo>
                  <a:lnTo>
                    <a:pt x="34036" y="263309"/>
                  </a:lnTo>
                  <a:lnTo>
                    <a:pt x="51892" y="225513"/>
                  </a:lnTo>
                  <a:lnTo>
                    <a:pt x="73533" y="190131"/>
                  </a:lnTo>
                  <a:lnTo>
                    <a:pt x="98425" y="156959"/>
                  </a:lnTo>
                  <a:lnTo>
                    <a:pt x="126238" y="126238"/>
                  </a:lnTo>
                  <a:lnTo>
                    <a:pt x="156959" y="98412"/>
                  </a:lnTo>
                  <a:lnTo>
                    <a:pt x="190131" y="73533"/>
                  </a:lnTo>
                  <a:lnTo>
                    <a:pt x="225513" y="51892"/>
                  </a:lnTo>
                  <a:lnTo>
                    <a:pt x="263309" y="34036"/>
                  </a:lnTo>
                  <a:lnTo>
                    <a:pt x="302666" y="19532"/>
                  </a:lnTo>
                  <a:lnTo>
                    <a:pt x="343789" y="8737"/>
                  </a:lnTo>
                  <a:lnTo>
                    <a:pt x="386651" y="2070"/>
                  </a:lnTo>
                  <a:lnTo>
                    <a:pt x="430631" y="0"/>
                  </a:lnTo>
                  <a:close/>
                </a:path>
              </a:pathLst>
            </a:custGeom>
            <a:ln w="38100">
              <a:solidFill>
                <a:srgbClr val="0091FE"/>
              </a:solidFill>
            </a:ln>
          </p:spPr>
          <p:txBody>
            <a:bodyPr wrap="square" lIns="0" tIns="0" rIns="0" bIns="0" rtlCol="0"/>
            <a:lstStyle/>
            <a:p/>
          </p:txBody>
        </p:sp>
        <p:pic>
          <p:nvPicPr>
            <p:cNvPr id="51" name="object 51" descr=""/>
            <p:cNvPicPr/>
            <p:nvPr/>
          </p:nvPicPr>
          <p:blipFill>
            <a:blip r:embed="rId20" cstate="print"/>
            <a:stretch>
              <a:fillRect/>
            </a:stretch>
          </p:blipFill>
          <p:spPr>
            <a:xfrm>
              <a:off x="1558342" y="3624738"/>
              <a:ext cx="823125" cy="823112"/>
            </a:xfrm>
            <a:prstGeom prst="rect">
              <a:avLst/>
            </a:prstGeom>
          </p:spPr>
        </p:pic>
        <p:sp>
          <p:nvSpPr>
            <p:cNvPr id="52" name="object 52" descr=""/>
            <p:cNvSpPr/>
            <p:nvPr/>
          </p:nvSpPr>
          <p:spPr>
            <a:xfrm>
              <a:off x="1539270" y="3605663"/>
              <a:ext cx="861694" cy="861694"/>
            </a:xfrm>
            <a:custGeom>
              <a:avLst/>
              <a:gdLst/>
              <a:ahLst/>
              <a:cxnLst/>
              <a:rect l="l" t="t" r="r" b="b"/>
              <a:pathLst>
                <a:path w="861694" h="861695">
                  <a:moveTo>
                    <a:pt x="430631" y="0"/>
                  </a:moveTo>
                  <a:lnTo>
                    <a:pt x="474611" y="2070"/>
                  </a:lnTo>
                  <a:lnTo>
                    <a:pt x="517474" y="8737"/>
                  </a:lnTo>
                  <a:lnTo>
                    <a:pt x="558558" y="19519"/>
                  </a:lnTo>
                  <a:lnTo>
                    <a:pt x="598360" y="34035"/>
                  </a:lnTo>
                  <a:lnTo>
                    <a:pt x="635749" y="51892"/>
                  </a:lnTo>
                  <a:lnTo>
                    <a:pt x="671487" y="73507"/>
                  </a:lnTo>
                  <a:lnTo>
                    <a:pt x="704748" y="98463"/>
                  </a:lnTo>
                  <a:lnTo>
                    <a:pt x="735076" y="126276"/>
                  </a:lnTo>
                  <a:lnTo>
                    <a:pt x="762838" y="156959"/>
                  </a:lnTo>
                  <a:lnTo>
                    <a:pt x="787730" y="190131"/>
                  </a:lnTo>
                  <a:lnTo>
                    <a:pt x="809320" y="225437"/>
                  </a:lnTo>
                  <a:lnTo>
                    <a:pt x="827633" y="263309"/>
                  </a:lnTo>
                  <a:lnTo>
                    <a:pt x="841756" y="302755"/>
                  </a:lnTo>
                  <a:lnTo>
                    <a:pt x="852525" y="343788"/>
                  </a:lnTo>
                  <a:lnTo>
                    <a:pt x="859193" y="386651"/>
                  </a:lnTo>
                  <a:lnTo>
                    <a:pt x="861263" y="430631"/>
                  </a:lnTo>
                  <a:lnTo>
                    <a:pt x="859193" y="474611"/>
                  </a:lnTo>
                  <a:lnTo>
                    <a:pt x="852525" y="517474"/>
                  </a:lnTo>
                  <a:lnTo>
                    <a:pt x="841756" y="558482"/>
                  </a:lnTo>
                  <a:lnTo>
                    <a:pt x="827633" y="598360"/>
                  </a:lnTo>
                  <a:lnTo>
                    <a:pt x="809320" y="635812"/>
                  </a:lnTo>
                  <a:lnTo>
                    <a:pt x="787755" y="671487"/>
                  </a:lnTo>
                  <a:lnTo>
                    <a:pt x="762800" y="704748"/>
                  </a:lnTo>
                  <a:lnTo>
                    <a:pt x="735025" y="735025"/>
                  </a:lnTo>
                  <a:lnTo>
                    <a:pt x="704748" y="762800"/>
                  </a:lnTo>
                  <a:lnTo>
                    <a:pt x="671487" y="787755"/>
                  </a:lnTo>
                  <a:lnTo>
                    <a:pt x="635812" y="809320"/>
                  </a:lnTo>
                  <a:lnTo>
                    <a:pt x="598360" y="827633"/>
                  </a:lnTo>
                  <a:lnTo>
                    <a:pt x="558482" y="841755"/>
                  </a:lnTo>
                  <a:lnTo>
                    <a:pt x="517474" y="852525"/>
                  </a:lnTo>
                  <a:lnTo>
                    <a:pt x="474611" y="859180"/>
                  </a:lnTo>
                  <a:lnTo>
                    <a:pt x="430631" y="861263"/>
                  </a:lnTo>
                  <a:lnTo>
                    <a:pt x="386651" y="859180"/>
                  </a:lnTo>
                  <a:lnTo>
                    <a:pt x="343789" y="852525"/>
                  </a:lnTo>
                  <a:lnTo>
                    <a:pt x="302755" y="841755"/>
                  </a:lnTo>
                  <a:lnTo>
                    <a:pt x="263309" y="827633"/>
                  </a:lnTo>
                  <a:lnTo>
                    <a:pt x="225437" y="809320"/>
                  </a:lnTo>
                  <a:lnTo>
                    <a:pt x="190131" y="787717"/>
                  </a:lnTo>
                  <a:lnTo>
                    <a:pt x="156959" y="762838"/>
                  </a:lnTo>
                  <a:lnTo>
                    <a:pt x="126288" y="735075"/>
                  </a:lnTo>
                  <a:lnTo>
                    <a:pt x="98463" y="704748"/>
                  </a:lnTo>
                  <a:lnTo>
                    <a:pt x="73507" y="671487"/>
                  </a:lnTo>
                  <a:lnTo>
                    <a:pt x="51892" y="635749"/>
                  </a:lnTo>
                  <a:lnTo>
                    <a:pt x="34036" y="598347"/>
                  </a:lnTo>
                  <a:lnTo>
                    <a:pt x="19519" y="558558"/>
                  </a:lnTo>
                  <a:lnTo>
                    <a:pt x="8737" y="517474"/>
                  </a:lnTo>
                  <a:lnTo>
                    <a:pt x="2070" y="474611"/>
                  </a:lnTo>
                  <a:lnTo>
                    <a:pt x="0" y="430631"/>
                  </a:lnTo>
                  <a:lnTo>
                    <a:pt x="2070" y="386651"/>
                  </a:lnTo>
                  <a:lnTo>
                    <a:pt x="8737" y="343788"/>
                  </a:lnTo>
                  <a:lnTo>
                    <a:pt x="19532" y="302666"/>
                  </a:lnTo>
                  <a:lnTo>
                    <a:pt x="34036" y="263309"/>
                  </a:lnTo>
                  <a:lnTo>
                    <a:pt x="51892" y="225513"/>
                  </a:lnTo>
                  <a:lnTo>
                    <a:pt x="73533" y="190131"/>
                  </a:lnTo>
                  <a:lnTo>
                    <a:pt x="98425" y="156959"/>
                  </a:lnTo>
                  <a:lnTo>
                    <a:pt x="126238" y="126237"/>
                  </a:lnTo>
                  <a:lnTo>
                    <a:pt x="156959" y="98412"/>
                  </a:lnTo>
                  <a:lnTo>
                    <a:pt x="190131" y="73532"/>
                  </a:lnTo>
                  <a:lnTo>
                    <a:pt x="225513" y="51892"/>
                  </a:lnTo>
                  <a:lnTo>
                    <a:pt x="263309" y="34035"/>
                  </a:lnTo>
                  <a:lnTo>
                    <a:pt x="302666" y="19532"/>
                  </a:lnTo>
                  <a:lnTo>
                    <a:pt x="343789" y="8737"/>
                  </a:lnTo>
                  <a:lnTo>
                    <a:pt x="386651" y="2070"/>
                  </a:lnTo>
                  <a:lnTo>
                    <a:pt x="430631" y="0"/>
                  </a:lnTo>
                  <a:close/>
                </a:path>
              </a:pathLst>
            </a:custGeom>
            <a:ln w="38100">
              <a:solidFill>
                <a:srgbClr val="0091FE"/>
              </a:solidFill>
            </a:ln>
          </p:spPr>
          <p:txBody>
            <a:bodyPr wrap="square" lIns="0" tIns="0" rIns="0" bIns="0" rtlCol="0"/>
            <a:lstStyle/>
            <a:p/>
          </p:txBody>
        </p:sp>
        <p:sp>
          <p:nvSpPr>
            <p:cNvPr id="53" name="object 53" descr=""/>
            <p:cNvSpPr/>
            <p:nvPr/>
          </p:nvSpPr>
          <p:spPr>
            <a:xfrm>
              <a:off x="1723389" y="3108415"/>
              <a:ext cx="467995" cy="478790"/>
            </a:xfrm>
            <a:custGeom>
              <a:avLst/>
              <a:gdLst/>
              <a:ahLst/>
              <a:cxnLst/>
              <a:rect l="l" t="t" r="r" b="b"/>
              <a:pathLst>
                <a:path w="467994" h="478789">
                  <a:moveTo>
                    <a:pt x="233959" y="0"/>
                  </a:moveTo>
                  <a:lnTo>
                    <a:pt x="186809" y="4862"/>
                  </a:lnTo>
                  <a:lnTo>
                    <a:pt x="142892" y="18807"/>
                  </a:lnTo>
                  <a:lnTo>
                    <a:pt x="103151" y="40872"/>
                  </a:lnTo>
                  <a:lnTo>
                    <a:pt x="68526" y="70096"/>
                  </a:lnTo>
                  <a:lnTo>
                    <a:pt x="39957" y="105514"/>
                  </a:lnTo>
                  <a:lnTo>
                    <a:pt x="18386" y="146166"/>
                  </a:lnTo>
                  <a:lnTo>
                    <a:pt x="4753" y="191088"/>
                  </a:lnTo>
                  <a:lnTo>
                    <a:pt x="0" y="239318"/>
                  </a:lnTo>
                  <a:lnTo>
                    <a:pt x="4753" y="287548"/>
                  </a:lnTo>
                  <a:lnTo>
                    <a:pt x="18386" y="332471"/>
                  </a:lnTo>
                  <a:lnTo>
                    <a:pt x="39957" y="373122"/>
                  </a:lnTo>
                  <a:lnTo>
                    <a:pt x="68526" y="408541"/>
                  </a:lnTo>
                  <a:lnTo>
                    <a:pt x="103151" y="437764"/>
                  </a:lnTo>
                  <a:lnTo>
                    <a:pt x="142892" y="459830"/>
                  </a:lnTo>
                  <a:lnTo>
                    <a:pt x="186809" y="473775"/>
                  </a:lnTo>
                  <a:lnTo>
                    <a:pt x="233959" y="478637"/>
                  </a:lnTo>
                  <a:lnTo>
                    <a:pt x="281109" y="473775"/>
                  </a:lnTo>
                  <a:lnTo>
                    <a:pt x="325025" y="459830"/>
                  </a:lnTo>
                  <a:lnTo>
                    <a:pt x="364767" y="437764"/>
                  </a:lnTo>
                  <a:lnTo>
                    <a:pt x="399392" y="408541"/>
                  </a:lnTo>
                  <a:lnTo>
                    <a:pt x="427961" y="373122"/>
                  </a:lnTo>
                  <a:lnTo>
                    <a:pt x="449532" y="332471"/>
                  </a:lnTo>
                  <a:lnTo>
                    <a:pt x="463165" y="287548"/>
                  </a:lnTo>
                  <a:lnTo>
                    <a:pt x="467918" y="239318"/>
                  </a:lnTo>
                  <a:lnTo>
                    <a:pt x="463165" y="191088"/>
                  </a:lnTo>
                  <a:lnTo>
                    <a:pt x="449532" y="146166"/>
                  </a:lnTo>
                  <a:lnTo>
                    <a:pt x="427961" y="105514"/>
                  </a:lnTo>
                  <a:lnTo>
                    <a:pt x="399392" y="70096"/>
                  </a:lnTo>
                  <a:lnTo>
                    <a:pt x="364767" y="40872"/>
                  </a:lnTo>
                  <a:lnTo>
                    <a:pt x="325025" y="18807"/>
                  </a:lnTo>
                  <a:lnTo>
                    <a:pt x="281109" y="4862"/>
                  </a:lnTo>
                  <a:lnTo>
                    <a:pt x="233959" y="0"/>
                  </a:lnTo>
                  <a:close/>
                </a:path>
              </a:pathLst>
            </a:custGeom>
            <a:solidFill>
              <a:srgbClr val="0091FE">
                <a:alpha val="43136"/>
              </a:srgbClr>
            </a:solidFill>
          </p:spPr>
          <p:txBody>
            <a:bodyPr wrap="square" lIns="0" tIns="0" rIns="0" bIns="0" rtlCol="0"/>
            <a:lstStyle/>
            <a:p/>
          </p:txBody>
        </p:sp>
        <p:sp>
          <p:nvSpPr>
            <p:cNvPr id="54" name="object 54" descr=""/>
            <p:cNvSpPr/>
            <p:nvPr/>
          </p:nvSpPr>
          <p:spPr>
            <a:xfrm>
              <a:off x="1790065" y="3176284"/>
              <a:ext cx="334645" cy="342900"/>
            </a:xfrm>
            <a:custGeom>
              <a:avLst/>
              <a:gdLst/>
              <a:ahLst/>
              <a:cxnLst/>
              <a:rect l="l" t="t" r="r" b="b"/>
              <a:pathLst>
                <a:path w="334644" h="342900">
                  <a:moveTo>
                    <a:pt x="167284" y="0"/>
                  </a:moveTo>
                  <a:lnTo>
                    <a:pt x="122812" y="6124"/>
                  </a:lnTo>
                  <a:lnTo>
                    <a:pt x="82851" y="23407"/>
                  </a:lnTo>
                  <a:lnTo>
                    <a:pt x="48995" y="50215"/>
                  </a:lnTo>
                  <a:lnTo>
                    <a:pt x="22838" y="84915"/>
                  </a:lnTo>
                  <a:lnTo>
                    <a:pt x="5975" y="125871"/>
                  </a:lnTo>
                  <a:lnTo>
                    <a:pt x="0" y="171450"/>
                  </a:lnTo>
                  <a:lnTo>
                    <a:pt x="5975" y="217028"/>
                  </a:lnTo>
                  <a:lnTo>
                    <a:pt x="22838" y="257984"/>
                  </a:lnTo>
                  <a:lnTo>
                    <a:pt x="48995" y="292684"/>
                  </a:lnTo>
                  <a:lnTo>
                    <a:pt x="82851" y="319492"/>
                  </a:lnTo>
                  <a:lnTo>
                    <a:pt x="122812" y="336775"/>
                  </a:lnTo>
                  <a:lnTo>
                    <a:pt x="167284" y="342900"/>
                  </a:lnTo>
                  <a:lnTo>
                    <a:pt x="211756" y="336775"/>
                  </a:lnTo>
                  <a:lnTo>
                    <a:pt x="251717" y="319492"/>
                  </a:lnTo>
                  <a:lnTo>
                    <a:pt x="285573" y="292684"/>
                  </a:lnTo>
                  <a:lnTo>
                    <a:pt x="311730" y="257984"/>
                  </a:lnTo>
                  <a:lnTo>
                    <a:pt x="328593" y="217028"/>
                  </a:lnTo>
                  <a:lnTo>
                    <a:pt x="334568" y="171450"/>
                  </a:lnTo>
                  <a:lnTo>
                    <a:pt x="328593" y="125871"/>
                  </a:lnTo>
                  <a:lnTo>
                    <a:pt x="311730" y="84915"/>
                  </a:lnTo>
                  <a:lnTo>
                    <a:pt x="285573" y="50215"/>
                  </a:lnTo>
                  <a:lnTo>
                    <a:pt x="251717" y="23407"/>
                  </a:lnTo>
                  <a:lnTo>
                    <a:pt x="211756" y="6124"/>
                  </a:lnTo>
                  <a:lnTo>
                    <a:pt x="167284" y="0"/>
                  </a:lnTo>
                  <a:close/>
                </a:path>
              </a:pathLst>
            </a:custGeom>
            <a:solidFill>
              <a:srgbClr val="0091FE"/>
            </a:solidFill>
          </p:spPr>
          <p:txBody>
            <a:bodyPr wrap="square" lIns="0" tIns="0" rIns="0" bIns="0" rtlCol="0"/>
            <a:lstStyle/>
            <a:p/>
          </p:txBody>
        </p:sp>
        <p:pic>
          <p:nvPicPr>
            <p:cNvPr id="55" name="object 55"/>
            <p:cNvPicPr/>
            <p:nvPr/>
          </p:nvPicPr>
          <p:blipFill>
            <a:blip r:embed="rId21" cstate="print"/>
            <a:stretch>
              <a:fillRect/>
            </a:stretch>
          </p:blipFill>
          <p:spPr>
            <a:xfrm>
              <a:off x="1802595" y="3245148"/>
              <a:ext cx="309502" cy="205162"/>
            </a:xfrm>
            <a:prstGeom prst="rect">
              <a:avLst/>
            </a:prstGeom>
          </p:spPr>
        </p:pic>
        <p:sp>
          <p:nvSpPr>
            <p:cNvPr id="56" name="object 56" descr=""/>
            <p:cNvSpPr/>
            <p:nvPr/>
          </p:nvSpPr>
          <p:spPr>
            <a:xfrm>
              <a:off x="3033819" y="3099000"/>
              <a:ext cx="469265" cy="478790"/>
            </a:xfrm>
            <a:custGeom>
              <a:avLst/>
              <a:gdLst/>
              <a:ahLst/>
              <a:cxnLst/>
              <a:rect l="l" t="t" r="r" b="b"/>
              <a:pathLst>
                <a:path w="469264" h="478789">
                  <a:moveTo>
                    <a:pt x="234556" y="0"/>
                  </a:moveTo>
                  <a:lnTo>
                    <a:pt x="187285" y="4862"/>
                  </a:lnTo>
                  <a:lnTo>
                    <a:pt x="143257" y="18807"/>
                  </a:lnTo>
                  <a:lnTo>
                    <a:pt x="103414" y="40872"/>
                  </a:lnTo>
                  <a:lnTo>
                    <a:pt x="68700" y="70096"/>
                  </a:lnTo>
                  <a:lnTo>
                    <a:pt x="40059" y="105514"/>
                  </a:lnTo>
                  <a:lnTo>
                    <a:pt x="18432" y="146166"/>
                  </a:lnTo>
                  <a:lnTo>
                    <a:pt x="4765" y="191088"/>
                  </a:lnTo>
                  <a:lnTo>
                    <a:pt x="0" y="239318"/>
                  </a:lnTo>
                  <a:lnTo>
                    <a:pt x="4765" y="287548"/>
                  </a:lnTo>
                  <a:lnTo>
                    <a:pt x="18432" y="332471"/>
                  </a:lnTo>
                  <a:lnTo>
                    <a:pt x="40059" y="373122"/>
                  </a:lnTo>
                  <a:lnTo>
                    <a:pt x="68700" y="408541"/>
                  </a:lnTo>
                  <a:lnTo>
                    <a:pt x="103414" y="437764"/>
                  </a:lnTo>
                  <a:lnTo>
                    <a:pt x="143257" y="459830"/>
                  </a:lnTo>
                  <a:lnTo>
                    <a:pt x="187285" y="473775"/>
                  </a:lnTo>
                  <a:lnTo>
                    <a:pt x="234556" y="478637"/>
                  </a:lnTo>
                  <a:lnTo>
                    <a:pt x="281826" y="473775"/>
                  </a:lnTo>
                  <a:lnTo>
                    <a:pt x="325853" y="459830"/>
                  </a:lnTo>
                  <a:lnTo>
                    <a:pt x="365694" y="437764"/>
                  </a:lnTo>
                  <a:lnTo>
                    <a:pt x="400405" y="408541"/>
                  </a:lnTo>
                  <a:lnTo>
                    <a:pt x="429044" y="373122"/>
                  </a:lnTo>
                  <a:lnTo>
                    <a:pt x="450669" y="332471"/>
                  </a:lnTo>
                  <a:lnTo>
                    <a:pt x="464335" y="287548"/>
                  </a:lnTo>
                  <a:lnTo>
                    <a:pt x="469099" y="239318"/>
                  </a:lnTo>
                  <a:lnTo>
                    <a:pt x="464338" y="191088"/>
                  </a:lnTo>
                  <a:lnTo>
                    <a:pt x="450674" y="146166"/>
                  </a:lnTo>
                  <a:lnTo>
                    <a:pt x="429050" y="105514"/>
                  </a:lnTo>
                  <a:lnTo>
                    <a:pt x="400410" y="70096"/>
                  </a:lnTo>
                  <a:lnTo>
                    <a:pt x="365697" y="40872"/>
                  </a:lnTo>
                  <a:lnTo>
                    <a:pt x="325855" y="18807"/>
                  </a:lnTo>
                  <a:lnTo>
                    <a:pt x="281827" y="4862"/>
                  </a:lnTo>
                  <a:lnTo>
                    <a:pt x="234556" y="0"/>
                  </a:lnTo>
                  <a:close/>
                </a:path>
              </a:pathLst>
            </a:custGeom>
            <a:solidFill>
              <a:srgbClr val="0091FE">
                <a:alpha val="43136"/>
              </a:srgbClr>
            </a:solidFill>
          </p:spPr>
          <p:txBody>
            <a:bodyPr wrap="square" lIns="0" tIns="0" rIns="0" bIns="0" rtlCol="0"/>
            <a:lstStyle/>
            <a:p/>
          </p:txBody>
        </p:sp>
        <p:sp>
          <p:nvSpPr>
            <p:cNvPr id="57" name="object 57" descr=""/>
            <p:cNvSpPr/>
            <p:nvPr/>
          </p:nvSpPr>
          <p:spPr>
            <a:xfrm>
              <a:off x="3100494" y="3166869"/>
              <a:ext cx="335915" cy="342900"/>
            </a:xfrm>
            <a:custGeom>
              <a:avLst/>
              <a:gdLst/>
              <a:ahLst/>
              <a:cxnLst/>
              <a:rect l="l" t="t" r="r" b="b"/>
              <a:pathLst>
                <a:path w="335914" h="342900">
                  <a:moveTo>
                    <a:pt x="167881" y="0"/>
                  </a:moveTo>
                  <a:lnTo>
                    <a:pt x="123250" y="6124"/>
                  </a:lnTo>
                  <a:lnTo>
                    <a:pt x="83146" y="23407"/>
                  </a:lnTo>
                  <a:lnTo>
                    <a:pt x="49169" y="50215"/>
                  </a:lnTo>
                  <a:lnTo>
                    <a:pt x="22919" y="84915"/>
                  </a:lnTo>
                  <a:lnTo>
                    <a:pt x="5996" y="125871"/>
                  </a:lnTo>
                  <a:lnTo>
                    <a:pt x="0" y="171450"/>
                  </a:lnTo>
                  <a:lnTo>
                    <a:pt x="5996" y="217028"/>
                  </a:lnTo>
                  <a:lnTo>
                    <a:pt x="22919" y="257984"/>
                  </a:lnTo>
                  <a:lnTo>
                    <a:pt x="49169" y="292684"/>
                  </a:lnTo>
                  <a:lnTo>
                    <a:pt x="83146" y="319492"/>
                  </a:lnTo>
                  <a:lnTo>
                    <a:pt x="123250" y="336775"/>
                  </a:lnTo>
                  <a:lnTo>
                    <a:pt x="167881" y="342900"/>
                  </a:lnTo>
                  <a:lnTo>
                    <a:pt x="212506" y="336775"/>
                  </a:lnTo>
                  <a:lnTo>
                    <a:pt x="252607" y="319492"/>
                  </a:lnTo>
                  <a:lnTo>
                    <a:pt x="286581" y="292684"/>
                  </a:lnTo>
                  <a:lnTo>
                    <a:pt x="312830" y="257984"/>
                  </a:lnTo>
                  <a:lnTo>
                    <a:pt x="329753" y="217028"/>
                  </a:lnTo>
                  <a:lnTo>
                    <a:pt x="335749" y="171450"/>
                  </a:lnTo>
                  <a:lnTo>
                    <a:pt x="329753" y="125871"/>
                  </a:lnTo>
                  <a:lnTo>
                    <a:pt x="312830" y="84915"/>
                  </a:lnTo>
                  <a:lnTo>
                    <a:pt x="286581" y="50215"/>
                  </a:lnTo>
                  <a:lnTo>
                    <a:pt x="252607" y="23407"/>
                  </a:lnTo>
                  <a:lnTo>
                    <a:pt x="212506" y="6124"/>
                  </a:lnTo>
                  <a:lnTo>
                    <a:pt x="167881" y="0"/>
                  </a:lnTo>
                  <a:close/>
                </a:path>
              </a:pathLst>
            </a:custGeom>
            <a:solidFill>
              <a:srgbClr val="0091FE"/>
            </a:solidFill>
          </p:spPr>
          <p:txBody>
            <a:bodyPr wrap="square" lIns="0" tIns="0" rIns="0" bIns="0" rtlCol="0"/>
            <a:lstStyle/>
            <a:p/>
          </p:txBody>
        </p:sp>
        <p:pic>
          <p:nvPicPr>
            <p:cNvPr id="58" name="object 58"/>
            <p:cNvPicPr/>
            <p:nvPr/>
          </p:nvPicPr>
          <p:blipFill>
            <a:blip r:embed="rId21" cstate="print"/>
            <a:stretch>
              <a:fillRect/>
            </a:stretch>
          </p:blipFill>
          <p:spPr>
            <a:xfrm>
              <a:off x="3113265" y="3235663"/>
              <a:ext cx="310210" cy="205312"/>
            </a:xfrm>
            <a:prstGeom prst="rect">
              <a:avLst/>
            </a:prstGeom>
          </p:spPr>
        </p:pic>
        <p:sp>
          <p:nvSpPr>
            <p:cNvPr id="59" name="object 59" descr=""/>
            <p:cNvSpPr/>
            <p:nvPr/>
          </p:nvSpPr>
          <p:spPr>
            <a:xfrm>
              <a:off x="4357410" y="3122813"/>
              <a:ext cx="469265" cy="478790"/>
            </a:xfrm>
            <a:custGeom>
              <a:avLst/>
              <a:gdLst/>
              <a:ahLst/>
              <a:cxnLst/>
              <a:rect l="l" t="t" r="r" b="b"/>
              <a:pathLst>
                <a:path w="469264" h="478789">
                  <a:moveTo>
                    <a:pt x="234556" y="0"/>
                  </a:moveTo>
                  <a:lnTo>
                    <a:pt x="187285" y="4862"/>
                  </a:lnTo>
                  <a:lnTo>
                    <a:pt x="143257" y="18807"/>
                  </a:lnTo>
                  <a:lnTo>
                    <a:pt x="103414" y="40872"/>
                  </a:lnTo>
                  <a:lnTo>
                    <a:pt x="68700" y="70096"/>
                  </a:lnTo>
                  <a:lnTo>
                    <a:pt x="40059" y="105514"/>
                  </a:lnTo>
                  <a:lnTo>
                    <a:pt x="18432" y="146166"/>
                  </a:lnTo>
                  <a:lnTo>
                    <a:pt x="4765" y="191088"/>
                  </a:lnTo>
                  <a:lnTo>
                    <a:pt x="0" y="239318"/>
                  </a:lnTo>
                  <a:lnTo>
                    <a:pt x="4765" y="287548"/>
                  </a:lnTo>
                  <a:lnTo>
                    <a:pt x="18432" y="332471"/>
                  </a:lnTo>
                  <a:lnTo>
                    <a:pt x="40059" y="373122"/>
                  </a:lnTo>
                  <a:lnTo>
                    <a:pt x="68700" y="408541"/>
                  </a:lnTo>
                  <a:lnTo>
                    <a:pt x="103414" y="437764"/>
                  </a:lnTo>
                  <a:lnTo>
                    <a:pt x="143257" y="459830"/>
                  </a:lnTo>
                  <a:lnTo>
                    <a:pt x="187285" y="473775"/>
                  </a:lnTo>
                  <a:lnTo>
                    <a:pt x="234556" y="478637"/>
                  </a:lnTo>
                  <a:lnTo>
                    <a:pt x="281826" y="473775"/>
                  </a:lnTo>
                  <a:lnTo>
                    <a:pt x="325853" y="459830"/>
                  </a:lnTo>
                  <a:lnTo>
                    <a:pt x="365694" y="437764"/>
                  </a:lnTo>
                  <a:lnTo>
                    <a:pt x="400405" y="408541"/>
                  </a:lnTo>
                  <a:lnTo>
                    <a:pt x="429044" y="373122"/>
                  </a:lnTo>
                  <a:lnTo>
                    <a:pt x="450669" y="332471"/>
                  </a:lnTo>
                  <a:lnTo>
                    <a:pt x="464335" y="287548"/>
                  </a:lnTo>
                  <a:lnTo>
                    <a:pt x="469099" y="239318"/>
                  </a:lnTo>
                  <a:lnTo>
                    <a:pt x="464335" y="191088"/>
                  </a:lnTo>
                  <a:lnTo>
                    <a:pt x="450669" y="146166"/>
                  </a:lnTo>
                  <a:lnTo>
                    <a:pt x="429044" y="105514"/>
                  </a:lnTo>
                  <a:lnTo>
                    <a:pt x="400405" y="70096"/>
                  </a:lnTo>
                  <a:lnTo>
                    <a:pt x="365694" y="40872"/>
                  </a:lnTo>
                  <a:lnTo>
                    <a:pt x="325853" y="18807"/>
                  </a:lnTo>
                  <a:lnTo>
                    <a:pt x="281826" y="4862"/>
                  </a:lnTo>
                  <a:lnTo>
                    <a:pt x="234556" y="0"/>
                  </a:lnTo>
                  <a:close/>
                </a:path>
              </a:pathLst>
            </a:custGeom>
            <a:solidFill>
              <a:srgbClr val="0091FE">
                <a:alpha val="43136"/>
              </a:srgbClr>
            </a:solidFill>
          </p:spPr>
          <p:txBody>
            <a:bodyPr wrap="square" lIns="0" tIns="0" rIns="0" bIns="0" rtlCol="0"/>
            <a:lstStyle/>
            <a:p/>
          </p:txBody>
        </p:sp>
        <p:sp>
          <p:nvSpPr>
            <p:cNvPr id="60" name="object 60" descr=""/>
            <p:cNvSpPr/>
            <p:nvPr/>
          </p:nvSpPr>
          <p:spPr>
            <a:xfrm>
              <a:off x="4424085" y="3190681"/>
              <a:ext cx="335915" cy="342900"/>
            </a:xfrm>
            <a:custGeom>
              <a:avLst/>
              <a:gdLst/>
              <a:ahLst/>
              <a:cxnLst/>
              <a:rect l="l" t="t" r="r" b="b"/>
              <a:pathLst>
                <a:path w="335914" h="342900">
                  <a:moveTo>
                    <a:pt x="167881" y="0"/>
                  </a:moveTo>
                  <a:lnTo>
                    <a:pt x="123250" y="6124"/>
                  </a:lnTo>
                  <a:lnTo>
                    <a:pt x="83146" y="23407"/>
                  </a:lnTo>
                  <a:lnTo>
                    <a:pt x="49169" y="50215"/>
                  </a:lnTo>
                  <a:lnTo>
                    <a:pt x="22919" y="84915"/>
                  </a:lnTo>
                  <a:lnTo>
                    <a:pt x="5996" y="125871"/>
                  </a:lnTo>
                  <a:lnTo>
                    <a:pt x="0" y="171450"/>
                  </a:lnTo>
                  <a:lnTo>
                    <a:pt x="5996" y="217028"/>
                  </a:lnTo>
                  <a:lnTo>
                    <a:pt x="22919" y="257984"/>
                  </a:lnTo>
                  <a:lnTo>
                    <a:pt x="49169" y="292684"/>
                  </a:lnTo>
                  <a:lnTo>
                    <a:pt x="83146" y="319492"/>
                  </a:lnTo>
                  <a:lnTo>
                    <a:pt x="123250" y="336775"/>
                  </a:lnTo>
                  <a:lnTo>
                    <a:pt x="167881" y="342900"/>
                  </a:lnTo>
                  <a:lnTo>
                    <a:pt x="212506" y="336775"/>
                  </a:lnTo>
                  <a:lnTo>
                    <a:pt x="252607" y="319492"/>
                  </a:lnTo>
                  <a:lnTo>
                    <a:pt x="286581" y="292684"/>
                  </a:lnTo>
                  <a:lnTo>
                    <a:pt x="312830" y="257984"/>
                  </a:lnTo>
                  <a:lnTo>
                    <a:pt x="329753" y="217028"/>
                  </a:lnTo>
                  <a:lnTo>
                    <a:pt x="335749" y="171450"/>
                  </a:lnTo>
                  <a:lnTo>
                    <a:pt x="329753" y="125871"/>
                  </a:lnTo>
                  <a:lnTo>
                    <a:pt x="312830" y="84915"/>
                  </a:lnTo>
                  <a:lnTo>
                    <a:pt x="286581" y="50215"/>
                  </a:lnTo>
                  <a:lnTo>
                    <a:pt x="252607" y="23407"/>
                  </a:lnTo>
                  <a:lnTo>
                    <a:pt x="212506" y="6124"/>
                  </a:lnTo>
                  <a:lnTo>
                    <a:pt x="167881" y="0"/>
                  </a:lnTo>
                  <a:close/>
                </a:path>
              </a:pathLst>
            </a:custGeom>
            <a:solidFill>
              <a:srgbClr val="0091FE"/>
            </a:solidFill>
          </p:spPr>
          <p:txBody>
            <a:bodyPr wrap="square" lIns="0" tIns="0" rIns="0" bIns="0" rtlCol="0"/>
            <a:lstStyle/>
            <a:p/>
          </p:txBody>
        </p:sp>
        <p:pic>
          <p:nvPicPr>
            <p:cNvPr id="61" name="object 61"/>
            <p:cNvPicPr/>
            <p:nvPr/>
          </p:nvPicPr>
          <p:blipFill>
            <a:blip r:embed="rId21" cstate="print"/>
            <a:stretch>
              <a:fillRect/>
            </a:stretch>
          </p:blipFill>
          <p:spPr>
            <a:xfrm>
              <a:off x="4436856" y="3259475"/>
              <a:ext cx="310213" cy="205312"/>
            </a:xfrm>
            <a:prstGeom prst="rect">
              <a:avLst/>
            </a:prstGeom>
          </p:spPr>
        </p:pic>
      </p:grpSp>
      <p:sp>
        <p:nvSpPr>
          <p:cNvPr id="62" name="object 62" descr=""/>
          <p:cNvSpPr txBox="1"/>
          <p:nvPr/>
        </p:nvSpPr>
        <p:spPr>
          <a:xfrm>
            <a:off x="6100355" y="3738705"/>
            <a:ext cx="139700" cy="4826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视频上墙</a:t>
            </a:r>
            <a:endParaRPr sz="900">
              <a:latin typeface="Microsoft YaHei"/>
              <a:cs typeface="Microsoft YaHei"/>
            </a:endParaRPr>
          </a:p>
        </p:txBody>
      </p:sp>
      <p:grpSp>
        <p:nvGrpSpPr>
          <p:cNvPr id="63" name="object 63" descr=""/>
          <p:cNvGrpSpPr/>
          <p:nvPr/>
        </p:nvGrpSpPr>
        <p:grpSpPr>
          <a:xfrm>
            <a:off x="5280940" y="3789429"/>
            <a:ext cx="418465" cy="373380"/>
            <a:chOff x="5280940" y="3789429"/>
            <a:chExt cx="418465" cy="373380"/>
          </a:xfrm>
        </p:grpSpPr>
        <p:sp>
          <p:nvSpPr>
            <p:cNvPr id="64" name="object 64" descr=""/>
            <p:cNvSpPr/>
            <p:nvPr/>
          </p:nvSpPr>
          <p:spPr>
            <a:xfrm>
              <a:off x="5293640" y="3802129"/>
              <a:ext cx="393065" cy="347980"/>
            </a:xfrm>
            <a:custGeom>
              <a:avLst/>
              <a:gdLst/>
              <a:ahLst/>
              <a:cxnLst/>
              <a:rect l="l" t="t" r="r" b="b"/>
              <a:pathLst>
                <a:path w="393064" h="347979">
                  <a:moveTo>
                    <a:pt x="219075" y="0"/>
                  </a:moveTo>
                  <a:lnTo>
                    <a:pt x="219075" y="86918"/>
                  </a:lnTo>
                  <a:lnTo>
                    <a:pt x="0" y="86918"/>
                  </a:lnTo>
                  <a:lnTo>
                    <a:pt x="0" y="260743"/>
                  </a:lnTo>
                  <a:lnTo>
                    <a:pt x="219075" y="260743"/>
                  </a:lnTo>
                  <a:lnTo>
                    <a:pt x="219075" y="347662"/>
                  </a:lnTo>
                  <a:lnTo>
                    <a:pt x="392899" y="173837"/>
                  </a:lnTo>
                  <a:lnTo>
                    <a:pt x="219075" y="0"/>
                  </a:lnTo>
                  <a:close/>
                </a:path>
              </a:pathLst>
            </a:custGeom>
            <a:solidFill>
              <a:srgbClr val="C00000"/>
            </a:solidFill>
          </p:spPr>
          <p:txBody>
            <a:bodyPr wrap="square" lIns="0" tIns="0" rIns="0" bIns="0" rtlCol="0"/>
            <a:lstStyle/>
            <a:p/>
          </p:txBody>
        </p:sp>
        <p:sp>
          <p:nvSpPr>
            <p:cNvPr id="65" name="object 65" descr=""/>
            <p:cNvSpPr/>
            <p:nvPr/>
          </p:nvSpPr>
          <p:spPr>
            <a:xfrm>
              <a:off x="5293640" y="3802129"/>
              <a:ext cx="393065" cy="347980"/>
            </a:xfrm>
            <a:custGeom>
              <a:avLst/>
              <a:gdLst/>
              <a:ahLst/>
              <a:cxnLst/>
              <a:rect l="l" t="t" r="r" b="b"/>
              <a:pathLst>
                <a:path w="393064" h="347979">
                  <a:moveTo>
                    <a:pt x="0" y="86918"/>
                  </a:moveTo>
                  <a:lnTo>
                    <a:pt x="219075" y="86918"/>
                  </a:lnTo>
                  <a:lnTo>
                    <a:pt x="219075" y="0"/>
                  </a:lnTo>
                  <a:lnTo>
                    <a:pt x="392899" y="173837"/>
                  </a:lnTo>
                  <a:lnTo>
                    <a:pt x="219075" y="347662"/>
                  </a:lnTo>
                  <a:lnTo>
                    <a:pt x="219075" y="260743"/>
                  </a:lnTo>
                  <a:lnTo>
                    <a:pt x="0" y="260743"/>
                  </a:lnTo>
                  <a:lnTo>
                    <a:pt x="0" y="86918"/>
                  </a:lnTo>
                  <a:close/>
                </a:path>
              </a:pathLst>
            </a:custGeom>
            <a:ln w="25400">
              <a:solidFill>
                <a:srgbClr val="F2F2F2"/>
              </a:solidFill>
            </a:ln>
          </p:spPr>
          <p:txBody>
            <a:bodyPr wrap="square" lIns="0" tIns="0" rIns="0" bIns="0" rtlCol="0"/>
            <a:lstStyle/>
            <a:p/>
          </p:txBody>
        </p:sp>
      </p:grpSp>
      <p:pic>
        <p:nvPicPr>
          <p:cNvPr id="66" name="object 66"/>
          <p:cNvPicPr/>
          <p:nvPr/>
        </p:nvPicPr>
        <p:blipFill>
          <a:blip r:embed="rId22" cstate="print"/>
          <a:stretch>
            <a:fillRect/>
          </a:stretch>
        </p:blipFill>
        <p:spPr>
          <a:xfrm>
            <a:off x="6318402" y="3411971"/>
            <a:ext cx="1896661" cy="1100135"/>
          </a:xfrm>
          <a:prstGeom prst="rect">
            <a:avLst/>
          </a:prstGeom>
        </p:spPr>
      </p:pic>
      <p:sp>
        <p:nvSpPr>
          <p:cNvPr id="67" name="object 67" descr=""/>
          <p:cNvSpPr txBox="1"/>
          <p:nvPr/>
        </p:nvSpPr>
        <p:spPr>
          <a:xfrm>
            <a:off x="1624068" y="4586716"/>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FF0000"/>
                </a:solidFill>
                <a:latin typeface="Microsoft YaHei"/>
                <a:cs typeface="Microsoft YaHei"/>
              </a:rPr>
              <a:t>周界入侵告警</a:t>
            </a:r>
            <a:endParaRPr sz="900">
              <a:latin typeface="Microsoft YaHei"/>
              <a:cs typeface="Microsoft YaHei"/>
            </a:endParaRPr>
          </a:p>
        </p:txBody>
      </p:sp>
      <p:sp>
        <p:nvSpPr>
          <p:cNvPr id="68" name="object 68" descr=""/>
          <p:cNvSpPr txBox="1"/>
          <p:nvPr/>
        </p:nvSpPr>
        <p:spPr>
          <a:xfrm>
            <a:off x="4243709" y="4615405"/>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FF0000"/>
                </a:solidFill>
                <a:latin typeface="Microsoft YaHei"/>
                <a:cs typeface="Microsoft YaHei"/>
              </a:rPr>
              <a:t>危险区域告警</a:t>
            </a:r>
            <a:endParaRPr sz="900">
              <a:latin typeface="Microsoft YaHei"/>
              <a:cs typeface="Microsoft YaHei"/>
            </a:endParaRPr>
          </a:p>
        </p:txBody>
      </p:sp>
      <p:sp>
        <p:nvSpPr>
          <p:cNvPr id="69" name="object 69" descr=""/>
          <p:cNvSpPr txBox="1"/>
          <p:nvPr/>
        </p:nvSpPr>
        <p:spPr>
          <a:xfrm>
            <a:off x="3006412" y="4581916"/>
            <a:ext cx="711200" cy="162560"/>
          </a:xfrm>
          <a:prstGeom prst="rect">
            <a:avLst/>
          </a:prstGeom>
        </p:spPr>
        <p:txBody>
          <a:bodyPr wrap="square" lIns="0" tIns="12700" rIns="0" bIns="0" rtlCol="0" vert="horz">
            <a:spAutoFit/>
          </a:bodyPr>
          <a:lstStyle/>
          <a:p>
            <a:pPr marL="12700">
              <a:lnSpc>
                <a:spcPct val="100000"/>
              </a:lnSpc>
              <a:spcBef>
                <a:spcPts val="100"/>
              </a:spcBef>
            </a:pPr>
            <a:r>
              <a:rPr dirty="0" sz="900" spc="-10" b="1">
                <a:solidFill>
                  <a:srgbClr val="FF0000"/>
                </a:solidFill>
                <a:latin typeface="Microsoft YaHei"/>
                <a:cs typeface="Microsoft YaHei"/>
              </a:rPr>
              <a:t>非法徘徊告警</a:t>
            </a:r>
            <a:endParaRPr sz="900">
              <a:latin typeface="Microsoft YaHei"/>
              <a:cs typeface="Microsoft YaHe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6998" y="166306"/>
            <a:ext cx="3228340" cy="513080"/>
          </a:xfrm>
          <a:prstGeom prst="rect"/>
        </p:spPr>
        <p:txBody>
          <a:bodyPr wrap="square" lIns="0" tIns="12065" rIns="0" bIns="0" rtlCol="0" vert="horz">
            <a:spAutoFit/>
          </a:bodyPr>
          <a:lstStyle/>
          <a:p>
            <a:pPr marL="12700">
              <a:lnSpc>
                <a:spcPct val="100000"/>
              </a:lnSpc>
              <a:spcBef>
                <a:spcPts val="95"/>
              </a:spcBef>
            </a:pPr>
            <a:r>
              <a:rPr dirty="0" spc="-330"/>
              <a:t>视频监控</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1057719" y="841222"/>
            <a:ext cx="336550" cy="205740"/>
          </a:xfrm>
          <a:custGeom>
            <a:avLst/>
            <a:gdLst/>
            <a:ahLst/>
            <a:cxnLst/>
            <a:rect l="l" t="t" r="r" b="b"/>
            <a:pathLst>
              <a:path w="336550" h="205740">
                <a:moveTo>
                  <a:pt x="336105" y="0"/>
                </a:moveTo>
                <a:lnTo>
                  <a:pt x="0" y="0"/>
                </a:lnTo>
                <a:lnTo>
                  <a:pt x="0" y="205384"/>
                </a:lnTo>
                <a:lnTo>
                  <a:pt x="336105" y="205384"/>
                </a:lnTo>
                <a:lnTo>
                  <a:pt x="336105" y="0"/>
                </a:lnTo>
                <a:close/>
              </a:path>
            </a:pathLst>
          </a:custGeom>
          <a:solidFill>
            <a:srgbClr val="A40000"/>
          </a:solidFill>
        </p:spPr>
        <p:txBody>
          <a:bodyPr wrap="square" lIns="0" tIns="0" rIns="0" bIns="0" rtlCol="0"/>
          <a:lstStyle/>
          <a:p/>
        </p:txBody>
      </p:sp>
      <p:sp>
        <p:nvSpPr>
          <p:cNvPr id="4" name="object 4" descr=""/>
          <p:cNvSpPr txBox="1"/>
          <p:nvPr/>
        </p:nvSpPr>
        <p:spPr>
          <a:xfrm>
            <a:off x="917007" y="835855"/>
            <a:ext cx="7197725" cy="1349375"/>
          </a:xfrm>
          <a:prstGeom prst="rect">
            <a:avLst/>
          </a:prstGeom>
        </p:spPr>
        <p:txBody>
          <a:bodyPr wrap="square" lIns="0" tIns="12700" rIns="0" bIns="0" rtlCol="0" vert="horz">
            <a:spAutoFit/>
          </a:bodyPr>
          <a:lstStyle/>
          <a:p>
            <a:pPr marL="65468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marL="173355" indent="-160655">
              <a:lnSpc>
                <a:spcPct val="100000"/>
              </a:lnSpc>
              <a:spcBef>
                <a:spcPts val="1060"/>
              </a:spcBef>
              <a:buFont typeface="Wingdings"/>
              <a:buChar char=""/>
              <a:tabLst>
                <a:tab pos="173355" algn="l"/>
              </a:tabLst>
            </a:pPr>
            <a:r>
              <a:rPr dirty="0" sz="1200" spc="-5">
                <a:latin typeface="Microsoft YaHei"/>
                <a:cs typeface="Microsoft YaHei"/>
              </a:rPr>
              <a:t>加强了物业对园区的安防监控，减少巡更人力成本，提供了高效的服务。</a:t>
            </a:r>
            <a:endParaRPr sz="1200">
              <a:latin typeface="Microsoft YaHei"/>
              <a:cs typeface="Microsoft YaHei"/>
            </a:endParaRPr>
          </a:p>
          <a:p>
            <a:pPr marL="172720" marR="5080" indent="-160655">
              <a:lnSpc>
                <a:spcPct val="150000"/>
              </a:lnSpc>
              <a:buFont typeface="Wingdings"/>
              <a:buChar char=""/>
              <a:tabLst>
                <a:tab pos="173990" algn="l"/>
              </a:tabLst>
            </a:pPr>
            <a:r>
              <a:rPr dirty="0" sz="1200" spc="-5">
                <a:latin typeface="Microsoft YaHei"/>
                <a:cs typeface="Microsoft YaHei"/>
              </a:rPr>
              <a:t>可提升视频的增值服务，物业提供多种收费模式，根据授权的通道数、码流、预览时间提供多种的月收费</a:t>
            </a:r>
            <a:r>
              <a:rPr dirty="0" sz="1200" spc="-5">
                <a:latin typeface="Microsoft YaHei"/>
                <a:cs typeface="Microsoft YaHei"/>
              </a:rPr>
              <a:t>	</a:t>
            </a:r>
            <a:r>
              <a:rPr dirty="0" sz="1200" spc="-20">
                <a:latin typeface="Microsoft YaHei"/>
                <a:cs typeface="Microsoft YaHei"/>
              </a:rPr>
              <a:t>标准。</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视频叠加商业广告，增加物业收入。</a:t>
            </a:r>
            <a:endParaRPr sz="1200">
              <a:latin typeface="Microsoft YaHei"/>
              <a:cs typeface="Microsoft YaHei"/>
            </a:endParaRPr>
          </a:p>
        </p:txBody>
      </p:sp>
      <p:grpSp>
        <p:nvGrpSpPr>
          <p:cNvPr id="5" name="object 5" descr=""/>
          <p:cNvGrpSpPr/>
          <p:nvPr/>
        </p:nvGrpSpPr>
        <p:grpSpPr>
          <a:xfrm>
            <a:off x="2369819" y="2269235"/>
            <a:ext cx="4031615" cy="2258695"/>
            <a:chOff x="2369819" y="2269235"/>
            <a:chExt cx="4031615" cy="2258695"/>
          </a:xfrm>
        </p:grpSpPr>
        <p:pic>
          <p:nvPicPr>
            <p:cNvPr id="6" name="object 6"/>
            <p:cNvPicPr/>
            <p:nvPr/>
          </p:nvPicPr>
          <p:blipFill>
            <a:blip r:embed="rId2" cstate="print"/>
            <a:stretch>
              <a:fillRect/>
            </a:stretch>
          </p:blipFill>
          <p:spPr>
            <a:xfrm>
              <a:off x="4626063" y="2340345"/>
              <a:ext cx="1758550" cy="1079891"/>
            </a:xfrm>
            <a:prstGeom prst="rect">
              <a:avLst/>
            </a:prstGeom>
          </p:spPr>
        </p:pic>
        <p:pic>
          <p:nvPicPr>
            <p:cNvPr id="7" name="object 7"/>
            <p:cNvPicPr/>
            <p:nvPr/>
          </p:nvPicPr>
          <p:blipFill>
            <a:blip r:embed="rId3" cstate="print"/>
            <a:stretch>
              <a:fillRect/>
            </a:stretch>
          </p:blipFill>
          <p:spPr>
            <a:xfrm>
              <a:off x="2771068" y="2339153"/>
              <a:ext cx="1829989" cy="1079889"/>
            </a:xfrm>
            <a:prstGeom prst="rect">
              <a:avLst/>
            </a:prstGeom>
          </p:spPr>
        </p:pic>
        <p:pic>
          <p:nvPicPr>
            <p:cNvPr id="8" name="object 8"/>
            <p:cNvPicPr/>
            <p:nvPr/>
          </p:nvPicPr>
          <p:blipFill>
            <a:blip r:embed="rId4" cstate="print"/>
            <a:stretch>
              <a:fillRect/>
            </a:stretch>
          </p:blipFill>
          <p:spPr>
            <a:xfrm>
              <a:off x="2743684" y="3441674"/>
              <a:ext cx="1857373" cy="1079893"/>
            </a:xfrm>
            <a:prstGeom prst="rect">
              <a:avLst/>
            </a:prstGeom>
          </p:spPr>
        </p:pic>
        <p:pic>
          <p:nvPicPr>
            <p:cNvPr id="9" name="object 9"/>
            <p:cNvPicPr/>
            <p:nvPr/>
          </p:nvPicPr>
          <p:blipFill>
            <a:blip r:embed="rId5" cstate="print"/>
            <a:stretch>
              <a:fillRect/>
            </a:stretch>
          </p:blipFill>
          <p:spPr>
            <a:xfrm>
              <a:off x="4626063" y="3447630"/>
              <a:ext cx="1775218" cy="1079891"/>
            </a:xfrm>
            <a:prstGeom prst="rect">
              <a:avLst/>
            </a:prstGeom>
          </p:spPr>
        </p:pic>
        <p:sp>
          <p:nvSpPr>
            <p:cNvPr id="10" name="object 10" descr=""/>
            <p:cNvSpPr/>
            <p:nvPr/>
          </p:nvSpPr>
          <p:spPr>
            <a:xfrm>
              <a:off x="3661656" y="2718967"/>
              <a:ext cx="2043430" cy="1531620"/>
            </a:xfrm>
            <a:custGeom>
              <a:avLst/>
              <a:gdLst/>
              <a:ahLst/>
              <a:cxnLst/>
              <a:rect l="l" t="t" r="r" b="b"/>
              <a:pathLst>
                <a:path w="2043429" h="1531620">
                  <a:moveTo>
                    <a:pt x="1021562" y="0"/>
                  </a:moveTo>
                  <a:lnTo>
                    <a:pt x="967308" y="1061"/>
                  </a:lnTo>
                  <a:lnTo>
                    <a:pt x="913791" y="4209"/>
                  </a:lnTo>
                  <a:lnTo>
                    <a:pt x="861082" y="9392"/>
                  </a:lnTo>
                  <a:lnTo>
                    <a:pt x="809252" y="16555"/>
                  </a:lnTo>
                  <a:lnTo>
                    <a:pt x="758372" y="25647"/>
                  </a:lnTo>
                  <a:lnTo>
                    <a:pt x="708511" y="36615"/>
                  </a:lnTo>
                  <a:lnTo>
                    <a:pt x="659741" y="49405"/>
                  </a:lnTo>
                  <a:lnTo>
                    <a:pt x="612133" y="63965"/>
                  </a:lnTo>
                  <a:lnTo>
                    <a:pt x="565756" y="80242"/>
                  </a:lnTo>
                  <a:lnTo>
                    <a:pt x="520681" y="98182"/>
                  </a:lnTo>
                  <a:lnTo>
                    <a:pt x="476980" y="117733"/>
                  </a:lnTo>
                  <a:lnTo>
                    <a:pt x="434722" y="138843"/>
                  </a:lnTo>
                  <a:lnTo>
                    <a:pt x="393978" y="161457"/>
                  </a:lnTo>
                  <a:lnTo>
                    <a:pt x="354819" y="185524"/>
                  </a:lnTo>
                  <a:lnTo>
                    <a:pt x="317316" y="210990"/>
                  </a:lnTo>
                  <a:lnTo>
                    <a:pt x="281538" y="237802"/>
                  </a:lnTo>
                  <a:lnTo>
                    <a:pt x="247557" y="265907"/>
                  </a:lnTo>
                  <a:lnTo>
                    <a:pt x="215443" y="295254"/>
                  </a:lnTo>
                  <a:lnTo>
                    <a:pt x="185267" y="325787"/>
                  </a:lnTo>
                  <a:lnTo>
                    <a:pt x="157100" y="357456"/>
                  </a:lnTo>
                  <a:lnTo>
                    <a:pt x="131011" y="390206"/>
                  </a:lnTo>
                  <a:lnTo>
                    <a:pt x="107072" y="423986"/>
                  </a:lnTo>
                  <a:lnTo>
                    <a:pt x="85353" y="458741"/>
                  </a:lnTo>
                  <a:lnTo>
                    <a:pt x="65925" y="494419"/>
                  </a:lnTo>
                  <a:lnTo>
                    <a:pt x="48858" y="530967"/>
                  </a:lnTo>
                  <a:lnTo>
                    <a:pt x="34223" y="568333"/>
                  </a:lnTo>
                  <a:lnTo>
                    <a:pt x="22091" y="606463"/>
                  </a:lnTo>
                  <a:lnTo>
                    <a:pt x="12532" y="645304"/>
                  </a:lnTo>
                  <a:lnTo>
                    <a:pt x="5616" y="684804"/>
                  </a:lnTo>
                  <a:lnTo>
                    <a:pt x="1416" y="724910"/>
                  </a:lnTo>
                  <a:lnTo>
                    <a:pt x="0" y="765568"/>
                  </a:lnTo>
                  <a:lnTo>
                    <a:pt x="1416" y="806228"/>
                  </a:lnTo>
                  <a:lnTo>
                    <a:pt x="5616" y="846334"/>
                  </a:lnTo>
                  <a:lnTo>
                    <a:pt x="12532" y="885835"/>
                  </a:lnTo>
                  <a:lnTo>
                    <a:pt x="22091" y="924677"/>
                  </a:lnTo>
                  <a:lnTo>
                    <a:pt x="34223" y="962808"/>
                  </a:lnTo>
                  <a:lnTo>
                    <a:pt x="48858" y="1000174"/>
                  </a:lnTo>
                  <a:lnTo>
                    <a:pt x="65925" y="1036723"/>
                  </a:lnTo>
                  <a:lnTo>
                    <a:pt x="85353" y="1072401"/>
                  </a:lnTo>
                  <a:lnTo>
                    <a:pt x="107072" y="1107156"/>
                  </a:lnTo>
                  <a:lnTo>
                    <a:pt x="131011" y="1140936"/>
                  </a:lnTo>
                  <a:lnTo>
                    <a:pt x="157100" y="1173686"/>
                  </a:lnTo>
                  <a:lnTo>
                    <a:pt x="185267" y="1205354"/>
                  </a:lnTo>
                  <a:lnTo>
                    <a:pt x="215443" y="1235888"/>
                  </a:lnTo>
                  <a:lnTo>
                    <a:pt x="247557" y="1265234"/>
                  </a:lnTo>
                  <a:lnTo>
                    <a:pt x="281538" y="1293340"/>
                  </a:lnTo>
                  <a:lnTo>
                    <a:pt x="317316" y="1320151"/>
                  </a:lnTo>
                  <a:lnTo>
                    <a:pt x="354819" y="1345617"/>
                  </a:lnTo>
                  <a:lnTo>
                    <a:pt x="393978" y="1369683"/>
                  </a:lnTo>
                  <a:lnTo>
                    <a:pt x="434722" y="1392297"/>
                  </a:lnTo>
                  <a:lnTo>
                    <a:pt x="476980" y="1413406"/>
                  </a:lnTo>
                  <a:lnTo>
                    <a:pt x="520681" y="1432957"/>
                  </a:lnTo>
                  <a:lnTo>
                    <a:pt x="565756" y="1450897"/>
                  </a:lnTo>
                  <a:lnTo>
                    <a:pt x="612133" y="1467173"/>
                  </a:lnTo>
                  <a:lnTo>
                    <a:pt x="659741" y="1481733"/>
                  </a:lnTo>
                  <a:lnTo>
                    <a:pt x="708511" y="1494522"/>
                  </a:lnTo>
                  <a:lnTo>
                    <a:pt x="758372" y="1505490"/>
                  </a:lnTo>
                  <a:lnTo>
                    <a:pt x="809252" y="1514582"/>
                  </a:lnTo>
                  <a:lnTo>
                    <a:pt x="861082" y="1521745"/>
                  </a:lnTo>
                  <a:lnTo>
                    <a:pt x="913791" y="1526928"/>
                  </a:lnTo>
                  <a:lnTo>
                    <a:pt x="967308" y="1530076"/>
                  </a:lnTo>
                  <a:lnTo>
                    <a:pt x="1021562" y="1531137"/>
                  </a:lnTo>
                  <a:lnTo>
                    <a:pt x="1075815" y="1530076"/>
                  </a:lnTo>
                  <a:lnTo>
                    <a:pt x="1129331" y="1526928"/>
                  </a:lnTo>
                  <a:lnTo>
                    <a:pt x="1182039" y="1521745"/>
                  </a:lnTo>
                  <a:lnTo>
                    <a:pt x="1233868" y="1514582"/>
                  </a:lnTo>
                  <a:lnTo>
                    <a:pt x="1284747" y="1505490"/>
                  </a:lnTo>
                  <a:lnTo>
                    <a:pt x="1334607" y="1494522"/>
                  </a:lnTo>
                  <a:lnTo>
                    <a:pt x="1383376" y="1481733"/>
                  </a:lnTo>
                  <a:lnTo>
                    <a:pt x="1430984" y="1467173"/>
                  </a:lnTo>
                  <a:lnTo>
                    <a:pt x="1477360" y="1450897"/>
                  </a:lnTo>
                  <a:lnTo>
                    <a:pt x="1522434" y="1432957"/>
                  </a:lnTo>
                  <a:lnTo>
                    <a:pt x="1566135" y="1413406"/>
                  </a:lnTo>
                  <a:lnTo>
                    <a:pt x="1608393" y="1392297"/>
                  </a:lnTo>
                  <a:lnTo>
                    <a:pt x="1649136" y="1369683"/>
                  </a:lnTo>
                  <a:lnTo>
                    <a:pt x="1688294" y="1345617"/>
                  </a:lnTo>
                  <a:lnTo>
                    <a:pt x="1725798" y="1320151"/>
                  </a:lnTo>
                  <a:lnTo>
                    <a:pt x="1761575" y="1293340"/>
                  </a:lnTo>
                  <a:lnTo>
                    <a:pt x="1795556" y="1265234"/>
                  </a:lnTo>
                  <a:lnTo>
                    <a:pt x="1827669" y="1235888"/>
                  </a:lnTo>
                  <a:lnTo>
                    <a:pt x="1857845" y="1205354"/>
                  </a:lnTo>
                  <a:lnTo>
                    <a:pt x="1886012" y="1173686"/>
                  </a:lnTo>
                  <a:lnTo>
                    <a:pt x="1912101" y="1140936"/>
                  </a:lnTo>
                  <a:lnTo>
                    <a:pt x="1936040" y="1107156"/>
                  </a:lnTo>
                  <a:lnTo>
                    <a:pt x="1957759" y="1072401"/>
                  </a:lnTo>
                  <a:lnTo>
                    <a:pt x="1977187" y="1036723"/>
                  </a:lnTo>
                  <a:lnTo>
                    <a:pt x="1994254" y="1000174"/>
                  </a:lnTo>
                  <a:lnTo>
                    <a:pt x="2008888" y="962808"/>
                  </a:lnTo>
                  <a:lnTo>
                    <a:pt x="2021021" y="924677"/>
                  </a:lnTo>
                  <a:lnTo>
                    <a:pt x="2030580" y="885835"/>
                  </a:lnTo>
                  <a:lnTo>
                    <a:pt x="2037495" y="846334"/>
                  </a:lnTo>
                  <a:lnTo>
                    <a:pt x="2041696" y="806228"/>
                  </a:lnTo>
                  <a:lnTo>
                    <a:pt x="2043112" y="765568"/>
                  </a:lnTo>
                  <a:lnTo>
                    <a:pt x="2041696" y="724910"/>
                  </a:lnTo>
                  <a:lnTo>
                    <a:pt x="2037495" y="684804"/>
                  </a:lnTo>
                  <a:lnTo>
                    <a:pt x="2030580" y="645304"/>
                  </a:lnTo>
                  <a:lnTo>
                    <a:pt x="2021021" y="606463"/>
                  </a:lnTo>
                  <a:lnTo>
                    <a:pt x="2008888" y="568333"/>
                  </a:lnTo>
                  <a:lnTo>
                    <a:pt x="1994254" y="530967"/>
                  </a:lnTo>
                  <a:lnTo>
                    <a:pt x="1977187" y="494419"/>
                  </a:lnTo>
                  <a:lnTo>
                    <a:pt x="1957759" y="458741"/>
                  </a:lnTo>
                  <a:lnTo>
                    <a:pt x="1936040" y="423986"/>
                  </a:lnTo>
                  <a:lnTo>
                    <a:pt x="1912101" y="390206"/>
                  </a:lnTo>
                  <a:lnTo>
                    <a:pt x="1886012" y="357456"/>
                  </a:lnTo>
                  <a:lnTo>
                    <a:pt x="1857845" y="325787"/>
                  </a:lnTo>
                  <a:lnTo>
                    <a:pt x="1827669" y="295254"/>
                  </a:lnTo>
                  <a:lnTo>
                    <a:pt x="1795556" y="265907"/>
                  </a:lnTo>
                  <a:lnTo>
                    <a:pt x="1761575" y="237802"/>
                  </a:lnTo>
                  <a:lnTo>
                    <a:pt x="1725798" y="210990"/>
                  </a:lnTo>
                  <a:lnTo>
                    <a:pt x="1688294" y="185524"/>
                  </a:lnTo>
                  <a:lnTo>
                    <a:pt x="1649136" y="161457"/>
                  </a:lnTo>
                  <a:lnTo>
                    <a:pt x="1608393" y="138843"/>
                  </a:lnTo>
                  <a:lnTo>
                    <a:pt x="1566135" y="117733"/>
                  </a:lnTo>
                  <a:lnTo>
                    <a:pt x="1522434" y="98182"/>
                  </a:lnTo>
                  <a:lnTo>
                    <a:pt x="1477360" y="80242"/>
                  </a:lnTo>
                  <a:lnTo>
                    <a:pt x="1430984" y="63965"/>
                  </a:lnTo>
                  <a:lnTo>
                    <a:pt x="1383376" y="49405"/>
                  </a:lnTo>
                  <a:lnTo>
                    <a:pt x="1334607" y="36615"/>
                  </a:lnTo>
                  <a:lnTo>
                    <a:pt x="1284747" y="25647"/>
                  </a:lnTo>
                  <a:lnTo>
                    <a:pt x="1233868" y="16555"/>
                  </a:lnTo>
                  <a:lnTo>
                    <a:pt x="1182039" y="9392"/>
                  </a:lnTo>
                  <a:lnTo>
                    <a:pt x="1129331" y="4209"/>
                  </a:lnTo>
                  <a:lnTo>
                    <a:pt x="1075815" y="1061"/>
                  </a:lnTo>
                  <a:lnTo>
                    <a:pt x="1021562" y="0"/>
                  </a:lnTo>
                  <a:close/>
                </a:path>
              </a:pathLst>
            </a:custGeom>
            <a:solidFill>
              <a:srgbClr val="9A9A9A"/>
            </a:solidFill>
          </p:spPr>
          <p:txBody>
            <a:bodyPr wrap="square" lIns="0" tIns="0" rIns="0" bIns="0" rtlCol="0"/>
            <a:lstStyle/>
            <a:p/>
          </p:txBody>
        </p:sp>
        <p:sp>
          <p:nvSpPr>
            <p:cNvPr id="11" name="object 11" descr=""/>
            <p:cNvSpPr/>
            <p:nvPr/>
          </p:nvSpPr>
          <p:spPr>
            <a:xfrm>
              <a:off x="3661656" y="2718967"/>
              <a:ext cx="2043430" cy="1531620"/>
            </a:xfrm>
            <a:custGeom>
              <a:avLst/>
              <a:gdLst/>
              <a:ahLst/>
              <a:cxnLst/>
              <a:rect l="l" t="t" r="r" b="b"/>
              <a:pathLst>
                <a:path w="2043429" h="1531620">
                  <a:moveTo>
                    <a:pt x="0" y="765568"/>
                  </a:moveTo>
                  <a:lnTo>
                    <a:pt x="1416" y="724910"/>
                  </a:lnTo>
                  <a:lnTo>
                    <a:pt x="5616" y="684804"/>
                  </a:lnTo>
                  <a:lnTo>
                    <a:pt x="12532" y="645304"/>
                  </a:lnTo>
                  <a:lnTo>
                    <a:pt x="22091" y="606463"/>
                  </a:lnTo>
                  <a:lnTo>
                    <a:pt x="34223" y="568333"/>
                  </a:lnTo>
                  <a:lnTo>
                    <a:pt x="48858" y="530967"/>
                  </a:lnTo>
                  <a:lnTo>
                    <a:pt x="65925" y="494419"/>
                  </a:lnTo>
                  <a:lnTo>
                    <a:pt x="85353" y="458741"/>
                  </a:lnTo>
                  <a:lnTo>
                    <a:pt x="107072" y="423986"/>
                  </a:lnTo>
                  <a:lnTo>
                    <a:pt x="131011" y="390206"/>
                  </a:lnTo>
                  <a:lnTo>
                    <a:pt x="157100" y="357456"/>
                  </a:lnTo>
                  <a:lnTo>
                    <a:pt x="185267" y="325787"/>
                  </a:lnTo>
                  <a:lnTo>
                    <a:pt x="215443" y="295254"/>
                  </a:lnTo>
                  <a:lnTo>
                    <a:pt x="247557" y="265907"/>
                  </a:lnTo>
                  <a:lnTo>
                    <a:pt x="281538" y="237802"/>
                  </a:lnTo>
                  <a:lnTo>
                    <a:pt x="317316" y="210990"/>
                  </a:lnTo>
                  <a:lnTo>
                    <a:pt x="354819" y="185524"/>
                  </a:lnTo>
                  <a:lnTo>
                    <a:pt x="393978" y="161457"/>
                  </a:lnTo>
                  <a:lnTo>
                    <a:pt x="434722" y="138843"/>
                  </a:lnTo>
                  <a:lnTo>
                    <a:pt x="476980" y="117733"/>
                  </a:lnTo>
                  <a:lnTo>
                    <a:pt x="520681" y="98182"/>
                  </a:lnTo>
                  <a:lnTo>
                    <a:pt x="565756" y="80242"/>
                  </a:lnTo>
                  <a:lnTo>
                    <a:pt x="612133" y="63965"/>
                  </a:lnTo>
                  <a:lnTo>
                    <a:pt x="659741" y="49405"/>
                  </a:lnTo>
                  <a:lnTo>
                    <a:pt x="708511" y="36615"/>
                  </a:lnTo>
                  <a:lnTo>
                    <a:pt x="758372" y="25647"/>
                  </a:lnTo>
                  <a:lnTo>
                    <a:pt x="809252" y="16555"/>
                  </a:lnTo>
                  <a:lnTo>
                    <a:pt x="861082" y="9392"/>
                  </a:lnTo>
                  <a:lnTo>
                    <a:pt x="913791" y="4209"/>
                  </a:lnTo>
                  <a:lnTo>
                    <a:pt x="967308" y="1061"/>
                  </a:lnTo>
                  <a:lnTo>
                    <a:pt x="1021562" y="0"/>
                  </a:lnTo>
                  <a:lnTo>
                    <a:pt x="1075815" y="1061"/>
                  </a:lnTo>
                  <a:lnTo>
                    <a:pt x="1129331" y="4209"/>
                  </a:lnTo>
                  <a:lnTo>
                    <a:pt x="1182039" y="9392"/>
                  </a:lnTo>
                  <a:lnTo>
                    <a:pt x="1233868" y="16555"/>
                  </a:lnTo>
                  <a:lnTo>
                    <a:pt x="1284747" y="25647"/>
                  </a:lnTo>
                  <a:lnTo>
                    <a:pt x="1334607" y="36615"/>
                  </a:lnTo>
                  <a:lnTo>
                    <a:pt x="1383376" y="49405"/>
                  </a:lnTo>
                  <a:lnTo>
                    <a:pt x="1430984" y="63965"/>
                  </a:lnTo>
                  <a:lnTo>
                    <a:pt x="1477360" y="80242"/>
                  </a:lnTo>
                  <a:lnTo>
                    <a:pt x="1522434" y="98182"/>
                  </a:lnTo>
                  <a:lnTo>
                    <a:pt x="1566135" y="117733"/>
                  </a:lnTo>
                  <a:lnTo>
                    <a:pt x="1608393" y="138843"/>
                  </a:lnTo>
                  <a:lnTo>
                    <a:pt x="1649136" y="161457"/>
                  </a:lnTo>
                  <a:lnTo>
                    <a:pt x="1688294" y="185524"/>
                  </a:lnTo>
                  <a:lnTo>
                    <a:pt x="1725798" y="210990"/>
                  </a:lnTo>
                  <a:lnTo>
                    <a:pt x="1761575" y="237802"/>
                  </a:lnTo>
                  <a:lnTo>
                    <a:pt x="1795556" y="265907"/>
                  </a:lnTo>
                  <a:lnTo>
                    <a:pt x="1827669" y="295254"/>
                  </a:lnTo>
                  <a:lnTo>
                    <a:pt x="1857845" y="325787"/>
                  </a:lnTo>
                  <a:lnTo>
                    <a:pt x="1886012" y="357456"/>
                  </a:lnTo>
                  <a:lnTo>
                    <a:pt x="1912101" y="390206"/>
                  </a:lnTo>
                  <a:lnTo>
                    <a:pt x="1936040" y="423986"/>
                  </a:lnTo>
                  <a:lnTo>
                    <a:pt x="1957759" y="458741"/>
                  </a:lnTo>
                  <a:lnTo>
                    <a:pt x="1977187" y="494419"/>
                  </a:lnTo>
                  <a:lnTo>
                    <a:pt x="1994254" y="530967"/>
                  </a:lnTo>
                  <a:lnTo>
                    <a:pt x="2008888" y="568333"/>
                  </a:lnTo>
                  <a:lnTo>
                    <a:pt x="2021021" y="606463"/>
                  </a:lnTo>
                  <a:lnTo>
                    <a:pt x="2030580" y="645304"/>
                  </a:lnTo>
                  <a:lnTo>
                    <a:pt x="2037495" y="684804"/>
                  </a:lnTo>
                  <a:lnTo>
                    <a:pt x="2041696" y="724910"/>
                  </a:lnTo>
                  <a:lnTo>
                    <a:pt x="2043112" y="765568"/>
                  </a:lnTo>
                  <a:lnTo>
                    <a:pt x="2041696" y="806228"/>
                  </a:lnTo>
                  <a:lnTo>
                    <a:pt x="2037495" y="846334"/>
                  </a:lnTo>
                  <a:lnTo>
                    <a:pt x="2030580" y="885835"/>
                  </a:lnTo>
                  <a:lnTo>
                    <a:pt x="2021021" y="924677"/>
                  </a:lnTo>
                  <a:lnTo>
                    <a:pt x="2008888" y="962808"/>
                  </a:lnTo>
                  <a:lnTo>
                    <a:pt x="1994254" y="1000174"/>
                  </a:lnTo>
                  <a:lnTo>
                    <a:pt x="1977187" y="1036723"/>
                  </a:lnTo>
                  <a:lnTo>
                    <a:pt x="1957759" y="1072401"/>
                  </a:lnTo>
                  <a:lnTo>
                    <a:pt x="1936040" y="1107156"/>
                  </a:lnTo>
                  <a:lnTo>
                    <a:pt x="1912101" y="1140936"/>
                  </a:lnTo>
                  <a:lnTo>
                    <a:pt x="1886012" y="1173686"/>
                  </a:lnTo>
                  <a:lnTo>
                    <a:pt x="1857845" y="1205354"/>
                  </a:lnTo>
                  <a:lnTo>
                    <a:pt x="1827669" y="1235888"/>
                  </a:lnTo>
                  <a:lnTo>
                    <a:pt x="1795556" y="1265234"/>
                  </a:lnTo>
                  <a:lnTo>
                    <a:pt x="1761575" y="1293340"/>
                  </a:lnTo>
                  <a:lnTo>
                    <a:pt x="1725798" y="1320151"/>
                  </a:lnTo>
                  <a:lnTo>
                    <a:pt x="1688294" y="1345617"/>
                  </a:lnTo>
                  <a:lnTo>
                    <a:pt x="1649136" y="1369683"/>
                  </a:lnTo>
                  <a:lnTo>
                    <a:pt x="1608393" y="1392297"/>
                  </a:lnTo>
                  <a:lnTo>
                    <a:pt x="1566135" y="1413406"/>
                  </a:lnTo>
                  <a:lnTo>
                    <a:pt x="1522434" y="1432957"/>
                  </a:lnTo>
                  <a:lnTo>
                    <a:pt x="1477360" y="1450897"/>
                  </a:lnTo>
                  <a:lnTo>
                    <a:pt x="1430984" y="1467173"/>
                  </a:lnTo>
                  <a:lnTo>
                    <a:pt x="1383376" y="1481733"/>
                  </a:lnTo>
                  <a:lnTo>
                    <a:pt x="1334607" y="1494522"/>
                  </a:lnTo>
                  <a:lnTo>
                    <a:pt x="1284747" y="1505490"/>
                  </a:lnTo>
                  <a:lnTo>
                    <a:pt x="1233868" y="1514582"/>
                  </a:lnTo>
                  <a:lnTo>
                    <a:pt x="1182039" y="1521745"/>
                  </a:lnTo>
                  <a:lnTo>
                    <a:pt x="1129331" y="1526928"/>
                  </a:lnTo>
                  <a:lnTo>
                    <a:pt x="1075815" y="1530076"/>
                  </a:lnTo>
                  <a:lnTo>
                    <a:pt x="1021562" y="1531137"/>
                  </a:lnTo>
                  <a:lnTo>
                    <a:pt x="967308" y="1530076"/>
                  </a:lnTo>
                  <a:lnTo>
                    <a:pt x="913791" y="1526928"/>
                  </a:lnTo>
                  <a:lnTo>
                    <a:pt x="861082" y="1521745"/>
                  </a:lnTo>
                  <a:lnTo>
                    <a:pt x="809252" y="1514582"/>
                  </a:lnTo>
                  <a:lnTo>
                    <a:pt x="758372" y="1505490"/>
                  </a:lnTo>
                  <a:lnTo>
                    <a:pt x="708511" y="1494522"/>
                  </a:lnTo>
                  <a:lnTo>
                    <a:pt x="659741" y="1481733"/>
                  </a:lnTo>
                  <a:lnTo>
                    <a:pt x="612133" y="1467173"/>
                  </a:lnTo>
                  <a:lnTo>
                    <a:pt x="565756" y="1450897"/>
                  </a:lnTo>
                  <a:lnTo>
                    <a:pt x="520681" y="1432957"/>
                  </a:lnTo>
                  <a:lnTo>
                    <a:pt x="476980" y="1413406"/>
                  </a:lnTo>
                  <a:lnTo>
                    <a:pt x="434722" y="1392297"/>
                  </a:lnTo>
                  <a:lnTo>
                    <a:pt x="393978" y="1369683"/>
                  </a:lnTo>
                  <a:lnTo>
                    <a:pt x="354819" y="1345617"/>
                  </a:lnTo>
                  <a:lnTo>
                    <a:pt x="317316" y="1320151"/>
                  </a:lnTo>
                  <a:lnTo>
                    <a:pt x="281538" y="1293340"/>
                  </a:lnTo>
                  <a:lnTo>
                    <a:pt x="247557" y="1265234"/>
                  </a:lnTo>
                  <a:lnTo>
                    <a:pt x="215443" y="1235888"/>
                  </a:lnTo>
                  <a:lnTo>
                    <a:pt x="185267" y="1205354"/>
                  </a:lnTo>
                  <a:lnTo>
                    <a:pt x="157100" y="1173686"/>
                  </a:lnTo>
                  <a:lnTo>
                    <a:pt x="131011" y="1140936"/>
                  </a:lnTo>
                  <a:lnTo>
                    <a:pt x="107072" y="1107156"/>
                  </a:lnTo>
                  <a:lnTo>
                    <a:pt x="85353" y="1072401"/>
                  </a:lnTo>
                  <a:lnTo>
                    <a:pt x="65925" y="1036723"/>
                  </a:lnTo>
                  <a:lnTo>
                    <a:pt x="48858" y="1000174"/>
                  </a:lnTo>
                  <a:lnTo>
                    <a:pt x="34223" y="962808"/>
                  </a:lnTo>
                  <a:lnTo>
                    <a:pt x="22091" y="924677"/>
                  </a:lnTo>
                  <a:lnTo>
                    <a:pt x="12532" y="885835"/>
                  </a:lnTo>
                  <a:lnTo>
                    <a:pt x="5616" y="846334"/>
                  </a:lnTo>
                  <a:lnTo>
                    <a:pt x="1416" y="806228"/>
                  </a:lnTo>
                  <a:lnTo>
                    <a:pt x="0" y="765568"/>
                  </a:lnTo>
                  <a:close/>
                </a:path>
              </a:pathLst>
            </a:custGeom>
            <a:ln w="25400">
              <a:solidFill>
                <a:srgbClr val="9A9A9A"/>
              </a:solidFill>
            </a:ln>
          </p:spPr>
          <p:txBody>
            <a:bodyPr wrap="square" lIns="0" tIns="0" rIns="0" bIns="0" rtlCol="0"/>
            <a:lstStyle/>
            <a:p/>
          </p:txBody>
        </p:sp>
        <p:pic>
          <p:nvPicPr>
            <p:cNvPr id="12" name="object 12"/>
            <p:cNvPicPr/>
            <p:nvPr/>
          </p:nvPicPr>
          <p:blipFill>
            <a:blip r:embed="rId6" cstate="print"/>
            <a:stretch>
              <a:fillRect/>
            </a:stretch>
          </p:blipFill>
          <p:spPr>
            <a:xfrm>
              <a:off x="2369819" y="2269235"/>
              <a:ext cx="467105" cy="1219961"/>
            </a:xfrm>
            <a:prstGeom prst="rect">
              <a:avLst/>
            </a:prstGeom>
          </p:spPr>
        </p:pic>
        <p:sp>
          <p:nvSpPr>
            <p:cNvPr id="13" name="object 13" descr=""/>
            <p:cNvSpPr/>
            <p:nvPr/>
          </p:nvSpPr>
          <p:spPr>
            <a:xfrm>
              <a:off x="2436494" y="2339301"/>
              <a:ext cx="334645" cy="1080135"/>
            </a:xfrm>
            <a:custGeom>
              <a:avLst/>
              <a:gdLst/>
              <a:ahLst/>
              <a:cxnLst/>
              <a:rect l="l" t="t" r="r" b="b"/>
              <a:pathLst>
                <a:path w="334644" h="1080135">
                  <a:moveTo>
                    <a:pt x="334327" y="0"/>
                  </a:moveTo>
                  <a:lnTo>
                    <a:pt x="0" y="0"/>
                  </a:lnTo>
                  <a:lnTo>
                    <a:pt x="0" y="1079995"/>
                  </a:lnTo>
                  <a:lnTo>
                    <a:pt x="334327" y="1079995"/>
                  </a:lnTo>
                  <a:lnTo>
                    <a:pt x="334327" y="0"/>
                  </a:lnTo>
                  <a:close/>
                </a:path>
              </a:pathLst>
            </a:custGeom>
            <a:solidFill>
              <a:srgbClr val="C00000"/>
            </a:solidFill>
          </p:spPr>
          <p:txBody>
            <a:bodyPr wrap="square" lIns="0" tIns="0" rIns="0" bIns="0" rtlCol="0"/>
            <a:lstStyle/>
            <a:p/>
          </p:txBody>
        </p:sp>
        <p:pic>
          <p:nvPicPr>
            <p:cNvPr id="14" name="object 14" descr=""/>
            <p:cNvPicPr/>
            <p:nvPr/>
          </p:nvPicPr>
          <p:blipFill>
            <a:blip r:embed="rId7" cstate="print"/>
            <a:stretch>
              <a:fillRect/>
            </a:stretch>
          </p:blipFill>
          <p:spPr>
            <a:xfrm>
              <a:off x="2526029" y="2520695"/>
              <a:ext cx="198881" cy="736091"/>
            </a:xfrm>
            <a:prstGeom prst="rect">
              <a:avLst/>
            </a:prstGeom>
          </p:spPr>
        </p:pic>
      </p:grpSp>
      <p:sp>
        <p:nvSpPr>
          <p:cNvPr id="15" name="object 15" descr=""/>
          <p:cNvSpPr txBox="1"/>
          <p:nvPr/>
        </p:nvSpPr>
        <p:spPr>
          <a:xfrm>
            <a:off x="2547796" y="2581125"/>
            <a:ext cx="139700" cy="5969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小区游泳池</a:t>
            </a:r>
            <a:endParaRPr sz="900">
              <a:latin typeface="Microsoft YaHei"/>
              <a:cs typeface="Microsoft YaHei"/>
            </a:endParaRPr>
          </a:p>
        </p:txBody>
      </p:sp>
      <p:grpSp>
        <p:nvGrpSpPr>
          <p:cNvPr id="16" name="object 16" descr=""/>
          <p:cNvGrpSpPr/>
          <p:nvPr/>
        </p:nvGrpSpPr>
        <p:grpSpPr>
          <a:xfrm>
            <a:off x="2369819" y="3370325"/>
            <a:ext cx="467359" cy="1221105"/>
            <a:chOff x="2369819" y="3370325"/>
            <a:chExt cx="467359" cy="1221105"/>
          </a:xfrm>
        </p:grpSpPr>
        <p:pic>
          <p:nvPicPr>
            <p:cNvPr id="17" name="object 17"/>
            <p:cNvPicPr/>
            <p:nvPr/>
          </p:nvPicPr>
          <p:blipFill>
            <a:blip r:embed="rId8" cstate="print"/>
            <a:stretch>
              <a:fillRect/>
            </a:stretch>
          </p:blipFill>
          <p:spPr>
            <a:xfrm>
              <a:off x="2369819" y="3370325"/>
              <a:ext cx="467105" cy="1220723"/>
            </a:xfrm>
            <a:prstGeom prst="rect">
              <a:avLst/>
            </a:prstGeom>
          </p:spPr>
        </p:pic>
        <p:sp>
          <p:nvSpPr>
            <p:cNvPr id="18" name="object 18" descr=""/>
            <p:cNvSpPr/>
            <p:nvPr/>
          </p:nvSpPr>
          <p:spPr>
            <a:xfrm>
              <a:off x="2436494" y="3440747"/>
              <a:ext cx="334645" cy="1080135"/>
            </a:xfrm>
            <a:custGeom>
              <a:avLst/>
              <a:gdLst/>
              <a:ahLst/>
              <a:cxnLst/>
              <a:rect l="l" t="t" r="r" b="b"/>
              <a:pathLst>
                <a:path w="334644" h="1080135">
                  <a:moveTo>
                    <a:pt x="334327" y="0"/>
                  </a:moveTo>
                  <a:lnTo>
                    <a:pt x="0" y="0"/>
                  </a:lnTo>
                  <a:lnTo>
                    <a:pt x="0" y="1079995"/>
                  </a:lnTo>
                  <a:lnTo>
                    <a:pt x="334327" y="1079995"/>
                  </a:lnTo>
                  <a:lnTo>
                    <a:pt x="334327" y="0"/>
                  </a:lnTo>
                  <a:close/>
                </a:path>
              </a:pathLst>
            </a:custGeom>
            <a:solidFill>
              <a:srgbClr val="C00000"/>
            </a:solidFill>
          </p:spPr>
          <p:txBody>
            <a:bodyPr wrap="square" lIns="0" tIns="0" rIns="0" bIns="0" rtlCol="0"/>
            <a:lstStyle/>
            <a:p/>
          </p:txBody>
        </p:sp>
        <p:pic>
          <p:nvPicPr>
            <p:cNvPr id="19" name="object 19" descr=""/>
            <p:cNvPicPr/>
            <p:nvPr/>
          </p:nvPicPr>
          <p:blipFill>
            <a:blip r:embed="rId9" cstate="print"/>
            <a:stretch>
              <a:fillRect/>
            </a:stretch>
          </p:blipFill>
          <p:spPr>
            <a:xfrm>
              <a:off x="2526029" y="3616451"/>
              <a:ext cx="198881" cy="736091"/>
            </a:xfrm>
            <a:prstGeom prst="rect">
              <a:avLst/>
            </a:prstGeom>
          </p:spPr>
        </p:pic>
      </p:grpSp>
      <p:sp>
        <p:nvSpPr>
          <p:cNvPr id="20" name="object 20" descr=""/>
          <p:cNvSpPr txBox="1"/>
          <p:nvPr/>
        </p:nvSpPr>
        <p:spPr>
          <a:xfrm>
            <a:off x="2547796" y="3677015"/>
            <a:ext cx="139700" cy="5969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小区游乐场</a:t>
            </a:r>
            <a:endParaRPr sz="900">
              <a:latin typeface="Microsoft YaHei"/>
              <a:cs typeface="Microsoft YaHei"/>
            </a:endParaRPr>
          </a:p>
        </p:txBody>
      </p:sp>
      <p:grpSp>
        <p:nvGrpSpPr>
          <p:cNvPr id="21" name="object 21" descr=""/>
          <p:cNvGrpSpPr/>
          <p:nvPr/>
        </p:nvGrpSpPr>
        <p:grpSpPr>
          <a:xfrm>
            <a:off x="6322312" y="2263139"/>
            <a:ext cx="467359" cy="1221105"/>
            <a:chOff x="6322312" y="2263139"/>
            <a:chExt cx="467359" cy="1221105"/>
          </a:xfrm>
        </p:grpSpPr>
        <p:pic>
          <p:nvPicPr>
            <p:cNvPr id="22" name="object 22"/>
            <p:cNvPicPr/>
            <p:nvPr/>
          </p:nvPicPr>
          <p:blipFill>
            <a:blip r:embed="rId10" cstate="print"/>
            <a:stretch>
              <a:fillRect/>
            </a:stretch>
          </p:blipFill>
          <p:spPr>
            <a:xfrm>
              <a:off x="6322312" y="2263139"/>
              <a:ext cx="467105" cy="1220723"/>
            </a:xfrm>
            <a:prstGeom prst="rect">
              <a:avLst/>
            </a:prstGeom>
          </p:spPr>
        </p:pic>
        <p:sp>
          <p:nvSpPr>
            <p:cNvPr id="23" name="object 23" descr=""/>
            <p:cNvSpPr/>
            <p:nvPr/>
          </p:nvSpPr>
          <p:spPr>
            <a:xfrm>
              <a:off x="6388823" y="2333371"/>
              <a:ext cx="334645" cy="1080135"/>
            </a:xfrm>
            <a:custGeom>
              <a:avLst/>
              <a:gdLst/>
              <a:ahLst/>
              <a:cxnLst/>
              <a:rect l="l" t="t" r="r" b="b"/>
              <a:pathLst>
                <a:path w="334645" h="1080135">
                  <a:moveTo>
                    <a:pt x="334327" y="0"/>
                  </a:moveTo>
                  <a:lnTo>
                    <a:pt x="0" y="0"/>
                  </a:lnTo>
                  <a:lnTo>
                    <a:pt x="0" y="1079995"/>
                  </a:lnTo>
                  <a:lnTo>
                    <a:pt x="334327" y="1079995"/>
                  </a:lnTo>
                  <a:lnTo>
                    <a:pt x="334327" y="0"/>
                  </a:lnTo>
                  <a:close/>
                </a:path>
              </a:pathLst>
            </a:custGeom>
            <a:solidFill>
              <a:srgbClr val="C00000"/>
            </a:solidFill>
          </p:spPr>
          <p:txBody>
            <a:bodyPr wrap="square" lIns="0" tIns="0" rIns="0" bIns="0" rtlCol="0"/>
            <a:lstStyle/>
            <a:p/>
          </p:txBody>
        </p:sp>
        <p:pic>
          <p:nvPicPr>
            <p:cNvPr id="24" name="object 24" descr=""/>
            <p:cNvPicPr/>
            <p:nvPr/>
          </p:nvPicPr>
          <p:blipFill>
            <a:blip r:embed="rId11" cstate="print"/>
            <a:stretch>
              <a:fillRect/>
            </a:stretch>
          </p:blipFill>
          <p:spPr>
            <a:xfrm>
              <a:off x="6478523" y="2571750"/>
              <a:ext cx="198881" cy="621791"/>
            </a:xfrm>
            <a:prstGeom prst="rect">
              <a:avLst/>
            </a:prstGeom>
          </p:spPr>
        </p:pic>
      </p:grpSp>
      <p:sp>
        <p:nvSpPr>
          <p:cNvPr id="25" name="object 25" descr=""/>
          <p:cNvSpPr txBox="1"/>
          <p:nvPr/>
        </p:nvSpPr>
        <p:spPr>
          <a:xfrm>
            <a:off x="6500129" y="2632343"/>
            <a:ext cx="139700" cy="4826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小区道路</a:t>
            </a:r>
            <a:endParaRPr sz="900">
              <a:latin typeface="Microsoft YaHei"/>
              <a:cs typeface="Microsoft YaHei"/>
            </a:endParaRPr>
          </a:p>
        </p:txBody>
      </p:sp>
      <p:grpSp>
        <p:nvGrpSpPr>
          <p:cNvPr id="26" name="object 26" descr=""/>
          <p:cNvGrpSpPr/>
          <p:nvPr/>
        </p:nvGrpSpPr>
        <p:grpSpPr>
          <a:xfrm>
            <a:off x="6335267" y="3374135"/>
            <a:ext cx="467359" cy="1220470"/>
            <a:chOff x="6335267" y="3374135"/>
            <a:chExt cx="467359" cy="1220470"/>
          </a:xfrm>
        </p:grpSpPr>
        <p:pic>
          <p:nvPicPr>
            <p:cNvPr id="27" name="object 27"/>
            <p:cNvPicPr/>
            <p:nvPr/>
          </p:nvPicPr>
          <p:blipFill>
            <a:blip r:embed="rId12" cstate="print"/>
            <a:stretch>
              <a:fillRect/>
            </a:stretch>
          </p:blipFill>
          <p:spPr>
            <a:xfrm>
              <a:off x="6335267" y="3374135"/>
              <a:ext cx="467093" cy="1219961"/>
            </a:xfrm>
            <a:prstGeom prst="rect">
              <a:avLst/>
            </a:prstGeom>
          </p:spPr>
        </p:pic>
        <p:sp>
          <p:nvSpPr>
            <p:cNvPr id="28" name="object 28" descr=""/>
            <p:cNvSpPr/>
            <p:nvPr/>
          </p:nvSpPr>
          <p:spPr>
            <a:xfrm>
              <a:off x="6401650" y="3444252"/>
              <a:ext cx="334645" cy="1080135"/>
            </a:xfrm>
            <a:custGeom>
              <a:avLst/>
              <a:gdLst/>
              <a:ahLst/>
              <a:cxnLst/>
              <a:rect l="l" t="t" r="r" b="b"/>
              <a:pathLst>
                <a:path w="334645" h="1080135">
                  <a:moveTo>
                    <a:pt x="334327" y="0"/>
                  </a:moveTo>
                  <a:lnTo>
                    <a:pt x="0" y="0"/>
                  </a:lnTo>
                  <a:lnTo>
                    <a:pt x="0" y="1079995"/>
                  </a:lnTo>
                  <a:lnTo>
                    <a:pt x="334327" y="1079995"/>
                  </a:lnTo>
                  <a:lnTo>
                    <a:pt x="334327" y="0"/>
                  </a:lnTo>
                  <a:close/>
                </a:path>
              </a:pathLst>
            </a:custGeom>
            <a:solidFill>
              <a:srgbClr val="C00000"/>
            </a:solidFill>
          </p:spPr>
          <p:txBody>
            <a:bodyPr wrap="square" lIns="0" tIns="0" rIns="0" bIns="0" rtlCol="0"/>
            <a:lstStyle/>
            <a:p/>
          </p:txBody>
        </p:sp>
        <p:pic>
          <p:nvPicPr>
            <p:cNvPr id="29" name="object 29" descr=""/>
            <p:cNvPicPr/>
            <p:nvPr/>
          </p:nvPicPr>
          <p:blipFill>
            <a:blip r:embed="rId13" cstate="print"/>
            <a:stretch>
              <a:fillRect/>
            </a:stretch>
          </p:blipFill>
          <p:spPr>
            <a:xfrm>
              <a:off x="6491476" y="3625595"/>
              <a:ext cx="198881" cy="736091"/>
            </a:xfrm>
            <a:prstGeom prst="rect">
              <a:avLst/>
            </a:prstGeom>
          </p:spPr>
        </p:pic>
      </p:grpSp>
      <p:sp>
        <p:nvSpPr>
          <p:cNvPr id="30" name="object 30" descr=""/>
          <p:cNvSpPr txBox="1"/>
          <p:nvPr/>
        </p:nvSpPr>
        <p:spPr>
          <a:xfrm>
            <a:off x="6512949" y="3686069"/>
            <a:ext cx="139700" cy="596900"/>
          </a:xfrm>
          <a:prstGeom prst="rect">
            <a:avLst/>
          </a:prstGeom>
        </p:spPr>
        <p:txBody>
          <a:bodyPr wrap="square" lIns="0" tIns="0" rIns="0" bIns="0" rtlCol="0" vert="eaVert">
            <a:spAutoFit/>
          </a:bodyPr>
          <a:lstStyle/>
          <a:p>
            <a:pPr marL="12700">
              <a:lnSpc>
                <a:spcPct val="70000"/>
              </a:lnSpc>
            </a:pPr>
            <a:r>
              <a:rPr dirty="0" sz="900" b="1">
                <a:solidFill>
                  <a:srgbClr val="FFFFFF"/>
                </a:solidFill>
                <a:latin typeface="Microsoft YaHei"/>
                <a:cs typeface="Microsoft YaHei"/>
              </a:rPr>
              <a:t>小区停车场</a:t>
            </a:r>
            <a:endParaRPr sz="900">
              <a:latin typeface="Microsoft YaHei"/>
              <a:cs typeface="Microsoft YaHei"/>
            </a:endParaRPr>
          </a:p>
        </p:txBody>
      </p:sp>
      <p:pic>
        <p:nvPicPr>
          <p:cNvPr id="31" name="object 31"/>
          <p:cNvPicPr/>
          <p:nvPr/>
        </p:nvPicPr>
        <p:blipFill>
          <a:blip r:embed="rId14" cstate="print"/>
          <a:stretch>
            <a:fillRect/>
          </a:stretch>
        </p:blipFill>
        <p:spPr>
          <a:xfrm>
            <a:off x="3873588" y="3078532"/>
            <a:ext cx="1543047" cy="764381"/>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0298" y="159004"/>
            <a:ext cx="3228340" cy="513080"/>
          </a:xfrm>
          <a:prstGeom prst="rect"/>
        </p:spPr>
        <p:txBody>
          <a:bodyPr wrap="square" lIns="0" tIns="12065" rIns="0" bIns="0" rtlCol="0" vert="horz">
            <a:spAutoFit/>
          </a:bodyPr>
          <a:lstStyle/>
          <a:p>
            <a:pPr marL="12700">
              <a:lnSpc>
                <a:spcPct val="100000"/>
              </a:lnSpc>
              <a:spcBef>
                <a:spcPts val="95"/>
              </a:spcBef>
            </a:pPr>
            <a:r>
              <a:rPr dirty="0" spc="-330"/>
              <a:t>智慧停车</a:t>
            </a:r>
            <a:r>
              <a:rPr dirty="0" sz="2000" spc="-315" b="0">
                <a:solidFill>
                  <a:srgbClr val="FF0000"/>
                </a:solidFill>
                <a:latin typeface="SimSun"/>
                <a:cs typeface="SimSun"/>
              </a:rPr>
              <a:t>●</a:t>
            </a:r>
            <a:r>
              <a:rPr dirty="0" spc="-270"/>
              <a:t>功能特点</a:t>
            </a:r>
            <a:endParaRPr sz="2000">
              <a:latin typeface="SimSun"/>
              <a:cs typeface="SimSun"/>
            </a:endParaRPr>
          </a:p>
        </p:txBody>
      </p:sp>
      <p:sp>
        <p:nvSpPr>
          <p:cNvPr id="3" name="object 3" descr=""/>
          <p:cNvSpPr txBox="1"/>
          <p:nvPr/>
        </p:nvSpPr>
        <p:spPr>
          <a:xfrm>
            <a:off x="672148" y="1029972"/>
            <a:ext cx="6769100" cy="208279"/>
          </a:xfrm>
          <a:prstGeom prst="rect">
            <a:avLst/>
          </a:prstGeom>
        </p:spPr>
        <p:txBody>
          <a:bodyPr wrap="square" lIns="0" tIns="12700" rIns="0" bIns="0" rtlCol="0" vert="horz">
            <a:spAutoFit/>
          </a:bodyPr>
          <a:lstStyle/>
          <a:p>
            <a:pPr marL="354965" indent="-342265">
              <a:lnSpc>
                <a:spcPct val="100000"/>
              </a:lnSpc>
              <a:spcBef>
                <a:spcPts val="100"/>
              </a:spcBef>
              <a:buFont typeface="Wingdings"/>
              <a:buChar char=""/>
              <a:tabLst>
                <a:tab pos="354965" algn="l"/>
              </a:tabLst>
            </a:pPr>
            <a:r>
              <a:rPr dirty="0" sz="1200" spc="-15">
                <a:latin typeface="SimSun"/>
                <a:cs typeface="SimSun"/>
              </a:rPr>
              <a:t>主要功能特点为：提供余位显示、出入口管理、停车引导、反向寻车、便捷缴费、高效率出场。</a:t>
            </a:r>
            <a:endParaRPr sz="1200">
              <a:latin typeface="SimSun"/>
              <a:cs typeface="SimSun"/>
            </a:endParaRPr>
          </a:p>
        </p:txBody>
      </p:sp>
      <p:grpSp>
        <p:nvGrpSpPr>
          <p:cNvPr id="4" name="object 4" descr=""/>
          <p:cNvGrpSpPr/>
          <p:nvPr/>
        </p:nvGrpSpPr>
        <p:grpSpPr>
          <a:xfrm>
            <a:off x="1131986" y="1637963"/>
            <a:ext cx="6466840" cy="2656840"/>
            <a:chOff x="1131986" y="1637963"/>
            <a:chExt cx="6466840" cy="2656840"/>
          </a:xfrm>
        </p:grpSpPr>
        <p:sp>
          <p:nvSpPr>
            <p:cNvPr id="5" name="object 5" descr=""/>
            <p:cNvSpPr/>
            <p:nvPr/>
          </p:nvSpPr>
          <p:spPr>
            <a:xfrm>
              <a:off x="5477767" y="2991807"/>
              <a:ext cx="2089785" cy="1298575"/>
            </a:xfrm>
            <a:custGeom>
              <a:avLst/>
              <a:gdLst/>
              <a:ahLst/>
              <a:cxnLst/>
              <a:rect l="l" t="t" r="r" b="b"/>
              <a:pathLst>
                <a:path w="2089784" h="1298575">
                  <a:moveTo>
                    <a:pt x="0" y="1115161"/>
                  </a:moveTo>
                  <a:lnTo>
                    <a:pt x="6538" y="1163822"/>
                  </a:lnTo>
                  <a:lnTo>
                    <a:pt x="24991" y="1207550"/>
                  </a:lnTo>
                  <a:lnTo>
                    <a:pt x="53614" y="1244600"/>
                  </a:lnTo>
                  <a:lnTo>
                    <a:pt x="90662" y="1273224"/>
                  </a:lnTo>
                  <a:lnTo>
                    <a:pt x="134392" y="1291679"/>
                  </a:lnTo>
                  <a:lnTo>
                    <a:pt x="183057" y="1298219"/>
                  </a:lnTo>
                  <a:lnTo>
                    <a:pt x="1218907" y="1298219"/>
                  </a:lnTo>
                  <a:lnTo>
                    <a:pt x="1741284" y="1298219"/>
                  </a:lnTo>
                  <a:lnTo>
                    <a:pt x="1906498" y="1298219"/>
                  </a:lnTo>
                  <a:lnTo>
                    <a:pt x="1955158" y="1291679"/>
                  </a:lnTo>
                  <a:lnTo>
                    <a:pt x="1998884" y="1273224"/>
                  </a:lnTo>
                  <a:lnTo>
                    <a:pt x="2035930" y="1244600"/>
                  </a:lnTo>
                  <a:lnTo>
                    <a:pt x="2064552" y="1207550"/>
                  </a:lnTo>
                  <a:lnTo>
                    <a:pt x="2083005" y="1163822"/>
                  </a:lnTo>
                  <a:lnTo>
                    <a:pt x="2089543" y="1115161"/>
                  </a:lnTo>
                  <a:lnTo>
                    <a:pt x="2089543" y="657542"/>
                  </a:lnTo>
                  <a:lnTo>
                    <a:pt x="2089543" y="382968"/>
                  </a:lnTo>
                  <a:lnTo>
                    <a:pt x="2083005" y="334315"/>
                  </a:lnTo>
                  <a:lnTo>
                    <a:pt x="2064552" y="290586"/>
                  </a:lnTo>
                  <a:lnTo>
                    <a:pt x="2035930" y="253538"/>
                  </a:lnTo>
                  <a:lnTo>
                    <a:pt x="1998884" y="224915"/>
                  </a:lnTo>
                  <a:lnTo>
                    <a:pt x="1955158" y="206462"/>
                  </a:lnTo>
                  <a:lnTo>
                    <a:pt x="1906498" y="199923"/>
                  </a:lnTo>
                  <a:lnTo>
                    <a:pt x="1741284" y="199923"/>
                  </a:lnTo>
                  <a:lnTo>
                    <a:pt x="1500149" y="0"/>
                  </a:lnTo>
                  <a:lnTo>
                    <a:pt x="1218907" y="199923"/>
                  </a:lnTo>
                  <a:lnTo>
                    <a:pt x="183057" y="199923"/>
                  </a:lnTo>
                  <a:lnTo>
                    <a:pt x="134392" y="206462"/>
                  </a:lnTo>
                  <a:lnTo>
                    <a:pt x="90662" y="224915"/>
                  </a:lnTo>
                  <a:lnTo>
                    <a:pt x="53614" y="253538"/>
                  </a:lnTo>
                  <a:lnTo>
                    <a:pt x="24991" y="290586"/>
                  </a:lnTo>
                  <a:lnTo>
                    <a:pt x="6538" y="334315"/>
                  </a:lnTo>
                  <a:lnTo>
                    <a:pt x="0" y="382981"/>
                  </a:lnTo>
                  <a:lnTo>
                    <a:pt x="0" y="657542"/>
                  </a:lnTo>
                  <a:lnTo>
                    <a:pt x="0" y="1115161"/>
                  </a:lnTo>
                  <a:close/>
                </a:path>
              </a:pathLst>
            </a:custGeom>
            <a:ln w="9525">
              <a:solidFill>
                <a:srgbClr val="A7A8A7"/>
              </a:solidFill>
            </a:ln>
          </p:spPr>
          <p:txBody>
            <a:bodyPr wrap="square" lIns="0" tIns="0" rIns="0" bIns="0" rtlCol="0"/>
            <a:lstStyle/>
            <a:p/>
          </p:txBody>
        </p:sp>
        <p:sp>
          <p:nvSpPr>
            <p:cNvPr id="6" name="object 6" descr=""/>
            <p:cNvSpPr/>
            <p:nvPr/>
          </p:nvSpPr>
          <p:spPr>
            <a:xfrm>
              <a:off x="1136749" y="2990616"/>
              <a:ext cx="2089785" cy="1298575"/>
            </a:xfrm>
            <a:custGeom>
              <a:avLst/>
              <a:gdLst/>
              <a:ahLst/>
              <a:cxnLst/>
              <a:rect l="l" t="t" r="r" b="b"/>
              <a:pathLst>
                <a:path w="2089785" h="1298575">
                  <a:moveTo>
                    <a:pt x="0" y="1115161"/>
                  </a:moveTo>
                  <a:lnTo>
                    <a:pt x="6538" y="1163822"/>
                  </a:lnTo>
                  <a:lnTo>
                    <a:pt x="24991" y="1207550"/>
                  </a:lnTo>
                  <a:lnTo>
                    <a:pt x="53614" y="1244600"/>
                  </a:lnTo>
                  <a:lnTo>
                    <a:pt x="90662" y="1273224"/>
                  </a:lnTo>
                  <a:lnTo>
                    <a:pt x="134392" y="1291679"/>
                  </a:lnTo>
                  <a:lnTo>
                    <a:pt x="183057" y="1298219"/>
                  </a:lnTo>
                  <a:lnTo>
                    <a:pt x="1218907" y="1298219"/>
                  </a:lnTo>
                  <a:lnTo>
                    <a:pt x="1741284" y="1298219"/>
                  </a:lnTo>
                  <a:lnTo>
                    <a:pt x="1906498" y="1298219"/>
                  </a:lnTo>
                  <a:lnTo>
                    <a:pt x="1955158" y="1291679"/>
                  </a:lnTo>
                  <a:lnTo>
                    <a:pt x="1998884" y="1273224"/>
                  </a:lnTo>
                  <a:lnTo>
                    <a:pt x="2035930" y="1244600"/>
                  </a:lnTo>
                  <a:lnTo>
                    <a:pt x="2064552" y="1207550"/>
                  </a:lnTo>
                  <a:lnTo>
                    <a:pt x="2083005" y="1163822"/>
                  </a:lnTo>
                  <a:lnTo>
                    <a:pt x="2089543" y="1115161"/>
                  </a:lnTo>
                  <a:lnTo>
                    <a:pt x="2089543" y="657542"/>
                  </a:lnTo>
                  <a:lnTo>
                    <a:pt x="2089543" y="382968"/>
                  </a:lnTo>
                  <a:lnTo>
                    <a:pt x="2083005" y="334315"/>
                  </a:lnTo>
                  <a:lnTo>
                    <a:pt x="2064552" y="290586"/>
                  </a:lnTo>
                  <a:lnTo>
                    <a:pt x="2035930" y="253538"/>
                  </a:lnTo>
                  <a:lnTo>
                    <a:pt x="1998884" y="224915"/>
                  </a:lnTo>
                  <a:lnTo>
                    <a:pt x="1955158" y="206462"/>
                  </a:lnTo>
                  <a:lnTo>
                    <a:pt x="1906498" y="199923"/>
                  </a:lnTo>
                  <a:lnTo>
                    <a:pt x="1741284" y="199923"/>
                  </a:lnTo>
                  <a:lnTo>
                    <a:pt x="1475371" y="0"/>
                  </a:lnTo>
                  <a:lnTo>
                    <a:pt x="1218907" y="199923"/>
                  </a:lnTo>
                  <a:lnTo>
                    <a:pt x="183057" y="199923"/>
                  </a:lnTo>
                  <a:lnTo>
                    <a:pt x="134392" y="206462"/>
                  </a:lnTo>
                  <a:lnTo>
                    <a:pt x="90662" y="224915"/>
                  </a:lnTo>
                  <a:lnTo>
                    <a:pt x="53614" y="253538"/>
                  </a:lnTo>
                  <a:lnTo>
                    <a:pt x="24991" y="290586"/>
                  </a:lnTo>
                  <a:lnTo>
                    <a:pt x="6538" y="334315"/>
                  </a:lnTo>
                  <a:lnTo>
                    <a:pt x="0" y="382981"/>
                  </a:lnTo>
                  <a:lnTo>
                    <a:pt x="0" y="657542"/>
                  </a:lnTo>
                  <a:lnTo>
                    <a:pt x="0" y="1115161"/>
                  </a:lnTo>
                  <a:close/>
                </a:path>
              </a:pathLst>
            </a:custGeom>
            <a:ln w="9525">
              <a:solidFill>
                <a:srgbClr val="A7A8A7"/>
              </a:solidFill>
            </a:ln>
          </p:spPr>
          <p:txBody>
            <a:bodyPr wrap="square" lIns="0" tIns="0" rIns="0" bIns="0" rtlCol="0"/>
            <a:lstStyle/>
            <a:p/>
          </p:txBody>
        </p:sp>
        <p:sp>
          <p:nvSpPr>
            <p:cNvPr id="7" name="object 7" descr=""/>
            <p:cNvSpPr/>
            <p:nvPr/>
          </p:nvSpPr>
          <p:spPr>
            <a:xfrm>
              <a:off x="5503961" y="1642725"/>
              <a:ext cx="2089785" cy="1309370"/>
            </a:xfrm>
            <a:custGeom>
              <a:avLst/>
              <a:gdLst/>
              <a:ahLst/>
              <a:cxnLst/>
              <a:rect l="l" t="t" r="r" b="b"/>
              <a:pathLst>
                <a:path w="2089784" h="1309370">
                  <a:moveTo>
                    <a:pt x="0" y="183057"/>
                  </a:moveTo>
                  <a:lnTo>
                    <a:pt x="6538" y="134396"/>
                  </a:lnTo>
                  <a:lnTo>
                    <a:pt x="24991" y="90668"/>
                  </a:lnTo>
                  <a:lnTo>
                    <a:pt x="53614" y="53619"/>
                  </a:lnTo>
                  <a:lnTo>
                    <a:pt x="90662" y="24994"/>
                  </a:lnTo>
                  <a:lnTo>
                    <a:pt x="134392" y="6539"/>
                  </a:lnTo>
                  <a:lnTo>
                    <a:pt x="183057" y="0"/>
                  </a:lnTo>
                  <a:lnTo>
                    <a:pt x="348259" y="0"/>
                  </a:lnTo>
                  <a:lnTo>
                    <a:pt x="870648" y="0"/>
                  </a:lnTo>
                  <a:lnTo>
                    <a:pt x="1906498" y="0"/>
                  </a:lnTo>
                  <a:lnTo>
                    <a:pt x="1955158" y="6539"/>
                  </a:lnTo>
                  <a:lnTo>
                    <a:pt x="1998884" y="24994"/>
                  </a:lnTo>
                  <a:lnTo>
                    <a:pt x="2035930" y="53619"/>
                  </a:lnTo>
                  <a:lnTo>
                    <a:pt x="2064552" y="90668"/>
                  </a:lnTo>
                  <a:lnTo>
                    <a:pt x="2083005" y="134396"/>
                  </a:lnTo>
                  <a:lnTo>
                    <a:pt x="2089543" y="183057"/>
                  </a:lnTo>
                  <a:lnTo>
                    <a:pt x="2089543" y="640676"/>
                  </a:lnTo>
                  <a:lnTo>
                    <a:pt x="2089543" y="915250"/>
                  </a:lnTo>
                  <a:lnTo>
                    <a:pt x="2083005" y="963903"/>
                  </a:lnTo>
                  <a:lnTo>
                    <a:pt x="2064552" y="1007633"/>
                  </a:lnTo>
                  <a:lnTo>
                    <a:pt x="2035930" y="1044681"/>
                  </a:lnTo>
                  <a:lnTo>
                    <a:pt x="1998884" y="1073304"/>
                  </a:lnTo>
                  <a:lnTo>
                    <a:pt x="1955158" y="1091757"/>
                  </a:lnTo>
                  <a:lnTo>
                    <a:pt x="1906498" y="1098295"/>
                  </a:lnTo>
                  <a:lnTo>
                    <a:pt x="870648" y="1098295"/>
                  </a:lnTo>
                  <a:lnTo>
                    <a:pt x="624319" y="1308798"/>
                  </a:lnTo>
                  <a:lnTo>
                    <a:pt x="348259" y="1098295"/>
                  </a:lnTo>
                  <a:lnTo>
                    <a:pt x="183057" y="1098295"/>
                  </a:lnTo>
                  <a:lnTo>
                    <a:pt x="134392" y="1091757"/>
                  </a:lnTo>
                  <a:lnTo>
                    <a:pt x="90662" y="1073304"/>
                  </a:lnTo>
                  <a:lnTo>
                    <a:pt x="53614" y="1044681"/>
                  </a:lnTo>
                  <a:lnTo>
                    <a:pt x="24991" y="1007633"/>
                  </a:lnTo>
                  <a:lnTo>
                    <a:pt x="6538" y="963903"/>
                  </a:lnTo>
                  <a:lnTo>
                    <a:pt x="0" y="915238"/>
                  </a:lnTo>
                  <a:lnTo>
                    <a:pt x="0" y="640676"/>
                  </a:lnTo>
                  <a:lnTo>
                    <a:pt x="0" y="183057"/>
                  </a:lnTo>
                  <a:close/>
                </a:path>
              </a:pathLst>
            </a:custGeom>
            <a:ln w="9525">
              <a:solidFill>
                <a:srgbClr val="A7A8A7"/>
              </a:solidFill>
            </a:ln>
          </p:spPr>
          <p:txBody>
            <a:bodyPr wrap="square" lIns="0" tIns="0" rIns="0" bIns="0" rtlCol="0"/>
            <a:lstStyle/>
            <a:p/>
          </p:txBody>
        </p:sp>
      </p:grpSp>
      <p:sp>
        <p:nvSpPr>
          <p:cNvPr id="8" name="object 8" descr=""/>
          <p:cNvSpPr txBox="1"/>
          <p:nvPr/>
        </p:nvSpPr>
        <p:spPr>
          <a:xfrm>
            <a:off x="6571871" y="3274736"/>
            <a:ext cx="939165" cy="1102995"/>
          </a:xfrm>
          <a:prstGeom prst="rect">
            <a:avLst/>
          </a:prstGeom>
        </p:spPr>
        <p:txBody>
          <a:bodyPr wrap="square" lIns="0" tIns="12700" rIns="0" bIns="0" rtlCol="0" vert="horz">
            <a:spAutoFit/>
          </a:bodyPr>
          <a:lstStyle/>
          <a:p>
            <a:pPr marL="12700" marR="227965">
              <a:lnSpc>
                <a:spcPct val="100000"/>
              </a:lnSpc>
              <a:spcBef>
                <a:spcPts val="100"/>
              </a:spcBef>
            </a:pPr>
            <a:r>
              <a:rPr dirty="0" sz="1800">
                <a:solidFill>
                  <a:srgbClr val="C00000"/>
                </a:solidFill>
                <a:latin typeface="Microsoft YaHei"/>
                <a:cs typeface="Microsoft YaHei"/>
              </a:rPr>
              <a:t>6-</a:t>
            </a:r>
            <a:r>
              <a:rPr dirty="0" sz="1800" spc="-25">
                <a:solidFill>
                  <a:srgbClr val="C00000"/>
                </a:solidFill>
                <a:latin typeface="SimSun"/>
                <a:cs typeface="SimSun"/>
              </a:rPr>
              <a:t>高效</a:t>
            </a:r>
            <a:r>
              <a:rPr dirty="0" sz="1800" spc="-20">
                <a:solidFill>
                  <a:srgbClr val="C00000"/>
                </a:solidFill>
                <a:latin typeface="SimSun"/>
                <a:cs typeface="SimSun"/>
              </a:rPr>
              <a:t>率出场</a:t>
            </a:r>
            <a:endParaRPr sz="1800">
              <a:latin typeface="SimSun"/>
              <a:cs typeface="SimSun"/>
            </a:endParaRPr>
          </a:p>
          <a:p>
            <a:pPr marL="12700">
              <a:lnSpc>
                <a:spcPct val="100000"/>
              </a:lnSpc>
              <a:spcBef>
                <a:spcPts val="320"/>
              </a:spcBef>
            </a:pPr>
            <a:r>
              <a:rPr dirty="0" sz="800" spc="-20">
                <a:solidFill>
                  <a:srgbClr val="3E3E3E"/>
                </a:solidFill>
                <a:latin typeface="Microsoft YaHei"/>
                <a:cs typeface="Microsoft YaHei"/>
              </a:rPr>
              <a:t>固定、月卡、已缴</a:t>
            </a:r>
            <a:endParaRPr sz="800">
              <a:latin typeface="Microsoft YaHei"/>
              <a:cs typeface="Microsoft YaHei"/>
            </a:endParaRPr>
          </a:p>
          <a:p>
            <a:pPr marL="12700" marR="5080">
              <a:lnSpc>
                <a:spcPct val="150000"/>
              </a:lnSpc>
            </a:pPr>
            <a:r>
              <a:rPr dirty="0" sz="800" spc="-20">
                <a:solidFill>
                  <a:srgbClr val="3E3E3E"/>
                </a:solidFill>
                <a:latin typeface="Microsoft YaHei"/>
                <a:cs typeface="Microsoft YaHei"/>
              </a:rPr>
              <a:t>费车辆，通过车牌</a:t>
            </a:r>
            <a:r>
              <a:rPr dirty="0" sz="800" spc="500">
                <a:solidFill>
                  <a:srgbClr val="3E3E3E"/>
                </a:solidFill>
                <a:latin typeface="Microsoft YaHei"/>
                <a:cs typeface="Microsoft YaHei"/>
              </a:rPr>
              <a:t> </a:t>
            </a:r>
            <a:r>
              <a:rPr dirty="0" sz="800" spc="-20">
                <a:solidFill>
                  <a:srgbClr val="3E3E3E"/>
                </a:solidFill>
                <a:latin typeface="Microsoft YaHei"/>
                <a:cs typeface="Microsoft YaHei"/>
              </a:rPr>
              <a:t>识别后不停车出场；</a:t>
            </a:r>
            <a:endParaRPr sz="800">
              <a:latin typeface="Microsoft YaHei"/>
              <a:cs typeface="Microsoft YaHei"/>
            </a:endParaRPr>
          </a:p>
        </p:txBody>
      </p:sp>
      <p:grpSp>
        <p:nvGrpSpPr>
          <p:cNvPr id="9" name="object 9" descr=""/>
          <p:cNvGrpSpPr/>
          <p:nvPr/>
        </p:nvGrpSpPr>
        <p:grpSpPr>
          <a:xfrm>
            <a:off x="1159370" y="1628438"/>
            <a:ext cx="5356860" cy="2666365"/>
            <a:chOff x="1159370" y="1628438"/>
            <a:chExt cx="5356860" cy="2666365"/>
          </a:xfrm>
        </p:grpSpPr>
        <p:pic>
          <p:nvPicPr>
            <p:cNvPr id="10" name="object 10"/>
            <p:cNvPicPr/>
            <p:nvPr/>
          </p:nvPicPr>
          <p:blipFill>
            <a:blip r:embed="rId2" cstate="print"/>
            <a:stretch>
              <a:fillRect/>
            </a:stretch>
          </p:blipFill>
          <p:spPr>
            <a:xfrm>
              <a:off x="5543257" y="3353792"/>
              <a:ext cx="972735" cy="848116"/>
            </a:xfrm>
            <a:prstGeom prst="rect">
              <a:avLst/>
            </a:prstGeom>
          </p:spPr>
        </p:pic>
        <p:pic>
          <p:nvPicPr>
            <p:cNvPr id="11" name="object 11"/>
            <p:cNvPicPr/>
            <p:nvPr/>
          </p:nvPicPr>
          <p:blipFill>
            <a:blip r:embed="rId3" cstate="print"/>
            <a:stretch>
              <a:fillRect/>
            </a:stretch>
          </p:blipFill>
          <p:spPr>
            <a:xfrm>
              <a:off x="5846063" y="3906773"/>
              <a:ext cx="107441" cy="128015"/>
            </a:xfrm>
            <a:prstGeom prst="rect">
              <a:avLst/>
            </a:prstGeom>
          </p:spPr>
        </p:pic>
        <p:sp>
          <p:nvSpPr>
            <p:cNvPr id="12" name="object 12" descr=""/>
            <p:cNvSpPr/>
            <p:nvPr/>
          </p:nvSpPr>
          <p:spPr>
            <a:xfrm>
              <a:off x="5892101" y="3924287"/>
              <a:ext cx="15875" cy="36830"/>
            </a:xfrm>
            <a:custGeom>
              <a:avLst/>
              <a:gdLst/>
              <a:ahLst/>
              <a:cxnLst/>
              <a:rect l="l" t="t" r="r" b="b"/>
              <a:pathLst>
                <a:path w="15875" h="36829">
                  <a:moveTo>
                    <a:pt x="15481" y="0"/>
                  </a:moveTo>
                  <a:lnTo>
                    <a:pt x="0" y="0"/>
                  </a:lnTo>
                  <a:lnTo>
                    <a:pt x="0" y="36614"/>
                  </a:lnTo>
                  <a:lnTo>
                    <a:pt x="15481" y="36614"/>
                  </a:lnTo>
                  <a:lnTo>
                    <a:pt x="15481" y="0"/>
                  </a:lnTo>
                  <a:close/>
                </a:path>
              </a:pathLst>
            </a:custGeom>
            <a:solidFill>
              <a:srgbClr val="FFFFFF"/>
            </a:solidFill>
          </p:spPr>
          <p:txBody>
            <a:bodyPr wrap="square" lIns="0" tIns="0" rIns="0" bIns="0" rtlCol="0"/>
            <a:lstStyle/>
            <a:p/>
          </p:txBody>
        </p:sp>
        <p:pic>
          <p:nvPicPr>
            <p:cNvPr id="13" name="object 13"/>
            <p:cNvPicPr/>
            <p:nvPr/>
          </p:nvPicPr>
          <p:blipFill>
            <a:blip r:embed="rId4" cstate="print"/>
            <a:stretch>
              <a:fillRect/>
            </a:stretch>
          </p:blipFill>
          <p:spPr>
            <a:xfrm>
              <a:off x="5567933" y="3364991"/>
              <a:ext cx="102869" cy="115823"/>
            </a:xfrm>
            <a:prstGeom prst="rect">
              <a:avLst/>
            </a:prstGeom>
          </p:spPr>
        </p:pic>
        <p:sp>
          <p:nvSpPr>
            <p:cNvPr id="14" name="object 14" descr=""/>
            <p:cNvSpPr/>
            <p:nvPr/>
          </p:nvSpPr>
          <p:spPr>
            <a:xfrm>
              <a:off x="5613501" y="3382784"/>
              <a:ext cx="12065" cy="24765"/>
            </a:xfrm>
            <a:custGeom>
              <a:avLst/>
              <a:gdLst/>
              <a:ahLst/>
              <a:cxnLst/>
              <a:rect l="l" t="t" r="r" b="b"/>
              <a:pathLst>
                <a:path w="12064" h="24764">
                  <a:moveTo>
                    <a:pt x="11899" y="0"/>
                  </a:moveTo>
                  <a:lnTo>
                    <a:pt x="0" y="0"/>
                  </a:lnTo>
                  <a:lnTo>
                    <a:pt x="0" y="24396"/>
                  </a:lnTo>
                  <a:lnTo>
                    <a:pt x="11899" y="24396"/>
                  </a:lnTo>
                  <a:lnTo>
                    <a:pt x="11899" y="0"/>
                  </a:lnTo>
                  <a:close/>
                </a:path>
              </a:pathLst>
            </a:custGeom>
            <a:solidFill>
              <a:srgbClr val="FFFFFF"/>
            </a:solidFill>
          </p:spPr>
          <p:txBody>
            <a:bodyPr wrap="square" lIns="0" tIns="0" rIns="0" bIns="0" rtlCol="0"/>
            <a:lstStyle/>
            <a:p/>
          </p:txBody>
        </p:sp>
        <p:sp>
          <p:nvSpPr>
            <p:cNvPr id="15" name="object 15" descr=""/>
            <p:cNvSpPr/>
            <p:nvPr/>
          </p:nvSpPr>
          <p:spPr>
            <a:xfrm>
              <a:off x="3334642" y="1642725"/>
              <a:ext cx="2089785" cy="1309370"/>
            </a:xfrm>
            <a:custGeom>
              <a:avLst/>
              <a:gdLst/>
              <a:ahLst/>
              <a:cxnLst/>
              <a:rect l="l" t="t" r="r" b="b"/>
              <a:pathLst>
                <a:path w="2089785" h="1309370">
                  <a:moveTo>
                    <a:pt x="0" y="183057"/>
                  </a:moveTo>
                  <a:lnTo>
                    <a:pt x="6538" y="134396"/>
                  </a:lnTo>
                  <a:lnTo>
                    <a:pt x="24991" y="90668"/>
                  </a:lnTo>
                  <a:lnTo>
                    <a:pt x="53614" y="53619"/>
                  </a:lnTo>
                  <a:lnTo>
                    <a:pt x="90662" y="24994"/>
                  </a:lnTo>
                  <a:lnTo>
                    <a:pt x="134392" y="6539"/>
                  </a:lnTo>
                  <a:lnTo>
                    <a:pt x="183057" y="0"/>
                  </a:lnTo>
                  <a:lnTo>
                    <a:pt x="348259" y="0"/>
                  </a:lnTo>
                  <a:lnTo>
                    <a:pt x="870648" y="0"/>
                  </a:lnTo>
                  <a:lnTo>
                    <a:pt x="1906498" y="0"/>
                  </a:lnTo>
                  <a:lnTo>
                    <a:pt x="1955158" y="6539"/>
                  </a:lnTo>
                  <a:lnTo>
                    <a:pt x="1998884" y="24994"/>
                  </a:lnTo>
                  <a:lnTo>
                    <a:pt x="2035930" y="53619"/>
                  </a:lnTo>
                  <a:lnTo>
                    <a:pt x="2064552" y="90668"/>
                  </a:lnTo>
                  <a:lnTo>
                    <a:pt x="2083005" y="134396"/>
                  </a:lnTo>
                  <a:lnTo>
                    <a:pt x="2089543" y="183057"/>
                  </a:lnTo>
                  <a:lnTo>
                    <a:pt x="2089543" y="640676"/>
                  </a:lnTo>
                  <a:lnTo>
                    <a:pt x="2089543" y="915250"/>
                  </a:lnTo>
                  <a:lnTo>
                    <a:pt x="2083005" y="963903"/>
                  </a:lnTo>
                  <a:lnTo>
                    <a:pt x="2064552" y="1007633"/>
                  </a:lnTo>
                  <a:lnTo>
                    <a:pt x="2035930" y="1044681"/>
                  </a:lnTo>
                  <a:lnTo>
                    <a:pt x="1998884" y="1073304"/>
                  </a:lnTo>
                  <a:lnTo>
                    <a:pt x="1955158" y="1091757"/>
                  </a:lnTo>
                  <a:lnTo>
                    <a:pt x="1906498" y="1098295"/>
                  </a:lnTo>
                  <a:lnTo>
                    <a:pt x="870648" y="1098295"/>
                  </a:lnTo>
                  <a:lnTo>
                    <a:pt x="599528" y="1308798"/>
                  </a:lnTo>
                  <a:lnTo>
                    <a:pt x="348259" y="1098295"/>
                  </a:lnTo>
                  <a:lnTo>
                    <a:pt x="183057" y="1098295"/>
                  </a:lnTo>
                  <a:lnTo>
                    <a:pt x="134392" y="1091757"/>
                  </a:lnTo>
                  <a:lnTo>
                    <a:pt x="90662" y="1073304"/>
                  </a:lnTo>
                  <a:lnTo>
                    <a:pt x="53614" y="1044681"/>
                  </a:lnTo>
                  <a:lnTo>
                    <a:pt x="24991" y="1007633"/>
                  </a:lnTo>
                  <a:lnTo>
                    <a:pt x="6538" y="963903"/>
                  </a:lnTo>
                  <a:lnTo>
                    <a:pt x="0" y="915238"/>
                  </a:lnTo>
                  <a:lnTo>
                    <a:pt x="0" y="640676"/>
                  </a:lnTo>
                  <a:lnTo>
                    <a:pt x="0" y="183057"/>
                  </a:lnTo>
                  <a:close/>
                </a:path>
              </a:pathLst>
            </a:custGeom>
            <a:ln w="9525">
              <a:solidFill>
                <a:srgbClr val="A7A8A7"/>
              </a:solidFill>
            </a:ln>
          </p:spPr>
          <p:txBody>
            <a:bodyPr wrap="square" lIns="0" tIns="0" rIns="0" bIns="0" rtlCol="0"/>
            <a:lstStyle/>
            <a:p/>
          </p:txBody>
        </p:sp>
        <p:sp>
          <p:nvSpPr>
            <p:cNvPr id="16" name="object 16" descr=""/>
            <p:cNvSpPr/>
            <p:nvPr/>
          </p:nvSpPr>
          <p:spPr>
            <a:xfrm>
              <a:off x="1164132" y="1633200"/>
              <a:ext cx="2089785" cy="1298575"/>
            </a:xfrm>
            <a:custGeom>
              <a:avLst/>
              <a:gdLst/>
              <a:ahLst/>
              <a:cxnLst/>
              <a:rect l="l" t="t" r="r" b="b"/>
              <a:pathLst>
                <a:path w="2089785" h="1298575">
                  <a:moveTo>
                    <a:pt x="0" y="183057"/>
                  </a:moveTo>
                  <a:lnTo>
                    <a:pt x="6538" y="134396"/>
                  </a:lnTo>
                  <a:lnTo>
                    <a:pt x="24991" y="90668"/>
                  </a:lnTo>
                  <a:lnTo>
                    <a:pt x="53614" y="53619"/>
                  </a:lnTo>
                  <a:lnTo>
                    <a:pt x="90662" y="24994"/>
                  </a:lnTo>
                  <a:lnTo>
                    <a:pt x="134392" y="6539"/>
                  </a:lnTo>
                  <a:lnTo>
                    <a:pt x="183057" y="0"/>
                  </a:lnTo>
                  <a:lnTo>
                    <a:pt x="348259" y="0"/>
                  </a:lnTo>
                  <a:lnTo>
                    <a:pt x="870648" y="0"/>
                  </a:lnTo>
                  <a:lnTo>
                    <a:pt x="1906498" y="0"/>
                  </a:lnTo>
                  <a:lnTo>
                    <a:pt x="1955158" y="6539"/>
                  </a:lnTo>
                  <a:lnTo>
                    <a:pt x="1998884" y="24994"/>
                  </a:lnTo>
                  <a:lnTo>
                    <a:pt x="2035930" y="53619"/>
                  </a:lnTo>
                  <a:lnTo>
                    <a:pt x="2064552" y="90668"/>
                  </a:lnTo>
                  <a:lnTo>
                    <a:pt x="2083005" y="134396"/>
                  </a:lnTo>
                  <a:lnTo>
                    <a:pt x="2089543" y="183057"/>
                  </a:lnTo>
                  <a:lnTo>
                    <a:pt x="2089543" y="640676"/>
                  </a:lnTo>
                  <a:lnTo>
                    <a:pt x="2089543" y="915250"/>
                  </a:lnTo>
                  <a:lnTo>
                    <a:pt x="2083005" y="963903"/>
                  </a:lnTo>
                  <a:lnTo>
                    <a:pt x="2064552" y="1007633"/>
                  </a:lnTo>
                  <a:lnTo>
                    <a:pt x="2035930" y="1044681"/>
                  </a:lnTo>
                  <a:lnTo>
                    <a:pt x="1998884" y="1073304"/>
                  </a:lnTo>
                  <a:lnTo>
                    <a:pt x="1955158" y="1091757"/>
                  </a:lnTo>
                  <a:lnTo>
                    <a:pt x="1906498" y="1098295"/>
                  </a:lnTo>
                  <a:lnTo>
                    <a:pt x="870648" y="1098295"/>
                  </a:lnTo>
                  <a:lnTo>
                    <a:pt x="574725" y="1298219"/>
                  </a:lnTo>
                  <a:lnTo>
                    <a:pt x="348259" y="1098295"/>
                  </a:lnTo>
                  <a:lnTo>
                    <a:pt x="183057" y="1098295"/>
                  </a:lnTo>
                  <a:lnTo>
                    <a:pt x="134392" y="1091757"/>
                  </a:lnTo>
                  <a:lnTo>
                    <a:pt x="90662" y="1073304"/>
                  </a:lnTo>
                  <a:lnTo>
                    <a:pt x="53614" y="1044681"/>
                  </a:lnTo>
                  <a:lnTo>
                    <a:pt x="24991" y="1007633"/>
                  </a:lnTo>
                  <a:lnTo>
                    <a:pt x="6538" y="963903"/>
                  </a:lnTo>
                  <a:lnTo>
                    <a:pt x="0" y="915238"/>
                  </a:lnTo>
                  <a:lnTo>
                    <a:pt x="0" y="640676"/>
                  </a:lnTo>
                  <a:lnTo>
                    <a:pt x="0" y="183057"/>
                  </a:lnTo>
                  <a:close/>
                </a:path>
              </a:pathLst>
            </a:custGeom>
            <a:ln w="9525">
              <a:solidFill>
                <a:srgbClr val="A7A8A7"/>
              </a:solidFill>
            </a:ln>
          </p:spPr>
          <p:txBody>
            <a:bodyPr wrap="square" lIns="0" tIns="0" rIns="0" bIns="0" rtlCol="0"/>
            <a:lstStyle/>
            <a:p/>
          </p:txBody>
        </p:sp>
        <p:sp>
          <p:nvSpPr>
            <p:cNvPr id="17" name="object 17" descr=""/>
            <p:cNvSpPr/>
            <p:nvPr/>
          </p:nvSpPr>
          <p:spPr>
            <a:xfrm>
              <a:off x="3307257" y="3002399"/>
              <a:ext cx="2089785" cy="1287780"/>
            </a:xfrm>
            <a:custGeom>
              <a:avLst/>
              <a:gdLst/>
              <a:ahLst/>
              <a:cxnLst/>
              <a:rect l="l" t="t" r="r" b="b"/>
              <a:pathLst>
                <a:path w="2089785" h="1287779">
                  <a:moveTo>
                    <a:pt x="0" y="1104569"/>
                  </a:moveTo>
                  <a:lnTo>
                    <a:pt x="6538" y="1153231"/>
                  </a:lnTo>
                  <a:lnTo>
                    <a:pt x="24991" y="1196959"/>
                  </a:lnTo>
                  <a:lnTo>
                    <a:pt x="53614" y="1234008"/>
                  </a:lnTo>
                  <a:lnTo>
                    <a:pt x="90662" y="1262633"/>
                  </a:lnTo>
                  <a:lnTo>
                    <a:pt x="134392" y="1281088"/>
                  </a:lnTo>
                  <a:lnTo>
                    <a:pt x="183057" y="1287627"/>
                  </a:lnTo>
                  <a:lnTo>
                    <a:pt x="1218907" y="1287627"/>
                  </a:lnTo>
                  <a:lnTo>
                    <a:pt x="1741284" y="1287627"/>
                  </a:lnTo>
                  <a:lnTo>
                    <a:pt x="1906498" y="1287627"/>
                  </a:lnTo>
                  <a:lnTo>
                    <a:pt x="1955158" y="1281088"/>
                  </a:lnTo>
                  <a:lnTo>
                    <a:pt x="1998884" y="1262633"/>
                  </a:lnTo>
                  <a:lnTo>
                    <a:pt x="2035930" y="1234008"/>
                  </a:lnTo>
                  <a:lnTo>
                    <a:pt x="2064552" y="1196959"/>
                  </a:lnTo>
                  <a:lnTo>
                    <a:pt x="2083005" y="1153231"/>
                  </a:lnTo>
                  <a:lnTo>
                    <a:pt x="2089543" y="1104569"/>
                  </a:lnTo>
                  <a:lnTo>
                    <a:pt x="2089543" y="646950"/>
                  </a:lnTo>
                  <a:lnTo>
                    <a:pt x="2089543" y="372376"/>
                  </a:lnTo>
                  <a:lnTo>
                    <a:pt x="2083005" y="323723"/>
                  </a:lnTo>
                  <a:lnTo>
                    <a:pt x="2064552" y="279994"/>
                  </a:lnTo>
                  <a:lnTo>
                    <a:pt x="2035930" y="242946"/>
                  </a:lnTo>
                  <a:lnTo>
                    <a:pt x="1998884" y="214323"/>
                  </a:lnTo>
                  <a:lnTo>
                    <a:pt x="1955158" y="195870"/>
                  </a:lnTo>
                  <a:lnTo>
                    <a:pt x="1906498" y="189331"/>
                  </a:lnTo>
                  <a:lnTo>
                    <a:pt x="1741284" y="189331"/>
                  </a:lnTo>
                  <a:lnTo>
                    <a:pt x="1483614" y="0"/>
                  </a:lnTo>
                  <a:lnTo>
                    <a:pt x="1218907" y="189331"/>
                  </a:lnTo>
                  <a:lnTo>
                    <a:pt x="183057" y="189331"/>
                  </a:lnTo>
                  <a:lnTo>
                    <a:pt x="134392" y="195870"/>
                  </a:lnTo>
                  <a:lnTo>
                    <a:pt x="90662" y="214323"/>
                  </a:lnTo>
                  <a:lnTo>
                    <a:pt x="53614" y="242946"/>
                  </a:lnTo>
                  <a:lnTo>
                    <a:pt x="24991" y="279994"/>
                  </a:lnTo>
                  <a:lnTo>
                    <a:pt x="6538" y="323723"/>
                  </a:lnTo>
                  <a:lnTo>
                    <a:pt x="0" y="372389"/>
                  </a:lnTo>
                  <a:lnTo>
                    <a:pt x="0" y="646950"/>
                  </a:lnTo>
                  <a:lnTo>
                    <a:pt x="0" y="1104569"/>
                  </a:lnTo>
                  <a:close/>
                </a:path>
              </a:pathLst>
            </a:custGeom>
            <a:ln w="9525">
              <a:solidFill>
                <a:srgbClr val="A7A8A7"/>
              </a:solidFill>
            </a:ln>
          </p:spPr>
          <p:txBody>
            <a:bodyPr wrap="square" lIns="0" tIns="0" rIns="0" bIns="0" rtlCol="0"/>
            <a:lstStyle/>
            <a:p/>
          </p:txBody>
        </p:sp>
      </p:grpSp>
      <p:sp>
        <p:nvSpPr>
          <p:cNvPr id="18" name="object 18" descr=""/>
          <p:cNvSpPr txBox="1"/>
          <p:nvPr/>
        </p:nvSpPr>
        <p:spPr>
          <a:xfrm>
            <a:off x="4416840" y="1723910"/>
            <a:ext cx="1040765" cy="1102995"/>
          </a:xfrm>
          <a:prstGeom prst="rect">
            <a:avLst/>
          </a:prstGeom>
        </p:spPr>
        <p:txBody>
          <a:bodyPr wrap="square" lIns="0" tIns="12700" rIns="0" bIns="0" rtlCol="0" vert="horz">
            <a:spAutoFit/>
          </a:bodyPr>
          <a:lstStyle/>
          <a:p>
            <a:pPr marL="12700" marR="100965">
              <a:lnSpc>
                <a:spcPct val="100000"/>
              </a:lnSpc>
              <a:spcBef>
                <a:spcPts val="100"/>
              </a:spcBef>
            </a:pPr>
            <a:r>
              <a:rPr dirty="0" sz="1800">
                <a:solidFill>
                  <a:srgbClr val="C00000"/>
                </a:solidFill>
                <a:latin typeface="Microsoft YaHei"/>
                <a:cs typeface="Microsoft YaHei"/>
              </a:rPr>
              <a:t>3-</a:t>
            </a:r>
            <a:r>
              <a:rPr dirty="0" sz="1800" spc="-20">
                <a:solidFill>
                  <a:srgbClr val="C00000"/>
                </a:solidFill>
                <a:latin typeface="SimSun"/>
                <a:cs typeface="SimSun"/>
              </a:rPr>
              <a:t>准确引</a:t>
            </a:r>
            <a:r>
              <a:rPr dirty="0" sz="1800" spc="-50">
                <a:solidFill>
                  <a:srgbClr val="C00000"/>
                </a:solidFill>
                <a:latin typeface="SimSun"/>
                <a:cs typeface="SimSun"/>
              </a:rPr>
              <a:t>导</a:t>
            </a:r>
            <a:endParaRPr sz="1800">
              <a:latin typeface="SimSun"/>
              <a:cs typeface="SimSun"/>
            </a:endParaRPr>
          </a:p>
          <a:p>
            <a:pPr marL="12700">
              <a:lnSpc>
                <a:spcPct val="100000"/>
              </a:lnSpc>
              <a:spcBef>
                <a:spcPts val="320"/>
              </a:spcBef>
            </a:pPr>
            <a:r>
              <a:rPr dirty="0" sz="800" spc="-15">
                <a:solidFill>
                  <a:srgbClr val="3E3E3E"/>
                </a:solidFill>
                <a:latin typeface="Microsoft YaHei"/>
                <a:cs typeface="Microsoft YaHei"/>
              </a:rPr>
              <a:t>岔口引导及空位提示，</a:t>
            </a:r>
            <a:endParaRPr sz="800">
              <a:latin typeface="Microsoft YaHei"/>
              <a:cs typeface="Microsoft YaHei"/>
            </a:endParaRPr>
          </a:p>
          <a:p>
            <a:pPr marL="12700" marR="108585">
              <a:lnSpc>
                <a:spcPct val="150000"/>
              </a:lnSpc>
            </a:pPr>
            <a:r>
              <a:rPr dirty="0" sz="800" spc="-20">
                <a:solidFill>
                  <a:srgbClr val="3E3E3E"/>
                </a:solidFill>
                <a:latin typeface="Microsoft YaHei"/>
                <a:cs typeface="Microsoft YaHei"/>
              </a:rPr>
              <a:t>准确引车入位；亦可进行拥堵引流</a:t>
            </a:r>
            <a:endParaRPr sz="800">
              <a:latin typeface="Microsoft YaHei"/>
              <a:cs typeface="Microsoft YaHei"/>
            </a:endParaRPr>
          </a:p>
        </p:txBody>
      </p:sp>
      <p:sp>
        <p:nvSpPr>
          <p:cNvPr id="19" name="object 19" descr=""/>
          <p:cNvSpPr txBox="1"/>
          <p:nvPr/>
        </p:nvSpPr>
        <p:spPr>
          <a:xfrm>
            <a:off x="4406125" y="3236078"/>
            <a:ext cx="836294" cy="1285875"/>
          </a:xfrm>
          <a:prstGeom prst="rect">
            <a:avLst/>
          </a:prstGeom>
        </p:spPr>
        <p:txBody>
          <a:bodyPr wrap="square" lIns="0" tIns="12700" rIns="0" bIns="0" rtlCol="0" vert="horz">
            <a:spAutoFit/>
          </a:bodyPr>
          <a:lstStyle/>
          <a:p>
            <a:pPr marL="12700" marR="125095">
              <a:lnSpc>
                <a:spcPct val="100000"/>
              </a:lnSpc>
              <a:spcBef>
                <a:spcPts val="100"/>
              </a:spcBef>
            </a:pPr>
            <a:r>
              <a:rPr dirty="0" sz="1800">
                <a:solidFill>
                  <a:srgbClr val="C00000"/>
                </a:solidFill>
                <a:latin typeface="Microsoft YaHei"/>
                <a:cs typeface="Microsoft YaHei"/>
              </a:rPr>
              <a:t>4-</a:t>
            </a:r>
            <a:r>
              <a:rPr dirty="0" sz="1800" spc="-25">
                <a:solidFill>
                  <a:srgbClr val="C00000"/>
                </a:solidFill>
                <a:latin typeface="SimSun"/>
                <a:cs typeface="SimSun"/>
              </a:rPr>
              <a:t>便捷缴费</a:t>
            </a:r>
            <a:endParaRPr sz="1800">
              <a:latin typeface="SimSun"/>
              <a:cs typeface="SimSun"/>
            </a:endParaRPr>
          </a:p>
          <a:p>
            <a:pPr marL="12700">
              <a:lnSpc>
                <a:spcPct val="100000"/>
              </a:lnSpc>
              <a:spcBef>
                <a:spcPts val="320"/>
              </a:spcBef>
            </a:pPr>
            <a:r>
              <a:rPr dirty="0" sz="800" spc="-20">
                <a:solidFill>
                  <a:srgbClr val="3E3E3E"/>
                </a:solidFill>
                <a:latin typeface="Microsoft YaHei"/>
                <a:cs typeface="Microsoft YaHei"/>
              </a:rPr>
              <a:t>支持手机、自助、</a:t>
            </a:r>
            <a:endParaRPr sz="800">
              <a:latin typeface="Microsoft YaHei"/>
              <a:cs typeface="Microsoft YaHei"/>
            </a:endParaRPr>
          </a:p>
          <a:p>
            <a:pPr algn="just" marL="12700" marR="5080">
              <a:lnSpc>
                <a:spcPct val="150000"/>
              </a:lnSpc>
            </a:pPr>
            <a:r>
              <a:rPr dirty="0" sz="800" spc="-20">
                <a:solidFill>
                  <a:srgbClr val="3E3E3E"/>
                </a:solidFill>
                <a:latin typeface="Microsoft YaHei"/>
                <a:cs typeface="Microsoft YaHei"/>
              </a:rPr>
              <a:t>人工、月卡等多种缴费方式，收费绑定过车记录</a:t>
            </a:r>
            <a:endParaRPr sz="800">
              <a:latin typeface="Microsoft YaHei"/>
              <a:cs typeface="Microsoft YaHei"/>
            </a:endParaRPr>
          </a:p>
        </p:txBody>
      </p:sp>
      <p:sp>
        <p:nvSpPr>
          <p:cNvPr id="20" name="object 20" descr=""/>
          <p:cNvSpPr txBox="1"/>
          <p:nvPr/>
        </p:nvSpPr>
        <p:spPr>
          <a:xfrm>
            <a:off x="6586159" y="1651901"/>
            <a:ext cx="836294" cy="1285875"/>
          </a:xfrm>
          <a:prstGeom prst="rect">
            <a:avLst/>
          </a:prstGeom>
        </p:spPr>
        <p:txBody>
          <a:bodyPr wrap="square" lIns="0" tIns="12700" rIns="0" bIns="0" rtlCol="0" vert="horz">
            <a:spAutoFit/>
          </a:bodyPr>
          <a:lstStyle/>
          <a:p>
            <a:pPr marL="12700" marR="125095">
              <a:lnSpc>
                <a:spcPct val="100000"/>
              </a:lnSpc>
              <a:spcBef>
                <a:spcPts val="100"/>
              </a:spcBef>
            </a:pPr>
            <a:r>
              <a:rPr dirty="0" sz="1800">
                <a:solidFill>
                  <a:srgbClr val="C00000"/>
                </a:solidFill>
                <a:latin typeface="Microsoft YaHei"/>
                <a:cs typeface="Microsoft YaHei"/>
              </a:rPr>
              <a:t>5-</a:t>
            </a:r>
            <a:r>
              <a:rPr dirty="0" sz="1800" spc="-25">
                <a:solidFill>
                  <a:srgbClr val="C00000"/>
                </a:solidFill>
                <a:latin typeface="SimSun"/>
                <a:cs typeface="SimSun"/>
              </a:rPr>
              <a:t>便捷寻车</a:t>
            </a:r>
            <a:endParaRPr sz="1800">
              <a:latin typeface="SimSun"/>
              <a:cs typeface="SimSun"/>
            </a:endParaRPr>
          </a:p>
          <a:p>
            <a:pPr marL="12700">
              <a:lnSpc>
                <a:spcPct val="100000"/>
              </a:lnSpc>
              <a:spcBef>
                <a:spcPts val="320"/>
              </a:spcBef>
            </a:pPr>
            <a:r>
              <a:rPr dirty="0" sz="800" spc="-20">
                <a:solidFill>
                  <a:srgbClr val="3E3E3E"/>
                </a:solidFill>
                <a:latin typeface="Microsoft YaHei"/>
                <a:cs typeface="Microsoft YaHei"/>
              </a:rPr>
              <a:t>支持寻车机、手机</a:t>
            </a:r>
            <a:endParaRPr sz="800">
              <a:latin typeface="Microsoft YaHei"/>
              <a:cs typeface="Microsoft YaHei"/>
            </a:endParaRPr>
          </a:p>
          <a:p>
            <a:pPr algn="just" marL="12700" marR="5080">
              <a:lnSpc>
                <a:spcPct val="150000"/>
              </a:lnSpc>
            </a:pPr>
            <a:r>
              <a:rPr dirty="0" sz="800" spc="-10">
                <a:solidFill>
                  <a:srgbClr val="3E3E3E"/>
                </a:solidFill>
                <a:latin typeface="Microsoft YaHei"/>
                <a:cs typeface="Microsoft YaHei"/>
              </a:rPr>
              <a:t>APP</a:t>
            </a:r>
            <a:r>
              <a:rPr dirty="0" sz="800" spc="-20">
                <a:solidFill>
                  <a:srgbClr val="3E3E3E"/>
                </a:solidFill>
                <a:latin typeface="Microsoft YaHei"/>
                <a:cs typeface="Microsoft YaHei"/>
              </a:rPr>
              <a:t>车辆搜索、精确定位及最优化路</a:t>
            </a:r>
            <a:r>
              <a:rPr dirty="0" sz="800" spc="-25">
                <a:solidFill>
                  <a:srgbClr val="3E3E3E"/>
                </a:solidFill>
                <a:latin typeface="Microsoft YaHei"/>
                <a:cs typeface="Microsoft YaHei"/>
              </a:rPr>
              <a:t>线规划</a:t>
            </a:r>
            <a:endParaRPr sz="800">
              <a:latin typeface="Microsoft YaHei"/>
              <a:cs typeface="Microsoft YaHei"/>
            </a:endParaRPr>
          </a:p>
        </p:txBody>
      </p:sp>
      <p:grpSp>
        <p:nvGrpSpPr>
          <p:cNvPr id="21" name="object 21" descr=""/>
          <p:cNvGrpSpPr/>
          <p:nvPr/>
        </p:nvGrpSpPr>
        <p:grpSpPr>
          <a:xfrm>
            <a:off x="1208189" y="1786932"/>
            <a:ext cx="5334000" cy="2414270"/>
            <a:chOff x="1208189" y="1786932"/>
            <a:chExt cx="5334000" cy="2414270"/>
          </a:xfrm>
        </p:grpSpPr>
        <p:pic>
          <p:nvPicPr>
            <p:cNvPr id="22" name="object 22"/>
            <p:cNvPicPr/>
            <p:nvPr/>
          </p:nvPicPr>
          <p:blipFill>
            <a:blip r:embed="rId5" cstate="print"/>
            <a:stretch>
              <a:fillRect/>
            </a:stretch>
          </p:blipFill>
          <p:spPr>
            <a:xfrm>
              <a:off x="1208189" y="3352602"/>
              <a:ext cx="971546" cy="848113"/>
            </a:xfrm>
            <a:prstGeom prst="rect">
              <a:avLst/>
            </a:prstGeom>
          </p:spPr>
        </p:pic>
        <p:pic>
          <p:nvPicPr>
            <p:cNvPr id="23" name="object 23"/>
            <p:cNvPicPr/>
            <p:nvPr/>
          </p:nvPicPr>
          <p:blipFill>
            <a:blip r:embed="rId6" cstate="print"/>
            <a:stretch>
              <a:fillRect/>
            </a:stretch>
          </p:blipFill>
          <p:spPr>
            <a:xfrm>
              <a:off x="3404895" y="1786932"/>
              <a:ext cx="971543" cy="848114"/>
            </a:xfrm>
            <a:prstGeom prst="rect">
              <a:avLst/>
            </a:prstGeom>
          </p:spPr>
        </p:pic>
        <p:pic>
          <p:nvPicPr>
            <p:cNvPr id="24" name="object 24"/>
            <p:cNvPicPr/>
            <p:nvPr/>
          </p:nvPicPr>
          <p:blipFill>
            <a:blip r:embed="rId7" cstate="print"/>
            <a:stretch>
              <a:fillRect/>
            </a:stretch>
          </p:blipFill>
          <p:spPr>
            <a:xfrm>
              <a:off x="5570639" y="1795265"/>
              <a:ext cx="971547" cy="848112"/>
            </a:xfrm>
            <a:prstGeom prst="rect">
              <a:avLst/>
            </a:prstGeom>
          </p:spPr>
        </p:pic>
      </p:grpSp>
      <p:sp>
        <p:nvSpPr>
          <p:cNvPr id="25" name="object 25" descr=""/>
          <p:cNvSpPr txBox="1"/>
          <p:nvPr/>
        </p:nvSpPr>
        <p:spPr>
          <a:xfrm>
            <a:off x="2260618" y="3236078"/>
            <a:ext cx="836294" cy="1102995"/>
          </a:xfrm>
          <a:prstGeom prst="rect">
            <a:avLst/>
          </a:prstGeom>
        </p:spPr>
        <p:txBody>
          <a:bodyPr wrap="square" lIns="0" tIns="12700" rIns="0" bIns="0" rtlCol="0" vert="horz">
            <a:spAutoFit/>
          </a:bodyPr>
          <a:lstStyle/>
          <a:p>
            <a:pPr marL="12700" marR="125095">
              <a:lnSpc>
                <a:spcPct val="100000"/>
              </a:lnSpc>
              <a:spcBef>
                <a:spcPts val="100"/>
              </a:spcBef>
            </a:pPr>
            <a:r>
              <a:rPr dirty="0" sz="1800">
                <a:solidFill>
                  <a:srgbClr val="C00000"/>
                </a:solidFill>
                <a:latin typeface="Microsoft YaHei"/>
                <a:cs typeface="Microsoft YaHei"/>
              </a:rPr>
              <a:t>2-</a:t>
            </a:r>
            <a:r>
              <a:rPr dirty="0" sz="1800" spc="-25">
                <a:solidFill>
                  <a:srgbClr val="C00000"/>
                </a:solidFill>
                <a:latin typeface="SimSun"/>
                <a:cs typeface="SimSun"/>
              </a:rPr>
              <a:t>不停</a:t>
            </a:r>
            <a:r>
              <a:rPr dirty="0" sz="1800" spc="-20">
                <a:solidFill>
                  <a:srgbClr val="C00000"/>
                </a:solidFill>
                <a:latin typeface="SimSun"/>
                <a:cs typeface="SimSun"/>
              </a:rPr>
              <a:t>车进场</a:t>
            </a:r>
            <a:endParaRPr sz="1800">
              <a:latin typeface="SimSun"/>
              <a:cs typeface="SimSun"/>
            </a:endParaRPr>
          </a:p>
          <a:p>
            <a:pPr marL="12700">
              <a:lnSpc>
                <a:spcPct val="100000"/>
              </a:lnSpc>
              <a:spcBef>
                <a:spcPts val="320"/>
              </a:spcBef>
            </a:pPr>
            <a:r>
              <a:rPr dirty="0" sz="800" spc="-20">
                <a:solidFill>
                  <a:srgbClr val="3E3E3E"/>
                </a:solidFill>
                <a:latin typeface="Microsoft YaHei"/>
                <a:cs typeface="Microsoft YaHei"/>
              </a:rPr>
              <a:t>基于车牌识别的无</a:t>
            </a:r>
            <a:endParaRPr sz="800">
              <a:latin typeface="Microsoft YaHei"/>
              <a:cs typeface="Microsoft YaHei"/>
            </a:endParaRPr>
          </a:p>
          <a:p>
            <a:pPr marL="12700" marR="5080">
              <a:lnSpc>
                <a:spcPct val="150000"/>
              </a:lnSpc>
            </a:pPr>
            <a:r>
              <a:rPr dirty="0" sz="800" spc="-20">
                <a:solidFill>
                  <a:srgbClr val="3E3E3E"/>
                </a:solidFill>
                <a:latin typeface="Microsoft YaHei"/>
                <a:cs typeface="Microsoft YaHei"/>
              </a:rPr>
              <a:t>卡化管理，提升进出场效率</a:t>
            </a:r>
            <a:endParaRPr sz="800">
              <a:latin typeface="Microsoft YaHei"/>
              <a:cs typeface="Microsoft YaHei"/>
            </a:endParaRPr>
          </a:p>
        </p:txBody>
      </p:sp>
      <p:pic>
        <p:nvPicPr>
          <p:cNvPr id="26" name="object 26"/>
          <p:cNvPicPr/>
          <p:nvPr/>
        </p:nvPicPr>
        <p:blipFill>
          <a:blip r:embed="rId8" cstate="print"/>
          <a:stretch>
            <a:fillRect/>
          </a:stretch>
        </p:blipFill>
        <p:spPr>
          <a:xfrm>
            <a:off x="3376320" y="3344608"/>
            <a:ext cx="972731" cy="848216"/>
          </a:xfrm>
          <a:prstGeom prst="rect">
            <a:avLst/>
          </a:prstGeom>
        </p:spPr>
      </p:pic>
      <p:sp>
        <p:nvSpPr>
          <p:cNvPr id="27" name="object 27" descr=""/>
          <p:cNvSpPr txBox="1"/>
          <p:nvPr/>
        </p:nvSpPr>
        <p:spPr>
          <a:xfrm>
            <a:off x="2240379" y="1651901"/>
            <a:ext cx="836294" cy="1285875"/>
          </a:xfrm>
          <a:prstGeom prst="rect">
            <a:avLst/>
          </a:prstGeom>
        </p:spPr>
        <p:txBody>
          <a:bodyPr wrap="square" lIns="0" tIns="12700" rIns="0" bIns="0" rtlCol="0" vert="horz">
            <a:spAutoFit/>
          </a:bodyPr>
          <a:lstStyle/>
          <a:p>
            <a:pPr marL="12700" marR="125095">
              <a:lnSpc>
                <a:spcPct val="100000"/>
              </a:lnSpc>
              <a:spcBef>
                <a:spcPts val="100"/>
              </a:spcBef>
            </a:pPr>
            <a:r>
              <a:rPr dirty="0" sz="1800">
                <a:solidFill>
                  <a:srgbClr val="C00000"/>
                </a:solidFill>
                <a:latin typeface="Microsoft YaHei"/>
                <a:cs typeface="Microsoft YaHei"/>
              </a:rPr>
              <a:t>1-</a:t>
            </a:r>
            <a:r>
              <a:rPr dirty="0" sz="1800" spc="-25">
                <a:solidFill>
                  <a:srgbClr val="C00000"/>
                </a:solidFill>
                <a:latin typeface="SimSun"/>
                <a:cs typeface="SimSun"/>
              </a:rPr>
              <a:t>余位显示</a:t>
            </a:r>
            <a:endParaRPr sz="1800">
              <a:latin typeface="SimSun"/>
              <a:cs typeface="SimSun"/>
            </a:endParaRPr>
          </a:p>
          <a:p>
            <a:pPr marL="12700">
              <a:lnSpc>
                <a:spcPct val="100000"/>
              </a:lnSpc>
              <a:spcBef>
                <a:spcPts val="320"/>
              </a:spcBef>
            </a:pPr>
            <a:r>
              <a:rPr dirty="0" sz="800" spc="-10">
                <a:solidFill>
                  <a:srgbClr val="3E3E3E"/>
                </a:solidFill>
                <a:latin typeface="Microsoft YaHei"/>
                <a:cs typeface="Microsoft YaHei"/>
              </a:rPr>
              <a:t>手机APP</a:t>
            </a:r>
            <a:r>
              <a:rPr dirty="0" sz="800" spc="-20">
                <a:solidFill>
                  <a:srgbClr val="3E3E3E"/>
                </a:solidFill>
                <a:latin typeface="Microsoft YaHei"/>
                <a:cs typeface="Microsoft YaHei"/>
              </a:rPr>
              <a:t>、余位屏</a:t>
            </a:r>
            <a:endParaRPr sz="800">
              <a:latin typeface="Microsoft YaHei"/>
              <a:cs typeface="Microsoft YaHei"/>
            </a:endParaRPr>
          </a:p>
          <a:p>
            <a:pPr algn="just" marL="12700" marR="5080">
              <a:lnSpc>
                <a:spcPct val="150000"/>
              </a:lnSpc>
            </a:pPr>
            <a:r>
              <a:rPr dirty="0" sz="800" spc="-20">
                <a:solidFill>
                  <a:srgbClr val="3E3E3E"/>
                </a:solidFill>
                <a:latin typeface="Microsoft YaHei"/>
                <a:cs typeface="Microsoft YaHei"/>
              </a:rPr>
              <a:t>显示整个停车场的余位情况；亦可进行车位预定</a:t>
            </a:r>
            <a:endParaRPr sz="800">
              <a:latin typeface="Microsoft YaHei"/>
              <a:cs typeface="Microsoft YaHei"/>
            </a:endParaRPr>
          </a:p>
        </p:txBody>
      </p:sp>
      <p:grpSp>
        <p:nvGrpSpPr>
          <p:cNvPr id="28" name="object 28" descr=""/>
          <p:cNvGrpSpPr/>
          <p:nvPr/>
        </p:nvGrpSpPr>
        <p:grpSpPr>
          <a:xfrm>
            <a:off x="1236764" y="1788455"/>
            <a:ext cx="6329680" cy="1424305"/>
            <a:chOff x="1236764" y="1788455"/>
            <a:chExt cx="6329680" cy="1424305"/>
          </a:xfrm>
        </p:grpSpPr>
        <p:pic>
          <p:nvPicPr>
            <p:cNvPr id="29" name="object 29"/>
            <p:cNvPicPr/>
            <p:nvPr/>
          </p:nvPicPr>
          <p:blipFill>
            <a:blip r:embed="rId9" cstate="print"/>
            <a:stretch>
              <a:fillRect/>
            </a:stretch>
          </p:blipFill>
          <p:spPr>
            <a:xfrm>
              <a:off x="1236764" y="1788455"/>
              <a:ext cx="972737" cy="846463"/>
            </a:xfrm>
            <a:prstGeom prst="rect">
              <a:avLst/>
            </a:prstGeom>
          </p:spPr>
        </p:pic>
        <p:pic>
          <p:nvPicPr>
            <p:cNvPr id="30" name="object 30"/>
            <p:cNvPicPr/>
            <p:nvPr/>
          </p:nvPicPr>
          <p:blipFill>
            <a:blip r:embed="rId10" cstate="print"/>
            <a:stretch>
              <a:fillRect/>
            </a:stretch>
          </p:blipFill>
          <p:spPr>
            <a:xfrm>
              <a:off x="1328445" y="2931833"/>
              <a:ext cx="6237677" cy="280669"/>
            </a:xfrm>
            <a:prstGeom prst="rect">
              <a:avLst/>
            </a:prstGeom>
          </p:spPr>
        </p:pic>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8" y="157839"/>
            <a:ext cx="3228340" cy="513080"/>
          </a:xfrm>
          <a:prstGeom prst="rect"/>
        </p:spPr>
        <p:txBody>
          <a:bodyPr wrap="square" lIns="0" tIns="12065" rIns="0" bIns="0" rtlCol="0" vert="horz">
            <a:spAutoFit/>
          </a:bodyPr>
          <a:lstStyle/>
          <a:p>
            <a:pPr marL="12700">
              <a:lnSpc>
                <a:spcPct val="100000"/>
              </a:lnSpc>
              <a:spcBef>
                <a:spcPts val="95"/>
              </a:spcBef>
            </a:pPr>
            <a:r>
              <a:rPr dirty="0" spc="-330"/>
              <a:t>智慧停车</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1057719" y="1019225"/>
            <a:ext cx="336550" cy="177800"/>
          </a:xfrm>
          <a:custGeom>
            <a:avLst/>
            <a:gdLst/>
            <a:ahLst/>
            <a:cxnLst/>
            <a:rect l="l" t="t" r="r" b="b"/>
            <a:pathLst>
              <a:path w="336550" h="177800">
                <a:moveTo>
                  <a:pt x="336105" y="0"/>
                </a:moveTo>
                <a:lnTo>
                  <a:pt x="0" y="0"/>
                </a:lnTo>
                <a:lnTo>
                  <a:pt x="0" y="177800"/>
                </a:lnTo>
                <a:lnTo>
                  <a:pt x="336105" y="177800"/>
                </a:lnTo>
                <a:lnTo>
                  <a:pt x="336105" y="0"/>
                </a:lnTo>
                <a:close/>
              </a:path>
            </a:pathLst>
          </a:custGeom>
          <a:solidFill>
            <a:srgbClr val="A40000"/>
          </a:solidFill>
        </p:spPr>
        <p:txBody>
          <a:bodyPr wrap="square" lIns="0" tIns="0" rIns="0" bIns="0" rtlCol="0"/>
          <a:lstStyle/>
          <a:p/>
        </p:txBody>
      </p:sp>
      <p:sp>
        <p:nvSpPr>
          <p:cNvPr id="4" name="object 4" descr=""/>
          <p:cNvSpPr txBox="1"/>
          <p:nvPr/>
        </p:nvSpPr>
        <p:spPr>
          <a:xfrm>
            <a:off x="917007" y="1405210"/>
            <a:ext cx="4149725" cy="1122680"/>
          </a:xfrm>
          <a:prstGeom prst="rect">
            <a:avLst/>
          </a:prstGeom>
        </p:spPr>
        <p:txBody>
          <a:bodyPr wrap="square" lIns="0" tIns="104139" rIns="0" bIns="0" rtlCol="0" vert="horz">
            <a:spAutoFit/>
          </a:bodyPr>
          <a:lstStyle/>
          <a:p>
            <a:pPr marL="173355" indent="-160655">
              <a:lnSpc>
                <a:spcPct val="100000"/>
              </a:lnSpc>
              <a:spcBef>
                <a:spcPts val="819"/>
              </a:spcBef>
              <a:buFont typeface="Wingdings"/>
              <a:buChar char=""/>
              <a:tabLst>
                <a:tab pos="173355" algn="l"/>
              </a:tabLst>
            </a:pPr>
            <a:r>
              <a:rPr dirty="0" sz="1200" spc="-5">
                <a:solidFill>
                  <a:srgbClr val="3D3D3D"/>
                </a:solidFill>
                <a:latin typeface="Microsoft YaHei"/>
                <a:cs typeface="Microsoft YaHei"/>
              </a:rPr>
              <a:t>加强物业对出入车辆的管理便捷化、智能化管理。</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solidFill>
                  <a:srgbClr val="3D3D3D"/>
                </a:solidFill>
                <a:latin typeface="Microsoft YaHei"/>
                <a:cs typeface="Microsoft YaHei"/>
              </a:rPr>
              <a:t>实现无人值守，降低了人力成本。</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solidFill>
                  <a:srgbClr val="3D3D3D"/>
                </a:solidFill>
                <a:latin typeface="Microsoft YaHei"/>
                <a:cs typeface="Microsoft YaHei"/>
              </a:rPr>
              <a:t>加强了费用收支的透明性。</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solidFill>
                  <a:srgbClr val="3D3D3D"/>
                </a:solidFill>
                <a:latin typeface="Microsoft YaHei"/>
                <a:cs typeface="Microsoft YaHei"/>
              </a:rPr>
              <a:t>不同停车场的联网，加强了车场联合运营管理，实现收益。</a:t>
            </a:r>
            <a:endParaRPr sz="1200">
              <a:latin typeface="Microsoft YaHei"/>
              <a:cs typeface="Microsoft YaHei"/>
            </a:endParaRPr>
          </a:p>
        </p:txBody>
      </p:sp>
      <p:sp>
        <p:nvSpPr>
          <p:cNvPr id="5" name="object 5" descr=""/>
          <p:cNvSpPr txBox="1"/>
          <p:nvPr/>
        </p:nvSpPr>
        <p:spPr>
          <a:xfrm>
            <a:off x="1559525" y="990376"/>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p:txBody>
      </p:sp>
      <p:sp>
        <p:nvSpPr>
          <p:cNvPr id="6" name="object 6" descr=""/>
          <p:cNvSpPr/>
          <p:nvPr/>
        </p:nvSpPr>
        <p:spPr>
          <a:xfrm>
            <a:off x="1156068" y="2848101"/>
            <a:ext cx="336550" cy="177800"/>
          </a:xfrm>
          <a:custGeom>
            <a:avLst/>
            <a:gdLst/>
            <a:ahLst/>
            <a:cxnLst/>
            <a:rect l="l" t="t" r="r" b="b"/>
            <a:pathLst>
              <a:path w="336550" h="177800">
                <a:moveTo>
                  <a:pt x="336105" y="0"/>
                </a:moveTo>
                <a:lnTo>
                  <a:pt x="0" y="0"/>
                </a:lnTo>
                <a:lnTo>
                  <a:pt x="0" y="177800"/>
                </a:lnTo>
                <a:lnTo>
                  <a:pt x="336105" y="177800"/>
                </a:lnTo>
                <a:lnTo>
                  <a:pt x="336105" y="0"/>
                </a:lnTo>
                <a:close/>
              </a:path>
            </a:pathLst>
          </a:custGeom>
          <a:solidFill>
            <a:srgbClr val="A40000"/>
          </a:solidFill>
        </p:spPr>
        <p:txBody>
          <a:bodyPr wrap="square" lIns="0" tIns="0" rIns="0" bIns="0" rtlCol="0"/>
          <a:lstStyle/>
          <a:p/>
        </p:txBody>
      </p:sp>
      <p:sp>
        <p:nvSpPr>
          <p:cNvPr id="7" name="object 7" descr=""/>
          <p:cNvSpPr txBox="1"/>
          <p:nvPr/>
        </p:nvSpPr>
        <p:spPr>
          <a:xfrm>
            <a:off x="930348" y="2813726"/>
            <a:ext cx="4454525" cy="1118235"/>
          </a:xfrm>
          <a:prstGeom prst="rect">
            <a:avLst/>
          </a:prstGeom>
        </p:spPr>
        <p:txBody>
          <a:bodyPr wrap="square" lIns="0" tIns="12700" rIns="0" bIns="0" rtlCol="0" vert="horz">
            <a:spAutoFit/>
          </a:bodyPr>
          <a:lstStyle/>
          <a:p>
            <a:pPr marL="701040">
              <a:lnSpc>
                <a:spcPct val="100000"/>
              </a:lnSpc>
              <a:spcBef>
                <a:spcPts val="100"/>
              </a:spcBef>
            </a:pPr>
            <a:r>
              <a:rPr dirty="0" sz="1200" spc="-20" b="1">
                <a:latin typeface="Microsoft YaHei"/>
                <a:cs typeface="Microsoft YaHei"/>
              </a:rPr>
              <a:t>为车主</a:t>
            </a:r>
            <a:endParaRPr sz="1200">
              <a:latin typeface="Microsoft YaHei"/>
              <a:cs typeface="Microsoft YaHei"/>
            </a:endParaRPr>
          </a:p>
          <a:p>
            <a:pPr>
              <a:lnSpc>
                <a:spcPct val="100000"/>
              </a:lnSpc>
              <a:spcBef>
                <a:spcPts val="1345"/>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solidFill>
                  <a:srgbClr val="3D3D3D"/>
                </a:solidFill>
                <a:latin typeface="Microsoft YaHei"/>
                <a:cs typeface="Microsoft YaHei"/>
              </a:rPr>
              <a:t>车主可实现车位预定与诱导，提高了停车、反向寻车的便捷性。</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solidFill>
                  <a:srgbClr val="3D3D3D"/>
                </a:solidFill>
                <a:latin typeface="Microsoft YaHei"/>
                <a:cs typeface="Microsoft YaHei"/>
              </a:rPr>
              <a:t>实施视频监控，方便实施查看车辆的安全性。</a:t>
            </a:r>
            <a:endParaRPr sz="1200">
              <a:latin typeface="Microsoft YaHei"/>
              <a:cs typeface="Microsoft YaHei"/>
            </a:endParaRPr>
          </a:p>
        </p:txBody>
      </p:sp>
      <p:grpSp>
        <p:nvGrpSpPr>
          <p:cNvPr id="8" name="object 8" descr=""/>
          <p:cNvGrpSpPr/>
          <p:nvPr/>
        </p:nvGrpSpPr>
        <p:grpSpPr>
          <a:xfrm>
            <a:off x="5326913" y="963422"/>
            <a:ext cx="3817620" cy="1884680"/>
            <a:chOff x="5326913" y="963422"/>
            <a:chExt cx="3817620" cy="1884680"/>
          </a:xfrm>
        </p:grpSpPr>
        <p:pic>
          <p:nvPicPr>
            <p:cNvPr id="9" name="object 9"/>
            <p:cNvPicPr/>
            <p:nvPr/>
          </p:nvPicPr>
          <p:blipFill>
            <a:blip r:embed="rId2" cstate="print"/>
            <a:stretch>
              <a:fillRect/>
            </a:stretch>
          </p:blipFill>
          <p:spPr>
            <a:xfrm>
              <a:off x="5326913" y="963422"/>
              <a:ext cx="3340465" cy="1884675"/>
            </a:xfrm>
            <a:prstGeom prst="rect">
              <a:avLst/>
            </a:prstGeom>
          </p:spPr>
        </p:pic>
        <p:pic>
          <p:nvPicPr>
            <p:cNvPr id="10" name="object 10"/>
            <p:cNvPicPr/>
            <p:nvPr/>
          </p:nvPicPr>
          <p:blipFill>
            <a:blip r:embed="rId3" cstate="print"/>
            <a:stretch>
              <a:fillRect/>
            </a:stretch>
          </p:blipFill>
          <p:spPr>
            <a:xfrm>
              <a:off x="7597863" y="1047407"/>
              <a:ext cx="856813" cy="1750826"/>
            </a:xfrm>
            <a:prstGeom prst="rect">
              <a:avLst/>
            </a:prstGeom>
          </p:spPr>
        </p:pic>
        <p:pic>
          <p:nvPicPr>
            <p:cNvPr id="11" name="object 11" descr=""/>
            <p:cNvPicPr/>
            <p:nvPr/>
          </p:nvPicPr>
          <p:blipFill>
            <a:blip r:embed="rId4" cstate="print"/>
            <a:stretch>
              <a:fillRect/>
            </a:stretch>
          </p:blipFill>
          <p:spPr>
            <a:xfrm>
              <a:off x="8005571" y="1085088"/>
              <a:ext cx="1138426" cy="647699"/>
            </a:xfrm>
            <a:prstGeom prst="rect">
              <a:avLst/>
            </a:prstGeom>
          </p:spPr>
        </p:pic>
        <p:pic>
          <p:nvPicPr>
            <p:cNvPr id="12" name="object 12" descr=""/>
            <p:cNvPicPr/>
            <p:nvPr/>
          </p:nvPicPr>
          <p:blipFill>
            <a:blip r:embed="rId5" cstate="print"/>
            <a:stretch>
              <a:fillRect/>
            </a:stretch>
          </p:blipFill>
          <p:spPr>
            <a:xfrm>
              <a:off x="8169401" y="1088898"/>
              <a:ext cx="917447" cy="477773"/>
            </a:xfrm>
            <a:prstGeom prst="rect">
              <a:avLst/>
            </a:prstGeom>
          </p:spPr>
        </p:pic>
        <p:pic>
          <p:nvPicPr>
            <p:cNvPr id="13" name="object 13" descr=""/>
            <p:cNvPicPr/>
            <p:nvPr/>
          </p:nvPicPr>
          <p:blipFill>
            <a:blip r:embed="rId6" cstate="print"/>
            <a:stretch>
              <a:fillRect/>
            </a:stretch>
          </p:blipFill>
          <p:spPr>
            <a:xfrm>
              <a:off x="8051749" y="1108125"/>
              <a:ext cx="1083462" cy="555993"/>
            </a:xfrm>
            <a:prstGeom prst="rect">
              <a:avLst/>
            </a:prstGeom>
          </p:spPr>
        </p:pic>
        <p:sp>
          <p:nvSpPr>
            <p:cNvPr id="14" name="object 14" descr=""/>
            <p:cNvSpPr/>
            <p:nvPr/>
          </p:nvSpPr>
          <p:spPr>
            <a:xfrm>
              <a:off x="8051747" y="1108128"/>
              <a:ext cx="1083945" cy="556260"/>
            </a:xfrm>
            <a:custGeom>
              <a:avLst/>
              <a:gdLst/>
              <a:ahLst/>
              <a:cxnLst/>
              <a:rect l="l" t="t" r="r" b="b"/>
              <a:pathLst>
                <a:path w="1083945" h="556260">
                  <a:moveTo>
                    <a:pt x="130225" y="70472"/>
                  </a:moveTo>
                  <a:lnTo>
                    <a:pt x="135763" y="43039"/>
                  </a:lnTo>
                  <a:lnTo>
                    <a:pt x="150864" y="20639"/>
                  </a:lnTo>
                  <a:lnTo>
                    <a:pt x="173265" y="5537"/>
                  </a:lnTo>
                  <a:lnTo>
                    <a:pt x="200698" y="0"/>
                  </a:lnTo>
                  <a:lnTo>
                    <a:pt x="289102" y="0"/>
                  </a:lnTo>
                  <a:lnTo>
                    <a:pt x="527405" y="0"/>
                  </a:lnTo>
                  <a:lnTo>
                    <a:pt x="1012990" y="0"/>
                  </a:lnTo>
                  <a:lnTo>
                    <a:pt x="1040423" y="5537"/>
                  </a:lnTo>
                  <a:lnTo>
                    <a:pt x="1062823" y="20639"/>
                  </a:lnTo>
                  <a:lnTo>
                    <a:pt x="1077925" y="43039"/>
                  </a:lnTo>
                  <a:lnTo>
                    <a:pt x="1083462" y="70472"/>
                  </a:lnTo>
                  <a:lnTo>
                    <a:pt x="1083462" y="246659"/>
                  </a:lnTo>
                  <a:lnTo>
                    <a:pt x="1083462" y="352361"/>
                  </a:lnTo>
                  <a:lnTo>
                    <a:pt x="1077925" y="379794"/>
                  </a:lnTo>
                  <a:lnTo>
                    <a:pt x="1062823" y="402194"/>
                  </a:lnTo>
                  <a:lnTo>
                    <a:pt x="1040423" y="417296"/>
                  </a:lnTo>
                  <a:lnTo>
                    <a:pt x="1012990" y="422833"/>
                  </a:lnTo>
                  <a:lnTo>
                    <a:pt x="527405" y="422833"/>
                  </a:lnTo>
                  <a:lnTo>
                    <a:pt x="0" y="555993"/>
                  </a:lnTo>
                  <a:lnTo>
                    <a:pt x="289102" y="422833"/>
                  </a:lnTo>
                  <a:lnTo>
                    <a:pt x="200698" y="422833"/>
                  </a:lnTo>
                  <a:lnTo>
                    <a:pt x="173265" y="417296"/>
                  </a:lnTo>
                  <a:lnTo>
                    <a:pt x="150864" y="402194"/>
                  </a:lnTo>
                  <a:lnTo>
                    <a:pt x="135763" y="379794"/>
                  </a:lnTo>
                  <a:lnTo>
                    <a:pt x="130225" y="352361"/>
                  </a:lnTo>
                  <a:lnTo>
                    <a:pt x="130225" y="246659"/>
                  </a:lnTo>
                  <a:lnTo>
                    <a:pt x="130225" y="70472"/>
                  </a:lnTo>
                  <a:close/>
                </a:path>
              </a:pathLst>
            </a:custGeom>
            <a:ln w="9525">
              <a:solidFill>
                <a:srgbClr val="2F2F98"/>
              </a:solidFill>
            </a:ln>
          </p:spPr>
          <p:txBody>
            <a:bodyPr wrap="square" lIns="0" tIns="0" rIns="0" bIns="0" rtlCol="0"/>
            <a:lstStyle/>
            <a:p/>
          </p:txBody>
        </p:sp>
      </p:grpSp>
      <p:sp>
        <p:nvSpPr>
          <p:cNvPr id="15" name="object 15" descr=""/>
          <p:cNvSpPr txBox="1"/>
          <p:nvPr/>
        </p:nvSpPr>
        <p:spPr>
          <a:xfrm>
            <a:off x="8258493" y="1127776"/>
            <a:ext cx="739140" cy="391160"/>
          </a:xfrm>
          <a:prstGeom prst="rect">
            <a:avLst/>
          </a:prstGeom>
        </p:spPr>
        <p:txBody>
          <a:bodyPr wrap="square" lIns="0" tIns="12065" rIns="0" bIns="0" rtlCol="0" vert="horz">
            <a:spAutoFit/>
          </a:bodyPr>
          <a:lstStyle/>
          <a:p>
            <a:pPr algn="just" marL="12700" marR="5080">
              <a:lnSpc>
                <a:spcPct val="100000"/>
              </a:lnSpc>
              <a:spcBef>
                <a:spcPts val="95"/>
              </a:spcBef>
            </a:pPr>
            <a:r>
              <a:rPr dirty="0" sz="800" spc="-20">
                <a:solidFill>
                  <a:srgbClr val="FFFFFF"/>
                </a:solidFill>
                <a:latin typeface="SimSun"/>
                <a:cs typeface="SimSun"/>
              </a:rPr>
              <a:t>停车场、余位、收费标准一目了</a:t>
            </a:r>
            <a:r>
              <a:rPr dirty="0" sz="800" spc="-50">
                <a:solidFill>
                  <a:srgbClr val="FFFFFF"/>
                </a:solidFill>
                <a:latin typeface="SimSun"/>
                <a:cs typeface="SimSun"/>
              </a:rPr>
              <a:t>然</a:t>
            </a:r>
            <a:endParaRPr sz="800">
              <a:latin typeface="SimSun"/>
              <a:cs typeface="SimSun"/>
            </a:endParaRPr>
          </a:p>
        </p:txBody>
      </p:sp>
      <p:grpSp>
        <p:nvGrpSpPr>
          <p:cNvPr id="16" name="object 16" descr=""/>
          <p:cNvGrpSpPr/>
          <p:nvPr/>
        </p:nvGrpSpPr>
        <p:grpSpPr>
          <a:xfrm>
            <a:off x="6158484" y="1078991"/>
            <a:ext cx="885190" cy="530860"/>
            <a:chOff x="6158484" y="1078991"/>
            <a:chExt cx="885190" cy="530860"/>
          </a:xfrm>
        </p:grpSpPr>
        <p:pic>
          <p:nvPicPr>
            <p:cNvPr id="17" name="object 17" descr=""/>
            <p:cNvPicPr/>
            <p:nvPr/>
          </p:nvPicPr>
          <p:blipFill>
            <a:blip r:embed="rId7" cstate="print"/>
            <a:stretch>
              <a:fillRect/>
            </a:stretch>
          </p:blipFill>
          <p:spPr>
            <a:xfrm>
              <a:off x="6158484" y="1078991"/>
              <a:ext cx="884680" cy="530351"/>
            </a:xfrm>
            <a:prstGeom prst="rect">
              <a:avLst/>
            </a:prstGeom>
          </p:spPr>
        </p:pic>
        <p:pic>
          <p:nvPicPr>
            <p:cNvPr id="18" name="object 18" descr=""/>
            <p:cNvPicPr/>
            <p:nvPr/>
          </p:nvPicPr>
          <p:blipFill>
            <a:blip r:embed="rId8" cstate="print"/>
            <a:stretch>
              <a:fillRect/>
            </a:stretch>
          </p:blipFill>
          <p:spPr>
            <a:xfrm>
              <a:off x="6187440" y="1082039"/>
              <a:ext cx="816100" cy="355853"/>
            </a:xfrm>
            <a:prstGeom prst="rect">
              <a:avLst/>
            </a:prstGeom>
          </p:spPr>
        </p:pic>
        <p:pic>
          <p:nvPicPr>
            <p:cNvPr id="19" name="object 19" descr=""/>
            <p:cNvPicPr/>
            <p:nvPr/>
          </p:nvPicPr>
          <p:blipFill>
            <a:blip r:embed="rId9" cstate="print"/>
            <a:stretch>
              <a:fillRect/>
            </a:stretch>
          </p:blipFill>
          <p:spPr>
            <a:xfrm>
              <a:off x="6204572" y="1101915"/>
              <a:ext cx="792581" cy="438378"/>
            </a:xfrm>
            <a:prstGeom prst="rect">
              <a:avLst/>
            </a:prstGeom>
          </p:spPr>
        </p:pic>
        <p:sp>
          <p:nvSpPr>
            <p:cNvPr id="20" name="object 20" descr=""/>
            <p:cNvSpPr/>
            <p:nvPr/>
          </p:nvSpPr>
          <p:spPr>
            <a:xfrm>
              <a:off x="6204572" y="1101926"/>
              <a:ext cx="793115" cy="438784"/>
            </a:xfrm>
            <a:custGeom>
              <a:avLst/>
              <a:gdLst/>
              <a:ahLst/>
              <a:cxnLst/>
              <a:rect l="l" t="t" r="r" b="b"/>
              <a:pathLst>
                <a:path w="793115" h="438784">
                  <a:moveTo>
                    <a:pt x="1879" y="49860"/>
                  </a:moveTo>
                  <a:lnTo>
                    <a:pt x="5798" y="30448"/>
                  </a:lnTo>
                  <a:lnTo>
                    <a:pt x="16484" y="14600"/>
                  </a:lnTo>
                  <a:lnTo>
                    <a:pt x="32333" y="3916"/>
                  </a:lnTo>
                  <a:lnTo>
                    <a:pt x="51739" y="0"/>
                  </a:lnTo>
                  <a:lnTo>
                    <a:pt x="133667" y="0"/>
                  </a:lnTo>
                  <a:lnTo>
                    <a:pt x="331330" y="0"/>
                  </a:lnTo>
                  <a:lnTo>
                    <a:pt x="742708" y="0"/>
                  </a:lnTo>
                  <a:lnTo>
                    <a:pt x="762115" y="3916"/>
                  </a:lnTo>
                  <a:lnTo>
                    <a:pt x="777963" y="14600"/>
                  </a:lnTo>
                  <a:lnTo>
                    <a:pt x="788650" y="30448"/>
                  </a:lnTo>
                  <a:lnTo>
                    <a:pt x="792568" y="49860"/>
                  </a:lnTo>
                  <a:lnTo>
                    <a:pt x="792568" y="174523"/>
                  </a:lnTo>
                  <a:lnTo>
                    <a:pt x="792568" y="249326"/>
                  </a:lnTo>
                  <a:lnTo>
                    <a:pt x="788650" y="268727"/>
                  </a:lnTo>
                  <a:lnTo>
                    <a:pt x="777963" y="284580"/>
                  </a:lnTo>
                  <a:lnTo>
                    <a:pt x="762115" y="295267"/>
                  </a:lnTo>
                  <a:lnTo>
                    <a:pt x="742708" y="299186"/>
                  </a:lnTo>
                  <a:lnTo>
                    <a:pt x="331330" y="299186"/>
                  </a:lnTo>
                  <a:lnTo>
                    <a:pt x="0" y="438365"/>
                  </a:lnTo>
                  <a:lnTo>
                    <a:pt x="133667" y="299186"/>
                  </a:lnTo>
                  <a:lnTo>
                    <a:pt x="51739" y="299186"/>
                  </a:lnTo>
                  <a:lnTo>
                    <a:pt x="32333" y="295267"/>
                  </a:lnTo>
                  <a:lnTo>
                    <a:pt x="16484" y="284580"/>
                  </a:lnTo>
                  <a:lnTo>
                    <a:pt x="5798" y="268727"/>
                  </a:lnTo>
                  <a:lnTo>
                    <a:pt x="1879" y="249313"/>
                  </a:lnTo>
                  <a:lnTo>
                    <a:pt x="1879" y="174523"/>
                  </a:lnTo>
                  <a:lnTo>
                    <a:pt x="1879" y="49860"/>
                  </a:lnTo>
                  <a:close/>
                </a:path>
              </a:pathLst>
            </a:custGeom>
            <a:ln w="9525">
              <a:solidFill>
                <a:srgbClr val="2F2F98"/>
              </a:solidFill>
            </a:ln>
          </p:spPr>
          <p:txBody>
            <a:bodyPr wrap="square" lIns="0" tIns="0" rIns="0" bIns="0" rtlCol="0"/>
            <a:lstStyle/>
            <a:p/>
          </p:txBody>
        </p:sp>
      </p:grpSp>
      <p:sp>
        <p:nvSpPr>
          <p:cNvPr id="21" name="object 21" descr=""/>
          <p:cNvSpPr txBox="1"/>
          <p:nvPr/>
        </p:nvSpPr>
        <p:spPr>
          <a:xfrm>
            <a:off x="6276937" y="1120706"/>
            <a:ext cx="637540" cy="269240"/>
          </a:xfrm>
          <a:prstGeom prst="rect">
            <a:avLst/>
          </a:prstGeom>
        </p:spPr>
        <p:txBody>
          <a:bodyPr wrap="square" lIns="0" tIns="12065" rIns="0" bIns="0" rtlCol="0" vert="horz">
            <a:spAutoFit/>
          </a:bodyPr>
          <a:lstStyle/>
          <a:p>
            <a:pPr marL="12700" marR="5080">
              <a:lnSpc>
                <a:spcPct val="100000"/>
              </a:lnSpc>
              <a:spcBef>
                <a:spcPts val="95"/>
              </a:spcBef>
            </a:pPr>
            <a:r>
              <a:rPr dirty="0" sz="800" spc="-20">
                <a:solidFill>
                  <a:srgbClr val="FFFFFF"/>
                </a:solidFill>
                <a:latin typeface="SimSun"/>
                <a:cs typeface="SimSun"/>
              </a:rPr>
              <a:t>手机客户端余</a:t>
            </a:r>
            <a:r>
              <a:rPr dirty="0" sz="800" spc="-25">
                <a:solidFill>
                  <a:srgbClr val="FFFFFF"/>
                </a:solidFill>
                <a:latin typeface="SimSun"/>
                <a:cs typeface="SimSun"/>
              </a:rPr>
              <a:t>位发布</a:t>
            </a:r>
            <a:endParaRPr sz="800">
              <a:latin typeface="SimSun"/>
              <a:cs typeface="SimSun"/>
            </a:endParaRPr>
          </a:p>
        </p:txBody>
      </p:sp>
      <p:pic>
        <p:nvPicPr>
          <p:cNvPr id="22" name="object 22"/>
          <p:cNvPicPr/>
          <p:nvPr/>
        </p:nvPicPr>
        <p:blipFill>
          <a:blip r:embed="rId10" cstate="print"/>
          <a:stretch>
            <a:fillRect/>
          </a:stretch>
        </p:blipFill>
        <p:spPr>
          <a:xfrm>
            <a:off x="5307398" y="2936994"/>
            <a:ext cx="3375108" cy="203971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3202939" y="4794186"/>
            <a:ext cx="191135" cy="299720"/>
          </a:xfrm>
          <a:prstGeom prst="rect">
            <a:avLst/>
          </a:prstGeom>
        </p:spPr>
        <p:txBody>
          <a:bodyPr wrap="square" lIns="0" tIns="12700" rIns="0" bIns="0" rtlCol="0" vert="horz">
            <a:spAutoFit/>
          </a:bodyPr>
          <a:lstStyle/>
          <a:p>
            <a:pPr marL="12700">
              <a:lnSpc>
                <a:spcPct val="100000"/>
              </a:lnSpc>
              <a:spcBef>
                <a:spcPts val="100"/>
              </a:spcBef>
            </a:pPr>
            <a:r>
              <a:rPr dirty="0" sz="1800" spc="-50">
                <a:latin typeface="Arial MT"/>
                <a:cs typeface="Arial MT"/>
              </a:rPr>
              <a:t>w</a:t>
            </a:r>
            <a:endParaRPr sz="1800">
              <a:latin typeface="Arial MT"/>
              <a:cs typeface="Arial MT"/>
            </a:endParaRPr>
          </a:p>
        </p:txBody>
      </p:sp>
      <p:sp>
        <p:nvSpPr>
          <p:cNvPr id="3" name="object 3" descr=""/>
          <p:cNvSpPr txBox="1"/>
          <p:nvPr/>
        </p:nvSpPr>
        <p:spPr>
          <a:xfrm>
            <a:off x="3380917" y="4828540"/>
            <a:ext cx="1195070" cy="255904"/>
          </a:xfrm>
          <a:prstGeom prst="rect">
            <a:avLst/>
          </a:prstGeom>
        </p:spPr>
        <p:txBody>
          <a:bodyPr wrap="square" lIns="0" tIns="0" rIns="0" bIns="0" rtlCol="0" vert="horz">
            <a:spAutoFit/>
          </a:bodyPr>
          <a:lstStyle/>
          <a:p>
            <a:pPr>
              <a:lnSpc>
                <a:spcPts val="1989"/>
              </a:lnSpc>
            </a:pPr>
            <a:r>
              <a:rPr dirty="0" sz="1800" spc="-20">
                <a:latin typeface="Arial MT"/>
                <a:cs typeface="Arial MT"/>
              </a:rPr>
              <a:t>ww.islide.cc</a:t>
            </a:r>
            <a:endParaRPr sz="1800">
              <a:latin typeface="Arial MT"/>
              <a:cs typeface="Arial MT"/>
            </a:endParaRPr>
          </a:p>
        </p:txBody>
      </p:sp>
      <p:sp>
        <p:nvSpPr>
          <p:cNvPr id="4" name="object 4" descr=""/>
          <p:cNvSpPr txBox="1"/>
          <p:nvPr/>
        </p:nvSpPr>
        <p:spPr>
          <a:xfrm>
            <a:off x="6644640" y="4828540"/>
            <a:ext cx="255270" cy="255904"/>
          </a:xfrm>
          <a:prstGeom prst="rect">
            <a:avLst/>
          </a:prstGeom>
        </p:spPr>
        <p:txBody>
          <a:bodyPr wrap="square" lIns="0" tIns="0" rIns="0" bIns="0" rtlCol="0" vert="horz">
            <a:spAutoFit/>
          </a:bodyPr>
          <a:lstStyle/>
          <a:p>
            <a:pPr>
              <a:lnSpc>
                <a:spcPts val="1989"/>
              </a:lnSpc>
            </a:pPr>
            <a:r>
              <a:rPr dirty="0" sz="1800" spc="-25">
                <a:latin typeface="Arial MT"/>
                <a:cs typeface="Arial MT"/>
              </a:rPr>
              <a:t>83</a:t>
            </a:r>
            <a:endParaRPr sz="1800">
              <a:latin typeface="Arial MT"/>
              <a:cs typeface="Arial MT"/>
            </a:endParaRPr>
          </a:p>
        </p:txBody>
      </p:sp>
      <p:sp>
        <p:nvSpPr>
          <p:cNvPr id="5" name="object 5"/>
          <p:cNvSpPr txBox="1">
            <a:spLocks noGrp="1"/>
          </p:cNvSpPr>
          <p:nvPr>
            <p:ph type="title"/>
          </p:nvPr>
        </p:nvSpPr>
        <p:spPr>
          <a:xfrm>
            <a:off x="2608452" y="162072"/>
            <a:ext cx="3951604" cy="513080"/>
          </a:xfrm>
          <a:prstGeom prst="rect"/>
        </p:spPr>
        <p:txBody>
          <a:bodyPr wrap="square" lIns="0" tIns="12065" rIns="0" bIns="0" rtlCol="0" vert="horz">
            <a:spAutoFit/>
          </a:bodyPr>
          <a:lstStyle/>
          <a:p>
            <a:pPr marL="12700">
              <a:lnSpc>
                <a:spcPct val="100000"/>
              </a:lnSpc>
              <a:spcBef>
                <a:spcPts val="95"/>
              </a:spcBef>
            </a:pPr>
            <a:r>
              <a:rPr dirty="0" spc="-335"/>
              <a:t>楼宇设备监控</a:t>
            </a:r>
            <a:r>
              <a:rPr dirty="0" sz="2000" spc="-320" b="0">
                <a:solidFill>
                  <a:srgbClr val="FF0000"/>
                </a:solidFill>
                <a:latin typeface="SimSun"/>
                <a:cs typeface="SimSun"/>
              </a:rPr>
              <a:t>●</a:t>
            </a:r>
            <a:r>
              <a:rPr dirty="0" spc="-355"/>
              <a:t>功能特点</a:t>
            </a:r>
            <a:endParaRPr sz="2000">
              <a:latin typeface="SimSun"/>
              <a:cs typeface="SimSun"/>
            </a:endParaRPr>
          </a:p>
        </p:txBody>
      </p:sp>
      <p:sp>
        <p:nvSpPr>
          <p:cNvPr id="6" name="object 6" descr=""/>
          <p:cNvSpPr txBox="1"/>
          <p:nvPr/>
        </p:nvSpPr>
        <p:spPr>
          <a:xfrm>
            <a:off x="191611" y="894081"/>
            <a:ext cx="8597900" cy="997585"/>
          </a:xfrm>
          <a:prstGeom prst="rect">
            <a:avLst/>
          </a:prstGeom>
        </p:spPr>
        <p:txBody>
          <a:bodyPr wrap="square" lIns="0" tIns="12700" rIns="0" bIns="0" rtlCol="0" vert="horz">
            <a:spAutoFit/>
          </a:bodyPr>
          <a:lstStyle/>
          <a:p>
            <a:pPr marL="355600" marR="5080" indent="-342900">
              <a:lnSpc>
                <a:spcPct val="150000"/>
              </a:lnSpc>
              <a:spcBef>
                <a:spcPts val="100"/>
              </a:spcBef>
              <a:buFont typeface="Wingdings"/>
              <a:buChar char=""/>
              <a:tabLst>
                <a:tab pos="355600" algn="l"/>
              </a:tabLst>
            </a:pPr>
            <a:r>
              <a:rPr dirty="0" sz="1200">
                <a:latin typeface="SimSun"/>
                <a:cs typeface="SimSun"/>
              </a:rPr>
              <a:t>主要对楼宇的配电房（摄像机、智能电表、控制器、配电房等）、生活水泵房（</a:t>
            </a:r>
            <a:r>
              <a:rPr dirty="0" sz="1200" spc="-5">
                <a:latin typeface="SimSun"/>
                <a:cs typeface="SimSun"/>
              </a:rPr>
              <a:t>智能电表、控制柜启停状态、泵启停状态、</a:t>
            </a:r>
            <a:r>
              <a:rPr dirty="0" sz="1200">
                <a:latin typeface="SimSun"/>
                <a:cs typeface="SimSun"/>
              </a:rPr>
              <a:t>流量计等）、消防泵房（智能电表、控制柜启停状态、泵启停状态、消防泵房等）</a:t>
            </a:r>
            <a:r>
              <a:rPr dirty="0" sz="1200" spc="-5">
                <a:latin typeface="SimSun"/>
                <a:cs typeface="SimSun"/>
              </a:rPr>
              <a:t>等设备进行实时监控、实时告警、一键巡</a:t>
            </a:r>
            <a:endParaRPr sz="1200">
              <a:latin typeface="SimSun"/>
              <a:cs typeface="SimSun"/>
            </a:endParaRPr>
          </a:p>
          <a:p>
            <a:pPr marL="355600">
              <a:lnSpc>
                <a:spcPts val="1365"/>
              </a:lnSpc>
              <a:spcBef>
                <a:spcPts val="720"/>
              </a:spcBef>
            </a:pPr>
            <a:r>
              <a:rPr dirty="0" sz="1200" spc="120">
                <a:latin typeface="SimSun"/>
                <a:cs typeface="SimSun"/>
              </a:rPr>
              <a:t>检等功能。</a:t>
            </a:r>
            <a:endParaRPr sz="1200">
              <a:latin typeface="SimSun"/>
              <a:cs typeface="SimSun"/>
            </a:endParaRPr>
          </a:p>
          <a:p>
            <a:pPr marL="1145540">
              <a:lnSpc>
                <a:spcPts val="1245"/>
              </a:lnSpc>
              <a:tabLst>
                <a:tab pos="4194175" algn="l"/>
                <a:tab pos="7324725" algn="l"/>
              </a:tabLst>
            </a:pPr>
            <a:r>
              <a:rPr dirty="0" sz="1100" spc="-20">
                <a:latin typeface="Microsoft YaHei"/>
                <a:cs typeface="Microsoft YaHei"/>
              </a:rPr>
              <a:t>配电</a:t>
            </a:r>
            <a:r>
              <a:rPr dirty="0" sz="1100" spc="-50">
                <a:latin typeface="Microsoft YaHei"/>
                <a:cs typeface="Microsoft YaHei"/>
              </a:rPr>
              <a:t>房</a:t>
            </a:r>
            <a:r>
              <a:rPr dirty="0" sz="1100">
                <a:latin typeface="Microsoft YaHei"/>
                <a:cs typeface="Microsoft YaHei"/>
              </a:rPr>
              <a:t>	</a:t>
            </a:r>
            <a:r>
              <a:rPr dirty="0" sz="1100" spc="-20">
                <a:latin typeface="Microsoft YaHei"/>
                <a:cs typeface="Microsoft YaHei"/>
              </a:rPr>
              <a:t>生活水泵</a:t>
            </a:r>
            <a:r>
              <a:rPr dirty="0" sz="1100" spc="-50">
                <a:latin typeface="Microsoft YaHei"/>
                <a:cs typeface="Microsoft YaHei"/>
              </a:rPr>
              <a:t>房</a:t>
            </a:r>
            <a:r>
              <a:rPr dirty="0" sz="1100">
                <a:latin typeface="Microsoft YaHei"/>
                <a:cs typeface="Microsoft YaHei"/>
              </a:rPr>
              <a:t>	</a:t>
            </a:r>
            <a:r>
              <a:rPr dirty="0" sz="1100" spc="-20">
                <a:latin typeface="Microsoft YaHei"/>
                <a:cs typeface="Microsoft YaHei"/>
              </a:rPr>
              <a:t>消防泵</a:t>
            </a:r>
            <a:r>
              <a:rPr dirty="0" sz="1100" spc="-50">
                <a:latin typeface="Microsoft YaHei"/>
                <a:cs typeface="Microsoft YaHei"/>
              </a:rPr>
              <a:t>房</a:t>
            </a:r>
            <a:endParaRPr sz="1100">
              <a:latin typeface="Microsoft YaHei"/>
              <a:cs typeface="Microsoft YaHei"/>
            </a:endParaRPr>
          </a:p>
        </p:txBody>
      </p:sp>
      <p:pic>
        <p:nvPicPr>
          <p:cNvPr id="7" name="object 7"/>
          <p:cNvPicPr/>
          <p:nvPr/>
        </p:nvPicPr>
        <p:blipFill>
          <a:blip r:embed="rId2" cstate="print"/>
          <a:stretch>
            <a:fillRect/>
          </a:stretch>
        </p:blipFill>
        <p:spPr>
          <a:xfrm>
            <a:off x="385763" y="1993582"/>
            <a:ext cx="2764154" cy="3052762"/>
          </a:xfrm>
          <a:prstGeom prst="rect">
            <a:avLst/>
          </a:prstGeom>
        </p:spPr>
      </p:pic>
      <p:pic>
        <p:nvPicPr>
          <p:cNvPr id="8" name="object 8"/>
          <p:cNvPicPr/>
          <p:nvPr/>
        </p:nvPicPr>
        <p:blipFill>
          <a:blip r:embed="rId3" cstate="print"/>
          <a:stretch>
            <a:fillRect/>
          </a:stretch>
        </p:blipFill>
        <p:spPr>
          <a:xfrm>
            <a:off x="3526637" y="1993582"/>
            <a:ext cx="2757004" cy="3060859"/>
          </a:xfrm>
          <a:prstGeom prst="rect">
            <a:avLst/>
          </a:prstGeom>
        </p:spPr>
      </p:pic>
      <p:pic>
        <p:nvPicPr>
          <p:cNvPr id="9" name="object 9"/>
          <p:cNvPicPr/>
          <p:nvPr/>
        </p:nvPicPr>
        <p:blipFill>
          <a:blip r:embed="rId4" cstate="print"/>
          <a:stretch>
            <a:fillRect/>
          </a:stretch>
        </p:blipFill>
        <p:spPr>
          <a:xfrm>
            <a:off x="6553682" y="1966912"/>
            <a:ext cx="2486494" cy="309229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8454" y="166306"/>
            <a:ext cx="3951604" cy="513080"/>
          </a:xfrm>
          <a:prstGeom prst="rect"/>
        </p:spPr>
        <p:txBody>
          <a:bodyPr wrap="square" lIns="0" tIns="12065" rIns="0" bIns="0" rtlCol="0" vert="horz">
            <a:spAutoFit/>
          </a:bodyPr>
          <a:lstStyle/>
          <a:p>
            <a:pPr marL="12700">
              <a:lnSpc>
                <a:spcPct val="100000"/>
              </a:lnSpc>
              <a:spcBef>
                <a:spcPts val="95"/>
              </a:spcBef>
            </a:pPr>
            <a:r>
              <a:rPr dirty="0" spc="-335"/>
              <a:t>楼宇设备监控</a:t>
            </a:r>
            <a:r>
              <a:rPr dirty="0" sz="2000" spc="-320" b="0">
                <a:solidFill>
                  <a:srgbClr val="FF0000"/>
                </a:solidFill>
                <a:latin typeface="SimSun"/>
                <a:cs typeface="SimSun"/>
              </a:rPr>
              <a:t>●</a:t>
            </a:r>
            <a:r>
              <a:rPr dirty="0" spc="-355"/>
              <a:t>客户价值</a:t>
            </a:r>
            <a:endParaRPr sz="2000">
              <a:latin typeface="SimSun"/>
              <a:cs typeface="SimSun"/>
            </a:endParaRPr>
          </a:p>
        </p:txBody>
      </p:sp>
      <p:sp>
        <p:nvSpPr>
          <p:cNvPr id="3" name="object 3" descr=""/>
          <p:cNvSpPr/>
          <p:nvPr/>
        </p:nvSpPr>
        <p:spPr>
          <a:xfrm>
            <a:off x="1057719" y="995730"/>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p:nvPr/>
        </p:nvSpPr>
        <p:spPr>
          <a:xfrm>
            <a:off x="1102525" y="2340267"/>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5" name="object 5" descr=""/>
          <p:cNvSpPr txBox="1"/>
          <p:nvPr/>
        </p:nvSpPr>
        <p:spPr>
          <a:xfrm>
            <a:off x="861185" y="990401"/>
            <a:ext cx="5064125" cy="2914650"/>
          </a:xfrm>
          <a:prstGeom prst="rect">
            <a:avLst/>
          </a:prstGeom>
        </p:spPr>
        <p:txBody>
          <a:bodyPr wrap="square" lIns="0" tIns="12700" rIns="0" bIns="0" rtlCol="0" vert="horz">
            <a:spAutoFit/>
          </a:bodyPr>
          <a:lstStyle/>
          <a:p>
            <a:pPr marL="71056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a:lnSpc>
                <a:spcPct val="100000"/>
              </a:lnSpc>
              <a:spcBef>
                <a:spcPts val="110"/>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latin typeface="Microsoft YaHei"/>
                <a:cs typeface="Microsoft YaHei"/>
              </a:rPr>
              <a:t>实时对楼宇设备进行智能化的实时监控，节约人力成本，监控效率更高。</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后台实时告警，方便物业管理者快速高效处理。</a:t>
            </a:r>
            <a:endParaRPr sz="1200">
              <a:latin typeface="Microsoft YaHei"/>
              <a:cs typeface="Microsoft YaHei"/>
            </a:endParaRPr>
          </a:p>
          <a:p>
            <a:pPr>
              <a:lnSpc>
                <a:spcPct val="100000"/>
              </a:lnSpc>
              <a:spcBef>
                <a:spcPts val="925"/>
              </a:spcBef>
              <a:buFont typeface="Wingdings"/>
              <a:buChar char=""/>
            </a:pPr>
            <a:endParaRPr sz="1200">
              <a:latin typeface="Microsoft YaHei"/>
              <a:cs typeface="Microsoft YaHei"/>
            </a:endParaRPr>
          </a:p>
          <a:p>
            <a:pPr marL="767080">
              <a:lnSpc>
                <a:spcPct val="100000"/>
              </a:lnSpc>
            </a:pPr>
            <a:r>
              <a:rPr dirty="0" sz="1200" spc="-10" b="1">
                <a:latin typeface="Microsoft YaHei"/>
                <a:cs typeface="Microsoft YaHei"/>
              </a:rPr>
              <a:t>为维保单位</a:t>
            </a:r>
            <a:endParaRPr sz="1200">
              <a:latin typeface="Microsoft YaHei"/>
              <a:cs typeface="Microsoft YaHei"/>
            </a:endParaRPr>
          </a:p>
          <a:p>
            <a:pPr>
              <a:lnSpc>
                <a:spcPct val="100000"/>
              </a:lnSpc>
              <a:spcBef>
                <a:spcPts val="1335"/>
              </a:spcBef>
            </a:pPr>
            <a:endParaRPr sz="1200">
              <a:latin typeface="Microsoft YaHei"/>
              <a:cs typeface="Microsoft YaHei"/>
            </a:endParaRPr>
          </a:p>
          <a:p>
            <a:pPr marL="195580" indent="-160655">
              <a:lnSpc>
                <a:spcPct val="100000"/>
              </a:lnSpc>
              <a:spcBef>
                <a:spcPts val="5"/>
              </a:spcBef>
              <a:buFont typeface="Wingdings"/>
              <a:buChar char=""/>
              <a:tabLst>
                <a:tab pos="195580" algn="l"/>
              </a:tabLst>
            </a:pPr>
            <a:r>
              <a:rPr dirty="0" sz="1100" spc="-25">
                <a:latin typeface="Microsoft YaHei"/>
                <a:cs typeface="Microsoft YaHei"/>
              </a:rPr>
              <a:t>节约成本，便于合理规划，开展针对性、定期维护。</a:t>
            </a:r>
            <a:endParaRPr sz="1100">
              <a:latin typeface="Microsoft YaHei"/>
              <a:cs typeface="Microsoft YaHei"/>
            </a:endParaRPr>
          </a:p>
          <a:p>
            <a:pPr marL="195580" indent="-160655">
              <a:lnSpc>
                <a:spcPct val="100000"/>
              </a:lnSpc>
              <a:spcBef>
                <a:spcPts val="660"/>
              </a:spcBef>
              <a:buFont typeface="Wingdings"/>
              <a:buChar char=""/>
              <a:tabLst>
                <a:tab pos="195580" algn="l"/>
              </a:tabLst>
            </a:pPr>
            <a:r>
              <a:rPr dirty="0" sz="1100" spc="-25">
                <a:latin typeface="Microsoft YaHei"/>
                <a:cs typeface="Microsoft YaHei"/>
              </a:rPr>
              <a:t>提高效率，降低设备故障处理时限，实现故障处理迅速化。</a:t>
            </a:r>
            <a:endParaRPr sz="1100">
              <a:latin typeface="Microsoft YaHei"/>
              <a:cs typeface="Microsoft YaHei"/>
            </a:endParaRPr>
          </a:p>
          <a:p>
            <a:pPr marL="194945" marR="392430" indent="-160655">
              <a:lnSpc>
                <a:spcPct val="150000"/>
              </a:lnSpc>
              <a:buFont typeface="Wingdings"/>
              <a:buChar char=""/>
              <a:tabLst>
                <a:tab pos="196215" algn="l"/>
              </a:tabLst>
            </a:pPr>
            <a:r>
              <a:rPr dirty="0" sz="1100" spc="-25">
                <a:latin typeface="Microsoft YaHei"/>
                <a:cs typeface="Microsoft YaHei"/>
              </a:rPr>
              <a:t>提高维护等级和水平，实时监控设备的运行状态和实施数据，提高设备运	行安全性和可靠性。</a:t>
            </a:r>
            <a:endParaRPr sz="1100">
              <a:latin typeface="Microsoft YaHei"/>
              <a:cs typeface="Microsoft YaHe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7" y="149372"/>
            <a:ext cx="3228340" cy="513080"/>
          </a:xfrm>
          <a:prstGeom prst="rect"/>
        </p:spPr>
        <p:txBody>
          <a:bodyPr wrap="square" lIns="0" tIns="12065" rIns="0" bIns="0" rtlCol="0" vert="horz">
            <a:spAutoFit/>
          </a:bodyPr>
          <a:lstStyle/>
          <a:p>
            <a:pPr marL="12700">
              <a:lnSpc>
                <a:spcPct val="100000"/>
              </a:lnSpc>
              <a:spcBef>
                <a:spcPts val="95"/>
              </a:spcBef>
            </a:pPr>
            <a:r>
              <a:rPr dirty="0" spc="-330"/>
              <a:t>电梯监控</a:t>
            </a:r>
            <a:r>
              <a:rPr dirty="0" sz="2000" spc="-315" b="0">
                <a:solidFill>
                  <a:srgbClr val="FF0000"/>
                </a:solidFill>
                <a:latin typeface="SimSun"/>
                <a:cs typeface="SimSun"/>
              </a:rPr>
              <a:t>●</a:t>
            </a:r>
            <a:r>
              <a:rPr dirty="0" spc="-270"/>
              <a:t>功能特点</a:t>
            </a:r>
            <a:endParaRPr sz="2000">
              <a:latin typeface="SimSun"/>
              <a:cs typeface="SimSun"/>
            </a:endParaRPr>
          </a:p>
        </p:txBody>
      </p:sp>
      <p:sp>
        <p:nvSpPr>
          <p:cNvPr id="3" name="object 3" descr=""/>
          <p:cNvSpPr txBox="1"/>
          <p:nvPr/>
        </p:nvSpPr>
        <p:spPr>
          <a:xfrm>
            <a:off x="356393" y="1171257"/>
            <a:ext cx="2654300" cy="1689735"/>
          </a:xfrm>
          <a:prstGeom prst="rect">
            <a:avLst/>
          </a:prstGeom>
        </p:spPr>
        <p:txBody>
          <a:bodyPr wrap="square" lIns="0" tIns="12700" rIns="0" bIns="0" rtlCol="0" vert="horz">
            <a:spAutoFit/>
          </a:bodyPr>
          <a:lstStyle/>
          <a:p>
            <a:pPr algn="just" marL="354965" indent="-342265">
              <a:lnSpc>
                <a:spcPct val="100000"/>
              </a:lnSpc>
              <a:spcBef>
                <a:spcPts val="100"/>
              </a:spcBef>
              <a:buFont typeface="Wingdings"/>
              <a:buChar char=""/>
              <a:tabLst>
                <a:tab pos="354965" algn="l"/>
              </a:tabLst>
            </a:pPr>
            <a:r>
              <a:rPr dirty="0" sz="1200" spc="50">
                <a:latin typeface="SimSun"/>
                <a:cs typeface="SimSun"/>
              </a:rPr>
              <a:t>采集电梯基本信息。</a:t>
            </a:r>
            <a:endParaRPr sz="1200">
              <a:latin typeface="SimSun"/>
              <a:cs typeface="SimSun"/>
            </a:endParaRPr>
          </a:p>
          <a:p>
            <a:pPr algn="just" marL="354965" indent="-342265">
              <a:lnSpc>
                <a:spcPct val="100000"/>
              </a:lnSpc>
              <a:spcBef>
                <a:spcPts val="1005"/>
              </a:spcBef>
              <a:buFont typeface="Wingdings"/>
              <a:buChar char=""/>
              <a:tabLst>
                <a:tab pos="354965" algn="l"/>
              </a:tabLst>
            </a:pPr>
            <a:r>
              <a:rPr dirty="0" sz="1200" spc="50">
                <a:latin typeface="SimSun"/>
                <a:cs typeface="SimSun"/>
              </a:rPr>
              <a:t>远程管理电梯运行。</a:t>
            </a:r>
            <a:endParaRPr sz="1200">
              <a:latin typeface="SimSun"/>
              <a:cs typeface="SimSun"/>
            </a:endParaRPr>
          </a:p>
          <a:p>
            <a:pPr algn="just" marL="354965" indent="-342265">
              <a:lnSpc>
                <a:spcPct val="100000"/>
              </a:lnSpc>
              <a:spcBef>
                <a:spcPts val="1010"/>
              </a:spcBef>
              <a:buFont typeface="Wingdings"/>
              <a:buChar char=""/>
              <a:tabLst>
                <a:tab pos="354965" algn="l"/>
              </a:tabLst>
            </a:pPr>
            <a:r>
              <a:rPr dirty="0" sz="1200">
                <a:latin typeface="SimSun"/>
                <a:cs typeface="SimSun"/>
              </a:rPr>
              <a:t>支持远程</a:t>
            </a:r>
            <a:r>
              <a:rPr dirty="0" sz="1200" spc="-10">
                <a:latin typeface="Arial MT"/>
                <a:cs typeface="Arial MT"/>
              </a:rPr>
              <a:t>WEB</a:t>
            </a:r>
            <a:r>
              <a:rPr dirty="0" sz="1200" spc="220">
                <a:latin typeface="SimSun"/>
                <a:cs typeface="SimSun"/>
              </a:rPr>
              <a:t>管理。</a:t>
            </a:r>
            <a:endParaRPr sz="1200">
              <a:latin typeface="SimSun"/>
              <a:cs typeface="SimSun"/>
            </a:endParaRPr>
          </a:p>
          <a:p>
            <a:pPr algn="just" marL="355600" marR="5080" indent="-342900">
              <a:lnSpc>
                <a:spcPct val="150000"/>
              </a:lnSpc>
              <a:spcBef>
                <a:spcPts val="285"/>
              </a:spcBef>
              <a:buFont typeface="Wingdings"/>
              <a:buChar char=""/>
              <a:tabLst>
                <a:tab pos="355600" algn="l"/>
              </a:tabLst>
            </a:pPr>
            <a:r>
              <a:rPr dirty="0" sz="1200">
                <a:latin typeface="SimSun"/>
                <a:cs typeface="SimSun"/>
              </a:rPr>
              <a:t>远程实时视频查看（</a:t>
            </a:r>
            <a:r>
              <a:rPr dirty="0" sz="1200" spc="-10">
                <a:latin typeface="SimSun"/>
                <a:cs typeface="SimSun"/>
              </a:rPr>
              <a:t>故障预判断；</a:t>
            </a:r>
            <a:r>
              <a:rPr dirty="0" sz="1200">
                <a:latin typeface="SimSun"/>
                <a:cs typeface="SimSun"/>
              </a:rPr>
              <a:t>客梯货用、打闹等异常情况报警</a:t>
            </a:r>
            <a:r>
              <a:rPr dirty="0" sz="1200" spc="-50">
                <a:latin typeface="SimSun"/>
                <a:cs typeface="SimSun"/>
              </a:rPr>
              <a:t>） </a:t>
            </a:r>
            <a:r>
              <a:rPr dirty="0" sz="1200" spc="550">
                <a:latin typeface="SimSun"/>
                <a:cs typeface="SimSun"/>
              </a:rPr>
              <a:t>o</a:t>
            </a:r>
            <a:endParaRPr sz="1200">
              <a:latin typeface="SimSun"/>
              <a:cs typeface="SimSun"/>
            </a:endParaRPr>
          </a:p>
        </p:txBody>
      </p:sp>
      <p:sp>
        <p:nvSpPr>
          <p:cNvPr id="4" name="object 4" descr=""/>
          <p:cNvSpPr txBox="1"/>
          <p:nvPr/>
        </p:nvSpPr>
        <p:spPr>
          <a:xfrm>
            <a:off x="356393" y="2963481"/>
            <a:ext cx="2044700" cy="519430"/>
          </a:xfrm>
          <a:prstGeom prst="rect">
            <a:avLst/>
          </a:prstGeom>
        </p:spPr>
        <p:txBody>
          <a:bodyPr wrap="square" lIns="0" tIns="12700" rIns="0" bIns="0" rtlCol="0" vert="horz">
            <a:spAutoFit/>
          </a:bodyPr>
          <a:lstStyle/>
          <a:p>
            <a:pPr marL="354965" indent="-342265">
              <a:lnSpc>
                <a:spcPct val="100000"/>
              </a:lnSpc>
              <a:spcBef>
                <a:spcPts val="100"/>
              </a:spcBef>
              <a:buFont typeface="Wingdings"/>
              <a:buChar char=""/>
              <a:tabLst>
                <a:tab pos="354965" algn="l"/>
              </a:tabLst>
            </a:pPr>
            <a:r>
              <a:rPr dirty="0" sz="1200" spc="-55">
                <a:latin typeface="SimSun"/>
                <a:cs typeface="SimSun"/>
              </a:rPr>
              <a:t>电梯故障自动检测报警。</a:t>
            </a:r>
            <a:endParaRPr sz="1200">
              <a:latin typeface="SimSun"/>
              <a:cs typeface="SimSun"/>
            </a:endParaRPr>
          </a:p>
          <a:p>
            <a:pPr marL="354965" indent="-342265">
              <a:lnSpc>
                <a:spcPct val="100000"/>
              </a:lnSpc>
              <a:spcBef>
                <a:spcPts val="1005"/>
              </a:spcBef>
              <a:buFont typeface="Wingdings"/>
              <a:buChar char=""/>
              <a:tabLst>
                <a:tab pos="354965" algn="l"/>
              </a:tabLst>
            </a:pPr>
            <a:r>
              <a:rPr dirty="0" sz="1200" spc="70">
                <a:latin typeface="SimSun"/>
                <a:cs typeface="SimSun"/>
              </a:rPr>
              <a:t>安抚视频插播。</a:t>
            </a:r>
            <a:endParaRPr sz="1200">
              <a:latin typeface="SimSun"/>
              <a:cs typeface="SimSun"/>
            </a:endParaRPr>
          </a:p>
        </p:txBody>
      </p:sp>
      <p:sp>
        <p:nvSpPr>
          <p:cNvPr id="5" name="object 5" descr=""/>
          <p:cNvSpPr txBox="1"/>
          <p:nvPr/>
        </p:nvSpPr>
        <p:spPr>
          <a:xfrm>
            <a:off x="356393" y="3493833"/>
            <a:ext cx="2654300" cy="574040"/>
          </a:xfrm>
          <a:prstGeom prst="rect">
            <a:avLst/>
          </a:prstGeom>
        </p:spPr>
        <p:txBody>
          <a:bodyPr wrap="square" lIns="0" tIns="12700" rIns="0" bIns="0" rtlCol="0" vert="horz">
            <a:spAutoFit/>
          </a:bodyPr>
          <a:lstStyle/>
          <a:p>
            <a:pPr marL="355600" marR="5080" indent="-342900">
              <a:lnSpc>
                <a:spcPct val="150000"/>
              </a:lnSpc>
              <a:spcBef>
                <a:spcPts val="100"/>
              </a:spcBef>
              <a:buFont typeface="Wingdings"/>
              <a:buChar char=""/>
              <a:tabLst>
                <a:tab pos="355600" algn="l"/>
              </a:tabLst>
            </a:pPr>
            <a:r>
              <a:rPr dirty="0" sz="1200" spc="-5">
                <a:latin typeface="SimSun"/>
                <a:cs typeface="SimSun"/>
              </a:rPr>
              <a:t>应急语音、视频播放；梯内广告投</a:t>
            </a:r>
            <a:r>
              <a:rPr dirty="0" sz="1200" spc="370">
                <a:latin typeface="SimSun"/>
                <a:cs typeface="SimSun"/>
              </a:rPr>
              <a:t>放。</a:t>
            </a:r>
            <a:endParaRPr sz="1200">
              <a:latin typeface="SimSun"/>
              <a:cs typeface="SimSun"/>
            </a:endParaRPr>
          </a:p>
        </p:txBody>
      </p:sp>
      <p:grpSp>
        <p:nvGrpSpPr>
          <p:cNvPr id="6" name="object 6" descr=""/>
          <p:cNvGrpSpPr/>
          <p:nvPr/>
        </p:nvGrpSpPr>
        <p:grpSpPr>
          <a:xfrm>
            <a:off x="3069921" y="1026504"/>
            <a:ext cx="5654675" cy="3902710"/>
            <a:chOff x="3069921" y="1026504"/>
            <a:chExt cx="5654675" cy="3902710"/>
          </a:xfrm>
        </p:grpSpPr>
        <p:sp>
          <p:nvSpPr>
            <p:cNvPr id="7" name="object 7" descr=""/>
            <p:cNvSpPr/>
            <p:nvPr/>
          </p:nvSpPr>
          <p:spPr>
            <a:xfrm>
              <a:off x="4204047" y="3186746"/>
              <a:ext cx="3348990" cy="1036955"/>
            </a:xfrm>
            <a:custGeom>
              <a:avLst/>
              <a:gdLst/>
              <a:ahLst/>
              <a:cxnLst/>
              <a:rect l="l" t="t" r="r" b="b"/>
              <a:pathLst>
                <a:path w="3348990" h="1036954">
                  <a:moveTo>
                    <a:pt x="1674190" y="0"/>
                  </a:moveTo>
                  <a:lnTo>
                    <a:pt x="1603419" y="454"/>
                  </a:lnTo>
                  <a:lnTo>
                    <a:pt x="1533397" y="1806"/>
                  </a:lnTo>
                  <a:lnTo>
                    <a:pt x="1464182" y="4038"/>
                  </a:lnTo>
                  <a:lnTo>
                    <a:pt x="1395831" y="7131"/>
                  </a:lnTo>
                  <a:lnTo>
                    <a:pt x="1328404" y="11068"/>
                  </a:lnTo>
                  <a:lnTo>
                    <a:pt x="1261958" y="15830"/>
                  </a:lnTo>
                  <a:lnTo>
                    <a:pt x="1196552" y="21400"/>
                  </a:lnTo>
                  <a:lnTo>
                    <a:pt x="1132242" y="27759"/>
                  </a:lnTo>
                  <a:lnTo>
                    <a:pt x="1069089" y="34889"/>
                  </a:lnTo>
                  <a:lnTo>
                    <a:pt x="1007149" y="42773"/>
                  </a:lnTo>
                  <a:lnTo>
                    <a:pt x="946480" y="51393"/>
                  </a:lnTo>
                  <a:lnTo>
                    <a:pt x="887142" y="60730"/>
                  </a:lnTo>
                  <a:lnTo>
                    <a:pt x="829191" y="70767"/>
                  </a:lnTo>
                  <a:lnTo>
                    <a:pt x="772686" y="81486"/>
                  </a:lnTo>
                  <a:lnTo>
                    <a:pt x="717686" y="92867"/>
                  </a:lnTo>
                  <a:lnTo>
                    <a:pt x="664248" y="104895"/>
                  </a:lnTo>
                  <a:lnTo>
                    <a:pt x="612430" y="117550"/>
                  </a:lnTo>
                  <a:lnTo>
                    <a:pt x="562291" y="130815"/>
                  </a:lnTo>
                  <a:lnTo>
                    <a:pt x="513888" y="144671"/>
                  </a:lnTo>
                  <a:lnTo>
                    <a:pt x="467280" y="159101"/>
                  </a:lnTo>
                  <a:lnTo>
                    <a:pt x="422525" y="174086"/>
                  </a:lnTo>
                  <a:lnTo>
                    <a:pt x="379680" y="189609"/>
                  </a:lnTo>
                  <a:lnTo>
                    <a:pt x="338805" y="205652"/>
                  </a:lnTo>
                  <a:lnTo>
                    <a:pt x="299957" y="222197"/>
                  </a:lnTo>
                  <a:lnTo>
                    <a:pt x="263194" y="239225"/>
                  </a:lnTo>
                  <a:lnTo>
                    <a:pt x="228574" y="256718"/>
                  </a:lnTo>
                  <a:lnTo>
                    <a:pt x="165997" y="293031"/>
                  </a:lnTo>
                  <a:lnTo>
                    <a:pt x="112691" y="330990"/>
                  </a:lnTo>
                  <a:lnTo>
                    <a:pt x="69120" y="370452"/>
                  </a:lnTo>
                  <a:lnTo>
                    <a:pt x="35749" y="411272"/>
                  </a:lnTo>
                  <a:lnTo>
                    <a:pt x="13044" y="453308"/>
                  </a:lnTo>
                  <a:lnTo>
                    <a:pt x="1468" y="496415"/>
                  </a:lnTo>
                  <a:lnTo>
                    <a:pt x="0" y="518325"/>
                  </a:lnTo>
                  <a:lnTo>
                    <a:pt x="1468" y="540235"/>
                  </a:lnTo>
                  <a:lnTo>
                    <a:pt x="13044" y="583344"/>
                  </a:lnTo>
                  <a:lnTo>
                    <a:pt x="35749" y="625381"/>
                  </a:lnTo>
                  <a:lnTo>
                    <a:pt x="69120" y="666202"/>
                  </a:lnTo>
                  <a:lnTo>
                    <a:pt x="112691" y="705665"/>
                  </a:lnTo>
                  <a:lnTo>
                    <a:pt x="165997" y="743624"/>
                  </a:lnTo>
                  <a:lnTo>
                    <a:pt x="228574" y="779937"/>
                  </a:lnTo>
                  <a:lnTo>
                    <a:pt x="263194" y="797430"/>
                  </a:lnTo>
                  <a:lnTo>
                    <a:pt x="299957" y="814458"/>
                  </a:lnTo>
                  <a:lnTo>
                    <a:pt x="338805" y="831002"/>
                  </a:lnTo>
                  <a:lnTo>
                    <a:pt x="379680" y="847045"/>
                  </a:lnTo>
                  <a:lnTo>
                    <a:pt x="422525" y="862568"/>
                  </a:lnTo>
                  <a:lnTo>
                    <a:pt x="467280" y="877553"/>
                  </a:lnTo>
                  <a:lnTo>
                    <a:pt x="513888" y="891983"/>
                  </a:lnTo>
                  <a:lnTo>
                    <a:pt x="562291" y="905839"/>
                  </a:lnTo>
                  <a:lnTo>
                    <a:pt x="612430" y="919103"/>
                  </a:lnTo>
                  <a:lnTo>
                    <a:pt x="664248" y="931758"/>
                  </a:lnTo>
                  <a:lnTo>
                    <a:pt x="717686" y="943785"/>
                  </a:lnTo>
                  <a:lnTo>
                    <a:pt x="772686" y="955167"/>
                  </a:lnTo>
                  <a:lnTo>
                    <a:pt x="829191" y="965885"/>
                  </a:lnTo>
                  <a:lnTo>
                    <a:pt x="887142" y="975921"/>
                  </a:lnTo>
                  <a:lnTo>
                    <a:pt x="946480" y="985258"/>
                  </a:lnTo>
                  <a:lnTo>
                    <a:pt x="1007149" y="993878"/>
                  </a:lnTo>
                  <a:lnTo>
                    <a:pt x="1069089" y="1001761"/>
                  </a:lnTo>
                  <a:lnTo>
                    <a:pt x="1132242" y="1008892"/>
                  </a:lnTo>
                  <a:lnTo>
                    <a:pt x="1196552" y="1015251"/>
                  </a:lnTo>
                  <a:lnTo>
                    <a:pt x="1261958" y="1020820"/>
                  </a:lnTo>
                  <a:lnTo>
                    <a:pt x="1328404" y="1025582"/>
                  </a:lnTo>
                  <a:lnTo>
                    <a:pt x="1395831" y="1029518"/>
                  </a:lnTo>
                  <a:lnTo>
                    <a:pt x="1464182" y="1032611"/>
                  </a:lnTo>
                  <a:lnTo>
                    <a:pt x="1533397" y="1034843"/>
                  </a:lnTo>
                  <a:lnTo>
                    <a:pt x="1603419" y="1036195"/>
                  </a:lnTo>
                  <a:lnTo>
                    <a:pt x="1674190" y="1036650"/>
                  </a:lnTo>
                  <a:lnTo>
                    <a:pt x="1744960" y="1036195"/>
                  </a:lnTo>
                  <a:lnTo>
                    <a:pt x="1814981" y="1034843"/>
                  </a:lnTo>
                  <a:lnTo>
                    <a:pt x="1884195" y="1032611"/>
                  </a:lnTo>
                  <a:lnTo>
                    <a:pt x="1952545" y="1029518"/>
                  </a:lnTo>
                  <a:lnTo>
                    <a:pt x="2019971" y="1025582"/>
                  </a:lnTo>
                  <a:lnTo>
                    <a:pt x="2086416" y="1020820"/>
                  </a:lnTo>
                  <a:lnTo>
                    <a:pt x="2151822" y="1015251"/>
                  </a:lnTo>
                  <a:lnTo>
                    <a:pt x="2216131" y="1008892"/>
                  </a:lnTo>
                  <a:lnTo>
                    <a:pt x="2279284" y="1001761"/>
                  </a:lnTo>
                  <a:lnTo>
                    <a:pt x="2341223" y="993878"/>
                  </a:lnTo>
                  <a:lnTo>
                    <a:pt x="2401891" y="985258"/>
                  </a:lnTo>
                  <a:lnTo>
                    <a:pt x="2461229" y="975921"/>
                  </a:lnTo>
                  <a:lnTo>
                    <a:pt x="2519179" y="965885"/>
                  </a:lnTo>
                  <a:lnTo>
                    <a:pt x="2575684" y="955167"/>
                  </a:lnTo>
                  <a:lnTo>
                    <a:pt x="2630684" y="943785"/>
                  </a:lnTo>
                  <a:lnTo>
                    <a:pt x="2684121" y="931758"/>
                  </a:lnTo>
                  <a:lnTo>
                    <a:pt x="2735939" y="919103"/>
                  </a:lnTo>
                  <a:lnTo>
                    <a:pt x="2786078" y="905839"/>
                  </a:lnTo>
                  <a:lnTo>
                    <a:pt x="2834480" y="891983"/>
                  </a:lnTo>
                  <a:lnTo>
                    <a:pt x="2881088" y="877553"/>
                  </a:lnTo>
                  <a:lnTo>
                    <a:pt x="2925843" y="862568"/>
                  </a:lnTo>
                  <a:lnTo>
                    <a:pt x="2968687" y="847045"/>
                  </a:lnTo>
                  <a:lnTo>
                    <a:pt x="3009563" y="831002"/>
                  </a:lnTo>
                  <a:lnTo>
                    <a:pt x="3048411" y="814458"/>
                  </a:lnTo>
                  <a:lnTo>
                    <a:pt x="3085174" y="797430"/>
                  </a:lnTo>
                  <a:lnTo>
                    <a:pt x="3119793" y="779937"/>
                  </a:lnTo>
                  <a:lnTo>
                    <a:pt x="3182370" y="743624"/>
                  </a:lnTo>
                  <a:lnTo>
                    <a:pt x="3235676" y="705665"/>
                  </a:lnTo>
                  <a:lnTo>
                    <a:pt x="3279247" y="666202"/>
                  </a:lnTo>
                  <a:lnTo>
                    <a:pt x="3312618" y="625381"/>
                  </a:lnTo>
                  <a:lnTo>
                    <a:pt x="3335323" y="583344"/>
                  </a:lnTo>
                  <a:lnTo>
                    <a:pt x="3346898" y="540235"/>
                  </a:lnTo>
                  <a:lnTo>
                    <a:pt x="3348367" y="518325"/>
                  </a:lnTo>
                  <a:lnTo>
                    <a:pt x="3346898" y="496415"/>
                  </a:lnTo>
                  <a:lnTo>
                    <a:pt x="3335323" y="453308"/>
                  </a:lnTo>
                  <a:lnTo>
                    <a:pt x="3312618" y="411272"/>
                  </a:lnTo>
                  <a:lnTo>
                    <a:pt x="3279247" y="370452"/>
                  </a:lnTo>
                  <a:lnTo>
                    <a:pt x="3235676" y="330990"/>
                  </a:lnTo>
                  <a:lnTo>
                    <a:pt x="3182370" y="293031"/>
                  </a:lnTo>
                  <a:lnTo>
                    <a:pt x="3119793" y="256718"/>
                  </a:lnTo>
                  <a:lnTo>
                    <a:pt x="3085174" y="239225"/>
                  </a:lnTo>
                  <a:lnTo>
                    <a:pt x="3048411" y="222197"/>
                  </a:lnTo>
                  <a:lnTo>
                    <a:pt x="3009563" y="205652"/>
                  </a:lnTo>
                  <a:lnTo>
                    <a:pt x="2968687" y="189609"/>
                  </a:lnTo>
                  <a:lnTo>
                    <a:pt x="2925843" y="174086"/>
                  </a:lnTo>
                  <a:lnTo>
                    <a:pt x="2881088" y="159101"/>
                  </a:lnTo>
                  <a:lnTo>
                    <a:pt x="2834480" y="144671"/>
                  </a:lnTo>
                  <a:lnTo>
                    <a:pt x="2786078" y="130815"/>
                  </a:lnTo>
                  <a:lnTo>
                    <a:pt x="2735939" y="117550"/>
                  </a:lnTo>
                  <a:lnTo>
                    <a:pt x="2684121" y="104895"/>
                  </a:lnTo>
                  <a:lnTo>
                    <a:pt x="2630684" y="92867"/>
                  </a:lnTo>
                  <a:lnTo>
                    <a:pt x="2575684" y="81486"/>
                  </a:lnTo>
                  <a:lnTo>
                    <a:pt x="2519179" y="70767"/>
                  </a:lnTo>
                  <a:lnTo>
                    <a:pt x="2461229" y="60730"/>
                  </a:lnTo>
                  <a:lnTo>
                    <a:pt x="2401891" y="51393"/>
                  </a:lnTo>
                  <a:lnTo>
                    <a:pt x="2341223" y="42773"/>
                  </a:lnTo>
                  <a:lnTo>
                    <a:pt x="2279284" y="34889"/>
                  </a:lnTo>
                  <a:lnTo>
                    <a:pt x="2216131" y="27759"/>
                  </a:lnTo>
                  <a:lnTo>
                    <a:pt x="2151822" y="21400"/>
                  </a:lnTo>
                  <a:lnTo>
                    <a:pt x="2086416" y="15830"/>
                  </a:lnTo>
                  <a:lnTo>
                    <a:pt x="2019971" y="11068"/>
                  </a:lnTo>
                  <a:lnTo>
                    <a:pt x="1952545" y="7131"/>
                  </a:lnTo>
                  <a:lnTo>
                    <a:pt x="1884195" y="4038"/>
                  </a:lnTo>
                  <a:lnTo>
                    <a:pt x="1814981" y="1806"/>
                  </a:lnTo>
                  <a:lnTo>
                    <a:pt x="1744960" y="454"/>
                  </a:lnTo>
                  <a:lnTo>
                    <a:pt x="1674190" y="0"/>
                  </a:lnTo>
                  <a:close/>
                </a:path>
              </a:pathLst>
            </a:custGeom>
            <a:solidFill>
              <a:srgbClr val="E4F3F4"/>
            </a:solidFill>
          </p:spPr>
          <p:txBody>
            <a:bodyPr wrap="square" lIns="0" tIns="0" rIns="0" bIns="0" rtlCol="0"/>
            <a:lstStyle/>
            <a:p/>
          </p:txBody>
        </p:sp>
        <p:pic>
          <p:nvPicPr>
            <p:cNvPr id="8" name="object 8"/>
            <p:cNvPicPr/>
            <p:nvPr/>
          </p:nvPicPr>
          <p:blipFill>
            <a:blip r:embed="rId2" cstate="print"/>
            <a:stretch>
              <a:fillRect/>
            </a:stretch>
          </p:blipFill>
          <p:spPr>
            <a:xfrm>
              <a:off x="3069922" y="1026504"/>
              <a:ext cx="1458162" cy="891005"/>
            </a:xfrm>
            <a:prstGeom prst="rect">
              <a:avLst/>
            </a:prstGeom>
          </p:spPr>
        </p:pic>
        <p:pic>
          <p:nvPicPr>
            <p:cNvPr id="9" name="object 9"/>
            <p:cNvPicPr/>
            <p:nvPr/>
          </p:nvPicPr>
          <p:blipFill>
            <a:blip r:embed="rId3" cstate="print"/>
            <a:stretch>
              <a:fillRect/>
            </a:stretch>
          </p:blipFill>
          <p:spPr>
            <a:xfrm>
              <a:off x="7282395" y="1026504"/>
              <a:ext cx="1442039" cy="881149"/>
            </a:xfrm>
            <a:prstGeom prst="rect">
              <a:avLst/>
            </a:prstGeom>
          </p:spPr>
        </p:pic>
        <p:pic>
          <p:nvPicPr>
            <p:cNvPr id="10" name="object 10"/>
            <p:cNvPicPr/>
            <p:nvPr/>
          </p:nvPicPr>
          <p:blipFill>
            <a:blip r:embed="rId4" cstate="print"/>
            <a:stretch>
              <a:fillRect/>
            </a:stretch>
          </p:blipFill>
          <p:spPr>
            <a:xfrm>
              <a:off x="3069921" y="4036707"/>
              <a:ext cx="1458161" cy="891003"/>
            </a:xfrm>
            <a:prstGeom prst="rect">
              <a:avLst/>
            </a:prstGeom>
          </p:spPr>
        </p:pic>
        <p:pic>
          <p:nvPicPr>
            <p:cNvPr id="11" name="object 11"/>
            <p:cNvPicPr/>
            <p:nvPr/>
          </p:nvPicPr>
          <p:blipFill>
            <a:blip r:embed="rId5" cstate="print"/>
            <a:stretch>
              <a:fillRect/>
            </a:stretch>
          </p:blipFill>
          <p:spPr>
            <a:xfrm>
              <a:off x="7210616" y="4042867"/>
              <a:ext cx="1458162" cy="885841"/>
            </a:xfrm>
            <a:prstGeom prst="rect">
              <a:avLst/>
            </a:prstGeom>
          </p:spPr>
        </p:pic>
        <p:sp>
          <p:nvSpPr>
            <p:cNvPr id="12" name="object 12" descr=""/>
            <p:cNvSpPr/>
            <p:nvPr/>
          </p:nvSpPr>
          <p:spPr>
            <a:xfrm>
              <a:off x="3555975" y="1350540"/>
              <a:ext cx="4806950" cy="3162300"/>
            </a:xfrm>
            <a:custGeom>
              <a:avLst/>
              <a:gdLst/>
              <a:ahLst/>
              <a:cxnLst/>
              <a:rect l="l" t="t" r="r" b="b"/>
              <a:pathLst>
                <a:path w="4806950" h="3162300">
                  <a:moveTo>
                    <a:pt x="0" y="296163"/>
                  </a:moveTo>
                  <a:lnTo>
                    <a:pt x="3876" y="248125"/>
                  </a:lnTo>
                  <a:lnTo>
                    <a:pt x="15098" y="202554"/>
                  </a:lnTo>
                  <a:lnTo>
                    <a:pt x="33057" y="160061"/>
                  </a:lnTo>
                  <a:lnTo>
                    <a:pt x="57143" y="121254"/>
                  </a:lnTo>
                  <a:lnTo>
                    <a:pt x="86745" y="86745"/>
                  </a:lnTo>
                  <a:lnTo>
                    <a:pt x="121254" y="57143"/>
                  </a:lnTo>
                  <a:lnTo>
                    <a:pt x="160061" y="33057"/>
                  </a:lnTo>
                  <a:lnTo>
                    <a:pt x="202554" y="15098"/>
                  </a:lnTo>
                  <a:lnTo>
                    <a:pt x="248125" y="3876"/>
                  </a:lnTo>
                  <a:lnTo>
                    <a:pt x="296164" y="0"/>
                  </a:lnTo>
                  <a:lnTo>
                    <a:pt x="4510366" y="0"/>
                  </a:lnTo>
                  <a:lnTo>
                    <a:pt x="4558405" y="3876"/>
                  </a:lnTo>
                  <a:lnTo>
                    <a:pt x="4603976" y="15098"/>
                  </a:lnTo>
                  <a:lnTo>
                    <a:pt x="4646469" y="33057"/>
                  </a:lnTo>
                  <a:lnTo>
                    <a:pt x="4685275" y="57143"/>
                  </a:lnTo>
                  <a:lnTo>
                    <a:pt x="4719785" y="86745"/>
                  </a:lnTo>
                  <a:lnTo>
                    <a:pt x="4749387" y="121254"/>
                  </a:lnTo>
                  <a:lnTo>
                    <a:pt x="4773472" y="160061"/>
                  </a:lnTo>
                  <a:lnTo>
                    <a:pt x="4791431" y="202554"/>
                  </a:lnTo>
                  <a:lnTo>
                    <a:pt x="4802654" y="248125"/>
                  </a:lnTo>
                  <a:lnTo>
                    <a:pt x="4806530" y="296163"/>
                  </a:lnTo>
                  <a:lnTo>
                    <a:pt x="4806530" y="2865628"/>
                  </a:lnTo>
                  <a:lnTo>
                    <a:pt x="4802654" y="2913666"/>
                  </a:lnTo>
                  <a:lnTo>
                    <a:pt x="4791431" y="2959237"/>
                  </a:lnTo>
                  <a:lnTo>
                    <a:pt x="4773472" y="3001730"/>
                  </a:lnTo>
                  <a:lnTo>
                    <a:pt x="4749387" y="3040537"/>
                  </a:lnTo>
                  <a:lnTo>
                    <a:pt x="4719785" y="3075046"/>
                  </a:lnTo>
                  <a:lnTo>
                    <a:pt x="4685275" y="3104648"/>
                  </a:lnTo>
                  <a:lnTo>
                    <a:pt x="4646469" y="3128734"/>
                  </a:lnTo>
                  <a:lnTo>
                    <a:pt x="4603976" y="3146693"/>
                  </a:lnTo>
                  <a:lnTo>
                    <a:pt x="4558405" y="3157915"/>
                  </a:lnTo>
                  <a:lnTo>
                    <a:pt x="4510366" y="3161791"/>
                  </a:lnTo>
                  <a:lnTo>
                    <a:pt x="296164" y="3161791"/>
                  </a:lnTo>
                  <a:lnTo>
                    <a:pt x="248125" y="3157915"/>
                  </a:lnTo>
                  <a:lnTo>
                    <a:pt x="202554" y="3146693"/>
                  </a:lnTo>
                  <a:lnTo>
                    <a:pt x="160061" y="3128734"/>
                  </a:lnTo>
                  <a:lnTo>
                    <a:pt x="121254" y="3104648"/>
                  </a:lnTo>
                  <a:lnTo>
                    <a:pt x="86745" y="3075046"/>
                  </a:lnTo>
                  <a:lnTo>
                    <a:pt x="57143" y="3040537"/>
                  </a:lnTo>
                  <a:lnTo>
                    <a:pt x="33057" y="3001730"/>
                  </a:lnTo>
                  <a:lnTo>
                    <a:pt x="15098" y="2959237"/>
                  </a:lnTo>
                  <a:lnTo>
                    <a:pt x="3876" y="2913666"/>
                  </a:lnTo>
                  <a:lnTo>
                    <a:pt x="0" y="2865628"/>
                  </a:lnTo>
                  <a:lnTo>
                    <a:pt x="0" y="296163"/>
                  </a:lnTo>
                  <a:close/>
                </a:path>
              </a:pathLst>
            </a:custGeom>
            <a:ln w="12700">
              <a:solidFill>
                <a:srgbClr val="89A4A7"/>
              </a:solidFill>
            </a:ln>
          </p:spPr>
          <p:txBody>
            <a:bodyPr wrap="square" lIns="0" tIns="0" rIns="0" bIns="0" rtlCol="0"/>
            <a:lstStyle/>
            <a:p/>
          </p:txBody>
        </p:sp>
      </p:grpSp>
      <p:sp>
        <p:nvSpPr>
          <p:cNvPr id="13" name="object 13" descr=""/>
          <p:cNvSpPr txBox="1"/>
          <p:nvPr/>
        </p:nvSpPr>
        <p:spPr>
          <a:xfrm>
            <a:off x="3719868" y="196010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C00000"/>
                </a:solidFill>
                <a:latin typeface="Microsoft YaHei"/>
                <a:cs typeface="Microsoft YaHei"/>
              </a:rPr>
              <a:t>平安城市</a:t>
            </a:r>
            <a:endParaRPr sz="1200">
              <a:latin typeface="Microsoft YaHei"/>
              <a:cs typeface="Microsoft YaHei"/>
            </a:endParaRPr>
          </a:p>
        </p:txBody>
      </p:sp>
      <p:sp>
        <p:nvSpPr>
          <p:cNvPr id="14" name="object 14" descr=""/>
          <p:cNvSpPr txBox="1"/>
          <p:nvPr/>
        </p:nvSpPr>
        <p:spPr>
          <a:xfrm>
            <a:off x="3719868" y="3704470"/>
            <a:ext cx="482600" cy="208279"/>
          </a:xfrm>
          <a:prstGeom prst="rect">
            <a:avLst/>
          </a:prstGeom>
        </p:spPr>
        <p:txBody>
          <a:bodyPr wrap="square" lIns="0" tIns="12700" rIns="0" bIns="0" rtlCol="0" vert="horz">
            <a:spAutoFit/>
          </a:bodyPr>
          <a:lstStyle/>
          <a:p>
            <a:pPr marL="12700">
              <a:lnSpc>
                <a:spcPct val="100000"/>
              </a:lnSpc>
              <a:spcBef>
                <a:spcPts val="100"/>
              </a:spcBef>
            </a:pPr>
            <a:r>
              <a:rPr dirty="0" sz="1200" spc="-20">
                <a:solidFill>
                  <a:srgbClr val="C00000"/>
                </a:solidFill>
                <a:latin typeface="Microsoft YaHei"/>
                <a:cs typeface="Microsoft YaHei"/>
              </a:rPr>
              <a:t>质监局</a:t>
            </a:r>
            <a:endParaRPr sz="1200">
              <a:latin typeface="Microsoft YaHei"/>
              <a:cs typeface="Microsoft YaHei"/>
            </a:endParaRPr>
          </a:p>
        </p:txBody>
      </p:sp>
      <p:sp>
        <p:nvSpPr>
          <p:cNvPr id="15" name="object 15" descr=""/>
          <p:cNvSpPr txBox="1"/>
          <p:nvPr/>
        </p:nvSpPr>
        <p:spPr>
          <a:xfrm>
            <a:off x="7500302" y="196010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C00000"/>
                </a:solidFill>
                <a:latin typeface="Microsoft YaHei"/>
                <a:cs typeface="Microsoft YaHei"/>
              </a:rPr>
              <a:t>智慧城市</a:t>
            </a:r>
            <a:endParaRPr sz="1200">
              <a:latin typeface="Microsoft YaHei"/>
              <a:cs typeface="Microsoft YaHei"/>
            </a:endParaRPr>
          </a:p>
        </p:txBody>
      </p:sp>
      <p:sp>
        <p:nvSpPr>
          <p:cNvPr id="16" name="object 16" descr=""/>
          <p:cNvSpPr txBox="1"/>
          <p:nvPr/>
        </p:nvSpPr>
        <p:spPr>
          <a:xfrm>
            <a:off x="7446353" y="3796367"/>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C00000"/>
                </a:solidFill>
                <a:latin typeface="Microsoft YaHei"/>
                <a:cs typeface="Microsoft YaHei"/>
              </a:rPr>
              <a:t>城市应急中心</a:t>
            </a:r>
            <a:endParaRPr sz="1200">
              <a:latin typeface="Microsoft YaHei"/>
              <a:cs typeface="Microsoft YaHei"/>
            </a:endParaRPr>
          </a:p>
        </p:txBody>
      </p:sp>
      <p:grpSp>
        <p:nvGrpSpPr>
          <p:cNvPr id="17" name="object 17" descr=""/>
          <p:cNvGrpSpPr/>
          <p:nvPr/>
        </p:nvGrpSpPr>
        <p:grpSpPr>
          <a:xfrm>
            <a:off x="4636096" y="2268640"/>
            <a:ext cx="2562860" cy="477520"/>
            <a:chOff x="4636096" y="2268640"/>
            <a:chExt cx="2562860" cy="477520"/>
          </a:xfrm>
        </p:grpSpPr>
        <p:pic>
          <p:nvPicPr>
            <p:cNvPr id="18" name="object 18"/>
            <p:cNvPicPr/>
            <p:nvPr/>
          </p:nvPicPr>
          <p:blipFill>
            <a:blip r:embed="rId6" cstate="print"/>
            <a:stretch>
              <a:fillRect/>
            </a:stretch>
          </p:blipFill>
          <p:spPr>
            <a:xfrm>
              <a:off x="6418293" y="2268642"/>
              <a:ext cx="780497" cy="476919"/>
            </a:xfrm>
            <a:prstGeom prst="rect">
              <a:avLst/>
            </a:prstGeom>
          </p:spPr>
        </p:pic>
        <p:pic>
          <p:nvPicPr>
            <p:cNvPr id="19" name="object 19"/>
            <p:cNvPicPr/>
            <p:nvPr/>
          </p:nvPicPr>
          <p:blipFill>
            <a:blip r:embed="rId7" cstate="print"/>
            <a:stretch>
              <a:fillRect/>
            </a:stretch>
          </p:blipFill>
          <p:spPr>
            <a:xfrm>
              <a:off x="4636096" y="2268640"/>
              <a:ext cx="763435" cy="466493"/>
            </a:xfrm>
            <a:prstGeom prst="rect">
              <a:avLst/>
            </a:prstGeom>
          </p:spPr>
        </p:pic>
      </p:grpSp>
      <p:sp>
        <p:nvSpPr>
          <p:cNvPr id="20" name="object 20" descr=""/>
          <p:cNvSpPr txBox="1"/>
          <p:nvPr/>
        </p:nvSpPr>
        <p:spPr>
          <a:xfrm>
            <a:off x="4635639" y="1081957"/>
            <a:ext cx="673735" cy="516890"/>
          </a:xfrm>
          <a:prstGeom prst="rect">
            <a:avLst/>
          </a:prstGeom>
        </p:spPr>
        <p:txBody>
          <a:bodyPr wrap="square" lIns="0" tIns="12065" rIns="0" bIns="0" rtlCol="0" vert="horz">
            <a:spAutoFit/>
          </a:bodyPr>
          <a:lstStyle/>
          <a:p>
            <a:pPr marL="100965" indent="-88265">
              <a:lnSpc>
                <a:spcPct val="100000"/>
              </a:lnSpc>
              <a:spcBef>
                <a:spcPts val="95"/>
              </a:spcBef>
              <a:buFont typeface="Arial MT"/>
              <a:buChar char="•"/>
              <a:tabLst>
                <a:tab pos="100965" algn="l"/>
              </a:tabLst>
            </a:pPr>
            <a:r>
              <a:rPr dirty="0" sz="1100" spc="-30">
                <a:latin typeface="Microsoft YaHei"/>
                <a:cs typeface="Microsoft YaHei"/>
              </a:rPr>
              <a:t>移动执法</a:t>
            </a:r>
            <a:endParaRPr sz="1100">
              <a:latin typeface="Microsoft YaHei"/>
              <a:cs typeface="Microsoft YaHei"/>
            </a:endParaRPr>
          </a:p>
          <a:p>
            <a:pPr marL="100965" indent="-88265">
              <a:lnSpc>
                <a:spcPct val="100000"/>
              </a:lnSpc>
              <a:spcBef>
                <a:spcPts val="1235"/>
              </a:spcBef>
              <a:buFont typeface="Arial MT"/>
              <a:buChar char="•"/>
              <a:tabLst>
                <a:tab pos="100965" algn="l"/>
              </a:tabLst>
            </a:pPr>
            <a:r>
              <a:rPr dirty="0" sz="1100" spc="-30">
                <a:latin typeface="Microsoft YaHei"/>
                <a:cs typeface="Microsoft YaHei"/>
              </a:rPr>
              <a:t>报警联动</a:t>
            </a:r>
            <a:endParaRPr sz="1100">
              <a:latin typeface="Microsoft YaHei"/>
              <a:cs typeface="Microsoft YaHei"/>
            </a:endParaRPr>
          </a:p>
        </p:txBody>
      </p:sp>
      <p:sp>
        <p:nvSpPr>
          <p:cNvPr id="21" name="object 21" descr=""/>
          <p:cNvSpPr txBox="1"/>
          <p:nvPr/>
        </p:nvSpPr>
        <p:spPr>
          <a:xfrm>
            <a:off x="5574839" y="1081957"/>
            <a:ext cx="673735" cy="516890"/>
          </a:xfrm>
          <a:prstGeom prst="rect">
            <a:avLst/>
          </a:prstGeom>
        </p:spPr>
        <p:txBody>
          <a:bodyPr wrap="square" lIns="0" tIns="12065" rIns="0" bIns="0" rtlCol="0" vert="horz">
            <a:spAutoFit/>
          </a:bodyPr>
          <a:lstStyle/>
          <a:p>
            <a:pPr marL="100965" indent="-88265">
              <a:lnSpc>
                <a:spcPct val="100000"/>
              </a:lnSpc>
              <a:spcBef>
                <a:spcPts val="95"/>
              </a:spcBef>
              <a:buFont typeface="Arial MT"/>
              <a:buChar char="•"/>
              <a:tabLst>
                <a:tab pos="100965" algn="l"/>
              </a:tabLst>
            </a:pPr>
            <a:r>
              <a:rPr dirty="0" sz="1100" spc="-30">
                <a:latin typeface="Microsoft YaHei"/>
                <a:cs typeface="Microsoft YaHei"/>
              </a:rPr>
              <a:t>视频监控</a:t>
            </a:r>
            <a:endParaRPr sz="1100">
              <a:latin typeface="Microsoft YaHei"/>
              <a:cs typeface="Microsoft YaHei"/>
            </a:endParaRPr>
          </a:p>
          <a:p>
            <a:pPr marL="100965" indent="-88265">
              <a:lnSpc>
                <a:spcPct val="100000"/>
              </a:lnSpc>
              <a:spcBef>
                <a:spcPts val="1235"/>
              </a:spcBef>
              <a:buFont typeface="Arial MT"/>
              <a:buChar char="•"/>
              <a:tabLst>
                <a:tab pos="100965" algn="l"/>
              </a:tabLst>
            </a:pPr>
            <a:r>
              <a:rPr dirty="0" sz="1100" spc="-30">
                <a:latin typeface="Microsoft YaHei"/>
                <a:cs typeface="Microsoft YaHei"/>
              </a:rPr>
              <a:t>事故取证</a:t>
            </a:r>
            <a:endParaRPr sz="1100">
              <a:latin typeface="Microsoft YaHei"/>
              <a:cs typeface="Microsoft YaHei"/>
            </a:endParaRPr>
          </a:p>
        </p:txBody>
      </p:sp>
      <p:sp>
        <p:nvSpPr>
          <p:cNvPr id="22" name="object 22" descr=""/>
          <p:cNvSpPr txBox="1"/>
          <p:nvPr/>
        </p:nvSpPr>
        <p:spPr>
          <a:xfrm>
            <a:off x="6528179" y="1081957"/>
            <a:ext cx="673735" cy="516890"/>
          </a:xfrm>
          <a:prstGeom prst="rect">
            <a:avLst/>
          </a:prstGeom>
        </p:spPr>
        <p:txBody>
          <a:bodyPr wrap="square" lIns="0" tIns="12065" rIns="0" bIns="0" rtlCol="0" vert="horz">
            <a:spAutoFit/>
          </a:bodyPr>
          <a:lstStyle/>
          <a:p>
            <a:pPr marL="100965" indent="-88265">
              <a:lnSpc>
                <a:spcPct val="100000"/>
              </a:lnSpc>
              <a:spcBef>
                <a:spcPts val="95"/>
              </a:spcBef>
              <a:buFont typeface="Arial MT"/>
              <a:buChar char="•"/>
              <a:tabLst>
                <a:tab pos="100965" algn="l"/>
              </a:tabLst>
            </a:pPr>
            <a:r>
              <a:rPr dirty="0" sz="1100" spc="-30">
                <a:latin typeface="Microsoft YaHei"/>
                <a:cs typeface="Microsoft YaHei"/>
              </a:rPr>
              <a:t>呼叫中心</a:t>
            </a:r>
            <a:endParaRPr sz="1100">
              <a:latin typeface="Microsoft YaHei"/>
              <a:cs typeface="Microsoft YaHei"/>
            </a:endParaRPr>
          </a:p>
          <a:p>
            <a:pPr marL="100965" indent="-88265">
              <a:lnSpc>
                <a:spcPct val="100000"/>
              </a:lnSpc>
              <a:spcBef>
                <a:spcPts val="1235"/>
              </a:spcBef>
              <a:buFont typeface="Arial MT"/>
              <a:buChar char="•"/>
              <a:tabLst>
                <a:tab pos="100965" algn="l"/>
              </a:tabLst>
            </a:pPr>
            <a:r>
              <a:rPr dirty="0" sz="1100" spc="-30">
                <a:latin typeface="Microsoft YaHei"/>
                <a:cs typeface="Microsoft YaHei"/>
              </a:rPr>
              <a:t>安全生产</a:t>
            </a:r>
            <a:endParaRPr sz="1100">
              <a:latin typeface="Microsoft YaHei"/>
              <a:cs typeface="Microsoft YaHei"/>
            </a:endParaRPr>
          </a:p>
        </p:txBody>
      </p:sp>
      <p:sp>
        <p:nvSpPr>
          <p:cNvPr id="23" name="object 23" descr=""/>
          <p:cNvSpPr txBox="1"/>
          <p:nvPr/>
        </p:nvSpPr>
        <p:spPr>
          <a:xfrm>
            <a:off x="3717988" y="2322652"/>
            <a:ext cx="794385" cy="408305"/>
          </a:xfrm>
          <a:prstGeom prst="rect">
            <a:avLst/>
          </a:prstGeom>
          <a:ln w="9525">
            <a:solidFill>
              <a:srgbClr val="000000"/>
            </a:solidFill>
          </a:ln>
        </p:spPr>
        <p:txBody>
          <a:bodyPr wrap="square" lIns="0" tIns="28575" rIns="0" bIns="0" rtlCol="0" vert="horz">
            <a:spAutoFit/>
          </a:bodyPr>
          <a:lstStyle/>
          <a:p>
            <a:pPr marL="156845" indent="-88265">
              <a:lnSpc>
                <a:spcPct val="100000"/>
              </a:lnSpc>
              <a:spcBef>
                <a:spcPts val="225"/>
              </a:spcBef>
              <a:buFont typeface="Arial MT"/>
              <a:buChar char="•"/>
              <a:tabLst>
                <a:tab pos="156845" algn="l"/>
              </a:tabLst>
            </a:pPr>
            <a:r>
              <a:rPr dirty="0" sz="1100" spc="-30">
                <a:latin typeface="Microsoft YaHei"/>
                <a:cs typeface="Microsoft YaHei"/>
              </a:rPr>
              <a:t>服务评价</a:t>
            </a:r>
            <a:endParaRPr sz="1100">
              <a:latin typeface="Microsoft YaHei"/>
              <a:cs typeface="Microsoft YaHei"/>
            </a:endParaRPr>
          </a:p>
          <a:p>
            <a:pPr marL="156845" indent="-88265">
              <a:lnSpc>
                <a:spcPct val="100000"/>
              </a:lnSpc>
              <a:buFont typeface="Arial MT"/>
              <a:buChar char="•"/>
              <a:tabLst>
                <a:tab pos="156845" algn="l"/>
              </a:tabLst>
            </a:pPr>
            <a:r>
              <a:rPr dirty="0" sz="1100" spc="-30">
                <a:latin typeface="Microsoft YaHei"/>
                <a:cs typeface="Microsoft YaHei"/>
              </a:rPr>
              <a:t>过程监控</a:t>
            </a:r>
            <a:endParaRPr sz="1100">
              <a:latin typeface="Microsoft YaHei"/>
              <a:cs typeface="Microsoft YaHei"/>
            </a:endParaRPr>
          </a:p>
        </p:txBody>
      </p:sp>
      <p:sp>
        <p:nvSpPr>
          <p:cNvPr id="24" name="object 24" descr=""/>
          <p:cNvSpPr txBox="1"/>
          <p:nvPr/>
        </p:nvSpPr>
        <p:spPr>
          <a:xfrm>
            <a:off x="7390396" y="2322652"/>
            <a:ext cx="794385" cy="408305"/>
          </a:xfrm>
          <a:prstGeom prst="rect">
            <a:avLst/>
          </a:prstGeom>
          <a:ln w="9525">
            <a:solidFill>
              <a:srgbClr val="000000"/>
            </a:solidFill>
          </a:ln>
        </p:spPr>
        <p:txBody>
          <a:bodyPr wrap="square" lIns="0" tIns="28575" rIns="0" bIns="0" rtlCol="0" vert="horz">
            <a:spAutoFit/>
          </a:bodyPr>
          <a:lstStyle/>
          <a:p>
            <a:pPr marL="156845" indent="-88265">
              <a:lnSpc>
                <a:spcPct val="100000"/>
              </a:lnSpc>
              <a:spcBef>
                <a:spcPts val="225"/>
              </a:spcBef>
              <a:buFont typeface="Arial MT"/>
              <a:buChar char="•"/>
              <a:tabLst>
                <a:tab pos="156845" algn="l"/>
              </a:tabLst>
            </a:pPr>
            <a:r>
              <a:rPr dirty="0" sz="1100" spc="-30">
                <a:latin typeface="Microsoft YaHei"/>
                <a:cs typeface="Microsoft YaHei"/>
              </a:rPr>
              <a:t>信息发布</a:t>
            </a:r>
            <a:endParaRPr sz="1100">
              <a:latin typeface="Microsoft YaHei"/>
              <a:cs typeface="Microsoft YaHei"/>
            </a:endParaRPr>
          </a:p>
          <a:p>
            <a:pPr marL="156845" indent="-88265">
              <a:lnSpc>
                <a:spcPct val="100000"/>
              </a:lnSpc>
              <a:buFont typeface="Arial MT"/>
              <a:buChar char="•"/>
              <a:tabLst>
                <a:tab pos="156845" algn="l"/>
              </a:tabLst>
            </a:pPr>
            <a:r>
              <a:rPr dirty="0" sz="1100" spc="-30">
                <a:latin typeface="Microsoft YaHei"/>
                <a:cs typeface="Microsoft YaHei"/>
              </a:rPr>
              <a:t>应急宣传</a:t>
            </a:r>
            <a:endParaRPr sz="1100">
              <a:latin typeface="Microsoft YaHei"/>
              <a:cs typeface="Microsoft YaHei"/>
            </a:endParaRPr>
          </a:p>
        </p:txBody>
      </p:sp>
      <p:sp>
        <p:nvSpPr>
          <p:cNvPr id="25" name="object 25" descr=""/>
          <p:cNvSpPr txBox="1"/>
          <p:nvPr/>
        </p:nvSpPr>
        <p:spPr>
          <a:xfrm>
            <a:off x="4691976" y="277019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C00000"/>
                </a:solidFill>
                <a:latin typeface="Microsoft YaHei"/>
                <a:cs typeface="Microsoft YaHei"/>
              </a:rPr>
              <a:t>维保公司</a:t>
            </a:r>
            <a:endParaRPr sz="1200">
              <a:latin typeface="Microsoft YaHei"/>
              <a:cs typeface="Microsoft YaHei"/>
            </a:endParaRPr>
          </a:p>
        </p:txBody>
      </p:sp>
      <p:sp>
        <p:nvSpPr>
          <p:cNvPr id="26" name="object 26" descr=""/>
          <p:cNvSpPr txBox="1"/>
          <p:nvPr/>
        </p:nvSpPr>
        <p:spPr>
          <a:xfrm>
            <a:off x="6474142" y="277019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a:solidFill>
                  <a:srgbClr val="C00000"/>
                </a:solidFill>
                <a:latin typeface="Microsoft YaHei"/>
                <a:cs typeface="Microsoft YaHei"/>
              </a:rPr>
              <a:t>物业公司</a:t>
            </a:r>
            <a:endParaRPr sz="1200">
              <a:latin typeface="Microsoft YaHei"/>
              <a:cs typeface="Microsoft YaHei"/>
            </a:endParaRPr>
          </a:p>
        </p:txBody>
      </p:sp>
      <p:sp>
        <p:nvSpPr>
          <p:cNvPr id="27" name="object 27" descr=""/>
          <p:cNvSpPr txBox="1"/>
          <p:nvPr/>
        </p:nvSpPr>
        <p:spPr>
          <a:xfrm>
            <a:off x="4529959" y="3472267"/>
            <a:ext cx="734060" cy="391160"/>
          </a:xfrm>
          <a:prstGeom prst="rect">
            <a:avLst/>
          </a:prstGeom>
        </p:spPr>
        <p:txBody>
          <a:bodyPr wrap="square" lIns="0" tIns="12700" rIns="0" bIns="0" rtlCol="0" vert="horz">
            <a:spAutoFit/>
          </a:bodyPr>
          <a:lstStyle/>
          <a:p>
            <a:pPr marL="111760" indent="-99060">
              <a:lnSpc>
                <a:spcPct val="100000"/>
              </a:lnSpc>
              <a:spcBef>
                <a:spcPts val="100"/>
              </a:spcBef>
              <a:buFont typeface="Arial MT"/>
              <a:buChar char="•"/>
              <a:tabLst>
                <a:tab pos="111760" algn="l"/>
              </a:tabLst>
            </a:pPr>
            <a:r>
              <a:rPr dirty="0" sz="1200" spc="-15" b="1">
                <a:latin typeface="Microsoft YaHei"/>
                <a:cs typeface="Microsoft YaHei"/>
              </a:rPr>
              <a:t>电梯管理</a:t>
            </a:r>
            <a:endParaRPr sz="1200">
              <a:latin typeface="Microsoft YaHei"/>
              <a:cs typeface="Microsoft YaHei"/>
            </a:endParaRPr>
          </a:p>
          <a:p>
            <a:pPr marL="111760" indent="-99060">
              <a:lnSpc>
                <a:spcPct val="100000"/>
              </a:lnSpc>
              <a:buFont typeface="Arial MT"/>
              <a:buChar char="•"/>
              <a:tabLst>
                <a:tab pos="111760" algn="l"/>
              </a:tabLst>
            </a:pPr>
            <a:r>
              <a:rPr dirty="0" sz="1200" spc="-15" b="1">
                <a:latin typeface="Microsoft YaHei"/>
                <a:cs typeface="Microsoft YaHei"/>
              </a:rPr>
              <a:t>故障管理</a:t>
            </a:r>
            <a:endParaRPr sz="1200">
              <a:latin typeface="Microsoft YaHei"/>
              <a:cs typeface="Microsoft YaHei"/>
            </a:endParaRPr>
          </a:p>
        </p:txBody>
      </p:sp>
      <p:sp>
        <p:nvSpPr>
          <p:cNvPr id="28" name="object 28" descr=""/>
          <p:cNvSpPr txBox="1"/>
          <p:nvPr/>
        </p:nvSpPr>
        <p:spPr>
          <a:xfrm>
            <a:off x="5502066" y="3472267"/>
            <a:ext cx="734060" cy="391160"/>
          </a:xfrm>
          <a:prstGeom prst="rect">
            <a:avLst/>
          </a:prstGeom>
        </p:spPr>
        <p:txBody>
          <a:bodyPr wrap="square" lIns="0" tIns="12700" rIns="0" bIns="0" rtlCol="0" vert="horz">
            <a:spAutoFit/>
          </a:bodyPr>
          <a:lstStyle/>
          <a:p>
            <a:pPr marL="111760" indent="-99060">
              <a:lnSpc>
                <a:spcPct val="100000"/>
              </a:lnSpc>
              <a:spcBef>
                <a:spcPts val="100"/>
              </a:spcBef>
              <a:buFont typeface="Arial MT"/>
              <a:buChar char="•"/>
              <a:tabLst>
                <a:tab pos="111760" algn="l"/>
              </a:tabLst>
            </a:pPr>
            <a:r>
              <a:rPr dirty="0" sz="1200" spc="-15" b="1">
                <a:latin typeface="Microsoft YaHei"/>
                <a:cs typeface="Microsoft YaHei"/>
              </a:rPr>
              <a:t>电梯维保</a:t>
            </a:r>
            <a:endParaRPr sz="1200">
              <a:latin typeface="Microsoft YaHei"/>
              <a:cs typeface="Microsoft YaHei"/>
            </a:endParaRPr>
          </a:p>
          <a:p>
            <a:pPr marL="111760" indent="-99060">
              <a:lnSpc>
                <a:spcPct val="100000"/>
              </a:lnSpc>
              <a:buFont typeface="Arial MT"/>
              <a:buChar char="•"/>
              <a:tabLst>
                <a:tab pos="111760" algn="l"/>
              </a:tabLst>
            </a:pPr>
            <a:r>
              <a:rPr dirty="0" sz="1200" spc="-15" b="1">
                <a:latin typeface="Microsoft YaHei"/>
                <a:cs typeface="Microsoft YaHei"/>
              </a:rPr>
              <a:t>电梯年检</a:t>
            </a:r>
            <a:endParaRPr sz="1200">
              <a:latin typeface="Microsoft YaHei"/>
              <a:cs typeface="Microsoft YaHei"/>
            </a:endParaRPr>
          </a:p>
        </p:txBody>
      </p:sp>
      <p:sp>
        <p:nvSpPr>
          <p:cNvPr id="29" name="object 29" descr=""/>
          <p:cNvSpPr txBox="1"/>
          <p:nvPr/>
        </p:nvSpPr>
        <p:spPr>
          <a:xfrm>
            <a:off x="6474174" y="3472267"/>
            <a:ext cx="734060" cy="391160"/>
          </a:xfrm>
          <a:prstGeom prst="rect">
            <a:avLst/>
          </a:prstGeom>
        </p:spPr>
        <p:txBody>
          <a:bodyPr wrap="square" lIns="0" tIns="12700" rIns="0" bIns="0" rtlCol="0" vert="horz">
            <a:spAutoFit/>
          </a:bodyPr>
          <a:lstStyle/>
          <a:p>
            <a:pPr marL="111760" indent="-99060">
              <a:lnSpc>
                <a:spcPct val="100000"/>
              </a:lnSpc>
              <a:spcBef>
                <a:spcPts val="100"/>
              </a:spcBef>
              <a:buFont typeface="Arial MT"/>
              <a:buChar char="•"/>
              <a:tabLst>
                <a:tab pos="111760" algn="l"/>
              </a:tabLst>
            </a:pPr>
            <a:r>
              <a:rPr dirty="0" sz="1200" spc="-15" b="1">
                <a:latin typeface="Microsoft YaHei"/>
                <a:cs typeface="Microsoft YaHei"/>
              </a:rPr>
              <a:t>故障评估</a:t>
            </a:r>
            <a:endParaRPr sz="1200">
              <a:latin typeface="Microsoft YaHei"/>
              <a:cs typeface="Microsoft YaHei"/>
            </a:endParaRPr>
          </a:p>
          <a:p>
            <a:pPr marL="111760" indent="-99060">
              <a:lnSpc>
                <a:spcPct val="100000"/>
              </a:lnSpc>
              <a:buFont typeface="Arial MT"/>
              <a:buChar char="•"/>
              <a:tabLst>
                <a:tab pos="111760" algn="l"/>
              </a:tabLst>
            </a:pPr>
            <a:r>
              <a:rPr dirty="0" sz="1200" spc="-15" b="1">
                <a:latin typeface="Microsoft YaHei"/>
                <a:cs typeface="Microsoft YaHei"/>
              </a:rPr>
              <a:t>预警报警</a:t>
            </a:r>
            <a:endParaRPr sz="1200">
              <a:latin typeface="Microsoft YaHei"/>
              <a:cs typeface="Microsoft YaHei"/>
            </a:endParaRPr>
          </a:p>
        </p:txBody>
      </p:sp>
      <p:grpSp>
        <p:nvGrpSpPr>
          <p:cNvPr id="30" name="object 30" descr=""/>
          <p:cNvGrpSpPr/>
          <p:nvPr/>
        </p:nvGrpSpPr>
        <p:grpSpPr>
          <a:xfrm>
            <a:off x="3772915" y="2376653"/>
            <a:ext cx="4309745" cy="1313815"/>
            <a:chOff x="3772915" y="2376653"/>
            <a:chExt cx="4309745" cy="1313815"/>
          </a:xfrm>
        </p:grpSpPr>
        <p:pic>
          <p:nvPicPr>
            <p:cNvPr id="31" name="object 31" descr=""/>
            <p:cNvPicPr/>
            <p:nvPr/>
          </p:nvPicPr>
          <p:blipFill>
            <a:blip r:embed="rId8" cstate="print"/>
            <a:stretch>
              <a:fillRect/>
            </a:stretch>
          </p:blipFill>
          <p:spPr>
            <a:xfrm>
              <a:off x="3772915" y="2809240"/>
              <a:ext cx="528853" cy="881164"/>
            </a:xfrm>
            <a:prstGeom prst="rect">
              <a:avLst/>
            </a:prstGeom>
          </p:spPr>
        </p:pic>
        <p:pic>
          <p:nvPicPr>
            <p:cNvPr id="32" name="object 32" descr=""/>
            <p:cNvPicPr/>
            <p:nvPr/>
          </p:nvPicPr>
          <p:blipFill>
            <a:blip r:embed="rId9" cstate="print"/>
            <a:stretch>
              <a:fillRect/>
            </a:stretch>
          </p:blipFill>
          <p:spPr>
            <a:xfrm>
              <a:off x="7553325" y="2809240"/>
              <a:ext cx="528866" cy="881151"/>
            </a:xfrm>
            <a:prstGeom prst="rect">
              <a:avLst/>
            </a:prstGeom>
          </p:spPr>
        </p:pic>
        <p:sp>
          <p:nvSpPr>
            <p:cNvPr id="33" name="object 33" descr=""/>
            <p:cNvSpPr/>
            <p:nvPr/>
          </p:nvSpPr>
          <p:spPr>
            <a:xfrm>
              <a:off x="5446180" y="2376653"/>
              <a:ext cx="918210" cy="259715"/>
            </a:xfrm>
            <a:custGeom>
              <a:avLst/>
              <a:gdLst/>
              <a:ahLst/>
              <a:cxnLst/>
              <a:rect l="l" t="t" r="r" b="b"/>
              <a:pathLst>
                <a:path w="918210" h="259714">
                  <a:moveTo>
                    <a:pt x="108178" y="0"/>
                  </a:moveTo>
                  <a:lnTo>
                    <a:pt x="0" y="129578"/>
                  </a:lnTo>
                  <a:lnTo>
                    <a:pt x="108178" y="259168"/>
                  </a:lnTo>
                  <a:lnTo>
                    <a:pt x="108178" y="194373"/>
                  </a:lnTo>
                  <a:lnTo>
                    <a:pt x="918108" y="194373"/>
                  </a:lnTo>
                  <a:lnTo>
                    <a:pt x="918108" y="64795"/>
                  </a:lnTo>
                  <a:lnTo>
                    <a:pt x="108178" y="64795"/>
                  </a:lnTo>
                  <a:lnTo>
                    <a:pt x="108178" y="0"/>
                  </a:lnTo>
                  <a:close/>
                </a:path>
              </a:pathLst>
            </a:custGeom>
            <a:solidFill>
              <a:srgbClr val="E4F3F4"/>
            </a:solidFill>
          </p:spPr>
          <p:txBody>
            <a:bodyPr wrap="square" lIns="0" tIns="0" rIns="0" bIns="0" rtlCol="0"/>
            <a:lstStyle/>
            <a:p/>
          </p:txBody>
        </p:sp>
      </p:grpSp>
      <p:sp>
        <p:nvSpPr>
          <p:cNvPr id="34" name="object 34" descr=""/>
          <p:cNvSpPr txBox="1"/>
          <p:nvPr/>
        </p:nvSpPr>
        <p:spPr>
          <a:xfrm>
            <a:off x="5753058" y="2193000"/>
            <a:ext cx="337820" cy="193040"/>
          </a:xfrm>
          <a:prstGeom prst="rect">
            <a:avLst/>
          </a:prstGeom>
        </p:spPr>
        <p:txBody>
          <a:bodyPr wrap="square" lIns="0" tIns="12065" rIns="0" bIns="0" rtlCol="0" vert="horz">
            <a:spAutoFit/>
          </a:bodyPr>
          <a:lstStyle/>
          <a:p>
            <a:pPr marL="12700">
              <a:lnSpc>
                <a:spcPct val="100000"/>
              </a:lnSpc>
              <a:spcBef>
                <a:spcPts val="95"/>
              </a:spcBef>
            </a:pPr>
            <a:r>
              <a:rPr dirty="0" sz="1100" spc="-20">
                <a:latin typeface="Microsoft YaHei"/>
                <a:cs typeface="Microsoft YaHei"/>
              </a:rPr>
              <a:t>RFID</a:t>
            </a:r>
            <a:endParaRPr sz="1100">
              <a:latin typeface="Microsoft YaHei"/>
              <a:cs typeface="Microsoft YaHei"/>
            </a:endParaRPr>
          </a:p>
        </p:txBody>
      </p:sp>
      <p:sp>
        <p:nvSpPr>
          <p:cNvPr id="35" name="object 35" descr=""/>
          <p:cNvSpPr txBox="1"/>
          <p:nvPr/>
        </p:nvSpPr>
        <p:spPr>
          <a:xfrm>
            <a:off x="5664091" y="2608967"/>
            <a:ext cx="583565"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数据归档</a:t>
            </a:r>
            <a:endParaRPr sz="1100">
              <a:latin typeface="Microsoft YaHei"/>
              <a:cs typeface="Microsoft YaHe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7" y="149372"/>
            <a:ext cx="3228340" cy="513080"/>
          </a:xfrm>
          <a:prstGeom prst="rect"/>
        </p:spPr>
        <p:txBody>
          <a:bodyPr wrap="square" lIns="0" tIns="12065" rIns="0" bIns="0" rtlCol="0" vert="horz">
            <a:spAutoFit/>
          </a:bodyPr>
          <a:lstStyle/>
          <a:p>
            <a:pPr marL="12700">
              <a:lnSpc>
                <a:spcPct val="100000"/>
              </a:lnSpc>
              <a:spcBef>
                <a:spcPts val="95"/>
              </a:spcBef>
            </a:pPr>
            <a:r>
              <a:rPr dirty="0" spc="-330"/>
              <a:t>电梯监控</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744448" y="995730"/>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p:nvPr/>
        </p:nvSpPr>
        <p:spPr>
          <a:xfrm>
            <a:off x="749388" y="2372169"/>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5" name="object 5" descr=""/>
          <p:cNvSpPr txBox="1"/>
          <p:nvPr/>
        </p:nvSpPr>
        <p:spPr>
          <a:xfrm>
            <a:off x="525056" y="990401"/>
            <a:ext cx="4477385" cy="2041525"/>
          </a:xfrm>
          <a:prstGeom prst="rect">
            <a:avLst/>
          </a:prstGeom>
        </p:spPr>
        <p:txBody>
          <a:bodyPr wrap="square" lIns="0" tIns="12700" rIns="0" bIns="0" rtlCol="0" vert="horz">
            <a:spAutoFit/>
          </a:bodyPr>
          <a:lstStyle/>
          <a:p>
            <a:pPr marL="73342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a:lnSpc>
                <a:spcPct val="100000"/>
              </a:lnSpc>
              <a:spcBef>
                <a:spcPts val="110"/>
              </a:spcBef>
            </a:pPr>
            <a:endParaRPr sz="1200">
              <a:latin typeface="Microsoft YaHei"/>
              <a:cs typeface="Microsoft YaHei"/>
            </a:endParaRPr>
          </a:p>
          <a:p>
            <a:pPr marL="196215" indent="-160655">
              <a:lnSpc>
                <a:spcPct val="100000"/>
              </a:lnSpc>
              <a:buFont typeface="Wingdings"/>
              <a:buChar char=""/>
              <a:tabLst>
                <a:tab pos="196215" algn="l"/>
              </a:tabLst>
            </a:pPr>
            <a:r>
              <a:rPr dirty="0" sz="1200" spc="-5">
                <a:latin typeface="Microsoft YaHei"/>
                <a:cs typeface="Microsoft YaHei"/>
              </a:rPr>
              <a:t>更安全地使用，降低电梯故障发生率，提高安全保障。</a:t>
            </a:r>
            <a:endParaRPr sz="1200">
              <a:latin typeface="Microsoft YaHei"/>
              <a:cs typeface="Microsoft YaHei"/>
            </a:endParaRPr>
          </a:p>
          <a:p>
            <a:pPr marL="196215" indent="-160655">
              <a:lnSpc>
                <a:spcPct val="100000"/>
              </a:lnSpc>
              <a:spcBef>
                <a:spcPts val="720"/>
              </a:spcBef>
              <a:buFont typeface="Wingdings"/>
              <a:buChar char=""/>
              <a:tabLst>
                <a:tab pos="196215" algn="l"/>
              </a:tabLst>
            </a:pPr>
            <a:r>
              <a:rPr dirty="0" sz="1200" spc="-5">
                <a:latin typeface="Microsoft YaHei"/>
                <a:cs typeface="Microsoft YaHei"/>
              </a:rPr>
              <a:t>更快速地处理，降低电梯故障处理时限，实现故障处理迅速化。</a:t>
            </a:r>
            <a:endParaRPr sz="1200">
              <a:latin typeface="Microsoft YaHei"/>
              <a:cs typeface="Microsoft YaHei"/>
            </a:endParaRPr>
          </a:p>
          <a:p>
            <a:pPr>
              <a:lnSpc>
                <a:spcPct val="100000"/>
              </a:lnSpc>
              <a:spcBef>
                <a:spcPts val="1175"/>
              </a:spcBef>
              <a:buFont typeface="Wingdings"/>
              <a:buChar char=""/>
            </a:pPr>
            <a:endParaRPr sz="1200">
              <a:latin typeface="Microsoft YaHei"/>
              <a:cs typeface="Microsoft YaHei"/>
            </a:endParaRPr>
          </a:p>
          <a:p>
            <a:pPr marL="789940">
              <a:lnSpc>
                <a:spcPct val="100000"/>
              </a:lnSpc>
            </a:pPr>
            <a:r>
              <a:rPr dirty="0" sz="1200" spc="-10" b="1">
                <a:latin typeface="Microsoft YaHei"/>
                <a:cs typeface="Microsoft YaHei"/>
              </a:rPr>
              <a:t>为维保单位</a:t>
            </a:r>
            <a:endParaRPr sz="1200">
              <a:latin typeface="Microsoft YaHei"/>
              <a:cs typeface="Microsoft YaHei"/>
            </a:endParaRPr>
          </a:p>
          <a:p>
            <a:pPr>
              <a:lnSpc>
                <a:spcPct val="100000"/>
              </a:lnSpc>
              <a:spcBef>
                <a:spcPts val="150"/>
              </a:spcBef>
            </a:pPr>
            <a:endParaRPr sz="1200">
              <a:latin typeface="Microsoft YaHei"/>
              <a:cs typeface="Microsoft YaHei"/>
            </a:endParaRPr>
          </a:p>
          <a:p>
            <a:pPr marL="173355" indent="-160655">
              <a:lnSpc>
                <a:spcPct val="100000"/>
              </a:lnSpc>
              <a:buFont typeface="Wingdings"/>
              <a:buChar char=""/>
              <a:tabLst>
                <a:tab pos="173355" algn="l"/>
              </a:tabLst>
            </a:pPr>
            <a:r>
              <a:rPr dirty="0" sz="1100" spc="-25">
                <a:solidFill>
                  <a:srgbClr val="3D3D3D"/>
                </a:solidFill>
                <a:latin typeface="Microsoft YaHei"/>
                <a:cs typeface="Microsoft YaHei"/>
              </a:rPr>
              <a:t>节约成本，便于合理规划，开展针对性、定期维护。</a:t>
            </a:r>
            <a:endParaRPr sz="1100">
              <a:latin typeface="Microsoft YaHei"/>
              <a:cs typeface="Microsoft YaHei"/>
            </a:endParaRPr>
          </a:p>
        </p:txBody>
      </p:sp>
      <p:sp>
        <p:nvSpPr>
          <p:cNvPr id="6" name="object 6" descr=""/>
          <p:cNvSpPr/>
          <p:nvPr/>
        </p:nvSpPr>
        <p:spPr>
          <a:xfrm>
            <a:off x="754113" y="3931399"/>
            <a:ext cx="336550" cy="210820"/>
          </a:xfrm>
          <a:custGeom>
            <a:avLst/>
            <a:gdLst/>
            <a:ahLst/>
            <a:cxnLst/>
            <a:rect l="l" t="t" r="r" b="b"/>
            <a:pathLst>
              <a:path w="336550" h="210820">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7" name="object 7" descr=""/>
          <p:cNvSpPr txBox="1"/>
          <p:nvPr/>
        </p:nvSpPr>
        <p:spPr>
          <a:xfrm>
            <a:off x="525057" y="3903433"/>
            <a:ext cx="2516505" cy="676275"/>
          </a:xfrm>
          <a:prstGeom prst="rect">
            <a:avLst/>
          </a:prstGeom>
        </p:spPr>
        <p:txBody>
          <a:bodyPr wrap="square" lIns="0" tIns="12700" rIns="0" bIns="0" rtlCol="0" vert="horz">
            <a:spAutoFit/>
          </a:bodyPr>
          <a:lstStyle/>
          <a:p>
            <a:pPr algn="ctr" marR="8255">
              <a:lnSpc>
                <a:spcPct val="100000"/>
              </a:lnSpc>
              <a:spcBef>
                <a:spcPts val="100"/>
              </a:spcBef>
            </a:pPr>
            <a:r>
              <a:rPr dirty="0" sz="1200" spc="-10" b="1">
                <a:latin typeface="Microsoft YaHei"/>
                <a:cs typeface="Microsoft YaHei"/>
              </a:rPr>
              <a:t>为广告客户</a:t>
            </a:r>
            <a:endParaRPr sz="1200">
              <a:latin typeface="Microsoft YaHei"/>
              <a:cs typeface="Microsoft YaHei"/>
            </a:endParaRPr>
          </a:p>
          <a:p>
            <a:pPr>
              <a:lnSpc>
                <a:spcPct val="100000"/>
              </a:lnSpc>
              <a:spcBef>
                <a:spcPts val="30"/>
              </a:spcBef>
            </a:pPr>
            <a:endParaRPr sz="1200">
              <a:latin typeface="Microsoft YaHei"/>
              <a:cs typeface="Microsoft YaHei"/>
            </a:endParaRPr>
          </a:p>
          <a:p>
            <a:pPr marL="173355" indent="-160655">
              <a:lnSpc>
                <a:spcPct val="100000"/>
              </a:lnSpc>
              <a:buFont typeface="Wingdings"/>
              <a:buChar char=""/>
              <a:tabLst>
                <a:tab pos="173355" algn="l"/>
              </a:tabLst>
            </a:pPr>
            <a:r>
              <a:rPr dirty="0" sz="1200" spc="-10">
                <a:solidFill>
                  <a:srgbClr val="3D3D3D"/>
                </a:solidFill>
                <a:latin typeface="Microsoft YaHei"/>
                <a:cs typeface="Microsoft YaHei"/>
              </a:rPr>
              <a:t>产品宣传与推介；品牌价值提升 。</a:t>
            </a:r>
            <a:endParaRPr sz="1200">
              <a:latin typeface="Microsoft YaHei"/>
              <a:cs typeface="Microsoft YaHei"/>
            </a:endParaRPr>
          </a:p>
        </p:txBody>
      </p:sp>
      <p:sp>
        <p:nvSpPr>
          <p:cNvPr id="8" name="object 8" descr=""/>
          <p:cNvSpPr txBox="1"/>
          <p:nvPr/>
        </p:nvSpPr>
        <p:spPr>
          <a:xfrm>
            <a:off x="525056" y="3006237"/>
            <a:ext cx="3675379" cy="528320"/>
          </a:xfrm>
          <a:prstGeom prst="rect">
            <a:avLst/>
          </a:prstGeom>
        </p:spPr>
        <p:txBody>
          <a:bodyPr wrap="square" lIns="0" tIns="96520" rIns="0" bIns="0" rtlCol="0" vert="horz">
            <a:spAutoFit/>
          </a:bodyPr>
          <a:lstStyle/>
          <a:p>
            <a:pPr marL="173355" indent="-160655">
              <a:lnSpc>
                <a:spcPct val="100000"/>
              </a:lnSpc>
              <a:spcBef>
                <a:spcPts val="760"/>
              </a:spcBef>
              <a:buFont typeface="Wingdings"/>
              <a:buChar char=""/>
              <a:tabLst>
                <a:tab pos="173355" algn="l"/>
              </a:tabLst>
            </a:pPr>
            <a:r>
              <a:rPr dirty="0" sz="1100" spc="-25">
                <a:solidFill>
                  <a:srgbClr val="3D3D3D"/>
                </a:solidFill>
                <a:latin typeface="Microsoft YaHei"/>
                <a:cs typeface="Microsoft YaHei"/>
              </a:rPr>
              <a:t>高效率，降低电梯故障处理时限，实现故障处理迅速化。</a:t>
            </a:r>
            <a:endParaRPr sz="1100">
              <a:latin typeface="Microsoft YaHei"/>
              <a:cs typeface="Microsoft YaHei"/>
            </a:endParaRPr>
          </a:p>
          <a:p>
            <a:pPr marL="173355" indent="-160655">
              <a:lnSpc>
                <a:spcPct val="100000"/>
              </a:lnSpc>
              <a:spcBef>
                <a:spcPts val="660"/>
              </a:spcBef>
              <a:buFont typeface="Wingdings"/>
              <a:buChar char=""/>
              <a:tabLst>
                <a:tab pos="173355" algn="l"/>
              </a:tabLst>
            </a:pPr>
            <a:r>
              <a:rPr dirty="0" sz="1100" spc="-25">
                <a:solidFill>
                  <a:srgbClr val="3D3D3D"/>
                </a:solidFill>
                <a:latin typeface="Microsoft YaHei"/>
                <a:cs typeface="Microsoft YaHei"/>
              </a:rPr>
              <a:t>提高维护等级和水平。</a:t>
            </a:r>
            <a:endParaRPr sz="1100">
              <a:latin typeface="Microsoft YaHei"/>
              <a:cs typeface="Microsoft YaHei"/>
            </a:endParaRPr>
          </a:p>
        </p:txBody>
      </p:sp>
      <p:pic>
        <p:nvPicPr>
          <p:cNvPr id="9" name="object 9"/>
          <p:cNvPicPr/>
          <p:nvPr/>
        </p:nvPicPr>
        <p:blipFill>
          <a:blip r:embed="rId2" cstate="print"/>
          <a:stretch>
            <a:fillRect/>
          </a:stretch>
        </p:blipFill>
        <p:spPr>
          <a:xfrm>
            <a:off x="7074137" y="3524694"/>
            <a:ext cx="1860261" cy="1314794"/>
          </a:xfrm>
          <a:prstGeom prst="rect">
            <a:avLst/>
          </a:prstGeom>
        </p:spPr>
      </p:pic>
      <p:grpSp>
        <p:nvGrpSpPr>
          <p:cNvPr id="10" name="object 10" descr=""/>
          <p:cNvGrpSpPr/>
          <p:nvPr/>
        </p:nvGrpSpPr>
        <p:grpSpPr>
          <a:xfrm>
            <a:off x="4315899" y="3181350"/>
            <a:ext cx="4564380" cy="1703705"/>
            <a:chOff x="4315899" y="3181350"/>
            <a:chExt cx="4564380" cy="1703705"/>
          </a:xfrm>
        </p:grpSpPr>
        <p:pic>
          <p:nvPicPr>
            <p:cNvPr id="11" name="object 11"/>
            <p:cNvPicPr/>
            <p:nvPr/>
          </p:nvPicPr>
          <p:blipFill>
            <a:blip r:embed="rId3" cstate="print"/>
            <a:stretch>
              <a:fillRect/>
            </a:stretch>
          </p:blipFill>
          <p:spPr>
            <a:xfrm>
              <a:off x="4315899" y="3181350"/>
              <a:ext cx="2337590" cy="1703361"/>
            </a:xfrm>
            <a:prstGeom prst="rect">
              <a:avLst/>
            </a:prstGeom>
          </p:spPr>
        </p:pic>
        <p:pic>
          <p:nvPicPr>
            <p:cNvPr id="12" name="object 12"/>
            <p:cNvPicPr/>
            <p:nvPr/>
          </p:nvPicPr>
          <p:blipFill>
            <a:blip r:embed="rId4" cstate="print"/>
            <a:stretch>
              <a:fillRect/>
            </a:stretch>
          </p:blipFill>
          <p:spPr>
            <a:xfrm>
              <a:off x="5502351" y="3181350"/>
              <a:ext cx="3377399" cy="216619"/>
            </a:xfrm>
            <a:prstGeom prst="rect">
              <a:avLst/>
            </a:prstGeom>
          </p:spPr>
        </p:pic>
      </p:grpSp>
      <p:sp>
        <p:nvSpPr>
          <p:cNvPr id="13" name="object 13" descr=""/>
          <p:cNvSpPr txBox="1"/>
          <p:nvPr/>
        </p:nvSpPr>
        <p:spPr>
          <a:xfrm>
            <a:off x="8041293" y="3216028"/>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spc="-15" b="1">
                <a:solidFill>
                  <a:srgbClr val="FFFFFF"/>
                </a:solidFill>
                <a:latin typeface="Microsoft YaHei"/>
                <a:cs typeface="Microsoft YaHei"/>
              </a:rPr>
              <a:t>实时监测</a:t>
            </a:r>
            <a:endParaRPr sz="1200">
              <a:latin typeface="Microsoft YaHei"/>
              <a:cs typeface="Microsoft YaHei"/>
            </a:endParaRPr>
          </a:p>
        </p:txBody>
      </p:sp>
      <p:grpSp>
        <p:nvGrpSpPr>
          <p:cNvPr id="14" name="object 14" descr=""/>
          <p:cNvGrpSpPr/>
          <p:nvPr/>
        </p:nvGrpSpPr>
        <p:grpSpPr>
          <a:xfrm>
            <a:off x="5502351" y="848931"/>
            <a:ext cx="3377565" cy="2217420"/>
            <a:chOff x="5502351" y="848931"/>
            <a:chExt cx="3377565" cy="2217420"/>
          </a:xfrm>
        </p:grpSpPr>
        <p:pic>
          <p:nvPicPr>
            <p:cNvPr id="15" name="object 15"/>
            <p:cNvPicPr/>
            <p:nvPr/>
          </p:nvPicPr>
          <p:blipFill>
            <a:blip r:embed="rId5" cstate="print"/>
            <a:stretch>
              <a:fillRect/>
            </a:stretch>
          </p:blipFill>
          <p:spPr>
            <a:xfrm>
              <a:off x="5521021" y="2116670"/>
              <a:ext cx="3358729" cy="949203"/>
            </a:xfrm>
            <a:prstGeom prst="rect">
              <a:avLst/>
            </a:prstGeom>
          </p:spPr>
        </p:pic>
        <p:pic>
          <p:nvPicPr>
            <p:cNvPr id="16" name="object 16"/>
            <p:cNvPicPr/>
            <p:nvPr/>
          </p:nvPicPr>
          <p:blipFill>
            <a:blip r:embed="rId6" cstate="print"/>
            <a:stretch>
              <a:fillRect/>
            </a:stretch>
          </p:blipFill>
          <p:spPr>
            <a:xfrm>
              <a:off x="5502351" y="848931"/>
              <a:ext cx="3377399" cy="1236726"/>
            </a:xfrm>
            <a:prstGeom prst="rect">
              <a:avLst/>
            </a:prstGeom>
          </p:spPr>
        </p:pic>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2197" y="153605"/>
            <a:ext cx="3228340" cy="513080"/>
          </a:xfrm>
          <a:prstGeom prst="rect"/>
        </p:spPr>
        <p:txBody>
          <a:bodyPr wrap="square" lIns="0" tIns="12065" rIns="0" bIns="0" rtlCol="0" vert="horz">
            <a:spAutoFit/>
          </a:bodyPr>
          <a:lstStyle/>
          <a:p>
            <a:pPr marL="12700">
              <a:lnSpc>
                <a:spcPct val="100000"/>
              </a:lnSpc>
              <a:spcBef>
                <a:spcPts val="95"/>
              </a:spcBef>
            </a:pPr>
            <a:r>
              <a:rPr dirty="0" spc="-330"/>
              <a:t>楼宇消防</a:t>
            </a:r>
            <a:r>
              <a:rPr dirty="0" sz="2000" spc="-315" b="0">
                <a:solidFill>
                  <a:srgbClr val="FF0000"/>
                </a:solidFill>
                <a:latin typeface="SimSun"/>
                <a:cs typeface="SimSun"/>
              </a:rPr>
              <a:t>●</a:t>
            </a:r>
            <a:r>
              <a:rPr dirty="0" spc="-270"/>
              <a:t>功能特点</a:t>
            </a:r>
            <a:endParaRPr sz="2000">
              <a:latin typeface="SimSun"/>
              <a:cs typeface="SimSun"/>
            </a:endParaRPr>
          </a:p>
        </p:txBody>
      </p:sp>
      <p:sp>
        <p:nvSpPr>
          <p:cNvPr id="3" name="object 3" descr=""/>
          <p:cNvSpPr txBox="1"/>
          <p:nvPr/>
        </p:nvSpPr>
        <p:spPr>
          <a:xfrm>
            <a:off x="335282" y="817953"/>
            <a:ext cx="5059045" cy="878840"/>
          </a:xfrm>
          <a:prstGeom prst="rect">
            <a:avLst/>
          </a:prstGeom>
        </p:spPr>
        <p:txBody>
          <a:bodyPr wrap="square" lIns="0" tIns="3175" rIns="0" bIns="0" rtlCol="0" vert="horz">
            <a:spAutoFit/>
          </a:bodyPr>
          <a:lstStyle/>
          <a:p>
            <a:pPr marL="12700" marR="5080">
              <a:lnSpc>
                <a:spcPct val="104299"/>
              </a:lnSpc>
              <a:spcBef>
                <a:spcPts val="25"/>
              </a:spcBef>
            </a:pPr>
            <a:r>
              <a:rPr dirty="0" sz="1400" spc="-20">
                <a:latin typeface="SimSun"/>
                <a:cs typeface="SimSun"/>
              </a:rPr>
              <a:t>国家公安部、民政部等六部委于</a:t>
            </a:r>
            <a:r>
              <a:rPr dirty="0" sz="1400">
                <a:latin typeface="Arial MT"/>
                <a:cs typeface="Arial MT"/>
              </a:rPr>
              <a:t>2015</a:t>
            </a:r>
            <a:r>
              <a:rPr dirty="0" sz="1400" spc="-20">
                <a:latin typeface="SimSun"/>
                <a:cs typeface="SimSun"/>
              </a:rPr>
              <a:t>年</a:t>
            </a:r>
            <a:r>
              <a:rPr dirty="0" sz="1400">
                <a:latin typeface="Arial MT"/>
                <a:cs typeface="Arial MT"/>
              </a:rPr>
              <a:t>11</a:t>
            </a:r>
            <a:r>
              <a:rPr dirty="0" sz="1400" spc="-25">
                <a:latin typeface="SimSun"/>
                <a:cs typeface="SimSun"/>
              </a:rPr>
              <a:t>月联合推出《关于积极推动发挥独立式感烟火灾探测报警器火灾防控作用的指导意见》</a:t>
            </a:r>
            <a:endParaRPr sz="1400">
              <a:latin typeface="SimSun"/>
              <a:cs typeface="SimSun"/>
            </a:endParaRPr>
          </a:p>
          <a:p>
            <a:pPr marL="12700" marR="63500">
              <a:lnSpc>
                <a:spcPts val="1610"/>
              </a:lnSpc>
              <a:spcBef>
                <a:spcPts val="110"/>
              </a:spcBef>
            </a:pPr>
            <a:r>
              <a:rPr dirty="0" sz="1400" spc="-20">
                <a:latin typeface="SimSun"/>
                <a:cs typeface="SimSun"/>
              </a:rPr>
              <a:t>。及时发现、及时通知人员撤离并与消防联动是减少伤亡和损</a:t>
            </a:r>
            <a:r>
              <a:rPr dirty="0" sz="1400" spc="-819">
                <a:latin typeface="SimSun"/>
                <a:cs typeface="SimSun"/>
              </a:rPr>
              <a:t>失</a:t>
            </a:r>
            <a:r>
              <a:rPr dirty="0" sz="1400" spc="-25">
                <a:latin typeface="SimSun"/>
                <a:cs typeface="SimSun"/>
              </a:rPr>
              <a:t>的有效途径。</a:t>
            </a:r>
            <a:endParaRPr sz="1400">
              <a:latin typeface="SimSun"/>
              <a:cs typeface="SimSun"/>
            </a:endParaRPr>
          </a:p>
        </p:txBody>
      </p:sp>
      <p:sp>
        <p:nvSpPr>
          <p:cNvPr id="4" name="object 4" descr=""/>
          <p:cNvSpPr/>
          <p:nvPr/>
        </p:nvSpPr>
        <p:spPr>
          <a:xfrm>
            <a:off x="6088329" y="2096592"/>
            <a:ext cx="440690" cy="266700"/>
          </a:xfrm>
          <a:custGeom>
            <a:avLst/>
            <a:gdLst/>
            <a:ahLst/>
            <a:cxnLst/>
            <a:rect l="l" t="t" r="r" b="b"/>
            <a:pathLst>
              <a:path w="440690" h="266700">
                <a:moveTo>
                  <a:pt x="221551" y="0"/>
                </a:moveTo>
                <a:lnTo>
                  <a:pt x="218820" y="0"/>
                </a:lnTo>
                <a:lnTo>
                  <a:pt x="3632" y="86639"/>
                </a:lnTo>
                <a:lnTo>
                  <a:pt x="1358" y="87502"/>
                </a:lnTo>
                <a:lnTo>
                  <a:pt x="0" y="89230"/>
                </a:lnTo>
                <a:lnTo>
                  <a:pt x="0" y="131686"/>
                </a:lnTo>
                <a:lnTo>
                  <a:pt x="3192" y="133959"/>
                </a:lnTo>
                <a:lnTo>
                  <a:pt x="19964" y="133959"/>
                </a:lnTo>
                <a:lnTo>
                  <a:pt x="19964" y="183972"/>
                </a:lnTo>
                <a:lnTo>
                  <a:pt x="3175" y="183972"/>
                </a:lnTo>
                <a:lnTo>
                  <a:pt x="0" y="186232"/>
                </a:lnTo>
                <a:lnTo>
                  <a:pt x="0" y="217131"/>
                </a:lnTo>
                <a:lnTo>
                  <a:pt x="3175" y="219290"/>
                </a:lnTo>
                <a:lnTo>
                  <a:pt x="19964" y="219290"/>
                </a:lnTo>
                <a:lnTo>
                  <a:pt x="19964" y="264223"/>
                </a:lnTo>
                <a:lnTo>
                  <a:pt x="23139" y="266496"/>
                </a:lnTo>
                <a:lnTo>
                  <a:pt x="98145" y="266496"/>
                </a:lnTo>
                <a:lnTo>
                  <a:pt x="101320" y="264223"/>
                </a:lnTo>
                <a:lnTo>
                  <a:pt x="101320" y="256336"/>
                </a:lnTo>
                <a:lnTo>
                  <a:pt x="34175" y="256336"/>
                </a:lnTo>
                <a:lnTo>
                  <a:pt x="34175" y="211505"/>
                </a:lnTo>
                <a:lnTo>
                  <a:pt x="31000" y="209245"/>
                </a:lnTo>
                <a:lnTo>
                  <a:pt x="14058" y="209245"/>
                </a:lnTo>
                <a:lnTo>
                  <a:pt x="14058" y="194119"/>
                </a:lnTo>
                <a:lnTo>
                  <a:pt x="31000" y="194119"/>
                </a:lnTo>
                <a:lnTo>
                  <a:pt x="34175" y="191846"/>
                </a:lnTo>
                <a:lnTo>
                  <a:pt x="34175" y="126187"/>
                </a:lnTo>
                <a:lnTo>
                  <a:pt x="34362" y="126187"/>
                </a:lnTo>
                <a:lnTo>
                  <a:pt x="31019" y="123913"/>
                </a:lnTo>
                <a:lnTo>
                  <a:pt x="14058" y="123913"/>
                </a:lnTo>
                <a:lnTo>
                  <a:pt x="14058" y="93979"/>
                </a:lnTo>
                <a:lnTo>
                  <a:pt x="220192" y="11023"/>
                </a:lnTo>
                <a:lnTo>
                  <a:pt x="248952" y="11023"/>
                </a:lnTo>
                <a:lnTo>
                  <a:pt x="221551" y="0"/>
                </a:lnTo>
                <a:close/>
              </a:path>
              <a:path w="440690" h="266700">
                <a:moveTo>
                  <a:pt x="299668" y="95491"/>
                </a:moveTo>
                <a:lnTo>
                  <a:pt x="230174" y="95491"/>
                </a:lnTo>
                <a:lnTo>
                  <a:pt x="255990" y="96493"/>
                </a:lnTo>
                <a:lnTo>
                  <a:pt x="255519" y="96493"/>
                </a:lnTo>
                <a:lnTo>
                  <a:pt x="284665" y="100879"/>
                </a:lnTo>
                <a:lnTo>
                  <a:pt x="308957" y="110943"/>
                </a:lnTo>
                <a:lnTo>
                  <a:pt x="319004" y="128733"/>
                </a:lnTo>
                <a:lnTo>
                  <a:pt x="319087" y="131686"/>
                </a:lnTo>
                <a:lnTo>
                  <a:pt x="322280" y="133959"/>
                </a:lnTo>
                <a:lnTo>
                  <a:pt x="339204" y="133959"/>
                </a:lnTo>
                <a:lnTo>
                  <a:pt x="339204" y="183972"/>
                </a:lnTo>
                <a:lnTo>
                  <a:pt x="322262" y="183972"/>
                </a:lnTo>
                <a:lnTo>
                  <a:pt x="319087" y="186232"/>
                </a:lnTo>
                <a:lnTo>
                  <a:pt x="319087" y="217131"/>
                </a:lnTo>
                <a:lnTo>
                  <a:pt x="322262" y="219290"/>
                </a:lnTo>
                <a:lnTo>
                  <a:pt x="339204" y="219290"/>
                </a:lnTo>
                <a:lnTo>
                  <a:pt x="339204" y="264223"/>
                </a:lnTo>
                <a:lnTo>
                  <a:pt x="342379" y="266496"/>
                </a:lnTo>
                <a:lnTo>
                  <a:pt x="417245" y="266496"/>
                </a:lnTo>
                <a:lnTo>
                  <a:pt x="420420" y="264223"/>
                </a:lnTo>
                <a:lnTo>
                  <a:pt x="420420" y="256336"/>
                </a:lnTo>
                <a:lnTo>
                  <a:pt x="353275" y="256336"/>
                </a:lnTo>
                <a:lnTo>
                  <a:pt x="353275" y="211505"/>
                </a:lnTo>
                <a:lnTo>
                  <a:pt x="350088" y="209245"/>
                </a:lnTo>
                <a:lnTo>
                  <a:pt x="333311" y="209245"/>
                </a:lnTo>
                <a:lnTo>
                  <a:pt x="333311" y="194119"/>
                </a:lnTo>
                <a:lnTo>
                  <a:pt x="350088" y="194119"/>
                </a:lnTo>
                <a:lnTo>
                  <a:pt x="353275" y="191846"/>
                </a:lnTo>
                <a:lnTo>
                  <a:pt x="353275" y="126187"/>
                </a:lnTo>
                <a:lnTo>
                  <a:pt x="353463" y="126187"/>
                </a:lnTo>
                <a:lnTo>
                  <a:pt x="350106" y="123913"/>
                </a:lnTo>
                <a:lnTo>
                  <a:pt x="332863" y="123913"/>
                </a:lnTo>
                <a:lnTo>
                  <a:pt x="318492" y="103265"/>
                </a:lnTo>
                <a:lnTo>
                  <a:pt x="299668" y="95491"/>
                </a:lnTo>
                <a:close/>
              </a:path>
              <a:path w="440690" h="266700">
                <a:moveTo>
                  <a:pt x="258282" y="86639"/>
                </a:moveTo>
                <a:lnTo>
                  <a:pt x="182252" y="86639"/>
                </a:lnTo>
                <a:lnTo>
                  <a:pt x="150096" y="91671"/>
                </a:lnTo>
                <a:lnTo>
                  <a:pt x="121974" y="103265"/>
                </a:lnTo>
                <a:lnTo>
                  <a:pt x="107509" y="123913"/>
                </a:lnTo>
                <a:lnTo>
                  <a:pt x="90265" y="123913"/>
                </a:lnTo>
                <a:lnTo>
                  <a:pt x="86922" y="126187"/>
                </a:lnTo>
                <a:lnTo>
                  <a:pt x="87109" y="126187"/>
                </a:lnTo>
                <a:lnTo>
                  <a:pt x="87109" y="191846"/>
                </a:lnTo>
                <a:lnTo>
                  <a:pt x="90284" y="194119"/>
                </a:lnTo>
                <a:lnTo>
                  <a:pt x="107213" y="194119"/>
                </a:lnTo>
                <a:lnTo>
                  <a:pt x="107213" y="209245"/>
                </a:lnTo>
                <a:lnTo>
                  <a:pt x="90284" y="209245"/>
                </a:lnTo>
                <a:lnTo>
                  <a:pt x="87109" y="211505"/>
                </a:lnTo>
                <a:lnTo>
                  <a:pt x="87109" y="256336"/>
                </a:lnTo>
                <a:lnTo>
                  <a:pt x="101320" y="256336"/>
                </a:lnTo>
                <a:lnTo>
                  <a:pt x="101320" y="219290"/>
                </a:lnTo>
                <a:lnTo>
                  <a:pt x="118110" y="219290"/>
                </a:lnTo>
                <a:lnTo>
                  <a:pt x="121285" y="217131"/>
                </a:lnTo>
                <a:lnTo>
                  <a:pt x="121285" y="186232"/>
                </a:lnTo>
                <a:lnTo>
                  <a:pt x="118110" y="183972"/>
                </a:lnTo>
                <a:lnTo>
                  <a:pt x="101320" y="183972"/>
                </a:lnTo>
                <a:lnTo>
                  <a:pt x="101320" y="133959"/>
                </a:lnTo>
                <a:lnTo>
                  <a:pt x="118092" y="133959"/>
                </a:lnTo>
                <a:lnTo>
                  <a:pt x="121285" y="131686"/>
                </a:lnTo>
                <a:lnTo>
                  <a:pt x="121318" y="128733"/>
                </a:lnTo>
                <a:lnTo>
                  <a:pt x="123337" y="119935"/>
                </a:lnTo>
                <a:lnTo>
                  <a:pt x="170098" y="98229"/>
                </a:lnTo>
                <a:lnTo>
                  <a:pt x="198907" y="95707"/>
                </a:lnTo>
                <a:lnTo>
                  <a:pt x="198164" y="95707"/>
                </a:lnTo>
                <a:lnTo>
                  <a:pt x="210210" y="95491"/>
                </a:lnTo>
                <a:lnTo>
                  <a:pt x="299668" y="95491"/>
                </a:lnTo>
                <a:lnTo>
                  <a:pt x="290420" y="91671"/>
                </a:lnTo>
                <a:lnTo>
                  <a:pt x="258282" y="86639"/>
                </a:lnTo>
                <a:close/>
              </a:path>
              <a:path w="440690" h="266700">
                <a:moveTo>
                  <a:pt x="248952" y="11023"/>
                </a:moveTo>
                <a:lnTo>
                  <a:pt x="220192" y="11023"/>
                </a:lnTo>
                <a:lnTo>
                  <a:pt x="426313" y="93979"/>
                </a:lnTo>
                <a:lnTo>
                  <a:pt x="426313" y="123913"/>
                </a:lnTo>
                <a:lnTo>
                  <a:pt x="409354" y="123913"/>
                </a:lnTo>
                <a:lnTo>
                  <a:pt x="406171" y="126187"/>
                </a:lnTo>
                <a:lnTo>
                  <a:pt x="406349" y="126187"/>
                </a:lnTo>
                <a:lnTo>
                  <a:pt x="406349" y="191846"/>
                </a:lnTo>
                <a:lnTo>
                  <a:pt x="409371" y="194119"/>
                </a:lnTo>
                <a:lnTo>
                  <a:pt x="426313" y="194119"/>
                </a:lnTo>
                <a:lnTo>
                  <a:pt x="426313" y="209245"/>
                </a:lnTo>
                <a:lnTo>
                  <a:pt x="409371" y="209245"/>
                </a:lnTo>
                <a:lnTo>
                  <a:pt x="406349" y="211505"/>
                </a:lnTo>
                <a:lnTo>
                  <a:pt x="406349" y="256336"/>
                </a:lnTo>
                <a:lnTo>
                  <a:pt x="420420" y="256336"/>
                </a:lnTo>
                <a:lnTo>
                  <a:pt x="420420" y="219290"/>
                </a:lnTo>
                <a:lnTo>
                  <a:pt x="437349" y="219290"/>
                </a:lnTo>
                <a:lnTo>
                  <a:pt x="440372" y="217131"/>
                </a:lnTo>
                <a:lnTo>
                  <a:pt x="440372" y="186232"/>
                </a:lnTo>
                <a:lnTo>
                  <a:pt x="437349" y="183972"/>
                </a:lnTo>
                <a:lnTo>
                  <a:pt x="420420" y="183972"/>
                </a:lnTo>
                <a:lnTo>
                  <a:pt x="420420" y="133959"/>
                </a:lnTo>
                <a:lnTo>
                  <a:pt x="437332" y="133959"/>
                </a:lnTo>
                <a:lnTo>
                  <a:pt x="440372" y="131686"/>
                </a:lnTo>
                <a:lnTo>
                  <a:pt x="440372" y="89230"/>
                </a:lnTo>
                <a:lnTo>
                  <a:pt x="439013" y="87502"/>
                </a:lnTo>
                <a:lnTo>
                  <a:pt x="248952" y="11023"/>
                </a:lnTo>
                <a:close/>
              </a:path>
              <a:path w="440690" h="266700">
                <a:moveTo>
                  <a:pt x="75768" y="123913"/>
                </a:moveTo>
                <a:lnTo>
                  <a:pt x="45516" y="123913"/>
                </a:lnTo>
                <a:lnTo>
                  <a:pt x="42173" y="126187"/>
                </a:lnTo>
                <a:lnTo>
                  <a:pt x="42341" y="126187"/>
                </a:lnTo>
                <a:lnTo>
                  <a:pt x="42359" y="191846"/>
                </a:lnTo>
                <a:lnTo>
                  <a:pt x="45534" y="194119"/>
                </a:lnTo>
                <a:lnTo>
                  <a:pt x="75750" y="194119"/>
                </a:lnTo>
                <a:lnTo>
                  <a:pt x="78925" y="191846"/>
                </a:lnTo>
                <a:lnTo>
                  <a:pt x="78943" y="183972"/>
                </a:lnTo>
                <a:lnTo>
                  <a:pt x="56553" y="183972"/>
                </a:lnTo>
                <a:lnTo>
                  <a:pt x="56553" y="133959"/>
                </a:lnTo>
                <a:lnTo>
                  <a:pt x="78943" y="133959"/>
                </a:lnTo>
                <a:lnTo>
                  <a:pt x="78943" y="126187"/>
                </a:lnTo>
                <a:lnTo>
                  <a:pt x="75768" y="123913"/>
                </a:lnTo>
                <a:close/>
              </a:path>
              <a:path w="440690" h="266700">
                <a:moveTo>
                  <a:pt x="394855" y="123913"/>
                </a:moveTo>
                <a:lnTo>
                  <a:pt x="364769" y="123913"/>
                </a:lnTo>
                <a:lnTo>
                  <a:pt x="361426" y="126187"/>
                </a:lnTo>
                <a:lnTo>
                  <a:pt x="361594" y="126187"/>
                </a:lnTo>
                <a:lnTo>
                  <a:pt x="361612" y="191846"/>
                </a:lnTo>
                <a:lnTo>
                  <a:pt x="364787" y="194119"/>
                </a:lnTo>
                <a:lnTo>
                  <a:pt x="394837" y="194119"/>
                </a:lnTo>
                <a:lnTo>
                  <a:pt x="398012" y="191846"/>
                </a:lnTo>
                <a:lnTo>
                  <a:pt x="398030" y="183972"/>
                </a:lnTo>
                <a:lnTo>
                  <a:pt x="375653" y="183972"/>
                </a:lnTo>
                <a:lnTo>
                  <a:pt x="375653" y="133959"/>
                </a:lnTo>
                <a:lnTo>
                  <a:pt x="398030" y="133959"/>
                </a:lnTo>
                <a:lnTo>
                  <a:pt x="398030" y="126187"/>
                </a:lnTo>
                <a:lnTo>
                  <a:pt x="394855" y="123913"/>
                </a:lnTo>
                <a:close/>
              </a:path>
              <a:path w="440690" h="266700">
                <a:moveTo>
                  <a:pt x="217309" y="114604"/>
                </a:moveTo>
                <a:lnTo>
                  <a:pt x="216103" y="114604"/>
                </a:lnTo>
                <a:lnTo>
                  <a:pt x="195220" y="116545"/>
                </a:lnTo>
                <a:lnTo>
                  <a:pt x="168001" y="120978"/>
                </a:lnTo>
                <a:lnTo>
                  <a:pt x="144383" y="128733"/>
                </a:lnTo>
                <a:lnTo>
                  <a:pt x="134302" y="140639"/>
                </a:lnTo>
                <a:lnTo>
                  <a:pt x="134302" y="189382"/>
                </a:lnTo>
                <a:lnTo>
                  <a:pt x="137477" y="191541"/>
                </a:lnTo>
                <a:lnTo>
                  <a:pt x="295922" y="191541"/>
                </a:lnTo>
                <a:lnTo>
                  <a:pt x="299097" y="189382"/>
                </a:lnTo>
                <a:lnTo>
                  <a:pt x="299097" y="181482"/>
                </a:lnTo>
                <a:lnTo>
                  <a:pt x="148361" y="181482"/>
                </a:lnTo>
                <a:lnTo>
                  <a:pt x="148361" y="140639"/>
                </a:lnTo>
                <a:lnTo>
                  <a:pt x="154488" y="135773"/>
                </a:lnTo>
                <a:lnTo>
                  <a:pt x="170395" y="131121"/>
                </a:lnTo>
                <a:lnTo>
                  <a:pt x="192370" y="127259"/>
                </a:lnTo>
                <a:lnTo>
                  <a:pt x="216700" y="124764"/>
                </a:lnTo>
                <a:lnTo>
                  <a:pt x="276933" y="124764"/>
                </a:lnTo>
                <a:lnTo>
                  <a:pt x="265404" y="120978"/>
                </a:lnTo>
                <a:lnTo>
                  <a:pt x="238190" y="116545"/>
                </a:lnTo>
                <a:lnTo>
                  <a:pt x="217309" y="114604"/>
                </a:lnTo>
                <a:close/>
              </a:path>
              <a:path w="440690" h="266700">
                <a:moveTo>
                  <a:pt x="78943" y="133959"/>
                </a:moveTo>
                <a:lnTo>
                  <a:pt x="64719" y="133959"/>
                </a:lnTo>
                <a:lnTo>
                  <a:pt x="64719" y="183972"/>
                </a:lnTo>
                <a:lnTo>
                  <a:pt x="78943" y="183972"/>
                </a:lnTo>
                <a:lnTo>
                  <a:pt x="78943" y="133959"/>
                </a:lnTo>
                <a:close/>
              </a:path>
              <a:path w="440690" h="266700">
                <a:moveTo>
                  <a:pt x="398030" y="133959"/>
                </a:moveTo>
                <a:lnTo>
                  <a:pt x="383971" y="133959"/>
                </a:lnTo>
                <a:lnTo>
                  <a:pt x="383971" y="183972"/>
                </a:lnTo>
                <a:lnTo>
                  <a:pt x="398030" y="183972"/>
                </a:lnTo>
                <a:lnTo>
                  <a:pt x="398030" y="133959"/>
                </a:lnTo>
                <a:close/>
              </a:path>
              <a:path w="440690" h="266700">
                <a:moveTo>
                  <a:pt x="276933" y="124764"/>
                </a:moveTo>
                <a:lnTo>
                  <a:pt x="216700" y="124764"/>
                </a:lnTo>
                <a:lnTo>
                  <a:pt x="241111" y="127259"/>
                </a:lnTo>
                <a:lnTo>
                  <a:pt x="263134" y="131121"/>
                </a:lnTo>
                <a:lnTo>
                  <a:pt x="278964" y="135773"/>
                </a:lnTo>
                <a:lnTo>
                  <a:pt x="285038" y="140639"/>
                </a:lnTo>
                <a:lnTo>
                  <a:pt x="285038" y="181482"/>
                </a:lnTo>
                <a:lnTo>
                  <a:pt x="299097" y="181482"/>
                </a:lnTo>
                <a:lnTo>
                  <a:pt x="299097" y="140639"/>
                </a:lnTo>
                <a:lnTo>
                  <a:pt x="289142" y="128879"/>
                </a:lnTo>
                <a:lnTo>
                  <a:pt x="289018" y="128733"/>
                </a:lnTo>
                <a:lnTo>
                  <a:pt x="276933" y="124764"/>
                </a:lnTo>
                <a:close/>
              </a:path>
              <a:path w="440690" h="266700">
                <a:moveTo>
                  <a:pt x="224421" y="95491"/>
                </a:moveTo>
                <a:lnTo>
                  <a:pt x="216103" y="95491"/>
                </a:lnTo>
                <a:lnTo>
                  <a:pt x="219735" y="95707"/>
                </a:lnTo>
                <a:lnTo>
                  <a:pt x="220941" y="95707"/>
                </a:lnTo>
                <a:lnTo>
                  <a:pt x="224421" y="95491"/>
                </a:lnTo>
                <a:close/>
              </a:path>
              <a:path w="440690" h="266700">
                <a:moveTo>
                  <a:pt x="230174" y="85445"/>
                </a:moveTo>
                <a:lnTo>
                  <a:pt x="210362" y="85445"/>
                </a:lnTo>
                <a:lnTo>
                  <a:pt x="181154" y="86639"/>
                </a:lnTo>
                <a:lnTo>
                  <a:pt x="259380" y="86639"/>
                </a:lnTo>
                <a:lnTo>
                  <a:pt x="230174" y="85445"/>
                </a:lnTo>
                <a:close/>
              </a:path>
            </a:pathLst>
          </a:custGeom>
          <a:solidFill>
            <a:srgbClr val="BBE0E3"/>
          </a:solidFill>
        </p:spPr>
        <p:txBody>
          <a:bodyPr wrap="square" lIns="0" tIns="0" rIns="0" bIns="0" rtlCol="0"/>
          <a:lstStyle/>
          <a:p/>
        </p:txBody>
      </p:sp>
      <p:sp>
        <p:nvSpPr>
          <p:cNvPr id="5" name="object 5" descr=""/>
          <p:cNvSpPr/>
          <p:nvPr/>
        </p:nvSpPr>
        <p:spPr>
          <a:xfrm>
            <a:off x="6088326" y="2505335"/>
            <a:ext cx="421005" cy="315595"/>
          </a:xfrm>
          <a:custGeom>
            <a:avLst/>
            <a:gdLst/>
            <a:ahLst/>
            <a:cxnLst/>
            <a:rect l="l" t="t" r="r" b="b"/>
            <a:pathLst>
              <a:path w="421004" h="315594">
                <a:moveTo>
                  <a:pt x="72148" y="141770"/>
                </a:moveTo>
                <a:lnTo>
                  <a:pt x="6007" y="157505"/>
                </a:lnTo>
                <a:lnTo>
                  <a:pt x="3035" y="158940"/>
                </a:lnTo>
                <a:lnTo>
                  <a:pt x="0" y="161810"/>
                </a:lnTo>
                <a:lnTo>
                  <a:pt x="0" y="312191"/>
                </a:lnTo>
                <a:lnTo>
                  <a:pt x="4000" y="315048"/>
                </a:lnTo>
                <a:lnTo>
                  <a:pt x="416902" y="315048"/>
                </a:lnTo>
                <a:lnTo>
                  <a:pt x="420966" y="312191"/>
                </a:lnTo>
                <a:lnTo>
                  <a:pt x="420966" y="300697"/>
                </a:lnTo>
                <a:lnTo>
                  <a:pt x="20027" y="300697"/>
                </a:lnTo>
                <a:lnTo>
                  <a:pt x="20027" y="169684"/>
                </a:lnTo>
                <a:lnTo>
                  <a:pt x="73190" y="156819"/>
                </a:lnTo>
                <a:lnTo>
                  <a:pt x="78155" y="155384"/>
                </a:lnTo>
                <a:lnTo>
                  <a:pt x="81203" y="151790"/>
                </a:lnTo>
                <a:lnTo>
                  <a:pt x="79197" y="147497"/>
                </a:lnTo>
                <a:lnTo>
                  <a:pt x="77190" y="143941"/>
                </a:lnTo>
                <a:lnTo>
                  <a:pt x="72148" y="141770"/>
                </a:lnTo>
                <a:close/>
              </a:path>
              <a:path w="421004" h="315594">
                <a:moveTo>
                  <a:pt x="348754" y="142506"/>
                </a:moveTo>
                <a:lnTo>
                  <a:pt x="342747" y="144627"/>
                </a:lnTo>
                <a:lnTo>
                  <a:pt x="338734" y="151790"/>
                </a:lnTo>
                <a:lnTo>
                  <a:pt x="341769" y="156082"/>
                </a:lnTo>
                <a:lnTo>
                  <a:pt x="346748" y="157505"/>
                </a:lnTo>
                <a:lnTo>
                  <a:pt x="399910" y="170433"/>
                </a:lnTo>
                <a:lnTo>
                  <a:pt x="399910" y="300697"/>
                </a:lnTo>
                <a:lnTo>
                  <a:pt x="420966" y="300697"/>
                </a:lnTo>
                <a:lnTo>
                  <a:pt x="420966" y="161810"/>
                </a:lnTo>
                <a:lnTo>
                  <a:pt x="417931" y="158940"/>
                </a:lnTo>
                <a:lnTo>
                  <a:pt x="413931" y="158241"/>
                </a:lnTo>
                <a:lnTo>
                  <a:pt x="353783" y="143941"/>
                </a:lnTo>
                <a:lnTo>
                  <a:pt x="348754" y="142506"/>
                </a:lnTo>
                <a:close/>
              </a:path>
              <a:path w="421004" h="315594">
                <a:moveTo>
                  <a:pt x="246557" y="229120"/>
                </a:moveTo>
                <a:lnTo>
                  <a:pt x="174409" y="229120"/>
                </a:lnTo>
                <a:lnTo>
                  <a:pt x="170408" y="231990"/>
                </a:lnTo>
                <a:lnTo>
                  <a:pt x="170408" y="290677"/>
                </a:lnTo>
                <a:lnTo>
                  <a:pt x="174409" y="293547"/>
                </a:lnTo>
                <a:lnTo>
                  <a:pt x="186423" y="293547"/>
                </a:lnTo>
                <a:lnTo>
                  <a:pt x="190436" y="290677"/>
                </a:lnTo>
                <a:lnTo>
                  <a:pt x="190436" y="243433"/>
                </a:lnTo>
                <a:lnTo>
                  <a:pt x="250558" y="243433"/>
                </a:lnTo>
                <a:lnTo>
                  <a:pt x="250558" y="231990"/>
                </a:lnTo>
                <a:lnTo>
                  <a:pt x="246557" y="229120"/>
                </a:lnTo>
                <a:close/>
              </a:path>
              <a:path w="421004" h="315594">
                <a:moveTo>
                  <a:pt x="250558" y="243433"/>
                </a:moveTo>
                <a:lnTo>
                  <a:pt x="230543" y="243433"/>
                </a:lnTo>
                <a:lnTo>
                  <a:pt x="230543" y="290677"/>
                </a:lnTo>
                <a:lnTo>
                  <a:pt x="234543" y="293547"/>
                </a:lnTo>
                <a:lnTo>
                  <a:pt x="246557" y="293547"/>
                </a:lnTo>
                <a:lnTo>
                  <a:pt x="250558" y="290677"/>
                </a:lnTo>
                <a:lnTo>
                  <a:pt x="250558" y="243433"/>
                </a:lnTo>
                <a:close/>
              </a:path>
              <a:path w="421004" h="315594">
                <a:moveTo>
                  <a:pt x="216471" y="0"/>
                </a:moveTo>
                <a:lnTo>
                  <a:pt x="204457" y="0"/>
                </a:lnTo>
                <a:lnTo>
                  <a:pt x="200444" y="2870"/>
                </a:lnTo>
                <a:lnTo>
                  <a:pt x="200444" y="28663"/>
                </a:lnTo>
                <a:lnTo>
                  <a:pt x="153334" y="36625"/>
                </a:lnTo>
                <a:lnTo>
                  <a:pt x="115133" y="53787"/>
                </a:lnTo>
                <a:lnTo>
                  <a:pt x="89517" y="78070"/>
                </a:lnTo>
                <a:lnTo>
                  <a:pt x="80162" y="107391"/>
                </a:lnTo>
                <a:lnTo>
                  <a:pt x="80162" y="111683"/>
                </a:lnTo>
                <a:lnTo>
                  <a:pt x="84162" y="114541"/>
                </a:lnTo>
                <a:lnTo>
                  <a:pt x="100253" y="114541"/>
                </a:lnTo>
                <a:lnTo>
                  <a:pt x="100253" y="283540"/>
                </a:lnTo>
                <a:lnTo>
                  <a:pt x="104254" y="286397"/>
                </a:lnTo>
                <a:lnTo>
                  <a:pt x="116268" y="286397"/>
                </a:lnTo>
                <a:lnTo>
                  <a:pt x="120281" y="283540"/>
                </a:lnTo>
                <a:lnTo>
                  <a:pt x="120281" y="103098"/>
                </a:lnTo>
                <a:lnTo>
                  <a:pt x="116268" y="100241"/>
                </a:lnTo>
                <a:lnTo>
                  <a:pt x="101219" y="100241"/>
                </a:lnTo>
                <a:lnTo>
                  <a:pt x="112927" y="77698"/>
                </a:lnTo>
                <a:lnTo>
                  <a:pt x="137039" y="59520"/>
                </a:lnTo>
                <a:lnTo>
                  <a:pt x="170552" y="47382"/>
                </a:lnTo>
                <a:lnTo>
                  <a:pt x="210464" y="42964"/>
                </a:lnTo>
                <a:lnTo>
                  <a:pt x="281720" y="42964"/>
                </a:lnTo>
                <a:lnTo>
                  <a:pt x="267610" y="36625"/>
                </a:lnTo>
                <a:lnTo>
                  <a:pt x="220472" y="28663"/>
                </a:lnTo>
                <a:lnTo>
                  <a:pt x="220472" y="2870"/>
                </a:lnTo>
                <a:lnTo>
                  <a:pt x="216471" y="0"/>
                </a:lnTo>
                <a:close/>
              </a:path>
              <a:path w="421004" h="315594">
                <a:moveTo>
                  <a:pt x="281720" y="42964"/>
                </a:moveTo>
                <a:lnTo>
                  <a:pt x="210464" y="42964"/>
                </a:lnTo>
                <a:lnTo>
                  <a:pt x="250368" y="47382"/>
                </a:lnTo>
                <a:lnTo>
                  <a:pt x="283878" y="59520"/>
                </a:lnTo>
                <a:lnTo>
                  <a:pt x="307989" y="77698"/>
                </a:lnTo>
                <a:lnTo>
                  <a:pt x="319697" y="100241"/>
                </a:lnTo>
                <a:lnTo>
                  <a:pt x="304711" y="100241"/>
                </a:lnTo>
                <a:lnTo>
                  <a:pt x="300710" y="103098"/>
                </a:lnTo>
                <a:lnTo>
                  <a:pt x="300710" y="283540"/>
                </a:lnTo>
                <a:lnTo>
                  <a:pt x="304711" y="286397"/>
                </a:lnTo>
                <a:lnTo>
                  <a:pt x="316725" y="286397"/>
                </a:lnTo>
                <a:lnTo>
                  <a:pt x="320738" y="283540"/>
                </a:lnTo>
                <a:lnTo>
                  <a:pt x="320738" y="114541"/>
                </a:lnTo>
                <a:lnTo>
                  <a:pt x="336753" y="114541"/>
                </a:lnTo>
                <a:lnTo>
                  <a:pt x="340766" y="111683"/>
                </a:lnTo>
                <a:lnTo>
                  <a:pt x="340766" y="107391"/>
                </a:lnTo>
                <a:lnTo>
                  <a:pt x="331418" y="78070"/>
                </a:lnTo>
                <a:lnTo>
                  <a:pt x="305812" y="53787"/>
                </a:lnTo>
                <a:lnTo>
                  <a:pt x="281720" y="42964"/>
                </a:lnTo>
                <a:close/>
              </a:path>
              <a:path w="421004" h="315594">
                <a:moveTo>
                  <a:pt x="66116" y="236270"/>
                </a:moveTo>
                <a:lnTo>
                  <a:pt x="54102" y="236270"/>
                </a:lnTo>
                <a:lnTo>
                  <a:pt x="50088" y="239128"/>
                </a:lnTo>
                <a:lnTo>
                  <a:pt x="50088" y="262064"/>
                </a:lnTo>
                <a:lnTo>
                  <a:pt x="54102" y="264921"/>
                </a:lnTo>
                <a:lnTo>
                  <a:pt x="66116" y="264921"/>
                </a:lnTo>
                <a:lnTo>
                  <a:pt x="70116" y="262064"/>
                </a:lnTo>
                <a:lnTo>
                  <a:pt x="70116" y="239128"/>
                </a:lnTo>
                <a:lnTo>
                  <a:pt x="66116" y="236270"/>
                </a:lnTo>
                <a:close/>
              </a:path>
              <a:path w="421004" h="315594">
                <a:moveTo>
                  <a:pt x="366864" y="236270"/>
                </a:moveTo>
                <a:lnTo>
                  <a:pt x="354825" y="236270"/>
                </a:lnTo>
                <a:lnTo>
                  <a:pt x="350748" y="239128"/>
                </a:lnTo>
                <a:lnTo>
                  <a:pt x="350748" y="262064"/>
                </a:lnTo>
                <a:lnTo>
                  <a:pt x="354825" y="264921"/>
                </a:lnTo>
                <a:lnTo>
                  <a:pt x="366864" y="264921"/>
                </a:lnTo>
                <a:lnTo>
                  <a:pt x="370878" y="262064"/>
                </a:lnTo>
                <a:lnTo>
                  <a:pt x="370878" y="239128"/>
                </a:lnTo>
                <a:lnTo>
                  <a:pt x="366864" y="236270"/>
                </a:lnTo>
                <a:close/>
              </a:path>
              <a:path w="421004" h="315594">
                <a:moveTo>
                  <a:pt x="66116" y="186181"/>
                </a:moveTo>
                <a:lnTo>
                  <a:pt x="54102" y="186181"/>
                </a:lnTo>
                <a:lnTo>
                  <a:pt x="50088" y="189039"/>
                </a:lnTo>
                <a:lnTo>
                  <a:pt x="50088" y="211924"/>
                </a:lnTo>
                <a:lnTo>
                  <a:pt x="54102" y="214833"/>
                </a:lnTo>
                <a:lnTo>
                  <a:pt x="66116" y="214833"/>
                </a:lnTo>
                <a:lnTo>
                  <a:pt x="70116" y="211924"/>
                </a:lnTo>
                <a:lnTo>
                  <a:pt x="70116" y="189039"/>
                </a:lnTo>
                <a:lnTo>
                  <a:pt x="66116" y="186181"/>
                </a:lnTo>
                <a:close/>
              </a:path>
              <a:path w="421004" h="315594">
                <a:moveTo>
                  <a:pt x="166408" y="186181"/>
                </a:moveTo>
                <a:lnTo>
                  <a:pt x="154330" y="186181"/>
                </a:lnTo>
                <a:lnTo>
                  <a:pt x="150329" y="189039"/>
                </a:lnTo>
                <a:lnTo>
                  <a:pt x="150329" y="211924"/>
                </a:lnTo>
                <a:lnTo>
                  <a:pt x="154330" y="214833"/>
                </a:lnTo>
                <a:lnTo>
                  <a:pt x="166408" y="214833"/>
                </a:lnTo>
                <a:lnTo>
                  <a:pt x="170408" y="211924"/>
                </a:lnTo>
                <a:lnTo>
                  <a:pt x="170408" y="189039"/>
                </a:lnTo>
                <a:lnTo>
                  <a:pt x="166408" y="186181"/>
                </a:lnTo>
                <a:close/>
              </a:path>
              <a:path w="421004" h="315594">
                <a:moveTo>
                  <a:pt x="216446" y="186181"/>
                </a:moveTo>
                <a:lnTo>
                  <a:pt x="204431" y="186181"/>
                </a:lnTo>
                <a:lnTo>
                  <a:pt x="200418" y="189039"/>
                </a:lnTo>
                <a:lnTo>
                  <a:pt x="200418" y="211924"/>
                </a:lnTo>
                <a:lnTo>
                  <a:pt x="204431" y="214833"/>
                </a:lnTo>
                <a:lnTo>
                  <a:pt x="216446" y="214833"/>
                </a:lnTo>
                <a:lnTo>
                  <a:pt x="220446" y="211924"/>
                </a:lnTo>
                <a:lnTo>
                  <a:pt x="220446" y="189039"/>
                </a:lnTo>
                <a:lnTo>
                  <a:pt x="216446" y="186181"/>
                </a:lnTo>
                <a:close/>
              </a:path>
              <a:path w="421004" h="315594">
                <a:moveTo>
                  <a:pt x="266585" y="186181"/>
                </a:moveTo>
                <a:lnTo>
                  <a:pt x="254571" y="186181"/>
                </a:lnTo>
                <a:lnTo>
                  <a:pt x="250558" y="189039"/>
                </a:lnTo>
                <a:lnTo>
                  <a:pt x="250558" y="211924"/>
                </a:lnTo>
                <a:lnTo>
                  <a:pt x="254571" y="214833"/>
                </a:lnTo>
                <a:lnTo>
                  <a:pt x="266585" y="214833"/>
                </a:lnTo>
                <a:lnTo>
                  <a:pt x="270586" y="211924"/>
                </a:lnTo>
                <a:lnTo>
                  <a:pt x="270586" y="189039"/>
                </a:lnTo>
                <a:lnTo>
                  <a:pt x="266585" y="186181"/>
                </a:lnTo>
                <a:close/>
              </a:path>
              <a:path w="421004" h="315594">
                <a:moveTo>
                  <a:pt x="366864" y="186181"/>
                </a:moveTo>
                <a:lnTo>
                  <a:pt x="354825" y="186181"/>
                </a:lnTo>
                <a:lnTo>
                  <a:pt x="350748" y="189039"/>
                </a:lnTo>
                <a:lnTo>
                  <a:pt x="350748" y="211924"/>
                </a:lnTo>
                <a:lnTo>
                  <a:pt x="354825" y="214833"/>
                </a:lnTo>
                <a:lnTo>
                  <a:pt x="366864" y="214833"/>
                </a:lnTo>
                <a:lnTo>
                  <a:pt x="370878" y="211924"/>
                </a:lnTo>
                <a:lnTo>
                  <a:pt x="370878" y="189039"/>
                </a:lnTo>
                <a:lnTo>
                  <a:pt x="366864" y="186181"/>
                </a:lnTo>
                <a:close/>
              </a:path>
              <a:path w="421004" h="315594">
                <a:moveTo>
                  <a:pt x="166408" y="136055"/>
                </a:moveTo>
                <a:lnTo>
                  <a:pt x="154330" y="136055"/>
                </a:lnTo>
                <a:lnTo>
                  <a:pt x="150329" y="138912"/>
                </a:lnTo>
                <a:lnTo>
                  <a:pt x="150329" y="161810"/>
                </a:lnTo>
                <a:lnTo>
                  <a:pt x="154330" y="164668"/>
                </a:lnTo>
                <a:lnTo>
                  <a:pt x="166408" y="164668"/>
                </a:lnTo>
                <a:lnTo>
                  <a:pt x="170408" y="161810"/>
                </a:lnTo>
                <a:lnTo>
                  <a:pt x="170408" y="138912"/>
                </a:lnTo>
                <a:lnTo>
                  <a:pt x="166408" y="136055"/>
                </a:lnTo>
                <a:close/>
              </a:path>
              <a:path w="421004" h="315594">
                <a:moveTo>
                  <a:pt x="216446" y="136055"/>
                </a:moveTo>
                <a:lnTo>
                  <a:pt x="204431" y="136055"/>
                </a:lnTo>
                <a:lnTo>
                  <a:pt x="200418" y="138912"/>
                </a:lnTo>
                <a:lnTo>
                  <a:pt x="200418" y="161810"/>
                </a:lnTo>
                <a:lnTo>
                  <a:pt x="204431" y="164668"/>
                </a:lnTo>
                <a:lnTo>
                  <a:pt x="216446" y="164668"/>
                </a:lnTo>
                <a:lnTo>
                  <a:pt x="220446" y="161810"/>
                </a:lnTo>
                <a:lnTo>
                  <a:pt x="220446" y="138912"/>
                </a:lnTo>
                <a:lnTo>
                  <a:pt x="216446" y="136055"/>
                </a:lnTo>
                <a:close/>
              </a:path>
              <a:path w="421004" h="315594">
                <a:moveTo>
                  <a:pt x="266585" y="136055"/>
                </a:moveTo>
                <a:lnTo>
                  <a:pt x="254571" y="136055"/>
                </a:lnTo>
                <a:lnTo>
                  <a:pt x="250558" y="138912"/>
                </a:lnTo>
                <a:lnTo>
                  <a:pt x="250558" y="161810"/>
                </a:lnTo>
                <a:lnTo>
                  <a:pt x="254571" y="164668"/>
                </a:lnTo>
                <a:lnTo>
                  <a:pt x="266585" y="164668"/>
                </a:lnTo>
                <a:lnTo>
                  <a:pt x="270586" y="161810"/>
                </a:lnTo>
                <a:lnTo>
                  <a:pt x="270586" y="138912"/>
                </a:lnTo>
                <a:lnTo>
                  <a:pt x="266585" y="136055"/>
                </a:lnTo>
                <a:close/>
              </a:path>
              <a:path w="421004" h="315594">
                <a:moveTo>
                  <a:pt x="210451" y="64427"/>
                </a:moveTo>
                <a:lnTo>
                  <a:pt x="194904" y="66691"/>
                </a:lnTo>
                <a:lnTo>
                  <a:pt x="182171" y="72851"/>
                </a:lnTo>
                <a:lnTo>
                  <a:pt x="173568" y="81963"/>
                </a:lnTo>
                <a:lnTo>
                  <a:pt x="170408" y="93078"/>
                </a:lnTo>
                <a:lnTo>
                  <a:pt x="173568" y="104193"/>
                </a:lnTo>
                <a:lnTo>
                  <a:pt x="182171" y="113304"/>
                </a:lnTo>
                <a:lnTo>
                  <a:pt x="194904" y="119465"/>
                </a:lnTo>
                <a:lnTo>
                  <a:pt x="210451" y="121729"/>
                </a:lnTo>
                <a:lnTo>
                  <a:pt x="226035" y="119465"/>
                </a:lnTo>
                <a:lnTo>
                  <a:pt x="238786" y="113304"/>
                </a:lnTo>
                <a:lnTo>
                  <a:pt x="244375" y="107391"/>
                </a:lnTo>
                <a:lnTo>
                  <a:pt x="199496" y="107391"/>
                </a:lnTo>
                <a:lnTo>
                  <a:pt x="190436" y="100964"/>
                </a:lnTo>
                <a:lnTo>
                  <a:pt x="190436" y="85191"/>
                </a:lnTo>
                <a:lnTo>
                  <a:pt x="199478" y="78778"/>
                </a:lnTo>
                <a:lnTo>
                  <a:pt x="244387" y="78778"/>
                </a:lnTo>
                <a:lnTo>
                  <a:pt x="238786" y="72851"/>
                </a:lnTo>
                <a:lnTo>
                  <a:pt x="226035" y="66691"/>
                </a:lnTo>
                <a:lnTo>
                  <a:pt x="210451" y="64427"/>
                </a:lnTo>
                <a:close/>
              </a:path>
              <a:path w="421004" h="315594">
                <a:moveTo>
                  <a:pt x="244387" y="78778"/>
                </a:moveTo>
                <a:lnTo>
                  <a:pt x="221500" y="78778"/>
                </a:lnTo>
                <a:lnTo>
                  <a:pt x="230543" y="85191"/>
                </a:lnTo>
                <a:lnTo>
                  <a:pt x="230543" y="100964"/>
                </a:lnTo>
                <a:lnTo>
                  <a:pt x="221482" y="107391"/>
                </a:lnTo>
                <a:lnTo>
                  <a:pt x="244375" y="107391"/>
                </a:lnTo>
                <a:lnTo>
                  <a:pt x="247397" y="104193"/>
                </a:lnTo>
                <a:lnTo>
                  <a:pt x="250558" y="93078"/>
                </a:lnTo>
                <a:lnTo>
                  <a:pt x="247397" y="81963"/>
                </a:lnTo>
                <a:lnTo>
                  <a:pt x="244387" y="78778"/>
                </a:lnTo>
                <a:close/>
              </a:path>
            </a:pathLst>
          </a:custGeom>
          <a:solidFill>
            <a:srgbClr val="BBE0E3"/>
          </a:solidFill>
        </p:spPr>
        <p:txBody>
          <a:bodyPr wrap="square" lIns="0" tIns="0" rIns="0" bIns="0" rtlCol="0"/>
          <a:lstStyle/>
          <a:p/>
        </p:txBody>
      </p:sp>
      <p:sp>
        <p:nvSpPr>
          <p:cNvPr id="6" name="object 6" descr=""/>
          <p:cNvSpPr/>
          <p:nvPr/>
        </p:nvSpPr>
        <p:spPr>
          <a:xfrm>
            <a:off x="6088330" y="3002972"/>
            <a:ext cx="440690" cy="215900"/>
          </a:xfrm>
          <a:custGeom>
            <a:avLst/>
            <a:gdLst/>
            <a:ahLst/>
            <a:cxnLst/>
            <a:rect l="l" t="t" r="r" b="b"/>
            <a:pathLst>
              <a:path w="440690" h="215900">
                <a:moveTo>
                  <a:pt x="437476" y="207009"/>
                </a:moveTo>
                <a:lnTo>
                  <a:pt x="2895" y="207009"/>
                </a:lnTo>
                <a:lnTo>
                  <a:pt x="0" y="209550"/>
                </a:lnTo>
                <a:lnTo>
                  <a:pt x="0" y="214629"/>
                </a:lnTo>
                <a:lnTo>
                  <a:pt x="2895" y="215900"/>
                </a:lnTo>
                <a:lnTo>
                  <a:pt x="437476" y="215900"/>
                </a:lnTo>
                <a:lnTo>
                  <a:pt x="440372" y="214629"/>
                </a:lnTo>
                <a:lnTo>
                  <a:pt x="440372" y="209550"/>
                </a:lnTo>
                <a:lnTo>
                  <a:pt x="437476" y="207009"/>
                </a:lnTo>
                <a:close/>
              </a:path>
              <a:path w="440690" h="215900">
                <a:moveTo>
                  <a:pt x="129654" y="41909"/>
                </a:moveTo>
                <a:lnTo>
                  <a:pt x="19989" y="41909"/>
                </a:lnTo>
                <a:lnTo>
                  <a:pt x="17094" y="44449"/>
                </a:lnTo>
                <a:lnTo>
                  <a:pt x="17157" y="181609"/>
                </a:lnTo>
                <a:lnTo>
                  <a:pt x="14452" y="184149"/>
                </a:lnTo>
                <a:lnTo>
                  <a:pt x="12839" y="186690"/>
                </a:lnTo>
                <a:lnTo>
                  <a:pt x="12839" y="191769"/>
                </a:lnTo>
                <a:lnTo>
                  <a:pt x="13030" y="193039"/>
                </a:lnTo>
                <a:lnTo>
                  <a:pt x="13347" y="194310"/>
                </a:lnTo>
                <a:lnTo>
                  <a:pt x="10248" y="195579"/>
                </a:lnTo>
                <a:lnTo>
                  <a:pt x="8572" y="199389"/>
                </a:lnTo>
                <a:lnTo>
                  <a:pt x="8572" y="204469"/>
                </a:lnTo>
                <a:lnTo>
                  <a:pt x="8966" y="205740"/>
                </a:lnTo>
                <a:lnTo>
                  <a:pt x="9677" y="207009"/>
                </a:lnTo>
                <a:lnTo>
                  <a:pt x="24257" y="207009"/>
                </a:lnTo>
                <a:lnTo>
                  <a:pt x="21348" y="205740"/>
                </a:lnTo>
                <a:lnTo>
                  <a:pt x="21348" y="200660"/>
                </a:lnTo>
                <a:lnTo>
                  <a:pt x="22504" y="199389"/>
                </a:lnTo>
                <a:lnTo>
                  <a:pt x="27216" y="198119"/>
                </a:lnTo>
                <a:lnTo>
                  <a:pt x="28117" y="195579"/>
                </a:lnTo>
                <a:lnTo>
                  <a:pt x="25933" y="191769"/>
                </a:lnTo>
                <a:lnTo>
                  <a:pt x="25666" y="191769"/>
                </a:lnTo>
                <a:lnTo>
                  <a:pt x="25666" y="187959"/>
                </a:lnTo>
                <a:lnTo>
                  <a:pt x="28511" y="185419"/>
                </a:lnTo>
                <a:lnTo>
                  <a:pt x="84855" y="185419"/>
                </a:lnTo>
                <a:lnTo>
                  <a:pt x="84302" y="181609"/>
                </a:lnTo>
                <a:lnTo>
                  <a:pt x="78206" y="177799"/>
                </a:lnTo>
                <a:lnTo>
                  <a:pt x="37985" y="177799"/>
                </a:lnTo>
                <a:lnTo>
                  <a:pt x="35026" y="176529"/>
                </a:lnTo>
                <a:lnTo>
                  <a:pt x="29933" y="176529"/>
                </a:lnTo>
                <a:lnTo>
                  <a:pt x="29933" y="52069"/>
                </a:lnTo>
                <a:lnTo>
                  <a:pt x="132562" y="52069"/>
                </a:lnTo>
                <a:lnTo>
                  <a:pt x="132562" y="44449"/>
                </a:lnTo>
                <a:lnTo>
                  <a:pt x="129654" y="41909"/>
                </a:lnTo>
                <a:close/>
              </a:path>
              <a:path w="440690" h="215900">
                <a:moveTo>
                  <a:pt x="84855" y="185419"/>
                </a:moveTo>
                <a:lnTo>
                  <a:pt x="69786" y="185419"/>
                </a:lnTo>
                <a:lnTo>
                  <a:pt x="72694" y="187959"/>
                </a:lnTo>
                <a:lnTo>
                  <a:pt x="72694" y="191769"/>
                </a:lnTo>
                <a:lnTo>
                  <a:pt x="72377" y="191769"/>
                </a:lnTo>
                <a:lnTo>
                  <a:pt x="71856" y="193039"/>
                </a:lnTo>
                <a:lnTo>
                  <a:pt x="70180" y="195579"/>
                </a:lnTo>
                <a:lnTo>
                  <a:pt x="71081" y="198119"/>
                </a:lnTo>
                <a:lnTo>
                  <a:pt x="73990" y="199389"/>
                </a:lnTo>
                <a:lnTo>
                  <a:pt x="75857" y="199389"/>
                </a:lnTo>
                <a:lnTo>
                  <a:pt x="76949" y="200660"/>
                </a:lnTo>
                <a:lnTo>
                  <a:pt x="76949" y="205740"/>
                </a:lnTo>
                <a:lnTo>
                  <a:pt x="74053" y="207009"/>
                </a:lnTo>
                <a:lnTo>
                  <a:pt x="88696" y="207009"/>
                </a:lnTo>
                <a:lnTo>
                  <a:pt x="89408" y="205740"/>
                </a:lnTo>
                <a:lnTo>
                  <a:pt x="89789" y="204469"/>
                </a:lnTo>
                <a:lnTo>
                  <a:pt x="89789" y="200660"/>
                </a:lnTo>
                <a:lnTo>
                  <a:pt x="89408" y="199389"/>
                </a:lnTo>
                <a:lnTo>
                  <a:pt x="88696" y="198119"/>
                </a:lnTo>
                <a:lnTo>
                  <a:pt x="103974" y="198119"/>
                </a:lnTo>
                <a:lnTo>
                  <a:pt x="106883" y="195579"/>
                </a:lnTo>
                <a:lnTo>
                  <a:pt x="106883" y="190499"/>
                </a:lnTo>
                <a:lnTo>
                  <a:pt x="103974" y="189229"/>
                </a:lnTo>
                <a:lnTo>
                  <a:pt x="85407" y="189229"/>
                </a:lnTo>
                <a:lnTo>
                  <a:pt x="84855" y="185419"/>
                </a:lnTo>
                <a:close/>
              </a:path>
              <a:path w="440690" h="215900">
                <a:moveTo>
                  <a:pt x="132562" y="52069"/>
                </a:moveTo>
                <a:lnTo>
                  <a:pt x="119722" y="52069"/>
                </a:lnTo>
                <a:lnTo>
                  <a:pt x="119722" y="207009"/>
                </a:lnTo>
                <a:lnTo>
                  <a:pt x="132562" y="207009"/>
                </a:lnTo>
                <a:lnTo>
                  <a:pt x="132562" y="113029"/>
                </a:lnTo>
                <a:lnTo>
                  <a:pt x="320649" y="113029"/>
                </a:lnTo>
                <a:lnTo>
                  <a:pt x="320649" y="104139"/>
                </a:lnTo>
                <a:lnTo>
                  <a:pt x="132562" y="104139"/>
                </a:lnTo>
                <a:lnTo>
                  <a:pt x="132562" y="52069"/>
                </a:lnTo>
                <a:close/>
              </a:path>
              <a:path w="440690" h="215900">
                <a:moveTo>
                  <a:pt x="166738" y="154940"/>
                </a:moveTo>
                <a:lnTo>
                  <a:pt x="153911" y="154940"/>
                </a:lnTo>
                <a:lnTo>
                  <a:pt x="153911" y="207009"/>
                </a:lnTo>
                <a:lnTo>
                  <a:pt x="166738" y="207009"/>
                </a:lnTo>
                <a:lnTo>
                  <a:pt x="166738" y="154940"/>
                </a:lnTo>
                <a:close/>
              </a:path>
              <a:path w="440690" h="215900">
                <a:moveTo>
                  <a:pt x="240792" y="182879"/>
                </a:moveTo>
                <a:lnTo>
                  <a:pt x="199517" y="182879"/>
                </a:lnTo>
                <a:lnTo>
                  <a:pt x="196672" y="185419"/>
                </a:lnTo>
                <a:lnTo>
                  <a:pt x="196672" y="207009"/>
                </a:lnTo>
                <a:lnTo>
                  <a:pt x="209511" y="207009"/>
                </a:lnTo>
                <a:lnTo>
                  <a:pt x="209511" y="191769"/>
                </a:lnTo>
                <a:lnTo>
                  <a:pt x="243700" y="191769"/>
                </a:lnTo>
                <a:lnTo>
                  <a:pt x="243700" y="185419"/>
                </a:lnTo>
                <a:lnTo>
                  <a:pt x="240792" y="182879"/>
                </a:lnTo>
                <a:close/>
              </a:path>
              <a:path w="440690" h="215900">
                <a:moveTo>
                  <a:pt x="223697" y="195579"/>
                </a:moveTo>
                <a:lnTo>
                  <a:pt x="216611" y="195579"/>
                </a:lnTo>
                <a:lnTo>
                  <a:pt x="213766" y="196849"/>
                </a:lnTo>
                <a:lnTo>
                  <a:pt x="213766" y="207009"/>
                </a:lnTo>
                <a:lnTo>
                  <a:pt x="226606" y="207009"/>
                </a:lnTo>
                <a:lnTo>
                  <a:pt x="226606" y="196849"/>
                </a:lnTo>
                <a:lnTo>
                  <a:pt x="223697" y="195579"/>
                </a:lnTo>
                <a:close/>
              </a:path>
              <a:path w="440690" h="215900">
                <a:moveTo>
                  <a:pt x="243700" y="191769"/>
                </a:moveTo>
                <a:lnTo>
                  <a:pt x="230860" y="191769"/>
                </a:lnTo>
                <a:lnTo>
                  <a:pt x="230860" y="207009"/>
                </a:lnTo>
                <a:lnTo>
                  <a:pt x="243700" y="207009"/>
                </a:lnTo>
                <a:lnTo>
                  <a:pt x="243700" y="191769"/>
                </a:lnTo>
                <a:close/>
              </a:path>
              <a:path w="440690" h="215900">
                <a:moveTo>
                  <a:pt x="286473" y="154940"/>
                </a:moveTo>
                <a:lnTo>
                  <a:pt x="273634" y="154940"/>
                </a:lnTo>
                <a:lnTo>
                  <a:pt x="273634" y="207009"/>
                </a:lnTo>
                <a:lnTo>
                  <a:pt x="286473" y="207009"/>
                </a:lnTo>
                <a:lnTo>
                  <a:pt x="286473" y="154940"/>
                </a:lnTo>
                <a:close/>
              </a:path>
              <a:path w="440690" h="215900">
                <a:moveTo>
                  <a:pt x="320649" y="113029"/>
                </a:moveTo>
                <a:lnTo>
                  <a:pt x="307822" y="113029"/>
                </a:lnTo>
                <a:lnTo>
                  <a:pt x="307822" y="207009"/>
                </a:lnTo>
                <a:lnTo>
                  <a:pt x="320649" y="207009"/>
                </a:lnTo>
                <a:lnTo>
                  <a:pt x="320649" y="113029"/>
                </a:lnTo>
                <a:close/>
              </a:path>
              <a:path w="440690" h="215900">
                <a:moveTo>
                  <a:pt x="377101" y="176529"/>
                </a:moveTo>
                <a:lnTo>
                  <a:pt x="364197" y="176529"/>
                </a:lnTo>
                <a:lnTo>
                  <a:pt x="356069" y="181609"/>
                </a:lnTo>
                <a:lnTo>
                  <a:pt x="354977" y="189229"/>
                </a:lnTo>
                <a:lnTo>
                  <a:pt x="336334" y="189229"/>
                </a:lnTo>
                <a:lnTo>
                  <a:pt x="333489" y="190499"/>
                </a:lnTo>
                <a:lnTo>
                  <a:pt x="333489" y="195579"/>
                </a:lnTo>
                <a:lnTo>
                  <a:pt x="336334" y="198119"/>
                </a:lnTo>
                <a:lnTo>
                  <a:pt x="351688" y="198119"/>
                </a:lnTo>
                <a:lnTo>
                  <a:pt x="350977" y="199389"/>
                </a:lnTo>
                <a:lnTo>
                  <a:pt x="350583" y="200660"/>
                </a:lnTo>
                <a:lnTo>
                  <a:pt x="350583" y="204469"/>
                </a:lnTo>
                <a:lnTo>
                  <a:pt x="350977" y="205740"/>
                </a:lnTo>
                <a:lnTo>
                  <a:pt x="351688" y="207009"/>
                </a:lnTo>
                <a:lnTo>
                  <a:pt x="366255" y="207009"/>
                </a:lnTo>
                <a:lnTo>
                  <a:pt x="363423" y="205740"/>
                </a:lnTo>
                <a:lnTo>
                  <a:pt x="363423" y="200660"/>
                </a:lnTo>
                <a:lnTo>
                  <a:pt x="364515" y="199389"/>
                </a:lnTo>
                <a:lnTo>
                  <a:pt x="369227" y="198119"/>
                </a:lnTo>
                <a:lnTo>
                  <a:pt x="370192" y="195579"/>
                </a:lnTo>
                <a:lnTo>
                  <a:pt x="367931" y="191769"/>
                </a:lnTo>
                <a:lnTo>
                  <a:pt x="367677" y="191769"/>
                </a:lnTo>
                <a:lnTo>
                  <a:pt x="367677" y="187959"/>
                </a:lnTo>
                <a:lnTo>
                  <a:pt x="370586" y="185419"/>
                </a:lnTo>
                <a:lnTo>
                  <a:pt x="426739" y="185419"/>
                </a:lnTo>
                <a:lnTo>
                  <a:pt x="425932" y="184149"/>
                </a:lnTo>
                <a:lnTo>
                  <a:pt x="423214" y="181609"/>
                </a:lnTo>
                <a:lnTo>
                  <a:pt x="423216" y="177799"/>
                </a:lnTo>
                <a:lnTo>
                  <a:pt x="379996" y="177799"/>
                </a:lnTo>
                <a:lnTo>
                  <a:pt x="377101" y="176529"/>
                </a:lnTo>
                <a:close/>
              </a:path>
              <a:path w="440690" h="215900">
                <a:moveTo>
                  <a:pt x="426739" y="185419"/>
                </a:moveTo>
                <a:lnTo>
                  <a:pt x="411797" y="185419"/>
                </a:lnTo>
                <a:lnTo>
                  <a:pt x="414705" y="187959"/>
                </a:lnTo>
                <a:lnTo>
                  <a:pt x="414705" y="191769"/>
                </a:lnTo>
                <a:lnTo>
                  <a:pt x="414451" y="191769"/>
                </a:lnTo>
                <a:lnTo>
                  <a:pt x="412191" y="195579"/>
                </a:lnTo>
                <a:lnTo>
                  <a:pt x="413156" y="198119"/>
                </a:lnTo>
                <a:lnTo>
                  <a:pt x="416001" y="199389"/>
                </a:lnTo>
                <a:lnTo>
                  <a:pt x="417868" y="199389"/>
                </a:lnTo>
                <a:lnTo>
                  <a:pt x="418960" y="200660"/>
                </a:lnTo>
                <a:lnTo>
                  <a:pt x="418960" y="205740"/>
                </a:lnTo>
                <a:lnTo>
                  <a:pt x="416128" y="207009"/>
                </a:lnTo>
                <a:lnTo>
                  <a:pt x="430707" y="207009"/>
                </a:lnTo>
                <a:lnTo>
                  <a:pt x="431406" y="205740"/>
                </a:lnTo>
                <a:lnTo>
                  <a:pt x="431800" y="204469"/>
                </a:lnTo>
                <a:lnTo>
                  <a:pt x="431800" y="199389"/>
                </a:lnTo>
                <a:lnTo>
                  <a:pt x="430060" y="195579"/>
                </a:lnTo>
                <a:lnTo>
                  <a:pt x="427024" y="194310"/>
                </a:lnTo>
                <a:lnTo>
                  <a:pt x="427342" y="193039"/>
                </a:lnTo>
                <a:lnTo>
                  <a:pt x="427545" y="191769"/>
                </a:lnTo>
                <a:lnTo>
                  <a:pt x="427545" y="186690"/>
                </a:lnTo>
                <a:lnTo>
                  <a:pt x="426739" y="185419"/>
                </a:lnTo>
                <a:close/>
              </a:path>
              <a:path w="440690" h="215900">
                <a:moveTo>
                  <a:pt x="44894" y="186690"/>
                </a:moveTo>
                <a:lnTo>
                  <a:pt x="36309" y="186690"/>
                </a:lnTo>
                <a:lnTo>
                  <a:pt x="38760" y="189229"/>
                </a:lnTo>
                <a:lnTo>
                  <a:pt x="42443" y="189229"/>
                </a:lnTo>
                <a:lnTo>
                  <a:pt x="44894" y="186690"/>
                </a:lnTo>
                <a:close/>
              </a:path>
              <a:path w="440690" h="215900">
                <a:moveTo>
                  <a:pt x="61988" y="186690"/>
                </a:moveTo>
                <a:lnTo>
                  <a:pt x="53403" y="186690"/>
                </a:lnTo>
                <a:lnTo>
                  <a:pt x="55854" y="189229"/>
                </a:lnTo>
                <a:lnTo>
                  <a:pt x="59537" y="189229"/>
                </a:lnTo>
                <a:lnTo>
                  <a:pt x="61988" y="186690"/>
                </a:lnTo>
                <a:close/>
              </a:path>
              <a:path w="440690" h="215900">
                <a:moveTo>
                  <a:pt x="389166" y="185419"/>
                </a:moveTo>
                <a:lnTo>
                  <a:pt x="376135" y="185419"/>
                </a:lnTo>
                <a:lnTo>
                  <a:pt x="377545" y="186690"/>
                </a:lnTo>
                <a:lnTo>
                  <a:pt x="380771" y="189229"/>
                </a:lnTo>
                <a:lnTo>
                  <a:pt x="384517" y="189229"/>
                </a:lnTo>
                <a:lnTo>
                  <a:pt x="387743" y="186690"/>
                </a:lnTo>
                <a:lnTo>
                  <a:pt x="389166" y="185419"/>
                </a:lnTo>
                <a:close/>
              </a:path>
              <a:path w="440690" h="215900">
                <a:moveTo>
                  <a:pt x="406260" y="185419"/>
                </a:moveTo>
                <a:lnTo>
                  <a:pt x="393230" y="185419"/>
                </a:lnTo>
                <a:lnTo>
                  <a:pt x="394639" y="186690"/>
                </a:lnTo>
                <a:lnTo>
                  <a:pt x="397865" y="189229"/>
                </a:lnTo>
                <a:lnTo>
                  <a:pt x="401612" y="189229"/>
                </a:lnTo>
                <a:lnTo>
                  <a:pt x="404837" y="186690"/>
                </a:lnTo>
                <a:lnTo>
                  <a:pt x="406260" y="185419"/>
                </a:lnTo>
                <a:close/>
              </a:path>
              <a:path w="440690" h="215900">
                <a:moveTo>
                  <a:pt x="47155" y="185419"/>
                </a:moveTo>
                <a:lnTo>
                  <a:pt x="34061" y="185419"/>
                </a:lnTo>
                <a:lnTo>
                  <a:pt x="35471" y="186690"/>
                </a:lnTo>
                <a:lnTo>
                  <a:pt x="45732" y="186690"/>
                </a:lnTo>
                <a:lnTo>
                  <a:pt x="47155" y="185419"/>
                </a:lnTo>
                <a:close/>
              </a:path>
              <a:path w="440690" h="215900">
                <a:moveTo>
                  <a:pt x="64249" y="185419"/>
                </a:moveTo>
                <a:lnTo>
                  <a:pt x="51155" y="185419"/>
                </a:lnTo>
                <a:lnTo>
                  <a:pt x="52565" y="186690"/>
                </a:lnTo>
                <a:lnTo>
                  <a:pt x="62826" y="186690"/>
                </a:lnTo>
                <a:lnTo>
                  <a:pt x="64249" y="185419"/>
                </a:lnTo>
                <a:close/>
              </a:path>
              <a:path w="440690" h="215900">
                <a:moveTo>
                  <a:pt x="198094" y="165099"/>
                </a:moveTo>
                <a:lnTo>
                  <a:pt x="190995" y="165099"/>
                </a:lnTo>
                <a:lnTo>
                  <a:pt x="188099" y="166369"/>
                </a:lnTo>
                <a:lnTo>
                  <a:pt x="188099" y="177799"/>
                </a:lnTo>
                <a:lnTo>
                  <a:pt x="190995" y="180340"/>
                </a:lnTo>
                <a:lnTo>
                  <a:pt x="198094" y="180340"/>
                </a:lnTo>
                <a:lnTo>
                  <a:pt x="200939" y="177799"/>
                </a:lnTo>
                <a:lnTo>
                  <a:pt x="200939" y="166369"/>
                </a:lnTo>
                <a:lnTo>
                  <a:pt x="198094" y="165099"/>
                </a:lnTo>
                <a:close/>
              </a:path>
              <a:path w="440690" h="215900">
                <a:moveTo>
                  <a:pt x="223697" y="165099"/>
                </a:moveTo>
                <a:lnTo>
                  <a:pt x="216611" y="165099"/>
                </a:lnTo>
                <a:lnTo>
                  <a:pt x="213766" y="166369"/>
                </a:lnTo>
                <a:lnTo>
                  <a:pt x="213766" y="177799"/>
                </a:lnTo>
                <a:lnTo>
                  <a:pt x="216611" y="180340"/>
                </a:lnTo>
                <a:lnTo>
                  <a:pt x="223697" y="180340"/>
                </a:lnTo>
                <a:lnTo>
                  <a:pt x="226606" y="177799"/>
                </a:lnTo>
                <a:lnTo>
                  <a:pt x="226606" y="166369"/>
                </a:lnTo>
                <a:lnTo>
                  <a:pt x="223697" y="165099"/>
                </a:lnTo>
                <a:close/>
              </a:path>
              <a:path w="440690" h="215900">
                <a:moveTo>
                  <a:pt x="249389" y="165099"/>
                </a:moveTo>
                <a:lnTo>
                  <a:pt x="242277" y="165099"/>
                </a:lnTo>
                <a:lnTo>
                  <a:pt x="239445" y="166369"/>
                </a:lnTo>
                <a:lnTo>
                  <a:pt x="239445" y="177799"/>
                </a:lnTo>
                <a:lnTo>
                  <a:pt x="242277" y="180340"/>
                </a:lnTo>
                <a:lnTo>
                  <a:pt x="249389" y="180340"/>
                </a:lnTo>
                <a:lnTo>
                  <a:pt x="252222" y="177799"/>
                </a:lnTo>
                <a:lnTo>
                  <a:pt x="252222" y="166369"/>
                </a:lnTo>
                <a:lnTo>
                  <a:pt x="249389" y="165099"/>
                </a:lnTo>
                <a:close/>
              </a:path>
              <a:path w="440690" h="215900">
                <a:moveTo>
                  <a:pt x="52184" y="176529"/>
                </a:moveTo>
                <a:lnTo>
                  <a:pt x="46189" y="176529"/>
                </a:lnTo>
                <a:lnTo>
                  <a:pt x="43281" y="177799"/>
                </a:lnTo>
                <a:lnTo>
                  <a:pt x="55079" y="177799"/>
                </a:lnTo>
                <a:lnTo>
                  <a:pt x="52184" y="176529"/>
                </a:lnTo>
                <a:close/>
              </a:path>
              <a:path w="440690" h="215900">
                <a:moveTo>
                  <a:pt x="76174" y="176529"/>
                </a:moveTo>
                <a:lnTo>
                  <a:pt x="63284" y="176529"/>
                </a:lnTo>
                <a:lnTo>
                  <a:pt x="60375" y="177799"/>
                </a:lnTo>
                <a:lnTo>
                  <a:pt x="78206" y="177799"/>
                </a:lnTo>
                <a:lnTo>
                  <a:pt x="76174" y="176529"/>
                </a:lnTo>
                <a:close/>
              </a:path>
              <a:path w="440690" h="215900">
                <a:moveTo>
                  <a:pt x="394195" y="176529"/>
                </a:moveTo>
                <a:lnTo>
                  <a:pt x="388188" y="176529"/>
                </a:lnTo>
                <a:lnTo>
                  <a:pt x="385292" y="177799"/>
                </a:lnTo>
                <a:lnTo>
                  <a:pt x="397090" y="177799"/>
                </a:lnTo>
                <a:lnTo>
                  <a:pt x="394195" y="176529"/>
                </a:lnTo>
                <a:close/>
              </a:path>
              <a:path w="440690" h="215900">
                <a:moveTo>
                  <a:pt x="423286" y="52069"/>
                </a:moveTo>
                <a:lnTo>
                  <a:pt x="410451" y="52069"/>
                </a:lnTo>
                <a:lnTo>
                  <a:pt x="410451" y="176529"/>
                </a:lnTo>
                <a:lnTo>
                  <a:pt x="405282" y="176529"/>
                </a:lnTo>
                <a:lnTo>
                  <a:pt x="402386" y="177799"/>
                </a:lnTo>
                <a:lnTo>
                  <a:pt x="423216" y="177799"/>
                </a:lnTo>
                <a:lnTo>
                  <a:pt x="423286" y="52069"/>
                </a:lnTo>
                <a:close/>
              </a:path>
              <a:path w="440690" h="215900">
                <a:moveTo>
                  <a:pt x="103974" y="165099"/>
                </a:moveTo>
                <a:lnTo>
                  <a:pt x="45593" y="165099"/>
                </a:lnTo>
                <a:lnTo>
                  <a:pt x="42748" y="166369"/>
                </a:lnTo>
                <a:lnTo>
                  <a:pt x="42748" y="171449"/>
                </a:lnTo>
                <a:lnTo>
                  <a:pt x="45593" y="173990"/>
                </a:lnTo>
                <a:lnTo>
                  <a:pt x="103974" y="173990"/>
                </a:lnTo>
                <a:lnTo>
                  <a:pt x="106883" y="171449"/>
                </a:lnTo>
                <a:lnTo>
                  <a:pt x="106883" y="166369"/>
                </a:lnTo>
                <a:lnTo>
                  <a:pt x="103974" y="165099"/>
                </a:lnTo>
                <a:close/>
              </a:path>
              <a:path w="440690" h="215900">
                <a:moveTo>
                  <a:pt x="394716" y="165099"/>
                </a:moveTo>
                <a:lnTo>
                  <a:pt x="336334" y="165099"/>
                </a:lnTo>
                <a:lnTo>
                  <a:pt x="333489" y="166369"/>
                </a:lnTo>
                <a:lnTo>
                  <a:pt x="333489" y="171449"/>
                </a:lnTo>
                <a:lnTo>
                  <a:pt x="336334" y="173990"/>
                </a:lnTo>
                <a:lnTo>
                  <a:pt x="394716" y="173990"/>
                </a:lnTo>
                <a:lnTo>
                  <a:pt x="397624" y="171449"/>
                </a:lnTo>
                <a:lnTo>
                  <a:pt x="397624" y="166369"/>
                </a:lnTo>
                <a:lnTo>
                  <a:pt x="394716" y="165099"/>
                </a:lnTo>
                <a:close/>
              </a:path>
              <a:path w="440690" h="215900">
                <a:moveTo>
                  <a:pt x="221513" y="115569"/>
                </a:moveTo>
                <a:lnTo>
                  <a:pt x="218871" y="115569"/>
                </a:lnTo>
                <a:lnTo>
                  <a:pt x="145973" y="148590"/>
                </a:lnTo>
                <a:lnTo>
                  <a:pt x="144818" y="149859"/>
                </a:lnTo>
                <a:lnTo>
                  <a:pt x="145592" y="152399"/>
                </a:lnTo>
                <a:lnTo>
                  <a:pt x="146431" y="153669"/>
                </a:lnTo>
                <a:lnTo>
                  <a:pt x="148945" y="154940"/>
                </a:lnTo>
                <a:lnTo>
                  <a:pt x="291439" y="154940"/>
                </a:lnTo>
                <a:lnTo>
                  <a:pt x="293954" y="153669"/>
                </a:lnTo>
                <a:lnTo>
                  <a:pt x="294728" y="152399"/>
                </a:lnTo>
                <a:lnTo>
                  <a:pt x="295567" y="149859"/>
                </a:lnTo>
                <a:lnTo>
                  <a:pt x="294398" y="148590"/>
                </a:lnTo>
                <a:lnTo>
                  <a:pt x="291947" y="147319"/>
                </a:lnTo>
                <a:lnTo>
                  <a:pt x="289130" y="146049"/>
                </a:lnTo>
                <a:lnTo>
                  <a:pt x="174167" y="146049"/>
                </a:lnTo>
                <a:lnTo>
                  <a:pt x="220154" y="125729"/>
                </a:lnTo>
                <a:lnTo>
                  <a:pt x="244052" y="125729"/>
                </a:lnTo>
                <a:lnTo>
                  <a:pt x="221513" y="115569"/>
                </a:lnTo>
                <a:close/>
              </a:path>
              <a:path w="440690" h="215900">
                <a:moveTo>
                  <a:pt x="103974" y="139699"/>
                </a:moveTo>
                <a:lnTo>
                  <a:pt x="45593" y="139699"/>
                </a:lnTo>
                <a:lnTo>
                  <a:pt x="42748" y="142240"/>
                </a:lnTo>
                <a:lnTo>
                  <a:pt x="42748" y="147319"/>
                </a:lnTo>
                <a:lnTo>
                  <a:pt x="45593" y="149859"/>
                </a:lnTo>
                <a:lnTo>
                  <a:pt x="103974" y="149859"/>
                </a:lnTo>
                <a:lnTo>
                  <a:pt x="106883" y="147319"/>
                </a:lnTo>
                <a:lnTo>
                  <a:pt x="106883" y="142240"/>
                </a:lnTo>
                <a:lnTo>
                  <a:pt x="103974" y="139699"/>
                </a:lnTo>
                <a:close/>
              </a:path>
              <a:path w="440690" h="215900">
                <a:moveTo>
                  <a:pt x="394716" y="139699"/>
                </a:moveTo>
                <a:lnTo>
                  <a:pt x="336334" y="139699"/>
                </a:lnTo>
                <a:lnTo>
                  <a:pt x="333489" y="142240"/>
                </a:lnTo>
                <a:lnTo>
                  <a:pt x="333489" y="147319"/>
                </a:lnTo>
                <a:lnTo>
                  <a:pt x="336334" y="149859"/>
                </a:lnTo>
                <a:lnTo>
                  <a:pt x="394716" y="149859"/>
                </a:lnTo>
                <a:lnTo>
                  <a:pt x="397624" y="147319"/>
                </a:lnTo>
                <a:lnTo>
                  <a:pt x="397624" y="142240"/>
                </a:lnTo>
                <a:lnTo>
                  <a:pt x="394716" y="139699"/>
                </a:lnTo>
                <a:close/>
              </a:path>
              <a:path w="440690" h="215900">
                <a:moveTo>
                  <a:pt x="244052" y="125729"/>
                </a:moveTo>
                <a:lnTo>
                  <a:pt x="220154" y="125729"/>
                </a:lnTo>
                <a:lnTo>
                  <a:pt x="266217" y="146049"/>
                </a:lnTo>
                <a:lnTo>
                  <a:pt x="289130" y="146049"/>
                </a:lnTo>
                <a:lnTo>
                  <a:pt x="244052" y="125729"/>
                </a:lnTo>
                <a:close/>
              </a:path>
              <a:path w="440690" h="215900">
                <a:moveTo>
                  <a:pt x="103974" y="115569"/>
                </a:moveTo>
                <a:lnTo>
                  <a:pt x="45593" y="115569"/>
                </a:lnTo>
                <a:lnTo>
                  <a:pt x="42748" y="118109"/>
                </a:lnTo>
                <a:lnTo>
                  <a:pt x="42748" y="123189"/>
                </a:lnTo>
                <a:lnTo>
                  <a:pt x="45593" y="124459"/>
                </a:lnTo>
                <a:lnTo>
                  <a:pt x="103974" y="124459"/>
                </a:lnTo>
                <a:lnTo>
                  <a:pt x="106883" y="123189"/>
                </a:lnTo>
                <a:lnTo>
                  <a:pt x="106883" y="118109"/>
                </a:lnTo>
                <a:lnTo>
                  <a:pt x="103974" y="115569"/>
                </a:lnTo>
                <a:close/>
              </a:path>
              <a:path w="440690" h="215900">
                <a:moveTo>
                  <a:pt x="394716" y="115569"/>
                </a:moveTo>
                <a:lnTo>
                  <a:pt x="336334" y="115569"/>
                </a:lnTo>
                <a:lnTo>
                  <a:pt x="333489" y="118109"/>
                </a:lnTo>
                <a:lnTo>
                  <a:pt x="333489" y="123189"/>
                </a:lnTo>
                <a:lnTo>
                  <a:pt x="336334" y="124459"/>
                </a:lnTo>
                <a:lnTo>
                  <a:pt x="394716" y="124459"/>
                </a:lnTo>
                <a:lnTo>
                  <a:pt x="397624" y="123189"/>
                </a:lnTo>
                <a:lnTo>
                  <a:pt x="397624" y="118109"/>
                </a:lnTo>
                <a:lnTo>
                  <a:pt x="394716" y="115569"/>
                </a:lnTo>
                <a:close/>
              </a:path>
              <a:path w="440690" h="215900">
                <a:moveTo>
                  <a:pt x="266471" y="54609"/>
                </a:moveTo>
                <a:lnTo>
                  <a:pt x="216611" y="54609"/>
                </a:lnTo>
                <a:lnTo>
                  <a:pt x="213766" y="57149"/>
                </a:lnTo>
                <a:lnTo>
                  <a:pt x="213766" y="104139"/>
                </a:lnTo>
                <a:lnTo>
                  <a:pt x="226606" y="104139"/>
                </a:lnTo>
                <a:lnTo>
                  <a:pt x="226606" y="82549"/>
                </a:lnTo>
                <a:lnTo>
                  <a:pt x="266471" y="82549"/>
                </a:lnTo>
                <a:lnTo>
                  <a:pt x="269379" y="80009"/>
                </a:lnTo>
                <a:lnTo>
                  <a:pt x="269379" y="72389"/>
                </a:lnTo>
                <a:lnTo>
                  <a:pt x="226606" y="72389"/>
                </a:lnTo>
                <a:lnTo>
                  <a:pt x="226606" y="63499"/>
                </a:lnTo>
                <a:lnTo>
                  <a:pt x="269379" y="63499"/>
                </a:lnTo>
                <a:lnTo>
                  <a:pt x="269379" y="57149"/>
                </a:lnTo>
                <a:lnTo>
                  <a:pt x="266471" y="54609"/>
                </a:lnTo>
                <a:close/>
              </a:path>
              <a:path w="440690" h="215900">
                <a:moveTo>
                  <a:pt x="420382" y="41909"/>
                </a:moveTo>
                <a:lnTo>
                  <a:pt x="310718" y="41909"/>
                </a:lnTo>
                <a:lnTo>
                  <a:pt x="307822" y="44449"/>
                </a:lnTo>
                <a:lnTo>
                  <a:pt x="307822" y="104139"/>
                </a:lnTo>
                <a:lnTo>
                  <a:pt x="320649" y="104139"/>
                </a:lnTo>
                <a:lnTo>
                  <a:pt x="320649" y="52069"/>
                </a:lnTo>
                <a:lnTo>
                  <a:pt x="423286" y="52069"/>
                </a:lnTo>
                <a:lnTo>
                  <a:pt x="423291" y="44449"/>
                </a:lnTo>
                <a:lnTo>
                  <a:pt x="420382" y="41909"/>
                </a:lnTo>
                <a:close/>
              </a:path>
              <a:path w="440690" h="215900">
                <a:moveTo>
                  <a:pt x="103974" y="91439"/>
                </a:moveTo>
                <a:lnTo>
                  <a:pt x="45593" y="91439"/>
                </a:lnTo>
                <a:lnTo>
                  <a:pt x="42748" y="93979"/>
                </a:lnTo>
                <a:lnTo>
                  <a:pt x="42748" y="99059"/>
                </a:lnTo>
                <a:lnTo>
                  <a:pt x="45593" y="100329"/>
                </a:lnTo>
                <a:lnTo>
                  <a:pt x="103974" y="100329"/>
                </a:lnTo>
                <a:lnTo>
                  <a:pt x="106883" y="99059"/>
                </a:lnTo>
                <a:lnTo>
                  <a:pt x="106883" y="93979"/>
                </a:lnTo>
                <a:lnTo>
                  <a:pt x="103974" y="91439"/>
                </a:lnTo>
                <a:close/>
              </a:path>
              <a:path w="440690" h="215900">
                <a:moveTo>
                  <a:pt x="394716" y="91439"/>
                </a:moveTo>
                <a:lnTo>
                  <a:pt x="336334" y="91439"/>
                </a:lnTo>
                <a:lnTo>
                  <a:pt x="333489" y="93979"/>
                </a:lnTo>
                <a:lnTo>
                  <a:pt x="333489" y="99059"/>
                </a:lnTo>
                <a:lnTo>
                  <a:pt x="336334" y="100329"/>
                </a:lnTo>
                <a:lnTo>
                  <a:pt x="394716" y="100329"/>
                </a:lnTo>
                <a:lnTo>
                  <a:pt x="397624" y="99059"/>
                </a:lnTo>
                <a:lnTo>
                  <a:pt x="397624" y="93979"/>
                </a:lnTo>
                <a:lnTo>
                  <a:pt x="394716" y="91439"/>
                </a:lnTo>
                <a:close/>
              </a:path>
              <a:path w="440690" h="215900">
                <a:moveTo>
                  <a:pt x="103974" y="67309"/>
                </a:moveTo>
                <a:lnTo>
                  <a:pt x="45593" y="67309"/>
                </a:lnTo>
                <a:lnTo>
                  <a:pt x="42748" y="68579"/>
                </a:lnTo>
                <a:lnTo>
                  <a:pt x="42748" y="73659"/>
                </a:lnTo>
                <a:lnTo>
                  <a:pt x="45593" y="76199"/>
                </a:lnTo>
                <a:lnTo>
                  <a:pt x="103974" y="76199"/>
                </a:lnTo>
                <a:lnTo>
                  <a:pt x="106883" y="73659"/>
                </a:lnTo>
                <a:lnTo>
                  <a:pt x="106883" y="68579"/>
                </a:lnTo>
                <a:lnTo>
                  <a:pt x="103974" y="67309"/>
                </a:lnTo>
                <a:close/>
              </a:path>
              <a:path w="440690" h="215900">
                <a:moveTo>
                  <a:pt x="394716" y="67309"/>
                </a:moveTo>
                <a:lnTo>
                  <a:pt x="336334" y="67309"/>
                </a:lnTo>
                <a:lnTo>
                  <a:pt x="333489" y="68579"/>
                </a:lnTo>
                <a:lnTo>
                  <a:pt x="333489" y="73659"/>
                </a:lnTo>
                <a:lnTo>
                  <a:pt x="336334" y="76199"/>
                </a:lnTo>
                <a:lnTo>
                  <a:pt x="394716" y="76199"/>
                </a:lnTo>
                <a:lnTo>
                  <a:pt x="397624" y="73659"/>
                </a:lnTo>
                <a:lnTo>
                  <a:pt x="397624" y="68579"/>
                </a:lnTo>
                <a:lnTo>
                  <a:pt x="394716" y="67309"/>
                </a:lnTo>
                <a:close/>
              </a:path>
              <a:path w="440690" h="215900">
                <a:moveTo>
                  <a:pt x="269379" y="63499"/>
                </a:moveTo>
                <a:lnTo>
                  <a:pt x="256540" y="63499"/>
                </a:lnTo>
                <a:lnTo>
                  <a:pt x="256540" y="72389"/>
                </a:lnTo>
                <a:lnTo>
                  <a:pt x="269379" y="72389"/>
                </a:lnTo>
                <a:lnTo>
                  <a:pt x="269379" y="63499"/>
                </a:lnTo>
                <a:close/>
              </a:path>
              <a:path w="440690" h="215900">
                <a:moveTo>
                  <a:pt x="112560" y="24129"/>
                </a:moveTo>
                <a:lnTo>
                  <a:pt x="37084" y="24129"/>
                </a:lnTo>
                <a:lnTo>
                  <a:pt x="34188" y="26669"/>
                </a:lnTo>
                <a:lnTo>
                  <a:pt x="34188" y="41909"/>
                </a:lnTo>
                <a:lnTo>
                  <a:pt x="47028" y="41909"/>
                </a:lnTo>
                <a:lnTo>
                  <a:pt x="47028" y="33019"/>
                </a:lnTo>
                <a:lnTo>
                  <a:pt x="115468" y="33019"/>
                </a:lnTo>
                <a:lnTo>
                  <a:pt x="115468" y="26669"/>
                </a:lnTo>
                <a:lnTo>
                  <a:pt x="112560" y="24129"/>
                </a:lnTo>
                <a:close/>
              </a:path>
              <a:path w="440690" h="215900">
                <a:moveTo>
                  <a:pt x="115468" y="33019"/>
                </a:moveTo>
                <a:lnTo>
                  <a:pt x="102628" y="33019"/>
                </a:lnTo>
                <a:lnTo>
                  <a:pt x="102628" y="41909"/>
                </a:lnTo>
                <a:lnTo>
                  <a:pt x="115468" y="41909"/>
                </a:lnTo>
                <a:lnTo>
                  <a:pt x="115468" y="33019"/>
                </a:lnTo>
                <a:close/>
              </a:path>
              <a:path w="440690" h="215900">
                <a:moveTo>
                  <a:pt x="403288" y="24129"/>
                </a:moveTo>
                <a:lnTo>
                  <a:pt x="327812" y="24129"/>
                </a:lnTo>
                <a:lnTo>
                  <a:pt x="324916" y="26669"/>
                </a:lnTo>
                <a:lnTo>
                  <a:pt x="324916" y="41909"/>
                </a:lnTo>
                <a:lnTo>
                  <a:pt x="337756" y="41909"/>
                </a:lnTo>
                <a:lnTo>
                  <a:pt x="337756" y="33019"/>
                </a:lnTo>
                <a:lnTo>
                  <a:pt x="406120" y="33019"/>
                </a:lnTo>
                <a:lnTo>
                  <a:pt x="406120" y="26669"/>
                </a:lnTo>
                <a:lnTo>
                  <a:pt x="403288" y="24129"/>
                </a:lnTo>
                <a:close/>
              </a:path>
              <a:path w="440690" h="215900">
                <a:moveTo>
                  <a:pt x="406120" y="33019"/>
                </a:moveTo>
                <a:lnTo>
                  <a:pt x="393357" y="33019"/>
                </a:lnTo>
                <a:lnTo>
                  <a:pt x="393357" y="41909"/>
                </a:lnTo>
                <a:lnTo>
                  <a:pt x="406120" y="41909"/>
                </a:lnTo>
                <a:lnTo>
                  <a:pt x="406120" y="33019"/>
                </a:lnTo>
                <a:close/>
              </a:path>
              <a:path w="440690" h="215900">
                <a:moveTo>
                  <a:pt x="78371" y="0"/>
                </a:moveTo>
                <a:lnTo>
                  <a:pt x="71272" y="0"/>
                </a:lnTo>
                <a:lnTo>
                  <a:pt x="68376" y="1269"/>
                </a:lnTo>
                <a:lnTo>
                  <a:pt x="68376" y="24129"/>
                </a:lnTo>
                <a:lnTo>
                  <a:pt x="81203" y="24129"/>
                </a:lnTo>
                <a:lnTo>
                  <a:pt x="81203" y="1269"/>
                </a:lnTo>
                <a:lnTo>
                  <a:pt x="78371" y="0"/>
                </a:lnTo>
                <a:close/>
              </a:path>
              <a:path w="440690" h="215900">
                <a:moveTo>
                  <a:pt x="369100" y="0"/>
                </a:moveTo>
                <a:lnTo>
                  <a:pt x="362000" y="0"/>
                </a:lnTo>
                <a:lnTo>
                  <a:pt x="359105" y="1269"/>
                </a:lnTo>
                <a:lnTo>
                  <a:pt x="359105" y="24129"/>
                </a:lnTo>
                <a:lnTo>
                  <a:pt x="371932" y="24129"/>
                </a:lnTo>
                <a:lnTo>
                  <a:pt x="371932" y="1269"/>
                </a:lnTo>
                <a:lnTo>
                  <a:pt x="369100" y="0"/>
                </a:lnTo>
                <a:close/>
              </a:path>
            </a:pathLst>
          </a:custGeom>
          <a:solidFill>
            <a:srgbClr val="BBE0E3"/>
          </a:solidFill>
        </p:spPr>
        <p:txBody>
          <a:bodyPr wrap="square" lIns="0" tIns="0" rIns="0" bIns="0" rtlCol="0"/>
          <a:lstStyle/>
          <a:p/>
        </p:txBody>
      </p:sp>
      <p:pic>
        <p:nvPicPr>
          <p:cNvPr id="7" name="object 7" descr=""/>
          <p:cNvPicPr/>
          <p:nvPr/>
        </p:nvPicPr>
        <p:blipFill>
          <a:blip r:embed="rId2" cstate="print"/>
          <a:stretch>
            <a:fillRect/>
          </a:stretch>
        </p:blipFill>
        <p:spPr>
          <a:xfrm>
            <a:off x="6644575" y="2077491"/>
            <a:ext cx="2058391" cy="1218979"/>
          </a:xfrm>
          <a:prstGeom prst="rect">
            <a:avLst/>
          </a:prstGeom>
        </p:spPr>
      </p:pic>
      <p:sp>
        <p:nvSpPr>
          <p:cNvPr id="8" name="object 8" descr=""/>
          <p:cNvSpPr txBox="1"/>
          <p:nvPr/>
        </p:nvSpPr>
        <p:spPr>
          <a:xfrm>
            <a:off x="6167067" y="3325681"/>
            <a:ext cx="127000" cy="269240"/>
          </a:xfrm>
          <a:prstGeom prst="rect">
            <a:avLst/>
          </a:prstGeom>
        </p:spPr>
        <p:txBody>
          <a:bodyPr wrap="square" lIns="0" tIns="12065" rIns="0" bIns="0" rtlCol="0" vert="horz">
            <a:spAutoFit/>
          </a:bodyPr>
          <a:lstStyle/>
          <a:p>
            <a:pPr marL="12700" marR="5080">
              <a:lnSpc>
                <a:spcPct val="100000"/>
              </a:lnSpc>
              <a:spcBef>
                <a:spcPts val="95"/>
              </a:spcBef>
            </a:pPr>
            <a:r>
              <a:rPr dirty="0" sz="800" spc="-50">
                <a:latin typeface="Microsoft YaHei"/>
                <a:cs typeface="Microsoft YaHei"/>
              </a:rPr>
              <a:t>建筑</a:t>
            </a:r>
            <a:endParaRPr sz="800">
              <a:latin typeface="Microsoft YaHei"/>
              <a:cs typeface="Microsoft YaHei"/>
            </a:endParaRPr>
          </a:p>
        </p:txBody>
      </p:sp>
      <p:sp>
        <p:nvSpPr>
          <p:cNvPr id="9" name="object 9" descr=""/>
          <p:cNvSpPr txBox="1"/>
          <p:nvPr/>
        </p:nvSpPr>
        <p:spPr>
          <a:xfrm>
            <a:off x="6668933" y="3340782"/>
            <a:ext cx="127000" cy="147320"/>
          </a:xfrm>
          <a:prstGeom prst="rect">
            <a:avLst/>
          </a:prstGeom>
        </p:spPr>
        <p:txBody>
          <a:bodyPr wrap="square" lIns="0" tIns="12065" rIns="0" bIns="0" rtlCol="0" vert="horz">
            <a:spAutoFit/>
          </a:bodyPr>
          <a:lstStyle/>
          <a:p>
            <a:pPr marL="12700">
              <a:lnSpc>
                <a:spcPct val="100000"/>
              </a:lnSpc>
              <a:spcBef>
                <a:spcPts val="95"/>
              </a:spcBef>
            </a:pPr>
            <a:r>
              <a:rPr dirty="0" sz="800" spc="-50">
                <a:latin typeface="Microsoft YaHei"/>
                <a:cs typeface="Microsoft YaHei"/>
              </a:rPr>
              <a:t>烟</a:t>
            </a:r>
            <a:endParaRPr sz="800">
              <a:latin typeface="Microsoft YaHei"/>
              <a:cs typeface="Microsoft YaHei"/>
            </a:endParaRPr>
          </a:p>
        </p:txBody>
      </p:sp>
      <p:sp>
        <p:nvSpPr>
          <p:cNvPr id="10" name="object 10" descr=""/>
          <p:cNvSpPr txBox="1"/>
          <p:nvPr/>
        </p:nvSpPr>
        <p:spPr>
          <a:xfrm>
            <a:off x="7290589" y="3182175"/>
            <a:ext cx="297180" cy="269240"/>
          </a:xfrm>
          <a:prstGeom prst="rect">
            <a:avLst/>
          </a:prstGeom>
        </p:spPr>
        <p:txBody>
          <a:bodyPr wrap="square" lIns="0" tIns="12065" rIns="0" bIns="0" rtlCol="0" vert="horz">
            <a:spAutoFit/>
          </a:bodyPr>
          <a:lstStyle/>
          <a:p>
            <a:pPr marL="12700" marR="5080">
              <a:lnSpc>
                <a:spcPct val="100000"/>
              </a:lnSpc>
              <a:spcBef>
                <a:spcPts val="95"/>
              </a:spcBef>
            </a:pPr>
            <a:r>
              <a:rPr dirty="0" sz="800" spc="-25">
                <a:latin typeface="Microsoft YaHei"/>
                <a:cs typeface="Microsoft YaHei"/>
              </a:rPr>
              <a:t>NB- </a:t>
            </a:r>
            <a:r>
              <a:rPr dirty="0" sz="800" spc="-20">
                <a:latin typeface="Microsoft YaHei"/>
                <a:cs typeface="Microsoft YaHei"/>
              </a:rPr>
              <a:t>IOT</a:t>
            </a:r>
            <a:r>
              <a:rPr dirty="0" sz="800" spc="-50">
                <a:latin typeface="Microsoft YaHei"/>
                <a:cs typeface="Microsoft YaHei"/>
              </a:rPr>
              <a:t>基</a:t>
            </a:r>
            <a:endParaRPr sz="800">
              <a:latin typeface="Microsoft YaHei"/>
              <a:cs typeface="Microsoft YaHei"/>
            </a:endParaRPr>
          </a:p>
        </p:txBody>
      </p:sp>
      <p:sp>
        <p:nvSpPr>
          <p:cNvPr id="11" name="object 11" descr=""/>
          <p:cNvSpPr txBox="1"/>
          <p:nvPr/>
        </p:nvSpPr>
        <p:spPr>
          <a:xfrm>
            <a:off x="8276686" y="3325681"/>
            <a:ext cx="329565" cy="147320"/>
          </a:xfrm>
          <a:prstGeom prst="rect">
            <a:avLst/>
          </a:prstGeom>
        </p:spPr>
        <p:txBody>
          <a:bodyPr wrap="square" lIns="0" tIns="12065" rIns="0" bIns="0" rtlCol="0" vert="horz">
            <a:spAutoFit/>
          </a:bodyPr>
          <a:lstStyle/>
          <a:p>
            <a:pPr marL="12700">
              <a:lnSpc>
                <a:spcPct val="100000"/>
              </a:lnSpc>
              <a:spcBef>
                <a:spcPts val="95"/>
              </a:spcBef>
            </a:pPr>
            <a:r>
              <a:rPr dirty="0" sz="800" spc="-25">
                <a:latin typeface="Microsoft YaHei"/>
                <a:cs typeface="Microsoft YaHei"/>
              </a:rPr>
              <a:t>处理人</a:t>
            </a:r>
            <a:endParaRPr sz="800">
              <a:latin typeface="Microsoft YaHei"/>
              <a:cs typeface="Microsoft YaHei"/>
            </a:endParaRPr>
          </a:p>
        </p:txBody>
      </p:sp>
      <p:sp>
        <p:nvSpPr>
          <p:cNvPr id="12" name="object 12" descr=""/>
          <p:cNvSpPr txBox="1"/>
          <p:nvPr/>
        </p:nvSpPr>
        <p:spPr>
          <a:xfrm>
            <a:off x="6681633" y="3432825"/>
            <a:ext cx="1709420" cy="170815"/>
          </a:xfrm>
          <a:prstGeom prst="rect">
            <a:avLst/>
          </a:prstGeom>
        </p:spPr>
        <p:txBody>
          <a:bodyPr wrap="square" lIns="0" tIns="5715" rIns="0" bIns="0" rtlCol="0" vert="horz">
            <a:spAutoFit/>
          </a:bodyPr>
          <a:lstStyle/>
          <a:p>
            <a:pPr>
              <a:lnSpc>
                <a:spcPct val="100000"/>
              </a:lnSpc>
              <a:spcBef>
                <a:spcPts val="45"/>
              </a:spcBef>
              <a:tabLst>
                <a:tab pos="621030" algn="l"/>
                <a:tab pos="1607185" algn="l"/>
              </a:tabLst>
            </a:pPr>
            <a:r>
              <a:rPr dirty="0" baseline="-20833" sz="1200" spc="-75">
                <a:latin typeface="Microsoft YaHei"/>
                <a:cs typeface="Microsoft YaHei"/>
              </a:rPr>
              <a:t>感</a:t>
            </a:r>
            <a:r>
              <a:rPr dirty="0" baseline="-20833" sz="1200">
                <a:latin typeface="Microsoft YaHei"/>
                <a:cs typeface="Microsoft YaHei"/>
              </a:rPr>
              <a:t>	</a:t>
            </a:r>
            <a:r>
              <a:rPr dirty="0" sz="800" spc="-50">
                <a:latin typeface="Microsoft YaHei"/>
                <a:cs typeface="Microsoft YaHei"/>
              </a:rPr>
              <a:t>站</a:t>
            </a:r>
            <a:r>
              <a:rPr dirty="0" sz="800">
                <a:latin typeface="Microsoft YaHei"/>
                <a:cs typeface="Microsoft YaHei"/>
              </a:rPr>
              <a:t>	</a:t>
            </a:r>
            <a:r>
              <a:rPr dirty="0" baseline="-10416" sz="1200" spc="-75">
                <a:latin typeface="Microsoft YaHei"/>
                <a:cs typeface="Microsoft YaHei"/>
              </a:rPr>
              <a:t>员</a:t>
            </a:r>
            <a:endParaRPr baseline="-10416" sz="1200">
              <a:latin typeface="Microsoft YaHei"/>
              <a:cs typeface="Microsoft YaHei"/>
            </a:endParaRPr>
          </a:p>
        </p:txBody>
      </p:sp>
      <p:sp>
        <p:nvSpPr>
          <p:cNvPr id="13" name="object 13" descr=""/>
          <p:cNvSpPr txBox="1"/>
          <p:nvPr/>
        </p:nvSpPr>
        <p:spPr>
          <a:xfrm>
            <a:off x="8217094" y="2540148"/>
            <a:ext cx="329565" cy="269240"/>
          </a:xfrm>
          <a:prstGeom prst="rect">
            <a:avLst/>
          </a:prstGeom>
        </p:spPr>
        <p:txBody>
          <a:bodyPr wrap="square" lIns="0" tIns="12065" rIns="0" bIns="0" rtlCol="0" vert="horz">
            <a:spAutoFit/>
          </a:bodyPr>
          <a:lstStyle/>
          <a:p>
            <a:pPr marL="12700" marR="5080">
              <a:lnSpc>
                <a:spcPct val="100000"/>
              </a:lnSpc>
              <a:spcBef>
                <a:spcPts val="95"/>
              </a:spcBef>
            </a:pPr>
            <a:r>
              <a:rPr dirty="0" sz="800" spc="-25">
                <a:latin typeface="Microsoft YaHei"/>
                <a:cs typeface="Microsoft YaHei"/>
              </a:rPr>
              <a:t>管理平</a:t>
            </a:r>
            <a:r>
              <a:rPr dirty="0" sz="800" spc="-50">
                <a:latin typeface="Microsoft YaHei"/>
                <a:cs typeface="Microsoft YaHei"/>
              </a:rPr>
              <a:t>台</a:t>
            </a:r>
            <a:endParaRPr sz="800">
              <a:latin typeface="Microsoft YaHei"/>
              <a:cs typeface="Microsoft YaHei"/>
            </a:endParaRPr>
          </a:p>
        </p:txBody>
      </p:sp>
      <p:sp>
        <p:nvSpPr>
          <p:cNvPr id="14" name="object 14" descr=""/>
          <p:cNvSpPr txBox="1"/>
          <p:nvPr/>
        </p:nvSpPr>
        <p:spPr>
          <a:xfrm>
            <a:off x="7732965" y="2431100"/>
            <a:ext cx="290195" cy="269240"/>
          </a:xfrm>
          <a:prstGeom prst="rect">
            <a:avLst/>
          </a:prstGeom>
        </p:spPr>
        <p:txBody>
          <a:bodyPr wrap="square" lIns="0" tIns="12065" rIns="0" bIns="0" rtlCol="0" vert="horz">
            <a:spAutoFit/>
          </a:bodyPr>
          <a:lstStyle/>
          <a:p>
            <a:pPr marL="12700" marR="5080">
              <a:lnSpc>
                <a:spcPct val="100000"/>
              </a:lnSpc>
              <a:spcBef>
                <a:spcPts val="95"/>
              </a:spcBef>
            </a:pPr>
            <a:r>
              <a:rPr dirty="0" sz="800" spc="-10">
                <a:latin typeface="Arial MT"/>
                <a:cs typeface="Arial MT"/>
              </a:rPr>
              <a:t>4G/</a:t>
            </a:r>
            <a:r>
              <a:rPr dirty="0" sz="800" spc="-60">
                <a:latin typeface="SimSun"/>
                <a:cs typeface="SimSun"/>
              </a:rPr>
              <a:t>有</a:t>
            </a:r>
            <a:r>
              <a:rPr dirty="0" sz="800" spc="-50">
                <a:latin typeface="SimSun"/>
                <a:cs typeface="SimSun"/>
              </a:rPr>
              <a:t>线</a:t>
            </a:r>
            <a:endParaRPr sz="800">
              <a:latin typeface="SimSun"/>
              <a:cs typeface="SimSun"/>
            </a:endParaRPr>
          </a:p>
        </p:txBody>
      </p:sp>
      <p:sp>
        <p:nvSpPr>
          <p:cNvPr id="15" name="object 15" descr=""/>
          <p:cNvSpPr txBox="1"/>
          <p:nvPr/>
        </p:nvSpPr>
        <p:spPr>
          <a:xfrm>
            <a:off x="7992816" y="2810134"/>
            <a:ext cx="256540" cy="391160"/>
          </a:xfrm>
          <a:prstGeom prst="rect">
            <a:avLst/>
          </a:prstGeom>
        </p:spPr>
        <p:txBody>
          <a:bodyPr wrap="square" lIns="0" tIns="12065" rIns="0" bIns="0" rtlCol="0" vert="horz">
            <a:spAutoFit/>
          </a:bodyPr>
          <a:lstStyle/>
          <a:p>
            <a:pPr algn="just" marL="12700" marR="5080">
              <a:lnSpc>
                <a:spcPct val="100000"/>
              </a:lnSpc>
              <a:spcBef>
                <a:spcPts val="95"/>
              </a:spcBef>
            </a:pPr>
            <a:r>
              <a:rPr dirty="0" sz="800" spc="-10">
                <a:latin typeface="SimSun"/>
                <a:cs typeface="SimSun"/>
              </a:rPr>
              <a:t>网络</a:t>
            </a:r>
            <a:r>
              <a:rPr dirty="0" sz="800" spc="-50">
                <a:latin typeface="Arial MT"/>
                <a:cs typeface="Arial MT"/>
              </a:rPr>
              <a:t>/</a:t>
            </a:r>
            <a:r>
              <a:rPr dirty="0" sz="800" spc="-10">
                <a:latin typeface="SimSun"/>
                <a:cs typeface="SimSun"/>
              </a:rPr>
              <a:t>短信</a:t>
            </a:r>
            <a:r>
              <a:rPr dirty="0" sz="800" spc="-50">
                <a:latin typeface="Arial MT"/>
                <a:cs typeface="Arial MT"/>
              </a:rPr>
              <a:t>/</a:t>
            </a:r>
            <a:r>
              <a:rPr dirty="0" sz="800" spc="-30">
                <a:latin typeface="SimSun"/>
                <a:cs typeface="SimSun"/>
              </a:rPr>
              <a:t>微信</a:t>
            </a:r>
            <a:endParaRPr sz="800">
              <a:latin typeface="SimSun"/>
              <a:cs typeface="SimSun"/>
            </a:endParaRPr>
          </a:p>
        </p:txBody>
      </p:sp>
      <p:grpSp>
        <p:nvGrpSpPr>
          <p:cNvPr id="16" name="object 16" descr=""/>
          <p:cNvGrpSpPr/>
          <p:nvPr/>
        </p:nvGrpSpPr>
        <p:grpSpPr>
          <a:xfrm>
            <a:off x="6269507" y="1225246"/>
            <a:ext cx="823594" cy="729615"/>
            <a:chOff x="6269507" y="1225246"/>
            <a:chExt cx="823594" cy="729615"/>
          </a:xfrm>
        </p:grpSpPr>
        <p:sp>
          <p:nvSpPr>
            <p:cNvPr id="17" name="object 17" descr=""/>
            <p:cNvSpPr/>
            <p:nvPr/>
          </p:nvSpPr>
          <p:spPr>
            <a:xfrm>
              <a:off x="6389369" y="1251203"/>
              <a:ext cx="703580" cy="703580"/>
            </a:xfrm>
            <a:custGeom>
              <a:avLst/>
              <a:gdLst/>
              <a:ahLst/>
              <a:cxnLst/>
              <a:rect l="l" t="t" r="r" b="b"/>
              <a:pathLst>
                <a:path w="703579" h="703580">
                  <a:moveTo>
                    <a:pt x="351955" y="0"/>
                  </a:moveTo>
                  <a:lnTo>
                    <a:pt x="351663" y="351663"/>
                  </a:lnTo>
                  <a:lnTo>
                    <a:pt x="18275" y="238683"/>
                  </a:lnTo>
                  <a:lnTo>
                    <a:pt x="10415" y="265707"/>
                  </a:lnTo>
                  <a:lnTo>
                    <a:pt x="4689" y="293606"/>
                  </a:lnTo>
                  <a:lnTo>
                    <a:pt x="1187" y="322288"/>
                  </a:lnTo>
                  <a:lnTo>
                    <a:pt x="0" y="351663"/>
                  </a:lnTo>
                  <a:lnTo>
                    <a:pt x="3188" y="399622"/>
                  </a:lnTo>
                  <a:lnTo>
                    <a:pt x="12482" y="445546"/>
                  </a:lnTo>
                  <a:lnTo>
                    <a:pt x="27474" y="489029"/>
                  </a:lnTo>
                  <a:lnTo>
                    <a:pt x="47757" y="529663"/>
                  </a:lnTo>
                  <a:lnTo>
                    <a:pt x="72925" y="567041"/>
                  </a:lnTo>
                  <a:lnTo>
                    <a:pt x="102569" y="600756"/>
                  </a:lnTo>
                  <a:lnTo>
                    <a:pt x="136284" y="630400"/>
                  </a:lnTo>
                  <a:lnTo>
                    <a:pt x="173662" y="655568"/>
                  </a:lnTo>
                  <a:lnTo>
                    <a:pt x="214296" y="675851"/>
                  </a:lnTo>
                  <a:lnTo>
                    <a:pt x="257779" y="690843"/>
                  </a:lnTo>
                  <a:lnTo>
                    <a:pt x="303703" y="700137"/>
                  </a:lnTo>
                  <a:lnTo>
                    <a:pt x="351663" y="703326"/>
                  </a:lnTo>
                  <a:lnTo>
                    <a:pt x="399622" y="700137"/>
                  </a:lnTo>
                  <a:lnTo>
                    <a:pt x="445546" y="690843"/>
                  </a:lnTo>
                  <a:lnTo>
                    <a:pt x="489029" y="675851"/>
                  </a:lnTo>
                  <a:lnTo>
                    <a:pt x="529663" y="655568"/>
                  </a:lnTo>
                  <a:lnTo>
                    <a:pt x="567041" y="630400"/>
                  </a:lnTo>
                  <a:lnTo>
                    <a:pt x="600756" y="600756"/>
                  </a:lnTo>
                  <a:lnTo>
                    <a:pt x="630400" y="567041"/>
                  </a:lnTo>
                  <a:lnTo>
                    <a:pt x="655568" y="529663"/>
                  </a:lnTo>
                  <a:lnTo>
                    <a:pt x="675851" y="489029"/>
                  </a:lnTo>
                  <a:lnTo>
                    <a:pt x="690843" y="445546"/>
                  </a:lnTo>
                  <a:lnTo>
                    <a:pt x="700137" y="399622"/>
                  </a:lnTo>
                  <a:lnTo>
                    <a:pt x="703326" y="351663"/>
                  </a:lnTo>
                  <a:lnTo>
                    <a:pt x="700140" y="303725"/>
                  </a:lnTo>
                  <a:lnTo>
                    <a:pt x="690855" y="257820"/>
                  </a:lnTo>
                  <a:lnTo>
                    <a:pt x="675877" y="214355"/>
                  </a:lnTo>
                  <a:lnTo>
                    <a:pt x="655613" y="173735"/>
                  </a:lnTo>
                  <a:lnTo>
                    <a:pt x="630468" y="136368"/>
                  </a:lnTo>
                  <a:lnTo>
                    <a:pt x="600849" y="102660"/>
                  </a:lnTo>
                  <a:lnTo>
                    <a:pt x="567164" y="73017"/>
                  </a:lnTo>
                  <a:lnTo>
                    <a:pt x="529817" y="47845"/>
                  </a:lnTo>
                  <a:lnTo>
                    <a:pt x="489217" y="27551"/>
                  </a:lnTo>
                  <a:lnTo>
                    <a:pt x="445768" y="12541"/>
                  </a:lnTo>
                  <a:lnTo>
                    <a:pt x="399879" y="3222"/>
                  </a:lnTo>
                  <a:lnTo>
                    <a:pt x="351955" y="0"/>
                  </a:lnTo>
                  <a:close/>
                </a:path>
              </a:pathLst>
            </a:custGeom>
            <a:solidFill>
              <a:srgbClr val="BBE0E3"/>
            </a:solidFill>
          </p:spPr>
          <p:txBody>
            <a:bodyPr wrap="square" lIns="0" tIns="0" rIns="0" bIns="0" rtlCol="0"/>
            <a:lstStyle/>
            <a:p/>
          </p:txBody>
        </p:sp>
        <p:sp>
          <p:nvSpPr>
            <p:cNvPr id="18" name="object 18" descr=""/>
            <p:cNvSpPr/>
            <p:nvPr/>
          </p:nvSpPr>
          <p:spPr>
            <a:xfrm>
              <a:off x="6407670" y="1361897"/>
              <a:ext cx="333375" cy="241300"/>
            </a:xfrm>
            <a:custGeom>
              <a:avLst/>
              <a:gdLst/>
              <a:ahLst/>
              <a:cxnLst/>
              <a:rect l="l" t="t" r="r" b="b"/>
              <a:pathLst>
                <a:path w="333375" h="241300">
                  <a:moveTo>
                    <a:pt x="76403" y="0"/>
                  </a:moveTo>
                  <a:lnTo>
                    <a:pt x="52424" y="28469"/>
                  </a:lnTo>
                  <a:lnTo>
                    <a:pt x="31543" y="59432"/>
                  </a:lnTo>
                  <a:lnTo>
                    <a:pt x="13991" y="92658"/>
                  </a:lnTo>
                  <a:lnTo>
                    <a:pt x="0" y="127914"/>
                  </a:lnTo>
                  <a:lnTo>
                    <a:pt x="333362" y="240969"/>
                  </a:lnTo>
                  <a:lnTo>
                    <a:pt x="76403" y="0"/>
                  </a:lnTo>
                  <a:close/>
                </a:path>
              </a:pathLst>
            </a:custGeom>
            <a:solidFill>
              <a:srgbClr val="333399"/>
            </a:solidFill>
          </p:spPr>
          <p:txBody>
            <a:bodyPr wrap="square" lIns="0" tIns="0" rIns="0" bIns="0" rtlCol="0"/>
            <a:lstStyle/>
            <a:p/>
          </p:txBody>
        </p:sp>
        <p:sp>
          <p:nvSpPr>
            <p:cNvPr id="19" name="object 19" descr=""/>
            <p:cNvSpPr/>
            <p:nvPr/>
          </p:nvSpPr>
          <p:spPr>
            <a:xfrm>
              <a:off x="6484264" y="1344472"/>
              <a:ext cx="257175" cy="258445"/>
            </a:xfrm>
            <a:custGeom>
              <a:avLst/>
              <a:gdLst/>
              <a:ahLst/>
              <a:cxnLst/>
              <a:rect l="l" t="t" r="r" b="b"/>
              <a:pathLst>
                <a:path w="257175" h="258444">
                  <a:moveTo>
                    <a:pt x="17335" y="0"/>
                  </a:moveTo>
                  <a:lnTo>
                    <a:pt x="11366" y="5537"/>
                  </a:lnTo>
                  <a:lnTo>
                    <a:pt x="5575" y="11277"/>
                  </a:lnTo>
                  <a:lnTo>
                    <a:pt x="0" y="17221"/>
                  </a:lnTo>
                  <a:lnTo>
                    <a:pt x="256768" y="258394"/>
                  </a:lnTo>
                  <a:lnTo>
                    <a:pt x="17335" y="0"/>
                  </a:lnTo>
                  <a:close/>
                </a:path>
              </a:pathLst>
            </a:custGeom>
            <a:solidFill>
              <a:srgbClr val="FFFFFF"/>
            </a:solidFill>
          </p:spPr>
          <p:txBody>
            <a:bodyPr wrap="square" lIns="0" tIns="0" rIns="0" bIns="0" rtlCol="0"/>
            <a:lstStyle/>
            <a:p/>
          </p:txBody>
        </p:sp>
        <p:sp>
          <p:nvSpPr>
            <p:cNvPr id="20" name="object 20" descr=""/>
            <p:cNvSpPr/>
            <p:nvPr/>
          </p:nvSpPr>
          <p:spPr>
            <a:xfrm>
              <a:off x="6501498" y="1251203"/>
              <a:ext cx="240029" cy="351790"/>
            </a:xfrm>
            <a:custGeom>
              <a:avLst/>
              <a:gdLst/>
              <a:ahLst/>
              <a:cxnLst/>
              <a:rect l="l" t="t" r="r" b="b"/>
              <a:pathLst>
                <a:path w="240029" h="351790">
                  <a:moveTo>
                    <a:pt x="239255" y="0"/>
                  </a:moveTo>
                  <a:lnTo>
                    <a:pt x="184758" y="4172"/>
                  </a:lnTo>
                  <a:lnTo>
                    <a:pt x="132982" y="16197"/>
                  </a:lnTo>
                  <a:lnTo>
                    <a:pt x="84528" y="35472"/>
                  </a:lnTo>
                  <a:lnTo>
                    <a:pt x="40000" y="61393"/>
                  </a:lnTo>
                  <a:lnTo>
                    <a:pt x="0" y="93357"/>
                  </a:lnTo>
                  <a:lnTo>
                    <a:pt x="239534" y="351663"/>
                  </a:lnTo>
                  <a:lnTo>
                    <a:pt x="239255" y="0"/>
                  </a:lnTo>
                  <a:close/>
                </a:path>
              </a:pathLst>
            </a:custGeom>
            <a:solidFill>
              <a:srgbClr val="000000"/>
            </a:solidFill>
          </p:spPr>
          <p:txBody>
            <a:bodyPr wrap="square" lIns="0" tIns="0" rIns="0" bIns="0" rtlCol="0"/>
            <a:lstStyle/>
            <a:p/>
          </p:txBody>
        </p:sp>
        <p:sp>
          <p:nvSpPr>
            <p:cNvPr id="21" name="object 21" descr=""/>
            <p:cNvSpPr/>
            <p:nvPr/>
          </p:nvSpPr>
          <p:spPr>
            <a:xfrm>
              <a:off x="6275166" y="1422200"/>
              <a:ext cx="164465" cy="78105"/>
            </a:xfrm>
            <a:custGeom>
              <a:avLst/>
              <a:gdLst/>
              <a:ahLst/>
              <a:cxnLst/>
              <a:rect l="l" t="t" r="r" b="b"/>
              <a:pathLst>
                <a:path w="164464" h="78105">
                  <a:moveTo>
                    <a:pt x="163957" y="0"/>
                  </a:moveTo>
                  <a:lnTo>
                    <a:pt x="57150" y="77546"/>
                  </a:lnTo>
                  <a:lnTo>
                    <a:pt x="0" y="77546"/>
                  </a:lnTo>
                </a:path>
              </a:pathLst>
            </a:custGeom>
            <a:ln w="9525">
              <a:solidFill>
                <a:srgbClr val="000000"/>
              </a:solidFill>
            </a:ln>
          </p:spPr>
          <p:txBody>
            <a:bodyPr wrap="square" lIns="0" tIns="0" rIns="0" bIns="0" rtlCol="0"/>
            <a:lstStyle/>
            <a:p/>
          </p:txBody>
        </p:sp>
        <p:sp>
          <p:nvSpPr>
            <p:cNvPr id="22" name="object 22" descr=""/>
            <p:cNvSpPr/>
            <p:nvPr/>
          </p:nvSpPr>
          <p:spPr>
            <a:xfrm>
              <a:off x="6274269" y="1230008"/>
              <a:ext cx="219075" cy="123825"/>
            </a:xfrm>
            <a:custGeom>
              <a:avLst/>
              <a:gdLst/>
              <a:ahLst/>
              <a:cxnLst/>
              <a:rect l="l" t="t" r="r" b="b"/>
              <a:pathLst>
                <a:path w="219075" h="123825">
                  <a:moveTo>
                    <a:pt x="218541" y="123647"/>
                  </a:moveTo>
                  <a:lnTo>
                    <a:pt x="57149" y="0"/>
                  </a:lnTo>
                  <a:lnTo>
                    <a:pt x="0" y="0"/>
                  </a:lnTo>
                </a:path>
              </a:pathLst>
            </a:custGeom>
            <a:ln w="9525">
              <a:solidFill>
                <a:srgbClr val="000000"/>
              </a:solidFill>
            </a:ln>
          </p:spPr>
          <p:txBody>
            <a:bodyPr wrap="square" lIns="0" tIns="0" rIns="0" bIns="0" rtlCol="0"/>
            <a:lstStyle/>
            <a:p/>
          </p:txBody>
        </p:sp>
      </p:grpSp>
      <p:sp>
        <p:nvSpPr>
          <p:cNvPr id="23" name="object 23" descr=""/>
          <p:cNvSpPr txBox="1"/>
          <p:nvPr/>
        </p:nvSpPr>
        <p:spPr>
          <a:xfrm>
            <a:off x="6976451" y="1880990"/>
            <a:ext cx="339725" cy="208279"/>
          </a:xfrm>
          <a:prstGeom prst="rect">
            <a:avLst/>
          </a:prstGeom>
        </p:spPr>
        <p:txBody>
          <a:bodyPr wrap="square" lIns="0" tIns="12700" rIns="0" bIns="0" rtlCol="0" vert="horz">
            <a:spAutoFit/>
          </a:bodyPr>
          <a:lstStyle/>
          <a:p>
            <a:pPr marL="12700">
              <a:lnSpc>
                <a:spcPct val="100000"/>
              </a:lnSpc>
              <a:spcBef>
                <a:spcPts val="100"/>
              </a:spcBef>
            </a:pPr>
            <a:r>
              <a:rPr dirty="0" sz="1200" spc="-25">
                <a:latin typeface="Microsoft YaHei"/>
                <a:cs typeface="Microsoft YaHei"/>
              </a:rPr>
              <a:t>80%</a:t>
            </a:r>
            <a:endParaRPr sz="1200">
              <a:latin typeface="Microsoft YaHei"/>
              <a:cs typeface="Microsoft YaHei"/>
            </a:endParaRPr>
          </a:p>
        </p:txBody>
      </p:sp>
      <p:sp>
        <p:nvSpPr>
          <p:cNvPr id="24" name="object 24" descr=""/>
          <p:cNvSpPr txBox="1"/>
          <p:nvPr/>
        </p:nvSpPr>
        <p:spPr>
          <a:xfrm>
            <a:off x="5988493" y="995241"/>
            <a:ext cx="686435" cy="551180"/>
          </a:xfrm>
          <a:prstGeom prst="rect">
            <a:avLst/>
          </a:prstGeom>
        </p:spPr>
        <p:txBody>
          <a:bodyPr wrap="square" lIns="0" tIns="12700" rIns="0" bIns="0" rtlCol="0" vert="horz">
            <a:spAutoFit/>
          </a:bodyPr>
          <a:lstStyle/>
          <a:p>
            <a:pPr marL="38100">
              <a:lnSpc>
                <a:spcPct val="100000"/>
              </a:lnSpc>
              <a:spcBef>
                <a:spcPts val="100"/>
              </a:spcBef>
            </a:pPr>
            <a:r>
              <a:rPr dirty="0" baseline="-23148" sz="1800">
                <a:latin typeface="Microsoft YaHei"/>
                <a:cs typeface="Microsoft YaHei"/>
              </a:rPr>
              <a:t>1%</a:t>
            </a:r>
            <a:r>
              <a:rPr dirty="0" baseline="-23148" sz="1800" spc="284">
                <a:latin typeface="Microsoft YaHei"/>
                <a:cs typeface="Microsoft YaHei"/>
              </a:rPr>
              <a:t> </a:t>
            </a:r>
            <a:r>
              <a:rPr dirty="0" sz="1200" spc="-25">
                <a:latin typeface="Microsoft YaHei"/>
                <a:cs typeface="Microsoft YaHei"/>
              </a:rPr>
              <a:t>12%</a:t>
            </a:r>
            <a:endParaRPr sz="1200">
              <a:latin typeface="Microsoft YaHei"/>
              <a:cs typeface="Microsoft YaHei"/>
            </a:endParaRPr>
          </a:p>
          <a:p>
            <a:pPr marL="38100">
              <a:lnSpc>
                <a:spcPct val="100000"/>
              </a:lnSpc>
              <a:spcBef>
                <a:spcPts val="1255"/>
              </a:spcBef>
            </a:pPr>
            <a:r>
              <a:rPr dirty="0" sz="1200" spc="-25">
                <a:latin typeface="Microsoft YaHei"/>
                <a:cs typeface="Microsoft YaHei"/>
              </a:rPr>
              <a:t>7%</a:t>
            </a:r>
            <a:endParaRPr sz="1200">
              <a:latin typeface="Microsoft YaHei"/>
              <a:cs typeface="Microsoft YaHei"/>
            </a:endParaRPr>
          </a:p>
        </p:txBody>
      </p:sp>
      <p:sp>
        <p:nvSpPr>
          <p:cNvPr id="25" name="object 25" descr=""/>
          <p:cNvSpPr/>
          <p:nvPr/>
        </p:nvSpPr>
        <p:spPr>
          <a:xfrm>
            <a:off x="7560564" y="1121663"/>
            <a:ext cx="91440" cy="91440"/>
          </a:xfrm>
          <a:custGeom>
            <a:avLst/>
            <a:gdLst/>
            <a:ahLst/>
            <a:cxnLst/>
            <a:rect l="l" t="t" r="r" b="b"/>
            <a:pathLst>
              <a:path w="91440" h="91440">
                <a:moveTo>
                  <a:pt x="91440" y="0"/>
                </a:moveTo>
                <a:lnTo>
                  <a:pt x="0" y="0"/>
                </a:lnTo>
                <a:lnTo>
                  <a:pt x="0" y="91439"/>
                </a:lnTo>
                <a:lnTo>
                  <a:pt x="91440" y="91439"/>
                </a:lnTo>
                <a:lnTo>
                  <a:pt x="91440" y="0"/>
                </a:lnTo>
                <a:close/>
              </a:path>
            </a:pathLst>
          </a:custGeom>
          <a:solidFill>
            <a:srgbClr val="BBE0E3"/>
          </a:solidFill>
        </p:spPr>
        <p:txBody>
          <a:bodyPr wrap="square" lIns="0" tIns="0" rIns="0" bIns="0" rtlCol="0"/>
          <a:lstStyle/>
          <a:p/>
        </p:txBody>
      </p:sp>
      <p:sp>
        <p:nvSpPr>
          <p:cNvPr id="26" name="object 26" descr=""/>
          <p:cNvSpPr txBox="1"/>
          <p:nvPr/>
        </p:nvSpPr>
        <p:spPr>
          <a:xfrm>
            <a:off x="6750977" y="733963"/>
            <a:ext cx="1258570" cy="524510"/>
          </a:xfrm>
          <a:prstGeom prst="rect">
            <a:avLst/>
          </a:prstGeom>
        </p:spPr>
        <p:txBody>
          <a:bodyPr wrap="square" lIns="0" tIns="53975" rIns="0" bIns="0" rtlCol="0" vert="horz">
            <a:spAutoFit/>
          </a:bodyPr>
          <a:lstStyle/>
          <a:p>
            <a:pPr marL="12700">
              <a:lnSpc>
                <a:spcPct val="100000"/>
              </a:lnSpc>
              <a:spcBef>
                <a:spcPts val="425"/>
              </a:spcBef>
            </a:pPr>
            <a:r>
              <a:rPr dirty="0" sz="1600" spc="-10" b="1">
                <a:latin typeface="Microsoft YaHei"/>
                <a:cs typeface="Microsoft YaHei"/>
              </a:rPr>
              <a:t>火灾场所分析</a:t>
            </a:r>
            <a:endParaRPr sz="1600">
              <a:latin typeface="Microsoft YaHei"/>
              <a:cs typeface="Microsoft YaHei"/>
            </a:endParaRPr>
          </a:p>
          <a:p>
            <a:pPr algn="r" marR="5080">
              <a:lnSpc>
                <a:spcPct val="100000"/>
              </a:lnSpc>
              <a:spcBef>
                <a:spcPts val="244"/>
              </a:spcBef>
            </a:pPr>
            <a:r>
              <a:rPr dirty="0" sz="1200" spc="-25">
                <a:latin typeface="Microsoft YaHei"/>
                <a:cs typeface="Microsoft YaHei"/>
              </a:rPr>
              <a:t>住宅</a:t>
            </a:r>
            <a:endParaRPr sz="1200">
              <a:latin typeface="Microsoft YaHei"/>
              <a:cs typeface="Microsoft YaHei"/>
            </a:endParaRPr>
          </a:p>
        </p:txBody>
      </p:sp>
      <p:sp>
        <p:nvSpPr>
          <p:cNvPr id="27" name="object 27" descr=""/>
          <p:cNvSpPr/>
          <p:nvPr/>
        </p:nvSpPr>
        <p:spPr>
          <a:xfrm>
            <a:off x="7560564" y="1628394"/>
            <a:ext cx="91440" cy="91440"/>
          </a:xfrm>
          <a:custGeom>
            <a:avLst/>
            <a:gdLst/>
            <a:ahLst/>
            <a:cxnLst/>
            <a:rect l="l" t="t" r="r" b="b"/>
            <a:pathLst>
              <a:path w="91440" h="91439">
                <a:moveTo>
                  <a:pt x="91440" y="0"/>
                </a:moveTo>
                <a:lnTo>
                  <a:pt x="0" y="0"/>
                </a:lnTo>
                <a:lnTo>
                  <a:pt x="0" y="91439"/>
                </a:lnTo>
                <a:lnTo>
                  <a:pt x="91440" y="91439"/>
                </a:lnTo>
                <a:lnTo>
                  <a:pt x="91440" y="0"/>
                </a:lnTo>
                <a:close/>
              </a:path>
            </a:pathLst>
          </a:custGeom>
          <a:solidFill>
            <a:srgbClr val="333399"/>
          </a:solidFill>
        </p:spPr>
        <p:txBody>
          <a:bodyPr wrap="square" lIns="0" tIns="0" rIns="0" bIns="0" rtlCol="0"/>
          <a:lstStyle/>
          <a:p/>
        </p:txBody>
      </p:sp>
      <p:sp>
        <p:nvSpPr>
          <p:cNvPr id="28" name="object 28" descr=""/>
          <p:cNvSpPr txBox="1"/>
          <p:nvPr/>
        </p:nvSpPr>
        <p:spPr>
          <a:xfrm>
            <a:off x="7679091" y="1478393"/>
            <a:ext cx="635000" cy="548640"/>
          </a:xfrm>
          <a:prstGeom prst="rect">
            <a:avLst/>
          </a:prstGeom>
        </p:spPr>
        <p:txBody>
          <a:bodyPr wrap="square" lIns="0" tIns="12700" rIns="0" bIns="0" rtlCol="0" vert="horz">
            <a:spAutoFit/>
          </a:bodyPr>
          <a:lstStyle/>
          <a:p>
            <a:pPr marL="12700" marR="5080">
              <a:lnSpc>
                <a:spcPct val="142900"/>
              </a:lnSpc>
              <a:spcBef>
                <a:spcPts val="100"/>
              </a:spcBef>
            </a:pPr>
            <a:r>
              <a:rPr dirty="0" sz="1200" spc="-15">
                <a:latin typeface="Microsoft YaHei"/>
                <a:cs typeface="Microsoft YaHei"/>
              </a:rPr>
              <a:t>人员密集</a:t>
            </a:r>
            <a:r>
              <a:rPr dirty="0" sz="1200" spc="-25">
                <a:latin typeface="Microsoft YaHei"/>
                <a:cs typeface="Microsoft YaHei"/>
              </a:rPr>
              <a:t>场所</a:t>
            </a:r>
            <a:endParaRPr sz="1200">
              <a:latin typeface="Microsoft YaHei"/>
              <a:cs typeface="Microsoft YaHei"/>
            </a:endParaRPr>
          </a:p>
        </p:txBody>
      </p:sp>
      <p:sp>
        <p:nvSpPr>
          <p:cNvPr id="29" name="object 29" descr=""/>
          <p:cNvSpPr/>
          <p:nvPr/>
        </p:nvSpPr>
        <p:spPr>
          <a:xfrm>
            <a:off x="766762" y="2921469"/>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30" name="object 30" descr=""/>
          <p:cNvSpPr txBox="1"/>
          <p:nvPr/>
        </p:nvSpPr>
        <p:spPr>
          <a:xfrm>
            <a:off x="420985" y="3302631"/>
            <a:ext cx="5064125" cy="574040"/>
          </a:xfrm>
          <a:prstGeom prst="rect">
            <a:avLst/>
          </a:prstGeom>
        </p:spPr>
        <p:txBody>
          <a:bodyPr wrap="square" lIns="0" tIns="104140" rIns="0" bIns="0" rtlCol="0" vert="horz">
            <a:spAutoFit/>
          </a:bodyPr>
          <a:lstStyle/>
          <a:p>
            <a:pPr marL="173355" indent="-160655">
              <a:lnSpc>
                <a:spcPct val="100000"/>
              </a:lnSpc>
              <a:spcBef>
                <a:spcPts val="820"/>
              </a:spcBef>
              <a:buFont typeface="Wingdings"/>
              <a:buChar char=""/>
              <a:tabLst>
                <a:tab pos="173355" algn="l"/>
              </a:tabLst>
            </a:pPr>
            <a:r>
              <a:rPr dirty="0" sz="1200" spc="-5">
                <a:latin typeface="Microsoft YaHei"/>
                <a:cs typeface="Microsoft YaHei"/>
              </a:rPr>
              <a:t>加强对楼宇消防的监管，进行火灾防控，及时发现、及时通知人员撤离。</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火灾监测与消防联动，有效减少伤亡和损失，并降低了人力成本。</a:t>
            </a:r>
            <a:endParaRPr sz="1200">
              <a:latin typeface="Microsoft YaHei"/>
              <a:cs typeface="Microsoft YaHei"/>
            </a:endParaRPr>
          </a:p>
        </p:txBody>
      </p:sp>
      <p:sp>
        <p:nvSpPr>
          <p:cNvPr id="31" name="object 31" descr=""/>
          <p:cNvSpPr txBox="1"/>
          <p:nvPr/>
        </p:nvSpPr>
        <p:spPr>
          <a:xfrm>
            <a:off x="1321365" y="2916144"/>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p:txBody>
      </p:sp>
      <p:sp>
        <p:nvSpPr>
          <p:cNvPr id="32" name="object 32" descr=""/>
          <p:cNvSpPr/>
          <p:nvPr/>
        </p:nvSpPr>
        <p:spPr>
          <a:xfrm>
            <a:off x="766762" y="4037419"/>
            <a:ext cx="336550" cy="210820"/>
          </a:xfrm>
          <a:custGeom>
            <a:avLst/>
            <a:gdLst/>
            <a:ahLst/>
            <a:cxnLst/>
            <a:rect l="l" t="t" r="r" b="b"/>
            <a:pathLst>
              <a:path w="336550" h="210820">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33" name="object 33" descr=""/>
          <p:cNvSpPr txBox="1"/>
          <p:nvPr/>
        </p:nvSpPr>
        <p:spPr>
          <a:xfrm>
            <a:off x="466975" y="4034800"/>
            <a:ext cx="3540125" cy="709295"/>
          </a:xfrm>
          <a:prstGeom prst="rect">
            <a:avLst/>
          </a:prstGeom>
        </p:spPr>
        <p:txBody>
          <a:bodyPr wrap="square" lIns="0" tIns="12700" rIns="0" bIns="0" rtlCol="0" vert="horz">
            <a:spAutoFit/>
          </a:bodyPr>
          <a:lstStyle/>
          <a:p>
            <a:pPr marL="890905">
              <a:lnSpc>
                <a:spcPct val="100000"/>
              </a:lnSpc>
              <a:spcBef>
                <a:spcPts val="100"/>
              </a:spcBef>
            </a:pPr>
            <a:r>
              <a:rPr dirty="0" sz="1200" spc="-20" b="1">
                <a:latin typeface="Microsoft YaHei"/>
                <a:cs typeface="Microsoft YaHei"/>
              </a:rPr>
              <a:t>为业主</a:t>
            </a:r>
            <a:endParaRPr sz="1200">
              <a:latin typeface="Microsoft YaHei"/>
              <a:cs typeface="Microsoft YaHei"/>
            </a:endParaRPr>
          </a:p>
          <a:p>
            <a:pPr>
              <a:lnSpc>
                <a:spcPct val="100000"/>
              </a:lnSpc>
              <a:spcBef>
                <a:spcPts val="290"/>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latin typeface="Microsoft YaHei"/>
                <a:cs typeface="Microsoft YaHei"/>
              </a:rPr>
              <a:t>业主可实时远程监测住户情况，并作出及时应对。</a:t>
            </a:r>
            <a:endParaRPr sz="1200">
              <a:latin typeface="Microsoft YaHei"/>
              <a:cs typeface="Microsoft YaHei"/>
            </a:endParaRPr>
          </a:p>
        </p:txBody>
      </p:sp>
      <p:grpSp>
        <p:nvGrpSpPr>
          <p:cNvPr id="34" name="object 34" descr=""/>
          <p:cNvGrpSpPr/>
          <p:nvPr/>
        </p:nvGrpSpPr>
        <p:grpSpPr>
          <a:xfrm>
            <a:off x="6158483" y="3429000"/>
            <a:ext cx="2426970" cy="1714500"/>
            <a:chOff x="6158483" y="3429000"/>
            <a:chExt cx="2426970" cy="1714500"/>
          </a:xfrm>
        </p:grpSpPr>
        <p:pic>
          <p:nvPicPr>
            <p:cNvPr id="35" name="object 35"/>
            <p:cNvPicPr/>
            <p:nvPr/>
          </p:nvPicPr>
          <p:blipFill>
            <a:blip r:embed="rId3" cstate="print"/>
            <a:stretch>
              <a:fillRect/>
            </a:stretch>
          </p:blipFill>
          <p:spPr>
            <a:xfrm>
              <a:off x="6158483" y="3600449"/>
              <a:ext cx="2426969" cy="1543049"/>
            </a:xfrm>
            <a:prstGeom prst="rect">
              <a:avLst/>
            </a:prstGeom>
          </p:spPr>
        </p:pic>
        <p:sp>
          <p:nvSpPr>
            <p:cNvPr id="36" name="object 36" descr=""/>
            <p:cNvSpPr/>
            <p:nvPr/>
          </p:nvSpPr>
          <p:spPr>
            <a:xfrm>
              <a:off x="6234709" y="3672522"/>
              <a:ext cx="2275205" cy="1471295"/>
            </a:xfrm>
            <a:custGeom>
              <a:avLst/>
              <a:gdLst/>
              <a:ahLst/>
              <a:cxnLst/>
              <a:rect l="l" t="t" r="r" b="b"/>
              <a:pathLst>
                <a:path w="2275204" h="1471295">
                  <a:moveTo>
                    <a:pt x="2274709" y="0"/>
                  </a:moveTo>
                  <a:lnTo>
                    <a:pt x="0" y="0"/>
                  </a:lnTo>
                  <a:lnTo>
                    <a:pt x="0" y="1470977"/>
                  </a:lnTo>
                  <a:lnTo>
                    <a:pt x="2274709" y="1470977"/>
                  </a:lnTo>
                  <a:lnTo>
                    <a:pt x="2274709" y="0"/>
                  </a:lnTo>
                  <a:close/>
                </a:path>
              </a:pathLst>
            </a:custGeom>
            <a:solidFill>
              <a:srgbClr val="F9F9F9"/>
            </a:solidFill>
          </p:spPr>
          <p:txBody>
            <a:bodyPr wrap="square" lIns="0" tIns="0" rIns="0" bIns="0" rtlCol="0"/>
            <a:lstStyle/>
            <a:p/>
          </p:txBody>
        </p:sp>
        <p:pic>
          <p:nvPicPr>
            <p:cNvPr id="37" name="object 37"/>
            <p:cNvPicPr/>
            <p:nvPr/>
          </p:nvPicPr>
          <p:blipFill>
            <a:blip r:embed="rId4" cstate="print"/>
            <a:stretch>
              <a:fillRect/>
            </a:stretch>
          </p:blipFill>
          <p:spPr>
            <a:xfrm>
              <a:off x="6184392" y="3429000"/>
              <a:ext cx="2371331" cy="359663"/>
            </a:xfrm>
            <a:prstGeom prst="rect">
              <a:avLst/>
            </a:prstGeom>
          </p:spPr>
        </p:pic>
        <p:pic>
          <p:nvPicPr>
            <p:cNvPr id="38" name="object 38"/>
            <p:cNvPicPr/>
            <p:nvPr/>
          </p:nvPicPr>
          <p:blipFill>
            <a:blip r:embed="rId5" cstate="print"/>
            <a:stretch>
              <a:fillRect/>
            </a:stretch>
          </p:blipFill>
          <p:spPr>
            <a:xfrm>
              <a:off x="6408955" y="4011908"/>
              <a:ext cx="485112" cy="526677"/>
            </a:xfrm>
            <a:prstGeom prst="rect">
              <a:avLst/>
            </a:prstGeom>
          </p:spPr>
        </p:pic>
        <p:pic>
          <p:nvPicPr>
            <p:cNvPr id="39" name="object 39"/>
            <p:cNvPicPr/>
            <p:nvPr/>
          </p:nvPicPr>
          <p:blipFill>
            <a:blip r:embed="rId6" cstate="print"/>
            <a:stretch>
              <a:fillRect/>
            </a:stretch>
          </p:blipFill>
          <p:spPr>
            <a:xfrm>
              <a:off x="6897755" y="3939901"/>
              <a:ext cx="1316375" cy="529266"/>
            </a:xfrm>
            <a:prstGeom prst="rect">
              <a:avLst/>
            </a:prstGeom>
          </p:spPr>
        </p:pic>
        <p:pic>
          <p:nvPicPr>
            <p:cNvPr id="40" name="object 40" descr=""/>
            <p:cNvPicPr/>
            <p:nvPr/>
          </p:nvPicPr>
          <p:blipFill>
            <a:blip r:embed="rId7" cstate="print"/>
            <a:stretch>
              <a:fillRect/>
            </a:stretch>
          </p:blipFill>
          <p:spPr>
            <a:xfrm>
              <a:off x="6411308" y="4536097"/>
              <a:ext cx="1802004" cy="587832"/>
            </a:xfrm>
            <a:prstGeom prst="rect">
              <a:avLst/>
            </a:prstGeom>
          </p:spPr>
        </p:pic>
      </p:grpSp>
      <p:sp>
        <p:nvSpPr>
          <p:cNvPr id="41" name="object 41" descr=""/>
          <p:cNvSpPr txBox="1"/>
          <p:nvPr/>
        </p:nvSpPr>
        <p:spPr>
          <a:xfrm>
            <a:off x="6748934" y="3464840"/>
            <a:ext cx="1246505" cy="269875"/>
          </a:xfrm>
          <a:prstGeom prst="rect">
            <a:avLst/>
          </a:prstGeom>
        </p:spPr>
        <p:txBody>
          <a:bodyPr wrap="square" lIns="0" tIns="12700" rIns="0" bIns="0" rtlCol="0" vert="horz">
            <a:spAutoFit/>
          </a:bodyPr>
          <a:lstStyle/>
          <a:p>
            <a:pPr marL="12700">
              <a:lnSpc>
                <a:spcPct val="100000"/>
              </a:lnSpc>
              <a:spcBef>
                <a:spcPts val="100"/>
              </a:spcBef>
            </a:pPr>
            <a:r>
              <a:rPr dirty="0" sz="1600" spc="-10" b="1">
                <a:solidFill>
                  <a:srgbClr val="FFFFFF"/>
                </a:solidFill>
                <a:latin typeface="Microsoft YaHei"/>
                <a:cs typeface="Microsoft YaHei"/>
              </a:rPr>
              <a:t>后台系统监控</a:t>
            </a:r>
            <a:endParaRPr sz="1600">
              <a:latin typeface="Microsoft YaHei"/>
              <a:cs typeface="Microsoft YaHei"/>
            </a:endParaRPr>
          </a:p>
        </p:txBody>
      </p:sp>
      <p:pic>
        <p:nvPicPr>
          <p:cNvPr id="42" name="object 42"/>
          <p:cNvPicPr/>
          <p:nvPr/>
        </p:nvPicPr>
        <p:blipFill>
          <a:blip r:embed="rId8" cstate="print"/>
          <a:stretch>
            <a:fillRect/>
          </a:stretch>
        </p:blipFill>
        <p:spPr>
          <a:xfrm>
            <a:off x="5228632" y="3550479"/>
            <a:ext cx="881858" cy="1331869"/>
          </a:xfrm>
          <a:prstGeom prst="rect">
            <a:avLst/>
          </a:prstGeom>
        </p:spPr>
      </p:pic>
      <p:sp>
        <p:nvSpPr>
          <p:cNvPr id="43" name="object 43" descr=""/>
          <p:cNvSpPr txBox="1"/>
          <p:nvPr/>
        </p:nvSpPr>
        <p:spPr>
          <a:xfrm>
            <a:off x="5237479" y="4891454"/>
            <a:ext cx="722630" cy="193040"/>
          </a:xfrm>
          <a:prstGeom prst="rect">
            <a:avLst/>
          </a:prstGeom>
        </p:spPr>
        <p:txBody>
          <a:bodyPr wrap="square" lIns="0" tIns="12065" rIns="0" bIns="0" rtlCol="0" vert="horz">
            <a:spAutoFit/>
          </a:bodyPr>
          <a:lstStyle/>
          <a:p>
            <a:pPr marL="12700">
              <a:lnSpc>
                <a:spcPct val="100000"/>
              </a:lnSpc>
              <a:spcBef>
                <a:spcPts val="95"/>
              </a:spcBef>
            </a:pPr>
            <a:r>
              <a:rPr dirty="0" sz="1100" spc="-30">
                <a:latin typeface="Microsoft YaHei"/>
                <a:cs typeface="Microsoft YaHei"/>
              </a:rPr>
              <a:t>手机客户端</a:t>
            </a:r>
            <a:endParaRPr sz="1100">
              <a:latin typeface="Microsoft YaHei"/>
              <a:cs typeface="Microsoft YaHei"/>
            </a:endParaRPr>
          </a:p>
        </p:txBody>
      </p:sp>
      <p:sp>
        <p:nvSpPr>
          <p:cNvPr id="44" name="object 44" descr=""/>
          <p:cNvSpPr/>
          <p:nvPr/>
        </p:nvSpPr>
        <p:spPr>
          <a:xfrm>
            <a:off x="776706" y="2153792"/>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5" name="object 45" descr=""/>
          <p:cNvSpPr txBox="1"/>
          <p:nvPr/>
        </p:nvSpPr>
        <p:spPr>
          <a:xfrm>
            <a:off x="466975" y="2539048"/>
            <a:ext cx="5054600" cy="299720"/>
          </a:xfrm>
          <a:prstGeom prst="rect">
            <a:avLst/>
          </a:prstGeom>
        </p:spPr>
        <p:txBody>
          <a:bodyPr wrap="square" lIns="0" tIns="12700" rIns="0" bIns="0" rtlCol="0" vert="horz">
            <a:spAutoFit/>
          </a:bodyPr>
          <a:lstStyle/>
          <a:p>
            <a:pPr marL="12700">
              <a:lnSpc>
                <a:spcPct val="100000"/>
              </a:lnSpc>
              <a:spcBef>
                <a:spcPts val="100"/>
              </a:spcBef>
            </a:pPr>
            <a:r>
              <a:rPr dirty="0" sz="1800" spc="-45">
                <a:latin typeface="SimSun"/>
                <a:cs typeface="SimSun"/>
              </a:rPr>
              <a:t>支持无线传输、烟雾传感器检测、平台联网管理。</a:t>
            </a:r>
            <a:endParaRPr sz="1800">
              <a:latin typeface="SimSun"/>
              <a:cs typeface="SimSun"/>
            </a:endParaRPr>
          </a:p>
        </p:txBody>
      </p:sp>
      <p:sp>
        <p:nvSpPr>
          <p:cNvPr id="46" name="object 46" descr=""/>
          <p:cNvSpPr txBox="1"/>
          <p:nvPr/>
        </p:nvSpPr>
        <p:spPr>
          <a:xfrm>
            <a:off x="1309131" y="2162152"/>
            <a:ext cx="942975" cy="299720"/>
          </a:xfrm>
          <a:prstGeom prst="rect">
            <a:avLst/>
          </a:prstGeom>
        </p:spPr>
        <p:txBody>
          <a:bodyPr wrap="square" lIns="0" tIns="12700" rIns="0" bIns="0" rtlCol="0" vert="horz">
            <a:spAutoFit/>
          </a:bodyPr>
          <a:lstStyle/>
          <a:p>
            <a:pPr marL="12700">
              <a:lnSpc>
                <a:spcPct val="100000"/>
              </a:lnSpc>
              <a:spcBef>
                <a:spcPts val="100"/>
              </a:spcBef>
            </a:pPr>
            <a:r>
              <a:rPr dirty="0" sz="1800" spc="-15">
                <a:latin typeface="SimSun"/>
                <a:cs typeface="SimSun"/>
              </a:rPr>
              <a:t>产品功能</a:t>
            </a:r>
            <a:endParaRPr sz="1800">
              <a:latin typeface="SimSun"/>
              <a:cs typeface="SimSu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252" y="153605"/>
            <a:ext cx="3951604" cy="513080"/>
          </a:xfrm>
          <a:prstGeom prst="rect"/>
        </p:spPr>
        <p:txBody>
          <a:bodyPr wrap="square" lIns="0" tIns="12065" rIns="0" bIns="0" rtlCol="0" vert="horz">
            <a:spAutoFit/>
          </a:bodyPr>
          <a:lstStyle/>
          <a:p>
            <a:pPr marL="12700">
              <a:lnSpc>
                <a:spcPct val="100000"/>
              </a:lnSpc>
              <a:spcBef>
                <a:spcPts val="95"/>
              </a:spcBef>
            </a:pPr>
            <a:r>
              <a:rPr dirty="0" spc="-335"/>
              <a:t>远程无线抄表</a:t>
            </a:r>
            <a:r>
              <a:rPr dirty="0" sz="2000" spc="-320" b="0">
                <a:solidFill>
                  <a:srgbClr val="FF0000"/>
                </a:solidFill>
                <a:latin typeface="SimSun"/>
                <a:cs typeface="SimSun"/>
              </a:rPr>
              <a:t>●</a:t>
            </a:r>
            <a:r>
              <a:rPr dirty="0" spc="-355"/>
              <a:t>功能特点</a:t>
            </a:r>
            <a:endParaRPr sz="2000">
              <a:latin typeface="SimSun"/>
              <a:cs typeface="SimSun"/>
            </a:endParaRPr>
          </a:p>
        </p:txBody>
      </p:sp>
      <p:sp>
        <p:nvSpPr>
          <p:cNvPr id="3" name="object 3" descr=""/>
          <p:cNvSpPr txBox="1"/>
          <p:nvPr/>
        </p:nvSpPr>
        <p:spPr>
          <a:xfrm>
            <a:off x="703229" y="883070"/>
            <a:ext cx="7898130" cy="885190"/>
          </a:xfrm>
          <a:prstGeom prst="rect">
            <a:avLst/>
          </a:prstGeom>
        </p:spPr>
        <p:txBody>
          <a:bodyPr wrap="square" lIns="0" tIns="12700" rIns="0" bIns="0" rtlCol="0" vert="horz">
            <a:spAutoFit/>
          </a:bodyPr>
          <a:lstStyle/>
          <a:p>
            <a:pPr marL="354965" marR="5080" indent="-342900">
              <a:lnSpc>
                <a:spcPct val="150000"/>
              </a:lnSpc>
              <a:spcBef>
                <a:spcPts val="100"/>
              </a:spcBef>
              <a:buFont typeface="Wingdings"/>
              <a:buChar char=""/>
              <a:tabLst>
                <a:tab pos="354965" algn="l"/>
              </a:tabLst>
            </a:pPr>
            <a:r>
              <a:rPr dirty="0" sz="1200">
                <a:latin typeface="SimSun"/>
                <a:cs typeface="SimSun"/>
              </a:rPr>
              <a:t>设备主要功能：支持三相互感式接入、直接接入、单相表，通过物联网技术</a:t>
            </a:r>
            <a:r>
              <a:rPr dirty="0" sz="1200" spc="-10">
                <a:latin typeface="SimSun"/>
                <a:cs typeface="SimSun"/>
              </a:rPr>
              <a:t>（</a:t>
            </a:r>
            <a:r>
              <a:rPr dirty="0" sz="1200" spc="-10">
                <a:latin typeface="Arial MT"/>
                <a:cs typeface="Arial MT"/>
              </a:rPr>
              <a:t>NB-IOT</a:t>
            </a:r>
            <a:r>
              <a:rPr dirty="0" sz="1200" spc="-10">
                <a:latin typeface="SimSun"/>
                <a:cs typeface="SimSun"/>
              </a:rPr>
              <a:t>）</a:t>
            </a:r>
            <a:r>
              <a:rPr dirty="0" sz="1200" spc="-5">
                <a:latin typeface="SimSun"/>
                <a:cs typeface="SimSun"/>
              </a:rPr>
              <a:t>多频模块；组网支持多频点，运营商的物联网络均可。</a:t>
            </a:r>
            <a:endParaRPr sz="1200">
              <a:latin typeface="SimSun"/>
              <a:cs typeface="SimSun"/>
            </a:endParaRPr>
          </a:p>
          <a:p>
            <a:pPr marL="354965" indent="-342265">
              <a:lnSpc>
                <a:spcPct val="100000"/>
              </a:lnSpc>
              <a:spcBef>
                <a:spcPts val="1005"/>
              </a:spcBef>
              <a:buFont typeface="Wingdings"/>
              <a:buChar char=""/>
              <a:tabLst>
                <a:tab pos="354965" algn="l"/>
              </a:tabLst>
            </a:pPr>
            <a:r>
              <a:rPr dirty="0" sz="1200">
                <a:latin typeface="SimSun"/>
                <a:cs typeface="SimSun"/>
              </a:rPr>
              <a:t>组网方式：水／电／煤表直接与平台连接，手机</a:t>
            </a:r>
            <a:r>
              <a:rPr dirty="0" sz="1200" spc="-10">
                <a:latin typeface="Arial MT"/>
                <a:cs typeface="Arial MT"/>
              </a:rPr>
              <a:t>APP</a:t>
            </a:r>
            <a:r>
              <a:rPr dirty="0" sz="1200" spc="-5">
                <a:latin typeface="SimSun"/>
                <a:cs typeface="SimSun"/>
              </a:rPr>
              <a:t>随时掌握能源使用情况。</a:t>
            </a:r>
            <a:endParaRPr sz="1200">
              <a:latin typeface="SimSun"/>
              <a:cs typeface="SimSun"/>
            </a:endParaRPr>
          </a:p>
        </p:txBody>
      </p:sp>
      <p:pic>
        <p:nvPicPr>
          <p:cNvPr id="4" name="object 4"/>
          <p:cNvPicPr/>
          <p:nvPr/>
        </p:nvPicPr>
        <p:blipFill>
          <a:blip r:embed="rId2" cstate="print"/>
          <a:stretch>
            <a:fillRect/>
          </a:stretch>
        </p:blipFill>
        <p:spPr>
          <a:xfrm>
            <a:off x="736003" y="2334849"/>
            <a:ext cx="3243233" cy="1657825"/>
          </a:xfrm>
          <a:prstGeom prst="rect">
            <a:avLst/>
          </a:prstGeom>
        </p:spPr>
      </p:pic>
      <p:pic>
        <p:nvPicPr>
          <p:cNvPr id="5" name="object 5"/>
          <p:cNvPicPr/>
          <p:nvPr/>
        </p:nvPicPr>
        <p:blipFill>
          <a:blip r:embed="rId3" cstate="print"/>
          <a:stretch>
            <a:fillRect/>
          </a:stretch>
        </p:blipFill>
        <p:spPr>
          <a:xfrm>
            <a:off x="4389645" y="2366748"/>
            <a:ext cx="1997832" cy="1580588"/>
          </a:xfrm>
          <a:prstGeom prst="rect">
            <a:avLst/>
          </a:prstGeom>
        </p:spPr>
      </p:pic>
      <p:pic>
        <p:nvPicPr>
          <p:cNvPr id="6" name="object 6"/>
          <p:cNvPicPr/>
          <p:nvPr/>
        </p:nvPicPr>
        <p:blipFill>
          <a:blip r:embed="rId4" cstate="print"/>
          <a:stretch>
            <a:fillRect/>
          </a:stretch>
        </p:blipFill>
        <p:spPr>
          <a:xfrm>
            <a:off x="6845363" y="2366748"/>
            <a:ext cx="1478432" cy="1580588"/>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75203" y="157839"/>
            <a:ext cx="2846705" cy="513080"/>
          </a:xfrm>
          <a:prstGeom prst="rect"/>
        </p:spPr>
        <p:txBody>
          <a:bodyPr wrap="square" lIns="0" tIns="12065" rIns="0" bIns="0" rtlCol="0" vert="horz">
            <a:spAutoFit/>
          </a:bodyPr>
          <a:lstStyle/>
          <a:p>
            <a:pPr marL="12700">
              <a:lnSpc>
                <a:spcPct val="100000"/>
              </a:lnSpc>
              <a:spcBef>
                <a:spcPts val="95"/>
              </a:spcBef>
            </a:pPr>
            <a:r>
              <a:rPr dirty="0" spc="-330"/>
              <a:t>垃圾桶</a:t>
            </a:r>
            <a:r>
              <a:rPr dirty="0" sz="2000" spc="-315" b="0">
                <a:solidFill>
                  <a:srgbClr val="FF0000"/>
                </a:solidFill>
                <a:latin typeface="SimSun"/>
                <a:cs typeface="SimSun"/>
              </a:rPr>
              <a:t>●</a:t>
            </a:r>
            <a:r>
              <a:rPr dirty="0" spc="-355"/>
              <a:t>功能特点</a:t>
            </a:r>
            <a:endParaRPr sz="2000">
              <a:latin typeface="SimSun"/>
              <a:cs typeface="SimSun"/>
            </a:endParaRPr>
          </a:p>
        </p:txBody>
      </p:sp>
      <p:sp>
        <p:nvSpPr>
          <p:cNvPr id="3" name="object 3" descr=""/>
          <p:cNvSpPr txBox="1"/>
          <p:nvPr/>
        </p:nvSpPr>
        <p:spPr>
          <a:xfrm>
            <a:off x="509535" y="1115399"/>
            <a:ext cx="4178300" cy="2164080"/>
          </a:xfrm>
          <a:prstGeom prst="rect">
            <a:avLst/>
          </a:prstGeom>
        </p:spPr>
        <p:txBody>
          <a:bodyPr wrap="square" lIns="0" tIns="128905" rIns="0" bIns="0" rtlCol="0" vert="horz">
            <a:spAutoFit/>
          </a:bodyPr>
          <a:lstStyle/>
          <a:p>
            <a:pPr marL="12700">
              <a:lnSpc>
                <a:spcPct val="100000"/>
              </a:lnSpc>
              <a:spcBef>
                <a:spcPts val="1015"/>
              </a:spcBef>
            </a:pPr>
            <a:r>
              <a:rPr dirty="0" sz="1500" spc="-10">
                <a:latin typeface="SimSun"/>
                <a:cs typeface="SimSun"/>
              </a:rPr>
              <a:t>主要功能特点：</a:t>
            </a:r>
            <a:endParaRPr sz="1500">
              <a:latin typeface="SimSun"/>
              <a:cs typeface="SimSun"/>
            </a:endParaRPr>
          </a:p>
          <a:p>
            <a:pPr marL="354965" indent="-342265">
              <a:lnSpc>
                <a:spcPct val="100000"/>
              </a:lnSpc>
              <a:spcBef>
                <a:spcPts val="730"/>
              </a:spcBef>
              <a:buFont typeface="Wingdings"/>
              <a:buChar char=""/>
              <a:tabLst>
                <a:tab pos="354965" algn="l"/>
              </a:tabLst>
            </a:pPr>
            <a:r>
              <a:rPr dirty="0" sz="1200">
                <a:latin typeface="SimSun"/>
                <a:cs typeface="SimSun"/>
              </a:rPr>
              <a:t>载量监测：可感应固体（</a:t>
            </a:r>
            <a:r>
              <a:rPr dirty="0" sz="1200" spc="-5">
                <a:latin typeface="SimSun"/>
                <a:cs typeface="SimSun"/>
              </a:rPr>
              <a:t>一般废物，纸，玻璃，电子垃圾</a:t>
            </a:r>
            <a:endParaRPr sz="1200">
              <a:latin typeface="SimSun"/>
              <a:cs typeface="SimSun"/>
            </a:endParaRPr>
          </a:p>
          <a:p>
            <a:pPr marL="355600">
              <a:lnSpc>
                <a:spcPct val="100000"/>
              </a:lnSpc>
              <a:spcBef>
                <a:spcPts val="720"/>
              </a:spcBef>
            </a:pPr>
            <a:r>
              <a:rPr dirty="0" sz="1200">
                <a:latin typeface="SimSun"/>
                <a:cs typeface="SimSun"/>
              </a:rPr>
              <a:t>，纺织品等）和液体（油，污，泥，农产品等）</a:t>
            </a:r>
            <a:r>
              <a:rPr dirty="0" sz="1200" spc="-50">
                <a:latin typeface="SimSun"/>
                <a:cs typeface="SimSun"/>
              </a:rPr>
              <a:t>。</a:t>
            </a:r>
            <a:endParaRPr sz="1200">
              <a:latin typeface="SimSun"/>
              <a:cs typeface="SimSun"/>
            </a:endParaRPr>
          </a:p>
          <a:p>
            <a:pPr marL="354965" indent="-342265">
              <a:lnSpc>
                <a:spcPct val="100000"/>
              </a:lnSpc>
              <a:spcBef>
                <a:spcPts val="1010"/>
              </a:spcBef>
              <a:buFont typeface="Wingdings"/>
              <a:buChar char=""/>
              <a:tabLst>
                <a:tab pos="354965" algn="l"/>
              </a:tabLst>
            </a:pPr>
            <a:r>
              <a:rPr dirty="0" sz="1200" spc="-5">
                <a:latin typeface="SimSun"/>
                <a:cs typeface="SimSun"/>
              </a:rPr>
              <a:t>电子标签：实现资产信息管理。</a:t>
            </a:r>
            <a:endParaRPr sz="1200">
              <a:latin typeface="SimSun"/>
              <a:cs typeface="SimSun"/>
            </a:endParaRPr>
          </a:p>
          <a:p>
            <a:pPr marL="354965" indent="-342265">
              <a:lnSpc>
                <a:spcPct val="100000"/>
              </a:lnSpc>
              <a:spcBef>
                <a:spcPts val="1005"/>
              </a:spcBef>
              <a:buFont typeface="Wingdings"/>
              <a:buChar char=""/>
              <a:tabLst>
                <a:tab pos="354965" algn="l"/>
              </a:tabLst>
            </a:pPr>
            <a:r>
              <a:rPr dirty="0" sz="1200" spc="-5">
                <a:latin typeface="SimSun"/>
                <a:cs typeface="SimSun"/>
              </a:rPr>
              <a:t>电池状态自检：设备电池状态自检，实现低电量报警。</a:t>
            </a:r>
            <a:endParaRPr sz="1200">
              <a:latin typeface="SimSun"/>
              <a:cs typeface="SimSun"/>
            </a:endParaRPr>
          </a:p>
          <a:p>
            <a:pPr marL="354965" indent="-342265">
              <a:lnSpc>
                <a:spcPct val="100000"/>
              </a:lnSpc>
              <a:spcBef>
                <a:spcPts val="1010"/>
              </a:spcBef>
              <a:buFont typeface="Wingdings"/>
              <a:buChar char=""/>
              <a:tabLst>
                <a:tab pos="354965" algn="l"/>
              </a:tabLst>
            </a:pPr>
            <a:r>
              <a:rPr dirty="0" sz="1200" spc="-5">
                <a:latin typeface="SimSun"/>
                <a:cs typeface="SimSun"/>
              </a:rPr>
              <a:t>专为恶劣环境设计：防护等级高，电池寿命长。</a:t>
            </a:r>
            <a:endParaRPr sz="1200">
              <a:latin typeface="SimSun"/>
              <a:cs typeface="SimSun"/>
            </a:endParaRPr>
          </a:p>
          <a:p>
            <a:pPr marL="354965" indent="-342265">
              <a:lnSpc>
                <a:spcPct val="100000"/>
              </a:lnSpc>
              <a:spcBef>
                <a:spcPts val="1005"/>
              </a:spcBef>
              <a:buFont typeface="Wingdings"/>
              <a:buChar char=""/>
              <a:tabLst>
                <a:tab pos="354965" algn="l"/>
              </a:tabLst>
            </a:pPr>
            <a:r>
              <a:rPr dirty="0" sz="1200" spc="-5">
                <a:latin typeface="SimSun"/>
                <a:cs typeface="SimSun"/>
              </a:rPr>
              <a:t>支持物联联网技术无线传输；高灵敏度，远距离传输。</a:t>
            </a:r>
            <a:endParaRPr sz="1200">
              <a:latin typeface="SimSun"/>
              <a:cs typeface="SimSun"/>
            </a:endParaRPr>
          </a:p>
        </p:txBody>
      </p:sp>
      <p:pic>
        <p:nvPicPr>
          <p:cNvPr id="4" name="object 4"/>
          <p:cNvPicPr/>
          <p:nvPr/>
        </p:nvPicPr>
        <p:blipFill>
          <a:blip r:embed="rId2" cstate="print"/>
          <a:stretch>
            <a:fillRect/>
          </a:stretch>
        </p:blipFill>
        <p:spPr>
          <a:xfrm>
            <a:off x="4835156" y="1075778"/>
            <a:ext cx="3895723" cy="3063709"/>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4702" y="149372"/>
            <a:ext cx="2846705" cy="513080"/>
          </a:xfrm>
          <a:prstGeom prst="rect"/>
        </p:spPr>
        <p:txBody>
          <a:bodyPr wrap="square" lIns="0" tIns="12065" rIns="0" bIns="0" rtlCol="0" vert="horz">
            <a:spAutoFit/>
          </a:bodyPr>
          <a:lstStyle/>
          <a:p>
            <a:pPr marL="12700">
              <a:lnSpc>
                <a:spcPct val="100000"/>
              </a:lnSpc>
              <a:spcBef>
                <a:spcPts val="95"/>
              </a:spcBef>
            </a:pPr>
            <a:r>
              <a:rPr dirty="0" spc="-330"/>
              <a:t>垃圾桶</a:t>
            </a:r>
            <a:r>
              <a:rPr dirty="0" sz="2000" spc="-315" b="0">
                <a:solidFill>
                  <a:srgbClr val="FF0000"/>
                </a:solidFill>
                <a:latin typeface="SimSun"/>
                <a:cs typeface="SimSun"/>
              </a:rPr>
              <a:t>●</a:t>
            </a:r>
            <a:r>
              <a:rPr dirty="0" spc="-355"/>
              <a:t>客户价值</a:t>
            </a:r>
            <a:endParaRPr sz="2000">
              <a:latin typeface="SimSun"/>
              <a:cs typeface="SimSun"/>
            </a:endParaRPr>
          </a:p>
        </p:txBody>
      </p:sp>
      <p:sp>
        <p:nvSpPr>
          <p:cNvPr id="3" name="object 3" descr=""/>
          <p:cNvSpPr/>
          <p:nvPr/>
        </p:nvSpPr>
        <p:spPr>
          <a:xfrm>
            <a:off x="1057719" y="995730"/>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txBox="1"/>
          <p:nvPr/>
        </p:nvSpPr>
        <p:spPr>
          <a:xfrm>
            <a:off x="861185" y="990400"/>
            <a:ext cx="6130925" cy="1235075"/>
          </a:xfrm>
          <a:prstGeom prst="rect">
            <a:avLst/>
          </a:prstGeom>
        </p:spPr>
        <p:txBody>
          <a:bodyPr wrap="square" lIns="0" tIns="12700" rIns="0" bIns="0" rtlCol="0" vert="horz">
            <a:spAutoFit/>
          </a:bodyPr>
          <a:lstStyle/>
          <a:p>
            <a:pPr marL="71056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a:lnSpc>
                <a:spcPct val="100000"/>
              </a:lnSpc>
              <a:spcBef>
                <a:spcPts val="110"/>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latin typeface="Microsoft YaHei"/>
                <a:cs typeface="Microsoft YaHei"/>
              </a:rPr>
              <a:t>可自动检测垃圾桶载量情况，方便保洁员高效垃圾清运，提升工作效率，降低人力成本。</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对垃圾进行分类感应管理，方便物业有效的进行废旧物资循环回收。</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通知垃圾桶的电子标签，实现资产信息管理，提升工作效率，降低人力成本。</a:t>
            </a:r>
            <a:endParaRPr sz="1200">
              <a:latin typeface="Microsoft YaHei"/>
              <a:cs typeface="Microsoft YaHei"/>
            </a:endParaRPr>
          </a:p>
        </p:txBody>
      </p:sp>
      <p:pic>
        <p:nvPicPr>
          <p:cNvPr id="5" name="object 5"/>
          <p:cNvPicPr/>
          <p:nvPr/>
        </p:nvPicPr>
        <p:blipFill>
          <a:blip r:embed="rId2" cstate="print"/>
          <a:stretch>
            <a:fillRect/>
          </a:stretch>
        </p:blipFill>
        <p:spPr>
          <a:xfrm>
            <a:off x="5986036" y="2643809"/>
            <a:ext cx="2487187" cy="1547681"/>
          </a:xfrm>
          <a:prstGeom prst="rect">
            <a:avLst/>
          </a:prstGeom>
        </p:spPr>
      </p:pic>
      <p:pic>
        <p:nvPicPr>
          <p:cNvPr id="6" name="object 6"/>
          <p:cNvPicPr/>
          <p:nvPr/>
        </p:nvPicPr>
        <p:blipFill>
          <a:blip r:embed="rId3" cstate="print"/>
          <a:stretch>
            <a:fillRect/>
          </a:stretch>
        </p:blipFill>
        <p:spPr>
          <a:xfrm>
            <a:off x="3344875" y="2643809"/>
            <a:ext cx="2453124" cy="1547681"/>
          </a:xfrm>
          <a:prstGeom prst="rect">
            <a:avLst/>
          </a:prstGeom>
        </p:spPr>
      </p:pic>
      <p:pic>
        <p:nvPicPr>
          <p:cNvPr id="7" name="object 7"/>
          <p:cNvPicPr/>
          <p:nvPr/>
        </p:nvPicPr>
        <p:blipFill>
          <a:blip r:embed="rId4" cstate="print"/>
          <a:stretch>
            <a:fillRect/>
          </a:stretch>
        </p:blipFill>
        <p:spPr>
          <a:xfrm>
            <a:off x="774179" y="2643809"/>
            <a:ext cx="2356916" cy="154768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2197" y="119739"/>
            <a:ext cx="3228340" cy="513080"/>
          </a:xfrm>
          <a:prstGeom prst="rect"/>
        </p:spPr>
        <p:txBody>
          <a:bodyPr wrap="square" lIns="0" tIns="12065" rIns="0" bIns="0" rtlCol="0" vert="horz">
            <a:spAutoFit/>
          </a:bodyPr>
          <a:lstStyle/>
          <a:p>
            <a:pPr marL="12700">
              <a:lnSpc>
                <a:spcPct val="100000"/>
              </a:lnSpc>
              <a:spcBef>
                <a:spcPts val="95"/>
              </a:spcBef>
            </a:pPr>
            <a:r>
              <a:rPr dirty="0" spc="-330"/>
              <a:t>智慧照明</a:t>
            </a:r>
            <a:r>
              <a:rPr dirty="0" sz="2000" spc="-315" b="0">
                <a:solidFill>
                  <a:srgbClr val="FF0000"/>
                </a:solidFill>
                <a:latin typeface="SimSun"/>
                <a:cs typeface="SimSun"/>
              </a:rPr>
              <a:t>●</a:t>
            </a:r>
            <a:r>
              <a:rPr dirty="0" spc="-270"/>
              <a:t>功能特点</a:t>
            </a:r>
            <a:endParaRPr sz="2000">
              <a:latin typeface="SimSun"/>
              <a:cs typeface="SimSun"/>
            </a:endParaRPr>
          </a:p>
        </p:txBody>
      </p:sp>
      <p:grpSp>
        <p:nvGrpSpPr>
          <p:cNvPr id="3" name="object 3" descr=""/>
          <p:cNvGrpSpPr/>
          <p:nvPr/>
        </p:nvGrpSpPr>
        <p:grpSpPr>
          <a:xfrm>
            <a:off x="4725720" y="3542741"/>
            <a:ext cx="542290" cy="1328420"/>
            <a:chOff x="4725720" y="3542741"/>
            <a:chExt cx="542290" cy="1328420"/>
          </a:xfrm>
        </p:grpSpPr>
        <p:sp>
          <p:nvSpPr>
            <p:cNvPr id="4" name="object 4" descr=""/>
            <p:cNvSpPr/>
            <p:nvPr/>
          </p:nvSpPr>
          <p:spPr>
            <a:xfrm>
              <a:off x="4725720" y="4608347"/>
              <a:ext cx="542290" cy="24130"/>
            </a:xfrm>
            <a:custGeom>
              <a:avLst/>
              <a:gdLst/>
              <a:ahLst/>
              <a:cxnLst/>
              <a:rect l="l" t="t" r="r" b="b"/>
              <a:pathLst>
                <a:path w="542289" h="24129">
                  <a:moveTo>
                    <a:pt x="0" y="23812"/>
                  </a:moveTo>
                  <a:lnTo>
                    <a:pt x="541731" y="23812"/>
                  </a:lnTo>
                  <a:lnTo>
                    <a:pt x="541731" y="0"/>
                  </a:lnTo>
                  <a:lnTo>
                    <a:pt x="0" y="0"/>
                  </a:lnTo>
                  <a:lnTo>
                    <a:pt x="0" y="23812"/>
                  </a:lnTo>
                  <a:close/>
                </a:path>
              </a:pathLst>
            </a:custGeom>
            <a:solidFill>
              <a:srgbClr val="BBE0E3">
                <a:alpha val="39999"/>
              </a:srgbClr>
            </a:solidFill>
          </p:spPr>
          <p:txBody>
            <a:bodyPr wrap="square" lIns="0" tIns="0" rIns="0" bIns="0" rtlCol="0"/>
            <a:lstStyle/>
            <a:p/>
          </p:txBody>
        </p:sp>
        <p:pic>
          <p:nvPicPr>
            <p:cNvPr id="5" name="object 5"/>
            <p:cNvPicPr/>
            <p:nvPr/>
          </p:nvPicPr>
          <p:blipFill>
            <a:blip r:embed="rId2" cstate="print"/>
            <a:stretch>
              <a:fillRect/>
            </a:stretch>
          </p:blipFill>
          <p:spPr>
            <a:xfrm>
              <a:off x="4725720" y="3542741"/>
              <a:ext cx="541731" cy="1037028"/>
            </a:xfrm>
            <a:prstGeom prst="rect">
              <a:avLst/>
            </a:prstGeom>
          </p:spPr>
        </p:pic>
        <p:sp>
          <p:nvSpPr>
            <p:cNvPr id="6" name="object 6" descr=""/>
            <p:cNvSpPr/>
            <p:nvPr/>
          </p:nvSpPr>
          <p:spPr>
            <a:xfrm>
              <a:off x="4725720" y="4632159"/>
              <a:ext cx="542290" cy="238760"/>
            </a:xfrm>
            <a:custGeom>
              <a:avLst/>
              <a:gdLst/>
              <a:ahLst/>
              <a:cxnLst/>
              <a:rect l="l" t="t" r="r" b="b"/>
              <a:pathLst>
                <a:path w="542289" h="238760">
                  <a:moveTo>
                    <a:pt x="541731" y="0"/>
                  </a:moveTo>
                  <a:lnTo>
                    <a:pt x="0" y="0"/>
                  </a:lnTo>
                  <a:lnTo>
                    <a:pt x="0" y="238531"/>
                  </a:lnTo>
                  <a:lnTo>
                    <a:pt x="541731" y="238531"/>
                  </a:lnTo>
                  <a:lnTo>
                    <a:pt x="541731" y="0"/>
                  </a:lnTo>
                  <a:close/>
                </a:path>
              </a:pathLst>
            </a:custGeom>
            <a:solidFill>
              <a:srgbClr val="666666"/>
            </a:solidFill>
          </p:spPr>
          <p:txBody>
            <a:bodyPr wrap="square" lIns="0" tIns="0" rIns="0" bIns="0" rtlCol="0"/>
            <a:lstStyle/>
            <a:p/>
          </p:txBody>
        </p:sp>
      </p:grpSp>
      <p:pic>
        <p:nvPicPr>
          <p:cNvPr id="7" name="object 7"/>
          <p:cNvPicPr/>
          <p:nvPr/>
        </p:nvPicPr>
        <p:blipFill>
          <a:blip r:embed="rId3" cstate="print"/>
          <a:stretch>
            <a:fillRect/>
          </a:stretch>
        </p:blipFill>
        <p:spPr>
          <a:xfrm>
            <a:off x="5742520" y="3542735"/>
            <a:ext cx="2022867" cy="1052505"/>
          </a:xfrm>
          <a:prstGeom prst="rect">
            <a:avLst/>
          </a:prstGeom>
        </p:spPr>
      </p:pic>
      <p:pic>
        <p:nvPicPr>
          <p:cNvPr id="8" name="object 8" descr=""/>
          <p:cNvPicPr/>
          <p:nvPr/>
        </p:nvPicPr>
        <p:blipFill>
          <a:blip r:embed="rId4" cstate="print"/>
          <a:stretch>
            <a:fillRect/>
          </a:stretch>
        </p:blipFill>
        <p:spPr>
          <a:xfrm>
            <a:off x="3572002" y="3542741"/>
            <a:ext cx="590550" cy="1081087"/>
          </a:xfrm>
          <a:prstGeom prst="rect">
            <a:avLst/>
          </a:prstGeom>
        </p:spPr>
      </p:pic>
      <p:pic>
        <p:nvPicPr>
          <p:cNvPr id="9" name="object 9"/>
          <p:cNvPicPr/>
          <p:nvPr/>
        </p:nvPicPr>
        <p:blipFill>
          <a:blip r:embed="rId5" cstate="print"/>
          <a:stretch>
            <a:fillRect/>
          </a:stretch>
        </p:blipFill>
        <p:spPr>
          <a:xfrm>
            <a:off x="1397927" y="3553450"/>
            <a:ext cx="1844274" cy="1037027"/>
          </a:xfrm>
          <a:prstGeom prst="rect">
            <a:avLst/>
          </a:prstGeom>
        </p:spPr>
      </p:pic>
      <p:sp>
        <p:nvSpPr>
          <p:cNvPr id="10" name="object 10" descr=""/>
          <p:cNvSpPr txBox="1"/>
          <p:nvPr/>
        </p:nvSpPr>
        <p:spPr>
          <a:xfrm>
            <a:off x="1397927" y="4608347"/>
            <a:ext cx="1844675" cy="226695"/>
          </a:xfrm>
          <a:prstGeom prst="rect">
            <a:avLst/>
          </a:prstGeom>
          <a:solidFill>
            <a:srgbClr val="666666"/>
          </a:solidFill>
        </p:spPr>
        <p:txBody>
          <a:bodyPr wrap="square" lIns="0" tIns="43815" rIns="0" bIns="0" rtlCol="0" vert="horz">
            <a:spAutoFit/>
          </a:bodyPr>
          <a:lstStyle/>
          <a:p>
            <a:pPr algn="ctr">
              <a:lnSpc>
                <a:spcPct val="100000"/>
              </a:lnSpc>
              <a:spcBef>
                <a:spcPts val="345"/>
              </a:spcBef>
            </a:pPr>
            <a:r>
              <a:rPr dirty="0" sz="1100" spc="-10" b="1">
                <a:latin typeface="Microsoft YaHei"/>
                <a:cs typeface="Microsoft YaHei"/>
              </a:rPr>
              <a:t>WEB</a:t>
            </a:r>
            <a:r>
              <a:rPr dirty="0" sz="1100" spc="-35" b="1">
                <a:latin typeface="Microsoft YaHei"/>
                <a:cs typeface="Microsoft YaHei"/>
              </a:rPr>
              <a:t>界面</a:t>
            </a:r>
            <a:endParaRPr sz="1100">
              <a:latin typeface="Microsoft YaHei"/>
              <a:cs typeface="Microsoft YaHei"/>
            </a:endParaRPr>
          </a:p>
        </p:txBody>
      </p:sp>
      <p:sp>
        <p:nvSpPr>
          <p:cNvPr id="11" name="object 11" descr=""/>
          <p:cNvSpPr txBox="1"/>
          <p:nvPr/>
        </p:nvSpPr>
        <p:spPr>
          <a:xfrm>
            <a:off x="4725720" y="4648414"/>
            <a:ext cx="542290" cy="193040"/>
          </a:xfrm>
          <a:prstGeom prst="rect">
            <a:avLst/>
          </a:prstGeom>
        </p:spPr>
        <p:txBody>
          <a:bodyPr wrap="square" lIns="0" tIns="12065" rIns="0" bIns="0" rtlCol="0" vert="horz">
            <a:spAutoFit/>
          </a:bodyPr>
          <a:lstStyle/>
          <a:p>
            <a:pPr marL="130810">
              <a:lnSpc>
                <a:spcPct val="100000"/>
              </a:lnSpc>
              <a:spcBef>
                <a:spcPts val="95"/>
              </a:spcBef>
            </a:pPr>
            <a:r>
              <a:rPr dirty="0" sz="1100" spc="-35" b="1">
                <a:latin typeface="Microsoft YaHei"/>
                <a:cs typeface="Microsoft YaHei"/>
              </a:rPr>
              <a:t>终端</a:t>
            </a:r>
            <a:endParaRPr sz="1100">
              <a:latin typeface="Microsoft YaHei"/>
              <a:cs typeface="Microsoft YaHei"/>
            </a:endParaRPr>
          </a:p>
        </p:txBody>
      </p:sp>
      <p:sp>
        <p:nvSpPr>
          <p:cNvPr id="12" name="object 12" descr=""/>
          <p:cNvSpPr txBox="1"/>
          <p:nvPr/>
        </p:nvSpPr>
        <p:spPr>
          <a:xfrm>
            <a:off x="3572002" y="4623828"/>
            <a:ext cx="590550" cy="238760"/>
          </a:xfrm>
          <a:prstGeom prst="rect">
            <a:avLst/>
          </a:prstGeom>
          <a:solidFill>
            <a:srgbClr val="666666"/>
          </a:solidFill>
        </p:spPr>
        <p:txBody>
          <a:bodyPr wrap="square" lIns="0" tIns="28575" rIns="0" bIns="0" rtlCol="0" vert="horz">
            <a:spAutoFit/>
          </a:bodyPr>
          <a:lstStyle/>
          <a:p>
            <a:pPr marL="151130">
              <a:lnSpc>
                <a:spcPct val="100000"/>
              </a:lnSpc>
              <a:spcBef>
                <a:spcPts val="225"/>
              </a:spcBef>
            </a:pPr>
            <a:r>
              <a:rPr dirty="0" sz="1100" spc="-25" b="1">
                <a:latin typeface="Microsoft YaHei"/>
                <a:cs typeface="Microsoft YaHei"/>
              </a:rPr>
              <a:t>APP</a:t>
            </a:r>
            <a:endParaRPr sz="1100">
              <a:latin typeface="Microsoft YaHei"/>
              <a:cs typeface="Microsoft YaHei"/>
            </a:endParaRPr>
          </a:p>
        </p:txBody>
      </p:sp>
      <p:sp>
        <p:nvSpPr>
          <p:cNvPr id="13" name="object 13" descr=""/>
          <p:cNvSpPr txBox="1"/>
          <p:nvPr/>
        </p:nvSpPr>
        <p:spPr>
          <a:xfrm>
            <a:off x="5742520" y="4608347"/>
            <a:ext cx="2023110" cy="226695"/>
          </a:xfrm>
          <a:prstGeom prst="rect">
            <a:avLst/>
          </a:prstGeom>
          <a:solidFill>
            <a:srgbClr val="666666"/>
          </a:solidFill>
        </p:spPr>
        <p:txBody>
          <a:bodyPr wrap="square" lIns="0" tIns="43815" rIns="0" bIns="0" rtlCol="0" vert="horz">
            <a:spAutoFit/>
          </a:bodyPr>
          <a:lstStyle/>
          <a:p>
            <a:pPr marL="592455">
              <a:lnSpc>
                <a:spcPct val="100000"/>
              </a:lnSpc>
              <a:spcBef>
                <a:spcPts val="345"/>
              </a:spcBef>
            </a:pPr>
            <a:r>
              <a:rPr dirty="0" sz="1100" spc="-25" b="1">
                <a:latin typeface="Microsoft YaHei"/>
                <a:cs typeface="Microsoft YaHei"/>
              </a:rPr>
              <a:t>某产业园部署</a:t>
            </a:r>
            <a:endParaRPr sz="1100">
              <a:latin typeface="Microsoft YaHei"/>
              <a:cs typeface="Microsoft YaHei"/>
            </a:endParaRPr>
          </a:p>
        </p:txBody>
      </p:sp>
      <p:sp>
        <p:nvSpPr>
          <p:cNvPr id="14" name="object 14" descr=""/>
          <p:cNvSpPr/>
          <p:nvPr/>
        </p:nvSpPr>
        <p:spPr>
          <a:xfrm>
            <a:off x="3086232" y="1357903"/>
            <a:ext cx="2917190" cy="339725"/>
          </a:xfrm>
          <a:custGeom>
            <a:avLst/>
            <a:gdLst/>
            <a:ahLst/>
            <a:cxnLst/>
            <a:rect l="l" t="t" r="r" b="b"/>
            <a:pathLst>
              <a:path w="2917190" h="339725">
                <a:moveTo>
                  <a:pt x="2860471" y="0"/>
                </a:moveTo>
                <a:lnTo>
                  <a:pt x="56553" y="0"/>
                </a:lnTo>
                <a:lnTo>
                  <a:pt x="34541" y="4444"/>
                </a:lnTo>
                <a:lnTo>
                  <a:pt x="16565" y="16565"/>
                </a:lnTo>
                <a:lnTo>
                  <a:pt x="4444" y="34541"/>
                </a:lnTo>
                <a:lnTo>
                  <a:pt x="0" y="56553"/>
                </a:lnTo>
                <a:lnTo>
                  <a:pt x="0" y="282765"/>
                </a:lnTo>
                <a:lnTo>
                  <a:pt x="4444" y="304784"/>
                </a:lnTo>
                <a:lnTo>
                  <a:pt x="16565" y="322764"/>
                </a:lnTo>
                <a:lnTo>
                  <a:pt x="34541" y="334886"/>
                </a:lnTo>
                <a:lnTo>
                  <a:pt x="56553" y="339331"/>
                </a:lnTo>
                <a:lnTo>
                  <a:pt x="2860471" y="339331"/>
                </a:lnTo>
                <a:lnTo>
                  <a:pt x="2882488" y="334886"/>
                </a:lnTo>
                <a:lnTo>
                  <a:pt x="2900464" y="322764"/>
                </a:lnTo>
                <a:lnTo>
                  <a:pt x="2912581" y="304784"/>
                </a:lnTo>
                <a:lnTo>
                  <a:pt x="2917024" y="282765"/>
                </a:lnTo>
                <a:lnTo>
                  <a:pt x="2917024" y="56553"/>
                </a:lnTo>
                <a:lnTo>
                  <a:pt x="2912581" y="34541"/>
                </a:lnTo>
                <a:lnTo>
                  <a:pt x="2900464" y="16565"/>
                </a:lnTo>
                <a:lnTo>
                  <a:pt x="2882488" y="4444"/>
                </a:lnTo>
                <a:lnTo>
                  <a:pt x="2860471" y="0"/>
                </a:lnTo>
                <a:close/>
              </a:path>
            </a:pathLst>
          </a:custGeom>
          <a:solidFill>
            <a:srgbClr val="222268">
              <a:alpha val="30194"/>
            </a:srgbClr>
          </a:solidFill>
        </p:spPr>
        <p:txBody>
          <a:bodyPr wrap="square" lIns="0" tIns="0" rIns="0" bIns="0" rtlCol="0"/>
          <a:lstStyle/>
          <a:p/>
        </p:txBody>
      </p:sp>
      <p:sp>
        <p:nvSpPr>
          <p:cNvPr id="15" name="object 15" descr=""/>
          <p:cNvSpPr txBox="1"/>
          <p:nvPr/>
        </p:nvSpPr>
        <p:spPr>
          <a:xfrm>
            <a:off x="1190307" y="877220"/>
            <a:ext cx="6768465" cy="791845"/>
          </a:xfrm>
          <a:prstGeom prst="rect">
            <a:avLst/>
          </a:prstGeom>
        </p:spPr>
        <p:txBody>
          <a:bodyPr wrap="square" lIns="0" tIns="12065" rIns="0" bIns="0" rtlCol="0" vert="horz">
            <a:spAutoFit/>
          </a:bodyPr>
          <a:lstStyle/>
          <a:p>
            <a:pPr algn="ctr">
              <a:lnSpc>
                <a:spcPct val="100000"/>
              </a:lnSpc>
              <a:spcBef>
                <a:spcPts val="95"/>
              </a:spcBef>
            </a:pPr>
            <a:r>
              <a:rPr dirty="0" sz="1400" spc="-20">
                <a:latin typeface="SimSun"/>
                <a:cs typeface="SimSun"/>
              </a:rPr>
              <a:t>智慧照明，智能调控，绿色节能，将传统大功率的高压钠灯改造成小功率的</a:t>
            </a:r>
            <a:r>
              <a:rPr dirty="0" sz="1400" spc="-10">
                <a:latin typeface="Arial MT"/>
                <a:cs typeface="Arial MT"/>
              </a:rPr>
              <a:t>LED</a:t>
            </a:r>
            <a:r>
              <a:rPr dirty="0" sz="1400" spc="-30">
                <a:latin typeface="SimSun"/>
                <a:cs typeface="SimSun"/>
              </a:rPr>
              <a:t>路灯；</a:t>
            </a:r>
            <a:endParaRPr sz="1400">
              <a:latin typeface="SimSun"/>
              <a:cs typeface="SimSun"/>
            </a:endParaRPr>
          </a:p>
          <a:p>
            <a:pPr>
              <a:lnSpc>
                <a:spcPct val="100000"/>
              </a:lnSpc>
              <a:spcBef>
                <a:spcPts val="405"/>
              </a:spcBef>
            </a:pPr>
            <a:endParaRPr sz="1400">
              <a:latin typeface="SimSun"/>
              <a:cs typeface="SimSun"/>
            </a:endParaRPr>
          </a:p>
          <a:p>
            <a:pPr algn="ctr" marR="51435">
              <a:lnSpc>
                <a:spcPct val="100000"/>
              </a:lnSpc>
            </a:pPr>
            <a:r>
              <a:rPr dirty="0" sz="1800" spc="-10" b="1">
                <a:latin typeface="Microsoft YaHei"/>
                <a:cs typeface="Microsoft YaHei"/>
              </a:rPr>
              <a:t>智慧照明系统</a:t>
            </a:r>
            <a:endParaRPr sz="1800">
              <a:latin typeface="Microsoft YaHei"/>
              <a:cs typeface="Microsoft YaHei"/>
            </a:endParaRPr>
          </a:p>
        </p:txBody>
      </p:sp>
      <p:sp>
        <p:nvSpPr>
          <p:cNvPr id="16" name="object 16" descr=""/>
          <p:cNvSpPr/>
          <p:nvPr/>
        </p:nvSpPr>
        <p:spPr>
          <a:xfrm>
            <a:off x="1355062" y="2130612"/>
            <a:ext cx="602615" cy="602615"/>
          </a:xfrm>
          <a:custGeom>
            <a:avLst/>
            <a:gdLst/>
            <a:ahLst/>
            <a:cxnLst/>
            <a:rect l="l" t="t" r="r" b="b"/>
            <a:pathLst>
              <a:path w="602614"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39" y="587106"/>
                </a:lnTo>
                <a:lnTo>
                  <a:pt x="439658" y="568840"/>
                </a:lnTo>
                <a:lnTo>
                  <a:pt x="479126" y="544343"/>
                </a:lnTo>
                <a:lnTo>
                  <a:pt x="514224" y="514235"/>
                </a:lnTo>
                <a:lnTo>
                  <a:pt x="544331" y="479136"/>
                </a:lnTo>
                <a:lnTo>
                  <a:pt x="568828" y="439666"/>
                </a:lnTo>
                <a:lnTo>
                  <a:pt x="587093" y="396445"/>
                </a:lnTo>
                <a:lnTo>
                  <a:pt x="598507" y="350093"/>
                </a:lnTo>
                <a:lnTo>
                  <a:pt x="602449" y="301231"/>
                </a:lnTo>
                <a:lnTo>
                  <a:pt x="598510" y="252371"/>
                </a:lnTo>
                <a:lnTo>
                  <a:pt x="587098" y="206022"/>
                </a:lnTo>
                <a:lnTo>
                  <a:pt x="568833" y="162801"/>
                </a:lnTo>
                <a:lnTo>
                  <a:pt x="544337" y="123331"/>
                </a:lnTo>
                <a:lnTo>
                  <a:pt x="514229" y="88231"/>
                </a:lnTo>
                <a:lnTo>
                  <a:pt x="479130"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17" name="object 17" descr=""/>
          <p:cNvSpPr txBox="1"/>
          <p:nvPr/>
        </p:nvSpPr>
        <p:spPr>
          <a:xfrm>
            <a:off x="1513023" y="2225473"/>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b="1">
                <a:latin typeface="Microsoft YaHei"/>
                <a:cs typeface="Microsoft YaHei"/>
              </a:rPr>
              <a:t>单灯管控</a:t>
            </a:r>
            <a:endParaRPr sz="1100">
              <a:latin typeface="Microsoft YaHei"/>
              <a:cs typeface="Microsoft YaHei"/>
            </a:endParaRPr>
          </a:p>
        </p:txBody>
      </p:sp>
      <p:sp>
        <p:nvSpPr>
          <p:cNvPr id="18" name="object 18" descr=""/>
          <p:cNvSpPr/>
          <p:nvPr/>
        </p:nvSpPr>
        <p:spPr>
          <a:xfrm>
            <a:off x="2527828" y="2130612"/>
            <a:ext cx="602615" cy="602615"/>
          </a:xfrm>
          <a:custGeom>
            <a:avLst/>
            <a:gdLst/>
            <a:ahLst/>
            <a:cxnLst/>
            <a:rect l="l" t="t" r="r" b="b"/>
            <a:pathLst>
              <a:path w="602614"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39" y="587106"/>
                </a:lnTo>
                <a:lnTo>
                  <a:pt x="439658" y="568840"/>
                </a:lnTo>
                <a:lnTo>
                  <a:pt x="479126" y="544343"/>
                </a:lnTo>
                <a:lnTo>
                  <a:pt x="514224" y="514235"/>
                </a:lnTo>
                <a:lnTo>
                  <a:pt x="544331" y="479136"/>
                </a:lnTo>
                <a:lnTo>
                  <a:pt x="568828" y="439666"/>
                </a:lnTo>
                <a:lnTo>
                  <a:pt x="587093" y="396445"/>
                </a:lnTo>
                <a:lnTo>
                  <a:pt x="598507" y="350093"/>
                </a:lnTo>
                <a:lnTo>
                  <a:pt x="602449" y="301231"/>
                </a:lnTo>
                <a:lnTo>
                  <a:pt x="598510" y="252371"/>
                </a:lnTo>
                <a:lnTo>
                  <a:pt x="587098" y="206022"/>
                </a:lnTo>
                <a:lnTo>
                  <a:pt x="568833" y="162801"/>
                </a:lnTo>
                <a:lnTo>
                  <a:pt x="544337" y="123331"/>
                </a:lnTo>
                <a:lnTo>
                  <a:pt x="514229" y="88231"/>
                </a:lnTo>
                <a:lnTo>
                  <a:pt x="479130"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19" name="object 19" descr=""/>
          <p:cNvSpPr txBox="1"/>
          <p:nvPr/>
        </p:nvSpPr>
        <p:spPr>
          <a:xfrm>
            <a:off x="2685058" y="2220005"/>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b="1">
                <a:latin typeface="Microsoft YaHei"/>
                <a:cs typeface="Microsoft YaHei"/>
              </a:rPr>
              <a:t>故障报警</a:t>
            </a:r>
            <a:endParaRPr sz="1100">
              <a:latin typeface="Microsoft YaHei"/>
              <a:cs typeface="Microsoft YaHei"/>
            </a:endParaRPr>
          </a:p>
        </p:txBody>
      </p:sp>
      <p:sp>
        <p:nvSpPr>
          <p:cNvPr id="20" name="object 20" descr=""/>
          <p:cNvSpPr/>
          <p:nvPr/>
        </p:nvSpPr>
        <p:spPr>
          <a:xfrm>
            <a:off x="3701784" y="2130612"/>
            <a:ext cx="602615" cy="602615"/>
          </a:xfrm>
          <a:custGeom>
            <a:avLst/>
            <a:gdLst/>
            <a:ahLst/>
            <a:cxnLst/>
            <a:rect l="l" t="t" r="r" b="b"/>
            <a:pathLst>
              <a:path w="602614"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40" y="587106"/>
                </a:lnTo>
                <a:lnTo>
                  <a:pt x="439660" y="568840"/>
                </a:lnTo>
                <a:lnTo>
                  <a:pt x="479131" y="544343"/>
                </a:lnTo>
                <a:lnTo>
                  <a:pt x="514230" y="514235"/>
                </a:lnTo>
                <a:lnTo>
                  <a:pt x="544340" y="479136"/>
                </a:lnTo>
                <a:lnTo>
                  <a:pt x="568838" y="439666"/>
                </a:lnTo>
                <a:lnTo>
                  <a:pt x="587104" y="396445"/>
                </a:lnTo>
                <a:lnTo>
                  <a:pt x="598519" y="350093"/>
                </a:lnTo>
                <a:lnTo>
                  <a:pt x="602462" y="301231"/>
                </a:lnTo>
                <a:lnTo>
                  <a:pt x="598519" y="252371"/>
                </a:lnTo>
                <a:lnTo>
                  <a:pt x="587104" y="206022"/>
                </a:lnTo>
                <a:lnTo>
                  <a:pt x="568838" y="162801"/>
                </a:lnTo>
                <a:lnTo>
                  <a:pt x="544340" y="123331"/>
                </a:lnTo>
                <a:lnTo>
                  <a:pt x="514230" y="88231"/>
                </a:lnTo>
                <a:lnTo>
                  <a:pt x="479131"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21" name="object 21" descr=""/>
          <p:cNvSpPr txBox="1"/>
          <p:nvPr/>
        </p:nvSpPr>
        <p:spPr>
          <a:xfrm>
            <a:off x="3850422" y="2225473"/>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b="1">
                <a:latin typeface="Microsoft YaHei"/>
                <a:cs typeface="Microsoft YaHei"/>
              </a:rPr>
              <a:t>远程维护</a:t>
            </a:r>
            <a:endParaRPr sz="1100">
              <a:latin typeface="Microsoft YaHei"/>
              <a:cs typeface="Microsoft YaHei"/>
            </a:endParaRPr>
          </a:p>
        </p:txBody>
      </p:sp>
      <p:sp>
        <p:nvSpPr>
          <p:cNvPr id="22" name="object 22" descr=""/>
          <p:cNvSpPr/>
          <p:nvPr/>
        </p:nvSpPr>
        <p:spPr>
          <a:xfrm>
            <a:off x="4874550" y="2130612"/>
            <a:ext cx="602615" cy="602615"/>
          </a:xfrm>
          <a:custGeom>
            <a:avLst/>
            <a:gdLst/>
            <a:ahLst/>
            <a:cxnLst/>
            <a:rect l="l" t="t" r="r" b="b"/>
            <a:pathLst>
              <a:path w="602614"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40" y="587106"/>
                </a:lnTo>
                <a:lnTo>
                  <a:pt x="439660" y="568840"/>
                </a:lnTo>
                <a:lnTo>
                  <a:pt x="479131" y="544343"/>
                </a:lnTo>
                <a:lnTo>
                  <a:pt x="514230" y="514235"/>
                </a:lnTo>
                <a:lnTo>
                  <a:pt x="544340" y="479136"/>
                </a:lnTo>
                <a:lnTo>
                  <a:pt x="568838" y="439666"/>
                </a:lnTo>
                <a:lnTo>
                  <a:pt x="587104" y="396445"/>
                </a:lnTo>
                <a:lnTo>
                  <a:pt x="598519" y="350093"/>
                </a:lnTo>
                <a:lnTo>
                  <a:pt x="602462" y="301231"/>
                </a:lnTo>
                <a:lnTo>
                  <a:pt x="598519" y="252371"/>
                </a:lnTo>
                <a:lnTo>
                  <a:pt x="587104" y="206022"/>
                </a:lnTo>
                <a:lnTo>
                  <a:pt x="568838" y="162801"/>
                </a:lnTo>
                <a:lnTo>
                  <a:pt x="544340" y="123331"/>
                </a:lnTo>
                <a:lnTo>
                  <a:pt x="514230" y="88231"/>
                </a:lnTo>
                <a:lnTo>
                  <a:pt x="479131"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23" name="object 23" descr=""/>
          <p:cNvSpPr txBox="1"/>
          <p:nvPr/>
        </p:nvSpPr>
        <p:spPr>
          <a:xfrm>
            <a:off x="5023187" y="2241381"/>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b="1">
                <a:latin typeface="Microsoft YaHei"/>
                <a:cs typeface="Microsoft YaHei"/>
              </a:rPr>
              <a:t>自动巡检</a:t>
            </a:r>
            <a:endParaRPr sz="1100">
              <a:latin typeface="Microsoft YaHei"/>
              <a:cs typeface="Microsoft YaHei"/>
            </a:endParaRPr>
          </a:p>
        </p:txBody>
      </p:sp>
      <p:sp>
        <p:nvSpPr>
          <p:cNvPr id="24" name="object 24" descr=""/>
          <p:cNvSpPr/>
          <p:nvPr/>
        </p:nvSpPr>
        <p:spPr>
          <a:xfrm>
            <a:off x="6048505" y="2130612"/>
            <a:ext cx="602615" cy="602615"/>
          </a:xfrm>
          <a:custGeom>
            <a:avLst/>
            <a:gdLst/>
            <a:ahLst/>
            <a:cxnLst/>
            <a:rect l="l" t="t" r="r" b="b"/>
            <a:pathLst>
              <a:path w="602615"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40" y="587106"/>
                </a:lnTo>
                <a:lnTo>
                  <a:pt x="439660" y="568840"/>
                </a:lnTo>
                <a:lnTo>
                  <a:pt x="479131" y="544343"/>
                </a:lnTo>
                <a:lnTo>
                  <a:pt x="514230" y="514235"/>
                </a:lnTo>
                <a:lnTo>
                  <a:pt x="544340" y="479136"/>
                </a:lnTo>
                <a:lnTo>
                  <a:pt x="568838" y="439666"/>
                </a:lnTo>
                <a:lnTo>
                  <a:pt x="587104" y="396445"/>
                </a:lnTo>
                <a:lnTo>
                  <a:pt x="598519" y="350093"/>
                </a:lnTo>
                <a:lnTo>
                  <a:pt x="602462" y="301231"/>
                </a:lnTo>
                <a:lnTo>
                  <a:pt x="598519" y="252371"/>
                </a:lnTo>
                <a:lnTo>
                  <a:pt x="587104" y="206022"/>
                </a:lnTo>
                <a:lnTo>
                  <a:pt x="568838" y="162801"/>
                </a:lnTo>
                <a:lnTo>
                  <a:pt x="544340" y="123331"/>
                </a:lnTo>
                <a:lnTo>
                  <a:pt x="514230" y="88231"/>
                </a:lnTo>
                <a:lnTo>
                  <a:pt x="479131"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25" name="object 25" descr=""/>
          <p:cNvSpPr txBox="1"/>
          <p:nvPr/>
        </p:nvSpPr>
        <p:spPr>
          <a:xfrm>
            <a:off x="6200905" y="2217089"/>
            <a:ext cx="304800" cy="360680"/>
          </a:xfrm>
          <a:prstGeom prst="rect">
            <a:avLst/>
          </a:prstGeom>
        </p:spPr>
        <p:txBody>
          <a:bodyPr wrap="square" lIns="0" tIns="12065" rIns="0" bIns="0" rtlCol="0" vert="horz">
            <a:spAutoFit/>
          </a:bodyPr>
          <a:lstStyle/>
          <a:p>
            <a:pPr marL="12700" marR="5715">
              <a:lnSpc>
                <a:spcPct val="100000"/>
              </a:lnSpc>
              <a:spcBef>
                <a:spcPts val="95"/>
              </a:spcBef>
            </a:pPr>
            <a:r>
              <a:rPr dirty="0" sz="1100" spc="-35" b="1">
                <a:latin typeface="Microsoft YaHei"/>
                <a:cs typeface="Microsoft YaHei"/>
              </a:rPr>
              <a:t>统计分析</a:t>
            </a:r>
            <a:endParaRPr sz="1100">
              <a:latin typeface="Microsoft YaHei"/>
              <a:cs typeface="Microsoft YaHei"/>
            </a:endParaRPr>
          </a:p>
        </p:txBody>
      </p:sp>
      <p:sp>
        <p:nvSpPr>
          <p:cNvPr id="26" name="object 26" descr=""/>
          <p:cNvSpPr/>
          <p:nvPr/>
        </p:nvSpPr>
        <p:spPr>
          <a:xfrm>
            <a:off x="7221270" y="2112754"/>
            <a:ext cx="602615" cy="602615"/>
          </a:xfrm>
          <a:custGeom>
            <a:avLst/>
            <a:gdLst/>
            <a:ahLst/>
            <a:cxnLst/>
            <a:rect l="l" t="t" r="r" b="b"/>
            <a:pathLst>
              <a:path w="602615" h="602614">
                <a:moveTo>
                  <a:pt x="301231" y="0"/>
                </a:moveTo>
                <a:lnTo>
                  <a:pt x="252367" y="3942"/>
                </a:lnTo>
                <a:lnTo>
                  <a:pt x="206014" y="15357"/>
                </a:lnTo>
                <a:lnTo>
                  <a:pt x="162792" y="33624"/>
                </a:lnTo>
                <a:lnTo>
                  <a:pt x="123321" y="58122"/>
                </a:lnTo>
                <a:lnTo>
                  <a:pt x="88222" y="88231"/>
                </a:lnTo>
                <a:lnTo>
                  <a:pt x="58115" y="123331"/>
                </a:lnTo>
                <a:lnTo>
                  <a:pt x="33619" y="162801"/>
                </a:lnTo>
                <a:lnTo>
                  <a:pt x="15355" y="206022"/>
                </a:lnTo>
                <a:lnTo>
                  <a:pt x="3942" y="252371"/>
                </a:lnTo>
                <a:lnTo>
                  <a:pt x="0" y="301231"/>
                </a:lnTo>
                <a:lnTo>
                  <a:pt x="3942" y="350093"/>
                </a:lnTo>
                <a:lnTo>
                  <a:pt x="15356" y="396445"/>
                </a:lnTo>
                <a:lnTo>
                  <a:pt x="33622" y="439666"/>
                </a:lnTo>
                <a:lnTo>
                  <a:pt x="58118" y="479136"/>
                </a:lnTo>
                <a:lnTo>
                  <a:pt x="88226" y="514235"/>
                </a:lnTo>
                <a:lnTo>
                  <a:pt x="123326" y="544343"/>
                </a:lnTo>
                <a:lnTo>
                  <a:pt x="162796" y="568840"/>
                </a:lnTo>
                <a:lnTo>
                  <a:pt x="206017" y="587106"/>
                </a:lnTo>
                <a:lnTo>
                  <a:pt x="252368" y="598520"/>
                </a:lnTo>
                <a:lnTo>
                  <a:pt x="301231" y="602462"/>
                </a:lnTo>
                <a:lnTo>
                  <a:pt x="350090" y="598520"/>
                </a:lnTo>
                <a:lnTo>
                  <a:pt x="396440" y="587106"/>
                </a:lnTo>
                <a:lnTo>
                  <a:pt x="439660" y="568840"/>
                </a:lnTo>
                <a:lnTo>
                  <a:pt x="479131" y="544343"/>
                </a:lnTo>
                <a:lnTo>
                  <a:pt x="514230" y="514235"/>
                </a:lnTo>
                <a:lnTo>
                  <a:pt x="544340" y="479136"/>
                </a:lnTo>
                <a:lnTo>
                  <a:pt x="568838" y="439666"/>
                </a:lnTo>
                <a:lnTo>
                  <a:pt x="587104" y="396445"/>
                </a:lnTo>
                <a:lnTo>
                  <a:pt x="598519" y="350093"/>
                </a:lnTo>
                <a:lnTo>
                  <a:pt x="602462" y="301231"/>
                </a:lnTo>
                <a:lnTo>
                  <a:pt x="598519" y="252371"/>
                </a:lnTo>
                <a:lnTo>
                  <a:pt x="587104" y="206022"/>
                </a:lnTo>
                <a:lnTo>
                  <a:pt x="568838" y="162801"/>
                </a:lnTo>
                <a:lnTo>
                  <a:pt x="544340" y="123331"/>
                </a:lnTo>
                <a:lnTo>
                  <a:pt x="514230" y="88231"/>
                </a:lnTo>
                <a:lnTo>
                  <a:pt x="479131" y="58122"/>
                </a:lnTo>
                <a:lnTo>
                  <a:pt x="439660" y="33624"/>
                </a:lnTo>
                <a:lnTo>
                  <a:pt x="396440" y="15357"/>
                </a:lnTo>
                <a:lnTo>
                  <a:pt x="350090" y="3942"/>
                </a:lnTo>
                <a:lnTo>
                  <a:pt x="301231" y="0"/>
                </a:lnTo>
                <a:close/>
              </a:path>
            </a:pathLst>
          </a:custGeom>
          <a:solidFill>
            <a:srgbClr val="E9F4F5">
              <a:alpha val="30194"/>
            </a:srgbClr>
          </a:solidFill>
        </p:spPr>
        <p:txBody>
          <a:bodyPr wrap="square" lIns="0" tIns="0" rIns="0" bIns="0" rtlCol="0"/>
          <a:lstStyle/>
          <a:p/>
        </p:txBody>
      </p:sp>
      <p:sp>
        <p:nvSpPr>
          <p:cNvPr id="27" name="object 27" descr=""/>
          <p:cNvSpPr txBox="1"/>
          <p:nvPr/>
        </p:nvSpPr>
        <p:spPr>
          <a:xfrm>
            <a:off x="7387910" y="2198898"/>
            <a:ext cx="304800" cy="360680"/>
          </a:xfrm>
          <a:prstGeom prst="rect">
            <a:avLst/>
          </a:prstGeom>
        </p:spPr>
        <p:txBody>
          <a:bodyPr wrap="square" lIns="0" tIns="12065" rIns="0" bIns="0" rtlCol="0" vert="horz">
            <a:spAutoFit/>
          </a:bodyPr>
          <a:lstStyle/>
          <a:p>
            <a:pPr marL="12700" marR="5080">
              <a:lnSpc>
                <a:spcPct val="100000"/>
              </a:lnSpc>
              <a:spcBef>
                <a:spcPts val="95"/>
              </a:spcBef>
            </a:pPr>
            <a:r>
              <a:rPr dirty="0" sz="1100" spc="-35" b="1">
                <a:latin typeface="Microsoft YaHei"/>
                <a:cs typeface="Microsoft YaHei"/>
              </a:rPr>
              <a:t>实时定位</a:t>
            </a:r>
            <a:endParaRPr sz="1100">
              <a:latin typeface="Microsoft YaHei"/>
              <a:cs typeface="Microsoft YaHei"/>
            </a:endParaRPr>
          </a:p>
        </p:txBody>
      </p:sp>
      <p:sp>
        <p:nvSpPr>
          <p:cNvPr id="28" name="object 28" descr=""/>
          <p:cNvSpPr txBox="1"/>
          <p:nvPr/>
        </p:nvSpPr>
        <p:spPr>
          <a:xfrm>
            <a:off x="953165" y="2789269"/>
            <a:ext cx="1054100" cy="574040"/>
          </a:xfrm>
          <a:prstGeom prst="rect">
            <a:avLst/>
          </a:prstGeom>
        </p:spPr>
        <p:txBody>
          <a:bodyPr wrap="square" lIns="0" tIns="12700" rIns="0" bIns="0" rtlCol="0" vert="horz">
            <a:spAutoFit/>
          </a:bodyPr>
          <a:lstStyle/>
          <a:p>
            <a:pPr algn="just" marL="12700" marR="5080">
              <a:lnSpc>
                <a:spcPct val="100000"/>
              </a:lnSpc>
              <a:spcBef>
                <a:spcPts val="100"/>
              </a:spcBef>
            </a:pPr>
            <a:r>
              <a:rPr dirty="0" sz="900" spc="-10">
                <a:latin typeface="Microsoft YaHei"/>
                <a:cs typeface="Microsoft YaHei"/>
              </a:rPr>
              <a:t>实时调节开、关、亮度等，或预设控制\调光方案，使路灯按预设方案进行调节</a:t>
            </a:r>
            <a:endParaRPr sz="900">
              <a:latin typeface="Microsoft YaHei"/>
              <a:cs typeface="Microsoft YaHei"/>
            </a:endParaRPr>
          </a:p>
        </p:txBody>
      </p:sp>
      <p:sp>
        <p:nvSpPr>
          <p:cNvPr id="29" name="object 29" descr=""/>
          <p:cNvSpPr txBox="1"/>
          <p:nvPr/>
        </p:nvSpPr>
        <p:spPr>
          <a:xfrm>
            <a:off x="2350140" y="2782068"/>
            <a:ext cx="1054100" cy="711200"/>
          </a:xfrm>
          <a:prstGeom prst="rect">
            <a:avLst/>
          </a:prstGeom>
        </p:spPr>
        <p:txBody>
          <a:bodyPr wrap="square" lIns="0" tIns="12700" rIns="0" bIns="0" rtlCol="0" vert="horz">
            <a:spAutoFit/>
          </a:bodyPr>
          <a:lstStyle/>
          <a:p>
            <a:pPr marL="12700" marR="5080" indent="16510">
              <a:lnSpc>
                <a:spcPct val="100000"/>
              </a:lnSpc>
              <a:spcBef>
                <a:spcPts val="100"/>
              </a:spcBef>
            </a:pPr>
            <a:r>
              <a:rPr dirty="0" sz="900" spc="-10">
                <a:latin typeface="Microsoft YaHei"/>
                <a:cs typeface="Microsoft YaHei"/>
              </a:rPr>
              <a:t>通信中断、亮灯率过低、未按时开关、电缆异常等情况出</a:t>
            </a:r>
            <a:r>
              <a:rPr dirty="0" sz="900">
                <a:latin typeface="Microsoft YaHei"/>
                <a:cs typeface="Microsoft YaHei"/>
              </a:rPr>
              <a:t> </a:t>
            </a:r>
            <a:r>
              <a:rPr dirty="0" sz="900" spc="-10">
                <a:latin typeface="Microsoft YaHei"/>
                <a:cs typeface="Microsoft YaHei"/>
              </a:rPr>
              <a:t>现时，监控中心有</a:t>
            </a:r>
            <a:endParaRPr sz="900">
              <a:latin typeface="Microsoft YaHei"/>
              <a:cs typeface="Microsoft YaHei"/>
            </a:endParaRPr>
          </a:p>
          <a:p>
            <a:pPr marL="257810">
              <a:lnSpc>
                <a:spcPct val="100000"/>
              </a:lnSpc>
            </a:pPr>
            <a:r>
              <a:rPr dirty="0" sz="900" spc="-15">
                <a:latin typeface="Microsoft YaHei"/>
                <a:cs typeface="Microsoft YaHei"/>
              </a:rPr>
              <a:t>报警显示</a:t>
            </a:r>
            <a:endParaRPr sz="900">
              <a:latin typeface="Microsoft YaHei"/>
              <a:cs typeface="Microsoft YaHei"/>
            </a:endParaRPr>
          </a:p>
        </p:txBody>
      </p:sp>
      <p:sp>
        <p:nvSpPr>
          <p:cNvPr id="30" name="object 30" descr=""/>
          <p:cNvSpPr txBox="1"/>
          <p:nvPr/>
        </p:nvSpPr>
        <p:spPr>
          <a:xfrm>
            <a:off x="3732827" y="2852591"/>
            <a:ext cx="711200" cy="711200"/>
          </a:xfrm>
          <a:prstGeom prst="rect">
            <a:avLst/>
          </a:prstGeom>
        </p:spPr>
        <p:txBody>
          <a:bodyPr wrap="square" lIns="0" tIns="12700" rIns="0" bIns="0" rtlCol="0" vert="horz">
            <a:spAutoFit/>
          </a:bodyPr>
          <a:lstStyle/>
          <a:p>
            <a:pPr algn="ctr" marL="12700" marR="5080">
              <a:lnSpc>
                <a:spcPct val="100000"/>
              </a:lnSpc>
              <a:spcBef>
                <a:spcPts val="100"/>
              </a:spcBef>
            </a:pPr>
            <a:r>
              <a:rPr dirty="0" sz="900" spc="-10">
                <a:latin typeface="Microsoft YaHei"/>
                <a:cs typeface="Microsoft YaHei"/>
              </a:rPr>
              <a:t>监控设备中的采集和通信模块具备远程参数设置和维护</a:t>
            </a:r>
            <a:r>
              <a:rPr dirty="0" sz="900" spc="-25">
                <a:latin typeface="Microsoft YaHei"/>
                <a:cs typeface="Microsoft YaHei"/>
              </a:rPr>
              <a:t>功能</a:t>
            </a:r>
            <a:endParaRPr sz="900">
              <a:latin typeface="Microsoft YaHei"/>
              <a:cs typeface="Microsoft YaHei"/>
            </a:endParaRPr>
          </a:p>
        </p:txBody>
      </p:sp>
      <p:sp>
        <p:nvSpPr>
          <p:cNvPr id="31" name="object 31" descr=""/>
          <p:cNvSpPr txBox="1"/>
          <p:nvPr/>
        </p:nvSpPr>
        <p:spPr>
          <a:xfrm>
            <a:off x="4654885" y="2782068"/>
            <a:ext cx="1168400" cy="711200"/>
          </a:xfrm>
          <a:prstGeom prst="rect">
            <a:avLst/>
          </a:prstGeom>
        </p:spPr>
        <p:txBody>
          <a:bodyPr wrap="square" lIns="0" tIns="12700" rIns="0" bIns="0" rtlCol="0" vert="horz">
            <a:spAutoFit/>
          </a:bodyPr>
          <a:lstStyle/>
          <a:p>
            <a:pPr marL="12700" marR="5080" indent="1270">
              <a:lnSpc>
                <a:spcPct val="100000"/>
              </a:lnSpc>
              <a:spcBef>
                <a:spcPts val="100"/>
              </a:spcBef>
            </a:pPr>
            <a:r>
              <a:rPr dirty="0" sz="900" spc="-10">
                <a:latin typeface="Microsoft YaHei"/>
                <a:cs typeface="Microsoft YaHei"/>
              </a:rPr>
              <a:t>自动巡检，查报故障</a:t>
            </a:r>
            <a:r>
              <a:rPr dirty="0" sz="900">
                <a:latin typeface="Microsoft YaHei"/>
                <a:cs typeface="Microsoft YaHei"/>
              </a:rPr>
              <a:t> 并自动生成报表（</a:t>
            </a:r>
            <a:r>
              <a:rPr dirty="0" sz="900" spc="-25">
                <a:latin typeface="Microsoft YaHei"/>
                <a:cs typeface="Microsoft YaHei"/>
              </a:rPr>
              <a:t>电压</a:t>
            </a:r>
            <a:r>
              <a:rPr dirty="0" sz="900" spc="-5">
                <a:latin typeface="Microsoft YaHei"/>
                <a:cs typeface="Microsoft YaHei"/>
              </a:rPr>
              <a:t>、电流、功率因数、电</a:t>
            </a:r>
            <a:r>
              <a:rPr dirty="0" sz="900" spc="-15">
                <a:latin typeface="Microsoft YaHei"/>
                <a:cs typeface="Microsoft YaHei"/>
              </a:rPr>
              <a:t>量、开\关状态、</a:t>
            </a:r>
            <a:endParaRPr sz="900">
              <a:latin typeface="Microsoft YaHei"/>
              <a:cs typeface="Microsoft YaHei"/>
            </a:endParaRPr>
          </a:p>
          <a:p>
            <a:pPr marL="185420">
              <a:lnSpc>
                <a:spcPct val="100000"/>
              </a:lnSpc>
            </a:pPr>
            <a:r>
              <a:rPr dirty="0" sz="900">
                <a:latin typeface="Microsoft YaHei"/>
                <a:cs typeface="Microsoft YaHei"/>
              </a:rPr>
              <a:t>故障类型等</a:t>
            </a:r>
            <a:r>
              <a:rPr dirty="0" sz="900" spc="-50">
                <a:latin typeface="Microsoft YaHei"/>
                <a:cs typeface="Microsoft YaHei"/>
              </a:rPr>
              <a:t>）</a:t>
            </a:r>
            <a:endParaRPr sz="900">
              <a:latin typeface="Microsoft YaHei"/>
              <a:cs typeface="Microsoft YaHei"/>
            </a:endParaRPr>
          </a:p>
        </p:txBody>
      </p:sp>
      <p:sp>
        <p:nvSpPr>
          <p:cNvPr id="32" name="object 32" descr=""/>
          <p:cNvSpPr txBox="1"/>
          <p:nvPr/>
        </p:nvSpPr>
        <p:spPr>
          <a:xfrm>
            <a:off x="5984765" y="2789269"/>
            <a:ext cx="939800" cy="711200"/>
          </a:xfrm>
          <a:prstGeom prst="rect">
            <a:avLst/>
          </a:prstGeom>
        </p:spPr>
        <p:txBody>
          <a:bodyPr wrap="square" lIns="0" tIns="12700" rIns="0" bIns="0" rtlCol="0" vert="horz">
            <a:spAutoFit/>
          </a:bodyPr>
          <a:lstStyle/>
          <a:p>
            <a:pPr marL="12700" marR="5080">
              <a:lnSpc>
                <a:spcPct val="100000"/>
              </a:lnSpc>
              <a:spcBef>
                <a:spcPts val="100"/>
              </a:spcBef>
            </a:pPr>
            <a:r>
              <a:rPr dirty="0" sz="900" spc="-10">
                <a:latin typeface="Microsoft YaHei"/>
                <a:cs typeface="Microsoft YaHei"/>
              </a:rPr>
              <a:t>具有统计、分析、查询、负荷计算、实时读表、用电</a:t>
            </a:r>
            <a:r>
              <a:rPr dirty="0" sz="900">
                <a:latin typeface="Microsoft YaHei"/>
                <a:cs typeface="Microsoft YaHei"/>
              </a:rPr>
              <a:t> </a:t>
            </a:r>
            <a:r>
              <a:rPr dirty="0" sz="900" spc="-10">
                <a:latin typeface="Microsoft YaHei"/>
                <a:cs typeface="Microsoft YaHei"/>
              </a:rPr>
              <a:t>分析、亮灯率计</a:t>
            </a:r>
            <a:endParaRPr sz="900">
              <a:latin typeface="Microsoft YaHei"/>
              <a:cs typeface="Microsoft YaHei"/>
            </a:endParaRPr>
          </a:p>
          <a:p>
            <a:pPr marL="204470">
              <a:lnSpc>
                <a:spcPct val="100000"/>
              </a:lnSpc>
            </a:pPr>
            <a:r>
              <a:rPr dirty="0" sz="900" spc="-15">
                <a:latin typeface="Microsoft YaHei"/>
                <a:cs typeface="Microsoft YaHei"/>
              </a:rPr>
              <a:t>算等功能</a:t>
            </a:r>
            <a:endParaRPr sz="900">
              <a:latin typeface="Microsoft YaHei"/>
              <a:cs typeface="Microsoft YaHei"/>
            </a:endParaRPr>
          </a:p>
        </p:txBody>
      </p:sp>
      <p:sp>
        <p:nvSpPr>
          <p:cNvPr id="33" name="object 33" descr=""/>
          <p:cNvSpPr txBox="1"/>
          <p:nvPr/>
        </p:nvSpPr>
        <p:spPr>
          <a:xfrm>
            <a:off x="7228806" y="2782182"/>
            <a:ext cx="1010285" cy="711200"/>
          </a:xfrm>
          <a:prstGeom prst="rect">
            <a:avLst/>
          </a:prstGeom>
        </p:spPr>
        <p:txBody>
          <a:bodyPr wrap="square" lIns="0" tIns="12700" rIns="0" bIns="0" rtlCol="0" vert="horz">
            <a:spAutoFit/>
          </a:bodyPr>
          <a:lstStyle/>
          <a:p>
            <a:pPr algn="ctr" marL="12700" marR="5080">
              <a:lnSpc>
                <a:spcPct val="100000"/>
              </a:lnSpc>
              <a:spcBef>
                <a:spcPts val="100"/>
              </a:spcBef>
            </a:pPr>
            <a:r>
              <a:rPr dirty="0" sz="900">
                <a:latin typeface="Microsoft YaHei"/>
                <a:cs typeface="Microsoft YaHei"/>
              </a:rPr>
              <a:t>系统软件嵌入的</a:t>
            </a:r>
            <a:r>
              <a:rPr dirty="0" sz="900" spc="-25">
                <a:latin typeface="Microsoft YaHei"/>
                <a:cs typeface="Microsoft YaHei"/>
              </a:rPr>
              <a:t>GIS</a:t>
            </a:r>
            <a:r>
              <a:rPr dirty="0" sz="900" spc="-10">
                <a:latin typeface="Microsoft YaHei"/>
                <a:cs typeface="Microsoft YaHei"/>
              </a:rPr>
              <a:t>地理信息系统，现场设备在地图上清晰地标识，达到可</a:t>
            </a:r>
            <a:r>
              <a:rPr dirty="0" sz="900" spc="-15">
                <a:latin typeface="Microsoft YaHei"/>
                <a:cs typeface="Microsoft YaHei"/>
              </a:rPr>
              <a:t>视化效果</a:t>
            </a:r>
            <a:endParaRPr sz="900">
              <a:latin typeface="Microsoft YaHei"/>
              <a:cs typeface="Microsoft YaHei"/>
            </a:endParaRPr>
          </a:p>
        </p:txBody>
      </p:sp>
      <p:grpSp>
        <p:nvGrpSpPr>
          <p:cNvPr id="34" name="object 34" descr=""/>
          <p:cNvGrpSpPr/>
          <p:nvPr/>
        </p:nvGrpSpPr>
        <p:grpSpPr>
          <a:xfrm>
            <a:off x="1649937" y="1658340"/>
            <a:ext cx="5879465" cy="478790"/>
            <a:chOff x="1649937" y="1658340"/>
            <a:chExt cx="5879465" cy="478790"/>
          </a:xfrm>
        </p:grpSpPr>
        <p:sp>
          <p:nvSpPr>
            <p:cNvPr id="35" name="object 35" descr=""/>
            <p:cNvSpPr/>
            <p:nvPr/>
          </p:nvSpPr>
          <p:spPr>
            <a:xfrm>
              <a:off x="1656287" y="1697229"/>
              <a:ext cx="1430020" cy="433705"/>
            </a:xfrm>
            <a:custGeom>
              <a:avLst/>
              <a:gdLst/>
              <a:ahLst/>
              <a:cxnLst/>
              <a:rect l="l" t="t" r="r" b="b"/>
              <a:pathLst>
                <a:path w="1430020" h="433705">
                  <a:moveTo>
                    <a:pt x="1429943" y="0"/>
                  </a:moveTo>
                  <a:lnTo>
                    <a:pt x="0" y="433387"/>
                  </a:lnTo>
                </a:path>
              </a:pathLst>
            </a:custGeom>
            <a:ln w="12700">
              <a:solidFill>
                <a:srgbClr val="B6DCDF"/>
              </a:solidFill>
              <a:prstDash val="sysDashDot"/>
            </a:ln>
          </p:spPr>
          <p:txBody>
            <a:bodyPr wrap="square" lIns="0" tIns="0" rIns="0" bIns="0" rtlCol="0"/>
            <a:lstStyle/>
            <a:p/>
          </p:txBody>
        </p:sp>
        <p:sp>
          <p:nvSpPr>
            <p:cNvPr id="36" name="object 36" descr=""/>
            <p:cNvSpPr/>
            <p:nvPr/>
          </p:nvSpPr>
          <p:spPr>
            <a:xfrm>
              <a:off x="6003262" y="1697229"/>
              <a:ext cx="1519555" cy="433705"/>
            </a:xfrm>
            <a:custGeom>
              <a:avLst/>
              <a:gdLst/>
              <a:ahLst/>
              <a:cxnLst/>
              <a:rect l="l" t="t" r="r" b="b"/>
              <a:pathLst>
                <a:path w="1519554" h="433705">
                  <a:moveTo>
                    <a:pt x="0" y="0"/>
                  </a:moveTo>
                  <a:lnTo>
                    <a:pt x="1519237" y="433387"/>
                  </a:lnTo>
                </a:path>
              </a:pathLst>
            </a:custGeom>
            <a:ln w="12700">
              <a:solidFill>
                <a:srgbClr val="B6DCDF"/>
              </a:solidFill>
              <a:prstDash val="sysDashDot"/>
            </a:ln>
          </p:spPr>
          <p:txBody>
            <a:bodyPr wrap="square" lIns="0" tIns="0" rIns="0" bIns="0" rtlCol="0"/>
            <a:lstStyle/>
            <a:p/>
          </p:txBody>
        </p:sp>
        <p:sp>
          <p:nvSpPr>
            <p:cNvPr id="37" name="object 37" descr=""/>
            <p:cNvSpPr/>
            <p:nvPr/>
          </p:nvSpPr>
          <p:spPr>
            <a:xfrm>
              <a:off x="2829050" y="1699610"/>
              <a:ext cx="855344" cy="431165"/>
            </a:xfrm>
            <a:custGeom>
              <a:avLst/>
              <a:gdLst/>
              <a:ahLst/>
              <a:cxnLst/>
              <a:rect l="l" t="t" r="r" b="b"/>
              <a:pathLst>
                <a:path w="855345" h="431164">
                  <a:moveTo>
                    <a:pt x="854875" y="0"/>
                  </a:moveTo>
                  <a:lnTo>
                    <a:pt x="0" y="430999"/>
                  </a:lnTo>
                </a:path>
              </a:pathLst>
            </a:custGeom>
            <a:ln w="12700">
              <a:solidFill>
                <a:srgbClr val="B6DCDF"/>
              </a:solidFill>
              <a:prstDash val="sysDashDot"/>
            </a:ln>
          </p:spPr>
          <p:txBody>
            <a:bodyPr wrap="square" lIns="0" tIns="0" rIns="0" bIns="0" rtlCol="0"/>
            <a:lstStyle/>
            <a:p/>
          </p:txBody>
        </p:sp>
        <p:sp>
          <p:nvSpPr>
            <p:cNvPr id="38" name="object 38" descr=""/>
            <p:cNvSpPr/>
            <p:nvPr/>
          </p:nvSpPr>
          <p:spPr>
            <a:xfrm>
              <a:off x="4003014" y="1699610"/>
              <a:ext cx="227965" cy="431165"/>
            </a:xfrm>
            <a:custGeom>
              <a:avLst/>
              <a:gdLst/>
              <a:ahLst/>
              <a:cxnLst/>
              <a:rect l="l" t="t" r="r" b="b"/>
              <a:pathLst>
                <a:path w="227964" h="431164">
                  <a:moveTo>
                    <a:pt x="227406" y="0"/>
                  </a:moveTo>
                  <a:lnTo>
                    <a:pt x="0" y="430999"/>
                  </a:lnTo>
                </a:path>
              </a:pathLst>
            </a:custGeom>
            <a:ln w="12700">
              <a:solidFill>
                <a:srgbClr val="B6DCDF"/>
              </a:solidFill>
              <a:prstDash val="sysDashDot"/>
            </a:ln>
          </p:spPr>
          <p:txBody>
            <a:bodyPr wrap="square" lIns="0" tIns="0" rIns="0" bIns="0" rtlCol="0"/>
            <a:lstStyle/>
            <a:p/>
          </p:txBody>
        </p:sp>
        <p:sp>
          <p:nvSpPr>
            <p:cNvPr id="39" name="object 39" descr=""/>
            <p:cNvSpPr/>
            <p:nvPr/>
          </p:nvSpPr>
          <p:spPr>
            <a:xfrm>
              <a:off x="4840020" y="1699610"/>
              <a:ext cx="335915" cy="431165"/>
            </a:xfrm>
            <a:custGeom>
              <a:avLst/>
              <a:gdLst/>
              <a:ahLst/>
              <a:cxnLst/>
              <a:rect l="l" t="t" r="r" b="b"/>
              <a:pathLst>
                <a:path w="335914" h="431164">
                  <a:moveTo>
                    <a:pt x="0" y="0"/>
                  </a:moveTo>
                  <a:lnTo>
                    <a:pt x="335749" y="430999"/>
                  </a:lnTo>
                </a:path>
              </a:pathLst>
            </a:custGeom>
            <a:ln w="12700">
              <a:solidFill>
                <a:srgbClr val="B6DCDF"/>
              </a:solidFill>
              <a:prstDash val="sysDashDot"/>
            </a:ln>
          </p:spPr>
          <p:txBody>
            <a:bodyPr wrap="square" lIns="0" tIns="0" rIns="0" bIns="0" rtlCol="0"/>
            <a:lstStyle/>
            <a:p/>
          </p:txBody>
        </p:sp>
        <p:sp>
          <p:nvSpPr>
            <p:cNvPr id="40" name="object 40" descr=""/>
            <p:cNvSpPr/>
            <p:nvPr/>
          </p:nvSpPr>
          <p:spPr>
            <a:xfrm>
              <a:off x="5386518" y="1699610"/>
              <a:ext cx="963294" cy="431165"/>
            </a:xfrm>
            <a:custGeom>
              <a:avLst/>
              <a:gdLst/>
              <a:ahLst/>
              <a:cxnLst/>
              <a:rect l="l" t="t" r="r" b="b"/>
              <a:pathLst>
                <a:path w="963295" h="431164">
                  <a:moveTo>
                    <a:pt x="0" y="0"/>
                  </a:moveTo>
                  <a:lnTo>
                    <a:pt x="963218" y="430999"/>
                  </a:lnTo>
                </a:path>
              </a:pathLst>
            </a:custGeom>
            <a:ln w="12700">
              <a:solidFill>
                <a:srgbClr val="B6DCDF"/>
              </a:solidFill>
              <a:prstDash val="sysDashDot"/>
            </a:ln>
          </p:spPr>
          <p:txBody>
            <a:bodyPr wrap="square" lIns="0" tIns="0" rIns="0" bIns="0" rtlCol="0"/>
            <a:lstStyle/>
            <a:p/>
          </p:txBody>
        </p:sp>
        <p:sp>
          <p:nvSpPr>
            <p:cNvPr id="41" name="object 41" descr=""/>
            <p:cNvSpPr/>
            <p:nvPr/>
          </p:nvSpPr>
          <p:spPr>
            <a:xfrm>
              <a:off x="3068370" y="1671040"/>
              <a:ext cx="45720" cy="34925"/>
            </a:xfrm>
            <a:custGeom>
              <a:avLst/>
              <a:gdLst/>
              <a:ahLst/>
              <a:cxnLst/>
              <a:rect l="l" t="t" r="r" b="b"/>
              <a:pathLst>
                <a:path w="45719" h="34925">
                  <a:moveTo>
                    <a:pt x="22618" y="0"/>
                  </a:moveTo>
                  <a:lnTo>
                    <a:pt x="13817" y="1355"/>
                  </a:lnTo>
                  <a:lnTo>
                    <a:pt x="6627" y="5053"/>
                  </a:lnTo>
                  <a:lnTo>
                    <a:pt x="1778" y="10538"/>
                  </a:lnTo>
                  <a:lnTo>
                    <a:pt x="0" y="17259"/>
                  </a:lnTo>
                  <a:lnTo>
                    <a:pt x="1778" y="23979"/>
                  </a:lnTo>
                  <a:lnTo>
                    <a:pt x="6627" y="29465"/>
                  </a:lnTo>
                  <a:lnTo>
                    <a:pt x="13817" y="33163"/>
                  </a:lnTo>
                  <a:lnTo>
                    <a:pt x="22618" y="34518"/>
                  </a:lnTo>
                  <a:lnTo>
                    <a:pt x="31426" y="33163"/>
                  </a:lnTo>
                  <a:lnTo>
                    <a:pt x="38620" y="29465"/>
                  </a:lnTo>
                  <a:lnTo>
                    <a:pt x="43471" y="23979"/>
                  </a:lnTo>
                  <a:lnTo>
                    <a:pt x="45250" y="17259"/>
                  </a:lnTo>
                  <a:lnTo>
                    <a:pt x="43471" y="10538"/>
                  </a:lnTo>
                  <a:lnTo>
                    <a:pt x="38620" y="5053"/>
                  </a:lnTo>
                  <a:lnTo>
                    <a:pt x="31426" y="1355"/>
                  </a:lnTo>
                  <a:lnTo>
                    <a:pt x="22618" y="0"/>
                  </a:lnTo>
                  <a:close/>
                </a:path>
              </a:pathLst>
            </a:custGeom>
            <a:solidFill>
              <a:srgbClr val="BBE0E3"/>
            </a:solidFill>
          </p:spPr>
          <p:txBody>
            <a:bodyPr wrap="square" lIns="0" tIns="0" rIns="0" bIns="0" rtlCol="0"/>
            <a:lstStyle/>
            <a:p/>
          </p:txBody>
        </p:sp>
        <p:sp>
          <p:nvSpPr>
            <p:cNvPr id="42" name="object 42" descr=""/>
            <p:cNvSpPr/>
            <p:nvPr/>
          </p:nvSpPr>
          <p:spPr>
            <a:xfrm>
              <a:off x="3068370" y="1671040"/>
              <a:ext cx="45720" cy="34925"/>
            </a:xfrm>
            <a:custGeom>
              <a:avLst/>
              <a:gdLst/>
              <a:ahLst/>
              <a:cxnLst/>
              <a:rect l="l" t="t" r="r" b="b"/>
              <a:pathLst>
                <a:path w="45719" h="34925">
                  <a:moveTo>
                    <a:pt x="0" y="17259"/>
                  </a:moveTo>
                  <a:lnTo>
                    <a:pt x="1778" y="10538"/>
                  </a:lnTo>
                  <a:lnTo>
                    <a:pt x="6627" y="5053"/>
                  </a:lnTo>
                  <a:lnTo>
                    <a:pt x="13817" y="1355"/>
                  </a:lnTo>
                  <a:lnTo>
                    <a:pt x="22618" y="0"/>
                  </a:lnTo>
                  <a:lnTo>
                    <a:pt x="31426" y="1355"/>
                  </a:lnTo>
                  <a:lnTo>
                    <a:pt x="38620" y="5053"/>
                  </a:lnTo>
                  <a:lnTo>
                    <a:pt x="43471" y="10538"/>
                  </a:lnTo>
                  <a:lnTo>
                    <a:pt x="45250" y="17259"/>
                  </a:lnTo>
                  <a:lnTo>
                    <a:pt x="43471" y="23979"/>
                  </a:lnTo>
                  <a:lnTo>
                    <a:pt x="38620" y="29465"/>
                  </a:lnTo>
                  <a:lnTo>
                    <a:pt x="31426" y="33163"/>
                  </a:lnTo>
                  <a:lnTo>
                    <a:pt x="22618" y="34518"/>
                  </a:lnTo>
                  <a:lnTo>
                    <a:pt x="13817" y="33163"/>
                  </a:lnTo>
                  <a:lnTo>
                    <a:pt x="6627" y="29465"/>
                  </a:lnTo>
                  <a:lnTo>
                    <a:pt x="1778" y="23979"/>
                  </a:lnTo>
                  <a:lnTo>
                    <a:pt x="0" y="17259"/>
                  </a:lnTo>
                  <a:close/>
                </a:path>
              </a:pathLst>
            </a:custGeom>
            <a:ln w="25400">
              <a:solidFill>
                <a:srgbClr val="89A4A7"/>
              </a:solidFill>
            </a:ln>
          </p:spPr>
          <p:txBody>
            <a:bodyPr wrap="square" lIns="0" tIns="0" rIns="0" bIns="0" rtlCol="0"/>
            <a:lstStyle/>
            <a:p/>
          </p:txBody>
        </p:sp>
        <p:sp>
          <p:nvSpPr>
            <p:cNvPr id="43" name="object 43" descr=""/>
            <p:cNvSpPr/>
            <p:nvPr/>
          </p:nvSpPr>
          <p:spPr>
            <a:xfrm>
              <a:off x="3645824" y="1671040"/>
              <a:ext cx="45720" cy="34925"/>
            </a:xfrm>
            <a:custGeom>
              <a:avLst/>
              <a:gdLst/>
              <a:ahLst/>
              <a:cxnLst/>
              <a:rect l="l" t="t" r="r" b="b"/>
              <a:pathLst>
                <a:path w="45720" h="34925">
                  <a:moveTo>
                    <a:pt x="22618" y="0"/>
                  </a:moveTo>
                  <a:lnTo>
                    <a:pt x="13812" y="1355"/>
                  </a:lnTo>
                  <a:lnTo>
                    <a:pt x="6623" y="5053"/>
                  </a:lnTo>
                  <a:lnTo>
                    <a:pt x="1776" y="10538"/>
                  </a:lnTo>
                  <a:lnTo>
                    <a:pt x="0" y="17259"/>
                  </a:lnTo>
                  <a:lnTo>
                    <a:pt x="1776" y="23979"/>
                  </a:lnTo>
                  <a:lnTo>
                    <a:pt x="6623" y="29465"/>
                  </a:lnTo>
                  <a:lnTo>
                    <a:pt x="13812" y="33163"/>
                  </a:lnTo>
                  <a:lnTo>
                    <a:pt x="22618" y="34518"/>
                  </a:lnTo>
                  <a:lnTo>
                    <a:pt x="31426" y="33163"/>
                  </a:lnTo>
                  <a:lnTo>
                    <a:pt x="38620" y="29465"/>
                  </a:lnTo>
                  <a:lnTo>
                    <a:pt x="43471" y="23979"/>
                  </a:lnTo>
                  <a:lnTo>
                    <a:pt x="45250" y="17259"/>
                  </a:lnTo>
                  <a:lnTo>
                    <a:pt x="43471" y="10538"/>
                  </a:lnTo>
                  <a:lnTo>
                    <a:pt x="38620" y="5053"/>
                  </a:lnTo>
                  <a:lnTo>
                    <a:pt x="31426" y="1355"/>
                  </a:lnTo>
                  <a:lnTo>
                    <a:pt x="22618" y="0"/>
                  </a:lnTo>
                  <a:close/>
                </a:path>
              </a:pathLst>
            </a:custGeom>
            <a:solidFill>
              <a:srgbClr val="BBE0E3"/>
            </a:solidFill>
          </p:spPr>
          <p:txBody>
            <a:bodyPr wrap="square" lIns="0" tIns="0" rIns="0" bIns="0" rtlCol="0"/>
            <a:lstStyle/>
            <a:p/>
          </p:txBody>
        </p:sp>
        <p:sp>
          <p:nvSpPr>
            <p:cNvPr id="44" name="object 44" descr=""/>
            <p:cNvSpPr/>
            <p:nvPr/>
          </p:nvSpPr>
          <p:spPr>
            <a:xfrm>
              <a:off x="3645824" y="1671040"/>
              <a:ext cx="45720" cy="34925"/>
            </a:xfrm>
            <a:custGeom>
              <a:avLst/>
              <a:gdLst/>
              <a:ahLst/>
              <a:cxnLst/>
              <a:rect l="l" t="t" r="r" b="b"/>
              <a:pathLst>
                <a:path w="45720" h="34925">
                  <a:moveTo>
                    <a:pt x="0" y="17259"/>
                  </a:moveTo>
                  <a:lnTo>
                    <a:pt x="1776" y="10538"/>
                  </a:lnTo>
                  <a:lnTo>
                    <a:pt x="6623" y="5053"/>
                  </a:lnTo>
                  <a:lnTo>
                    <a:pt x="13812" y="1355"/>
                  </a:lnTo>
                  <a:lnTo>
                    <a:pt x="22618" y="0"/>
                  </a:lnTo>
                  <a:lnTo>
                    <a:pt x="31426" y="1355"/>
                  </a:lnTo>
                  <a:lnTo>
                    <a:pt x="38620" y="5053"/>
                  </a:lnTo>
                  <a:lnTo>
                    <a:pt x="43471" y="10538"/>
                  </a:lnTo>
                  <a:lnTo>
                    <a:pt x="45250" y="17259"/>
                  </a:lnTo>
                  <a:lnTo>
                    <a:pt x="43471" y="23979"/>
                  </a:lnTo>
                  <a:lnTo>
                    <a:pt x="38620" y="29465"/>
                  </a:lnTo>
                  <a:lnTo>
                    <a:pt x="31426" y="33163"/>
                  </a:lnTo>
                  <a:lnTo>
                    <a:pt x="22618" y="34518"/>
                  </a:lnTo>
                  <a:lnTo>
                    <a:pt x="13812" y="33163"/>
                  </a:lnTo>
                  <a:lnTo>
                    <a:pt x="6623" y="29465"/>
                  </a:lnTo>
                  <a:lnTo>
                    <a:pt x="1776" y="23979"/>
                  </a:lnTo>
                  <a:lnTo>
                    <a:pt x="0" y="17259"/>
                  </a:lnTo>
                  <a:close/>
                </a:path>
              </a:pathLst>
            </a:custGeom>
            <a:ln w="25400">
              <a:solidFill>
                <a:srgbClr val="89A4A7"/>
              </a:solidFill>
            </a:ln>
          </p:spPr>
          <p:txBody>
            <a:bodyPr wrap="square" lIns="0" tIns="0" rIns="0" bIns="0" rtlCol="0"/>
            <a:lstStyle/>
            <a:p/>
          </p:txBody>
        </p:sp>
        <p:sp>
          <p:nvSpPr>
            <p:cNvPr id="45" name="object 45" descr=""/>
            <p:cNvSpPr/>
            <p:nvPr/>
          </p:nvSpPr>
          <p:spPr>
            <a:xfrm>
              <a:off x="4224468" y="1671040"/>
              <a:ext cx="44450" cy="34925"/>
            </a:xfrm>
            <a:custGeom>
              <a:avLst/>
              <a:gdLst/>
              <a:ahLst/>
              <a:cxnLst/>
              <a:rect l="l" t="t" r="r" b="b"/>
              <a:pathLst>
                <a:path w="44450" h="34925">
                  <a:moveTo>
                    <a:pt x="22021" y="0"/>
                  </a:moveTo>
                  <a:lnTo>
                    <a:pt x="13453" y="1355"/>
                  </a:lnTo>
                  <a:lnTo>
                    <a:pt x="6453" y="5053"/>
                  </a:lnTo>
                  <a:lnTo>
                    <a:pt x="1731" y="10538"/>
                  </a:lnTo>
                  <a:lnTo>
                    <a:pt x="0" y="17259"/>
                  </a:lnTo>
                  <a:lnTo>
                    <a:pt x="1731" y="23979"/>
                  </a:lnTo>
                  <a:lnTo>
                    <a:pt x="6453" y="29465"/>
                  </a:lnTo>
                  <a:lnTo>
                    <a:pt x="13453" y="33163"/>
                  </a:lnTo>
                  <a:lnTo>
                    <a:pt x="22021" y="34518"/>
                  </a:lnTo>
                  <a:lnTo>
                    <a:pt x="30597" y="33163"/>
                  </a:lnTo>
                  <a:lnTo>
                    <a:pt x="37601" y="29465"/>
                  </a:lnTo>
                  <a:lnTo>
                    <a:pt x="42324" y="23979"/>
                  </a:lnTo>
                  <a:lnTo>
                    <a:pt x="44056" y="17259"/>
                  </a:lnTo>
                  <a:lnTo>
                    <a:pt x="42324" y="10538"/>
                  </a:lnTo>
                  <a:lnTo>
                    <a:pt x="37601" y="5053"/>
                  </a:lnTo>
                  <a:lnTo>
                    <a:pt x="30597" y="1355"/>
                  </a:lnTo>
                  <a:lnTo>
                    <a:pt x="22021" y="0"/>
                  </a:lnTo>
                  <a:close/>
                </a:path>
              </a:pathLst>
            </a:custGeom>
            <a:solidFill>
              <a:srgbClr val="BBE0E3"/>
            </a:solidFill>
          </p:spPr>
          <p:txBody>
            <a:bodyPr wrap="square" lIns="0" tIns="0" rIns="0" bIns="0" rtlCol="0"/>
            <a:lstStyle/>
            <a:p/>
          </p:txBody>
        </p:sp>
        <p:sp>
          <p:nvSpPr>
            <p:cNvPr id="46" name="object 46" descr=""/>
            <p:cNvSpPr/>
            <p:nvPr/>
          </p:nvSpPr>
          <p:spPr>
            <a:xfrm>
              <a:off x="4224468" y="1671040"/>
              <a:ext cx="44450" cy="34925"/>
            </a:xfrm>
            <a:custGeom>
              <a:avLst/>
              <a:gdLst/>
              <a:ahLst/>
              <a:cxnLst/>
              <a:rect l="l" t="t" r="r" b="b"/>
              <a:pathLst>
                <a:path w="44450" h="34925">
                  <a:moveTo>
                    <a:pt x="0" y="17259"/>
                  </a:moveTo>
                  <a:lnTo>
                    <a:pt x="1731" y="10538"/>
                  </a:lnTo>
                  <a:lnTo>
                    <a:pt x="6453" y="5053"/>
                  </a:lnTo>
                  <a:lnTo>
                    <a:pt x="13453" y="1355"/>
                  </a:lnTo>
                  <a:lnTo>
                    <a:pt x="22021" y="0"/>
                  </a:lnTo>
                  <a:lnTo>
                    <a:pt x="30597" y="1355"/>
                  </a:lnTo>
                  <a:lnTo>
                    <a:pt x="37601" y="5053"/>
                  </a:lnTo>
                  <a:lnTo>
                    <a:pt x="42324" y="10538"/>
                  </a:lnTo>
                  <a:lnTo>
                    <a:pt x="44056" y="17259"/>
                  </a:lnTo>
                  <a:lnTo>
                    <a:pt x="42324" y="23979"/>
                  </a:lnTo>
                  <a:lnTo>
                    <a:pt x="37601" y="29465"/>
                  </a:lnTo>
                  <a:lnTo>
                    <a:pt x="30597" y="33163"/>
                  </a:lnTo>
                  <a:lnTo>
                    <a:pt x="22021" y="34518"/>
                  </a:lnTo>
                  <a:lnTo>
                    <a:pt x="13453" y="33163"/>
                  </a:lnTo>
                  <a:lnTo>
                    <a:pt x="6453" y="29465"/>
                  </a:lnTo>
                  <a:lnTo>
                    <a:pt x="1731" y="23979"/>
                  </a:lnTo>
                  <a:lnTo>
                    <a:pt x="0" y="17259"/>
                  </a:lnTo>
                  <a:close/>
                </a:path>
              </a:pathLst>
            </a:custGeom>
            <a:ln w="25400">
              <a:solidFill>
                <a:srgbClr val="89A4A7"/>
              </a:solidFill>
            </a:ln>
          </p:spPr>
          <p:txBody>
            <a:bodyPr wrap="square" lIns="0" tIns="0" rIns="0" bIns="0" rtlCol="0"/>
            <a:lstStyle/>
            <a:p/>
          </p:txBody>
        </p:sp>
        <p:sp>
          <p:nvSpPr>
            <p:cNvPr id="47" name="object 47" descr=""/>
            <p:cNvSpPr/>
            <p:nvPr/>
          </p:nvSpPr>
          <p:spPr>
            <a:xfrm>
              <a:off x="4801920" y="1671040"/>
              <a:ext cx="45720" cy="34925"/>
            </a:xfrm>
            <a:custGeom>
              <a:avLst/>
              <a:gdLst/>
              <a:ahLst/>
              <a:cxnLst/>
              <a:rect l="l" t="t" r="r" b="b"/>
              <a:pathLst>
                <a:path w="45720" h="34925">
                  <a:moveTo>
                    <a:pt x="22618" y="0"/>
                  </a:moveTo>
                  <a:lnTo>
                    <a:pt x="13812" y="1355"/>
                  </a:lnTo>
                  <a:lnTo>
                    <a:pt x="6623" y="5053"/>
                  </a:lnTo>
                  <a:lnTo>
                    <a:pt x="1776" y="10538"/>
                  </a:lnTo>
                  <a:lnTo>
                    <a:pt x="0" y="17259"/>
                  </a:lnTo>
                  <a:lnTo>
                    <a:pt x="1776" y="23979"/>
                  </a:lnTo>
                  <a:lnTo>
                    <a:pt x="6623" y="29465"/>
                  </a:lnTo>
                  <a:lnTo>
                    <a:pt x="13812" y="33163"/>
                  </a:lnTo>
                  <a:lnTo>
                    <a:pt x="22618" y="34518"/>
                  </a:lnTo>
                  <a:lnTo>
                    <a:pt x="31426" y="33163"/>
                  </a:lnTo>
                  <a:lnTo>
                    <a:pt x="38620" y="29465"/>
                  </a:lnTo>
                  <a:lnTo>
                    <a:pt x="43471" y="23979"/>
                  </a:lnTo>
                  <a:lnTo>
                    <a:pt x="45250" y="17259"/>
                  </a:lnTo>
                  <a:lnTo>
                    <a:pt x="43471" y="10538"/>
                  </a:lnTo>
                  <a:lnTo>
                    <a:pt x="38620" y="5053"/>
                  </a:lnTo>
                  <a:lnTo>
                    <a:pt x="31426" y="1355"/>
                  </a:lnTo>
                  <a:lnTo>
                    <a:pt x="22618" y="0"/>
                  </a:lnTo>
                  <a:close/>
                </a:path>
              </a:pathLst>
            </a:custGeom>
            <a:solidFill>
              <a:srgbClr val="BBE0E3"/>
            </a:solidFill>
          </p:spPr>
          <p:txBody>
            <a:bodyPr wrap="square" lIns="0" tIns="0" rIns="0" bIns="0" rtlCol="0"/>
            <a:lstStyle/>
            <a:p/>
          </p:txBody>
        </p:sp>
        <p:sp>
          <p:nvSpPr>
            <p:cNvPr id="48" name="object 48" descr=""/>
            <p:cNvSpPr/>
            <p:nvPr/>
          </p:nvSpPr>
          <p:spPr>
            <a:xfrm>
              <a:off x="4801920" y="1671040"/>
              <a:ext cx="45720" cy="34925"/>
            </a:xfrm>
            <a:custGeom>
              <a:avLst/>
              <a:gdLst/>
              <a:ahLst/>
              <a:cxnLst/>
              <a:rect l="l" t="t" r="r" b="b"/>
              <a:pathLst>
                <a:path w="45720" h="34925">
                  <a:moveTo>
                    <a:pt x="0" y="17259"/>
                  </a:moveTo>
                  <a:lnTo>
                    <a:pt x="1776" y="10538"/>
                  </a:lnTo>
                  <a:lnTo>
                    <a:pt x="6623" y="5053"/>
                  </a:lnTo>
                  <a:lnTo>
                    <a:pt x="13812" y="1355"/>
                  </a:lnTo>
                  <a:lnTo>
                    <a:pt x="22618" y="0"/>
                  </a:lnTo>
                  <a:lnTo>
                    <a:pt x="31426" y="1355"/>
                  </a:lnTo>
                  <a:lnTo>
                    <a:pt x="38620" y="5053"/>
                  </a:lnTo>
                  <a:lnTo>
                    <a:pt x="43471" y="10538"/>
                  </a:lnTo>
                  <a:lnTo>
                    <a:pt x="45250" y="17259"/>
                  </a:lnTo>
                  <a:lnTo>
                    <a:pt x="43471" y="23979"/>
                  </a:lnTo>
                  <a:lnTo>
                    <a:pt x="38620" y="29465"/>
                  </a:lnTo>
                  <a:lnTo>
                    <a:pt x="31426" y="33163"/>
                  </a:lnTo>
                  <a:lnTo>
                    <a:pt x="22618" y="34518"/>
                  </a:lnTo>
                  <a:lnTo>
                    <a:pt x="13812" y="33163"/>
                  </a:lnTo>
                  <a:lnTo>
                    <a:pt x="6623" y="29465"/>
                  </a:lnTo>
                  <a:lnTo>
                    <a:pt x="1776" y="23979"/>
                  </a:lnTo>
                  <a:lnTo>
                    <a:pt x="0" y="17259"/>
                  </a:lnTo>
                  <a:close/>
                </a:path>
              </a:pathLst>
            </a:custGeom>
            <a:ln w="25400">
              <a:solidFill>
                <a:srgbClr val="89A4A7"/>
              </a:solidFill>
            </a:ln>
          </p:spPr>
          <p:txBody>
            <a:bodyPr wrap="square" lIns="0" tIns="0" rIns="0" bIns="0" rtlCol="0"/>
            <a:lstStyle/>
            <a:p/>
          </p:txBody>
        </p:sp>
        <p:sp>
          <p:nvSpPr>
            <p:cNvPr id="49" name="object 49" descr=""/>
            <p:cNvSpPr/>
            <p:nvPr/>
          </p:nvSpPr>
          <p:spPr>
            <a:xfrm>
              <a:off x="5379374" y="1671040"/>
              <a:ext cx="45720" cy="34925"/>
            </a:xfrm>
            <a:custGeom>
              <a:avLst/>
              <a:gdLst/>
              <a:ahLst/>
              <a:cxnLst/>
              <a:rect l="l" t="t" r="r" b="b"/>
              <a:pathLst>
                <a:path w="45720" h="34925">
                  <a:moveTo>
                    <a:pt x="22618" y="0"/>
                  </a:moveTo>
                  <a:lnTo>
                    <a:pt x="13812" y="1355"/>
                  </a:lnTo>
                  <a:lnTo>
                    <a:pt x="6623" y="5053"/>
                  </a:lnTo>
                  <a:lnTo>
                    <a:pt x="1776" y="10538"/>
                  </a:lnTo>
                  <a:lnTo>
                    <a:pt x="0" y="17259"/>
                  </a:lnTo>
                  <a:lnTo>
                    <a:pt x="1776" y="23979"/>
                  </a:lnTo>
                  <a:lnTo>
                    <a:pt x="6623" y="29465"/>
                  </a:lnTo>
                  <a:lnTo>
                    <a:pt x="13812" y="33163"/>
                  </a:lnTo>
                  <a:lnTo>
                    <a:pt x="22618" y="34518"/>
                  </a:lnTo>
                  <a:lnTo>
                    <a:pt x="31426" y="33163"/>
                  </a:lnTo>
                  <a:lnTo>
                    <a:pt x="38620" y="29465"/>
                  </a:lnTo>
                  <a:lnTo>
                    <a:pt x="43471" y="23979"/>
                  </a:lnTo>
                  <a:lnTo>
                    <a:pt x="45250" y="17259"/>
                  </a:lnTo>
                  <a:lnTo>
                    <a:pt x="43471" y="10538"/>
                  </a:lnTo>
                  <a:lnTo>
                    <a:pt x="38620" y="5053"/>
                  </a:lnTo>
                  <a:lnTo>
                    <a:pt x="31426" y="1355"/>
                  </a:lnTo>
                  <a:lnTo>
                    <a:pt x="22618" y="0"/>
                  </a:lnTo>
                  <a:close/>
                </a:path>
              </a:pathLst>
            </a:custGeom>
            <a:solidFill>
              <a:srgbClr val="BBE0E3"/>
            </a:solidFill>
          </p:spPr>
          <p:txBody>
            <a:bodyPr wrap="square" lIns="0" tIns="0" rIns="0" bIns="0" rtlCol="0"/>
            <a:lstStyle/>
            <a:p/>
          </p:txBody>
        </p:sp>
        <p:sp>
          <p:nvSpPr>
            <p:cNvPr id="50" name="object 50" descr=""/>
            <p:cNvSpPr/>
            <p:nvPr/>
          </p:nvSpPr>
          <p:spPr>
            <a:xfrm>
              <a:off x="5379374" y="1671040"/>
              <a:ext cx="45720" cy="34925"/>
            </a:xfrm>
            <a:custGeom>
              <a:avLst/>
              <a:gdLst/>
              <a:ahLst/>
              <a:cxnLst/>
              <a:rect l="l" t="t" r="r" b="b"/>
              <a:pathLst>
                <a:path w="45720" h="34925">
                  <a:moveTo>
                    <a:pt x="0" y="17259"/>
                  </a:moveTo>
                  <a:lnTo>
                    <a:pt x="1776" y="10538"/>
                  </a:lnTo>
                  <a:lnTo>
                    <a:pt x="6623" y="5053"/>
                  </a:lnTo>
                  <a:lnTo>
                    <a:pt x="13812" y="1355"/>
                  </a:lnTo>
                  <a:lnTo>
                    <a:pt x="22618" y="0"/>
                  </a:lnTo>
                  <a:lnTo>
                    <a:pt x="31426" y="1355"/>
                  </a:lnTo>
                  <a:lnTo>
                    <a:pt x="38620" y="5053"/>
                  </a:lnTo>
                  <a:lnTo>
                    <a:pt x="43471" y="10538"/>
                  </a:lnTo>
                  <a:lnTo>
                    <a:pt x="45250" y="17259"/>
                  </a:lnTo>
                  <a:lnTo>
                    <a:pt x="43471" y="23979"/>
                  </a:lnTo>
                  <a:lnTo>
                    <a:pt x="38620" y="29465"/>
                  </a:lnTo>
                  <a:lnTo>
                    <a:pt x="31426" y="33163"/>
                  </a:lnTo>
                  <a:lnTo>
                    <a:pt x="22618" y="34518"/>
                  </a:lnTo>
                  <a:lnTo>
                    <a:pt x="13812" y="33163"/>
                  </a:lnTo>
                  <a:lnTo>
                    <a:pt x="6623" y="29465"/>
                  </a:lnTo>
                  <a:lnTo>
                    <a:pt x="1776" y="23979"/>
                  </a:lnTo>
                  <a:lnTo>
                    <a:pt x="0" y="17259"/>
                  </a:lnTo>
                  <a:close/>
                </a:path>
              </a:pathLst>
            </a:custGeom>
            <a:ln w="25400">
              <a:solidFill>
                <a:srgbClr val="89A4A7"/>
              </a:solidFill>
            </a:ln>
          </p:spPr>
          <p:txBody>
            <a:bodyPr wrap="square" lIns="0" tIns="0" rIns="0" bIns="0" rtlCol="0"/>
            <a:lstStyle/>
            <a:p/>
          </p:txBody>
        </p:sp>
        <p:sp>
          <p:nvSpPr>
            <p:cNvPr id="51" name="object 51" descr=""/>
            <p:cNvSpPr/>
            <p:nvPr/>
          </p:nvSpPr>
          <p:spPr>
            <a:xfrm>
              <a:off x="5958018" y="1671040"/>
              <a:ext cx="44450" cy="34925"/>
            </a:xfrm>
            <a:custGeom>
              <a:avLst/>
              <a:gdLst/>
              <a:ahLst/>
              <a:cxnLst/>
              <a:rect l="l" t="t" r="r" b="b"/>
              <a:pathLst>
                <a:path w="44450" h="34925">
                  <a:moveTo>
                    <a:pt x="22021" y="0"/>
                  </a:moveTo>
                  <a:lnTo>
                    <a:pt x="13453" y="1355"/>
                  </a:lnTo>
                  <a:lnTo>
                    <a:pt x="6453" y="5053"/>
                  </a:lnTo>
                  <a:lnTo>
                    <a:pt x="1731" y="10538"/>
                  </a:lnTo>
                  <a:lnTo>
                    <a:pt x="0" y="17259"/>
                  </a:lnTo>
                  <a:lnTo>
                    <a:pt x="1731" y="23979"/>
                  </a:lnTo>
                  <a:lnTo>
                    <a:pt x="6453" y="29465"/>
                  </a:lnTo>
                  <a:lnTo>
                    <a:pt x="13453" y="33163"/>
                  </a:lnTo>
                  <a:lnTo>
                    <a:pt x="22021" y="34518"/>
                  </a:lnTo>
                  <a:lnTo>
                    <a:pt x="30597" y="33163"/>
                  </a:lnTo>
                  <a:lnTo>
                    <a:pt x="37601" y="29465"/>
                  </a:lnTo>
                  <a:lnTo>
                    <a:pt x="42324" y="23979"/>
                  </a:lnTo>
                  <a:lnTo>
                    <a:pt x="44056" y="17259"/>
                  </a:lnTo>
                  <a:lnTo>
                    <a:pt x="42324" y="10538"/>
                  </a:lnTo>
                  <a:lnTo>
                    <a:pt x="37601" y="5053"/>
                  </a:lnTo>
                  <a:lnTo>
                    <a:pt x="30597" y="1355"/>
                  </a:lnTo>
                  <a:lnTo>
                    <a:pt x="22021" y="0"/>
                  </a:lnTo>
                  <a:close/>
                </a:path>
              </a:pathLst>
            </a:custGeom>
            <a:solidFill>
              <a:srgbClr val="BBE0E3"/>
            </a:solidFill>
          </p:spPr>
          <p:txBody>
            <a:bodyPr wrap="square" lIns="0" tIns="0" rIns="0" bIns="0" rtlCol="0"/>
            <a:lstStyle/>
            <a:p/>
          </p:txBody>
        </p:sp>
        <p:sp>
          <p:nvSpPr>
            <p:cNvPr id="52" name="object 52" descr=""/>
            <p:cNvSpPr/>
            <p:nvPr/>
          </p:nvSpPr>
          <p:spPr>
            <a:xfrm>
              <a:off x="5958018" y="1671040"/>
              <a:ext cx="44450" cy="34925"/>
            </a:xfrm>
            <a:custGeom>
              <a:avLst/>
              <a:gdLst/>
              <a:ahLst/>
              <a:cxnLst/>
              <a:rect l="l" t="t" r="r" b="b"/>
              <a:pathLst>
                <a:path w="44450" h="34925">
                  <a:moveTo>
                    <a:pt x="0" y="17259"/>
                  </a:moveTo>
                  <a:lnTo>
                    <a:pt x="1731" y="10538"/>
                  </a:lnTo>
                  <a:lnTo>
                    <a:pt x="6453" y="5053"/>
                  </a:lnTo>
                  <a:lnTo>
                    <a:pt x="13453" y="1355"/>
                  </a:lnTo>
                  <a:lnTo>
                    <a:pt x="22021" y="0"/>
                  </a:lnTo>
                  <a:lnTo>
                    <a:pt x="30597" y="1355"/>
                  </a:lnTo>
                  <a:lnTo>
                    <a:pt x="37601" y="5053"/>
                  </a:lnTo>
                  <a:lnTo>
                    <a:pt x="42324" y="10538"/>
                  </a:lnTo>
                  <a:lnTo>
                    <a:pt x="44056" y="17259"/>
                  </a:lnTo>
                  <a:lnTo>
                    <a:pt x="42324" y="23979"/>
                  </a:lnTo>
                  <a:lnTo>
                    <a:pt x="37601" y="29465"/>
                  </a:lnTo>
                  <a:lnTo>
                    <a:pt x="30597" y="33163"/>
                  </a:lnTo>
                  <a:lnTo>
                    <a:pt x="22021" y="34518"/>
                  </a:lnTo>
                  <a:lnTo>
                    <a:pt x="13453" y="33163"/>
                  </a:lnTo>
                  <a:lnTo>
                    <a:pt x="6453" y="29465"/>
                  </a:lnTo>
                  <a:lnTo>
                    <a:pt x="1731" y="23979"/>
                  </a:lnTo>
                  <a:lnTo>
                    <a:pt x="0" y="17259"/>
                  </a:lnTo>
                  <a:close/>
                </a:path>
              </a:pathLst>
            </a:custGeom>
            <a:ln w="25400">
              <a:solidFill>
                <a:srgbClr val="89A4A7"/>
              </a:solidFill>
            </a:ln>
          </p:spPr>
          <p:txBody>
            <a:bodyPr wrap="square" lIns="0" tIns="0" rIns="0" bIns="0" rtlCol="0"/>
            <a:lstStyle/>
            <a:p/>
          </p:txBody>
        </p:sp>
      </p:grpSp>
      <p:sp>
        <p:nvSpPr>
          <p:cNvPr id="53" name="object 53" descr=""/>
          <p:cNvSpPr/>
          <p:nvPr/>
        </p:nvSpPr>
        <p:spPr>
          <a:xfrm>
            <a:off x="1269337" y="3381281"/>
            <a:ext cx="772795" cy="58419"/>
          </a:xfrm>
          <a:custGeom>
            <a:avLst/>
            <a:gdLst/>
            <a:ahLst/>
            <a:cxnLst/>
            <a:rect l="l" t="t" r="r" b="b"/>
            <a:pathLst>
              <a:path w="772794" h="58420">
                <a:moveTo>
                  <a:pt x="386359" y="0"/>
                </a:moveTo>
                <a:lnTo>
                  <a:pt x="308493" y="592"/>
                </a:lnTo>
                <a:lnTo>
                  <a:pt x="235968" y="2293"/>
                </a:lnTo>
                <a:lnTo>
                  <a:pt x="170339" y="4984"/>
                </a:lnTo>
                <a:lnTo>
                  <a:pt x="113160" y="8547"/>
                </a:lnTo>
                <a:lnTo>
                  <a:pt x="65982" y="12864"/>
                </a:lnTo>
                <a:lnTo>
                  <a:pt x="7849" y="23294"/>
                </a:lnTo>
                <a:lnTo>
                  <a:pt x="0" y="29171"/>
                </a:lnTo>
                <a:lnTo>
                  <a:pt x="7849" y="35052"/>
                </a:lnTo>
                <a:lnTo>
                  <a:pt x="65982" y="45484"/>
                </a:lnTo>
                <a:lnTo>
                  <a:pt x="113160" y="49801"/>
                </a:lnTo>
                <a:lnTo>
                  <a:pt x="170339" y="53363"/>
                </a:lnTo>
                <a:lnTo>
                  <a:pt x="235968" y="56052"/>
                </a:lnTo>
                <a:lnTo>
                  <a:pt x="308493" y="57751"/>
                </a:lnTo>
                <a:lnTo>
                  <a:pt x="386359" y="58343"/>
                </a:lnTo>
                <a:lnTo>
                  <a:pt x="464222" y="57751"/>
                </a:lnTo>
                <a:lnTo>
                  <a:pt x="536744" y="56052"/>
                </a:lnTo>
                <a:lnTo>
                  <a:pt x="602373" y="53363"/>
                </a:lnTo>
                <a:lnTo>
                  <a:pt x="659553" y="49801"/>
                </a:lnTo>
                <a:lnTo>
                  <a:pt x="706732" y="45484"/>
                </a:lnTo>
                <a:lnTo>
                  <a:pt x="764869" y="35052"/>
                </a:lnTo>
                <a:lnTo>
                  <a:pt x="772718" y="29171"/>
                </a:lnTo>
                <a:lnTo>
                  <a:pt x="764869" y="23294"/>
                </a:lnTo>
                <a:lnTo>
                  <a:pt x="706732" y="12864"/>
                </a:lnTo>
                <a:lnTo>
                  <a:pt x="659553" y="8547"/>
                </a:lnTo>
                <a:lnTo>
                  <a:pt x="602373" y="4984"/>
                </a:lnTo>
                <a:lnTo>
                  <a:pt x="536744" y="2293"/>
                </a:lnTo>
                <a:lnTo>
                  <a:pt x="464222" y="592"/>
                </a:lnTo>
                <a:lnTo>
                  <a:pt x="386359" y="0"/>
                </a:lnTo>
                <a:close/>
              </a:path>
            </a:pathLst>
          </a:custGeom>
          <a:solidFill>
            <a:srgbClr val="222268">
              <a:alpha val="30194"/>
            </a:srgbClr>
          </a:solidFill>
        </p:spPr>
        <p:txBody>
          <a:bodyPr wrap="square" lIns="0" tIns="0" rIns="0" bIns="0" rtlCol="0"/>
          <a:lstStyle/>
          <a:p/>
        </p:txBody>
      </p:sp>
      <p:sp>
        <p:nvSpPr>
          <p:cNvPr id="54" name="object 54" descr=""/>
          <p:cNvSpPr/>
          <p:nvPr/>
        </p:nvSpPr>
        <p:spPr>
          <a:xfrm>
            <a:off x="2443293" y="3381281"/>
            <a:ext cx="772795" cy="58419"/>
          </a:xfrm>
          <a:custGeom>
            <a:avLst/>
            <a:gdLst/>
            <a:ahLst/>
            <a:cxnLst/>
            <a:rect l="l" t="t" r="r" b="b"/>
            <a:pathLst>
              <a:path w="772794" h="58420">
                <a:moveTo>
                  <a:pt x="386359" y="0"/>
                </a:moveTo>
                <a:lnTo>
                  <a:pt x="308493" y="592"/>
                </a:lnTo>
                <a:lnTo>
                  <a:pt x="235968" y="2293"/>
                </a:lnTo>
                <a:lnTo>
                  <a:pt x="170339" y="4984"/>
                </a:lnTo>
                <a:lnTo>
                  <a:pt x="113160" y="8547"/>
                </a:lnTo>
                <a:lnTo>
                  <a:pt x="65982" y="12864"/>
                </a:lnTo>
                <a:lnTo>
                  <a:pt x="7849" y="23294"/>
                </a:lnTo>
                <a:lnTo>
                  <a:pt x="0" y="29171"/>
                </a:lnTo>
                <a:lnTo>
                  <a:pt x="7849" y="35052"/>
                </a:lnTo>
                <a:lnTo>
                  <a:pt x="65982" y="45484"/>
                </a:lnTo>
                <a:lnTo>
                  <a:pt x="113160" y="49801"/>
                </a:lnTo>
                <a:lnTo>
                  <a:pt x="170339" y="53363"/>
                </a:lnTo>
                <a:lnTo>
                  <a:pt x="235968" y="56052"/>
                </a:lnTo>
                <a:lnTo>
                  <a:pt x="308493" y="57751"/>
                </a:lnTo>
                <a:lnTo>
                  <a:pt x="386359" y="58343"/>
                </a:lnTo>
                <a:lnTo>
                  <a:pt x="464222" y="57751"/>
                </a:lnTo>
                <a:lnTo>
                  <a:pt x="536744" y="56052"/>
                </a:lnTo>
                <a:lnTo>
                  <a:pt x="602373" y="53363"/>
                </a:lnTo>
                <a:lnTo>
                  <a:pt x="659553" y="49801"/>
                </a:lnTo>
                <a:lnTo>
                  <a:pt x="706732" y="45484"/>
                </a:lnTo>
                <a:lnTo>
                  <a:pt x="764869" y="35052"/>
                </a:lnTo>
                <a:lnTo>
                  <a:pt x="772718" y="29171"/>
                </a:lnTo>
                <a:lnTo>
                  <a:pt x="764869" y="23294"/>
                </a:lnTo>
                <a:lnTo>
                  <a:pt x="706732" y="12864"/>
                </a:lnTo>
                <a:lnTo>
                  <a:pt x="659553" y="8547"/>
                </a:lnTo>
                <a:lnTo>
                  <a:pt x="602373" y="4984"/>
                </a:lnTo>
                <a:lnTo>
                  <a:pt x="536744" y="2293"/>
                </a:lnTo>
                <a:lnTo>
                  <a:pt x="464222" y="592"/>
                </a:lnTo>
                <a:lnTo>
                  <a:pt x="386359" y="0"/>
                </a:lnTo>
                <a:close/>
              </a:path>
            </a:pathLst>
          </a:custGeom>
          <a:solidFill>
            <a:srgbClr val="222268">
              <a:alpha val="30194"/>
            </a:srgbClr>
          </a:solidFill>
        </p:spPr>
        <p:txBody>
          <a:bodyPr wrap="square" lIns="0" tIns="0" rIns="0" bIns="0" rtlCol="0"/>
          <a:lstStyle/>
          <a:p/>
        </p:txBody>
      </p:sp>
      <p:sp>
        <p:nvSpPr>
          <p:cNvPr id="55" name="object 55" descr=""/>
          <p:cNvSpPr/>
          <p:nvPr/>
        </p:nvSpPr>
        <p:spPr>
          <a:xfrm>
            <a:off x="3633918" y="3381281"/>
            <a:ext cx="772795" cy="58419"/>
          </a:xfrm>
          <a:custGeom>
            <a:avLst/>
            <a:gdLst/>
            <a:ahLst/>
            <a:cxnLst/>
            <a:rect l="l" t="t" r="r" b="b"/>
            <a:pathLst>
              <a:path w="772795" h="58420">
                <a:moveTo>
                  <a:pt x="386359" y="0"/>
                </a:moveTo>
                <a:lnTo>
                  <a:pt x="308496" y="592"/>
                </a:lnTo>
                <a:lnTo>
                  <a:pt x="235974" y="2293"/>
                </a:lnTo>
                <a:lnTo>
                  <a:pt x="170345" y="4984"/>
                </a:lnTo>
                <a:lnTo>
                  <a:pt x="113164" y="8547"/>
                </a:lnTo>
                <a:lnTo>
                  <a:pt x="65986" y="12864"/>
                </a:lnTo>
                <a:lnTo>
                  <a:pt x="7849" y="23294"/>
                </a:lnTo>
                <a:lnTo>
                  <a:pt x="0" y="29171"/>
                </a:lnTo>
                <a:lnTo>
                  <a:pt x="7849" y="35052"/>
                </a:lnTo>
                <a:lnTo>
                  <a:pt x="65982" y="45484"/>
                </a:lnTo>
                <a:lnTo>
                  <a:pt x="113160" y="49801"/>
                </a:lnTo>
                <a:lnTo>
                  <a:pt x="170339" y="53363"/>
                </a:lnTo>
                <a:lnTo>
                  <a:pt x="235968" y="56052"/>
                </a:lnTo>
                <a:lnTo>
                  <a:pt x="308493" y="57751"/>
                </a:lnTo>
                <a:lnTo>
                  <a:pt x="386359" y="58343"/>
                </a:lnTo>
                <a:lnTo>
                  <a:pt x="464222" y="57751"/>
                </a:lnTo>
                <a:lnTo>
                  <a:pt x="536744" y="56052"/>
                </a:lnTo>
                <a:lnTo>
                  <a:pt x="602373" y="53363"/>
                </a:lnTo>
                <a:lnTo>
                  <a:pt x="659553" y="49801"/>
                </a:lnTo>
                <a:lnTo>
                  <a:pt x="706732" y="45484"/>
                </a:lnTo>
                <a:lnTo>
                  <a:pt x="764869" y="35052"/>
                </a:lnTo>
                <a:lnTo>
                  <a:pt x="772718" y="29171"/>
                </a:lnTo>
                <a:lnTo>
                  <a:pt x="764869" y="23294"/>
                </a:lnTo>
                <a:lnTo>
                  <a:pt x="706732" y="12864"/>
                </a:lnTo>
                <a:lnTo>
                  <a:pt x="659553" y="8547"/>
                </a:lnTo>
                <a:lnTo>
                  <a:pt x="602373" y="4984"/>
                </a:lnTo>
                <a:lnTo>
                  <a:pt x="536744" y="2293"/>
                </a:lnTo>
                <a:lnTo>
                  <a:pt x="464222" y="592"/>
                </a:lnTo>
                <a:lnTo>
                  <a:pt x="386359" y="0"/>
                </a:lnTo>
                <a:close/>
              </a:path>
            </a:pathLst>
          </a:custGeom>
          <a:solidFill>
            <a:srgbClr val="222268">
              <a:alpha val="30194"/>
            </a:srgbClr>
          </a:solidFill>
        </p:spPr>
        <p:txBody>
          <a:bodyPr wrap="square" lIns="0" tIns="0" rIns="0" bIns="0" rtlCol="0"/>
          <a:lstStyle/>
          <a:p/>
        </p:txBody>
      </p:sp>
      <p:sp>
        <p:nvSpPr>
          <p:cNvPr id="56" name="object 56" descr=""/>
          <p:cNvSpPr/>
          <p:nvPr/>
        </p:nvSpPr>
        <p:spPr>
          <a:xfrm>
            <a:off x="4824543" y="3381281"/>
            <a:ext cx="771525" cy="58419"/>
          </a:xfrm>
          <a:custGeom>
            <a:avLst/>
            <a:gdLst/>
            <a:ahLst/>
            <a:cxnLst/>
            <a:rect l="l" t="t" r="r" b="b"/>
            <a:pathLst>
              <a:path w="771525" h="58420">
                <a:moveTo>
                  <a:pt x="385762" y="0"/>
                </a:moveTo>
                <a:lnTo>
                  <a:pt x="308020" y="592"/>
                </a:lnTo>
                <a:lnTo>
                  <a:pt x="235609" y="2293"/>
                </a:lnTo>
                <a:lnTo>
                  <a:pt x="170082" y="4984"/>
                </a:lnTo>
                <a:lnTo>
                  <a:pt x="112990" y="8547"/>
                </a:lnTo>
                <a:lnTo>
                  <a:pt x="65884" y="12864"/>
                </a:lnTo>
                <a:lnTo>
                  <a:pt x="7837" y="23294"/>
                </a:lnTo>
                <a:lnTo>
                  <a:pt x="0" y="29171"/>
                </a:lnTo>
                <a:lnTo>
                  <a:pt x="7837" y="35052"/>
                </a:lnTo>
                <a:lnTo>
                  <a:pt x="65881" y="45484"/>
                </a:lnTo>
                <a:lnTo>
                  <a:pt x="112985" y="49801"/>
                </a:lnTo>
                <a:lnTo>
                  <a:pt x="170077" y="53363"/>
                </a:lnTo>
                <a:lnTo>
                  <a:pt x="235604" y="56052"/>
                </a:lnTo>
                <a:lnTo>
                  <a:pt x="308016" y="57751"/>
                </a:lnTo>
                <a:lnTo>
                  <a:pt x="385762" y="58343"/>
                </a:lnTo>
                <a:lnTo>
                  <a:pt x="463508" y="57751"/>
                </a:lnTo>
                <a:lnTo>
                  <a:pt x="535920" y="56052"/>
                </a:lnTo>
                <a:lnTo>
                  <a:pt x="601447" y="53363"/>
                </a:lnTo>
                <a:lnTo>
                  <a:pt x="658539" y="49801"/>
                </a:lnTo>
                <a:lnTo>
                  <a:pt x="705643" y="45484"/>
                </a:lnTo>
                <a:lnTo>
                  <a:pt x="763687" y="35052"/>
                </a:lnTo>
                <a:lnTo>
                  <a:pt x="771525" y="29171"/>
                </a:lnTo>
                <a:lnTo>
                  <a:pt x="763687" y="23294"/>
                </a:lnTo>
                <a:lnTo>
                  <a:pt x="705643" y="12864"/>
                </a:lnTo>
                <a:lnTo>
                  <a:pt x="658539" y="8547"/>
                </a:lnTo>
                <a:lnTo>
                  <a:pt x="601447" y="4984"/>
                </a:lnTo>
                <a:lnTo>
                  <a:pt x="535920" y="2293"/>
                </a:lnTo>
                <a:lnTo>
                  <a:pt x="463508" y="592"/>
                </a:lnTo>
                <a:lnTo>
                  <a:pt x="385762" y="0"/>
                </a:lnTo>
                <a:close/>
              </a:path>
            </a:pathLst>
          </a:custGeom>
          <a:solidFill>
            <a:srgbClr val="222268">
              <a:alpha val="30194"/>
            </a:srgbClr>
          </a:solidFill>
        </p:spPr>
        <p:txBody>
          <a:bodyPr wrap="square" lIns="0" tIns="0" rIns="0" bIns="0" rtlCol="0"/>
          <a:lstStyle/>
          <a:p/>
        </p:txBody>
      </p:sp>
      <p:sp>
        <p:nvSpPr>
          <p:cNvPr id="57" name="object 57" descr=""/>
          <p:cNvSpPr/>
          <p:nvPr/>
        </p:nvSpPr>
        <p:spPr>
          <a:xfrm>
            <a:off x="6015168" y="3381281"/>
            <a:ext cx="771525" cy="58419"/>
          </a:xfrm>
          <a:custGeom>
            <a:avLst/>
            <a:gdLst/>
            <a:ahLst/>
            <a:cxnLst/>
            <a:rect l="l" t="t" r="r" b="b"/>
            <a:pathLst>
              <a:path w="771525" h="58420">
                <a:moveTo>
                  <a:pt x="385762" y="0"/>
                </a:moveTo>
                <a:lnTo>
                  <a:pt x="308020" y="592"/>
                </a:lnTo>
                <a:lnTo>
                  <a:pt x="235609" y="2293"/>
                </a:lnTo>
                <a:lnTo>
                  <a:pt x="170082" y="4984"/>
                </a:lnTo>
                <a:lnTo>
                  <a:pt x="112990" y="8547"/>
                </a:lnTo>
                <a:lnTo>
                  <a:pt x="65884" y="12864"/>
                </a:lnTo>
                <a:lnTo>
                  <a:pt x="7837" y="23294"/>
                </a:lnTo>
                <a:lnTo>
                  <a:pt x="0" y="29171"/>
                </a:lnTo>
                <a:lnTo>
                  <a:pt x="7837" y="35052"/>
                </a:lnTo>
                <a:lnTo>
                  <a:pt x="65881" y="45484"/>
                </a:lnTo>
                <a:lnTo>
                  <a:pt x="112985" y="49801"/>
                </a:lnTo>
                <a:lnTo>
                  <a:pt x="170077" y="53363"/>
                </a:lnTo>
                <a:lnTo>
                  <a:pt x="235604" y="56052"/>
                </a:lnTo>
                <a:lnTo>
                  <a:pt x="308016" y="57751"/>
                </a:lnTo>
                <a:lnTo>
                  <a:pt x="385762" y="58343"/>
                </a:lnTo>
                <a:lnTo>
                  <a:pt x="463508" y="57751"/>
                </a:lnTo>
                <a:lnTo>
                  <a:pt x="535920" y="56052"/>
                </a:lnTo>
                <a:lnTo>
                  <a:pt x="601447" y="53363"/>
                </a:lnTo>
                <a:lnTo>
                  <a:pt x="658539" y="49801"/>
                </a:lnTo>
                <a:lnTo>
                  <a:pt x="705643" y="45484"/>
                </a:lnTo>
                <a:lnTo>
                  <a:pt x="763687" y="35052"/>
                </a:lnTo>
                <a:lnTo>
                  <a:pt x="771525" y="29171"/>
                </a:lnTo>
                <a:lnTo>
                  <a:pt x="763687" y="23294"/>
                </a:lnTo>
                <a:lnTo>
                  <a:pt x="705643" y="12864"/>
                </a:lnTo>
                <a:lnTo>
                  <a:pt x="658539" y="8547"/>
                </a:lnTo>
                <a:lnTo>
                  <a:pt x="601447" y="4984"/>
                </a:lnTo>
                <a:lnTo>
                  <a:pt x="535920" y="2293"/>
                </a:lnTo>
                <a:lnTo>
                  <a:pt x="463508" y="592"/>
                </a:lnTo>
                <a:lnTo>
                  <a:pt x="385762" y="0"/>
                </a:lnTo>
                <a:close/>
              </a:path>
            </a:pathLst>
          </a:custGeom>
          <a:solidFill>
            <a:srgbClr val="222268">
              <a:alpha val="30194"/>
            </a:srgbClr>
          </a:solidFill>
        </p:spPr>
        <p:txBody>
          <a:bodyPr wrap="square" lIns="0" tIns="0" rIns="0" bIns="0" rtlCol="0"/>
          <a:lstStyle/>
          <a:p/>
        </p:txBody>
      </p:sp>
      <p:sp>
        <p:nvSpPr>
          <p:cNvPr id="58" name="object 58" descr=""/>
          <p:cNvSpPr/>
          <p:nvPr/>
        </p:nvSpPr>
        <p:spPr>
          <a:xfrm>
            <a:off x="7168883" y="3381281"/>
            <a:ext cx="771525" cy="58419"/>
          </a:xfrm>
          <a:custGeom>
            <a:avLst/>
            <a:gdLst/>
            <a:ahLst/>
            <a:cxnLst/>
            <a:rect l="l" t="t" r="r" b="b"/>
            <a:pathLst>
              <a:path w="771525" h="58420">
                <a:moveTo>
                  <a:pt x="385762" y="0"/>
                </a:moveTo>
                <a:lnTo>
                  <a:pt x="308016" y="592"/>
                </a:lnTo>
                <a:lnTo>
                  <a:pt x="235604" y="2293"/>
                </a:lnTo>
                <a:lnTo>
                  <a:pt x="170077" y="4984"/>
                </a:lnTo>
                <a:lnTo>
                  <a:pt x="112985" y="8547"/>
                </a:lnTo>
                <a:lnTo>
                  <a:pt x="65881" y="12864"/>
                </a:lnTo>
                <a:lnTo>
                  <a:pt x="7837" y="23294"/>
                </a:lnTo>
                <a:lnTo>
                  <a:pt x="0" y="29171"/>
                </a:lnTo>
                <a:lnTo>
                  <a:pt x="7837" y="35052"/>
                </a:lnTo>
                <a:lnTo>
                  <a:pt x="65881" y="45484"/>
                </a:lnTo>
                <a:lnTo>
                  <a:pt x="112985" y="49801"/>
                </a:lnTo>
                <a:lnTo>
                  <a:pt x="170077" y="53363"/>
                </a:lnTo>
                <a:lnTo>
                  <a:pt x="235604" y="56052"/>
                </a:lnTo>
                <a:lnTo>
                  <a:pt x="308016" y="57751"/>
                </a:lnTo>
                <a:lnTo>
                  <a:pt x="385762" y="58343"/>
                </a:lnTo>
                <a:lnTo>
                  <a:pt x="463508" y="57751"/>
                </a:lnTo>
                <a:lnTo>
                  <a:pt x="535920" y="56052"/>
                </a:lnTo>
                <a:lnTo>
                  <a:pt x="601447" y="53363"/>
                </a:lnTo>
                <a:lnTo>
                  <a:pt x="658539" y="49801"/>
                </a:lnTo>
                <a:lnTo>
                  <a:pt x="705643" y="45484"/>
                </a:lnTo>
                <a:lnTo>
                  <a:pt x="763687" y="35052"/>
                </a:lnTo>
                <a:lnTo>
                  <a:pt x="771525" y="29171"/>
                </a:lnTo>
                <a:lnTo>
                  <a:pt x="763687" y="23294"/>
                </a:lnTo>
                <a:lnTo>
                  <a:pt x="705643" y="12864"/>
                </a:lnTo>
                <a:lnTo>
                  <a:pt x="658539" y="8547"/>
                </a:lnTo>
                <a:lnTo>
                  <a:pt x="601447" y="4984"/>
                </a:lnTo>
                <a:lnTo>
                  <a:pt x="535920" y="2293"/>
                </a:lnTo>
                <a:lnTo>
                  <a:pt x="463508" y="592"/>
                </a:lnTo>
                <a:lnTo>
                  <a:pt x="385762" y="0"/>
                </a:lnTo>
                <a:close/>
              </a:path>
            </a:pathLst>
          </a:custGeom>
          <a:solidFill>
            <a:srgbClr val="222268">
              <a:alpha val="30194"/>
            </a:srgbClr>
          </a:solidFill>
        </p:spPr>
        <p:txBody>
          <a:bodyPr wrap="square" lIns="0" tIns="0" rIns="0" bIns="0" rtlCol="0"/>
          <a:lstStyle/>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62959" y="192275"/>
            <a:ext cx="3213735" cy="513080"/>
          </a:xfrm>
          <a:prstGeom prst="rect"/>
        </p:spPr>
        <p:txBody>
          <a:bodyPr wrap="square" lIns="0" tIns="12065" rIns="0" bIns="0" rtlCol="0" vert="horz">
            <a:spAutoFit/>
          </a:bodyPr>
          <a:lstStyle/>
          <a:p>
            <a:pPr marL="12700">
              <a:lnSpc>
                <a:spcPct val="100000"/>
              </a:lnSpc>
              <a:spcBef>
                <a:spcPts val="95"/>
              </a:spcBef>
            </a:pPr>
            <a:r>
              <a:rPr dirty="0" spc="-335" b="0">
                <a:latin typeface="SimSun"/>
                <a:cs typeface="SimSun"/>
              </a:rPr>
              <a:t>智慧照明</a:t>
            </a:r>
            <a:r>
              <a:rPr dirty="0" sz="2000" spc="-315" b="0">
                <a:solidFill>
                  <a:srgbClr val="FF0000"/>
                </a:solidFill>
                <a:latin typeface="SimSun"/>
                <a:cs typeface="SimSun"/>
              </a:rPr>
              <a:t>●</a:t>
            </a:r>
            <a:r>
              <a:rPr dirty="0" spc="-355" b="0">
                <a:latin typeface="SimSun"/>
                <a:cs typeface="SimSun"/>
              </a:rPr>
              <a:t>客户价值</a:t>
            </a:r>
            <a:endParaRPr sz="2000">
              <a:latin typeface="SimSun"/>
              <a:cs typeface="SimSun"/>
            </a:endParaRPr>
          </a:p>
        </p:txBody>
      </p:sp>
      <p:sp>
        <p:nvSpPr>
          <p:cNvPr id="3" name="object 3" descr=""/>
          <p:cNvSpPr/>
          <p:nvPr/>
        </p:nvSpPr>
        <p:spPr>
          <a:xfrm>
            <a:off x="1049299" y="928001"/>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txBox="1"/>
          <p:nvPr/>
        </p:nvSpPr>
        <p:spPr>
          <a:xfrm>
            <a:off x="852764" y="922675"/>
            <a:ext cx="5064125" cy="960755"/>
          </a:xfrm>
          <a:prstGeom prst="rect">
            <a:avLst/>
          </a:prstGeom>
        </p:spPr>
        <p:txBody>
          <a:bodyPr wrap="square" lIns="0" tIns="12700" rIns="0" bIns="0" rtlCol="0" vert="horz">
            <a:spAutoFit/>
          </a:bodyPr>
          <a:lstStyle/>
          <a:p>
            <a:pPr marL="71056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a:lnSpc>
                <a:spcPct val="100000"/>
              </a:lnSpc>
              <a:spcBef>
                <a:spcPts val="110"/>
              </a:spcBef>
            </a:pPr>
            <a:endParaRPr sz="1200">
              <a:latin typeface="Microsoft YaHei"/>
              <a:cs typeface="Microsoft YaHei"/>
            </a:endParaRPr>
          </a:p>
          <a:p>
            <a:pPr marL="173355" indent="-160655">
              <a:lnSpc>
                <a:spcPct val="100000"/>
              </a:lnSpc>
              <a:buFont typeface="Wingdings"/>
              <a:buChar char=""/>
              <a:tabLst>
                <a:tab pos="173355" algn="l"/>
              </a:tabLst>
            </a:pPr>
            <a:r>
              <a:rPr dirty="0" sz="1200">
                <a:latin typeface="Microsoft YaHei"/>
                <a:cs typeface="Microsoft YaHei"/>
              </a:rPr>
              <a:t>通过智慧照明可以节能</a:t>
            </a:r>
            <a:r>
              <a:rPr dirty="0" sz="1200" spc="-20">
                <a:latin typeface="Microsoft YaHei"/>
                <a:cs typeface="Microsoft YaHei"/>
              </a:rPr>
              <a:t>65%；</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通过远程控制定时开关，调色调光，实现二次节能，提升物业管理水平。</a:t>
            </a:r>
            <a:endParaRPr sz="1200">
              <a:latin typeface="Microsoft YaHei"/>
              <a:cs typeface="Microsoft YaHei"/>
            </a:endParaRPr>
          </a:p>
        </p:txBody>
      </p:sp>
      <p:grpSp>
        <p:nvGrpSpPr>
          <p:cNvPr id="5" name="object 5" descr=""/>
          <p:cNvGrpSpPr/>
          <p:nvPr/>
        </p:nvGrpSpPr>
        <p:grpSpPr>
          <a:xfrm>
            <a:off x="1419268" y="2512302"/>
            <a:ext cx="6571615" cy="1943100"/>
            <a:chOff x="1419268" y="2512302"/>
            <a:chExt cx="6571615" cy="1943100"/>
          </a:xfrm>
        </p:grpSpPr>
        <p:sp>
          <p:nvSpPr>
            <p:cNvPr id="6" name="object 6" descr=""/>
            <p:cNvSpPr/>
            <p:nvPr/>
          </p:nvSpPr>
          <p:spPr>
            <a:xfrm>
              <a:off x="1419268" y="2512302"/>
              <a:ext cx="6571615" cy="1943100"/>
            </a:xfrm>
            <a:custGeom>
              <a:avLst/>
              <a:gdLst/>
              <a:ahLst/>
              <a:cxnLst/>
              <a:rect l="l" t="t" r="r" b="b"/>
              <a:pathLst>
                <a:path w="6571615" h="1943100">
                  <a:moveTo>
                    <a:pt x="5051082" y="0"/>
                  </a:moveTo>
                  <a:lnTo>
                    <a:pt x="5028437" y="37418"/>
                  </a:lnTo>
                  <a:lnTo>
                    <a:pt x="5004680" y="74291"/>
                  </a:lnTo>
                  <a:lnTo>
                    <a:pt x="4979830" y="110621"/>
                  </a:lnTo>
                  <a:lnTo>
                    <a:pt x="4953906" y="146415"/>
                  </a:lnTo>
                  <a:lnTo>
                    <a:pt x="4926929" y="181674"/>
                  </a:lnTo>
                  <a:lnTo>
                    <a:pt x="4898917" y="216404"/>
                  </a:lnTo>
                  <a:lnTo>
                    <a:pt x="4869892" y="250609"/>
                  </a:lnTo>
                  <a:lnTo>
                    <a:pt x="4839872" y="284292"/>
                  </a:lnTo>
                  <a:lnTo>
                    <a:pt x="4808877" y="317459"/>
                  </a:lnTo>
                  <a:lnTo>
                    <a:pt x="4776926" y="350112"/>
                  </a:lnTo>
                  <a:lnTo>
                    <a:pt x="4744041" y="382256"/>
                  </a:lnTo>
                  <a:lnTo>
                    <a:pt x="4710240" y="413895"/>
                  </a:lnTo>
                  <a:lnTo>
                    <a:pt x="4675543" y="445033"/>
                  </a:lnTo>
                  <a:lnTo>
                    <a:pt x="4639969" y="475675"/>
                  </a:lnTo>
                  <a:lnTo>
                    <a:pt x="4603539" y="505824"/>
                  </a:lnTo>
                  <a:lnTo>
                    <a:pt x="4566273" y="535484"/>
                  </a:lnTo>
                  <a:lnTo>
                    <a:pt x="4528189" y="564660"/>
                  </a:lnTo>
                  <a:lnTo>
                    <a:pt x="4489308" y="593355"/>
                  </a:lnTo>
                  <a:lnTo>
                    <a:pt x="4449650" y="621575"/>
                  </a:lnTo>
                  <a:lnTo>
                    <a:pt x="4409233" y="649322"/>
                  </a:lnTo>
                  <a:lnTo>
                    <a:pt x="4368078" y="676601"/>
                  </a:lnTo>
                  <a:lnTo>
                    <a:pt x="4326205" y="703415"/>
                  </a:lnTo>
                  <a:lnTo>
                    <a:pt x="4283633" y="729770"/>
                  </a:lnTo>
                  <a:lnTo>
                    <a:pt x="4240383" y="755670"/>
                  </a:lnTo>
                  <a:lnTo>
                    <a:pt x="4196472" y="781117"/>
                  </a:lnTo>
                  <a:lnTo>
                    <a:pt x="4151923" y="806117"/>
                  </a:lnTo>
                  <a:lnTo>
                    <a:pt x="4106753" y="830673"/>
                  </a:lnTo>
                  <a:lnTo>
                    <a:pt x="4060983" y="854790"/>
                  </a:lnTo>
                  <a:lnTo>
                    <a:pt x="4014633" y="878471"/>
                  </a:lnTo>
                  <a:lnTo>
                    <a:pt x="3967723" y="901721"/>
                  </a:lnTo>
                  <a:lnTo>
                    <a:pt x="3920271" y="924544"/>
                  </a:lnTo>
                  <a:lnTo>
                    <a:pt x="3872298" y="946944"/>
                  </a:lnTo>
                  <a:lnTo>
                    <a:pt x="3823824" y="968925"/>
                  </a:lnTo>
                  <a:lnTo>
                    <a:pt x="3774867" y="990491"/>
                  </a:lnTo>
                  <a:lnTo>
                    <a:pt x="3725449" y="1011646"/>
                  </a:lnTo>
                  <a:lnTo>
                    <a:pt x="3675588" y="1032394"/>
                  </a:lnTo>
                  <a:lnTo>
                    <a:pt x="3625305" y="1052740"/>
                  </a:lnTo>
                  <a:lnTo>
                    <a:pt x="3574619" y="1072687"/>
                  </a:lnTo>
                  <a:lnTo>
                    <a:pt x="3523549" y="1092240"/>
                  </a:lnTo>
                  <a:lnTo>
                    <a:pt x="3472116" y="1111403"/>
                  </a:lnTo>
                  <a:lnTo>
                    <a:pt x="3420340" y="1130179"/>
                  </a:lnTo>
                  <a:lnTo>
                    <a:pt x="3368239" y="1148573"/>
                  </a:lnTo>
                  <a:lnTo>
                    <a:pt x="3315834" y="1166589"/>
                  </a:lnTo>
                  <a:lnTo>
                    <a:pt x="3263144" y="1184231"/>
                  </a:lnTo>
                  <a:lnTo>
                    <a:pt x="3210190" y="1201503"/>
                  </a:lnTo>
                  <a:lnTo>
                    <a:pt x="3156990" y="1218409"/>
                  </a:lnTo>
                  <a:lnTo>
                    <a:pt x="3103565" y="1234953"/>
                  </a:lnTo>
                  <a:lnTo>
                    <a:pt x="3049935" y="1251140"/>
                  </a:lnTo>
                  <a:lnTo>
                    <a:pt x="2996118" y="1266974"/>
                  </a:lnTo>
                  <a:lnTo>
                    <a:pt x="2942135" y="1282458"/>
                  </a:lnTo>
                  <a:lnTo>
                    <a:pt x="2888005" y="1297596"/>
                  </a:lnTo>
                  <a:lnTo>
                    <a:pt x="2833749" y="1312394"/>
                  </a:lnTo>
                  <a:lnTo>
                    <a:pt x="2779386" y="1326854"/>
                  </a:lnTo>
                  <a:lnTo>
                    <a:pt x="2724935" y="1340981"/>
                  </a:lnTo>
                  <a:lnTo>
                    <a:pt x="2670417" y="1354779"/>
                  </a:lnTo>
                  <a:lnTo>
                    <a:pt x="2615850" y="1368252"/>
                  </a:lnTo>
                  <a:lnTo>
                    <a:pt x="2561256" y="1381405"/>
                  </a:lnTo>
                  <a:lnTo>
                    <a:pt x="2506652" y="1394240"/>
                  </a:lnTo>
                  <a:lnTo>
                    <a:pt x="2452061" y="1406764"/>
                  </a:lnTo>
                  <a:lnTo>
                    <a:pt x="2397500" y="1418978"/>
                  </a:lnTo>
                  <a:lnTo>
                    <a:pt x="2342990" y="1430888"/>
                  </a:lnTo>
                  <a:lnTo>
                    <a:pt x="2288550" y="1442498"/>
                  </a:lnTo>
                  <a:lnTo>
                    <a:pt x="2234200" y="1453812"/>
                  </a:lnTo>
                  <a:lnTo>
                    <a:pt x="2179960" y="1464833"/>
                  </a:lnTo>
                  <a:lnTo>
                    <a:pt x="2071889" y="1486016"/>
                  </a:lnTo>
                  <a:lnTo>
                    <a:pt x="1964493" y="1506080"/>
                  </a:lnTo>
                  <a:lnTo>
                    <a:pt x="1857932" y="1525056"/>
                  </a:lnTo>
                  <a:lnTo>
                    <a:pt x="1752362" y="1542979"/>
                  </a:lnTo>
                  <a:lnTo>
                    <a:pt x="1647941" y="1559880"/>
                  </a:lnTo>
                  <a:lnTo>
                    <a:pt x="1544827" y="1575793"/>
                  </a:lnTo>
                  <a:lnTo>
                    <a:pt x="1443178" y="1590750"/>
                  </a:lnTo>
                  <a:lnTo>
                    <a:pt x="1343152" y="1604784"/>
                  </a:lnTo>
                  <a:lnTo>
                    <a:pt x="1244906" y="1617927"/>
                  </a:lnTo>
                  <a:lnTo>
                    <a:pt x="1148598" y="1630213"/>
                  </a:lnTo>
                  <a:lnTo>
                    <a:pt x="1054386" y="1641674"/>
                  </a:lnTo>
                  <a:lnTo>
                    <a:pt x="917343" y="1657390"/>
                  </a:lnTo>
                  <a:lnTo>
                    <a:pt x="785904" y="1671435"/>
                  </a:lnTo>
                  <a:lnTo>
                    <a:pt x="660600" y="1683918"/>
                  </a:lnTo>
                  <a:lnTo>
                    <a:pt x="503993" y="1698325"/>
                  </a:lnTo>
                  <a:lnTo>
                    <a:pt x="326827" y="1713105"/>
                  </a:lnTo>
                  <a:lnTo>
                    <a:pt x="0" y="1736864"/>
                  </a:lnTo>
                  <a:lnTo>
                    <a:pt x="0" y="1941334"/>
                  </a:lnTo>
                  <a:lnTo>
                    <a:pt x="118388" y="1942465"/>
                  </a:lnTo>
                  <a:lnTo>
                    <a:pt x="236783" y="1942947"/>
                  </a:lnTo>
                  <a:lnTo>
                    <a:pt x="355152" y="1942774"/>
                  </a:lnTo>
                  <a:lnTo>
                    <a:pt x="473461" y="1941945"/>
                  </a:lnTo>
                  <a:lnTo>
                    <a:pt x="591677" y="1940455"/>
                  </a:lnTo>
                  <a:lnTo>
                    <a:pt x="709767" y="1938302"/>
                  </a:lnTo>
                  <a:lnTo>
                    <a:pt x="827699" y="1935482"/>
                  </a:lnTo>
                  <a:lnTo>
                    <a:pt x="945438" y="1931991"/>
                  </a:lnTo>
                  <a:lnTo>
                    <a:pt x="1062953" y="1927827"/>
                  </a:lnTo>
                  <a:lnTo>
                    <a:pt x="1180211" y="1922985"/>
                  </a:lnTo>
                  <a:lnTo>
                    <a:pt x="1297177" y="1917464"/>
                  </a:lnTo>
                  <a:lnTo>
                    <a:pt x="1413820" y="1911258"/>
                  </a:lnTo>
                  <a:lnTo>
                    <a:pt x="1530105" y="1904365"/>
                  </a:lnTo>
                  <a:lnTo>
                    <a:pt x="1646001" y="1896781"/>
                  </a:lnTo>
                  <a:lnTo>
                    <a:pt x="1761474" y="1888504"/>
                  </a:lnTo>
                  <a:lnTo>
                    <a:pt x="1876492" y="1879529"/>
                  </a:lnTo>
                  <a:lnTo>
                    <a:pt x="1991020" y="1869854"/>
                  </a:lnTo>
                  <a:lnTo>
                    <a:pt x="2105026" y="1859474"/>
                  </a:lnTo>
                  <a:lnTo>
                    <a:pt x="2218477" y="1848387"/>
                  </a:lnTo>
                  <a:lnTo>
                    <a:pt x="2331341" y="1836589"/>
                  </a:lnTo>
                  <a:lnTo>
                    <a:pt x="2443583" y="1824077"/>
                  </a:lnTo>
                  <a:lnTo>
                    <a:pt x="2555172" y="1810848"/>
                  </a:lnTo>
                  <a:lnTo>
                    <a:pt x="2666073" y="1796898"/>
                  </a:lnTo>
                  <a:lnTo>
                    <a:pt x="2776254" y="1782223"/>
                  </a:lnTo>
                  <a:lnTo>
                    <a:pt x="2885683" y="1766821"/>
                  </a:lnTo>
                  <a:lnTo>
                    <a:pt x="2994325" y="1750687"/>
                  </a:lnTo>
                  <a:lnTo>
                    <a:pt x="3102148" y="1733820"/>
                  </a:lnTo>
                  <a:lnTo>
                    <a:pt x="3209119" y="1716215"/>
                  </a:lnTo>
                  <a:lnTo>
                    <a:pt x="3315205" y="1697868"/>
                  </a:lnTo>
                  <a:lnTo>
                    <a:pt x="3420373" y="1678777"/>
                  </a:lnTo>
                  <a:lnTo>
                    <a:pt x="3524589" y="1658938"/>
                  </a:lnTo>
                  <a:lnTo>
                    <a:pt x="3627822" y="1638348"/>
                  </a:lnTo>
                  <a:lnTo>
                    <a:pt x="3730037" y="1617004"/>
                  </a:lnTo>
                  <a:lnTo>
                    <a:pt x="3831202" y="1594901"/>
                  </a:lnTo>
                  <a:lnTo>
                    <a:pt x="3931284" y="1572037"/>
                  </a:lnTo>
                  <a:lnTo>
                    <a:pt x="4030249" y="1548409"/>
                  </a:lnTo>
                  <a:lnTo>
                    <a:pt x="4079303" y="1536307"/>
                  </a:lnTo>
                  <a:lnTo>
                    <a:pt x="4128066" y="1524012"/>
                  </a:lnTo>
                  <a:lnTo>
                    <a:pt x="4176532" y="1511525"/>
                  </a:lnTo>
                  <a:lnTo>
                    <a:pt x="4224700" y="1498844"/>
                  </a:lnTo>
                  <a:lnTo>
                    <a:pt x="4272563" y="1485970"/>
                  </a:lnTo>
                  <a:lnTo>
                    <a:pt x="4320118" y="1472902"/>
                  </a:lnTo>
                  <a:lnTo>
                    <a:pt x="4367362" y="1459639"/>
                  </a:lnTo>
                  <a:lnTo>
                    <a:pt x="4414289" y="1446181"/>
                  </a:lnTo>
                  <a:lnTo>
                    <a:pt x="4460895" y="1432527"/>
                  </a:lnTo>
                  <a:lnTo>
                    <a:pt x="4507178" y="1418678"/>
                  </a:lnTo>
                  <a:lnTo>
                    <a:pt x="4553131" y="1404633"/>
                  </a:lnTo>
                  <a:lnTo>
                    <a:pt x="4598752" y="1390391"/>
                  </a:lnTo>
                  <a:lnTo>
                    <a:pt x="4644037" y="1375952"/>
                  </a:lnTo>
                  <a:lnTo>
                    <a:pt x="4688980" y="1361315"/>
                  </a:lnTo>
                  <a:lnTo>
                    <a:pt x="4733578" y="1346481"/>
                  </a:lnTo>
                  <a:lnTo>
                    <a:pt x="4777827" y="1331448"/>
                  </a:lnTo>
                  <a:lnTo>
                    <a:pt x="4821722" y="1316216"/>
                  </a:lnTo>
                  <a:lnTo>
                    <a:pt x="4865260" y="1300785"/>
                  </a:lnTo>
                  <a:lnTo>
                    <a:pt x="4908437" y="1285155"/>
                  </a:lnTo>
                  <a:lnTo>
                    <a:pt x="4951248" y="1269325"/>
                  </a:lnTo>
                  <a:lnTo>
                    <a:pt x="4993688" y="1253294"/>
                  </a:lnTo>
                  <a:lnTo>
                    <a:pt x="5035755" y="1237062"/>
                  </a:lnTo>
                  <a:lnTo>
                    <a:pt x="5077444" y="1220629"/>
                  </a:lnTo>
                  <a:lnTo>
                    <a:pt x="5118750" y="1203995"/>
                  </a:lnTo>
                  <a:lnTo>
                    <a:pt x="5159671" y="1187158"/>
                  </a:lnTo>
                  <a:lnTo>
                    <a:pt x="5200200" y="1170119"/>
                  </a:lnTo>
                  <a:lnTo>
                    <a:pt x="5240335" y="1152877"/>
                  </a:lnTo>
                  <a:lnTo>
                    <a:pt x="5280072" y="1135431"/>
                  </a:lnTo>
                  <a:lnTo>
                    <a:pt x="5319405" y="1117782"/>
                  </a:lnTo>
                  <a:lnTo>
                    <a:pt x="5358331" y="1099928"/>
                  </a:lnTo>
                  <a:lnTo>
                    <a:pt x="5396847" y="1081870"/>
                  </a:lnTo>
                  <a:lnTo>
                    <a:pt x="5434947" y="1063606"/>
                  </a:lnTo>
                  <a:lnTo>
                    <a:pt x="5472627" y="1045137"/>
                  </a:lnTo>
                  <a:lnTo>
                    <a:pt x="5509884" y="1026463"/>
                  </a:lnTo>
                  <a:lnTo>
                    <a:pt x="5546714" y="1007582"/>
                  </a:lnTo>
                  <a:lnTo>
                    <a:pt x="5583112" y="988494"/>
                  </a:lnTo>
                  <a:lnTo>
                    <a:pt x="5619073" y="969199"/>
                  </a:lnTo>
                  <a:lnTo>
                    <a:pt x="5654595" y="949696"/>
                  </a:lnTo>
                  <a:lnTo>
                    <a:pt x="5689673" y="929985"/>
                  </a:lnTo>
                  <a:lnTo>
                    <a:pt x="5724302" y="910066"/>
                  </a:lnTo>
                  <a:lnTo>
                    <a:pt x="5758479" y="889938"/>
                  </a:lnTo>
                  <a:lnTo>
                    <a:pt x="5792200" y="869601"/>
                  </a:lnTo>
                  <a:lnTo>
                    <a:pt x="5825459" y="849054"/>
                  </a:lnTo>
                  <a:lnTo>
                    <a:pt x="5858254" y="828297"/>
                  </a:lnTo>
                  <a:lnTo>
                    <a:pt x="5890580" y="807330"/>
                  </a:lnTo>
                  <a:lnTo>
                    <a:pt x="5922434" y="786151"/>
                  </a:lnTo>
                  <a:lnTo>
                    <a:pt x="5984704" y="743160"/>
                  </a:lnTo>
                  <a:lnTo>
                    <a:pt x="6045033" y="699319"/>
                  </a:lnTo>
                  <a:lnTo>
                    <a:pt x="6103387" y="654627"/>
                  </a:lnTo>
                  <a:lnTo>
                    <a:pt x="6159733" y="609078"/>
                  </a:lnTo>
                  <a:lnTo>
                    <a:pt x="6214039" y="562671"/>
                  </a:lnTo>
                  <a:lnTo>
                    <a:pt x="6266271" y="515401"/>
                  </a:lnTo>
                  <a:lnTo>
                    <a:pt x="6316396" y="467265"/>
                  </a:lnTo>
                  <a:lnTo>
                    <a:pt x="6364381" y="418261"/>
                  </a:lnTo>
                  <a:lnTo>
                    <a:pt x="6410194" y="368384"/>
                  </a:lnTo>
                  <a:lnTo>
                    <a:pt x="6453801" y="317631"/>
                  </a:lnTo>
                  <a:lnTo>
                    <a:pt x="6495168" y="265998"/>
                  </a:lnTo>
                  <a:lnTo>
                    <a:pt x="6534265" y="213484"/>
                  </a:lnTo>
                  <a:lnTo>
                    <a:pt x="6571056" y="160083"/>
                  </a:lnTo>
                  <a:lnTo>
                    <a:pt x="5051082" y="0"/>
                  </a:lnTo>
                  <a:close/>
                </a:path>
              </a:pathLst>
            </a:custGeom>
            <a:solidFill>
              <a:srgbClr val="000000">
                <a:alpha val="19999"/>
              </a:srgbClr>
            </a:solidFill>
          </p:spPr>
          <p:txBody>
            <a:bodyPr wrap="square" lIns="0" tIns="0" rIns="0" bIns="0" rtlCol="0"/>
            <a:lstStyle/>
            <a:p/>
          </p:txBody>
        </p:sp>
        <p:pic>
          <p:nvPicPr>
            <p:cNvPr id="7" name="object 7"/>
            <p:cNvPicPr/>
            <p:nvPr/>
          </p:nvPicPr>
          <p:blipFill>
            <a:blip r:embed="rId2" cstate="print"/>
            <a:stretch>
              <a:fillRect/>
            </a:stretch>
          </p:blipFill>
          <p:spPr>
            <a:xfrm>
              <a:off x="2920469" y="4321518"/>
              <a:ext cx="428989" cy="99644"/>
            </a:xfrm>
            <a:prstGeom prst="rect">
              <a:avLst/>
            </a:prstGeom>
          </p:spPr>
        </p:pic>
        <p:pic>
          <p:nvPicPr>
            <p:cNvPr id="8" name="object 8"/>
            <p:cNvPicPr/>
            <p:nvPr/>
          </p:nvPicPr>
          <p:blipFill>
            <a:blip r:embed="rId3" cstate="print"/>
            <a:stretch>
              <a:fillRect/>
            </a:stretch>
          </p:blipFill>
          <p:spPr>
            <a:xfrm>
              <a:off x="2870470" y="3959760"/>
              <a:ext cx="520987" cy="425384"/>
            </a:xfrm>
            <a:prstGeom prst="rect">
              <a:avLst/>
            </a:prstGeom>
          </p:spPr>
        </p:pic>
        <p:pic>
          <p:nvPicPr>
            <p:cNvPr id="9" name="object 9" descr=""/>
            <p:cNvPicPr/>
            <p:nvPr/>
          </p:nvPicPr>
          <p:blipFill>
            <a:blip r:embed="rId4" cstate="print"/>
            <a:stretch>
              <a:fillRect/>
            </a:stretch>
          </p:blipFill>
          <p:spPr>
            <a:xfrm>
              <a:off x="2869971" y="3959758"/>
              <a:ext cx="517994" cy="424980"/>
            </a:xfrm>
            <a:prstGeom prst="rect">
              <a:avLst/>
            </a:prstGeom>
          </p:spPr>
        </p:pic>
        <p:pic>
          <p:nvPicPr>
            <p:cNvPr id="10" name="object 10"/>
            <p:cNvPicPr/>
            <p:nvPr/>
          </p:nvPicPr>
          <p:blipFill>
            <a:blip r:embed="rId5" cstate="print"/>
            <a:stretch>
              <a:fillRect/>
            </a:stretch>
          </p:blipFill>
          <p:spPr>
            <a:xfrm>
              <a:off x="4175748" y="3996486"/>
              <a:ext cx="605875" cy="134356"/>
            </a:xfrm>
            <a:prstGeom prst="rect">
              <a:avLst/>
            </a:prstGeom>
          </p:spPr>
        </p:pic>
        <p:pic>
          <p:nvPicPr>
            <p:cNvPr id="11" name="object 11"/>
            <p:cNvPicPr/>
            <p:nvPr/>
          </p:nvPicPr>
          <p:blipFill>
            <a:blip r:embed="rId6" cstate="print"/>
            <a:stretch>
              <a:fillRect/>
            </a:stretch>
          </p:blipFill>
          <p:spPr>
            <a:xfrm>
              <a:off x="4105840" y="3508730"/>
              <a:ext cx="735806" cy="573562"/>
            </a:xfrm>
            <a:prstGeom prst="rect">
              <a:avLst/>
            </a:prstGeom>
          </p:spPr>
        </p:pic>
        <p:pic>
          <p:nvPicPr>
            <p:cNvPr id="12" name="object 12" descr=""/>
            <p:cNvPicPr/>
            <p:nvPr/>
          </p:nvPicPr>
          <p:blipFill>
            <a:blip r:embed="rId7" cstate="print"/>
            <a:stretch>
              <a:fillRect/>
            </a:stretch>
          </p:blipFill>
          <p:spPr>
            <a:xfrm>
              <a:off x="4104436" y="3508718"/>
              <a:ext cx="730859" cy="575271"/>
            </a:xfrm>
            <a:prstGeom prst="rect">
              <a:avLst/>
            </a:prstGeom>
          </p:spPr>
        </p:pic>
        <p:pic>
          <p:nvPicPr>
            <p:cNvPr id="13" name="object 13"/>
            <p:cNvPicPr/>
            <p:nvPr/>
          </p:nvPicPr>
          <p:blipFill>
            <a:blip r:embed="rId8" cstate="print"/>
            <a:stretch>
              <a:fillRect/>
            </a:stretch>
          </p:blipFill>
          <p:spPr>
            <a:xfrm>
              <a:off x="5890222" y="3442373"/>
              <a:ext cx="877227" cy="199071"/>
            </a:xfrm>
            <a:prstGeom prst="rect">
              <a:avLst/>
            </a:prstGeom>
          </p:spPr>
        </p:pic>
        <p:pic>
          <p:nvPicPr>
            <p:cNvPr id="14" name="object 14"/>
            <p:cNvPicPr/>
            <p:nvPr/>
          </p:nvPicPr>
          <p:blipFill>
            <a:blip r:embed="rId9" cstate="print"/>
            <a:stretch>
              <a:fillRect/>
            </a:stretch>
          </p:blipFill>
          <p:spPr>
            <a:xfrm>
              <a:off x="5945431" y="2719679"/>
              <a:ext cx="1065349" cy="849830"/>
            </a:xfrm>
            <a:prstGeom prst="rect">
              <a:avLst/>
            </a:prstGeom>
          </p:spPr>
        </p:pic>
        <p:pic>
          <p:nvPicPr>
            <p:cNvPr id="15" name="object 15" descr=""/>
            <p:cNvPicPr/>
            <p:nvPr/>
          </p:nvPicPr>
          <p:blipFill>
            <a:blip r:embed="rId10" cstate="print"/>
            <a:stretch>
              <a:fillRect/>
            </a:stretch>
          </p:blipFill>
          <p:spPr>
            <a:xfrm>
              <a:off x="5959754" y="2719679"/>
              <a:ext cx="1058189" cy="853173"/>
            </a:xfrm>
            <a:prstGeom prst="rect">
              <a:avLst/>
            </a:prstGeom>
          </p:spPr>
        </p:pic>
        <p:pic>
          <p:nvPicPr>
            <p:cNvPr id="16" name="object 16"/>
            <p:cNvPicPr/>
            <p:nvPr/>
          </p:nvPicPr>
          <p:blipFill>
            <a:blip r:embed="rId11" cstate="print"/>
            <a:stretch>
              <a:fillRect/>
            </a:stretch>
          </p:blipFill>
          <p:spPr>
            <a:xfrm>
              <a:off x="3517391" y="4023360"/>
              <a:ext cx="237744" cy="219456"/>
            </a:xfrm>
            <a:prstGeom prst="rect">
              <a:avLst/>
            </a:prstGeom>
          </p:spPr>
        </p:pic>
        <p:pic>
          <p:nvPicPr>
            <p:cNvPr id="17" name="object 17"/>
            <p:cNvPicPr/>
            <p:nvPr/>
          </p:nvPicPr>
          <p:blipFill>
            <a:blip r:embed="rId12" cstate="print"/>
            <a:stretch>
              <a:fillRect/>
            </a:stretch>
          </p:blipFill>
          <p:spPr>
            <a:xfrm>
              <a:off x="4931664" y="3642360"/>
              <a:ext cx="286499" cy="256031"/>
            </a:xfrm>
            <a:prstGeom prst="rect">
              <a:avLst/>
            </a:prstGeom>
          </p:spPr>
        </p:pic>
        <p:pic>
          <p:nvPicPr>
            <p:cNvPr id="18" name="object 18"/>
            <p:cNvPicPr/>
            <p:nvPr/>
          </p:nvPicPr>
          <p:blipFill>
            <a:blip r:embed="rId13" cstate="print"/>
            <a:stretch>
              <a:fillRect/>
            </a:stretch>
          </p:blipFill>
          <p:spPr>
            <a:xfrm>
              <a:off x="6824472" y="2697480"/>
              <a:ext cx="320040" cy="332232"/>
            </a:xfrm>
            <a:prstGeom prst="rect">
              <a:avLst/>
            </a:prstGeom>
          </p:spPr>
        </p:pic>
      </p:grpSp>
      <p:sp>
        <p:nvSpPr>
          <p:cNvPr id="19" name="object 19" descr=""/>
          <p:cNvSpPr txBox="1"/>
          <p:nvPr/>
        </p:nvSpPr>
        <p:spPr>
          <a:xfrm>
            <a:off x="2916086" y="3903046"/>
            <a:ext cx="3302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25" b="1">
                <a:latin typeface="Microsoft YaHei"/>
                <a:cs typeface="Microsoft YaHei"/>
              </a:rPr>
              <a:t>一次节能</a:t>
            </a:r>
            <a:endParaRPr sz="1200">
              <a:latin typeface="Microsoft YaHei"/>
              <a:cs typeface="Microsoft YaHei"/>
            </a:endParaRPr>
          </a:p>
        </p:txBody>
      </p:sp>
      <p:sp>
        <p:nvSpPr>
          <p:cNvPr id="20" name="object 20" descr=""/>
          <p:cNvSpPr txBox="1"/>
          <p:nvPr/>
        </p:nvSpPr>
        <p:spPr>
          <a:xfrm>
            <a:off x="4287686" y="3598246"/>
            <a:ext cx="330200" cy="391160"/>
          </a:xfrm>
          <a:prstGeom prst="rect">
            <a:avLst/>
          </a:prstGeom>
        </p:spPr>
        <p:txBody>
          <a:bodyPr wrap="square" lIns="0" tIns="12700" rIns="0" bIns="0" rtlCol="0" vert="horz">
            <a:spAutoFit/>
          </a:bodyPr>
          <a:lstStyle/>
          <a:p>
            <a:pPr marL="12700" marR="5080">
              <a:lnSpc>
                <a:spcPct val="100000"/>
              </a:lnSpc>
              <a:spcBef>
                <a:spcPts val="100"/>
              </a:spcBef>
            </a:pPr>
            <a:r>
              <a:rPr dirty="0" sz="1200" spc="-25" b="1">
                <a:latin typeface="Microsoft YaHei"/>
                <a:cs typeface="Microsoft YaHei"/>
              </a:rPr>
              <a:t>二次节能</a:t>
            </a:r>
            <a:endParaRPr sz="1200">
              <a:latin typeface="Microsoft YaHei"/>
              <a:cs typeface="Microsoft YaHei"/>
            </a:endParaRPr>
          </a:p>
        </p:txBody>
      </p:sp>
      <p:sp>
        <p:nvSpPr>
          <p:cNvPr id="21" name="object 21" descr=""/>
          <p:cNvSpPr txBox="1"/>
          <p:nvPr/>
        </p:nvSpPr>
        <p:spPr>
          <a:xfrm>
            <a:off x="6327032" y="3003732"/>
            <a:ext cx="381000" cy="238760"/>
          </a:xfrm>
          <a:prstGeom prst="rect">
            <a:avLst/>
          </a:prstGeom>
        </p:spPr>
        <p:txBody>
          <a:bodyPr wrap="square" lIns="0" tIns="12065" rIns="0" bIns="0" rtlCol="0" vert="horz">
            <a:spAutoFit/>
          </a:bodyPr>
          <a:lstStyle/>
          <a:p>
            <a:pPr marL="12700">
              <a:lnSpc>
                <a:spcPct val="100000"/>
              </a:lnSpc>
              <a:spcBef>
                <a:spcPts val="95"/>
              </a:spcBef>
            </a:pPr>
            <a:r>
              <a:rPr dirty="0" sz="1400" spc="-35" b="1">
                <a:latin typeface="Microsoft YaHei"/>
                <a:cs typeface="Microsoft YaHei"/>
              </a:rPr>
              <a:t>节能</a:t>
            </a:r>
            <a:endParaRPr sz="1400">
              <a:latin typeface="Microsoft YaHei"/>
              <a:cs typeface="Microsoft YaHei"/>
            </a:endParaRPr>
          </a:p>
        </p:txBody>
      </p:sp>
      <p:grpSp>
        <p:nvGrpSpPr>
          <p:cNvPr id="22" name="object 22" descr=""/>
          <p:cNvGrpSpPr/>
          <p:nvPr/>
        </p:nvGrpSpPr>
        <p:grpSpPr>
          <a:xfrm>
            <a:off x="1446275" y="2434589"/>
            <a:ext cx="1980564" cy="1555750"/>
            <a:chOff x="1446275" y="2434589"/>
            <a:chExt cx="1980564" cy="1555750"/>
          </a:xfrm>
        </p:grpSpPr>
        <p:pic>
          <p:nvPicPr>
            <p:cNvPr id="23" name="object 23" descr=""/>
            <p:cNvPicPr/>
            <p:nvPr/>
          </p:nvPicPr>
          <p:blipFill>
            <a:blip r:embed="rId14" cstate="print"/>
            <a:stretch>
              <a:fillRect/>
            </a:stretch>
          </p:blipFill>
          <p:spPr>
            <a:xfrm>
              <a:off x="1446275" y="2434589"/>
              <a:ext cx="1955291" cy="1529333"/>
            </a:xfrm>
            <a:prstGeom prst="rect">
              <a:avLst/>
            </a:prstGeom>
          </p:spPr>
        </p:pic>
        <p:pic>
          <p:nvPicPr>
            <p:cNvPr id="24" name="object 24" descr=""/>
            <p:cNvPicPr/>
            <p:nvPr/>
          </p:nvPicPr>
          <p:blipFill>
            <a:blip r:embed="rId15" cstate="print"/>
            <a:stretch>
              <a:fillRect/>
            </a:stretch>
          </p:blipFill>
          <p:spPr>
            <a:xfrm>
              <a:off x="1471421" y="2460497"/>
              <a:ext cx="1955291" cy="1529333"/>
            </a:xfrm>
            <a:prstGeom prst="rect">
              <a:avLst/>
            </a:prstGeom>
          </p:spPr>
        </p:pic>
        <p:pic>
          <p:nvPicPr>
            <p:cNvPr id="25" name="object 25" descr=""/>
            <p:cNvPicPr/>
            <p:nvPr/>
          </p:nvPicPr>
          <p:blipFill>
            <a:blip r:embed="rId16" cstate="print"/>
            <a:stretch>
              <a:fillRect/>
            </a:stretch>
          </p:blipFill>
          <p:spPr>
            <a:xfrm>
              <a:off x="1459750" y="2448242"/>
              <a:ext cx="1953729" cy="1527822"/>
            </a:xfrm>
            <a:prstGeom prst="rect">
              <a:avLst/>
            </a:prstGeom>
          </p:spPr>
        </p:pic>
      </p:grpSp>
      <p:sp>
        <p:nvSpPr>
          <p:cNvPr id="26" name="object 26" descr=""/>
          <p:cNvSpPr txBox="1"/>
          <p:nvPr/>
        </p:nvSpPr>
        <p:spPr>
          <a:xfrm>
            <a:off x="1472608" y="2454507"/>
            <a:ext cx="1818005" cy="299720"/>
          </a:xfrm>
          <a:prstGeom prst="rect">
            <a:avLst/>
          </a:prstGeom>
        </p:spPr>
        <p:txBody>
          <a:bodyPr wrap="square" lIns="0" tIns="12700" rIns="0" bIns="0" rtlCol="0" vert="horz">
            <a:spAutoFit/>
          </a:bodyPr>
          <a:lstStyle/>
          <a:p>
            <a:pPr marL="38100">
              <a:lnSpc>
                <a:spcPct val="100000"/>
              </a:lnSpc>
              <a:spcBef>
                <a:spcPts val="100"/>
              </a:spcBef>
            </a:pPr>
            <a:r>
              <a:rPr dirty="0" baseline="-20061" sz="2700" spc="-300">
                <a:latin typeface="Arial MT"/>
                <a:cs typeface="Arial MT"/>
              </a:rPr>
              <a:t>T</a:t>
            </a:r>
            <a:r>
              <a:rPr dirty="0" sz="1100" spc="-969">
                <a:latin typeface="Microsoft YaHei"/>
                <a:cs typeface="Microsoft YaHei"/>
              </a:rPr>
              <a:t>将</a:t>
            </a:r>
            <a:r>
              <a:rPr dirty="0" baseline="-20061" sz="2700" spc="-577">
                <a:latin typeface="Arial MT"/>
                <a:cs typeface="Arial MT"/>
              </a:rPr>
              <a:t>O</a:t>
            </a:r>
            <a:r>
              <a:rPr dirty="0" sz="1100" spc="-735">
                <a:latin typeface="Microsoft YaHei"/>
                <a:cs typeface="Microsoft YaHei"/>
              </a:rPr>
              <a:t>传</a:t>
            </a:r>
            <a:r>
              <a:rPr dirty="0" baseline="-20061" sz="2700" spc="-810">
                <a:latin typeface="Arial MT"/>
                <a:cs typeface="Arial MT"/>
              </a:rPr>
              <a:t>N</a:t>
            </a:r>
            <a:r>
              <a:rPr dirty="0" sz="1100" spc="-595">
                <a:latin typeface="Microsoft YaHei"/>
                <a:cs typeface="Microsoft YaHei"/>
              </a:rPr>
              <a:t>统</a:t>
            </a:r>
            <a:r>
              <a:rPr dirty="0" baseline="-20061" sz="2700" spc="-1139">
                <a:latin typeface="Arial MT"/>
                <a:cs typeface="Arial MT"/>
              </a:rPr>
              <a:t>G</a:t>
            </a:r>
            <a:r>
              <a:rPr dirty="0" sz="1100" spc="30">
                <a:latin typeface="Microsoft YaHei"/>
                <a:cs typeface="Microsoft YaHei"/>
              </a:rPr>
              <a:t>的大功率的高压钠</a:t>
            </a:r>
            <a:endParaRPr sz="1100">
              <a:latin typeface="Microsoft YaHei"/>
              <a:cs typeface="Microsoft YaHei"/>
            </a:endParaRPr>
          </a:p>
        </p:txBody>
      </p:sp>
      <p:sp>
        <p:nvSpPr>
          <p:cNvPr id="27" name="object 27" descr=""/>
          <p:cNvSpPr txBox="1"/>
          <p:nvPr/>
        </p:nvSpPr>
        <p:spPr>
          <a:xfrm>
            <a:off x="1615196" y="2711275"/>
            <a:ext cx="1780539" cy="863600"/>
          </a:xfrm>
          <a:prstGeom prst="rect">
            <a:avLst/>
          </a:prstGeom>
        </p:spPr>
        <p:txBody>
          <a:bodyPr wrap="square" lIns="0" tIns="12065" rIns="0" bIns="0" rtlCol="0" vert="horz">
            <a:spAutoFit/>
          </a:bodyPr>
          <a:lstStyle/>
          <a:p>
            <a:pPr marL="12700" marR="5080">
              <a:lnSpc>
                <a:spcPct val="100000"/>
              </a:lnSpc>
              <a:spcBef>
                <a:spcPts val="95"/>
              </a:spcBef>
            </a:pPr>
            <a:r>
              <a:rPr dirty="0" sz="1100" spc="75">
                <a:latin typeface="Microsoft YaHei"/>
                <a:cs typeface="Microsoft YaHei"/>
              </a:rPr>
              <a:t>灯改造成小功率的</a:t>
            </a:r>
            <a:r>
              <a:rPr dirty="0" sz="1100" spc="25">
                <a:latin typeface="Microsoft YaHei"/>
                <a:cs typeface="Microsoft YaHei"/>
              </a:rPr>
              <a:t>LED</a:t>
            </a:r>
            <a:r>
              <a:rPr dirty="0" sz="1100" spc="15">
                <a:latin typeface="Microsoft YaHei"/>
                <a:cs typeface="Microsoft YaHei"/>
              </a:rPr>
              <a:t>路灯</a:t>
            </a:r>
            <a:r>
              <a:rPr dirty="0" sz="1100" spc="30">
                <a:latin typeface="Microsoft YaHei"/>
                <a:cs typeface="Microsoft YaHei"/>
              </a:rPr>
              <a:t>，传统钠灯运维费用高、信</a:t>
            </a:r>
            <a:r>
              <a:rPr dirty="0" sz="1100" spc="45">
                <a:latin typeface="Microsoft YaHei"/>
                <a:cs typeface="Microsoft YaHei"/>
              </a:rPr>
              <a:t>息化管理滞后、电能浪费大</a:t>
            </a:r>
            <a:r>
              <a:rPr dirty="0" sz="1100" spc="20">
                <a:latin typeface="Microsoft YaHei"/>
                <a:cs typeface="Microsoft YaHei"/>
              </a:rPr>
              <a:t>；通过智慧照明项目，可以</a:t>
            </a:r>
            <a:r>
              <a:rPr dirty="0" sz="1100" spc="-15">
                <a:latin typeface="Microsoft YaHei"/>
                <a:cs typeface="Microsoft YaHei"/>
              </a:rPr>
              <a:t>节能</a:t>
            </a:r>
            <a:r>
              <a:rPr dirty="0" sz="1100" spc="-10" b="1">
                <a:solidFill>
                  <a:srgbClr val="C00000"/>
                </a:solidFill>
                <a:latin typeface="Microsoft YaHei"/>
                <a:cs typeface="Microsoft YaHei"/>
              </a:rPr>
              <a:t>65</a:t>
            </a:r>
            <a:r>
              <a:rPr dirty="0" sz="1100" spc="-15" b="1">
                <a:solidFill>
                  <a:srgbClr val="C00000"/>
                </a:solidFill>
                <a:latin typeface="Microsoft YaHei"/>
                <a:cs typeface="Microsoft YaHei"/>
              </a:rPr>
              <a:t>%。</a:t>
            </a:r>
            <a:endParaRPr sz="1100">
              <a:latin typeface="Microsoft YaHei"/>
              <a:cs typeface="Microsoft YaHei"/>
            </a:endParaRPr>
          </a:p>
        </p:txBody>
      </p:sp>
      <p:grpSp>
        <p:nvGrpSpPr>
          <p:cNvPr id="28" name="object 28" descr=""/>
          <p:cNvGrpSpPr/>
          <p:nvPr/>
        </p:nvGrpSpPr>
        <p:grpSpPr>
          <a:xfrm>
            <a:off x="3636263" y="2206751"/>
            <a:ext cx="1884680" cy="1323340"/>
            <a:chOff x="3636263" y="2206751"/>
            <a:chExt cx="1884680" cy="1323340"/>
          </a:xfrm>
        </p:grpSpPr>
        <p:pic>
          <p:nvPicPr>
            <p:cNvPr id="29" name="object 29" descr=""/>
            <p:cNvPicPr/>
            <p:nvPr/>
          </p:nvPicPr>
          <p:blipFill>
            <a:blip r:embed="rId17" cstate="print"/>
            <a:stretch>
              <a:fillRect/>
            </a:stretch>
          </p:blipFill>
          <p:spPr>
            <a:xfrm>
              <a:off x="3636263" y="2206751"/>
              <a:ext cx="1858517" cy="1297685"/>
            </a:xfrm>
            <a:prstGeom prst="rect">
              <a:avLst/>
            </a:prstGeom>
          </p:spPr>
        </p:pic>
        <p:pic>
          <p:nvPicPr>
            <p:cNvPr id="30" name="object 30" descr=""/>
            <p:cNvPicPr/>
            <p:nvPr/>
          </p:nvPicPr>
          <p:blipFill>
            <a:blip r:embed="rId18" cstate="print"/>
            <a:stretch>
              <a:fillRect/>
            </a:stretch>
          </p:blipFill>
          <p:spPr>
            <a:xfrm>
              <a:off x="3661409" y="2232659"/>
              <a:ext cx="1859279" cy="1296923"/>
            </a:xfrm>
            <a:prstGeom prst="rect">
              <a:avLst/>
            </a:prstGeom>
          </p:spPr>
        </p:pic>
        <p:pic>
          <p:nvPicPr>
            <p:cNvPr id="31" name="object 31" descr=""/>
            <p:cNvPicPr/>
            <p:nvPr/>
          </p:nvPicPr>
          <p:blipFill>
            <a:blip r:embed="rId19" cstate="print"/>
            <a:stretch>
              <a:fillRect/>
            </a:stretch>
          </p:blipFill>
          <p:spPr>
            <a:xfrm>
              <a:off x="3649827" y="2220429"/>
              <a:ext cx="1857248" cy="1295946"/>
            </a:xfrm>
            <a:prstGeom prst="rect">
              <a:avLst/>
            </a:prstGeom>
          </p:spPr>
        </p:pic>
      </p:grpSp>
      <p:sp>
        <p:nvSpPr>
          <p:cNvPr id="32" name="object 32" descr=""/>
          <p:cNvSpPr txBox="1"/>
          <p:nvPr/>
        </p:nvSpPr>
        <p:spPr>
          <a:xfrm>
            <a:off x="3797904" y="2308471"/>
            <a:ext cx="1419860" cy="863600"/>
          </a:xfrm>
          <a:prstGeom prst="rect">
            <a:avLst/>
          </a:prstGeom>
        </p:spPr>
        <p:txBody>
          <a:bodyPr wrap="square" lIns="0" tIns="12065" rIns="0" bIns="0" rtlCol="0" vert="horz">
            <a:spAutoFit/>
          </a:bodyPr>
          <a:lstStyle/>
          <a:p>
            <a:pPr algn="just" marL="12700" marR="5080">
              <a:lnSpc>
                <a:spcPct val="100000"/>
              </a:lnSpc>
              <a:spcBef>
                <a:spcPts val="95"/>
              </a:spcBef>
            </a:pPr>
            <a:r>
              <a:rPr dirty="0" sz="1100" spc="-25">
                <a:latin typeface="Microsoft YaHei"/>
                <a:cs typeface="Microsoft YaHei"/>
              </a:rPr>
              <a:t>根据不同时段的不同照明需求，在人车稀少时段，通过远程控制定时开关，调色调光，实现</a:t>
            </a:r>
            <a:r>
              <a:rPr dirty="0" sz="1100" spc="-20">
                <a:latin typeface="Microsoft YaHei"/>
                <a:cs typeface="Microsoft YaHei"/>
              </a:rPr>
              <a:t>节能</a:t>
            </a:r>
            <a:r>
              <a:rPr dirty="0" sz="1100" spc="-10" b="1">
                <a:solidFill>
                  <a:srgbClr val="C00000"/>
                </a:solidFill>
                <a:latin typeface="Microsoft YaHei"/>
                <a:cs typeface="Microsoft YaHei"/>
              </a:rPr>
              <a:t>30</a:t>
            </a:r>
            <a:r>
              <a:rPr dirty="0" sz="1100" spc="-30" b="1">
                <a:solidFill>
                  <a:srgbClr val="C00000"/>
                </a:solidFill>
                <a:latin typeface="Microsoft YaHei"/>
                <a:cs typeface="Microsoft YaHei"/>
              </a:rPr>
              <a:t>%。</a:t>
            </a:r>
            <a:endParaRPr sz="1100">
              <a:latin typeface="Microsoft YaHei"/>
              <a:cs typeface="Microsoft YaHei"/>
            </a:endParaRPr>
          </a:p>
        </p:txBody>
      </p:sp>
      <p:grpSp>
        <p:nvGrpSpPr>
          <p:cNvPr id="33" name="object 33" descr=""/>
          <p:cNvGrpSpPr/>
          <p:nvPr/>
        </p:nvGrpSpPr>
        <p:grpSpPr>
          <a:xfrm>
            <a:off x="5668517" y="1985009"/>
            <a:ext cx="2120900" cy="835660"/>
            <a:chOff x="5668517" y="1985009"/>
            <a:chExt cx="2120900" cy="835660"/>
          </a:xfrm>
        </p:grpSpPr>
        <p:pic>
          <p:nvPicPr>
            <p:cNvPr id="34" name="object 34" descr=""/>
            <p:cNvPicPr/>
            <p:nvPr/>
          </p:nvPicPr>
          <p:blipFill>
            <a:blip r:embed="rId20" cstate="print"/>
            <a:stretch>
              <a:fillRect/>
            </a:stretch>
          </p:blipFill>
          <p:spPr>
            <a:xfrm>
              <a:off x="5668517" y="1985009"/>
              <a:ext cx="2094737" cy="809243"/>
            </a:xfrm>
            <a:prstGeom prst="rect">
              <a:avLst/>
            </a:prstGeom>
          </p:spPr>
        </p:pic>
        <p:pic>
          <p:nvPicPr>
            <p:cNvPr id="35" name="object 35" descr=""/>
            <p:cNvPicPr/>
            <p:nvPr/>
          </p:nvPicPr>
          <p:blipFill>
            <a:blip r:embed="rId21" cstate="print"/>
            <a:stretch>
              <a:fillRect/>
            </a:stretch>
          </p:blipFill>
          <p:spPr>
            <a:xfrm>
              <a:off x="5693664" y="2010168"/>
              <a:ext cx="2095498" cy="809993"/>
            </a:xfrm>
            <a:prstGeom prst="rect">
              <a:avLst/>
            </a:prstGeom>
          </p:spPr>
        </p:pic>
        <p:pic>
          <p:nvPicPr>
            <p:cNvPr id="36" name="object 36" descr=""/>
            <p:cNvPicPr/>
            <p:nvPr/>
          </p:nvPicPr>
          <p:blipFill>
            <a:blip r:embed="rId22" cstate="print"/>
            <a:stretch>
              <a:fillRect/>
            </a:stretch>
          </p:blipFill>
          <p:spPr>
            <a:xfrm>
              <a:off x="5681700" y="1998154"/>
              <a:ext cx="2093620" cy="808202"/>
            </a:xfrm>
            <a:prstGeom prst="rect">
              <a:avLst/>
            </a:prstGeom>
          </p:spPr>
        </p:pic>
      </p:grpSp>
      <p:sp>
        <p:nvSpPr>
          <p:cNvPr id="37" name="object 37" descr=""/>
          <p:cNvSpPr txBox="1"/>
          <p:nvPr/>
        </p:nvSpPr>
        <p:spPr>
          <a:xfrm>
            <a:off x="5805671" y="2062232"/>
            <a:ext cx="1798320" cy="369570"/>
          </a:xfrm>
          <a:prstGeom prst="rect">
            <a:avLst/>
          </a:prstGeom>
        </p:spPr>
        <p:txBody>
          <a:bodyPr wrap="square" lIns="0" tIns="12700" rIns="0" bIns="0" rtlCol="0" vert="horz">
            <a:spAutoFit/>
          </a:bodyPr>
          <a:lstStyle/>
          <a:p>
            <a:pPr marL="12700" marR="5080">
              <a:lnSpc>
                <a:spcPts val="1370"/>
              </a:lnSpc>
              <a:spcBef>
                <a:spcPts val="100"/>
              </a:spcBef>
            </a:pPr>
            <a:r>
              <a:rPr dirty="0" sz="1100" spc="-20">
                <a:latin typeface="Microsoft YaHei"/>
                <a:cs typeface="Microsoft YaHei"/>
              </a:rPr>
              <a:t>若以城市30</a:t>
            </a:r>
            <a:r>
              <a:rPr dirty="0" sz="1100" spc="-30">
                <a:latin typeface="Microsoft YaHei"/>
                <a:cs typeface="Microsoft YaHei"/>
              </a:rPr>
              <a:t>万盏路灯计算为</a:t>
            </a:r>
            <a:r>
              <a:rPr dirty="0" sz="1100" spc="-20">
                <a:latin typeface="Microsoft YaHei"/>
                <a:cs typeface="Microsoft YaHei"/>
              </a:rPr>
              <a:t>例，节能的电费将近</a:t>
            </a:r>
            <a:r>
              <a:rPr dirty="0" sz="1100" b="1">
                <a:solidFill>
                  <a:srgbClr val="C00000"/>
                </a:solidFill>
                <a:latin typeface="Microsoft YaHei"/>
                <a:cs typeface="Microsoft YaHei"/>
              </a:rPr>
              <a:t>4</a:t>
            </a:r>
            <a:r>
              <a:rPr dirty="0" sz="1100" spc="-20" b="1">
                <a:solidFill>
                  <a:srgbClr val="C00000"/>
                </a:solidFill>
                <a:latin typeface="Microsoft YaHei"/>
                <a:cs typeface="Microsoft YaHei"/>
              </a:rPr>
              <a:t>个亿</a:t>
            </a:r>
            <a:r>
              <a:rPr dirty="0" sz="1200" spc="-50" b="1">
                <a:solidFill>
                  <a:srgbClr val="C00000"/>
                </a:solidFill>
                <a:latin typeface="Microsoft JhengHei UI"/>
                <a:cs typeface="Microsoft JhengHei UI"/>
              </a:rPr>
              <a:t>。</a:t>
            </a:r>
            <a:endParaRPr sz="1200">
              <a:latin typeface="Microsoft JhengHei UI"/>
              <a:cs typeface="Microsoft JhengHei UI"/>
            </a:endParaRPr>
          </a:p>
        </p:txBody>
      </p:sp>
      <p:pic>
        <p:nvPicPr>
          <p:cNvPr id="38" name="object 38"/>
          <p:cNvPicPr/>
          <p:nvPr/>
        </p:nvPicPr>
        <p:blipFill>
          <a:blip r:embed="rId23" cstate="print"/>
          <a:stretch>
            <a:fillRect/>
          </a:stretch>
        </p:blipFill>
        <p:spPr>
          <a:xfrm>
            <a:off x="1219200" y="4400551"/>
            <a:ext cx="6771911" cy="626248"/>
          </a:xfrm>
          <a:prstGeom prst="rect">
            <a:avLst/>
          </a:prstGeom>
        </p:spPr>
      </p:pic>
      <p:sp>
        <p:nvSpPr>
          <p:cNvPr id="39" name="object 39" descr=""/>
          <p:cNvSpPr txBox="1"/>
          <p:nvPr/>
        </p:nvSpPr>
        <p:spPr>
          <a:xfrm>
            <a:off x="1602600" y="4510823"/>
            <a:ext cx="6143625" cy="470534"/>
          </a:xfrm>
          <a:prstGeom prst="rect">
            <a:avLst/>
          </a:prstGeom>
        </p:spPr>
        <p:txBody>
          <a:bodyPr wrap="square" lIns="0" tIns="20955" rIns="0" bIns="0" rtlCol="0" vert="horz">
            <a:spAutoFit/>
          </a:bodyPr>
          <a:lstStyle/>
          <a:p>
            <a:pPr marL="38100" marR="30480">
              <a:lnSpc>
                <a:spcPct val="95300"/>
              </a:lnSpc>
              <a:spcBef>
                <a:spcPts val="165"/>
              </a:spcBef>
            </a:pPr>
            <a:r>
              <a:rPr dirty="0" sz="1200" b="1">
                <a:latin typeface="Microsoft YaHei"/>
                <a:cs typeface="Microsoft YaHei"/>
              </a:rPr>
              <a:t>使用</a:t>
            </a:r>
            <a:r>
              <a:rPr dirty="0" sz="1200" spc="-10" b="1">
                <a:solidFill>
                  <a:srgbClr val="C00000"/>
                </a:solidFill>
                <a:latin typeface="Microsoft YaHei"/>
                <a:cs typeface="Microsoft YaHei"/>
              </a:rPr>
              <a:t>LED</a:t>
            </a:r>
            <a:r>
              <a:rPr dirty="0" sz="1200" b="1">
                <a:solidFill>
                  <a:srgbClr val="C00000"/>
                </a:solidFill>
                <a:latin typeface="Microsoft YaHei"/>
                <a:cs typeface="Microsoft YaHei"/>
              </a:rPr>
              <a:t>智慧照明</a:t>
            </a:r>
            <a:r>
              <a:rPr dirty="0" sz="1200" b="1">
                <a:latin typeface="Microsoft YaHei"/>
                <a:cs typeface="Microsoft YaHei"/>
              </a:rPr>
              <a:t>，可有效地实现节能减排、绿色发展，</a:t>
            </a:r>
            <a:r>
              <a:rPr dirty="0" sz="1200" b="1">
                <a:solidFill>
                  <a:srgbClr val="C00000"/>
                </a:solidFill>
                <a:latin typeface="Microsoft YaHei"/>
                <a:cs typeface="Microsoft YaHei"/>
              </a:rPr>
              <a:t>综合节能率可达75%</a:t>
            </a:r>
            <a:r>
              <a:rPr dirty="0" sz="1200" spc="-10" b="1">
                <a:latin typeface="Microsoft YaHei"/>
                <a:cs typeface="Microsoft YaHei"/>
              </a:rPr>
              <a:t>。目前国内</a:t>
            </a:r>
            <a:r>
              <a:rPr dirty="0" sz="1200" b="1">
                <a:latin typeface="Microsoft YaHei"/>
                <a:cs typeface="Microsoft YaHei"/>
              </a:rPr>
              <a:t>路灯总数近</a:t>
            </a:r>
            <a:r>
              <a:rPr dirty="0" sz="1200" spc="-10" b="1">
                <a:latin typeface="Microsoft YaHei"/>
                <a:cs typeface="Microsoft YaHei"/>
              </a:rPr>
              <a:t>10</a:t>
            </a:r>
            <a:r>
              <a:rPr dirty="0" sz="1200" b="1">
                <a:latin typeface="Microsoft YaHei"/>
                <a:cs typeface="Microsoft YaHei"/>
              </a:rPr>
              <a:t>亿盏，如</a:t>
            </a:r>
            <a:r>
              <a:rPr dirty="0" sz="1200" spc="-1075" b="1">
                <a:latin typeface="Microsoft YaHei"/>
                <a:cs typeface="Microsoft YaHei"/>
              </a:rPr>
              <a:t>果</a:t>
            </a:r>
            <a:r>
              <a:rPr dirty="0" baseline="-27777" sz="2700" spc="-367">
                <a:latin typeface="Arial MT"/>
                <a:cs typeface="Arial MT"/>
              </a:rPr>
              <a:t>w</a:t>
            </a:r>
            <a:r>
              <a:rPr dirty="0" sz="1200" spc="-975" b="1">
                <a:latin typeface="Microsoft YaHei"/>
                <a:cs typeface="Microsoft YaHei"/>
              </a:rPr>
              <a:t>全</a:t>
            </a:r>
            <a:r>
              <a:rPr dirty="0" baseline="-27777" sz="2700" spc="-517">
                <a:latin typeface="Arial MT"/>
                <a:cs typeface="Arial MT"/>
              </a:rPr>
              <a:t>w</a:t>
            </a:r>
            <a:r>
              <a:rPr dirty="0" sz="1200" spc="-875" b="1">
                <a:latin typeface="Microsoft YaHei"/>
                <a:cs typeface="Microsoft YaHei"/>
              </a:rPr>
              <a:t>部</a:t>
            </a:r>
            <a:r>
              <a:rPr dirty="0" baseline="-27777" sz="2700" spc="-667">
                <a:latin typeface="Arial MT"/>
                <a:cs typeface="Arial MT"/>
              </a:rPr>
              <a:t>w</a:t>
            </a:r>
            <a:r>
              <a:rPr dirty="0" sz="1200" spc="-875" b="1">
                <a:latin typeface="Microsoft YaHei"/>
                <a:cs typeface="Microsoft YaHei"/>
              </a:rPr>
              <a:t>置</a:t>
            </a:r>
            <a:r>
              <a:rPr dirty="0" baseline="-27777" sz="2700" spc="-37">
                <a:latin typeface="Arial MT"/>
                <a:cs typeface="Arial MT"/>
              </a:rPr>
              <a:t>.i</a:t>
            </a:r>
            <a:r>
              <a:rPr dirty="0" sz="1200" spc="-1175" b="1">
                <a:latin typeface="Microsoft YaHei"/>
                <a:cs typeface="Microsoft YaHei"/>
              </a:rPr>
              <a:t>换</a:t>
            </a:r>
            <a:r>
              <a:rPr dirty="0" baseline="-27777" sz="2700" spc="-15">
                <a:latin typeface="Arial MT"/>
                <a:cs typeface="Arial MT"/>
              </a:rPr>
              <a:t>s</a:t>
            </a:r>
            <a:r>
              <a:rPr dirty="0" baseline="-27777" sz="2700" spc="-217">
                <a:latin typeface="Arial MT"/>
                <a:cs typeface="Arial MT"/>
              </a:rPr>
              <a:t>l</a:t>
            </a:r>
            <a:r>
              <a:rPr dirty="0" sz="1200" spc="-550" b="1">
                <a:latin typeface="Microsoft YaHei"/>
                <a:cs typeface="Microsoft YaHei"/>
              </a:rPr>
              <a:t>L</a:t>
            </a:r>
            <a:r>
              <a:rPr dirty="0" baseline="-27777" sz="2700" spc="-15">
                <a:latin typeface="Arial MT"/>
                <a:cs typeface="Arial MT"/>
              </a:rPr>
              <a:t>i</a:t>
            </a:r>
            <a:r>
              <a:rPr dirty="0" baseline="-27777" sz="2700" spc="-1335">
                <a:latin typeface="Arial MT"/>
                <a:cs typeface="Arial MT"/>
              </a:rPr>
              <a:t>d</a:t>
            </a:r>
            <a:r>
              <a:rPr dirty="0" sz="1200" spc="-20" b="1">
                <a:latin typeface="Microsoft YaHei"/>
                <a:cs typeface="Microsoft YaHei"/>
              </a:rPr>
              <a:t>E</a:t>
            </a:r>
            <a:r>
              <a:rPr dirty="0" sz="1200" spc="-780" b="1">
                <a:latin typeface="Microsoft YaHei"/>
                <a:cs typeface="Microsoft YaHei"/>
              </a:rPr>
              <a:t>D</a:t>
            </a:r>
            <a:r>
              <a:rPr dirty="0" baseline="-27777" sz="2700" spc="-390">
                <a:latin typeface="Arial MT"/>
                <a:cs typeface="Arial MT"/>
              </a:rPr>
              <a:t>e</a:t>
            </a:r>
            <a:r>
              <a:rPr dirty="0" sz="1200" spc="-955" b="1">
                <a:latin typeface="Microsoft YaHei"/>
                <a:cs typeface="Microsoft YaHei"/>
              </a:rPr>
              <a:t>路</a:t>
            </a:r>
            <a:r>
              <a:rPr dirty="0" baseline="-27777" sz="2700" spc="-352">
                <a:latin typeface="Arial MT"/>
                <a:cs typeface="Arial MT"/>
              </a:rPr>
              <a:t>.c</a:t>
            </a:r>
            <a:r>
              <a:rPr dirty="0" sz="1200" spc="-755" b="1">
                <a:latin typeface="Microsoft YaHei"/>
                <a:cs typeface="Microsoft YaHei"/>
              </a:rPr>
              <a:t>灯</a:t>
            </a:r>
            <a:r>
              <a:rPr dirty="0" baseline="-27777" sz="2700" spc="-112">
                <a:latin typeface="Arial MT"/>
                <a:cs typeface="Arial MT"/>
              </a:rPr>
              <a:t>c</a:t>
            </a:r>
            <a:r>
              <a:rPr dirty="0" sz="1200" spc="-20" b="1">
                <a:latin typeface="Microsoft YaHei"/>
                <a:cs typeface="Microsoft YaHei"/>
              </a:rPr>
              <a:t>，节能可相当于</a:t>
            </a:r>
            <a:r>
              <a:rPr dirty="0" sz="1200" spc="-10" b="1">
                <a:latin typeface="Microsoft YaHei"/>
                <a:cs typeface="Microsoft YaHei"/>
              </a:rPr>
              <a:t>3个三峡发电量。</a:t>
            </a:r>
            <a:endParaRPr sz="1200">
              <a:latin typeface="Microsoft YaHei"/>
              <a:cs typeface="Microsoft YaHe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1059" y="192275"/>
            <a:ext cx="3213735" cy="513080"/>
          </a:xfrm>
          <a:prstGeom prst="rect"/>
        </p:spPr>
        <p:txBody>
          <a:bodyPr wrap="square" lIns="0" tIns="12065" rIns="0" bIns="0" rtlCol="0" vert="horz">
            <a:spAutoFit/>
          </a:bodyPr>
          <a:lstStyle/>
          <a:p>
            <a:pPr marL="12700">
              <a:lnSpc>
                <a:spcPct val="100000"/>
              </a:lnSpc>
              <a:spcBef>
                <a:spcPts val="95"/>
              </a:spcBef>
            </a:pPr>
            <a:r>
              <a:rPr dirty="0" spc="-335" b="0">
                <a:latin typeface="SimSun"/>
                <a:cs typeface="SimSun"/>
              </a:rPr>
              <a:t>智慧路灯</a:t>
            </a:r>
            <a:r>
              <a:rPr dirty="0" sz="2000" spc="-315" b="0">
                <a:solidFill>
                  <a:srgbClr val="FF0000"/>
                </a:solidFill>
                <a:latin typeface="SimSun"/>
                <a:cs typeface="SimSun"/>
              </a:rPr>
              <a:t>●</a:t>
            </a:r>
            <a:r>
              <a:rPr dirty="0" spc="-355" b="0">
                <a:latin typeface="SimSun"/>
                <a:cs typeface="SimSun"/>
              </a:rPr>
              <a:t>功能特点</a:t>
            </a:r>
            <a:endParaRPr sz="2000">
              <a:latin typeface="SimSun"/>
              <a:cs typeface="SimSun"/>
            </a:endParaRPr>
          </a:p>
        </p:txBody>
      </p:sp>
      <p:sp>
        <p:nvSpPr>
          <p:cNvPr id="3" name="object 3" descr=""/>
          <p:cNvSpPr txBox="1"/>
          <p:nvPr/>
        </p:nvSpPr>
        <p:spPr>
          <a:xfrm>
            <a:off x="1853947" y="1999132"/>
            <a:ext cx="685165" cy="1160780"/>
          </a:xfrm>
          <a:prstGeom prst="rect">
            <a:avLst/>
          </a:prstGeom>
        </p:spPr>
        <p:txBody>
          <a:bodyPr wrap="square" lIns="0" tIns="12700" rIns="0" bIns="0" rtlCol="0" vert="horz">
            <a:spAutoFit/>
          </a:bodyPr>
          <a:lstStyle/>
          <a:p>
            <a:pPr marL="12700" marR="5080">
              <a:lnSpc>
                <a:spcPct val="149100"/>
              </a:lnSpc>
              <a:spcBef>
                <a:spcPts val="100"/>
              </a:spcBef>
            </a:pPr>
            <a:r>
              <a:rPr dirty="0" sz="800" spc="-10">
                <a:latin typeface="Microsoft YaHei"/>
                <a:cs typeface="Microsoft YaHei"/>
              </a:rPr>
              <a:t>移动通信/WiFi</a:t>
            </a:r>
            <a:r>
              <a:rPr dirty="0" sz="800" spc="-20">
                <a:latin typeface="Microsoft YaHei"/>
                <a:cs typeface="Microsoft YaHei"/>
              </a:rPr>
              <a:t>智慧照明</a:t>
            </a:r>
            <a:endParaRPr sz="800">
              <a:latin typeface="Microsoft YaHei"/>
              <a:cs typeface="Microsoft YaHei"/>
            </a:endParaRPr>
          </a:p>
          <a:p>
            <a:pPr marL="12700">
              <a:lnSpc>
                <a:spcPct val="100000"/>
              </a:lnSpc>
              <a:spcBef>
                <a:spcPts val="315"/>
              </a:spcBef>
            </a:pPr>
            <a:r>
              <a:rPr dirty="0" sz="800" spc="-20">
                <a:latin typeface="Microsoft YaHei"/>
                <a:cs typeface="Microsoft YaHei"/>
              </a:rPr>
              <a:t>监控摄像</a:t>
            </a:r>
            <a:endParaRPr sz="800">
              <a:latin typeface="Microsoft YaHei"/>
              <a:cs typeface="Microsoft YaHei"/>
            </a:endParaRPr>
          </a:p>
          <a:p>
            <a:pPr marL="12700">
              <a:lnSpc>
                <a:spcPct val="100000"/>
              </a:lnSpc>
              <a:spcBef>
                <a:spcPts val="740"/>
              </a:spcBef>
            </a:pPr>
            <a:r>
              <a:rPr dirty="0" sz="800" spc="-20">
                <a:latin typeface="Microsoft YaHei"/>
                <a:cs typeface="Microsoft YaHei"/>
              </a:rPr>
              <a:t>环境监测</a:t>
            </a:r>
            <a:endParaRPr sz="800">
              <a:latin typeface="Microsoft YaHei"/>
              <a:cs typeface="Microsoft YaHei"/>
            </a:endParaRPr>
          </a:p>
          <a:p>
            <a:pPr>
              <a:lnSpc>
                <a:spcPct val="100000"/>
              </a:lnSpc>
              <a:spcBef>
                <a:spcPts val="665"/>
              </a:spcBef>
            </a:pPr>
            <a:endParaRPr sz="800">
              <a:latin typeface="Microsoft YaHei"/>
              <a:cs typeface="Microsoft YaHei"/>
            </a:endParaRPr>
          </a:p>
          <a:p>
            <a:pPr marL="12700">
              <a:lnSpc>
                <a:spcPct val="100000"/>
              </a:lnSpc>
            </a:pPr>
            <a:r>
              <a:rPr dirty="0" sz="800" spc="-20">
                <a:latin typeface="Microsoft YaHei"/>
                <a:cs typeface="Microsoft YaHei"/>
              </a:rPr>
              <a:t>应急广播</a:t>
            </a:r>
            <a:endParaRPr sz="800">
              <a:latin typeface="Microsoft YaHei"/>
              <a:cs typeface="Microsoft YaHei"/>
            </a:endParaRPr>
          </a:p>
        </p:txBody>
      </p:sp>
      <p:sp>
        <p:nvSpPr>
          <p:cNvPr id="4" name="object 4" descr=""/>
          <p:cNvSpPr txBox="1"/>
          <p:nvPr/>
        </p:nvSpPr>
        <p:spPr>
          <a:xfrm>
            <a:off x="1853947" y="4131396"/>
            <a:ext cx="431165" cy="3632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紧急求助</a:t>
            </a:r>
            <a:endParaRPr sz="800">
              <a:latin typeface="Microsoft YaHei"/>
              <a:cs typeface="Microsoft YaHei"/>
            </a:endParaRPr>
          </a:p>
          <a:p>
            <a:pPr marL="20955">
              <a:lnSpc>
                <a:spcPct val="100000"/>
              </a:lnSpc>
              <a:spcBef>
                <a:spcPts val="740"/>
              </a:spcBef>
            </a:pPr>
            <a:r>
              <a:rPr dirty="0" sz="800" spc="-25">
                <a:latin typeface="Microsoft YaHei"/>
                <a:cs typeface="Microsoft YaHei"/>
              </a:rPr>
              <a:t>充电桩</a:t>
            </a:r>
            <a:endParaRPr sz="800">
              <a:latin typeface="Microsoft YaHei"/>
              <a:cs typeface="Microsoft YaHei"/>
            </a:endParaRPr>
          </a:p>
        </p:txBody>
      </p:sp>
      <p:grpSp>
        <p:nvGrpSpPr>
          <p:cNvPr id="5" name="object 5" descr=""/>
          <p:cNvGrpSpPr/>
          <p:nvPr/>
        </p:nvGrpSpPr>
        <p:grpSpPr>
          <a:xfrm>
            <a:off x="879970" y="1954860"/>
            <a:ext cx="923925" cy="2879725"/>
            <a:chOff x="879970" y="1954860"/>
            <a:chExt cx="923925" cy="2879725"/>
          </a:xfrm>
        </p:grpSpPr>
        <p:pic>
          <p:nvPicPr>
            <p:cNvPr id="6" name="object 6"/>
            <p:cNvPicPr/>
            <p:nvPr/>
          </p:nvPicPr>
          <p:blipFill>
            <a:blip r:embed="rId2" cstate="print"/>
            <a:stretch>
              <a:fillRect/>
            </a:stretch>
          </p:blipFill>
          <p:spPr>
            <a:xfrm>
              <a:off x="879970" y="1954860"/>
              <a:ext cx="648067" cy="2879620"/>
            </a:xfrm>
            <a:prstGeom prst="rect">
              <a:avLst/>
            </a:prstGeom>
          </p:spPr>
        </p:pic>
        <p:sp>
          <p:nvSpPr>
            <p:cNvPr id="7" name="object 7" descr=""/>
            <p:cNvSpPr/>
            <p:nvPr/>
          </p:nvSpPr>
          <p:spPr>
            <a:xfrm>
              <a:off x="1258008" y="2149584"/>
              <a:ext cx="540385" cy="0"/>
            </a:xfrm>
            <a:custGeom>
              <a:avLst/>
              <a:gdLst/>
              <a:ahLst/>
              <a:cxnLst/>
              <a:rect l="l" t="t" r="r" b="b"/>
              <a:pathLst>
                <a:path w="540385" h="0">
                  <a:moveTo>
                    <a:pt x="0" y="0"/>
                  </a:moveTo>
                  <a:lnTo>
                    <a:pt x="540054" y="0"/>
                  </a:lnTo>
                </a:path>
              </a:pathLst>
            </a:custGeom>
            <a:ln w="9525">
              <a:solidFill>
                <a:srgbClr val="C00000"/>
              </a:solidFill>
              <a:prstDash val="sysDash"/>
            </a:ln>
          </p:spPr>
          <p:txBody>
            <a:bodyPr wrap="square" lIns="0" tIns="0" rIns="0" bIns="0" rtlCol="0"/>
            <a:lstStyle/>
            <a:p/>
          </p:txBody>
        </p:sp>
        <p:sp>
          <p:nvSpPr>
            <p:cNvPr id="8" name="object 8" descr=""/>
            <p:cNvSpPr/>
            <p:nvPr/>
          </p:nvSpPr>
          <p:spPr>
            <a:xfrm>
              <a:off x="1150312" y="2461489"/>
              <a:ext cx="648335" cy="20320"/>
            </a:xfrm>
            <a:custGeom>
              <a:avLst/>
              <a:gdLst/>
              <a:ahLst/>
              <a:cxnLst/>
              <a:rect l="l" t="t" r="r" b="b"/>
              <a:pathLst>
                <a:path w="648335" h="20319">
                  <a:moveTo>
                    <a:pt x="0" y="0"/>
                  </a:moveTo>
                  <a:lnTo>
                    <a:pt x="648068" y="19812"/>
                  </a:lnTo>
                </a:path>
              </a:pathLst>
            </a:custGeom>
            <a:ln w="9525">
              <a:solidFill>
                <a:srgbClr val="C00000"/>
              </a:solidFill>
              <a:prstDash val="sysDash"/>
            </a:ln>
          </p:spPr>
          <p:txBody>
            <a:bodyPr wrap="square" lIns="0" tIns="0" rIns="0" bIns="0" rtlCol="0"/>
            <a:lstStyle/>
            <a:p/>
          </p:txBody>
        </p:sp>
        <p:sp>
          <p:nvSpPr>
            <p:cNvPr id="9" name="object 9" descr=""/>
            <p:cNvSpPr/>
            <p:nvPr/>
          </p:nvSpPr>
          <p:spPr>
            <a:xfrm>
              <a:off x="1366019" y="2669829"/>
              <a:ext cx="432434" cy="10160"/>
            </a:xfrm>
            <a:custGeom>
              <a:avLst/>
              <a:gdLst/>
              <a:ahLst/>
              <a:cxnLst/>
              <a:rect l="l" t="t" r="r" b="b"/>
              <a:pathLst>
                <a:path w="432435" h="10160">
                  <a:moveTo>
                    <a:pt x="0" y="0"/>
                  </a:moveTo>
                  <a:lnTo>
                    <a:pt x="432054" y="9906"/>
                  </a:lnTo>
                </a:path>
              </a:pathLst>
            </a:custGeom>
            <a:ln w="9524">
              <a:solidFill>
                <a:srgbClr val="C00000"/>
              </a:solidFill>
              <a:prstDash val="sysDash"/>
            </a:ln>
          </p:spPr>
          <p:txBody>
            <a:bodyPr wrap="square" lIns="0" tIns="0" rIns="0" bIns="0" rtlCol="0"/>
            <a:lstStyle/>
            <a:p/>
          </p:txBody>
        </p:sp>
        <p:sp>
          <p:nvSpPr>
            <p:cNvPr id="10" name="object 10" descr=""/>
            <p:cNvSpPr/>
            <p:nvPr/>
          </p:nvSpPr>
          <p:spPr>
            <a:xfrm>
              <a:off x="1290043" y="3067687"/>
              <a:ext cx="508634" cy="10160"/>
            </a:xfrm>
            <a:custGeom>
              <a:avLst/>
              <a:gdLst/>
              <a:ahLst/>
              <a:cxnLst/>
              <a:rect l="l" t="t" r="r" b="b"/>
              <a:pathLst>
                <a:path w="508635" h="10160">
                  <a:moveTo>
                    <a:pt x="0" y="0"/>
                  </a:moveTo>
                  <a:lnTo>
                    <a:pt x="508025" y="9906"/>
                  </a:lnTo>
                </a:path>
              </a:pathLst>
            </a:custGeom>
            <a:ln w="9524">
              <a:solidFill>
                <a:srgbClr val="C00000"/>
              </a:solidFill>
              <a:prstDash val="sysDash"/>
            </a:ln>
          </p:spPr>
          <p:txBody>
            <a:bodyPr wrap="square" lIns="0" tIns="0" rIns="0" bIns="0" rtlCol="0"/>
            <a:lstStyle/>
            <a:p/>
          </p:txBody>
        </p:sp>
        <p:sp>
          <p:nvSpPr>
            <p:cNvPr id="11" name="object 11" descr=""/>
            <p:cNvSpPr/>
            <p:nvPr/>
          </p:nvSpPr>
          <p:spPr>
            <a:xfrm>
              <a:off x="1041984" y="2311603"/>
              <a:ext cx="756285" cy="20320"/>
            </a:xfrm>
            <a:custGeom>
              <a:avLst/>
              <a:gdLst/>
              <a:ahLst/>
              <a:cxnLst/>
              <a:rect l="l" t="t" r="r" b="b"/>
              <a:pathLst>
                <a:path w="756285" h="20319">
                  <a:moveTo>
                    <a:pt x="0" y="0"/>
                  </a:moveTo>
                  <a:lnTo>
                    <a:pt x="756081" y="19812"/>
                  </a:lnTo>
                </a:path>
              </a:pathLst>
            </a:custGeom>
            <a:ln w="9525">
              <a:solidFill>
                <a:srgbClr val="C00000"/>
              </a:solidFill>
              <a:prstDash val="sysDash"/>
            </a:ln>
          </p:spPr>
          <p:txBody>
            <a:bodyPr wrap="square" lIns="0" tIns="0" rIns="0" bIns="0" rtlCol="0"/>
            <a:lstStyle/>
            <a:p/>
          </p:txBody>
        </p:sp>
        <p:sp>
          <p:nvSpPr>
            <p:cNvPr id="12" name="object 12" descr=""/>
            <p:cNvSpPr/>
            <p:nvPr/>
          </p:nvSpPr>
          <p:spPr>
            <a:xfrm>
              <a:off x="1424360" y="3589459"/>
              <a:ext cx="374015" cy="10160"/>
            </a:xfrm>
            <a:custGeom>
              <a:avLst/>
              <a:gdLst/>
              <a:ahLst/>
              <a:cxnLst/>
              <a:rect l="l" t="t" r="r" b="b"/>
              <a:pathLst>
                <a:path w="374014" h="10160">
                  <a:moveTo>
                    <a:pt x="0" y="0"/>
                  </a:moveTo>
                  <a:lnTo>
                    <a:pt x="373710" y="9906"/>
                  </a:lnTo>
                </a:path>
              </a:pathLst>
            </a:custGeom>
            <a:ln w="9525">
              <a:solidFill>
                <a:srgbClr val="C00000"/>
              </a:solidFill>
              <a:prstDash val="sysDash"/>
            </a:ln>
          </p:spPr>
          <p:txBody>
            <a:bodyPr wrap="square" lIns="0" tIns="0" rIns="0" bIns="0" rtlCol="0"/>
            <a:lstStyle/>
            <a:p/>
          </p:txBody>
        </p:sp>
        <p:sp>
          <p:nvSpPr>
            <p:cNvPr id="13" name="object 13" descr=""/>
            <p:cNvSpPr/>
            <p:nvPr/>
          </p:nvSpPr>
          <p:spPr>
            <a:xfrm>
              <a:off x="1290360" y="4199115"/>
              <a:ext cx="508634" cy="10160"/>
            </a:xfrm>
            <a:custGeom>
              <a:avLst/>
              <a:gdLst/>
              <a:ahLst/>
              <a:cxnLst/>
              <a:rect l="l" t="t" r="r" b="b"/>
              <a:pathLst>
                <a:path w="508635" h="10160">
                  <a:moveTo>
                    <a:pt x="0" y="0"/>
                  </a:moveTo>
                  <a:lnTo>
                    <a:pt x="508025" y="9905"/>
                  </a:lnTo>
                </a:path>
              </a:pathLst>
            </a:custGeom>
            <a:ln w="9524">
              <a:solidFill>
                <a:srgbClr val="C00000"/>
              </a:solidFill>
              <a:prstDash val="sysDash"/>
            </a:ln>
          </p:spPr>
          <p:txBody>
            <a:bodyPr wrap="square" lIns="0" tIns="0" rIns="0" bIns="0" rtlCol="0"/>
            <a:lstStyle/>
            <a:p/>
          </p:txBody>
        </p:sp>
        <p:sp>
          <p:nvSpPr>
            <p:cNvPr id="14" name="object 14" descr=""/>
            <p:cNvSpPr/>
            <p:nvPr/>
          </p:nvSpPr>
          <p:spPr>
            <a:xfrm>
              <a:off x="1290899" y="4427085"/>
              <a:ext cx="508634" cy="10160"/>
            </a:xfrm>
            <a:custGeom>
              <a:avLst/>
              <a:gdLst/>
              <a:ahLst/>
              <a:cxnLst/>
              <a:rect l="l" t="t" r="r" b="b"/>
              <a:pathLst>
                <a:path w="508635" h="10160">
                  <a:moveTo>
                    <a:pt x="0" y="0"/>
                  </a:moveTo>
                  <a:lnTo>
                    <a:pt x="508025" y="9905"/>
                  </a:lnTo>
                </a:path>
              </a:pathLst>
            </a:custGeom>
            <a:ln w="9524">
              <a:solidFill>
                <a:srgbClr val="C00000"/>
              </a:solidFill>
              <a:prstDash val="sysDash"/>
            </a:ln>
          </p:spPr>
          <p:txBody>
            <a:bodyPr wrap="square" lIns="0" tIns="0" rIns="0" bIns="0" rtlCol="0"/>
            <a:lstStyle/>
            <a:p/>
          </p:txBody>
        </p:sp>
      </p:grpSp>
      <p:sp>
        <p:nvSpPr>
          <p:cNvPr id="15" name="object 15" descr=""/>
          <p:cNvSpPr txBox="1"/>
          <p:nvPr/>
        </p:nvSpPr>
        <p:spPr>
          <a:xfrm>
            <a:off x="1853947" y="3517513"/>
            <a:ext cx="431165" cy="147320"/>
          </a:xfrm>
          <a:prstGeom prst="rect">
            <a:avLst/>
          </a:prstGeom>
        </p:spPr>
        <p:txBody>
          <a:bodyPr wrap="square" lIns="0" tIns="12065" rIns="0" bIns="0" rtlCol="0" vert="horz">
            <a:spAutoFit/>
          </a:bodyPr>
          <a:lstStyle/>
          <a:p>
            <a:pPr marL="12700">
              <a:lnSpc>
                <a:spcPct val="100000"/>
              </a:lnSpc>
              <a:spcBef>
                <a:spcPts val="95"/>
              </a:spcBef>
            </a:pPr>
            <a:r>
              <a:rPr dirty="0" sz="800" spc="-20">
                <a:latin typeface="Microsoft YaHei"/>
                <a:cs typeface="Microsoft YaHei"/>
              </a:rPr>
              <a:t>信息发布</a:t>
            </a:r>
            <a:endParaRPr sz="800">
              <a:latin typeface="Microsoft YaHei"/>
              <a:cs typeface="Microsoft YaHei"/>
            </a:endParaRPr>
          </a:p>
        </p:txBody>
      </p:sp>
      <p:sp>
        <p:nvSpPr>
          <p:cNvPr id="16" name="object 16" descr=""/>
          <p:cNvSpPr txBox="1"/>
          <p:nvPr/>
        </p:nvSpPr>
        <p:spPr>
          <a:xfrm>
            <a:off x="741680" y="811783"/>
            <a:ext cx="6913880" cy="976630"/>
          </a:xfrm>
          <a:prstGeom prst="rect">
            <a:avLst/>
          </a:prstGeom>
        </p:spPr>
        <p:txBody>
          <a:bodyPr wrap="square" lIns="0" tIns="12700" rIns="0" bIns="0" rtlCol="0" vert="horz">
            <a:spAutoFit/>
          </a:bodyPr>
          <a:lstStyle/>
          <a:p>
            <a:pPr algn="just" marL="172720" marR="5080" indent="-160655">
              <a:lnSpc>
                <a:spcPct val="130000"/>
              </a:lnSpc>
              <a:spcBef>
                <a:spcPts val="100"/>
              </a:spcBef>
              <a:buClr>
                <a:srgbClr val="C00000"/>
              </a:buClr>
              <a:buFont typeface="Wingdings"/>
              <a:buChar char=""/>
              <a:tabLst>
                <a:tab pos="173990" algn="l"/>
              </a:tabLst>
            </a:pPr>
            <a:r>
              <a:rPr dirty="0" sz="1200">
                <a:latin typeface="Microsoft YaHei"/>
                <a:cs typeface="Microsoft YaHei"/>
              </a:rPr>
              <a:t>智慧灯杆融合移动通信（小微站）、公共</a:t>
            </a:r>
            <a:r>
              <a:rPr dirty="0" sz="1200" spc="-10">
                <a:latin typeface="Microsoft YaHei"/>
                <a:cs typeface="Microsoft YaHei"/>
              </a:rPr>
              <a:t>WIFI</a:t>
            </a:r>
            <a:r>
              <a:rPr dirty="0" sz="1200" spc="-5">
                <a:latin typeface="Microsoft YaHei"/>
                <a:cs typeface="Microsoft YaHei"/>
              </a:rPr>
              <a:t>、环境监测、智能照明、应急广播、监控摄像、信息发	布等多种公共服务功能，通过个性化的设计融入园区环境，是智慧园区中一种重要的基础设施形态及	载体，业务协同效应显著。</a:t>
            </a:r>
            <a:endParaRPr sz="1200">
              <a:latin typeface="Microsoft YaHei"/>
              <a:cs typeface="Microsoft YaHei"/>
            </a:endParaRPr>
          </a:p>
          <a:p>
            <a:pPr algn="just" marL="173355" indent="-160655">
              <a:lnSpc>
                <a:spcPct val="100000"/>
              </a:lnSpc>
              <a:spcBef>
                <a:spcPts val="430"/>
              </a:spcBef>
              <a:buClr>
                <a:srgbClr val="C00000"/>
              </a:buClr>
              <a:buFont typeface="Wingdings"/>
              <a:buChar char=""/>
              <a:tabLst>
                <a:tab pos="173355" algn="l"/>
              </a:tabLst>
            </a:pPr>
            <a:r>
              <a:rPr dirty="0" sz="1200" spc="-5">
                <a:latin typeface="Microsoft YaHei"/>
                <a:cs typeface="Microsoft YaHei"/>
              </a:rPr>
              <a:t>实际建设中可进行功能模块的选配</a:t>
            </a:r>
            <a:endParaRPr sz="1200">
              <a:latin typeface="Microsoft YaHei"/>
              <a:cs typeface="Microsoft YaHei"/>
            </a:endParaRPr>
          </a:p>
        </p:txBody>
      </p:sp>
      <p:sp>
        <p:nvSpPr>
          <p:cNvPr id="17" name="object 17" descr=""/>
          <p:cNvSpPr txBox="1"/>
          <p:nvPr/>
        </p:nvSpPr>
        <p:spPr>
          <a:xfrm>
            <a:off x="3201924" y="1583724"/>
            <a:ext cx="152400" cy="201295"/>
          </a:xfrm>
          <a:prstGeom prst="rect">
            <a:avLst/>
          </a:prstGeom>
        </p:spPr>
        <p:txBody>
          <a:bodyPr wrap="square" lIns="0" tIns="8890" rIns="0" bIns="0" rtlCol="0" vert="horz">
            <a:spAutoFit/>
          </a:bodyPr>
          <a:lstStyle/>
          <a:p>
            <a:pPr>
              <a:lnSpc>
                <a:spcPct val="100000"/>
              </a:lnSpc>
              <a:spcBef>
                <a:spcPts val="70"/>
              </a:spcBef>
            </a:pPr>
            <a:r>
              <a:rPr dirty="0" sz="1200" spc="-50">
                <a:latin typeface="Microsoft YaHei"/>
                <a:cs typeface="Microsoft YaHei"/>
              </a:rPr>
              <a:t>。</a:t>
            </a:r>
            <a:endParaRPr sz="1200">
              <a:latin typeface="Microsoft YaHei"/>
              <a:cs typeface="Microsoft YaHei"/>
            </a:endParaRPr>
          </a:p>
        </p:txBody>
      </p:sp>
      <p:graphicFrame>
        <p:nvGraphicFramePr>
          <p:cNvPr id="18" name="object 18" descr=""/>
          <p:cNvGraphicFramePr>
            <a:graphicFrameLocks noGrp="1"/>
          </p:cNvGraphicFramePr>
          <p:nvPr/>
        </p:nvGraphicFramePr>
        <p:xfrm>
          <a:off x="3270250" y="1346200"/>
          <a:ext cx="5491480" cy="3611880"/>
        </p:xfrm>
        <a:graphic>
          <a:graphicData uri="http://schemas.openxmlformats.org/drawingml/2006/table">
            <a:tbl>
              <a:tblPr firstRow="1" bandRow="1">
                <a:tableStyleId>{2D5ABB26-0587-4C30-8999-92F81FD0307C}</a:tableStyleId>
              </a:tblPr>
              <a:tblGrid>
                <a:gridCol w="488950"/>
                <a:gridCol w="1021080"/>
                <a:gridCol w="3893185"/>
              </a:tblGrid>
              <a:tr h="251460">
                <a:tc>
                  <a:txBody>
                    <a:bodyPr/>
                    <a:lstStyle/>
                    <a:p>
                      <a:pPr algn="ctr">
                        <a:lnSpc>
                          <a:spcPct val="100000"/>
                        </a:lnSpc>
                        <a:spcBef>
                          <a:spcPts val="220"/>
                        </a:spcBef>
                      </a:pPr>
                      <a:r>
                        <a:rPr dirty="0" sz="1200" spc="-25" b="1">
                          <a:solidFill>
                            <a:srgbClr val="FFFFFF"/>
                          </a:solidFill>
                          <a:latin typeface="Microsoft YaHei"/>
                          <a:cs typeface="Microsoft YaHei"/>
                        </a:rPr>
                        <a:t>序号</a:t>
                      </a:r>
                      <a:endParaRPr sz="12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220"/>
                        </a:spcBef>
                      </a:pPr>
                      <a:r>
                        <a:rPr dirty="0" sz="1200" spc="-15" b="1">
                          <a:solidFill>
                            <a:srgbClr val="FFFFFF"/>
                          </a:solidFill>
                          <a:latin typeface="Microsoft YaHei"/>
                          <a:cs typeface="Microsoft YaHei"/>
                        </a:rPr>
                        <a:t>灯杆功能</a:t>
                      </a:r>
                      <a:endParaRPr sz="12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c>
                  <a:txBody>
                    <a:bodyPr/>
                    <a:lstStyle/>
                    <a:p>
                      <a:pPr algn="ctr">
                        <a:lnSpc>
                          <a:spcPct val="100000"/>
                        </a:lnSpc>
                        <a:spcBef>
                          <a:spcPts val="220"/>
                        </a:spcBef>
                      </a:pPr>
                      <a:r>
                        <a:rPr dirty="0" sz="1200" spc="-15" b="1">
                          <a:solidFill>
                            <a:srgbClr val="FFFFFF"/>
                          </a:solidFill>
                          <a:latin typeface="Microsoft YaHei"/>
                          <a:cs typeface="Microsoft YaHei"/>
                        </a:rPr>
                        <a:t>功能描述</a:t>
                      </a:r>
                      <a:endParaRPr sz="1200">
                        <a:latin typeface="Microsoft YaHei"/>
                        <a:cs typeface="Microsoft YaHei"/>
                      </a:endParaRPr>
                    </a:p>
                  </a:txBody>
                  <a:tcPr marL="0" marR="0" marB="0" marT="2794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B0F0"/>
                    </a:solidFill>
                  </a:tcPr>
                </a:tc>
              </a:tr>
              <a:tr h="235585">
                <a:tc>
                  <a:txBody>
                    <a:bodyPr/>
                    <a:lstStyle/>
                    <a:p>
                      <a:pPr algn="ctr">
                        <a:lnSpc>
                          <a:spcPct val="100000"/>
                        </a:lnSpc>
                        <a:spcBef>
                          <a:spcPts val="225"/>
                        </a:spcBef>
                      </a:pPr>
                      <a:r>
                        <a:rPr dirty="0" sz="1100" spc="-50">
                          <a:latin typeface="Microsoft YaHei"/>
                          <a:cs typeface="Microsoft YaHei"/>
                        </a:rPr>
                        <a:t>1</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225"/>
                        </a:spcBef>
                      </a:pPr>
                      <a:r>
                        <a:rPr dirty="0" sz="1100" spc="-30">
                          <a:latin typeface="Microsoft YaHei"/>
                          <a:cs typeface="Microsoft YaHei"/>
                        </a:rPr>
                        <a:t>移动通信</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225"/>
                        </a:spcBef>
                      </a:pPr>
                      <a:r>
                        <a:rPr dirty="0" sz="1100" spc="-25">
                          <a:latin typeface="Microsoft YaHei"/>
                          <a:cs typeface="Microsoft YaHei"/>
                        </a:rPr>
                        <a:t>可解决深度覆盖和容量吸收，与城市/园区/景区更好融合</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7F3F4"/>
                    </a:solidFill>
                  </a:tcPr>
                </a:tc>
              </a:tr>
              <a:tr h="802640">
                <a:tc>
                  <a:txBody>
                    <a:bodyPr/>
                    <a:lstStyle/>
                    <a:p>
                      <a:pPr algn="ctr">
                        <a:lnSpc>
                          <a:spcPct val="100000"/>
                        </a:lnSpc>
                        <a:spcBef>
                          <a:spcPts val="225"/>
                        </a:spcBef>
                      </a:pPr>
                      <a:r>
                        <a:rPr dirty="0" sz="1100" spc="-50">
                          <a:latin typeface="Microsoft YaHei"/>
                          <a:cs typeface="Microsoft YaHei"/>
                        </a:rPr>
                        <a:t>2</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25"/>
                        </a:spcBef>
                      </a:pPr>
                      <a:r>
                        <a:rPr dirty="0" sz="1100" spc="-20">
                          <a:latin typeface="Microsoft YaHei"/>
                          <a:cs typeface="Microsoft YaHei"/>
                        </a:rPr>
                        <a:t>公共WIFI</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876425" marR="113664" indent="-1755139">
                        <a:lnSpc>
                          <a:spcPct val="100000"/>
                        </a:lnSpc>
                        <a:spcBef>
                          <a:spcPts val="225"/>
                        </a:spcBef>
                      </a:pPr>
                      <a:r>
                        <a:rPr dirty="0" sz="1100" spc="-20">
                          <a:latin typeface="Microsoft YaHei"/>
                          <a:cs typeface="Microsoft YaHei"/>
                        </a:rPr>
                        <a:t>提供</a:t>
                      </a:r>
                      <a:r>
                        <a:rPr dirty="0" sz="1100" spc="-10">
                          <a:latin typeface="Microsoft YaHei"/>
                          <a:cs typeface="Microsoft YaHei"/>
                        </a:rPr>
                        <a:t>WIFI</a:t>
                      </a:r>
                      <a:r>
                        <a:rPr dirty="0" sz="1100" spc="-25">
                          <a:latin typeface="Microsoft YaHei"/>
                          <a:cs typeface="Microsoft YaHei"/>
                        </a:rPr>
                        <a:t>信号覆盖，助力无线城市、智慧园区、智慧景区建</a:t>
                      </a:r>
                      <a:r>
                        <a:rPr dirty="0" sz="1100" spc="-50">
                          <a:latin typeface="Microsoft YaHei"/>
                          <a:cs typeface="Microsoft YaHei"/>
                        </a:rPr>
                        <a:t>设</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36220">
                <a:tc>
                  <a:txBody>
                    <a:bodyPr/>
                    <a:lstStyle/>
                    <a:p>
                      <a:pPr algn="ctr" marL="635">
                        <a:lnSpc>
                          <a:spcPct val="100000"/>
                        </a:lnSpc>
                        <a:spcBef>
                          <a:spcPts val="225"/>
                        </a:spcBef>
                      </a:pPr>
                      <a:r>
                        <a:rPr dirty="0" sz="1100" spc="-50">
                          <a:latin typeface="Microsoft YaHei"/>
                          <a:cs typeface="Microsoft YaHei"/>
                        </a:rPr>
                        <a:t>3</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225"/>
                        </a:spcBef>
                      </a:pPr>
                      <a:r>
                        <a:rPr dirty="0" sz="1100" spc="-30">
                          <a:latin typeface="Microsoft YaHei"/>
                          <a:cs typeface="Microsoft YaHei"/>
                        </a:rPr>
                        <a:t>智慧照明</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a:lnSpc>
                          <a:spcPct val="100000"/>
                        </a:lnSpc>
                        <a:spcBef>
                          <a:spcPts val="225"/>
                        </a:spcBef>
                      </a:pPr>
                      <a:r>
                        <a:rPr dirty="0" sz="1100" spc="-25">
                          <a:latin typeface="Microsoft YaHei"/>
                          <a:cs typeface="Microsoft YaHei"/>
                        </a:rPr>
                        <a:t>利用物联网、信息处理以及节能控制技术</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235585">
                <a:tc>
                  <a:txBody>
                    <a:bodyPr/>
                    <a:lstStyle/>
                    <a:p>
                      <a:pPr algn="ctr" marL="635">
                        <a:lnSpc>
                          <a:spcPct val="100000"/>
                        </a:lnSpc>
                        <a:spcBef>
                          <a:spcPts val="225"/>
                        </a:spcBef>
                      </a:pPr>
                      <a:r>
                        <a:rPr dirty="0" sz="1100" spc="-50">
                          <a:latin typeface="Microsoft YaHei"/>
                          <a:cs typeface="Microsoft YaHei"/>
                        </a:rPr>
                        <a:t>4</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25"/>
                        </a:spcBef>
                      </a:pPr>
                      <a:r>
                        <a:rPr dirty="0" sz="1100" spc="-30">
                          <a:latin typeface="Microsoft YaHei"/>
                          <a:cs typeface="Microsoft YaHei"/>
                        </a:rPr>
                        <a:t>监控摄像</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a:lnSpc>
                          <a:spcPct val="100000"/>
                        </a:lnSpc>
                        <a:spcBef>
                          <a:spcPts val="225"/>
                        </a:spcBef>
                      </a:pPr>
                      <a:r>
                        <a:rPr dirty="0" sz="1100" spc="-20">
                          <a:latin typeface="Microsoft YaHei"/>
                          <a:cs typeface="Microsoft YaHei"/>
                        </a:rPr>
                        <a:t>200W</a:t>
                      </a:r>
                      <a:r>
                        <a:rPr dirty="0" sz="1100" spc="-25">
                          <a:latin typeface="Microsoft YaHei"/>
                          <a:cs typeface="Microsoft YaHei"/>
                        </a:rPr>
                        <a:t>红外高清视频监控、路况监控、违章、违停等抓拍</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35585">
                <a:tc>
                  <a:txBody>
                    <a:bodyPr/>
                    <a:lstStyle/>
                    <a:p>
                      <a:pPr algn="ctr" marL="635">
                        <a:lnSpc>
                          <a:spcPct val="100000"/>
                        </a:lnSpc>
                        <a:spcBef>
                          <a:spcPts val="225"/>
                        </a:spcBef>
                      </a:pPr>
                      <a:r>
                        <a:rPr dirty="0" sz="1100" spc="-50">
                          <a:latin typeface="Microsoft YaHei"/>
                          <a:cs typeface="Microsoft YaHei"/>
                        </a:rPr>
                        <a:t>5</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225"/>
                        </a:spcBef>
                      </a:pPr>
                      <a:r>
                        <a:rPr dirty="0" sz="1100" spc="-30">
                          <a:latin typeface="Microsoft YaHei"/>
                          <a:cs typeface="Microsoft YaHei"/>
                        </a:rPr>
                        <a:t>环境监测</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225"/>
                        </a:spcBef>
                      </a:pPr>
                      <a:r>
                        <a:rPr dirty="0" sz="1100" spc="-20">
                          <a:latin typeface="Microsoft YaHei"/>
                          <a:cs typeface="Microsoft YaHei"/>
                        </a:rPr>
                        <a:t>实时监测温湿度、风速、风向、噪声、气压、</a:t>
                      </a:r>
                      <a:r>
                        <a:rPr dirty="0" sz="1100" spc="-10">
                          <a:latin typeface="Microsoft YaHei"/>
                          <a:cs typeface="Microsoft YaHei"/>
                        </a:rPr>
                        <a:t>PM2.5、</a:t>
                      </a:r>
                      <a:r>
                        <a:rPr dirty="0" sz="1100" spc="-20">
                          <a:latin typeface="Microsoft YaHei"/>
                          <a:cs typeface="Microsoft YaHei"/>
                        </a:rPr>
                        <a:t>PM10</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403860">
                <a:tc>
                  <a:txBody>
                    <a:bodyPr/>
                    <a:lstStyle/>
                    <a:p>
                      <a:pPr algn="ctr" marL="635">
                        <a:lnSpc>
                          <a:spcPct val="100000"/>
                        </a:lnSpc>
                        <a:spcBef>
                          <a:spcPts val="225"/>
                        </a:spcBef>
                      </a:pPr>
                      <a:r>
                        <a:rPr dirty="0" sz="1100" spc="-50">
                          <a:latin typeface="Microsoft YaHei"/>
                          <a:cs typeface="Microsoft YaHei"/>
                        </a:rPr>
                        <a:t>6</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635">
                        <a:lnSpc>
                          <a:spcPct val="100000"/>
                        </a:lnSpc>
                        <a:spcBef>
                          <a:spcPts val="225"/>
                        </a:spcBef>
                      </a:pPr>
                      <a:r>
                        <a:rPr dirty="0" sz="1100" spc="-30">
                          <a:latin typeface="Microsoft YaHei"/>
                          <a:cs typeface="Microsoft YaHei"/>
                        </a:rPr>
                        <a:t>应急广播</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807210" marR="123189" indent="-1675130">
                        <a:lnSpc>
                          <a:spcPct val="100000"/>
                        </a:lnSpc>
                        <a:spcBef>
                          <a:spcPts val="225"/>
                        </a:spcBef>
                      </a:pPr>
                      <a:r>
                        <a:rPr dirty="0" sz="1100" spc="-25">
                          <a:latin typeface="Microsoft YaHei"/>
                          <a:cs typeface="Microsoft YaHei"/>
                        </a:rPr>
                        <a:t>满足治安管理、城市管理、交通管理、应急指挥、灾难事故</a:t>
                      </a:r>
                      <a:r>
                        <a:rPr dirty="0" sz="1100" spc="-35">
                          <a:latin typeface="Microsoft YaHei"/>
                          <a:cs typeface="Microsoft YaHei"/>
                        </a:rPr>
                        <a:t>预警</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235585">
                <a:tc>
                  <a:txBody>
                    <a:bodyPr/>
                    <a:lstStyle/>
                    <a:p>
                      <a:pPr algn="ctr" marL="1270">
                        <a:lnSpc>
                          <a:spcPct val="100000"/>
                        </a:lnSpc>
                        <a:spcBef>
                          <a:spcPts val="225"/>
                        </a:spcBef>
                      </a:pPr>
                      <a:r>
                        <a:rPr dirty="0" sz="1100" spc="-50">
                          <a:latin typeface="Microsoft YaHei"/>
                          <a:cs typeface="Microsoft YaHei"/>
                        </a:rPr>
                        <a:t>7</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635">
                        <a:lnSpc>
                          <a:spcPct val="100000"/>
                        </a:lnSpc>
                        <a:spcBef>
                          <a:spcPts val="225"/>
                        </a:spcBef>
                      </a:pPr>
                      <a:r>
                        <a:rPr dirty="0" sz="1100" spc="-30">
                          <a:latin typeface="Microsoft YaHei"/>
                          <a:cs typeface="Microsoft YaHei"/>
                        </a:rPr>
                        <a:t>信息发布</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c>
                  <a:txBody>
                    <a:bodyPr/>
                    <a:lstStyle/>
                    <a:p>
                      <a:pPr algn="ctr" marL="1270">
                        <a:lnSpc>
                          <a:spcPct val="100000"/>
                        </a:lnSpc>
                        <a:spcBef>
                          <a:spcPts val="225"/>
                        </a:spcBef>
                      </a:pPr>
                      <a:r>
                        <a:rPr dirty="0" sz="1100" spc="-25">
                          <a:latin typeface="Microsoft YaHei"/>
                          <a:cs typeface="Microsoft YaHei"/>
                        </a:rPr>
                        <a:t>发布产品广告、政府部门公共信息、警示信息、提示信息</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3F4"/>
                    </a:solidFill>
                  </a:tcPr>
                </a:tc>
              </a:tr>
              <a:tr h="571500">
                <a:tc>
                  <a:txBody>
                    <a:bodyPr/>
                    <a:lstStyle/>
                    <a:p>
                      <a:pPr algn="ctr" marL="1270">
                        <a:lnSpc>
                          <a:spcPct val="100000"/>
                        </a:lnSpc>
                        <a:spcBef>
                          <a:spcPts val="225"/>
                        </a:spcBef>
                      </a:pPr>
                      <a:r>
                        <a:rPr dirty="0" sz="1100" spc="-50">
                          <a:latin typeface="Microsoft YaHei"/>
                          <a:cs typeface="Microsoft YaHei"/>
                        </a:rPr>
                        <a:t>8</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algn="ctr" marL="1270">
                        <a:lnSpc>
                          <a:spcPct val="100000"/>
                        </a:lnSpc>
                        <a:spcBef>
                          <a:spcPts val="225"/>
                        </a:spcBef>
                      </a:pPr>
                      <a:r>
                        <a:rPr dirty="0" sz="1100" spc="-30">
                          <a:latin typeface="Microsoft YaHei"/>
                          <a:cs typeface="Microsoft YaHei"/>
                        </a:rPr>
                        <a:t>紧急求助</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c>
                  <a:txBody>
                    <a:bodyPr/>
                    <a:lstStyle/>
                    <a:p>
                      <a:pPr marL="1807845" marR="123189" indent="-1675130">
                        <a:lnSpc>
                          <a:spcPct val="100000"/>
                        </a:lnSpc>
                        <a:spcBef>
                          <a:spcPts val="225"/>
                        </a:spcBef>
                      </a:pPr>
                      <a:r>
                        <a:rPr dirty="0" sz="1100" spc="-25">
                          <a:latin typeface="Microsoft YaHei"/>
                          <a:cs typeface="Microsoft YaHei"/>
                        </a:rPr>
                        <a:t>紧急突发状况，可通过灯杆上的“紧急求助按钮”第一时间</a:t>
                      </a:r>
                      <a:r>
                        <a:rPr dirty="0" sz="1100" spc="-35">
                          <a:latin typeface="Microsoft YaHei"/>
                          <a:cs typeface="Microsoft YaHei"/>
                        </a:rPr>
                        <a:t>求助</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3F9FA"/>
                    </a:solidFill>
                  </a:tcPr>
                </a:tc>
              </a:tr>
              <a:tr h="403860">
                <a:tc>
                  <a:txBody>
                    <a:bodyPr/>
                    <a:lstStyle/>
                    <a:p>
                      <a:pPr algn="ctr" marL="1905">
                        <a:lnSpc>
                          <a:spcPct val="100000"/>
                        </a:lnSpc>
                        <a:spcBef>
                          <a:spcPts val="225"/>
                        </a:spcBef>
                      </a:pPr>
                      <a:r>
                        <a:rPr dirty="0" sz="1100" spc="-50">
                          <a:latin typeface="Microsoft YaHei"/>
                          <a:cs typeface="Microsoft YaHei"/>
                        </a:rPr>
                        <a:t>9</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solidFill>
                      <a:srgbClr val="E7F3F4"/>
                    </a:solidFill>
                  </a:tcPr>
                </a:tc>
                <a:tc>
                  <a:txBody>
                    <a:bodyPr/>
                    <a:lstStyle/>
                    <a:p>
                      <a:pPr algn="ctr" marL="635">
                        <a:lnSpc>
                          <a:spcPct val="100000"/>
                        </a:lnSpc>
                        <a:spcBef>
                          <a:spcPts val="225"/>
                        </a:spcBef>
                      </a:pPr>
                      <a:r>
                        <a:rPr dirty="0" sz="1100" spc="-35">
                          <a:latin typeface="Microsoft YaHei"/>
                          <a:cs typeface="Microsoft YaHei"/>
                        </a:rPr>
                        <a:t>充电桩</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solidFill>
                      <a:srgbClr val="E7F3F4"/>
                    </a:solidFill>
                  </a:tcPr>
                </a:tc>
                <a:tc>
                  <a:txBody>
                    <a:bodyPr/>
                    <a:lstStyle/>
                    <a:p>
                      <a:pPr algn="ctr" marL="1905">
                        <a:lnSpc>
                          <a:spcPct val="100000"/>
                        </a:lnSpc>
                        <a:spcBef>
                          <a:spcPts val="225"/>
                        </a:spcBef>
                      </a:pPr>
                      <a:r>
                        <a:rPr dirty="0" sz="1100" spc="-25">
                          <a:latin typeface="Microsoft YaHei"/>
                          <a:cs typeface="Microsoft YaHei"/>
                        </a:rPr>
                        <a:t>集成交流充电桩，为电动汽车提供便捷的充电服务</a:t>
                      </a:r>
                      <a:endParaRPr sz="1100">
                        <a:latin typeface="Microsoft YaHei"/>
                        <a:cs typeface="Microsoft YaHei"/>
                      </a:endParaRPr>
                    </a:p>
                  </a:txBody>
                  <a:tcPr marL="0" marR="0" marB="0" marT="28575">
                    <a:lnL w="12700">
                      <a:solidFill>
                        <a:srgbClr val="FFFFFF"/>
                      </a:solidFill>
                      <a:prstDash val="solid"/>
                    </a:lnL>
                    <a:lnR w="12700">
                      <a:solidFill>
                        <a:srgbClr val="FFFFFF"/>
                      </a:solidFill>
                      <a:prstDash val="solid"/>
                    </a:lnR>
                    <a:lnT w="12700">
                      <a:solidFill>
                        <a:srgbClr val="FFFFFF"/>
                      </a:solidFill>
                      <a:prstDash val="solid"/>
                    </a:lnT>
                    <a:solidFill>
                      <a:srgbClr val="E7F3F4"/>
                    </a:solidFill>
                  </a:tcPr>
                </a:tc>
              </a:tr>
            </a:tbl>
          </a:graphicData>
        </a:graphic>
      </p:graphicFrame>
      <p:sp>
        <p:nvSpPr>
          <p:cNvPr id="19" name="object 19" descr=""/>
          <p:cNvSpPr/>
          <p:nvPr/>
        </p:nvSpPr>
        <p:spPr>
          <a:xfrm>
            <a:off x="3270250" y="4967588"/>
            <a:ext cx="5415280" cy="0"/>
          </a:xfrm>
          <a:custGeom>
            <a:avLst/>
            <a:gdLst/>
            <a:ahLst/>
            <a:cxnLst/>
            <a:rect l="l" t="t" r="r" b="b"/>
            <a:pathLst>
              <a:path w="5415280" h="0">
                <a:moveTo>
                  <a:pt x="0" y="0"/>
                </a:moveTo>
                <a:lnTo>
                  <a:pt x="5415280" y="0"/>
                </a:lnTo>
              </a:path>
            </a:pathLst>
          </a:custGeom>
          <a:ln w="12700">
            <a:solidFill>
              <a:srgbClr val="FFFFFF"/>
            </a:solidFill>
          </a:ln>
        </p:spPr>
        <p:txBody>
          <a:bodyPr wrap="square" lIns="0" tIns="0" rIns="0" bIns="0" rtlCol="0"/>
          <a:lstStyle/>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8" y="153605"/>
            <a:ext cx="3228340" cy="513080"/>
          </a:xfrm>
          <a:prstGeom prst="rect"/>
        </p:spPr>
        <p:txBody>
          <a:bodyPr wrap="square" lIns="0" tIns="12065" rIns="0" bIns="0" rtlCol="0" vert="horz">
            <a:spAutoFit/>
          </a:bodyPr>
          <a:lstStyle/>
          <a:p>
            <a:pPr marL="12700">
              <a:lnSpc>
                <a:spcPct val="100000"/>
              </a:lnSpc>
              <a:spcBef>
                <a:spcPts val="95"/>
              </a:spcBef>
            </a:pPr>
            <a:r>
              <a:rPr dirty="0" spc="-330"/>
              <a:t>智慧路灯</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1057719" y="995730"/>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txBox="1"/>
          <p:nvPr/>
        </p:nvSpPr>
        <p:spPr>
          <a:xfrm>
            <a:off x="861185" y="990400"/>
            <a:ext cx="5521325" cy="1509395"/>
          </a:xfrm>
          <a:prstGeom prst="rect">
            <a:avLst/>
          </a:prstGeom>
        </p:spPr>
        <p:txBody>
          <a:bodyPr wrap="square" lIns="0" tIns="12700" rIns="0" bIns="0" rtlCol="0" vert="horz">
            <a:spAutoFit/>
          </a:bodyPr>
          <a:lstStyle/>
          <a:p>
            <a:pPr marL="71056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a:lnSpc>
                <a:spcPct val="100000"/>
              </a:lnSpc>
              <a:spcBef>
                <a:spcPts val="110"/>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latin typeface="Microsoft YaHei"/>
                <a:cs typeface="Microsoft YaHei"/>
              </a:rPr>
              <a:t>一根灯杆集成各项功能，达到共建共享、集约建设、智能管理的目的。</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解决多项功能在供电、引电、选址、架杆重复建设问题。</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智慧灯杆杆体多样化、可匹配园区风格个性化定制，功能全面可提升园区品质。</a:t>
            </a:r>
            <a:endParaRPr sz="1200">
              <a:latin typeface="Microsoft YaHei"/>
              <a:cs typeface="Microsoft YaHei"/>
            </a:endParaRPr>
          </a:p>
          <a:p>
            <a:pPr marL="173355" indent="-160655">
              <a:lnSpc>
                <a:spcPct val="100000"/>
              </a:lnSpc>
              <a:spcBef>
                <a:spcPts val="720"/>
              </a:spcBef>
              <a:buFont typeface="Wingdings"/>
              <a:buChar char=""/>
              <a:tabLst>
                <a:tab pos="173355" algn="l"/>
              </a:tabLst>
            </a:pPr>
            <a:r>
              <a:rPr dirty="0" sz="1200" spc="-5">
                <a:latin typeface="Microsoft YaHei"/>
                <a:cs typeface="Microsoft YaHei"/>
              </a:rPr>
              <a:t>智慧灯杆上的信息发布大屏，可用于商业化运作，提高物业增值收入。</a:t>
            </a:r>
            <a:endParaRPr sz="1200">
              <a:latin typeface="Microsoft YaHei"/>
              <a:cs typeface="Microsoft YaHei"/>
            </a:endParaRPr>
          </a:p>
        </p:txBody>
      </p:sp>
      <p:pic>
        <p:nvPicPr>
          <p:cNvPr id="5" name="object 5"/>
          <p:cNvPicPr/>
          <p:nvPr/>
        </p:nvPicPr>
        <p:blipFill>
          <a:blip r:embed="rId2" cstate="print"/>
          <a:stretch>
            <a:fillRect/>
          </a:stretch>
        </p:blipFill>
        <p:spPr>
          <a:xfrm>
            <a:off x="110972" y="2687383"/>
            <a:ext cx="2480714" cy="1014534"/>
          </a:xfrm>
          <a:prstGeom prst="rect">
            <a:avLst/>
          </a:prstGeom>
        </p:spPr>
      </p:pic>
      <p:pic>
        <p:nvPicPr>
          <p:cNvPr id="6" name="object 6"/>
          <p:cNvPicPr/>
          <p:nvPr/>
        </p:nvPicPr>
        <p:blipFill>
          <a:blip r:embed="rId3" cstate="print"/>
          <a:stretch>
            <a:fillRect/>
          </a:stretch>
        </p:blipFill>
        <p:spPr>
          <a:xfrm>
            <a:off x="110972" y="3859619"/>
            <a:ext cx="2480714" cy="1051305"/>
          </a:xfrm>
          <a:prstGeom prst="rect">
            <a:avLst/>
          </a:prstGeom>
        </p:spPr>
      </p:pic>
      <p:pic>
        <p:nvPicPr>
          <p:cNvPr id="7" name="object 7"/>
          <p:cNvPicPr/>
          <p:nvPr/>
        </p:nvPicPr>
        <p:blipFill>
          <a:blip r:embed="rId4" cstate="print"/>
          <a:stretch>
            <a:fillRect/>
          </a:stretch>
        </p:blipFill>
        <p:spPr>
          <a:xfrm>
            <a:off x="2881458" y="2623584"/>
            <a:ext cx="1998222" cy="2335001"/>
          </a:xfrm>
          <a:prstGeom prst="rect">
            <a:avLst/>
          </a:prstGeom>
        </p:spPr>
      </p:pic>
      <p:pic>
        <p:nvPicPr>
          <p:cNvPr id="8" name="object 8"/>
          <p:cNvPicPr/>
          <p:nvPr/>
        </p:nvPicPr>
        <p:blipFill>
          <a:blip r:embed="rId5" cstate="print"/>
          <a:stretch>
            <a:fillRect/>
          </a:stretch>
        </p:blipFill>
        <p:spPr>
          <a:xfrm>
            <a:off x="5077675" y="2679408"/>
            <a:ext cx="1971711" cy="2273561"/>
          </a:xfrm>
          <a:prstGeom prst="rect">
            <a:avLst/>
          </a:prstGeom>
        </p:spPr>
      </p:pic>
      <p:pic>
        <p:nvPicPr>
          <p:cNvPr id="9" name="object 9"/>
          <p:cNvPicPr/>
          <p:nvPr/>
        </p:nvPicPr>
        <p:blipFill>
          <a:blip r:embed="rId6" cstate="print"/>
          <a:stretch>
            <a:fillRect/>
          </a:stretch>
        </p:blipFill>
        <p:spPr>
          <a:xfrm>
            <a:off x="7296911" y="2584704"/>
            <a:ext cx="1478279" cy="2558795"/>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4097" y="153605"/>
            <a:ext cx="3228340" cy="513080"/>
          </a:xfrm>
          <a:prstGeom prst="rect"/>
        </p:spPr>
        <p:txBody>
          <a:bodyPr wrap="square" lIns="0" tIns="12065" rIns="0" bIns="0" rtlCol="0" vert="horz">
            <a:spAutoFit/>
          </a:bodyPr>
          <a:lstStyle/>
          <a:p>
            <a:pPr marL="12700">
              <a:lnSpc>
                <a:spcPct val="100000"/>
              </a:lnSpc>
              <a:spcBef>
                <a:spcPts val="95"/>
              </a:spcBef>
            </a:pPr>
            <a:r>
              <a:rPr dirty="0" spc="-330"/>
              <a:t>环境监控</a:t>
            </a:r>
            <a:r>
              <a:rPr dirty="0" sz="2000" spc="-315" b="0">
                <a:solidFill>
                  <a:srgbClr val="FF0000"/>
                </a:solidFill>
                <a:latin typeface="SimSun"/>
                <a:cs typeface="SimSun"/>
              </a:rPr>
              <a:t>●</a:t>
            </a:r>
            <a:r>
              <a:rPr dirty="0" spc="-270"/>
              <a:t>功能特点</a:t>
            </a:r>
            <a:endParaRPr sz="2000">
              <a:latin typeface="SimSun"/>
              <a:cs typeface="SimSun"/>
            </a:endParaRPr>
          </a:p>
        </p:txBody>
      </p:sp>
      <p:pic>
        <p:nvPicPr>
          <p:cNvPr id="3" name="object 3"/>
          <p:cNvPicPr/>
          <p:nvPr/>
        </p:nvPicPr>
        <p:blipFill>
          <a:blip r:embed="rId2" cstate="print"/>
          <a:stretch>
            <a:fillRect/>
          </a:stretch>
        </p:blipFill>
        <p:spPr>
          <a:xfrm>
            <a:off x="762000" y="2945510"/>
            <a:ext cx="1425469" cy="1699916"/>
          </a:xfrm>
          <a:prstGeom prst="rect">
            <a:avLst/>
          </a:prstGeom>
        </p:spPr>
      </p:pic>
      <p:sp>
        <p:nvSpPr>
          <p:cNvPr id="4" name="object 4" descr=""/>
          <p:cNvSpPr/>
          <p:nvPr/>
        </p:nvSpPr>
        <p:spPr>
          <a:xfrm>
            <a:off x="2281664" y="295837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p:txBody>
      </p:sp>
      <p:sp>
        <p:nvSpPr>
          <p:cNvPr id="5" name="object 5" descr=""/>
          <p:cNvSpPr/>
          <p:nvPr/>
        </p:nvSpPr>
        <p:spPr>
          <a:xfrm>
            <a:off x="2281664" y="323119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p:txBody>
      </p:sp>
      <p:sp>
        <p:nvSpPr>
          <p:cNvPr id="6" name="object 6" descr=""/>
          <p:cNvSpPr/>
          <p:nvPr/>
        </p:nvSpPr>
        <p:spPr>
          <a:xfrm>
            <a:off x="2281664" y="3773853"/>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p:txBody>
      </p:sp>
      <p:sp>
        <p:nvSpPr>
          <p:cNvPr id="7" name="object 7" descr=""/>
          <p:cNvSpPr/>
          <p:nvPr/>
        </p:nvSpPr>
        <p:spPr>
          <a:xfrm>
            <a:off x="2281664" y="3502524"/>
            <a:ext cx="76200" cy="76200"/>
          </a:xfrm>
          <a:custGeom>
            <a:avLst/>
            <a:gdLst/>
            <a:ahLst/>
            <a:cxnLst/>
            <a:rect l="l" t="t" r="r" b="b"/>
            <a:pathLst>
              <a:path w="76200" h="76200">
                <a:moveTo>
                  <a:pt x="76200" y="0"/>
                </a:moveTo>
                <a:lnTo>
                  <a:pt x="0" y="38099"/>
                </a:lnTo>
                <a:lnTo>
                  <a:pt x="76200" y="76199"/>
                </a:lnTo>
                <a:lnTo>
                  <a:pt x="76200" y="0"/>
                </a:lnTo>
                <a:close/>
              </a:path>
            </a:pathLst>
          </a:custGeom>
          <a:solidFill>
            <a:srgbClr val="000000"/>
          </a:solidFill>
        </p:spPr>
        <p:txBody>
          <a:bodyPr wrap="square" lIns="0" tIns="0" rIns="0" bIns="0" rtlCol="0"/>
          <a:lstStyle/>
          <a:p/>
        </p:txBody>
      </p:sp>
      <p:sp>
        <p:nvSpPr>
          <p:cNvPr id="8" name="object 8" descr=""/>
          <p:cNvSpPr/>
          <p:nvPr/>
        </p:nvSpPr>
        <p:spPr>
          <a:xfrm>
            <a:off x="2281664" y="4046680"/>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p:txBody>
      </p:sp>
      <p:sp>
        <p:nvSpPr>
          <p:cNvPr id="9" name="object 9" descr=""/>
          <p:cNvSpPr/>
          <p:nvPr/>
        </p:nvSpPr>
        <p:spPr>
          <a:xfrm>
            <a:off x="2281664" y="4334497"/>
            <a:ext cx="76200" cy="76200"/>
          </a:xfrm>
          <a:custGeom>
            <a:avLst/>
            <a:gdLst/>
            <a:ahLst/>
            <a:cxnLst/>
            <a:rect l="l" t="t" r="r" b="b"/>
            <a:pathLst>
              <a:path w="76200" h="76200">
                <a:moveTo>
                  <a:pt x="76200" y="0"/>
                </a:moveTo>
                <a:lnTo>
                  <a:pt x="0" y="38100"/>
                </a:lnTo>
                <a:lnTo>
                  <a:pt x="76200" y="76200"/>
                </a:lnTo>
                <a:lnTo>
                  <a:pt x="76200" y="0"/>
                </a:lnTo>
                <a:close/>
              </a:path>
            </a:pathLst>
          </a:custGeom>
          <a:solidFill>
            <a:srgbClr val="000000"/>
          </a:solidFill>
        </p:spPr>
        <p:txBody>
          <a:bodyPr wrap="square" lIns="0" tIns="0" rIns="0" bIns="0" rtlCol="0"/>
          <a:lstStyle/>
          <a:p/>
        </p:txBody>
      </p:sp>
      <p:graphicFrame>
        <p:nvGraphicFramePr>
          <p:cNvPr id="10" name="object 10" descr=""/>
          <p:cNvGraphicFramePr>
            <a:graphicFrameLocks noGrp="1"/>
          </p:cNvGraphicFramePr>
          <p:nvPr/>
        </p:nvGraphicFramePr>
        <p:xfrm>
          <a:off x="2340399" y="2871787"/>
          <a:ext cx="3250565" cy="1900555"/>
        </p:xfrm>
        <a:graphic>
          <a:graphicData uri="http://schemas.openxmlformats.org/drawingml/2006/table">
            <a:tbl>
              <a:tblPr firstRow="1" bandRow="1">
                <a:tableStyleId>{2D5ABB26-0587-4C30-8999-92F81FD0307C}</a:tableStyleId>
              </a:tblPr>
              <a:tblGrid>
                <a:gridCol w="411480"/>
                <a:gridCol w="2752090"/>
              </a:tblGrid>
              <a:tr h="119380">
                <a:tc>
                  <a:txBody>
                    <a:bodyPr/>
                    <a:lstStyle/>
                    <a:p>
                      <a:pPr>
                        <a:lnSpc>
                          <a:spcPct val="100000"/>
                        </a:lnSpc>
                      </a:pPr>
                      <a:endParaRPr sz="600">
                        <a:latin typeface="Times New Roman"/>
                        <a:cs typeface="Times New Roman"/>
                      </a:endParaRPr>
                    </a:p>
                  </a:txBody>
                  <a:tcPr marL="0" marR="0" marB="0" marT="0">
                    <a:lnR w="9525">
                      <a:solidFill>
                        <a:srgbClr val="000000"/>
                      </a:solidFill>
                      <a:prstDash val="solid"/>
                    </a:lnR>
                    <a:lnB w="12700">
                      <a:solidFill>
                        <a:srgbClr val="000000"/>
                      </a:solidFill>
                      <a:prstDash val="solid"/>
                    </a:lnB>
                  </a:tcPr>
                </a:tc>
                <a:tc rowSpan="2">
                  <a:txBody>
                    <a:bodyPr/>
                    <a:lstStyle/>
                    <a:p>
                      <a:pPr marL="91440">
                        <a:lnSpc>
                          <a:spcPct val="100000"/>
                        </a:lnSpc>
                        <a:spcBef>
                          <a:spcPts val="325"/>
                        </a:spcBef>
                      </a:pPr>
                      <a:r>
                        <a:rPr dirty="0" sz="900" spc="-5">
                          <a:latin typeface="Microsoft YaHei"/>
                          <a:cs typeface="Microsoft YaHei"/>
                        </a:rPr>
                        <a:t>雨量监测、光辐射监测</a:t>
                      </a:r>
                      <a:endParaRPr sz="900">
                        <a:latin typeface="Microsoft YaHei"/>
                        <a:cs typeface="Microsoft YaHei"/>
                      </a:endParaRPr>
                    </a:p>
                  </a:txBody>
                  <a:tcPr marL="0" marR="0" marB="0" marT="4127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2080">
                <a:tc rowSpan="2">
                  <a:txBody>
                    <a:bodyPr/>
                    <a:lstStyle/>
                    <a:p>
                      <a:pPr>
                        <a:lnSpc>
                          <a:spcPct val="100000"/>
                        </a:lnSpc>
                      </a:pPr>
                      <a:endParaRPr sz="1400">
                        <a:latin typeface="Times New Roman"/>
                        <a:cs typeface="Times New Roman"/>
                      </a:endParaRPr>
                    </a:p>
                  </a:txBody>
                  <a:tcPr marL="0" marR="0" marB="0" marT="0">
                    <a:lnT w="12700">
                      <a:solidFill>
                        <a:srgbClr val="000000"/>
                      </a:solidFill>
                      <a:prstDash val="solid"/>
                    </a:lnT>
                    <a:lnB w="12700">
                      <a:solidFill>
                        <a:srgbClr val="000000"/>
                      </a:solidFill>
                      <a:prstDash val="solid"/>
                    </a:lnB>
                  </a:tcPr>
                </a:tc>
                <a:tc vMerge="1">
                  <a:txBody>
                    <a:bodyPr/>
                    <a:lstStyle/>
                    <a:p>
                      <a:pPr/>
                    </a:p>
                  </a:txBody>
                  <a:tcPr marL="0" marR="0" marB="0" marT="4127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9700">
                <a:tc vMerge="1">
                  <a:txBody>
                    <a:bodyPr/>
                    <a:lstStyle/>
                    <a:p>
                      <a:pPr/>
                    </a:p>
                  </a:txBody>
                  <a:tcPr marL="0" marR="0" marB="0" marT="0">
                    <a:lnT w="12700">
                      <a:solidFill>
                        <a:srgbClr val="000000"/>
                      </a:solidFill>
                      <a:prstDash val="solid"/>
                    </a:lnT>
                    <a:lnB w="12700">
                      <a:solidFill>
                        <a:srgbClr val="000000"/>
                      </a:solidFill>
                      <a:prstDash val="solid"/>
                    </a:lnB>
                  </a:tcPr>
                </a:tc>
                <a:tc rowSpan="2">
                  <a:txBody>
                    <a:bodyPr/>
                    <a:lstStyle/>
                    <a:p>
                      <a:pPr marL="91440">
                        <a:lnSpc>
                          <a:spcPct val="100000"/>
                        </a:lnSpc>
                        <a:spcBef>
                          <a:spcPts val="480"/>
                        </a:spcBef>
                      </a:pPr>
                      <a:r>
                        <a:rPr dirty="0" sz="900">
                          <a:latin typeface="Microsoft YaHei"/>
                          <a:cs typeface="Microsoft YaHei"/>
                        </a:rPr>
                        <a:t>超声风监测（风速、风向</a:t>
                      </a:r>
                      <a:r>
                        <a:rPr dirty="0" sz="900" spc="-50">
                          <a:latin typeface="Microsoft YaHei"/>
                          <a:cs typeface="Microsoft YaHei"/>
                        </a:rPr>
                        <a:t>）</a:t>
                      </a:r>
                      <a:endParaRPr sz="900">
                        <a:latin typeface="Microsoft YaHei"/>
                        <a:cs typeface="Microsoft YaHei"/>
                      </a:endParaR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0810">
                <a:tc rowSpan="2">
                  <a:txBody>
                    <a:bodyPr/>
                    <a:lstStyle/>
                    <a:p>
                      <a:pPr>
                        <a:lnSpc>
                          <a:spcPct val="100000"/>
                        </a:lnSpc>
                      </a:pPr>
                      <a:endParaRPr sz="1400">
                        <a:latin typeface="Times New Roman"/>
                        <a:cs typeface="Times New Roman"/>
                      </a:endParaRPr>
                    </a:p>
                  </a:txBody>
                  <a:tcPr marL="0" marR="0" marB="0" marT="0">
                    <a:lnT w="12700">
                      <a:solidFill>
                        <a:srgbClr val="000000"/>
                      </a:solidFill>
                      <a:prstDash val="solid"/>
                    </a:lnT>
                    <a:lnB w="12700">
                      <a:solidFill>
                        <a:srgbClr val="000000"/>
                      </a:solidFill>
                      <a:prstDash val="solid"/>
                    </a:lnB>
                  </a:tcPr>
                </a:tc>
                <a:tc vMerge="1">
                  <a:txBody>
                    <a:bodyPr/>
                    <a:lstStyle/>
                    <a:p>
                      <a:p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9700">
                <a:tc vMerge="1">
                  <a:txBody>
                    <a:bodyPr/>
                    <a:lstStyle/>
                    <a:p>
                      <a:pPr/>
                    </a:p>
                  </a:txBody>
                  <a:tcPr marL="0" marR="0" marB="0" marT="0">
                    <a:lnT w="12700">
                      <a:solidFill>
                        <a:srgbClr val="000000"/>
                      </a:solidFill>
                      <a:prstDash val="solid"/>
                    </a:lnT>
                    <a:lnB w="12700">
                      <a:solidFill>
                        <a:srgbClr val="000000"/>
                      </a:solidFill>
                      <a:prstDash val="solid"/>
                    </a:lnB>
                  </a:tcPr>
                </a:tc>
                <a:tc rowSpan="2">
                  <a:txBody>
                    <a:bodyPr/>
                    <a:lstStyle/>
                    <a:p>
                      <a:pPr marL="91440">
                        <a:lnSpc>
                          <a:spcPct val="100000"/>
                        </a:lnSpc>
                        <a:spcBef>
                          <a:spcPts val="480"/>
                        </a:spcBef>
                      </a:pPr>
                      <a:r>
                        <a:rPr dirty="0" sz="900" spc="-10">
                          <a:latin typeface="Microsoft YaHei"/>
                          <a:cs typeface="Microsoft YaHei"/>
                        </a:rPr>
                        <a:t>主采集板、气压监测</a:t>
                      </a:r>
                      <a:endParaRPr sz="900">
                        <a:latin typeface="Microsoft YaHei"/>
                        <a:cs typeface="Microsoft YaHei"/>
                      </a:endParaR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0175">
                <a:tc rowSpan="2">
                  <a:txBody>
                    <a:bodyPr/>
                    <a:lstStyle/>
                    <a:p>
                      <a:pPr>
                        <a:lnSpc>
                          <a:spcPct val="100000"/>
                        </a:lnSpc>
                      </a:pPr>
                      <a:endParaRPr sz="1400">
                        <a:latin typeface="Times New Roman"/>
                        <a:cs typeface="Times New Roman"/>
                      </a:endParaRPr>
                    </a:p>
                  </a:txBody>
                  <a:tcPr marL="0" marR="0" marB="0" marT="0">
                    <a:lnT w="12700">
                      <a:solidFill>
                        <a:srgbClr val="000000"/>
                      </a:solidFill>
                      <a:prstDash val="solid"/>
                    </a:lnT>
                    <a:lnB w="12700">
                      <a:solidFill>
                        <a:srgbClr val="000000"/>
                      </a:solidFill>
                      <a:prstDash val="solid"/>
                    </a:lnB>
                  </a:tcPr>
                </a:tc>
                <a:tc vMerge="1">
                  <a:txBody>
                    <a:bodyPr/>
                    <a:lstStyle/>
                    <a:p>
                      <a:p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40335">
                <a:tc vMerge="1">
                  <a:txBody>
                    <a:bodyPr/>
                    <a:lstStyle/>
                    <a:p>
                      <a:pPr/>
                    </a:p>
                  </a:txBody>
                  <a:tcPr marL="0" marR="0" marB="0" marT="0">
                    <a:lnT w="12700">
                      <a:solidFill>
                        <a:srgbClr val="000000"/>
                      </a:solidFill>
                      <a:prstDash val="solid"/>
                    </a:lnT>
                    <a:lnB w="12700">
                      <a:solidFill>
                        <a:srgbClr val="000000"/>
                      </a:solidFill>
                      <a:prstDash val="solid"/>
                    </a:lnB>
                  </a:tcPr>
                </a:tc>
                <a:tc rowSpan="2">
                  <a:txBody>
                    <a:bodyPr/>
                    <a:lstStyle/>
                    <a:p>
                      <a:pPr marL="91440">
                        <a:lnSpc>
                          <a:spcPct val="100000"/>
                        </a:lnSpc>
                        <a:spcBef>
                          <a:spcPts val="500"/>
                        </a:spcBef>
                      </a:pPr>
                      <a:r>
                        <a:rPr dirty="0" sz="900" spc="-10">
                          <a:latin typeface="Microsoft YaHei"/>
                          <a:cs typeface="Microsoft YaHei"/>
                        </a:rPr>
                        <a:t>温湿度、噪声监测</a:t>
                      </a:r>
                      <a:endParaRPr sz="900">
                        <a:latin typeface="Microsoft YaHei"/>
                        <a:cs typeface="Microsoft YaHei"/>
                      </a:endParaRPr>
                    </a:p>
                  </a:txBody>
                  <a:tcPr marL="0" marR="0" marB="0" marT="6350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2080">
                <a:tc rowSpan="2">
                  <a:txBody>
                    <a:bodyPr/>
                    <a:lstStyle/>
                    <a:p>
                      <a:pPr>
                        <a:lnSpc>
                          <a:spcPct val="100000"/>
                        </a:lnSpc>
                      </a:pPr>
                      <a:endParaRPr sz="1400">
                        <a:latin typeface="Times New Roman"/>
                        <a:cs typeface="Times New Roman"/>
                      </a:endParaRPr>
                    </a:p>
                  </a:txBody>
                  <a:tcPr marL="0" marR="0" marB="0" marT="0">
                    <a:lnT w="12700">
                      <a:solidFill>
                        <a:srgbClr val="000000"/>
                      </a:solidFill>
                      <a:prstDash val="solid"/>
                    </a:lnT>
                    <a:lnB w="12700">
                      <a:solidFill>
                        <a:srgbClr val="000000"/>
                      </a:solidFill>
                      <a:prstDash val="solid"/>
                    </a:lnB>
                  </a:tcPr>
                </a:tc>
                <a:tc vMerge="1">
                  <a:txBody>
                    <a:bodyPr/>
                    <a:lstStyle/>
                    <a:p>
                      <a:pPr/>
                    </a:p>
                  </a:txBody>
                  <a:tcPr marL="0" marR="0" marB="0" marT="6350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9700">
                <a:tc vMerge="1">
                  <a:txBody>
                    <a:bodyPr/>
                    <a:lstStyle/>
                    <a:p>
                      <a:pPr/>
                    </a:p>
                  </a:txBody>
                  <a:tcPr marL="0" marR="0" marB="0" marT="0">
                    <a:lnT w="12700">
                      <a:solidFill>
                        <a:srgbClr val="000000"/>
                      </a:solidFill>
                      <a:prstDash val="solid"/>
                    </a:lnT>
                    <a:lnB w="12700">
                      <a:solidFill>
                        <a:srgbClr val="000000"/>
                      </a:solidFill>
                      <a:prstDash val="solid"/>
                    </a:lnB>
                  </a:tcPr>
                </a:tc>
                <a:tc rowSpan="2">
                  <a:txBody>
                    <a:bodyPr/>
                    <a:lstStyle/>
                    <a:p>
                      <a:pPr marL="91440">
                        <a:lnSpc>
                          <a:spcPct val="100000"/>
                        </a:lnSpc>
                        <a:spcBef>
                          <a:spcPts val="480"/>
                        </a:spcBef>
                      </a:pPr>
                      <a:r>
                        <a:rPr dirty="0" sz="900">
                          <a:latin typeface="Microsoft YaHei"/>
                          <a:cs typeface="Microsoft YaHei"/>
                        </a:rPr>
                        <a:t>PM2.5</a:t>
                      </a:r>
                      <a:r>
                        <a:rPr dirty="0" sz="900" spc="-5">
                          <a:latin typeface="Microsoft YaHei"/>
                          <a:cs typeface="Microsoft YaHei"/>
                        </a:rPr>
                        <a:t> / </a:t>
                      </a:r>
                      <a:r>
                        <a:rPr dirty="0" sz="900" spc="-10">
                          <a:latin typeface="Microsoft YaHei"/>
                          <a:cs typeface="Microsoft YaHei"/>
                        </a:rPr>
                        <a:t>PM10（</a:t>
                      </a:r>
                      <a:r>
                        <a:rPr dirty="0" sz="900">
                          <a:latin typeface="Microsoft YaHei"/>
                          <a:cs typeface="Microsoft YaHei"/>
                        </a:rPr>
                        <a:t>扬尘</a:t>
                      </a:r>
                      <a:r>
                        <a:rPr dirty="0" sz="900" spc="-50">
                          <a:latin typeface="Microsoft YaHei"/>
                          <a:cs typeface="Microsoft YaHei"/>
                        </a:rPr>
                        <a:t>）</a:t>
                      </a:r>
                      <a:endParaRPr sz="900">
                        <a:latin typeface="Microsoft YaHei"/>
                        <a:cs typeface="Microsoft YaHei"/>
                      </a:endParaR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33350">
                <a:tc rowSpan="2">
                  <a:txBody>
                    <a:bodyPr/>
                    <a:lstStyle/>
                    <a:p>
                      <a:pPr>
                        <a:lnSpc>
                          <a:spcPct val="100000"/>
                        </a:lnSpc>
                      </a:pPr>
                      <a:endParaRPr sz="1400">
                        <a:latin typeface="Times New Roman"/>
                        <a:cs typeface="Times New Roman"/>
                      </a:endParaRPr>
                    </a:p>
                  </a:txBody>
                  <a:tcPr marL="0" marR="0" marB="0" marT="0">
                    <a:lnT w="12700">
                      <a:solidFill>
                        <a:srgbClr val="000000"/>
                      </a:solidFill>
                      <a:prstDash val="solid"/>
                    </a:lnT>
                    <a:lnB w="12700">
                      <a:solidFill>
                        <a:srgbClr val="000000"/>
                      </a:solidFill>
                      <a:prstDash val="solid"/>
                    </a:lnB>
                  </a:tcPr>
                </a:tc>
                <a:tc vMerge="1">
                  <a:txBody>
                    <a:bodyPr/>
                    <a:lstStyle/>
                    <a:p>
                      <a:pPr/>
                    </a:p>
                  </a:txBody>
                  <a:tcPr marL="0" marR="0" marB="0" marT="6096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154305">
                <a:tc vMerge="1">
                  <a:txBody>
                    <a:bodyPr/>
                    <a:lstStyle/>
                    <a:p>
                      <a:pPr/>
                    </a:p>
                  </a:txBody>
                  <a:tcPr marL="0" marR="0" marB="0" marT="0">
                    <a:lnT w="12700">
                      <a:solidFill>
                        <a:srgbClr val="000000"/>
                      </a:solidFill>
                      <a:prstDash val="solid"/>
                    </a:lnT>
                    <a:lnB w="12700">
                      <a:solidFill>
                        <a:srgbClr val="000000"/>
                      </a:solidFill>
                      <a:prstDash val="solid"/>
                    </a:lnB>
                  </a:tcPr>
                </a:tc>
                <a:tc rowSpan="2">
                  <a:txBody>
                    <a:bodyPr/>
                    <a:lstStyle/>
                    <a:p>
                      <a:pPr marL="91440">
                        <a:lnSpc>
                          <a:spcPct val="100000"/>
                        </a:lnSpc>
                        <a:spcBef>
                          <a:spcPts val="475"/>
                        </a:spcBef>
                      </a:pPr>
                      <a:r>
                        <a:rPr dirty="0" sz="900">
                          <a:latin typeface="Microsoft YaHei"/>
                          <a:cs typeface="Microsoft YaHei"/>
                        </a:rPr>
                        <a:t>气体监测（包括</a:t>
                      </a:r>
                      <a:r>
                        <a:rPr dirty="0" sz="900" spc="-20">
                          <a:latin typeface="Microsoft YaHei"/>
                          <a:cs typeface="Microsoft YaHei"/>
                        </a:rPr>
                        <a:t>CO</a:t>
                      </a:r>
                      <a:r>
                        <a:rPr dirty="0" sz="900">
                          <a:latin typeface="Microsoft YaHei"/>
                          <a:cs typeface="Microsoft YaHei"/>
                        </a:rPr>
                        <a:t>、</a:t>
                      </a:r>
                      <a:r>
                        <a:rPr dirty="0" sz="900" spc="-10">
                          <a:latin typeface="Microsoft YaHei"/>
                          <a:cs typeface="Microsoft YaHei"/>
                        </a:rPr>
                        <a:t>NO2</a:t>
                      </a:r>
                      <a:r>
                        <a:rPr dirty="0" sz="900">
                          <a:latin typeface="Microsoft YaHei"/>
                          <a:cs typeface="Microsoft YaHei"/>
                        </a:rPr>
                        <a:t>、</a:t>
                      </a:r>
                      <a:r>
                        <a:rPr dirty="0" sz="900" spc="-10">
                          <a:latin typeface="Microsoft YaHei"/>
                          <a:cs typeface="Microsoft YaHei"/>
                        </a:rPr>
                        <a:t>SO2</a:t>
                      </a:r>
                      <a:r>
                        <a:rPr dirty="0" sz="900">
                          <a:latin typeface="Microsoft YaHei"/>
                          <a:cs typeface="Microsoft YaHei"/>
                        </a:rPr>
                        <a:t>、</a:t>
                      </a:r>
                      <a:r>
                        <a:rPr dirty="0" sz="900" spc="-10">
                          <a:latin typeface="Microsoft YaHei"/>
                          <a:cs typeface="Microsoft YaHei"/>
                        </a:rPr>
                        <a:t>O3</a:t>
                      </a:r>
                      <a:r>
                        <a:rPr dirty="0" sz="900">
                          <a:latin typeface="Microsoft YaHei"/>
                          <a:cs typeface="Microsoft YaHei"/>
                        </a:rPr>
                        <a:t>等</a:t>
                      </a:r>
                      <a:r>
                        <a:rPr dirty="0" sz="900" spc="-50">
                          <a:latin typeface="Microsoft YaHei"/>
                          <a:cs typeface="Microsoft YaHei"/>
                        </a:rPr>
                        <a:t>）</a:t>
                      </a:r>
                      <a:endParaRPr sz="900">
                        <a:latin typeface="Microsoft YaHei"/>
                        <a:cs typeface="Microsoft YaHei"/>
                      </a:endParaRPr>
                    </a:p>
                  </a:txBody>
                  <a:tcPr marL="0" marR="0" marB="0" marT="6032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r h="408940">
                <a:tc>
                  <a:txBody>
                    <a:bodyPr/>
                    <a:lstStyle/>
                    <a:p>
                      <a:pPr>
                        <a:lnSpc>
                          <a:spcPct val="100000"/>
                        </a:lnSpc>
                      </a:pPr>
                      <a:endParaRPr sz="1400">
                        <a:latin typeface="Times New Roman"/>
                        <a:cs typeface="Times New Roman"/>
                      </a:endParaRPr>
                    </a:p>
                  </a:txBody>
                  <a:tcPr marL="0" marR="0" marB="0" marT="0">
                    <a:lnR w="9525">
                      <a:solidFill>
                        <a:srgbClr val="000000"/>
                      </a:solidFill>
                      <a:prstDash val="solid"/>
                    </a:lnR>
                    <a:lnT w="12700">
                      <a:solidFill>
                        <a:srgbClr val="000000"/>
                      </a:solidFill>
                      <a:prstDash val="solid"/>
                    </a:lnT>
                  </a:tcPr>
                </a:tc>
                <a:tc vMerge="1">
                  <a:txBody>
                    <a:bodyPr/>
                    <a:lstStyle/>
                    <a:p>
                      <a:pPr/>
                    </a:p>
                  </a:txBody>
                  <a:tcPr marL="0" marR="0" marB="0" marT="60325">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r>
            </a:tbl>
          </a:graphicData>
        </a:graphic>
      </p:graphicFrame>
      <p:sp>
        <p:nvSpPr>
          <p:cNvPr id="11" name="object 11" descr=""/>
          <p:cNvSpPr txBox="1"/>
          <p:nvPr/>
        </p:nvSpPr>
        <p:spPr>
          <a:xfrm>
            <a:off x="1125414" y="4673113"/>
            <a:ext cx="443865" cy="193040"/>
          </a:xfrm>
          <a:prstGeom prst="rect">
            <a:avLst/>
          </a:prstGeom>
        </p:spPr>
        <p:txBody>
          <a:bodyPr wrap="square" lIns="0" tIns="12065" rIns="0" bIns="0" rtlCol="0" vert="horz">
            <a:spAutoFit/>
          </a:bodyPr>
          <a:lstStyle/>
          <a:p>
            <a:pPr marL="12700">
              <a:lnSpc>
                <a:spcPct val="100000"/>
              </a:lnSpc>
              <a:spcBef>
                <a:spcPts val="95"/>
              </a:spcBef>
            </a:pPr>
            <a:r>
              <a:rPr dirty="0" sz="1100" spc="-35">
                <a:latin typeface="Microsoft YaHei"/>
                <a:cs typeface="Microsoft YaHei"/>
              </a:rPr>
              <a:t>传感器</a:t>
            </a:r>
            <a:endParaRPr sz="1100">
              <a:latin typeface="Microsoft YaHei"/>
              <a:cs typeface="Microsoft YaHei"/>
            </a:endParaRPr>
          </a:p>
        </p:txBody>
      </p:sp>
      <p:sp>
        <p:nvSpPr>
          <p:cNvPr id="12" name="object 12" descr=""/>
          <p:cNvSpPr txBox="1"/>
          <p:nvPr/>
        </p:nvSpPr>
        <p:spPr>
          <a:xfrm>
            <a:off x="1081921" y="802392"/>
            <a:ext cx="4787900" cy="2082800"/>
          </a:xfrm>
          <a:prstGeom prst="rect">
            <a:avLst/>
          </a:prstGeom>
        </p:spPr>
        <p:txBody>
          <a:bodyPr wrap="square" lIns="0" tIns="149860" rIns="0" bIns="0" rtlCol="0" vert="horz">
            <a:spAutoFit/>
          </a:bodyPr>
          <a:lstStyle/>
          <a:p>
            <a:pPr marL="12700">
              <a:lnSpc>
                <a:spcPct val="100000"/>
              </a:lnSpc>
              <a:spcBef>
                <a:spcPts val="1180"/>
              </a:spcBef>
            </a:pPr>
            <a:r>
              <a:rPr dirty="0" sz="1800" spc="-5">
                <a:latin typeface="Microsoft YaHei"/>
                <a:cs typeface="Microsoft YaHei"/>
              </a:rPr>
              <a:t>环境监测的主要指标有：</a:t>
            </a:r>
            <a:endParaRPr sz="1800">
              <a:latin typeface="Microsoft YaHei"/>
              <a:cs typeface="Microsoft YaHei"/>
            </a:endParaRPr>
          </a:p>
          <a:p>
            <a:pPr marL="191135" indent="-182245">
              <a:lnSpc>
                <a:spcPct val="100000"/>
              </a:lnSpc>
              <a:spcBef>
                <a:spcPts val="1080"/>
              </a:spcBef>
              <a:buSzPct val="94444"/>
              <a:buFont typeface="Wingdings"/>
              <a:buChar char=""/>
              <a:tabLst>
                <a:tab pos="191135" algn="l"/>
              </a:tabLst>
            </a:pPr>
            <a:r>
              <a:rPr dirty="0" sz="1800" spc="-10">
                <a:latin typeface="Microsoft YaHei"/>
                <a:cs typeface="Microsoft YaHei"/>
              </a:rPr>
              <a:t>风向、风速。</a:t>
            </a:r>
            <a:endParaRPr sz="1800">
              <a:latin typeface="Microsoft YaHei"/>
              <a:cs typeface="Microsoft YaHei"/>
            </a:endParaRPr>
          </a:p>
          <a:p>
            <a:pPr marL="191135" indent="-182245">
              <a:lnSpc>
                <a:spcPct val="100000"/>
              </a:lnSpc>
              <a:spcBef>
                <a:spcPts val="1080"/>
              </a:spcBef>
              <a:buSzPct val="94444"/>
              <a:buFont typeface="Wingdings"/>
              <a:buChar char=""/>
              <a:tabLst>
                <a:tab pos="191135" algn="l"/>
              </a:tabLst>
            </a:pPr>
            <a:r>
              <a:rPr dirty="0" sz="1800" spc="-5">
                <a:latin typeface="Microsoft YaHei"/>
                <a:cs typeface="Microsoft YaHei"/>
              </a:rPr>
              <a:t>监测温湿度、噪声监测。</a:t>
            </a:r>
            <a:endParaRPr sz="1800">
              <a:latin typeface="Microsoft YaHei"/>
              <a:cs typeface="Microsoft YaHei"/>
            </a:endParaRPr>
          </a:p>
          <a:p>
            <a:pPr marL="191135" indent="-182245">
              <a:lnSpc>
                <a:spcPct val="100000"/>
              </a:lnSpc>
              <a:spcBef>
                <a:spcPts val="1080"/>
              </a:spcBef>
              <a:buSzPct val="94444"/>
              <a:buFont typeface="Wingdings"/>
              <a:buChar char=""/>
              <a:tabLst>
                <a:tab pos="191135" algn="l"/>
              </a:tabLst>
            </a:pPr>
            <a:r>
              <a:rPr dirty="0" sz="1800">
                <a:latin typeface="Microsoft YaHei"/>
                <a:cs typeface="Microsoft YaHei"/>
              </a:rPr>
              <a:t>PM2.5</a:t>
            </a:r>
            <a:r>
              <a:rPr dirty="0" sz="1800" spc="5">
                <a:latin typeface="Microsoft YaHei"/>
                <a:cs typeface="Microsoft YaHei"/>
              </a:rPr>
              <a:t> / </a:t>
            </a:r>
            <a:r>
              <a:rPr dirty="0" sz="1800" spc="-10">
                <a:latin typeface="Microsoft YaHei"/>
                <a:cs typeface="Microsoft YaHei"/>
              </a:rPr>
              <a:t>PM10（</a:t>
            </a:r>
            <a:r>
              <a:rPr dirty="0" sz="1800">
                <a:latin typeface="Microsoft YaHei"/>
                <a:cs typeface="Microsoft YaHei"/>
              </a:rPr>
              <a:t>扬尘）</a:t>
            </a:r>
            <a:r>
              <a:rPr dirty="0" sz="1800" spc="-50">
                <a:latin typeface="Microsoft YaHei"/>
                <a:cs typeface="Microsoft YaHei"/>
              </a:rPr>
              <a:t>。</a:t>
            </a:r>
            <a:endParaRPr sz="1800">
              <a:latin typeface="Microsoft YaHei"/>
              <a:cs typeface="Microsoft YaHei"/>
            </a:endParaRPr>
          </a:p>
          <a:p>
            <a:pPr marL="191135" indent="-182245">
              <a:lnSpc>
                <a:spcPct val="100000"/>
              </a:lnSpc>
              <a:spcBef>
                <a:spcPts val="1080"/>
              </a:spcBef>
              <a:buSzPct val="94444"/>
              <a:buFont typeface="Wingdings"/>
              <a:buChar char=""/>
              <a:tabLst>
                <a:tab pos="191135" algn="l"/>
              </a:tabLst>
            </a:pPr>
            <a:r>
              <a:rPr dirty="0" sz="1800">
                <a:latin typeface="Microsoft YaHei"/>
                <a:cs typeface="Microsoft YaHei"/>
              </a:rPr>
              <a:t>气体监测（包括</a:t>
            </a:r>
            <a:r>
              <a:rPr dirty="0" sz="1800" spc="-15">
                <a:latin typeface="Microsoft YaHei"/>
                <a:cs typeface="Microsoft YaHei"/>
              </a:rPr>
              <a:t>CO</a:t>
            </a:r>
            <a:r>
              <a:rPr dirty="0" sz="1800">
                <a:latin typeface="Microsoft YaHei"/>
                <a:cs typeface="Microsoft YaHei"/>
              </a:rPr>
              <a:t>、</a:t>
            </a:r>
            <a:r>
              <a:rPr dirty="0" sz="1800" spc="-10">
                <a:latin typeface="Microsoft YaHei"/>
                <a:cs typeface="Microsoft YaHei"/>
              </a:rPr>
              <a:t>NO2</a:t>
            </a:r>
            <a:r>
              <a:rPr dirty="0" sz="1800">
                <a:latin typeface="Microsoft YaHei"/>
                <a:cs typeface="Microsoft YaHei"/>
              </a:rPr>
              <a:t>、</a:t>
            </a:r>
            <a:r>
              <a:rPr dirty="0" sz="1800" spc="-10">
                <a:latin typeface="Microsoft YaHei"/>
                <a:cs typeface="Microsoft YaHei"/>
              </a:rPr>
              <a:t>SO2</a:t>
            </a:r>
            <a:r>
              <a:rPr dirty="0" sz="1800">
                <a:latin typeface="Microsoft YaHei"/>
                <a:cs typeface="Microsoft YaHei"/>
              </a:rPr>
              <a:t>、</a:t>
            </a:r>
            <a:r>
              <a:rPr dirty="0" sz="1800" spc="-10">
                <a:latin typeface="Microsoft YaHei"/>
                <a:cs typeface="Microsoft YaHei"/>
              </a:rPr>
              <a:t>O3</a:t>
            </a:r>
            <a:r>
              <a:rPr dirty="0" sz="1800">
                <a:latin typeface="Microsoft YaHei"/>
                <a:cs typeface="Microsoft YaHei"/>
              </a:rPr>
              <a:t>等）</a:t>
            </a:r>
            <a:r>
              <a:rPr dirty="0" sz="1800" spc="-50">
                <a:latin typeface="Microsoft YaHei"/>
                <a:cs typeface="Microsoft YaHei"/>
              </a:rPr>
              <a:t>。</a:t>
            </a:r>
            <a:endParaRPr sz="1800">
              <a:latin typeface="Microsoft YaHei"/>
              <a:cs typeface="Microsoft YaHei"/>
            </a:endParaRPr>
          </a:p>
        </p:txBody>
      </p:sp>
      <p:pic>
        <p:nvPicPr>
          <p:cNvPr id="13" name="object 13"/>
          <p:cNvPicPr/>
          <p:nvPr/>
        </p:nvPicPr>
        <p:blipFill>
          <a:blip r:embed="rId3" cstate="print"/>
          <a:stretch>
            <a:fillRect/>
          </a:stretch>
        </p:blipFill>
        <p:spPr>
          <a:xfrm>
            <a:off x="6949501" y="979596"/>
            <a:ext cx="634475" cy="718295"/>
          </a:xfrm>
          <a:prstGeom prst="rect">
            <a:avLst/>
          </a:prstGeom>
        </p:spPr>
      </p:pic>
      <p:sp>
        <p:nvSpPr>
          <p:cNvPr id="14" name="object 14" descr=""/>
          <p:cNvSpPr txBox="1"/>
          <p:nvPr/>
        </p:nvSpPr>
        <p:spPr>
          <a:xfrm>
            <a:off x="6705600" y="1714500"/>
            <a:ext cx="980440" cy="247650"/>
          </a:xfrm>
          <a:prstGeom prst="rect">
            <a:avLst/>
          </a:prstGeom>
          <a:ln w="9525">
            <a:solidFill>
              <a:srgbClr val="000000"/>
            </a:solidFill>
          </a:ln>
        </p:spPr>
        <p:txBody>
          <a:bodyPr wrap="square" lIns="0" tIns="27940" rIns="0" bIns="0" rtlCol="0" vert="horz">
            <a:spAutoFit/>
          </a:bodyPr>
          <a:lstStyle/>
          <a:p>
            <a:pPr marL="67945">
              <a:lnSpc>
                <a:spcPct val="100000"/>
              </a:lnSpc>
              <a:spcBef>
                <a:spcPts val="220"/>
              </a:spcBef>
            </a:pPr>
            <a:r>
              <a:rPr dirty="0" sz="1200" spc="-10">
                <a:latin typeface="Microsoft YaHei"/>
                <a:cs typeface="Microsoft YaHei"/>
              </a:rPr>
              <a:t>风速传感器</a:t>
            </a:r>
            <a:endParaRPr sz="1200">
              <a:latin typeface="Microsoft YaHei"/>
              <a:cs typeface="Microsoft YaHei"/>
            </a:endParaRPr>
          </a:p>
        </p:txBody>
      </p:sp>
      <p:pic>
        <p:nvPicPr>
          <p:cNvPr id="15" name="object 15"/>
          <p:cNvPicPr/>
          <p:nvPr/>
        </p:nvPicPr>
        <p:blipFill>
          <a:blip r:embed="rId4" cstate="print"/>
          <a:stretch>
            <a:fillRect/>
          </a:stretch>
        </p:blipFill>
        <p:spPr>
          <a:xfrm>
            <a:off x="7027483" y="2130621"/>
            <a:ext cx="453627" cy="874528"/>
          </a:xfrm>
          <a:prstGeom prst="rect">
            <a:avLst/>
          </a:prstGeom>
        </p:spPr>
      </p:pic>
      <p:sp>
        <p:nvSpPr>
          <p:cNvPr id="16" name="object 16" descr=""/>
          <p:cNvSpPr txBox="1"/>
          <p:nvPr/>
        </p:nvSpPr>
        <p:spPr>
          <a:xfrm>
            <a:off x="6705600" y="3151809"/>
            <a:ext cx="980440" cy="258445"/>
          </a:xfrm>
          <a:prstGeom prst="rect">
            <a:avLst/>
          </a:prstGeom>
          <a:ln w="9525">
            <a:solidFill>
              <a:srgbClr val="000000"/>
            </a:solidFill>
          </a:ln>
        </p:spPr>
        <p:txBody>
          <a:bodyPr wrap="square" lIns="0" tIns="27940" rIns="0" bIns="0" rtlCol="0" vert="horz">
            <a:spAutoFit/>
          </a:bodyPr>
          <a:lstStyle/>
          <a:p>
            <a:pPr marL="67945">
              <a:lnSpc>
                <a:spcPct val="100000"/>
              </a:lnSpc>
              <a:spcBef>
                <a:spcPts val="220"/>
              </a:spcBef>
            </a:pPr>
            <a:r>
              <a:rPr dirty="0" sz="1200" spc="-10">
                <a:latin typeface="Microsoft YaHei"/>
                <a:cs typeface="Microsoft YaHei"/>
              </a:rPr>
              <a:t>噪音传感器</a:t>
            </a:r>
            <a:endParaRPr sz="1200">
              <a:latin typeface="Microsoft YaHei"/>
              <a:cs typeface="Microsoft YaHei"/>
            </a:endParaRPr>
          </a:p>
        </p:txBody>
      </p:sp>
      <p:pic>
        <p:nvPicPr>
          <p:cNvPr id="17" name="object 17"/>
          <p:cNvPicPr/>
          <p:nvPr/>
        </p:nvPicPr>
        <p:blipFill>
          <a:blip r:embed="rId5" cstate="print"/>
          <a:stretch>
            <a:fillRect/>
          </a:stretch>
        </p:blipFill>
        <p:spPr>
          <a:xfrm>
            <a:off x="6822696" y="3602024"/>
            <a:ext cx="1065590" cy="949896"/>
          </a:xfrm>
          <a:prstGeom prst="rect">
            <a:avLst/>
          </a:prstGeom>
        </p:spPr>
      </p:pic>
      <p:sp>
        <p:nvSpPr>
          <p:cNvPr id="18" name="object 18" descr=""/>
          <p:cNvSpPr txBox="1"/>
          <p:nvPr/>
        </p:nvSpPr>
        <p:spPr>
          <a:xfrm>
            <a:off x="6822693" y="4632210"/>
            <a:ext cx="1089025" cy="280035"/>
          </a:xfrm>
          <a:prstGeom prst="rect">
            <a:avLst/>
          </a:prstGeom>
          <a:ln w="9525">
            <a:solidFill>
              <a:srgbClr val="000000"/>
            </a:solidFill>
          </a:ln>
        </p:spPr>
        <p:txBody>
          <a:bodyPr wrap="square" lIns="0" tIns="27940" rIns="0" bIns="0" rtlCol="0" vert="horz">
            <a:spAutoFit/>
          </a:bodyPr>
          <a:lstStyle/>
          <a:p>
            <a:pPr marL="68580">
              <a:lnSpc>
                <a:spcPct val="100000"/>
              </a:lnSpc>
              <a:spcBef>
                <a:spcPts val="220"/>
              </a:spcBef>
            </a:pPr>
            <a:r>
              <a:rPr dirty="0" sz="1200" spc="-10">
                <a:latin typeface="Microsoft YaHei"/>
                <a:cs typeface="Microsoft YaHei"/>
              </a:rPr>
              <a:t>PM2.5</a:t>
            </a:r>
            <a:r>
              <a:rPr dirty="0" sz="1200" spc="-20">
                <a:latin typeface="Microsoft YaHei"/>
                <a:cs typeface="Microsoft YaHei"/>
              </a:rPr>
              <a:t>传感器</a:t>
            </a:r>
            <a:endParaRPr sz="1200">
              <a:latin typeface="Microsoft YaHei"/>
              <a:cs typeface="Microsoft YaHe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8" y="153606"/>
            <a:ext cx="3228340" cy="513080"/>
          </a:xfrm>
          <a:prstGeom prst="rect"/>
        </p:spPr>
        <p:txBody>
          <a:bodyPr wrap="square" lIns="0" tIns="12065" rIns="0" bIns="0" rtlCol="0" vert="horz">
            <a:spAutoFit/>
          </a:bodyPr>
          <a:lstStyle/>
          <a:p>
            <a:pPr marL="12700">
              <a:lnSpc>
                <a:spcPct val="100000"/>
              </a:lnSpc>
              <a:spcBef>
                <a:spcPts val="95"/>
              </a:spcBef>
            </a:pPr>
            <a:r>
              <a:rPr dirty="0" spc="-330"/>
              <a:t>环境监控</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1057719" y="995730"/>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4" name="object 4" descr=""/>
          <p:cNvSpPr/>
          <p:nvPr/>
        </p:nvSpPr>
        <p:spPr>
          <a:xfrm>
            <a:off x="1062659" y="2340267"/>
            <a:ext cx="336550" cy="210820"/>
          </a:xfrm>
          <a:custGeom>
            <a:avLst/>
            <a:gdLst/>
            <a:ahLst/>
            <a:cxnLst/>
            <a:rect l="l" t="t" r="r" b="b"/>
            <a:pathLst>
              <a:path w="336550" h="210819">
                <a:moveTo>
                  <a:pt x="336105" y="0"/>
                </a:moveTo>
                <a:lnTo>
                  <a:pt x="0" y="0"/>
                </a:lnTo>
                <a:lnTo>
                  <a:pt x="0" y="210464"/>
                </a:lnTo>
                <a:lnTo>
                  <a:pt x="336105" y="210464"/>
                </a:lnTo>
                <a:lnTo>
                  <a:pt x="336105" y="0"/>
                </a:lnTo>
                <a:close/>
              </a:path>
            </a:pathLst>
          </a:custGeom>
          <a:solidFill>
            <a:srgbClr val="A40000"/>
          </a:solidFill>
        </p:spPr>
        <p:txBody>
          <a:bodyPr wrap="square" lIns="0" tIns="0" rIns="0" bIns="0" rtlCol="0"/>
          <a:lstStyle/>
          <a:p/>
        </p:txBody>
      </p:sp>
      <p:sp>
        <p:nvSpPr>
          <p:cNvPr id="5" name="object 5" descr=""/>
          <p:cNvSpPr txBox="1"/>
          <p:nvPr/>
        </p:nvSpPr>
        <p:spPr>
          <a:xfrm>
            <a:off x="838325" y="990401"/>
            <a:ext cx="6153785" cy="2028825"/>
          </a:xfrm>
          <a:prstGeom prst="rect">
            <a:avLst/>
          </a:prstGeom>
        </p:spPr>
        <p:txBody>
          <a:bodyPr wrap="square" lIns="0" tIns="12700" rIns="0" bIns="0" rtlCol="0" vert="horz">
            <a:spAutoFit/>
          </a:bodyPr>
          <a:lstStyle/>
          <a:p>
            <a:pPr marL="733425">
              <a:lnSpc>
                <a:spcPct val="100000"/>
              </a:lnSpc>
              <a:spcBef>
                <a:spcPts val="100"/>
              </a:spcBef>
            </a:pPr>
            <a:r>
              <a:rPr dirty="0" sz="1200" b="1">
                <a:solidFill>
                  <a:srgbClr val="3D3D3D"/>
                </a:solidFill>
                <a:latin typeface="Microsoft YaHei"/>
                <a:cs typeface="Microsoft YaHei"/>
              </a:rPr>
              <a:t>为</a:t>
            </a:r>
            <a:r>
              <a:rPr dirty="0" sz="1200" spc="-10" b="1">
                <a:latin typeface="Microsoft YaHei"/>
                <a:cs typeface="Microsoft YaHei"/>
              </a:rPr>
              <a:t>物业管理者</a:t>
            </a:r>
            <a:endParaRPr sz="1200">
              <a:latin typeface="Microsoft YaHei"/>
              <a:cs typeface="Microsoft YaHei"/>
            </a:endParaRPr>
          </a:p>
          <a:p>
            <a:pPr marL="195580" marR="5080" indent="-160655">
              <a:lnSpc>
                <a:spcPct val="150000"/>
              </a:lnSpc>
              <a:spcBef>
                <a:spcPts val="1600"/>
              </a:spcBef>
              <a:buFont typeface="Wingdings"/>
              <a:buChar char=""/>
              <a:tabLst>
                <a:tab pos="339090" algn="l"/>
              </a:tabLst>
            </a:pPr>
            <a:r>
              <a:rPr dirty="0" sz="1200" spc="-5">
                <a:latin typeface="Microsoft YaHei"/>
                <a:cs typeface="Microsoft YaHei"/>
              </a:rPr>
              <a:t>对物业管理者：通过对园区环境的实时监测，实时掌握环境信息，进行环境污染的预防，	并对业主进行公示，提升园区服务品质。</a:t>
            </a:r>
            <a:endParaRPr sz="1200">
              <a:latin typeface="Microsoft YaHei"/>
              <a:cs typeface="Microsoft YaHei"/>
            </a:endParaRPr>
          </a:p>
          <a:p>
            <a:pPr>
              <a:lnSpc>
                <a:spcPct val="100000"/>
              </a:lnSpc>
              <a:spcBef>
                <a:spcPts val="925"/>
              </a:spcBef>
              <a:buFont typeface="Wingdings"/>
              <a:buChar char=""/>
            </a:pPr>
            <a:endParaRPr sz="1200">
              <a:latin typeface="Microsoft YaHei"/>
              <a:cs typeface="Microsoft YaHei"/>
            </a:endParaRPr>
          </a:p>
          <a:p>
            <a:pPr marL="789940">
              <a:lnSpc>
                <a:spcPct val="100000"/>
              </a:lnSpc>
            </a:pPr>
            <a:r>
              <a:rPr dirty="0" sz="1200" spc="-20" b="1">
                <a:latin typeface="Microsoft YaHei"/>
                <a:cs typeface="Microsoft YaHei"/>
              </a:rPr>
              <a:t>为业主</a:t>
            </a:r>
            <a:endParaRPr sz="1200">
              <a:latin typeface="Microsoft YaHei"/>
              <a:cs typeface="Microsoft YaHei"/>
            </a:endParaRPr>
          </a:p>
          <a:p>
            <a:pPr>
              <a:lnSpc>
                <a:spcPct val="100000"/>
              </a:lnSpc>
              <a:spcBef>
                <a:spcPts val="185"/>
              </a:spcBef>
            </a:pPr>
            <a:endParaRPr sz="1200">
              <a:latin typeface="Microsoft YaHei"/>
              <a:cs typeface="Microsoft YaHei"/>
            </a:endParaRPr>
          </a:p>
          <a:p>
            <a:pPr marL="173355" indent="-160655">
              <a:lnSpc>
                <a:spcPct val="100000"/>
              </a:lnSpc>
              <a:buFont typeface="Wingdings"/>
              <a:buChar char=""/>
              <a:tabLst>
                <a:tab pos="173355" algn="l"/>
              </a:tabLst>
            </a:pPr>
            <a:r>
              <a:rPr dirty="0" sz="1200" spc="-5">
                <a:solidFill>
                  <a:srgbClr val="3D3D3D"/>
                </a:solidFill>
                <a:latin typeface="Microsoft YaHei"/>
                <a:cs typeface="Microsoft YaHei"/>
              </a:rPr>
              <a:t>方便业主能第一时间得知园区环境情况，为业主生活及出行做决定。</a:t>
            </a:r>
            <a:endParaRPr sz="1200">
              <a:latin typeface="Microsoft YaHei"/>
              <a:cs typeface="Microsoft YaHei"/>
            </a:endParaRPr>
          </a:p>
        </p:txBody>
      </p:sp>
      <p:pic>
        <p:nvPicPr>
          <p:cNvPr id="6" name="object 6"/>
          <p:cNvPicPr/>
          <p:nvPr/>
        </p:nvPicPr>
        <p:blipFill>
          <a:blip r:embed="rId2" cstate="print"/>
          <a:stretch>
            <a:fillRect/>
          </a:stretch>
        </p:blipFill>
        <p:spPr>
          <a:xfrm>
            <a:off x="1393831" y="3189768"/>
            <a:ext cx="1726852" cy="1726852"/>
          </a:xfrm>
          <a:prstGeom prst="rect">
            <a:avLst/>
          </a:prstGeom>
        </p:spPr>
      </p:pic>
      <p:grpSp>
        <p:nvGrpSpPr>
          <p:cNvPr id="7" name="object 7" descr=""/>
          <p:cNvGrpSpPr/>
          <p:nvPr/>
        </p:nvGrpSpPr>
        <p:grpSpPr>
          <a:xfrm>
            <a:off x="3413759" y="3035807"/>
            <a:ext cx="2040889" cy="2066289"/>
            <a:chOff x="3413759" y="3035807"/>
            <a:chExt cx="2040889" cy="2066289"/>
          </a:xfrm>
        </p:grpSpPr>
        <p:pic>
          <p:nvPicPr>
            <p:cNvPr id="8" name="object 8"/>
            <p:cNvPicPr/>
            <p:nvPr/>
          </p:nvPicPr>
          <p:blipFill>
            <a:blip r:embed="rId3" cstate="print"/>
            <a:stretch>
              <a:fillRect/>
            </a:stretch>
          </p:blipFill>
          <p:spPr>
            <a:xfrm>
              <a:off x="3413759" y="3035807"/>
              <a:ext cx="2040635" cy="2065781"/>
            </a:xfrm>
            <a:prstGeom prst="rect">
              <a:avLst/>
            </a:prstGeom>
          </p:spPr>
        </p:pic>
        <p:pic>
          <p:nvPicPr>
            <p:cNvPr id="9" name="object 9"/>
            <p:cNvPicPr/>
            <p:nvPr/>
          </p:nvPicPr>
          <p:blipFill>
            <a:blip r:embed="rId4" cstate="print"/>
            <a:stretch>
              <a:fillRect/>
            </a:stretch>
          </p:blipFill>
          <p:spPr>
            <a:xfrm>
              <a:off x="3604704" y="3226881"/>
              <a:ext cx="1658411" cy="1683535"/>
            </a:xfrm>
            <a:prstGeom prst="rect">
              <a:avLst/>
            </a:prstGeom>
          </p:spPr>
        </p:pic>
      </p:grpSp>
      <p:pic>
        <p:nvPicPr>
          <p:cNvPr id="10" name="object 10"/>
          <p:cNvPicPr/>
          <p:nvPr/>
        </p:nvPicPr>
        <p:blipFill>
          <a:blip r:embed="rId5" cstate="print"/>
          <a:stretch>
            <a:fillRect/>
          </a:stretch>
        </p:blipFill>
        <p:spPr>
          <a:xfrm>
            <a:off x="5751272" y="3214979"/>
            <a:ext cx="1967963" cy="1683539"/>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6498" y="195408"/>
            <a:ext cx="3228340" cy="513080"/>
          </a:xfrm>
          <a:prstGeom prst="rect"/>
        </p:spPr>
        <p:txBody>
          <a:bodyPr wrap="square" lIns="0" tIns="12065" rIns="0" bIns="0" rtlCol="0" vert="horz">
            <a:spAutoFit/>
          </a:bodyPr>
          <a:lstStyle/>
          <a:p>
            <a:pPr marL="12700">
              <a:lnSpc>
                <a:spcPct val="100000"/>
              </a:lnSpc>
              <a:spcBef>
                <a:spcPts val="95"/>
              </a:spcBef>
            </a:pPr>
            <a:r>
              <a:rPr dirty="0" spc="-330"/>
              <a:t>智慧井盖</a:t>
            </a:r>
            <a:r>
              <a:rPr dirty="0" sz="2000" spc="-315" b="0">
                <a:solidFill>
                  <a:srgbClr val="FF0000"/>
                </a:solidFill>
                <a:latin typeface="SimSun"/>
                <a:cs typeface="SimSun"/>
              </a:rPr>
              <a:t>●</a:t>
            </a:r>
            <a:r>
              <a:rPr dirty="0" spc="-270"/>
              <a:t>功能特点</a:t>
            </a:r>
            <a:endParaRPr sz="2000">
              <a:latin typeface="SimSun"/>
              <a:cs typeface="SimSun"/>
            </a:endParaRPr>
          </a:p>
        </p:txBody>
      </p:sp>
      <p:sp>
        <p:nvSpPr>
          <p:cNvPr id="3" name="object 3" descr=""/>
          <p:cNvSpPr txBox="1"/>
          <p:nvPr/>
        </p:nvSpPr>
        <p:spPr>
          <a:xfrm>
            <a:off x="524181" y="774058"/>
            <a:ext cx="5854700" cy="885190"/>
          </a:xfrm>
          <a:prstGeom prst="rect">
            <a:avLst/>
          </a:prstGeom>
        </p:spPr>
        <p:txBody>
          <a:bodyPr wrap="square" lIns="0" tIns="12700" rIns="0" bIns="0" rtlCol="0" vert="horz">
            <a:spAutoFit/>
          </a:bodyPr>
          <a:lstStyle/>
          <a:p>
            <a:pPr marL="355600" marR="5080" indent="-342900">
              <a:lnSpc>
                <a:spcPct val="150000"/>
              </a:lnSpc>
              <a:spcBef>
                <a:spcPts val="100"/>
              </a:spcBef>
              <a:buFont typeface="Wingdings"/>
              <a:buChar char=""/>
              <a:tabLst>
                <a:tab pos="355600" algn="l"/>
              </a:tabLst>
            </a:pPr>
            <a:r>
              <a:rPr dirty="0" sz="1200" spc="-5">
                <a:latin typeface="Microsoft YaHei"/>
                <a:cs typeface="Microsoft YaHei"/>
              </a:rPr>
              <a:t>业务原理：当井盖被异常撬起时，角度传感器检测到角度的变化，会通过通信模块</a:t>
            </a:r>
            <a:r>
              <a:rPr dirty="0" sz="1200">
                <a:latin typeface="Microsoft YaHei"/>
                <a:cs typeface="Microsoft YaHei"/>
              </a:rPr>
              <a:t>将告警信息上传到井盖管理运维平台，同时推送告警信息至维护人员手机</a:t>
            </a:r>
            <a:r>
              <a:rPr dirty="0" sz="1200" spc="-20">
                <a:latin typeface="Microsoft YaHei"/>
                <a:cs typeface="Microsoft YaHei"/>
              </a:rPr>
              <a:t>APP</a:t>
            </a:r>
            <a:r>
              <a:rPr dirty="0" sz="1200" spc="-25">
                <a:latin typeface="Microsoft YaHei"/>
                <a:cs typeface="Microsoft YaHei"/>
              </a:rPr>
              <a:t>端。</a:t>
            </a:r>
            <a:endParaRPr sz="1200">
              <a:latin typeface="Microsoft YaHei"/>
              <a:cs typeface="Microsoft YaHei"/>
            </a:endParaRPr>
          </a:p>
          <a:p>
            <a:pPr marL="354965" indent="-342265">
              <a:lnSpc>
                <a:spcPct val="100000"/>
              </a:lnSpc>
              <a:spcBef>
                <a:spcPts val="1005"/>
              </a:spcBef>
              <a:buFont typeface="Wingdings"/>
              <a:buChar char=""/>
              <a:tabLst>
                <a:tab pos="354965" algn="l"/>
              </a:tabLst>
            </a:pPr>
            <a:r>
              <a:rPr dirty="0" sz="1200" spc="-5">
                <a:latin typeface="Microsoft YaHei"/>
                <a:cs typeface="Microsoft YaHei"/>
              </a:rPr>
              <a:t>主要功能：井盖异常报警、遗失井盖定位和跟踪、井盖管廊水位监控。</a:t>
            </a:r>
            <a:endParaRPr sz="1200">
              <a:latin typeface="Microsoft YaHei"/>
              <a:cs typeface="Microsoft YaHei"/>
            </a:endParaRPr>
          </a:p>
        </p:txBody>
      </p:sp>
      <p:grpSp>
        <p:nvGrpSpPr>
          <p:cNvPr id="4" name="object 4" descr=""/>
          <p:cNvGrpSpPr/>
          <p:nvPr/>
        </p:nvGrpSpPr>
        <p:grpSpPr>
          <a:xfrm>
            <a:off x="457200" y="1719263"/>
            <a:ext cx="6098540" cy="3108960"/>
            <a:chOff x="457200" y="1719263"/>
            <a:chExt cx="6098540" cy="3108960"/>
          </a:xfrm>
        </p:grpSpPr>
        <p:pic>
          <p:nvPicPr>
            <p:cNvPr id="5" name="object 5"/>
            <p:cNvPicPr/>
            <p:nvPr/>
          </p:nvPicPr>
          <p:blipFill>
            <a:blip r:embed="rId2" cstate="print"/>
            <a:stretch>
              <a:fillRect/>
            </a:stretch>
          </p:blipFill>
          <p:spPr>
            <a:xfrm>
              <a:off x="532346" y="1719263"/>
              <a:ext cx="6022974" cy="1714498"/>
            </a:xfrm>
            <a:prstGeom prst="rect">
              <a:avLst/>
            </a:prstGeom>
          </p:spPr>
        </p:pic>
        <p:pic>
          <p:nvPicPr>
            <p:cNvPr id="6" name="object 6"/>
            <p:cNvPicPr/>
            <p:nvPr/>
          </p:nvPicPr>
          <p:blipFill>
            <a:blip r:embed="rId3" cstate="print"/>
            <a:stretch>
              <a:fillRect/>
            </a:stretch>
          </p:blipFill>
          <p:spPr>
            <a:xfrm>
              <a:off x="457200" y="3257550"/>
              <a:ext cx="6035674" cy="1570431"/>
            </a:xfrm>
            <a:prstGeom prst="rect">
              <a:avLst/>
            </a:prstGeom>
          </p:spPr>
        </p:pic>
      </p:grpSp>
      <p:grpSp>
        <p:nvGrpSpPr>
          <p:cNvPr id="7" name="object 7" descr=""/>
          <p:cNvGrpSpPr/>
          <p:nvPr/>
        </p:nvGrpSpPr>
        <p:grpSpPr>
          <a:xfrm>
            <a:off x="6705600" y="742950"/>
            <a:ext cx="1948814" cy="3046730"/>
            <a:chOff x="6705600" y="742950"/>
            <a:chExt cx="1948814" cy="3046730"/>
          </a:xfrm>
        </p:grpSpPr>
        <p:pic>
          <p:nvPicPr>
            <p:cNvPr id="8" name="object 8"/>
            <p:cNvPicPr/>
            <p:nvPr/>
          </p:nvPicPr>
          <p:blipFill>
            <a:blip r:embed="rId4" cstate="print"/>
            <a:stretch>
              <a:fillRect/>
            </a:stretch>
          </p:blipFill>
          <p:spPr>
            <a:xfrm>
              <a:off x="7131715" y="2328448"/>
              <a:ext cx="956917" cy="1460838"/>
            </a:xfrm>
            <a:prstGeom prst="rect">
              <a:avLst/>
            </a:prstGeom>
          </p:spPr>
        </p:pic>
        <p:pic>
          <p:nvPicPr>
            <p:cNvPr id="9" name="object 9"/>
            <p:cNvPicPr/>
            <p:nvPr/>
          </p:nvPicPr>
          <p:blipFill>
            <a:blip r:embed="rId5" cstate="print"/>
            <a:stretch>
              <a:fillRect/>
            </a:stretch>
          </p:blipFill>
          <p:spPr>
            <a:xfrm>
              <a:off x="6705600" y="742950"/>
              <a:ext cx="1948726" cy="1571180"/>
            </a:xfrm>
            <a:prstGeom prst="rect">
              <a:avLst/>
            </a:prstGeom>
          </p:spPr>
        </p:pic>
      </p:grpSp>
      <p:pic>
        <p:nvPicPr>
          <p:cNvPr id="10" name="object 10"/>
          <p:cNvPicPr/>
          <p:nvPr/>
        </p:nvPicPr>
        <p:blipFill>
          <a:blip r:embed="rId6" cstate="print"/>
          <a:stretch>
            <a:fillRect/>
          </a:stretch>
        </p:blipFill>
        <p:spPr>
          <a:xfrm>
            <a:off x="6985423" y="3891653"/>
            <a:ext cx="1468827" cy="1087127"/>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0297" y="153605"/>
            <a:ext cx="3228340" cy="513080"/>
          </a:xfrm>
          <a:prstGeom prst="rect"/>
        </p:spPr>
        <p:txBody>
          <a:bodyPr wrap="square" lIns="0" tIns="12065" rIns="0" bIns="0" rtlCol="0" vert="horz">
            <a:spAutoFit/>
          </a:bodyPr>
          <a:lstStyle/>
          <a:p>
            <a:pPr marL="12700">
              <a:lnSpc>
                <a:spcPct val="100000"/>
              </a:lnSpc>
              <a:spcBef>
                <a:spcPts val="95"/>
              </a:spcBef>
            </a:pPr>
            <a:r>
              <a:rPr dirty="0" spc="-330"/>
              <a:t>智慧井盖</a:t>
            </a:r>
            <a:r>
              <a:rPr dirty="0" sz="2000" spc="-315" b="0">
                <a:solidFill>
                  <a:srgbClr val="FF0000"/>
                </a:solidFill>
                <a:latin typeface="SimSun"/>
                <a:cs typeface="SimSun"/>
              </a:rPr>
              <a:t>●</a:t>
            </a:r>
            <a:r>
              <a:rPr dirty="0" spc="-270"/>
              <a:t>客户价值</a:t>
            </a:r>
            <a:endParaRPr sz="2000">
              <a:latin typeface="SimSun"/>
              <a:cs typeface="SimSun"/>
            </a:endParaRPr>
          </a:p>
        </p:txBody>
      </p:sp>
      <p:sp>
        <p:nvSpPr>
          <p:cNvPr id="3" name="object 3" descr=""/>
          <p:cNvSpPr/>
          <p:nvPr/>
        </p:nvSpPr>
        <p:spPr>
          <a:xfrm>
            <a:off x="1065555" y="803859"/>
            <a:ext cx="351790" cy="210820"/>
          </a:xfrm>
          <a:custGeom>
            <a:avLst/>
            <a:gdLst/>
            <a:ahLst/>
            <a:cxnLst/>
            <a:rect l="l" t="t" r="r" b="b"/>
            <a:pathLst>
              <a:path w="351790" h="210819">
                <a:moveTo>
                  <a:pt x="351701" y="0"/>
                </a:moveTo>
                <a:lnTo>
                  <a:pt x="0" y="0"/>
                </a:lnTo>
                <a:lnTo>
                  <a:pt x="0" y="210464"/>
                </a:lnTo>
                <a:lnTo>
                  <a:pt x="351701" y="210464"/>
                </a:lnTo>
                <a:lnTo>
                  <a:pt x="351701" y="0"/>
                </a:lnTo>
                <a:close/>
              </a:path>
            </a:pathLst>
          </a:custGeom>
          <a:solidFill>
            <a:srgbClr val="A40000"/>
          </a:solidFill>
        </p:spPr>
        <p:txBody>
          <a:bodyPr wrap="square" lIns="0" tIns="0" rIns="0" bIns="0" rtlCol="0"/>
          <a:lstStyle/>
          <a:p/>
        </p:txBody>
      </p:sp>
      <p:sp>
        <p:nvSpPr>
          <p:cNvPr id="4" name="object 4" descr=""/>
          <p:cNvSpPr txBox="1"/>
          <p:nvPr/>
        </p:nvSpPr>
        <p:spPr>
          <a:xfrm>
            <a:off x="840741" y="1122414"/>
            <a:ext cx="7593330" cy="2288540"/>
          </a:xfrm>
          <a:prstGeom prst="rect">
            <a:avLst/>
          </a:prstGeom>
        </p:spPr>
        <p:txBody>
          <a:bodyPr wrap="square" lIns="0" tIns="12700" rIns="0" bIns="0" rtlCol="0" vert="horz">
            <a:spAutoFit/>
          </a:bodyPr>
          <a:lstStyle/>
          <a:p>
            <a:pPr marL="172720" marR="150495" indent="-160655">
              <a:lnSpc>
                <a:spcPct val="150000"/>
              </a:lnSpc>
              <a:spcBef>
                <a:spcPts val="100"/>
              </a:spcBef>
              <a:buFont typeface="Wingdings"/>
              <a:buChar char=""/>
              <a:tabLst>
                <a:tab pos="173990" algn="l"/>
              </a:tabLst>
            </a:pPr>
            <a:r>
              <a:rPr dirty="0" sz="1100" spc="-20" b="1">
                <a:latin typeface="Microsoft YaHei"/>
                <a:cs typeface="Microsoft YaHei"/>
              </a:rPr>
              <a:t>降本增效：</a:t>
            </a:r>
            <a:r>
              <a:rPr dirty="0" sz="1100" spc="-25">
                <a:latin typeface="Microsoft YaHei"/>
                <a:cs typeface="Microsoft YaHei"/>
              </a:rPr>
              <a:t>当井盖异常开启时，智能终端立即发出报警信号。园区管理者快速赶到事发地点及时制止，提高监管效率，降	低人力成本。</a:t>
            </a:r>
            <a:endParaRPr sz="1100">
              <a:latin typeface="Microsoft YaHei"/>
              <a:cs typeface="Microsoft YaHei"/>
            </a:endParaRPr>
          </a:p>
          <a:p>
            <a:pPr marL="172720" marR="150495" indent="-160655">
              <a:lnSpc>
                <a:spcPct val="150000"/>
              </a:lnSpc>
              <a:buFont typeface="Wingdings"/>
              <a:buChar char=""/>
              <a:tabLst>
                <a:tab pos="173990" algn="l"/>
              </a:tabLst>
            </a:pPr>
            <a:r>
              <a:rPr dirty="0" sz="1100" spc="-20" b="1">
                <a:latin typeface="Microsoft YaHei"/>
                <a:cs typeface="Microsoft YaHei"/>
              </a:rPr>
              <a:t>加强井盖资产管理：</a:t>
            </a:r>
            <a:r>
              <a:rPr dirty="0" sz="1100" spc="-25">
                <a:latin typeface="Microsoft YaHei"/>
                <a:cs typeface="Microsoft YaHei"/>
              </a:rPr>
              <a:t>降低井内设备偷盗和破坏的发生，对于安装有智能终端的井盖，在其被盗走的过程中，系统可以实现	实时的定位和跟踪，便于管理人员找回井盖并协助警方抓捕盗窃嫌疑人。</a:t>
            </a:r>
            <a:endParaRPr sz="1100">
              <a:latin typeface="Microsoft YaHei"/>
              <a:cs typeface="Microsoft YaHei"/>
            </a:endParaRPr>
          </a:p>
          <a:p>
            <a:pPr marL="172720" marR="5080" indent="-160655">
              <a:lnSpc>
                <a:spcPct val="150000"/>
              </a:lnSpc>
              <a:buFont typeface="Wingdings"/>
              <a:buChar char=""/>
              <a:tabLst>
                <a:tab pos="173990" algn="l"/>
              </a:tabLst>
            </a:pPr>
            <a:r>
              <a:rPr dirty="0" sz="1100" spc="-20" b="1">
                <a:latin typeface="Microsoft YaHei"/>
                <a:cs typeface="Microsoft YaHei"/>
              </a:rPr>
              <a:t>加强管网资产管理：</a:t>
            </a:r>
            <a:r>
              <a:rPr dirty="0" sz="1100" spc="-25">
                <a:latin typeface="Microsoft YaHei"/>
                <a:cs typeface="Microsoft YaHei"/>
              </a:rPr>
              <a:t>在路面井盖下方安装智能锁内盖，将井口锁住，非授权人员无法打开井盖，有效保护地下管网资产，可	以保护电力井盖内的电缆及通信井盖内的管廊资源不被盗用。</a:t>
            </a:r>
            <a:endParaRPr sz="1100">
              <a:latin typeface="Microsoft YaHei"/>
              <a:cs typeface="Microsoft YaHei"/>
            </a:endParaRPr>
          </a:p>
          <a:p>
            <a:pPr marL="172720" marR="150495" indent="-160655">
              <a:lnSpc>
                <a:spcPct val="150000"/>
              </a:lnSpc>
              <a:buFont typeface="Wingdings"/>
              <a:buChar char=""/>
              <a:tabLst>
                <a:tab pos="173990" algn="l"/>
              </a:tabLst>
            </a:pPr>
            <a:r>
              <a:rPr dirty="0" sz="1100" spc="-20" b="1">
                <a:latin typeface="Microsoft YaHei"/>
                <a:cs typeface="Microsoft YaHei"/>
              </a:rPr>
              <a:t>加强景区管廊水位管理：</a:t>
            </a:r>
            <a:r>
              <a:rPr dirty="0" sz="1100" spc="-25">
                <a:latin typeface="Microsoft YaHei"/>
                <a:cs typeface="Microsoft YaHei"/>
              </a:rPr>
              <a:t>水位传感器在园区的排水管网流域起点、重要交汇区到沿河出水口等关键节点的井盖部署水，可	以对井盖管廊水位进行监控。</a:t>
            </a:r>
            <a:endParaRPr sz="1100">
              <a:latin typeface="Microsoft YaHei"/>
              <a:cs typeface="Microsoft YaHei"/>
            </a:endParaRPr>
          </a:p>
          <a:p>
            <a:pPr marL="173355" indent="-160655">
              <a:lnSpc>
                <a:spcPct val="100000"/>
              </a:lnSpc>
              <a:spcBef>
                <a:spcPts val="660"/>
              </a:spcBef>
              <a:buFont typeface="Wingdings"/>
              <a:buChar char=""/>
              <a:tabLst>
                <a:tab pos="173355" algn="l"/>
              </a:tabLst>
            </a:pPr>
            <a:r>
              <a:rPr dirty="0" sz="1100" spc="-20" b="1">
                <a:latin typeface="Microsoft YaHei"/>
                <a:cs typeface="Microsoft YaHei"/>
              </a:rPr>
              <a:t>实施成本低：</a:t>
            </a:r>
            <a:r>
              <a:rPr dirty="0" sz="1100" spc="-20">
                <a:latin typeface="Microsoft YaHei"/>
                <a:cs typeface="Microsoft YaHei"/>
              </a:rPr>
              <a:t>应用范围广，实施成本低，提供</a:t>
            </a:r>
            <a:r>
              <a:rPr dirty="0" sz="1100" spc="-10">
                <a:latin typeface="Microsoft YaHei"/>
                <a:cs typeface="Microsoft YaHei"/>
              </a:rPr>
              <a:t>24</a:t>
            </a:r>
            <a:r>
              <a:rPr dirty="0" sz="1100" spc="-25">
                <a:latin typeface="Microsoft YaHei"/>
                <a:cs typeface="Microsoft YaHei"/>
              </a:rPr>
              <a:t>小时全天候实时监控。</a:t>
            </a:r>
            <a:endParaRPr sz="1100">
              <a:latin typeface="Microsoft YaHei"/>
              <a:cs typeface="Microsoft YaHei"/>
            </a:endParaRPr>
          </a:p>
        </p:txBody>
      </p:sp>
      <p:sp>
        <p:nvSpPr>
          <p:cNvPr id="5" name="object 5" descr=""/>
          <p:cNvSpPr txBox="1"/>
          <p:nvPr/>
        </p:nvSpPr>
        <p:spPr>
          <a:xfrm>
            <a:off x="1587000" y="796188"/>
            <a:ext cx="1397000" cy="299720"/>
          </a:xfrm>
          <a:prstGeom prst="rect">
            <a:avLst/>
          </a:prstGeom>
        </p:spPr>
        <p:txBody>
          <a:bodyPr wrap="square" lIns="0" tIns="12700" rIns="0" bIns="0" rtlCol="0" vert="horz">
            <a:spAutoFit/>
          </a:bodyPr>
          <a:lstStyle/>
          <a:p>
            <a:pPr marL="12700">
              <a:lnSpc>
                <a:spcPct val="100000"/>
              </a:lnSpc>
              <a:spcBef>
                <a:spcPts val="100"/>
              </a:spcBef>
            </a:pPr>
            <a:r>
              <a:rPr dirty="0" sz="1800" b="1">
                <a:solidFill>
                  <a:srgbClr val="3D3D3D"/>
                </a:solidFill>
                <a:latin typeface="Microsoft YaHei"/>
                <a:cs typeface="Microsoft YaHei"/>
              </a:rPr>
              <a:t>为</a:t>
            </a:r>
            <a:r>
              <a:rPr dirty="0" sz="1800" spc="-10" b="1">
                <a:latin typeface="Microsoft YaHei"/>
                <a:cs typeface="Microsoft YaHei"/>
              </a:rPr>
              <a:t>物业管理者</a:t>
            </a:r>
            <a:endParaRPr sz="1800">
              <a:latin typeface="Microsoft YaHei"/>
              <a:cs typeface="Microsoft YaHei"/>
            </a:endParaRPr>
          </a:p>
        </p:txBody>
      </p:sp>
      <p:pic>
        <p:nvPicPr>
          <p:cNvPr id="6" name="object 6"/>
          <p:cNvPicPr/>
          <p:nvPr/>
        </p:nvPicPr>
        <p:blipFill>
          <a:blip r:embed="rId2" cstate="print"/>
          <a:stretch>
            <a:fillRect/>
          </a:stretch>
        </p:blipFill>
        <p:spPr>
          <a:xfrm>
            <a:off x="1219200" y="3409950"/>
            <a:ext cx="2337619" cy="1517548"/>
          </a:xfrm>
          <a:prstGeom prst="rect">
            <a:avLst/>
          </a:prstGeom>
        </p:spPr>
      </p:pic>
      <p:pic>
        <p:nvPicPr>
          <p:cNvPr id="7" name="object 7"/>
          <p:cNvPicPr/>
          <p:nvPr/>
        </p:nvPicPr>
        <p:blipFill>
          <a:blip r:embed="rId3" cstate="print"/>
          <a:stretch>
            <a:fillRect/>
          </a:stretch>
        </p:blipFill>
        <p:spPr>
          <a:xfrm>
            <a:off x="3865131" y="3409950"/>
            <a:ext cx="2115908" cy="1518983"/>
          </a:xfrm>
          <a:prstGeom prst="rect">
            <a:avLst/>
          </a:prstGeom>
        </p:spPr>
      </p:pic>
      <p:pic>
        <p:nvPicPr>
          <p:cNvPr id="8" name="object 8"/>
          <p:cNvPicPr/>
          <p:nvPr/>
        </p:nvPicPr>
        <p:blipFill>
          <a:blip r:embed="rId4" cstate="print"/>
          <a:stretch>
            <a:fillRect/>
          </a:stretch>
        </p:blipFill>
        <p:spPr>
          <a:xfrm>
            <a:off x="6335078" y="3409950"/>
            <a:ext cx="2094114" cy="152156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1698" y="96267"/>
            <a:ext cx="3825875" cy="574040"/>
          </a:xfrm>
          <a:prstGeom prst="rect"/>
        </p:spPr>
        <p:txBody>
          <a:bodyPr wrap="square" lIns="0" tIns="12700" rIns="0" bIns="0" rtlCol="0" vert="horz">
            <a:spAutoFit/>
          </a:bodyPr>
          <a:lstStyle/>
          <a:p>
            <a:pPr marL="12700">
              <a:lnSpc>
                <a:spcPct val="100000"/>
              </a:lnSpc>
              <a:spcBef>
                <a:spcPts val="100"/>
              </a:spcBef>
            </a:pPr>
            <a:r>
              <a:rPr dirty="0" sz="3600" spc="-310"/>
              <a:t>内容总结与问题研讨</a:t>
            </a:r>
            <a:endParaRPr sz="3600"/>
          </a:p>
        </p:txBody>
      </p:sp>
      <p:sp>
        <p:nvSpPr>
          <p:cNvPr id="3" name="object 3" descr=""/>
          <p:cNvSpPr/>
          <p:nvPr/>
        </p:nvSpPr>
        <p:spPr>
          <a:xfrm>
            <a:off x="3293423" y="1088310"/>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00B0F0"/>
          </a:solidFill>
        </p:spPr>
        <p:txBody>
          <a:bodyPr wrap="square" lIns="0" tIns="0" rIns="0" bIns="0" rtlCol="0"/>
          <a:lstStyle/>
          <a:p/>
        </p:txBody>
      </p:sp>
      <p:sp>
        <p:nvSpPr>
          <p:cNvPr id="4" name="object 4" descr=""/>
          <p:cNvSpPr txBox="1"/>
          <p:nvPr/>
        </p:nvSpPr>
        <p:spPr>
          <a:xfrm>
            <a:off x="3387026" y="1162066"/>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二、 </a:t>
            </a:r>
            <a:r>
              <a:rPr dirty="0" sz="1600" spc="-20" b="1">
                <a:latin typeface="Times New Roman"/>
                <a:cs typeface="Times New Roman"/>
              </a:rPr>
              <a:t>5G</a:t>
            </a:r>
            <a:r>
              <a:rPr dirty="0" sz="1600" spc="-10" b="1">
                <a:latin typeface="Microsoft YaHei"/>
                <a:cs typeface="Microsoft YaHei"/>
              </a:rPr>
              <a:t>网络业务场景分类</a:t>
            </a:r>
            <a:endParaRPr sz="1600">
              <a:latin typeface="Microsoft YaHei"/>
              <a:cs typeface="Microsoft YaHei"/>
            </a:endParaRPr>
          </a:p>
        </p:txBody>
      </p:sp>
      <p:sp>
        <p:nvSpPr>
          <p:cNvPr id="5" name="object 5" descr=""/>
          <p:cNvSpPr/>
          <p:nvPr/>
        </p:nvSpPr>
        <p:spPr>
          <a:xfrm>
            <a:off x="280482" y="1714497"/>
            <a:ext cx="2557780" cy="432434"/>
          </a:xfrm>
          <a:custGeom>
            <a:avLst/>
            <a:gdLst/>
            <a:ahLst/>
            <a:cxnLst/>
            <a:rect l="l" t="t" r="r" b="b"/>
            <a:pathLst>
              <a:path w="2557780"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0000"/>
          </a:solidFill>
        </p:spPr>
        <p:txBody>
          <a:bodyPr wrap="square" lIns="0" tIns="0" rIns="0" bIns="0" rtlCol="0"/>
          <a:lstStyle/>
          <a:p/>
        </p:txBody>
      </p:sp>
      <p:sp>
        <p:nvSpPr>
          <p:cNvPr id="6" name="object 6" descr=""/>
          <p:cNvSpPr/>
          <p:nvPr/>
        </p:nvSpPr>
        <p:spPr>
          <a:xfrm>
            <a:off x="280482" y="1088310"/>
            <a:ext cx="2557780" cy="432434"/>
          </a:xfrm>
          <a:custGeom>
            <a:avLst/>
            <a:gdLst/>
            <a:ahLst/>
            <a:cxnLst/>
            <a:rect l="l" t="t" r="r" b="b"/>
            <a:pathLst>
              <a:path w="2557780"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C000"/>
          </a:solidFill>
        </p:spPr>
        <p:txBody>
          <a:bodyPr wrap="square" lIns="0" tIns="0" rIns="0" bIns="0" rtlCol="0"/>
          <a:lstStyle/>
          <a:p/>
        </p:txBody>
      </p:sp>
      <p:sp>
        <p:nvSpPr>
          <p:cNvPr id="7" name="object 7" descr=""/>
          <p:cNvSpPr txBox="1"/>
          <p:nvPr/>
        </p:nvSpPr>
        <p:spPr>
          <a:xfrm>
            <a:off x="374084" y="1162066"/>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一、 </a:t>
            </a:r>
            <a:r>
              <a:rPr dirty="0" sz="1600" spc="-20" b="1">
                <a:latin typeface="Times New Roman"/>
                <a:cs typeface="Times New Roman"/>
              </a:rPr>
              <a:t>5G</a:t>
            </a:r>
            <a:r>
              <a:rPr dirty="0" sz="1600" spc="-10" b="1">
                <a:latin typeface="Microsoft YaHei"/>
                <a:cs typeface="Microsoft YaHei"/>
              </a:rPr>
              <a:t>网络典型业务分析</a:t>
            </a:r>
            <a:endParaRPr sz="1600">
              <a:latin typeface="Microsoft YaHei"/>
              <a:cs typeface="Microsoft YaHei"/>
            </a:endParaRPr>
          </a:p>
        </p:txBody>
      </p:sp>
      <p:sp>
        <p:nvSpPr>
          <p:cNvPr id="8" name="object 8" descr=""/>
          <p:cNvSpPr/>
          <p:nvPr/>
        </p:nvSpPr>
        <p:spPr>
          <a:xfrm>
            <a:off x="3293423" y="1714497"/>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FF3399"/>
          </a:solidFill>
        </p:spPr>
        <p:txBody>
          <a:bodyPr wrap="square" lIns="0" tIns="0" rIns="0" bIns="0" rtlCol="0"/>
          <a:lstStyle/>
          <a:p/>
        </p:txBody>
      </p:sp>
      <p:sp>
        <p:nvSpPr>
          <p:cNvPr id="9" name="object 9" descr=""/>
          <p:cNvSpPr/>
          <p:nvPr/>
        </p:nvSpPr>
        <p:spPr>
          <a:xfrm>
            <a:off x="6306366" y="1088310"/>
            <a:ext cx="2557780" cy="432434"/>
          </a:xfrm>
          <a:custGeom>
            <a:avLst/>
            <a:gdLst/>
            <a:ahLst/>
            <a:cxnLst/>
            <a:rect l="l" t="t" r="r" b="b"/>
            <a:pathLst>
              <a:path w="2557779" h="432434">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92D050"/>
          </a:solidFill>
        </p:spPr>
        <p:txBody>
          <a:bodyPr wrap="square" lIns="0" tIns="0" rIns="0" bIns="0" rtlCol="0"/>
          <a:lstStyle/>
          <a:p/>
        </p:txBody>
      </p:sp>
      <p:sp>
        <p:nvSpPr>
          <p:cNvPr id="10" name="object 10" descr=""/>
          <p:cNvSpPr txBox="1"/>
          <p:nvPr/>
        </p:nvSpPr>
        <p:spPr>
          <a:xfrm>
            <a:off x="6399968" y="1162066"/>
            <a:ext cx="2370455" cy="269875"/>
          </a:xfrm>
          <a:prstGeom prst="rect">
            <a:avLst/>
          </a:prstGeom>
        </p:spPr>
        <p:txBody>
          <a:bodyPr wrap="square" lIns="0" tIns="12700" rIns="0" bIns="0" rtlCol="0" vert="horz">
            <a:spAutoFit/>
          </a:bodyPr>
          <a:lstStyle/>
          <a:p>
            <a:pPr marL="12700">
              <a:lnSpc>
                <a:spcPct val="100000"/>
              </a:lnSpc>
              <a:spcBef>
                <a:spcPts val="100"/>
              </a:spcBef>
            </a:pPr>
            <a:r>
              <a:rPr dirty="0" sz="1600" spc="-25" b="1">
                <a:latin typeface="Microsoft YaHei"/>
                <a:cs typeface="Microsoft YaHei"/>
              </a:rPr>
              <a:t>三、 </a:t>
            </a:r>
            <a:r>
              <a:rPr dirty="0" sz="1600" spc="-20" b="1">
                <a:latin typeface="Times New Roman"/>
                <a:cs typeface="Times New Roman"/>
              </a:rPr>
              <a:t>5G</a:t>
            </a:r>
            <a:r>
              <a:rPr dirty="0" sz="1600" spc="-10" b="1">
                <a:latin typeface="Microsoft YaHei"/>
                <a:cs typeface="Microsoft YaHei"/>
              </a:rPr>
              <a:t>网络典型业务模型</a:t>
            </a:r>
            <a:endParaRPr sz="1600">
              <a:latin typeface="Microsoft YaHei"/>
              <a:cs typeface="Microsoft YaHei"/>
            </a:endParaRPr>
          </a:p>
        </p:txBody>
      </p:sp>
      <p:sp>
        <p:nvSpPr>
          <p:cNvPr id="11" name="object 11" descr=""/>
          <p:cNvSpPr/>
          <p:nvPr/>
        </p:nvSpPr>
        <p:spPr>
          <a:xfrm>
            <a:off x="6306366" y="1714497"/>
            <a:ext cx="2557780" cy="432434"/>
          </a:xfrm>
          <a:custGeom>
            <a:avLst/>
            <a:gdLst/>
            <a:ahLst/>
            <a:cxnLst/>
            <a:rect l="l" t="t" r="r" b="b"/>
            <a:pathLst>
              <a:path w="2557779" h="432435">
                <a:moveTo>
                  <a:pt x="2485148" y="0"/>
                </a:moveTo>
                <a:lnTo>
                  <a:pt x="71996" y="0"/>
                </a:lnTo>
                <a:lnTo>
                  <a:pt x="43971" y="5657"/>
                </a:lnTo>
                <a:lnTo>
                  <a:pt x="21086" y="21086"/>
                </a:lnTo>
                <a:lnTo>
                  <a:pt x="5657" y="43971"/>
                </a:lnTo>
                <a:lnTo>
                  <a:pt x="0" y="71996"/>
                </a:lnTo>
                <a:lnTo>
                  <a:pt x="0" y="359994"/>
                </a:lnTo>
                <a:lnTo>
                  <a:pt x="5657" y="388018"/>
                </a:lnTo>
                <a:lnTo>
                  <a:pt x="21086" y="410903"/>
                </a:lnTo>
                <a:lnTo>
                  <a:pt x="43971" y="426332"/>
                </a:lnTo>
                <a:lnTo>
                  <a:pt x="71996" y="431990"/>
                </a:lnTo>
                <a:lnTo>
                  <a:pt x="2485148" y="431990"/>
                </a:lnTo>
                <a:lnTo>
                  <a:pt x="2513175" y="426332"/>
                </a:lnTo>
                <a:lnTo>
                  <a:pt x="2536064" y="410903"/>
                </a:lnTo>
                <a:lnTo>
                  <a:pt x="2551498" y="388018"/>
                </a:lnTo>
                <a:lnTo>
                  <a:pt x="2557157" y="359994"/>
                </a:lnTo>
                <a:lnTo>
                  <a:pt x="2557157" y="71996"/>
                </a:lnTo>
                <a:lnTo>
                  <a:pt x="2551498" y="43971"/>
                </a:lnTo>
                <a:lnTo>
                  <a:pt x="2536064" y="21086"/>
                </a:lnTo>
                <a:lnTo>
                  <a:pt x="2513175" y="5657"/>
                </a:lnTo>
                <a:lnTo>
                  <a:pt x="2485148" y="0"/>
                </a:lnTo>
                <a:close/>
              </a:path>
            </a:pathLst>
          </a:custGeom>
          <a:solidFill>
            <a:srgbClr val="CC9900"/>
          </a:solidFill>
        </p:spPr>
        <p:txBody>
          <a:bodyPr wrap="square" lIns="0" tIns="0" rIns="0" bIns="0" rtlCol="0"/>
          <a:lstStyle/>
          <a:p/>
        </p:txBody>
      </p:sp>
      <p:sp>
        <p:nvSpPr>
          <p:cNvPr id="12" name="object 12" descr=""/>
          <p:cNvSpPr txBox="1"/>
          <p:nvPr/>
        </p:nvSpPr>
        <p:spPr>
          <a:xfrm>
            <a:off x="6425114" y="1788253"/>
            <a:ext cx="2320925" cy="269875"/>
          </a:xfrm>
          <a:prstGeom prst="rect">
            <a:avLst/>
          </a:prstGeom>
        </p:spPr>
        <p:txBody>
          <a:bodyPr wrap="square" lIns="0" tIns="12700" rIns="0" bIns="0" rtlCol="0" vert="horz">
            <a:spAutoFit/>
          </a:bodyPr>
          <a:lstStyle/>
          <a:p>
            <a:pPr marL="12700">
              <a:lnSpc>
                <a:spcPct val="100000"/>
              </a:lnSpc>
              <a:spcBef>
                <a:spcPts val="100"/>
              </a:spcBef>
            </a:pPr>
            <a:r>
              <a:rPr dirty="0" sz="1600" b="1">
                <a:latin typeface="Microsoft YaHei"/>
                <a:cs typeface="Microsoft YaHei"/>
              </a:rPr>
              <a:t>六、</a:t>
            </a:r>
            <a:r>
              <a:rPr dirty="0" sz="1600" spc="-20" b="1">
                <a:latin typeface="Times New Roman"/>
                <a:cs typeface="Times New Roman"/>
              </a:rPr>
              <a:t>5G</a:t>
            </a:r>
            <a:r>
              <a:rPr dirty="0" sz="1600" spc="-10" b="1">
                <a:latin typeface="Microsoft YaHei"/>
                <a:cs typeface="Microsoft YaHei"/>
              </a:rPr>
              <a:t>网络低时延新业务</a:t>
            </a:r>
            <a:endParaRPr sz="1600">
              <a:latin typeface="Microsoft YaHei"/>
              <a:cs typeface="Microsoft YaHei"/>
            </a:endParaRPr>
          </a:p>
        </p:txBody>
      </p:sp>
      <p:pic>
        <p:nvPicPr>
          <p:cNvPr id="13" name="object 13"/>
          <p:cNvPicPr/>
          <p:nvPr/>
        </p:nvPicPr>
        <p:blipFill>
          <a:blip r:embed="rId2" cstate="print"/>
          <a:stretch>
            <a:fillRect/>
          </a:stretch>
        </p:blipFill>
        <p:spPr>
          <a:xfrm>
            <a:off x="4357687" y="2874111"/>
            <a:ext cx="4553710" cy="1703069"/>
          </a:xfrm>
          <a:prstGeom prst="rect">
            <a:avLst/>
          </a:prstGeom>
        </p:spPr>
      </p:pic>
      <p:sp>
        <p:nvSpPr>
          <p:cNvPr id="14" name="object 14" descr=""/>
          <p:cNvSpPr txBox="1"/>
          <p:nvPr/>
        </p:nvSpPr>
        <p:spPr>
          <a:xfrm>
            <a:off x="374084" y="1788253"/>
            <a:ext cx="5383530" cy="3072765"/>
          </a:xfrm>
          <a:prstGeom prst="rect">
            <a:avLst/>
          </a:prstGeom>
        </p:spPr>
        <p:txBody>
          <a:bodyPr wrap="square" lIns="0" tIns="12700" rIns="0" bIns="0" rtlCol="0" vert="horz">
            <a:spAutoFit/>
          </a:bodyPr>
          <a:lstStyle/>
          <a:p>
            <a:pPr marL="12700">
              <a:lnSpc>
                <a:spcPct val="100000"/>
              </a:lnSpc>
              <a:spcBef>
                <a:spcPts val="100"/>
              </a:spcBef>
              <a:tabLst>
                <a:tab pos="3025140" algn="l"/>
              </a:tabLst>
            </a:pPr>
            <a:r>
              <a:rPr dirty="0" sz="1600" b="1">
                <a:latin typeface="Microsoft YaHei"/>
                <a:cs typeface="Microsoft YaHei"/>
              </a:rPr>
              <a:t>四、</a:t>
            </a:r>
            <a:r>
              <a:rPr dirty="0" sz="1600" spc="-75" b="1">
                <a:latin typeface="Microsoft YaHei"/>
                <a:cs typeface="Microsoft YaHei"/>
              </a:rPr>
              <a:t> </a:t>
            </a:r>
            <a:r>
              <a:rPr dirty="0" sz="1600" spc="-20" b="1">
                <a:latin typeface="Times New Roman"/>
                <a:cs typeface="Times New Roman"/>
              </a:rPr>
              <a:t>5G</a:t>
            </a:r>
            <a:r>
              <a:rPr dirty="0" sz="1600" b="1">
                <a:latin typeface="Microsoft YaHei"/>
                <a:cs typeface="Microsoft YaHei"/>
              </a:rPr>
              <a:t>网络大带宽新业</a:t>
            </a:r>
            <a:r>
              <a:rPr dirty="0" sz="1600" spc="-50" b="1">
                <a:latin typeface="Microsoft YaHei"/>
                <a:cs typeface="Microsoft YaHei"/>
              </a:rPr>
              <a:t>务</a:t>
            </a:r>
            <a:r>
              <a:rPr dirty="0" sz="1600" b="1">
                <a:latin typeface="Microsoft YaHei"/>
                <a:cs typeface="Microsoft YaHei"/>
              </a:rPr>
              <a:t>	五、</a:t>
            </a:r>
            <a:r>
              <a:rPr dirty="0" sz="1600" spc="-75" b="1">
                <a:latin typeface="Microsoft YaHei"/>
                <a:cs typeface="Microsoft YaHei"/>
              </a:rPr>
              <a:t> </a:t>
            </a:r>
            <a:r>
              <a:rPr dirty="0" sz="1600" spc="-20" b="1">
                <a:latin typeface="Times New Roman"/>
                <a:cs typeface="Times New Roman"/>
              </a:rPr>
              <a:t>5G</a:t>
            </a:r>
            <a:r>
              <a:rPr dirty="0" sz="1600" b="1">
                <a:latin typeface="Microsoft YaHei"/>
                <a:cs typeface="Microsoft YaHei"/>
              </a:rPr>
              <a:t>网络大连接新业</a:t>
            </a:r>
            <a:r>
              <a:rPr dirty="0" sz="1600" spc="-50" b="1">
                <a:latin typeface="Microsoft YaHei"/>
                <a:cs typeface="Microsoft YaHei"/>
              </a:rPr>
              <a:t>务</a:t>
            </a:r>
            <a:endParaRPr sz="1600">
              <a:latin typeface="Microsoft YaHei"/>
              <a:cs typeface="Microsoft YaHei"/>
            </a:endParaRPr>
          </a:p>
          <a:p>
            <a:pPr>
              <a:lnSpc>
                <a:spcPct val="100000"/>
              </a:lnSpc>
              <a:spcBef>
                <a:spcPts val="640"/>
              </a:spcBef>
            </a:pPr>
            <a:endParaRPr sz="1600">
              <a:latin typeface="Microsoft YaHei"/>
              <a:cs typeface="Microsoft YaHei"/>
            </a:endParaRPr>
          </a:p>
          <a:p>
            <a:pPr marL="413384">
              <a:lnSpc>
                <a:spcPct val="100000"/>
              </a:lnSpc>
            </a:pPr>
            <a:r>
              <a:rPr dirty="0" sz="2800" spc="-20">
                <a:latin typeface="SimSun"/>
                <a:cs typeface="SimSun"/>
              </a:rPr>
              <a:t>思考题：</a:t>
            </a:r>
            <a:endParaRPr sz="2800">
              <a:latin typeface="SimSun"/>
              <a:cs typeface="SimSun"/>
            </a:endParaRPr>
          </a:p>
          <a:p>
            <a:pPr marL="767715" indent="-354330">
              <a:lnSpc>
                <a:spcPct val="100000"/>
              </a:lnSpc>
              <a:spcBef>
                <a:spcPts val="1680"/>
              </a:spcBef>
              <a:buAutoNum type="arabicPeriod"/>
              <a:tabLst>
                <a:tab pos="767715" algn="l"/>
              </a:tabLst>
            </a:pPr>
            <a:r>
              <a:rPr dirty="0" sz="2800" spc="-25">
                <a:latin typeface="Times New Roman"/>
                <a:cs typeface="Times New Roman"/>
              </a:rPr>
              <a:t>5G</a:t>
            </a:r>
            <a:r>
              <a:rPr dirty="0" sz="2800" spc="-10">
                <a:latin typeface="SimSun"/>
                <a:cs typeface="SimSun"/>
              </a:rPr>
              <a:t>网络业务特点？</a:t>
            </a:r>
            <a:endParaRPr sz="2800">
              <a:latin typeface="SimSun"/>
              <a:cs typeface="SimSun"/>
            </a:endParaRPr>
          </a:p>
          <a:p>
            <a:pPr marL="767715" indent="-354330">
              <a:lnSpc>
                <a:spcPct val="100000"/>
              </a:lnSpc>
              <a:spcBef>
                <a:spcPts val="1680"/>
              </a:spcBef>
              <a:buAutoNum type="arabicPeriod"/>
              <a:tabLst>
                <a:tab pos="767715" algn="l"/>
              </a:tabLst>
            </a:pPr>
            <a:r>
              <a:rPr dirty="0" sz="2800" spc="-25">
                <a:latin typeface="Times New Roman"/>
                <a:cs typeface="Times New Roman"/>
              </a:rPr>
              <a:t>5G</a:t>
            </a:r>
            <a:r>
              <a:rPr dirty="0" sz="2800" spc="-10">
                <a:latin typeface="SimSun"/>
                <a:cs typeface="SimSun"/>
              </a:rPr>
              <a:t>网络业务需求？</a:t>
            </a:r>
            <a:endParaRPr sz="2800">
              <a:latin typeface="SimSun"/>
              <a:cs typeface="SimSun"/>
            </a:endParaRPr>
          </a:p>
          <a:p>
            <a:pPr marL="767715" indent="-354330">
              <a:lnSpc>
                <a:spcPct val="100000"/>
              </a:lnSpc>
              <a:spcBef>
                <a:spcPts val="1680"/>
              </a:spcBef>
              <a:buAutoNum type="arabicPeriod"/>
              <a:tabLst>
                <a:tab pos="767715" algn="l"/>
              </a:tabLst>
            </a:pPr>
            <a:r>
              <a:rPr dirty="0" sz="2800" spc="-25">
                <a:latin typeface="Times New Roman"/>
                <a:cs typeface="Times New Roman"/>
              </a:rPr>
              <a:t>5G</a:t>
            </a:r>
            <a:r>
              <a:rPr dirty="0" sz="2800" spc="-10">
                <a:latin typeface="SimSun"/>
                <a:cs typeface="SimSun"/>
              </a:rPr>
              <a:t>网络业务场景？</a:t>
            </a:r>
            <a:endParaRPr sz="2800">
              <a:latin typeface="SimSun"/>
              <a:cs typeface="SimSu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0" y="0"/>
            <a:ext cx="9144000" cy="800100"/>
          </a:xfrm>
          <a:custGeom>
            <a:avLst/>
            <a:gdLst/>
            <a:ahLst/>
            <a:cxnLst/>
            <a:rect l="l" t="t" r="r" b="b"/>
            <a:pathLst>
              <a:path w="9144000" h="800100">
                <a:moveTo>
                  <a:pt x="0" y="0"/>
                </a:moveTo>
                <a:lnTo>
                  <a:pt x="9144000" y="0"/>
                </a:lnTo>
                <a:lnTo>
                  <a:pt x="9144000" y="800100"/>
                </a:lnTo>
                <a:lnTo>
                  <a:pt x="0" y="800100"/>
                </a:lnTo>
                <a:lnTo>
                  <a:pt x="0" y="0"/>
                </a:lnTo>
                <a:close/>
              </a:path>
            </a:pathLst>
          </a:custGeom>
          <a:ln w="9525">
            <a:solidFill>
              <a:srgbClr val="000000"/>
            </a:solidFill>
          </a:ln>
        </p:spPr>
        <p:txBody>
          <a:bodyPr wrap="square" lIns="0" tIns="0" rIns="0" bIns="0" rtlCol="0"/>
          <a:lstStyle/>
          <a:p/>
        </p:txBody>
      </p:sp>
      <p:pic>
        <p:nvPicPr>
          <p:cNvPr id="3" name="object 3" descr=""/>
          <p:cNvPicPr/>
          <p:nvPr/>
        </p:nvPicPr>
        <p:blipFill>
          <a:blip r:embed="rId2" cstate="print"/>
          <a:stretch>
            <a:fillRect/>
          </a:stretch>
        </p:blipFill>
        <p:spPr>
          <a:xfrm>
            <a:off x="0" y="4972050"/>
            <a:ext cx="9144000" cy="171450"/>
          </a:xfrm>
          <a:prstGeom prst="rect">
            <a:avLst/>
          </a:prstGeom>
        </p:spPr>
      </p:pic>
      <p:sp>
        <p:nvSpPr>
          <p:cNvPr id="4" name="object 4" descr=""/>
          <p:cNvSpPr/>
          <p:nvPr/>
        </p:nvSpPr>
        <p:spPr>
          <a:xfrm>
            <a:off x="1066006" y="114894"/>
            <a:ext cx="1905" cy="571500"/>
          </a:xfrm>
          <a:custGeom>
            <a:avLst/>
            <a:gdLst/>
            <a:ahLst/>
            <a:cxnLst/>
            <a:rect l="l" t="t" r="r" b="b"/>
            <a:pathLst>
              <a:path w="1905" h="571500">
                <a:moveTo>
                  <a:pt x="1587" y="0"/>
                </a:moveTo>
                <a:lnTo>
                  <a:pt x="0" y="571500"/>
                </a:lnTo>
              </a:path>
            </a:pathLst>
          </a:custGeom>
          <a:ln w="9525">
            <a:solidFill>
              <a:srgbClr val="B6DCDF"/>
            </a:solidFill>
          </a:ln>
        </p:spPr>
        <p:txBody>
          <a:bodyPr wrap="square" lIns="0" tIns="0" rIns="0" bIns="0" rtlCol="0"/>
          <a:lstStyle/>
          <a:p/>
        </p:txBody>
      </p:sp>
      <p:pic>
        <p:nvPicPr>
          <p:cNvPr id="5" name="object 5" descr=""/>
          <p:cNvPicPr/>
          <p:nvPr/>
        </p:nvPicPr>
        <p:blipFill>
          <a:blip r:embed="rId3" cstate="print"/>
          <a:stretch>
            <a:fillRect/>
          </a:stretch>
        </p:blipFill>
        <p:spPr>
          <a:xfrm>
            <a:off x="152400" y="133350"/>
            <a:ext cx="804532" cy="576579"/>
          </a:xfrm>
          <a:prstGeom prst="rect">
            <a:avLst/>
          </a:prstGeom>
        </p:spPr>
      </p:pic>
      <p:pic>
        <p:nvPicPr>
          <p:cNvPr id="6" name="object 6"/>
          <p:cNvPicPr/>
          <p:nvPr/>
        </p:nvPicPr>
        <p:blipFill>
          <a:blip r:embed="rId4" cstate="print"/>
          <a:stretch>
            <a:fillRect/>
          </a:stretch>
        </p:blipFill>
        <p:spPr>
          <a:xfrm>
            <a:off x="0" y="787679"/>
            <a:ext cx="9144000" cy="42243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林子雨ziyulin@xmu.edu.cn</dc:creator>
  <dc:subject>厦门大学计算机科学系</dc:subject>
  <dc:title>云计算与大数据</dc:title>
  <dcterms:created xsi:type="dcterms:W3CDTF">2025-11-14T05:03:48Z</dcterms:created>
  <dcterms:modified xsi:type="dcterms:W3CDTF">2025-11-14T05:03:48Z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2019-06-07T00:00:00Z</vt:filetime>
  </property>
  <property fmtid="{D5CDD505-2E9C-101B-9397-08002B2CF9AE}" pid="3" name="Creator">
    <vt:lpwstr>Acrobat PDFMaker 15 PowerPoint 版</vt:lpwstr>
  </property>
  <property fmtid="{D5CDD505-2E9C-101B-9397-08002B2CF9AE}" pid="4" name="LastSaved">
    <vt:filetime>2025-11-14T00:00:00Z</vt:filetime>
  </property>
  <property fmtid="{D5CDD505-2E9C-101B-9397-08002B2CF9AE}" pid="5" name="Producer">
    <vt:lpwstr>Adobe PDF Library 15.0</vt:lpwstr>
  </property>
  <property fmtid="{D5CDD505-2E9C-101B-9397-08002B2CF9AE}" pid="6" name="Version">
    <vt:lpwstr>1</vt:lpwstr>
  </property>
</Properties>
</file>